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2" r:id="rId9"/>
    <p:sldId id="273" r:id="rId10"/>
    <p:sldId id="274" r:id="rId11"/>
    <p:sldId id="275" r:id="rId12"/>
    <p:sldId id="261" r:id="rId13"/>
    <p:sldId id="262" r:id="rId14"/>
    <p:sldId id="263" r:id="rId15"/>
    <p:sldId id="267" r:id="rId16"/>
    <p:sldId id="268" r:id="rId17"/>
  </p:sldIdLst>
  <p:sldSz cx="18288000" cy="10287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CHICKEN Pie" panose="02000600000000000000" pitchFamily="2" charset="0"/>
      <p:regular r:id="rId23"/>
    </p:embeddedFont>
    <p:embeddedFont>
      <p:font typeface="ChunkFive Ex" pitchFamily="2" charset="0"/>
      <p:regular r:id="rId24"/>
    </p:embeddedFont>
    <p:embeddedFont>
      <p:font typeface="Impact" panose="020B0806030902050204" pitchFamily="3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zHJqWqhzwEBDXzytYeL345583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812F"/>
    <a:srgbClr val="FAB12F"/>
    <a:srgbClr val="DD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D0D730-AD71-4C7B-A4B5-7AA99F169CB1}">
  <a:tblStyle styleId="{09D0D730-AD71-4C7B-A4B5-7AA99F169CB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64afea4f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0E71B17-6967-C699-D9BD-44F5E608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>
            <a:extLst>
              <a:ext uri="{FF2B5EF4-FFF2-40B4-BE49-F238E27FC236}">
                <a16:creationId xmlns:a16="http://schemas.microsoft.com/office/drawing/2014/main" id="{94A51322-8523-07D1-84CD-09327AEC12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>
            <a:extLst>
              <a:ext uri="{FF2B5EF4-FFF2-40B4-BE49-F238E27FC236}">
                <a16:creationId xmlns:a16="http://schemas.microsoft.com/office/drawing/2014/main" id="{80AB03AA-6EAE-69CC-AF18-8CE30F26E2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933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0C5CA72-388D-A1CB-52F9-F4C02A117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>
            <a:extLst>
              <a:ext uri="{FF2B5EF4-FFF2-40B4-BE49-F238E27FC236}">
                <a16:creationId xmlns:a16="http://schemas.microsoft.com/office/drawing/2014/main" id="{04EF4B4D-7209-E0A9-CBC5-1EA5E3A33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>
            <a:extLst>
              <a:ext uri="{FF2B5EF4-FFF2-40B4-BE49-F238E27FC236}">
                <a16:creationId xmlns:a16="http://schemas.microsoft.com/office/drawing/2014/main" id="{139B8916-FF12-2D5F-DD86-C9FA406D56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6451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CEAAA3AC-8E37-A99F-BCD0-1DB8DA76B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>
            <a:extLst>
              <a:ext uri="{FF2B5EF4-FFF2-40B4-BE49-F238E27FC236}">
                <a16:creationId xmlns:a16="http://schemas.microsoft.com/office/drawing/2014/main" id="{5056FA28-0007-E74D-037E-6D13F0AAC8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>
            <a:extLst>
              <a:ext uri="{FF2B5EF4-FFF2-40B4-BE49-F238E27FC236}">
                <a16:creationId xmlns:a16="http://schemas.microsoft.com/office/drawing/2014/main" id="{164E746E-0993-EB11-6590-28E2E4005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0764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507CC4A-173F-A0D1-2D88-68A7D2C9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>
            <a:extLst>
              <a:ext uri="{FF2B5EF4-FFF2-40B4-BE49-F238E27FC236}">
                <a16:creationId xmlns:a16="http://schemas.microsoft.com/office/drawing/2014/main" id="{2BD52264-8935-6DF3-F225-1FFAADFF9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>
            <a:extLst>
              <a:ext uri="{FF2B5EF4-FFF2-40B4-BE49-F238E27FC236}">
                <a16:creationId xmlns:a16="http://schemas.microsoft.com/office/drawing/2014/main" id="{A60DD18D-7DD3-9A54-9640-6632D2F57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2662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C473E462-2DB2-798E-1FE2-8FA9F7DE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>
            <a:extLst>
              <a:ext uri="{FF2B5EF4-FFF2-40B4-BE49-F238E27FC236}">
                <a16:creationId xmlns:a16="http://schemas.microsoft.com/office/drawing/2014/main" id="{F8E12BE0-910D-9E52-FC9B-B2DCB3550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52" name="Google Shape;152;p4:notes">
            <a:extLst>
              <a:ext uri="{FF2B5EF4-FFF2-40B4-BE49-F238E27FC236}">
                <a16:creationId xmlns:a16="http://schemas.microsoft.com/office/drawing/2014/main" id="{0465D295-514D-A425-A873-58AA60445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5695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16604FE-8DE4-DA6E-7AEC-D140BEC1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>
            <a:extLst>
              <a:ext uri="{FF2B5EF4-FFF2-40B4-BE49-F238E27FC236}">
                <a16:creationId xmlns:a16="http://schemas.microsoft.com/office/drawing/2014/main" id="{95080615-854E-8C63-0B7B-1542962AE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>
            <a:extLst>
              <a:ext uri="{FF2B5EF4-FFF2-40B4-BE49-F238E27FC236}">
                <a16:creationId xmlns:a16="http://schemas.microsoft.com/office/drawing/2014/main" id="{314B0218-0D6A-F140-EE65-5E22B2B31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4256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afea4f6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64afea4f6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0oq_pAe0pu8?feature=oembed" TargetMode="Externa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-GT" sz="2600" b="0" i="0" u="none" strike="noStrike" cap="none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Aux. José Manuel López Lemus</a:t>
            </a:r>
          </a:p>
        </p:txBody>
      </p:sp>
      <p:sp>
        <p:nvSpPr>
          <p:cNvPr id="90" name="Google Shape;90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s-GT" sz="3100" b="0" i="0" u="none" strike="noStrike" cap="none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Arquitectura de Computadores y Ensambladores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ágenes de Encabezado naranja - Descarga gratuita en Freepik">
            <a:extLst>
              <a:ext uri="{FF2B5EF4-FFF2-40B4-BE49-F238E27FC236}">
                <a16:creationId xmlns:a16="http://schemas.microsoft.com/office/drawing/2014/main" id="{9B540D07-7DD3-AD12-DB29-326FE51FF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2137889" y="2137888"/>
            <a:ext cx="10272975" cy="599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Google Shape;96;p1"/>
          <p:cNvSpPr txBox="1"/>
          <p:nvPr/>
        </p:nvSpPr>
        <p:spPr>
          <a:xfrm>
            <a:off x="669022" y="7661781"/>
            <a:ext cx="11867107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GT" sz="3600" b="1" i="0" u="none" strike="noStrike" cap="none" noProof="0" dirty="0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Arquitectura de Computadores y Ensambladores 1</a:t>
            </a:r>
          </a:p>
        </p:txBody>
      </p:sp>
      <p:sp>
        <p:nvSpPr>
          <p:cNvPr id="97" name="Google Shape;97;p1"/>
          <p:cNvSpPr txBox="1"/>
          <p:nvPr/>
        </p:nvSpPr>
        <p:spPr>
          <a:xfrm>
            <a:off x="2136285" y="3721572"/>
            <a:ext cx="14015429" cy="284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  <a:buSzPts val="9200"/>
            </a:pPr>
            <a:r>
              <a:rPr lang="es-GT" sz="6600" b="1" dirty="0">
                <a:solidFill>
                  <a:srgbClr val="FAB12F"/>
                </a:solidFill>
                <a:latin typeface="ChunkFive Ex" pitchFamily="2" charset="0"/>
                <a:ea typeface="Open Sans"/>
                <a:cs typeface="Open Sans"/>
                <a:sym typeface="Open Sans"/>
              </a:rPr>
              <a:t>Unidad 2: Electrónica Digital Orientado A Sistemas </a:t>
            </a:r>
            <a:r>
              <a:rPr lang="es-GT" sz="6600" b="1" dirty="0" err="1">
                <a:solidFill>
                  <a:srgbClr val="FAB12F"/>
                </a:solidFill>
                <a:latin typeface="ChunkFive Ex" pitchFamily="2" charset="0"/>
                <a:ea typeface="Open Sans"/>
                <a:cs typeface="Open Sans"/>
                <a:sym typeface="Open Sans"/>
              </a:rPr>
              <a:t>IoT</a:t>
            </a:r>
            <a:endParaRPr lang="es-GT" sz="1000" b="0" i="0" u="none" strike="noStrike" cap="none" noProof="0" dirty="0">
              <a:solidFill>
                <a:srgbClr val="FAB12F"/>
              </a:solidFill>
              <a:latin typeface="ChunkFive Ex" pitchFamily="2" charset="0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984176" y="8486177"/>
            <a:ext cx="6981379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s-GT" sz="2499" b="1" i="0" u="none" strike="noStrike" cap="none" noProof="0" dirty="0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Escuela de </a:t>
            </a:r>
            <a:r>
              <a:rPr lang="es-GT" sz="2499" b="1" i="0" u="none" strike="noStrike" cap="none" noProof="0" dirty="0" err="1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Ingenieria</a:t>
            </a:r>
            <a:r>
              <a:rPr lang="es-GT" sz="2499" b="1" i="0" u="none" strike="noStrike" cap="none" noProof="0" dirty="0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 de Ciencias Y Sistemas</a:t>
            </a:r>
          </a:p>
        </p:txBody>
      </p:sp>
      <p:sp>
        <p:nvSpPr>
          <p:cNvPr id="99" name="Google Shape;99;p1"/>
          <p:cNvSpPr txBox="1"/>
          <p:nvPr/>
        </p:nvSpPr>
        <p:spPr>
          <a:xfrm>
            <a:off x="984176" y="8937279"/>
            <a:ext cx="6667500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s-GT" sz="2499" b="1" i="0" u="none" strike="noStrike" cap="none" noProof="0" dirty="0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Facultad de </a:t>
            </a:r>
            <a:r>
              <a:rPr lang="es-GT" sz="2499" b="1" i="0" u="none" strike="noStrike" cap="none" noProof="0" dirty="0" err="1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Ingenieria</a:t>
            </a:r>
            <a:endParaRPr lang="es-GT" sz="2499" b="1" i="0" u="none" strike="noStrike" cap="none" noProof="0" dirty="0">
              <a:solidFill>
                <a:srgbClr val="131416"/>
              </a:solidFill>
              <a:latin typeface="Century Gothic" panose="020B0502020202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05228" y="9373876"/>
            <a:ext cx="8115300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s-GT" sz="2499" b="1" i="0" u="none" strike="noStrike" cap="none" noProof="0" dirty="0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Universidad de San Carlos de Guatemala</a:t>
            </a:r>
            <a:endParaRPr lang="es-GT" sz="14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5555" y="6749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76619" y="4669405"/>
            <a:ext cx="4613551" cy="845385"/>
            <a:chOff x="0" y="-12797"/>
            <a:chExt cx="1964221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102012" y="-12797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s-GT" sz="2799" dirty="0">
                  <a:latin typeface="Century Gothic" panose="020B0502020202020204" pitchFamily="34" charset="0"/>
                </a:rPr>
                <a:t>Qué es </a:t>
              </a:r>
              <a:r>
                <a:rPr lang="es-GT" sz="2799" dirty="0" err="1">
                  <a:latin typeface="Century Gothic" panose="020B0502020202020204" pitchFamily="34" charset="0"/>
                </a:rPr>
                <a:t>IoT</a:t>
              </a:r>
              <a:r>
                <a:rPr lang="es-GT" sz="2799" dirty="0">
                  <a:latin typeface="Century Gothic" panose="020B0502020202020204" pitchFamily="34" charset="0"/>
                </a:rPr>
                <a:t>?</a:t>
              </a:r>
              <a:endParaRPr lang="es-GT" sz="1400" b="0" i="0" u="none" strike="noStrike" cap="none" noProof="0" dirty="0">
                <a:solidFill>
                  <a:srgbClr val="000000"/>
                </a:solidFill>
                <a:latin typeface="Century Gothic" panose="020B0502020202020204" pitchFamily="34" charset="0"/>
                <a:sym typeface="Arial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1663397" y="3013983"/>
            <a:ext cx="4318782" cy="1556484"/>
            <a:chOff x="-53621" y="-76200"/>
            <a:chExt cx="1137457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noProof="0" dirty="0"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-53621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s-GT" sz="3200" b="0" i="0" u="none" strike="noStrike" cap="none" noProof="0" dirty="0">
                  <a:solidFill>
                    <a:srgbClr val="000000"/>
                  </a:solidFill>
                  <a:latin typeface="CHICKEN Pie" panose="02000600000000000000" pitchFamily="2" charset="0"/>
                  <a:sym typeface="Arial"/>
                </a:rPr>
                <a:t>RECORDATORIOS</a:t>
              </a:r>
              <a:endParaRPr lang="es-GT" sz="1600" b="0" i="0" u="none" strike="noStrike" cap="none" noProof="0" dirty="0">
                <a:solidFill>
                  <a:srgbClr val="000000"/>
                </a:solidFill>
                <a:latin typeface="CHICKEN Pie" panose="02000600000000000000" pitchFamily="2" charset="0"/>
                <a:sym typeface="Arial"/>
              </a:endParaRPr>
            </a:p>
          </p:txBody>
        </p:sp>
      </p:grpSp>
      <p:sp>
        <p:nvSpPr>
          <p:cNvPr id="115" name="Google Shape;115;p2"/>
          <p:cNvSpPr txBox="1"/>
          <p:nvPr/>
        </p:nvSpPr>
        <p:spPr>
          <a:xfrm>
            <a:off x="651750" y="478131"/>
            <a:ext cx="7710301" cy="2654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s-GT" sz="15000" b="1" i="0" u="none" strike="noStrike" cap="none" noProof="0" dirty="0">
                <a:solidFill>
                  <a:srgbClr val="FAB12F"/>
                </a:solidFill>
                <a:latin typeface="ChunkFive Ex" pitchFamily="2" charset="0"/>
                <a:ea typeface="Pacifico"/>
                <a:cs typeface="Pacifico"/>
                <a:sym typeface="Pacifico"/>
              </a:rPr>
              <a:t>Agenda</a:t>
            </a:r>
            <a:endParaRPr lang="es-GT" sz="1400" b="1" i="0" u="none" strike="noStrike" cap="none" noProof="0" dirty="0">
              <a:solidFill>
                <a:srgbClr val="FAB12F"/>
              </a:solidFill>
              <a:latin typeface="ChunkFive Ex" pitchFamily="2" charset="0"/>
              <a:ea typeface="Pacifico"/>
              <a:cs typeface="Pacifico"/>
              <a:sym typeface="Pacific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9373698" y="399832"/>
            <a:ext cx="8876185" cy="2654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s-GT" sz="15000" b="0" i="0" u="none" strike="noStrike" cap="none" noProof="0" dirty="0">
                <a:solidFill>
                  <a:srgbClr val="DD0303"/>
                </a:solidFill>
                <a:latin typeface="ChunkFive Ex" pitchFamily="2" charset="0"/>
                <a:ea typeface="Lobster"/>
                <a:cs typeface="Lobster"/>
                <a:sym typeface="Lobster"/>
              </a:rPr>
              <a:t>Recursos</a:t>
            </a:r>
            <a:endParaRPr lang="es-GT" sz="1400" b="0" i="0" u="none" strike="noStrike" cap="none" noProof="0" dirty="0">
              <a:solidFill>
                <a:srgbClr val="DD0303"/>
              </a:solidFill>
              <a:latin typeface="ChunkFive Ex" pitchFamily="2" charset="0"/>
              <a:ea typeface="Lobster"/>
              <a:cs typeface="Lobster"/>
              <a:sym typeface="Lobster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1739805" y="3232617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21" name="Google Shape;121;p2"/>
          <p:cNvSpPr/>
          <p:nvPr/>
        </p:nvSpPr>
        <p:spPr>
          <a:xfrm>
            <a:off x="11739805" y="5032666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 noProof="0" dirty="0"/>
          </a:p>
        </p:txBody>
      </p:sp>
      <p:grpSp>
        <p:nvGrpSpPr>
          <p:cNvPr id="123" name="Google Shape;123;p2"/>
          <p:cNvGrpSpPr/>
          <p:nvPr/>
        </p:nvGrpSpPr>
        <p:grpSpPr>
          <a:xfrm>
            <a:off x="1332012" y="5502293"/>
            <a:ext cx="5686645" cy="845385"/>
            <a:chOff x="0" y="-76200"/>
            <a:chExt cx="2421091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76200"/>
              <a:ext cx="242109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s-GT" sz="2799" b="0" i="0" u="none" strike="noStrike" cap="none" noProof="0" dirty="0">
                  <a:solidFill>
                    <a:srgbClr val="000000"/>
                  </a:solidFill>
                  <a:latin typeface="Century Gothic" panose="020B0502020202020204" pitchFamily="34" charset="0"/>
                  <a:sym typeface="Arial"/>
                </a:rPr>
                <a:t>Características Principales </a:t>
              </a:r>
              <a:r>
                <a:rPr lang="es-GT" sz="2799" b="0" i="0" u="none" strike="noStrike" cap="none" noProof="0" dirty="0" err="1">
                  <a:solidFill>
                    <a:srgbClr val="000000"/>
                  </a:solidFill>
                  <a:latin typeface="Century Gothic" panose="020B0502020202020204" pitchFamily="34" charset="0"/>
                  <a:sym typeface="Arial"/>
                </a:rPr>
                <a:t>IoT</a:t>
              </a:r>
              <a:endParaRPr lang="es-GT" sz="1400" b="0" i="0" u="none" strike="noStrike" cap="none" noProof="0" dirty="0">
                <a:solidFill>
                  <a:srgbClr val="000000"/>
                </a:solidFill>
                <a:latin typeface="Century Gothic" panose="020B0502020202020204" pitchFamily="34" charset="0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76619" y="6414582"/>
            <a:ext cx="5347826" cy="856678"/>
            <a:chOff x="0" y="-81008"/>
            <a:chExt cx="2276839" cy="364731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426918" y="-81008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s-GT" sz="2799" b="0" i="0" u="none" strike="noStrike" cap="none" noProof="0" dirty="0" err="1">
                  <a:solidFill>
                    <a:srgbClr val="000000"/>
                  </a:solidFill>
                  <a:latin typeface="Century Gothic" panose="020B0502020202020204" pitchFamily="34" charset="0"/>
                  <a:sym typeface="Arial"/>
                </a:rPr>
                <a:t>IoT</a:t>
              </a:r>
              <a:r>
                <a:rPr lang="es-GT" sz="2799" b="0" i="0" u="none" strike="noStrike" cap="none" noProof="0" dirty="0">
                  <a:solidFill>
                    <a:srgbClr val="000000"/>
                  </a:solidFill>
                  <a:latin typeface="Century Gothic" panose="020B0502020202020204" pitchFamily="34" charset="0"/>
                  <a:sym typeface="Arial"/>
                </a:rPr>
                <a:t> en la Actualidad</a:t>
              </a:r>
              <a:endParaRPr lang="es-GT" sz="1400" b="0" i="0" u="none" strike="noStrike" cap="none" noProof="0" dirty="0">
                <a:solidFill>
                  <a:srgbClr val="000000"/>
                </a:solidFill>
                <a:latin typeface="Century Gothic" panose="020B0502020202020204" pitchFamily="34" charset="0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332012" y="7349693"/>
            <a:ext cx="7227071" cy="845385"/>
            <a:chOff x="0" y="-76200"/>
            <a:chExt cx="1964221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noProof="0" dirty="0"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s-GT" sz="2799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Implementación de </a:t>
              </a:r>
              <a:r>
                <a:rPr lang="es-GT" sz="2799" b="0" i="0" u="none" strike="noStrike" cap="none" noProof="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IoT</a:t>
              </a:r>
              <a:r>
                <a:rPr lang="es-GT" sz="2799" b="0" i="0" u="none" strike="noStrike" cap="none" noProof="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en la Industria</a:t>
              </a:r>
              <a:endParaRPr lang="es-GT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400671" y="8457894"/>
            <a:ext cx="5371577" cy="845385"/>
            <a:chOff x="0" y="-76200"/>
            <a:chExt cx="1964221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noProof="0" dirty="0">
                <a:latin typeface="Century Gothic" panose="020B0502020202020204" pitchFamily="34" charset="0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s-GT" sz="2799" b="0" i="0" u="none" strike="noStrike" cap="none" noProof="0" dirty="0">
                  <a:solidFill>
                    <a:srgbClr val="000000"/>
                  </a:solidFill>
                  <a:latin typeface="Century Gothic" panose="020B0502020202020204" pitchFamily="34" charset="0"/>
                  <a:sym typeface="Arial"/>
                </a:rPr>
                <a:t>Ventajas y Desventajas </a:t>
              </a:r>
              <a:r>
                <a:rPr lang="es-GT" sz="2799" b="0" i="0" u="none" strike="noStrike" cap="none" noProof="0" dirty="0" err="1">
                  <a:solidFill>
                    <a:srgbClr val="000000"/>
                  </a:solidFill>
                  <a:latin typeface="Century Gothic" panose="020B0502020202020204" pitchFamily="34" charset="0"/>
                  <a:sym typeface="Arial"/>
                </a:rPr>
                <a:t>IoT</a:t>
              </a:r>
              <a:endParaRPr lang="es-GT" sz="1400" b="0" i="0" u="none" strike="noStrike" cap="none" noProof="0" dirty="0">
                <a:solidFill>
                  <a:srgbClr val="000000"/>
                </a:solidFill>
                <a:latin typeface="Century Gothic" panose="020B0502020202020204" pitchFamily="34" charset="0"/>
                <a:sym typeface="Arial"/>
              </a:endParaRPr>
            </a:p>
          </p:txBody>
        </p:sp>
      </p:grpSp>
      <p:pic>
        <p:nvPicPr>
          <p:cNvPr id="2050" name="Picture 2" descr="Imágenes de Linea divisoria png - Descarga gratuita en Freepik">
            <a:extLst>
              <a:ext uri="{FF2B5EF4-FFF2-40B4-BE49-F238E27FC236}">
                <a16:creationId xmlns:a16="http://schemas.microsoft.com/office/drawing/2014/main" id="{E80B3EB9-5AEB-5A29-8CDE-670CFAB1E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145630" y="1929316"/>
            <a:ext cx="9418188" cy="627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15;p2">
            <a:extLst>
              <a:ext uri="{FF2B5EF4-FFF2-40B4-BE49-F238E27FC236}">
                <a16:creationId xmlns:a16="http://schemas.microsoft.com/office/drawing/2014/main" id="{C94F0522-EC18-A391-DB8D-AB46E7F55F69}"/>
              </a:ext>
            </a:extLst>
          </p:cNvPr>
          <p:cNvSpPr txBox="1"/>
          <p:nvPr/>
        </p:nvSpPr>
        <p:spPr>
          <a:xfrm rot="549429">
            <a:off x="1081590" y="8482201"/>
            <a:ext cx="586316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s-GT" sz="4800" b="1" dirty="0">
                <a:solidFill>
                  <a:srgbClr val="FA812F"/>
                </a:solidFill>
                <a:latin typeface="ChunkFive Ex" pitchFamily="2" charset="0"/>
                <a:ea typeface="Pacifico"/>
                <a:cs typeface="Pacifico"/>
                <a:sym typeface="Pacifico"/>
              </a:rPr>
              <a:t>5</a:t>
            </a:r>
            <a:endParaRPr lang="es-GT" sz="400" b="1" i="0" u="none" strike="noStrike" cap="none" noProof="0" dirty="0">
              <a:solidFill>
                <a:srgbClr val="FA812F"/>
              </a:solidFill>
              <a:latin typeface="ChunkFive Ex" pitchFamily="2" charset="0"/>
              <a:ea typeface="Pacifico"/>
              <a:cs typeface="Pacifico"/>
              <a:sym typeface="Pacifico"/>
            </a:endParaRPr>
          </a:p>
        </p:txBody>
      </p:sp>
      <p:sp>
        <p:nvSpPr>
          <p:cNvPr id="3" name="Google Shape;115;p2">
            <a:extLst>
              <a:ext uri="{FF2B5EF4-FFF2-40B4-BE49-F238E27FC236}">
                <a16:creationId xmlns:a16="http://schemas.microsoft.com/office/drawing/2014/main" id="{9AC67FEA-1D1E-C34A-A4FF-87E53A718B8D}"/>
              </a:ext>
            </a:extLst>
          </p:cNvPr>
          <p:cNvSpPr txBox="1"/>
          <p:nvPr/>
        </p:nvSpPr>
        <p:spPr>
          <a:xfrm rot="1301783">
            <a:off x="1107513" y="5640825"/>
            <a:ext cx="586316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s-GT" sz="4800" b="1" dirty="0">
                <a:solidFill>
                  <a:srgbClr val="FA812F"/>
                </a:solidFill>
                <a:latin typeface="ChunkFive Ex" pitchFamily="2" charset="0"/>
                <a:ea typeface="Pacifico"/>
                <a:cs typeface="Pacifico"/>
                <a:sym typeface="Pacifico"/>
              </a:rPr>
              <a:t>2</a:t>
            </a:r>
            <a:endParaRPr lang="es-GT" sz="400" b="1" i="0" u="none" strike="noStrike" cap="none" noProof="0" dirty="0">
              <a:solidFill>
                <a:srgbClr val="FA812F"/>
              </a:solidFill>
              <a:latin typeface="ChunkFive Ex" pitchFamily="2" charset="0"/>
              <a:ea typeface="Pacifico"/>
              <a:cs typeface="Pacifico"/>
              <a:sym typeface="Pacifico"/>
            </a:endParaRPr>
          </a:p>
        </p:txBody>
      </p:sp>
      <p:sp>
        <p:nvSpPr>
          <p:cNvPr id="4" name="Google Shape;115;p2">
            <a:extLst>
              <a:ext uri="{FF2B5EF4-FFF2-40B4-BE49-F238E27FC236}">
                <a16:creationId xmlns:a16="http://schemas.microsoft.com/office/drawing/2014/main" id="{A2E9978F-ADF4-DE54-11F0-B4567FB66F52}"/>
              </a:ext>
            </a:extLst>
          </p:cNvPr>
          <p:cNvSpPr txBox="1"/>
          <p:nvPr/>
        </p:nvSpPr>
        <p:spPr>
          <a:xfrm rot="20661325">
            <a:off x="1107513" y="6526161"/>
            <a:ext cx="586316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s-GT" sz="4800" b="1" dirty="0">
                <a:solidFill>
                  <a:srgbClr val="FA812F"/>
                </a:solidFill>
                <a:latin typeface="ChunkFive Ex" pitchFamily="2" charset="0"/>
                <a:ea typeface="Pacifico"/>
                <a:cs typeface="Pacifico"/>
                <a:sym typeface="Pacifico"/>
              </a:rPr>
              <a:t>3</a:t>
            </a:r>
            <a:endParaRPr lang="es-GT" sz="400" b="1" i="0" u="none" strike="noStrike" cap="none" noProof="0" dirty="0">
              <a:solidFill>
                <a:srgbClr val="FA812F"/>
              </a:solidFill>
              <a:latin typeface="ChunkFive Ex" pitchFamily="2" charset="0"/>
              <a:ea typeface="Pacifico"/>
              <a:cs typeface="Pacifico"/>
              <a:sym typeface="Pacifico"/>
            </a:endParaRPr>
          </a:p>
        </p:txBody>
      </p:sp>
      <p:sp>
        <p:nvSpPr>
          <p:cNvPr id="5" name="Google Shape;115;p2">
            <a:extLst>
              <a:ext uri="{FF2B5EF4-FFF2-40B4-BE49-F238E27FC236}">
                <a16:creationId xmlns:a16="http://schemas.microsoft.com/office/drawing/2014/main" id="{35D6D9FD-0C02-AC0F-2CF9-42941CA28FD3}"/>
              </a:ext>
            </a:extLst>
          </p:cNvPr>
          <p:cNvSpPr txBox="1"/>
          <p:nvPr/>
        </p:nvSpPr>
        <p:spPr>
          <a:xfrm rot="680041">
            <a:off x="1081591" y="7440454"/>
            <a:ext cx="586316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s-GT" sz="4800" b="1" dirty="0">
                <a:solidFill>
                  <a:srgbClr val="FA812F"/>
                </a:solidFill>
                <a:latin typeface="ChunkFive Ex" pitchFamily="2" charset="0"/>
                <a:ea typeface="Pacifico"/>
                <a:cs typeface="Pacifico"/>
                <a:sym typeface="Pacifico"/>
              </a:rPr>
              <a:t>4</a:t>
            </a:r>
            <a:endParaRPr lang="es-GT" sz="400" b="1" i="0" u="none" strike="noStrike" cap="none" noProof="0" dirty="0">
              <a:solidFill>
                <a:srgbClr val="FA812F"/>
              </a:solidFill>
              <a:latin typeface="ChunkFive Ex" pitchFamily="2" charset="0"/>
              <a:ea typeface="Pacifico"/>
              <a:cs typeface="Pacifico"/>
              <a:sym typeface="Pacifico"/>
            </a:endParaRPr>
          </a:p>
        </p:txBody>
      </p:sp>
      <p:sp>
        <p:nvSpPr>
          <p:cNvPr id="6" name="Google Shape;115;p2">
            <a:extLst>
              <a:ext uri="{FF2B5EF4-FFF2-40B4-BE49-F238E27FC236}">
                <a16:creationId xmlns:a16="http://schemas.microsoft.com/office/drawing/2014/main" id="{D5BE5898-7343-ADD2-8EC3-F74D5B799CF6}"/>
              </a:ext>
            </a:extLst>
          </p:cNvPr>
          <p:cNvSpPr txBox="1"/>
          <p:nvPr/>
        </p:nvSpPr>
        <p:spPr>
          <a:xfrm rot="20661325">
            <a:off x="1174868" y="4715499"/>
            <a:ext cx="586316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s-GT" sz="4800" b="1" i="0" u="none" strike="noStrike" cap="none" noProof="0" dirty="0">
                <a:solidFill>
                  <a:srgbClr val="FA812F"/>
                </a:solidFill>
                <a:latin typeface="ChunkFive Ex" pitchFamily="2" charset="0"/>
                <a:ea typeface="Pacifico"/>
                <a:cs typeface="Pacifico"/>
                <a:sym typeface="Pacifico"/>
              </a:rPr>
              <a:t>1</a:t>
            </a:r>
            <a:endParaRPr lang="es-GT" sz="400" b="1" i="0" u="none" strike="noStrike" cap="none" noProof="0" dirty="0">
              <a:solidFill>
                <a:srgbClr val="FA812F"/>
              </a:solidFill>
              <a:latin typeface="ChunkFive Ex" pitchFamily="2" charset="0"/>
              <a:ea typeface="Pacifico"/>
              <a:cs typeface="Pacifico"/>
              <a:sym typeface="Pacifico"/>
            </a:endParaRPr>
          </a:p>
        </p:txBody>
      </p:sp>
      <p:pic>
        <p:nvPicPr>
          <p:cNvPr id="2056" name="Picture 8" descr="Icono de estilo de dibujos animados 3d de campana de notificación sobre  fondo blanco. Campana amarilla como símbolo de alarma, alerta o  recordatorio sobre un nuevo mensaje en la ilustración vectorial plana">
            <a:extLst>
              <a:ext uri="{FF2B5EF4-FFF2-40B4-BE49-F238E27FC236}">
                <a16:creationId xmlns:a16="http://schemas.microsoft.com/office/drawing/2014/main" id="{191A75A8-E627-8FDB-9246-360F1BF61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71" y="2960995"/>
            <a:ext cx="1539438" cy="153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Icono de estilo de dibujos animados 3d de campana de notificación sobre  fondo blanco. Campana amarilla como símbolo de alarma, alerta o  recordatorio sobre un nuevo mensaje en la ilustración vectorial plana">
            <a:extLst>
              <a:ext uri="{FF2B5EF4-FFF2-40B4-BE49-F238E27FC236}">
                <a16:creationId xmlns:a16="http://schemas.microsoft.com/office/drawing/2014/main" id="{6DDD245A-F62A-21B6-07C5-0985DC69E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61308" y="2919472"/>
            <a:ext cx="1539438" cy="153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Elementos multimedia en línea 7" title="Implementacion IoT En La Industria">
            <a:hlinkClick r:id="" action="ppaction://media"/>
            <a:extLst>
              <a:ext uri="{FF2B5EF4-FFF2-40B4-BE49-F238E27FC236}">
                <a16:creationId xmlns:a16="http://schemas.microsoft.com/office/drawing/2014/main" id="{3BB61193-FA23-06E5-0F90-2BCC0B97C42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9967865" y="3794492"/>
            <a:ext cx="7403045" cy="41796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ágenes de Encabezado naranja - Descarga gratuita en Freepik">
            <a:extLst>
              <a:ext uri="{FF2B5EF4-FFF2-40B4-BE49-F238E27FC236}">
                <a16:creationId xmlns:a16="http://schemas.microsoft.com/office/drawing/2014/main" id="{A2E1D193-01B9-16E3-BA68-8C216DF51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10152915" y="2137891"/>
            <a:ext cx="10272975" cy="599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Google Shape;145;p3"/>
          <p:cNvSpPr txBox="1"/>
          <p:nvPr/>
        </p:nvSpPr>
        <p:spPr>
          <a:xfrm>
            <a:off x="1202669" y="2280066"/>
            <a:ext cx="13093279" cy="95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5500" b="0" i="0" u="none" strike="noStrike" cap="none" noProof="0" dirty="0">
                <a:solidFill>
                  <a:srgbClr val="FAB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Competencia(s) que Desarrollaremos</a:t>
            </a:r>
          </a:p>
        </p:txBody>
      </p:sp>
      <p:sp>
        <p:nvSpPr>
          <p:cNvPr id="146" name="Google Shape;146;p3"/>
          <p:cNvSpPr txBox="1"/>
          <p:nvPr/>
        </p:nvSpPr>
        <p:spPr>
          <a:xfrm>
            <a:off x="1237845" y="3236482"/>
            <a:ext cx="12537147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lang="es-GT" sz="4000" i="0" u="none" strike="noStrike" cap="none" noProof="0" dirty="0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El estudiante identifica los componentes esenciales de un sistema </a:t>
            </a:r>
            <a:r>
              <a:rPr lang="es-GT" sz="4000" i="0" u="none" strike="noStrike" cap="none" noProof="0" dirty="0" err="1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IoT</a:t>
            </a:r>
            <a:r>
              <a:rPr lang="es-GT" sz="4000" i="0" u="none" strike="noStrike" cap="none" noProof="0" dirty="0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 mediante el análisis de documentación técnica y catálogos de </a:t>
            </a:r>
            <a:r>
              <a:rPr lang="es-GT" sz="4000" i="0" u="none" strike="noStrike" cap="none" noProof="0" dirty="0" err="1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hardaware</a:t>
            </a:r>
            <a:r>
              <a:rPr lang="es-GT" sz="4000" i="0" u="none" strike="noStrike" cap="none" noProof="0" dirty="0">
                <a:solidFill>
                  <a:srgbClr val="131416"/>
                </a:solidFill>
                <a:latin typeface="Century Gothic" panose="020B0502020202020204" pitchFamily="34" charset="0"/>
                <a:ea typeface="Open Sans"/>
                <a:cs typeface="Open Sans"/>
                <a:sym typeface="Open Sans"/>
              </a:rPr>
              <a:t> para describir funcionalidades básicas de cada elemento del sistema</a:t>
            </a:r>
            <a:endParaRPr lang="es-GT" sz="400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E0B341-BC38-08D4-80E4-607D624D5F8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295948" y="3941788"/>
            <a:ext cx="4088255" cy="62811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Patrón hecho con iconos de conexión | Vector Premium">
            <a:extLst>
              <a:ext uri="{FF2B5EF4-FFF2-40B4-BE49-F238E27FC236}">
                <a16:creationId xmlns:a16="http://schemas.microsoft.com/office/drawing/2014/main" id="{066EBA04-E6C1-3076-5A99-591A0C8BF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287000" y="-2"/>
            <a:ext cx="10287001" cy="1028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atrón hecho con iconos de conexión | Vector Premium">
            <a:extLst>
              <a:ext uri="{FF2B5EF4-FFF2-40B4-BE49-F238E27FC236}">
                <a16:creationId xmlns:a16="http://schemas.microsoft.com/office/drawing/2014/main" id="{85CBA398-023B-E36B-8454-877D2A050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0287001" cy="1028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" name="Google Shape;154;p4"/>
          <p:cNvSpPr txBox="1"/>
          <p:nvPr/>
        </p:nvSpPr>
        <p:spPr>
          <a:xfrm>
            <a:off x="1196264" y="3472121"/>
            <a:ext cx="15895472" cy="484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s-ES" sz="3500" b="0" i="0" u="none" strike="noStrike" cap="none" noProof="0" dirty="0">
                <a:solidFill>
                  <a:srgbClr val="000000"/>
                </a:solidFill>
                <a:latin typeface="Century Gothic" panose="020B0502020202020204" pitchFamily="34" charset="0"/>
                <a:sym typeface="Arial"/>
              </a:rPr>
              <a:t>En un mundo cada vez más conectado, el Internet de las Cosas (</a:t>
            </a:r>
            <a:r>
              <a:rPr lang="es-ES" sz="3500" b="0" i="0" u="none" strike="noStrike" cap="none" noProof="0" dirty="0" err="1">
                <a:solidFill>
                  <a:srgbClr val="000000"/>
                </a:solidFill>
                <a:latin typeface="Century Gothic" panose="020B0502020202020204" pitchFamily="34" charset="0"/>
                <a:sym typeface="Arial"/>
              </a:rPr>
              <a:t>IoT</a:t>
            </a:r>
            <a:r>
              <a:rPr lang="es-ES" sz="3500" b="0" i="0" u="none" strike="noStrike" cap="none" noProof="0" dirty="0">
                <a:solidFill>
                  <a:srgbClr val="000000"/>
                </a:solidFill>
                <a:latin typeface="Century Gothic" panose="020B0502020202020204" pitchFamily="34" charset="0"/>
                <a:sym typeface="Arial"/>
              </a:rPr>
              <a:t>) y la domótica están transformando nuestra forma de vivir e interactuar con el entorno. El </a:t>
            </a:r>
            <a:r>
              <a:rPr lang="es-ES" sz="3500" b="0" i="0" u="none" strike="noStrike" cap="none" noProof="0" dirty="0" err="1">
                <a:solidFill>
                  <a:srgbClr val="000000"/>
                </a:solidFill>
                <a:latin typeface="Century Gothic" panose="020B0502020202020204" pitchFamily="34" charset="0"/>
                <a:sym typeface="Arial"/>
              </a:rPr>
              <a:t>IoT</a:t>
            </a:r>
            <a:r>
              <a:rPr lang="es-ES" sz="3500" b="0" i="0" u="none" strike="noStrike" cap="none" noProof="0" dirty="0">
                <a:solidFill>
                  <a:srgbClr val="000000"/>
                </a:solidFill>
                <a:latin typeface="Century Gothic" panose="020B0502020202020204" pitchFamily="34" charset="0"/>
                <a:sym typeface="Arial"/>
              </a:rPr>
              <a:t> conecta dispositivos físicos mediante sensores y software que recopilan e intercambian datos. La domótica aplica esta tecnología al hogar para automatizar y mejorar la comodidad, seguridad y eficiencia energética.</a:t>
            </a:r>
            <a:endParaRPr lang="es-GT" sz="35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2327075" y="1967398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6098" b="0" i="0" u="none" strike="noStrike" cap="none" noProof="0" dirty="0">
                <a:solidFill>
                  <a:srgbClr val="DD0303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Introducción al </a:t>
            </a:r>
            <a:r>
              <a:rPr lang="es-GT" sz="6098" b="0" i="0" u="none" strike="noStrike" cap="none" noProof="0" dirty="0" err="1">
                <a:solidFill>
                  <a:srgbClr val="DD0303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Iot</a:t>
            </a:r>
            <a:r>
              <a:rPr lang="es-GT" sz="6098" b="0" i="0" u="none" strike="noStrike" cap="none" noProof="0" dirty="0">
                <a:solidFill>
                  <a:srgbClr val="DD0303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 y la Domótica</a:t>
            </a:r>
            <a:endParaRPr lang="es-GT" sz="1400" b="0" i="0" u="none" strike="noStrike" cap="none" noProof="0" dirty="0">
              <a:solidFill>
                <a:srgbClr val="DD0303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FEB3F2-97AE-3512-81DA-BFCEE3315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577" y="372719"/>
            <a:ext cx="2300748" cy="23007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EFF9368-AB54-3A40-378F-B8EACF525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489178" flipH="1">
            <a:off x="14338322" y="1347234"/>
            <a:ext cx="2300748" cy="23007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E2B0684-1ADD-A2AA-533D-BD64354B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mágenes de Encabezado naranja - Descarga gratuita en Freepik">
            <a:extLst>
              <a:ext uri="{FF2B5EF4-FFF2-40B4-BE49-F238E27FC236}">
                <a16:creationId xmlns:a16="http://schemas.microsoft.com/office/drawing/2014/main" id="{9D376511-FBDF-D4AA-C752-777E7AE19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-2137889" y="2137888"/>
            <a:ext cx="10272975" cy="599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" name="Google Shape;154;p4">
            <a:extLst>
              <a:ext uri="{FF2B5EF4-FFF2-40B4-BE49-F238E27FC236}">
                <a16:creationId xmlns:a16="http://schemas.microsoft.com/office/drawing/2014/main" id="{1D332299-84E9-9E9A-1127-D3D6786871C6}"/>
              </a:ext>
            </a:extLst>
          </p:cNvPr>
          <p:cNvSpPr txBox="1"/>
          <p:nvPr/>
        </p:nvSpPr>
        <p:spPr>
          <a:xfrm>
            <a:off x="1079921" y="2745365"/>
            <a:ext cx="5955059" cy="239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73070"/>
              </a:lnSpc>
              <a:buSzPts val="3925"/>
            </a:pPr>
            <a:r>
              <a:rPr lang="es-ES" sz="1800" dirty="0">
                <a:solidFill>
                  <a:srgbClr val="FAB12F"/>
                </a:solidFill>
                <a:latin typeface="CHICKEN Pie" panose="02000600000000000000" pitchFamily="2" charset="0"/>
              </a:rPr>
              <a:t>Comodidad y Control: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La domótica automatiza dispositivos del hogar como iluminación, temperatura, seguridad y entretenimiento, facilitando la vida diaria, ahorrando tiempo y ofreciendo mayor control sobre el entorno.</a:t>
            </a:r>
            <a:endParaRPr lang="es-GT" sz="18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55" name="Google Shape;155;p4">
            <a:extLst>
              <a:ext uri="{FF2B5EF4-FFF2-40B4-BE49-F238E27FC236}">
                <a16:creationId xmlns:a16="http://schemas.microsoft.com/office/drawing/2014/main" id="{3600D9C9-4296-E1B7-BE4C-267B69D73D3C}"/>
              </a:ext>
            </a:extLst>
          </p:cNvPr>
          <p:cNvSpPr txBox="1"/>
          <p:nvPr/>
        </p:nvSpPr>
        <p:spPr>
          <a:xfrm>
            <a:off x="2119497" y="1041375"/>
            <a:ext cx="14582866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6098" b="0" i="0" u="none" strike="noStrike" cap="none" noProof="0" dirty="0">
                <a:solidFill>
                  <a:srgbClr val="FA8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Beneficios en la Domótica en el Hogar</a:t>
            </a:r>
            <a:endParaRPr lang="es-GT" sz="1400" b="0" i="0" u="none" strike="noStrike" cap="none" noProof="0" dirty="0">
              <a:solidFill>
                <a:srgbClr val="FA812F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</p:txBody>
      </p:sp>
      <p:sp>
        <p:nvSpPr>
          <p:cNvPr id="2" name="Google Shape;154;p4">
            <a:extLst>
              <a:ext uri="{FF2B5EF4-FFF2-40B4-BE49-F238E27FC236}">
                <a16:creationId xmlns:a16="http://schemas.microsoft.com/office/drawing/2014/main" id="{33EB9F1C-E4A5-4AD6-152B-5BC71F7905E7}"/>
              </a:ext>
            </a:extLst>
          </p:cNvPr>
          <p:cNvSpPr txBox="1"/>
          <p:nvPr/>
        </p:nvSpPr>
        <p:spPr>
          <a:xfrm>
            <a:off x="11253020" y="2745365"/>
            <a:ext cx="5955059" cy="239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73070"/>
              </a:lnSpc>
              <a:buSzPts val="3925"/>
            </a:pPr>
            <a:r>
              <a:rPr lang="es-ES" sz="1800" dirty="0">
                <a:solidFill>
                  <a:srgbClr val="FAB12F"/>
                </a:solidFill>
                <a:latin typeface="CHICKEN Pie" panose="02000600000000000000" pitchFamily="2" charset="0"/>
              </a:rPr>
              <a:t>Eficiencia Energética: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Los sistemas domóticos optimizan el consumo energético automatizando iluminación, calefacción y aire acondicionado, reduciendo gastos y la huella de carbono para un estilo de vida más sostenible.</a:t>
            </a:r>
            <a:endParaRPr lang="es-GT" sz="18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3" name="Google Shape;154;p4">
            <a:extLst>
              <a:ext uri="{FF2B5EF4-FFF2-40B4-BE49-F238E27FC236}">
                <a16:creationId xmlns:a16="http://schemas.microsoft.com/office/drawing/2014/main" id="{2F70BD32-9895-B489-8D5E-41F132D8141B}"/>
              </a:ext>
            </a:extLst>
          </p:cNvPr>
          <p:cNvSpPr txBox="1"/>
          <p:nvPr/>
        </p:nvSpPr>
        <p:spPr>
          <a:xfrm>
            <a:off x="1079921" y="6610398"/>
            <a:ext cx="5955059" cy="239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73070"/>
              </a:lnSpc>
              <a:buSzPts val="3925"/>
            </a:pPr>
            <a:r>
              <a:rPr lang="es-ES" sz="1800" dirty="0">
                <a:solidFill>
                  <a:srgbClr val="FAB12F"/>
                </a:solidFill>
                <a:latin typeface="CHICKEN Pie" panose="02000600000000000000" pitchFamily="2" charset="0"/>
              </a:rPr>
              <a:t>Seguridad y Protección: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La domótica ofrece vigilancia, detección de movimiento, control de acceso y notificaciones de emergencias, brindando tranquilidad y protección al hogar y sus habitantes.</a:t>
            </a:r>
            <a:endParaRPr lang="es-GT" sz="18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4" name="Google Shape;154;p4">
            <a:extLst>
              <a:ext uri="{FF2B5EF4-FFF2-40B4-BE49-F238E27FC236}">
                <a16:creationId xmlns:a16="http://schemas.microsoft.com/office/drawing/2014/main" id="{B4B7A575-5E67-D753-5032-7CDE563CBC11}"/>
              </a:ext>
            </a:extLst>
          </p:cNvPr>
          <p:cNvSpPr txBox="1"/>
          <p:nvPr/>
        </p:nvSpPr>
        <p:spPr>
          <a:xfrm>
            <a:off x="11253020" y="6370780"/>
            <a:ext cx="5955059" cy="287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73070"/>
              </a:lnSpc>
              <a:buSzPts val="3925"/>
            </a:pPr>
            <a:r>
              <a:rPr lang="es-ES" sz="1800" dirty="0">
                <a:solidFill>
                  <a:srgbClr val="FAB12F"/>
                </a:solidFill>
                <a:latin typeface="CHICKEN Pie" panose="02000600000000000000" pitchFamily="2" charset="0"/>
              </a:rPr>
              <a:t>Accesibilidad y Adaptabilidad: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La domótica se adapta a necesidades individuales, ofreciendo soluciones para personas con discapacidades y ajustándose a cambios en el estilo de vida. Las interfaces intuitivas y el control remoto hacen el hogar accesible para todos.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BD18592-9D78-484C-3E44-1E19803F0AF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73242" y="3439254"/>
            <a:ext cx="2941516" cy="436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7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768122C-ACC4-B14C-4E25-06EA1E2D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>
            <a:extLst>
              <a:ext uri="{FF2B5EF4-FFF2-40B4-BE49-F238E27FC236}">
                <a16:creationId xmlns:a16="http://schemas.microsoft.com/office/drawing/2014/main" id="{F41F34E5-0CAD-5595-A2EE-9B9429883288}"/>
              </a:ext>
            </a:extLst>
          </p:cNvPr>
          <p:cNvSpPr txBox="1"/>
          <p:nvPr/>
        </p:nvSpPr>
        <p:spPr>
          <a:xfrm>
            <a:off x="2148449" y="923337"/>
            <a:ext cx="5955059" cy="191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Iluminación Inteligente: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Bombillas y tiras LED inteligentes permiten controlar intensidad, color, programar horarios y crear ambientes personalizados.</a:t>
            </a:r>
            <a:endParaRPr lang="es-GT" sz="18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55" name="Google Shape;155;p4">
            <a:extLst>
              <a:ext uri="{FF2B5EF4-FFF2-40B4-BE49-F238E27FC236}">
                <a16:creationId xmlns:a16="http://schemas.microsoft.com/office/drawing/2014/main" id="{BCB7A5B0-CC95-EA82-9291-8CB4A5434658}"/>
              </a:ext>
            </a:extLst>
          </p:cNvPr>
          <p:cNvSpPr txBox="1"/>
          <p:nvPr/>
        </p:nvSpPr>
        <p:spPr>
          <a:xfrm>
            <a:off x="2148450" y="8103032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6098" b="0" i="0" u="none" strike="noStrike" cap="none" noProof="0" dirty="0">
                <a:solidFill>
                  <a:srgbClr val="FA8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Algunos dispositivos </a:t>
            </a:r>
            <a:r>
              <a:rPr lang="es-GT" sz="6098" b="0" i="0" u="none" strike="noStrike" cap="none" noProof="0" dirty="0" err="1">
                <a:solidFill>
                  <a:srgbClr val="FA8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IoT</a:t>
            </a:r>
            <a:r>
              <a:rPr lang="es-GT" sz="6098" b="0" i="0" u="none" strike="noStrike" cap="none" noProof="0" dirty="0">
                <a:solidFill>
                  <a:srgbClr val="FA8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 en el Hogar</a:t>
            </a:r>
            <a:endParaRPr lang="es-GT" sz="1400" b="0" i="0" u="none" strike="noStrike" cap="none" noProof="0" dirty="0">
              <a:solidFill>
                <a:srgbClr val="FA812F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</p:txBody>
      </p:sp>
      <p:pic>
        <p:nvPicPr>
          <p:cNvPr id="6154" name="Picture 10" descr="Mancha De Naranja Simple. Salpicar Sobre Un Fondo Blanco Stock de  ilustración - Ilustración de burbuja, vector: 187244807">
            <a:extLst>
              <a:ext uri="{FF2B5EF4-FFF2-40B4-BE49-F238E27FC236}">
                <a16:creationId xmlns:a16="http://schemas.microsoft.com/office/drawing/2014/main" id="{6EAEAC55-19B6-14F6-AD3C-6BC9E2028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770" y="-137496"/>
            <a:ext cx="4038599" cy="403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54;p4">
            <a:extLst>
              <a:ext uri="{FF2B5EF4-FFF2-40B4-BE49-F238E27FC236}">
                <a16:creationId xmlns:a16="http://schemas.microsoft.com/office/drawing/2014/main" id="{9F8D0055-C9CC-602B-5427-030DB63D84D1}"/>
              </a:ext>
            </a:extLst>
          </p:cNvPr>
          <p:cNvSpPr txBox="1"/>
          <p:nvPr/>
        </p:nvSpPr>
        <p:spPr>
          <a:xfrm>
            <a:off x="2148449" y="3226565"/>
            <a:ext cx="5955059" cy="191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Termostatos Inteligentes: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Ajustan automáticamente la temperatura según horarios y preferencias, optimizando el consumo energético y asegurando la comodidad.</a:t>
            </a:r>
            <a:endParaRPr lang="es-GT" sz="18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6" name="Picture 10" descr="Mancha De Naranja Simple. Salpicar Sobre Un Fondo Blanco Stock de  ilustración - Ilustración de burbuja, vector: 187244807">
            <a:extLst>
              <a:ext uri="{FF2B5EF4-FFF2-40B4-BE49-F238E27FC236}">
                <a16:creationId xmlns:a16="http://schemas.microsoft.com/office/drawing/2014/main" id="{23C40BFB-791F-B585-495D-5800C1783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627191">
            <a:off x="12963597" y="1936258"/>
            <a:ext cx="4038599" cy="403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54;p4">
            <a:extLst>
              <a:ext uri="{FF2B5EF4-FFF2-40B4-BE49-F238E27FC236}">
                <a16:creationId xmlns:a16="http://schemas.microsoft.com/office/drawing/2014/main" id="{5D29F060-EA78-6558-AD08-00E1D4F64130}"/>
              </a:ext>
            </a:extLst>
          </p:cNvPr>
          <p:cNvSpPr txBox="1"/>
          <p:nvPr/>
        </p:nvSpPr>
        <p:spPr>
          <a:xfrm>
            <a:off x="2148449" y="5529793"/>
            <a:ext cx="5955059" cy="191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Altavoces Inteligentes: 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Con asistentes de voz permiten controlar dispositivos del hogar mediante comandos, reproducir música, obtener información y acceder a diversos servicios.</a:t>
            </a:r>
          </a:p>
        </p:txBody>
      </p:sp>
      <p:pic>
        <p:nvPicPr>
          <p:cNvPr id="7" name="Picture 10" descr="Mancha De Naranja Simple. Salpicar Sobre Un Fondo Blanco Stock de  ilustración - Ilustración de burbuja, vector: 187244807">
            <a:extLst>
              <a:ext uri="{FF2B5EF4-FFF2-40B4-BE49-F238E27FC236}">
                <a16:creationId xmlns:a16="http://schemas.microsoft.com/office/drawing/2014/main" id="{62282FE3-A86F-E7A8-C62B-E2A1981D0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96010">
            <a:off x="8832182" y="4285323"/>
            <a:ext cx="4038599" cy="403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1.109.500+ Focos Ilustraciones de Stock, gráficos vectoriales libres de  derechos y clip art - iStock | Escenario, Luces, Cine">
            <a:extLst>
              <a:ext uri="{FF2B5EF4-FFF2-40B4-BE49-F238E27FC236}">
                <a16:creationId xmlns:a16="http://schemas.microsoft.com/office/drawing/2014/main" id="{EA3155FB-B02A-1DA1-A78A-EAB0FCE6C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38863">
            <a:off x="9311763" y="-100049"/>
            <a:ext cx="3534083" cy="353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13.800+ Termostato Ilustraciones Fotografías de stock, fotos e imágenes  libres de derechos - iStock">
            <a:extLst>
              <a:ext uri="{FF2B5EF4-FFF2-40B4-BE49-F238E27FC236}">
                <a16:creationId xmlns:a16="http://schemas.microsoft.com/office/drawing/2014/main" id="{5DD06882-66F0-7064-9C4C-5CBAA10A8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2BCBFF"/>
              </a:clrFrom>
              <a:clrTo>
                <a:srgbClr val="2BC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5846" y="2423668"/>
            <a:ext cx="4198467" cy="314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Vectores de Parlante animado - Descarga vectores gratis de gran calidad de  Freepik | Freepik">
            <a:extLst>
              <a:ext uri="{FF2B5EF4-FFF2-40B4-BE49-F238E27FC236}">
                <a16:creationId xmlns:a16="http://schemas.microsoft.com/office/drawing/2014/main" id="{2E223493-60F2-AF44-F409-592AFCCDF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1344" y="5195298"/>
            <a:ext cx="2820274" cy="2820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73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0E18203E-8954-8936-F657-9A1EBBC90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>
            <a:extLst>
              <a:ext uri="{FF2B5EF4-FFF2-40B4-BE49-F238E27FC236}">
                <a16:creationId xmlns:a16="http://schemas.microsoft.com/office/drawing/2014/main" id="{69DAC27E-C0EE-4412-84F7-4CABE271B50D}"/>
              </a:ext>
            </a:extLst>
          </p:cNvPr>
          <p:cNvSpPr txBox="1"/>
          <p:nvPr/>
        </p:nvSpPr>
        <p:spPr>
          <a:xfrm>
            <a:off x="6166467" y="2358506"/>
            <a:ext cx="5955059" cy="239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HICKEN Pie" panose="02000600000000000000" pitchFamily="2" charset="0"/>
              </a:rPr>
              <a:t>Plataformas de Domótica: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Actúan como centros de control que integran y gestionan dispositivos del hogar, permitiendo configurar automatizaciones, crear reglas y controlar remotamente desde cualquier lugar.</a:t>
            </a:r>
            <a:endParaRPr lang="es-GT" sz="18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55" name="Google Shape;155;p4">
            <a:extLst>
              <a:ext uri="{FF2B5EF4-FFF2-40B4-BE49-F238E27FC236}">
                <a16:creationId xmlns:a16="http://schemas.microsoft.com/office/drawing/2014/main" id="{FBA874F8-5100-36CE-0E3F-D8D7CAE75DB3}"/>
              </a:ext>
            </a:extLst>
          </p:cNvPr>
          <p:cNvSpPr txBox="1"/>
          <p:nvPr/>
        </p:nvSpPr>
        <p:spPr>
          <a:xfrm>
            <a:off x="1646087" y="811842"/>
            <a:ext cx="14995821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6098" b="0" i="0" u="none" strike="noStrike" cap="none" noProof="0" dirty="0">
                <a:solidFill>
                  <a:srgbClr val="DD0303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La Integración de Sistemas Domóticos</a:t>
            </a:r>
            <a:endParaRPr lang="es-GT" sz="1400" b="0" i="0" u="none" strike="noStrike" cap="none" noProof="0" dirty="0">
              <a:solidFill>
                <a:srgbClr val="DD0303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</p:txBody>
      </p:sp>
      <p:sp>
        <p:nvSpPr>
          <p:cNvPr id="2" name="Google Shape;154;p4">
            <a:extLst>
              <a:ext uri="{FF2B5EF4-FFF2-40B4-BE49-F238E27FC236}">
                <a16:creationId xmlns:a16="http://schemas.microsoft.com/office/drawing/2014/main" id="{19E4CF62-2EA8-2EE4-CD9B-2D36F5C2DDF2}"/>
              </a:ext>
            </a:extLst>
          </p:cNvPr>
          <p:cNvSpPr txBox="1"/>
          <p:nvPr/>
        </p:nvSpPr>
        <p:spPr>
          <a:xfrm>
            <a:off x="6166466" y="4932077"/>
            <a:ext cx="5955059" cy="239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HICKEN Pie" panose="02000600000000000000" pitchFamily="2" charset="0"/>
              </a:rPr>
              <a:t>Estándares de Comunicación: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800" dirty="0" err="1">
                <a:latin typeface="Century Gothic" panose="020B0502020202020204" pitchFamily="34" charset="0"/>
              </a:rPr>
              <a:t>Wi</a:t>
            </a:r>
            <a:r>
              <a:rPr lang="es-ES" sz="1800" dirty="0">
                <a:latin typeface="Century Gothic" panose="020B0502020202020204" pitchFamily="34" charset="0"/>
              </a:rPr>
              <a:t>-Fi, Bluetooth, </a:t>
            </a:r>
            <a:r>
              <a:rPr lang="es-ES" sz="1800" dirty="0" err="1">
                <a:latin typeface="Century Gothic" panose="020B0502020202020204" pitchFamily="34" charset="0"/>
              </a:rPr>
              <a:t>Zigbee</a:t>
            </a:r>
            <a:r>
              <a:rPr lang="es-ES" sz="1800" dirty="0">
                <a:latin typeface="Century Gothic" panose="020B0502020202020204" pitchFamily="34" charset="0"/>
              </a:rPr>
              <a:t> y Z-Wave permiten la interoperabilidad entre dispositivos de diferentes marcas, facilitando la integración de sistemas domóticos.</a:t>
            </a:r>
            <a:endParaRPr lang="es-GT" sz="18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E31C2FB-037C-D3C4-584B-B88CE92A4466}"/>
              </a:ext>
            </a:extLst>
          </p:cNvPr>
          <p:cNvSpPr/>
          <p:nvPr/>
        </p:nvSpPr>
        <p:spPr>
          <a:xfrm>
            <a:off x="4492526" y="2930307"/>
            <a:ext cx="1288842" cy="1224116"/>
          </a:xfrm>
          <a:prstGeom prst="ellipse">
            <a:avLst/>
          </a:prstGeom>
          <a:solidFill>
            <a:srgbClr val="FA81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" name="Google Shape;154;p4">
            <a:extLst>
              <a:ext uri="{FF2B5EF4-FFF2-40B4-BE49-F238E27FC236}">
                <a16:creationId xmlns:a16="http://schemas.microsoft.com/office/drawing/2014/main" id="{0481567B-0B78-D837-88B6-69A453F900C4}"/>
              </a:ext>
            </a:extLst>
          </p:cNvPr>
          <p:cNvSpPr txBox="1"/>
          <p:nvPr/>
        </p:nvSpPr>
        <p:spPr>
          <a:xfrm>
            <a:off x="6166470" y="7454028"/>
            <a:ext cx="5955059" cy="1916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1800" dirty="0" err="1">
                <a:latin typeface="CHICKEN Pie" panose="02000600000000000000" pitchFamily="2" charset="0"/>
              </a:rPr>
              <a:t>APIs</a:t>
            </a:r>
            <a:r>
              <a:rPr lang="es-ES" sz="1800" dirty="0">
                <a:latin typeface="CHICKEN Pie" panose="02000600000000000000" pitchFamily="2" charset="0"/>
              </a:rPr>
              <a:t> e Integración: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800" dirty="0">
                <a:latin typeface="Century Gothic" panose="020B0502020202020204" pitchFamily="34" charset="0"/>
              </a:rPr>
              <a:t>Las </a:t>
            </a:r>
            <a:r>
              <a:rPr lang="es-ES" sz="1800" dirty="0" err="1">
                <a:latin typeface="Century Gothic" panose="020B0502020202020204" pitchFamily="34" charset="0"/>
              </a:rPr>
              <a:t>APIs</a:t>
            </a:r>
            <a:r>
              <a:rPr lang="es-ES" sz="1800" dirty="0">
                <a:latin typeface="Century Gothic" panose="020B0502020202020204" pitchFamily="34" charset="0"/>
              </a:rPr>
              <a:t> permiten integrar sistemas domóticos con otras aplicaciones y servicios, como plataformas de seguridad, entretenimiento y redes sociales.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64D2496-CEE4-2C8D-BC66-708CA7CD7633}"/>
              </a:ext>
            </a:extLst>
          </p:cNvPr>
          <p:cNvSpPr/>
          <p:nvPr/>
        </p:nvSpPr>
        <p:spPr>
          <a:xfrm>
            <a:off x="4492526" y="5396076"/>
            <a:ext cx="1288842" cy="1224116"/>
          </a:xfrm>
          <a:prstGeom prst="ellipse">
            <a:avLst/>
          </a:prstGeom>
          <a:solidFill>
            <a:srgbClr val="FA81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B510ECF-BCC8-85A8-7B94-DF15C4EBE1DD}"/>
              </a:ext>
            </a:extLst>
          </p:cNvPr>
          <p:cNvSpPr/>
          <p:nvPr/>
        </p:nvSpPr>
        <p:spPr>
          <a:xfrm>
            <a:off x="4492526" y="7934391"/>
            <a:ext cx="1288842" cy="1224116"/>
          </a:xfrm>
          <a:prstGeom prst="ellipse">
            <a:avLst/>
          </a:prstGeom>
          <a:solidFill>
            <a:srgbClr val="FA81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 dirty="0"/>
          </a:p>
        </p:txBody>
      </p:sp>
      <p:sp>
        <p:nvSpPr>
          <p:cNvPr id="3" name="Google Shape;155;p4">
            <a:extLst>
              <a:ext uri="{FF2B5EF4-FFF2-40B4-BE49-F238E27FC236}">
                <a16:creationId xmlns:a16="http://schemas.microsoft.com/office/drawing/2014/main" id="{F4D1AE19-8B37-2506-A2BF-6E1BD939B396}"/>
              </a:ext>
            </a:extLst>
          </p:cNvPr>
          <p:cNvSpPr txBox="1"/>
          <p:nvPr/>
        </p:nvSpPr>
        <p:spPr>
          <a:xfrm rot="20149082">
            <a:off x="4826862" y="2750067"/>
            <a:ext cx="1121694" cy="130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7500" b="0" i="0" u="none" strike="noStrike" cap="none" noProof="0" dirty="0">
                <a:solidFill>
                  <a:srgbClr val="FAB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1</a:t>
            </a:r>
          </a:p>
        </p:txBody>
      </p:sp>
      <p:sp>
        <p:nvSpPr>
          <p:cNvPr id="5" name="Google Shape;155;p4">
            <a:extLst>
              <a:ext uri="{FF2B5EF4-FFF2-40B4-BE49-F238E27FC236}">
                <a16:creationId xmlns:a16="http://schemas.microsoft.com/office/drawing/2014/main" id="{83A7FD1D-B233-D797-3375-1628F194201D}"/>
              </a:ext>
            </a:extLst>
          </p:cNvPr>
          <p:cNvSpPr txBox="1"/>
          <p:nvPr/>
        </p:nvSpPr>
        <p:spPr>
          <a:xfrm rot="1442083">
            <a:off x="4827803" y="5478060"/>
            <a:ext cx="1121694" cy="130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7500" dirty="0">
                <a:solidFill>
                  <a:srgbClr val="FAB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2</a:t>
            </a:r>
            <a:endParaRPr lang="es-GT" sz="7500" b="0" i="0" u="none" strike="noStrike" cap="none" noProof="0" dirty="0">
              <a:solidFill>
                <a:srgbClr val="FAB12F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</p:txBody>
      </p:sp>
      <p:sp>
        <p:nvSpPr>
          <p:cNvPr id="6" name="Google Shape;155;p4">
            <a:extLst>
              <a:ext uri="{FF2B5EF4-FFF2-40B4-BE49-F238E27FC236}">
                <a16:creationId xmlns:a16="http://schemas.microsoft.com/office/drawing/2014/main" id="{3C46FA66-1EA2-E5F6-405A-C91C77E13B2C}"/>
              </a:ext>
            </a:extLst>
          </p:cNvPr>
          <p:cNvSpPr txBox="1"/>
          <p:nvPr/>
        </p:nvSpPr>
        <p:spPr>
          <a:xfrm rot="20149082">
            <a:off x="4826863" y="7755523"/>
            <a:ext cx="1121694" cy="130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7500" dirty="0">
                <a:solidFill>
                  <a:srgbClr val="FAB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3</a:t>
            </a:r>
            <a:endParaRPr lang="es-GT" sz="7500" b="0" i="0" u="none" strike="noStrike" cap="none" noProof="0" dirty="0">
              <a:solidFill>
                <a:srgbClr val="FAB12F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E191521-1BB8-8E9B-6A6D-AC2CE8F1D45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072755" y="2257762"/>
            <a:ext cx="4619625" cy="712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E0E15E4-8676-FA59-BC8D-49D90DF4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Etiqueta De Nota Adhesiva Portátil De Dibujos Animados Marrón PNG ,dibujos  Cuaderno, Papel De Notas, Nota PNG y Vector para Descargar Gratis | Pngtree">
            <a:extLst>
              <a:ext uri="{FF2B5EF4-FFF2-40B4-BE49-F238E27FC236}">
                <a16:creationId xmlns:a16="http://schemas.microsoft.com/office/drawing/2014/main" id="{F0440C46-C4D3-4F0F-28D7-D75E9C2AB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907" y="3626367"/>
            <a:ext cx="7403690" cy="740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Etiqueta De Nota Adhesiva Portátil De Dibujos Animados Marrón PNG ,dibujos  Cuaderno, Papel De Notas, Nota PNG y Vector para Descargar Gratis | Pngtree">
            <a:extLst>
              <a:ext uri="{FF2B5EF4-FFF2-40B4-BE49-F238E27FC236}">
                <a16:creationId xmlns:a16="http://schemas.microsoft.com/office/drawing/2014/main" id="{FBFCA074-AB87-F4F3-CCCD-46D370D6E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57" y="3626367"/>
            <a:ext cx="7403690" cy="740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Etiqueta De Nota Adhesiva Portátil De Dibujos Animados Marrón PNG ,dibujos  Cuaderno, Papel De Notas, Nota PNG y Vector para Descargar Gratis | Pngtree">
            <a:extLst>
              <a:ext uri="{FF2B5EF4-FFF2-40B4-BE49-F238E27FC236}">
                <a16:creationId xmlns:a16="http://schemas.microsoft.com/office/drawing/2014/main" id="{6E93EA91-C283-EEA3-B6A3-891EBDCA9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57" y="272192"/>
            <a:ext cx="7403690" cy="740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Etiqueta De Nota Adhesiva Portátil De Dibujos Animados Marrón PNG ,dibujos  Cuaderno, Papel De Notas, Nota PNG y Vector para Descargar Gratis | Pngtree">
            <a:extLst>
              <a:ext uri="{FF2B5EF4-FFF2-40B4-BE49-F238E27FC236}">
                <a16:creationId xmlns:a16="http://schemas.microsoft.com/office/drawing/2014/main" id="{64522C76-0E3D-0C97-F69A-5848FD02C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907" y="272192"/>
            <a:ext cx="7403690" cy="740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" name="Google Shape;154;p4">
            <a:extLst>
              <a:ext uri="{FF2B5EF4-FFF2-40B4-BE49-F238E27FC236}">
                <a16:creationId xmlns:a16="http://schemas.microsoft.com/office/drawing/2014/main" id="{AD02E038-1B54-7A58-6263-EE7549902198}"/>
              </a:ext>
            </a:extLst>
          </p:cNvPr>
          <p:cNvSpPr txBox="1"/>
          <p:nvPr/>
        </p:nvSpPr>
        <p:spPr>
          <a:xfrm>
            <a:off x="3209304" y="3019968"/>
            <a:ext cx="5064541" cy="226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1700" b="1" dirty="0">
                <a:latin typeface="Century Gothic" panose="020B0502020202020204" pitchFamily="34" charset="0"/>
              </a:rPr>
              <a:t>Cifrado de Datos: 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700" dirty="0">
                <a:latin typeface="Century Gothic" panose="020B0502020202020204" pitchFamily="34" charset="0"/>
              </a:rPr>
              <a:t>El cifrado protege la información sensible transmitida entre dispositivos domóticos, como credenciales de acceso y datos personales, contra accesos no autorizados.</a:t>
            </a:r>
            <a:endParaRPr lang="es-GT" sz="17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55" name="Google Shape;155;p4">
            <a:extLst>
              <a:ext uri="{FF2B5EF4-FFF2-40B4-BE49-F238E27FC236}">
                <a16:creationId xmlns:a16="http://schemas.microsoft.com/office/drawing/2014/main" id="{15212AFC-4EF9-FFD7-5F55-F2AE8CE725C9}"/>
              </a:ext>
            </a:extLst>
          </p:cNvPr>
          <p:cNvSpPr txBox="1"/>
          <p:nvPr/>
        </p:nvSpPr>
        <p:spPr>
          <a:xfrm>
            <a:off x="1979571" y="870305"/>
            <a:ext cx="15069563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6098" b="0" i="0" u="none" strike="noStrike" cap="none" noProof="0" dirty="0">
                <a:solidFill>
                  <a:srgbClr val="FA8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Seguridad y Privacidad en la Domótica</a:t>
            </a:r>
            <a:endParaRPr lang="es-GT" sz="1400" b="0" i="0" u="none" strike="noStrike" cap="none" noProof="0" dirty="0">
              <a:solidFill>
                <a:srgbClr val="FA812F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</p:txBody>
      </p:sp>
      <p:sp>
        <p:nvSpPr>
          <p:cNvPr id="2" name="Google Shape;154;p4">
            <a:extLst>
              <a:ext uri="{FF2B5EF4-FFF2-40B4-BE49-F238E27FC236}">
                <a16:creationId xmlns:a16="http://schemas.microsoft.com/office/drawing/2014/main" id="{513C3A18-319C-0804-B349-B538A03A08E5}"/>
              </a:ext>
            </a:extLst>
          </p:cNvPr>
          <p:cNvSpPr txBox="1"/>
          <p:nvPr/>
        </p:nvSpPr>
        <p:spPr>
          <a:xfrm>
            <a:off x="10271438" y="6318202"/>
            <a:ext cx="5011857" cy="25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1600" b="1" dirty="0">
                <a:latin typeface="Century Gothic" panose="020B0502020202020204" pitchFamily="34" charset="0"/>
              </a:rPr>
              <a:t>Privacidad de los Datos: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600" dirty="0">
                <a:latin typeface="Century Gothic" panose="020B0502020202020204" pitchFamily="34" charset="0"/>
              </a:rPr>
              <a:t>La domótica recopila datos sobre hábitos y actividades de los residentes. Los fabricantes deben garantizar la privacidad y proporcionar opciones para controlar el acceso y uso de información personal.</a:t>
            </a:r>
            <a:endParaRPr lang="es-GT" sz="16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4" name="Google Shape;154;p4">
            <a:extLst>
              <a:ext uri="{FF2B5EF4-FFF2-40B4-BE49-F238E27FC236}">
                <a16:creationId xmlns:a16="http://schemas.microsoft.com/office/drawing/2014/main" id="{531F04E7-7021-E1D7-0255-AF5F8570AE32}"/>
              </a:ext>
            </a:extLst>
          </p:cNvPr>
          <p:cNvSpPr txBox="1"/>
          <p:nvPr/>
        </p:nvSpPr>
        <p:spPr>
          <a:xfrm>
            <a:off x="3209304" y="6341491"/>
            <a:ext cx="5085834" cy="25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1600" b="1" dirty="0">
                <a:latin typeface="Century Gothic" panose="020B0502020202020204" pitchFamily="34" charset="0"/>
              </a:rPr>
              <a:t>Actualización de Seguridad: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600" dirty="0">
                <a:latin typeface="Century Gothic" panose="020B0502020202020204" pitchFamily="34" charset="0"/>
              </a:rPr>
              <a:t>Es fundamental actualizar los dispositivos domóticos regularmente para protegerse de vulnerabilidades y ataques cibernéticos, corrigiendo errores y mejorando la seguridad del sistema.</a:t>
            </a:r>
          </a:p>
        </p:txBody>
      </p:sp>
      <p:sp>
        <p:nvSpPr>
          <p:cNvPr id="3" name="Google Shape;154;p4">
            <a:extLst>
              <a:ext uri="{FF2B5EF4-FFF2-40B4-BE49-F238E27FC236}">
                <a16:creationId xmlns:a16="http://schemas.microsoft.com/office/drawing/2014/main" id="{DBFD114B-46FB-A5E7-94BE-C9096DF6F70B}"/>
              </a:ext>
            </a:extLst>
          </p:cNvPr>
          <p:cNvSpPr txBox="1"/>
          <p:nvPr/>
        </p:nvSpPr>
        <p:spPr>
          <a:xfrm>
            <a:off x="10271438" y="3088131"/>
            <a:ext cx="5011857" cy="226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1700" b="1" dirty="0">
                <a:latin typeface="Century Gothic" panose="020B0502020202020204" pitchFamily="34" charset="0"/>
              </a:rPr>
              <a:t>Autenticación Y Autorización:</a:t>
            </a:r>
          </a:p>
          <a:p>
            <a:pPr lvl="0" algn="just">
              <a:lnSpc>
                <a:spcPct val="173070"/>
              </a:lnSpc>
              <a:buSzPts val="3925"/>
            </a:pPr>
            <a:r>
              <a:rPr lang="es-ES" sz="1700" dirty="0">
                <a:latin typeface="Century Gothic" panose="020B0502020202020204" pitchFamily="34" charset="0"/>
              </a:rPr>
              <a:t>Los sistemas domóticos requieren mecanismos robustos de autenticación y autorización para garantizar que solo usuarios autorizados accedan y controlen los dispositivos del hogar.</a:t>
            </a:r>
            <a:endParaRPr lang="es-GT" sz="17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D85077-4C39-92FB-40B6-998A0CAAD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57" y="7240791"/>
            <a:ext cx="3046209" cy="304620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CB2EAB5-D902-5E4F-3B4C-2D3F67318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120055" flipV="1">
            <a:off x="15526029" y="7009195"/>
            <a:ext cx="3046209" cy="304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977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EA987034-712D-469E-BC7C-5F03C74A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 descr="Patrón hecho con iconos de conexión | Vector Premium">
            <a:extLst>
              <a:ext uri="{FF2B5EF4-FFF2-40B4-BE49-F238E27FC236}">
                <a16:creationId xmlns:a16="http://schemas.microsoft.com/office/drawing/2014/main" id="{D28D924B-6E9B-246E-EAF0-2BED30386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070380" y="0"/>
            <a:ext cx="10287001" cy="1028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Patrón hecho con iconos de conexión | Vector Premium">
            <a:extLst>
              <a:ext uri="{FF2B5EF4-FFF2-40B4-BE49-F238E27FC236}">
                <a16:creationId xmlns:a16="http://schemas.microsoft.com/office/drawing/2014/main" id="{ED5E18A6-F0D7-6B4A-5184-18C13EAE0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0287001" cy="1028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CB8A30C3-37D6-A7DB-ECB7-4ADC05F3EC8F}"/>
              </a:ext>
            </a:extLst>
          </p:cNvPr>
          <p:cNvSpPr/>
          <p:nvPr/>
        </p:nvSpPr>
        <p:spPr>
          <a:xfrm>
            <a:off x="5878032" y="3587545"/>
            <a:ext cx="6150077" cy="3111909"/>
          </a:xfrm>
          <a:prstGeom prst="ellipse">
            <a:avLst/>
          </a:prstGeom>
          <a:solidFill>
            <a:srgbClr val="DD0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D0312E7-2DB0-5F22-231A-7540B64C16FC}"/>
              </a:ext>
            </a:extLst>
          </p:cNvPr>
          <p:cNvSpPr/>
          <p:nvPr/>
        </p:nvSpPr>
        <p:spPr>
          <a:xfrm>
            <a:off x="1374889" y="5374261"/>
            <a:ext cx="4357419" cy="4178987"/>
          </a:xfrm>
          <a:prstGeom prst="ellipse">
            <a:avLst/>
          </a:prstGeom>
          <a:solidFill>
            <a:srgbClr val="FAB1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D75B89E-BEE3-7A4C-08DD-A53F0376595E}"/>
              </a:ext>
            </a:extLst>
          </p:cNvPr>
          <p:cNvSpPr/>
          <p:nvPr/>
        </p:nvSpPr>
        <p:spPr>
          <a:xfrm>
            <a:off x="12338617" y="5453649"/>
            <a:ext cx="4357419" cy="4178987"/>
          </a:xfrm>
          <a:prstGeom prst="ellipse">
            <a:avLst/>
          </a:prstGeom>
          <a:solidFill>
            <a:srgbClr val="FAB1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C04D9FB-FD51-45AB-0894-21C97384F591}"/>
              </a:ext>
            </a:extLst>
          </p:cNvPr>
          <p:cNvSpPr/>
          <p:nvPr/>
        </p:nvSpPr>
        <p:spPr>
          <a:xfrm>
            <a:off x="12447654" y="607054"/>
            <a:ext cx="4357419" cy="4178987"/>
          </a:xfrm>
          <a:prstGeom prst="ellipse">
            <a:avLst/>
          </a:prstGeom>
          <a:solidFill>
            <a:srgbClr val="FAB1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6606398-3986-819B-50D7-BA8537ABFFD9}"/>
              </a:ext>
            </a:extLst>
          </p:cNvPr>
          <p:cNvSpPr/>
          <p:nvPr/>
        </p:nvSpPr>
        <p:spPr>
          <a:xfrm>
            <a:off x="1337203" y="654364"/>
            <a:ext cx="4357419" cy="4178987"/>
          </a:xfrm>
          <a:prstGeom prst="ellipse">
            <a:avLst/>
          </a:prstGeom>
          <a:solidFill>
            <a:srgbClr val="FAB1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4" name="Google Shape;154;p4">
            <a:extLst>
              <a:ext uri="{FF2B5EF4-FFF2-40B4-BE49-F238E27FC236}">
                <a16:creationId xmlns:a16="http://schemas.microsoft.com/office/drawing/2014/main" id="{6E653FDA-3402-0068-0D57-E7F77EA1F1CC}"/>
              </a:ext>
            </a:extLst>
          </p:cNvPr>
          <p:cNvSpPr txBox="1"/>
          <p:nvPr/>
        </p:nvSpPr>
        <p:spPr>
          <a:xfrm>
            <a:off x="1482927" y="1498526"/>
            <a:ext cx="4054164" cy="2396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73070"/>
              </a:lnSpc>
              <a:buSzPts val="3925"/>
            </a:pPr>
            <a:r>
              <a:rPr lang="es-ES" sz="1500" dirty="0">
                <a:latin typeface="Century Gothic" panose="020B0502020202020204" pitchFamily="34" charset="0"/>
              </a:rPr>
              <a:t>Inteligencia Artificial:</a:t>
            </a:r>
          </a:p>
          <a:p>
            <a:pPr lvl="0" algn="ctr">
              <a:lnSpc>
                <a:spcPct val="173070"/>
              </a:lnSpc>
              <a:buSzPts val="3925"/>
            </a:pPr>
            <a:r>
              <a:rPr lang="es-ES" sz="1500" dirty="0">
                <a:latin typeface="Century Gothic" panose="020B0502020202020204" pitchFamily="34" charset="0"/>
              </a:rPr>
              <a:t>La </a:t>
            </a:r>
            <a:r>
              <a:rPr lang="es-ES" sz="1500" dirty="0" err="1">
                <a:latin typeface="Century Gothic" panose="020B0502020202020204" pitchFamily="34" charset="0"/>
              </a:rPr>
              <a:t>lA</a:t>
            </a:r>
            <a:r>
              <a:rPr lang="es-ES" sz="1500" dirty="0">
                <a:latin typeface="Century Gothic" panose="020B0502020202020204" pitchFamily="34" charset="0"/>
              </a:rPr>
              <a:t> está transformando la domótica, permitiendo la personalización de las experiencias del usuario, la optimización del consumo energético y la detección proactiva de problemas.</a:t>
            </a:r>
            <a:endParaRPr lang="es-GT" sz="15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55" name="Google Shape;155;p4">
            <a:extLst>
              <a:ext uri="{FF2B5EF4-FFF2-40B4-BE49-F238E27FC236}">
                <a16:creationId xmlns:a16="http://schemas.microsoft.com/office/drawing/2014/main" id="{44459F82-708C-F613-10CC-4E8EC9E2879D}"/>
              </a:ext>
            </a:extLst>
          </p:cNvPr>
          <p:cNvSpPr txBox="1"/>
          <p:nvPr/>
        </p:nvSpPr>
        <p:spPr>
          <a:xfrm>
            <a:off x="6468588" y="4274030"/>
            <a:ext cx="4960257" cy="173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5000" b="0" i="0" u="none" strike="noStrike" cap="none" noProof="0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Tendencias Emergentes</a:t>
            </a:r>
            <a:endParaRPr lang="es-GT" sz="5000" b="0" i="0" u="none" strike="noStrike" cap="none" noProof="0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" name="Google Shape;154;p4">
            <a:extLst>
              <a:ext uri="{FF2B5EF4-FFF2-40B4-BE49-F238E27FC236}">
                <a16:creationId xmlns:a16="http://schemas.microsoft.com/office/drawing/2014/main" id="{C25DFC76-98D1-71F5-52B6-7756BF1EBFFE}"/>
              </a:ext>
            </a:extLst>
          </p:cNvPr>
          <p:cNvSpPr txBox="1"/>
          <p:nvPr/>
        </p:nvSpPr>
        <p:spPr>
          <a:xfrm>
            <a:off x="12618063" y="6213549"/>
            <a:ext cx="3798525" cy="279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73070"/>
              </a:lnSpc>
              <a:buSzPts val="3925"/>
            </a:pPr>
            <a:r>
              <a:rPr lang="es-ES" sz="1500" dirty="0">
                <a:latin typeface="Century Gothic" panose="020B0502020202020204" pitchFamily="34" charset="0"/>
              </a:rPr>
              <a:t>Integración de Sistemas:</a:t>
            </a:r>
          </a:p>
          <a:p>
            <a:pPr lvl="0" algn="ctr">
              <a:lnSpc>
                <a:spcPct val="173070"/>
              </a:lnSpc>
              <a:buSzPts val="3925"/>
            </a:pPr>
            <a:r>
              <a:rPr lang="es-ES" sz="1500" dirty="0">
                <a:latin typeface="Century Gothic" panose="020B0502020202020204" pitchFamily="34" charset="0"/>
              </a:rPr>
              <a:t>La interoperabilidad y la integración de sistemas domóticos con otros sistemas, como los de salud, transporte y seguridad, están creando nuevas posibilidades de comodidad, eficiencia y seguridad. </a:t>
            </a:r>
            <a:endParaRPr lang="es-GT" sz="15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4" name="Google Shape;154;p4">
            <a:extLst>
              <a:ext uri="{FF2B5EF4-FFF2-40B4-BE49-F238E27FC236}">
                <a16:creationId xmlns:a16="http://schemas.microsoft.com/office/drawing/2014/main" id="{C18F9630-E59C-1399-05CA-44B545077337}"/>
              </a:ext>
            </a:extLst>
          </p:cNvPr>
          <p:cNvSpPr txBox="1"/>
          <p:nvPr/>
        </p:nvSpPr>
        <p:spPr>
          <a:xfrm>
            <a:off x="1761698" y="6213548"/>
            <a:ext cx="3775393" cy="279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73070"/>
              </a:lnSpc>
              <a:buSzPts val="3925"/>
            </a:pPr>
            <a:r>
              <a:rPr lang="es-ES" sz="1500" dirty="0">
                <a:latin typeface="Century Gothic" panose="020B0502020202020204" pitchFamily="34" charset="0"/>
              </a:rPr>
              <a:t>Realidad Virtual y Aumentada: (RV/RA)</a:t>
            </a:r>
          </a:p>
          <a:p>
            <a:pPr lvl="0" algn="ctr">
              <a:lnSpc>
                <a:spcPct val="173070"/>
              </a:lnSpc>
              <a:buSzPts val="3925"/>
            </a:pPr>
            <a:r>
              <a:rPr lang="es-ES" sz="1500" dirty="0">
                <a:latin typeface="Century Gothic" panose="020B0502020202020204" pitchFamily="34" charset="0"/>
              </a:rPr>
              <a:t>La RV/RA se está utilizando en la domótica para crear experiencias inmersivas de visualización y control del hogar, desde la planificación de la decoración hasta la simulación de escenarios de seguridad.</a:t>
            </a:r>
          </a:p>
        </p:txBody>
      </p:sp>
      <p:sp>
        <p:nvSpPr>
          <p:cNvPr id="3" name="Google Shape;154;p4">
            <a:extLst>
              <a:ext uri="{FF2B5EF4-FFF2-40B4-BE49-F238E27FC236}">
                <a16:creationId xmlns:a16="http://schemas.microsoft.com/office/drawing/2014/main" id="{DFF83640-E7CD-CDE3-914D-22D752D03EBA}"/>
              </a:ext>
            </a:extLst>
          </p:cNvPr>
          <p:cNvSpPr txBox="1"/>
          <p:nvPr/>
        </p:nvSpPr>
        <p:spPr>
          <a:xfrm>
            <a:off x="12660732" y="1278070"/>
            <a:ext cx="3931261" cy="2396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73070"/>
              </a:lnSpc>
              <a:buSzPts val="3925"/>
            </a:pPr>
            <a:r>
              <a:rPr lang="es-ES" sz="1500" dirty="0">
                <a:latin typeface="Century Gothic" panose="020B0502020202020204" pitchFamily="34" charset="0"/>
              </a:rPr>
              <a:t>Edge Computing:</a:t>
            </a:r>
          </a:p>
          <a:p>
            <a:pPr lvl="0" algn="ctr">
              <a:lnSpc>
                <a:spcPct val="173070"/>
              </a:lnSpc>
              <a:buSzPts val="3925"/>
            </a:pPr>
            <a:r>
              <a:rPr lang="es-ES" sz="1500" dirty="0">
                <a:latin typeface="Century Gothic" panose="020B0502020202020204" pitchFamily="34" charset="0"/>
              </a:rPr>
              <a:t>El </a:t>
            </a:r>
            <a:r>
              <a:rPr lang="es-ES" sz="1500" dirty="0" err="1">
                <a:latin typeface="Century Gothic" panose="020B0502020202020204" pitchFamily="34" charset="0"/>
              </a:rPr>
              <a:t>edge</a:t>
            </a:r>
            <a:r>
              <a:rPr lang="es-ES" sz="1500" dirty="0">
                <a:latin typeface="Century Gothic" panose="020B0502020202020204" pitchFamily="34" charset="0"/>
              </a:rPr>
              <a:t> </a:t>
            </a:r>
            <a:r>
              <a:rPr lang="es-ES" sz="1500" dirty="0" err="1">
                <a:latin typeface="Century Gothic" panose="020B0502020202020204" pitchFamily="34" charset="0"/>
              </a:rPr>
              <a:t>computing</a:t>
            </a:r>
            <a:r>
              <a:rPr lang="es-ES" sz="1500" dirty="0">
                <a:latin typeface="Century Gothic" panose="020B0502020202020204" pitchFamily="34" charset="0"/>
              </a:rPr>
              <a:t> permite procesar datos localmente en los dispositivos domóticos, reduciendo la dependencia de la nube y mejorando la velocidad de respuesta y la privacidad de los datos. </a:t>
            </a:r>
            <a:endParaRPr lang="es-GT" sz="15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3520598-ACDE-CBBA-3D7F-3847A7D02626}"/>
              </a:ext>
            </a:extLst>
          </p:cNvPr>
          <p:cNvCxnSpPr>
            <a:stCxn id="9" idx="7"/>
            <a:endCxn id="7" idx="2"/>
          </p:cNvCxnSpPr>
          <p:nvPr/>
        </p:nvCxnSpPr>
        <p:spPr>
          <a:xfrm flipV="1">
            <a:off x="11127451" y="2696548"/>
            <a:ext cx="1320203" cy="1346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E793696-DB23-D427-45FB-C102D1AD33CB}"/>
              </a:ext>
            </a:extLst>
          </p:cNvPr>
          <p:cNvCxnSpPr>
            <a:stCxn id="9" idx="5"/>
            <a:endCxn id="8" idx="2"/>
          </p:cNvCxnSpPr>
          <p:nvPr/>
        </p:nvCxnSpPr>
        <p:spPr>
          <a:xfrm>
            <a:off x="11127451" y="6243725"/>
            <a:ext cx="1211166" cy="1299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EDBC2BF-B8B1-04DE-7BE5-3A88C31F9387}"/>
              </a:ext>
            </a:extLst>
          </p:cNvPr>
          <p:cNvCxnSpPr>
            <a:stCxn id="9" idx="3"/>
            <a:endCxn id="6" idx="6"/>
          </p:cNvCxnSpPr>
          <p:nvPr/>
        </p:nvCxnSpPr>
        <p:spPr>
          <a:xfrm flipH="1">
            <a:off x="5732308" y="6243725"/>
            <a:ext cx="1046382" cy="12200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F78008D-567D-E0D4-B951-2835DDAB05C1}"/>
              </a:ext>
            </a:extLst>
          </p:cNvPr>
          <p:cNvCxnSpPr>
            <a:stCxn id="9" idx="1"/>
            <a:endCxn id="5" idx="6"/>
          </p:cNvCxnSpPr>
          <p:nvPr/>
        </p:nvCxnSpPr>
        <p:spPr>
          <a:xfrm flipH="1" flipV="1">
            <a:off x="5694622" y="2743858"/>
            <a:ext cx="1084068" cy="12994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223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2D48005-DE21-CAA4-1D47-2329B7CF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>
            <a:extLst>
              <a:ext uri="{FF2B5EF4-FFF2-40B4-BE49-F238E27FC236}">
                <a16:creationId xmlns:a16="http://schemas.microsoft.com/office/drawing/2014/main" id="{4A1FA4D3-A11D-289B-9AFD-AD09B91E7EA1}"/>
              </a:ext>
            </a:extLst>
          </p:cNvPr>
          <p:cNvSpPr txBox="1"/>
          <p:nvPr/>
        </p:nvSpPr>
        <p:spPr>
          <a:xfrm>
            <a:off x="888193" y="3169169"/>
            <a:ext cx="11382466" cy="479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73070"/>
              </a:lnSpc>
              <a:buSzPts val="3925"/>
            </a:pPr>
            <a:r>
              <a:rPr lang="es-ES" sz="3000" dirty="0">
                <a:latin typeface="Century Gothic" panose="020B0502020202020204" pitchFamily="34" charset="0"/>
              </a:rPr>
              <a:t>La domótica está transformando nuestros hogares, haciéndolos más cómodos, seguros y eficientes. Con los avances en </a:t>
            </a:r>
            <a:r>
              <a:rPr lang="es-ES" sz="3000" dirty="0" err="1">
                <a:latin typeface="Century Gothic" panose="020B0502020202020204" pitchFamily="34" charset="0"/>
              </a:rPr>
              <a:t>IoT</a:t>
            </a:r>
            <a:r>
              <a:rPr lang="es-ES" sz="3000" dirty="0">
                <a:latin typeface="Century Gothic" panose="020B0502020202020204" pitchFamily="34" charset="0"/>
              </a:rPr>
              <a:t> e IA, continuará evolucionando y mejorando la calidad de vida. Es crucial abordar la seguridad, privacidad e interoperabilidad para garantizar un desarrollo responsable y sostenible.</a:t>
            </a:r>
            <a:endParaRPr lang="es-GT" sz="3000" b="0" i="0" u="none" strike="noStrike" cap="none" noProof="0" dirty="0">
              <a:solidFill>
                <a:srgbClr val="000000"/>
              </a:solidFill>
              <a:latin typeface="Century Gothic" panose="020B0502020202020204" pitchFamily="34" charset="0"/>
              <a:sym typeface="Arial"/>
            </a:endParaRPr>
          </a:p>
        </p:txBody>
      </p:sp>
      <p:sp>
        <p:nvSpPr>
          <p:cNvPr id="155" name="Google Shape;155;p4">
            <a:extLst>
              <a:ext uri="{FF2B5EF4-FFF2-40B4-BE49-F238E27FC236}">
                <a16:creationId xmlns:a16="http://schemas.microsoft.com/office/drawing/2014/main" id="{66062604-4F94-4567-EC47-F92F0BD25BCF}"/>
              </a:ext>
            </a:extLst>
          </p:cNvPr>
          <p:cNvSpPr txBox="1"/>
          <p:nvPr/>
        </p:nvSpPr>
        <p:spPr>
          <a:xfrm>
            <a:off x="888193" y="2108751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s-GT" sz="6098" b="0" i="0" u="none" strike="noStrike" cap="none" noProof="0" dirty="0">
                <a:solidFill>
                  <a:srgbClr val="FF0000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Conclusión y Consideraciones</a:t>
            </a:r>
            <a:endParaRPr lang="es-GT" sz="1400" b="0" i="0" u="none" strike="noStrike" cap="none" noProof="0" dirty="0">
              <a:solidFill>
                <a:srgbClr val="FF0000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</p:txBody>
      </p:sp>
      <p:pic>
        <p:nvPicPr>
          <p:cNvPr id="2" name="Picture 2" descr="Imágenes de Linea divisoria png - Descarga gratuita en Freepik">
            <a:extLst>
              <a:ext uri="{FF2B5EF4-FFF2-40B4-BE49-F238E27FC236}">
                <a16:creationId xmlns:a16="http://schemas.microsoft.com/office/drawing/2014/main" id="{84E9D99E-8402-6D95-8DF6-B682C37A7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4128215" y="1781831"/>
            <a:ext cx="9418188" cy="627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FC64D25-C816-5651-1C2F-59B9E82A17C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777634" y="1471056"/>
            <a:ext cx="4914900" cy="689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2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/>
        </p:nvSpPr>
        <p:spPr>
          <a:xfrm>
            <a:off x="4114882" y="793647"/>
            <a:ext cx="10058236" cy="23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s-GT" sz="6900" b="0" i="0" u="none" strike="noStrike" cap="none" noProof="0" dirty="0">
                <a:solidFill>
                  <a:srgbClr val="FAB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¿Qué conceptos aprendimos hoy?</a:t>
            </a:r>
            <a:endParaRPr lang="es-GT" sz="1400" b="0" i="0" u="none" strike="noStrike" cap="none" noProof="0" dirty="0">
              <a:solidFill>
                <a:srgbClr val="FAB12F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66629-687F-62F0-5361-82AF76199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409" y="3573101"/>
            <a:ext cx="11297182" cy="586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GT" altLang="es-GT" sz="25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IoT</a:t>
            </a:r>
            <a:r>
              <a:rPr kumimoji="0" lang="es-GT" altLang="es-GT" sz="25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(Internet </a:t>
            </a:r>
            <a:r>
              <a:rPr kumimoji="0" lang="es-GT" altLang="es-GT" sz="25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of</a:t>
            </a:r>
            <a:r>
              <a:rPr kumimoji="0" lang="es-GT" altLang="es-GT" sz="25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es-GT" altLang="es-GT" sz="25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Things</a:t>
            </a:r>
            <a:r>
              <a:rPr kumimoji="0" lang="es-GT" altLang="es-GT" sz="25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):</a:t>
            </a:r>
            <a:r>
              <a:rPr kumimoji="0" lang="es-GT" altLang="es-GT" sz="25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Dispositivos físicos conectados a internet que recopilan, envían y reciben datos automáticamente.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s-GT" altLang="es-GT" sz="25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GT" altLang="es-GT" sz="25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Características:</a:t>
            </a:r>
            <a:r>
              <a:rPr kumimoji="0" lang="es-GT" altLang="es-GT" sz="25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Conectividad, sensores, procesamiento de datos, automatización y control remoto.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s-GT" altLang="es-GT" sz="25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GT" altLang="es-GT" sz="25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Aplicaciones actuales:</a:t>
            </a:r>
            <a:r>
              <a:rPr kumimoji="0" lang="es-GT" altLang="es-GT" sz="25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Hogares inteligentes, ciudades inteligentes, salud, agricultura y transporte.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s-GT" altLang="es-GT" sz="25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GT" altLang="es-GT" sz="25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IIoT</a:t>
            </a:r>
            <a:r>
              <a:rPr kumimoji="0" lang="es-GT" altLang="es-GT" sz="25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kumimoji="0" lang="es-GT" altLang="es-GT" sz="25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IoT</a:t>
            </a:r>
            <a:r>
              <a:rPr kumimoji="0" lang="es-GT" altLang="es-GT" sz="25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Industrial):</a:t>
            </a:r>
            <a:r>
              <a:rPr kumimoji="0" lang="es-GT" altLang="es-GT" sz="25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Optimiza procesos productivos mediante sensores, monitoreo en tiempo real, mantenimiento predictivo y eficiencia operativa.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s-GT" altLang="es-GT" sz="25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GT" altLang="es-GT" sz="25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Ventajas:</a:t>
            </a:r>
            <a:r>
              <a:rPr kumimoji="0" lang="es-GT" altLang="es-GT" sz="25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Automatización, ahorro de recursos, decisiones basadas en datos, mayor control y eficiencia. </a:t>
            </a:r>
          </a:p>
        </p:txBody>
      </p:sp>
      <p:pic>
        <p:nvPicPr>
          <p:cNvPr id="8194" name="Picture 2" descr="exclamación marca. rojo vector advertir signo. precaución o atención icono.  34548167 Vector en Vecteezy">
            <a:extLst>
              <a:ext uri="{FF2B5EF4-FFF2-40B4-BE49-F238E27FC236}">
                <a16:creationId xmlns:a16="http://schemas.microsoft.com/office/drawing/2014/main" id="{77CDC14F-94AC-F35B-E5F9-830D80F62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2891" y="114761"/>
            <a:ext cx="3458340" cy="345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exclamación marca. rojo vector advertir signo. precaución o atención icono.  34548167 Vector en Vecteezy">
            <a:extLst>
              <a:ext uri="{FF2B5EF4-FFF2-40B4-BE49-F238E27FC236}">
                <a16:creationId xmlns:a16="http://schemas.microsoft.com/office/drawing/2014/main" id="{8BFE0C88-D73E-A8D5-FD35-AA5948F83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39961" y="114761"/>
            <a:ext cx="3458340" cy="345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mágenes de Encabezado naranja - Descarga gratuita en Freepik">
            <a:extLst>
              <a:ext uri="{FF2B5EF4-FFF2-40B4-BE49-F238E27FC236}">
                <a16:creationId xmlns:a16="http://schemas.microsoft.com/office/drawing/2014/main" id="{A1BEF256-7485-7BC9-43B1-DC68A35B1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-2137889" y="2137888"/>
            <a:ext cx="10272975" cy="599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ágenes de Encabezado naranja - Descarga gratuita en Freepik">
            <a:extLst>
              <a:ext uri="{FF2B5EF4-FFF2-40B4-BE49-F238E27FC236}">
                <a16:creationId xmlns:a16="http://schemas.microsoft.com/office/drawing/2014/main" id="{316A24E2-416A-25F4-A875-0DC48C5DB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10185002" y="2137889"/>
            <a:ext cx="10272975" cy="599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 descr="Divisor De Línea Decorativa Negra Línea Divisoria PNG ,dibujos Hilo  Decorativo, Linea De Separacion, Línea Divisoria Creativa PNG y Vector para  Descargar Gratis | Pngtree">
            <a:extLst>
              <a:ext uri="{FF2B5EF4-FFF2-40B4-BE49-F238E27FC236}">
                <a16:creationId xmlns:a16="http://schemas.microsoft.com/office/drawing/2014/main" id="{2F07F5A5-066D-EA7A-6E51-AA0669D5E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513767" y="2872468"/>
            <a:ext cx="8074779" cy="454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0" name="Google Shape;170;p7"/>
          <p:cNvSpPr txBox="1"/>
          <p:nvPr/>
        </p:nvSpPr>
        <p:spPr>
          <a:xfrm>
            <a:off x="2392350" y="1236099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s-GT" sz="6900" b="0" i="0" u="none" strike="noStrike" cap="none" noProof="0" dirty="0">
                <a:solidFill>
                  <a:srgbClr val="FA8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VALOR: CONCIENCIA ÉTICA</a:t>
            </a:r>
            <a:endParaRPr lang="es-GT" sz="1400" b="0" i="0" u="none" strike="noStrike" cap="none" noProof="0" dirty="0">
              <a:solidFill>
                <a:srgbClr val="FA812F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13197D-ED90-7CD5-22F6-4C879D06CEAD}"/>
              </a:ext>
            </a:extLst>
          </p:cNvPr>
          <p:cNvSpPr txBox="1"/>
          <p:nvPr/>
        </p:nvSpPr>
        <p:spPr>
          <a:xfrm>
            <a:off x="3403190" y="2984164"/>
            <a:ext cx="114816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dirty="0">
                <a:latin typeface="Century Gothic" panose="020B0502020202020204" pitchFamily="34" charset="0"/>
              </a:rPr>
              <a:t>Una familia instala cámaras inteligentes y asistentes de voz en su hogar. Estos dispositivos recopilan constantemente audio, video y datos sobre rutinas diarias.</a:t>
            </a:r>
          </a:p>
          <a:p>
            <a:pPr algn="just"/>
            <a:endParaRPr lang="es-ES" sz="2800" dirty="0">
              <a:latin typeface="CHICKEN Pie" panose="02000600000000000000" pitchFamily="2" charset="0"/>
            </a:endParaRPr>
          </a:p>
          <a:p>
            <a:pPr algn="just"/>
            <a:r>
              <a:rPr lang="es-ES" sz="2800" b="1" dirty="0">
                <a:latin typeface="CHICKEN Pie" panose="02000600000000000000" pitchFamily="2" charset="0"/>
              </a:rPr>
              <a:t>Desafíos éticos:</a:t>
            </a:r>
          </a:p>
          <a:p>
            <a:pPr algn="just"/>
            <a:endParaRPr lang="es-ES" sz="2800" dirty="0">
              <a:latin typeface="Century Gothic" panose="020B0502020202020204" pitchFamily="34" charset="0"/>
            </a:endParaRP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s-ES" sz="2800" b="1" dirty="0">
                <a:latin typeface="Century Gothic" panose="020B0502020202020204" pitchFamily="34" charset="0"/>
              </a:rPr>
              <a:t>Privacidad:</a:t>
            </a:r>
            <a:r>
              <a:rPr lang="es-ES" sz="2800" dirty="0">
                <a:latin typeface="Century Gothic" panose="020B0502020202020204" pitchFamily="34" charset="0"/>
              </a:rPr>
              <a:t> Datos personales almacenados en servidores de terceros.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s-ES" sz="2800" b="1" dirty="0">
                <a:latin typeface="Century Gothic" panose="020B0502020202020204" pitchFamily="34" charset="0"/>
              </a:rPr>
              <a:t>Seguridad:</a:t>
            </a:r>
            <a:r>
              <a:rPr lang="es-ES" sz="2800" dirty="0">
                <a:latin typeface="Century Gothic" panose="020B0502020202020204" pitchFamily="34" charset="0"/>
              </a:rPr>
              <a:t> Riesgo de hackeo sin cifrado y actualizaciones adecuadas.</a:t>
            </a:r>
          </a:p>
          <a:p>
            <a:pPr marL="457200" indent="-457200" algn="just">
              <a:buFont typeface="Courier New" panose="02070309020205020404" pitchFamily="49" charset="0"/>
              <a:buChar char="o"/>
            </a:pPr>
            <a:r>
              <a:rPr lang="es-ES" sz="2800" b="1" dirty="0">
                <a:latin typeface="Century Gothic" panose="020B0502020202020204" pitchFamily="34" charset="0"/>
              </a:rPr>
              <a:t>Uso responsable:</a:t>
            </a:r>
            <a:r>
              <a:rPr lang="es-ES" sz="2800" dirty="0">
                <a:latin typeface="Century Gothic" panose="020B0502020202020204" pitchFamily="34" charset="0"/>
              </a:rPr>
              <a:t> Posible venta de datos a anunciantes sin consentimiento.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821689-1068-B314-928F-6EE8871CDD3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6521" y="5923694"/>
            <a:ext cx="3604656" cy="57432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/>
        </p:nvSpPr>
        <p:spPr>
          <a:xfrm>
            <a:off x="2507390" y="1000125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s-GT" sz="6900" b="0" i="0" u="none" strike="noStrike" cap="none" noProof="0" dirty="0">
                <a:solidFill>
                  <a:srgbClr val="DD0303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Referencias</a:t>
            </a:r>
            <a:r>
              <a:rPr lang="es-GT" sz="6900" b="0" i="0" u="none" strike="noStrike" cap="none" noProof="0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endParaRPr lang="es-GT" sz="1400" b="0" i="0" u="none" strike="noStrike" cap="none" noProof="0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630B39A-4EC5-1C58-2BBD-7248ED0C7FED}"/>
              </a:ext>
            </a:extLst>
          </p:cNvPr>
          <p:cNvSpPr txBox="1"/>
          <p:nvPr/>
        </p:nvSpPr>
        <p:spPr>
          <a:xfrm>
            <a:off x="3325761" y="2649605"/>
            <a:ext cx="116364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200" dirty="0">
                <a:latin typeface="Century Gothic" panose="020B0502020202020204" pitchFamily="34" charset="0"/>
              </a:rPr>
              <a:t>Cisco — "</a:t>
            </a:r>
            <a:r>
              <a:rPr lang="es-ES" sz="3200" dirty="0" err="1">
                <a:latin typeface="Century Gothic" panose="020B0502020202020204" pitchFamily="34" charset="0"/>
              </a:rPr>
              <a:t>What</a:t>
            </a:r>
            <a:r>
              <a:rPr lang="es-ES" sz="3200" dirty="0">
                <a:latin typeface="Century Gothic" panose="020B0502020202020204" pitchFamily="34" charset="0"/>
              </a:rPr>
              <a:t> </a:t>
            </a:r>
            <a:r>
              <a:rPr lang="es-ES" sz="3200" dirty="0" err="1">
                <a:latin typeface="Century Gothic" panose="020B0502020202020204" pitchFamily="34" charset="0"/>
              </a:rPr>
              <a:t>is</a:t>
            </a:r>
            <a:r>
              <a:rPr lang="es-ES" sz="3200" dirty="0">
                <a:latin typeface="Century Gothic" panose="020B0502020202020204" pitchFamily="34" charset="0"/>
              </a:rPr>
              <a:t> </a:t>
            </a:r>
            <a:r>
              <a:rPr lang="es-ES" sz="3200" dirty="0" err="1">
                <a:latin typeface="Century Gothic" panose="020B0502020202020204" pitchFamily="34" charset="0"/>
              </a:rPr>
              <a:t>the</a:t>
            </a:r>
            <a:r>
              <a:rPr lang="es-ES" sz="3200" dirty="0">
                <a:latin typeface="Century Gothic" panose="020B0502020202020204" pitchFamily="34" charset="0"/>
              </a:rPr>
              <a:t> Internet </a:t>
            </a:r>
            <a:r>
              <a:rPr lang="es-ES" sz="3200" dirty="0" err="1">
                <a:latin typeface="Century Gothic" panose="020B0502020202020204" pitchFamily="34" charset="0"/>
              </a:rPr>
              <a:t>of</a:t>
            </a:r>
            <a:r>
              <a:rPr lang="es-ES" sz="3200" dirty="0">
                <a:latin typeface="Century Gothic" panose="020B0502020202020204" pitchFamily="34" charset="0"/>
              </a:rPr>
              <a:t> </a:t>
            </a:r>
            <a:r>
              <a:rPr lang="es-ES" sz="3200" dirty="0" err="1">
                <a:latin typeface="Century Gothic" panose="020B0502020202020204" pitchFamily="34" charset="0"/>
              </a:rPr>
              <a:t>Things</a:t>
            </a:r>
            <a:r>
              <a:rPr lang="es-ES" sz="3200" dirty="0">
                <a:latin typeface="Century Gothic" panose="020B0502020202020204" pitchFamily="34" charset="0"/>
              </a:rPr>
              <a:t> (</a:t>
            </a:r>
            <a:r>
              <a:rPr lang="es-ES" sz="3200" dirty="0" err="1">
                <a:latin typeface="Century Gothic" panose="020B0502020202020204" pitchFamily="34" charset="0"/>
              </a:rPr>
              <a:t>loT</a:t>
            </a:r>
            <a:r>
              <a:rPr lang="es-ES" sz="3200" dirty="0">
                <a:latin typeface="Century Gothic" panose="020B0502020202020204" pitchFamily="34" charset="0"/>
              </a:rPr>
              <a:t>)?" https://www.cisco.com/site/us/en/solutions/internetof-things/overview.html » Explicación clara, técnica y actualizada sobre qué es </a:t>
            </a:r>
            <a:r>
              <a:rPr lang="es-ES" sz="3200" dirty="0" err="1">
                <a:latin typeface="Century Gothic" panose="020B0502020202020204" pitchFamily="34" charset="0"/>
              </a:rPr>
              <a:t>loT</a:t>
            </a:r>
            <a:r>
              <a:rPr lang="es-ES" sz="3200" dirty="0">
                <a:latin typeface="Century Gothic" panose="020B0502020202020204" pitchFamily="34" charset="0"/>
              </a:rPr>
              <a:t> y cómo funciona. A *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3200" dirty="0">
                <a:latin typeface="Century Gothic" panose="020B0502020202020204" pitchFamily="34" charset="0"/>
              </a:rPr>
              <a:t> IBM-—"</a:t>
            </a:r>
            <a:r>
              <a:rPr lang="es-ES" sz="3200" dirty="0" err="1">
                <a:latin typeface="Century Gothic" panose="020B0502020202020204" pitchFamily="34" charset="0"/>
              </a:rPr>
              <a:t>What</a:t>
            </a:r>
            <a:r>
              <a:rPr lang="es-ES" sz="3200" dirty="0">
                <a:latin typeface="Century Gothic" panose="020B0502020202020204" pitchFamily="34" charset="0"/>
              </a:rPr>
              <a:t> </a:t>
            </a:r>
            <a:r>
              <a:rPr lang="es-ES" sz="3200" dirty="0" err="1">
                <a:latin typeface="Century Gothic" panose="020B0502020202020204" pitchFamily="34" charset="0"/>
              </a:rPr>
              <a:t>is</a:t>
            </a:r>
            <a:r>
              <a:rPr lang="es-ES" sz="3200" dirty="0">
                <a:latin typeface="Century Gothic" panose="020B0502020202020204" pitchFamily="34" charset="0"/>
              </a:rPr>
              <a:t> </a:t>
            </a:r>
            <a:r>
              <a:rPr lang="es-ES" sz="3200" dirty="0" err="1">
                <a:latin typeface="Century Gothic" panose="020B0502020202020204" pitchFamily="34" charset="0"/>
              </a:rPr>
              <a:t>loT</a:t>
            </a:r>
            <a:r>
              <a:rPr lang="es-ES" sz="3200" dirty="0">
                <a:latin typeface="Century Gothic" panose="020B0502020202020204" pitchFamily="34" charset="0"/>
              </a:rPr>
              <a:t>?" https: //www.ibm.com/topics/internet-of-things » IBM</a:t>
            </a:r>
            <a:endParaRPr lang="es-GT" sz="3200" dirty="0">
              <a:latin typeface="Century Gothic" panose="020B0502020202020204" pitchFamily="34" charset="0"/>
            </a:endParaRPr>
          </a:p>
        </p:txBody>
      </p:sp>
      <p:pic>
        <p:nvPicPr>
          <p:cNvPr id="4" name="Picture 4" descr="Imágenes de Encabezado naranja - Descarga gratuita en Freepik">
            <a:extLst>
              <a:ext uri="{FF2B5EF4-FFF2-40B4-BE49-F238E27FC236}">
                <a16:creationId xmlns:a16="http://schemas.microsoft.com/office/drawing/2014/main" id="{008C696D-7FE3-3616-A92E-9D3470B9C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10185002" y="2137889"/>
            <a:ext cx="10272975" cy="599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afea4f63_0_141"/>
          <p:cNvSpPr txBox="1"/>
          <p:nvPr/>
        </p:nvSpPr>
        <p:spPr>
          <a:xfrm rot="1067896">
            <a:off x="10717451" y="1807627"/>
            <a:ext cx="6705000" cy="163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GT" sz="7200" b="0" i="0" u="none" strike="noStrike" cap="none" noProof="0" dirty="0">
                <a:solidFill>
                  <a:srgbClr val="FAB12F"/>
                </a:solidFill>
                <a:latin typeface="ChunkFive Ex" pitchFamily="2" charset="0"/>
                <a:sym typeface="Arial"/>
              </a:rPr>
              <a:t>DUDAS ¿?</a:t>
            </a:r>
            <a:endParaRPr lang="es-GT" sz="2400" b="0" i="0" u="none" strike="noStrike" cap="none" noProof="0" dirty="0">
              <a:solidFill>
                <a:srgbClr val="FAB12F"/>
              </a:solidFill>
              <a:latin typeface="ChunkFive Ex" pitchFamily="2" charset="0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5C022F-C442-9004-4EEE-F5759E44D90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8437" y="1547812"/>
            <a:ext cx="5191125" cy="7191375"/>
          </a:xfrm>
          <a:prstGeom prst="rect">
            <a:avLst/>
          </a:prstGeom>
        </p:spPr>
      </p:pic>
      <p:sp>
        <p:nvSpPr>
          <p:cNvPr id="4" name="Google Shape;216;g364afea4f63_0_141">
            <a:extLst>
              <a:ext uri="{FF2B5EF4-FFF2-40B4-BE49-F238E27FC236}">
                <a16:creationId xmlns:a16="http://schemas.microsoft.com/office/drawing/2014/main" id="{372044E2-7EE0-FAD4-6742-80FA8AEFBCB2}"/>
              </a:ext>
            </a:extLst>
          </p:cNvPr>
          <p:cNvSpPr txBox="1"/>
          <p:nvPr/>
        </p:nvSpPr>
        <p:spPr>
          <a:xfrm rot="21072326">
            <a:off x="861327" y="1458583"/>
            <a:ext cx="6705000" cy="163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GT" sz="7200" b="0" i="0" u="none" strike="noStrike" cap="none" noProof="0" dirty="0">
                <a:solidFill>
                  <a:srgbClr val="FAB12F"/>
                </a:solidFill>
                <a:latin typeface="ChunkFive Ex" pitchFamily="2" charset="0"/>
                <a:sym typeface="Arial"/>
              </a:rPr>
              <a:t>DUDAS ¿?</a:t>
            </a:r>
            <a:endParaRPr lang="es-GT" sz="2400" b="0" i="0" u="none" strike="noStrike" cap="none" noProof="0" dirty="0">
              <a:solidFill>
                <a:srgbClr val="FAB12F"/>
              </a:solidFill>
              <a:latin typeface="ChunkFive Ex" pitchFamily="2" charset="0"/>
              <a:sym typeface="Arial"/>
            </a:endParaRPr>
          </a:p>
        </p:txBody>
      </p:sp>
      <p:sp>
        <p:nvSpPr>
          <p:cNvPr id="5" name="Google Shape;216;g364afea4f63_0_141">
            <a:extLst>
              <a:ext uri="{FF2B5EF4-FFF2-40B4-BE49-F238E27FC236}">
                <a16:creationId xmlns:a16="http://schemas.microsoft.com/office/drawing/2014/main" id="{D45CD35C-5C3A-ABB1-7A88-5526CA6178F7}"/>
              </a:ext>
            </a:extLst>
          </p:cNvPr>
          <p:cNvSpPr txBox="1"/>
          <p:nvPr/>
        </p:nvSpPr>
        <p:spPr>
          <a:xfrm rot="670480">
            <a:off x="-1327739" y="3920493"/>
            <a:ext cx="6705000" cy="10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GT" sz="4500" b="0" i="0" u="none" strike="noStrike" cap="none" noProof="0" dirty="0">
                <a:solidFill>
                  <a:srgbClr val="FAB12F"/>
                </a:solidFill>
                <a:latin typeface="ChunkFive Ex" pitchFamily="2" charset="0"/>
                <a:sym typeface="Arial"/>
              </a:rPr>
              <a:t>DUDAS ¿?</a:t>
            </a:r>
          </a:p>
        </p:txBody>
      </p:sp>
      <p:sp>
        <p:nvSpPr>
          <p:cNvPr id="6" name="Google Shape;216;g364afea4f63_0_141">
            <a:extLst>
              <a:ext uri="{FF2B5EF4-FFF2-40B4-BE49-F238E27FC236}">
                <a16:creationId xmlns:a16="http://schemas.microsoft.com/office/drawing/2014/main" id="{57CD533B-03BC-21C1-2E19-C72F6DA993A7}"/>
              </a:ext>
            </a:extLst>
          </p:cNvPr>
          <p:cNvSpPr txBox="1"/>
          <p:nvPr/>
        </p:nvSpPr>
        <p:spPr>
          <a:xfrm rot="20487037">
            <a:off x="11935200" y="4631051"/>
            <a:ext cx="6705000" cy="10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GT" sz="4500" b="0" i="0" u="none" strike="noStrike" cap="none" noProof="0" dirty="0">
                <a:solidFill>
                  <a:srgbClr val="FAB12F"/>
                </a:solidFill>
                <a:latin typeface="ChunkFive Ex" pitchFamily="2" charset="0"/>
                <a:sym typeface="Arial"/>
              </a:rPr>
              <a:t>DUDAS ¿?</a:t>
            </a:r>
          </a:p>
        </p:txBody>
      </p:sp>
      <p:sp>
        <p:nvSpPr>
          <p:cNvPr id="8" name="Google Shape;216;g364afea4f63_0_141">
            <a:extLst>
              <a:ext uri="{FF2B5EF4-FFF2-40B4-BE49-F238E27FC236}">
                <a16:creationId xmlns:a16="http://schemas.microsoft.com/office/drawing/2014/main" id="{E15E0B68-B164-FD3D-3243-07CC1B1FE70A}"/>
              </a:ext>
            </a:extLst>
          </p:cNvPr>
          <p:cNvSpPr txBox="1"/>
          <p:nvPr/>
        </p:nvSpPr>
        <p:spPr>
          <a:xfrm rot="20487037">
            <a:off x="1696249" y="3682203"/>
            <a:ext cx="6705000" cy="45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GT" sz="2000" b="0" i="0" u="none" strike="noStrike" cap="none" noProof="0" dirty="0">
                <a:solidFill>
                  <a:srgbClr val="FAB12F"/>
                </a:solidFill>
                <a:latin typeface="ChunkFive Ex" pitchFamily="2" charset="0"/>
                <a:sym typeface="Arial"/>
              </a:rPr>
              <a:t>DUDAS ¿?</a:t>
            </a:r>
          </a:p>
        </p:txBody>
      </p:sp>
      <p:sp>
        <p:nvSpPr>
          <p:cNvPr id="9" name="Google Shape;216;g364afea4f63_0_141">
            <a:extLst>
              <a:ext uri="{FF2B5EF4-FFF2-40B4-BE49-F238E27FC236}">
                <a16:creationId xmlns:a16="http://schemas.microsoft.com/office/drawing/2014/main" id="{DB64980C-FB1C-3620-E287-EE2CEED9D20D}"/>
              </a:ext>
            </a:extLst>
          </p:cNvPr>
          <p:cNvSpPr txBox="1"/>
          <p:nvPr/>
        </p:nvSpPr>
        <p:spPr>
          <a:xfrm rot="1165307">
            <a:off x="9522486" y="3699176"/>
            <a:ext cx="6705000" cy="45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-GT" sz="2000" b="0" i="0" u="none" strike="noStrike" cap="none" noProof="0" dirty="0">
                <a:solidFill>
                  <a:srgbClr val="FAB12F"/>
                </a:solidFill>
                <a:latin typeface="ChunkFive Ex" pitchFamily="2" charset="0"/>
                <a:sym typeface="Arial"/>
              </a:rPr>
              <a:t>DUDAS ¿?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4814547" y="5701757"/>
            <a:ext cx="8658900" cy="2928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s-GT" sz="6099" b="0" i="0" u="none" strike="noStrike" cap="none" noProof="0" dirty="0">
                <a:solidFill>
                  <a:srgbClr val="FA812F"/>
                </a:solidFill>
                <a:latin typeface="ChunkFive Ex" pitchFamily="2" charset="0"/>
                <a:ea typeface="Impact"/>
                <a:cs typeface="Impact"/>
                <a:sym typeface="Impact"/>
              </a:rPr>
              <a:t>¡GRACIAS POR SU  ATENCIÓN!</a:t>
            </a:r>
            <a:endParaRPr lang="es-GT" sz="1400" b="0" i="0" u="none" strike="noStrike" cap="none" noProof="0" dirty="0">
              <a:solidFill>
                <a:srgbClr val="FA812F"/>
              </a:solidFill>
              <a:latin typeface="ChunkFive Ex" pitchFamily="2" charset="0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lang="es-GT" sz="6099" b="0" i="0" u="none" strike="noStrike" cap="none" noProof="0" dirty="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311681" y="817825"/>
            <a:ext cx="3664637" cy="454690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24" name="Google Shape;224;p9"/>
          <p:cNvSpPr txBox="1"/>
          <p:nvPr/>
        </p:nvSpPr>
        <p:spPr>
          <a:xfrm>
            <a:off x="2923733" y="7899735"/>
            <a:ext cx="12440528" cy="911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GT" sz="2000" b="1" i="0" u="none" strike="noStrike" cap="none" noProof="0" dirty="0">
                <a:solidFill>
                  <a:srgbClr val="FF0000"/>
                </a:solidFill>
                <a:latin typeface="Century Gothic" panose="020B0502020202020204" pitchFamily="34" charset="0"/>
                <a:sym typeface="Arial"/>
              </a:rPr>
              <a:t>RECUERDA QUE TENEMOS NUESTRO FORO SEMANAL DONDE PUEDES CONSULTAR CUALQUIER DUDA QUE TE SURJA EN LA SEMANA</a:t>
            </a:r>
            <a:endParaRPr lang="es-GT" sz="1400" b="1" i="0" u="none" strike="noStrike" cap="none" noProof="0" dirty="0">
              <a:solidFill>
                <a:srgbClr val="FF0000"/>
              </a:solidFill>
              <a:latin typeface="Century Gothic" panose="020B0502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1085</Words>
  <Application>Microsoft Office PowerPoint</Application>
  <PresentationFormat>Personalizado</PresentationFormat>
  <Paragraphs>99</Paragraphs>
  <Slides>16</Slides>
  <Notes>16</Notes>
  <HiddenSlides>0</HiddenSlides>
  <MMClips>1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5" baseType="lpstr">
      <vt:lpstr>Calibri</vt:lpstr>
      <vt:lpstr>ChunkFive Ex</vt:lpstr>
      <vt:lpstr>CHICKEN Pie</vt:lpstr>
      <vt:lpstr>Impact</vt:lpstr>
      <vt:lpstr>Century Gothic</vt:lpstr>
      <vt:lpstr>Courier New</vt:lpstr>
      <vt:lpstr>Wingdings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 Mejía</cp:lastModifiedBy>
  <cp:revision>2</cp:revision>
  <dcterms:created xsi:type="dcterms:W3CDTF">2006-08-16T00:00:00Z</dcterms:created>
  <dcterms:modified xsi:type="dcterms:W3CDTF">2025-10-31T03:31:57Z</dcterms:modified>
</cp:coreProperties>
</file>