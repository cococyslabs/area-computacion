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y="10287000" cx="18288000"/>
  <p:notesSz cx="6858000" cy="9144000"/>
  <p:embeddedFontLst>
    <p:embeddedFont>
      <p:font typeface="Lobster"/>
      <p:regular r:id="rId39"/>
    </p:embeddedFont>
    <p:embeddedFont>
      <p:font typeface="Open Sans Light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ivUB98uM3TST275Vby2y32u3cr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CBF811-9F2D-4C1A-BC32-C1AA771F8E8B}">
  <a:tblStyle styleId="{AACBF811-9F2D-4C1A-BC32-C1AA771F8E8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regular.fntdata"/><Relationship Id="rId20" Type="http://schemas.openxmlformats.org/officeDocument/2006/relationships/slide" Target="slides/slide12.xml"/><Relationship Id="rId42" Type="http://schemas.openxmlformats.org/officeDocument/2006/relationships/font" Target="fonts/OpenSansLight-italic.fntdata"/><Relationship Id="rId41" Type="http://schemas.openxmlformats.org/officeDocument/2006/relationships/font" Target="fonts/OpenSansLight-bold.fntdata"/><Relationship Id="rId22" Type="http://schemas.openxmlformats.org/officeDocument/2006/relationships/slide" Target="slides/slide14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3.xml"/><Relationship Id="rId43" Type="http://schemas.openxmlformats.org/officeDocument/2006/relationships/font" Target="fonts/OpenSansLight-boldItalic.fntdata"/><Relationship Id="rId24" Type="http://schemas.openxmlformats.org/officeDocument/2006/relationships/slide" Target="slides/slide16.xml"/><Relationship Id="rId46" Type="http://schemas.openxmlformats.org/officeDocument/2006/relationships/font" Target="fonts/OpenSans-italic.fntdata"/><Relationship Id="rId23" Type="http://schemas.openxmlformats.org/officeDocument/2006/relationships/slide" Target="slides/slide15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48" Type="http://customschemas.google.com/relationships/presentationmetadata" Target="metadata"/><Relationship Id="rId25" Type="http://schemas.openxmlformats.org/officeDocument/2006/relationships/slide" Target="slides/slide17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font" Target="fonts/Lobster-regular.fntdata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4f262177b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64f2621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4afea4f63_0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64afea4f6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4afea4f6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4" name="Google Shape;24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27.jp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41.png"/><Relationship Id="rId5" Type="http://schemas.openxmlformats.org/officeDocument/2006/relationships/image" Target="../media/image30.png"/><Relationship Id="rId6" Type="http://schemas.openxmlformats.org/officeDocument/2006/relationships/image" Target="../media/image48.png"/><Relationship Id="rId7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4afea4f63_0_0"/>
          <p:cNvSpPr/>
          <p:nvPr/>
        </p:nvSpPr>
        <p:spPr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El contenido generado por IA puede ser incorrecto." id="117" name="Google Shape;117;g364afea4f63_0_0"/>
          <p:cNvPicPr preferRelativeResize="0"/>
          <p:nvPr/>
        </p:nvPicPr>
        <p:blipFill rotWithShape="1">
          <a:blip r:embed="rId3">
            <a:alphaModFix/>
          </a:blip>
          <a:srcRect b="0" l="0" r="0" t="1765"/>
          <a:stretch/>
        </p:blipFill>
        <p:spPr>
          <a:xfrm>
            <a:off x="20" y="23694"/>
            <a:ext cx="18287980" cy="10285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bujo animado de un personaje animado&#10;&#10;El contenido generado por IA puede ser incorrecto." id="118" name="Google Shape;118;g364afea4f6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88345" y="6087275"/>
            <a:ext cx="2705166" cy="4310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64afea4f63_0_0"/>
          <p:cNvSpPr txBox="1"/>
          <p:nvPr/>
        </p:nvSpPr>
        <p:spPr>
          <a:xfrm>
            <a:off x="2079172" y="4071257"/>
            <a:ext cx="14129656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Arquitectura de Computadores y Ensambladores 1</a:t>
            </a:r>
            <a:endParaRPr/>
          </a:p>
        </p:txBody>
      </p:sp>
      <p:sp>
        <p:nvSpPr>
          <p:cNvPr id="120" name="Google Shape;120;g364afea4f63_0_0"/>
          <p:cNvSpPr txBox="1"/>
          <p:nvPr/>
        </p:nvSpPr>
        <p:spPr>
          <a:xfrm>
            <a:off x="2227720" y="6649496"/>
            <a:ext cx="141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TUTOR: JOSÉ MANUEL LÓPEZ LEMUS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/>
          <p:nvPr/>
        </p:nvSpPr>
        <p:spPr>
          <a:xfrm>
            <a:off x="630872" y="6440077"/>
            <a:ext cx="6981379" cy="2094827"/>
          </a:xfrm>
          <a:prstGeom prst="round2DiagRect">
            <a:avLst>
              <a:gd fmla="val 0" name="adj1"/>
              <a:gd fmla="val 32738" name="adj2"/>
            </a:avLst>
          </a:prstGeom>
          <a:solidFill>
            <a:srgbClr val="BFBFBF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876303" y="6914179"/>
            <a:ext cx="85266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44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Arquitectura de Computadores y Ensambladores 1</a:t>
            </a:r>
            <a:endParaRPr b="1" i="0" sz="44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295400" y="1742339"/>
            <a:ext cx="1569720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de Computadores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Líneas Tecnológicas</a:t>
            </a:r>
            <a:r>
              <a:rPr b="0" i="0" lang="en-US" sz="9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876303" y="8702104"/>
            <a:ext cx="6981379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</p:txBody>
      </p:sp>
      <p:sp>
        <p:nvSpPr>
          <p:cNvPr id="130" name="Google Shape;130;p1"/>
          <p:cNvSpPr txBox="1"/>
          <p:nvPr/>
        </p:nvSpPr>
        <p:spPr>
          <a:xfrm>
            <a:off x="876303" y="9188904"/>
            <a:ext cx="6667500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21771" y="9645246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bujo animado de un personaje animado&#10;&#10;El contenido generado por IA puede ser incorrecto." id="133" name="Google Shape;13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34577" y="5992523"/>
            <a:ext cx="28575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"/>
          <p:cNvSpPr txBox="1"/>
          <p:nvPr/>
        </p:nvSpPr>
        <p:spPr>
          <a:xfrm>
            <a:off x="934645" y="4587861"/>
            <a:ext cx="4345084" cy="845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Procesadores x86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673390" y="6378213"/>
            <a:ext cx="65181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 64 VS x86 (Actualmente)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251248" y="3014686"/>
            <a:ext cx="3681207" cy="1556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4000" u="none" cap="none" strike="noStrike">
                <a:solidFill>
                  <a:srgbClr val="632423"/>
                </a:solidFill>
                <a:latin typeface="Arial"/>
                <a:ea typeface="Arial"/>
                <a:cs typeface="Arial"/>
                <a:sym typeface="Arial"/>
              </a:rPr>
              <a:t>RECORDATORIOS: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51749" y="490900"/>
            <a:ext cx="7710301" cy="265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941139" y="5466629"/>
            <a:ext cx="4345084" cy="845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Procesadores</a:t>
            </a: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510399" y="7456989"/>
            <a:ext cx="4345084" cy="845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Raspberry P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11554404" y="3059968"/>
            <a:ext cx="5519972" cy="5242406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 de insignia1 con relleno sólido" id="146" name="Google Shape;14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464" y="4752386"/>
            <a:ext cx="525068" cy="525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rca de insignia1 con relleno sólido" id="147" name="Google Shape;1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464" y="5730411"/>
            <a:ext cx="525068" cy="525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rca de insignia1 con relleno sólido" id="148" name="Google Shape;14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464" y="6651906"/>
            <a:ext cx="525068" cy="525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rca de insignia1 con relleno sólido" id="149" name="Google Shape;1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464" y="7620910"/>
            <a:ext cx="525068" cy="525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/>
        </p:nvSpPr>
        <p:spPr>
          <a:xfrm>
            <a:off x="8802835" y="1707054"/>
            <a:ext cx="8166573" cy="2103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pic>
        <p:nvPicPr>
          <p:cNvPr descr="Dibujo animado de un animal con la boca abierta&#10;&#10;El contenido generado por IA puede ser incorrecto." id="155" name="Google Shape;155;p3"/>
          <p:cNvPicPr preferRelativeResize="0"/>
          <p:nvPr/>
        </p:nvPicPr>
        <p:blipFill rotWithShape="1">
          <a:blip r:embed="rId3">
            <a:alphaModFix/>
          </a:blip>
          <a:srcRect b="13794" l="0" r="0" t="0"/>
          <a:stretch/>
        </p:blipFill>
        <p:spPr>
          <a:xfrm>
            <a:off x="-1" y="10"/>
            <a:ext cx="7726768" cy="10286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3"/>
          <p:cNvCxnSpPr/>
          <p:nvPr/>
        </p:nvCxnSpPr>
        <p:spPr>
          <a:xfrm>
            <a:off x="8957545" y="1306719"/>
            <a:ext cx="1105409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3"/>
          <p:cNvSpPr txBox="1"/>
          <p:nvPr/>
        </p:nvSpPr>
        <p:spPr>
          <a:xfrm>
            <a:off x="8802835" y="3826764"/>
            <a:ext cx="8166573" cy="5386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 estudiante identifica los componentes esenciales de un sistema Iot mediante el análisis de documentación técnica y catálogos de hardware para describir las funcionalidades básicas de cada elemento del sistema.</a:t>
            </a:r>
            <a:endParaRPr b="0" i="0" sz="36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circuito electrónico&#10;&#10;El contenido generado por IA puede ser incorrecto." id="163" name="Google Shape;163;p4"/>
          <p:cNvPicPr preferRelativeResize="0"/>
          <p:nvPr/>
        </p:nvPicPr>
        <p:blipFill rotWithShape="1">
          <a:blip r:embed="rId3">
            <a:alphaModFix amt="40000"/>
          </a:blip>
          <a:srcRect b="10555" l="0" r="0" t="9088"/>
          <a:stretch/>
        </p:blipFill>
        <p:spPr>
          <a:xfrm>
            <a:off x="20" y="10"/>
            <a:ext cx="18287978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 txBox="1"/>
          <p:nvPr/>
        </p:nvSpPr>
        <p:spPr>
          <a:xfrm>
            <a:off x="1261873" y="1412748"/>
            <a:ext cx="15759684" cy="30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Arquitectura x86: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0" i="0" lang="en-US" sz="9600" u="none" cap="none" strike="noStrike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Fundamentos e historia</a:t>
            </a:r>
            <a:endParaRPr b="0" i="0" sz="9600" u="none" cap="none" strike="noStrike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5" name="Google Shape;165;p4"/>
          <p:cNvSpPr/>
          <p:nvPr/>
        </p:nvSpPr>
        <p:spPr>
          <a:xfrm rot="5400000">
            <a:off x="1680210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1261872" y="4861803"/>
            <a:ext cx="15759684" cy="274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61872" y="5253228"/>
            <a:ext cx="15759684" cy="4005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 arquitectura x86 es la base de la informática personal desde los años 70. Creada por Intel, que domina millones de dispositivos.</a:t>
            </a:r>
            <a:endParaRPr b="0" i="0" sz="32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 flipH="1">
            <a:off x="0" y="-4"/>
            <a:ext cx="18288000" cy="102869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 flipH="1">
            <a:off x="721291" y="0"/>
            <a:ext cx="11492901" cy="10287000"/>
          </a:xfrm>
          <a:prstGeom prst="rect">
            <a:avLst/>
          </a:prstGeom>
          <a:gradFill>
            <a:gsLst>
              <a:gs pos="0">
                <a:srgbClr val="366092">
                  <a:alpha val="44705"/>
                </a:srgbClr>
              </a:gs>
              <a:gs pos="100000">
                <a:srgbClr val="000000">
                  <a:alpha val="28627"/>
                </a:srgbClr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 flipH="1" rot="10800000">
            <a:off x="721293" y="-9"/>
            <a:ext cx="17566707" cy="9615501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100000">
                <a:srgbClr val="000000">
                  <a:alpha val="40784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947862" y="159437"/>
            <a:ext cx="10063038" cy="27135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Lobster"/>
                <a:ea typeface="Lobster"/>
                <a:cs typeface="Lobster"/>
                <a:sym typeface="Lobster"/>
              </a:rPr>
              <a:t>Introduccion al Conjunto de Instrucciones x86 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 rot="-5400000">
            <a:off x="7267196" y="-733809"/>
            <a:ext cx="3753612" cy="18287997"/>
          </a:xfrm>
          <a:prstGeom prst="rect">
            <a:avLst/>
          </a:prstGeom>
          <a:gradFill>
            <a:gsLst>
              <a:gs pos="0">
                <a:srgbClr val="4F81BD">
                  <a:alpha val="23921"/>
                </a:srgbClr>
              </a:gs>
              <a:gs pos="78000">
                <a:srgbClr val="244061">
                  <a:alpha val="0"/>
                </a:srgbClr>
              </a:gs>
              <a:gs pos="100000">
                <a:srgbClr val="244061">
                  <a:alpha val="0"/>
                </a:srgbClr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9585883" y="1593816"/>
            <a:ext cx="7134243" cy="713424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circuito, electrónica&#10;&#10;El contenido generado por IA puede ser incorrecto."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0838" y="3544457"/>
            <a:ext cx="5605746" cy="3219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>
            <p:ph idx="1" type="subTitle"/>
          </p:nvPr>
        </p:nvSpPr>
        <p:spPr>
          <a:xfrm>
            <a:off x="947862" y="3032392"/>
            <a:ext cx="7697106" cy="268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2800" u="sng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Características Clave: </a:t>
            </a:r>
            <a:endParaRPr/>
          </a:p>
          <a:p>
            <a:pPr indent="-228600" lvl="0" marL="482600" rtl="0" algn="just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Arquitectura CISC con instrucciones variables</a:t>
            </a:r>
            <a:endParaRPr/>
          </a:p>
          <a:p>
            <a:pPr indent="-228600" lvl="0" marL="482600" rtl="0" algn="just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Compatible hacia atrás y extensible </a:t>
            </a:r>
            <a:endParaRPr/>
          </a:p>
          <a:p>
            <a:pPr indent="-228600" lvl="0" marL="482600" rtl="0" algn="just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Soporta multimedia y punto flotante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1118111" y="4376603"/>
            <a:ext cx="7923676" cy="4170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Evolución de Extensiones </a:t>
            </a:r>
            <a:endParaRPr/>
          </a:p>
          <a:p>
            <a:pPr indent="-342900" lvl="0" marL="400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MMX para multimedia </a:t>
            </a:r>
            <a:endParaRPr/>
          </a:p>
          <a:p>
            <a:pPr indent="-342900" lvl="0" marL="400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SSE para procesamiento de vectores </a:t>
            </a:r>
            <a:endParaRPr/>
          </a:p>
          <a:p>
            <a:pPr indent="-342900" lvl="0" marL="4000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AVX para cálculos avanzados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F243E"/>
            </a:gs>
            <a:gs pos="52332">
              <a:srgbClr val="0F243E"/>
            </a:gs>
            <a:gs pos="57000">
              <a:srgbClr val="8CB3E3"/>
            </a:gs>
            <a:gs pos="89000">
              <a:srgbClr val="C5D8F1"/>
            </a:gs>
            <a:gs pos="100000">
              <a:srgbClr val="0F243E"/>
            </a:gs>
          </a:gsLst>
          <a:lin ang="5400000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/>
          <p:nvPr/>
        </p:nvSpPr>
        <p:spPr>
          <a:xfrm>
            <a:off x="0" y="0"/>
            <a:ext cx="18287542" cy="10287000"/>
          </a:xfrm>
          <a:prstGeom prst="rect">
            <a:avLst/>
          </a:prstGeom>
          <a:gradFill>
            <a:gsLst>
              <a:gs pos="0">
                <a:srgbClr val="0F243E"/>
              </a:gs>
              <a:gs pos="52332">
                <a:srgbClr val="0F243E"/>
              </a:gs>
              <a:gs pos="57000">
                <a:srgbClr val="8CB3E3"/>
              </a:gs>
              <a:gs pos="89000">
                <a:srgbClr val="C5D8F1"/>
              </a:gs>
              <a:gs pos="100000">
                <a:srgbClr val="0F243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Mapa&#10;&#10;El contenido generado por IA puede ser incorrecto." id="187" name="Google Shape;187;p22"/>
          <p:cNvPicPr preferRelativeResize="0"/>
          <p:nvPr/>
        </p:nvPicPr>
        <p:blipFill rotWithShape="1">
          <a:blip r:embed="rId3">
            <a:alphaModFix/>
          </a:blip>
          <a:srcRect b="31688" l="0" r="0" t="33851"/>
          <a:stretch/>
        </p:blipFill>
        <p:spPr>
          <a:xfrm>
            <a:off x="4574" y="-463749"/>
            <a:ext cx="18288001" cy="6302178"/>
          </a:xfrm>
          <a:prstGeom prst="rect">
            <a:avLst/>
          </a:prstGeom>
          <a:gradFill>
            <a:gsLst>
              <a:gs pos="0">
                <a:srgbClr val="0F243E"/>
              </a:gs>
              <a:gs pos="52332">
                <a:srgbClr val="0F243E"/>
              </a:gs>
              <a:gs pos="57000">
                <a:srgbClr val="8CB3E3"/>
              </a:gs>
              <a:gs pos="89000">
                <a:srgbClr val="C5D8F1"/>
              </a:gs>
              <a:gs pos="100000">
                <a:srgbClr val="0F243E"/>
              </a:gs>
            </a:gsLst>
            <a:lin ang="5400000" scaled="0"/>
          </a:gradFill>
          <a:ln>
            <a:noFill/>
          </a:ln>
          <a:effectLst>
            <a:outerShdw blurRad="50800" rotWithShape="0" algn="ctr" dir="5400000" dist="50800">
              <a:srgbClr val="C5D8F1"/>
            </a:outerShdw>
          </a:effectLst>
        </p:spPr>
      </p:pic>
      <p:grpSp>
        <p:nvGrpSpPr>
          <p:cNvPr id="188" name="Google Shape;188;p22"/>
          <p:cNvGrpSpPr/>
          <p:nvPr/>
        </p:nvGrpSpPr>
        <p:grpSpPr>
          <a:xfrm>
            <a:off x="-1" y="4412717"/>
            <a:ext cx="18283427" cy="2743199"/>
            <a:chOff x="-305" y="3144820"/>
            <a:chExt cx="9182100" cy="1551136"/>
          </a:xfrm>
        </p:grpSpPr>
        <p:sp>
          <p:nvSpPr>
            <p:cNvPr id="189" name="Google Shape;189;p22"/>
            <p:cNvSpPr/>
            <p:nvPr/>
          </p:nvSpPr>
          <p:spPr>
            <a:xfrm>
              <a:off x="-305" y="3676854"/>
              <a:ext cx="9182100" cy="1019102"/>
            </a:xfrm>
            <a:custGeom>
              <a:rect b="b" l="l" r="r" t="t"/>
              <a:pathLst>
                <a:path extrusionOk="0" h="1019102" w="918210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adFill>
              <a:gsLst>
                <a:gs pos="0">
                  <a:srgbClr val="0F243E"/>
                </a:gs>
                <a:gs pos="52332">
                  <a:srgbClr val="0F243E"/>
                </a:gs>
                <a:gs pos="57000">
                  <a:srgbClr val="8CB3E3"/>
                </a:gs>
                <a:gs pos="89000">
                  <a:srgbClr val="C5D8F1"/>
                </a:gs>
                <a:gs pos="100000">
                  <a:srgbClr val="0F243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-305" y="3144820"/>
              <a:ext cx="9182100" cy="932744"/>
            </a:xfrm>
            <a:custGeom>
              <a:rect b="b" l="l" r="r" t="t"/>
              <a:pathLst>
                <a:path extrusionOk="0" h="932744" w="918210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-305" y="3580789"/>
              <a:ext cx="9182100" cy="544245"/>
            </a:xfrm>
            <a:custGeom>
              <a:rect b="b" l="l" r="r" t="t"/>
              <a:pathLst>
                <a:path extrusionOk="0" h="544245" w="918210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-305" y="3324550"/>
              <a:ext cx="9182100" cy="765639"/>
            </a:xfrm>
            <a:custGeom>
              <a:rect b="b" l="l" r="r" t="t"/>
              <a:pathLst>
                <a:path extrusionOk="0" h="765639" w="918210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22"/>
          <p:cNvSpPr txBox="1"/>
          <p:nvPr>
            <p:ph type="ctrTitle"/>
          </p:nvPr>
        </p:nvSpPr>
        <p:spPr>
          <a:xfrm>
            <a:off x="1197582" y="7155916"/>
            <a:ext cx="2688618" cy="555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1978 - 1979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signia 1 contorno" id="194" name="Google Shape;1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4691" y="623217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ignia contorno" id="195" name="Google Shape;19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3604" y="624620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ignia 3 contorno" id="196" name="Google Shape;19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12280" y="62142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ignia 4 contorno" id="197" name="Google Shape;19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162343" y="6145901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1045185" y="7868502"/>
            <a:ext cx="3026075" cy="1705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934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Lanzamiento del Intel 8086/8088, procesador 16 bits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4856495" y="7228923"/>
            <a:ext cx="2688618" cy="555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1982 - 80386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4856495" y="7887666"/>
            <a:ext cx="2688618" cy="555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del modo protegido y 32 bits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9710207" y="7199461"/>
            <a:ext cx="2688618" cy="555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1993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9557810" y="7912047"/>
            <a:ext cx="3026075" cy="1705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934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con arquitectura superescalar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13369120" y="7272468"/>
            <a:ext cx="2688618" cy="555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2003 - 2006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13369120" y="7931211"/>
            <a:ext cx="2688618" cy="555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AMD 64 bits y procesadores multinúcleo Intel Core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Patrón de fondo&#10;&#10;El contenido generado por IA puede ser incorrecto." id="210" name="Google Shape;210;p23"/>
          <p:cNvPicPr preferRelativeResize="0"/>
          <p:nvPr/>
        </p:nvPicPr>
        <p:blipFill rotWithShape="1">
          <a:blip r:embed="rId3">
            <a:alphaModFix/>
          </a:blip>
          <a:srcRect b="9086" l="-1" r="-1" t="8541"/>
          <a:stretch/>
        </p:blipFill>
        <p:spPr>
          <a:xfrm>
            <a:off x="6425853" y="239492"/>
            <a:ext cx="11862147" cy="977119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C0C0C"/>
              </a:gs>
              <a:gs pos="36000">
                <a:srgbClr val="0C0C0C"/>
              </a:gs>
              <a:gs pos="81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 txBox="1"/>
          <p:nvPr>
            <p:ph type="ctrTitle"/>
          </p:nvPr>
        </p:nvSpPr>
        <p:spPr>
          <a:xfrm>
            <a:off x="345277" y="1240129"/>
            <a:ext cx="9952609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5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Características Generales de la Arquitectura x86</a:t>
            </a:r>
            <a:endParaRPr/>
          </a:p>
        </p:txBody>
      </p:sp>
      <p:sp>
        <p:nvSpPr>
          <p:cNvPr id="213" name="Google Shape;213;p23"/>
          <p:cNvSpPr txBox="1"/>
          <p:nvPr>
            <p:ph idx="1" type="subTitle"/>
          </p:nvPr>
        </p:nvSpPr>
        <p:spPr>
          <a:xfrm>
            <a:off x="7017994" y="6703688"/>
            <a:ext cx="4942046" cy="1701153"/>
          </a:xfrm>
          <a:prstGeom prst="rect">
            <a:avLst/>
          </a:prstGeom>
          <a:noFill/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MEMORIA SEGMENTADA</a:t>
            </a:r>
            <a:b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dividida para mayor flexibilidad y protección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23"/>
          <p:cNvCxnSpPr/>
          <p:nvPr/>
        </p:nvCxnSpPr>
        <p:spPr>
          <a:xfrm rot="10800000">
            <a:off x="192877" y="5522112"/>
            <a:ext cx="1790223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3"/>
          <p:cNvSpPr txBox="1"/>
          <p:nvPr/>
        </p:nvSpPr>
        <p:spPr>
          <a:xfrm>
            <a:off x="1684641" y="5853112"/>
            <a:ext cx="4942046" cy="1701153"/>
          </a:xfrm>
          <a:prstGeom prst="rect">
            <a:avLst/>
          </a:prstGeom>
          <a:noFill/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8108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Protección y Excepciones Sistema </a:t>
            </a:r>
            <a:endParaRPr/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8108"/>
              <a:buFont typeface="Arial"/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robusto para manejo de errores y seguridad 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1684641" y="8070056"/>
            <a:ext cx="4942046" cy="1701153"/>
          </a:xfrm>
          <a:prstGeom prst="rect">
            <a:avLst/>
          </a:prstGeom>
          <a:noFill/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Virtualización y Caché Soporte </a:t>
            </a:r>
            <a:r>
              <a:rPr b="1" i="0" lang="en-US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hardware para máquinas virtuales y cachés multinivel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 celular con letras&#10;&#10;El contenido generado por IA puede ser incorrecto." id="222" name="Google Shape;222;p24"/>
          <p:cNvPicPr preferRelativeResize="0"/>
          <p:nvPr/>
        </p:nvPicPr>
        <p:blipFill rotWithShape="1">
          <a:blip r:embed="rId3">
            <a:alphaModFix/>
          </a:blip>
          <a:srcRect b="24919" l="0" r="9091" t="16751"/>
          <a:stretch/>
        </p:blipFill>
        <p:spPr>
          <a:xfrm>
            <a:off x="4942331" y="-144586"/>
            <a:ext cx="16258092" cy="1043158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/>
          <p:nvPr/>
        </p:nvSpPr>
        <p:spPr>
          <a:xfrm>
            <a:off x="4" y="0"/>
            <a:ext cx="14008809" cy="10287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>
            <p:ph type="ctrTitle"/>
          </p:nvPr>
        </p:nvSpPr>
        <p:spPr>
          <a:xfrm>
            <a:off x="716970" y="1683544"/>
            <a:ext cx="7855529" cy="1890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777"/>
              <a:buNone/>
            </a:pPr>
            <a:r>
              <a:rPr lang="en-US" sz="72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Modos de Operación del x86</a:t>
            </a:r>
            <a:endParaRPr sz="72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687254" y="3968718"/>
            <a:ext cx="6035038" cy="181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Modo Real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	Compatibilidad con procesadores originales de 16 bits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Modo Protegido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	Ofrece protección avanzada de memoria y multitarea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Modo 64 Bits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	Soporte para registros extendidos y mayor capacidad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Modo System Management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 	Operaciones críticas gestionadas a nivel sistema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 txBox="1"/>
          <p:nvPr>
            <p:ph type="ctrTitle"/>
          </p:nvPr>
        </p:nvSpPr>
        <p:spPr>
          <a:xfrm>
            <a:off x="12173990" y="242459"/>
            <a:ext cx="5084272" cy="35710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6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Jerarquía de Registros en x86</a:t>
            </a:r>
            <a:endParaRPr b="1" sz="66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35" name="Google Shape;235;p25"/>
          <p:cNvSpPr txBox="1"/>
          <p:nvPr>
            <p:ph idx="1" type="subTitle"/>
          </p:nvPr>
        </p:nvSpPr>
        <p:spPr>
          <a:xfrm>
            <a:off x="12544426" y="4927516"/>
            <a:ext cx="4343400" cy="1934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2000" u="sng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Registros Generales </a:t>
            </a:r>
            <a:endParaRPr/>
          </a:p>
          <a:p>
            <a:pPr indent="-406400" lvl="1" marL="9144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EAX, EBX, ECX, EDX </a:t>
            </a:r>
            <a:endParaRPr/>
          </a:p>
          <a:p>
            <a:pPr indent="-406400" lvl="1" marL="9144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Sirven para cálculos y almacenamiento temporal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2000" u="sng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Otros Registros </a:t>
            </a:r>
            <a:endParaRPr/>
          </a:p>
          <a:p>
            <a:pPr indent="-406400" lvl="1" marL="9144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i="1" lang="en-US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Segmentos</a:t>
            </a:r>
            <a:r>
              <a:rPr lang="en-US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CS, DS, SS, etc</a:t>
            </a:r>
            <a:r>
              <a:rPr lang="en-US" sz="1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/>
          </a:p>
          <a:p>
            <a:pPr indent="-406400" lvl="1" marL="9144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i="1" lang="en-US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Control</a:t>
            </a:r>
            <a:r>
              <a:rPr lang="en-US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CRO-CR4</a:t>
            </a:r>
            <a:endParaRPr/>
          </a:p>
          <a:p>
            <a:pPr indent="-406400" lvl="1" marL="9144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i="1" lang="en-US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SIMD</a:t>
            </a:r>
            <a:r>
              <a:rPr lang="en-US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XMM0-XMM15 para operaciones vectoriales</a:t>
            </a:r>
            <a:endParaRPr/>
          </a:p>
        </p:txBody>
      </p:sp>
      <p:pic>
        <p:nvPicPr>
          <p:cNvPr descr="Imagen de la pantalla de un celular con letras&#10;&#10;El contenido generado por IA puede ser incorrecto." id="236" name="Google Shape;236;p25"/>
          <p:cNvPicPr preferRelativeResize="0"/>
          <p:nvPr/>
        </p:nvPicPr>
        <p:blipFill rotWithShape="1">
          <a:blip r:embed="rId3">
            <a:alphaModFix/>
          </a:blip>
          <a:srcRect b="6292" l="0" r="0" t="4243"/>
          <a:stretch/>
        </p:blipFill>
        <p:spPr>
          <a:xfrm>
            <a:off x="20" y="1"/>
            <a:ext cx="11498369" cy="10286999"/>
          </a:xfrm>
          <a:custGeom>
            <a:rect b="b" l="l" r="r" t="t"/>
            <a:pathLst>
              <a:path extrusionOk="0" h="6857999" w="7665593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circuito, calle&#10;&#10;El contenido generado por IA puede ser incorrecto." id="242" name="Google Shape;242;p26"/>
          <p:cNvPicPr preferRelativeResize="0"/>
          <p:nvPr/>
        </p:nvPicPr>
        <p:blipFill rotWithShape="1">
          <a:blip r:embed="rId3">
            <a:alphaModFix/>
          </a:blip>
          <a:srcRect b="10992" l="9091" r="1" t="17087"/>
          <a:stretch/>
        </p:blipFill>
        <p:spPr>
          <a:xfrm>
            <a:off x="-23903" y="0"/>
            <a:ext cx="13002768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/>
          <p:nvPr/>
        </p:nvSpPr>
        <p:spPr>
          <a:xfrm flipH="1">
            <a:off x="4182366" y="0"/>
            <a:ext cx="14105634" cy="10287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0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"/>
          <p:cNvSpPr txBox="1"/>
          <p:nvPr>
            <p:ph type="ctrTitle"/>
          </p:nvPr>
        </p:nvSpPr>
        <p:spPr>
          <a:xfrm>
            <a:off x="11772900" y="1467203"/>
            <a:ext cx="6035040" cy="21874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61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Modos de Direccionamiento</a:t>
            </a:r>
            <a:endParaRPr/>
          </a:p>
        </p:txBody>
      </p:sp>
      <p:sp>
        <p:nvSpPr>
          <p:cNvPr id="245" name="Google Shape;245;p26"/>
          <p:cNvSpPr txBox="1"/>
          <p:nvPr>
            <p:ph idx="1" type="subTitle"/>
          </p:nvPr>
        </p:nvSpPr>
        <p:spPr>
          <a:xfrm>
            <a:off x="11621895" y="4981079"/>
            <a:ext cx="2477261" cy="181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Inmediato </a:t>
            </a:r>
            <a:endParaRPr/>
          </a:p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Operandos constantes dentro de la instrucción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6"/>
          <p:cNvSpPr/>
          <p:nvPr/>
        </p:nvSpPr>
        <p:spPr>
          <a:xfrm rot="5400000">
            <a:off x="12195810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11777472" y="6820380"/>
            <a:ext cx="6035040" cy="27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14937540" y="5035601"/>
            <a:ext cx="2673205" cy="181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0" lang="en-US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Directo e Indirecto</a:t>
            </a:r>
            <a:endParaRPr/>
          </a:p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Acceso a direcciones fijas o apuntadores en registros</a:t>
            </a:r>
            <a:endParaRPr b="1" i="0" sz="2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13002765" y="7913691"/>
            <a:ext cx="3435205" cy="181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0" lang="en-US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Indexado </a:t>
            </a:r>
            <a:endParaRPr/>
          </a:p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Combina base, índice, escala y desplazamiento para una dirección</a:t>
            </a:r>
            <a:endParaRPr b="1" i="0" sz="24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eño web contorno" id="250" name="Google Shape;2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47681" y="695145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e de datos contorno" id="251" name="Google Shape;25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82802" y="412120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ave contorno" id="252" name="Google Shape;25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55013" y="4121201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 celular con letras&#10;&#10;El contenido generado por IA puede ser incorrecto." id="259" name="Google Shape;259;p27"/>
          <p:cNvPicPr preferRelativeResize="0"/>
          <p:nvPr/>
        </p:nvPicPr>
        <p:blipFill rotWithShape="1">
          <a:blip r:embed="rId3">
            <a:alphaModFix amt="60000"/>
          </a:blip>
          <a:srcRect b="22898" l="0" r="0" t="20851"/>
          <a:stretch/>
        </p:blipFill>
        <p:spPr>
          <a:xfrm>
            <a:off x="-1" y="10"/>
            <a:ext cx="18288001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>
            <p:ph type="ctrTitle"/>
          </p:nvPr>
        </p:nvSpPr>
        <p:spPr>
          <a:xfrm>
            <a:off x="1797271" y="1683544"/>
            <a:ext cx="14693456" cy="333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7800">
                <a:solidFill>
                  <a:srgbClr val="FFFFFF"/>
                </a:solidFill>
                <a:latin typeface="Lobster"/>
                <a:ea typeface="Lobster"/>
                <a:cs typeface="Lobster"/>
                <a:sym typeface="Lobster"/>
              </a:rPr>
              <a:t>Comparación con Otras Arquitecturas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1545771" y="5014707"/>
            <a:ext cx="15523029" cy="3085565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 txBox="1"/>
          <p:nvPr>
            <p:ph idx="1" type="subTitle"/>
          </p:nvPr>
        </p:nvSpPr>
        <p:spPr>
          <a:xfrm>
            <a:off x="1797271" y="5272279"/>
            <a:ext cx="6693586" cy="308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i="1" lang="en-US" u="sng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Arquitectura x86: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- CISC, instrucciones complejas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- ARM: RISC, instrucciones simples y rápidas</a:t>
            </a:r>
            <a:endParaRPr b="1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9939776" y="5272282"/>
            <a:ext cx="6693586" cy="308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1" lang="en-US" sz="3200" u="sng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Uso &amp; Eficiencia:</a:t>
            </a:r>
            <a:endParaRPr/>
          </a:p>
          <a:p>
            <a:pPr indent="-457200" lvl="0" marL="4826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Char char="-"/>
            </a:pPr>
            <a:r>
              <a:rPr b="1" i="0" lang="en-US" sz="3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X86 predomina en PC y servidores</a:t>
            </a:r>
            <a:endParaRPr/>
          </a:p>
          <a:p>
            <a:pPr indent="-457200" lvl="0" marL="4826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Char char="-"/>
            </a:pPr>
            <a:r>
              <a:rPr b="1" i="0" lang="en-US" sz="3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ARM: Líder en dispositivos móviles y eficiencia energética</a:t>
            </a:r>
            <a:endParaRPr b="1" i="0" sz="32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noche, azul, oscuro, iluminado&#10;&#10;El contenido generado por IA puede ser incorrecto." id="269" name="Google Shape;269;p28"/>
          <p:cNvPicPr preferRelativeResize="0"/>
          <p:nvPr/>
        </p:nvPicPr>
        <p:blipFill rotWithShape="1">
          <a:blip r:embed="rId3">
            <a:alphaModFix amt="40000"/>
          </a:blip>
          <a:srcRect b="22566" l="0" r="1" t="21902"/>
          <a:stretch/>
        </p:blipFill>
        <p:spPr>
          <a:xfrm>
            <a:off x="192877" y="172791"/>
            <a:ext cx="17902226" cy="994141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>
            <p:ph type="ctrTitle"/>
          </p:nvPr>
        </p:nvSpPr>
        <p:spPr>
          <a:xfrm>
            <a:off x="1092994" y="1001487"/>
            <a:ext cx="8258174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5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Línea de Procesadores Destacados x86</a:t>
            </a:r>
            <a:endParaRPr/>
          </a:p>
        </p:txBody>
      </p:sp>
      <p:sp>
        <p:nvSpPr>
          <p:cNvPr id="271" name="Google Shape;271;p28"/>
          <p:cNvSpPr txBox="1"/>
          <p:nvPr>
            <p:ph idx="1" type="subTitle"/>
          </p:nvPr>
        </p:nvSpPr>
        <p:spPr>
          <a:xfrm>
            <a:off x="1092994" y="5156428"/>
            <a:ext cx="9879806" cy="2483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Desde 8086 al Core i, revolucionando el rendimiento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AMD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K5 al Ryzen y EPYC, marcando la 						competencia en 64 bits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Innovaciones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	AMD adelantó a Intel 							con AMD64 en 64 bits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89309" y="172789"/>
            <a:ext cx="17909382" cy="9941421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lecha: curva ligera con relleno sólido" id="273" name="Google Shape;27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508" y="5143500"/>
            <a:ext cx="645898" cy="645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: curva ligera con relleno sólido" id="274" name="Google Shape;27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0875" y="6311121"/>
            <a:ext cx="645898" cy="645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: curva ligera con relleno sólido" id="275" name="Google Shape;2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3608" y="7959241"/>
            <a:ext cx="645898" cy="64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tabla, agua&#10;&#10;El contenido generado por IA puede ser incorrecto." id="281" name="Google Shape;281;p29"/>
          <p:cNvPicPr preferRelativeResize="0"/>
          <p:nvPr/>
        </p:nvPicPr>
        <p:blipFill rotWithShape="1">
          <a:blip r:embed="rId3">
            <a:alphaModFix/>
          </a:blip>
          <a:srcRect b="1" l="0" r="9091" t="28078"/>
          <a:stretch/>
        </p:blipFill>
        <p:spPr>
          <a:xfrm>
            <a:off x="5285232" y="10"/>
            <a:ext cx="13002768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/>
          <p:nvPr/>
        </p:nvSpPr>
        <p:spPr>
          <a:xfrm>
            <a:off x="4" y="0"/>
            <a:ext cx="14008809" cy="10287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9"/>
          <p:cNvSpPr txBox="1"/>
          <p:nvPr>
            <p:ph type="ctrTitle"/>
          </p:nvPr>
        </p:nvSpPr>
        <p:spPr>
          <a:xfrm>
            <a:off x="716971" y="1683544"/>
            <a:ext cx="6035040" cy="34776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2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Raspberry Pi: El Pequeño Gran Ordenador</a:t>
            </a:r>
            <a:endParaRPr sz="72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84" name="Google Shape;284;p29"/>
          <p:cNvSpPr txBox="1"/>
          <p:nvPr>
            <p:ph idx="1" type="subTitle"/>
          </p:nvPr>
        </p:nvSpPr>
        <p:spPr>
          <a:xfrm>
            <a:off x="675272" y="6220811"/>
            <a:ext cx="7207830" cy="181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Comic Sans MS"/>
                <a:ea typeface="Comic Sans MS"/>
                <a:cs typeface="Comic Sans MS"/>
                <a:sym typeface="Comic Sans MS"/>
              </a:rPr>
              <a:t>Ordenador del tamaño de una tarjeta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Comic Sans MS"/>
                <a:ea typeface="Comic Sans MS"/>
                <a:cs typeface="Comic Sans MS"/>
                <a:sym typeface="Comic Sans MS"/>
              </a:rPr>
              <a:t>de crédito, creado para educación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Comic Sans MS"/>
                <a:ea typeface="Comic Sans MS"/>
                <a:cs typeface="Comic Sans MS"/>
                <a:sym typeface="Comic Sans MS"/>
              </a:rPr>
              <a:t>informática. Versátil y económico para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2800">
                <a:latin typeface="Comic Sans MS"/>
                <a:ea typeface="Comic Sans MS"/>
                <a:cs typeface="Comic Sans MS"/>
                <a:sym typeface="Comic Sans MS"/>
              </a:rPr>
              <a:t>muchos proyectos.</a:t>
            </a:r>
            <a:endParaRPr sz="2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5" name="Google Shape;285;p29"/>
          <p:cNvSpPr/>
          <p:nvPr/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&#10;&#10;El contenido generado por IA puede ser incorrecto." id="292" name="Google Shape;292;p30"/>
          <p:cNvPicPr preferRelativeResize="0"/>
          <p:nvPr/>
        </p:nvPicPr>
        <p:blipFill rotWithShape="1">
          <a:blip r:embed="rId3">
            <a:alphaModFix/>
          </a:blip>
          <a:srcRect b="14027" l="0" r="0" t="29722"/>
          <a:stretch/>
        </p:blipFill>
        <p:spPr>
          <a:xfrm>
            <a:off x="20" y="-33"/>
            <a:ext cx="18287975" cy="1028703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/>
          <p:nvPr/>
        </p:nvSpPr>
        <p:spPr>
          <a:xfrm rot="-5400000">
            <a:off x="-1655066" y="1650474"/>
            <a:ext cx="10287005" cy="698602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8000">
                <a:srgbClr val="000000">
                  <a:alpha val="23921"/>
                </a:srgbClr>
              </a:gs>
              <a:gs pos="85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/>
          <p:nvPr>
            <p:ph type="ctrTitle"/>
          </p:nvPr>
        </p:nvSpPr>
        <p:spPr>
          <a:xfrm>
            <a:off x="965199" y="965201"/>
            <a:ext cx="8178793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800">
                <a:solidFill>
                  <a:srgbClr val="FFFFFF"/>
                </a:solidFill>
                <a:latin typeface="Lobster"/>
                <a:ea typeface="Lobster"/>
                <a:cs typeface="Lobster"/>
                <a:sym typeface="Lobster"/>
              </a:rPr>
              <a:t>Historia y Evolución</a:t>
            </a: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609600" y="7728857"/>
            <a:ext cx="3483429" cy="21336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850899" y="8069579"/>
            <a:ext cx="2783841" cy="1457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Primera versión para </a:t>
            </a:r>
            <a:endParaRPr/>
          </a:p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enseñanza y </a:t>
            </a:r>
            <a:endParaRPr/>
          </a:p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programación</a:t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 rot="5400000">
            <a:off x="11310281" y="3309276"/>
            <a:ext cx="10287005" cy="366843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8000">
                <a:srgbClr val="000000">
                  <a:alpha val="23921"/>
                </a:srgbClr>
              </a:gs>
              <a:gs pos="85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6085173" y="7805057"/>
            <a:ext cx="5055538" cy="21336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6981448" y="8069579"/>
            <a:ext cx="4575011" cy="1457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318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EXPANSIÓN:</a:t>
            </a:r>
            <a:endParaRPr/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MAS POTENTES </a:t>
            </a:r>
            <a:endParaRPr/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COMUNIDADES MAS ACTIVAS.</a:t>
            </a:r>
            <a:endParaRPr/>
          </a:p>
        </p:txBody>
      </p:sp>
      <p:sp>
        <p:nvSpPr>
          <p:cNvPr id="300" name="Google Shape;300;p30"/>
          <p:cNvSpPr/>
          <p:nvPr/>
        </p:nvSpPr>
        <p:spPr>
          <a:xfrm>
            <a:off x="12970354" y="7881257"/>
            <a:ext cx="3483429" cy="19812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13498068" y="8069579"/>
            <a:ext cx="2783841" cy="1457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GLOBAL:</a:t>
            </a:r>
            <a:endParaRPr/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MILLONES VENDIDOS Y </a:t>
            </a:r>
            <a:endParaRPr/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SOPORTE AMPLIO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Diagrama&#10;&#10;El contenido generado por IA puede ser incorrecto." id="307" name="Google Shape;307;p31"/>
          <p:cNvPicPr preferRelativeResize="0"/>
          <p:nvPr/>
        </p:nvPicPr>
        <p:blipFill rotWithShape="1">
          <a:blip r:embed="rId3">
            <a:alphaModFix/>
          </a:blip>
          <a:srcRect b="27131" l="0" r="0" t="26994"/>
          <a:stretch/>
        </p:blipFill>
        <p:spPr>
          <a:xfrm>
            <a:off x="-438912" y="-194311"/>
            <a:ext cx="18726912" cy="108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/>
          <p:nvPr/>
        </p:nvSpPr>
        <p:spPr>
          <a:xfrm>
            <a:off x="0" y="3311403"/>
            <a:ext cx="18287998" cy="474321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4901"/>
                </a:srgbClr>
              </a:gs>
              <a:gs pos="50000">
                <a:srgbClr val="000000">
                  <a:alpha val="29803"/>
                </a:srgbClr>
              </a:gs>
              <a:gs pos="75000">
                <a:srgbClr val="000000">
                  <a:alpha val="14901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1"/>
          <p:cNvSpPr txBox="1"/>
          <p:nvPr>
            <p:ph type="ctrTitle"/>
          </p:nvPr>
        </p:nvSpPr>
        <p:spPr>
          <a:xfrm>
            <a:off x="1380744" y="-26091"/>
            <a:ext cx="15087600" cy="316927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8800">
                <a:solidFill>
                  <a:srgbClr val="FFFFFF"/>
                </a:solidFill>
                <a:latin typeface="Lobster"/>
                <a:ea typeface="Lobster"/>
                <a:cs typeface="Lobster"/>
                <a:sym typeface="Lobster"/>
              </a:rPr>
              <a:t>Modelos Principales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/>
          <p:nvPr/>
        </p:nvSpPr>
        <p:spPr>
          <a:xfrm>
            <a:off x="0" y="0"/>
            <a:ext cx="18288000" cy="1028699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tabla, agua&#10;&#10;El contenido generado por IA puede ser incorrecto." id="315" name="Google Shape;315;p32"/>
          <p:cNvPicPr preferRelativeResize="0"/>
          <p:nvPr/>
        </p:nvPicPr>
        <p:blipFill rotWithShape="1">
          <a:blip r:embed="rId3">
            <a:alphaModFix amt="50000"/>
          </a:blip>
          <a:srcRect b="7714" l="0" r="0" t="36035"/>
          <a:stretch/>
        </p:blipFill>
        <p:spPr>
          <a:xfrm>
            <a:off x="20" y="1"/>
            <a:ext cx="1828798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2"/>
          <p:cNvSpPr/>
          <p:nvPr/>
        </p:nvSpPr>
        <p:spPr>
          <a:xfrm>
            <a:off x="952500" y="4667250"/>
            <a:ext cx="7467600" cy="2420928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2"/>
          <p:cNvSpPr txBox="1"/>
          <p:nvPr>
            <p:ph type="ctrTitle"/>
          </p:nvPr>
        </p:nvSpPr>
        <p:spPr>
          <a:xfrm>
            <a:off x="2286000" y="1683543"/>
            <a:ext cx="13716000" cy="2751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6000">
                <a:solidFill>
                  <a:srgbClr val="FFFFFF"/>
                </a:solidFill>
                <a:latin typeface="Lobster"/>
                <a:ea typeface="Lobster"/>
                <a:cs typeface="Lobster"/>
                <a:sym typeface="Lobster"/>
              </a:rPr>
              <a:t>Características Técnicas</a:t>
            </a:r>
            <a:endParaRPr/>
          </a:p>
        </p:txBody>
      </p:sp>
      <p:sp>
        <p:nvSpPr>
          <p:cNvPr id="318" name="Google Shape;318;p32"/>
          <p:cNvSpPr txBox="1"/>
          <p:nvPr>
            <p:ph idx="1" type="subTitle"/>
          </p:nvPr>
        </p:nvSpPr>
        <p:spPr>
          <a:xfrm>
            <a:off x="952500" y="4885521"/>
            <a:ext cx="7600950" cy="2202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96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CPU: Procesadores ARM variados </a:t>
            </a:r>
            <a:endParaRPr/>
          </a:p>
          <a:p>
            <a:pPr indent="-571500" lvl="0" marL="596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RAM: 256MB a 8GB según modelo </a:t>
            </a:r>
            <a:endParaRPr/>
          </a:p>
          <a:p>
            <a:pPr indent="-571500" lvl="0" marL="596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GPU: Soporte OpenGL ES</a:t>
            </a:r>
            <a:endParaRPr/>
          </a:p>
        </p:txBody>
      </p:sp>
      <p:sp>
        <p:nvSpPr>
          <p:cNvPr id="319" name="Google Shape;319;p32"/>
          <p:cNvSpPr/>
          <p:nvPr/>
        </p:nvSpPr>
        <p:spPr>
          <a:xfrm>
            <a:off x="8724900" y="4641696"/>
            <a:ext cx="8610600" cy="2446481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9010650" y="5014437"/>
            <a:ext cx="927735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Almacenamiento: Tarjetas SD/microSD 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Tamaño compacto (85x56 mm) 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Bajo consumo (5V)</a:t>
            </a:r>
            <a:endParaRPr b="0" i="0" sz="36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3"/>
          <p:cNvSpPr txBox="1"/>
          <p:nvPr>
            <p:ph type="ctrTitle"/>
          </p:nvPr>
        </p:nvSpPr>
        <p:spPr>
          <a:xfrm>
            <a:off x="628649" y="505212"/>
            <a:ext cx="7886702" cy="4287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88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Sistemas Operativos y Software</a:t>
            </a:r>
            <a:endParaRPr/>
          </a:p>
        </p:txBody>
      </p:sp>
      <p:sp>
        <p:nvSpPr>
          <p:cNvPr id="327" name="Google Shape;327;p33"/>
          <p:cNvSpPr txBox="1"/>
          <p:nvPr>
            <p:ph idx="1" type="subTitle"/>
          </p:nvPr>
        </p:nvSpPr>
        <p:spPr>
          <a:xfrm>
            <a:off x="1252538" y="4792757"/>
            <a:ext cx="8451903" cy="1414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Raspberry Pi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Basado en Debian, oficial y estable.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 video juego&#10;&#10;El contenido generado por IA puede ser incorrecto." id="328" name="Google Shape;328;p33"/>
          <p:cNvPicPr preferRelativeResize="0"/>
          <p:nvPr/>
        </p:nvPicPr>
        <p:blipFill rotWithShape="1">
          <a:blip r:embed="rId3">
            <a:alphaModFix/>
          </a:blip>
          <a:srcRect b="177" l="0" r="2" t="10343"/>
          <a:stretch/>
        </p:blipFill>
        <p:spPr>
          <a:xfrm>
            <a:off x="9144000" y="1262062"/>
            <a:ext cx="7891462" cy="7061390"/>
          </a:xfrm>
          <a:custGeom>
            <a:rect b="b" l="l" r="r" t="t"/>
            <a:pathLst>
              <a:path extrusionOk="0" h="4707593" w="5260975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noFill/>
          <a:ln>
            <a:noFill/>
          </a:ln>
          <a:effectLst>
            <a:outerShdw blurRad="381000" rotWithShape="0" algn="t" dir="5400000" dist="152400">
              <a:srgbClr val="000000">
                <a:alpha val="9803"/>
              </a:srgbClr>
            </a:outerShdw>
          </a:effectLst>
        </p:spPr>
      </p:pic>
      <p:sp>
        <p:nvSpPr>
          <p:cNvPr id="329" name="Google Shape;329;p33"/>
          <p:cNvSpPr/>
          <p:nvPr/>
        </p:nvSpPr>
        <p:spPr>
          <a:xfrm>
            <a:off x="9144000" y="6207468"/>
            <a:ext cx="7891462" cy="2115984"/>
          </a:xfrm>
          <a:custGeom>
            <a:rect b="b" l="l" r="r" t="t"/>
            <a:pathLst>
              <a:path extrusionOk="0" h="1410656" w="5260975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9144000" y="6207468"/>
            <a:ext cx="7891462" cy="2115984"/>
          </a:xfrm>
          <a:custGeom>
            <a:rect b="b" l="l" r="r" t="t"/>
            <a:pathLst>
              <a:path extrusionOk="0" h="1410656" w="5260975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rotWithShape="1">
            <a:blip r:embed="rId4">
              <a:alphaModFix amt="57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1252538" y="6481886"/>
            <a:ext cx="8451903" cy="1414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Linux &amp; más</a:t>
            </a:r>
            <a:endParaRPr/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Compatible con diversas distribuciones Linux..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1286950" y="8197615"/>
            <a:ext cx="8451903" cy="1414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Soporte educativo </a:t>
            </a:r>
            <a:endParaRPr/>
          </a:p>
          <a:p>
            <a: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Python, Scratch y aplicaciones preinstaladas</a:t>
            </a:r>
            <a:r>
              <a:rPr b="0" i="0" lang="en-US" sz="4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gregar contorno" id="333" name="Google Shape;33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910" y="4792757"/>
            <a:ext cx="758218" cy="758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gregar contorno" id="334" name="Google Shape;33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910" y="6431023"/>
            <a:ext cx="758218" cy="758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gregar contorno" id="335" name="Google Shape;33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910" y="8197615"/>
            <a:ext cx="758218" cy="758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B3E3"/>
            </a:gs>
            <a:gs pos="18000">
              <a:srgbClr val="8CB3E3"/>
            </a:gs>
            <a:gs pos="52332">
              <a:srgbClr val="538CD5"/>
            </a:gs>
            <a:gs pos="89000">
              <a:srgbClr val="8CB3E3"/>
            </a:gs>
            <a:gs pos="100000">
              <a:srgbClr val="0F243E"/>
            </a:gs>
          </a:gsLst>
          <a:lin ang="5400000" scaled="0"/>
        </a:gra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8CB3E3"/>
              </a:gs>
              <a:gs pos="18000">
                <a:srgbClr val="8CB3E3"/>
              </a:gs>
              <a:gs pos="52332">
                <a:srgbClr val="538CD5"/>
              </a:gs>
              <a:gs pos="89000">
                <a:srgbClr val="8CB3E3"/>
              </a:gs>
              <a:gs pos="100000">
                <a:srgbClr val="0F243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4"/>
          <p:cNvSpPr txBox="1"/>
          <p:nvPr>
            <p:ph type="ctrTitle"/>
          </p:nvPr>
        </p:nvSpPr>
        <p:spPr>
          <a:xfrm>
            <a:off x="12173990" y="1051699"/>
            <a:ext cx="5084272" cy="19525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6000">
                <a:solidFill>
                  <a:srgbClr val="262626"/>
                </a:solidFill>
                <a:latin typeface="Lobster"/>
                <a:ea typeface="Lobster"/>
                <a:cs typeface="Lobster"/>
                <a:sym typeface="Lobster"/>
              </a:rPr>
              <a:t>Arquitectura ARM</a:t>
            </a:r>
            <a:endParaRPr/>
          </a:p>
        </p:txBody>
      </p:sp>
      <p:grpSp>
        <p:nvGrpSpPr>
          <p:cNvPr id="343" name="Google Shape;343;p34"/>
          <p:cNvGrpSpPr/>
          <p:nvPr/>
        </p:nvGrpSpPr>
        <p:grpSpPr>
          <a:xfrm>
            <a:off x="10730077" y="3062471"/>
            <a:ext cx="4293075" cy="6980455"/>
            <a:chOff x="3602646" y="0"/>
            <a:chExt cx="4293075" cy="6980455"/>
          </a:xfrm>
        </p:grpSpPr>
        <p:sp>
          <p:nvSpPr>
            <p:cNvPr id="344" name="Google Shape;344;p34"/>
            <p:cNvSpPr/>
            <p:nvPr/>
          </p:nvSpPr>
          <p:spPr>
            <a:xfrm>
              <a:off x="4535841" y="0"/>
              <a:ext cx="3359880" cy="336039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5278485" y="1213203"/>
              <a:ext cx="1867020" cy="933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4"/>
            <p:cNvSpPr txBox="1"/>
            <p:nvPr/>
          </p:nvSpPr>
          <p:spPr>
            <a:xfrm>
              <a:off x="5278485" y="1213203"/>
              <a:ext cx="1867020" cy="933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Eficiencia Energética</a:t>
              </a:r>
              <a:endParaRPr/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3602646" y="1930794"/>
              <a:ext cx="3359880" cy="336039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4349076" y="3155166"/>
              <a:ext cx="1867020" cy="933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4"/>
            <p:cNvSpPr txBox="1"/>
            <p:nvPr/>
          </p:nvSpPr>
          <p:spPr>
            <a:xfrm>
              <a:off x="4349076" y="3155166"/>
              <a:ext cx="1867020" cy="933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Diversas Versiones</a:t>
              </a:r>
              <a:endParaRPr/>
            </a:p>
          </p:txBody>
        </p:sp>
        <p:sp>
          <p:nvSpPr>
            <p:cNvPr id="350" name="Google Shape;350;p34"/>
            <p:cNvSpPr/>
            <p:nvPr/>
          </p:nvSpPr>
          <p:spPr>
            <a:xfrm>
              <a:off x="4774976" y="4092641"/>
              <a:ext cx="2886657" cy="2887814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lt1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4"/>
            <p:cNvSpPr/>
            <p:nvPr/>
          </p:nvSpPr>
          <p:spPr>
            <a:xfrm>
              <a:off x="5282902" y="5099921"/>
              <a:ext cx="1867020" cy="933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4"/>
            <p:cNvSpPr txBox="1"/>
            <p:nvPr/>
          </p:nvSpPr>
          <p:spPr>
            <a:xfrm>
              <a:off x="5282902" y="5099921"/>
              <a:ext cx="1867020" cy="933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Optimización</a:t>
              </a:r>
              <a:endParaRPr/>
            </a:p>
          </p:txBody>
        </p:sp>
      </p:grpSp>
      <p:pic>
        <p:nvPicPr>
          <p:cNvPr descr="Imagen de la pantalla de un video juego&#10;&#10;El contenido generado por IA puede ser incorrecto." id="353" name="Google Shape;353;p34"/>
          <p:cNvPicPr preferRelativeResize="0"/>
          <p:nvPr/>
        </p:nvPicPr>
        <p:blipFill rotWithShape="1">
          <a:blip r:embed="rId3">
            <a:alphaModFix/>
          </a:blip>
          <a:srcRect b="714" l="0" r="0" t="9820"/>
          <a:stretch/>
        </p:blipFill>
        <p:spPr>
          <a:xfrm>
            <a:off x="20" y="1"/>
            <a:ext cx="11498369" cy="10286999"/>
          </a:xfrm>
          <a:custGeom>
            <a:rect b="b" l="l" r="r" t="t"/>
            <a:pathLst>
              <a:path extrusionOk="0" h="6857999" w="7665593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54" name="Google Shape;354;p34"/>
          <p:cNvSpPr txBox="1"/>
          <p:nvPr/>
        </p:nvSpPr>
        <p:spPr>
          <a:xfrm>
            <a:off x="14790420" y="4274820"/>
            <a:ext cx="27660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 consumo frente a x86.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 txBox="1"/>
          <p:nvPr/>
        </p:nvSpPr>
        <p:spPr>
          <a:xfrm>
            <a:off x="14258058" y="6227683"/>
            <a:ext cx="32984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ARMv6, ARMv7 y ARMv8 de 64 bits.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 txBox="1"/>
          <p:nvPr/>
        </p:nvSpPr>
        <p:spPr>
          <a:xfrm>
            <a:off x="14790420" y="8180546"/>
            <a:ext cx="27660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móviles y dispositivos embebidos.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tabla, agua&#10;&#10;El contenido generado por IA puede ser incorrecto." id="361" name="Google Shape;361;p35"/>
          <p:cNvPicPr preferRelativeResize="0"/>
          <p:nvPr/>
        </p:nvPicPr>
        <p:blipFill rotWithShape="1">
          <a:blip r:embed="rId3">
            <a:alphaModFix amt="40000"/>
          </a:blip>
          <a:srcRect b="7714" l="0" r="0" t="36035"/>
          <a:stretch/>
        </p:blipFill>
        <p:spPr>
          <a:xfrm>
            <a:off x="0" y="0"/>
            <a:ext cx="18287980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 txBox="1"/>
          <p:nvPr>
            <p:ph type="ctrTitle"/>
          </p:nvPr>
        </p:nvSpPr>
        <p:spPr>
          <a:xfrm>
            <a:off x="1447800" y="1447801"/>
            <a:ext cx="15392400" cy="1981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7300"/>
              <a:t>Puertos y Conectividad</a:t>
            </a:r>
            <a:endParaRPr/>
          </a:p>
        </p:txBody>
      </p:sp>
      <p:sp>
        <p:nvSpPr>
          <p:cNvPr id="363" name="Google Shape;363;p35"/>
          <p:cNvSpPr/>
          <p:nvPr/>
        </p:nvSpPr>
        <p:spPr>
          <a:xfrm>
            <a:off x="1012371" y="6521213"/>
            <a:ext cx="3167743" cy="2612571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5"/>
          <p:cNvSpPr txBox="1"/>
          <p:nvPr>
            <p:ph idx="1" type="subTitle"/>
          </p:nvPr>
        </p:nvSpPr>
        <p:spPr>
          <a:xfrm>
            <a:off x="1447800" y="6858003"/>
            <a:ext cx="2623457" cy="198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6666"/>
              <a:buNone/>
            </a:pPr>
            <a:r>
              <a:rPr b="1" lang="en-US" sz="4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Pines GPIO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6666"/>
              <a:buNone/>
            </a:pPr>
            <a:r>
              <a:rPr lang="en-US" sz="4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Conexión con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6666"/>
              <a:buNone/>
            </a:pPr>
            <a:r>
              <a:rPr lang="en-US" sz="4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sensores y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6666"/>
              <a:buNone/>
            </a:pPr>
            <a:r>
              <a:rPr lang="en-US" sz="4800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actuadores.</a:t>
            </a:r>
            <a:endParaRPr sz="4800">
              <a:solidFill>
                <a:srgbClr val="7F7F7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4887687" y="6496315"/>
            <a:ext cx="3167743" cy="2612571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5"/>
          <p:cNvSpPr txBox="1"/>
          <p:nvPr/>
        </p:nvSpPr>
        <p:spPr>
          <a:xfrm>
            <a:off x="5301343" y="6858003"/>
            <a:ext cx="273231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USB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Para periféricos variados.</a:t>
            </a:r>
            <a:endParaRPr/>
          </a:p>
        </p:txBody>
      </p:sp>
      <p:sp>
        <p:nvSpPr>
          <p:cNvPr id="367" name="Google Shape;367;p35"/>
          <p:cNvSpPr/>
          <p:nvPr/>
        </p:nvSpPr>
        <p:spPr>
          <a:xfrm>
            <a:off x="8958924" y="6466785"/>
            <a:ext cx="3167743" cy="2612571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5"/>
          <p:cNvSpPr txBox="1"/>
          <p:nvPr/>
        </p:nvSpPr>
        <p:spPr>
          <a:xfrm>
            <a:off x="9263743" y="6858003"/>
            <a:ext cx="273231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HDMI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Salida de video para monitores.</a:t>
            </a:r>
            <a:endParaRPr/>
          </a:p>
        </p:txBody>
      </p:sp>
      <p:sp>
        <p:nvSpPr>
          <p:cNvPr id="369" name="Google Shape;369;p35"/>
          <p:cNvSpPr/>
          <p:nvPr/>
        </p:nvSpPr>
        <p:spPr>
          <a:xfrm>
            <a:off x="13030161" y="6521213"/>
            <a:ext cx="3167743" cy="2612571"/>
          </a:xfrm>
          <a:prstGeom prst="roundRect">
            <a:avLst>
              <a:gd fmla="val 16667" name="adj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5"/>
          <p:cNvSpPr txBox="1"/>
          <p:nvPr/>
        </p:nvSpPr>
        <p:spPr>
          <a:xfrm>
            <a:off x="13400314" y="6858003"/>
            <a:ext cx="273231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Redes</a:t>
            </a:r>
            <a:r>
              <a:rPr b="0" i="0" lang="en-US" sz="3000" u="none" cap="none" strike="noStrike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7F7F7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Ethernet, WiFi y Bluetooth integrados.</a:t>
            </a:r>
            <a:endParaRPr b="0" i="0" sz="3000" u="none" cap="none" strike="noStrike">
              <a:solidFill>
                <a:srgbClr val="7F7F7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descr="Marca de verificación contorno" id="371" name="Google Shape;37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9272" y="604345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positivo USB contorno" id="372" name="Google Shape;37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178" y="600958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B contorno" id="373" name="Google Shape;37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88968" y="599514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alámbrico contorno" id="374" name="Google Shape;37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156832" y="5943593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 video juego&#10;&#10;El contenido generado por IA puede ser incorrecto." id="380" name="Google Shape;380;p36"/>
          <p:cNvPicPr preferRelativeResize="0"/>
          <p:nvPr/>
        </p:nvPicPr>
        <p:blipFill rotWithShape="1">
          <a:blip r:embed="rId3">
            <a:alphaModFix/>
          </a:blip>
          <a:srcRect b="6993" l="0" r="9091" t="21085"/>
          <a:stretch/>
        </p:blipFill>
        <p:spPr>
          <a:xfrm>
            <a:off x="5285232" y="10"/>
            <a:ext cx="13002768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6"/>
          <p:cNvSpPr/>
          <p:nvPr/>
        </p:nvSpPr>
        <p:spPr>
          <a:xfrm>
            <a:off x="0" y="0"/>
            <a:ext cx="14634901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8823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6"/>
          <p:cNvSpPr txBox="1"/>
          <p:nvPr>
            <p:ph type="ctrTitle"/>
          </p:nvPr>
        </p:nvSpPr>
        <p:spPr>
          <a:xfrm>
            <a:off x="635579" y="1399662"/>
            <a:ext cx="6035040" cy="2255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777"/>
              <a:buNone/>
            </a:pPr>
            <a:r>
              <a:rPr lang="en-US" sz="7200">
                <a:latin typeface="Lobster"/>
                <a:ea typeface="Lobster"/>
                <a:cs typeface="Lobster"/>
                <a:sym typeface="Lobster"/>
              </a:rPr>
              <a:t>Aplicaciones Avanzadas</a:t>
            </a:r>
            <a:endParaRPr/>
          </a:p>
        </p:txBody>
      </p:sp>
      <p:sp>
        <p:nvSpPr>
          <p:cNvPr id="383" name="Google Shape;383;p36"/>
          <p:cNvSpPr txBox="1"/>
          <p:nvPr>
            <p:ph idx="1" type="subTitle"/>
          </p:nvPr>
        </p:nvSpPr>
        <p:spPr>
          <a:xfrm>
            <a:off x="1108856" y="3896372"/>
            <a:ext cx="8035144" cy="5225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Robótica y control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Motores, sensores y automatización.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Clusters computacionales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Procesamiento paralelo y computación avanzada.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Estaciones meteorológicas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Recolección y análisis de datos ambientales.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 y vigilancia.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Cámaras y sistemas inteligentes instalados en hogares.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000"/>
          </a:p>
        </p:txBody>
      </p:sp>
      <p:sp>
        <p:nvSpPr>
          <p:cNvPr id="384" name="Google Shape;384;p36"/>
          <p:cNvSpPr/>
          <p:nvPr/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signia de seguir con relleno sólido" id="386" name="Google Shape;38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79" y="4067332"/>
            <a:ext cx="370828" cy="370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ignia de seguir con relleno sólido"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79" y="5204223"/>
            <a:ext cx="370828" cy="370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ignia de seguir con relleno sólido" id="388" name="Google Shape;38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79" y="6341114"/>
            <a:ext cx="370828" cy="370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ignia de seguir con relleno sólido"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79" y="7428461"/>
            <a:ext cx="370828" cy="37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7"/>
          <p:cNvSpPr txBox="1"/>
          <p:nvPr>
            <p:ph type="ctrTitle"/>
          </p:nvPr>
        </p:nvSpPr>
        <p:spPr>
          <a:xfrm>
            <a:off x="960120" y="8365330"/>
            <a:ext cx="16367760" cy="960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88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Ventajas y Comparativa</a:t>
            </a:r>
            <a:endParaRPr sz="88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descr="Imagen de la pantalla de un celular con letras&#10;&#10;El contenido generado por IA puede ser incorrecto." id="395" name="Google Shape;395;p37"/>
          <p:cNvPicPr preferRelativeResize="0"/>
          <p:nvPr/>
        </p:nvPicPr>
        <p:blipFill rotWithShape="1">
          <a:blip r:embed="rId3">
            <a:alphaModFix/>
          </a:blip>
          <a:srcRect b="-1" l="3317" r="8134" t="0"/>
          <a:stretch/>
        </p:blipFill>
        <p:spPr>
          <a:xfrm>
            <a:off x="960120" y="960120"/>
            <a:ext cx="16367760" cy="7255192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/>
          <p:nvPr/>
        </p:nvSpPr>
        <p:spPr>
          <a:xfrm>
            <a:off x="-1" y="0"/>
            <a:ext cx="18287998" cy="10287000"/>
          </a:xfrm>
          <a:prstGeom prst="rect">
            <a:avLst/>
          </a:prstGeom>
          <a:gradFill>
            <a:gsLst>
              <a:gs pos="0">
                <a:srgbClr val="FDE9D8"/>
              </a:gs>
              <a:gs pos="89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1" y="0"/>
            <a:ext cx="12783669" cy="3428998"/>
          </a:xfrm>
          <a:prstGeom prst="rect">
            <a:avLst/>
          </a:prstGeom>
          <a:gradFill>
            <a:gsLst>
              <a:gs pos="0">
                <a:srgbClr val="FDE9D8"/>
              </a:gs>
              <a:gs pos="89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"/>
          <p:cNvSpPr txBox="1"/>
          <p:nvPr/>
        </p:nvSpPr>
        <p:spPr>
          <a:xfrm>
            <a:off x="1142704" y="525294"/>
            <a:ext cx="6970356" cy="2436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403" name="Google Shape;403;p6"/>
          <p:cNvSpPr txBox="1"/>
          <p:nvPr/>
        </p:nvSpPr>
        <p:spPr>
          <a:xfrm>
            <a:off x="478970" y="3487368"/>
            <a:ext cx="9361715" cy="6799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x86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Potencia y compatibilidad: Arquitectura CISC usada en PCs y servidores, con alto rendimiento y soporte para software legado. 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Eficiencia y movilidad: Arquitectura RISC con bajo consumo energético, ideal para móviles, loT y sistemas embebidos. 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 vs x86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ARM domina en eficiencia energética y móviles; x86 aún lidera en potencia bruta y tareas intensivas (aunque ARM está ganando terreno). 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Raspberry Pi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Versatilidad educativa: Microordenador ARM de bajo costo usado en enseñanza, prototipado y proyectos personales. 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 en crecimiento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expande a laptops y servidores (ej. Apple M1/M2, chips ARM para centros de datos).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Icono&#10;&#10;El contenido generado por IA puede ser incorrecto." id="404" name="Google Shape;404;p6"/>
          <p:cNvPicPr preferRelativeResize="0"/>
          <p:nvPr/>
        </p:nvPicPr>
        <p:blipFill rotWithShape="1">
          <a:blip r:embed="rId3">
            <a:alphaModFix/>
          </a:blip>
          <a:srcRect b="28392" l="0" r="0" t="7273"/>
          <a:stretch/>
        </p:blipFill>
        <p:spPr>
          <a:xfrm>
            <a:off x="9144000" y="1"/>
            <a:ext cx="9154237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"/>
          <p:cNvSpPr/>
          <p:nvPr/>
        </p:nvSpPr>
        <p:spPr>
          <a:xfrm>
            <a:off x="815749" y="2292632"/>
            <a:ext cx="4409393" cy="3955767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"/>
          <p:cNvSpPr txBox="1"/>
          <p:nvPr/>
        </p:nvSpPr>
        <p:spPr>
          <a:xfrm>
            <a:off x="815749" y="715313"/>
            <a:ext cx="13503300" cy="1043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"/>
          <p:cNvSpPr txBox="1"/>
          <p:nvPr/>
        </p:nvSpPr>
        <p:spPr>
          <a:xfrm rot="-266132">
            <a:off x="1294721" y="2887470"/>
            <a:ext cx="325550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Curiosidad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Explorar distintas arquitecturas de procesadores despierta interés por la tecnología actual.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bujo animado de un personaje animado&#10;&#10;El contenido generado por IA puede ser incorrecto." id="412" name="Google Shape;4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594736" y="1236994"/>
            <a:ext cx="5568754" cy="887344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7"/>
          <p:cNvSpPr/>
          <p:nvPr/>
        </p:nvSpPr>
        <p:spPr>
          <a:xfrm flipH="1">
            <a:off x="12225975" y="2292632"/>
            <a:ext cx="4409393" cy="3955767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"/>
          <p:cNvSpPr txBox="1"/>
          <p:nvPr/>
        </p:nvSpPr>
        <p:spPr>
          <a:xfrm rot="246913">
            <a:off x="12911977" y="3177232"/>
            <a:ext cx="325550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Pensamiento crítico: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 ARM y x86 requiere analizar sus usos, ventajas y limitaciones.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"/>
          <p:cNvSpPr/>
          <p:nvPr/>
        </p:nvSpPr>
        <p:spPr>
          <a:xfrm flipH="1">
            <a:off x="397737" y="6533211"/>
            <a:ext cx="5683023" cy="3120966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"/>
          <p:cNvSpPr txBox="1"/>
          <p:nvPr/>
        </p:nvSpPr>
        <p:spPr>
          <a:xfrm rot="246913">
            <a:off x="665027" y="6968359"/>
            <a:ext cx="5288984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Adaptabilidad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tecnologías como Raspberry Pi muestran cómo el conocimiento técnico se aplica en contextos diversos.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12021479" y="6534993"/>
            <a:ext cx="5683023" cy="3120966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"/>
          <p:cNvSpPr txBox="1"/>
          <p:nvPr/>
        </p:nvSpPr>
        <p:spPr>
          <a:xfrm rot="-244020">
            <a:off x="12306359" y="6959344"/>
            <a:ext cx="4671016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 el impacto de las decisiones tecnológicas implica un compromiso con su uso consciente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gradFill>
            <a:gsLst>
              <a:gs pos="0">
                <a:srgbClr val="FDE9D8"/>
              </a:gs>
              <a:gs pos="89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 txBox="1"/>
          <p:nvPr/>
        </p:nvSpPr>
        <p:spPr>
          <a:xfrm>
            <a:off x="10404586" y="456732"/>
            <a:ext cx="5733283" cy="2849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pic>
        <p:nvPicPr>
          <p:cNvPr descr="Una caricatura de una persona&#10;&#10;El contenido generado por IA puede ser incorrecto." id="425" name="Google Shape;425;p8"/>
          <p:cNvPicPr preferRelativeResize="0"/>
          <p:nvPr/>
        </p:nvPicPr>
        <p:blipFill rotWithShape="1">
          <a:blip r:embed="rId3">
            <a:alphaModFix/>
          </a:blip>
          <a:srcRect b="31681" l="0" r="-1" t="2322"/>
          <a:stretch/>
        </p:blipFill>
        <p:spPr>
          <a:xfrm>
            <a:off x="1" y="10"/>
            <a:ext cx="10404585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8"/>
          <p:cNvSpPr txBox="1"/>
          <p:nvPr/>
        </p:nvSpPr>
        <p:spPr>
          <a:xfrm>
            <a:off x="10404587" y="2903221"/>
            <a:ext cx="6626112" cy="6362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1" lang="en-US" sz="4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https://www.intel.com Documentación oficial sobre sus procesadores x86. </a:t>
            </a:r>
            <a:endParaRPr/>
          </a:p>
          <a:p>
            <a:pPr indent="-254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1" lang="en-US" sz="4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https://www.arm.com Información técnica, noticias y documentación oficial de los procesadores ARM. </a:t>
            </a:r>
            <a:endParaRPr/>
          </a:p>
          <a:p>
            <a:pPr indent="-254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1" lang="en-US" sz="4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Raspberry Pi Foundation 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https://www.raspberrypi.org Guías, documentación y proyectos para todas las versiones de Raspberry Pi.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64f262177b_0_2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Texto&#10;&#10;El contenido generado por IA puede ser incorrecto." id="432" name="Google Shape;432;g364f262177b_0_2"/>
          <p:cNvPicPr preferRelativeResize="0"/>
          <p:nvPr/>
        </p:nvPicPr>
        <p:blipFill rotWithShape="1">
          <a:blip r:embed="rId3">
            <a:alphaModFix/>
          </a:blip>
          <a:srcRect b="32835" l="0" r="0" t="0"/>
          <a:stretch/>
        </p:blipFill>
        <p:spPr>
          <a:xfrm>
            <a:off x="-4570" y="10"/>
            <a:ext cx="18287998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64f262177b_0_2"/>
          <p:cNvSpPr/>
          <p:nvPr/>
        </p:nvSpPr>
        <p:spPr>
          <a:xfrm>
            <a:off x="0" y="3311403"/>
            <a:ext cx="18287998" cy="474321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4901"/>
                </a:srgbClr>
              </a:gs>
              <a:gs pos="50000">
                <a:srgbClr val="000000">
                  <a:alpha val="29803"/>
                </a:srgbClr>
              </a:gs>
              <a:gs pos="75000">
                <a:srgbClr val="000000">
                  <a:alpha val="14901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64f262177b_0_2"/>
          <p:cNvSpPr txBox="1"/>
          <p:nvPr/>
        </p:nvSpPr>
        <p:spPr>
          <a:xfrm>
            <a:off x="1595629" y="1079025"/>
            <a:ext cx="15087600" cy="536216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1" i="0" sz="13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4afea4f63_0_1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DE9D8"/>
              </a:gs>
              <a:gs pos="89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El contenido generado por IA puede ser incorrecto." id="440" name="Google Shape;440;g364afea4f63_0_148"/>
          <p:cNvPicPr preferRelativeResize="0"/>
          <p:nvPr/>
        </p:nvPicPr>
        <p:blipFill rotWithShape="1">
          <a:blip r:embed="rId3">
            <a:alphaModFix/>
          </a:blip>
          <a:srcRect b="31173" l="0" r="-1" t="16018"/>
          <a:stretch/>
        </p:blipFill>
        <p:spPr>
          <a:xfrm>
            <a:off x="20" y="10"/>
            <a:ext cx="13002748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64afea4f63_0_148"/>
          <p:cNvSpPr/>
          <p:nvPr/>
        </p:nvSpPr>
        <p:spPr>
          <a:xfrm flipH="1">
            <a:off x="5567478" y="0"/>
            <a:ext cx="12720520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64afea4f63_0_148"/>
          <p:cNvSpPr txBox="1"/>
          <p:nvPr/>
        </p:nvSpPr>
        <p:spPr>
          <a:xfrm>
            <a:off x="11772900" y="1683544"/>
            <a:ext cx="6035040" cy="4806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Practiquemos lo aprendido</a:t>
            </a:r>
            <a:endParaRPr/>
          </a:p>
        </p:txBody>
      </p:sp>
      <p:sp>
        <p:nvSpPr>
          <p:cNvPr id="443" name="Google Shape;443;g364afea4f63_0_148"/>
          <p:cNvSpPr/>
          <p:nvPr/>
        </p:nvSpPr>
        <p:spPr>
          <a:xfrm rot="5400000">
            <a:off x="12195810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64afea4f63_0_148"/>
          <p:cNvSpPr/>
          <p:nvPr/>
        </p:nvSpPr>
        <p:spPr>
          <a:xfrm>
            <a:off x="11777472" y="6820380"/>
            <a:ext cx="6035040" cy="2743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g385e2d797db_0_1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0" name="Google Shape;450;g385e2d797db_0_1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{AACBF811-9F2D-4C1A-BC32-C1AA771F8E8B}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1" name="Google Shape;451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/>
          </a:p>
        </p:txBody>
      </p:sp>
      <p:sp>
        <p:nvSpPr>
          <p:cNvPr id="452" name="Google Shape;452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3" name="Google Shape;453;g385e2d797db_0_1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{AACBF811-9F2D-4C1A-BC32-C1AA771F8E8B}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4" name="Google Shape;454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4afea4f63_0_141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gradFill>
            <a:gsLst>
              <a:gs pos="0">
                <a:srgbClr val="FDE9D8"/>
              </a:gs>
              <a:gs pos="89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64afea4f63_0_141"/>
          <p:cNvSpPr txBox="1"/>
          <p:nvPr/>
        </p:nvSpPr>
        <p:spPr>
          <a:xfrm>
            <a:off x="7825955" y="1565692"/>
            <a:ext cx="8998260" cy="5014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i="0" lang="en-US" sz="16600" u="none" cap="none" strike="noStrike">
                <a:solidFill>
                  <a:srgbClr val="E5B8B7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/>
          </a:p>
        </p:txBody>
      </p:sp>
      <p:pic>
        <p:nvPicPr>
          <p:cNvPr descr="Una caricatura de una persona&#10;&#10;El contenido generado por IA puede ser incorrecto." id="462" name="Google Shape;462;g364afea4f63_0_141"/>
          <p:cNvPicPr preferRelativeResize="0"/>
          <p:nvPr/>
        </p:nvPicPr>
        <p:blipFill rotWithShape="1">
          <a:blip r:embed="rId3">
            <a:alphaModFix/>
          </a:blip>
          <a:srcRect b="1106" l="0" r="-1" t="0"/>
          <a:stretch/>
        </p:blipFill>
        <p:spPr>
          <a:xfrm>
            <a:off x="20" y="10"/>
            <a:ext cx="7489487" cy="10286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9D8"/>
            </a:gs>
            <a:gs pos="89000">
              <a:srgbClr val="D8D8D8"/>
            </a:gs>
            <a:gs pos="100000">
              <a:srgbClr val="F2F2F2"/>
            </a:gs>
          </a:gsLst>
          <a:lin ang="5400000" scaled="0"/>
        </a:gra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DE9D8"/>
              </a:gs>
              <a:gs pos="89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El contenido generado por IA puede ser incorrecto." id="468" name="Google Shape;468;p9"/>
          <p:cNvPicPr preferRelativeResize="0"/>
          <p:nvPr/>
        </p:nvPicPr>
        <p:blipFill rotWithShape="1">
          <a:blip r:embed="rId3">
            <a:alphaModFix/>
          </a:blip>
          <a:srcRect b="22692" l="0" r="0" t="4737"/>
          <a:stretch/>
        </p:blipFill>
        <p:spPr>
          <a:xfrm>
            <a:off x="-1" y="-3"/>
            <a:ext cx="8115296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9"/>
          <p:cNvSpPr/>
          <p:nvPr/>
        </p:nvSpPr>
        <p:spPr>
          <a:xfrm>
            <a:off x="8115295" y="-1"/>
            <a:ext cx="10172703" cy="3428999"/>
          </a:xfrm>
          <a:prstGeom prst="rect">
            <a:avLst/>
          </a:prstGeom>
          <a:gradFill>
            <a:gsLst>
              <a:gs pos="0">
                <a:srgbClr val="FDE9D8"/>
              </a:gs>
              <a:gs pos="89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  <a:effectLst>
            <a:outerShdw blurRad="355600" sx="95000" rotWithShape="0" algn="t" dist="152400" sy="95000">
              <a:srgbClr val="000000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9"/>
          <p:cNvSpPr txBox="1"/>
          <p:nvPr/>
        </p:nvSpPr>
        <p:spPr>
          <a:xfrm>
            <a:off x="9144000" y="1090047"/>
            <a:ext cx="8197452" cy="233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9"/>
          <p:cNvSpPr txBox="1"/>
          <p:nvPr/>
        </p:nvSpPr>
        <p:spPr>
          <a:xfrm>
            <a:off x="9266141" y="5143498"/>
            <a:ext cx="7871010" cy="3106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TENEMOS NUESTRO FORO SEMANAL DONDE PUEDES CONSULTAR CUALQUIER DUDA QUE TE SURJA EN LA SEMANA</a:t>
            </a:r>
            <a:endParaRPr/>
          </a:p>
        </p:txBody>
      </p:sp>
      <p:pic>
        <p:nvPicPr>
          <p:cNvPr descr="Agregar comentario con relleno sólido" id="472" name="Google Shape;4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58692" y="3875642"/>
            <a:ext cx="1286805" cy="1286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Mafer Morales</dc:creator>
</cp:coreProperties>
</file>