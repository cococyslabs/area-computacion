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Arial Bold" charset="1" panose="020B0704020202020204"/>
      <p:regular r:id="rId29"/>
    </p:embeddedFont>
    <p:embeddedFont>
      <p:font typeface="Questrial" charset="1" panose="02000000000000000000"/>
      <p:regular r:id="rId30"/>
    </p:embeddedFont>
    <p:embeddedFont>
      <p:font typeface="Quicksand Bold" charset="1" panose="00000000000000000000"/>
      <p:regular r:id="rId31"/>
    </p:embeddedFont>
    <p:embeddedFont>
      <p:font typeface="Nunito Bold" charset="1" panose="00000000000000000000"/>
      <p:regular r:id="rId32"/>
    </p:embeddedFont>
    <p:embeddedFont>
      <p:font typeface="Nunito" charset="1" panose="00000000000000000000"/>
      <p:regular r:id="rId33"/>
    </p:embeddedFont>
    <p:embeddedFont>
      <p:font typeface="Quicksand" charset="1" panose="00000000000000000000"/>
      <p:regular r:id="rId34"/>
    </p:embeddedFont>
    <p:embeddedFont>
      <p:font typeface="Poppins" charset="1" panose="00000500000000000000"/>
      <p:regular r:id="rId35"/>
    </p:embeddedFont>
    <p:embeddedFont>
      <p:font typeface="Poppins Bold" charset="1" panose="00000800000000000000"/>
      <p:regular r:id="rId36"/>
    </p:embeddedFont>
    <p:embeddedFont>
      <p:font typeface="Garet Bold" charset="1" panose="00000000000000000000"/>
      <p:regular r:id="rId37"/>
    </p:embeddedFont>
    <p:embeddedFont>
      <p:font typeface="Poppins Ultra-Bold" charset="1" panose="0000090000000000000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jpe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4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Relationship Id="rId6" Target="../media/image53.svg" Type="http://schemas.openxmlformats.org/officeDocument/2006/relationships/image"/><Relationship Id="rId7" Target="../media/image54.png" Type="http://schemas.openxmlformats.org/officeDocument/2006/relationships/image"/><Relationship Id="rId8" Target="../media/image5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svg" Type="http://schemas.openxmlformats.org/officeDocument/2006/relationships/image"/><Relationship Id="rId4" Target="../media/image5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svg" Type="http://schemas.openxmlformats.org/officeDocument/2006/relationships/image"/><Relationship Id="rId4" Target="../media/image4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Relationship Id="rId3" Target="../media/image62.svg" Type="http://schemas.openxmlformats.org/officeDocument/2006/relationships/image"/><Relationship Id="rId4" Target="../media/image6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svg" Type="http://schemas.openxmlformats.org/officeDocument/2006/relationships/image"/><Relationship Id="rId2" Target="../media/image64.png" Type="http://schemas.openxmlformats.org/officeDocument/2006/relationships/image"/><Relationship Id="rId3" Target="../media/image65.sv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Relationship Id="rId6" Target="../media/image68.svg" Type="http://schemas.openxmlformats.org/officeDocument/2006/relationships/image"/><Relationship Id="rId7" Target="../media/image69.png" Type="http://schemas.openxmlformats.org/officeDocument/2006/relationships/image"/><Relationship Id="rId8" Target="../media/image70.sv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Relationship Id="rId3" Target="../media/image74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75.png" Type="http://schemas.openxmlformats.org/officeDocument/2006/relationships/image"/><Relationship Id="rId7" Target="../media/image76.svg" Type="http://schemas.openxmlformats.org/officeDocument/2006/relationships/image"/><Relationship Id="rId8" Target="../media/image4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5.svg" Type="http://schemas.openxmlformats.org/officeDocument/2006/relationships/image"/><Relationship Id="rId2" Target="../media/image77.png" Type="http://schemas.openxmlformats.org/officeDocument/2006/relationships/image"/><Relationship Id="rId3" Target="../media/image78.svg" Type="http://schemas.openxmlformats.org/officeDocument/2006/relationships/image"/><Relationship Id="rId4" Target="../media/image79.png" Type="http://schemas.openxmlformats.org/officeDocument/2006/relationships/image"/><Relationship Id="rId5" Target="../media/image80.png" Type="http://schemas.openxmlformats.org/officeDocument/2006/relationships/image"/><Relationship Id="rId6" Target="../media/image81.svg" Type="http://schemas.openxmlformats.org/officeDocument/2006/relationships/image"/><Relationship Id="rId7" Target="../media/image82.png" Type="http://schemas.openxmlformats.org/officeDocument/2006/relationships/image"/><Relationship Id="rId8" Target="../media/image83.svg" Type="http://schemas.openxmlformats.org/officeDocument/2006/relationships/image"/><Relationship Id="rId9" Target="../media/image8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svg" Type="http://schemas.openxmlformats.org/officeDocument/2006/relationships/image"/><Relationship Id="rId2" Target="../media/image86.png" Type="http://schemas.openxmlformats.org/officeDocument/2006/relationships/image"/><Relationship Id="rId3" Target="../media/image87.svg" Type="http://schemas.openxmlformats.org/officeDocument/2006/relationships/image"/><Relationship Id="rId4" Target="../media/image79.png" Type="http://schemas.openxmlformats.org/officeDocument/2006/relationships/image"/><Relationship Id="rId5" Target="../media/image88.png" Type="http://schemas.openxmlformats.org/officeDocument/2006/relationships/image"/><Relationship Id="rId6" Target="../media/image89.svg" Type="http://schemas.openxmlformats.org/officeDocument/2006/relationships/image"/><Relationship Id="rId7" Target="../media/image90.png" Type="http://schemas.openxmlformats.org/officeDocument/2006/relationships/image"/><Relationship Id="rId8" Target="../media/image91.svg" Type="http://schemas.openxmlformats.org/officeDocument/2006/relationships/image"/><Relationship Id="rId9" Target="../media/image9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4.png" Type="http://schemas.openxmlformats.org/officeDocument/2006/relationships/image"/><Relationship Id="rId3" Target="../media/image95.svg" Type="http://schemas.openxmlformats.org/officeDocument/2006/relationships/image"/><Relationship Id="rId4" Target="../media/image9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3"/>
            <a:chOff x="0" y="0"/>
            <a:chExt cx="24384000" cy="137160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93288" y="5983912"/>
            <a:ext cx="7374525" cy="734025"/>
            <a:chOff x="0" y="0"/>
            <a:chExt cx="9832700" cy="978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" y="6350"/>
              <a:ext cx="9820021" cy="965962"/>
            </a:xfrm>
            <a:custGeom>
              <a:avLst/>
              <a:gdLst/>
              <a:ahLst/>
              <a:cxnLst/>
              <a:rect r="r" b="b" t="t" l="l"/>
              <a:pathLst>
                <a:path h="965962" w="9820021">
                  <a:moveTo>
                    <a:pt x="0" y="0"/>
                  </a:moveTo>
                  <a:lnTo>
                    <a:pt x="9820021" y="0"/>
                  </a:lnTo>
                  <a:lnTo>
                    <a:pt x="9820021" y="965962"/>
                  </a:lnTo>
                  <a:lnTo>
                    <a:pt x="0" y="965962"/>
                  </a:lnTo>
                  <a:close/>
                </a:path>
              </a:pathLst>
            </a:custGeom>
            <a:solidFill>
              <a:srgbClr val="EEECE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32721" cy="978662"/>
            </a:xfrm>
            <a:custGeom>
              <a:avLst/>
              <a:gdLst/>
              <a:ahLst/>
              <a:cxnLst/>
              <a:rect r="r" b="b" t="t" l="l"/>
              <a:pathLst>
                <a:path h="978662" w="9832721">
                  <a:moveTo>
                    <a:pt x="6350" y="0"/>
                  </a:moveTo>
                  <a:lnTo>
                    <a:pt x="9826371" y="0"/>
                  </a:lnTo>
                  <a:cubicBezTo>
                    <a:pt x="9829927" y="0"/>
                    <a:pt x="9832721" y="2794"/>
                    <a:pt x="9832721" y="6350"/>
                  </a:cubicBezTo>
                  <a:lnTo>
                    <a:pt x="9832721" y="972312"/>
                  </a:lnTo>
                  <a:cubicBezTo>
                    <a:pt x="9832721" y="975868"/>
                    <a:pt x="9829927" y="978662"/>
                    <a:pt x="9826371" y="978662"/>
                  </a:cubicBezTo>
                  <a:lnTo>
                    <a:pt x="6350" y="978662"/>
                  </a:lnTo>
                  <a:cubicBezTo>
                    <a:pt x="2794" y="978662"/>
                    <a:pt x="0" y="975868"/>
                    <a:pt x="0" y="97231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972312"/>
                  </a:lnTo>
                  <a:lnTo>
                    <a:pt x="6350" y="972312"/>
                  </a:lnTo>
                  <a:lnTo>
                    <a:pt x="6350" y="965962"/>
                  </a:lnTo>
                  <a:lnTo>
                    <a:pt x="9826371" y="965962"/>
                  </a:lnTo>
                  <a:lnTo>
                    <a:pt x="9826371" y="972312"/>
                  </a:lnTo>
                  <a:lnTo>
                    <a:pt x="9820021" y="972312"/>
                  </a:lnTo>
                  <a:lnTo>
                    <a:pt x="9820021" y="6350"/>
                  </a:lnTo>
                  <a:lnTo>
                    <a:pt x="9826371" y="6350"/>
                  </a:lnTo>
                  <a:lnTo>
                    <a:pt x="9826371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9832700" cy="988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Jose Manuel Lopez Lemus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086162" y="4776488"/>
            <a:ext cx="10151625" cy="734025"/>
            <a:chOff x="0" y="0"/>
            <a:chExt cx="13535500" cy="978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13522833" cy="965962"/>
            </a:xfrm>
            <a:custGeom>
              <a:avLst/>
              <a:gdLst/>
              <a:ahLst/>
              <a:cxnLst/>
              <a:rect r="r" b="b" t="t" l="l"/>
              <a:pathLst>
                <a:path h="965962" w="13522833">
                  <a:moveTo>
                    <a:pt x="0" y="0"/>
                  </a:moveTo>
                  <a:lnTo>
                    <a:pt x="13522833" y="0"/>
                  </a:lnTo>
                  <a:lnTo>
                    <a:pt x="13522833" y="965962"/>
                  </a:lnTo>
                  <a:lnTo>
                    <a:pt x="0" y="965962"/>
                  </a:lnTo>
                  <a:close/>
                </a:path>
              </a:pathLst>
            </a:custGeom>
            <a:solidFill>
              <a:srgbClr val="EEECE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535533" cy="978662"/>
            </a:xfrm>
            <a:custGeom>
              <a:avLst/>
              <a:gdLst/>
              <a:ahLst/>
              <a:cxnLst/>
              <a:rect r="r" b="b" t="t" l="l"/>
              <a:pathLst>
                <a:path h="978662" w="13535533">
                  <a:moveTo>
                    <a:pt x="6350" y="0"/>
                  </a:moveTo>
                  <a:lnTo>
                    <a:pt x="13529183" y="0"/>
                  </a:lnTo>
                  <a:cubicBezTo>
                    <a:pt x="13532740" y="0"/>
                    <a:pt x="13535533" y="2794"/>
                    <a:pt x="13535533" y="6350"/>
                  </a:cubicBezTo>
                  <a:lnTo>
                    <a:pt x="13535533" y="972312"/>
                  </a:lnTo>
                  <a:cubicBezTo>
                    <a:pt x="13535533" y="975868"/>
                    <a:pt x="13532740" y="978662"/>
                    <a:pt x="13529183" y="978662"/>
                  </a:cubicBezTo>
                  <a:lnTo>
                    <a:pt x="6350" y="978662"/>
                  </a:lnTo>
                  <a:cubicBezTo>
                    <a:pt x="2794" y="978662"/>
                    <a:pt x="0" y="975868"/>
                    <a:pt x="0" y="972312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972312"/>
                  </a:lnTo>
                  <a:lnTo>
                    <a:pt x="6350" y="972312"/>
                  </a:lnTo>
                  <a:lnTo>
                    <a:pt x="6350" y="965962"/>
                  </a:lnTo>
                  <a:lnTo>
                    <a:pt x="13529183" y="965962"/>
                  </a:lnTo>
                  <a:lnTo>
                    <a:pt x="13529183" y="972312"/>
                  </a:lnTo>
                  <a:lnTo>
                    <a:pt x="13522833" y="972312"/>
                  </a:lnTo>
                  <a:lnTo>
                    <a:pt x="13522833" y="6350"/>
                  </a:lnTo>
                  <a:lnTo>
                    <a:pt x="13529183" y="6350"/>
                  </a:lnTo>
                  <a:lnTo>
                    <a:pt x="13529183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3535500" cy="997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Arquitectura de Computadores y Ensambladores 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741181" y="2007486"/>
            <a:ext cx="4272073" cy="734025"/>
            <a:chOff x="0" y="0"/>
            <a:chExt cx="5696098" cy="9787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679" y="6350"/>
              <a:ext cx="5688753" cy="965962"/>
            </a:xfrm>
            <a:custGeom>
              <a:avLst/>
              <a:gdLst/>
              <a:ahLst/>
              <a:cxnLst/>
              <a:rect r="r" b="b" t="t" l="l"/>
              <a:pathLst>
                <a:path h="965962" w="5688753">
                  <a:moveTo>
                    <a:pt x="0" y="0"/>
                  </a:moveTo>
                  <a:lnTo>
                    <a:pt x="5688752" y="0"/>
                  </a:lnTo>
                  <a:lnTo>
                    <a:pt x="5688752" y="965962"/>
                  </a:lnTo>
                  <a:lnTo>
                    <a:pt x="0" y="965962"/>
                  </a:lnTo>
                  <a:close/>
                </a:path>
              </a:pathLst>
            </a:custGeom>
            <a:solidFill>
              <a:srgbClr val="EEECE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96119" cy="978662"/>
            </a:xfrm>
            <a:custGeom>
              <a:avLst/>
              <a:gdLst/>
              <a:ahLst/>
              <a:cxnLst/>
              <a:rect r="r" b="b" t="t" l="l"/>
              <a:pathLst>
                <a:path h="978662" w="5696119">
                  <a:moveTo>
                    <a:pt x="3679" y="0"/>
                  </a:moveTo>
                  <a:lnTo>
                    <a:pt x="5692431" y="0"/>
                  </a:lnTo>
                  <a:cubicBezTo>
                    <a:pt x="5694491" y="0"/>
                    <a:pt x="5696119" y="2794"/>
                    <a:pt x="5696119" y="6350"/>
                  </a:cubicBezTo>
                  <a:lnTo>
                    <a:pt x="5696119" y="972312"/>
                  </a:lnTo>
                  <a:cubicBezTo>
                    <a:pt x="5696119" y="975868"/>
                    <a:pt x="5694491" y="978662"/>
                    <a:pt x="5692431" y="978662"/>
                  </a:cubicBezTo>
                  <a:lnTo>
                    <a:pt x="3679" y="978662"/>
                  </a:lnTo>
                  <a:cubicBezTo>
                    <a:pt x="1619" y="978662"/>
                    <a:pt x="0" y="975868"/>
                    <a:pt x="0" y="972312"/>
                  </a:cubicBezTo>
                  <a:lnTo>
                    <a:pt x="0" y="6350"/>
                  </a:lnTo>
                  <a:cubicBezTo>
                    <a:pt x="0" y="2794"/>
                    <a:pt x="1619" y="0"/>
                    <a:pt x="3679" y="0"/>
                  </a:cubicBezTo>
                  <a:moveTo>
                    <a:pt x="3679" y="12700"/>
                  </a:moveTo>
                  <a:lnTo>
                    <a:pt x="3679" y="6350"/>
                  </a:lnTo>
                  <a:lnTo>
                    <a:pt x="7357" y="6350"/>
                  </a:lnTo>
                  <a:lnTo>
                    <a:pt x="7357" y="972312"/>
                  </a:lnTo>
                  <a:lnTo>
                    <a:pt x="3679" y="972312"/>
                  </a:lnTo>
                  <a:lnTo>
                    <a:pt x="3679" y="965962"/>
                  </a:lnTo>
                  <a:lnTo>
                    <a:pt x="5692431" y="965962"/>
                  </a:lnTo>
                  <a:lnTo>
                    <a:pt x="5692431" y="972312"/>
                  </a:lnTo>
                  <a:lnTo>
                    <a:pt x="5688752" y="972312"/>
                  </a:lnTo>
                  <a:lnTo>
                    <a:pt x="5688752" y="6350"/>
                  </a:lnTo>
                  <a:lnTo>
                    <a:pt x="5692431" y="6350"/>
                  </a:lnTo>
                  <a:lnTo>
                    <a:pt x="5692431" y="12700"/>
                  </a:lnTo>
                  <a:lnTo>
                    <a:pt x="3679" y="12700"/>
                  </a:ln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5696098" cy="997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741181" y="2741511"/>
            <a:ext cx="4272073" cy="734025"/>
            <a:chOff x="0" y="0"/>
            <a:chExt cx="5696098" cy="9787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3679" y="6350"/>
              <a:ext cx="5688753" cy="965962"/>
            </a:xfrm>
            <a:custGeom>
              <a:avLst/>
              <a:gdLst/>
              <a:ahLst/>
              <a:cxnLst/>
              <a:rect r="r" b="b" t="t" l="l"/>
              <a:pathLst>
                <a:path h="965962" w="5688753">
                  <a:moveTo>
                    <a:pt x="0" y="0"/>
                  </a:moveTo>
                  <a:lnTo>
                    <a:pt x="5688752" y="0"/>
                  </a:lnTo>
                  <a:lnTo>
                    <a:pt x="5688752" y="965962"/>
                  </a:lnTo>
                  <a:lnTo>
                    <a:pt x="0" y="965962"/>
                  </a:lnTo>
                  <a:close/>
                </a:path>
              </a:pathLst>
            </a:custGeom>
            <a:solidFill>
              <a:srgbClr val="EEECE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96119" cy="978662"/>
            </a:xfrm>
            <a:custGeom>
              <a:avLst/>
              <a:gdLst/>
              <a:ahLst/>
              <a:cxnLst/>
              <a:rect r="r" b="b" t="t" l="l"/>
              <a:pathLst>
                <a:path h="978662" w="5696119">
                  <a:moveTo>
                    <a:pt x="3679" y="0"/>
                  </a:moveTo>
                  <a:lnTo>
                    <a:pt x="5692431" y="0"/>
                  </a:lnTo>
                  <a:cubicBezTo>
                    <a:pt x="5694491" y="0"/>
                    <a:pt x="5696119" y="2794"/>
                    <a:pt x="5696119" y="6350"/>
                  </a:cubicBezTo>
                  <a:lnTo>
                    <a:pt x="5696119" y="972312"/>
                  </a:lnTo>
                  <a:cubicBezTo>
                    <a:pt x="5696119" y="975868"/>
                    <a:pt x="5694491" y="978662"/>
                    <a:pt x="5692431" y="978662"/>
                  </a:cubicBezTo>
                  <a:lnTo>
                    <a:pt x="3679" y="978662"/>
                  </a:lnTo>
                  <a:cubicBezTo>
                    <a:pt x="1619" y="978662"/>
                    <a:pt x="0" y="975868"/>
                    <a:pt x="0" y="972312"/>
                  </a:cubicBezTo>
                  <a:lnTo>
                    <a:pt x="0" y="6350"/>
                  </a:lnTo>
                  <a:cubicBezTo>
                    <a:pt x="0" y="2794"/>
                    <a:pt x="1619" y="0"/>
                    <a:pt x="3679" y="0"/>
                  </a:cubicBezTo>
                  <a:moveTo>
                    <a:pt x="3679" y="12700"/>
                  </a:moveTo>
                  <a:lnTo>
                    <a:pt x="3679" y="6350"/>
                  </a:lnTo>
                  <a:lnTo>
                    <a:pt x="7357" y="6350"/>
                  </a:lnTo>
                  <a:lnTo>
                    <a:pt x="7357" y="972312"/>
                  </a:lnTo>
                  <a:lnTo>
                    <a:pt x="3679" y="972312"/>
                  </a:lnTo>
                  <a:lnTo>
                    <a:pt x="3679" y="965962"/>
                  </a:lnTo>
                  <a:lnTo>
                    <a:pt x="5692431" y="965962"/>
                  </a:lnTo>
                  <a:lnTo>
                    <a:pt x="5692431" y="972312"/>
                  </a:lnTo>
                  <a:lnTo>
                    <a:pt x="5688752" y="972312"/>
                  </a:lnTo>
                  <a:lnTo>
                    <a:pt x="5688752" y="6350"/>
                  </a:lnTo>
                  <a:lnTo>
                    <a:pt x="5692431" y="6350"/>
                  </a:lnTo>
                  <a:lnTo>
                    <a:pt x="5692431" y="12700"/>
                  </a:lnTo>
                  <a:lnTo>
                    <a:pt x="3679" y="12700"/>
                  </a:ln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5696098" cy="997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7562187" y="-2292681"/>
            <a:ext cx="10842447" cy="12692891"/>
          </a:xfrm>
          <a:custGeom>
            <a:avLst/>
            <a:gdLst/>
            <a:ahLst/>
            <a:cxnLst/>
            <a:rect r="r" b="b" t="t" l="l"/>
            <a:pathLst>
              <a:path h="12692891" w="10842447">
                <a:moveTo>
                  <a:pt x="0" y="0"/>
                </a:moveTo>
                <a:lnTo>
                  <a:pt x="10842447" y="0"/>
                </a:lnTo>
                <a:lnTo>
                  <a:pt x="10842447" y="12692891"/>
                </a:lnTo>
                <a:lnTo>
                  <a:pt x="0" y="126928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64443" y="7765901"/>
            <a:ext cx="7437972" cy="749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9"/>
              </a:lnSpc>
            </a:pPr>
            <a:r>
              <a:rPr lang="en-US" sz="2499">
                <a:solidFill>
                  <a:srgbClr val="061814"/>
                </a:solidFill>
                <a:latin typeface="Questrial"/>
                <a:ea typeface="Questrial"/>
                <a:cs typeface="Questrial"/>
                <a:sym typeface="Questrial"/>
              </a:rPr>
              <a:t>Arquitectura de Computadores y Ensambladores 1</a:t>
            </a:r>
          </a:p>
          <a:p>
            <a:pPr algn="just">
              <a:lnSpc>
                <a:spcPts val="2949"/>
              </a:lnSpc>
            </a:pPr>
            <a:r>
              <a:rPr lang="en-US" sz="2499">
                <a:solidFill>
                  <a:srgbClr val="061814"/>
                </a:solidFill>
                <a:latin typeface="Questrial"/>
                <a:ea typeface="Questrial"/>
                <a:cs typeface="Questrial"/>
                <a:sym typeface="Questrial"/>
              </a:rPr>
              <a:t>Escuela de Ingeniería en Ciencias y Sistemas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2050" y="2783132"/>
            <a:ext cx="8812519" cy="367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06181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Arquitec</a:t>
            </a:r>
            <a:r>
              <a:rPr lang="en-US" b="true" sz="6999">
                <a:solidFill>
                  <a:srgbClr val="06181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tura de Computadores y Líneas Tecnológicas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60507" y="1447112"/>
            <a:ext cx="7245844" cy="82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61814"/>
                </a:solidFill>
                <a:latin typeface="Questrial"/>
                <a:ea typeface="Questrial"/>
                <a:cs typeface="Questrial"/>
                <a:sym typeface="Questrial"/>
              </a:rPr>
              <a:t>Universidad de San Carlos de Guatemala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61814"/>
                </a:solidFill>
                <a:latin typeface="Questrial"/>
                <a:ea typeface="Questrial"/>
                <a:cs typeface="Questrial"/>
                <a:sym typeface="Questrial"/>
              </a:rPr>
              <a:t>Facultad de Ingeniería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892924" y="-120273"/>
            <a:ext cx="5511709" cy="6073509"/>
          </a:xfrm>
          <a:custGeom>
            <a:avLst/>
            <a:gdLst/>
            <a:ahLst/>
            <a:cxnLst/>
            <a:rect r="r" b="b" t="t" l="l"/>
            <a:pathLst>
              <a:path h="6073509" w="5511709">
                <a:moveTo>
                  <a:pt x="0" y="0"/>
                </a:moveTo>
                <a:lnTo>
                  <a:pt x="5511710" y="0"/>
                </a:lnTo>
                <a:lnTo>
                  <a:pt x="5511710" y="6073509"/>
                </a:lnTo>
                <a:lnTo>
                  <a:pt x="0" y="6073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88553" y="552704"/>
            <a:ext cx="5147053" cy="9181591"/>
          </a:xfrm>
          <a:custGeom>
            <a:avLst/>
            <a:gdLst/>
            <a:ahLst/>
            <a:cxnLst/>
            <a:rect r="r" b="b" t="t" l="l"/>
            <a:pathLst>
              <a:path h="9181591" w="5147053">
                <a:moveTo>
                  <a:pt x="0" y="0"/>
                </a:moveTo>
                <a:lnTo>
                  <a:pt x="5147052" y="0"/>
                </a:lnTo>
                <a:lnTo>
                  <a:pt x="5147052" y="9181592"/>
                </a:lnTo>
                <a:lnTo>
                  <a:pt x="0" y="91815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75B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58447" y="3077819"/>
            <a:ext cx="12371106" cy="5654442"/>
            <a:chOff x="0" y="0"/>
            <a:chExt cx="3258234" cy="14892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8234" cy="1489236"/>
            </a:xfrm>
            <a:custGeom>
              <a:avLst/>
              <a:gdLst/>
              <a:ahLst/>
              <a:cxnLst/>
              <a:rect r="r" b="b" t="t" l="l"/>
              <a:pathLst>
                <a:path h="1489236" w="3258234">
                  <a:moveTo>
                    <a:pt x="12516" y="0"/>
                  </a:moveTo>
                  <a:lnTo>
                    <a:pt x="3245718" y="0"/>
                  </a:lnTo>
                  <a:cubicBezTo>
                    <a:pt x="3249037" y="0"/>
                    <a:pt x="3252220" y="1319"/>
                    <a:pt x="3254568" y="3666"/>
                  </a:cubicBezTo>
                  <a:cubicBezTo>
                    <a:pt x="3256915" y="6013"/>
                    <a:pt x="3258234" y="9197"/>
                    <a:pt x="3258234" y="12516"/>
                  </a:cubicBezTo>
                  <a:lnTo>
                    <a:pt x="3258234" y="1476720"/>
                  </a:lnTo>
                  <a:cubicBezTo>
                    <a:pt x="3258234" y="1480039"/>
                    <a:pt x="3256915" y="1483223"/>
                    <a:pt x="3254568" y="1485570"/>
                  </a:cubicBezTo>
                  <a:cubicBezTo>
                    <a:pt x="3252220" y="1487917"/>
                    <a:pt x="3249037" y="1489236"/>
                    <a:pt x="3245718" y="1489236"/>
                  </a:cubicBezTo>
                  <a:lnTo>
                    <a:pt x="12516" y="1489236"/>
                  </a:lnTo>
                  <a:cubicBezTo>
                    <a:pt x="5604" y="1489236"/>
                    <a:pt x="0" y="1483632"/>
                    <a:pt x="0" y="1476720"/>
                  </a:cubicBezTo>
                  <a:lnTo>
                    <a:pt x="0" y="12516"/>
                  </a:lnTo>
                  <a:cubicBezTo>
                    <a:pt x="0" y="5604"/>
                    <a:pt x="5604" y="0"/>
                    <a:pt x="12516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27374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258234" cy="1517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73929" y="2857143"/>
            <a:ext cx="12740143" cy="998883"/>
            <a:chOff x="0" y="0"/>
            <a:chExt cx="3355429" cy="263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55429" cy="263080"/>
            </a:xfrm>
            <a:custGeom>
              <a:avLst/>
              <a:gdLst/>
              <a:ahLst/>
              <a:cxnLst/>
              <a:rect r="r" b="b" t="t" l="l"/>
              <a:pathLst>
                <a:path h="263080" w="3355429">
                  <a:moveTo>
                    <a:pt x="9115" y="0"/>
                  </a:moveTo>
                  <a:lnTo>
                    <a:pt x="3346313" y="0"/>
                  </a:lnTo>
                  <a:cubicBezTo>
                    <a:pt x="3351347" y="0"/>
                    <a:pt x="3355429" y="4081"/>
                    <a:pt x="3355429" y="9115"/>
                  </a:cubicBezTo>
                  <a:lnTo>
                    <a:pt x="3355429" y="253965"/>
                  </a:lnTo>
                  <a:cubicBezTo>
                    <a:pt x="3355429" y="256382"/>
                    <a:pt x="3354468" y="258701"/>
                    <a:pt x="3352759" y="260410"/>
                  </a:cubicBezTo>
                  <a:cubicBezTo>
                    <a:pt x="3351049" y="262120"/>
                    <a:pt x="3348731" y="263080"/>
                    <a:pt x="3346313" y="263080"/>
                  </a:cubicBezTo>
                  <a:lnTo>
                    <a:pt x="9115" y="263080"/>
                  </a:lnTo>
                  <a:cubicBezTo>
                    <a:pt x="4081" y="263080"/>
                    <a:pt x="0" y="258999"/>
                    <a:pt x="0" y="253965"/>
                  </a:cubicBezTo>
                  <a:lnTo>
                    <a:pt x="0" y="9115"/>
                  </a:lnTo>
                  <a:cubicBezTo>
                    <a:pt x="0" y="6698"/>
                    <a:pt x="960" y="4379"/>
                    <a:pt x="2670" y="2670"/>
                  </a:cubicBezTo>
                  <a:cubicBezTo>
                    <a:pt x="4379" y="960"/>
                    <a:pt x="6698" y="0"/>
                    <a:pt x="9115" y="0"/>
                  </a:cubicBezTo>
                  <a:close/>
                </a:path>
              </a:pathLst>
            </a:custGeom>
            <a:solidFill>
              <a:srgbClr val="D11F2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355429" cy="291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473117" y="2008115"/>
            <a:ext cx="9549077" cy="1517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05"/>
              </a:lnSpc>
            </a:pPr>
            <a:r>
              <a:rPr lang="en-US" b="true" sz="8789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Agenda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5400000">
            <a:off x="111131" y="-364889"/>
            <a:ext cx="5511709" cy="6073509"/>
          </a:xfrm>
          <a:custGeom>
            <a:avLst/>
            <a:gdLst/>
            <a:ahLst/>
            <a:cxnLst/>
            <a:rect r="r" b="b" t="t" l="l"/>
            <a:pathLst>
              <a:path h="6073509" w="5511709">
                <a:moveTo>
                  <a:pt x="0" y="0"/>
                </a:moveTo>
                <a:lnTo>
                  <a:pt x="5511709" y="0"/>
                </a:lnTo>
                <a:lnTo>
                  <a:pt x="5511709" y="6073509"/>
                </a:lnTo>
                <a:lnTo>
                  <a:pt x="0" y="6073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227174" y="3697580"/>
            <a:ext cx="4060826" cy="6262882"/>
          </a:xfrm>
          <a:custGeom>
            <a:avLst/>
            <a:gdLst/>
            <a:ahLst/>
            <a:cxnLst/>
            <a:rect r="r" b="b" t="t" l="l"/>
            <a:pathLst>
              <a:path h="6262882" w="4060826">
                <a:moveTo>
                  <a:pt x="0" y="0"/>
                </a:moveTo>
                <a:lnTo>
                  <a:pt x="4060826" y="0"/>
                </a:lnTo>
                <a:lnTo>
                  <a:pt x="4060826" y="6262882"/>
                </a:lnTo>
                <a:lnTo>
                  <a:pt x="0" y="62628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978613" y="4309369"/>
            <a:ext cx="682167" cy="68216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3C4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978613" y="5224254"/>
            <a:ext cx="682167" cy="68216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3C4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5884697" y="4082101"/>
          <a:ext cx="9098220" cy="4972050"/>
        </p:xfrm>
        <a:graphic>
          <a:graphicData uri="http://schemas.openxmlformats.org/drawingml/2006/table">
            <a:tbl>
              <a:tblPr/>
              <a:tblGrid>
                <a:gridCol w="5774926"/>
              </a:tblGrid>
              <a:tr h="9334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900"/>
                        </a:lnSpc>
                        <a:defRPr/>
                      </a:pPr>
                      <a:r>
                        <a:rPr lang="en-US" sz="3500" b="true">
                          <a:solidFill>
                            <a:srgbClr val="A7B5BA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Componentes electrónicos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34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900"/>
                        </a:lnSpc>
                        <a:defRPr/>
                      </a:pPr>
                      <a:r>
                        <a:rPr lang="en-US" sz="3500" b="true">
                          <a:solidFill>
                            <a:srgbClr val="A7B5BA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Controladores de Dispositivos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34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900"/>
                        </a:lnSpc>
                        <a:defRPr/>
                      </a:pPr>
                      <a:r>
                        <a:rPr lang="en-US" sz="3500" b="true">
                          <a:solidFill>
                            <a:srgbClr val="A7B5BA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 Interfaces De Comunicación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900"/>
                        </a:lnSpc>
                        <a:defRPr/>
                      </a:pPr>
                      <a:r>
                        <a:rPr lang="en-US" sz="3500" b="true">
                          <a:solidFill>
                            <a:srgbClr val="A7B5BA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Simulación De Circuitos Electrónicos</a:t>
                      </a:r>
                      <a:endParaRPr lang="en-US" sz="1100"/>
                    </a:p>
                    <a:p>
                      <a:pPr algn="l">
                        <a:lnSpc>
                          <a:spcPts val="4900"/>
                        </a:lnSpc>
                      </a:pPr>
                    </a:p>
                    <a:p>
                      <a:pPr algn="l">
                        <a:lnSpc>
                          <a:spcPts val="4900"/>
                        </a:lnSpc>
                      </a:pPr>
                    </a:p>
                  </a:txBody>
                  <a:tcPr marL="104775" marR="104775" marT="104775" marB="104775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8" id="18"/>
          <p:cNvGrpSpPr/>
          <p:nvPr/>
        </p:nvGrpSpPr>
        <p:grpSpPr>
          <a:xfrm rot="0">
            <a:off x="4978613" y="6139140"/>
            <a:ext cx="682167" cy="68216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3C4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978613" y="7054025"/>
            <a:ext cx="682167" cy="68216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3C4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5158888" y="4497233"/>
            <a:ext cx="321616" cy="382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6"/>
              </a:lnSpc>
              <a:spcBef>
                <a:spcPct val="0"/>
              </a:spcBef>
            </a:pPr>
            <a:r>
              <a:rPr lang="en-US" b="true" sz="3049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58888" y="5407882"/>
            <a:ext cx="321616" cy="382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6"/>
              </a:lnSpc>
              <a:spcBef>
                <a:spcPct val="0"/>
              </a:spcBef>
            </a:pPr>
            <a:r>
              <a:rPr lang="en-US" b="true" sz="3049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58888" y="6308411"/>
            <a:ext cx="321616" cy="382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6"/>
              </a:lnSpc>
              <a:spcBef>
                <a:spcPct val="0"/>
              </a:spcBef>
            </a:pPr>
            <a:r>
              <a:rPr lang="en-US" b="true" sz="3049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158888" y="7241889"/>
            <a:ext cx="321616" cy="382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6"/>
              </a:lnSpc>
              <a:spcBef>
                <a:spcPct val="0"/>
              </a:spcBef>
            </a:pPr>
            <a:r>
              <a:rPr lang="en-US" b="true" sz="3049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514071" y="1675320"/>
            <a:ext cx="4539381" cy="51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9"/>
              </a:lnSpc>
            </a:pPr>
            <a:r>
              <a:rPr lang="en-US" sz="3021">
                <a:solidFill>
                  <a:srgbClr val="405359"/>
                </a:solidFill>
                <a:latin typeface="Nunito"/>
                <a:ea typeface="Nunito"/>
                <a:cs typeface="Nunito"/>
                <a:sym typeface="Nunito"/>
              </a:rPr>
              <a:t>Recursos 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4982917" y="2189090"/>
            <a:ext cx="2743312" cy="1543113"/>
          </a:xfrm>
          <a:custGeom>
            <a:avLst/>
            <a:gdLst/>
            <a:ahLst/>
            <a:cxnLst/>
            <a:rect r="r" b="b" t="t" l="l"/>
            <a:pathLst>
              <a:path h="1543113" w="2743312">
                <a:moveTo>
                  <a:pt x="0" y="0"/>
                </a:moveTo>
                <a:lnTo>
                  <a:pt x="2743312" y="0"/>
                </a:lnTo>
                <a:lnTo>
                  <a:pt x="2743312" y="1543113"/>
                </a:lnTo>
                <a:lnTo>
                  <a:pt x="0" y="15431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67446" y="3124203"/>
            <a:ext cx="3152530" cy="1024433"/>
            <a:chOff x="0" y="0"/>
            <a:chExt cx="830296" cy="2698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0296" cy="269810"/>
            </a:xfrm>
            <a:custGeom>
              <a:avLst/>
              <a:gdLst/>
              <a:ahLst/>
              <a:cxnLst/>
              <a:rect r="r" b="b" t="t" l="l"/>
              <a:pathLst>
                <a:path h="269810" w="830296">
                  <a:moveTo>
                    <a:pt x="88408" y="0"/>
                  </a:moveTo>
                  <a:lnTo>
                    <a:pt x="741888" y="0"/>
                  </a:lnTo>
                  <a:cubicBezTo>
                    <a:pt x="790714" y="0"/>
                    <a:pt x="830296" y="39582"/>
                    <a:pt x="830296" y="88408"/>
                  </a:cubicBezTo>
                  <a:lnTo>
                    <a:pt x="830296" y="181402"/>
                  </a:lnTo>
                  <a:cubicBezTo>
                    <a:pt x="830296" y="230228"/>
                    <a:pt x="790714" y="269810"/>
                    <a:pt x="741888" y="269810"/>
                  </a:cubicBezTo>
                  <a:lnTo>
                    <a:pt x="88408" y="269810"/>
                  </a:lnTo>
                  <a:cubicBezTo>
                    <a:pt x="64961" y="269810"/>
                    <a:pt x="42474" y="260495"/>
                    <a:pt x="25894" y="243915"/>
                  </a:cubicBezTo>
                  <a:cubicBezTo>
                    <a:pt x="9314" y="227336"/>
                    <a:pt x="0" y="204849"/>
                    <a:pt x="0" y="181402"/>
                  </a:cubicBezTo>
                  <a:lnTo>
                    <a:pt x="0" y="88408"/>
                  </a:lnTo>
                  <a:cubicBezTo>
                    <a:pt x="0" y="39582"/>
                    <a:pt x="39582" y="0"/>
                    <a:pt x="88408" y="0"/>
                  </a:cubicBezTo>
                  <a:close/>
                </a:path>
              </a:pathLst>
            </a:custGeom>
            <a:solidFill>
              <a:srgbClr val="C2D1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830296" cy="288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14916" y="4694687"/>
            <a:ext cx="3152530" cy="1968307"/>
            <a:chOff x="0" y="0"/>
            <a:chExt cx="830296" cy="5184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30296" cy="518402"/>
            </a:xfrm>
            <a:custGeom>
              <a:avLst/>
              <a:gdLst/>
              <a:ahLst/>
              <a:cxnLst/>
              <a:rect r="r" b="b" t="t" l="l"/>
              <a:pathLst>
                <a:path h="518402" w="830296">
                  <a:moveTo>
                    <a:pt x="88408" y="0"/>
                  </a:moveTo>
                  <a:lnTo>
                    <a:pt x="741888" y="0"/>
                  </a:lnTo>
                  <a:cubicBezTo>
                    <a:pt x="790714" y="0"/>
                    <a:pt x="830296" y="39582"/>
                    <a:pt x="830296" y="88408"/>
                  </a:cubicBezTo>
                  <a:lnTo>
                    <a:pt x="830296" y="429994"/>
                  </a:lnTo>
                  <a:cubicBezTo>
                    <a:pt x="830296" y="453441"/>
                    <a:pt x="820982" y="475928"/>
                    <a:pt x="804402" y="492508"/>
                  </a:cubicBezTo>
                  <a:cubicBezTo>
                    <a:pt x="787822" y="509088"/>
                    <a:pt x="765335" y="518402"/>
                    <a:pt x="741888" y="518402"/>
                  </a:cubicBezTo>
                  <a:lnTo>
                    <a:pt x="88408" y="518402"/>
                  </a:lnTo>
                  <a:cubicBezTo>
                    <a:pt x="39582" y="518402"/>
                    <a:pt x="0" y="478820"/>
                    <a:pt x="0" y="429994"/>
                  </a:cubicBezTo>
                  <a:lnTo>
                    <a:pt x="0" y="88408"/>
                  </a:lnTo>
                  <a:cubicBezTo>
                    <a:pt x="0" y="39582"/>
                    <a:pt x="39582" y="0"/>
                    <a:pt x="88408" y="0"/>
                  </a:cubicBezTo>
                  <a:close/>
                </a:path>
              </a:pathLst>
            </a:custGeom>
            <a:solidFill>
              <a:srgbClr val="C2D1D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830296" cy="537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26934" y="7807261"/>
            <a:ext cx="4011709" cy="774296"/>
            <a:chOff x="0" y="0"/>
            <a:chExt cx="1056582" cy="2039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582" cy="203930"/>
            </a:xfrm>
            <a:custGeom>
              <a:avLst/>
              <a:gdLst/>
              <a:ahLst/>
              <a:cxnLst/>
              <a:rect r="r" b="b" t="t" l="l"/>
              <a:pathLst>
                <a:path h="203930" w="1056582">
                  <a:moveTo>
                    <a:pt x="69474" y="0"/>
                  </a:moveTo>
                  <a:lnTo>
                    <a:pt x="987108" y="0"/>
                  </a:lnTo>
                  <a:cubicBezTo>
                    <a:pt x="1025477" y="0"/>
                    <a:pt x="1056582" y="31105"/>
                    <a:pt x="1056582" y="69474"/>
                  </a:cubicBezTo>
                  <a:lnTo>
                    <a:pt x="1056582" y="134456"/>
                  </a:lnTo>
                  <a:cubicBezTo>
                    <a:pt x="1056582" y="172825"/>
                    <a:pt x="1025477" y="203930"/>
                    <a:pt x="987108" y="203930"/>
                  </a:cubicBezTo>
                  <a:lnTo>
                    <a:pt x="69474" y="203930"/>
                  </a:lnTo>
                  <a:cubicBezTo>
                    <a:pt x="31105" y="203930"/>
                    <a:pt x="0" y="172825"/>
                    <a:pt x="0" y="134456"/>
                  </a:cubicBezTo>
                  <a:lnTo>
                    <a:pt x="0" y="69474"/>
                  </a:lnTo>
                  <a:cubicBezTo>
                    <a:pt x="0" y="31105"/>
                    <a:pt x="31105" y="0"/>
                    <a:pt x="69474" y="0"/>
                  </a:cubicBezTo>
                  <a:close/>
                </a:path>
              </a:pathLst>
            </a:custGeom>
            <a:solidFill>
              <a:srgbClr val="C2D1D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056582" cy="2229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5400000">
            <a:off x="12495391" y="5349324"/>
            <a:ext cx="5511709" cy="6073509"/>
          </a:xfrm>
          <a:custGeom>
            <a:avLst/>
            <a:gdLst/>
            <a:ahLst/>
            <a:cxnLst/>
            <a:rect r="r" b="b" t="t" l="l"/>
            <a:pathLst>
              <a:path h="6073509" w="5511709">
                <a:moveTo>
                  <a:pt x="0" y="0"/>
                </a:moveTo>
                <a:lnTo>
                  <a:pt x="5511709" y="0"/>
                </a:lnTo>
                <a:lnTo>
                  <a:pt x="5511709" y="6073509"/>
                </a:lnTo>
                <a:lnTo>
                  <a:pt x="0" y="6073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230524" y="1028700"/>
            <a:ext cx="4740412" cy="7552857"/>
          </a:xfrm>
          <a:custGeom>
            <a:avLst/>
            <a:gdLst/>
            <a:ahLst/>
            <a:cxnLst/>
            <a:rect r="r" b="b" t="t" l="l"/>
            <a:pathLst>
              <a:path h="7552857" w="4740412">
                <a:moveTo>
                  <a:pt x="0" y="0"/>
                </a:moveTo>
                <a:lnTo>
                  <a:pt x="4740412" y="0"/>
                </a:lnTo>
                <a:lnTo>
                  <a:pt x="4740412" y="7552857"/>
                </a:lnTo>
                <a:lnTo>
                  <a:pt x="0" y="75528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36700" y="2824468"/>
            <a:ext cx="7417620" cy="1600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72"/>
              </a:lnSpc>
            </a:pPr>
            <a:r>
              <a:rPr lang="en-US" b="true" sz="5600">
                <a:solidFill>
                  <a:srgbClr val="405359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Competencia(s) que desarrollaremos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99987" y="4942837"/>
            <a:ext cx="7802220" cy="3028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29"/>
              </a:lnSpc>
              <a:spcBef>
                <a:spcPct val="0"/>
              </a:spcBef>
            </a:pPr>
            <a:r>
              <a:rPr lang="en-US" sz="3099">
                <a:solidFill>
                  <a:srgbClr val="405359"/>
                </a:solidFill>
                <a:latin typeface="Questrial"/>
                <a:ea typeface="Questrial"/>
                <a:cs typeface="Questrial"/>
                <a:sym typeface="Questrial"/>
              </a:rPr>
              <a:t>El</a:t>
            </a:r>
            <a:r>
              <a:rPr lang="en-US" sz="3099" u="none">
                <a:solidFill>
                  <a:srgbClr val="405359"/>
                </a:solidFill>
                <a:latin typeface="Questrial"/>
                <a:ea typeface="Questrial"/>
                <a:cs typeface="Questrial"/>
                <a:sym typeface="Questrial"/>
              </a:rPr>
              <a:t> estudiante identifica los componentes esenciales de un sistema IoT mediante el análisis de documentación técnica y catálogos de hardware para describir las funcionalidades básicas de cada elemento del sistema.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54295" y="4656526"/>
            <a:ext cx="243353" cy="24335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1F2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25278" lIns="25278" bIns="25278" rIns="25278"/>
            <a:lstStyle/>
            <a:p>
              <a:pPr algn="ctr">
                <a:lnSpc>
                  <a:spcPts val="9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0274" y="1445651"/>
            <a:ext cx="243353" cy="24335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1F2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25278" lIns="25278" bIns="25278" rIns="25278"/>
            <a:lstStyle/>
            <a:p>
              <a:pPr algn="ctr">
                <a:lnSpc>
                  <a:spcPts val="9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58439" y="9136624"/>
            <a:ext cx="243353" cy="24335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1F2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25278" lIns="25278" bIns="25278" rIns="25278"/>
            <a:lstStyle/>
            <a:p>
              <a:pPr algn="ctr">
                <a:lnSpc>
                  <a:spcPts val="9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847903" y="4778202"/>
            <a:ext cx="243353" cy="24335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1F2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25278" lIns="25278" bIns="25278" rIns="25278"/>
            <a:lstStyle/>
            <a:p>
              <a:pPr algn="ctr">
                <a:lnSpc>
                  <a:spcPts val="9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015947" y="1832407"/>
            <a:ext cx="243353" cy="24335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1F2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25278" lIns="25278" bIns="25278" rIns="25278"/>
            <a:lstStyle/>
            <a:p>
              <a:pPr algn="ctr">
                <a:lnSpc>
                  <a:spcPts val="97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9144000" y="5748916"/>
            <a:ext cx="9237597" cy="4757363"/>
          </a:xfrm>
          <a:custGeom>
            <a:avLst/>
            <a:gdLst/>
            <a:ahLst/>
            <a:cxnLst/>
            <a:rect r="r" b="b" t="t" l="l"/>
            <a:pathLst>
              <a:path h="4757363" w="9237597">
                <a:moveTo>
                  <a:pt x="0" y="0"/>
                </a:moveTo>
                <a:lnTo>
                  <a:pt x="9237597" y="0"/>
                </a:lnTo>
                <a:lnTo>
                  <a:pt x="9237597" y="4757363"/>
                </a:lnTo>
                <a:lnTo>
                  <a:pt x="0" y="47573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402833" y="480188"/>
            <a:ext cx="11482334" cy="299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</a:pPr>
            <a:r>
              <a:rPr lang="en-US" b="true" sz="7000">
                <a:solidFill>
                  <a:srgbClr val="405359"/>
                </a:solidFill>
                <a:latin typeface="Nunito Bold"/>
                <a:ea typeface="Nunito Bold"/>
                <a:cs typeface="Nunito Bold"/>
                <a:sym typeface="Nunito Bold"/>
              </a:rPr>
              <a:t>Principales Componentes Electrónicos para Arduino y Raspberry Pi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58439" y="5171691"/>
            <a:ext cx="11338928" cy="2955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33"/>
              </a:lnSpc>
              <a:spcBef>
                <a:spcPct val="0"/>
              </a:spcBef>
            </a:pPr>
            <a:r>
              <a:rPr lang="en-US" sz="3380">
                <a:solidFill>
                  <a:srgbClr val="405359"/>
                </a:solidFill>
                <a:latin typeface="Questrial"/>
                <a:ea typeface="Questrial"/>
                <a:cs typeface="Questrial"/>
                <a:sym typeface="Questrial"/>
              </a:rPr>
              <a:t>Estos pequeños pero poderosos dispositivos de computación abierta ofrecen una gran variedad de componentes electrónicos que permiten crear proyectos innovadores en el campo de la robótica, la automatización y el internet de las cosas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5400000">
            <a:off x="-243951" y="-1082671"/>
            <a:ext cx="5511709" cy="6073509"/>
          </a:xfrm>
          <a:custGeom>
            <a:avLst/>
            <a:gdLst/>
            <a:ahLst/>
            <a:cxnLst/>
            <a:rect r="r" b="b" t="t" l="l"/>
            <a:pathLst>
              <a:path h="6073509" w="5511709">
                <a:moveTo>
                  <a:pt x="0" y="0"/>
                </a:moveTo>
                <a:lnTo>
                  <a:pt x="5511709" y="0"/>
                </a:lnTo>
                <a:lnTo>
                  <a:pt x="5511709" y="6073508"/>
                </a:lnTo>
                <a:lnTo>
                  <a:pt x="0" y="60735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68117" y="-273331"/>
            <a:ext cx="5511709" cy="6073509"/>
          </a:xfrm>
          <a:custGeom>
            <a:avLst/>
            <a:gdLst/>
            <a:ahLst/>
            <a:cxnLst/>
            <a:rect r="r" b="b" t="t" l="l"/>
            <a:pathLst>
              <a:path h="6073509" w="5511709">
                <a:moveTo>
                  <a:pt x="0" y="0"/>
                </a:moveTo>
                <a:lnTo>
                  <a:pt x="5511710" y="0"/>
                </a:lnTo>
                <a:lnTo>
                  <a:pt x="5511710" y="6073509"/>
                </a:lnTo>
                <a:lnTo>
                  <a:pt x="0" y="6073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35236" y="3139156"/>
            <a:ext cx="4767957" cy="2401146"/>
            <a:chOff x="0" y="0"/>
            <a:chExt cx="2123773" cy="10695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23773" cy="1069533"/>
            </a:xfrm>
            <a:custGeom>
              <a:avLst/>
              <a:gdLst/>
              <a:ahLst/>
              <a:cxnLst/>
              <a:rect r="r" b="b" t="t" l="l"/>
              <a:pathLst>
                <a:path h="1069533" w="2123773">
                  <a:moveTo>
                    <a:pt x="64950" y="0"/>
                  </a:moveTo>
                  <a:lnTo>
                    <a:pt x="2058823" y="0"/>
                  </a:lnTo>
                  <a:cubicBezTo>
                    <a:pt x="2094694" y="0"/>
                    <a:pt x="2123773" y="29079"/>
                    <a:pt x="2123773" y="64950"/>
                  </a:cubicBezTo>
                  <a:lnTo>
                    <a:pt x="2123773" y="1004584"/>
                  </a:lnTo>
                  <a:cubicBezTo>
                    <a:pt x="2123773" y="1040455"/>
                    <a:pt x="2094694" y="1069533"/>
                    <a:pt x="2058823" y="1069533"/>
                  </a:cubicBezTo>
                  <a:lnTo>
                    <a:pt x="64950" y="1069533"/>
                  </a:lnTo>
                  <a:cubicBezTo>
                    <a:pt x="29079" y="1069533"/>
                    <a:pt x="0" y="1040455"/>
                    <a:pt x="0" y="1004584"/>
                  </a:cubicBezTo>
                  <a:lnTo>
                    <a:pt x="0" y="64950"/>
                  </a:lnTo>
                  <a:cubicBezTo>
                    <a:pt x="0" y="29079"/>
                    <a:pt x="29079" y="0"/>
                    <a:pt x="64950" y="0"/>
                  </a:cubicBezTo>
                  <a:close/>
                </a:path>
              </a:pathLst>
            </a:custGeom>
            <a:solidFill>
              <a:srgbClr val="293C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123773" cy="1088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735236" y="6773775"/>
            <a:ext cx="4767957" cy="2401146"/>
            <a:chOff x="0" y="0"/>
            <a:chExt cx="2123773" cy="10695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3773" cy="1069533"/>
            </a:xfrm>
            <a:custGeom>
              <a:avLst/>
              <a:gdLst/>
              <a:ahLst/>
              <a:cxnLst/>
              <a:rect r="r" b="b" t="t" l="l"/>
              <a:pathLst>
                <a:path h="1069533" w="2123773">
                  <a:moveTo>
                    <a:pt x="64950" y="0"/>
                  </a:moveTo>
                  <a:lnTo>
                    <a:pt x="2058823" y="0"/>
                  </a:lnTo>
                  <a:cubicBezTo>
                    <a:pt x="2094694" y="0"/>
                    <a:pt x="2123773" y="29079"/>
                    <a:pt x="2123773" y="64950"/>
                  </a:cubicBezTo>
                  <a:lnTo>
                    <a:pt x="2123773" y="1004584"/>
                  </a:lnTo>
                  <a:cubicBezTo>
                    <a:pt x="2123773" y="1040455"/>
                    <a:pt x="2094694" y="1069533"/>
                    <a:pt x="2058823" y="1069533"/>
                  </a:cubicBezTo>
                  <a:lnTo>
                    <a:pt x="64950" y="1069533"/>
                  </a:lnTo>
                  <a:cubicBezTo>
                    <a:pt x="29079" y="1069533"/>
                    <a:pt x="0" y="1040455"/>
                    <a:pt x="0" y="1004584"/>
                  </a:cubicBezTo>
                  <a:lnTo>
                    <a:pt x="0" y="64950"/>
                  </a:lnTo>
                  <a:cubicBezTo>
                    <a:pt x="0" y="29079"/>
                    <a:pt x="29079" y="0"/>
                    <a:pt x="64950" y="0"/>
                  </a:cubicBezTo>
                  <a:close/>
                </a:path>
              </a:pathLst>
            </a:custGeom>
            <a:solidFill>
              <a:srgbClr val="293C4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123773" cy="1088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84807" y="3139156"/>
            <a:ext cx="4767957" cy="2401146"/>
            <a:chOff x="0" y="0"/>
            <a:chExt cx="2123773" cy="10695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3773" cy="1069533"/>
            </a:xfrm>
            <a:custGeom>
              <a:avLst/>
              <a:gdLst/>
              <a:ahLst/>
              <a:cxnLst/>
              <a:rect r="r" b="b" t="t" l="l"/>
              <a:pathLst>
                <a:path h="1069533" w="2123773">
                  <a:moveTo>
                    <a:pt x="64950" y="0"/>
                  </a:moveTo>
                  <a:lnTo>
                    <a:pt x="2058823" y="0"/>
                  </a:lnTo>
                  <a:cubicBezTo>
                    <a:pt x="2094694" y="0"/>
                    <a:pt x="2123773" y="29079"/>
                    <a:pt x="2123773" y="64950"/>
                  </a:cubicBezTo>
                  <a:lnTo>
                    <a:pt x="2123773" y="1004584"/>
                  </a:lnTo>
                  <a:cubicBezTo>
                    <a:pt x="2123773" y="1040455"/>
                    <a:pt x="2094694" y="1069533"/>
                    <a:pt x="2058823" y="1069533"/>
                  </a:cubicBezTo>
                  <a:lnTo>
                    <a:pt x="64950" y="1069533"/>
                  </a:lnTo>
                  <a:cubicBezTo>
                    <a:pt x="29079" y="1069533"/>
                    <a:pt x="0" y="1040455"/>
                    <a:pt x="0" y="1004584"/>
                  </a:cubicBezTo>
                  <a:lnTo>
                    <a:pt x="0" y="64950"/>
                  </a:lnTo>
                  <a:cubicBezTo>
                    <a:pt x="0" y="29079"/>
                    <a:pt x="29079" y="0"/>
                    <a:pt x="64950" y="0"/>
                  </a:cubicBezTo>
                  <a:close/>
                </a:path>
              </a:pathLst>
            </a:custGeom>
            <a:solidFill>
              <a:srgbClr val="293C4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3773" cy="1088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84807" y="6773775"/>
            <a:ext cx="4767957" cy="2401146"/>
            <a:chOff x="0" y="0"/>
            <a:chExt cx="2123773" cy="10695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3773" cy="1069533"/>
            </a:xfrm>
            <a:custGeom>
              <a:avLst/>
              <a:gdLst/>
              <a:ahLst/>
              <a:cxnLst/>
              <a:rect r="r" b="b" t="t" l="l"/>
              <a:pathLst>
                <a:path h="1069533" w="2123773">
                  <a:moveTo>
                    <a:pt x="64950" y="0"/>
                  </a:moveTo>
                  <a:lnTo>
                    <a:pt x="2058823" y="0"/>
                  </a:lnTo>
                  <a:cubicBezTo>
                    <a:pt x="2094694" y="0"/>
                    <a:pt x="2123773" y="29079"/>
                    <a:pt x="2123773" y="64950"/>
                  </a:cubicBezTo>
                  <a:lnTo>
                    <a:pt x="2123773" y="1004584"/>
                  </a:lnTo>
                  <a:cubicBezTo>
                    <a:pt x="2123773" y="1040455"/>
                    <a:pt x="2094694" y="1069533"/>
                    <a:pt x="2058823" y="1069533"/>
                  </a:cubicBezTo>
                  <a:lnTo>
                    <a:pt x="64950" y="1069533"/>
                  </a:lnTo>
                  <a:cubicBezTo>
                    <a:pt x="29079" y="1069533"/>
                    <a:pt x="0" y="1040455"/>
                    <a:pt x="0" y="1004584"/>
                  </a:cubicBezTo>
                  <a:lnTo>
                    <a:pt x="0" y="64950"/>
                  </a:lnTo>
                  <a:cubicBezTo>
                    <a:pt x="0" y="29079"/>
                    <a:pt x="29079" y="0"/>
                    <a:pt x="64950" y="0"/>
                  </a:cubicBezTo>
                  <a:close/>
                </a:path>
              </a:pathLst>
            </a:custGeom>
            <a:solidFill>
              <a:srgbClr val="293C4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123773" cy="1088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273050" y="3139156"/>
            <a:ext cx="1138336" cy="2299668"/>
          </a:xfrm>
          <a:custGeom>
            <a:avLst/>
            <a:gdLst/>
            <a:ahLst/>
            <a:cxnLst/>
            <a:rect r="r" b="b" t="t" l="l"/>
            <a:pathLst>
              <a:path h="2299668" w="1138336">
                <a:moveTo>
                  <a:pt x="0" y="0"/>
                </a:moveTo>
                <a:lnTo>
                  <a:pt x="1138336" y="0"/>
                </a:lnTo>
                <a:lnTo>
                  <a:pt x="1138336" y="2299668"/>
                </a:lnTo>
                <a:lnTo>
                  <a:pt x="0" y="2299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000439" y="6580250"/>
            <a:ext cx="2652545" cy="2594672"/>
          </a:xfrm>
          <a:custGeom>
            <a:avLst/>
            <a:gdLst/>
            <a:ahLst/>
            <a:cxnLst/>
            <a:rect r="r" b="b" t="t" l="l"/>
            <a:pathLst>
              <a:path h="2594672" w="2652545">
                <a:moveTo>
                  <a:pt x="0" y="0"/>
                </a:moveTo>
                <a:lnTo>
                  <a:pt x="2652546" y="0"/>
                </a:lnTo>
                <a:lnTo>
                  <a:pt x="2652546" y="2594671"/>
                </a:lnTo>
                <a:lnTo>
                  <a:pt x="0" y="25946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94180" y="6478451"/>
            <a:ext cx="2930970" cy="2930970"/>
          </a:xfrm>
          <a:custGeom>
            <a:avLst/>
            <a:gdLst/>
            <a:ahLst/>
            <a:cxnLst/>
            <a:rect r="r" b="b" t="t" l="l"/>
            <a:pathLst>
              <a:path h="2930970" w="2930970">
                <a:moveTo>
                  <a:pt x="0" y="0"/>
                </a:moveTo>
                <a:lnTo>
                  <a:pt x="2930970" y="0"/>
                </a:lnTo>
                <a:lnTo>
                  <a:pt x="2930970" y="2930970"/>
                </a:lnTo>
                <a:lnTo>
                  <a:pt x="0" y="293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808967" y="3139156"/>
            <a:ext cx="2051492" cy="2276274"/>
          </a:xfrm>
          <a:custGeom>
            <a:avLst/>
            <a:gdLst/>
            <a:ahLst/>
            <a:cxnLst/>
            <a:rect r="r" b="b" t="t" l="l"/>
            <a:pathLst>
              <a:path h="2276274" w="2051492">
                <a:moveTo>
                  <a:pt x="0" y="0"/>
                </a:moveTo>
                <a:lnTo>
                  <a:pt x="2051492" y="0"/>
                </a:lnTo>
                <a:lnTo>
                  <a:pt x="2051492" y="2276273"/>
                </a:lnTo>
                <a:lnTo>
                  <a:pt x="0" y="22762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326633" y="387107"/>
            <a:ext cx="11482334" cy="200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</a:pPr>
            <a:r>
              <a:rPr lang="en-US" b="true" sz="7000">
                <a:solidFill>
                  <a:srgbClr val="405359"/>
                </a:solidFill>
                <a:latin typeface="Nunito Bold"/>
                <a:ea typeface="Nunito Bold"/>
                <a:cs typeface="Nunito Bold"/>
                <a:sym typeface="Nunito Bold"/>
              </a:rPr>
              <a:t>Sensores analógicos y digitales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68029" y="3748066"/>
            <a:ext cx="4188128" cy="81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D</a:t>
            </a:r>
            <a:r>
              <a:rPr lang="en-US" sz="2499" u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etectan el nivel de iluminación del entorno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40503" y="2777157"/>
            <a:ext cx="2557423" cy="572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5"/>
              </a:lnSpc>
            </a:pPr>
            <a:r>
              <a:rPr lang="en-US" b="true" sz="3339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Temperatura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40503" y="6411776"/>
            <a:ext cx="2557423" cy="5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Humedad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90074" y="2777157"/>
            <a:ext cx="2557423" cy="5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Luz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90074" y="6411776"/>
            <a:ext cx="2557423" cy="5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Movimiento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25150" y="3866640"/>
            <a:ext cx="4188128" cy="81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</a:t>
            </a:r>
            <a:r>
              <a:rPr lang="en-US" sz="2499" u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iden la temperatura ambiente o la de un objeto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095130" y="7575918"/>
            <a:ext cx="4188128" cy="81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</a:t>
            </a:r>
            <a:r>
              <a:rPr lang="en-US" sz="2499" u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iden el nivel de humedad en el aire o en un material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74722" y="7509243"/>
            <a:ext cx="4188128" cy="81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 u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 Identifican la presencia y el desplazamiento de objetos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813601" y="7573657"/>
            <a:ext cx="3510249" cy="5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500" spc="105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Displays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5400000">
            <a:off x="12459982" y="4636020"/>
            <a:ext cx="5511709" cy="6073509"/>
          </a:xfrm>
          <a:custGeom>
            <a:avLst/>
            <a:gdLst/>
            <a:ahLst/>
            <a:cxnLst/>
            <a:rect r="r" b="b" t="t" l="l"/>
            <a:pathLst>
              <a:path h="6073509" w="5511709">
                <a:moveTo>
                  <a:pt x="0" y="0"/>
                </a:moveTo>
                <a:lnTo>
                  <a:pt x="5511710" y="0"/>
                </a:lnTo>
                <a:lnTo>
                  <a:pt x="5511710" y="6073509"/>
                </a:lnTo>
                <a:lnTo>
                  <a:pt x="0" y="6073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58935" y="3458819"/>
            <a:ext cx="2648278" cy="2648278"/>
          </a:xfrm>
          <a:custGeom>
            <a:avLst/>
            <a:gdLst/>
            <a:ahLst/>
            <a:cxnLst/>
            <a:rect r="r" b="b" t="t" l="l"/>
            <a:pathLst>
              <a:path h="2648278" w="2648278">
                <a:moveTo>
                  <a:pt x="0" y="0"/>
                </a:moveTo>
                <a:lnTo>
                  <a:pt x="2648278" y="0"/>
                </a:lnTo>
                <a:lnTo>
                  <a:pt x="2648278" y="2648278"/>
                </a:lnTo>
                <a:lnTo>
                  <a:pt x="0" y="26482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22054" y="3540971"/>
            <a:ext cx="1934352" cy="2309674"/>
          </a:xfrm>
          <a:custGeom>
            <a:avLst/>
            <a:gdLst/>
            <a:ahLst/>
            <a:cxnLst/>
            <a:rect r="r" b="b" t="t" l="l"/>
            <a:pathLst>
              <a:path h="2309674" w="1934352">
                <a:moveTo>
                  <a:pt x="0" y="0"/>
                </a:moveTo>
                <a:lnTo>
                  <a:pt x="1934352" y="0"/>
                </a:lnTo>
                <a:lnTo>
                  <a:pt x="1934352" y="2309674"/>
                </a:lnTo>
                <a:lnTo>
                  <a:pt x="0" y="2309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09558" y="3663626"/>
            <a:ext cx="2687756" cy="2257715"/>
          </a:xfrm>
          <a:custGeom>
            <a:avLst/>
            <a:gdLst/>
            <a:ahLst/>
            <a:cxnLst/>
            <a:rect r="r" b="b" t="t" l="l"/>
            <a:pathLst>
              <a:path h="2257715" w="2687756">
                <a:moveTo>
                  <a:pt x="0" y="0"/>
                </a:moveTo>
                <a:lnTo>
                  <a:pt x="2687756" y="0"/>
                </a:lnTo>
                <a:lnTo>
                  <a:pt x="2687756" y="2257715"/>
                </a:lnTo>
                <a:lnTo>
                  <a:pt x="0" y="22577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07314" y="3616705"/>
            <a:ext cx="4209130" cy="6466834"/>
          </a:xfrm>
          <a:custGeom>
            <a:avLst/>
            <a:gdLst/>
            <a:ahLst/>
            <a:cxnLst/>
            <a:rect r="r" b="b" t="t" l="l"/>
            <a:pathLst>
              <a:path h="6466834" w="4209130">
                <a:moveTo>
                  <a:pt x="0" y="0"/>
                </a:moveTo>
                <a:lnTo>
                  <a:pt x="4209130" y="0"/>
                </a:lnTo>
                <a:lnTo>
                  <a:pt x="4209130" y="6466833"/>
                </a:lnTo>
                <a:lnTo>
                  <a:pt x="0" y="646683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440805" y="7573657"/>
            <a:ext cx="3510249" cy="5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sz="3500" spc="105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Motores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31816" y="7573657"/>
            <a:ext cx="3510249" cy="5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500" spc="105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Relés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80766" y="6292853"/>
            <a:ext cx="3510249" cy="1114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293C42"/>
                </a:solidFill>
                <a:latin typeface="Questrial"/>
                <a:ea typeface="Questrial"/>
                <a:cs typeface="Questrial"/>
                <a:sym typeface="Questrial"/>
              </a:rPr>
              <a:t>Cont</a:t>
            </a:r>
            <a:r>
              <a:rPr lang="en-US" sz="2499" u="none">
                <a:solidFill>
                  <a:srgbClr val="293C42"/>
                </a:solidFill>
                <a:latin typeface="Questrial"/>
                <a:ea typeface="Questrial"/>
                <a:cs typeface="Questrial"/>
                <a:sym typeface="Questrial"/>
              </a:rPr>
              <a:t>rolan el movimiento de robots, vehículos y mecanismos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78256" y="710427"/>
            <a:ext cx="11482334" cy="200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</a:pPr>
            <a:r>
              <a:rPr lang="en-US" b="true" sz="7000">
                <a:solidFill>
                  <a:srgbClr val="405359"/>
                </a:solidFill>
                <a:latin typeface="Nunito Bold"/>
                <a:ea typeface="Nunito Bold"/>
                <a:cs typeface="Nunito Bold"/>
                <a:sym typeface="Nunito Bold"/>
              </a:rPr>
              <a:t>Actuadores y Dispositivos de Control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31816" y="5921341"/>
            <a:ext cx="3510249" cy="1486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293C42"/>
                </a:solidFill>
                <a:latin typeface="Questrial"/>
                <a:ea typeface="Questrial"/>
                <a:cs typeface="Questrial"/>
                <a:sym typeface="Questrial"/>
              </a:rPr>
              <a:t>Pe</a:t>
            </a:r>
            <a:r>
              <a:rPr lang="en-US" sz="2499" u="none">
                <a:solidFill>
                  <a:srgbClr val="293C42"/>
                </a:solidFill>
                <a:latin typeface="Questrial"/>
                <a:ea typeface="Questrial"/>
                <a:cs typeface="Questrial"/>
                <a:sym typeface="Questrial"/>
              </a:rPr>
              <a:t>rmiten activar y desactivar circuitos eléctricos de manera remota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13601" y="6107097"/>
            <a:ext cx="3510249" cy="1114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293C42"/>
                </a:solidFill>
                <a:latin typeface="Questrial"/>
                <a:ea typeface="Questrial"/>
                <a:cs typeface="Questrial"/>
                <a:sym typeface="Questrial"/>
              </a:rPr>
              <a:t>Mues</a:t>
            </a:r>
            <a:r>
              <a:rPr lang="en-US" sz="2499" u="none">
                <a:solidFill>
                  <a:srgbClr val="293C42"/>
                </a:solidFill>
                <a:latin typeface="Questrial"/>
                <a:ea typeface="Questrial"/>
                <a:cs typeface="Questrial"/>
                <a:sym typeface="Questrial"/>
              </a:rPr>
              <a:t>tran información visual como texto, gráficos o animaciones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D1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491276"/>
            <a:ext cx="4361142" cy="7603154"/>
          </a:xfrm>
          <a:custGeom>
            <a:avLst/>
            <a:gdLst/>
            <a:ahLst/>
            <a:cxnLst/>
            <a:rect r="r" b="b" t="t" l="l"/>
            <a:pathLst>
              <a:path h="7603154" w="4361142">
                <a:moveTo>
                  <a:pt x="0" y="0"/>
                </a:moveTo>
                <a:lnTo>
                  <a:pt x="4361142" y="0"/>
                </a:lnTo>
                <a:lnTo>
                  <a:pt x="4361142" y="7603154"/>
                </a:lnTo>
                <a:lnTo>
                  <a:pt x="0" y="76031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12584" y="2059721"/>
            <a:ext cx="11482334" cy="1095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</a:pPr>
            <a:r>
              <a:rPr lang="en-US" b="true" sz="7500">
                <a:solidFill>
                  <a:srgbClr val="475B6A"/>
                </a:solidFill>
                <a:latin typeface="Nunito Bold"/>
                <a:ea typeface="Nunito Bold"/>
                <a:cs typeface="Nunito Bold"/>
                <a:sym typeface="Nunito Bold"/>
              </a:rPr>
              <a:t>Comunicación serie: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768679" y="3951107"/>
            <a:ext cx="3872153" cy="3863496"/>
            <a:chOff x="0" y="0"/>
            <a:chExt cx="1269240" cy="12664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69240" cy="1266403"/>
            </a:xfrm>
            <a:custGeom>
              <a:avLst/>
              <a:gdLst/>
              <a:ahLst/>
              <a:cxnLst/>
              <a:rect r="r" b="b" t="t" l="l"/>
              <a:pathLst>
                <a:path h="1266403" w="1269240">
                  <a:moveTo>
                    <a:pt x="39988" y="0"/>
                  </a:moveTo>
                  <a:lnTo>
                    <a:pt x="1229253" y="0"/>
                  </a:lnTo>
                  <a:cubicBezTo>
                    <a:pt x="1239858" y="0"/>
                    <a:pt x="1250029" y="4213"/>
                    <a:pt x="1257528" y="11712"/>
                  </a:cubicBezTo>
                  <a:cubicBezTo>
                    <a:pt x="1265027" y="19211"/>
                    <a:pt x="1269240" y="29382"/>
                    <a:pt x="1269240" y="39988"/>
                  </a:cubicBezTo>
                  <a:lnTo>
                    <a:pt x="1269240" y="1226415"/>
                  </a:lnTo>
                  <a:cubicBezTo>
                    <a:pt x="1269240" y="1237020"/>
                    <a:pt x="1265027" y="1247191"/>
                    <a:pt x="1257528" y="1254691"/>
                  </a:cubicBezTo>
                  <a:cubicBezTo>
                    <a:pt x="1250029" y="1262190"/>
                    <a:pt x="1239858" y="1266403"/>
                    <a:pt x="1229253" y="1266403"/>
                  </a:cubicBezTo>
                  <a:lnTo>
                    <a:pt x="39988" y="1266403"/>
                  </a:lnTo>
                  <a:cubicBezTo>
                    <a:pt x="29382" y="1266403"/>
                    <a:pt x="19211" y="1262190"/>
                    <a:pt x="11712" y="1254691"/>
                  </a:cubicBezTo>
                  <a:cubicBezTo>
                    <a:pt x="4213" y="1247191"/>
                    <a:pt x="0" y="1237020"/>
                    <a:pt x="0" y="1226415"/>
                  </a:cubicBezTo>
                  <a:lnTo>
                    <a:pt x="0" y="39988"/>
                  </a:lnTo>
                  <a:cubicBezTo>
                    <a:pt x="0" y="29382"/>
                    <a:pt x="4213" y="19211"/>
                    <a:pt x="11712" y="11712"/>
                  </a:cubicBezTo>
                  <a:cubicBezTo>
                    <a:pt x="19211" y="4213"/>
                    <a:pt x="29382" y="0"/>
                    <a:pt x="39988" y="0"/>
                  </a:cubicBezTo>
                  <a:close/>
                </a:path>
              </a:pathLst>
            </a:custGeom>
            <a:solidFill>
              <a:srgbClr val="C2D1D6"/>
            </a:solidFill>
            <a:ln w="57150" cap="sq">
              <a:solidFill>
                <a:srgbClr val="273749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69240" cy="1304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710925" y="3951107"/>
            <a:ext cx="3987662" cy="724656"/>
            <a:chOff x="0" y="0"/>
            <a:chExt cx="1307102" cy="2375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07102" cy="237533"/>
            </a:xfrm>
            <a:custGeom>
              <a:avLst/>
              <a:gdLst/>
              <a:ahLst/>
              <a:cxnLst/>
              <a:rect r="r" b="b" t="t" l="l"/>
              <a:pathLst>
                <a:path h="237533" w="1307102">
                  <a:moveTo>
                    <a:pt x="29122" y="0"/>
                  </a:moveTo>
                  <a:lnTo>
                    <a:pt x="1277980" y="0"/>
                  </a:lnTo>
                  <a:cubicBezTo>
                    <a:pt x="1294064" y="0"/>
                    <a:pt x="1307102" y="13038"/>
                    <a:pt x="1307102" y="29122"/>
                  </a:cubicBezTo>
                  <a:lnTo>
                    <a:pt x="1307102" y="208411"/>
                  </a:lnTo>
                  <a:cubicBezTo>
                    <a:pt x="1307102" y="224494"/>
                    <a:pt x="1294064" y="237533"/>
                    <a:pt x="1277980" y="237533"/>
                  </a:cubicBezTo>
                  <a:lnTo>
                    <a:pt x="29122" y="237533"/>
                  </a:lnTo>
                  <a:cubicBezTo>
                    <a:pt x="13038" y="237533"/>
                    <a:pt x="0" y="224494"/>
                    <a:pt x="0" y="208411"/>
                  </a:cubicBezTo>
                  <a:lnTo>
                    <a:pt x="0" y="29122"/>
                  </a:lnTo>
                  <a:cubicBezTo>
                    <a:pt x="0" y="13038"/>
                    <a:pt x="13038" y="0"/>
                    <a:pt x="29122" y="0"/>
                  </a:cubicBezTo>
                  <a:close/>
                </a:path>
              </a:pathLst>
            </a:custGeom>
            <a:solidFill>
              <a:srgbClr val="40535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07102" cy="275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4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912584" y="4031872"/>
            <a:ext cx="3584343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UART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33079" y="5212322"/>
            <a:ext cx="3345299" cy="178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9"/>
              </a:lnSpc>
            </a:pPr>
            <a:r>
              <a:rPr lang="en-US" sz="2520">
                <a:solidFill>
                  <a:srgbClr val="405359"/>
                </a:solidFill>
                <a:latin typeface="Questrial"/>
                <a:ea typeface="Questrial"/>
                <a:cs typeface="Questrial"/>
                <a:sym typeface="Questrial"/>
              </a:rPr>
              <a:t>Pr</a:t>
            </a:r>
            <a:r>
              <a:rPr lang="en-US" sz="2520">
                <a:solidFill>
                  <a:srgbClr val="405359"/>
                </a:solidFill>
                <a:latin typeface="Questrial"/>
                <a:ea typeface="Questrial"/>
                <a:cs typeface="Questrial"/>
                <a:sym typeface="Questrial"/>
              </a:rPr>
              <a:t>otocolo de comunicación asíncrono, simple y de bajo costo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016552" y="3951107"/>
            <a:ext cx="3872153" cy="3863496"/>
            <a:chOff x="0" y="0"/>
            <a:chExt cx="1269240" cy="12664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9240" cy="1266403"/>
            </a:xfrm>
            <a:custGeom>
              <a:avLst/>
              <a:gdLst/>
              <a:ahLst/>
              <a:cxnLst/>
              <a:rect r="r" b="b" t="t" l="l"/>
              <a:pathLst>
                <a:path h="1266403" w="1269240">
                  <a:moveTo>
                    <a:pt x="39988" y="0"/>
                  </a:moveTo>
                  <a:lnTo>
                    <a:pt x="1229253" y="0"/>
                  </a:lnTo>
                  <a:cubicBezTo>
                    <a:pt x="1239858" y="0"/>
                    <a:pt x="1250029" y="4213"/>
                    <a:pt x="1257528" y="11712"/>
                  </a:cubicBezTo>
                  <a:cubicBezTo>
                    <a:pt x="1265027" y="19211"/>
                    <a:pt x="1269240" y="29382"/>
                    <a:pt x="1269240" y="39988"/>
                  </a:cubicBezTo>
                  <a:lnTo>
                    <a:pt x="1269240" y="1226415"/>
                  </a:lnTo>
                  <a:cubicBezTo>
                    <a:pt x="1269240" y="1237020"/>
                    <a:pt x="1265027" y="1247191"/>
                    <a:pt x="1257528" y="1254691"/>
                  </a:cubicBezTo>
                  <a:cubicBezTo>
                    <a:pt x="1250029" y="1262190"/>
                    <a:pt x="1239858" y="1266403"/>
                    <a:pt x="1229253" y="1266403"/>
                  </a:cubicBezTo>
                  <a:lnTo>
                    <a:pt x="39988" y="1266403"/>
                  </a:lnTo>
                  <a:cubicBezTo>
                    <a:pt x="29382" y="1266403"/>
                    <a:pt x="19211" y="1262190"/>
                    <a:pt x="11712" y="1254691"/>
                  </a:cubicBezTo>
                  <a:cubicBezTo>
                    <a:pt x="4213" y="1247191"/>
                    <a:pt x="0" y="1237020"/>
                    <a:pt x="0" y="1226415"/>
                  </a:cubicBezTo>
                  <a:lnTo>
                    <a:pt x="0" y="39988"/>
                  </a:lnTo>
                  <a:cubicBezTo>
                    <a:pt x="0" y="29382"/>
                    <a:pt x="4213" y="19211"/>
                    <a:pt x="11712" y="11712"/>
                  </a:cubicBezTo>
                  <a:cubicBezTo>
                    <a:pt x="19211" y="4213"/>
                    <a:pt x="29382" y="0"/>
                    <a:pt x="39988" y="0"/>
                  </a:cubicBezTo>
                  <a:close/>
                </a:path>
              </a:pathLst>
            </a:custGeom>
            <a:solidFill>
              <a:srgbClr val="C2D1D6"/>
            </a:solidFill>
            <a:ln w="57150" cap="sq">
              <a:solidFill>
                <a:srgbClr val="273749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69240" cy="1304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958798" y="3951107"/>
            <a:ext cx="3987662" cy="724656"/>
            <a:chOff x="0" y="0"/>
            <a:chExt cx="1307102" cy="2375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7102" cy="237533"/>
            </a:xfrm>
            <a:custGeom>
              <a:avLst/>
              <a:gdLst/>
              <a:ahLst/>
              <a:cxnLst/>
              <a:rect r="r" b="b" t="t" l="l"/>
              <a:pathLst>
                <a:path h="237533" w="1307102">
                  <a:moveTo>
                    <a:pt x="29122" y="0"/>
                  </a:moveTo>
                  <a:lnTo>
                    <a:pt x="1277980" y="0"/>
                  </a:lnTo>
                  <a:cubicBezTo>
                    <a:pt x="1294064" y="0"/>
                    <a:pt x="1307102" y="13038"/>
                    <a:pt x="1307102" y="29122"/>
                  </a:cubicBezTo>
                  <a:lnTo>
                    <a:pt x="1307102" y="208411"/>
                  </a:lnTo>
                  <a:cubicBezTo>
                    <a:pt x="1307102" y="224494"/>
                    <a:pt x="1294064" y="237533"/>
                    <a:pt x="1277980" y="237533"/>
                  </a:cubicBezTo>
                  <a:lnTo>
                    <a:pt x="29122" y="237533"/>
                  </a:lnTo>
                  <a:cubicBezTo>
                    <a:pt x="13038" y="237533"/>
                    <a:pt x="0" y="224494"/>
                    <a:pt x="0" y="208411"/>
                  </a:cubicBezTo>
                  <a:lnTo>
                    <a:pt x="0" y="29122"/>
                  </a:lnTo>
                  <a:cubicBezTo>
                    <a:pt x="0" y="13038"/>
                    <a:pt x="13038" y="0"/>
                    <a:pt x="29122" y="0"/>
                  </a:cubicBezTo>
                  <a:close/>
                </a:path>
              </a:pathLst>
            </a:custGeom>
            <a:solidFill>
              <a:srgbClr val="40535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07102" cy="275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160458" y="4041397"/>
            <a:ext cx="3584343" cy="58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I2C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02060" y="5212322"/>
            <a:ext cx="3345299" cy="178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9"/>
              </a:lnSpc>
            </a:pPr>
            <a:r>
              <a:rPr lang="en-US" sz="2520">
                <a:solidFill>
                  <a:srgbClr val="405359"/>
                </a:solidFill>
                <a:latin typeface="Questrial"/>
                <a:ea typeface="Questrial"/>
                <a:cs typeface="Questrial"/>
                <a:sym typeface="Questrial"/>
              </a:rPr>
              <a:t>Protocolo</a:t>
            </a:r>
            <a:r>
              <a:rPr lang="en-US" sz="2520">
                <a:solidFill>
                  <a:srgbClr val="405359"/>
                </a:solidFill>
                <a:latin typeface="Questrial"/>
                <a:ea typeface="Questrial"/>
                <a:cs typeface="Questrial"/>
                <a:sym typeface="Questrial"/>
              </a:rPr>
              <a:t> de comunicación síncrono multipunto, ideal para sensores y actuadores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264426" y="3951107"/>
            <a:ext cx="3872153" cy="3863496"/>
            <a:chOff x="0" y="0"/>
            <a:chExt cx="1269240" cy="12664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9240" cy="1266403"/>
            </a:xfrm>
            <a:custGeom>
              <a:avLst/>
              <a:gdLst/>
              <a:ahLst/>
              <a:cxnLst/>
              <a:rect r="r" b="b" t="t" l="l"/>
              <a:pathLst>
                <a:path h="1266403" w="1269240">
                  <a:moveTo>
                    <a:pt x="39988" y="0"/>
                  </a:moveTo>
                  <a:lnTo>
                    <a:pt x="1229253" y="0"/>
                  </a:lnTo>
                  <a:cubicBezTo>
                    <a:pt x="1239858" y="0"/>
                    <a:pt x="1250029" y="4213"/>
                    <a:pt x="1257528" y="11712"/>
                  </a:cubicBezTo>
                  <a:cubicBezTo>
                    <a:pt x="1265027" y="19211"/>
                    <a:pt x="1269240" y="29382"/>
                    <a:pt x="1269240" y="39988"/>
                  </a:cubicBezTo>
                  <a:lnTo>
                    <a:pt x="1269240" y="1226415"/>
                  </a:lnTo>
                  <a:cubicBezTo>
                    <a:pt x="1269240" y="1237020"/>
                    <a:pt x="1265027" y="1247191"/>
                    <a:pt x="1257528" y="1254691"/>
                  </a:cubicBezTo>
                  <a:cubicBezTo>
                    <a:pt x="1250029" y="1262190"/>
                    <a:pt x="1239858" y="1266403"/>
                    <a:pt x="1229253" y="1266403"/>
                  </a:cubicBezTo>
                  <a:lnTo>
                    <a:pt x="39988" y="1266403"/>
                  </a:lnTo>
                  <a:cubicBezTo>
                    <a:pt x="29382" y="1266403"/>
                    <a:pt x="19211" y="1262190"/>
                    <a:pt x="11712" y="1254691"/>
                  </a:cubicBezTo>
                  <a:cubicBezTo>
                    <a:pt x="4213" y="1247191"/>
                    <a:pt x="0" y="1237020"/>
                    <a:pt x="0" y="1226415"/>
                  </a:cubicBezTo>
                  <a:lnTo>
                    <a:pt x="0" y="39988"/>
                  </a:lnTo>
                  <a:cubicBezTo>
                    <a:pt x="0" y="29382"/>
                    <a:pt x="4213" y="19211"/>
                    <a:pt x="11712" y="11712"/>
                  </a:cubicBezTo>
                  <a:cubicBezTo>
                    <a:pt x="19211" y="4213"/>
                    <a:pt x="29382" y="0"/>
                    <a:pt x="39988" y="0"/>
                  </a:cubicBezTo>
                  <a:close/>
                </a:path>
              </a:pathLst>
            </a:custGeom>
            <a:solidFill>
              <a:srgbClr val="C2D1D6"/>
            </a:solidFill>
            <a:ln w="57150" cap="sq">
              <a:solidFill>
                <a:srgbClr val="273749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69240" cy="1304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4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06671" y="3951107"/>
            <a:ext cx="3987662" cy="724656"/>
            <a:chOff x="0" y="0"/>
            <a:chExt cx="1307102" cy="23753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07102" cy="237533"/>
            </a:xfrm>
            <a:custGeom>
              <a:avLst/>
              <a:gdLst/>
              <a:ahLst/>
              <a:cxnLst/>
              <a:rect r="r" b="b" t="t" l="l"/>
              <a:pathLst>
                <a:path h="237533" w="1307102">
                  <a:moveTo>
                    <a:pt x="29122" y="0"/>
                  </a:moveTo>
                  <a:lnTo>
                    <a:pt x="1277980" y="0"/>
                  </a:lnTo>
                  <a:cubicBezTo>
                    <a:pt x="1294064" y="0"/>
                    <a:pt x="1307102" y="13038"/>
                    <a:pt x="1307102" y="29122"/>
                  </a:cubicBezTo>
                  <a:lnTo>
                    <a:pt x="1307102" y="208411"/>
                  </a:lnTo>
                  <a:cubicBezTo>
                    <a:pt x="1307102" y="224494"/>
                    <a:pt x="1294064" y="237533"/>
                    <a:pt x="1277980" y="237533"/>
                  </a:cubicBezTo>
                  <a:lnTo>
                    <a:pt x="29122" y="237533"/>
                  </a:lnTo>
                  <a:cubicBezTo>
                    <a:pt x="13038" y="237533"/>
                    <a:pt x="0" y="224494"/>
                    <a:pt x="0" y="208411"/>
                  </a:cubicBezTo>
                  <a:lnTo>
                    <a:pt x="0" y="29122"/>
                  </a:lnTo>
                  <a:cubicBezTo>
                    <a:pt x="0" y="13038"/>
                    <a:pt x="13038" y="0"/>
                    <a:pt x="29122" y="0"/>
                  </a:cubicBezTo>
                  <a:close/>
                </a:path>
              </a:pathLst>
            </a:custGeom>
            <a:solidFill>
              <a:srgbClr val="40535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07102" cy="275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4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2408331" y="4041397"/>
            <a:ext cx="3584343" cy="59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SPI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526881" y="5204411"/>
            <a:ext cx="3345299" cy="212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9"/>
              </a:lnSpc>
            </a:pPr>
            <a:r>
              <a:rPr lang="en-US" sz="2420">
                <a:solidFill>
                  <a:srgbClr val="405359"/>
                </a:solidFill>
                <a:latin typeface="Questrial"/>
                <a:ea typeface="Questrial"/>
                <a:cs typeface="Questrial"/>
                <a:sym typeface="Questrial"/>
              </a:rPr>
              <a:t>Protocolo</a:t>
            </a:r>
            <a:r>
              <a:rPr lang="en-US" sz="2420">
                <a:solidFill>
                  <a:srgbClr val="405359"/>
                </a:solidFill>
                <a:latin typeface="Questrial"/>
                <a:ea typeface="Questrial"/>
                <a:cs typeface="Questrial"/>
                <a:sym typeface="Questrial"/>
              </a:rPr>
              <a:t> de comunicación síncrono de alta velocidad, utilizado en memorias y pantallas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5400000">
            <a:off x="12409310" y="4394863"/>
            <a:ext cx="5511709" cy="6073509"/>
          </a:xfrm>
          <a:custGeom>
            <a:avLst/>
            <a:gdLst/>
            <a:ahLst/>
            <a:cxnLst/>
            <a:rect r="r" b="b" t="t" l="l"/>
            <a:pathLst>
              <a:path h="6073509" w="5511709">
                <a:moveTo>
                  <a:pt x="0" y="0"/>
                </a:moveTo>
                <a:lnTo>
                  <a:pt x="5511710" y="0"/>
                </a:lnTo>
                <a:lnTo>
                  <a:pt x="5511710" y="6073509"/>
                </a:lnTo>
                <a:lnTo>
                  <a:pt x="0" y="6073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75B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61047" y="3343800"/>
            <a:ext cx="3381941" cy="6106750"/>
            <a:chOff x="0" y="0"/>
            <a:chExt cx="890717" cy="160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0717" cy="1608362"/>
            </a:xfrm>
            <a:custGeom>
              <a:avLst/>
              <a:gdLst/>
              <a:ahLst/>
              <a:cxnLst/>
              <a:rect r="r" b="b" t="t" l="l"/>
              <a:pathLst>
                <a:path h="1608362" w="890717">
                  <a:moveTo>
                    <a:pt x="176268" y="0"/>
                  </a:moveTo>
                  <a:lnTo>
                    <a:pt x="714449" y="0"/>
                  </a:lnTo>
                  <a:cubicBezTo>
                    <a:pt x="761198" y="0"/>
                    <a:pt x="806033" y="18571"/>
                    <a:pt x="839089" y="51628"/>
                  </a:cubicBezTo>
                  <a:cubicBezTo>
                    <a:pt x="872146" y="84684"/>
                    <a:pt x="890717" y="129519"/>
                    <a:pt x="890717" y="176268"/>
                  </a:cubicBezTo>
                  <a:lnTo>
                    <a:pt x="890717" y="1432094"/>
                  </a:lnTo>
                  <a:cubicBezTo>
                    <a:pt x="890717" y="1478843"/>
                    <a:pt x="872146" y="1523678"/>
                    <a:pt x="839089" y="1556735"/>
                  </a:cubicBezTo>
                  <a:cubicBezTo>
                    <a:pt x="806033" y="1589791"/>
                    <a:pt x="761198" y="1608362"/>
                    <a:pt x="714449" y="1608362"/>
                  </a:cubicBezTo>
                  <a:lnTo>
                    <a:pt x="176268" y="1608362"/>
                  </a:lnTo>
                  <a:cubicBezTo>
                    <a:pt x="129519" y="1608362"/>
                    <a:pt x="84684" y="1589791"/>
                    <a:pt x="51628" y="1556735"/>
                  </a:cubicBezTo>
                  <a:cubicBezTo>
                    <a:pt x="18571" y="1523678"/>
                    <a:pt x="0" y="1478843"/>
                    <a:pt x="0" y="1432094"/>
                  </a:cubicBezTo>
                  <a:lnTo>
                    <a:pt x="0" y="176268"/>
                  </a:lnTo>
                  <a:cubicBezTo>
                    <a:pt x="0" y="129519"/>
                    <a:pt x="18571" y="84684"/>
                    <a:pt x="51628" y="51628"/>
                  </a:cubicBezTo>
                  <a:cubicBezTo>
                    <a:pt x="84684" y="18571"/>
                    <a:pt x="129519" y="0"/>
                    <a:pt x="1762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890717" cy="1627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48605" y="3343800"/>
            <a:ext cx="3381941" cy="6106750"/>
            <a:chOff x="0" y="0"/>
            <a:chExt cx="890717" cy="16083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0717" cy="1608362"/>
            </a:xfrm>
            <a:custGeom>
              <a:avLst/>
              <a:gdLst/>
              <a:ahLst/>
              <a:cxnLst/>
              <a:rect r="r" b="b" t="t" l="l"/>
              <a:pathLst>
                <a:path h="1608362" w="890717">
                  <a:moveTo>
                    <a:pt x="176268" y="0"/>
                  </a:moveTo>
                  <a:lnTo>
                    <a:pt x="714449" y="0"/>
                  </a:lnTo>
                  <a:cubicBezTo>
                    <a:pt x="761198" y="0"/>
                    <a:pt x="806033" y="18571"/>
                    <a:pt x="839089" y="51628"/>
                  </a:cubicBezTo>
                  <a:cubicBezTo>
                    <a:pt x="872146" y="84684"/>
                    <a:pt x="890717" y="129519"/>
                    <a:pt x="890717" y="176268"/>
                  </a:cubicBezTo>
                  <a:lnTo>
                    <a:pt x="890717" y="1432094"/>
                  </a:lnTo>
                  <a:cubicBezTo>
                    <a:pt x="890717" y="1478843"/>
                    <a:pt x="872146" y="1523678"/>
                    <a:pt x="839089" y="1556735"/>
                  </a:cubicBezTo>
                  <a:cubicBezTo>
                    <a:pt x="806033" y="1589791"/>
                    <a:pt x="761198" y="1608362"/>
                    <a:pt x="714449" y="1608362"/>
                  </a:cubicBezTo>
                  <a:lnTo>
                    <a:pt x="176268" y="1608362"/>
                  </a:lnTo>
                  <a:cubicBezTo>
                    <a:pt x="129519" y="1608362"/>
                    <a:pt x="84684" y="1589791"/>
                    <a:pt x="51628" y="1556735"/>
                  </a:cubicBezTo>
                  <a:cubicBezTo>
                    <a:pt x="18571" y="1523678"/>
                    <a:pt x="0" y="1478843"/>
                    <a:pt x="0" y="1432094"/>
                  </a:cubicBezTo>
                  <a:lnTo>
                    <a:pt x="0" y="176268"/>
                  </a:lnTo>
                  <a:cubicBezTo>
                    <a:pt x="0" y="129519"/>
                    <a:pt x="18571" y="84684"/>
                    <a:pt x="51628" y="51628"/>
                  </a:cubicBezTo>
                  <a:cubicBezTo>
                    <a:pt x="84684" y="18571"/>
                    <a:pt x="129519" y="0"/>
                    <a:pt x="1762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890717" cy="1627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5400000">
            <a:off x="12495391" y="5349324"/>
            <a:ext cx="5511709" cy="6073509"/>
          </a:xfrm>
          <a:custGeom>
            <a:avLst/>
            <a:gdLst/>
            <a:ahLst/>
            <a:cxnLst/>
            <a:rect r="r" b="b" t="t" l="l"/>
            <a:pathLst>
              <a:path h="6073509" w="5511709">
                <a:moveTo>
                  <a:pt x="0" y="0"/>
                </a:moveTo>
                <a:lnTo>
                  <a:pt x="5511709" y="0"/>
                </a:lnTo>
                <a:lnTo>
                  <a:pt x="5511709" y="6073509"/>
                </a:lnTo>
                <a:lnTo>
                  <a:pt x="0" y="6073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99659" y="7256831"/>
            <a:ext cx="1389458" cy="1852611"/>
          </a:xfrm>
          <a:custGeom>
            <a:avLst/>
            <a:gdLst/>
            <a:ahLst/>
            <a:cxnLst/>
            <a:rect r="r" b="b" t="t" l="l"/>
            <a:pathLst>
              <a:path h="1852611" w="1389458">
                <a:moveTo>
                  <a:pt x="0" y="0"/>
                </a:moveTo>
                <a:lnTo>
                  <a:pt x="1389458" y="0"/>
                </a:lnTo>
                <a:lnTo>
                  <a:pt x="1389458" y="1852611"/>
                </a:lnTo>
                <a:lnTo>
                  <a:pt x="0" y="18526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991459" y="7003854"/>
            <a:ext cx="2152681" cy="2152681"/>
          </a:xfrm>
          <a:custGeom>
            <a:avLst/>
            <a:gdLst/>
            <a:ahLst/>
            <a:cxnLst/>
            <a:rect r="r" b="b" t="t" l="l"/>
            <a:pathLst>
              <a:path h="2152681" w="2152681">
                <a:moveTo>
                  <a:pt x="0" y="0"/>
                </a:moveTo>
                <a:lnTo>
                  <a:pt x="2152682" y="0"/>
                </a:lnTo>
                <a:lnTo>
                  <a:pt x="2152682" y="2152681"/>
                </a:lnTo>
                <a:lnTo>
                  <a:pt x="0" y="2152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910495" y="2448065"/>
            <a:ext cx="5265480" cy="7898220"/>
          </a:xfrm>
          <a:custGeom>
            <a:avLst/>
            <a:gdLst/>
            <a:ahLst/>
            <a:cxnLst/>
            <a:rect r="r" b="b" t="t" l="l"/>
            <a:pathLst>
              <a:path h="7898220" w="5265480">
                <a:moveTo>
                  <a:pt x="0" y="0"/>
                </a:moveTo>
                <a:lnTo>
                  <a:pt x="5265480" y="0"/>
                </a:lnTo>
                <a:lnTo>
                  <a:pt x="5265480" y="7898220"/>
                </a:lnTo>
                <a:lnTo>
                  <a:pt x="0" y="78982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26633" y="713663"/>
            <a:ext cx="11482334" cy="200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</a:pPr>
            <a:r>
              <a:rPr lang="en-US" b="true" sz="7000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 Memoria y Almacenamiento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12405" y="4281732"/>
            <a:ext cx="2479226" cy="2722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5"/>
              </a:lnSpc>
            </a:pPr>
            <a:r>
              <a:rPr lang="en-US" b="true" sz="2389">
                <a:solidFill>
                  <a:srgbClr val="405359"/>
                </a:solidFill>
                <a:latin typeface="Nunito Bold"/>
                <a:ea typeface="Nunito Bold"/>
                <a:cs typeface="Nunito Bold"/>
                <a:sym typeface="Nunito Bold"/>
              </a:rPr>
              <a:t>Memorias de solo lectura programables y eléctricamente borrables, ideales para configuraciones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02781" y="3234056"/>
            <a:ext cx="2388850" cy="53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sz="3500" spc="10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EEPRO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09587" y="4672220"/>
            <a:ext cx="2479226" cy="2331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5"/>
              </a:lnSpc>
            </a:pPr>
            <a:r>
              <a:rPr lang="en-US" b="true" sz="2389">
                <a:solidFill>
                  <a:srgbClr val="405359"/>
                </a:solidFill>
                <a:latin typeface="Nunito Bold"/>
                <a:ea typeface="Nunito Bold"/>
                <a:cs typeface="Nunito Bold"/>
                <a:sym typeface="Nunito Bold"/>
              </a:rPr>
              <a:t>Permiten almacenar datos, programas y registros de manera extraíble y portátil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99963" y="3234056"/>
            <a:ext cx="2388850" cy="1066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sz="3500" spc="10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Tarjetas SD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2495391" y="5349324"/>
            <a:ext cx="5511709" cy="6073509"/>
          </a:xfrm>
          <a:custGeom>
            <a:avLst/>
            <a:gdLst/>
            <a:ahLst/>
            <a:cxnLst/>
            <a:rect r="r" b="b" t="t" l="l"/>
            <a:pathLst>
              <a:path h="6073509" w="5511709">
                <a:moveTo>
                  <a:pt x="0" y="0"/>
                </a:moveTo>
                <a:lnTo>
                  <a:pt x="5511709" y="0"/>
                </a:lnTo>
                <a:lnTo>
                  <a:pt x="5511709" y="6073509"/>
                </a:lnTo>
                <a:lnTo>
                  <a:pt x="0" y="6073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6237">
            <a:off x="3450495" y="2410994"/>
            <a:ext cx="3198398" cy="4208418"/>
          </a:xfrm>
          <a:custGeom>
            <a:avLst/>
            <a:gdLst/>
            <a:ahLst/>
            <a:cxnLst/>
            <a:rect r="r" b="b" t="t" l="l"/>
            <a:pathLst>
              <a:path h="4208418" w="3198398">
                <a:moveTo>
                  <a:pt x="0" y="0"/>
                </a:moveTo>
                <a:lnTo>
                  <a:pt x="3198398" y="0"/>
                </a:lnTo>
                <a:lnTo>
                  <a:pt x="3198398" y="4208418"/>
                </a:lnTo>
                <a:lnTo>
                  <a:pt x="0" y="4208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336237">
            <a:off x="7956746" y="2464517"/>
            <a:ext cx="3198398" cy="4208418"/>
          </a:xfrm>
          <a:custGeom>
            <a:avLst/>
            <a:gdLst/>
            <a:ahLst/>
            <a:cxnLst/>
            <a:rect r="r" b="b" t="t" l="l"/>
            <a:pathLst>
              <a:path h="4208418" w="3198398">
                <a:moveTo>
                  <a:pt x="0" y="0"/>
                </a:moveTo>
                <a:lnTo>
                  <a:pt x="3198398" y="0"/>
                </a:lnTo>
                <a:lnTo>
                  <a:pt x="3198398" y="4208418"/>
                </a:lnTo>
                <a:lnTo>
                  <a:pt x="0" y="4208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336237">
            <a:off x="5253759" y="5555133"/>
            <a:ext cx="3584347" cy="4716246"/>
          </a:xfrm>
          <a:custGeom>
            <a:avLst/>
            <a:gdLst/>
            <a:ahLst/>
            <a:cxnLst/>
            <a:rect r="r" b="b" t="t" l="l"/>
            <a:pathLst>
              <a:path h="4716246" w="3584347">
                <a:moveTo>
                  <a:pt x="0" y="0"/>
                </a:moveTo>
                <a:lnTo>
                  <a:pt x="3584347" y="0"/>
                </a:lnTo>
                <a:lnTo>
                  <a:pt x="3584347" y="4716246"/>
                </a:lnTo>
                <a:lnTo>
                  <a:pt x="0" y="4716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12605" y="2770209"/>
            <a:ext cx="1814918" cy="1230844"/>
          </a:xfrm>
          <a:custGeom>
            <a:avLst/>
            <a:gdLst/>
            <a:ahLst/>
            <a:cxnLst/>
            <a:rect r="r" b="b" t="t" l="l"/>
            <a:pathLst>
              <a:path h="1230844" w="1814918">
                <a:moveTo>
                  <a:pt x="0" y="0"/>
                </a:moveTo>
                <a:lnTo>
                  <a:pt x="1814918" y="0"/>
                </a:lnTo>
                <a:lnTo>
                  <a:pt x="1814918" y="1230844"/>
                </a:lnTo>
                <a:lnTo>
                  <a:pt x="0" y="1230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34177" y="2930776"/>
            <a:ext cx="1814918" cy="1230844"/>
          </a:xfrm>
          <a:custGeom>
            <a:avLst/>
            <a:gdLst/>
            <a:ahLst/>
            <a:cxnLst/>
            <a:rect r="r" b="b" t="t" l="l"/>
            <a:pathLst>
              <a:path h="1230844" w="1814918">
                <a:moveTo>
                  <a:pt x="0" y="0"/>
                </a:moveTo>
                <a:lnTo>
                  <a:pt x="1814917" y="0"/>
                </a:lnTo>
                <a:lnTo>
                  <a:pt x="1814917" y="1230844"/>
                </a:lnTo>
                <a:lnTo>
                  <a:pt x="0" y="1230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353838" y="6077656"/>
            <a:ext cx="2033923" cy="1379370"/>
          </a:xfrm>
          <a:custGeom>
            <a:avLst/>
            <a:gdLst/>
            <a:ahLst/>
            <a:cxnLst/>
            <a:rect r="r" b="b" t="t" l="l"/>
            <a:pathLst>
              <a:path h="1379370" w="2033923">
                <a:moveTo>
                  <a:pt x="0" y="0"/>
                </a:moveTo>
                <a:lnTo>
                  <a:pt x="2033923" y="0"/>
                </a:lnTo>
                <a:lnTo>
                  <a:pt x="2033923" y="1379369"/>
                </a:lnTo>
                <a:lnTo>
                  <a:pt x="0" y="13793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727552" y="2593112"/>
            <a:ext cx="5009043" cy="7028192"/>
          </a:xfrm>
          <a:custGeom>
            <a:avLst/>
            <a:gdLst/>
            <a:ahLst/>
            <a:cxnLst/>
            <a:rect r="r" b="b" t="t" l="l"/>
            <a:pathLst>
              <a:path h="7028192" w="5009043">
                <a:moveTo>
                  <a:pt x="0" y="0"/>
                </a:moveTo>
                <a:lnTo>
                  <a:pt x="5009042" y="0"/>
                </a:lnTo>
                <a:lnTo>
                  <a:pt x="5009042" y="7028192"/>
                </a:lnTo>
                <a:lnTo>
                  <a:pt x="0" y="70281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26633" y="1208982"/>
            <a:ext cx="11482334" cy="1014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</a:pPr>
            <a:r>
              <a:rPr lang="en-US" b="true" sz="7000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Interfaz gráfica y pantallas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69211" y="3042298"/>
            <a:ext cx="1501706" cy="818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5"/>
              </a:lnSpc>
            </a:pPr>
            <a:r>
              <a:rPr lang="en-US" sz="5806" spc="13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90783" y="3215637"/>
            <a:ext cx="1501706" cy="818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5"/>
              </a:lnSpc>
            </a:pPr>
            <a:r>
              <a:rPr lang="en-US" sz="5806" spc="13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29341" y="6402404"/>
            <a:ext cx="1682916" cy="931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3"/>
              </a:lnSpc>
            </a:pPr>
            <a:r>
              <a:rPr lang="en-US" sz="6507" spc="156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30665" y="4060473"/>
            <a:ext cx="2880503" cy="159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6"/>
              </a:lnSpc>
            </a:pPr>
            <a:r>
              <a:rPr lang="en-US" sz="2262">
                <a:solidFill>
                  <a:srgbClr val="405359"/>
                </a:solidFill>
                <a:latin typeface="Quicksand"/>
                <a:ea typeface="Quicksand"/>
                <a:cs typeface="Quicksand"/>
                <a:sym typeface="Quicksand"/>
              </a:rPr>
              <a:t> Mues</a:t>
            </a:r>
            <a:r>
              <a:rPr lang="en-US" sz="2262">
                <a:solidFill>
                  <a:srgbClr val="405359"/>
                </a:solidFill>
                <a:latin typeface="Quicksand"/>
                <a:ea typeface="Quicksand"/>
                <a:cs typeface="Quicksand"/>
                <a:sym typeface="Quicksand"/>
              </a:rPr>
              <a:t>tran información textual y gráfica de manera sencilla y económica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90783" y="4222280"/>
            <a:ext cx="2880503" cy="159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6"/>
              </a:lnSpc>
            </a:pPr>
            <a:r>
              <a:rPr lang="en-US" sz="2262">
                <a:solidFill>
                  <a:srgbClr val="405359"/>
                </a:solidFill>
                <a:latin typeface="Quicksand"/>
                <a:ea typeface="Quicksand"/>
                <a:cs typeface="Quicksand"/>
                <a:sym typeface="Quicksand"/>
              </a:rPr>
              <a:t>Of</a:t>
            </a:r>
            <a:r>
              <a:rPr lang="en-US" sz="2262">
                <a:solidFill>
                  <a:srgbClr val="405359"/>
                </a:solidFill>
                <a:latin typeface="Quicksand"/>
                <a:ea typeface="Quicksand"/>
                <a:cs typeface="Quicksand"/>
                <a:sym typeface="Quicksand"/>
              </a:rPr>
              <a:t>recen una calidad de imagen superior y un bajo consumo de energía.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98211" y="7541717"/>
            <a:ext cx="3228092" cy="169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7"/>
              </a:lnSpc>
            </a:pPr>
            <a:r>
              <a:rPr lang="en-US" sz="2462">
                <a:solidFill>
                  <a:srgbClr val="405359"/>
                </a:solidFill>
                <a:latin typeface="Quicksand"/>
                <a:ea typeface="Quicksand"/>
                <a:cs typeface="Quicksand"/>
                <a:sym typeface="Quicksand"/>
              </a:rPr>
              <a:t>P</a:t>
            </a:r>
            <a:r>
              <a:rPr lang="en-US" sz="2462">
                <a:solidFill>
                  <a:srgbClr val="405359"/>
                </a:solidFill>
                <a:latin typeface="Quicksand"/>
                <a:ea typeface="Quicksand"/>
                <a:cs typeface="Quicksand"/>
                <a:sym typeface="Quicksand"/>
              </a:rPr>
              <a:t>ermiten la interacción del usuario de forma intuitiva y directa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51744" y="2657630"/>
            <a:ext cx="2631457" cy="1009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00"/>
              </a:lnSpc>
            </a:pPr>
            <a:r>
              <a:rPr lang="en-US" sz="3333" spc="1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Pantallas LCD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69511" y="2770209"/>
            <a:ext cx="2863148" cy="1066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sz="3500" spc="105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Pantallas OLED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35658" y="6206675"/>
            <a:ext cx="3510249" cy="1066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sz="3500" spc="105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Pantallas táctiles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61047" y="3343800"/>
            <a:ext cx="3300298" cy="6106750"/>
            <a:chOff x="0" y="0"/>
            <a:chExt cx="869214" cy="160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9214" cy="1608362"/>
            </a:xfrm>
            <a:custGeom>
              <a:avLst/>
              <a:gdLst/>
              <a:ahLst/>
              <a:cxnLst/>
              <a:rect r="r" b="b" t="t" l="l"/>
              <a:pathLst>
                <a:path h="1608362" w="869214">
                  <a:moveTo>
                    <a:pt x="180629" y="0"/>
                  </a:moveTo>
                  <a:lnTo>
                    <a:pt x="688586" y="0"/>
                  </a:lnTo>
                  <a:cubicBezTo>
                    <a:pt x="736491" y="0"/>
                    <a:pt x="782435" y="19030"/>
                    <a:pt x="816309" y="52905"/>
                  </a:cubicBezTo>
                  <a:cubicBezTo>
                    <a:pt x="850184" y="86779"/>
                    <a:pt x="869214" y="132723"/>
                    <a:pt x="869214" y="180629"/>
                  </a:cubicBezTo>
                  <a:lnTo>
                    <a:pt x="869214" y="1427734"/>
                  </a:lnTo>
                  <a:cubicBezTo>
                    <a:pt x="869214" y="1475639"/>
                    <a:pt x="850184" y="1521583"/>
                    <a:pt x="816309" y="1555457"/>
                  </a:cubicBezTo>
                  <a:cubicBezTo>
                    <a:pt x="782435" y="1589332"/>
                    <a:pt x="736491" y="1608362"/>
                    <a:pt x="688586" y="1608362"/>
                  </a:cubicBezTo>
                  <a:lnTo>
                    <a:pt x="180629" y="1608362"/>
                  </a:lnTo>
                  <a:cubicBezTo>
                    <a:pt x="80870" y="1608362"/>
                    <a:pt x="0" y="1527492"/>
                    <a:pt x="0" y="1427734"/>
                  </a:cubicBezTo>
                  <a:lnTo>
                    <a:pt x="0" y="180629"/>
                  </a:lnTo>
                  <a:cubicBezTo>
                    <a:pt x="0" y="80870"/>
                    <a:pt x="80870" y="0"/>
                    <a:pt x="180629" y="0"/>
                  </a:cubicBezTo>
                  <a:close/>
                </a:path>
              </a:pathLst>
            </a:custGeom>
            <a:solidFill>
              <a:srgbClr val="C2D1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869214" cy="1627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48605" y="3343800"/>
            <a:ext cx="3381941" cy="6106750"/>
            <a:chOff x="0" y="0"/>
            <a:chExt cx="890717" cy="16083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0717" cy="1608362"/>
            </a:xfrm>
            <a:custGeom>
              <a:avLst/>
              <a:gdLst/>
              <a:ahLst/>
              <a:cxnLst/>
              <a:rect r="r" b="b" t="t" l="l"/>
              <a:pathLst>
                <a:path h="1608362" w="890717">
                  <a:moveTo>
                    <a:pt x="176268" y="0"/>
                  </a:moveTo>
                  <a:lnTo>
                    <a:pt x="714449" y="0"/>
                  </a:lnTo>
                  <a:cubicBezTo>
                    <a:pt x="761198" y="0"/>
                    <a:pt x="806033" y="18571"/>
                    <a:pt x="839089" y="51628"/>
                  </a:cubicBezTo>
                  <a:cubicBezTo>
                    <a:pt x="872146" y="84684"/>
                    <a:pt x="890717" y="129519"/>
                    <a:pt x="890717" y="176268"/>
                  </a:cubicBezTo>
                  <a:lnTo>
                    <a:pt x="890717" y="1432094"/>
                  </a:lnTo>
                  <a:cubicBezTo>
                    <a:pt x="890717" y="1478843"/>
                    <a:pt x="872146" y="1523678"/>
                    <a:pt x="839089" y="1556735"/>
                  </a:cubicBezTo>
                  <a:cubicBezTo>
                    <a:pt x="806033" y="1589791"/>
                    <a:pt x="761198" y="1608362"/>
                    <a:pt x="714449" y="1608362"/>
                  </a:cubicBezTo>
                  <a:lnTo>
                    <a:pt x="176268" y="1608362"/>
                  </a:lnTo>
                  <a:cubicBezTo>
                    <a:pt x="129519" y="1608362"/>
                    <a:pt x="84684" y="1589791"/>
                    <a:pt x="51628" y="1556735"/>
                  </a:cubicBezTo>
                  <a:cubicBezTo>
                    <a:pt x="18571" y="1523678"/>
                    <a:pt x="0" y="1478843"/>
                    <a:pt x="0" y="1432094"/>
                  </a:cubicBezTo>
                  <a:lnTo>
                    <a:pt x="0" y="176268"/>
                  </a:lnTo>
                  <a:cubicBezTo>
                    <a:pt x="0" y="129519"/>
                    <a:pt x="18571" y="84684"/>
                    <a:pt x="51628" y="51628"/>
                  </a:cubicBezTo>
                  <a:cubicBezTo>
                    <a:pt x="84684" y="18571"/>
                    <a:pt x="129519" y="0"/>
                    <a:pt x="176268" y="0"/>
                  </a:cubicBezTo>
                  <a:close/>
                </a:path>
              </a:pathLst>
            </a:custGeom>
            <a:solidFill>
              <a:srgbClr val="C2D1D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890717" cy="1627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5400000">
            <a:off x="12495391" y="5349324"/>
            <a:ext cx="5511709" cy="6073509"/>
          </a:xfrm>
          <a:custGeom>
            <a:avLst/>
            <a:gdLst/>
            <a:ahLst/>
            <a:cxnLst/>
            <a:rect r="r" b="b" t="t" l="l"/>
            <a:pathLst>
              <a:path h="6073509" w="5511709">
                <a:moveTo>
                  <a:pt x="0" y="0"/>
                </a:moveTo>
                <a:lnTo>
                  <a:pt x="5511709" y="0"/>
                </a:lnTo>
                <a:lnTo>
                  <a:pt x="5511709" y="6073509"/>
                </a:lnTo>
                <a:lnTo>
                  <a:pt x="0" y="6073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530822" y="2346558"/>
            <a:ext cx="5068430" cy="7602646"/>
          </a:xfrm>
          <a:custGeom>
            <a:avLst/>
            <a:gdLst/>
            <a:ahLst/>
            <a:cxnLst/>
            <a:rect r="r" b="b" t="t" l="l"/>
            <a:pathLst>
              <a:path h="7602646" w="5068430">
                <a:moveTo>
                  <a:pt x="0" y="0"/>
                </a:moveTo>
                <a:lnTo>
                  <a:pt x="5068431" y="0"/>
                </a:lnTo>
                <a:lnTo>
                  <a:pt x="5068431" y="7602645"/>
                </a:lnTo>
                <a:lnTo>
                  <a:pt x="0" y="7602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763284" y="6684357"/>
            <a:ext cx="2647132" cy="2266907"/>
          </a:xfrm>
          <a:custGeom>
            <a:avLst/>
            <a:gdLst/>
            <a:ahLst/>
            <a:cxnLst/>
            <a:rect r="r" b="b" t="t" l="l"/>
            <a:pathLst>
              <a:path h="2266907" w="2647132">
                <a:moveTo>
                  <a:pt x="0" y="0"/>
                </a:moveTo>
                <a:lnTo>
                  <a:pt x="2647132" y="0"/>
                </a:lnTo>
                <a:lnTo>
                  <a:pt x="2647132" y="2266907"/>
                </a:lnTo>
                <a:lnTo>
                  <a:pt x="0" y="2266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884265" y="7518204"/>
            <a:ext cx="4367069" cy="775155"/>
          </a:xfrm>
          <a:custGeom>
            <a:avLst/>
            <a:gdLst/>
            <a:ahLst/>
            <a:cxnLst/>
            <a:rect r="r" b="b" t="t" l="l"/>
            <a:pathLst>
              <a:path h="775155" w="4367069">
                <a:moveTo>
                  <a:pt x="0" y="0"/>
                </a:moveTo>
                <a:lnTo>
                  <a:pt x="4367070" y="0"/>
                </a:lnTo>
                <a:lnTo>
                  <a:pt x="4367070" y="775155"/>
                </a:lnTo>
                <a:lnTo>
                  <a:pt x="0" y="7751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26633" y="713663"/>
            <a:ext cx="11482334" cy="200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</a:pPr>
            <a:r>
              <a:rPr lang="en-US" b="true" sz="7000">
                <a:solidFill>
                  <a:srgbClr val="405359"/>
                </a:solidFill>
                <a:latin typeface="Nunito Bold"/>
                <a:ea typeface="Nunito Bold"/>
                <a:cs typeface="Nunito Bold"/>
                <a:sym typeface="Nunito Bold"/>
              </a:rPr>
              <a:t>Audio y reproducción multimedia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82783" y="4482147"/>
            <a:ext cx="2922433" cy="260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5"/>
              </a:lnSpc>
            </a:pPr>
            <a:r>
              <a:rPr lang="en-US" sz="3189">
                <a:solidFill>
                  <a:srgbClr val="405359"/>
                </a:solidFill>
                <a:latin typeface="Nunito"/>
                <a:ea typeface="Nunito"/>
                <a:cs typeface="Nunito"/>
                <a:sym typeface="Nunito"/>
              </a:rPr>
              <a:t> Captu</a:t>
            </a:r>
            <a:r>
              <a:rPr lang="en-US" sz="3189">
                <a:solidFill>
                  <a:srgbClr val="405359"/>
                </a:solidFill>
                <a:latin typeface="Nunito"/>
                <a:ea typeface="Nunito"/>
                <a:cs typeface="Nunito"/>
                <a:sym typeface="Nunito"/>
              </a:rPr>
              <a:t>ran audio para grabación, control de voz o interacción por sonido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69514" y="3234056"/>
            <a:ext cx="2835703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9"/>
              </a:lnSpc>
            </a:pPr>
            <a:r>
              <a:rPr lang="en-US" sz="3799" spc="113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Micrófonos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16280" y="4662695"/>
            <a:ext cx="2794136" cy="182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5"/>
              </a:lnSpc>
            </a:pPr>
            <a:r>
              <a:rPr lang="en-US" sz="2789">
                <a:solidFill>
                  <a:srgbClr val="405359"/>
                </a:solidFill>
                <a:latin typeface="Nunito"/>
                <a:ea typeface="Nunito"/>
                <a:cs typeface="Nunito"/>
                <a:sym typeface="Nunito"/>
              </a:rPr>
              <a:t>Permiten la reproducción de sonidos, música y efectos de audio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99963" y="3234056"/>
            <a:ext cx="23888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9"/>
              </a:lnSpc>
            </a:pPr>
            <a:r>
              <a:rPr lang="en-US" sz="3799" spc="113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Altavoces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68679" y="3951107"/>
            <a:ext cx="3872153" cy="3863496"/>
            <a:chOff x="0" y="0"/>
            <a:chExt cx="1269240" cy="12664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9240" cy="1266403"/>
            </a:xfrm>
            <a:custGeom>
              <a:avLst/>
              <a:gdLst/>
              <a:ahLst/>
              <a:cxnLst/>
              <a:rect r="r" b="b" t="t" l="l"/>
              <a:pathLst>
                <a:path h="1266403" w="1269240">
                  <a:moveTo>
                    <a:pt x="39988" y="0"/>
                  </a:moveTo>
                  <a:lnTo>
                    <a:pt x="1229253" y="0"/>
                  </a:lnTo>
                  <a:cubicBezTo>
                    <a:pt x="1239858" y="0"/>
                    <a:pt x="1250029" y="4213"/>
                    <a:pt x="1257528" y="11712"/>
                  </a:cubicBezTo>
                  <a:cubicBezTo>
                    <a:pt x="1265027" y="19211"/>
                    <a:pt x="1269240" y="29382"/>
                    <a:pt x="1269240" y="39988"/>
                  </a:cubicBezTo>
                  <a:lnTo>
                    <a:pt x="1269240" y="1226415"/>
                  </a:lnTo>
                  <a:cubicBezTo>
                    <a:pt x="1269240" y="1237020"/>
                    <a:pt x="1265027" y="1247191"/>
                    <a:pt x="1257528" y="1254691"/>
                  </a:cubicBezTo>
                  <a:cubicBezTo>
                    <a:pt x="1250029" y="1262190"/>
                    <a:pt x="1239858" y="1266403"/>
                    <a:pt x="1229253" y="1266403"/>
                  </a:cubicBezTo>
                  <a:lnTo>
                    <a:pt x="39988" y="1266403"/>
                  </a:lnTo>
                  <a:cubicBezTo>
                    <a:pt x="29382" y="1266403"/>
                    <a:pt x="19211" y="1262190"/>
                    <a:pt x="11712" y="1254691"/>
                  </a:cubicBezTo>
                  <a:cubicBezTo>
                    <a:pt x="4213" y="1247191"/>
                    <a:pt x="0" y="1237020"/>
                    <a:pt x="0" y="1226415"/>
                  </a:cubicBezTo>
                  <a:lnTo>
                    <a:pt x="0" y="39988"/>
                  </a:lnTo>
                  <a:cubicBezTo>
                    <a:pt x="0" y="29382"/>
                    <a:pt x="4213" y="19211"/>
                    <a:pt x="11712" y="11712"/>
                  </a:cubicBezTo>
                  <a:cubicBezTo>
                    <a:pt x="19211" y="4213"/>
                    <a:pt x="29382" y="0"/>
                    <a:pt x="39988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27374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9240" cy="1304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10925" y="3951107"/>
            <a:ext cx="3987662" cy="724656"/>
            <a:chOff x="0" y="0"/>
            <a:chExt cx="1307102" cy="2375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7102" cy="237533"/>
            </a:xfrm>
            <a:custGeom>
              <a:avLst/>
              <a:gdLst/>
              <a:ahLst/>
              <a:cxnLst/>
              <a:rect r="r" b="b" t="t" l="l"/>
              <a:pathLst>
                <a:path h="237533" w="1307102">
                  <a:moveTo>
                    <a:pt x="29122" y="0"/>
                  </a:moveTo>
                  <a:lnTo>
                    <a:pt x="1277980" y="0"/>
                  </a:lnTo>
                  <a:cubicBezTo>
                    <a:pt x="1294064" y="0"/>
                    <a:pt x="1307102" y="13038"/>
                    <a:pt x="1307102" y="29122"/>
                  </a:cubicBezTo>
                  <a:lnTo>
                    <a:pt x="1307102" y="208411"/>
                  </a:lnTo>
                  <a:cubicBezTo>
                    <a:pt x="1307102" y="224494"/>
                    <a:pt x="1294064" y="237533"/>
                    <a:pt x="1277980" y="237533"/>
                  </a:cubicBezTo>
                  <a:lnTo>
                    <a:pt x="29122" y="237533"/>
                  </a:lnTo>
                  <a:cubicBezTo>
                    <a:pt x="13038" y="237533"/>
                    <a:pt x="0" y="224494"/>
                    <a:pt x="0" y="208411"/>
                  </a:cubicBezTo>
                  <a:lnTo>
                    <a:pt x="0" y="29122"/>
                  </a:lnTo>
                  <a:cubicBezTo>
                    <a:pt x="0" y="13038"/>
                    <a:pt x="13038" y="0"/>
                    <a:pt x="29122" y="0"/>
                  </a:cubicBezTo>
                  <a:close/>
                </a:path>
              </a:pathLst>
            </a:custGeom>
            <a:solidFill>
              <a:srgbClr val="4053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07102" cy="275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016552" y="3951107"/>
            <a:ext cx="3872153" cy="3863496"/>
            <a:chOff x="0" y="0"/>
            <a:chExt cx="1269240" cy="12664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9240" cy="1266403"/>
            </a:xfrm>
            <a:custGeom>
              <a:avLst/>
              <a:gdLst/>
              <a:ahLst/>
              <a:cxnLst/>
              <a:rect r="r" b="b" t="t" l="l"/>
              <a:pathLst>
                <a:path h="1266403" w="1269240">
                  <a:moveTo>
                    <a:pt x="39988" y="0"/>
                  </a:moveTo>
                  <a:lnTo>
                    <a:pt x="1229253" y="0"/>
                  </a:lnTo>
                  <a:cubicBezTo>
                    <a:pt x="1239858" y="0"/>
                    <a:pt x="1250029" y="4213"/>
                    <a:pt x="1257528" y="11712"/>
                  </a:cubicBezTo>
                  <a:cubicBezTo>
                    <a:pt x="1265027" y="19211"/>
                    <a:pt x="1269240" y="29382"/>
                    <a:pt x="1269240" y="39988"/>
                  </a:cubicBezTo>
                  <a:lnTo>
                    <a:pt x="1269240" y="1226415"/>
                  </a:lnTo>
                  <a:cubicBezTo>
                    <a:pt x="1269240" y="1237020"/>
                    <a:pt x="1265027" y="1247191"/>
                    <a:pt x="1257528" y="1254691"/>
                  </a:cubicBezTo>
                  <a:cubicBezTo>
                    <a:pt x="1250029" y="1262190"/>
                    <a:pt x="1239858" y="1266403"/>
                    <a:pt x="1229253" y="1266403"/>
                  </a:cubicBezTo>
                  <a:lnTo>
                    <a:pt x="39988" y="1266403"/>
                  </a:lnTo>
                  <a:cubicBezTo>
                    <a:pt x="29382" y="1266403"/>
                    <a:pt x="19211" y="1262190"/>
                    <a:pt x="11712" y="1254691"/>
                  </a:cubicBezTo>
                  <a:cubicBezTo>
                    <a:pt x="4213" y="1247191"/>
                    <a:pt x="0" y="1237020"/>
                    <a:pt x="0" y="1226415"/>
                  </a:cubicBezTo>
                  <a:lnTo>
                    <a:pt x="0" y="39988"/>
                  </a:lnTo>
                  <a:cubicBezTo>
                    <a:pt x="0" y="29382"/>
                    <a:pt x="4213" y="19211"/>
                    <a:pt x="11712" y="11712"/>
                  </a:cubicBezTo>
                  <a:cubicBezTo>
                    <a:pt x="19211" y="4213"/>
                    <a:pt x="29382" y="0"/>
                    <a:pt x="39988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273749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69240" cy="1304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958798" y="3951107"/>
            <a:ext cx="3987662" cy="724656"/>
            <a:chOff x="0" y="0"/>
            <a:chExt cx="1307102" cy="2375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07102" cy="237533"/>
            </a:xfrm>
            <a:custGeom>
              <a:avLst/>
              <a:gdLst/>
              <a:ahLst/>
              <a:cxnLst/>
              <a:rect r="r" b="b" t="t" l="l"/>
              <a:pathLst>
                <a:path h="237533" w="1307102">
                  <a:moveTo>
                    <a:pt x="29122" y="0"/>
                  </a:moveTo>
                  <a:lnTo>
                    <a:pt x="1277980" y="0"/>
                  </a:lnTo>
                  <a:cubicBezTo>
                    <a:pt x="1294064" y="0"/>
                    <a:pt x="1307102" y="13038"/>
                    <a:pt x="1307102" y="29122"/>
                  </a:cubicBezTo>
                  <a:lnTo>
                    <a:pt x="1307102" y="208411"/>
                  </a:lnTo>
                  <a:cubicBezTo>
                    <a:pt x="1307102" y="224494"/>
                    <a:pt x="1294064" y="237533"/>
                    <a:pt x="1277980" y="237533"/>
                  </a:cubicBezTo>
                  <a:lnTo>
                    <a:pt x="29122" y="237533"/>
                  </a:lnTo>
                  <a:cubicBezTo>
                    <a:pt x="13038" y="237533"/>
                    <a:pt x="0" y="224494"/>
                    <a:pt x="0" y="208411"/>
                  </a:cubicBezTo>
                  <a:lnTo>
                    <a:pt x="0" y="29122"/>
                  </a:lnTo>
                  <a:cubicBezTo>
                    <a:pt x="0" y="13038"/>
                    <a:pt x="13038" y="0"/>
                    <a:pt x="29122" y="0"/>
                  </a:cubicBezTo>
                  <a:close/>
                </a:path>
              </a:pathLst>
            </a:custGeom>
            <a:solidFill>
              <a:srgbClr val="40535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07102" cy="275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264426" y="3951107"/>
            <a:ext cx="3872153" cy="3863496"/>
            <a:chOff x="0" y="0"/>
            <a:chExt cx="1269240" cy="12664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9240" cy="1266403"/>
            </a:xfrm>
            <a:custGeom>
              <a:avLst/>
              <a:gdLst/>
              <a:ahLst/>
              <a:cxnLst/>
              <a:rect r="r" b="b" t="t" l="l"/>
              <a:pathLst>
                <a:path h="1266403" w="1269240">
                  <a:moveTo>
                    <a:pt x="39988" y="0"/>
                  </a:moveTo>
                  <a:lnTo>
                    <a:pt x="1229253" y="0"/>
                  </a:lnTo>
                  <a:cubicBezTo>
                    <a:pt x="1239858" y="0"/>
                    <a:pt x="1250029" y="4213"/>
                    <a:pt x="1257528" y="11712"/>
                  </a:cubicBezTo>
                  <a:cubicBezTo>
                    <a:pt x="1265027" y="19211"/>
                    <a:pt x="1269240" y="29382"/>
                    <a:pt x="1269240" y="39988"/>
                  </a:cubicBezTo>
                  <a:lnTo>
                    <a:pt x="1269240" y="1226415"/>
                  </a:lnTo>
                  <a:cubicBezTo>
                    <a:pt x="1269240" y="1237020"/>
                    <a:pt x="1265027" y="1247191"/>
                    <a:pt x="1257528" y="1254691"/>
                  </a:cubicBezTo>
                  <a:cubicBezTo>
                    <a:pt x="1250029" y="1262190"/>
                    <a:pt x="1239858" y="1266403"/>
                    <a:pt x="1229253" y="1266403"/>
                  </a:cubicBezTo>
                  <a:lnTo>
                    <a:pt x="39988" y="1266403"/>
                  </a:lnTo>
                  <a:cubicBezTo>
                    <a:pt x="29382" y="1266403"/>
                    <a:pt x="19211" y="1262190"/>
                    <a:pt x="11712" y="1254691"/>
                  </a:cubicBezTo>
                  <a:cubicBezTo>
                    <a:pt x="4213" y="1247191"/>
                    <a:pt x="0" y="1237020"/>
                    <a:pt x="0" y="1226415"/>
                  </a:cubicBezTo>
                  <a:lnTo>
                    <a:pt x="0" y="39988"/>
                  </a:lnTo>
                  <a:cubicBezTo>
                    <a:pt x="0" y="29382"/>
                    <a:pt x="4213" y="19211"/>
                    <a:pt x="11712" y="11712"/>
                  </a:cubicBezTo>
                  <a:cubicBezTo>
                    <a:pt x="19211" y="4213"/>
                    <a:pt x="29382" y="0"/>
                    <a:pt x="39988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273749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69240" cy="1304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06671" y="3951107"/>
            <a:ext cx="3987662" cy="724656"/>
            <a:chOff x="0" y="0"/>
            <a:chExt cx="1307102" cy="2375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07102" cy="237533"/>
            </a:xfrm>
            <a:custGeom>
              <a:avLst/>
              <a:gdLst/>
              <a:ahLst/>
              <a:cxnLst/>
              <a:rect r="r" b="b" t="t" l="l"/>
              <a:pathLst>
                <a:path h="237533" w="1307102">
                  <a:moveTo>
                    <a:pt x="29122" y="0"/>
                  </a:moveTo>
                  <a:lnTo>
                    <a:pt x="1277980" y="0"/>
                  </a:lnTo>
                  <a:cubicBezTo>
                    <a:pt x="1294064" y="0"/>
                    <a:pt x="1307102" y="13038"/>
                    <a:pt x="1307102" y="29122"/>
                  </a:cubicBezTo>
                  <a:lnTo>
                    <a:pt x="1307102" y="208411"/>
                  </a:lnTo>
                  <a:cubicBezTo>
                    <a:pt x="1307102" y="224494"/>
                    <a:pt x="1294064" y="237533"/>
                    <a:pt x="1277980" y="237533"/>
                  </a:cubicBezTo>
                  <a:lnTo>
                    <a:pt x="29122" y="237533"/>
                  </a:lnTo>
                  <a:cubicBezTo>
                    <a:pt x="13038" y="237533"/>
                    <a:pt x="0" y="224494"/>
                    <a:pt x="0" y="208411"/>
                  </a:cubicBezTo>
                  <a:lnTo>
                    <a:pt x="0" y="29122"/>
                  </a:lnTo>
                  <a:cubicBezTo>
                    <a:pt x="0" y="13038"/>
                    <a:pt x="13038" y="0"/>
                    <a:pt x="29122" y="0"/>
                  </a:cubicBezTo>
                  <a:close/>
                </a:path>
              </a:pathLst>
            </a:custGeom>
            <a:solidFill>
              <a:srgbClr val="40535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07102" cy="275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4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526881" y="5204411"/>
            <a:ext cx="3345299" cy="127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9"/>
              </a:lnSpc>
            </a:pPr>
            <a:r>
              <a:rPr lang="en-US" sz="2420">
                <a:solidFill>
                  <a:srgbClr val="405359"/>
                </a:solidFill>
                <a:latin typeface="Questrial"/>
                <a:ea typeface="Questrial"/>
                <a:cs typeface="Questrial"/>
                <a:sym typeface="Questrial"/>
              </a:rPr>
              <a:t>Ap</a:t>
            </a:r>
            <a:r>
              <a:rPr lang="en-US" sz="2420">
                <a:solidFill>
                  <a:srgbClr val="405359"/>
                </a:solidFill>
                <a:latin typeface="Questrial"/>
                <a:ea typeface="Questrial"/>
                <a:cs typeface="Questrial"/>
                <a:sym typeface="Questrial"/>
              </a:rPr>
              <a:t>licación de algoritmos de IA para toma de decisiones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5400000">
            <a:off x="12169606" y="4670668"/>
            <a:ext cx="5511709" cy="6073509"/>
          </a:xfrm>
          <a:custGeom>
            <a:avLst/>
            <a:gdLst/>
            <a:ahLst/>
            <a:cxnLst/>
            <a:rect r="r" b="b" t="t" l="l"/>
            <a:pathLst>
              <a:path h="6073509" w="5511709">
                <a:moveTo>
                  <a:pt x="0" y="0"/>
                </a:moveTo>
                <a:lnTo>
                  <a:pt x="5511709" y="0"/>
                </a:lnTo>
                <a:lnTo>
                  <a:pt x="5511709" y="6073509"/>
                </a:lnTo>
                <a:lnTo>
                  <a:pt x="0" y="6073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-138451" y="2535830"/>
            <a:ext cx="5058718" cy="7514048"/>
          </a:xfrm>
          <a:custGeom>
            <a:avLst/>
            <a:gdLst/>
            <a:ahLst/>
            <a:cxnLst/>
            <a:rect r="r" b="b" t="t" l="l"/>
            <a:pathLst>
              <a:path h="7514048" w="5058718">
                <a:moveTo>
                  <a:pt x="0" y="0"/>
                </a:moveTo>
                <a:lnTo>
                  <a:pt x="5058718" y="0"/>
                </a:lnTo>
                <a:lnTo>
                  <a:pt x="5058718" y="7514047"/>
                </a:lnTo>
                <a:lnTo>
                  <a:pt x="0" y="75140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912584" y="2059721"/>
            <a:ext cx="11482334" cy="1095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</a:pPr>
            <a:r>
              <a:rPr lang="en-US" b="true" sz="7500">
                <a:solidFill>
                  <a:srgbClr val="475B6A"/>
                </a:solidFill>
                <a:latin typeface="Nunito Bold"/>
                <a:ea typeface="Nunito Bold"/>
                <a:cs typeface="Nunito Bold"/>
                <a:sym typeface="Nunito Bold"/>
              </a:rPr>
              <a:t>Aprendizaje automático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912584" y="4041397"/>
            <a:ext cx="3584343" cy="10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Adquisición de datos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33079" y="5202797"/>
            <a:ext cx="3345299" cy="153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9"/>
              </a:lnSpc>
            </a:pPr>
            <a:r>
              <a:rPr lang="en-US" sz="2920">
                <a:solidFill>
                  <a:srgbClr val="405359"/>
                </a:solidFill>
                <a:latin typeface="Questrial"/>
                <a:ea typeface="Questrial"/>
                <a:cs typeface="Questrial"/>
                <a:sym typeface="Questrial"/>
              </a:rPr>
              <a:t>Re</a:t>
            </a:r>
            <a:r>
              <a:rPr lang="en-US" sz="2920">
                <a:solidFill>
                  <a:srgbClr val="405359"/>
                </a:solidFill>
                <a:latin typeface="Questrial"/>
                <a:ea typeface="Questrial"/>
                <a:cs typeface="Questrial"/>
                <a:sym typeface="Questrial"/>
              </a:rPr>
              <a:t>colección de señales a través de sensores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60458" y="4041397"/>
            <a:ext cx="3584343" cy="58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Procesamiento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02060" y="5212322"/>
            <a:ext cx="3345299" cy="1335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9"/>
              </a:lnSpc>
            </a:pPr>
            <a:r>
              <a:rPr lang="en-US" sz="2520">
                <a:solidFill>
                  <a:srgbClr val="405359"/>
                </a:solidFill>
                <a:latin typeface="Questrial"/>
                <a:ea typeface="Questrial"/>
                <a:cs typeface="Questrial"/>
                <a:sym typeface="Questrial"/>
              </a:rPr>
              <a:t>Aná</a:t>
            </a:r>
            <a:r>
              <a:rPr lang="en-US" sz="2520">
                <a:solidFill>
                  <a:srgbClr val="405359"/>
                </a:solidFill>
                <a:latin typeface="Questrial"/>
                <a:ea typeface="Questrial"/>
                <a:cs typeface="Questrial"/>
                <a:sym typeface="Questrial"/>
              </a:rPr>
              <a:t>lisis y manipulación de los datos recolectados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08331" y="4041397"/>
            <a:ext cx="3584343" cy="59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SPI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08331" y="4041397"/>
            <a:ext cx="3584343" cy="10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b="true" sz="30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Aprendizaje Automático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2639064" y="4862600"/>
            <a:ext cx="5511709" cy="6073509"/>
          </a:xfrm>
          <a:custGeom>
            <a:avLst/>
            <a:gdLst/>
            <a:ahLst/>
            <a:cxnLst/>
            <a:rect r="r" b="b" t="t" l="l"/>
            <a:pathLst>
              <a:path h="6073509" w="5511709">
                <a:moveTo>
                  <a:pt x="0" y="0"/>
                </a:moveTo>
                <a:lnTo>
                  <a:pt x="5511709" y="0"/>
                </a:lnTo>
                <a:lnTo>
                  <a:pt x="5511709" y="6073509"/>
                </a:lnTo>
                <a:lnTo>
                  <a:pt x="0" y="6073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61142" y="3388015"/>
            <a:ext cx="5092943" cy="690455"/>
            <a:chOff x="0" y="0"/>
            <a:chExt cx="3072935" cy="4166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72935" cy="416601"/>
            </a:xfrm>
            <a:custGeom>
              <a:avLst/>
              <a:gdLst/>
              <a:ahLst/>
              <a:cxnLst/>
              <a:rect r="r" b="b" t="t" l="l"/>
              <a:pathLst>
                <a:path h="416601" w="3072935">
                  <a:moveTo>
                    <a:pt x="0" y="0"/>
                  </a:moveTo>
                  <a:lnTo>
                    <a:pt x="3072935" y="0"/>
                  </a:lnTo>
                  <a:lnTo>
                    <a:pt x="3072935" y="416601"/>
                  </a:lnTo>
                  <a:lnTo>
                    <a:pt x="0" y="4166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8FA4E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072935" cy="454701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rot="0">
            <a:off x="4685193" y="3303019"/>
            <a:ext cx="4471994" cy="915601"/>
          </a:xfrm>
          <a:prstGeom prst="rect">
            <a:avLst/>
          </a:prstGeom>
          <a:solidFill>
            <a:srgbClr val="D11F2B"/>
          </a:solidFill>
        </p:spPr>
      </p:sp>
      <p:grpSp>
        <p:nvGrpSpPr>
          <p:cNvPr name="Group 7" id="7"/>
          <p:cNvGrpSpPr/>
          <p:nvPr/>
        </p:nvGrpSpPr>
        <p:grpSpPr>
          <a:xfrm rot="0">
            <a:off x="4361142" y="6858035"/>
            <a:ext cx="5092943" cy="690455"/>
            <a:chOff x="0" y="0"/>
            <a:chExt cx="3072935" cy="4166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72935" cy="416601"/>
            </a:xfrm>
            <a:custGeom>
              <a:avLst/>
              <a:gdLst/>
              <a:ahLst/>
              <a:cxnLst/>
              <a:rect r="r" b="b" t="t" l="l"/>
              <a:pathLst>
                <a:path h="416601" w="3072935">
                  <a:moveTo>
                    <a:pt x="0" y="0"/>
                  </a:moveTo>
                  <a:lnTo>
                    <a:pt x="3072935" y="0"/>
                  </a:lnTo>
                  <a:lnTo>
                    <a:pt x="3072935" y="416601"/>
                  </a:lnTo>
                  <a:lnTo>
                    <a:pt x="0" y="4166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8FA4E1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072935" cy="454701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 rot="0">
            <a:off x="4685193" y="6745462"/>
            <a:ext cx="4471994" cy="915601"/>
          </a:xfrm>
          <a:prstGeom prst="rect">
            <a:avLst/>
          </a:prstGeom>
          <a:solidFill>
            <a:srgbClr val="D11F2B"/>
          </a:solidFill>
        </p:spPr>
      </p:sp>
      <p:grpSp>
        <p:nvGrpSpPr>
          <p:cNvPr name="Group 11" id="11"/>
          <p:cNvGrpSpPr/>
          <p:nvPr/>
        </p:nvGrpSpPr>
        <p:grpSpPr>
          <a:xfrm rot="0">
            <a:off x="9931847" y="3388015"/>
            <a:ext cx="5092943" cy="690455"/>
            <a:chOff x="0" y="0"/>
            <a:chExt cx="3072935" cy="416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72935" cy="416601"/>
            </a:xfrm>
            <a:custGeom>
              <a:avLst/>
              <a:gdLst/>
              <a:ahLst/>
              <a:cxnLst/>
              <a:rect r="r" b="b" t="t" l="l"/>
              <a:pathLst>
                <a:path h="416601" w="3072935">
                  <a:moveTo>
                    <a:pt x="0" y="0"/>
                  </a:moveTo>
                  <a:lnTo>
                    <a:pt x="3072935" y="0"/>
                  </a:lnTo>
                  <a:lnTo>
                    <a:pt x="3072935" y="416601"/>
                  </a:lnTo>
                  <a:lnTo>
                    <a:pt x="0" y="4166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8FA4E1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072935" cy="454701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 rot="0">
            <a:off x="10410610" y="3269248"/>
            <a:ext cx="4389924" cy="915601"/>
          </a:xfrm>
          <a:prstGeom prst="rect">
            <a:avLst/>
          </a:prstGeom>
          <a:solidFill>
            <a:srgbClr val="D11F2B"/>
          </a:solidFill>
        </p:spPr>
      </p:sp>
      <p:grpSp>
        <p:nvGrpSpPr>
          <p:cNvPr name="Group 15" id="15"/>
          <p:cNvGrpSpPr/>
          <p:nvPr/>
        </p:nvGrpSpPr>
        <p:grpSpPr>
          <a:xfrm rot="0">
            <a:off x="9931847" y="6858035"/>
            <a:ext cx="5092943" cy="690455"/>
            <a:chOff x="0" y="0"/>
            <a:chExt cx="3072935" cy="4166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72935" cy="416601"/>
            </a:xfrm>
            <a:custGeom>
              <a:avLst/>
              <a:gdLst/>
              <a:ahLst/>
              <a:cxnLst/>
              <a:rect r="r" b="b" t="t" l="l"/>
              <a:pathLst>
                <a:path h="416601" w="3072935">
                  <a:moveTo>
                    <a:pt x="0" y="0"/>
                  </a:moveTo>
                  <a:lnTo>
                    <a:pt x="3072935" y="0"/>
                  </a:lnTo>
                  <a:lnTo>
                    <a:pt x="3072935" y="416601"/>
                  </a:lnTo>
                  <a:lnTo>
                    <a:pt x="0" y="4166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8FA4E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072935" cy="454701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 rot="0">
            <a:off x="10365303" y="6745462"/>
            <a:ext cx="4435232" cy="915601"/>
          </a:xfrm>
          <a:prstGeom prst="rect">
            <a:avLst/>
          </a:prstGeom>
          <a:solidFill>
            <a:srgbClr val="D11F2B"/>
          </a:solidFill>
        </p:spPr>
      </p:sp>
      <p:sp>
        <p:nvSpPr>
          <p:cNvPr name="Freeform 19" id="19"/>
          <p:cNvSpPr/>
          <p:nvPr/>
        </p:nvSpPr>
        <p:spPr>
          <a:xfrm flipH="false" flipV="false" rot="0">
            <a:off x="0" y="3371263"/>
            <a:ext cx="4685193" cy="6573798"/>
          </a:xfrm>
          <a:custGeom>
            <a:avLst/>
            <a:gdLst/>
            <a:ahLst/>
            <a:cxnLst/>
            <a:rect r="r" b="b" t="t" l="l"/>
            <a:pathLst>
              <a:path h="6573798" w="4685193">
                <a:moveTo>
                  <a:pt x="0" y="0"/>
                </a:moveTo>
                <a:lnTo>
                  <a:pt x="4685193" y="0"/>
                </a:lnTo>
                <a:lnTo>
                  <a:pt x="4685193" y="6573798"/>
                </a:lnTo>
                <a:lnTo>
                  <a:pt x="0" y="65737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712918" y="631799"/>
            <a:ext cx="11482334" cy="2162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</a:pPr>
            <a:r>
              <a:rPr lang="en-US" b="true" sz="7500">
                <a:solidFill>
                  <a:srgbClr val="405359"/>
                </a:solidFill>
                <a:latin typeface="Nunito Bold"/>
                <a:ea typeface="Nunito Bold"/>
                <a:cs typeface="Nunito Bold"/>
                <a:sym typeface="Nunito Bold"/>
              </a:rPr>
              <a:t>Aplicaciones práctica y casos de uso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39905" y="4441581"/>
            <a:ext cx="4135417" cy="1254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8"/>
              </a:lnSpc>
            </a:pPr>
            <a:r>
              <a:rPr lang="en-US" sz="2363">
                <a:solidFill>
                  <a:srgbClr val="475B6A"/>
                </a:solidFill>
                <a:latin typeface="Quicksand"/>
                <a:ea typeface="Quicksand"/>
                <a:cs typeface="Quicksand"/>
                <a:sym typeface="Quicksand"/>
              </a:rPr>
              <a:t>Control de iluminación, seguridad, riego y sistemas de climatización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685193" y="3503461"/>
            <a:ext cx="4471994" cy="61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9"/>
              </a:lnSpc>
            </a:pPr>
            <a:r>
              <a:rPr lang="en-US" b="true" sz="3847" spc="-84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DOMOTICA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839905" y="7911600"/>
            <a:ext cx="4135417" cy="1254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8"/>
              </a:lnSpc>
            </a:pPr>
            <a:r>
              <a:rPr lang="en-US" sz="2363">
                <a:solidFill>
                  <a:srgbClr val="475B6A"/>
                </a:solidFill>
                <a:latin typeface="Quicksand"/>
                <a:ea typeface="Quicksand"/>
                <a:cs typeface="Quicksand"/>
                <a:sym typeface="Quicksand"/>
              </a:rPr>
              <a:t>Monitoreo y automatización de dispositivos a través de redes conectadas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71616" y="6925898"/>
            <a:ext cx="4471994" cy="453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7"/>
              </a:lnSpc>
            </a:pPr>
            <a:r>
              <a:rPr lang="en-US" b="true" sz="2747" spc="-6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INTERNET DE LAS COSAS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10610" y="4451106"/>
            <a:ext cx="4135417" cy="132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88"/>
              </a:lnSpc>
            </a:pPr>
            <a:r>
              <a:rPr lang="en-US" sz="2563">
                <a:solidFill>
                  <a:srgbClr val="475B6A"/>
                </a:solidFill>
                <a:latin typeface="Quicksand"/>
                <a:ea typeface="Quicksand"/>
                <a:cs typeface="Quicksand"/>
                <a:sym typeface="Quicksand"/>
              </a:rPr>
              <a:t>Diseño y control de robots, vehículos autónomos y brazos mecánicos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10610" y="3469690"/>
            <a:ext cx="4389924" cy="61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9"/>
              </a:lnSpc>
            </a:pPr>
            <a:r>
              <a:rPr lang="en-US" b="true" sz="3847" spc="-84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ROBÓTICA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10610" y="7921125"/>
            <a:ext cx="4135417" cy="1190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8"/>
              </a:lnSpc>
            </a:pPr>
            <a:r>
              <a:rPr lang="en-US" sz="2263">
                <a:solidFill>
                  <a:srgbClr val="475B6A"/>
                </a:solidFill>
                <a:latin typeface="Quicksand"/>
                <a:ea typeface="Quicksand"/>
                <a:cs typeface="Quicksand"/>
                <a:sym typeface="Quicksand"/>
              </a:rPr>
              <a:t> Enseñanza de programación, electrónica y proyectos de innovación tecnológica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65303" y="6945904"/>
            <a:ext cx="4435232" cy="61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9"/>
              </a:lnSpc>
            </a:pPr>
            <a:r>
              <a:rPr lang="en-US" b="true" sz="3847" spc="-84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EDUCACIÓN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D1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54295" y="4656526"/>
            <a:ext cx="243353" cy="24335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5B6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25278" lIns="25278" bIns="25278" rIns="25278"/>
            <a:lstStyle/>
            <a:p>
              <a:pPr algn="ctr">
                <a:lnSpc>
                  <a:spcPts val="9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0274" y="1445651"/>
            <a:ext cx="243353" cy="24335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5B6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25278" lIns="25278" bIns="25278" rIns="25278"/>
            <a:lstStyle/>
            <a:p>
              <a:pPr algn="ctr">
                <a:lnSpc>
                  <a:spcPts val="9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58439" y="9136624"/>
            <a:ext cx="243353" cy="24335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5B6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25278" lIns="25278" bIns="25278" rIns="25278"/>
            <a:lstStyle/>
            <a:p>
              <a:pPr algn="ctr">
                <a:lnSpc>
                  <a:spcPts val="9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847903" y="4778202"/>
            <a:ext cx="243353" cy="24335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5B6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25278" lIns="25278" bIns="25278" rIns="25278"/>
            <a:lstStyle/>
            <a:p>
              <a:pPr algn="ctr">
                <a:lnSpc>
                  <a:spcPts val="97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015947" y="1832407"/>
            <a:ext cx="243353" cy="24335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5B6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25278" lIns="25278" bIns="25278" rIns="25278"/>
            <a:lstStyle/>
            <a:p>
              <a:pPr algn="ctr">
                <a:lnSpc>
                  <a:spcPts val="97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402833" y="480188"/>
            <a:ext cx="11482334" cy="299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</a:pPr>
            <a:r>
              <a:rPr lang="en-US" b="true" sz="7000">
                <a:solidFill>
                  <a:srgbClr val="405359"/>
                </a:solidFill>
                <a:latin typeface="Nunito Bold"/>
                <a:ea typeface="Nunito Bold"/>
                <a:cs typeface="Nunito Bold"/>
                <a:sym typeface="Nunito Bold"/>
              </a:rPr>
              <a:t> Características de Seguridad en Sistemas Electrónicos Digitales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5400000">
            <a:off x="-243951" y="-1082671"/>
            <a:ext cx="5511709" cy="6073509"/>
          </a:xfrm>
          <a:custGeom>
            <a:avLst/>
            <a:gdLst/>
            <a:ahLst/>
            <a:cxnLst/>
            <a:rect r="r" b="b" t="t" l="l"/>
            <a:pathLst>
              <a:path h="6073509" w="5511709">
                <a:moveTo>
                  <a:pt x="0" y="0"/>
                </a:moveTo>
                <a:lnTo>
                  <a:pt x="5511709" y="0"/>
                </a:lnTo>
                <a:lnTo>
                  <a:pt x="5511709" y="6073508"/>
                </a:lnTo>
                <a:lnTo>
                  <a:pt x="0" y="6073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235266" y="3475603"/>
            <a:ext cx="9711979" cy="6422046"/>
          </a:xfrm>
          <a:custGeom>
            <a:avLst/>
            <a:gdLst/>
            <a:ahLst/>
            <a:cxnLst/>
            <a:rect r="r" b="b" t="t" l="l"/>
            <a:pathLst>
              <a:path h="6422046" w="9711979">
                <a:moveTo>
                  <a:pt x="0" y="0"/>
                </a:moveTo>
                <a:lnTo>
                  <a:pt x="9711979" y="0"/>
                </a:lnTo>
                <a:lnTo>
                  <a:pt x="9711979" y="6422046"/>
                </a:lnTo>
                <a:lnTo>
                  <a:pt x="0" y="64220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401792" y="4280899"/>
            <a:ext cx="6667974" cy="4735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33"/>
              </a:lnSpc>
              <a:spcBef>
                <a:spcPct val="0"/>
              </a:spcBef>
            </a:pPr>
            <a:r>
              <a:rPr lang="en-US" sz="3380">
                <a:solidFill>
                  <a:srgbClr val="405359"/>
                </a:solidFill>
                <a:latin typeface="Questrial"/>
                <a:ea typeface="Questrial"/>
                <a:cs typeface="Questrial"/>
                <a:sym typeface="Questrial"/>
              </a:rPr>
              <a:t>La seguridad es un aspecto fundamental en el diseño de sistemas electrónicos digitales, especialmente en dispositivos IoT expuestos a amenazas externas. Es crucial considerar características de hardware y software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68117" y="-273331"/>
            <a:ext cx="5511709" cy="6073509"/>
          </a:xfrm>
          <a:custGeom>
            <a:avLst/>
            <a:gdLst/>
            <a:ahLst/>
            <a:cxnLst/>
            <a:rect r="r" b="b" t="t" l="l"/>
            <a:pathLst>
              <a:path h="6073509" w="5511709">
                <a:moveTo>
                  <a:pt x="0" y="0"/>
                </a:moveTo>
                <a:lnTo>
                  <a:pt x="5511710" y="0"/>
                </a:lnTo>
                <a:lnTo>
                  <a:pt x="5511710" y="6073509"/>
                </a:lnTo>
                <a:lnTo>
                  <a:pt x="0" y="6073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35236" y="3139156"/>
            <a:ext cx="4767957" cy="2401146"/>
            <a:chOff x="0" y="0"/>
            <a:chExt cx="2123773" cy="10695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23773" cy="1069533"/>
            </a:xfrm>
            <a:custGeom>
              <a:avLst/>
              <a:gdLst/>
              <a:ahLst/>
              <a:cxnLst/>
              <a:rect r="r" b="b" t="t" l="l"/>
              <a:pathLst>
                <a:path h="1069533" w="2123773">
                  <a:moveTo>
                    <a:pt x="64950" y="0"/>
                  </a:moveTo>
                  <a:lnTo>
                    <a:pt x="2058823" y="0"/>
                  </a:lnTo>
                  <a:cubicBezTo>
                    <a:pt x="2094694" y="0"/>
                    <a:pt x="2123773" y="29079"/>
                    <a:pt x="2123773" y="64950"/>
                  </a:cubicBezTo>
                  <a:lnTo>
                    <a:pt x="2123773" y="1004584"/>
                  </a:lnTo>
                  <a:cubicBezTo>
                    <a:pt x="2123773" y="1040455"/>
                    <a:pt x="2094694" y="1069533"/>
                    <a:pt x="2058823" y="1069533"/>
                  </a:cubicBezTo>
                  <a:lnTo>
                    <a:pt x="64950" y="1069533"/>
                  </a:lnTo>
                  <a:cubicBezTo>
                    <a:pt x="29079" y="1069533"/>
                    <a:pt x="0" y="1040455"/>
                    <a:pt x="0" y="1004584"/>
                  </a:cubicBezTo>
                  <a:lnTo>
                    <a:pt x="0" y="64950"/>
                  </a:lnTo>
                  <a:cubicBezTo>
                    <a:pt x="0" y="29079"/>
                    <a:pt x="29079" y="0"/>
                    <a:pt x="64950" y="0"/>
                  </a:cubicBezTo>
                  <a:close/>
                </a:path>
              </a:pathLst>
            </a:custGeom>
            <a:solidFill>
              <a:srgbClr val="4053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123773" cy="1088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735236" y="6773775"/>
            <a:ext cx="4767957" cy="2401146"/>
            <a:chOff x="0" y="0"/>
            <a:chExt cx="2123773" cy="10695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3773" cy="1069533"/>
            </a:xfrm>
            <a:custGeom>
              <a:avLst/>
              <a:gdLst/>
              <a:ahLst/>
              <a:cxnLst/>
              <a:rect r="r" b="b" t="t" l="l"/>
              <a:pathLst>
                <a:path h="1069533" w="2123773">
                  <a:moveTo>
                    <a:pt x="64950" y="0"/>
                  </a:moveTo>
                  <a:lnTo>
                    <a:pt x="2058823" y="0"/>
                  </a:lnTo>
                  <a:cubicBezTo>
                    <a:pt x="2094694" y="0"/>
                    <a:pt x="2123773" y="29079"/>
                    <a:pt x="2123773" y="64950"/>
                  </a:cubicBezTo>
                  <a:lnTo>
                    <a:pt x="2123773" y="1004584"/>
                  </a:lnTo>
                  <a:cubicBezTo>
                    <a:pt x="2123773" y="1040455"/>
                    <a:pt x="2094694" y="1069533"/>
                    <a:pt x="2058823" y="1069533"/>
                  </a:cubicBezTo>
                  <a:lnTo>
                    <a:pt x="64950" y="1069533"/>
                  </a:lnTo>
                  <a:cubicBezTo>
                    <a:pt x="29079" y="1069533"/>
                    <a:pt x="0" y="1040455"/>
                    <a:pt x="0" y="1004584"/>
                  </a:cubicBezTo>
                  <a:lnTo>
                    <a:pt x="0" y="64950"/>
                  </a:lnTo>
                  <a:cubicBezTo>
                    <a:pt x="0" y="29079"/>
                    <a:pt x="29079" y="0"/>
                    <a:pt x="64950" y="0"/>
                  </a:cubicBezTo>
                  <a:close/>
                </a:path>
              </a:pathLst>
            </a:custGeom>
            <a:solidFill>
              <a:srgbClr val="4053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123773" cy="1088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84807" y="3139156"/>
            <a:ext cx="4767957" cy="2401146"/>
            <a:chOff x="0" y="0"/>
            <a:chExt cx="2123773" cy="10695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3773" cy="1069533"/>
            </a:xfrm>
            <a:custGeom>
              <a:avLst/>
              <a:gdLst/>
              <a:ahLst/>
              <a:cxnLst/>
              <a:rect r="r" b="b" t="t" l="l"/>
              <a:pathLst>
                <a:path h="1069533" w="2123773">
                  <a:moveTo>
                    <a:pt x="64950" y="0"/>
                  </a:moveTo>
                  <a:lnTo>
                    <a:pt x="2058823" y="0"/>
                  </a:lnTo>
                  <a:cubicBezTo>
                    <a:pt x="2094694" y="0"/>
                    <a:pt x="2123773" y="29079"/>
                    <a:pt x="2123773" y="64950"/>
                  </a:cubicBezTo>
                  <a:lnTo>
                    <a:pt x="2123773" y="1004584"/>
                  </a:lnTo>
                  <a:cubicBezTo>
                    <a:pt x="2123773" y="1040455"/>
                    <a:pt x="2094694" y="1069533"/>
                    <a:pt x="2058823" y="1069533"/>
                  </a:cubicBezTo>
                  <a:lnTo>
                    <a:pt x="64950" y="1069533"/>
                  </a:lnTo>
                  <a:cubicBezTo>
                    <a:pt x="29079" y="1069533"/>
                    <a:pt x="0" y="1040455"/>
                    <a:pt x="0" y="1004584"/>
                  </a:cubicBezTo>
                  <a:lnTo>
                    <a:pt x="0" y="64950"/>
                  </a:lnTo>
                  <a:cubicBezTo>
                    <a:pt x="0" y="29079"/>
                    <a:pt x="29079" y="0"/>
                    <a:pt x="64950" y="0"/>
                  </a:cubicBezTo>
                  <a:close/>
                </a:path>
              </a:pathLst>
            </a:custGeom>
            <a:solidFill>
              <a:srgbClr val="40535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3773" cy="1088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84807" y="6773775"/>
            <a:ext cx="4767957" cy="2401146"/>
            <a:chOff x="0" y="0"/>
            <a:chExt cx="2123773" cy="10695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3773" cy="1069533"/>
            </a:xfrm>
            <a:custGeom>
              <a:avLst/>
              <a:gdLst/>
              <a:ahLst/>
              <a:cxnLst/>
              <a:rect r="r" b="b" t="t" l="l"/>
              <a:pathLst>
                <a:path h="1069533" w="2123773">
                  <a:moveTo>
                    <a:pt x="64950" y="0"/>
                  </a:moveTo>
                  <a:lnTo>
                    <a:pt x="2058823" y="0"/>
                  </a:lnTo>
                  <a:cubicBezTo>
                    <a:pt x="2094694" y="0"/>
                    <a:pt x="2123773" y="29079"/>
                    <a:pt x="2123773" y="64950"/>
                  </a:cubicBezTo>
                  <a:lnTo>
                    <a:pt x="2123773" y="1004584"/>
                  </a:lnTo>
                  <a:cubicBezTo>
                    <a:pt x="2123773" y="1040455"/>
                    <a:pt x="2094694" y="1069533"/>
                    <a:pt x="2058823" y="1069533"/>
                  </a:cubicBezTo>
                  <a:lnTo>
                    <a:pt x="64950" y="1069533"/>
                  </a:lnTo>
                  <a:cubicBezTo>
                    <a:pt x="29079" y="1069533"/>
                    <a:pt x="0" y="1040455"/>
                    <a:pt x="0" y="1004584"/>
                  </a:cubicBezTo>
                  <a:lnTo>
                    <a:pt x="0" y="64950"/>
                  </a:lnTo>
                  <a:cubicBezTo>
                    <a:pt x="0" y="29079"/>
                    <a:pt x="29079" y="0"/>
                    <a:pt x="64950" y="0"/>
                  </a:cubicBezTo>
                  <a:close/>
                </a:path>
              </a:pathLst>
            </a:custGeom>
            <a:solidFill>
              <a:srgbClr val="40535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123773" cy="1088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17192" y="2918349"/>
            <a:ext cx="2660868" cy="2225151"/>
          </a:xfrm>
          <a:custGeom>
            <a:avLst/>
            <a:gdLst/>
            <a:ahLst/>
            <a:cxnLst/>
            <a:rect r="r" b="b" t="t" l="l"/>
            <a:pathLst>
              <a:path h="2225151" w="2660868">
                <a:moveTo>
                  <a:pt x="0" y="0"/>
                </a:moveTo>
                <a:lnTo>
                  <a:pt x="2660869" y="0"/>
                </a:lnTo>
                <a:lnTo>
                  <a:pt x="2660869" y="2225151"/>
                </a:lnTo>
                <a:lnTo>
                  <a:pt x="0" y="22251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8700" y="6597571"/>
            <a:ext cx="2469773" cy="2469773"/>
          </a:xfrm>
          <a:custGeom>
            <a:avLst/>
            <a:gdLst/>
            <a:ahLst/>
            <a:cxnLst/>
            <a:rect r="r" b="b" t="t" l="l"/>
            <a:pathLst>
              <a:path h="2469773" w="2469773">
                <a:moveTo>
                  <a:pt x="0" y="0"/>
                </a:moveTo>
                <a:lnTo>
                  <a:pt x="2469773" y="0"/>
                </a:lnTo>
                <a:lnTo>
                  <a:pt x="2469773" y="2469772"/>
                </a:lnTo>
                <a:lnTo>
                  <a:pt x="0" y="24697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808967" y="6807964"/>
            <a:ext cx="1536740" cy="2048987"/>
          </a:xfrm>
          <a:custGeom>
            <a:avLst/>
            <a:gdLst/>
            <a:ahLst/>
            <a:cxnLst/>
            <a:rect r="r" b="b" t="t" l="l"/>
            <a:pathLst>
              <a:path h="2048987" w="1536740">
                <a:moveTo>
                  <a:pt x="0" y="0"/>
                </a:moveTo>
                <a:lnTo>
                  <a:pt x="1536740" y="0"/>
                </a:lnTo>
                <a:lnTo>
                  <a:pt x="1536740" y="2048987"/>
                </a:lnTo>
                <a:lnTo>
                  <a:pt x="0" y="20489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808967" y="3075182"/>
            <a:ext cx="1832266" cy="2144141"/>
          </a:xfrm>
          <a:custGeom>
            <a:avLst/>
            <a:gdLst/>
            <a:ahLst/>
            <a:cxnLst/>
            <a:rect r="r" b="b" t="t" l="l"/>
            <a:pathLst>
              <a:path h="2144141" w="1832266">
                <a:moveTo>
                  <a:pt x="0" y="0"/>
                </a:moveTo>
                <a:lnTo>
                  <a:pt x="1832266" y="0"/>
                </a:lnTo>
                <a:lnTo>
                  <a:pt x="1832266" y="2144141"/>
                </a:lnTo>
                <a:lnTo>
                  <a:pt x="0" y="21441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326633" y="387107"/>
            <a:ext cx="11482334" cy="200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</a:pPr>
            <a:r>
              <a:rPr lang="en-US" b="true" sz="7000">
                <a:solidFill>
                  <a:srgbClr val="293C42"/>
                </a:solidFill>
                <a:latin typeface="Nunito Bold"/>
                <a:ea typeface="Nunito Bold"/>
                <a:cs typeface="Nunito Bold"/>
                <a:sym typeface="Nunito Bold"/>
              </a:rPr>
              <a:t>Protección contra Acceso No Autorizado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42665" y="3619100"/>
            <a:ext cx="3452242" cy="1681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78"/>
              </a:lnSpc>
              <a:spcBef>
                <a:spcPct val="0"/>
              </a:spcBef>
            </a:pPr>
            <a:r>
              <a:rPr lang="en-US" sz="206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U</a:t>
            </a:r>
            <a:r>
              <a:rPr lang="en-US" sz="2060" u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tilizar carcasas resistentes y selladas que dificulten la inspección física del dispositivo y la manipulación de sus componentes.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60781" y="2777157"/>
            <a:ext cx="4248609" cy="572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5"/>
              </a:lnSpc>
            </a:pPr>
            <a:r>
              <a:rPr lang="en-US" b="true" sz="3339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Autenticación Segura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35236" y="6450205"/>
            <a:ext cx="4703480" cy="5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Detección de Intrusión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84807" y="2777157"/>
            <a:ext cx="4767957" cy="5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 Encapsulado Blindado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05427" y="6411776"/>
            <a:ext cx="3662690" cy="5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 Bloqueo Remoto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25150" y="3619100"/>
            <a:ext cx="4188128" cy="1613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Implem</a:t>
            </a:r>
            <a:r>
              <a:rPr lang="en-US" sz="2000" u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entar mecanismos de autenticación robustos, como biometría o claves criptográficas, para prevenir el acceso no autorizado al hardware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095130" y="7575918"/>
            <a:ext cx="4014260" cy="126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03"/>
              </a:lnSpc>
              <a:spcBef>
                <a:spcPct val="0"/>
              </a:spcBef>
            </a:pPr>
            <a:r>
              <a:rPr lang="en-US" sz="192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Incorporar s</a:t>
            </a:r>
            <a:r>
              <a:rPr lang="en-US" sz="1925" u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ensores que detecten intentos de apertura o alteración del dispositivo y desencadenen alertas o acciones de respuesta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29765" y="7420866"/>
            <a:ext cx="4478042" cy="143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66"/>
              </a:lnSpc>
              <a:spcBef>
                <a:spcPct val="0"/>
              </a:spcBef>
            </a:pPr>
            <a:r>
              <a:rPr lang="en-US" sz="2204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</a:t>
            </a:r>
            <a:r>
              <a:rPr lang="en-US" sz="2204" u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ermitir el bloqueo o desactivación remota de dispositivos en caso de robo o extravío para evitar su uso malicioso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2639064" y="4862600"/>
            <a:ext cx="5511709" cy="6073509"/>
          </a:xfrm>
          <a:custGeom>
            <a:avLst/>
            <a:gdLst/>
            <a:ahLst/>
            <a:cxnLst/>
            <a:rect r="r" b="b" t="t" l="l"/>
            <a:pathLst>
              <a:path h="6073509" w="5511709">
                <a:moveTo>
                  <a:pt x="0" y="0"/>
                </a:moveTo>
                <a:lnTo>
                  <a:pt x="5511709" y="0"/>
                </a:lnTo>
                <a:lnTo>
                  <a:pt x="5511709" y="6073509"/>
                </a:lnTo>
                <a:lnTo>
                  <a:pt x="0" y="6073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61142" y="3388015"/>
            <a:ext cx="5092943" cy="690455"/>
            <a:chOff x="0" y="0"/>
            <a:chExt cx="3072935" cy="4166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72935" cy="416601"/>
            </a:xfrm>
            <a:custGeom>
              <a:avLst/>
              <a:gdLst/>
              <a:ahLst/>
              <a:cxnLst/>
              <a:rect r="r" b="b" t="t" l="l"/>
              <a:pathLst>
                <a:path h="416601" w="3072935">
                  <a:moveTo>
                    <a:pt x="0" y="0"/>
                  </a:moveTo>
                  <a:lnTo>
                    <a:pt x="3072935" y="0"/>
                  </a:lnTo>
                  <a:lnTo>
                    <a:pt x="3072935" y="416601"/>
                  </a:lnTo>
                  <a:lnTo>
                    <a:pt x="0" y="4166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8FA4E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072935" cy="454701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rot="0">
            <a:off x="4685193" y="3303019"/>
            <a:ext cx="4471994" cy="915601"/>
          </a:xfrm>
          <a:prstGeom prst="rect">
            <a:avLst/>
          </a:prstGeom>
          <a:solidFill>
            <a:srgbClr val="D11F2B"/>
          </a:solidFill>
        </p:spPr>
      </p:sp>
      <p:grpSp>
        <p:nvGrpSpPr>
          <p:cNvPr name="Group 7" id="7"/>
          <p:cNvGrpSpPr/>
          <p:nvPr/>
        </p:nvGrpSpPr>
        <p:grpSpPr>
          <a:xfrm rot="0">
            <a:off x="4361142" y="6858035"/>
            <a:ext cx="5092943" cy="690455"/>
            <a:chOff x="0" y="0"/>
            <a:chExt cx="3072935" cy="4166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72935" cy="416601"/>
            </a:xfrm>
            <a:custGeom>
              <a:avLst/>
              <a:gdLst/>
              <a:ahLst/>
              <a:cxnLst/>
              <a:rect r="r" b="b" t="t" l="l"/>
              <a:pathLst>
                <a:path h="416601" w="3072935">
                  <a:moveTo>
                    <a:pt x="0" y="0"/>
                  </a:moveTo>
                  <a:lnTo>
                    <a:pt x="3072935" y="0"/>
                  </a:lnTo>
                  <a:lnTo>
                    <a:pt x="3072935" y="416601"/>
                  </a:lnTo>
                  <a:lnTo>
                    <a:pt x="0" y="4166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8FA4E1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072935" cy="454701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 rot="0">
            <a:off x="4685193" y="6745462"/>
            <a:ext cx="4471994" cy="915601"/>
          </a:xfrm>
          <a:prstGeom prst="rect">
            <a:avLst/>
          </a:prstGeom>
          <a:solidFill>
            <a:srgbClr val="D11F2B"/>
          </a:solidFill>
        </p:spPr>
      </p:sp>
      <p:grpSp>
        <p:nvGrpSpPr>
          <p:cNvPr name="Group 11" id="11"/>
          <p:cNvGrpSpPr/>
          <p:nvPr/>
        </p:nvGrpSpPr>
        <p:grpSpPr>
          <a:xfrm rot="0">
            <a:off x="9931847" y="3388015"/>
            <a:ext cx="5092943" cy="690455"/>
            <a:chOff x="0" y="0"/>
            <a:chExt cx="3072935" cy="416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72935" cy="416601"/>
            </a:xfrm>
            <a:custGeom>
              <a:avLst/>
              <a:gdLst/>
              <a:ahLst/>
              <a:cxnLst/>
              <a:rect r="r" b="b" t="t" l="l"/>
              <a:pathLst>
                <a:path h="416601" w="3072935">
                  <a:moveTo>
                    <a:pt x="0" y="0"/>
                  </a:moveTo>
                  <a:lnTo>
                    <a:pt x="3072935" y="0"/>
                  </a:lnTo>
                  <a:lnTo>
                    <a:pt x="3072935" y="416601"/>
                  </a:lnTo>
                  <a:lnTo>
                    <a:pt x="0" y="4166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8FA4E1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072935" cy="454701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 rot="0">
            <a:off x="10410610" y="3269248"/>
            <a:ext cx="4389924" cy="915601"/>
          </a:xfrm>
          <a:prstGeom prst="rect">
            <a:avLst/>
          </a:prstGeom>
          <a:solidFill>
            <a:srgbClr val="D11F2B"/>
          </a:solidFill>
        </p:spPr>
      </p:sp>
      <p:grpSp>
        <p:nvGrpSpPr>
          <p:cNvPr name="Group 15" id="15"/>
          <p:cNvGrpSpPr/>
          <p:nvPr/>
        </p:nvGrpSpPr>
        <p:grpSpPr>
          <a:xfrm rot="0">
            <a:off x="9931847" y="6858035"/>
            <a:ext cx="5092943" cy="690455"/>
            <a:chOff x="0" y="0"/>
            <a:chExt cx="3072935" cy="4166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72935" cy="416601"/>
            </a:xfrm>
            <a:custGeom>
              <a:avLst/>
              <a:gdLst/>
              <a:ahLst/>
              <a:cxnLst/>
              <a:rect r="r" b="b" t="t" l="l"/>
              <a:pathLst>
                <a:path h="416601" w="3072935">
                  <a:moveTo>
                    <a:pt x="0" y="0"/>
                  </a:moveTo>
                  <a:lnTo>
                    <a:pt x="3072935" y="0"/>
                  </a:lnTo>
                  <a:lnTo>
                    <a:pt x="3072935" y="416601"/>
                  </a:lnTo>
                  <a:lnTo>
                    <a:pt x="0" y="4166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8FA4E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072935" cy="454701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 rot="0">
            <a:off x="10365303" y="6745462"/>
            <a:ext cx="4435232" cy="915601"/>
          </a:xfrm>
          <a:prstGeom prst="rect">
            <a:avLst/>
          </a:prstGeom>
          <a:solidFill>
            <a:srgbClr val="D11F2B"/>
          </a:solidFill>
        </p:spPr>
      </p:sp>
      <p:sp>
        <p:nvSpPr>
          <p:cNvPr name="Freeform 19" id="19"/>
          <p:cNvSpPr/>
          <p:nvPr/>
        </p:nvSpPr>
        <p:spPr>
          <a:xfrm flipH="false" flipV="false" rot="0">
            <a:off x="689322" y="2555688"/>
            <a:ext cx="4361142" cy="7603154"/>
          </a:xfrm>
          <a:custGeom>
            <a:avLst/>
            <a:gdLst/>
            <a:ahLst/>
            <a:cxnLst/>
            <a:rect r="r" b="b" t="t" l="l"/>
            <a:pathLst>
              <a:path h="7603154" w="4361142">
                <a:moveTo>
                  <a:pt x="0" y="0"/>
                </a:moveTo>
                <a:lnTo>
                  <a:pt x="4361142" y="0"/>
                </a:lnTo>
                <a:lnTo>
                  <a:pt x="4361142" y="7603154"/>
                </a:lnTo>
                <a:lnTo>
                  <a:pt x="0" y="76031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768186" y="601642"/>
            <a:ext cx="13002493" cy="203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25"/>
              </a:lnSpc>
            </a:pPr>
            <a:r>
              <a:rPr lang="en-US" b="true" sz="7076">
                <a:solidFill>
                  <a:srgbClr val="405359"/>
                </a:solidFill>
                <a:latin typeface="Nunito Bold"/>
                <a:ea typeface="Nunito Bold"/>
                <a:cs typeface="Nunito Bold"/>
                <a:sym typeface="Nunito Bold"/>
              </a:rPr>
              <a:t>Características de Hardware para Prevenir Ataques Físicos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39905" y="4441581"/>
            <a:ext cx="4135417" cy="1673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8"/>
              </a:lnSpc>
            </a:pPr>
            <a:r>
              <a:rPr lang="en-US" sz="2363">
                <a:solidFill>
                  <a:srgbClr val="D45360"/>
                </a:solidFill>
                <a:latin typeface="Quicksand"/>
                <a:ea typeface="Quicksand"/>
                <a:cs typeface="Quicksand"/>
                <a:sym typeface="Quicksand"/>
              </a:rPr>
              <a:t> Utilizar materiales y diseños que dificulten la inspección y manipulación física del hardware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671616" y="3432990"/>
            <a:ext cx="4471994" cy="61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9"/>
              </a:lnSpc>
            </a:pPr>
            <a:r>
              <a:rPr lang="en-US" b="true" sz="3847" spc="-84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BLINDAJE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839905" y="7911600"/>
            <a:ext cx="4135417" cy="1254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8"/>
              </a:lnSpc>
            </a:pPr>
            <a:r>
              <a:rPr lang="en-US" sz="2363">
                <a:solidFill>
                  <a:srgbClr val="D45360"/>
                </a:solidFill>
                <a:latin typeface="Quicksand"/>
                <a:ea typeface="Quicksand"/>
                <a:cs typeface="Quicksand"/>
                <a:sym typeface="Quicksand"/>
              </a:rPr>
              <a:t>Restringir y bloquear el acceso a puertos de comunicación y depuración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71616" y="6925898"/>
            <a:ext cx="4471994" cy="453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7"/>
              </a:lnSpc>
            </a:pPr>
            <a:r>
              <a:rPr lang="en-US" b="true" sz="2747" spc="-6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BLOQUEO DE PUERTOS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10610" y="4451106"/>
            <a:ext cx="4135417" cy="132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88"/>
              </a:lnSpc>
            </a:pPr>
            <a:r>
              <a:rPr lang="en-US" sz="2563">
                <a:solidFill>
                  <a:srgbClr val="D45360"/>
                </a:solidFill>
                <a:latin typeface="Quicksand"/>
                <a:ea typeface="Quicksand"/>
                <a:cs typeface="Quicksand"/>
                <a:sym typeface="Quicksand"/>
              </a:rPr>
              <a:t>Incorporar sensores que detecten intentos de apertura o alteración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530323" y="3522051"/>
            <a:ext cx="4270212" cy="43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7"/>
              </a:lnSpc>
            </a:pPr>
            <a:r>
              <a:rPr lang="en-US" b="true" sz="2665" spc="-58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DETECCIÓN DE INTRUSIÓN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10610" y="7921125"/>
            <a:ext cx="4858545" cy="1190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8"/>
              </a:lnSpc>
            </a:pPr>
            <a:r>
              <a:rPr lang="en-US" sz="2263">
                <a:solidFill>
                  <a:srgbClr val="D45360"/>
                </a:solidFill>
                <a:latin typeface="Quicksand"/>
                <a:ea typeface="Quicksand"/>
                <a:cs typeface="Quicksand"/>
                <a:sym typeface="Quicksand"/>
              </a:rPr>
              <a:t> Registrar y monitorear la actividad física del dispositivo para detectar comportamientos sospechosos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146220" y="6945904"/>
            <a:ext cx="4878570" cy="443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1"/>
              </a:lnSpc>
            </a:pPr>
            <a:r>
              <a:rPr lang="en-US" b="true" sz="2690" spc="-59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MONITOREO DE ACTIVIDAD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75B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2495391" y="5349324"/>
            <a:ext cx="5511709" cy="6073509"/>
          </a:xfrm>
          <a:custGeom>
            <a:avLst/>
            <a:gdLst/>
            <a:ahLst/>
            <a:cxnLst/>
            <a:rect r="r" b="b" t="t" l="l"/>
            <a:pathLst>
              <a:path h="6073509" w="5511709">
                <a:moveTo>
                  <a:pt x="0" y="0"/>
                </a:moveTo>
                <a:lnTo>
                  <a:pt x="5511709" y="0"/>
                </a:lnTo>
                <a:lnTo>
                  <a:pt x="5511709" y="6073509"/>
                </a:lnTo>
                <a:lnTo>
                  <a:pt x="0" y="6073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6237">
            <a:off x="3450495" y="2410994"/>
            <a:ext cx="3198398" cy="4208418"/>
          </a:xfrm>
          <a:custGeom>
            <a:avLst/>
            <a:gdLst/>
            <a:ahLst/>
            <a:cxnLst/>
            <a:rect r="r" b="b" t="t" l="l"/>
            <a:pathLst>
              <a:path h="4208418" w="3198398">
                <a:moveTo>
                  <a:pt x="0" y="0"/>
                </a:moveTo>
                <a:lnTo>
                  <a:pt x="3198398" y="0"/>
                </a:lnTo>
                <a:lnTo>
                  <a:pt x="3198398" y="4208418"/>
                </a:lnTo>
                <a:lnTo>
                  <a:pt x="0" y="4208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336237">
            <a:off x="7956746" y="2464517"/>
            <a:ext cx="3198398" cy="4208418"/>
          </a:xfrm>
          <a:custGeom>
            <a:avLst/>
            <a:gdLst/>
            <a:ahLst/>
            <a:cxnLst/>
            <a:rect r="r" b="b" t="t" l="l"/>
            <a:pathLst>
              <a:path h="4208418" w="3198398">
                <a:moveTo>
                  <a:pt x="0" y="0"/>
                </a:moveTo>
                <a:lnTo>
                  <a:pt x="3198398" y="0"/>
                </a:lnTo>
                <a:lnTo>
                  <a:pt x="3198398" y="4208418"/>
                </a:lnTo>
                <a:lnTo>
                  <a:pt x="0" y="4208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336237">
            <a:off x="5253759" y="5555133"/>
            <a:ext cx="3584347" cy="4716246"/>
          </a:xfrm>
          <a:custGeom>
            <a:avLst/>
            <a:gdLst/>
            <a:ahLst/>
            <a:cxnLst/>
            <a:rect r="r" b="b" t="t" l="l"/>
            <a:pathLst>
              <a:path h="4716246" w="3584347">
                <a:moveTo>
                  <a:pt x="0" y="0"/>
                </a:moveTo>
                <a:lnTo>
                  <a:pt x="3584347" y="0"/>
                </a:lnTo>
                <a:lnTo>
                  <a:pt x="3584347" y="4716246"/>
                </a:lnTo>
                <a:lnTo>
                  <a:pt x="0" y="4716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12605" y="2770209"/>
            <a:ext cx="1814918" cy="1230844"/>
          </a:xfrm>
          <a:custGeom>
            <a:avLst/>
            <a:gdLst/>
            <a:ahLst/>
            <a:cxnLst/>
            <a:rect r="r" b="b" t="t" l="l"/>
            <a:pathLst>
              <a:path h="1230844" w="1814918">
                <a:moveTo>
                  <a:pt x="0" y="0"/>
                </a:moveTo>
                <a:lnTo>
                  <a:pt x="1814918" y="0"/>
                </a:lnTo>
                <a:lnTo>
                  <a:pt x="1814918" y="1230844"/>
                </a:lnTo>
                <a:lnTo>
                  <a:pt x="0" y="1230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34177" y="2930776"/>
            <a:ext cx="1814918" cy="1230844"/>
          </a:xfrm>
          <a:custGeom>
            <a:avLst/>
            <a:gdLst/>
            <a:ahLst/>
            <a:cxnLst/>
            <a:rect r="r" b="b" t="t" l="l"/>
            <a:pathLst>
              <a:path h="1230844" w="1814918">
                <a:moveTo>
                  <a:pt x="0" y="0"/>
                </a:moveTo>
                <a:lnTo>
                  <a:pt x="1814917" y="0"/>
                </a:lnTo>
                <a:lnTo>
                  <a:pt x="1814917" y="1230844"/>
                </a:lnTo>
                <a:lnTo>
                  <a:pt x="0" y="1230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353838" y="6077656"/>
            <a:ext cx="2033923" cy="1379370"/>
          </a:xfrm>
          <a:custGeom>
            <a:avLst/>
            <a:gdLst/>
            <a:ahLst/>
            <a:cxnLst/>
            <a:rect r="r" b="b" t="t" l="l"/>
            <a:pathLst>
              <a:path h="1379370" w="2033923">
                <a:moveTo>
                  <a:pt x="0" y="0"/>
                </a:moveTo>
                <a:lnTo>
                  <a:pt x="2033923" y="0"/>
                </a:lnTo>
                <a:lnTo>
                  <a:pt x="2033923" y="1379369"/>
                </a:lnTo>
                <a:lnTo>
                  <a:pt x="0" y="13793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727552" y="2593112"/>
            <a:ext cx="5009043" cy="7028192"/>
          </a:xfrm>
          <a:custGeom>
            <a:avLst/>
            <a:gdLst/>
            <a:ahLst/>
            <a:cxnLst/>
            <a:rect r="r" b="b" t="t" l="l"/>
            <a:pathLst>
              <a:path h="7028192" w="5009043">
                <a:moveTo>
                  <a:pt x="0" y="0"/>
                </a:moveTo>
                <a:lnTo>
                  <a:pt x="5009042" y="0"/>
                </a:lnTo>
                <a:lnTo>
                  <a:pt x="5009042" y="7028192"/>
                </a:lnTo>
                <a:lnTo>
                  <a:pt x="0" y="70281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26633" y="1208982"/>
            <a:ext cx="11482334" cy="1014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</a:pPr>
            <a:r>
              <a:rPr lang="en-US" b="true" sz="7000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Téc</a:t>
            </a:r>
            <a:r>
              <a:rPr lang="en-US" b="true" sz="7000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nicas de Encriptación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69211" y="3042298"/>
            <a:ext cx="1501706" cy="818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5"/>
              </a:lnSpc>
            </a:pPr>
            <a:r>
              <a:rPr lang="en-US" sz="5806" spc="13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90783" y="3215637"/>
            <a:ext cx="1501706" cy="818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5"/>
              </a:lnSpc>
            </a:pPr>
            <a:r>
              <a:rPr lang="en-US" sz="5806" spc="13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29341" y="6402404"/>
            <a:ext cx="1682916" cy="931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3"/>
              </a:lnSpc>
            </a:pPr>
            <a:r>
              <a:rPr lang="en-US" sz="6507" spc="156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69211" y="3986861"/>
            <a:ext cx="2926480" cy="175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05359"/>
                </a:solidFill>
                <a:latin typeface="Quicksand"/>
                <a:ea typeface="Quicksand"/>
                <a:cs typeface="Quicksand"/>
                <a:sym typeface="Quicksand"/>
              </a:rPr>
              <a:t>U</a:t>
            </a:r>
            <a:r>
              <a:rPr lang="en-US" sz="2000">
                <a:solidFill>
                  <a:srgbClr val="405359"/>
                </a:solidFill>
                <a:latin typeface="Quicksand"/>
                <a:ea typeface="Quicksand"/>
                <a:cs typeface="Quicksand"/>
                <a:sym typeface="Quicksand"/>
              </a:rPr>
              <a:t>tilizar algoritmos criptográficos robustos para proteger la confidencialidad de los datos almacenados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16645" y="4097632"/>
            <a:ext cx="3028779" cy="187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405359"/>
                </a:solidFill>
                <a:latin typeface="Quicksand"/>
                <a:ea typeface="Quicksand"/>
                <a:cs typeface="Quicksand"/>
                <a:sym typeface="Quicksand"/>
              </a:rPr>
              <a:t>Impl</a:t>
            </a:r>
            <a:r>
              <a:rPr lang="en-US" sz="1800">
                <a:solidFill>
                  <a:srgbClr val="405359"/>
                </a:solidFill>
                <a:latin typeface="Quicksand"/>
                <a:ea typeface="Quicksand"/>
                <a:cs typeface="Quicksand"/>
                <a:sym typeface="Quicksand"/>
              </a:rPr>
              <a:t>ementar mecanismos de firma digital y verificación de integridad para asegurar la autenticidad del software instalado.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27523" y="7541717"/>
            <a:ext cx="3714113" cy="152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186">
                <a:solidFill>
                  <a:srgbClr val="405359"/>
                </a:solidFill>
                <a:latin typeface="Quicksand"/>
                <a:ea typeface="Quicksand"/>
                <a:cs typeface="Quicksand"/>
                <a:sym typeface="Quicksand"/>
              </a:rPr>
              <a:t>Establec</a:t>
            </a:r>
            <a:r>
              <a:rPr lang="en-US" sz="2186">
                <a:solidFill>
                  <a:srgbClr val="405359"/>
                </a:solidFill>
                <a:latin typeface="Quicksand"/>
                <a:ea typeface="Quicksand"/>
                <a:cs typeface="Quicksand"/>
                <a:sym typeface="Quicksand"/>
              </a:rPr>
              <a:t>er procesos seguros para la generación, almacenamiento y rotación de claves criptográficas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63355" y="2930776"/>
            <a:ext cx="2248903" cy="86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sz="2848" spc="85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2848" spc="85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ncriptación de Datos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93920" y="3260410"/>
            <a:ext cx="3154732" cy="53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sz="3500" spc="105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Aute</a:t>
            </a:r>
            <a:r>
              <a:rPr lang="en-US" sz="3500" spc="105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nticación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83893" y="6345254"/>
            <a:ext cx="2747141" cy="83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86"/>
              </a:lnSpc>
            </a:pPr>
            <a:r>
              <a:rPr lang="en-US" sz="2739" spc="82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Admi</a:t>
            </a:r>
            <a:r>
              <a:rPr lang="en-US" sz="2739" spc="82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nistración de Claves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53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813601" y="7573657"/>
            <a:ext cx="3510249" cy="1085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500" spc="105">
                <a:solidFill>
                  <a:srgbClr val="405359"/>
                </a:solidFill>
                <a:latin typeface="Questrial"/>
                <a:ea typeface="Questrial"/>
                <a:cs typeface="Questrial"/>
                <a:sym typeface="Questrial"/>
              </a:rPr>
              <a:t> Monitoreo y Respuesta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5400000">
            <a:off x="12635351" y="4494391"/>
            <a:ext cx="5511709" cy="6073509"/>
          </a:xfrm>
          <a:custGeom>
            <a:avLst/>
            <a:gdLst/>
            <a:ahLst/>
            <a:cxnLst/>
            <a:rect r="r" b="b" t="t" l="l"/>
            <a:pathLst>
              <a:path h="6073509" w="5511709">
                <a:moveTo>
                  <a:pt x="0" y="0"/>
                </a:moveTo>
                <a:lnTo>
                  <a:pt x="5511709" y="0"/>
                </a:lnTo>
                <a:lnTo>
                  <a:pt x="5511709" y="6073509"/>
                </a:lnTo>
                <a:lnTo>
                  <a:pt x="0" y="6073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7314" y="2538729"/>
            <a:ext cx="4910762" cy="7544809"/>
          </a:xfrm>
          <a:custGeom>
            <a:avLst/>
            <a:gdLst/>
            <a:ahLst/>
            <a:cxnLst/>
            <a:rect r="r" b="b" t="t" l="l"/>
            <a:pathLst>
              <a:path h="7544809" w="4910762">
                <a:moveTo>
                  <a:pt x="0" y="0"/>
                </a:moveTo>
                <a:lnTo>
                  <a:pt x="4910762" y="0"/>
                </a:lnTo>
                <a:lnTo>
                  <a:pt x="4910762" y="7544809"/>
                </a:lnTo>
                <a:lnTo>
                  <a:pt x="0" y="75448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71590" y="2502689"/>
            <a:ext cx="2786050" cy="2786050"/>
          </a:xfrm>
          <a:custGeom>
            <a:avLst/>
            <a:gdLst/>
            <a:ahLst/>
            <a:cxnLst/>
            <a:rect r="r" b="b" t="t" l="l"/>
            <a:pathLst>
              <a:path h="2786050" w="2786050">
                <a:moveTo>
                  <a:pt x="0" y="0"/>
                </a:moveTo>
                <a:lnTo>
                  <a:pt x="2786050" y="0"/>
                </a:lnTo>
                <a:lnTo>
                  <a:pt x="2786050" y="2786049"/>
                </a:lnTo>
                <a:lnTo>
                  <a:pt x="0" y="2786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17531" y="2264113"/>
            <a:ext cx="3024625" cy="3024625"/>
          </a:xfrm>
          <a:custGeom>
            <a:avLst/>
            <a:gdLst/>
            <a:ahLst/>
            <a:cxnLst/>
            <a:rect r="r" b="b" t="t" l="l"/>
            <a:pathLst>
              <a:path h="3024625" w="3024625">
                <a:moveTo>
                  <a:pt x="0" y="0"/>
                </a:moveTo>
                <a:lnTo>
                  <a:pt x="3024625" y="0"/>
                </a:lnTo>
                <a:lnTo>
                  <a:pt x="3024625" y="3024625"/>
                </a:lnTo>
                <a:lnTo>
                  <a:pt x="0" y="30246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41142" y="2388863"/>
            <a:ext cx="3083473" cy="2775125"/>
          </a:xfrm>
          <a:custGeom>
            <a:avLst/>
            <a:gdLst/>
            <a:ahLst/>
            <a:cxnLst/>
            <a:rect r="r" b="b" t="t" l="l"/>
            <a:pathLst>
              <a:path h="2775125" w="3083473">
                <a:moveTo>
                  <a:pt x="0" y="0"/>
                </a:moveTo>
                <a:lnTo>
                  <a:pt x="3083473" y="0"/>
                </a:lnTo>
                <a:lnTo>
                  <a:pt x="3083473" y="2775126"/>
                </a:lnTo>
                <a:lnTo>
                  <a:pt x="0" y="27751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440805" y="7573657"/>
            <a:ext cx="3510249" cy="5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sz="3500" spc="105">
                <a:solidFill>
                  <a:srgbClr val="405359"/>
                </a:solidFill>
                <a:latin typeface="Questrial"/>
                <a:ea typeface="Questrial"/>
                <a:cs typeface="Questrial"/>
                <a:sym typeface="Questrial"/>
              </a:rPr>
              <a:t>Diseño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31816" y="7573657"/>
            <a:ext cx="3510249" cy="1085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500" spc="105">
                <a:solidFill>
                  <a:srgbClr val="405359"/>
                </a:solidFill>
                <a:latin typeface="Questrial"/>
                <a:ea typeface="Questrial"/>
                <a:cs typeface="Questrial"/>
                <a:sym typeface="Questrial"/>
              </a:rPr>
              <a:t>Actualizaciones Constantes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80766" y="5571541"/>
            <a:ext cx="3510249" cy="1857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Ap</a:t>
            </a:r>
            <a:r>
              <a:rPr lang="en-US" sz="2499" u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licar principios de seguridad desde el diseño de los dispositivos IoT para minimizar riesgos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78256" y="1205746"/>
            <a:ext cx="11482334" cy="1014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</a:pPr>
            <a:r>
              <a:rPr lang="en-US" b="true" sz="7000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Seguridad en Sistemas IoT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31816" y="5478134"/>
            <a:ext cx="3510249" cy="1857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Mantene</a:t>
            </a:r>
            <a:r>
              <a:rPr lang="en-US" sz="2499" u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r los sistemas IoT actualizados con parches de seguridad para mitigar nuevas amenazas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13601" y="5570068"/>
            <a:ext cx="3510249" cy="1857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Implementar sis</a:t>
            </a:r>
            <a:r>
              <a:rPr lang="en-US" sz="2499" u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temas de monitoreo y respuesta ante incidentes de seguridad en tiempo real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77834" y="4314879"/>
            <a:ext cx="2770127" cy="4572894"/>
            <a:chOff x="0" y="0"/>
            <a:chExt cx="833739" cy="1376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3739" cy="1376327"/>
            </a:xfrm>
            <a:custGeom>
              <a:avLst/>
              <a:gdLst/>
              <a:ahLst/>
              <a:cxnLst/>
              <a:rect r="r" b="b" t="t" l="l"/>
              <a:pathLst>
                <a:path h="1376327" w="833739">
                  <a:moveTo>
                    <a:pt x="55896" y="0"/>
                  </a:moveTo>
                  <a:lnTo>
                    <a:pt x="777843" y="0"/>
                  </a:lnTo>
                  <a:cubicBezTo>
                    <a:pt x="792668" y="0"/>
                    <a:pt x="806885" y="5889"/>
                    <a:pt x="817368" y="16371"/>
                  </a:cubicBezTo>
                  <a:cubicBezTo>
                    <a:pt x="827850" y="26854"/>
                    <a:pt x="833739" y="41071"/>
                    <a:pt x="833739" y="55896"/>
                  </a:cubicBezTo>
                  <a:lnTo>
                    <a:pt x="833739" y="1320431"/>
                  </a:lnTo>
                  <a:cubicBezTo>
                    <a:pt x="833739" y="1351302"/>
                    <a:pt x="808714" y="1376327"/>
                    <a:pt x="777843" y="1376327"/>
                  </a:cubicBezTo>
                  <a:lnTo>
                    <a:pt x="55896" y="1376327"/>
                  </a:lnTo>
                  <a:cubicBezTo>
                    <a:pt x="41071" y="1376327"/>
                    <a:pt x="26854" y="1370438"/>
                    <a:pt x="16371" y="1359955"/>
                  </a:cubicBezTo>
                  <a:cubicBezTo>
                    <a:pt x="5889" y="1349473"/>
                    <a:pt x="0" y="1335256"/>
                    <a:pt x="0" y="1320431"/>
                  </a:cubicBezTo>
                  <a:lnTo>
                    <a:pt x="0" y="55896"/>
                  </a:lnTo>
                  <a:cubicBezTo>
                    <a:pt x="0" y="41071"/>
                    <a:pt x="5889" y="26854"/>
                    <a:pt x="16371" y="16371"/>
                  </a:cubicBezTo>
                  <a:cubicBezTo>
                    <a:pt x="26854" y="5889"/>
                    <a:pt x="41071" y="0"/>
                    <a:pt x="55896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27374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33739" cy="1404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036516" y="4118299"/>
            <a:ext cx="2852761" cy="865619"/>
            <a:chOff x="0" y="0"/>
            <a:chExt cx="858610" cy="260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8610" cy="260530"/>
            </a:xfrm>
            <a:custGeom>
              <a:avLst/>
              <a:gdLst/>
              <a:ahLst/>
              <a:cxnLst/>
              <a:rect r="r" b="b" t="t" l="l"/>
              <a:pathLst>
                <a:path h="260530" w="858610">
                  <a:moveTo>
                    <a:pt x="40708" y="0"/>
                  </a:moveTo>
                  <a:lnTo>
                    <a:pt x="817902" y="0"/>
                  </a:lnTo>
                  <a:cubicBezTo>
                    <a:pt x="828699" y="0"/>
                    <a:pt x="839053" y="4289"/>
                    <a:pt x="846687" y="11923"/>
                  </a:cubicBezTo>
                  <a:cubicBezTo>
                    <a:pt x="854321" y="19557"/>
                    <a:pt x="858610" y="29911"/>
                    <a:pt x="858610" y="40708"/>
                  </a:cubicBezTo>
                  <a:lnTo>
                    <a:pt x="858610" y="219822"/>
                  </a:lnTo>
                  <a:cubicBezTo>
                    <a:pt x="858610" y="230618"/>
                    <a:pt x="854321" y="240972"/>
                    <a:pt x="846687" y="248607"/>
                  </a:cubicBezTo>
                  <a:cubicBezTo>
                    <a:pt x="839053" y="256241"/>
                    <a:pt x="828699" y="260530"/>
                    <a:pt x="817902" y="260530"/>
                  </a:cubicBezTo>
                  <a:lnTo>
                    <a:pt x="40708" y="260530"/>
                  </a:lnTo>
                  <a:cubicBezTo>
                    <a:pt x="29911" y="260530"/>
                    <a:pt x="19557" y="256241"/>
                    <a:pt x="11923" y="248607"/>
                  </a:cubicBezTo>
                  <a:cubicBezTo>
                    <a:pt x="4289" y="240972"/>
                    <a:pt x="0" y="230618"/>
                    <a:pt x="0" y="219822"/>
                  </a:cubicBezTo>
                  <a:lnTo>
                    <a:pt x="0" y="40708"/>
                  </a:lnTo>
                  <a:cubicBezTo>
                    <a:pt x="0" y="29911"/>
                    <a:pt x="4289" y="19557"/>
                    <a:pt x="11923" y="11923"/>
                  </a:cubicBezTo>
                  <a:cubicBezTo>
                    <a:pt x="19557" y="4289"/>
                    <a:pt x="29911" y="0"/>
                    <a:pt x="40708" y="0"/>
                  </a:cubicBezTo>
                  <a:close/>
                </a:path>
              </a:pathLst>
            </a:custGeom>
            <a:solidFill>
              <a:srgbClr val="4053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58610" cy="289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81351" y="4314879"/>
            <a:ext cx="2770127" cy="4572894"/>
            <a:chOff x="0" y="0"/>
            <a:chExt cx="833739" cy="13763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33739" cy="1376327"/>
            </a:xfrm>
            <a:custGeom>
              <a:avLst/>
              <a:gdLst/>
              <a:ahLst/>
              <a:cxnLst/>
              <a:rect r="r" b="b" t="t" l="l"/>
              <a:pathLst>
                <a:path h="1376327" w="833739">
                  <a:moveTo>
                    <a:pt x="55896" y="0"/>
                  </a:moveTo>
                  <a:lnTo>
                    <a:pt x="777843" y="0"/>
                  </a:lnTo>
                  <a:cubicBezTo>
                    <a:pt x="792668" y="0"/>
                    <a:pt x="806885" y="5889"/>
                    <a:pt x="817368" y="16371"/>
                  </a:cubicBezTo>
                  <a:cubicBezTo>
                    <a:pt x="827850" y="26854"/>
                    <a:pt x="833739" y="41071"/>
                    <a:pt x="833739" y="55896"/>
                  </a:cubicBezTo>
                  <a:lnTo>
                    <a:pt x="833739" y="1320431"/>
                  </a:lnTo>
                  <a:cubicBezTo>
                    <a:pt x="833739" y="1351302"/>
                    <a:pt x="808714" y="1376327"/>
                    <a:pt x="777843" y="1376327"/>
                  </a:cubicBezTo>
                  <a:lnTo>
                    <a:pt x="55896" y="1376327"/>
                  </a:lnTo>
                  <a:cubicBezTo>
                    <a:pt x="41071" y="1376327"/>
                    <a:pt x="26854" y="1370438"/>
                    <a:pt x="16371" y="1359955"/>
                  </a:cubicBezTo>
                  <a:cubicBezTo>
                    <a:pt x="5889" y="1349473"/>
                    <a:pt x="0" y="1335256"/>
                    <a:pt x="0" y="1320431"/>
                  </a:cubicBezTo>
                  <a:lnTo>
                    <a:pt x="0" y="55896"/>
                  </a:lnTo>
                  <a:cubicBezTo>
                    <a:pt x="0" y="41071"/>
                    <a:pt x="5889" y="26854"/>
                    <a:pt x="16371" y="16371"/>
                  </a:cubicBezTo>
                  <a:cubicBezTo>
                    <a:pt x="26854" y="5889"/>
                    <a:pt x="41071" y="0"/>
                    <a:pt x="55896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273749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833739" cy="1404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040033" y="4118299"/>
            <a:ext cx="2852761" cy="865619"/>
            <a:chOff x="0" y="0"/>
            <a:chExt cx="858610" cy="2605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8610" cy="260530"/>
            </a:xfrm>
            <a:custGeom>
              <a:avLst/>
              <a:gdLst/>
              <a:ahLst/>
              <a:cxnLst/>
              <a:rect r="r" b="b" t="t" l="l"/>
              <a:pathLst>
                <a:path h="260530" w="858610">
                  <a:moveTo>
                    <a:pt x="40708" y="0"/>
                  </a:moveTo>
                  <a:lnTo>
                    <a:pt x="817902" y="0"/>
                  </a:lnTo>
                  <a:cubicBezTo>
                    <a:pt x="828699" y="0"/>
                    <a:pt x="839053" y="4289"/>
                    <a:pt x="846687" y="11923"/>
                  </a:cubicBezTo>
                  <a:cubicBezTo>
                    <a:pt x="854321" y="19557"/>
                    <a:pt x="858610" y="29911"/>
                    <a:pt x="858610" y="40708"/>
                  </a:cubicBezTo>
                  <a:lnTo>
                    <a:pt x="858610" y="219822"/>
                  </a:lnTo>
                  <a:cubicBezTo>
                    <a:pt x="858610" y="230618"/>
                    <a:pt x="854321" y="240972"/>
                    <a:pt x="846687" y="248607"/>
                  </a:cubicBezTo>
                  <a:cubicBezTo>
                    <a:pt x="839053" y="256241"/>
                    <a:pt x="828699" y="260530"/>
                    <a:pt x="817902" y="260530"/>
                  </a:cubicBezTo>
                  <a:lnTo>
                    <a:pt x="40708" y="260530"/>
                  </a:lnTo>
                  <a:cubicBezTo>
                    <a:pt x="29911" y="260530"/>
                    <a:pt x="19557" y="256241"/>
                    <a:pt x="11923" y="248607"/>
                  </a:cubicBezTo>
                  <a:cubicBezTo>
                    <a:pt x="4289" y="240972"/>
                    <a:pt x="0" y="230618"/>
                    <a:pt x="0" y="219822"/>
                  </a:cubicBezTo>
                  <a:lnTo>
                    <a:pt x="0" y="40708"/>
                  </a:lnTo>
                  <a:cubicBezTo>
                    <a:pt x="0" y="29911"/>
                    <a:pt x="4289" y="19557"/>
                    <a:pt x="11923" y="11923"/>
                  </a:cubicBezTo>
                  <a:cubicBezTo>
                    <a:pt x="19557" y="4289"/>
                    <a:pt x="29911" y="0"/>
                    <a:pt x="40708" y="0"/>
                  </a:cubicBezTo>
                  <a:close/>
                </a:path>
              </a:pathLst>
            </a:custGeom>
            <a:solidFill>
              <a:srgbClr val="40535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858610" cy="289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084868" y="4314879"/>
            <a:ext cx="2770127" cy="4572894"/>
            <a:chOff x="0" y="0"/>
            <a:chExt cx="833739" cy="13763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33739" cy="1376327"/>
            </a:xfrm>
            <a:custGeom>
              <a:avLst/>
              <a:gdLst/>
              <a:ahLst/>
              <a:cxnLst/>
              <a:rect r="r" b="b" t="t" l="l"/>
              <a:pathLst>
                <a:path h="1376327" w="833739">
                  <a:moveTo>
                    <a:pt x="55896" y="0"/>
                  </a:moveTo>
                  <a:lnTo>
                    <a:pt x="777843" y="0"/>
                  </a:lnTo>
                  <a:cubicBezTo>
                    <a:pt x="792668" y="0"/>
                    <a:pt x="806885" y="5889"/>
                    <a:pt x="817368" y="16371"/>
                  </a:cubicBezTo>
                  <a:cubicBezTo>
                    <a:pt x="827850" y="26854"/>
                    <a:pt x="833739" y="41071"/>
                    <a:pt x="833739" y="55896"/>
                  </a:cubicBezTo>
                  <a:lnTo>
                    <a:pt x="833739" y="1320431"/>
                  </a:lnTo>
                  <a:cubicBezTo>
                    <a:pt x="833739" y="1351302"/>
                    <a:pt x="808714" y="1376327"/>
                    <a:pt x="777843" y="1376327"/>
                  </a:cubicBezTo>
                  <a:lnTo>
                    <a:pt x="55896" y="1376327"/>
                  </a:lnTo>
                  <a:cubicBezTo>
                    <a:pt x="41071" y="1376327"/>
                    <a:pt x="26854" y="1370438"/>
                    <a:pt x="16371" y="1359955"/>
                  </a:cubicBezTo>
                  <a:cubicBezTo>
                    <a:pt x="5889" y="1349473"/>
                    <a:pt x="0" y="1335256"/>
                    <a:pt x="0" y="1320431"/>
                  </a:cubicBezTo>
                  <a:lnTo>
                    <a:pt x="0" y="55896"/>
                  </a:lnTo>
                  <a:cubicBezTo>
                    <a:pt x="0" y="41071"/>
                    <a:pt x="5889" y="26854"/>
                    <a:pt x="16371" y="16371"/>
                  </a:cubicBezTo>
                  <a:cubicBezTo>
                    <a:pt x="26854" y="5889"/>
                    <a:pt x="41071" y="0"/>
                    <a:pt x="55896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273749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33739" cy="1404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43551" y="4118299"/>
            <a:ext cx="2852761" cy="865619"/>
            <a:chOff x="0" y="0"/>
            <a:chExt cx="858610" cy="2605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8610" cy="260530"/>
            </a:xfrm>
            <a:custGeom>
              <a:avLst/>
              <a:gdLst/>
              <a:ahLst/>
              <a:cxnLst/>
              <a:rect r="r" b="b" t="t" l="l"/>
              <a:pathLst>
                <a:path h="260530" w="858610">
                  <a:moveTo>
                    <a:pt x="40708" y="0"/>
                  </a:moveTo>
                  <a:lnTo>
                    <a:pt x="817902" y="0"/>
                  </a:lnTo>
                  <a:cubicBezTo>
                    <a:pt x="828699" y="0"/>
                    <a:pt x="839053" y="4289"/>
                    <a:pt x="846687" y="11923"/>
                  </a:cubicBezTo>
                  <a:cubicBezTo>
                    <a:pt x="854321" y="19557"/>
                    <a:pt x="858610" y="29911"/>
                    <a:pt x="858610" y="40708"/>
                  </a:cubicBezTo>
                  <a:lnTo>
                    <a:pt x="858610" y="219822"/>
                  </a:lnTo>
                  <a:cubicBezTo>
                    <a:pt x="858610" y="230618"/>
                    <a:pt x="854321" y="240972"/>
                    <a:pt x="846687" y="248607"/>
                  </a:cubicBezTo>
                  <a:cubicBezTo>
                    <a:pt x="839053" y="256241"/>
                    <a:pt x="828699" y="260530"/>
                    <a:pt x="817902" y="260530"/>
                  </a:cubicBezTo>
                  <a:lnTo>
                    <a:pt x="40708" y="260530"/>
                  </a:lnTo>
                  <a:cubicBezTo>
                    <a:pt x="29911" y="260530"/>
                    <a:pt x="19557" y="256241"/>
                    <a:pt x="11923" y="248607"/>
                  </a:cubicBezTo>
                  <a:cubicBezTo>
                    <a:pt x="4289" y="240972"/>
                    <a:pt x="0" y="230618"/>
                    <a:pt x="0" y="219822"/>
                  </a:cubicBezTo>
                  <a:lnTo>
                    <a:pt x="0" y="40708"/>
                  </a:lnTo>
                  <a:cubicBezTo>
                    <a:pt x="0" y="29911"/>
                    <a:pt x="4289" y="19557"/>
                    <a:pt x="11923" y="11923"/>
                  </a:cubicBezTo>
                  <a:cubicBezTo>
                    <a:pt x="19557" y="4289"/>
                    <a:pt x="29911" y="0"/>
                    <a:pt x="40708" y="0"/>
                  </a:cubicBezTo>
                  <a:close/>
                </a:path>
              </a:pathLst>
            </a:custGeom>
            <a:solidFill>
              <a:srgbClr val="40535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858610" cy="289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4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088385" y="4314879"/>
            <a:ext cx="2770127" cy="4572894"/>
            <a:chOff x="0" y="0"/>
            <a:chExt cx="833739" cy="13763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33739" cy="1376327"/>
            </a:xfrm>
            <a:custGeom>
              <a:avLst/>
              <a:gdLst/>
              <a:ahLst/>
              <a:cxnLst/>
              <a:rect r="r" b="b" t="t" l="l"/>
              <a:pathLst>
                <a:path h="1376327" w="833739">
                  <a:moveTo>
                    <a:pt x="55896" y="0"/>
                  </a:moveTo>
                  <a:lnTo>
                    <a:pt x="777843" y="0"/>
                  </a:lnTo>
                  <a:cubicBezTo>
                    <a:pt x="792668" y="0"/>
                    <a:pt x="806885" y="5889"/>
                    <a:pt x="817368" y="16371"/>
                  </a:cubicBezTo>
                  <a:cubicBezTo>
                    <a:pt x="827850" y="26854"/>
                    <a:pt x="833739" y="41071"/>
                    <a:pt x="833739" y="55896"/>
                  </a:cubicBezTo>
                  <a:lnTo>
                    <a:pt x="833739" y="1320431"/>
                  </a:lnTo>
                  <a:cubicBezTo>
                    <a:pt x="833739" y="1351302"/>
                    <a:pt x="808714" y="1376327"/>
                    <a:pt x="777843" y="1376327"/>
                  </a:cubicBezTo>
                  <a:lnTo>
                    <a:pt x="55896" y="1376327"/>
                  </a:lnTo>
                  <a:cubicBezTo>
                    <a:pt x="41071" y="1376327"/>
                    <a:pt x="26854" y="1370438"/>
                    <a:pt x="16371" y="1359955"/>
                  </a:cubicBezTo>
                  <a:cubicBezTo>
                    <a:pt x="5889" y="1349473"/>
                    <a:pt x="0" y="1335256"/>
                    <a:pt x="0" y="1320431"/>
                  </a:cubicBezTo>
                  <a:lnTo>
                    <a:pt x="0" y="55896"/>
                  </a:lnTo>
                  <a:cubicBezTo>
                    <a:pt x="0" y="41071"/>
                    <a:pt x="5889" y="26854"/>
                    <a:pt x="16371" y="16371"/>
                  </a:cubicBezTo>
                  <a:cubicBezTo>
                    <a:pt x="26854" y="5889"/>
                    <a:pt x="41071" y="0"/>
                    <a:pt x="55896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273749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833739" cy="1404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4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047068" y="4118299"/>
            <a:ext cx="2852761" cy="865619"/>
            <a:chOff x="0" y="0"/>
            <a:chExt cx="858610" cy="2605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58610" cy="260530"/>
            </a:xfrm>
            <a:custGeom>
              <a:avLst/>
              <a:gdLst/>
              <a:ahLst/>
              <a:cxnLst/>
              <a:rect r="r" b="b" t="t" l="l"/>
              <a:pathLst>
                <a:path h="260530" w="858610">
                  <a:moveTo>
                    <a:pt x="40708" y="0"/>
                  </a:moveTo>
                  <a:lnTo>
                    <a:pt x="817902" y="0"/>
                  </a:lnTo>
                  <a:cubicBezTo>
                    <a:pt x="828699" y="0"/>
                    <a:pt x="839053" y="4289"/>
                    <a:pt x="846687" y="11923"/>
                  </a:cubicBezTo>
                  <a:cubicBezTo>
                    <a:pt x="854321" y="19557"/>
                    <a:pt x="858610" y="29911"/>
                    <a:pt x="858610" y="40708"/>
                  </a:cubicBezTo>
                  <a:lnTo>
                    <a:pt x="858610" y="219822"/>
                  </a:lnTo>
                  <a:cubicBezTo>
                    <a:pt x="858610" y="230618"/>
                    <a:pt x="854321" y="240972"/>
                    <a:pt x="846687" y="248607"/>
                  </a:cubicBezTo>
                  <a:cubicBezTo>
                    <a:pt x="839053" y="256241"/>
                    <a:pt x="828699" y="260530"/>
                    <a:pt x="817902" y="260530"/>
                  </a:cubicBezTo>
                  <a:lnTo>
                    <a:pt x="40708" y="260530"/>
                  </a:lnTo>
                  <a:cubicBezTo>
                    <a:pt x="29911" y="260530"/>
                    <a:pt x="19557" y="256241"/>
                    <a:pt x="11923" y="248607"/>
                  </a:cubicBezTo>
                  <a:cubicBezTo>
                    <a:pt x="4289" y="240972"/>
                    <a:pt x="0" y="230618"/>
                    <a:pt x="0" y="219822"/>
                  </a:cubicBezTo>
                  <a:lnTo>
                    <a:pt x="0" y="40708"/>
                  </a:lnTo>
                  <a:cubicBezTo>
                    <a:pt x="0" y="29911"/>
                    <a:pt x="4289" y="19557"/>
                    <a:pt x="11923" y="11923"/>
                  </a:cubicBezTo>
                  <a:cubicBezTo>
                    <a:pt x="19557" y="4289"/>
                    <a:pt x="29911" y="0"/>
                    <a:pt x="40708" y="0"/>
                  </a:cubicBezTo>
                  <a:close/>
                </a:path>
              </a:pathLst>
            </a:custGeom>
            <a:solidFill>
              <a:srgbClr val="40535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858610" cy="289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4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091902" y="4314879"/>
            <a:ext cx="2770127" cy="4572894"/>
            <a:chOff x="0" y="0"/>
            <a:chExt cx="833739" cy="137632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33739" cy="1376327"/>
            </a:xfrm>
            <a:custGeom>
              <a:avLst/>
              <a:gdLst/>
              <a:ahLst/>
              <a:cxnLst/>
              <a:rect r="r" b="b" t="t" l="l"/>
              <a:pathLst>
                <a:path h="1376327" w="833739">
                  <a:moveTo>
                    <a:pt x="55896" y="0"/>
                  </a:moveTo>
                  <a:lnTo>
                    <a:pt x="777843" y="0"/>
                  </a:lnTo>
                  <a:cubicBezTo>
                    <a:pt x="792668" y="0"/>
                    <a:pt x="806885" y="5889"/>
                    <a:pt x="817368" y="16371"/>
                  </a:cubicBezTo>
                  <a:cubicBezTo>
                    <a:pt x="827850" y="26854"/>
                    <a:pt x="833739" y="41071"/>
                    <a:pt x="833739" y="55896"/>
                  </a:cubicBezTo>
                  <a:lnTo>
                    <a:pt x="833739" y="1320431"/>
                  </a:lnTo>
                  <a:cubicBezTo>
                    <a:pt x="833739" y="1351302"/>
                    <a:pt x="808714" y="1376327"/>
                    <a:pt x="777843" y="1376327"/>
                  </a:cubicBezTo>
                  <a:lnTo>
                    <a:pt x="55896" y="1376327"/>
                  </a:lnTo>
                  <a:cubicBezTo>
                    <a:pt x="41071" y="1376327"/>
                    <a:pt x="26854" y="1370438"/>
                    <a:pt x="16371" y="1359955"/>
                  </a:cubicBezTo>
                  <a:cubicBezTo>
                    <a:pt x="5889" y="1349473"/>
                    <a:pt x="0" y="1335256"/>
                    <a:pt x="0" y="1320431"/>
                  </a:cubicBezTo>
                  <a:lnTo>
                    <a:pt x="0" y="55896"/>
                  </a:lnTo>
                  <a:cubicBezTo>
                    <a:pt x="0" y="41071"/>
                    <a:pt x="5889" y="26854"/>
                    <a:pt x="16371" y="16371"/>
                  </a:cubicBezTo>
                  <a:cubicBezTo>
                    <a:pt x="26854" y="5889"/>
                    <a:pt x="41071" y="0"/>
                    <a:pt x="55896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273749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833739" cy="1404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4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050585" y="4118299"/>
            <a:ext cx="2852761" cy="865619"/>
            <a:chOff x="0" y="0"/>
            <a:chExt cx="858610" cy="26053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58610" cy="260530"/>
            </a:xfrm>
            <a:custGeom>
              <a:avLst/>
              <a:gdLst/>
              <a:ahLst/>
              <a:cxnLst/>
              <a:rect r="r" b="b" t="t" l="l"/>
              <a:pathLst>
                <a:path h="260530" w="858610">
                  <a:moveTo>
                    <a:pt x="40708" y="0"/>
                  </a:moveTo>
                  <a:lnTo>
                    <a:pt x="817902" y="0"/>
                  </a:lnTo>
                  <a:cubicBezTo>
                    <a:pt x="828699" y="0"/>
                    <a:pt x="839053" y="4289"/>
                    <a:pt x="846687" y="11923"/>
                  </a:cubicBezTo>
                  <a:cubicBezTo>
                    <a:pt x="854321" y="19557"/>
                    <a:pt x="858610" y="29911"/>
                    <a:pt x="858610" y="40708"/>
                  </a:cubicBezTo>
                  <a:lnTo>
                    <a:pt x="858610" y="219822"/>
                  </a:lnTo>
                  <a:cubicBezTo>
                    <a:pt x="858610" y="230618"/>
                    <a:pt x="854321" y="240972"/>
                    <a:pt x="846687" y="248607"/>
                  </a:cubicBezTo>
                  <a:cubicBezTo>
                    <a:pt x="839053" y="256241"/>
                    <a:pt x="828699" y="260530"/>
                    <a:pt x="817902" y="260530"/>
                  </a:cubicBezTo>
                  <a:lnTo>
                    <a:pt x="40708" y="260530"/>
                  </a:lnTo>
                  <a:cubicBezTo>
                    <a:pt x="29911" y="260530"/>
                    <a:pt x="19557" y="256241"/>
                    <a:pt x="11923" y="248607"/>
                  </a:cubicBezTo>
                  <a:cubicBezTo>
                    <a:pt x="4289" y="240972"/>
                    <a:pt x="0" y="230618"/>
                    <a:pt x="0" y="219822"/>
                  </a:cubicBezTo>
                  <a:lnTo>
                    <a:pt x="0" y="40708"/>
                  </a:lnTo>
                  <a:cubicBezTo>
                    <a:pt x="0" y="29911"/>
                    <a:pt x="4289" y="19557"/>
                    <a:pt x="11923" y="11923"/>
                  </a:cubicBezTo>
                  <a:cubicBezTo>
                    <a:pt x="19557" y="4289"/>
                    <a:pt x="29911" y="0"/>
                    <a:pt x="40708" y="0"/>
                  </a:cubicBezTo>
                  <a:close/>
                </a:path>
              </a:pathLst>
            </a:custGeom>
            <a:solidFill>
              <a:srgbClr val="40535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858610" cy="289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4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-724186" y="2360885"/>
            <a:ext cx="4625254" cy="7133381"/>
          </a:xfrm>
          <a:custGeom>
            <a:avLst/>
            <a:gdLst/>
            <a:ahLst/>
            <a:cxnLst/>
            <a:rect r="r" b="b" t="t" l="l"/>
            <a:pathLst>
              <a:path h="7133381" w="4625254">
                <a:moveTo>
                  <a:pt x="0" y="0"/>
                </a:moveTo>
                <a:lnTo>
                  <a:pt x="4625254" y="0"/>
                </a:lnTo>
                <a:lnTo>
                  <a:pt x="4625254" y="7133382"/>
                </a:lnTo>
                <a:lnTo>
                  <a:pt x="0" y="71333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3402833" y="975507"/>
            <a:ext cx="11482334" cy="200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</a:pPr>
            <a:r>
              <a:rPr lang="en-US" b="true" sz="7000">
                <a:solidFill>
                  <a:srgbClr val="475B6A"/>
                </a:solidFill>
                <a:latin typeface="Nunito Bold"/>
                <a:ea typeface="Nunito Bold"/>
                <a:cs typeface="Nunito Bold"/>
                <a:sym typeface="Nunito Bold"/>
              </a:rPr>
              <a:t> Conceptos Clave Aprendidos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276522" y="5163013"/>
            <a:ext cx="2377057" cy="303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1872">
                <a:solidFill>
                  <a:srgbClr val="405359"/>
                </a:solidFill>
                <a:latin typeface="Poppins"/>
                <a:ea typeface="Poppins"/>
                <a:cs typeface="Poppins"/>
                <a:sym typeface="Poppins"/>
              </a:rPr>
              <a:t>Uso de </a:t>
            </a:r>
            <a:r>
              <a:rPr lang="en-US" sz="1872">
                <a:solidFill>
                  <a:srgbClr val="405359"/>
                </a:solidFill>
                <a:latin typeface="Poppins"/>
                <a:ea typeface="Poppins"/>
                <a:cs typeface="Poppins"/>
                <a:sym typeface="Poppins"/>
              </a:rPr>
              <a:t>software para probar circuitos electrónicos virtualmente antes de construirlos físicamente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81403" y="5163013"/>
            <a:ext cx="2377057" cy="2598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1872">
                <a:solidFill>
                  <a:srgbClr val="405359"/>
                </a:solidFill>
                <a:latin typeface="Poppins"/>
                <a:ea typeface="Poppins"/>
                <a:cs typeface="Poppins"/>
                <a:sym typeface="Poppins"/>
              </a:rPr>
              <a:t>Software</a:t>
            </a:r>
            <a:r>
              <a:rPr lang="en-US" sz="1872">
                <a:solidFill>
                  <a:srgbClr val="405359"/>
                </a:solidFill>
                <a:latin typeface="Poppins"/>
                <a:ea typeface="Poppins"/>
                <a:cs typeface="Poppins"/>
                <a:sym typeface="Poppins"/>
              </a:rPr>
              <a:t> que permite al sistema operativo comunicarse con el hardware correctamente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343804" y="4214754"/>
            <a:ext cx="2321639" cy="66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</a:pPr>
            <a:r>
              <a:rPr lang="en-US" b="true" sz="187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Componentes electrónicos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287542" y="5163013"/>
            <a:ext cx="2377057" cy="303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1872">
                <a:solidFill>
                  <a:srgbClr val="405359"/>
                </a:solidFill>
                <a:latin typeface="Poppins"/>
                <a:ea typeface="Poppins"/>
                <a:cs typeface="Poppins"/>
                <a:sym typeface="Poppins"/>
              </a:rPr>
              <a:t>Elementos básicos (resistencias, diodos, transistores) que forman los circuitos y controlan el flujo de corriente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277886" y="5163013"/>
            <a:ext cx="2497008" cy="303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1872">
                <a:solidFill>
                  <a:srgbClr val="405359"/>
                </a:solidFill>
                <a:latin typeface="Poppins"/>
                <a:ea typeface="Poppins"/>
                <a:cs typeface="Poppins"/>
                <a:sym typeface="Poppins"/>
              </a:rPr>
              <a:t>Los pasivos (resistores, capacitores) no generan energía; los activos (transistores, circuitos integrados) sí generan energía.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284920" y="5163013"/>
            <a:ext cx="2377057" cy="303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1872">
                <a:solidFill>
                  <a:srgbClr val="405359"/>
                </a:solidFill>
                <a:latin typeface="Poppins"/>
                <a:ea typeface="Poppins"/>
                <a:cs typeface="Poppins"/>
                <a:sym typeface="Poppins"/>
              </a:rPr>
              <a:t>Conexiones para intercambio de datos entre dispositivos, como UART, SPI, I2C (seriales) o buses paralelos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277886" y="4214754"/>
            <a:ext cx="2321639" cy="66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</a:pPr>
            <a:r>
              <a:rPr lang="en-US" b="true" sz="187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Dispositivos pasivos y activos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309112" y="4214754"/>
            <a:ext cx="2321639" cy="66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</a:pPr>
            <a:r>
              <a:rPr lang="en-US" b="true" sz="187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Controladores de dispositivos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324416" y="4187820"/>
            <a:ext cx="2321639" cy="66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</a:pPr>
            <a:r>
              <a:rPr lang="en-US" b="true" sz="187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Interfaces de comunicación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331940" y="4187820"/>
            <a:ext cx="2321639" cy="66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</a:pPr>
            <a:r>
              <a:rPr lang="en-US" b="true" sz="187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Simulación de circuitos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98544" y="4928343"/>
            <a:ext cx="13986091" cy="1685644"/>
          </a:xfrm>
          <a:custGeom>
            <a:avLst/>
            <a:gdLst/>
            <a:ahLst/>
            <a:cxnLst/>
            <a:rect r="r" b="b" t="t" l="l"/>
            <a:pathLst>
              <a:path h="1685644" w="13986091">
                <a:moveTo>
                  <a:pt x="0" y="0"/>
                </a:moveTo>
                <a:lnTo>
                  <a:pt x="13986091" y="0"/>
                </a:lnTo>
                <a:lnTo>
                  <a:pt x="13986091" y="1685644"/>
                </a:lnTo>
                <a:lnTo>
                  <a:pt x="0" y="1685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9024" t="0" r="-13389" b="-40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51047" y="5892841"/>
            <a:ext cx="243353" cy="24335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536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5278" lIns="25278" bIns="25278" rIns="25278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976868" y="5649488"/>
            <a:ext cx="243353" cy="24335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536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5278" lIns="25278" bIns="25278" rIns="25278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533874" y="5892841"/>
            <a:ext cx="243353" cy="24335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536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5278" lIns="25278" bIns="25278" rIns="25278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022324" y="4806666"/>
            <a:ext cx="243353" cy="24335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536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5278" lIns="25278" bIns="25278" rIns="25278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084635" y="5608823"/>
            <a:ext cx="243353" cy="24335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536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25278" lIns="25278" bIns="25278" rIns="25278"/>
            <a:lstStyle/>
            <a:p>
              <a:pPr algn="ctr">
                <a:lnSpc>
                  <a:spcPts val="97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3980070" y="2537748"/>
            <a:ext cx="4209130" cy="6466834"/>
          </a:xfrm>
          <a:custGeom>
            <a:avLst/>
            <a:gdLst/>
            <a:ahLst/>
            <a:cxnLst/>
            <a:rect r="r" b="b" t="t" l="l"/>
            <a:pathLst>
              <a:path h="6466834" w="4209130">
                <a:moveTo>
                  <a:pt x="0" y="0"/>
                </a:moveTo>
                <a:lnTo>
                  <a:pt x="4209130" y="0"/>
                </a:lnTo>
                <a:lnTo>
                  <a:pt x="4209130" y="6466833"/>
                </a:lnTo>
                <a:lnTo>
                  <a:pt x="0" y="6466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709353" y="6411071"/>
            <a:ext cx="2326741" cy="2300566"/>
          </a:xfrm>
          <a:custGeom>
            <a:avLst/>
            <a:gdLst/>
            <a:ahLst/>
            <a:cxnLst/>
            <a:rect r="r" b="b" t="t" l="l"/>
            <a:pathLst>
              <a:path h="2300566" w="2326741">
                <a:moveTo>
                  <a:pt x="0" y="0"/>
                </a:moveTo>
                <a:lnTo>
                  <a:pt x="2326741" y="0"/>
                </a:lnTo>
                <a:lnTo>
                  <a:pt x="2326741" y="2300566"/>
                </a:lnTo>
                <a:lnTo>
                  <a:pt x="0" y="23005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647999" y="6244098"/>
            <a:ext cx="2075809" cy="2055051"/>
          </a:xfrm>
          <a:custGeom>
            <a:avLst/>
            <a:gdLst/>
            <a:ahLst/>
            <a:cxnLst/>
            <a:rect r="r" b="b" t="t" l="l"/>
            <a:pathLst>
              <a:path h="2055051" w="2075809">
                <a:moveTo>
                  <a:pt x="0" y="0"/>
                </a:moveTo>
                <a:lnTo>
                  <a:pt x="2075808" y="0"/>
                </a:lnTo>
                <a:lnTo>
                  <a:pt x="2075808" y="2055051"/>
                </a:lnTo>
                <a:lnTo>
                  <a:pt x="0" y="20550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79271" y="3169893"/>
            <a:ext cx="2079545" cy="2079545"/>
          </a:xfrm>
          <a:custGeom>
            <a:avLst/>
            <a:gdLst/>
            <a:ahLst/>
            <a:cxnLst/>
            <a:rect r="r" b="b" t="t" l="l"/>
            <a:pathLst>
              <a:path h="2079545" w="2079545">
                <a:moveTo>
                  <a:pt x="0" y="0"/>
                </a:moveTo>
                <a:lnTo>
                  <a:pt x="2079545" y="0"/>
                </a:lnTo>
                <a:lnTo>
                  <a:pt x="2079545" y="2079545"/>
                </a:lnTo>
                <a:lnTo>
                  <a:pt x="0" y="20795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1587293" y="2989559"/>
            <a:ext cx="2136515" cy="2153941"/>
            <a:chOff x="0" y="0"/>
            <a:chExt cx="2848686" cy="2871922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129749" y="19050"/>
              <a:ext cx="2589189" cy="5118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</a:pPr>
              <a:r>
                <a:rPr lang="en-US" sz="2624" b="true">
                  <a:solidFill>
                    <a:srgbClr val="405359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Iniciat</a:t>
              </a:r>
              <a:r>
                <a:rPr lang="en-US" b="true" sz="2624">
                  <a:solidFill>
                    <a:srgbClr val="405359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iva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652332"/>
              <a:ext cx="2848686" cy="2219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86"/>
                </a:lnSpc>
              </a:pPr>
              <a:r>
                <a:rPr lang="en-US" sz="1868">
                  <a:solidFill>
                    <a:srgbClr val="405359"/>
                  </a:solidFill>
                  <a:latin typeface="Nunito"/>
                  <a:ea typeface="Nunito"/>
                  <a:cs typeface="Nunito"/>
                  <a:sym typeface="Nunito"/>
                </a:rPr>
                <a:t>La simulación de circuitos promueve la experimentación y la búsqueda autónoma de soluciones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3402833" y="1470826"/>
            <a:ext cx="11482334" cy="1014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</a:pPr>
            <a:r>
              <a:rPr lang="en-US" b="true" sz="7000">
                <a:solidFill>
                  <a:srgbClr val="405359"/>
                </a:solidFill>
                <a:latin typeface="Nunito Bold"/>
                <a:ea typeface="Nunito Bold"/>
                <a:cs typeface="Nunito Bold"/>
                <a:sym typeface="Nunito Bold"/>
              </a:rPr>
              <a:t>V</a:t>
            </a:r>
            <a:r>
              <a:rPr lang="en-US" b="true" sz="7000">
                <a:solidFill>
                  <a:srgbClr val="405359"/>
                </a:solidFill>
                <a:latin typeface="Nunito Bold"/>
                <a:ea typeface="Nunito Bold"/>
                <a:cs typeface="Nunito Bold"/>
                <a:sym typeface="Nunito Bold"/>
              </a:rPr>
              <a:t>alores y Actitudes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42747" y="6295152"/>
            <a:ext cx="2416435" cy="2133764"/>
            <a:chOff x="0" y="0"/>
            <a:chExt cx="3221914" cy="2845018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146748" y="9525"/>
              <a:ext cx="2928418" cy="4944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7"/>
                </a:lnSpc>
              </a:pPr>
              <a:r>
                <a:rPr lang="en-US" sz="2524" b="true">
                  <a:solidFill>
                    <a:srgbClr val="405359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P</a:t>
              </a:r>
              <a:r>
                <a:rPr lang="en-US" b="true" sz="2524">
                  <a:solidFill>
                    <a:srgbClr val="405359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recisión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625429"/>
              <a:ext cx="3221914" cy="2219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86"/>
                </a:lnSpc>
              </a:pPr>
              <a:r>
                <a:rPr lang="en-US" sz="1868">
                  <a:solidFill>
                    <a:srgbClr val="405359"/>
                  </a:solidFill>
                  <a:latin typeface="Nunito"/>
                  <a:ea typeface="Nunito"/>
                  <a:cs typeface="Nunito"/>
                  <a:sym typeface="Nunito"/>
                </a:rPr>
                <a:t>T</a:t>
              </a:r>
              <a:r>
                <a:rPr lang="en-US" sz="1868">
                  <a:solidFill>
                    <a:srgbClr val="405359"/>
                  </a:solidFill>
                  <a:latin typeface="Nunito"/>
                  <a:ea typeface="Nunito"/>
                  <a:cs typeface="Nunito"/>
                  <a:sym typeface="Nunito"/>
                </a:rPr>
                <a:t>rabajar con componentes electrónicos requiere atención al detalle y exactitud en su manejo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935782" y="6295152"/>
            <a:ext cx="2416435" cy="1619571"/>
            <a:chOff x="0" y="0"/>
            <a:chExt cx="3221914" cy="2159429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146748" y="9525"/>
              <a:ext cx="2928418" cy="4944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7"/>
                </a:lnSpc>
              </a:pPr>
              <a:r>
                <a:rPr lang="en-US" sz="2524" b="true">
                  <a:solidFill>
                    <a:srgbClr val="405359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Col</a:t>
              </a:r>
              <a:r>
                <a:rPr lang="en-US" b="true" sz="2524">
                  <a:solidFill>
                    <a:srgbClr val="405359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aboración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615904"/>
              <a:ext cx="3221914" cy="1543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03"/>
                </a:lnSpc>
              </a:pPr>
              <a:r>
                <a:rPr lang="en-US" sz="1968">
                  <a:solidFill>
                    <a:srgbClr val="405359"/>
                  </a:solidFill>
                  <a:latin typeface="Nunito"/>
                  <a:ea typeface="Nunito"/>
                  <a:cs typeface="Nunito"/>
                  <a:sym typeface="Nunito"/>
                </a:rPr>
                <a:t>D</a:t>
              </a:r>
              <a:r>
                <a:rPr lang="en-US" sz="1968">
                  <a:solidFill>
                    <a:srgbClr val="405359"/>
                  </a:solidFill>
                  <a:latin typeface="Nunito"/>
                  <a:ea typeface="Nunito"/>
                  <a:cs typeface="Nunito"/>
                  <a:sym typeface="Nunito"/>
                </a:rPr>
                <a:t>esarrollar e integrar controladores e interfaces se facilita con trabajo en equipo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363210" y="3235931"/>
            <a:ext cx="2917959" cy="1570736"/>
            <a:chOff x="0" y="0"/>
            <a:chExt cx="3890613" cy="2094314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177205" y="19050"/>
              <a:ext cx="3536202" cy="4709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15"/>
                </a:lnSpc>
              </a:pPr>
              <a:r>
                <a:rPr lang="en-US" sz="2424" b="true">
                  <a:solidFill>
                    <a:srgbClr val="405359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R</a:t>
              </a:r>
              <a:r>
                <a:rPr lang="en-US" b="true" sz="2424">
                  <a:solidFill>
                    <a:srgbClr val="405359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esponsabilidad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611424"/>
              <a:ext cx="3890613" cy="1482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86"/>
                </a:lnSpc>
              </a:pPr>
              <a:r>
                <a:rPr lang="en-US" sz="1868">
                  <a:solidFill>
                    <a:srgbClr val="405359"/>
                  </a:solidFill>
                  <a:latin typeface="Nunito"/>
                  <a:ea typeface="Nunito"/>
                  <a:cs typeface="Nunito"/>
                  <a:sym typeface="Nunito"/>
                </a:rPr>
                <a:t>Man</a:t>
              </a:r>
              <a:r>
                <a:rPr lang="en-US" sz="1868">
                  <a:solidFill>
                    <a:srgbClr val="405359"/>
                  </a:solidFill>
                  <a:latin typeface="Nunito"/>
                  <a:ea typeface="Nunito"/>
                  <a:cs typeface="Nunito"/>
                  <a:sym typeface="Nunito"/>
                </a:rPr>
                <a:t>ipular circuitos y dispositivos implica cuidado y conciencia de seguridad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67446" y="3124203"/>
            <a:ext cx="3152530" cy="1024433"/>
            <a:chOff x="0" y="0"/>
            <a:chExt cx="830296" cy="2698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0296" cy="269810"/>
            </a:xfrm>
            <a:custGeom>
              <a:avLst/>
              <a:gdLst/>
              <a:ahLst/>
              <a:cxnLst/>
              <a:rect r="r" b="b" t="t" l="l"/>
              <a:pathLst>
                <a:path h="269810" w="830296">
                  <a:moveTo>
                    <a:pt x="88408" y="0"/>
                  </a:moveTo>
                  <a:lnTo>
                    <a:pt x="741888" y="0"/>
                  </a:lnTo>
                  <a:cubicBezTo>
                    <a:pt x="790714" y="0"/>
                    <a:pt x="830296" y="39582"/>
                    <a:pt x="830296" y="88408"/>
                  </a:cubicBezTo>
                  <a:lnTo>
                    <a:pt x="830296" y="181402"/>
                  </a:lnTo>
                  <a:cubicBezTo>
                    <a:pt x="830296" y="230228"/>
                    <a:pt x="790714" y="269810"/>
                    <a:pt x="741888" y="269810"/>
                  </a:cubicBezTo>
                  <a:lnTo>
                    <a:pt x="88408" y="269810"/>
                  </a:lnTo>
                  <a:cubicBezTo>
                    <a:pt x="64961" y="269810"/>
                    <a:pt x="42474" y="260495"/>
                    <a:pt x="25894" y="243915"/>
                  </a:cubicBezTo>
                  <a:cubicBezTo>
                    <a:pt x="9314" y="227336"/>
                    <a:pt x="0" y="204849"/>
                    <a:pt x="0" y="181402"/>
                  </a:cubicBezTo>
                  <a:lnTo>
                    <a:pt x="0" y="88408"/>
                  </a:lnTo>
                  <a:cubicBezTo>
                    <a:pt x="0" y="39582"/>
                    <a:pt x="39582" y="0"/>
                    <a:pt x="88408" y="0"/>
                  </a:cubicBezTo>
                  <a:close/>
                </a:path>
              </a:pathLst>
            </a:custGeom>
            <a:solidFill>
              <a:srgbClr val="C2D1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830296" cy="288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14916" y="4694687"/>
            <a:ext cx="3152530" cy="1968307"/>
            <a:chOff x="0" y="0"/>
            <a:chExt cx="830296" cy="5184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30296" cy="518402"/>
            </a:xfrm>
            <a:custGeom>
              <a:avLst/>
              <a:gdLst/>
              <a:ahLst/>
              <a:cxnLst/>
              <a:rect r="r" b="b" t="t" l="l"/>
              <a:pathLst>
                <a:path h="518402" w="830296">
                  <a:moveTo>
                    <a:pt x="88408" y="0"/>
                  </a:moveTo>
                  <a:lnTo>
                    <a:pt x="741888" y="0"/>
                  </a:lnTo>
                  <a:cubicBezTo>
                    <a:pt x="790714" y="0"/>
                    <a:pt x="830296" y="39582"/>
                    <a:pt x="830296" y="88408"/>
                  </a:cubicBezTo>
                  <a:lnTo>
                    <a:pt x="830296" y="429994"/>
                  </a:lnTo>
                  <a:cubicBezTo>
                    <a:pt x="830296" y="453441"/>
                    <a:pt x="820982" y="475928"/>
                    <a:pt x="804402" y="492508"/>
                  </a:cubicBezTo>
                  <a:cubicBezTo>
                    <a:pt x="787822" y="509088"/>
                    <a:pt x="765335" y="518402"/>
                    <a:pt x="741888" y="518402"/>
                  </a:cubicBezTo>
                  <a:lnTo>
                    <a:pt x="88408" y="518402"/>
                  </a:lnTo>
                  <a:cubicBezTo>
                    <a:pt x="39582" y="518402"/>
                    <a:pt x="0" y="478820"/>
                    <a:pt x="0" y="429994"/>
                  </a:cubicBezTo>
                  <a:lnTo>
                    <a:pt x="0" y="88408"/>
                  </a:lnTo>
                  <a:cubicBezTo>
                    <a:pt x="0" y="39582"/>
                    <a:pt x="39582" y="0"/>
                    <a:pt x="88408" y="0"/>
                  </a:cubicBezTo>
                  <a:close/>
                </a:path>
              </a:pathLst>
            </a:custGeom>
            <a:solidFill>
              <a:srgbClr val="C2D1D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830296" cy="537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26934" y="7807261"/>
            <a:ext cx="4011709" cy="774296"/>
            <a:chOff x="0" y="0"/>
            <a:chExt cx="1056582" cy="2039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582" cy="203930"/>
            </a:xfrm>
            <a:custGeom>
              <a:avLst/>
              <a:gdLst/>
              <a:ahLst/>
              <a:cxnLst/>
              <a:rect r="r" b="b" t="t" l="l"/>
              <a:pathLst>
                <a:path h="203930" w="1056582">
                  <a:moveTo>
                    <a:pt x="69474" y="0"/>
                  </a:moveTo>
                  <a:lnTo>
                    <a:pt x="987108" y="0"/>
                  </a:lnTo>
                  <a:cubicBezTo>
                    <a:pt x="1025477" y="0"/>
                    <a:pt x="1056582" y="31105"/>
                    <a:pt x="1056582" y="69474"/>
                  </a:cubicBezTo>
                  <a:lnTo>
                    <a:pt x="1056582" y="134456"/>
                  </a:lnTo>
                  <a:cubicBezTo>
                    <a:pt x="1056582" y="172825"/>
                    <a:pt x="1025477" y="203930"/>
                    <a:pt x="987108" y="203930"/>
                  </a:cubicBezTo>
                  <a:lnTo>
                    <a:pt x="69474" y="203930"/>
                  </a:lnTo>
                  <a:cubicBezTo>
                    <a:pt x="31105" y="203930"/>
                    <a:pt x="0" y="172825"/>
                    <a:pt x="0" y="134456"/>
                  </a:cubicBezTo>
                  <a:lnTo>
                    <a:pt x="0" y="69474"/>
                  </a:lnTo>
                  <a:cubicBezTo>
                    <a:pt x="0" y="31105"/>
                    <a:pt x="31105" y="0"/>
                    <a:pt x="69474" y="0"/>
                  </a:cubicBezTo>
                  <a:close/>
                </a:path>
              </a:pathLst>
            </a:custGeom>
            <a:solidFill>
              <a:srgbClr val="C2D1D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056582" cy="2229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5400000">
            <a:off x="12495391" y="5349324"/>
            <a:ext cx="5511709" cy="6073509"/>
          </a:xfrm>
          <a:custGeom>
            <a:avLst/>
            <a:gdLst/>
            <a:ahLst/>
            <a:cxnLst/>
            <a:rect r="r" b="b" t="t" l="l"/>
            <a:pathLst>
              <a:path h="6073509" w="5511709">
                <a:moveTo>
                  <a:pt x="0" y="0"/>
                </a:moveTo>
                <a:lnTo>
                  <a:pt x="5511709" y="0"/>
                </a:lnTo>
                <a:lnTo>
                  <a:pt x="5511709" y="6073509"/>
                </a:lnTo>
                <a:lnTo>
                  <a:pt x="0" y="6073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230524" y="1028700"/>
            <a:ext cx="4740412" cy="7552857"/>
          </a:xfrm>
          <a:custGeom>
            <a:avLst/>
            <a:gdLst/>
            <a:ahLst/>
            <a:cxnLst/>
            <a:rect r="r" b="b" t="t" l="l"/>
            <a:pathLst>
              <a:path h="7552857" w="4740412">
                <a:moveTo>
                  <a:pt x="0" y="0"/>
                </a:moveTo>
                <a:lnTo>
                  <a:pt x="4740412" y="0"/>
                </a:lnTo>
                <a:lnTo>
                  <a:pt x="4740412" y="7552857"/>
                </a:lnTo>
                <a:lnTo>
                  <a:pt x="0" y="75528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36700" y="1727103"/>
            <a:ext cx="7417620" cy="809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72"/>
              </a:lnSpc>
            </a:pPr>
            <a:r>
              <a:rPr lang="en-US" b="true" sz="5600">
                <a:solidFill>
                  <a:srgbClr val="405359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Referencias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2696" y="3200777"/>
            <a:ext cx="7802220" cy="6057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29"/>
              </a:lnSpc>
              <a:spcBef>
                <a:spcPct val="0"/>
              </a:spcBef>
            </a:pPr>
            <a:r>
              <a:rPr lang="en-US" sz="3099">
                <a:solidFill>
                  <a:srgbClr val="405359"/>
                </a:solidFill>
                <a:latin typeface="Questrial"/>
                <a:ea typeface="Questrial"/>
                <a:cs typeface="Questrial"/>
                <a:sym typeface="Questrial"/>
              </a:rPr>
              <a:t>• Taller El</a:t>
            </a:r>
            <a:r>
              <a:rPr lang="en-US" sz="3099" u="none">
                <a:solidFill>
                  <a:srgbClr val="405359"/>
                </a:solidFill>
                <a:latin typeface="Questrial"/>
                <a:ea typeface="Questrial"/>
                <a:cs typeface="Questrial"/>
                <a:sym typeface="Questrial"/>
              </a:rPr>
              <a:t>ectrónica – Componentes y símbolos electrónicos más utilizados. (Una guía visual que muestra los componentes más comunes y sus símbolos).</a:t>
            </a:r>
          </a:p>
          <a:p>
            <a:pPr algn="l" marL="0" indent="0" lvl="0">
              <a:lnSpc>
                <a:spcPts val="402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029"/>
              </a:lnSpc>
              <a:spcBef>
                <a:spcPct val="0"/>
              </a:spcBef>
            </a:pPr>
            <a:r>
              <a:rPr lang="en-US" sz="3099" u="none">
                <a:solidFill>
                  <a:srgbClr val="405359"/>
                </a:solidFill>
                <a:latin typeface="Questrial"/>
                <a:ea typeface="Questrial"/>
                <a:cs typeface="Questrial"/>
                <a:sym typeface="Questrial"/>
              </a:rPr>
              <a:t>• Made-in-China – Qué son los componentes electrónicos: funciones, selección y mejores prácticas. (Un artículo detallado que explica qué son los componentes electrónicos, sus funciones y cómo seleccionarlos adecuadamente).</a:t>
            </a:r>
          </a:p>
          <a:p>
            <a:pPr algn="l" marL="0" indent="0" lvl="0">
              <a:lnSpc>
                <a:spcPts val="402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67446" y="3124203"/>
            <a:ext cx="3152530" cy="1024433"/>
            <a:chOff x="0" y="0"/>
            <a:chExt cx="830296" cy="2698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0296" cy="269810"/>
            </a:xfrm>
            <a:custGeom>
              <a:avLst/>
              <a:gdLst/>
              <a:ahLst/>
              <a:cxnLst/>
              <a:rect r="r" b="b" t="t" l="l"/>
              <a:pathLst>
                <a:path h="269810" w="830296">
                  <a:moveTo>
                    <a:pt x="88408" y="0"/>
                  </a:moveTo>
                  <a:lnTo>
                    <a:pt x="741888" y="0"/>
                  </a:lnTo>
                  <a:cubicBezTo>
                    <a:pt x="790714" y="0"/>
                    <a:pt x="830296" y="39582"/>
                    <a:pt x="830296" y="88408"/>
                  </a:cubicBezTo>
                  <a:lnTo>
                    <a:pt x="830296" y="181402"/>
                  </a:lnTo>
                  <a:cubicBezTo>
                    <a:pt x="830296" y="230228"/>
                    <a:pt x="790714" y="269810"/>
                    <a:pt x="741888" y="269810"/>
                  </a:cubicBezTo>
                  <a:lnTo>
                    <a:pt x="88408" y="269810"/>
                  </a:lnTo>
                  <a:cubicBezTo>
                    <a:pt x="64961" y="269810"/>
                    <a:pt x="42474" y="260495"/>
                    <a:pt x="25894" y="243915"/>
                  </a:cubicBezTo>
                  <a:cubicBezTo>
                    <a:pt x="9314" y="227336"/>
                    <a:pt x="0" y="204849"/>
                    <a:pt x="0" y="181402"/>
                  </a:cubicBezTo>
                  <a:lnTo>
                    <a:pt x="0" y="88408"/>
                  </a:lnTo>
                  <a:cubicBezTo>
                    <a:pt x="0" y="39582"/>
                    <a:pt x="39582" y="0"/>
                    <a:pt x="88408" y="0"/>
                  </a:cubicBezTo>
                  <a:close/>
                </a:path>
              </a:pathLst>
            </a:custGeom>
            <a:solidFill>
              <a:srgbClr val="475B6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830296" cy="288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14916" y="4694687"/>
            <a:ext cx="3152530" cy="1968307"/>
            <a:chOff x="0" y="0"/>
            <a:chExt cx="830296" cy="5184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30296" cy="518402"/>
            </a:xfrm>
            <a:custGeom>
              <a:avLst/>
              <a:gdLst/>
              <a:ahLst/>
              <a:cxnLst/>
              <a:rect r="r" b="b" t="t" l="l"/>
              <a:pathLst>
                <a:path h="518402" w="830296">
                  <a:moveTo>
                    <a:pt x="88408" y="0"/>
                  </a:moveTo>
                  <a:lnTo>
                    <a:pt x="741888" y="0"/>
                  </a:lnTo>
                  <a:cubicBezTo>
                    <a:pt x="790714" y="0"/>
                    <a:pt x="830296" y="39582"/>
                    <a:pt x="830296" y="88408"/>
                  </a:cubicBezTo>
                  <a:lnTo>
                    <a:pt x="830296" y="429994"/>
                  </a:lnTo>
                  <a:cubicBezTo>
                    <a:pt x="830296" y="453441"/>
                    <a:pt x="820982" y="475928"/>
                    <a:pt x="804402" y="492508"/>
                  </a:cubicBezTo>
                  <a:cubicBezTo>
                    <a:pt x="787822" y="509088"/>
                    <a:pt x="765335" y="518402"/>
                    <a:pt x="741888" y="518402"/>
                  </a:cubicBezTo>
                  <a:lnTo>
                    <a:pt x="88408" y="518402"/>
                  </a:lnTo>
                  <a:cubicBezTo>
                    <a:pt x="39582" y="518402"/>
                    <a:pt x="0" y="478820"/>
                    <a:pt x="0" y="429994"/>
                  </a:cubicBezTo>
                  <a:lnTo>
                    <a:pt x="0" y="88408"/>
                  </a:lnTo>
                  <a:cubicBezTo>
                    <a:pt x="0" y="39582"/>
                    <a:pt x="39582" y="0"/>
                    <a:pt x="88408" y="0"/>
                  </a:cubicBezTo>
                  <a:close/>
                </a:path>
              </a:pathLst>
            </a:custGeom>
            <a:solidFill>
              <a:srgbClr val="475B6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830296" cy="537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26934" y="7807261"/>
            <a:ext cx="4011709" cy="774296"/>
            <a:chOff x="0" y="0"/>
            <a:chExt cx="1056582" cy="2039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582" cy="203930"/>
            </a:xfrm>
            <a:custGeom>
              <a:avLst/>
              <a:gdLst/>
              <a:ahLst/>
              <a:cxnLst/>
              <a:rect r="r" b="b" t="t" l="l"/>
              <a:pathLst>
                <a:path h="203930" w="1056582">
                  <a:moveTo>
                    <a:pt x="69474" y="0"/>
                  </a:moveTo>
                  <a:lnTo>
                    <a:pt x="987108" y="0"/>
                  </a:lnTo>
                  <a:cubicBezTo>
                    <a:pt x="1025477" y="0"/>
                    <a:pt x="1056582" y="31105"/>
                    <a:pt x="1056582" y="69474"/>
                  </a:cubicBezTo>
                  <a:lnTo>
                    <a:pt x="1056582" y="134456"/>
                  </a:lnTo>
                  <a:cubicBezTo>
                    <a:pt x="1056582" y="172825"/>
                    <a:pt x="1025477" y="203930"/>
                    <a:pt x="987108" y="203930"/>
                  </a:cubicBezTo>
                  <a:lnTo>
                    <a:pt x="69474" y="203930"/>
                  </a:lnTo>
                  <a:cubicBezTo>
                    <a:pt x="31105" y="203930"/>
                    <a:pt x="0" y="172825"/>
                    <a:pt x="0" y="134456"/>
                  </a:cubicBezTo>
                  <a:lnTo>
                    <a:pt x="0" y="69474"/>
                  </a:lnTo>
                  <a:cubicBezTo>
                    <a:pt x="0" y="31105"/>
                    <a:pt x="31105" y="0"/>
                    <a:pt x="69474" y="0"/>
                  </a:cubicBezTo>
                  <a:close/>
                </a:path>
              </a:pathLst>
            </a:custGeom>
            <a:solidFill>
              <a:srgbClr val="475B6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056582" cy="2229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5400000">
            <a:off x="12495391" y="5349324"/>
            <a:ext cx="5511709" cy="6073509"/>
          </a:xfrm>
          <a:custGeom>
            <a:avLst/>
            <a:gdLst/>
            <a:ahLst/>
            <a:cxnLst/>
            <a:rect r="r" b="b" t="t" l="l"/>
            <a:pathLst>
              <a:path h="6073509" w="5511709">
                <a:moveTo>
                  <a:pt x="0" y="0"/>
                </a:moveTo>
                <a:lnTo>
                  <a:pt x="5511709" y="0"/>
                </a:lnTo>
                <a:lnTo>
                  <a:pt x="5511709" y="6073509"/>
                </a:lnTo>
                <a:lnTo>
                  <a:pt x="0" y="6073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030415" y="288362"/>
            <a:ext cx="6730573" cy="9324005"/>
          </a:xfrm>
          <a:custGeom>
            <a:avLst/>
            <a:gdLst/>
            <a:ahLst/>
            <a:cxnLst/>
            <a:rect r="r" b="b" t="t" l="l"/>
            <a:pathLst>
              <a:path h="9324005" w="6730573">
                <a:moveTo>
                  <a:pt x="0" y="0"/>
                </a:moveTo>
                <a:lnTo>
                  <a:pt x="6730573" y="0"/>
                </a:lnTo>
                <a:lnTo>
                  <a:pt x="6730573" y="9324005"/>
                </a:lnTo>
                <a:lnTo>
                  <a:pt x="0" y="93240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113103" y="7304497"/>
            <a:ext cx="8117421" cy="1600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72"/>
              </a:lnSpc>
            </a:pPr>
            <a:r>
              <a:rPr lang="en-US" b="true" sz="5600">
                <a:solidFill>
                  <a:srgbClr val="405359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Recueda que tenemos un foro semanal</a:t>
            </a:r>
          </a:p>
        </p:txBody>
      </p:sp>
      <p:sp>
        <p:nvSpPr>
          <p:cNvPr name="TextBox 14" id="14"/>
          <p:cNvSpPr txBox="true"/>
          <p:nvPr/>
        </p:nvSpPr>
        <p:spPr>
          <a:xfrm rot="-102620">
            <a:off x="2398471" y="1150469"/>
            <a:ext cx="7580769" cy="3542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4"/>
              </a:lnSpc>
            </a:pPr>
            <a:r>
              <a:rPr lang="en-US" b="true" sz="10969" spc="-274">
                <a:solidFill>
                  <a:srgbClr val="405359"/>
                </a:solidFill>
                <a:latin typeface="Garet Bold"/>
                <a:ea typeface="Garet Bold"/>
                <a:cs typeface="Garet Bold"/>
                <a:sym typeface="Garet Bold"/>
              </a:rPr>
              <a:t>¡</a:t>
            </a:r>
            <a:r>
              <a:rPr lang="en-US" b="true" sz="10969" spc="-274">
                <a:solidFill>
                  <a:srgbClr val="405359"/>
                </a:solidFill>
                <a:latin typeface="Garet Bold"/>
                <a:ea typeface="Garet Bold"/>
                <a:cs typeface="Garet Bold"/>
                <a:sym typeface="Garet Bold"/>
              </a:rPr>
              <a:t>Gracias por su atención!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06422" y="4848225"/>
            <a:ext cx="7276542" cy="187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549"/>
              </a:lnSpc>
            </a:pPr>
            <a:r>
              <a:rPr lang="en-US" b="true" sz="10392" spc="-207">
                <a:solidFill>
                  <a:srgbClr val="40535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¿Dudas?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902" y="0"/>
            <a:ext cx="18254198" cy="10287001"/>
            <a:chOff x="0" y="0"/>
            <a:chExt cx="24338931" cy="137160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891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38914">
                  <a:moveTo>
                    <a:pt x="0" y="0"/>
                  </a:moveTo>
                  <a:lnTo>
                    <a:pt x="24338914" y="0"/>
                  </a:lnTo>
                  <a:lnTo>
                    <a:pt x="2433891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2000"/>
              </a:blip>
              <a:stretch>
                <a:fillRect l="0" t="0" r="0" b="0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6900" y="1507250"/>
          <a:ext cx="10439400" cy="2006600"/>
        </p:xfrm>
        <a:graphic>
          <a:graphicData uri="http://schemas.openxmlformats.org/drawingml/2006/table">
            <a:tbl>
              <a:tblPr/>
              <a:tblGrid>
                <a:gridCol w="5520146"/>
                <a:gridCol w="4919254"/>
              </a:tblGrid>
              <a:tr h="6396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Nombre de la actividad:</a:t>
                      </a:r>
                      <a:endParaRPr lang="en-US" sz="1100"/>
                    </a:p>
                  </a:txBody>
                  <a:tcPr marL="182850" marR="182850" marT="182850" marB="1828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50" marR="182850" marT="182850" marB="1828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57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Cantidad de participantes:</a:t>
                      </a:r>
                      <a:endParaRPr lang="en-US" sz="1100"/>
                    </a:p>
                  </a:txBody>
                  <a:tcPr marL="182850" marR="182850" marT="182850" marB="1828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50" marR="182850" marT="182850" marB="1828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11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Doy fe que esta actividad está planificada en dtt (Sí/No):</a:t>
                      </a:r>
                      <a:endParaRPr lang="en-US" sz="1100"/>
                    </a:p>
                  </a:txBody>
                  <a:tcPr marL="182850" marR="182850" marT="182850" marB="1828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50" marR="182850" marT="182850" marB="1828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82850" y="4445700"/>
            <a:ext cx="17672100" cy="45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Participantes: llenar las siguientes cajas de texto (tomar información del chat del meet)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375" y="4946275"/>
            <a:ext cx="6186450" cy="757950"/>
            <a:chOff x="0" y="0"/>
            <a:chExt cx="8248600" cy="1010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48650" cy="1010539"/>
            </a:xfrm>
            <a:custGeom>
              <a:avLst/>
              <a:gdLst/>
              <a:ahLst/>
              <a:cxnLst/>
              <a:rect r="r" b="b" t="t" l="l"/>
              <a:pathLst>
                <a:path h="1010539" w="8248650">
                  <a:moveTo>
                    <a:pt x="12700" y="0"/>
                  </a:moveTo>
                  <a:lnTo>
                    <a:pt x="8235950" y="0"/>
                  </a:lnTo>
                  <a:cubicBezTo>
                    <a:pt x="8242935" y="0"/>
                    <a:pt x="8248650" y="5715"/>
                    <a:pt x="8248650" y="12700"/>
                  </a:cubicBezTo>
                  <a:lnTo>
                    <a:pt x="8248650" y="997839"/>
                  </a:lnTo>
                  <a:cubicBezTo>
                    <a:pt x="8248650" y="1004824"/>
                    <a:pt x="8242935" y="1010539"/>
                    <a:pt x="8235950" y="1010539"/>
                  </a:cubicBezTo>
                  <a:lnTo>
                    <a:pt x="12700" y="1010539"/>
                  </a:lnTo>
                  <a:cubicBezTo>
                    <a:pt x="5715" y="1010539"/>
                    <a:pt x="0" y="1004824"/>
                    <a:pt x="0" y="99783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97839"/>
                  </a:lnTo>
                  <a:lnTo>
                    <a:pt x="12700" y="997839"/>
                  </a:lnTo>
                  <a:lnTo>
                    <a:pt x="12700" y="985139"/>
                  </a:lnTo>
                  <a:lnTo>
                    <a:pt x="8235950" y="985139"/>
                  </a:lnTo>
                  <a:lnTo>
                    <a:pt x="8235950" y="997839"/>
                  </a:lnTo>
                  <a:lnTo>
                    <a:pt x="8223250" y="997839"/>
                  </a:lnTo>
                  <a:lnTo>
                    <a:pt x="8223250" y="12700"/>
                  </a:lnTo>
                  <a:lnTo>
                    <a:pt x="8235950" y="12700"/>
                  </a:lnTo>
                  <a:lnTo>
                    <a:pt x="823595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0656400" y="1940050"/>
          <a:ext cx="7378700" cy="2006600"/>
        </p:xfrm>
        <a:graphic>
          <a:graphicData uri="http://schemas.openxmlformats.org/drawingml/2006/table">
            <a:tbl>
              <a:tblPr/>
              <a:tblGrid>
                <a:gridCol w="3042074"/>
                <a:gridCol w="4336626"/>
              </a:tblGrid>
              <a:tr h="6396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Hora de inicio:</a:t>
                      </a:r>
                      <a:endParaRPr lang="en-US" sz="1100"/>
                    </a:p>
                  </a:txBody>
                  <a:tcPr marL="182850" marR="182850" marT="182850" marB="1828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50" marR="182850" marT="182850" marB="1828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57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Hora de fin:</a:t>
                      </a:r>
                      <a:endParaRPr lang="en-US" sz="1100"/>
                    </a:p>
                  </a:txBody>
                  <a:tcPr marL="182850" marR="182850" marT="182850" marB="1828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50" marR="182850" marT="182850" marB="1828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11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Duración (min):</a:t>
                      </a:r>
                      <a:endParaRPr lang="en-US" sz="1100"/>
                    </a:p>
                  </a:txBody>
                  <a:tcPr marL="182850" marR="182850" marT="182850" marB="1828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50" marR="182850" marT="182850" marB="1828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6252075" y="4946275"/>
            <a:ext cx="6186450" cy="757950"/>
            <a:chOff x="0" y="0"/>
            <a:chExt cx="8248600" cy="1010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48650" cy="1010539"/>
            </a:xfrm>
            <a:custGeom>
              <a:avLst/>
              <a:gdLst/>
              <a:ahLst/>
              <a:cxnLst/>
              <a:rect r="r" b="b" t="t" l="l"/>
              <a:pathLst>
                <a:path h="1010539" w="8248650">
                  <a:moveTo>
                    <a:pt x="12700" y="0"/>
                  </a:moveTo>
                  <a:lnTo>
                    <a:pt x="8235950" y="0"/>
                  </a:lnTo>
                  <a:cubicBezTo>
                    <a:pt x="8242935" y="0"/>
                    <a:pt x="8248650" y="5715"/>
                    <a:pt x="8248650" y="12700"/>
                  </a:cubicBezTo>
                  <a:lnTo>
                    <a:pt x="8248650" y="997839"/>
                  </a:lnTo>
                  <a:cubicBezTo>
                    <a:pt x="8248650" y="1004824"/>
                    <a:pt x="8242935" y="1010539"/>
                    <a:pt x="8235950" y="1010539"/>
                  </a:cubicBezTo>
                  <a:lnTo>
                    <a:pt x="12700" y="1010539"/>
                  </a:lnTo>
                  <a:cubicBezTo>
                    <a:pt x="5715" y="1010539"/>
                    <a:pt x="0" y="1004824"/>
                    <a:pt x="0" y="99783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97839"/>
                  </a:lnTo>
                  <a:lnTo>
                    <a:pt x="12700" y="997839"/>
                  </a:lnTo>
                  <a:lnTo>
                    <a:pt x="12700" y="985139"/>
                  </a:lnTo>
                  <a:lnTo>
                    <a:pt x="8235950" y="985139"/>
                  </a:lnTo>
                  <a:lnTo>
                    <a:pt x="8235950" y="997839"/>
                  </a:lnTo>
                  <a:lnTo>
                    <a:pt x="8223250" y="997839"/>
                  </a:lnTo>
                  <a:lnTo>
                    <a:pt x="8223250" y="12700"/>
                  </a:lnTo>
                  <a:lnTo>
                    <a:pt x="8235950" y="12700"/>
                  </a:lnTo>
                  <a:lnTo>
                    <a:pt x="823595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496775" y="4946275"/>
            <a:ext cx="5783850" cy="757950"/>
            <a:chOff x="0" y="0"/>
            <a:chExt cx="7711800" cy="1010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711821" cy="1010539"/>
            </a:xfrm>
            <a:custGeom>
              <a:avLst/>
              <a:gdLst/>
              <a:ahLst/>
              <a:cxnLst/>
              <a:rect r="r" b="b" t="t" l="l"/>
              <a:pathLst>
                <a:path h="1010539" w="7711821">
                  <a:moveTo>
                    <a:pt x="12700" y="0"/>
                  </a:moveTo>
                  <a:lnTo>
                    <a:pt x="7699121" y="0"/>
                  </a:lnTo>
                  <a:cubicBezTo>
                    <a:pt x="7706106" y="0"/>
                    <a:pt x="7711821" y="5715"/>
                    <a:pt x="7711821" y="12700"/>
                  </a:cubicBezTo>
                  <a:lnTo>
                    <a:pt x="7711821" y="997839"/>
                  </a:lnTo>
                  <a:cubicBezTo>
                    <a:pt x="7711821" y="1004824"/>
                    <a:pt x="7706106" y="1010539"/>
                    <a:pt x="7699121" y="1010539"/>
                  </a:cubicBezTo>
                  <a:lnTo>
                    <a:pt x="12700" y="1010539"/>
                  </a:lnTo>
                  <a:cubicBezTo>
                    <a:pt x="5715" y="1010539"/>
                    <a:pt x="0" y="1004824"/>
                    <a:pt x="0" y="99783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97839"/>
                  </a:lnTo>
                  <a:lnTo>
                    <a:pt x="12700" y="997839"/>
                  </a:lnTo>
                  <a:lnTo>
                    <a:pt x="12700" y="985139"/>
                  </a:lnTo>
                  <a:lnTo>
                    <a:pt x="7699121" y="985139"/>
                  </a:lnTo>
                  <a:lnTo>
                    <a:pt x="7699121" y="997839"/>
                  </a:lnTo>
                  <a:lnTo>
                    <a:pt x="7686421" y="997839"/>
                  </a:lnTo>
                  <a:lnTo>
                    <a:pt x="7686421" y="12700"/>
                  </a:lnTo>
                  <a:lnTo>
                    <a:pt x="7699121" y="12700"/>
                  </a:lnTo>
                  <a:lnTo>
                    <a:pt x="769912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DAGqxF_l338</dc:identifier>
  <dcterms:modified xsi:type="dcterms:W3CDTF">2011-08-01T06:04:30Z</dcterms:modified>
  <cp:revision>1</cp:revision>
  <dc:title>Dr Armando</dc:title>
</cp:coreProperties>
</file>