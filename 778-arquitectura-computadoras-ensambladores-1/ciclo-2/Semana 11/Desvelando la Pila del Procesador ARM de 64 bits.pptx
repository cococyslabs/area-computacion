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Lst>
  <p:sldSz cy="8229600" cx="14630400"/>
  <p:notesSz cx="8229600" cy="14630400"/>
  <p:embeddedFontLst>
    <p:embeddedFont>
      <p:font typeface="Proxima Nova"/>
      <p:regular r:id="rId11"/>
      <p:bold r:id="rId12"/>
      <p:italic r:id="rId13"/>
      <p:boldItalic r:id="rId14"/>
    </p:embeddedFont>
    <p:embeddedFont>
      <p:font typeface="Martel Sans"/>
      <p:regular r:id="rId15"/>
      <p:bold r:id="rId16"/>
    </p:embeddedFont>
    <p:embeddedFont>
      <p:font typeface="Kanit"/>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j8r/1/ZmAUk5w7TdSO+9+1UTrX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Kanit-boldItalic.fntdata"/><Relationship Id="rId11" Type="http://schemas.openxmlformats.org/officeDocument/2006/relationships/font" Target="fonts/ProximaNova-regular.fntdata"/><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font" Target="fonts/ProximaNova-italic.fntdata"/><Relationship Id="rId12" Type="http://schemas.openxmlformats.org/officeDocument/2006/relationships/font" Target="fonts/ProximaNova-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MartelSans-regular.fntdata"/><Relationship Id="rId14" Type="http://schemas.openxmlformats.org/officeDocument/2006/relationships/font" Target="fonts/ProximaNova-boldItalic.fntdata"/><Relationship Id="rId17" Type="http://schemas.openxmlformats.org/officeDocument/2006/relationships/font" Target="fonts/Kanit-regular.fntdata"/><Relationship Id="rId16" Type="http://schemas.openxmlformats.org/officeDocument/2006/relationships/font" Target="fonts/MartelSans-bold.fntdata"/><Relationship Id="rId5" Type="http://schemas.openxmlformats.org/officeDocument/2006/relationships/slide" Target="slides/slide1.xml"/><Relationship Id="rId19" Type="http://schemas.openxmlformats.org/officeDocument/2006/relationships/font" Target="fonts/Kanit-italic.fntdata"/><Relationship Id="rId6" Type="http://schemas.openxmlformats.org/officeDocument/2006/relationships/slide" Target="slides/slide2.xml"/><Relationship Id="rId18" Type="http://schemas.openxmlformats.org/officeDocument/2006/relationships/font" Target="fonts/Kanit-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 name="Google Shape;3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g362d3c2ed3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g362d3c2ed3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 name="Google Shape;38;g362d3c2ed39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 name="Google Shape;4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 name="Google Shape;5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 name="Google Shape;7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62d3c2ed39_0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g362d3c2ed39_0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g362d3c2ed39_0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6"/>
          <p:cNvSpPr/>
          <p:nvPr/>
        </p:nvSpPr>
        <p:spPr>
          <a:xfrm>
            <a:off x="0" y="0"/>
            <a:ext cx="14630400" cy="8229600"/>
          </a:xfrm>
          <a:prstGeom prst="rect">
            <a:avLst/>
          </a:prstGeom>
          <a:solidFill>
            <a:srgbClr val="271C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6"/>
          <p:cNvSpPr/>
          <p:nvPr/>
        </p:nvSpPr>
        <p:spPr>
          <a:xfrm>
            <a:off x="0" y="0"/>
            <a:ext cx="14630400" cy="8229600"/>
          </a:xfrm>
          <a:prstGeom prst="rect">
            <a:avLst/>
          </a:prstGeom>
          <a:solidFill>
            <a:srgbClr val="100C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 name="Google Shape;13;p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7"/>
          <p:cNvSpPr/>
          <p:nvPr/>
        </p:nvSpPr>
        <p:spPr>
          <a:xfrm>
            <a:off x="0" y="0"/>
            <a:ext cx="14630400" cy="8229600"/>
          </a:xfrm>
          <a:prstGeom prst="rect">
            <a:avLst/>
          </a:prstGeom>
          <a:solidFill>
            <a:srgbClr val="271C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7"/>
          <p:cNvSpPr/>
          <p:nvPr/>
        </p:nvSpPr>
        <p:spPr>
          <a:xfrm>
            <a:off x="0" y="0"/>
            <a:ext cx="14630400" cy="8229600"/>
          </a:xfrm>
          <a:prstGeom prst="rect">
            <a:avLst/>
          </a:prstGeom>
          <a:solidFill>
            <a:srgbClr val="100C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 name="Google Shape;17;p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8"/>
          <p:cNvSpPr/>
          <p:nvPr/>
        </p:nvSpPr>
        <p:spPr>
          <a:xfrm>
            <a:off x="0" y="0"/>
            <a:ext cx="14630400" cy="8229600"/>
          </a:xfrm>
          <a:prstGeom prst="rect">
            <a:avLst/>
          </a:prstGeom>
          <a:solidFill>
            <a:srgbClr val="271C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8"/>
          <p:cNvSpPr/>
          <p:nvPr/>
        </p:nvSpPr>
        <p:spPr>
          <a:xfrm>
            <a:off x="0" y="0"/>
            <a:ext cx="14630400" cy="8229600"/>
          </a:xfrm>
          <a:prstGeom prst="rect">
            <a:avLst/>
          </a:prstGeom>
          <a:solidFill>
            <a:srgbClr val="100C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 name="Google Shape;21;p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9"/>
          <p:cNvSpPr/>
          <p:nvPr/>
        </p:nvSpPr>
        <p:spPr>
          <a:xfrm>
            <a:off x="0" y="0"/>
            <a:ext cx="14630400" cy="8229600"/>
          </a:xfrm>
          <a:prstGeom prst="rect">
            <a:avLst/>
          </a:prstGeom>
          <a:solidFill>
            <a:srgbClr val="271C4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9"/>
          <p:cNvSpPr/>
          <p:nvPr/>
        </p:nvSpPr>
        <p:spPr>
          <a:xfrm>
            <a:off x="0" y="0"/>
            <a:ext cx="14630400" cy="8229600"/>
          </a:xfrm>
          <a:prstGeom prst="rect">
            <a:avLst/>
          </a:prstGeom>
          <a:solidFill>
            <a:srgbClr val="100C3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 name="Google Shape;25;p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6" name="Shape 2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pic>
        <p:nvPicPr>
          <p:cNvPr descr="preencoded.png" id="32" name="Google Shape;32;p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33" name="Google Shape;33;p1"/>
          <p:cNvSpPr/>
          <p:nvPr/>
        </p:nvSpPr>
        <p:spPr>
          <a:xfrm>
            <a:off x="837724" y="2465189"/>
            <a:ext cx="7468553" cy="140803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Kanit"/>
              <a:buNone/>
            </a:pPr>
            <a:r>
              <a:rPr b="0" i="0" lang="en-US" sz="4400" u="none" cap="none" strike="noStrike">
                <a:solidFill>
                  <a:srgbClr val="FFFFFF"/>
                </a:solidFill>
                <a:latin typeface="Kanit"/>
                <a:ea typeface="Kanit"/>
                <a:cs typeface="Kanit"/>
                <a:sym typeface="Kanit"/>
              </a:rPr>
              <a:t>Desvelando la Pila del Procesador ARM de 64 bits</a:t>
            </a:r>
            <a:endParaRPr b="0" i="0" sz="4400" u="none" cap="none" strike="noStrike">
              <a:solidFill>
                <a:srgbClr val="000000"/>
              </a:solidFill>
              <a:latin typeface="Arial"/>
              <a:ea typeface="Arial"/>
              <a:cs typeface="Arial"/>
              <a:sym typeface="Arial"/>
            </a:endParaRPr>
          </a:p>
        </p:txBody>
      </p:sp>
      <p:sp>
        <p:nvSpPr>
          <p:cNvPr id="34" name="Google Shape;34;p1"/>
          <p:cNvSpPr/>
          <p:nvPr/>
        </p:nvSpPr>
        <p:spPr>
          <a:xfrm>
            <a:off x="837724" y="4232196"/>
            <a:ext cx="7468553" cy="1532096"/>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D9E1FF"/>
              </a:buClr>
              <a:buSzPts val="1850"/>
              <a:buFont typeface="Martel Sans"/>
              <a:buNone/>
            </a:pPr>
            <a:r>
              <a:rPr b="0" i="0" lang="en-US" sz="1850" u="none" cap="none" strike="noStrike">
                <a:solidFill>
                  <a:srgbClr val="D9E1FF"/>
                </a:solidFill>
                <a:latin typeface="Martel Sans"/>
                <a:ea typeface="Martel Sans"/>
                <a:cs typeface="Martel Sans"/>
                <a:sym typeface="Martel Sans"/>
              </a:rPr>
              <a:t>La pila en los procesadores ARM de 64 bits es una estructura de memoria fundamental. Almacena información temporal y direcciones de retorno. Es vital para la gestión de llamadas a funciones y subrutinas.</a:t>
            </a:r>
            <a:endParaRPr b="0" i="0" sz="185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pic>
        <p:nvPicPr>
          <p:cNvPr descr="preencoded.png" id="40" name="Google Shape;40;g362d3c2ed39_0_0"/>
          <p:cNvPicPr preferRelativeResize="0"/>
          <p:nvPr/>
        </p:nvPicPr>
        <p:blipFill rotWithShape="1">
          <a:blip r:embed="rId3">
            <a:alphaModFix/>
          </a:blip>
          <a:srcRect b="0" l="0" r="0" t="0"/>
          <a:stretch/>
        </p:blipFill>
        <p:spPr>
          <a:xfrm>
            <a:off x="0" y="0"/>
            <a:ext cx="14630400" cy="2215515"/>
          </a:xfrm>
          <a:prstGeom prst="rect">
            <a:avLst/>
          </a:prstGeom>
          <a:noFill/>
          <a:ln>
            <a:noFill/>
          </a:ln>
        </p:spPr>
      </p:pic>
      <p:sp>
        <p:nvSpPr>
          <p:cNvPr id="41" name="Google Shape;41;g362d3c2ed39_0_0"/>
          <p:cNvSpPr/>
          <p:nvPr/>
        </p:nvSpPr>
        <p:spPr>
          <a:xfrm>
            <a:off x="620316" y="2702838"/>
            <a:ext cx="7675800" cy="521400"/>
          </a:xfrm>
          <a:prstGeom prst="rect">
            <a:avLst/>
          </a:prstGeom>
          <a:noFill/>
          <a:ln>
            <a:noFill/>
          </a:ln>
        </p:spPr>
        <p:txBody>
          <a:bodyPr anchorCtr="0" anchor="t" bIns="0" lIns="0" spcFirstLastPara="1" rIns="0" wrap="square" tIns="0">
            <a:noAutofit/>
          </a:bodyPr>
          <a:lstStyle/>
          <a:p>
            <a:pPr indent="0" lvl="0" marL="0" marR="0" rtl="0" algn="l">
              <a:lnSpc>
                <a:spcPct val="126153"/>
              </a:lnSpc>
              <a:spcBef>
                <a:spcPts val="0"/>
              </a:spcBef>
              <a:spcAft>
                <a:spcPts val="0"/>
              </a:spcAft>
              <a:buClr>
                <a:srgbClr val="FFFFFF"/>
              </a:buClr>
              <a:buSzPts val="3250"/>
              <a:buFont typeface="Kanit"/>
              <a:buNone/>
            </a:pPr>
            <a:r>
              <a:rPr lang="en-US" sz="3250">
                <a:solidFill>
                  <a:srgbClr val="FFFFFF"/>
                </a:solidFill>
                <a:latin typeface="Kanit"/>
                <a:ea typeface="Kanit"/>
                <a:cs typeface="Kanit"/>
                <a:sym typeface="Kanit"/>
              </a:rPr>
              <a:t>Competencia</a:t>
            </a:r>
            <a:endParaRPr b="0" i="0" sz="3250" u="none" cap="none" strike="noStrike">
              <a:solidFill>
                <a:srgbClr val="000000"/>
              </a:solidFill>
              <a:latin typeface="Arial"/>
              <a:ea typeface="Arial"/>
              <a:cs typeface="Arial"/>
              <a:sym typeface="Arial"/>
            </a:endParaRPr>
          </a:p>
        </p:txBody>
      </p:sp>
      <p:sp>
        <p:nvSpPr>
          <p:cNvPr id="42" name="Google Shape;42;g362d3c2ed39_0_0"/>
          <p:cNvSpPr/>
          <p:nvPr/>
        </p:nvSpPr>
        <p:spPr>
          <a:xfrm>
            <a:off x="620325" y="3533450"/>
            <a:ext cx="7284600" cy="2215500"/>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D9E1FF"/>
              </a:buClr>
              <a:buSzPts val="1600"/>
              <a:buFont typeface="Kanit"/>
              <a:buNone/>
            </a:pPr>
            <a:r>
              <a:rPr lang="en-US" sz="2200">
                <a:solidFill>
                  <a:schemeClr val="lt1"/>
                </a:solidFill>
                <a:latin typeface="Proxima Nova"/>
                <a:ea typeface="Proxima Nova"/>
                <a:cs typeface="Proxima Nova"/>
                <a:sym typeface="Proxima Nova"/>
              </a:rPr>
              <a:t>El estudiante analiza el funcionamiento de la arquitectura ARM y sus modos de operación, mediante el estudio de registros, instrucciones y diagramas estructurales, para optimizar el rendimiento de programas en microcontroladores. </a:t>
            </a:r>
            <a:endParaRPr i="0" sz="2800" u="none" cap="none" strike="noStrike">
              <a:solidFill>
                <a:schemeClr val="lt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2"/>
          <p:cNvSpPr/>
          <p:nvPr/>
        </p:nvSpPr>
        <p:spPr>
          <a:xfrm>
            <a:off x="837724" y="1198007"/>
            <a:ext cx="9220200" cy="704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400"/>
              <a:buFont typeface="Kanit"/>
              <a:buNone/>
            </a:pPr>
            <a:r>
              <a:rPr b="0" i="0" lang="en-US" sz="4400" u="none" cap="none" strike="noStrike">
                <a:solidFill>
                  <a:srgbClr val="FFFFFF"/>
                </a:solidFill>
                <a:latin typeface="Kanit"/>
                <a:ea typeface="Kanit"/>
                <a:cs typeface="Kanit"/>
                <a:sym typeface="Kanit"/>
              </a:rPr>
              <a:t>Funcionamiento de la Pila en ARM64</a:t>
            </a:r>
            <a:endParaRPr b="0" i="0" sz="4400" u="none" cap="none" strike="noStrike">
              <a:solidFill>
                <a:srgbClr val="000000"/>
              </a:solidFill>
              <a:latin typeface="Arial"/>
              <a:ea typeface="Arial"/>
              <a:cs typeface="Arial"/>
              <a:sym typeface="Arial"/>
            </a:endParaRPr>
          </a:p>
        </p:txBody>
      </p:sp>
      <p:sp>
        <p:nvSpPr>
          <p:cNvPr id="49" name="Google Shape;49;p2"/>
          <p:cNvSpPr/>
          <p:nvPr/>
        </p:nvSpPr>
        <p:spPr>
          <a:xfrm>
            <a:off x="837724" y="2476381"/>
            <a:ext cx="6185535" cy="2298144"/>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D9E1FF"/>
              </a:buClr>
              <a:buSzPts val="1850"/>
              <a:buFont typeface="Martel Sans"/>
              <a:buNone/>
            </a:pPr>
            <a:r>
              <a:rPr b="0" i="0" lang="en-US" sz="1850" u="none" cap="none" strike="noStrike">
                <a:solidFill>
                  <a:srgbClr val="D9E1FF"/>
                </a:solidFill>
                <a:latin typeface="Martel Sans"/>
                <a:ea typeface="Martel Sans"/>
                <a:cs typeface="Martel Sans"/>
                <a:sym typeface="Martel Sans"/>
              </a:rPr>
              <a:t>El registro SP (Stack Pointer) rastrea el tope de la pila. La pila crece típicamente hacia abajo en la memoria. Cada operación PUSH disminuye el SP. Las operaciones POP lo incrementan. Protege variables locales y valores de retorno. Esto asegura la continuidad durante la ejecución del programa.</a:t>
            </a:r>
            <a:endParaRPr b="0" i="0" sz="1850" u="none" cap="none" strike="noStrike">
              <a:solidFill>
                <a:srgbClr val="000000"/>
              </a:solidFill>
              <a:latin typeface="Arial"/>
              <a:ea typeface="Arial"/>
              <a:cs typeface="Arial"/>
              <a:sym typeface="Arial"/>
            </a:endParaRPr>
          </a:p>
        </p:txBody>
      </p:sp>
      <p:pic>
        <p:nvPicPr>
          <p:cNvPr descr="preencoded.png" id="50" name="Google Shape;50;p2"/>
          <p:cNvPicPr preferRelativeResize="0"/>
          <p:nvPr/>
        </p:nvPicPr>
        <p:blipFill rotWithShape="1">
          <a:blip r:embed="rId3">
            <a:alphaModFix/>
          </a:blip>
          <a:srcRect b="0" l="0" r="0" t="0"/>
          <a:stretch/>
        </p:blipFill>
        <p:spPr>
          <a:xfrm>
            <a:off x="7614761" y="2530197"/>
            <a:ext cx="6185535" cy="423219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descr="preencoded.png" id="56" name="Google Shape;56;p3"/>
          <p:cNvPicPr preferRelativeResize="0"/>
          <p:nvPr/>
        </p:nvPicPr>
        <p:blipFill rotWithShape="1">
          <a:blip r:embed="rId3">
            <a:alphaModFix/>
          </a:blip>
          <a:srcRect b="0" l="0" r="0" t="0"/>
          <a:stretch/>
        </p:blipFill>
        <p:spPr>
          <a:xfrm>
            <a:off x="0" y="0"/>
            <a:ext cx="3657600" cy="8229600"/>
          </a:xfrm>
          <a:prstGeom prst="rect">
            <a:avLst/>
          </a:prstGeom>
          <a:noFill/>
          <a:ln>
            <a:noFill/>
          </a:ln>
        </p:spPr>
      </p:pic>
      <p:sp>
        <p:nvSpPr>
          <p:cNvPr id="57" name="Google Shape;57;p3"/>
          <p:cNvSpPr/>
          <p:nvPr/>
        </p:nvSpPr>
        <p:spPr>
          <a:xfrm>
            <a:off x="4475678" y="644843"/>
            <a:ext cx="8746808" cy="687348"/>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FFFFFF"/>
              </a:buClr>
              <a:buSzPts val="4300"/>
              <a:buFont typeface="Kanit"/>
              <a:buNone/>
            </a:pPr>
            <a:r>
              <a:rPr b="0" i="0" lang="en-US" sz="4300" u="none" cap="none" strike="noStrike">
                <a:solidFill>
                  <a:srgbClr val="FFFFFF"/>
                </a:solidFill>
                <a:latin typeface="Kanit"/>
                <a:ea typeface="Kanit"/>
                <a:cs typeface="Kanit"/>
                <a:sym typeface="Kanit"/>
              </a:rPr>
              <a:t>Instrucciones para Manipular la Pila</a:t>
            </a:r>
            <a:endParaRPr b="0" i="0" sz="4300" u="none" cap="none" strike="noStrike">
              <a:solidFill>
                <a:srgbClr val="000000"/>
              </a:solidFill>
              <a:latin typeface="Arial"/>
              <a:ea typeface="Arial"/>
              <a:cs typeface="Arial"/>
              <a:sym typeface="Arial"/>
            </a:endParaRPr>
          </a:p>
        </p:txBody>
      </p:sp>
      <p:sp>
        <p:nvSpPr>
          <p:cNvPr id="58" name="Google Shape;58;p3"/>
          <p:cNvSpPr/>
          <p:nvPr/>
        </p:nvSpPr>
        <p:spPr>
          <a:xfrm>
            <a:off x="4475678" y="1682710"/>
            <a:ext cx="525899" cy="525899"/>
          </a:xfrm>
          <a:prstGeom prst="roundRect">
            <a:avLst>
              <a:gd fmla="val 6667" name="adj"/>
            </a:avLst>
          </a:prstGeom>
          <a:solidFill>
            <a:srgbClr val="2F2B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9" name="Google Shape;59;p3"/>
          <p:cNvPicPr preferRelativeResize="0"/>
          <p:nvPr/>
        </p:nvPicPr>
        <p:blipFill rotWithShape="1">
          <a:blip r:embed="rId4">
            <a:alphaModFix/>
          </a:blip>
          <a:srcRect b="0" l="0" r="0" t="0"/>
          <a:stretch/>
        </p:blipFill>
        <p:spPr>
          <a:xfrm>
            <a:off x="4573607" y="1739384"/>
            <a:ext cx="329922" cy="412433"/>
          </a:xfrm>
          <a:prstGeom prst="rect">
            <a:avLst/>
          </a:prstGeom>
          <a:noFill/>
          <a:ln>
            <a:noFill/>
          </a:ln>
        </p:spPr>
      </p:pic>
      <p:sp>
        <p:nvSpPr>
          <p:cNvPr id="60" name="Google Shape;60;p3"/>
          <p:cNvSpPr/>
          <p:nvPr/>
        </p:nvSpPr>
        <p:spPr>
          <a:xfrm>
            <a:off x="5235297" y="1762958"/>
            <a:ext cx="2749987" cy="343733"/>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D9E1FF"/>
              </a:buClr>
              <a:buSzPts val="2150"/>
              <a:buFont typeface="Kanit"/>
              <a:buNone/>
            </a:pPr>
            <a:r>
              <a:rPr b="0" i="0" lang="en-US" sz="2150" u="none" cap="none" strike="noStrike">
                <a:solidFill>
                  <a:srgbClr val="D9E1FF"/>
                </a:solidFill>
                <a:latin typeface="Kanit"/>
                <a:ea typeface="Kanit"/>
                <a:cs typeface="Kanit"/>
                <a:sym typeface="Kanit"/>
              </a:rPr>
              <a:t>PUSH</a:t>
            </a:r>
            <a:endParaRPr b="0" i="0" sz="2150" u="none" cap="none" strike="noStrike">
              <a:solidFill>
                <a:srgbClr val="000000"/>
              </a:solidFill>
              <a:latin typeface="Arial"/>
              <a:ea typeface="Arial"/>
              <a:cs typeface="Arial"/>
              <a:sym typeface="Arial"/>
            </a:endParaRPr>
          </a:p>
        </p:txBody>
      </p:sp>
      <p:sp>
        <p:nvSpPr>
          <p:cNvPr id="61" name="Google Shape;61;p3"/>
          <p:cNvSpPr/>
          <p:nvPr/>
        </p:nvSpPr>
        <p:spPr>
          <a:xfrm>
            <a:off x="5235297" y="2246828"/>
            <a:ext cx="8577024" cy="373856"/>
          </a:xfrm>
          <a:prstGeom prst="rect">
            <a:avLst/>
          </a:prstGeom>
          <a:noFill/>
          <a:ln>
            <a:noFill/>
          </a:ln>
        </p:spPr>
        <p:txBody>
          <a:bodyPr anchorCtr="0" anchor="t" bIns="0" lIns="0" spcFirstLastPara="1" rIns="0" wrap="square" tIns="0">
            <a:noAutofit/>
          </a:bodyPr>
          <a:lstStyle/>
          <a:p>
            <a:pPr indent="0" lvl="0" marL="0" marR="0" rtl="0" algn="l">
              <a:lnSpc>
                <a:spcPct val="161111"/>
              </a:lnSpc>
              <a:spcBef>
                <a:spcPts val="0"/>
              </a:spcBef>
              <a:spcAft>
                <a:spcPts val="0"/>
              </a:spcAft>
              <a:buClr>
                <a:srgbClr val="D9E1FF"/>
              </a:buClr>
              <a:buSzPts val="1800"/>
              <a:buFont typeface="Martel Sans"/>
              <a:buNone/>
            </a:pPr>
            <a:r>
              <a:rPr b="0" i="0" lang="en-US" sz="1800" u="none" cap="none" strike="noStrike">
                <a:solidFill>
                  <a:srgbClr val="D9E1FF"/>
                </a:solidFill>
                <a:latin typeface="Martel Sans"/>
                <a:ea typeface="Martel Sans"/>
                <a:cs typeface="Martel Sans"/>
                <a:sym typeface="Martel Sans"/>
              </a:rPr>
              <a:t>Guarda registros o valores actuales en la pila.</a:t>
            </a:r>
            <a:endParaRPr b="0" i="0" sz="1800" u="none" cap="none" strike="noStrike">
              <a:solidFill>
                <a:srgbClr val="000000"/>
              </a:solidFill>
              <a:latin typeface="Arial"/>
              <a:ea typeface="Arial"/>
              <a:cs typeface="Arial"/>
              <a:sym typeface="Arial"/>
            </a:endParaRPr>
          </a:p>
        </p:txBody>
      </p:sp>
      <p:sp>
        <p:nvSpPr>
          <p:cNvPr id="62" name="Google Shape;62;p3"/>
          <p:cNvSpPr/>
          <p:nvPr/>
        </p:nvSpPr>
        <p:spPr>
          <a:xfrm>
            <a:off x="4475678" y="3088124"/>
            <a:ext cx="525899" cy="525899"/>
          </a:xfrm>
          <a:prstGeom prst="roundRect">
            <a:avLst>
              <a:gd fmla="val 6667" name="adj"/>
            </a:avLst>
          </a:prstGeom>
          <a:solidFill>
            <a:srgbClr val="2F2B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3" name="Google Shape;63;p3"/>
          <p:cNvPicPr preferRelativeResize="0"/>
          <p:nvPr/>
        </p:nvPicPr>
        <p:blipFill rotWithShape="1">
          <a:blip r:embed="rId5">
            <a:alphaModFix/>
          </a:blip>
          <a:srcRect b="0" l="0" r="0" t="0"/>
          <a:stretch/>
        </p:blipFill>
        <p:spPr>
          <a:xfrm>
            <a:off x="4573607" y="3144798"/>
            <a:ext cx="329922" cy="412433"/>
          </a:xfrm>
          <a:prstGeom prst="rect">
            <a:avLst/>
          </a:prstGeom>
          <a:noFill/>
          <a:ln>
            <a:noFill/>
          </a:ln>
        </p:spPr>
      </p:pic>
      <p:sp>
        <p:nvSpPr>
          <p:cNvPr id="64" name="Google Shape;64;p3"/>
          <p:cNvSpPr/>
          <p:nvPr/>
        </p:nvSpPr>
        <p:spPr>
          <a:xfrm>
            <a:off x="5235297" y="3168372"/>
            <a:ext cx="2749987" cy="343733"/>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D9E1FF"/>
              </a:buClr>
              <a:buSzPts val="2150"/>
              <a:buFont typeface="Kanit"/>
              <a:buNone/>
            </a:pPr>
            <a:r>
              <a:rPr b="0" i="0" lang="en-US" sz="2150" u="none" cap="none" strike="noStrike">
                <a:solidFill>
                  <a:srgbClr val="D9E1FF"/>
                </a:solidFill>
                <a:latin typeface="Kanit"/>
                <a:ea typeface="Kanit"/>
                <a:cs typeface="Kanit"/>
                <a:sym typeface="Kanit"/>
              </a:rPr>
              <a:t>POP</a:t>
            </a:r>
            <a:endParaRPr b="0" i="0" sz="2150" u="none" cap="none" strike="noStrike">
              <a:solidFill>
                <a:srgbClr val="000000"/>
              </a:solidFill>
              <a:latin typeface="Arial"/>
              <a:ea typeface="Arial"/>
              <a:cs typeface="Arial"/>
              <a:sym typeface="Arial"/>
            </a:endParaRPr>
          </a:p>
        </p:txBody>
      </p:sp>
      <p:sp>
        <p:nvSpPr>
          <p:cNvPr id="65" name="Google Shape;65;p3"/>
          <p:cNvSpPr/>
          <p:nvPr/>
        </p:nvSpPr>
        <p:spPr>
          <a:xfrm>
            <a:off x="5235297" y="3652242"/>
            <a:ext cx="8577024" cy="373856"/>
          </a:xfrm>
          <a:prstGeom prst="rect">
            <a:avLst/>
          </a:prstGeom>
          <a:noFill/>
          <a:ln>
            <a:noFill/>
          </a:ln>
        </p:spPr>
        <p:txBody>
          <a:bodyPr anchorCtr="0" anchor="t" bIns="0" lIns="0" spcFirstLastPara="1" rIns="0" wrap="square" tIns="0">
            <a:noAutofit/>
          </a:bodyPr>
          <a:lstStyle/>
          <a:p>
            <a:pPr indent="0" lvl="0" marL="0" marR="0" rtl="0" algn="l">
              <a:lnSpc>
                <a:spcPct val="161111"/>
              </a:lnSpc>
              <a:spcBef>
                <a:spcPts val="0"/>
              </a:spcBef>
              <a:spcAft>
                <a:spcPts val="0"/>
              </a:spcAft>
              <a:buClr>
                <a:srgbClr val="D9E1FF"/>
              </a:buClr>
              <a:buSzPts val="1800"/>
              <a:buFont typeface="Martel Sans"/>
              <a:buNone/>
            </a:pPr>
            <a:r>
              <a:rPr b="0" i="0" lang="en-US" sz="1800" u="none" cap="none" strike="noStrike">
                <a:solidFill>
                  <a:srgbClr val="D9E1FF"/>
                </a:solidFill>
                <a:latin typeface="Martel Sans"/>
                <a:ea typeface="Martel Sans"/>
                <a:cs typeface="Martel Sans"/>
                <a:sym typeface="Martel Sans"/>
              </a:rPr>
              <a:t>Recupera datos del tope de la pila.</a:t>
            </a:r>
            <a:endParaRPr b="0" i="0" sz="1800" u="none" cap="none" strike="noStrike">
              <a:solidFill>
                <a:srgbClr val="000000"/>
              </a:solidFill>
              <a:latin typeface="Arial"/>
              <a:ea typeface="Arial"/>
              <a:cs typeface="Arial"/>
              <a:sym typeface="Arial"/>
            </a:endParaRPr>
          </a:p>
        </p:txBody>
      </p:sp>
      <p:sp>
        <p:nvSpPr>
          <p:cNvPr id="66" name="Google Shape;66;p3"/>
          <p:cNvSpPr/>
          <p:nvPr/>
        </p:nvSpPr>
        <p:spPr>
          <a:xfrm>
            <a:off x="4475678" y="4493538"/>
            <a:ext cx="525899" cy="525899"/>
          </a:xfrm>
          <a:prstGeom prst="roundRect">
            <a:avLst>
              <a:gd fmla="val 6667" name="adj"/>
            </a:avLst>
          </a:prstGeom>
          <a:solidFill>
            <a:srgbClr val="2F2B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7" name="Google Shape;67;p3"/>
          <p:cNvPicPr preferRelativeResize="0"/>
          <p:nvPr/>
        </p:nvPicPr>
        <p:blipFill rotWithShape="1">
          <a:blip r:embed="rId6">
            <a:alphaModFix/>
          </a:blip>
          <a:srcRect b="0" l="0" r="0" t="0"/>
          <a:stretch/>
        </p:blipFill>
        <p:spPr>
          <a:xfrm>
            <a:off x="4573607" y="4550212"/>
            <a:ext cx="329922" cy="412433"/>
          </a:xfrm>
          <a:prstGeom prst="rect">
            <a:avLst/>
          </a:prstGeom>
          <a:noFill/>
          <a:ln>
            <a:noFill/>
          </a:ln>
        </p:spPr>
      </p:pic>
      <p:sp>
        <p:nvSpPr>
          <p:cNvPr id="68" name="Google Shape;68;p3"/>
          <p:cNvSpPr/>
          <p:nvPr/>
        </p:nvSpPr>
        <p:spPr>
          <a:xfrm>
            <a:off x="5235297" y="4573786"/>
            <a:ext cx="2749987" cy="343733"/>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D9E1FF"/>
              </a:buClr>
              <a:buSzPts val="2150"/>
              <a:buFont typeface="Kanit"/>
              <a:buNone/>
            </a:pPr>
            <a:r>
              <a:rPr b="0" i="0" lang="en-US" sz="2150" u="none" cap="none" strike="noStrike">
                <a:solidFill>
                  <a:srgbClr val="D9E1FF"/>
                </a:solidFill>
                <a:latin typeface="Kanit"/>
                <a:ea typeface="Kanit"/>
                <a:cs typeface="Kanit"/>
                <a:sym typeface="Kanit"/>
              </a:rPr>
              <a:t>STR/STM y LDR/LDM</a:t>
            </a:r>
            <a:endParaRPr b="0" i="0" sz="2150" u="none" cap="none" strike="noStrike">
              <a:solidFill>
                <a:srgbClr val="000000"/>
              </a:solidFill>
              <a:latin typeface="Arial"/>
              <a:ea typeface="Arial"/>
              <a:cs typeface="Arial"/>
              <a:sym typeface="Arial"/>
            </a:endParaRPr>
          </a:p>
        </p:txBody>
      </p:sp>
      <p:sp>
        <p:nvSpPr>
          <p:cNvPr id="69" name="Google Shape;69;p3"/>
          <p:cNvSpPr/>
          <p:nvPr/>
        </p:nvSpPr>
        <p:spPr>
          <a:xfrm>
            <a:off x="5235297" y="5057656"/>
            <a:ext cx="8577024" cy="747713"/>
          </a:xfrm>
          <a:prstGeom prst="rect">
            <a:avLst/>
          </a:prstGeom>
          <a:noFill/>
          <a:ln>
            <a:noFill/>
          </a:ln>
        </p:spPr>
        <p:txBody>
          <a:bodyPr anchorCtr="0" anchor="t" bIns="0" lIns="0" spcFirstLastPara="1" rIns="0" wrap="square" tIns="0">
            <a:noAutofit/>
          </a:bodyPr>
          <a:lstStyle/>
          <a:p>
            <a:pPr indent="0" lvl="0" marL="0" marR="0" rtl="0" algn="l">
              <a:lnSpc>
                <a:spcPct val="161111"/>
              </a:lnSpc>
              <a:spcBef>
                <a:spcPts val="0"/>
              </a:spcBef>
              <a:spcAft>
                <a:spcPts val="0"/>
              </a:spcAft>
              <a:buClr>
                <a:srgbClr val="D9E1FF"/>
              </a:buClr>
              <a:buSzPts val="1800"/>
              <a:buFont typeface="Martel Sans"/>
              <a:buNone/>
            </a:pPr>
            <a:r>
              <a:rPr b="0" i="0" lang="en-US" sz="1800" u="none" cap="none" strike="noStrike">
                <a:solidFill>
                  <a:srgbClr val="D9E1FF"/>
                </a:solidFill>
                <a:latin typeface="Martel Sans"/>
                <a:ea typeface="Martel Sans"/>
                <a:cs typeface="Martel Sans"/>
                <a:sym typeface="Martel Sans"/>
              </a:rPr>
              <a:t>Se usan para manipulación avanzada. Son instrucciones de almacenamiento/carga múltiple.</a:t>
            </a:r>
            <a:endParaRPr b="0" i="0" sz="1800" u="none" cap="none" strike="noStrike">
              <a:solidFill>
                <a:srgbClr val="000000"/>
              </a:solidFill>
              <a:latin typeface="Arial"/>
              <a:ea typeface="Arial"/>
              <a:cs typeface="Arial"/>
              <a:sym typeface="Arial"/>
            </a:endParaRPr>
          </a:p>
        </p:txBody>
      </p:sp>
      <p:sp>
        <p:nvSpPr>
          <p:cNvPr id="70" name="Google Shape;70;p3"/>
          <p:cNvSpPr/>
          <p:nvPr/>
        </p:nvSpPr>
        <p:spPr>
          <a:xfrm>
            <a:off x="4475678" y="6272808"/>
            <a:ext cx="525899" cy="525899"/>
          </a:xfrm>
          <a:prstGeom prst="roundRect">
            <a:avLst>
              <a:gd fmla="val 6667" name="adj"/>
            </a:avLst>
          </a:prstGeom>
          <a:solidFill>
            <a:srgbClr val="2F2B5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1" name="Google Shape;71;p3"/>
          <p:cNvPicPr preferRelativeResize="0"/>
          <p:nvPr/>
        </p:nvPicPr>
        <p:blipFill rotWithShape="1">
          <a:blip r:embed="rId7">
            <a:alphaModFix/>
          </a:blip>
          <a:srcRect b="0" l="0" r="0" t="0"/>
          <a:stretch/>
        </p:blipFill>
        <p:spPr>
          <a:xfrm>
            <a:off x="4573607" y="6329482"/>
            <a:ext cx="329922" cy="412433"/>
          </a:xfrm>
          <a:prstGeom prst="rect">
            <a:avLst/>
          </a:prstGeom>
          <a:noFill/>
          <a:ln>
            <a:noFill/>
          </a:ln>
        </p:spPr>
      </p:pic>
      <p:sp>
        <p:nvSpPr>
          <p:cNvPr id="72" name="Google Shape;72;p3"/>
          <p:cNvSpPr/>
          <p:nvPr/>
        </p:nvSpPr>
        <p:spPr>
          <a:xfrm>
            <a:off x="5235297" y="6353056"/>
            <a:ext cx="2749987" cy="343733"/>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D9E1FF"/>
              </a:buClr>
              <a:buSzPts val="2150"/>
              <a:buFont typeface="Kanit"/>
              <a:buNone/>
            </a:pPr>
            <a:r>
              <a:rPr b="0" i="0" lang="en-US" sz="2150" u="none" cap="none" strike="noStrike">
                <a:solidFill>
                  <a:srgbClr val="D9E1FF"/>
                </a:solidFill>
                <a:latin typeface="Kanit"/>
                <a:ea typeface="Kanit"/>
                <a:cs typeface="Kanit"/>
                <a:sym typeface="Kanit"/>
              </a:rPr>
              <a:t>Macros</a:t>
            </a:r>
            <a:endParaRPr b="0" i="0" sz="2150" u="none" cap="none" strike="noStrike">
              <a:solidFill>
                <a:srgbClr val="000000"/>
              </a:solidFill>
              <a:latin typeface="Arial"/>
              <a:ea typeface="Arial"/>
              <a:cs typeface="Arial"/>
              <a:sym typeface="Arial"/>
            </a:endParaRPr>
          </a:p>
        </p:txBody>
      </p:sp>
      <p:sp>
        <p:nvSpPr>
          <p:cNvPr id="73" name="Google Shape;73;p3"/>
          <p:cNvSpPr/>
          <p:nvPr/>
        </p:nvSpPr>
        <p:spPr>
          <a:xfrm>
            <a:off x="5235297" y="6836926"/>
            <a:ext cx="8577024" cy="747713"/>
          </a:xfrm>
          <a:prstGeom prst="rect">
            <a:avLst/>
          </a:prstGeom>
          <a:noFill/>
          <a:ln>
            <a:noFill/>
          </a:ln>
        </p:spPr>
        <p:txBody>
          <a:bodyPr anchorCtr="0" anchor="t" bIns="0" lIns="0" spcFirstLastPara="1" rIns="0" wrap="square" tIns="0">
            <a:noAutofit/>
          </a:bodyPr>
          <a:lstStyle/>
          <a:p>
            <a:pPr indent="0" lvl="0" marL="0" marR="0" rtl="0" algn="l">
              <a:lnSpc>
                <a:spcPct val="161111"/>
              </a:lnSpc>
              <a:spcBef>
                <a:spcPts val="0"/>
              </a:spcBef>
              <a:spcAft>
                <a:spcPts val="0"/>
              </a:spcAft>
              <a:buClr>
                <a:srgbClr val="D9E1FF"/>
              </a:buClr>
              <a:buSzPts val="1800"/>
              <a:buFont typeface="Martel Sans"/>
              <a:buNone/>
            </a:pPr>
            <a:r>
              <a:rPr b="0" i="0" lang="en-US" sz="1800" u="none" cap="none" strike="noStrike">
                <a:solidFill>
                  <a:srgbClr val="D9E1FF"/>
                </a:solidFill>
                <a:latin typeface="Martel Sans"/>
                <a:ea typeface="Martel Sans"/>
                <a:cs typeface="Martel Sans"/>
                <a:sym typeface="Martel Sans"/>
              </a:rPr>
              <a:t>En ARM64, PUSH y POP son macros. Implementan STR/LDR sobre el registro SP.</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descr="preencoded.png" id="79" name="Google Shape;79;p4"/>
          <p:cNvPicPr preferRelativeResize="0"/>
          <p:nvPr/>
        </p:nvPicPr>
        <p:blipFill rotWithShape="1">
          <a:blip r:embed="rId3">
            <a:alphaModFix/>
          </a:blip>
          <a:srcRect b="0" l="0" r="0" t="0"/>
          <a:stretch/>
        </p:blipFill>
        <p:spPr>
          <a:xfrm>
            <a:off x="0" y="0"/>
            <a:ext cx="14630400" cy="2215515"/>
          </a:xfrm>
          <a:prstGeom prst="rect">
            <a:avLst/>
          </a:prstGeom>
          <a:noFill/>
          <a:ln>
            <a:noFill/>
          </a:ln>
        </p:spPr>
      </p:pic>
      <p:sp>
        <p:nvSpPr>
          <p:cNvPr id="80" name="Google Shape;80;p4"/>
          <p:cNvSpPr/>
          <p:nvPr/>
        </p:nvSpPr>
        <p:spPr>
          <a:xfrm>
            <a:off x="620316" y="2702838"/>
            <a:ext cx="7675840" cy="521256"/>
          </a:xfrm>
          <a:prstGeom prst="rect">
            <a:avLst/>
          </a:prstGeom>
          <a:noFill/>
          <a:ln>
            <a:noFill/>
          </a:ln>
        </p:spPr>
        <p:txBody>
          <a:bodyPr anchorCtr="0" anchor="t" bIns="0" lIns="0" spcFirstLastPara="1" rIns="0" wrap="square" tIns="0">
            <a:noAutofit/>
          </a:bodyPr>
          <a:lstStyle/>
          <a:p>
            <a:pPr indent="0" lvl="0" marL="0" marR="0" rtl="0" algn="l">
              <a:lnSpc>
                <a:spcPct val="126153"/>
              </a:lnSpc>
              <a:spcBef>
                <a:spcPts val="0"/>
              </a:spcBef>
              <a:spcAft>
                <a:spcPts val="0"/>
              </a:spcAft>
              <a:buClr>
                <a:srgbClr val="FFFFFF"/>
              </a:buClr>
              <a:buSzPts val="3250"/>
              <a:buFont typeface="Kanit"/>
              <a:buNone/>
            </a:pPr>
            <a:r>
              <a:rPr b="0" i="0" lang="en-US" sz="3250" u="none" cap="none" strike="noStrike">
                <a:solidFill>
                  <a:srgbClr val="FFFFFF"/>
                </a:solidFill>
                <a:latin typeface="Kanit"/>
                <a:ea typeface="Kanit"/>
                <a:cs typeface="Kanit"/>
                <a:sym typeface="Kanit"/>
              </a:rPr>
              <a:t>Casos de Uso Típicos de la Pila en ARM64</a:t>
            </a:r>
            <a:endParaRPr b="0" i="0" sz="3250" u="none" cap="none" strike="noStrike">
              <a:solidFill>
                <a:srgbClr val="000000"/>
              </a:solidFill>
              <a:latin typeface="Arial"/>
              <a:ea typeface="Arial"/>
              <a:cs typeface="Arial"/>
              <a:sym typeface="Arial"/>
            </a:endParaRPr>
          </a:p>
        </p:txBody>
      </p:sp>
      <p:pic>
        <p:nvPicPr>
          <p:cNvPr descr="preencoded.png" id="81" name="Google Shape;81;p4"/>
          <p:cNvPicPr preferRelativeResize="0"/>
          <p:nvPr/>
        </p:nvPicPr>
        <p:blipFill rotWithShape="1">
          <a:blip r:embed="rId4">
            <a:alphaModFix/>
          </a:blip>
          <a:srcRect b="0" l="0" r="0" t="0"/>
          <a:stretch/>
        </p:blipFill>
        <p:spPr>
          <a:xfrm>
            <a:off x="620316" y="3489960"/>
            <a:ext cx="886182" cy="1063466"/>
          </a:xfrm>
          <a:prstGeom prst="rect">
            <a:avLst/>
          </a:prstGeom>
          <a:noFill/>
          <a:ln>
            <a:noFill/>
          </a:ln>
        </p:spPr>
      </p:pic>
      <p:sp>
        <p:nvSpPr>
          <p:cNvPr id="82" name="Google Shape;82;p4"/>
          <p:cNvSpPr/>
          <p:nvPr/>
        </p:nvSpPr>
        <p:spPr>
          <a:xfrm>
            <a:off x="1772364" y="3667125"/>
            <a:ext cx="2085142" cy="260509"/>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D9E1FF"/>
              </a:buClr>
              <a:buSzPts val="1600"/>
              <a:buFont typeface="Kanit"/>
              <a:buNone/>
            </a:pPr>
            <a:r>
              <a:rPr b="0" i="0" lang="en-US" sz="1600" u="none" cap="none" strike="noStrike">
                <a:solidFill>
                  <a:srgbClr val="D9E1FF"/>
                </a:solidFill>
                <a:latin typeface="Kanit"/>
                <a:ea typeface="Kanit"/>
                <a:cs typeface="Kanit"/>
                <a:sym typeface="Kanit"/>
              </a:rPr>
              <a:t>Almacenamiento</a:t>
            </a:r>
            <a:endParaRPr b="0" i="0" sz="1600" u="none" cap="none" strike="noStrike">
              <a:solidFill>
                <a:srgbClr val="000000"/>
              </a:solidFill>
              <a:latin typeface="Arial"/>
              <a:ea typeface="Arial"/>
              <a:cs typeface="Arial"/>
              <a:sym typeface="Arial"/>
            </a:endParaRPr>
          </a:p>
        </p:txBody>
      </p:sp>
      <p:sp>
        <p:nvSpPr>
          <p:cNvPr id="83" name="Google Shape;83;p4"/>
          <p:cNvSpPr/>
          <p:nvPr/>
        </p:nvSpPr>
        <p:spPr>
          <a:xfrm>
            <a:off x="1772364" y="4033957"/>
            <a:ext cx="12237720" cy="283607"/>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D9E1FF"/>
              </a:buClr>
              <a:buSzPts val="1350"/>
              <a:buFont typeface="Martel Sans"/>
              <a:buNone/>
            </a:pPr>
            <a:r>
              <a:rPr b="0" i="0" lang="en-US" sz="1350" u="none" cap="none" strike="noStrike">
                <a:solidFill>
                  <a:srgbClr val="D9E1FF"/>
                </a:solidFill>
                <a:latin typeface="Martel Sans"/>
                <a:ea typeface="Martel Sans"/>
                <a:cs typeface="Martel Sans"/>
                <a:sym typeface="Martel Sans"/>
              </a:rPr>
              <a:t>Guarda registros durante interrupciones. También durante llamadas a funciones.</a:t>
            </a:r>
            <a:endParaRPr b="0" i="0" sz="1350" u="none" cap="none" strike="noStrike">
              <a:solidFill>
                <a:srgbClr val="000000"/>
              </a:solidFill>
              <a:latin typeface="Arial"/>
              <a:ea typeface="Arial"/>
              <a:cs typeface="Arial"/>
              <a:sym typeface="Arial"/>
            </a:endParaRPr>
          </a:p>
        </p:txBody>
      </p:sp>
      <p:pic>
        <p:nvPicPr>
          <p:cNvPr descr="preencoded.png" id="84" name="Google Shape;84;p4"/>
          <p:cNvPicPr preferRelativeResize="0"/>
          <p:nvPr/>
        </p:nvPicPr>
        <p:blipFill rotWithShape="1">
          <a:blip r:embed="rId5">
            <a:alphaModFix/>
          </a:blip>
          <a:srcRect b="0" l="0" r="0" t="0"/>
          <a:stretch/>
        </p:blipFill>
        <p:spPr>
          <a:xfrm>
            <a:off x="620316" y="4553426"/>
            <a:ext cx="886182" cy="1063466"/>
          </a:xfrm>
          <a:prstGeom prst="rect">
            <a:avLst/>
          </a:prstGeom>
          <a:noFill/>
          <a:ln>
            <a:noFill/>
          </a:ln>
        </p:spPr>
      </p:pic>
      <p:sp>
        <p:nvSpPr>
          <p:cNvPr id="85" name="Google Shape;85;p4"/>
          <p:cNvSpPr/>
          <p:nvPr/>
        </p:nvSpPr>
        <p:spPr>
          <a:xfrm>
            <a:off x="1772364" y="4730591"/>
            <a:ext cx="2085142" cy="260509"/>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D9E1FF"/>
              </a:buClr>
              <a:buSzPts val="1600"/>
              <a:buFont typeface="Kanit"/>
              <a:buNone/>
            </a:pPr>
            <a:r>
              <a:rPr b="0" i="0" lang="en-US" sz="1600" u="none" cap="none" strike="noStrike">
                <a:solidFill>
                  <a:srgbClr val="D9E1FF"/>
                </a:solidFill>
                <a:latin typeface="Kanit"/>
                <a:ea typeface="Kanit"/>
                <a:cs typeface="Kanit"/>
                <a:sym typeface="Kanit"/>
              </a:rPr>
              <a:t>Gestión</a:t>
            </a:r>
            <a:endParaRPr b="0" i="0" sz="1600" u="none" cap="none" strike="noStrike">
              <a:solidFill>
                <a:srgbClr val="000000"/>
              </a:solidFill>
              <a:latin typeface="Arial"/>
              <a:ea typeface="Arial"/>
              <a:cs typeface="Arial"/>
              <a:sym typeface="Arial"/>
            </a:endParaRPr>
          </a:p>
        </p:txBody>
      </p:sp>
      <p:sp>
        <p:nvSpPr>
          <p:cNvPr id="86" name="Google Shape;86;p4"/>
          <p:cNvSpPr/>
          <p:nvPr/>
        </p:nvSpPr>
        <p:spPr>
          <a:xfrm>
            <a:off x="1772364" y="5097423"/>
            <a:ext cx="12237720" cy="283607"/>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D9E1FF"/>
              </a:buClr>
              <a:buSzPts val="1350"/>
              <a:buFont typeface="Martel Sans"/>
              <a:buNone/>
            </a:pPr>
            <a:r>
              <a:rPr b="0" i="0" lang="en-US" sz="1350" u="none" cap="none" strike="noStrike">
                <a:solidFill>
                  <a:srgbClr val="D9E1FF"/>
                </a:solidFill>
                <a:latin typeface="Martel Sans"/>
                <a:ea typeface="Martel Sans"/>
                <a:cs typeface="Martel Sans"/>
                <a:sym typeface="Martel Sans"/>
              </a:rPr>
              <a:t>Controla las variables locales de cada función. Esto es crucial para el aislamiento.</a:t>
            </a:r>
            <a:endParaRPr b="0" i="0" sz="1350" u="none" cap="none" strike="noStrike">
              <a:solidFill>
                <a:srgbClr val="000000"/>
              </a:solidFill>
              <a:latin typeface="Arial"/>
              <a:ea typeface="Arial"/>
              <a:cs typeface="Arial"/>
              <a:sym typeface="Arial"/>
            </a:endParaRPr>
          </a:p>
        </p:txBody>
      </p:sp>
      <p:pic>
        <p:nvPicPr>
          <p:cNvPr descr="preencoded.png" id="87" name="Google Shape;87;p4"/>
          <p:cNvPicPr preferRelativeResize="0"/>
          <p:nvPr/>
        </p:nvPicPr>
        <p:blipFill rotWithShape="1">
          <a:blip r:embed="rId6">
            <a:alphaModFix/>
          </a:blip>
          <a:srcRect b="0" l="0" r="0" t="0"/>
          <a:stretch/>
        </p:blipFill>
        <p:spPr>
          <a:xfrm>
            <a:off x="620316" y="5616892"/>
            <a:ext cx="886182" cy="1063466"/>
          </a:xfrm>
          <a:prstGeom prst="rect">
            <a:avLst/>
          </a:prstGeom>
          <a:noFill/>
          <a:ln>
            <a:noFill/>
          </a:ln>
        </p:spPr>
      </p:pic>
      <p:sp>
        <p:nvSpPr>
          <p:cNvPr id="88" name="Google Shape;88;p4"/>
          <p:cNvSpPr/>
          <p:nvPr/>
        </p:nvSpPr>
        <p:spPr>
          <a:xfrm>
            <a:off x="1772364" y="5794058"/>
            <a:ext cx="2210991" cy="260509"/>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D9E1FF"/>
              </a:buClr>
              <a:buSzPts val="1600"/>
              <a:buFont typeface="Kanit"/>
              <a:buNone/>
            </a:pPr>
            <a:r>
              <a:rPr b="0" i="0" lang="en-US" sz="1600" u="none" cap="none" strike="noStrike">
                <a:solidFill>
                  <a:srgbClr val="D9E1FF"/>
                </a:solidFill>
                <a:latin typeface="Kanit"/>
                <a:ea typeface="Kanit"/>
                <a:cs typeface="Kanit"/>
                <a:sym typeface="Kanit"/>
              </a:rPr>
              <a:t>Implementación Segura</a:t>
            </a:r>
            <a:endParaRPr b="0" i="0" sz="1600" u="none" cap="none" strike="noStrike">
              <a:solidFill>
                <a:srgbClr val="000000"/>
              </a:solidFill>
              <a:latin typeface="Arial"/>
              <a:ea typeface="Arial"/>
              <a:cs typeface="Arial"/>
              <a:sym typeface="Arial"/>
            </a:endParaRPr>
          </a:p>
        </p:txBody>
      </p:sp>
      <p:sp>
        <p:nvSpPr>
          <p:cNvPr id="89" name="Google Shape;89;p4"/>
          <p:cNvSpPr/>
          <p:nvPr/>
        </p:nvSpPr>
        <p:spPr>
          <a:xfrm>
            <a:off x="1772364" y="6160889"/>
            <a:ext cx="12237720" cy="283607"/>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D9E1FF"/>
              </a:buClr>
              <a:buSzPts val="1350"/>
              <a:buFont typeface="Martel Sans"/>
              <a:buNone/>
            </a:pPr>
            <a:r>
              <a:rPr b="0" i="0" lang="en-US" sz="1350" u="none" cap="none" strike="noStrike">
                <a:solidFill>
                  <a:srgbClr val="D9E1FF"/>
                </a:solidFill>
                <a:latin typeface="Martel Sans"/>
                <a:ea typeface="Martel Sans"/>
                <a:cs typeface="Martel Sans"/>
                <a:sym typeface="Martel Sans"/>
              </a:rPr>
              <a:t>Asegura el regreso tras subrutinas. También el manejo de errores. Es muy fiable.</a:t>
            </a:r>
            <a:endParaRPr b="0" i="0" sz="1350" u="none" cap="none" strike="noStrike">
              <a:solidFill>
                <a:srgbClr val="000000"/>
              </a:solidFill>
              <a:latin typeface="Arial"/>
              <a:ea typeface="Arial"/>
              <a:cs typeface="Arial"/>
              <a:sym typeface="Arial"/>
            </a:endParaRPr>
          </a:p>
        </p:txBody>
      </p:sp>
      <p:pic>
        <p:nvPicPr>
          <p:cNvPr descr="preencoded.png" id="90" name="Google Shape;90;p4"/>
          <p:cNvPicPr preferRelativeResize="0"/>
          <p:nvPr/>
        </p:nvPicPr>
        <p:blipFill rotWithShape="1">
          <a:blip r:embed="rId7">
            <a:alphaModFix/>
          </a:blip>
          <a:srcRect b="0" l="0" r="0" t="0"/>
          <a:stretch/>
        </p:blipFill>
        <p:spPr>
          <a:xfrm>
            <a:off x="620316" y="6680359"/>
            <a:ext cx="886182" cy="1063466"/>
          </a:xfrm>
          <a:prstGeom prst="rect">
            <a:avLst/>
          </a:prstGeom>
          <a:noFill/>
          <a:ln>
            <a:noFill/>
          </a:ln>
        </p:spPr>
      </p:pic>
      <p:sp>
        <p:nvSpPr>
          <p:cNvPr id="91" name="Google Shape;91;p4"/>
          <p:cNvSpPr/>
          <p:nvPr/>
        </p:nvSpPr>
        <p:spPr>
          <a:xfrm>
            <a:off x="1772364" y="6857524"/>
            <a:ext cx="2085142" cy="260509"/>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D9E1FF"/>
              </a:buClr>
              <a:buSzPts val="1600"/>
              <a:buFont typeface="Kanit"/>
              <a:buNone/>
            </a:pPr>
            <a:r>
              <a:rPr b="0" i="0" lang="en-US" sz="1600" u="none" cap="none" strike="noStrike">
                <a:solidFill>
                  <a:srgbClr val="D9E1FF"/>
                </a:solidFill>
                <a:latin typeface="Kanit"/>
                <a:ea typeface="Kanit"/>
                <a:cs typeface="Kanit"/>
                <a:sym typeface="Kanit"/>
              </a:rPr>
              <a:t>Estructura Base</a:t>
            </a:r>
            <a:endParaRPr b="0" i="0" sz="1600" u="none" cap="none" strike="noStrike">
              <a:solidFill>
                <a:srgbClr val="000000"/>
              </a:solidFill>
              <a:latin typeface="Arial"/>
              <a:ea typeface="Arial"/>
              <a:cs typeface="Arial"/>
              <a:sym typeface="Arial"/>
            </a:endParaRPr>
          </a:p>
        </p:txBody>
      </p:sp>
      <p:sp>
        <p:nvSpPr>
          <p:cNvPr id="92" name="Google Shape;92;p4"/>
          <p:cNvSpPr/>
          <p:nvPr/>
        </p:nvSpPr>
        <p:spPr>
          <a:xfrm>
            <a:off x="1772364" y="7224355"/>
            <a:ext cx="12237720" cy="283607"/>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D9E1FF"/>
              </a:buClr>
              <a:buSzPts val="1350"/>
              <a:buFont typeface="Martel Sans"/>
              <a:buNone/>
            </a:pPr>
            <a:r>
              <a:rPr b="0" i="0" lang="en-US" sz="1350" u="none" cap="none" strike="noStrike">
                <a:solidFill>
                  <a:srgbClr val="D9E1FF"/>
                </a:solidFill>
                <a:latin typeface="Martel Sans"/>
                <a:ea typeface="Martel Sans"/>
                <a:cs typeface="Martel Sans"/>
                <a:sym typeface="Martel Sans"/>
              </a:rPr>
              <a:t>Es fundamental para la recursión. Además, para pasos intermedios de algoritmos complejos.</a:t>
            </a:r>
            <a:endParaRPr b="0" i="0" sz="135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62d3c2ed39_0_19"/>
          <p:cNvSpPr/>
          <p:nvPr/>
        </p:nvSpPr>
        <p:spPr>
          <a:xfrm>
            <a:off x="620366" y="1461713"/>
            <a:ext cx="7675800" cy="521400"/>
          </a:xfrm>
          <a:prstGeom prst="rect">
            <a:avLst/>
          </a:prstGeom>
          <a:noFill/>
          <a:ln>
            <a:noFill/>
          </a:ln>
        </p:spPr>
        <p:txBody>
          <a:bodyPr anchorCtr="0" anchor="t" bIns="0" lIns="0" spcFirstLastPara="1" rIns="0" wrap="square" tIns="0">
            <a:noAutofit/>
          </a:bodyPr>
          <a:lstStyle/>
          <a:p>
            <a:pPr indent="0" lvl="0" marL="0" marR="0" rtl="0" algn="l">
              <a:lnSpc>
                <a:spcPct val="126153"/>
              </a:lnSpc>
              <a:spcBef>
                <a:spcPts val="0"/>
              </a:spcBef>
              <a:spcAft>
                <a:spcPts val="0"/>
              </a:spcAft>
              <a:buClr>
                <a:srgbClr val="FFFFFF"/>
              </a:buClr>
              <a:buSzPts val="3250"/>
              <a:buFont typeface="Kanit"/>
              <a:buNone/>
            </a:pPr>
            <a:r>
              <a:rPr lang="en-US" sz="3250">
                <a:solidFill>
                  <a:srgbClr val="FFFFFF"/>
                </a:solidFill>
                <a:latin typeface="Kanit"/>
                <a:ea typeface="Kanit"/>
                <a:cs typeface="Kanit"/>
                <a:sym typeface="Kanit"/>
              </a:rPr>
              <a:t>Retrospeccion</a:t>
            </a:r>
            <a:endParaRPr b="0" i="0" sz="3250" u="none" cap="none" strike="noStrike">
              <a:solidFill>
                <a:srgbClr val="000000"/>
              </a:solidFill>
              <a:latin typeface="Arial"/>
              <a:ea typeface="Arial"/>
              <a:cs typeface="Arial"/>
              <a:sym typeface="Arial"/>
            </a:endParaRPr>
          </a:p>
        </p:txBody>
      </p:sp>
      <p:pic>
        <p:nvPicPr>
          <p:cNvPr descr="preencoded.png" id="99" name="Google Shape;99;g362d3c2ed39_0_19"/>
          <p:cNvPicPr preferRelativeResize="0"/>
          <p:nvPr/>
        </p:nvPicPr>
        <p:blipFill rotWithShape="1">
          <a:blip r:embed="rId3">
            <a:alphaModFix/>
          </a:blip>
          <a:srcRect b="0" l="0" r="0" t="0"/>
          <a:stretch/>
        </p:blipFill>
        <p:spPr>
          <a:xfrm>
            <a:off x="620366" y="2248835"/>
            <a:ext cx="886182" cy="1063466"/>
          </a:xfrm>
          <a:prstGeom prst="rect">
            <a:avLst/>
          </a:prstGeom>
          <a:noFill/>
          <a:ln>
            <a:noFill/>
          </a:ln>
        </p:spPr>
      </p:pic>
      <p:sp>
        <p:nvSpPr>
          <p:cNvPr id="100" name="Google Shape;100;g362d3c2ed39_0_19"/>
          <p:cNvSpPr/>
          <p:nvPr/>
        </p:nvSpPr>
        <p:spPr>
          <a:xfrm>
            <a:off x="1772414" y="2426000"/>
            <a:ext cx="2085000" cy="260400"/>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D9E1FF"/>
              </a:buClr>
              <a:buSzPts val="1600"/>
              <a:buFont typeface="Kanit"/>
              <a:buNone/>
            </a:pPr>
            <a:r>
              <a:rPr lang="en-US" sz="1600">
                <a:solidFill>
                  <a:srgbClr val="D9E1FF"/>
                </a:solidFill>
                <a:latin typeface="Kanit"/>
                <a:ea typeface="Kanit"/>
                <a:cs typeface="Kanit"/>
                <a:sym typeface="Kanit"/>
              </a:rPr>
              <a:t>Analisis</a:t>
            </a:r>
            <a:endParaRPr b="0" i="0" sz="1600" u="none" cap="none" strike="noStrike">
              <a:solidFill>
                <a:srgbClr val="000000"/>
              </a:solidFill>
              <a:latin typeface="Arial"/>
              <a:ea typeface="Arial"/>
              <a:cs typeface="Arial"/>
              <a:sym typeface="Arial"/>
            </a:endParaRPr>
          </a:p>
        </p:txBody>
      </p:sp>
      <p:sp>
        <p:nvSpPr>
          <p:cNvPr id="101" name="Google Shape;101;g362d3c2ed39_0_19"/>
          <p:cNvSpPr/>
          <p:nvPr/>
        </p:nvSpPr>
        <p:spPr>
          <a:xfrm>
            <a:off x="1772414" y="2792832"/>
            <a:ext cx="12237600" cy="283500"/>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D9E1FF"/>
              </a:buClr>
              <a:buSzPts val="1350"/>
              <a:buFont typeface="Martel Sans"/>
              <a:buNone/>
            </a:pPr>
            <a:r>
              <a:rPr lang="en-US" sz="1350">
                <a:solidFill>
                  <a:srgbClr val="D9E1FF"/>
                </a:solidFill>
                <a:latin typeface="Martel Sans"/>
                <a:ea typeface="Martel Sans"/>
                <a:cs typeface="Martel Sans"/>
                <a:sym typeface="Martel Sans"/>
              </a:rPr>
              <a:t>Puedo analizar en que escenarios debo utilizar la pila del procesador</a:t>
            </a:r>
            <a:endParaRPr b="0" i="0" sz="1350" u="none" cap="none" strike="noStrike">
              <a:solidFill>
                <a:srgbClr val="000000"/>
              </a:solidFill>
              <a:latin typeface="Arial"/>
              <a:ea typeface="Arial"/>
              <a:cs typeface="Arial"/>
              <a:sym typeface="Arial"/>
            </a:endParaRPr>
          </a:p>
        </p:txBody>
      </p:sp>
      <p:pic>
        <p:nvPicPr>
          <p:cNvPr descr="preencoded.png" id="102" name="Google Shape;102;g362d3c2ed39_0_19"/>
          <p:cNvPicPr preferRelativeResize="0"/>
          <p:nvPr/>
        </p:nvPicPr>
        <p:blipFill rotWithShape="1">
          <a:blip r:embed="rId4">
            <a:alphaModFix/>
          </a:blip>
          <a:srcRect b="0" l="0" r="0" t="0"/>
          <a:stretch/>
        </p:blipFill>
        <p:spPr>
          <a:xfrm>
            <a:off x="620366" y="3312301"/>
            <a:ext cx="886182" cy="1063466"/>
          </a:xfrm>
          <a:prstGeom prst="rect">
            <a:avLst/>
          </a:prstGeom>
          <a:noFill/>
          <a:ln>
            <a:noFill/>
          </a:ln>
        </p:spPr>
      </p:pic>
      <p:sp>
        <p:nvSpPr>
          <p:cNvPr id="103" name="Google Shape;103;g362d3c2ed39_0_19"/>
          <p:cNvSpPr/>
          <p:nvPr/>
        </p:nvSpPr>
        <p:spPr>
          <a:xfrm>
            <a:off x="1772414" y="3489466"/>
            <a:ext cx="2085000" cy="260400"/>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D9E1FF"/>
              </a:buClr>
              <a:buSzPts val="1600"/>
              <a:buFont typeface="Kanit"/>
              <a:buNone/>
            </a:pPr>
            <a:r>
              <a:rPr lang="en-US" sz="1600">
                <a:solidFill>
                  <a:srgbClr val="D9E1FF"/>
                </a:solidFill>
                <a:latin typeface="Kanit"/>
                <a:ea typeface="Kanit"/>
                <a:cs typeface="Kanit"/>
                <a:sym typeface="Kanit"/>
              </a:rPr>
              <a:t>Implementacion</a:t>
            </a:r>
            <a:endParaRPr b="0" i="0" sz="1600" u="none" cap="none" strike="noStrike">
              <a:solidFill>
                <a:srgbClr val="000000"/>
              </a:solidFill>
              <a:latin typeface="Arial"/>
              <a:ea typeface="Arial"/>
              <a:cs typeface="Arial"/>
              <a:sym typeface="Arial"/>
            </a:endParaRPr>
          </a:p>
        </p:txBody>
      </p:sp>
      <p:sp>
        <p:nvSpPr>
          <p:cNvPr id="104" name="Google Shape;104;g362d3c2ed39_0_19"/>
          <p:cNvSpPr/>
          <p:nvPr/>
        </p:nvSpPr>
        <p:spPr>
          <a:xfrm>
            <a:off x="1772414" y="3856298"/>
            <a:ext cx="12237600" cy="283500"/>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D9E1FF"/>
              </a:buClr>
              <a:buSzPts val="1350"/>
              <a:buFont typeface="Martel Sans"/>
              <a:buNone/>
            </a:pPr>
            <a:r>
              <a:rPr lang="en-US" sz="1350">
                <a:solidFill>
                  <a:srgbClr val="D9E1FF"/>
                </a:solidFill>
                <a:latin typeface="Martel Sans"/>
                <a:ea typeface="Martel Sans"/>
                <a:cs typeface="Martel Sans"/>
                <a:sym typeface="Martel Sans"/>
              </a:rPr>
              <a:t>Puedo implementar una funcion recursiva utilizando la pila corectamente</a:t>
            </a:r>
            <a:endParaRPr b="0" i="0" sz="1350" u="none" cap="none" strike="noStrike">
              <a:solidFill>
                <a:srgbClr val="000000"/>
              </a:solidFill>
              <a:latin typeface="Arial"/>
              <a:ea typeface="Arial"/>
              <a:cs typeface="Arial"/>
              <a:sym typeface="Arial"/>
            </a:endParaRPr>
          </a:p>
        </p:txBody>
      </p:sp>
      <p:pic>
        <p:nvPicPr>
          <p:cNvPr descr="preencoded.png" id="105" name="Google Shape;105;g362d3c2ed39_0_19"/>
          <p:cNvPicPr preferRelativeResize="0"/>
          <p:nvPr/>
        </p:nvPicPr>
        <p:blipFill rotWithShape="1">
          <a:blip r:embed="rId5">
            <a:alphaModFix/>
          </a:blip>
          <a:srcRect b="0" l="0" r="0" t="0"/>
          <a:stretch/>
        </p:blipFill>
        <p:spPr>
          <a:xfrm>
            <a:off x="620366" y="4375767"/>
            <a:ext cx="886182" cy="1063466"/>
          </a:xfrm>
          <a:prstGeom prst="rect">
            <a:avLst/>
          </a:prstGeom>
          <a:noFill/>
          <a:ln>
            <a:noFill/>
          </a:ln>
        </p:spPr>
      </p:pic>
      <p:sp>
        <p:nvSpPr>
          <p:cNvPr id="106" name="Google Shape;106;g362d3c2ed39_0_19"/>
          <p:cNvSpPr/>
          <p:nvPr/>
        </p:nvSpPr>
        <p:spPr>
          <a:xfrm>
            <a:off x="1772414" y="4552933"/>
            <a:ext cx="2211000" cy="260400"/>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D9E1FF"/>
              </a:buClr>
              <a:buSzPts val="1600"/>
              <a:buFont typeface="Kanit"/>
              <a:buNone/>
            </a:pPr>
            <a:r>
              <a:rPr lang="en-US" sz="1600">
                <a:solidFill>
                  <a:srgbClr val="D9E1FF"/>
                </a:solidFill>
                <a:latin typeface="Kanit"/>
                <a:ea typeface="Kanit"/>
                <a:cs typeface="Kanit"/>
                <a:sym typeface="Kanit"/>
              </a:rPr>
              <a:t>Identificacion</a:t>
            </a:r>
            <a:endParaRPr b="0" i="0" sz="1600" u="none" cap="none" strike="noStrike">
              <a:solidFill>
                <a:srgbClr val="000000"/>
              </a:solidFill>
              <a:latin typeface="Arial"/>
              <a:ea typeface="Arial"/>
              <a:cs typeface="Arial"/>
              <a:sym typeface="Arial"/>
            </a:endParaRPr>
          </a:p>
        </p:txBody>
      </p:sp>
      <p:sp>
        <p:nvSpPr>
          <p:cNvPr id="107" name="Google Shape;107;g362d3c2ed39_0_19"/>
          <p:cNvSpPr/>
          <p:nvPr/>
        </p:nvSpPr>
        <p:spPr>
          <a:xfrm>
            <a:off x="1772414" y="4919764"/>
            <a:ext cx="12237600" cy="283500"/>
          </a:xfrm>
          <a:prstGeom prst="rect">
            <a:avLst/>
          </a:prstGeom>
          <a:noFill/>
          <a:ln>
            <a:noFill/>
          </a:ln>
        </p:spPr>
        <p:txBody>
          <a:bodyPr anchorCtr="0" anchor="t" bIns="0" lIns="0" spcFirstLastPara="1" rIns="0" wrap="square" tIns="0">
            <a:noAutofit/>
          </a:bodyPr>
          <a:lstStyle/>
          <a:p>
            <a:pPr indent="0" lvl="0" marL="0" marR="0" rtl="0" algn="l">
              <a:lnSpc>
                <a:spcPct val="162962"/>
              </a:lnSpc>
              <a:spcBef>
                <a:spcPts val="0"/>
              </a:spcBef>
              <a:spcAft>
                <a:spcPts val="0"/>
              </a:spcAft>
              <a:buClr>
                <a:srgbClr val="D9E1FF"/>
              </a:buClr>
              <a:buSzPts val="1350"/>
              <a:buFont typeface="Martel Sans"/>
              <a:buNone/>
            </a:pPr>
            <a:r>
              <a:rPr lang="en-US" sz="1350">
                <a:solidFill>
                  <a:srgbClr val="D9E1FF"/>
                </a:solidFill>
                <a:latin typeface="Martel Sans"/>
                <a:ea typeface="Martel Sans"/>
                <a:cs typeface="Martel Sans"/>
                <a:sym typeface="Martel Sans"/>
              </a:rPr>
              <a:t>Se identificar las ventajas y desventajas del uso de la pila del procesador.</a:t>
            </a:r>
            <a:endParaRPr b="0" i="0" sz="135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