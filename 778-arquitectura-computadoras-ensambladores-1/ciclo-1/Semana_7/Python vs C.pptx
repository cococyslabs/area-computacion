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8426450"/>
  <p:notesSz cx="11430000" cy="84264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970" y="444500"/>
            <a:ext cx="9624060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67815" y="1767522"/>
            <a:ext cx="8294369" cy="1478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317875" marR="5080">
              <a:lnSpc>
                <a:spcPts val="5850"/>
              </a:lnSpc>
            </a:pPr>
            <a:r>
              <a:rPr dirty="0" spc="-30"/>
              <a:t>Python </a:t>
            </a:r>
            <a:r>
              <a:rPr dirty="0" spc="-40"/>
              <a:t>vs </a:t>
            </a:r>
            <a:r>
              <a:rPr dirty="0" spc="85"/>
              <a:t>C </a:t>
            </a:r>
            <a:r>
              <a:rPr dirty="0" spc="5"/>
              <a:t>en </a:t>
            </a:r>
            <a:r>
              <a:rPr dirty="0" spc="20"/>
              <a:t>el </a:t>
            </a:r>
            <a:r>
              <a:rPr dirty="0" spc="25"/>
              <a:t> </a:t>
            </a:r>
            <a:r>
              <a:rPr dirty="0" spc="-15"/>
              <a:t>Mundo</a:t>
            </a:r>
            <a:r>
              <a:rPr dirty="0" spc="-75"/>
              <a:t> </a:t>
            </a:r>
            <a:r>
              <a:rPr dirty="0" spc="-5"/>
              <a:t>Electrónico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73625" y="3488690"/>
            <a:ext cx="5867400" cy="11112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50"/>
              </a:spcBef>
            </a:pP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Exploramos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el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uso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los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lenguajes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programación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Python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20">
                <a:solidFill>
                  <a:srgbClr val="CFD0D8"/>
                </a:solidFill>
                <a:latin typeface="Roboto"/>
                <a:cs typeface="Roboto"/>
              </a:rPr>
              <a:t>C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el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mundo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electrónica,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analizando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sus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características,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casos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uso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ventajas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que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ofrecen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diferentes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escenarios,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como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programación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 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microcontroladores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sistemas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embebidos.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501650"/>
            <a:ext cx="510984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10"/>
              <a:t>Introducción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10"/>
              <a:t> Python </a:t>
            </a:r>
            <a:r>
              <a:rPr dirty="0" spc="-55"/>
              <a:t>y</a:t>
            </a:r>
            <a:r>
              <a:rPr dirty="0" spc="-10"/>
              <a:t> </a:t>
            </a:r>
            <a:r>
              <a:rPr dirty="0" spc="-20"/>
              <a:t>su </a:t>
            </a:r>
            <a:r>
              <a:rPr dirty="0" spc="-819"/>
              <a:t> </a:t>
            </a:r>
            <a:r>
              <a:rPr dirty="0" spc="5"/>
              <a:t>Ecosistema</a:t>
            </a:r>
            <a:r>
              <a:rPr dirty="0" spc="-15"/>
              <a:t> </a:t>
            </a:r>
            <a:r>
              <a:rPr dirty="0" spc="30"/>
              <a:t>de</a:t>
            </a:r>
            <a:r>
              <a:rPr dirty="0" spc="-15"/>
              <a:t> </a:t>
            </a:r>
            <a:r>
              <a:rPr dirty="0" spc="5"/>
              <a:t>Hardware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86325" y="2057399"/>
            <a:ext cx="390525" cy="381000"/>
            <a:chOff x="4886325" y="2057399"/>
            <a:chExt cx="390525" cy="381000"/>
          </a:xfrm>
        </p:grpSpPr>
        <p:sp>
          <p:nvSpPr>
            <p:cNvPr id="5" name="object 5"/>
            <p:cNvSpPr/>
            <p:nvPr/>
          </p:nvSpPr>
          <p:spPr>
            <a:xfrm>
              <a:off x="4891087" y="206216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87" y="371475"/>
                  </a:lnTo>
                  <a:lnTo>
                    <a:pt x="367385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891087" y="206216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76796" y="3409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56450" y="362165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993284" y="2063750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1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30838" y="2039937"/>
            <a:ext cx="2175510" cy="2274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Versatilidad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3500"/>
              </a:lnSpc>
              <a:spcBef>
                <a:spcPts val="555"/>
              </a:spcBef>
            </a:pP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Python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se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ha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consolidado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como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30">
                <a:solidFill>
                  <a:srgbClr val="CFD0D8"/>
                </a:solidFill>
                <a:latin typeface="Roboto"/>
                <a:cs typeface="Roboto"/>
              </a:rPr>
              <a:t>un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lenguaje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alto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nivel,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fácil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aprender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con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CFD0D8"/>
                </a:solidFill>
                <a:latin typeface="Roboto"/>
                <a:cs typeface="Roboto"/>
              </a:rPr>
              <a:t>una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amplia gama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bibliotecas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herramientas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el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desarrollo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aplicaciones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electrónicas.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943850" y="2057399"/>
            <a:ext cx="390525" cy="381000"/>
            <a:chOff x="7943850" y="2057399"/>
            <a:chExt cx="390525" cy="381000"/>
          </a:xfrm>
        </p:grpSpPr>
        <p:sp>
          <p:nvSpPr>
            <p:cNvPr id="10" name="object 10"/>
            <p:cNvSpPr/>
            <p:nvPr/>
          </p:nvSpPr>
          <p:spPr>
            <a:xfrm>
              <a:off x="7948612" y="206216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87" y="371475"/>
                  </a:lnTo>
                  <a:lnTo>
                    <a:pt x="367385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948612" y="206216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53428" y="7289"/>
                  </a:lnTo>
                  <a:lnTo>
                    <a:pt x="356438" y="9309"/>
                  </a:lnTo>
                  <a:lnTo>
                    <a:pt x="359460" y="11328"/>
                  </a:lnTo>
                  <a:lnTo>
                    <a:pt x="362254" y="13614"/>
                  </a:lnTo>
                  <a:lnTo>
                    <a:pt x="364820" y="16179"/>
                  </a:lnTo>
                  <a:lnTo>
                    <a:pt x="367385" y="18745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64820" y="355295"/>
                  </a:lnTo>
                  <a:lnTo>
                    <a:pt x="362254" y="357860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16179" y="355295"/>
                  </a:lnTo>
                  <a:lnTo>
                    <a:pt x="13614" y="352729"/>
                  </a:lnTo>
                  <a:lnTo>
                    <a:pt x="11328" y="349935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5588" y="340728"/>
                  </a:lnTo>
                  <a:lnTo>
                    <a:pt x="4203" y="337375"/>
                  </a:lnTo>
                  <a:lnTo>
                    <a:pt x="2819" y="334022"/>
                  </a:lnTo>
                  <a:lnTo>
                    <a:pt x="1765" y="330568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050809" y="2063750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2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88364" y="2039937"/>
            <a:ext cx="2307590" cy="226504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914400">
              <a:lnSpc>
                <a:spcPct val="106100"/>
              </a:lnSpc>
              <a:spcBef>
                <a:spcPts val="15"/>
              </a:spcBef>
            </a:pPr>
            <a:r>
              <a:rPr dirty="0" sz="1650" spc="5">
                <a:solidFill>
                  <a:srgbClr val="CFD0D8"/>
                </a:solidFill>
                <a:latin typeface="Roboto Lt"/>
                <a:cs typeface="Roboto Lt"/>
              </a:rPr>
              <a:t>Integración</a:t>
            </a:r>
            <a:r>
              <a:rPr dirty="0" sz="1650" spc="-5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0">
                <a:solidFill>
                  <a:srgbClr val="CFD0D8"/>
                </a:solidFill>
                <a:latin typeface="Roboto Lt"/>
                <a:cs typeface="Roboto Lt"/>
              </a:rPr>
              <a:t>de </a:t>
            </a:r>
            <a:r>
              <a:rPr dirty="0" sz="1650" spc="-39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Hardware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3300"/>
              </a:lnSpc>
              <a:spcBef>
                <a:spcPts val="555"/>
              </a:spcBef>
            </a:pP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El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ecosistema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hardware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Python,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encabezado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por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plataformas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como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Raspberry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Pi,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facilita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la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interacción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entre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software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componentes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electrónicos.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886325" y="4714875"/>
            <a:ext cx="390525" cy="381000"/>
            <a:chOff x="4886325" y="4714875"/>
            <a:chExt cx="390525" cy="381000"/>
          </a:xfrm>
        </p:grpSpPr>
        <p:sp>
          <p:nvSpPr>
            <p:cNvPr id="15" name="object 15"/>
            <p:cNvSpPr/>
            <p:nvPr/>
          </p:nvSpPr>
          <p:spPr>
            <a:xfrm>
              <a:off x="4891087" y="471963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87" y="371475"/>
                  </a:lnTo>
                  <a:lnTo>
                    <a:pt x="367385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891087" y="471963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76796" y="3409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56450" y="362165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993284" y="4711700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3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30838" y="4697412"/>
            <a:ext cx="512191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">
                <a:solidFill>
                  <a:srgbClr val="CFD0D8"/>
                </a:solidFill>
                <a:latin typeface="Roboto Lt"/>
                <a:cs typeface="Roboto Lt"/>
              </a:rPr>
              <a:t>Rápido</a:t>
            </a:r>
            <a:r>
              <a:rPr dirty="0" sz="1650" spc="-2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5">
                <a:solidFill>
                  <a:srgbClr val="CFD0D8"/>
                </a:solidFill>
                <a:latin typeface="Roboto Lt"/>
                <a:cs typeface="Roboto Lt"/>
              </a:rPr>
              <a:t>Prototipado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sintaxis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sencilla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amplia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disponibilidad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librerías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25">
                <a:solidFill>
                  <a:srgbClr val="CFD0D8"/>
                </a:solidFill>
                <a:latin typeface="Roboto"/>
                <a:cs typeface="Roboto"/>
              </a:rPr>
              <a:t>Python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permiten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los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desarrolladores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crear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soluciones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electrónicas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 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manera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ágil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eficiente.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597025"/>
            <a:ext cx="8100059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/>
              <a:t>Características </a:t>
            </a:r>
            <a:r>
              <a:rPr dirty="0" spc="30"/>
              <a:t>de </a:t>
            </a:r>
            <a:r>
              <a:rPr dirty="0" spc="-10"/>
              <a:t>Python </a:t>
            </a:r>
            <a:r>
              <a:rPr dirty="0" spc="15"/>
              <a:t>en </a:t>
            </a:r>
            <a:r>
              <a:rPr dirty="0" spc="10"/>
              <a:t>Aplicaciones </a:t>
            </a:r>
            <a:r>
              <a:rPr dirty="0" spc="-819"/>
              <a:t> </a:t>
            </a:r>
            <a:r>
              <a:rPr dirty="0"/>
              <a:t>Electrónicas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3106737"/>
            <a:ext cx="2957195" cy="152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FFFFFF"/>
                </a:solidFill>
                <a:latin typeface="Roboto Lt"/>
                <a:cs typeface="Roboto Lt"/>
              </a:rPr>
              <a:t>Lenguaje</a:t>
            </a:r>
            <a:r>
              <a:rPr dirty="0" sz="1650" spc="-1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dirty="0" sz="1650" spc="25">
                <a:solidFill>
                  <a:srgbClr val="FFFFFF"/>
                </a:solidFill>
                <a:latin typeface="Roboto Lt"/>
                <a:cs typeface="Roboto Lt"/>
              </a:rPr>
              <a:t>de</a:t>
            </a:r>
            <a:r>
              <a:rPr dirty="0" sz="1650" spc="-1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dirty="0" sz="1650" spc="15">
                <a:solidFill>
                  <a:srgbClr val="FFFFFF"/>
                </a:solidFill>
                <a:latin typeface="Roboto Lt"/>
                <a:cs typeface="Roboto Lt"/>
              </a:rPr>
              <a:t>Alto</a:t>
            </a:r>
            <a:r>
              <a:rPr dirty="0" sz="1650" spc="-1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dirty="0" sz="1650" spc="10">
                <a:solidFill>
                  <a:srgbClr val="FFFFFF"/>
                </a:solidFill>
                <a:latin typeface="Roboto Lt"/>
                <a:cs typeface="Roboto Lt"/>
              </a:rPr>
              <a:t>Nivel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Python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abstrae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detalles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bajo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nivel,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permitiendo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los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desarrolladores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enfocarse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lógica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el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diseño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aplicación.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5851" y="3106737"/>
            <a:ext cx="2940685" cy="152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FFFFFF"/>
                </a:solidFill>
                <a:latin typeface="Roboto Lt"/>
                <a:cs typeface="Roboto Lt"/>
              </a:rPr>
              <a:t>Versatilidad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Python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es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compatible con </a:t>
            </a:r>
            <a:r>
              <a:rPr dirty="0" sz="1350" spc="-25">
                <a:solidFill>
                  <a:srgbClr val="CFD0D8"/>
                </a:solidFill>
                <a:latin typeface="Roboto"/>
                <a:cs typeface="Roboto"/>
              </a:rPr>
              <a:t>una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amplia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gama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bibliotecas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frameworks,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lo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que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lo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convierte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CFD0D8"/>
                </a:solidFill>
                <a:latin typeface="Roboto"/>
                <a:cs typeface="Roboto"/>
              </a:rPr>
              <a:t>una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opción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flexible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proyectos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electrónicos.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4340" y="3106737"/>
            <a:ext cx="2999740" cy="152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">
                <a:solidFill>
                  <a:srgbClr val="FFFFFF"/>
                </a:solidFill>
                <a:latin typeface="Roboto Lt"/>
                <a:cs typeface="Roboto Lt"/>
              </a:rPr>
              <a:t>Facilidad</a:t>
            </a:r>
            <a:r>
              <a:rPr dirty="0" sz="1650" spc="-2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dirty="0" sz="1650" spc="25">
                <a:solidFill>
                  <a:srgbClr val="FFFFFF"/>
                </a:solidFill>
                <a:latin typeface="Roboto Lt"/>
                <a:cs typeface="Roboto Lt"/>
              </a:rPr>
              <a:t>de</a:t>
            </a:r>
            <a:r>
              <a:rPr dirty="0" sz="1650" spc="-2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dirty="0" sz="1650">
                <a:solidFill>
                  <a:srgbClr val="FFFFFF"/>
                </a:solidFill>
                <a:latin typeface="Roboto Lt"/>
                <a:cs typeface="Roboto Lt"/>
              </a:rPr>
              <a:t>Uso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dirty="0" sz="1350" spc="-30">
                <a:solidFill>
                  <a:srgbClr val="CFD0D8"/>
                </a:solidFill>
                <a:latin typeface="Roboto"/>
                <a:cs typeface="Roboto"/>
              </a:rPr>
              <a:t>Su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sintaxis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clara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legible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facilita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el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aprendizaje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el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desarrollo,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especialmente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para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programadores sin </a:t>
            </a:r>
            <a:r>
              <a:rPr dirty="0" sz="1350" spc="-3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experiencia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previa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electrónica.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6915150"/>
          </a:xfrm>
          <a:custGeom>
            <a:avLst/>
            <a:gdLst/>
            <a:ahLst/>
            <a:cxnLst/>
            <a:rect l="l" t="t" r="r" b="b"/>
            <a:pathLst>
              <a:path w="11430000" h="6915150">
                <a:moveTo>
                  <a:pt x="11430000" y="0"/>
                </a:moveTo>
                <a:lnTo>
                  <a:pt x="0" y="0"/>
                </a:lnTo>
                <a:lnTo>
                  <a:pt x="0" y="6915150"/>
                </a:lnTo>
                <a:lnTo>
                  <a:pt x="11430000" y="69151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7"/>
            <a:ext cx="4286250" cy="691464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73625" y="444499"/>
            <a:ext cx="4705350" cy="16065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10"/>
              <a:t>Introducción </a:t>
            </a:r>
            <a:r>
              <a:rPr dirty="0"/>
              <a:t>a </a:t>
            </a:r>
            <a:r>
              <a:rPr dirty="0" spc="75"/>
              <a:t>C </a:t>
            </a:r>
            <a:r>
              <a:rPr dirty="0" spc="-55"/>
              <a:t>y </a:t>
            </a:r>
            <a:r>
              <a:rPr dirty="0" spc="-20"/>
              <a:t>su </a:t>
            </a:r>
            <a:r>
              <a:rPr dirty="0" spc="-15"/>
              <a:t> </a:t>
            </a:r>
            <a:r>
              <a:rPr dirty="0" spc="5"/>
              <a:t>Predominio</a:t>
            </a:r>
            <a:r>
              <a:rPr dirty="0" spc="-10"/>
              <a:t> </a:t>
            </a:r>
            <a:r>
              <a:rPr dirty="0" spc="15"/>
              <a:t>en</a:t>
            </a:r>
            <a:r>
              <a:rPr dirty="0" spc="-10"/>
              <a:t> </a:t>
            </a:r>
            <a:r>
              <a:rPr dirty="0" spc="25"/>
              <a:t>el</a:t>
            </a:r>
            <a:r>
              <a:rPr dirty="0" spc="-5"/>
              <a:t> </a:t>
            </a:r>
            <a:r>
              <a:rPr dirty="0"/>
              <a:t>Mundo </a:t>
            </a:r>
            <a:r>
              <a:rPr dirty="0" spc="-819"/>
              <a:t> </a:t>
            </a:r>
            <a:r>
              <a:rPr dirty="0" spc="15"/>
              <a:t>Embebido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886325" y="2333624"/>
            <a:ext cx="2886075" cy="2105025"/>
            <a:chOff x="4886325" y="2333624"/>
            <a:chExt cx="2886075" cy="2105025"/>
          </a:xfrm>
        </p:grpSpPr>
        <p:sp>
          <p:nvSpPr>
            <p:cNvPr id="6" name="object 6"/>
            <p:cNvSpPr/>
            <p:nvPr/>
          </p:nvSpPr>
          <p:spPr>
            <a:xfrm>
              <a:off x="4891087" y="2338387"/>
              <a:ext cx="2876550" cy="2095500"/>
            </a:xfrm>
            <a:custGeom>
              <a:avLst/>
              <a:gdLst/>
              <a:ahLst/>
              <a:cxnLst/>
              <a:rect l="l" t="t" r="r" b="b"/>
              <a:pathLst>
                <a:path w="2876550" h="2095500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040255"/>
                  </a:lnTo>
                  <a:lnTo>
                    <a:pt x="0" y="2043887"/>
                  </a:lnTo>
                  <a:lnTo>
                    <a:pt x="18745" y="2081885"/>
                  </a:lnTo>
                  <a:lnTo>
                    <a:pt x="51612" y="2095500"/>
                  </a:lnTo>
                  <a:lnTo>
                    <a:pt x="2824937" y="2095500"/>
                  </a:lnTo>
                  <a:lnTo>
                    <a:pt x="2862935" y="2076754"/>
                  </a:lnTo>
                  <a:lnTo>
                    <a:pt x="2876550" y="2043887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891087" y="2338387"/>
              <a:ext cx="2876550" cy="2095500"/>
            </a:xfrm>
            <a:custGeom>
              <a:avLst/>
              <a:gdLst/>
              <a:ahLst/>
              <a:cxnLst/>
              <a:rect l="l" t="t" r="r" b="b"/>
              <a:pathLst>
                <a:path w="2876550" h="2095500">
                  <a:moveTo>
                    <a:pt x="0" y="20402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50" y="4203"/>
                  </a:lnTo>
                  <a:lnTo>
                    <a:pt x="2845803" y="5588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040255"/>
                  </a:lnTo>
                  <a:lnTo>
                    <a:pt x="2876550" y="2043887"/>
                  </a:lnTo>
                  <a:lnTo>
                    <a:pt x="2876194" y="2047481"/>
                  </a:lnTo>
                  <a:lnTo>
                    <a:pt x="2875483" y="2051037"/>
                  </a:lnTo>
                  <a:lnTo>
                    <a:pt x="2874784" y="2054593"/>
                  </a:lnTo>
                  <a:lnTo>
                    <a:pt x="2860370" y="2079320"/>
                  </a:lnTo>
                  <a:lnTo>
                    <a:pt x="2857804" y="2081885"/>
                  </a:lnTo>
                  <a:lnTo>
                    <a:pt x="2842437" y="2091296"/>
                  </a:lnTo>
                  <a:lnTo>
                    <a:pt x="2839097" y="2092680"/>
                  </a:lnTo>
                  <a:lnTo>
                    <a:pt x="2835643" y="2093734"/>
                  </a:lnTo>
                  <a:lnTo>
                    <a:pt x="2832074" y="2094445"/>
                  </a:lnTo>
                  <a:lnTo>
                    <a:pt x="2828518" y="2095144"/>
                  </a:lnTo>
                  <a:lnTo>
                    <a:pt x="2824937" y="2095500"/>
                  </a:lnTo>
                  <a:lnTo>
                    <a:pt x="2821305" y="2095500"/>
                  </a:lnTo>
                  <a:lnTo>
                    <a:pt x="55245" y="2095500"/>
                  </a:lnTo>
                  <a:lnTo>
                    <a:pt x="51612" y="2095500"/>
                  </a:lnTo>
                  <a:lnTo>
                    <a:pt x="48018" y="2095144"/>
                  </a:lnTo>
                  <a:lnTo>
                    <a:pt x="44462" y="2094445"/>
                  </a:lnTo>
                  <a:lnTo>
                    <a:pt x="40906" y="2093734"/>
                  </a:lnTo>
                  <a:lnTo>
                    <a:pt x="37452" y="2092680"/>
                  </a:lnTo>
                  <a:lnTo>
                    <a:pt x="34099" y="2091296"/>
                  </a:lnTo>
                  <a:lnTo>
                    <a:pt x="30746" y="2089912"/>
                  </a:lnTo>
                  <a:lnTo>
                    <a:pt x="4203" y="2061400"/>
                  </a:lnTo>
                  <a:lnTo>
                    <a:pt x="1066" y="2051037"/>
                  </a:lnTo>
                  <a:lnTo>
                    <a:pt x="355" y="2047481"/>
                  </a:lnTo>
                  <a:lnTo>
                    <a:pt x="0" y="2043887"/>
                  </a:lnTo>
                  <a:lnTo>
                    <a:pt x="0" y="2040255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054600" y="2497137"/>
            <a:ext cx="2372360" cy="1455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Lenguaje</a:t>
            </a:r>
            <a:r>
              <a:rPr dirty="0" sz="1650" spc="-1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5">
                <a:solidFill>
                  <a:srgbClr val="CFD0D8"/>
                </a:solidFill>
                <a:latin typeface="Roboto Lt"/>
                <a:cs typeface="Roboto Lt"/>
              </a:rPr>
              <a:t>de</a:t>
            </a:r>
            <a:r>
              <a:rPr dirty="0" sz="1650" spc="-1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Bajo</a:t>
            </a:r>
            <a:r>
              <a:rPr dirty="0" sz="1650" spc="-1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Nivel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20">
                <a:solidFill>
                  <a:srgbClr val="CFD0D8"/>
                </a:solidFill>
                <a:latin typeface="Roboto"/>
                <a:cs typeface="Roboto"/>
              </a:rPr>
              <a:t>C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se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considera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30">
                <a:solidFill>
                  <a:srgbClr val="CFD0D8"/>
                </a:solidFill>
                <a:latin typeface="Roboto"/>
                <a:cs typeface="Roboto"/>
              </a:rPr>
              <a:t>un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lenguaje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programación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bajo nivel,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lo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que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le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permite tener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30">
                <a:solidFill>
                  <a:srgbClr val="CFD0D8"/>
                </a:solidFill>
                <a:latin typeface="Roboto"/>
                <a:cs typeface="Roboto"/>
              </a:rPr>
              <a:t>un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control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más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directo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sobre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el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hardware.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943850" y="2333624"/>
            <a:ext cx="2886075" cy="2105025"/>
            <a:chOff x="7943850" y="2333624"/>
            <a:chExt cx="2886075" cy="2105025"/>
          </a:xfrm>
        </p:grpSpPr>
        <p:sp>
          <p:nvSpPr>
            <p:cNvPr id="10" name="object 10"/>
            <p:cNvSpPr/>
            <p:nvPr/>
          </p:nvSpPr>
          <p:spPr>
            <a:xfrm>
              <a:off x="7948612" y="2338387"/>
              <a:ext cx="2876550" cy="2095500"/>
            </a:xfrm>
            <a:custGeom>
              <a:avLst/>
              <a:gdLst/>
              <a:ahLst/>
              <a:cxnLst/>
              <a:rect l="l" t="t" r="r" b="b"/>
              <a:pathLst>
                <a:path w="2876550" h="2095500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040255"/>
                  </a:lnTo>
                  <a:lnTo>
                    <a:pt x="0" y="2043887"/>
                  </a:lnTo>
                  <a:lnTo>
                    <a:pt x="18745" y="2081885"/>
                  </a:lnTo>
                  <a:lnTo>
                    <a:pt x="51612" y="2095500"/>
                  </a:lnTo>
                  <a:lnTo>
                    <a:pt x="2824937" y="2095500"/>
                  </a:lnTo>
                  <a:lnTo>
                    <a:pt x="2862935" y="2076754"/>
                  </a:lnTo>
                  <a:lnTo>
                    <a:pt x="2876550" y="2043887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948612" y="2338387"/>
              <a:ext cx="2876550" cy="2095500"/>
            </a:xfrm>
            <a:custGeom>
              <a:avLst/>
              <a:gdLst/>
              <a:ahLst/>
              <a:cxnLst/>
              <a:rect l="l" t="t" r="r" b="b"/>
              <a:pathLst>
                <a:path w="2876550" h="2095500">
                  <a:moveTo>
                    <a:pt x="0" y="20402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48978" y="7289"/>
                  </a:lnTo>
                  <a:lnTo>
                    <a:pt x="2851988" y="9309"/>
                  </a:lnTo>
                  <a:lnTo>
                    <a:pt x="2855010" y="11328"/>
                  </a:lnTo>
                  <a:lnTo>
                    <a:pt x="2857804" y="13614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040255"/>
                  </a:lnTo>
                  <a:lnTo>
                    <a:pt x="2876550" y="2043887"/>
                  </a:lnTo>
                  <a:lnTo>
                    <a:pt x="2876194" y="2047481"/>
                  </a:lnTo>
                  <a:lnTo>
                    <a:pt x="2875483" y="2051037"/>
                  </a:lnTo>
                  <a:lnTo>
                    <a:pt x="2874784" y="2054593"/>
                  </a:lnTo>
                  <a:lnTo>
                    <a:pt x="2860370" y="2079320"/>
                  </a:lnTo>
                  <a:lnTo>
                    <a:pt x="2857804" y="2081885"/>
                  </a:lnTo>
                  <a:lnTo>
                    <a:pt x="2855010" y="2084171"/>
                  </a:lnTo>
                  <a:lnTo>
                    <a:pt x="2851988" y="2086190"/>
                  </a:lnTo>
                  <a:lnTo>
                    <a:pt x="2848978" y="2088210"/>
                  </a:lnTo>
                  <a:lnTo>
                    <a:pt x="2845803" y="2089912"/>
                  </a:lnTo>
                  <a:lnTo>
                    <a:pt x="2842437" y="2091296"/>
                  </a:lnTo>
                  <a:lnTo>
                    <a:pt x="2839097" y="2092680"/>
                  </a:lnTo>
                  <a:lnTo>
                    <a:pt x="2835643" y="2093734"/>
                  </a:lnTo>
                  <a:lnTo>
                    <a:pt x="2832074" y="2094445"/>
                  </a:lnTo>
                  <a:lnTo>
                    <a:pt x="2828518" y="2095144"/>
                  </a:lnTo>
                  <a:lnTo>
                    <a:pt x="2824937" y="2095500"/>
                  </a:lnTo>
                  <a:lnTo>
                    <a:pt x="2821305" y="2095500"/>
                  </a:lnTo>
                  <a:lnTo>
                    <a:pt x="55245" y="2095500"/>
                  </a:lnTo>
                  <a:lnTo>
                    <a:pt x="51612" y="2095500"/>
                  </a:lnTo>
                  <a:lnTo>
                    <a:pt x="48018" y="2095144"/>
                  </a:lnTo>
                  <a:lnTo>
                    <a:pt x="44462" y="2094445"/>
                  </a:lnTo>
                  <a:lnTo>
                    <a:pt x="40906" y="2093734"/>
                  </a:lnTo>
                  <a:lnTo>
                    <a:pt x="37452" y="2092680"/>
                  </a:lnTo>
                  <a:lnTo>
                    <a:pt x="34099" y="2091296"/>
                  </a:lnTo>
                  <a:lnTo>
                    <a:pt x="30746" y="2089912"/>
                  </a:lnTo>
                  <a:lnTo>
                    <a:pt x="16179" y="2079320"/>
                  </a:lnTo>
                  <a:lnTo>
                    <a:pt x="13614" y="2076754"/>
                  </a:lnTo>
                  <a:lnTo>
                    <a:pt x="4203" y="2061400"/>
                  </a:lnTo>
                  <a:lnTo>
                    <a:pt x="2819" y="2058047"/>
                  </a:lnTo>
                  <a:lnTo>
                    <a:pt x="1765" y="2054593"/>
                  </a:lnTo>
                  <a:lnTo>
                    <a:pt x="1066" y="2051037"/>
                  </a:lnTo>
                  <a:lnTo>
                    <a:pt x="355" y="2047481"/>
                  </a:lnTo>
                  <a:lnTo>
                    <a:pt x="0" y="2043887"/>
                  </a:lnTo>
                  <a:lnTo>
                    <a:pt x="0" y="2040255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112125" y="2497137"/>
            <a:ext cx="2402840" cy="17221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Eficiencia</a:t>
            </a:r>
            <a:r>
              <a:rPr dirty="0" sz="1650" spc="-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0">
                <a:solidFill>
                  <a:srgbClr val="CFD0D8"/>
                </a:solidFill>
                <a:latin typeface="Roboto Lt"/>
                <a:cs typeface="Roboto Lt"/>
              </a:rPr>
              <a:t>en</a:t>
            </a:r>
            <a:r>
              <a:rPr dirty="0" sz="165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5">
                <a:solidFill>
                  <a:srgbClr val="CFD0D8"/>
                </a:solidFill>
                <a:latin typeface="Roboto Lt"/>
                <a:cs typeface="Roboto Lt"/>
              </a:rPr>
              <a:t>Recursos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3100"/>
              </a:lnSpc>
              <a:spcBef>
                <a:spcPts val="560"/>
              </a:spcBef>
            </a:pPr>
            <a:r>
              <a:rPr dirty="0" sz="1350" spc="20">
                <a:solidFill>
                  <a:srgbClr val="CFD0D8"/>
                </a:solidFill>
                <a:latin typeface="Roboto"/>
                <a:cs typeface="Roboto"/>
              </a:rPr>
              <a:t>C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es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conocido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por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su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eficiencia </a:t>
            </a:r>
            <a:r>
              <a:rPr dirty="0" sz="1350" spc="-3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el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uso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memoria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 </a:t>
            </a:r>
            <a:r>
              <a:rPr dirty="0" sz="13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procesamiento,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lo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que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lo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convierte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CFD0D8"/>
                </a:solidFill>
                <a:latin typeface="Roboto"/>
                <a:cs typeface="Roboto"/>
              </a:rPr>
              <a:t>una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opción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ideal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sistemas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embebidos.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86325" y="4610099"/>
            <a:ext cx="2886075" cy="1828800"/>
            <a:chOff x="4886325" y="4610099"/>
            <a:chExt cx="2886075" cy="1828800"/>
          </a:xfrm>
        </p:grpSpPr>
        <p:sp>
          <p:nvSpPr>
            <p:cNvPr id="14" name="object 14"/>
            <p:cNvSpPr/>
            <p:nvPr/>
          </p:nvSpPr>
          <p:spPr>
            <a:xfrm>
              <a:off x="4891087" y="4614862"/>
              <a:ext cx="2876550" cy="1819275"/>
            </a:xfrm>
            <a:custGeom>
              <a:avLst/>
              <a:gdLst/>
              <a:ahLst/>
              <a:cxnLst/>
              <a:rect l="l" t="t" r="r" b="b"/>
              <a:pathLst>
                <a:path w="2876550" h="181927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764032"/>
                  </a:lnTo>
                  <a:lnTo>
                    <a:pt x="0" y="1767658"/>
                  </a:lnTo>
                  <a:lnTo>
                    <a:pt x="18745" y="1805659"/>
                  </a:lnTo>
                  <a:lnTo>
                    <a:pt x="51612" y="1819272"/>
                  </a:lnTo>
                  <a:lnTo>
                    <a:pt x="2824937" y="1819272"/>
                  </a:lnTo>
                  <a:lnTo>
                    <a:pt x="2862935" y="1800529"/>
                  </a:lnTo>
                  <a:lnTo>
                    <a:pt x="2876550" y="1767658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891087" y="4614862"/>
              <a:ext cx="2876550" cy="1819275"/>
            </a:xfrm>
            <a:custGeom>
              <a:avLst/>
              <a:gdLst/>
              <a:ahLst/>
              <a:cxnLst/>
              <a:rect l="l" t="t" r="r" b="b"/>
              <a:pathLst>
                <a:path w="2876550" h="1819275">
                  <a:moveTo>
                    <a:pt x="0" y="1764032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54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50" y="4203"/>
                  </a:lnTo>
                  <a:lnTo>
                    <a:pt x="2845803" y="5588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1764032"/>
                  </a:lnTo>
                  <a:lnTo>
                    <a:pt x="2876550" y="1767658"/>
                  </a:lnTo>
                  <a:lnTo>
                    <a:pt x="2876194" y="1771249"/>
                  </a:lnTo>
                  <a:lnTo>
                    <a:pt x="2875483" y="1774807"/>
                  </a:lnTo>
                  <a:lnTo>
                    <a:pt x="2874784" y="1778364"/>
                  </a:lnTo>
                  <a:lnTo>
                    <a:pt x="2860370" y="1803093"/>
                  </a:lnTo>
                  <a:lnTo>
                    <a:pt x="2857804" y="1805659"/>
                  </a:lnTo>
                  <a:lnTo>
                    <a:pt x="2842437" y="1815070"/>
                  </a:lnTo>
                  <a:lnTo>
                    <a:pt x="2839097" y="1816454"/>
                  </a:lnTo>
                  <a:lnTo>
                    <a:pt x="2835643" y="1817505"/>
                  </a:lnTo>
                  <a:lnTo>
                    <a:pt x="2832074" y="1818210"/>
                  </a:lnTo>
                  <a:lnTo>
                    <a:pt x="2828518" y="1818919"/>
                  </a:lnTo>
                  <a:lnTo>
                    <a:pt x="2824937" y="1819272"/>
                  </a:lnTo>
                  <a:lnTo>
                    <a:pt x="2821305" y="1819272"/>
                  </a:lnTo>
                  <a:lnTo>
                    <a:pt x="55245" y="1819272"/>
                  </a:lnTo>
                  <a:lnTo>
                    <a:pt x="51612" y="1819272"/>
                  </a:lnTo>
                  <a:lnTo>
                    <a:pt x="48018" y="1818919"/>
                  </a:lnTo>
                  <a:lnTo>
                    <a:pt x="44462" y="1818210"/>
                  </a:lnTo>
                  <a:lnTo>
                    <a:pt x="40906" y="1817505"/>
                  </a:lnTo>
                  <a:lnTo>
                    <a:pt x="16179" y="1803093"/>
                  </a:lnTo>
                  <a:lnTo>
                    <a:pt x="13614" y="1800529"/>
                  </a:lnTo>
                  <a:lnTo>
                    <a:pt x="1066" y="1774807"/>
                  </a:lnTo>
                  <a:lnTo>
                    <a:pt x="355" y="1771249"/>
                  </a:lnTo>
                  <a:lnTo>
                    <a:pt x="0" y="1767658"/>
                  </a:lnTo>
                  <a:lnTo>
                    <a:pt x="0" y="1764032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054600" y="4773612"/>
            <a:ext cx="2454910" cy="1455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Amplia</a:t>
            </a:r>
            <a:r>
              <a:rPr dirty="0" sz="1650" spc="-1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0">
                <a:solidFill>
                  <a:srgbClr val="CFD0D8"/>
                </a:solidFill>
                <a:latin typeface="Roboto Lt"/>
                <a:cs typeface="Roboto Lt"/>
              </a:rPr>
              <a:t>Adopción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20">
                <a:solidFill>
                  <a:srgbClr val="CFD0D8"/>
                </a:solidFill>
                <a:latin typeface="Roboto"/>
                <a:cs typeface="Roboto"/>
              </a:rPr>
              <a:t>C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ha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sido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el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lenguaje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dominante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el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mundo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electrónica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 </a:t>
            </a:r>
            <a:r>
              <a:rPr dirty="0" sz="13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los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microcontroladores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durante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décadas.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943850" y="4610099"/>
            <a:ext cx="2886075" cy="1828800"/>
            <a:chOff x="7943850" y="4610099"/>
            <a:chExt cx="2886075" cy="1828800"/>
          </a:xfrm>
        </p:grpSpPr>
        <p:sp>
          <p:nvSpPr>
            <p:cNvPr id="18" name="object 18"/>
            <p:cNvSpPr/>
            <p:nvPr/>
          </p:nvSpPr>
          <p:spPr>
            <a:xfrm>
              <a:off x="7948612" y="4614862"/>
              <a:ext cx="2876550" cy="1819275"/>
            </a:xfrm>
            <a:custGeom>
              <a:avLst/>
              <a:gdLst/>
              <a:ahLst/>
              <a:cxnLst/>
              <a:rect l="l" t="t" r="r" b="b"/>
              <a:pathLst>
                <a:path w="2876550" h="181927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764032"/>
                  </a:lnTo>
                  <a:lnTo>
                    <a:pt x="0" y="1767658"/>
                  </a:lnTo>
                  <a:lnTo>
                    <a:pt x="18745" y="1805659"/>
                  </a:lnTo>
                  <a:lnTo>
                    <a:pt x="51612" y="1819272"/>
                  </a:lnTo>
                  <a:lnTo>
                    <a:pt x="2824937" y="1819272"/>
                  </a:lnTo>
                  <a:lnTo>
                    <a:pt x="2862935" y="1800529"/>
                  </a:lnTo>
                  <a:lnTo>
                    <a:pt x="2876550" y="1767658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948612" y="4614862"/>
              <a:ext cx="2876550" cy="1819275"/>
            </a:xfrm>
            <a:custGeom>
              <a:avLst/>
              <a:gdLst/>
              <a:ahLst/>
              <a:cxnLst/>
              <a:rect l="l" t="t" r="r" b="b"/>
              <a:pathLst>
                <a:path w="2876550" h="1819275">
                  <a:moveTo>
                    <a:pt x="0" y="1764032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54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54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48978" y="7289"/>
                  </a:lnTo>
                  <a:lnTo>
                    <a:pt x="2851988" y="9309"/>
                  </a:lnTo>
                  <a:lnTo>
                    <a:pt x="2855010" y="11328"/>
                  </a:lnTo>
                  <a:lnTo>
                    <a:pt x="2857804" y="13614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1764032"/>
                  </a:lnTo>
                  <a:lnTo>
                    <a:pt x="2876550" y="1767658"/>
                  </a:lnTo>
                  <a:lnTo>
                    <a:pt x="2876194" y="1771249"/>
                  </a:lnTo>
                  <a:lnTo>
                    <a:pt x="2875483" y="1774807"/>
                  </a:lnTo>
                  <a:lnTo>
                    <a:pt x="2874784" y="1778364"/>
                  </a:lnTo>
                  <a:lnTo>
                    <a:pt x="2860370" y="1803093"/>
                  </a:lnTo>
                  <a:lnTo>
                    <a:pt x="2857804" y="1805659"/>
                  </a:lnTo>
                  <a:lnTo>
                    <a:pt x="2855010" y="1807946"/>
                  </a:lnTo>
                  <a:lnTo>
                    <a:pt x="2851988" y="1809960"/>
                  </a:lnTo>
                  <a:lnTo>
                    <a:pt x="2848978" y="1811978"/>
                  </a:lnTo>
                  <a:lnTo>
                    <a:pt x="2845803" y="1813680"/>
                  </a:lnTo>
                  <a:lnTo>
                    <a:pt x="2842437" y="1815070"/>
                  </a:lnTo>
                  <a:lnTo>
                    <a:pt x="2839097" y="1816454"/>
                  </a:lnTo>
                  <a:lnTo>
                    <a:pt x="2835643" y="1817505"/>
                  </a:lnTo>
                  <a:lnTo>
                    <a:pt x="2832074" y="1818210"/>
                  </a:lnTo>
                  <a:lnTo>
                    <a:pt x="2828518" y="1818919"/>
                  </a:lnTo>
                  <a:lnTo>
                    <a:pt x="2824937" y="1819272"/>
                  </a:lnTo>
                  <a:lnTo>
                    <a:pt x="2821305" y="1819272"/>
                  </a:lnTo>
                  <a:lnTo>
                    <a:pt x="55245" y="1819272"/>
                  </a:lnTo>
                  <a:lnTo>
                    <a:pt x="51612" y="1819272"/>
                  </a:lnTo>
                  <a:lnTo>
                    <a:pt x="48018" y="1818919"/>
                  </a:lnTo>
                  <a:lnTo>
                    <a:pt x="44462" y="1818210"/>
                  </a:lnTo>
                  <a:lnTo>
                    <a:pt x="40906" y="1817505"/>
                  </a:lnTo>
                  <a:lnTo>
                    <a:pt x="16179" y="1803093"/>
                  </a:lnTo>
                  <a:lnTo>
                    <a:pt x="13614" y="1800529"/>
                  </a:lnTo>
                  <a:lnTo>
                    <a:pt x="1066" y="1774807"/>
                  </a:lnTo>
                  <a:lnTo>
                    <a:pt x="355" y="1771249"/>
                  </a:lnTo>
                  <a:lnTo>
                    <a:pt x="0" y="1767658"/>
                  </a:lnTo>
                  <a:lnTo>
                    <a:pt x="0" y="1764032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8112125" y="4773612"/>
            <a:ext cx="2541905" cy="1455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Portabilidad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20">
                <a:solidFill>
                  <a:srgbClr val="CFD0D8"/>
                </a:solidFill>
                <a:latin typeface="Roboto"/>
                <a:cs typeface="Roboto"/>
              </a:rPr>
              <a:t>C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es </a:t>
            </a:r>
            <a:r>
              <a:rPr dirty="0" sz="1350" spc="-30">
                <a:solidFill>
                  <a:srgbClr val="CFD0D8"/>
                </a:solidFill>
                <a:latin typeface="Roboto"/>
                <a:cs typeface="Roboto"/>
              </a:rPr>
              <a:t>un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lenguaje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altamente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portable, lo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que facilita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su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uso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 </a:t>
            </a:r>
            <a:r>
              <a:rPr dirty="0" sz="1350" spc="-3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CFD0D8"/>
                </a:solidFill>
                <a:latin typeface="Roboto"/>
                <a:cs typeface="Roboto"/>
              </a:rPr>
              <a:t>una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amplia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gama</a:t>
            </a:r>
            <a:r>
              <a:rPr dirty="0" sz="13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plataformas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dispositivos.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407657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772400"/>
          </a:xfrm>
          <a:custGeom>
            <a:avLst/>
            <a:gdLst/>
            <a:ahLst/>
            <a:cxnLst/>
            <a:rect l="l" t="t" r="r" b="b"/>
            <a:pathLst>
              <a:path w="11430000" h="7772400">
                <a:moveTo>
                  <a:pt x="11430000" y="0"/>
                </a:moveTo>
                <a:lnTo>
                  <a:pt x="0" y="0"/>
                </a:lnTo>
                <a:lnTo>
                  <a:pt x="0" y="7772400"/>
                </a:lnTo>
                <a:lnTo>
                  <a:pt x="11430000" y="77724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77723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73625" y="444500"/>
            <a:ext cx="4464685" cy="1616075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115"/>
              </a:spcBef>
            </a:pPr>
            <a:r>
              <a:rPr dirty="0"/>
              <a:t>Características</a:t>
            </a:r>
            <a:r>
              <a:rPr dirty="0" spc="-10"/>
              <a:t> </a:t>
            </a:r>
            <a:r>
              <a:rPr dirty="0" spc="30"/>
              <a:t>de</a:t>
            </a:r>
            <a:r>
              <a:rPr dirty="0" spc="-10"/>
              <a:t> </a:t>
            </a:r>
            <a:r>
              <a:rPr dirty="0" spc="75"/>
              <a:t>C</a:t>
            </a:r>
            <a:r>
              <a:rPr dirty="0" spc="-5"/>
              <a:t> </a:t>
            </a:r>
            <a:r>
              <a:rPr dirty="0" spc="15"/>
              <a:t>en </a:t>
            </a:r>
            <a:r>
              <a:rPr dirty="0" spc="-819"/>
              <a:t> </a:t>
            </a:r>
            <a:r>
              <a:rPr dirty="0" spc="10"/>
              <a:t>Aplicaciones</a:t>
            </a:r>
            <a:r>
              <a:rPr dirty="0" spc="-5"/>
              <a:t> </a:t>
            </a:r>
            <a:r>
              <a:rPr dirty="0" spc="25"/>
              <a:t>de</a:t>
            </a: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/>
              <a:t>Microcontroladores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950625" y="2343150"/>
            <a:ext cx="971550" cy="4953000"/>
            <a:chOff x="4950625" y="2343150"/>
            <a:chExt cx="971550" cy="4953000"/>
          </a:xfrm>
        </p:grpSpPr>
        <p:sp>
          <p:nvSpPr>
            <p:cNvPr id="6" name="object 6"/>
            <p:cNvSpPr/>
            <p:nvPr/>
          </p:nvSpPr>
          <p:spPr>
            <a:xfrm>
              <a:off x="5133975" y="2343149"/>
              <a:ext cx="788670" cy="4953000"/>
            </a:xfrm>
            <a:custGeom>
              <a:avLst/>
              <a:gdLst/>
              <a:ahLst/>
              <a:cxnLst/>
              <a:rect l="l" t="t" r="r" b="b"/>
              <a:pathLst>
                <a:path w="788670" h="4953000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4943475"/>
                  </a:lnTo>
                  <a:lnTo>
                    <a:pt x="0" y="4946104"/>
                  </a:lnTo>
                  <a:lnTo>
                    <a:pt x="927" y="4948352"/>
                  </a:lnTo>
                  <a:lnTo>
                    <a:pt x="4648" y="4952073"/>
                  </a:lnTo>
                  <a:lnTo>
                    <a:pt x="6896" y="4953000"/>
                  </a:lnTo>
                  <a:lnTo>
                    <a:pt x="12153" y="4953000"/>
                  </a:lnTo>
                  <a:lnTo>
                    <a:pt x="14401" y="4952073"/>
                  </a:lnTo>
                  <a:lnTo>
                    <a:pt x="18122" y="4948352"/>
                  </a:lnTo>
                  <a:lnTo>
                    <a:pt x="19050" y="4946104"/>
                  </a:lnTo>
                  <a:lnTo>
                    <a:pt x="19050" y="6896"/>
                  </a:lnTo>
                  <a:close/>
                </a:path>
                <a:path w="788670" h="4953000">
                  <a:moveTo>
                    <a:pt x="788200" y="378371"/>
                  </a:moveTo>
                  <a:lnTo>
                    <a:pt x="787260" y="376123"/>
                  </a:lnTo>
                  <a:lnTo>
                    <a:pt x="783539" y="372402"/>
                  </a:lnTo>
                  <a:lnTo>
                    <a:pt x="781304" y="371475"/>
                  </a:lnTo>
                  <a:lnTo>
                    <a:pt x="195008" y="371475"/>
                  </a:lnTo>
                  <a:lnTo>
                    <a:pt x="192773" y="372402"/>
                  </a:lnTo>
                  <a:lnTo>
                    <a:pt x="189039" y="376123"/>
                  </a:lnTo>
                  <a:lnTo>
                    <a:pt x="188125" y="378371"/>
                  </a:lnTo>
                  <a:lnTo>
                    <a:pt x="188125" y="381000"/>
                  </a:lnTo>
                  <a:lnTo>
                    <a:pt x="188125" y="383628"/>
                  </a:lnTo>
                  <a:lnTo>
                    <a:pt x="189039" y="385876"/>
                  </a:lnTo>
                  <a:lnTo>
                    <a:pt x="192773" y="389597"/>
                  </a:lnTo>
                  <a:lnTo>
                    <a:pt x="195008" y="390525"/>
                  </a:lnTo>
                  <a:lnTo>
                    <a:pt x="781304" y="390525"/>
                  </a:lnTo>
                  <a:lnTo>
                    <a:pt x="783539" y="389597"/>
                  </a:lnTo>
                  <a:lnTo>
                    <a:pt x="787260" y="385876"/>
                  </a:lnTo>
                  <a:lnTo>
                    <a:pt x="788200" y="383628"/>
                  </a:lnTo>
                  <a:lnTo>
                    <a:pt x="788200" y="378371"/>
                  </a:lnTo>
                  <a:close/>
                </a:path>
              </a:pathLst>
            </a:custGeom>
            <a:solidFill>
              <a:srgbClr val="303E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955387" y="25384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74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5" y="367385"/>
                  </a:lnTo>
                  <a:lnTo>
                    <a:pt x="51612" y="381000"/>
                  </a:lnTo>
                  <a:lnTo>
                    <a:pt x="329374" y="381000"/>
                  </a:lnTo>
                  <a:lnTo>
                    <a:pt x="367372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42" y="13614"/>
                  </a:lnTo>
                  <a:lnTo>
                    <a:pt x="332968" y="355"/>
                  </a:lnTo>
                  <a:lnTo>
                    <a:pt x="329374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955387" y="25384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42" y="48031"/>
                  </a:lnTo>
                  <a:lnTo>
                    <a:pt x="1054" y="44462"/>
                  </a:lnTo>
                  <a:lnTo>
                    <a:pt x="1765" y="40906"/>
                  </a:lnTo>
                  <a:lnTo>
                    <a:pt x="2806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15" y="21539"/>
                  </a:lnTo>
                  <a:lnTo>
                    <a:pt x="24549" y="9309"/>
                  </a:lnTo>
                  <a:lnTo>
                    <a:pt x="27559" y="7289"/>
                  </a:lnTo>
                  <a:lnTo>
                    <a:pt x="30746" y="5588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74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80" y="1765"/>
                  </a:lnTo>
                  <a:lnTo>
                    <a:pt x="343535" y="2819"/>
                  </a:lnTo>
                  <a:lnTo>
                    <a:pt x="346887" y="4203"/>
                  </a:lnTo>
                  <a:lnTo>
                    <a:pt x="350240" y="5588"/>
                  </a:lnTo>
                  <a:lnTo>
                    <a:pt x="353428" y="7289"/>
                  </a:lnTo>
                  <a:lnTo>
                    <a:pt x="356438" y="9309"/>
                  </a:lnTo>
                  <a:lnTo>
                    <a:pt x="359460" y="11328"/>
                  </a:lnTo>
                  <a:lnTo>
                    <a:pt x="371678" y="24549"/>
                  </a:lnTo>
                  <a:lnTo>
                    <a:pt x="373697" y="27571"/>
                  </a:lnTo>
                  <a:lnTo>
                    <a:pt x="375399" y="30746"/>
                  </a:lnTo>
                  <a:lnTo>
                    <a:pt x="376783" y="34099"/>
                  </a:lnTo>
                  <a:lnTo>
                    <a:pt x="378180" y="37452"/>
                  </a:lnTo>
                  <a:lnTo>
                    <a:pt x="379222" y="40906"/>
                  </a:lnTo>
                  <a:lnTo>
                    <a:pt x="379933" y="44462"/>
                  </a:lnTo>
                  <a:lnTo>
                    <a:pt x="380644" y="48031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24"/>
                  </a:lnTo>
                  <a:lnTo>
                    <a:pt x="379222" y="340093"/>
                  </a:lnTo>
                  <a:lnTo>
                    <a:pt x="378180" y="343547"/>
                  </a:lnTo>
                  <a:lnTo>
                    <a:pt x="376783" y="346900"/>
                  </a:lnTo>
                  <a:lnTo>
                    <a:pt x="375399" y="350253"/>
                  </a:lnTo>
                  <a:lnTo>
                    <a:pt x="373697" y="353428"/>
                  </a:lnTo>
                  <a:lnTo>
                    <a:pt x="371678" y="356450"/>
                  </a:lnTo>
                  <a:lnTo>
                    <a:pt x="369671" y="359460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74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16179" y="364820"/>
                  </a:lnTo>
                  <a:lnTo>
                    <a:pt x="13614" y="362254"/>
                  </a:lnTo>
                  <a:lnTo>
                    <a:pt x="11315" y="359460"/>
                  </a:lnTo>
                  <a:lnTo>
                    <a:pt x="9309" y="356450"/>
                  </a:lnTo>
                  <a:lnTo>
                    <a:pt x="7289" y="353428"/>
                  </a:lnTo>
                  <a:lnTo>
                    <a:pt x="5588" y="350253"/>
                  </a:lnTo>
                  <a:lnTo>
                    <a:pt x="4203" y="346900"/>
                  </a:lnTo>
                  <a:lnTo>
                    <a:pt x="2806" y="343547"/>
                  </a:lnTo>
                  <a:lnTo>
                    <a:pt x="1765" y="340093"/>
                  </a:lnTo>
                  <a:lnTo>
                    <a:pt x="1054" y="336524"/>
                  </a:lnTo>
                  <a:lnTo>
                    <a:pt x="342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057571" y="2540000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1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73769" y="2497137"/>
            <a:ext cx="3980179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Control</a:t>
            </a:r>
            <a:r>
              <a:rPr dirty="0" sz="1650" spc="-1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5">
                <a:solidFill>
                  <a:srgbClr val="CFD0D8"/>
                </a:solidFill>
                <a:latin typeface="Roboto Lt"/>
                <a:cs typeface="Roboto Lt"/>
              </a:rPr>
              <a:t>de</a:t>
            </a:r>
            <a:r>
              <a:rPr dirty="0" sz="1650" spc="-1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Hardware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20">
                <a:solidFill>
                  <a:srgbClr val="CFD0D8"/>
                </a:solidFill>
                <a:latin typeface="Roboto"/>
                <a:cs typeface="Roboto"/>
              </a:rPr>
              <a:t>C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permite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los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desarrolladores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acceder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manipular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directamente los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periféricos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registros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los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microcontroladores.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950625" y="4238625"/>
            <a:ext cx="971550" cy="390525"/>
            <a:chOff x="4950625" y="4238625"/>
            <a:chExt cx="971550" cy="390525"/>
          </a:xfrm>
        </p:grpSpPr>
        <p:sp>
          <p:nvSpPr>
            <p:cNvPr id="12" name="object 12"/>
            <p:cNvSpPr/>
            <p:nvPr/>
          </p:nvSpPr>
          <p:spPr>
            <a:xfrm>
              <a:off x="5322100" y="4429125"/>
              <a:ext cx="600075" cy="19050"/>
            </a:xfrm>
            <a:custGeom>
              <a:avLst/>
              <a:gdLst/>
              <a:ahLst/>
              <a:cxnLst/>
              <a:rect l="l" t="t" r="r" b="b"/>
              <a:pathLst>
                <a:path w="600075" h="19050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303E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955387" y="424338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74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5" y="367385"/>
                  </a:lnTo>
                  <a:lnTo>
                    <a:pt x="51612" y="381000"/>
                  </a:lnTo>
                  <a:lnTo>
                    <a:pt x="329374" y="381000"/>
                  </a:lnTo>
                  <a:lnTo>
                    <a:pt x="367372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42" y="13614"/>
                  </a:lnTo>
                  <a:lnTo>
                    <a:pt x="332968" y="355"/>
                  </a:lnTo>
                  <a:lnTo>
                    <a:pt x="329374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955387" y="424338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42" y="48031"/>
                  </a:lnTo>
                  <a:lnTo>
                    <a:pt x="1054" y="44462"/>
                  </a:lnTo>
                  <a:lnTo>
                    <a:pt x="1765" y="40906"/>
                  </a:lnTo>
                  <a:lnTo>
                    <a:pt x="2806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15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21526" y="11328"/>
                  </a:lnTo>
                  <a:lnTo>
                    <a:pt x="24549" y="9309"/>
                  </a:lnTo>
                  <a:lnTo>
                    <a:pt x="27559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74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80" y="1765"/>
                  </a:lnTo>
                  <a:lnTo>
                    <a:pt x="356438" y="9309"/>
                  </a:lnTo>
                  <a:lnTo>
                    <a:pt x="359460" y="11328"/>
                  </a:lnTo>
                  <a:lnTo>
                    <a:pt x="371678" y="24549"/>
                  </a:lnTo>
                  <a:lnTo>
                    <a:pt x="373697" y="27571"/>
                  </a:lnTo>
                  <a:lnTo>
                    <a:pt x="375399" y="30746"/>
                  </a:lnTo>
                  <a:lnTo>
                    <a:pt x="376783" y="34099"/>
                  </a:lnTo>
                  <a:lnTo>
                    <a:pt x="378180" y="37452"/>
                  </a:lnTo>
                  <a:lnTo>
                    <a:pt x="379222" y="40906"/>
                  </a:lnTo>
                  <a:lnTo>
                    <a:pt x="379933" y="44462"/>
                  </a:lnTo>
                  <a:lnTo>
                    <a:pt x="380644" y="48031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24"/>
                  </a:lnTo>
                  <a:lnTo>
                    <a:pt x="379222" y="340093"/>
                  </a:lnTo>
                  <a:lnTo>
                    <a:pt x="378180" y="343547"/>
                  </a:lnTo>
                  <a:lnTo>
                    <a:pt x="376783" y="346887"/>
                  </a:lnTo>
                  <a:lnTo>
                    <a:pt x="375399" y="350253"/>
                  </a:lnTo>
                  <a:lnTo>
                    <a:pt x="373697" y="353428"/>
                  </a:lnTo>
                  <a:lnTo>
                    <a:pt x="371678" y="356450"/>
                  </a:lnTo>
                  <a:lnTo>
                    <a:pt x="369671" y="359460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74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16179" y="364820"/>
                  </a:lnTo>
                  <a:lnTo>
                    <a:pt x="13614" y="362254"/>
                  </a:lnTo>
                  <a:lnTo>
                    <a:pt x="11315" y="359460"/>
                  </a:lnTo>
                  <a:lnTo>
                    <a:pt x="9309" y="356450"/>
                  </a:lnTo>
                  <a:lnTo>
                    <a:pt x="7289" y="353428"/>
                  </a:lnTo>
                  <a:lnTo>
                    <a:pt x="5588" y="350253"/>
                  </a:lnTo>
                  <a:lnTo>
                    <a:pt x="4203" y="346887"/>
                  </a:lnTo>
                  <a:lnTo>
                    <a:pt x="2806" y="343547"/>
                  </a:lnTo>
                  <a:lnTo>
                    <a:pt x="1765" y="340093"/>
                  </a:lnTo>
                  <a:lnTo>
                    <a:pt x="1054" y="336524"/>
                  </a:lnTo>
                  <a:lnTo>
                    <a:pt x="342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057571" y="4244975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2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73769" y="4202112"/>
            <a:ext cx="4660900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">
                <a:solidFill>
                  <a:srgbClr val="CFD0D8"/>
                </a:solidFill>
                <a:latin typeface="Roboto Lt"/>
                <a:cs typeface="Roboto Lt"/>
              </a:rPr>
              <a:t>Optimización</a:t>
            </a:r>
            <a:r>
              <a:rPr dirty="0" sz="1650" spc="-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5">
                <a:solidFill>
                  <a:srgbClr val="CFD0D8"/>
                </a:solidFill>
                <a:latin typeface="Roboto Lt"/>
                <a:cs typeface="Roboto Lt"/>
              </a:rPr>
              <a:t>de</a:t>
            </a:r>
            <a:r>
              <a:rPr dirty="0" sz="165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5">
                <a:solidFill>
                  <a:srgbClr val="CFD0D8"/>
                </a:solidFill>
                <a:latin typeface="Roboto Lt"/>
                <a:cs typeface="Roboto Lt"/>
              </a:rPr>
              <a:t>Recursos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El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código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20">
                <a:solidFill>
                  <a:srgbClr val="CFD0D8"/>
                </a:solidFill>
                <a:latin typeface="Roboto"/>
                <a:cs typeface="Roboto"/>
              </a:rPr>
              <a:t>C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se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compila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30">
                <a:solidFill>
                  <a:srgbClr val="CFD0D8"/>
                </a:solidFill>
                <a:latin typeface="Roboto"/>
                <a:cs typeface="Roboto"/>
              </a:rPr>
              <a:t>un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nivel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CFD0D8"/>
                </a:solidFill>
                <a:latin typeface="Roboto"/>
                <a:cs typeface="Roboto"/>
              </a:rPr>
              <a:t>muy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bajo,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lo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que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resulta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en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CFD0D8"/>
                </a:solidFill>
                <a:latin typeface="Roboto"/>
                <a:cs typeface="Roboto"/>
              </a:rPr>
              <a:t>una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ejecución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eficiente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30">
                <a:solidFill>
                  <a:srgbClr val="CFD0D8"/>
                </a:solidFill>
                <a:latin typeface="Roboto"/>
                <a:cs typeface="Roboto"/>
              </a:rPr>
              <a:t>un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uso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optimizado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memoria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procesamiento.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950625" y="5953125"/>
            <a:ext cx="971550" cy="381000"/>
            <a:chOff x="4950625" y="5953125"/>
            <a:chExt cx="971550" cy="381000"/>
          </a:xfrm>
        </p:grpSpPr>
        <p:sp>
          <p:nvSpPr>
            <p:cNvPr id="18" name="object 18"/>
            <p:cNvSpPr/>
            <p:nvPr/>
          </p:nvSpPr>
          <p:spPr>
            <a:xfrm>
              <a:off x="5322100" y="6134100"/>
              <a:ext cx="600075" cy="19050"/>
            </a:xfrm>
            <a:custGeom>
              <a:avLst/>
              <a:gdLst/>
              <a:ahLst/>
              <a:cxnLst/>
              <a:rect l="l" t="t" r="r" b="b"/>
              <a:pathLst>
                <a:path w="600075" h="19050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303E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955387" y="59578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74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74" y="371475"/>
                  </a:lnTo>
                  <a:lnTo>
                    <a:pt x="367372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42" y="13614"/>
                  </a:lnTo>
                  <a:lnTo>
                    <a:pt x="332968" y="355"/>
                  </a:lnTo>
                  <a:lnTo>
                    <a:pt x="329374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955387" y="59578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42" y="48031"/>
                  </a:lnTo>
                  <a:lnTo>
                    <a:pt x="1054" y="44462"/>
                  </a:lnTo>
                  <a:lnTo>
                    <a:pt x="1765" y="40906"/>
                  </a:lnTo>
                  <a:lnTo>
                    <a:pt x="2806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15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21526" y="11328"/>
                  </a:lnTo>
                  <a:lnTo>
                    <a:pt x="24549" y="9309"/>
                  </a:lnTo>
                  <a:lnTo>
                    <a:pt x="27559" y="7289"/>
                  </a:lnTo>
                  <a:lnTo>
                    <a:pt x="30746" y="5588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74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80" y="1765"/>
                  </a:lnTo>
                  <a:lnTo>
                    <a:pt x="356438" y="9309"/>
                  </a:lnTo>
                  <a:lnTo>
                    <a:pt x="359460" y="11328"/>
                  </a:lnTo>
                  <a:lnTo>
                    <a:pt x="362242" y="13614"/>
                  </a:lnTo>
                  <a:lnTo>
                    <a:pt x="364807" y="16179"/>
                  </a:lnTo>
                  <a:lnTo>
                    <a:pt x="367372" y="18745"/>
                  </a:lnTo>
                  <a:lnTo>
                    <a:pt x="369671" y="21539"/>
                  </a:lnTo>
                  <a:lnTo>
                    <a:pt x="371678" y="24549"/>
                  </a:lnTo>
                  <a:lnTo>
                    <a:pt x="373697" y="27571"/>
                  </a:lnTo>
                  <a:lnTo>
                    <a:pt x="375399" y="30746"/>
                  </a:lnTo>
                  <a:lnTo>
                    <a:pt x="376783" y="34099"/>
                  </a:lnTo>
                  <a:lnTo>
                    <a:pt x="378180" y="37452"/>
                  </a:lnTo>
                  <a:lnTo>
                    <a:pt x="379222" y="40906"/>
                  </a:lnTo>
                  <a:lnTo>
                    <a:pt x="379933" y="44462"/>
                  </a:lnTo>
                  <a:lnTo>
                    <a:pt x="380644" y="48031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6999"/>
                  </a:lnTo>
                  <a:lnTo>
                    <a:pt x="379222" y="330568"/>
                  </a:lnTo>
                  <a:lnTo>
                    <a:pt x="378180" y="334022"/>
                  </a:lnTo>
                  <a:lnTo>
                    <a:pt x="376783" y="337362"/>
                  </a:lnTo>
                  <a:lnTo>
                    <a:pt x="375399" y="340728"/>
                  </a:lnTo>
                  <a:lnTo>
                    <a:pt x="373697" y="343903"/>
                  </a:lnTo>
                  <a:lnTo>
                    <a:pt x="371678" y="346925"/>
                  </a:lnTo>
                  <a:lnTo>
                    <a:pt x="369671" y="349935"/>
                  </a:lnTo>
                  <a:lnTo>
                    <a:pt x="367372" y="352729"/>
                  </a:lnTo>
                  <a:lnTo>
                    <a:pt x="364807" y="355295"/>
                  </a:lnTo>
                  <a:lnTo>
                    <a:pt x="362242" y="357860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74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16179" y="355295"/>
                  </a:lnTo>
                  <a:lnTo>
                    <a:pt x="13614" y="352729"/>
                  </a:lnTo>
                  <a:lnTo>
                    <a:pt x="11315" y="349935"/>
                  </a:lnTo>
                  <a:lnTo>
                    <a:pt x="9309" y="346925"/>
                  </a:lnTo>
                  <a:lnTo>
                    <a:pt x="7289" y="343903"/>
                  </a:lnTo>
                  <a:lnTo>
                    <a:pt x="5588" y="340728"/>
                  </a:lnTo>
                  <a:lnTo>
                    <a:pt x="4203" y="337362"/>
                  </a:lnTo>
                  <a:lnTo>
                    <a:pt x="2806" y="334022"/>
                  </a:lnTo>
                  <a:lnTo>
                    <a:pt x="1765" y="330568"/>
                  </a:lnTo>
                  <a:lnTo>
                    <a:pt x="1054" y="326999"/>
                  </a:lnTo>
                  <a:lnTo>
                    <a:pt x="342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057571" y="5959475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3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73769" y="5916612"/>
            <a:ext cx="476123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">
                <a:solidFill>
                  <a:srgbClr val="CFD0D8"/>
                </a:solidFill>
                <a:latin typeface="Roboto Lt"/>
                <a:cs typeface="Roboto Lt"/>
              </a:rPr>
              <a:t>Compatibilidad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amplia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adopción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20">
                <a:solidFill>
                  <a:srgbClr val="CFD0D8"/>
                </a:solidFill>
                <a:latin typeface="Roboto"/>
                <a:cs typeface="Roboto"/>
              </a:rPr>
              <a:t>C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el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mundo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embebido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garantiza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CFD0D8"/>
                </a:solidFill>
                <a:latin typeface="Roboto"/>
                <a:cs typeface="Roboto"/>
              </a:rPr>
              <a:t>una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CFD0D8"/>
                </a:solidFill>
                <a:latin typeface="Roboto"/>
                <a:cs typeface="Roboto"/>
              </a:rPr>
              <a:t>gran</a:t>
            </a:r>
            <a:r>
              <a:rPr dirty="0" sz="1350" spc="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disponibilidad</a:t>
            </a:r>
            <a:r>
              <a:rPr dirty="0" sz="1350" spc="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bibliotecas,</a:t>
            </a:r>
            <a:r>
              <a:rPr dirty="0" sz="1350" spc="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herramientas</a:t>
            </a:r>
            <a:r>
              <a:rPr dirty="0" sz="1350" spc="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soporte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proyectos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microcontroladores.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72580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420100"/>
          </a:xfrm>
          <a:custGeom>
            <a:avLst/>
            <a:gdLst/>
            <a:ahLst/>
            <a:cxnLst/>
            <a:rect l="l" t="t" r="r" b="b"/>
            <a:pathLst>
              <a:path w="11430000" h="8420100">
                <a:moveTo>
                  <a:pt x="11430000" y="0"/>
                </a:moveTo>
                <a:lnTo>
                  <a:pt x="0" y="0"/>
                </a:lnTo>
                <a:lnTo>
                  <a:pt x="0" y="8420100"/>
                </a:lnTo>
                <a:lnTo>
                  <a:pt x="11430000" y="84201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84198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983354" marR="5080">
              <a:lnSpc>
                <a:spcPts val="4200"/>
              </a:lnSpc>
              <a:spcBef>
                <a:spcPts val="50"/>
              </a:spcBef>
            </a:pPr>
            <a:r>
              <a:rPr dirty="0" spc="-5"/>
              <a:t>Raspberry </a:t>
            </a:r>
            <a:r>
              <a:rPr dirty="0" spc="5"/>
              <a:t>Pi</a:t>
            </a:r>
            <a:r>
              <a:rPr dirty="0" spc="-5"/>
              <a:t> </a:t>
            </a:r>
            <a:r>
              <a:rPr dirty="0" spc="-55"/>
              <a:t>y</a:t>
            </a:r>
            <a:r>
              <a:rPr dirty="0" spc="-5"/>
              <a:t> </a:t>
            </a:r>
            <a:r>
              <a:rPr dirty="0" spc="-10"/>
              <a:t>Python:</a:t>
            </a:r>
            <a:r>
              <a:rPr dirty="0"/>
              <a:t> </a:t>
            </a:r>
            <a:r>
              <a:rPr dirty="0" spc="20"/>
              <a:t>Casos </a:t>
            </a:r>
            <a:r>
              <a:rPr dirty="0" spc="-819"/>
              <a:t> </a:t>
            </a:r>
            <a:r>
              <a:rPr dirty="0" spc="30"/>
              <a:t>de</a:t>
            </a:r>
            <a:r>
              <a:rPr dirty="0" spc="-5"/>
              <a:t> </a:t>
            </a:r>
            <a:r>
              <a:rPr dirty="0" spc="-20"/>
              <a:t>Uso</a:t>
            </a:r>
            <a:r>
              <a:rPr dirty="0"/>
              <a:t> </a:t>
            </a:r>
            <a:r>
              <a:rPr dirty="0" spc="-55"/>
              <a:t>y</a:t>
            </a:r>
            <a:r>
              <a:rPr dirty="0"/>
              <a:t> </a:t>
            </a:r>
            <a:r>
              <a:rPr dirty="0" spc="-5"/>
              <a:t>Ventajas</a:t>
            </a:r>
          </a:p>
        </p:txBody>
      </p:sp>
      <p:sp>
        <p:nvSpPr>
          <p:cNvPr id="5" name="object 5"/>
          <p:cNvSpPr/>
          <p:nvPr/>
        </p:nvSpPr>
        <p:spPr>
          <a:xfrm>
            <a:off x="4886325" y="1874049"/>
            <a:ext cx="428625" cy="300355"/>
          </a:xfrm>
          <a:custGeom>
            <a:avLst/>
            <a:gdLst/>
            <a:ahLst/>
            <a:cxnLst/>
            <a:rect l="l" t="t" r="r" b="b"/>
            <a:pathLst>
              <a:path w="428625" h="300355">
                <a:moveTo>
                  <a:pt x="252349" y="278599"/>
                </a:moveTo>
                <a:lnTo>
                  <a:pt x="47688" y="278599"/>
                </a:lnTo>
                <a:lnTo>
                  <a:pt x="42862" y="283425"/>
                </a:lnTo>
                <a:lnTo>
                  <a:pt x="42862" y="295211"/>
                </a:lnTo>
                <a:lnTo>
                  <a:pt x="47688" y="300037"/>
                </a:lnTo>
                <a:lnTo>
                  <a:pt x="252349" y="300037"/>
                </a:lnTo>
                <a:lnTo>
                  <a:pt x="257175" y="295211"/>
                </a:lnTo>
                <a:lnTo>
                  <a:pt x="257175" y="283425"/>
                </a:lnTo>
                <a:lnTo>
                  <a:pt x="252349" y="278599"/>
                </a:lnTo>
                <a:close/>
              </a:path>
              <a:path w="428625" h="300355">
                <a:moveTo>
                  <a:pt x="130924" y="235737"/>
                </a:moveTo>
                <a:lnTo>
                  <a:pt x="108356" y="235737"/>
                </a:lnTo>
                <a:lnTo>
                  <a:pt x="94094" y="278599"/>
                </a:lnTo>
                <a:lnTo>
                  <a:pt x="116662" y="278599"/>
                </a:lnTo>
                <a:lnTo>
                  <a:pt x="130924" y="235737"/>
                </a:lnTo>
                <a:close/>
              </a:path>
              <a:path w="428625" h="300355">
                <a:moveTo>
                  <a:pt x="191681" y="235737"/>
                </a:moveTo>
                <a:lnTo>
                  <a:pt x="169037" y="235737"/>
                </a:lnTo>
                <a:lnTo>
                  <a:pt x="183299" y="278599"/>
                </a:lnTo>
                <a:lnTo>
                  <a:pt x="205943" y="278599"/>
                </a:lnTo>
                <a:lnTo>
                  <a:pt x="191681" y="235737"/>
                </a:lnTo>
                <a:close/>
              </a:path>
              <a:path w="428625" h="300355">
                <a:moveTo>
                  <a:pt x="257175" y="0"/>
                </a:moveTo>
                <a:lnTo>
                  <a:pt x="42862" y="0"/>
                </a:lnTo>
                <a:lnTo>
                  <a:pt x="26188" y="3371"/>
                </a:lnTo>
                <a:lnTo>
                  <a:pt x="12563" y="12563"/>
                </a:lnTo>
                <a:lnTo>
                  <a:pt x="3371" y="26188"/>
                </a:lnTo>
                <a:lnTo>
                  <a:pt x="0" y="42862"/>
                </a:lnTo>
                <a:lnTo>
                  <a:pt x="0" y="192874"/>
                </a:lnTo>
                <a:lnTo>
                  <a:pt x="3371" y="209543"/>
                </a:lnTo>
                <a:lnTo>
                  <a:pt x="12563" y="223169"/>
                </a:lnTo>
                <a:lnTo>
                  <a:pt x="26188" y="232363"/>
                </a:lnTo>
                <a:lnTo>
                  <a:pt x="42862" y="235737"/>
                </a:lnTo>
                <a:lnTo>
                  <a:pt x="257175" y="235737"/>
                </a:lnTo>
                <a:lnTo>
                  <a:pt x="273843" y="232363"/>
                </a:lnTo>
                <a:lnTo>
                  <a:pt x="287469" y="223169"/>
                </a:lnTo>
                <a:lnTo>
                  <a:pt x="293445" y="214312"/>
                </a:lnTo>
                <a:lnTo>
                  <a:pt x="42862" y="214312"/>
                </a:lnTo>
                <a:lnTo>
                  <a:pt x="34510" y="212629"/>
                </a:lnTo>
                <a:lnTo>
                  <a:pt x="27701" y="208037"/>
                </a:lnTo>
                <a:lnTo>
                  <a:pt x="23117" y="201223"/>
                </a:lnTo>
                <a:lnTo>
                  <a:pt x="21437" y="192874"/>
                </a:lnTo>
                <a:lnTo>
                  <a:pt x="21437" y="42862"/>
                </a:lnTo>
                <a:lnTo>
                  <a:pt x="23117" y="34508"/>
                </a:lnTo>
                <a:lnTo>
                  <a:pt x="27701" y="27695"/>
                </a:lnTo>
                <a:lnTo>
                  <a:pt x="34510" y="23106"/>
                </a:lnTo>
                <a:lnTo>
                  <a:pt x="42862" y="21424"/>
                </a:lnTo>
                <a:lnTo>
                  <a:pt x="293449" y="21424"/>
                </a:lnTo>
                <a:lnTo>
                  <a:pt x="287469" y="12563"/>
                </a:lnTo>
                <a:lnTo>
                  <a:pt x="273843" y="3371"/>
                </a:lnTo>
                <a:lnTo>
                  <a:pt x="257175" y="0"/>
                </a:lnTo>
                <a:close/>
              </a:path>
              <a:path w="428625" h="300355">
                <a:moveTo>
                  <a:pt x="293449" y="21424"/>
                </a:moveTo>
                <a:lnTo>
                  <a:pt x="257175" y="21424"/>
                </a:lnTo>
                <a:lnTo>
                  <a:pt x="265523" y="23106"/>
                </a:lnTo>
                <a:lnTo>
                  <a:pt x="272337" y="27695"/>
                </a:lnTo>
                <a:lnTo>
                  <a:pt x="276929" y="34508"/>
                </a:lnTo>
                <a:lnTo>
                  <a:pt x="278612" y="42862"/>
                </a:lnTo>
                <a:lnTo>
                  <a:pt x="278612" y="192874"/>
                </a:lnTo>
                <a:lnTo>
                  <a:pt x="276929" y="201223"/>
                </a:lnTo>
                <a:lnTo>
                  <a:pt x="272337" y="208037"/>
                </a:lnTo>
                <a:lnTo>
                  <a:pt x="265523" y="212629"/>
                </a:lnTo>
                <a:lnTo>
                  <a:pt x="257175" y="214312"/>
                </a:lnTo>
                <a:lnTo>
                  <a:pt x="293445" y="214312"/>
                </a:lnTo>
                <a:lnTo>
                  <a:pt x="296663" y="209543"/>
                </a:lnTo>
                <a:lnTo>
                  <a:pt x="300037" y="192874"/>
                </a:lnTo>
                <a:lnTo>
                  <a:pt x="300037" y="42862"/>
                </a:lnTo>
                <a:lnTo>
                  <a:pt x="296663" y="26188"/>
                </a:lnTo>
                <a:lnTo>
                  <a:pt x="293449" y="21424"/>
                </a:lnTo>
                <a:close/>
              </a:path>
              <a:path w="428625" h="300355">
                <a:moveTo>
                  <a:pt x="396481" y="0"/>
                </a:moveTo>
                <a:lnTo>
                  <a:pt x="353618" y="0"/>
                </a:lnTo>
                <a:lnTo>
                  <a:pt x="341106" y="2525"/>
                </a:lnTo>
                <a:lnTo>
                  <a:pt x="330888" y="9413"/>
                </a:lnTo>
                <a:lnTo>
                  <a:pt x="324000" y="19631"/>
                </a:lnTo>
                <a:lnTo>
                  <a:pt x="321475" y="32143"/>
                </a:lnTo>
                <a:lnTo>
                  <a:pt x="321475" y="267881"/>
                </a:lnTo>
                <a:lnTo>
                  <a:pt x="324000" y="280395"/>
                </a:lnTo>
                <a:lnTo>
                  <a:pt x="330888" y="290617"/>
                </a:lnTo>
                <a:lnTo>
                  <a:pt x="341106" y="297509"/>
                </a:lnTo>
                <a:lnTo>
                  <a:pt x="353618" y="300037"/>
                </a:lnTo>
                <a:lnTo>
                  <a:pt x="396481" y="300037"/>
                </a:lnTo>
                <a:lnTo>
                  <a:pt x="408988" y="297509"/>
                </a:lnTo>
                <a:lnTo>
                  <a:pt x="419206" y="290617"/>
                </a:lnTo>
                <a:lnTo>
                  <a:pt x="426097" y="280395"/>
                </a:lnTo>
                <a:lnTo>
                  <a:pt x="426460" y="278599"/>
                </a:lnTo>
                <a:lnTo>
                  <a:pt x="347726" y="278599"/>
                </a:lnTo>
                <a:lnTo>
                  <a:pt x="342900" y="273773"/>
                </a:lnTo>
                <a:lnTo>
                  <a:pt x="342900" y="128587"/>
                </a:lnTo>
                <a:lnTo>
                  <a:pt x="428625" y="128587"/>
                </a:lnTo>
                <a:lnTo>
                  <a:pt x="428625" y="107149"/>
                </a:lnTo>
                <a:lnTo>
                  <a:pt x="342900" y="107149"/>
                </a:lnTo>
                <a:lnTo>
                  <a:pt x="342900" y="85725"/>
                </a:lnTo>
                <a:lnTo>
                  <a:pt x="428625" y="85725"/>
                </a:lnTo>
                <a:lnTo>
                  <a:pt x="428625" y="64287"/>
                </a:lnTo>
                <a:lnTo>
                  <a:pt x="342900" y="64287"/>
                </a:lnTo>
                <a:lnTo>
                  <a:pt x="342900" y="26250"/>
                </a:lnTo>
                <a:lnTo>
                  <a:pt x="347726" y="21424"/>
                </a:lnTo>
                <a:lnTo>
                  <a:pt x="426459" y="21424"/>
                </a:lnTo>
                <a:lnTo>
                  <a:pt x="426097" y="19631"/>
                </a:lnTo>
                <a:lnTo>
                  <a:pt x="419206" y="9413"/>
                </a:lnTo>
                <a:lnTo>
                  <a:pt x="408988" y="2525"/>
                </a:lnTo>
                <a:lnTo>
                  <a:pt x="396481" y="0"/>
                </a:lnTo>
                <a:close/>
              </a:path>
              <a:path w="428625" h="300355">
                <a:moveTo>
                  <a:pt x="428625" y="128587"/>
                </a:moveTo>
                <a:lnTo>
                  <a:pt x="407200" y="128587"/>
                </a:lnTo>
                <a:lnTo>
                  <a:pt x="407200" y="273773"/>
                </a:lnTo>
                <a:lnTo>
                  <a:pt x="402374" y="278599"/>
                </a:lnTo>
                <a:lnTo>
                  <a:pt x="426460" y="278599"/>
                </a:lnTo>
                <a:lnTo>
                  <a:pt x="428625" y="267881"/>
                </a:lnTo>
                <a:lnTo>
                  <a:pt x="428625" y="128587"/>
                </a:lnTo>
                <a:close/>
              </a:path>
              <a:path w="428625" h="300355">
                <a:moveTo>
                  <a:pt x="377177" y="187515"/>
                </a:moveTo>
                <a:lnTo>
                  <a:pt x="372910" y="187515"/>
                </a:lnTo>
                <a:lnTo>
                  <a:pt x="370865" y="187921"/>
                </a:lnTo>
                <a:lnTo>
                  <a:pt x="358978" y="201460"/>
                </a:lnTo>
                <a:lnTo>
                  <a:pt x="358978" y="205714"/>
                </a:lnTo>
                <a:lnTo>
                  <a:pt x="372910" y="219659"/>
                </a:lnTo>
                <a:lnTo>
                  <a:pt x="377177" y="219659"/>
                </a:lnTo>
                <a:lnTo>
                  <a:pt x="391121" y="205714"/>
                </a:lnTo>
                <a:lnTo>
                  <a:pt x="391121" y="201460"/>
                </a:lnTo>
                <a:lnTo>
                  <a:pt x="377177" y="187515"/>
                </a:lnTo>
                <a:close/>
              </a:path>
              <a:path w="428625" h="300355">
                <a:moveTo>
                  <a:pt x="428625" y="85725"/>
                </a:moveTo>
                <a:lnTo>
                  <a:pt x="407200" y="85725"/>
                </a:lnTo>
                <a:lnTo>
                  <a:pt x="407200" y="107149"/>
                </a:lnTo>
                <a:lnTo>
                  <a:pt x="428625" y="107149"/>
                </a:lnTo>
                <a:lnTo>
                  <a:pt x="428625" y="85725"/>
                </a:lnTo>
                <a:close/>
              </a:path>
              <a:path w="428625" h="300355">
                <a:moveTo>
                  <a:pt x="426459" y="21424"/>
                </a:moveTo>
                <a:lnTo>
                  <a:pt x="402374" y="21424"/>
                </a:lnTo>
                <a:lnTo>
                  <a:pt x="407200" y="26250"/>
                </a:lnTo>
                <a:lnTo>
                  <a:pt x="407200" y="64287"/>
                </a:lnTo>
                <a:lnTo>
                  <a:pt x="428625" y="64287"/>
                </a:lnTo>
                <a:lnTo>
                  <a:pt x="428625" y="32143"/>
                </a:lnTo>
                <a:lnTo>
                  <a:pt x="426459" y="21424"/>
                </a:lnTo>
                <a:close/>
              </a:path>
            </a:pathLst>
          </a:custGeom>
          <a:solidFill>
            <a:srgbClr val="596E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3625" y="2392362"/>
            <a:ext cx="576770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">
                <a:solidFill>
                  <a:srgbClr val="CFD0D8"/>
                </a:solidFill>
                <a:latin typeface="Roboto Lt"/>
                <a:cs typeface="Roboto Lt"/>
              </a:rPr>
              <a:t>Prototipado</a:t>
            </a:r>
            <a:r>
              <a:rPr dirty="0" sz="1650" spc="-3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Rápido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Raspberry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Pi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Python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permiten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los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usuarios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crear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rápidamente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prototipos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soluciones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electrónicas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sin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necesidad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profundos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conocimientos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 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hardware.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86325" y="4114800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14312" y="0"/>
                </a:moveTo>
                <a:lnTo>
                  <a:pt x="156312" y="4653"/>
                </a:lnTo>
                <a:lnTo>
                  <a:pt x="111871" y="16524"/>
                </a:lnTo>
                <a:lnTo>
                  <a:pt x="60782" y="49225"/>
                </a:lnTo>
                <a:lnTo>
                  <a:pt x="53581" y="64122"/>
                </a:lnTo>
                <a:lnTo>
                  <a:pt x="53581" y="221348"/>
                </a:lnTo>
                <a:lnTo>
                  <a:pt x="42471" y="233584"/>
                </a:lnTo>
                <a:lnTo>
                  <a:pt x="34029" y="247924"/>
                </a:lnTo>
                <a:lnTo>
                  <a:pt x="28663" y="263962"/>
                </a:lnTo>
                <a:lnTo>
                  <a:pt x="26784" y="281292"/>
                </a:lnTo>
                <a:lnTo>
                  <a:pt x="26784" y="328168"/>
                </a:lnTo>
                <a:lnTo>
                  <a:pt x="28746" y="341602"/>
                </a:lnTo>
                <a:lnTo>
                  <a:pt x="34248" y="353521"/>
                </a:lnTo>
                <a:lnTo>
                  <a:pt x="42718" y="363352"/>
                </a:lnTo>
                <a:lnTo>
                  <a:pt x="53581" y="370522"/>
                </a:lnTo>
                <a:lnTo>
                  <a:pt x="53581" y="422592"/>
                </a:lnTo>
                <a:lnTo>
                  <a:pt x="59601" y="428625"/>
                </a:lnTo>
                <a:lnTo>
                  <a:pt x="74345" y="428625"/>
                </a:lnTo>
                <a:lnTo>
                  <a:pt x="80365" y="422592"/>
                </a:lnTo>
                <a:lnTo>
                  <a:pt x="80365" y="375043"/>
                </a:lnTo>
                <a:lnTo>
                  <a:pt x="375043" y="375043"/>
                </a:lnTo>
                <a:lnTo>
                  <a:pt x="375043" y="370522"/>
                </a:lnTo>
                <a:lnTo>
                  <a:pt x="385906" y="363352"/>
                </a:lnTo>
                <a:lnTo>
                  <a:pt x="394376" y="353521"/>
                </a:lnTo>
                <a:lnTo>
                  <a:pt x="396805" y="348259"/>
                </a:lnTo>
                <a:lnTo>
                  <a:pt x="73672" y="348259"/>
                </a:lnTo>
                <a:lnTo>
                  <a:pt x="65834" y="346684"/>
                </a:lnTo>
                <a:lnTo>
                  <a:pt x="59450" y="342385"/>
                </a:lnTo>
                <a:lnTo>
                  <a:pt x="55154" y="336000"/>
                </a:lnTo>
                <a:lnTo>
                  <a:pt x="53581" y="328168"/>
                </a:lnTo>
                <a:lnTo>
                  <a:pt x="53581" y="281292"/>
                </a:lnTo>
                <a:lnTo>
                  <a:pt x="57797" y="260452"/>
                </a:lnTo>
                <a:lnTo>
                  <a:pt x="69289" y="243419"/>
                </a:lnTo>
                <a:lnTo>
                  <a:pt x="86322" y="231927"/>
                </a:lnTo>
                <a:lnTo>
                  <a:pt x="107162" y="227711"/>
                </a:lnTo>
                <a:lnTo>
                  <a:pt x="380820" y="227711"/>
                </a:lnTo>
                <a:lnTo>
                  <a:pt x="375043" y="221348"/>
                </a:lnTo>
                <a:lnTo>
                  <a:pt x="375043" y="205524"/>
                </a:lnTo>
                <a:lnTo>
                  <a:pt x="80365" y="205524"/>
                </a:lnTo>
                <a:lnTo>
                  <a:pt x="80365" y="133946"/>
                </a:lnTo>
                <a:lnTo>
                  <a:pt x="375043" y="133946"/>
                </a:lnTo>
                <a:lnTo>
                  <a:pt x="375043" y="107162"/>
                </a:lnTo>
                <a:lnTo>
                  <a:pt x="80365" y="107162"/>
                </a:lnTo>
                <a:lnTo>
                  <a:pt x="80365" y="67805"/>
                </a:lnTo>
                <a:lnTo>
                  <a:pt x="121450" y="41551"/>
                </a:lnTo>
                <a:lnTo>
                  <a:pt x="160645" y="31079"/>
                </a:lnTo>
                <a:lnTo>
                  <a:pt x="214312" y="26784"/>
                </a:lnTo>
                <a:lnTo>
                  <a:pt x="339062" y="26784"/>
                </a:lnTo>
                <a:lnTo>
                  <a:pt x="319557" y="16511"/>
                </a:lnTo>
                <a:lnTo>
                  <a:pt x="275096" y="4648"/>
                </a:lnTo>
                <a:lnTo>
                  <a:pt x="214312" y="0"/>
                </a:lnTo>
                <a:close/>
              </a:path>
              <a:path w="428625" h="428625">
                <a:moveTo>
                  <a:pt x="375043" y="375043"/>
                </a:moveTo>
                <a:lnTo>
                  <a:pt x="348259" y="375043"/>
                </a:lnTo>
                <a:lnTo>
                  <a:pt x="348259" y="422592"/>
                </a:lnTo>
                <a:lnTo>
                  <a:pt x="354279" y="428625"/>
                </a:lnTo>
                <a:lnTo>
                  <a:pt x="369023" y="428625"/>
                </a:lnTo>
                <a:lnTo>
                  <a:pt x="375043" y="422592"/>
                </a:lnTo>
                <a:lnTo>
                  <a:pt x="375043" y="375043"/>
                </a:lnTo>
                <a:close/>
              </a:path>
              <a:path w="428625" h="428625">
                <a:moveTo>
                  <a:pt x="380820" y="227711"/>
                </a:moveTo>
                <a:lnTo>
                  <a:pt x="321475" y="227711"/>
                </a:lnTo>
                <a:lnTo>
                  <a:pt x="342307" y="231927"/>
                </a:lnTo>
                <a:lnTo>
                  <a:pt x="359336" y="243419"/>
                </a:lnTo>
                <a:lnTo>
                  <a:pt x="370827" y="260452"/>
                </a:lnTo>
                <a:lnTo>
                  <a:pt x="375043" y="281292"/>
                </a:lnTo>
                <a:lnTo>
                  <a:pt x="375043" y="328168"/>
                </a:lnTo>
                <a:lnTo>
                  <a:pt x="373470" y="336000"/>
                </a:lnTo>
                <a:lnTo>
                  <a:pt x="369174" y="342385"/>
                </a:lnTo>
                <a:lnTo>
                  <a:pt x="362790" y="346684"/>
                </a:lnTo>
                <a:lnTo>
                  <a:pt x="354952" y="348259"/>
                </a:lnTo>
                <a:lnTo>
                  <a:pt x="396805" y="348259"/>
                </a:lnTo>
                <a:lnTo>
                  <a:pt x="399878" y="341602"/>
                </a:lnTo>
                <a:lnTo>
                  <a:pt x="401840" y="328168"/>
                </a:lnTo>
                <a:lnTo>
                  <a:pt x="401840" y="281292"/>
                </a:lnTo>
                <a:lnTo>
                  <a:pt x="399961" y="263962"/>
                </a:lnTo>
                <a:lnTo>
                  <a:pt x="394595" y="247924"/>
                </a:lnTo>
                <a:lnTo>
                  <a:pt x="386153" y="233584"/>
                </a:lnTo>
                <a:lnTo>
                  <a:pt x="380820" y="227711"/>
                </a:lnTo>
                <a:close/>
              </a:path>
              <a:path w="428625" h="428625">
                <a:moveTo>
                  <a:pt x="109816" y="274586"/>
                </a:moveTo>
                <a:lnTo>
                  <a:pt x="104495" y="274586"/>
                </a:lnTo>
                <a:lnTo>
                  <a:pt x="101930" y="275094"/>
                </a:lnTo>
                <a:lnTo>
                  <a:pt x="87058" y="292011"/>
                </a:lnTo>
                <a:lnTo>
                  <a:pt x="87058" y="297345"/>
                </a:lnTo>
                <a:lnTo>
                  <a:pt x="104495" y="314769"/>
                </a:lnTo>
                <a:lnTo>
                  <a:pt x="109816" y="314769"/>
                </a:lnTo>
                <a:lnTo>
                  <a:pt x="127254" y="297345"/>
                </a:lnTo>
                <a:lnTo>
                  <a:pt x="127254" y="292011"/>
                </a:lnTo>
                <a:lnTo>
                  <a:pt x="109816" y="274586"/>
                </a:lnTo>
                <a:close/>
              </a:path>
              <a:path w="428625" h="428625">
                <a:moveTo>
                  <a:pt x="324129" y="274586"/>
                </a:moveTo>
                <a:lnTo>
                  <a:pt x="318808" y="274586"/>
                </a:lnTo>
                <a:lnTo>
                  <a:pt x="316242" y="275094"/>
                </a:lnTo>
                <a:lnTo>
                  <a:pt x="301371" y="292011"/>
                </a:lnTo>
                <a:lnTo>
                  <a:pt x="301371" y="297345"/>
                </a:lnTo>
                <a:lnTo>
                  <a:pt x="318808" y="314769"/>
                </a:lnTo>
                <a:lnTo>
                  <a:pt x="324129" y="314769"/>
                </a:lnTo>
                <a:lnTo>
                  <a:pt x="341566" y="297345"/>
                </a:lnTo>
                <a:lnTo>
                  <a:pt x="341566" y="292011"/>
                </a:lnTo>
                <a:lnTo>
                  <a:pt x="324129" y="274586"/>
                </a:lnTo>
                <a:close/>
              </a:path>
              <a:path w="428625" h="428625">
                <a:moveTo>
                  <a:pt x="20764" y="107162"/>
                </a:moveTo>
                <a:lnTo>
                  <a:pt x="6032" y="107162"/>
                </a:lnTo>
                <a:lnTo>
                  <a:pt x="0" y="113182"/>
                </a:lnTo>
                <a:lnTo>
                  <a:pt x="0" y="208280"/>
                </a:lnTo>
                <a:lnTo>
                  <a:pt x="6032" y="214312"/>
                </a:lnTo>
                <a:lnTo>
                  <a:pt x="20764" y="214312"/>
                </a:lnTo>
                <a:lnTo>
                  <a:pt x="26784" y="208280"/>
                </a:lnTo>
                <a:lnTo>
                  <a:pt x="26784" y="113182"/>
                </a:lnTo>
                <a:lnTo>
                  <a:pt x="20764" y="107162"/>
                </a:lnTo>
                <a:close/>
              </a:path>
              <a:path w="428625" h="428625">
                <a:moveTo>
                  <a:pt x="422592" y="107162"/>
                </a:moveTo>
                <a:lnTo>
                  <a:pt x="407860" y="107162"/>
                </a:lnTo>
                <a:lnTo>
                  <a:pt x="401840" y="113182"/>
                </a:lnTo>
                <a:lnTo>
                  <a:pt x="401840" y="208280"/>
                </a:lnTo>
                <a:lnTo>
                  <a:pt x="407860" y="214312"/>
                </a:lnTo>
                <a:lnTo>
                  <a:pt x="422592" y="214312"/>
                </a:lnTo>
                <a:lnTo>
                  <a:pt x="428625" y="208280"/>
                </a:lnTo>
                <a:lnTo>
                  <a:pt x="428625" y="113182"/>
                </a:lnTo>
                <a:lnTo>
                  <a:pt x="422592" y="107162"/>
                </a:lnTo>
                <a:close/>
              </a:path>
              <a:path w="428625" h="428625">
                <a:moveTo>
                  <a:pt x="321475" y="200914"/>
                </a:moveTo>
                <a:lnTo>
                  <a:pt x="107162" y="200914"/>
                </a:lnTo>
                <a:lnTo>
                  <a:pt x="100095" y="201221"/>
                </a:lnTo>
                <a:lnTo>
                  <a:pt x="93383" y="202085"/>
                </a:lnTo>
                <a:lnTo>
                  <a:pt x="86643" y="203566"/>
                </a:lnTo>
                <a:lnTo>
                  <a:pt x="80365" y="205524"/>
                </a:lnTo>
                <a:lnTo>
                  <a:pt x="348259" y="205524"/>
                </a:lnTo>
                <a:lnTo>
                  <a:pt x="341861" y="203566"/>
                </a:lnTo>
                <a:lnTo>
                  <a:pt x="335243" y="202118"/>
                </a:lnTo>
                <a:lnTo>
                  <a:pt x="328437" y="201221"/>
                </a:lnTo>
                <a:lnTo>
                  <a:pt x="321475" y="200914"/>
                </a:lnTo>
                <a:close/>
              </a:path>
              <a:path w="428625" h="428625">
                <a:moveTo>
                  <a:pt x="375043" y="133946"/>
                </a:moveTo>
                <a:lnTo>
                  <a:pt x="348259" y="133946"/>
                </a:lnTo>
                <a:lnTo>
                  <a:pt x="348259" y="205524"/>
                </a:lnTo>
                <a:lnTo>
                  <a:pt x="375043" y="205524"/>
                </a:lnTo>
                <a:lnTo>
                  <a:pt x="375043" y="133946"/>
                </a:lnTo>
                <a:close/>
              </a:path>
              <a:path w="428625" h="428625">
                <a:moveTo>
                  <a:pt x="227711" y="133946"/>
                </a:moveTo>
                <a:lnTo>
                  <a:pt x="200914" y="133946"/>
                </a:lnTo>
                <a:lnTo>
                  <a:pt x="200914" y="200914"/>
                </a:lnTo>
                <a:lnTo>
                  <a:pt x="227711" y="200914"/>
                </a:lnTo>
                <a:lnTo>
                  <a:pt x="227711" y="133946"/>
                </a:lnTo>
                <a:close/>
              </a:path>
              <a:path w="428625" h="428625">
                <a:moveTo>
                  <a:pt x="339062" y="26784"/>
                </a:moveTo>
                <a:lnTo>
                  <a:pt x="214312" y="26784"/>
                </a:lnTo>
                <a:lnTo>
                  <a:pt x="270732" y="31060"/>
                </a:lnTo>
                <a:lnTo>
                  <a:pt x="309854" y="41465"/>
                </a:lnTo>
                <a:lnTo>
                  <a:pt x="347256" y="66128"/>
                </a:lnTo>
                <a:lnTo>
                  <a:pt x="348259" y="107162"/>
                </a:lnTo>
                <a:lnTo>
                  <a:pt x="375043" y="107162"/>
                </a:lnTo>
                <a:lnTo>
                  <a:pt x="375043" y="64122"/>
                </a:lnTo>
                <a:lnTo>
                  <a:pt x="373545" y="56261"/>
                </a:lnTo>
                <a:lnTo>
                  <a:pt x="368261" y="49555"/>
                </a:lnTo>
                <a:lnTo>
                  <a:pt x="349954" y="32527"/>
                </a:lnTo>
                <a:lnTo>
                  <a:pt x="339062" y="26784"/>
                </a:lnTo>
                <a:close/>
              </a:path>
              <a:path w="428625" h="428625">
                <a:moveTo>
                  <a:pt x="261861" y="53581"/>
                </a:moveTo>
                <a:lnTo>
                  <a:pt x="166763" y="53581"/>
                </a:lnTo>
                <a:lnTo>
                  <a:pt x="160731" y="59601"/>
                </a:lnTo>
                <a:lnTo>
                  <a:pt x="160731" y="74345"/>
                </a:lnTo>
                <a:lnTo>
                  <a:pt x="166763" y="80365"/>
                </a:lnTo>
                <a:lnTo>
                  <a:pt x="261861" y="80365"/>
                </a:lnTo>
                <a:lnTo>
                  <a:pt x="267893" y="74345"/>
                </a:lnTo>
                <a:lnTo>
                  <a:pt x="267893" y="59601"/>
                </a:lnTo>
                <a:lnTo>
                  <a:pt x="261861" y="53581"/>
                </a:lnTo>
                <a:close/>
              </a:path>
            </a:pathLst>
          </a:custGeom>
          <a:solidFill>
            <a:srgbClr val="596E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3625" y="4697412"/>
            <a:ext cx="5523865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Educación</a:t>
            </a:r>
            <a:r>
              <a:rPr dirty="0" sz="1650" spc="-2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-15">
                <a:solidFill>
                  <a:srgbClr val="CFD0D8"/>
                </a:solidFill>
                <a:latin typeface="Roboto Lt"/>
                <a:cs typeface="Roboto Lt"/>
              </a:rPr>
              <a:t>y</a:t>
            </a:r>
            <a:r>
              <a:rPr dirty="0" sz="1650" spc="-2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5">
                <a:solidFill>
                  <a:srgbClr val="CFD0D8"/>
                </a:solidFill>
                <a:latin typeface="Roboto Lt"/>
                <a:cs typeface="Roboto Lt"/>
              </a:rPr>
              <a:t>Aprendizaje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combinación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Raspberry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Pi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Python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ampliamente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utilizada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el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ámbito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educativo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introducir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programación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electrónica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estudiantes.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13109" y="6419850"/>
            <a:ext cx="375285" cy="428625"/>
          </a:xfrm>
          <a:custGeom>
            <a:avLst/>
            <a:gdLst/>
            <a:ahLst/>
            <a:cxnLst/>
            <a:rect l="l" t="t" r="r" b="b"/>
            <a:pathLst>
              <a:path w="375285" h="428625">
                <a:moveTo>
                  <a:pt x="194564" y="0"/>
                </a:moveTo>
                <a:lnTo>
                  <a:pt x="180492" y="0"/>
                </a:lnTo>
                <a:lnTo>
                  <a:pt x="173520" y="685"/>
                </a:lnTo>
                <a:lnTo>
                  <a:pt x="133845" y="14147"/>
                </a:lnTo>
                <a:lnTo>
                  <a:pt x="102336" y="41770"/>
                </a:lnTo>
                <a:lnTo>
                  <a:pt x="83807" y="79349"/>
                </a:lnTo>
                <a:lnTo>
                  <a:pt x="80378" y="100114"/>
                </a:lnTo>
                <a:lnTo>
                  <a:pt x="80378" y="114185"/>
                </a:lnTo>
                <a:lnTo>
                  <a:pt x="91224" y="154660"/>
                </a:lnTo>
                <a:lnTo>
                  <a:pt x="116725" y="187896"/>
                </a:lnTo>
                <a:lnTo>
                  <a:pt x="153022" y="208851"/>
                </a:lnTo>
                <a:lnTo>
                  <a:pt x="180492" y="214312"/>
                </a:lnTo>
                <a:lnTo>
                  <a:pt x="194564" y="214312"/>
                </a:lnTo>
                <a:lnTo>
                  <a:pt x="235038" y="203466"/>
                </a:lnTo>
                <a:lnTo>
                  <a:pt x="258699" y="187528"/>
                </a:lnTo>
                <a:lnTo>
                  <a:pt x="182245" y="187528"/>
                </a:lnTo>
                <a:lnTo>
                  <a:pt x="177025" y="187007"/>
                </a:lnTo>
                <a:lnTo>
                  <a:pt x="138493" y="171043"/>
                </a:lnTo>
                <a:lnTo>
                  <a:pt x="111264" y="133032"/>
                </a:lnTo>
                <a:lnTo>
                  <a:pt x="107162" y="112433"/>
                </a:lnTo>
                <a:lnTo>
                  <a:pt x="107162" y="101879"/>
                </a:lnTo>
                <a:lnTo>
                  <a:pt x="123634" y="58115"/>
                </a:lnTo>
                <a:lnTo>
                  <a:pt x="161645" y="30886"/>
                </a:lnTo>
                <a:lnTo>
                  <a:pt x="182245" y="26784"/>
                </a:lnTo>
                <a:lnTo>
                  <a:pt x="258711" y="26784"/>
                </a:lnTo>
                <a:lnTo>
                  <a:pt x="258330" y="26403"/>
                </a:lnTo>
                <a:lnTo>
                  <a:pt x="222034" y="5461"/>
                </a:lnTo>
                <a:lnTo>
                  <a:pt x="201536" y="685"/>
                </a:lnTo>
                <a:lnTo>
                  <a:pt x="194564" y="0"/>
                </a:lnTo>
                <a:close/>
              </a:path>
              <a:path w="375285" h="428625">
                <a:moveTo>
                  <a:pt x="258711" y="26784"/>
                </a:moveTo>
                <a:lnTo>
                  <a:pt x="192811" y="26784"/>
                </a:lnTo>
                <a:lnTo>
                  <a:pt x="198031" y="27305"/>
                </a:lnTo>
                <a:lnTo>
                  <a:pt x="208381" y="29362"/>
                </a:lnTo>
                <a:lnTo>
                  <a:pt x="248081" y="54063"/>
                </a:lnTo>
                <a:lnTo>
                  <a:pt x="267385" y="96647"/>
                </a:lnTo>
                <a:lnTo>
                  <a:pt x="267893" y="101879"/>
                </a:lnTo>
                <a:lnTo>
                  <a:pt x="267893" y="112433"/>
                </a:lnTo>
                <a:lnTo>
                  <a:pt x="251421" y="156197"/>
                </a:lnTo>
                <a:lnTo>
                  <a:pt x="213410" y="183426"/>
                </a:lnTo>
                <a:lnTo>
                  <a:pt x="192811" y="187528"/>
                </a:lnTo>
                <a:lnTo>
                  <a:pt x="258699" y="187528"/>
                </a:lnTo>
                <a:lnTo>
                  <a:pt x="283832" y="154660"/>
                </a:lnTo>
                <a:lnTo>
                  <a:pt x="294690" y="114185"/>
                </a:lnTo>
                <a:lnTo>
                  <a:pt x="294690" y="100114"/>
                </a:lnTo>
                <a:lnTo>
                  <a:pt x="283832" y="59651"/>
                </a:lnTo>
                <a:lnTo>
                  <a:pt x="268274" y="36360"/>
                </a:lnTo>
                <a:lnTo>
                  <a:pt x="258711" y="26784"/>
                </a:lnTo>
                <a:close/>
              </a:path>
              <a:path w="375285" h="428625">
                <a:moveTo>
                  <a:pt x="225793" y="254495"/>
                </a:moveTo>
                <a:lnTo>
                  <a:pt x="149275" y="254495"/>
                </a:lnTo>
                <a:lnTo>
                  <a:pt x="102086" y="262102"/>
                </a:lnTo>
                <a:lnTo>
                  <a:pt x="61107" y="283287"/>
                </a:lnTo>
                <a:lnTo>
                  <a:pt x="28796" y="315594"/>
                </a:lnTo>
                <a:lnTo>
                  <a:pt x="7608" y="356569"/>
                </a:lnTo>
                <a:lnTo>
                  <a:pt x="0" y="403758"/>
                </a:lnTo>
                <a:lnTo>
                  <a:pt x="1954" y="413435"/>
                </a:lnTo>
                <a:lnTo>
                  <a:pt x="7285" y="421339"/>
                </a:lnTo>
                <a:lnTo>
                  <a:pt x="15189" y="426670"/>
                </a:lnTo>
                <a:lnTo>
                  <a:pt x="24866" y="428625"/>
                </a:lnTo>
                <a:lnTo>
                  <a:pt x="350189" y="428625"/>
                </a:lnTo>
                <a:lnTo>
                  <a:pt x="359867" y="426670"/>
                </a:lnTo>
                <a:lnTo>
                  <a:pt x="367771" y="421339"/>
                </a:lnTo>
                <a:lnTo>
                  <a:pt x="373101" y="413435"/>
                </a:lnTo>
                <a:lnTo>
                  <a:pt x="375056" y="403758"/>
                </a:lnTo>
                <a:lnTo>
                  <a:pt x="374747" y="401840"/>
                </a:lnTo>
                <a:lnTo>
                  <a:pt x="26797" y="401840"/>
                </a:lnTo>
                <a:lnTo>
                  <a:pt x="36970" y="354855"/>
                </a:lnTo>
                <a:lnTo>
                  <a:pt x="63323" y="316544"/>
                </a:lnTo>
                <a:lnTo>
                  <a:pt x="102033" y="290744"/>
                </a:lnTo>
                <a:lnTo>
                  <a:pt x="149275" y="281292"/>
                </a:lnTo>
                <a:lnTo>
                  <a:pt x="310093" y="281292"/>
                </a:lnTo>
                <a:lnTo>
                  <a:pt x="272976" y="262102"/>
                </a:lnTo>
                <a:lnTo>
                  <a:pt x="225793" y="254495"/>
                </a:lnTo>
                <a:close/>
              </a:path>
              <a:path w="375285" h="428625">
                <a:moveTo>
                  <a:pt x="310093" y="281292"/>
                </a:moveTo>
                <a:lnTo>
                  <a:pt x="225793" y="281292"/>
                </a:lnTo>
                <a:lnTo>
                  <a:pt x="273076" y="290744"/>
                </a:lnTo>
                <a:lnTo>
                  <a:pt x="311796" y="316544"/>
                </a:lnTo>
                <a:lnTo>
                  <a:pt x="338130" y="354855"/>
                </a:lnTo>
                <a:lnTo>
                  <a:pt x="348259" y="401840"/>
                </a:lnTo>
                <a:lnTo>
                  <a:pt x="374747" y="401840"/>
                </a:lnTo>
                <a:lnTo>
                  <a:pt x="367448" y="356569"/>
                </a:lnTo>
                <a:lnTo>
                  <a:pt x="346260" y="315594"/>
                </a:lnTo>
                <a:lnTo>
                  <a:pt x="313951" y="283287"/>
                </a:lnTo>
                <a:lnTo>
                  <a:pt x="310093" y="281292"/>
                </a:lnTo>
                <a:close/>
              </a:path>
            </a:pathLst>
          </a:custGeom>
          <a:solidFill>
            <a:srgbClr val="596E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3625" y="7002464"/>
            <a:ext cx="595249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">
                <a:solidFill>
                  <a:srgbClr val="CFD0D8"/>
                </a:solidFill>
                <a:latin typeface="Roboto Lt"/>
                <a:cs typeface="Roboto Lt"/>
              </a:rPr>
              <a:t>Aplicaciones</a:t>
            </a:r>
            <a:r>
              <a:rPr dirty="0" sz="1650" spc="-2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0">
                <a:solidFill>
                  <a:srgbClr val="CFD0D8"/>
                </a:solidFill>
                <a:latin typeface="Roboto Lt"/>
                <a:cs typeface="Roboto Lt"/>
              </a:rPr>
              <a:t>IoT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Python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Raspberry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Pi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se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destacan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el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desarrollo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aplicaciones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Internet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Cosas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(IoT)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gracias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su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facilidad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uso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amplio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ecosistema.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79072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6457950"/>
          </a:xfrm>
          <a:custGeom>
            <a:avLst/>
            <a:gdLst/>
            <a:ahLst/>
            <a:cxnLst/>
            <a:rect l="l" t="t" r="r" b="b"/>
            <a:pathLst>
              <a:path w="11430000" h="6457950">
                <a:moveTo>
                  <a:pt x="11430000" y="0"/>
                </a:moveTo>
                <a:lnTo>
                  <a:pt x="0" y="0"/>
                </a:lnTo>
                <a:lnTo>
                  <a:pt x="0" y="6457950"/>
                </a:lnTo>
                <a:lnTo>
                  <a:pt x="11430000" y="64579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8"/>
            <a:ext cx="11430000" cy="214261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7375" y="2587625"/>
            <a:ext cx="717423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5"/>
              <a:t>Arduino</a:t>
            </a:r>
            <a:r>
              <a:rPr dirty="0" spc="-10"/>
              <a:t> </a:t>
            </a:r>
            <a:r>
              <a:rPr dirty="0" spc="-55"/>
              <a:t>y</a:t>
            </a:r>
            <a:r>
              <a:rPr dirty="0" spc="-5"/>
              <a:t> </a:t>
            </a:r>
            <a:r>
              <a:rPr dirty="0" spc="35"/>
              <a:t>C:</a:t>
            </a:r>
            <a:r>
              <a:rPr dirty="0"/>
              <a:t> </a:t>
            </a:r>
            <a:r>
              <a:rPr dirty="0" spc="20"/>
              <a:t>Casos</a:t>
            </a:r>
            <a:r>
              <a:rPr dirty="0" spc="-5"/>
              <a:t> </a:t>
            </a:r>
            <a:r>
              <a:rPr dirty="0" spc="30"/>
              <a:t>de</a:t>
            </a:r>
            <a:r>
              <a:rPr dirty="0" spc="-5"/>
              <a:t> </a:t>
            </a:r>
            <a:r>
              <a:rPr dirty="0" spc="-20"/>
              <a:t>Uso</a:t>
            </a:r>
            <a:r>
              <a:rPr dirty="0" spc="-5"/>
              <a:t> </a:t>
            </a:r>
            <a:r>
              <a:rPr dirty="0" spc="-55"/>
              <a:t>y</a:t>
            </a:r>
            <a:r>
              <a:rPr dirty="0"/>
              <a:t> </a:t>
            </a:r>
            <a:r>
              <a:rPr dirty="0" spc="-5"/>
              <a:t>Ventajas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94677" y="3404552"/>
            <a:ext cx="6830695" cy="696595"/>
            <a:chOff x="594677" y="3404552"/>
            <a:chExt cx="6830695" cy="696595"/>
          </a:xfrm>
        </p:grpSpPr>
        <p:sp>
          <p:nvSpPr>
            <p:cNvPr id="6" name="object 6"/>
            <p:cNvSpPr/>
            <p:nvPr/>
          </p:nvSpPr>
          <p:spPr>
            <a:xfrm>
              <a:off x="600075" y="3409950"/>
              <a:ext cx="3409950" cy="685800"/>
            </a:xfrm>
            <a:custGeom>
              <a:avLst/>
              <a:gdLst/>
              <a:ahLst/>
              <a:cxnLst/>
              <a:rect l="l" t="t" r="r" b="b"/>
              <a:pathLst>
                <a:path w="3409950" h="685800">
                  <a:moveTo>
                    <a:pt x="3238500" y="0"/>
                  </a:moveTo>
                  <a:lnTo>
                    <a:pt x="0" y="0"/>
                  </a:lnTo>
                  <a:lnTo>
                    <a:pt x="171450" y="342900"/>
                  </a:lnTo>
                  <a:lnTo>
                    <a:pt x="0" y="685800"/>
                  </a:lnTo>
                  <a:lnTo>
                    <a:pt x="3238500" y="685800"/>
                  </a:lnTo>
                  <a:lnTo>
                    <a:pt x="3409950" y="342900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00075" y="3409950"/>
              <a:ext cx="3409950" cy="685800"/>
            </a:xfrm>
            <a:custGeom>
              <a:avLst/>
              <a:gdLst/>
              <a:ahLst/>
              <a:cxnLst/>
              <a:rect l="l" t="t" r="r" b="b"/>
              <a:pathLst>
                <a:path w="3409950" h="685800">
                  <a:moveTo>
                    <a:pt x="3238500" y="0"/>
                  </a:moveTo>
                  <a:lnTo>
                    <a:pt x="3409950" y="342900"/>
                  </a:lnTo>
                  <a:lnTo>
                    <a:pt x="3238500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238500" y="0"/>
                  </a:lnTo>
                  <a:close/>
                </a:path>
              </a:pathLst>
            </a:custGeom>
            <a:ln w="1071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010025" y="3409950"/>
              <a:ext cx="3409950" cy="685800"/>
            </a:xfrm>
            <a:custGeom>
              <a:avLst/>
              <a:gdLst/>
              <a:ahLst/>
              <a:cxnLst/>
              <a:rect l="l" t="t" r="r" b="b"/>
              <a:pathLst>
                <a:path w="3409950" h="685800">
                  <a:moveTo>
                    <a:pt x="3238500" y="0"/>
                  </a:moveTo>
                  <a:lnTo>
                    <a:pt x="0" y="0"/>
                  </a:lnTo>
                  <a:lnTo>
                    <a:pt x="171450" y="342900"/>
                  </a:lnTo>
                  <a:lnTo>
                    <a:pt x="0" y="685800"/>
                  </a:lnTo>
                  <a:lnTo>
                    <a:pt x="3238500" y="685800"/>
                  </a:lnTo>
                  <a:lnTo>
                    <a:pt x="3409950" y="342900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10025" y="3409950"/>
              <a:ext cx="3409950" cy="685800"/>
            </a:xfrm>
            <a:custGeom>
              <a:avLst/>
              <a:gdLst/>
              <a:ahLst/>
              <a:cxnLst/>
              <a:rect l="l" t="t" r="r" b="b"/>
              <a:pathLst>
                <a:path w="3409950" h="685800">
                  <a:moveTo>
                    <a:pt x="3238500" y="0"/>
                  </a:moveTo>
                  <a:lnTo>
                    <a:pt x="3409950" y="342900"/>
                  </a:lnTo>
                  <a:lnTo>
                    <a:pt x="3238500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238500" y="0"/>
                  </a:lnTo>
                  <a:close/>
                </a:path>
              </a:pathLst>
            </a:custGeom>
            <a:ln w="1071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58825" y="4335462"/>
            <a:ext cx="3041650" cy="144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">
                <a:solidFill>
                  <a:srgbClr val="CFD0D8"/>
                </a:solidFill>
                <a:latin typeface="Roboto Lt"/>
                <a:cs typeface="Roboto Lt"/>
              </a:rPr>
              <a:t>Sistemas</a:t>
            </a:r>
            <a:r>
              <a:rPr dirty="0" sz="1650" spc="-2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5">
                <a:solidFill>
                  <a:srgbClr val="CFD0D8"/>
                </a:solidFill>
                <a:latin typeface="Roboto Lt"/>
                <a:cs typeface="Roboto Lt"/>
              </a:rPr>
              <a:t>Embebidos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2700"/>
              </a:lnSpc>
              <a:spcBef>
                <a:spcPts val="565"/>
              </a:spcBef>
            </a:pP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El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binomio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Arduino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20">
                <a:solidFill>
                  <a:srgbClr val="CFD0D8"/>
                </a:solidFill>
                <a:latin typeface="Roboto"/>
                <a:cs typeface="Roboto"/>
              </a:rPr>
              <a:t>C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se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destaca en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el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desarrollo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sistemas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embebidos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 </a:t>
            </a:r>
            <a:r>
              <a:rPr dirty="0" sz="13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microcontroladores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bajo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costo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alto </a:t>
            </a:r>
            <a:r>
              <a:rPr dirty="0" sz="1350" spc="-3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rendimiento.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19121" y="3559175"/>
            <a:ext cx="358203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422015" algn="l"/>
              </a:tabLst>
            </a:pP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1</a:t>
            </a: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	</a:t>
            </a: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2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68775" y="4335462"/>
            <a:ext cx="302133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Eficiencia</a:t>
            </a:r>
            <a:r>
              <a:rPr dirty="0" sz="1650" spc="-1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5">
                <a:solidFill>
                  <a:srgbClr val="CFD0D8"/>
                </a:solidFill>
                <a:latin typeface="Roboto Lt"/>
                <a:cs typeface="Roboto Lt"/>
              </a:rPr>
              <a:t>Energética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El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código en </a:t>
            </a:r>
            <a:r>
              <a:rPr dirty="0" sz="1350" spc="20">
                <a:solidFill>
                  <a:srgbClr val="CFD0D8"/>
                </a:solidFill>
                <a:latin typeface="Roboto"/>
                <a:cs typeface="Roboto"/>
              </a:rPr>
              <a:t>C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optimizado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para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Arduino </a:t>
            </a:r>
            <a:r>
              <a:rPr dirty="0" sz="1350" spc="-3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permite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crear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soluciones electrónicas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bajo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consumo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energético.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414617" y="3404592"/>
            <a:ext cx="3420745" cy="696595"/>
            <a:chOff x="7414617" y="3404592"/>
            <a:chExt cx="3420745" cy="696595"/>
          </a:xfrm>
        </p:grpSpPr>
        <p:sp>
          <p:nvSpPr>
            <p:cNvPr id="14" name="object 14"/>
            <p:cNvSpPr/>
            <p:nvPr/>
          </p:nvSpPr>
          <p:spPr>
            <a:xfrm>
              <a:off x="7419975" y="3409950"/>
              <a:ext cx="3409950" cy="685800"/>
            </a:xfrm>
            <a:custGeom>
              <a:avLst/>
              <a:gdLst/>
              <a:ahLst/>
              <a:cxnLst/>
              <a:rect l="l" t="t" r="r" b="b"/>
              <a:pathLst>
                <a:path w="3409950" h="685800">
                  <a:moveTo>
                    <a:pt x="3238500" y="0"/>
                  </a:moveTo>
                  <a:lnTo>
                    <a:pt x="0" y="0"/>
                  </a:lnTo>
                  <a:lnTo>
                    <a:pt x="171450" y="342900"/>
                  </a:lnTo>
                  <a:lnTo>
                    <a:pt x="0" y="685800"/>
                  </a:lnTo>
                  <a:lnTo>
                    <a:pt x="3238500" y="685800"/>
                  </a:lnTo>
                  <a:lnTo>
                    <a:pt x="3409950" y="342900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419975" y="3409950"/>
              <a:ext cx="3409950" cy="685800"/>
            </a:xfrm>
            <a:custGeom>
              <a:avLst/>
              <a:gdLst/>
              <a:ahLst/>
              <a:cxnLst/>
              <a:rect l="l" t="t" r="r" b="b"/>
              <a:pathLst>
                <a:path w="3409950" h="685800">
                  <a:moveTo>
                    <a:pt x="3238500" y="0"/>
                  </a:moveTo>
                  <a:lnTo>
                    <a:pt x="3409950" y="342900"/>
                  </a:lnTo>
                  <a:lnTo>
                    <a:pt x="3238500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238500" y="0"/>
                  </a:lnTo>
                  <a:close/>
                </a:path>
              </a:pathLst>
            </a:custGeom>
            <a:ln w="1071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039021" y="3559175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3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78725" y="4335462"/>
            <a:ext cx="282448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">
                <a:solidFill>
                  <a:srgbClr val="CFD0D8"/>
                </a:solidFill>
                <a:latin typeface="Roboto Lt"/>
                <a:cs typeface="Roboto Lt"/>
              </a:rPr>
              <a:t>Aplicaciones</a:t>
            </a:r>
            <a:r>
              <a:rPr dirty="0" sz="1650" spc="-1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5">
                <a:solidFill>
                  <a:srgbClr val="CFD0D8"/>
                </a:solidFill>
                <a:latin typeface="Roboto Lt"/>
                <a:cs typeface="Roboto Lt"/>
              </a:rPr>
              <a:t>de</a:t>
            </a:r>
            <a:r>
              <a:rPr dirty="0" sz="1650" spc="-1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Control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 programación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 </a:t>
            </a:r>
            <a:r>
              <a:rPr dirty="0" sz="1350" spc="20">
                <a:solidFill>
                  <a:srgbClr val="CFD0D8"/>
                </a:solidFill>
                <a:latin typeface="Roboto"/>
                <a:cs typeface="Roboto"/>
              </a:rPr>
              <a:t>C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facilita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el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desarrollo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aplicaciones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control </a:t>
            </a:r>
            <a:r>
              <a:rPr dirty="0" sz="1350" spc="-3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preciso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respuesta en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tiempo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real.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50458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978025"/>
            <a:ext cx="471678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0"/>
              <a:t>Conclusiones </a:t>
            </a:r>
            <a:r>
              <a:rPr dirty="0" spc="-55"/>
              <a:t>y </a:t>
            </a:r>
            <a:r>
              <a:rPr dirty="0" spc="-50"/>
              <a:t> </a:t>
            </a:r>
            <a:r>
              <a:rPr dirty="0" spc="10"/>
              <a:t>Consideraciones</a:t>
            </a:r>
            <a:r>
              <a:rPr dirty="0" spc="-65"/>
              <a:t> </a:t>
            </a:r>
            <a:r>
              <a:rPr dirty="0" spc="-5"/>
              <a:t>Finales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5" y="3269615"/>
            <a:ext cx="5964555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Python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20">
                <a:solidFill>
                  <a:srgbClr val="CFD0D8"/>
                </a:solidFill>
                <a:latin typeface="Roboto"/>
                <a:cs typeface="Roboto"/>
              </a:rPr>
              <a:t>C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son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lenguajes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programación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complementarios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el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mundo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electrónico,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cada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uno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fortalezas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debilidades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específicas.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elección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del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lenguaje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dependerá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los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requisitos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del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proyecto,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el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nivel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control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hardware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necesario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habilidades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del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equipo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desarrollo.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2024-11-05T06:35:43Z</dcterms:created>
  <dcterms:modified xsi:type="dcterms:W3CDTF">2024-11-05T06:35:43Z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