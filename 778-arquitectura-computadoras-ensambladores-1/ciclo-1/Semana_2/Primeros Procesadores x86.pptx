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620000" cy="19050000"/>
  <p:notesSz cx="7620000" cy="19050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1500" y="5905500"/>
            <a:ext cx="6477000" cy="400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43000" y="10668000"/>
            <a:ext cx="5334000" cy="476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1000" y="4381500"/>
            <a:ext cx="3314700" cy="1257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924300" y="4381500"/>
            <a:ext cx="3314700" cy="1257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620000" cy="19050000"/>
          </a:xfrm>
          <a:custGeom>
            <a:avLst/>
            <a:gdLst/>
            <a:ahLst/>
            <a:cxnLst/>
            <a:rect l="l" t="t" r="r" b="b"/>
            <a:pathLst>
              <a:path w="7620000" h="19050000">
                <a:moveTo>
                  <a:pt x="7619999" y="19049998"/>
                </a:moveTo>
                <a:lnTo>
                  <a:pt x="0" y="19049998"/>
                </a:lnTo>
                <a:lnTo>
                  <a:pt x="0" y="0"/>
                </a:lnTo>
                <a:lnTo>
                  <a:pt x="7619999" y="0"/>
                </a:lnTo>
                <a:lnTo>
                  <a:pt x="7619999" y="19049998"/>
                </a:lnTo>
                <a:close/>
              </a:path>
            </a:pathLst>
          </a:custGeom>
          <a:solidFill>
            <a:srgbClr val="11121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86728" y="10470086"/>
            <a:ext cx="230650" cy="67032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-1"/>
            <a:ext cx="7622136" cy="19049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46075" y="2525006"/>
            <a:ext cx="2694305" cy="2650490"/>
          </a:xfrm>
          <a:custGeom>
            <a:avLst/>
            <a:gdLst/>
            <a:ahLst/>
            <a:cxnLst/>
            <a:rect l="l" t="t" r="r" b="b"/>
            <a:pathLst>
              <a:path w="2694304" h="2650490">
                <a:moveTo>
                  <a:pt x="2693871" y="2650364"/>
                </a:moveTo>
                <a:lnTo>
                  <a:pt x="0" y="2650364"/>
                </a:lnTo>
                <a:lnTo>
                  <a:pt x="0" y="0"/>
                </a:lnTo>
                <a:lnTo>
                  <a:pt x="2693871" y="0"/>
                </a:lnTo>
                <a:lnTo>
                  <a:pt x="2693871" y="2650364"/>
                </a:lnTo>
                <a:close/>
              </a:path>
            </a:pathLst>
          </a:custGeom>
          <a:solidFill>
            <a:srgbClr val="2425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46075" y="2355749"/>
            <a:ext cx="2694305" cy="169545"/>
          </a:xfrm>
          <a:custGeom>
            <a:avLst/>
            <a:gdLst/>
            <a:ahLst/>
            <a:cxnLst/>
            <a:rect l="l" t="t" r="r" b="b"/>
            <a:pathLst>
              <a:path w="2694304" h="169544">
                <a:moveTo>
                  <a:pt x="0" y="0"/>
                </a:moveTo>
                <a:lnTo>
                  <a:pt x="2693871" y="0"/>
                </a:lnTo>
                <a:lnTo>
                  <a:pt x="2693871" y="169256"/>
                </a:lnTo>
                <a:lnTo>
                  <a:pt x="0" y="169256"/>
                </a:lnTo>
                <a:lnTo>
                  <a:pt x="0" y="0"/>
                </a:lnTo>
                <a:close/>
              </a:path>
            </a:pathLst>
          </a:custGeom>
          <a:solidFill>
            <a:srgbClr val="4B4A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46073" y="5840029"/>
            <a:ext cx="2694305" cy="2821305"/>
          </a:xfrm>
          <a:custGeom>
            <a:avLst/>
            <a:gdLst/>
            <a:ahLst/>
            <a:cxnLst/>
            <a:rect l="l" t="t" r="r" b="b"/>
            <a:pathLst>
              <a:path w="2694304" h="2821304">
                <a:moveTo>
                  <a:pt x="2693860" y="170319"/>
                </a:moveTo>
                <a:lnTo>
                  <a:pt x="0" y="170319"/>
                </a:lnTo>
                <a:lnTo>
                  <a:pt x="0" y="2820695"/>
                </a:lnTo>
                <a:lnTo>
                  <a:pt x="2693860" y="2820695"/>
                </a:lnTo>
                <a:lnTo>
                  <a:pt x="2693860" y="170319"/>
                </a:lnTo>
                <a:close/>
              </a:path>
              <a:path w="2694304" h="2821304">
                <a:moveTo>
                  <a:pt x="2693860" y="0"/>
                </a:moveTo>
                <a:lnTo>
                  <a:pt x="0" y="0"/>
                </a:lnTo>
                <a:lnTo>
                  <a:pt x="0" y="1066"/>
                </a:lnTo>
                <a:lnTo>
                  <a:pt x="2693860" y="1066"/>
                </a:lnTo>
                <a:lnTo>
                  <a:pt x="2693860" y="0"/>
                </a:lnTo>
                <a:close/>
              </a:path>
            </a:pathLst>
          </a:custGeom>
          <a:solidFill>
            <a:srgbClr val="2425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46075" y="5841092"/>
            <a:ext cx="2694305" cy="169545"/>
          </a:xfrm>
          <a:custGeom>
            <a:avLst/>
            <a:gdLst/>
            <a:ahLst/>
            <a:cxnLst/>
            <a:rect l="l" t="t" r="r" b="b"/>
            <a:pathLst>
              <a:path w="2694304" h="169545">
                <a:moveTo>
                  <a:pt x="0" y="0"/>
                </a:moveTo>
                <a:lnTo>
                  <a:pt x="2693871" y="0"/>
                </a:lnTo>
                <a:lnTo>
                  <a:pt x="2693871" y="169257"/>
                </a:lnTo>
                <a:lnTo>
                  <a:pt x="0" y="169257"/>
                </a:lnTo>
                <a:lnTo>
                  <a:pt x="0" y="0"/>
                </a:lnTo>
                <a:close/>
              </a:path>
            </a:pathLst>
          </a:custGeom>
          <a:solidFill>
            <a:srgbClr val="33D5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946075" y="9958279"/>
            <a:ext cx="2694305" cy="2650490"/>
          </a:xfrm>
          <a:custGeom>
            <a:avLst/>
            <a:gdLst/>
            <a:ahLst/>
            <a:cxnLst/>
            <a:rect l="l" t="t" r="r" b="b"/>
            <a:pathLst>
              <a:path w="2694304" h="2650490">
                <a:moveTo>
                  <a:pt x="2693871" y="2650364"/>
                </a:moveTo>
                <a:lnTo>
                  <a:pt x="0" y="2650364"/>
                </a:lnTo>
                <a:lnTo>
                  <a:pt x="0" y="0"/>
                </a:lnTo>
                <a:lnTo>
                  <a:pt x="2693871" y="0"/>
                </a:lnTo>
                <a:lnTo>
                  <a:pt x="2693871" y="2650364"/>
                </a:lnTo>
                <a:close/>
              </a:path>
            </a:pathLst>
          </a:custGeom>
          <a:solidFill>
            <a:srgbClr val="2425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946075" y="9789022"/>
            <a:ext cx="2694305" cy="169545"/>
          </a:xfrm>
          <a:custGeom>
            <a:avLst/>
            <a:gdLst/>
            <a:ahLst/>
            <a:cxnLst/>
            <a:rect l="l" t="t" r="r" b="b"/>
            <a:pathLst>
              <a:path w="2694304" h="169545">
                <a:moveTo>
                  <a:pt x="0" y="0"/>
                </a:moveTo>
                <a:lnTo>
                  <a:pt x="2693871" y="0"/>
                </a:lnTo>
                <a:lnTo>
                  <a:pt x="2693871" y="169257"/>
                </a:lnTo>
                <a:lnTo>
                  <a:pt x="0" y="169257"/>
                </a:lnTo>
                <a:lnTo>
                  <a:pt x="0" y="0"/>
                </a:lnTo>
                <a:close/>
              </a:path>
            </a:pathLst>
          </a:custGeom>
          <a:solidFill>
            <a:srgbClr val="EF49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946075" y="13935230"/>
            <a:ext cx="2694305" cy="2650490"/>
          </a:xfrm>
          <a:custGeom>
            <a:avLst/>
            <a:gdLst/>
            <a:ahLst/>
            <a:cxnLst/>
            <a:rect l="l" t="t" r="r" b="b"/>
            <a:pathLst>
              <a:path w="2694304" h="2650490">
                <a:moveTo>
                  <a:pt x="2693871" y="2650365"/>
                </a:moveTo>
                <a:lnTo>
                  <a:pt x="0" y="2650365"/>
                </a:lnTo>
                <a:lnTo>
                  <a:pt x="0" y="0"/>
                </a:lnTo>
                <a:lnTo>
                  <a:pt x="2693871" y="0"/>
                </a:lnTo>
                <a:lnTo>
                  <a:pt x="2693871" y="2650365"/>
                </a:lnTo>
                <a:close/>
              </a:path>
            </a:pathLst>
          </a:custGeom>
          <a:solidFill>
            <a:srgbClr val="2425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946075" y="13765974"/>
            <a:ext cx="2694305" cy="169545"/>
          </a:xfrm>
          <a:custGeom>
            <a:avLst/>
            <a:gdLst/>
            <a:ahLst/>
            <a:cxnLst/>
            <a:rect l="l" t="t" r="r" b="b"/>
            <a:pathLst>
              <a:path w="2694304" h="169544">
                <a:moveTo>
                  <a:pt x="0" y="0"/>
                </a:moveTo>
                <a:lnTo>
                  <a:pt x="2693871" y="0"/>
                </a:lnTo>
                <a:lnTo>
                  <a:pt x="2693871" y="169256"/>
                </a:lnTo>
                <a:lnTo>
                  <a:pt x="0" y="169256"/>
                </a:lnTo>
                <a:lnTo>
                  <a:pt x="0" y="0"/>
                </a:lnTo>
                <a:close/>
              </a:path>
            </a:pathLst>
          </a:custGeom>
          <a:solidFill>
            <a:srgbClr val="52D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949730" y="3471431"/>
            <a:ext cx="2694305" cy="2650490"/>
          </a:xfrm>
          <a:custGeom>
            <a:avLst/>
            <a:gdLst/>
            <a:ahLst/>
            <a:cxnLst/>
            <a:rect l="l" t="t" r="r" b="b"/>
            <a:pathLst>
              <a:path w="2694304" h="2650490">
                <a:moveTo>
                  <a:pt x="2693871" y="2650365"/>
                </a:moveTo>
                <a:lnTo>
                  <a:pt x="0" y="2650365"/>
                </a:lnTo>
                <a:lnTo>
                  <a:pt x="0" y="0"/>
                </a:lnTo>
                <a:lnTo>
                  <a:pt x="2693871" y="0"/>
                </a:lnTo>
                <a:lnTo>
                  <a:pt x="2693871" y="2650365"/>
                </a:lnTo>
                <a:close/>
              </a:path>
            </a:pathLst>
          </a:custGeom>
          <a:solidFill>
            <a:srgbClr val="2425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3949730" y="3302174"/>
            <a:ext cx="2694305" cy="169545"/>
          </a:xfrm>
          <a:custGeom>
            <a:avLst/>
            <a:gdLst/>
            <a:ahLst/>
            <a:cxnLst/>
            <a:rect l="l" t="t" r="r" b="b"/>
            <a:pathLst>
              <a:path w="2694304" h="169545">
                <a:moveTo>
                  <a:pt x="0" y="0"/>
                </a:moveTo>
                <a:lnTo>
                  <a:pt x="2693871" y="0"/>
                </a:lnTo>
                <a:lnTo>
                  <a:pt x="2693871" y="169256"/>
                </a:lnTo>
                <a:lnTo>
                  <a:pt x="0" y="169256"/>
                </a:lnTo>
                <a:lnTo>
                  <a:pt x="0" y="0"/>
                </a:lnTo>
                <a:close/>
              </a:path>
            </a:pathLst>
          </a:custGeom>
          <a:solidFill>
            <a:srgbClr val="52D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3949730" y="7286289"/>
            <a:ext cx="2694305" cy="2650490"/>
          </a:xfrm>
          <a:custGeom>
            <a:avLst/>
            <a:gdLst/>
            <a:ahLst/>
            <a:cxnLst/>
            <a:rect l="l" t="t" r="r" b="b"/>
            <a:pathLst>
              <a:path w="2694304" h="2650490">
                <a:moveTo>
                  <a:pt x="2693871" y="2650364"/>
                </a:moveTo>
                <a:lnTo>
                  <a:pt x="0" y="2650364"/>
                </a:lnTo>
                <a:lnTo>
                  <a:pt x="0" y="0"/>
                </a:lnTo>
                <a:lnTo>
                  <a:pt x="2693871" y="0"/>
                </a:lnTo>
                <a:lnTo>
                  <a:pt x="2693871" y="2650364"/>
                </a:lnTo>
                <a:close/>
              </a:path>
            </a:pathLst>
          </a:custGeom>
          <a:solidFill>
            <a:srgbClr val="2425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3949730" y="7117032"/>
            <a:ext cx="2694305" cy="169545"/>
          </a:xfrm>
          <a:custGeom>
            <a:avLst/>
            <a:gdLst/>
            <a:ahLst/>
            <a:cxnLst/>
            <a:rect l="l" t="t" r="r" b="b"/>
            <a:pathLst>
              <a:path w="2694304" h="169545">
                <a:moveTo>
                  <a:pt x="0" y="0"/>
                </a:moveTo>
                <a:lnTo>
                  <a:pt x="2693871" y="0"/>
                </a:lnTo>
                <a:lnTo>
                  <a:pt x="2693871" y="169257"/>
                </a:lnTo>
                <a:lnTo>
                  <a:pt x="0" y="169257"/>
                </a:lnTo>
                <a:lnTo>
                  <a:pt x="0" y="0"/>
                </a:lnTo>
                <a:close/>
              </a:path>
            </a:pathLst>
          </a:custGeom>
          <a:solidFill>
            <a:srgbClr val="FEDD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3949730" y="11290460"/>
            <a:ext cx="2694305" cy="2650490"/>
          </a:xfrm>
          <a:custGeom>
            <a:avLst/>
            <a:gdLst/>
            <a:ahLst/>
            <a:cxnLst/>
            <a:rect l="l" t="t" r="r" b="b"/>
            <a:pathLst>
              <a:path w="2694304" h="2650490">
                <a:moveTo>
                  <a:pt x="2693871" y="2650364"/>
                </a:moveTo>
                <a:lnTo>
                  <a:pt x="0" y="2650364"/>
                </a:lnTo>
                <a:lnTo>
                  <a:pt x="0" y="0"/>
                </a:lnTo>
                <a:lnTo>
                  <a:pt x="2693871" y="0"/>
                </a:lnTo>
                <a:lnTo>
                  <a:pt x="2693871" y="2650364"/>
                </a:lnTo>
                <a:close/>
              </a:path>
            </a:pathLst>
          </a:custGeom>
          <a:solidFill>
            <a:srgbClr val="2425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3949730" y="11121203"/>
            <a:ext cx="2694305" cy="169545"/>
          </a:xfrm>
          <a:custGeom>
            <a:avLst/>
            <a:gdLst/>
            <a:ahLst/>
            <a:cxnLst/>
            <a:rect l="l" t="t" r="r" b="b"/>
            <a:pathLst>
              <a:path w="2694304" h="169545">
                <a:moveTo>
                  <a:pt x="0" y="0"/>
                </a:moveTo>
                <a:lnTo>
                  <a:pt x="2693871" y="0"/>
                </a:lnTo>
                <a:lnTo>
                  <a:pt x="2693871" y="169257"/>
                </a:lnTo>
                <a:lnTo>
                  <a:pt x="0" y="169257"/>
                </a:lnTo>
                <a:lnTo>
                  <a:pt x="0" y="0"/>
                </a:lnTo>
                <a:close/>
              </a:path>
            </a:pathLst>
          </a:custGeom>
          <a:solidFill>
            <a:srgbClr val="4B4A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7125" y="268629"/>
            <a:ext cx="4705749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1000" y="4381500"/>
            <a:ext cx="6858000" cy="1257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90800" y="17716500"/>
            <a:ext cx="2438400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1000" y="17716500"/>
            <a:ext cx="1752600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86400" y="17716500"/>
            <a:ext cx="1752600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6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780"/>
              </a:spcBef>
            </a:pPr>
            <a:r>
              <a:rPr dirty="0"/>
              <a:t>Primeros</a:t>
            </a:r>
            <a:r>
              <a:rPr dirty="0" spc="110"/>
              <a:t> </a:t>
            </a:r>
            <a:r>
              <a:rPr dirty="0" spc="345"/>
              <a:t>x86</a:t>
            </a:r>
          </a:p>
          <a:p>
            <a:pPr marL="1104265">
              <a:lnSpc>
                <a:spcPct val="100000"/>
              </a:lnSpc>
              <a:spcBef>
                <a:spcPts val="540"/>
              </a:spcBef>
            </a:pPr>
            <a:r>
              <a:rPr dirty="0" sz="1800" spc="130" b="0">
                <a:latin typeface="Tahoma"/>
                <a:cs typeface="Tahoma"/>
              </a:rPr>
              <a:t>Avances</a:t>
            </a:r>
            <a:r>
              <a:rPr dirty="0" sz="1800" spc="-90" b="0">
                <a:latin typeface="Tahoma"/>
                <a:cs typeface="Tahoma"/>
              </a:rPr>
              <a:t> </a:t>
            </a:r>
            <a:r>
              <a:rPr dirty="0" sz="1800" spc="125" b="0">
                <a:latin typeface="Tahoma"/>
                <a:cs typeface="Tahoma"/>
              </a:rPr>
              <a:t>tecnologicos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6864" y="2665863"/>
            <a:ext cx="2125345" cy="2315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dirty="0" sz="210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FFFFFF"/>
                </a:solidFill>
                <a:latin typeface="Arial"/>
                <a:cs typeface="Arial"/>
              </a:rPr>
              <a:t>1978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15399"/>
              </a:lnSpc>
              <a:spcBef>
                <a:spcPts val="1105"/>
              </a:spcBef>
            </a:pP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Intel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75">
                <a:solidFill>
                  <a:srgbClr val="FFFFFF"/>
                </a:solidFill>
                <a:latin typeface="Trebuchet MS"/>
                <a:cs typeface="Trebuchet MS"/>
              </a:rPr>
              <a:t>lanza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8086,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el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primer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85">
                <a:solidFill>
                  <a:srgbClr val="FFFFFF"/>
                </a:solidFill>
                <a:latin typeface="Trebuchet MS"/>
                <a:cs typeface="Trebuchet MS"/>
              </a:rPr>
              <a:t>procesador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familia</a:t>
            </a:r>
            <a:r>
              <a:rPr dirty="0" sz="1300" spc="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x86.</a:t>
            </a:r>
            <a:r>
              <a:rPr dirty="0" sz="1300" spc="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Introduce</a:t>
            </a:r>
            <a:r>
              <a:rPr dirty="0" sz="1300" spc="2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25">
                <a:solidFill>
                  <a:srgbClr val="FFFFFF"/>
                </a:solidFill>
                <a:latin typeface="Trebuchet MS"/>
                <a:cs typeface="Trebuchet MS"/>
              </a:rPr>
              <a:t>una 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arquitectura</a:t>
            </a:r>
            <a:r>
              <a:rPr dirty="0" sz="1300" spc="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r>
              <a:rPr dirty="0" sz="1300" spc="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Trebuchet MS"/>
                <a:cs typeface="Trebuchet MS"/>
              </a:rPr>
              <a:t>bits, </a:t>
            </a:r>
            <a:r>
              <a:rPr dirty="0" sz="1300" spc="135">
                <a:solidFill>
                  <a:srgbClr val="FFFFFF"/>
                </a:solidFill>
                <a:latin typeface="Trebuchet MS"/>
                <a:cs typeface="Trebuchet MS"/>
              </a:rPr>
              <a:t>capaz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45">
                <a:solidFill>
                  <a:srgbClr val="FFFFFF"/>
                </a:solidFill>
                <a:latin typeface="Trebuchet MS"/>
                <a:cs typeface="Trebuchet MS"/>
              </a:rPr>
              <a:t>manejar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hasta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75">
                <a:solidFill>
                  <a:srgbClr val="FFFFFF"/>
                </a:solidFill>
                <a:latin typeface="Trebuchet MS"/>
                <a:cs typeface="Trebuchet MS"/>
              </a:rPr>
              <a:t>1 </a:t>
            </a:r>
            <a:r>
              <a:rPr dirty="0" sz="1300" spc="190">
                <a:solidFill>
                  <a:srgbClr val="FFFFFF"/>
                </a:solidFill>
                <a:latin typeface="Trebuchet MS"/>
                <a:cs typeface="Trebuchet MS"/>
              </a:rPr>
              <a:t>MB</a:t>
            </a:r>
            <a:r>
              <a:rPr dirty="0" sz="13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memoria.</a:t>
            </a:r>
            <a:r>
              <a:rPr dirty="0" sz="13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Define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el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conjunto</a:t>
            </a:r>
            <a:r>
              <a:rPr dirty="0" sz="13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básico de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instrucciones</a:t>
            </a:r>
            <a:r>
              <a:rPr dirty="0" sz="1300" spc="3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x86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20964" y="6127288"/>
            <a:ext cx="963294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25" b="1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dirty="0" sz="21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FFFFFF"/>
                </a:solidFill>
                <a:latin typeface="Arial"/>
                <a:cs typeface="Arial"/>
              </a:rPr>
              <a:t>1982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16864" y="6497962"/>
            <a:ext cx="2206625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1300" spc="75">
                <a:solidFill>
                  <a:srgbClr val="FFFFFF"/>
                </a:solidFill>
                <a:latin typeface="Trebuchet MS"/>
                <a:cs typeface="Trebuchet MS"/>
              </a:rPr>
              <a:t>Sale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20">
                <a:solidFill>
                  <a:srgbClr val="FFFFFF"/>
                </a:solidFill>
                <a:latin typeface="Trebuchet MS"/>
                <a:cs typeface="Trebuchet MS"/>
              </a:rPr>
              <a:t>80286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85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dirty="0" sz="13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35">
                <a:solidFill>
                  <a:srgbClr val="FFFFFF"/>
                </a:solidFill>
                <a:latin typeface="Trebuchet MS"/>
                <a:cs typeface="Trebuchet MS"/>
              </a:rPr>
              <a:t>su 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arquitectura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r>
              <a:rPr dirty="0" sz="130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bits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un 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modo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80">
                <a:solidFill>
                  <a:srgbClr val="FFFFFF"/>
                </a:solidFill>
                <a:latin typeface="Trebuchet MS"/>
                <a:cs typeface="Trebuchet MS"/>
              </a:rPr>
              <a:t>protegido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35">
                <a:solidFill>
                  <a:srgbClr val="FFFFFF"/>
                </a:solidFill>
                <a:latin typeface="Trebuchet MS"/>
                <a:cs typeface="Trebuchet MS"/>
              </a:rPr>
              <a:t>que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permite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5">
                <a:solidFill>
                  <a:srgbClr val="FFFFFF"/>
                </a:solidFill>
                <a:latin typeface="Trebuchet MS"/>
                <a:cs typeface="Trebuchet MS"/>
              </a:rPr>
              <a:t>acceso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8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65">
                <a:solidFill>
                  <a:srgbClr val="FFFFFF"/>
                </a:solidFill>
                <a:latin typeface="Trebuchet MS"/>
                <a:cs typeface="Trebuchet MS"/>
              </a:rPr>
              <a:t>MB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memoria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permitiendo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una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mayor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75">
                <a:solidFill>
                  <a:srgbClr val="FFFFFF"/>
                </a:solidFill>
                <a:latin typeface="Trebuchet MS"/>
                <a:cs typeface="Trebuchet MS"/>
              </a:rPr>
              <a:t>segudirad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estabilidad al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evitar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35">
                <a:solidFill>
                  <a:srgbClr val="FFFFFF"/>
                </a:solidFill>
                <a:latin typeface="Trebuchet MS"/>
                <a:cs typeface="Trebuchet MS"/>
              </a:rPr>
              <a:t>que </a:t>
            </a:r>
            <a:r>
              <a:rPr dirty="0" sz="1300" spc="85">
                <a:solidFill>
                  <a:srgbClr val="FFFFFF"/>
                </a:solidFill>
                <a:latin typeface="Trebuchet MS"/>
                <a:cs typeface="Trebuchet MS"/>
              </a:rPr>
              <a:t>programas</a:t>
            </a:r>
            <a:r>
              <a:rPr dirty="0" sz="13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20">
                <a:solidFill>
                  <a:srgbClr val="FFFFFF"/>
                </a:solidFill>
                <a:latin typeface="Trebuchet MS"/>
                <a:cs typeface="Trebuchet MS"/>
              </a:rPr>
              <a:t>accedan</a:t>
            </a:r>
            <a:r>
              <a:rPr dirty="0" sz="13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35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areas</a:t>
            </a:r>
            <a:r>
              <a:rPr dirty="0" sz="13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35">
                <a:solidFill>
                  <a:srgbClr val="FFFFFF"/>
                </a:solidFill>
                <a:latin typeface="Trebuchet MS"/>
                <a:cs typeface="Trebuchet MS"/>
              </a:rPr>
              <a:t>autorizadas.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46075" y="9958278"/>
            <a:ext cx="2694305" cy="511809"/>
          </a:xfrm>
          <a:prstGeom prst="rect">
            <a:avLst/>
          </a:prstGeom>
          <a:solidFill>
            <a:srgbClr val="242526"/>
          </a:solidFill>
        </p:spPr>
        <p:txBody>
          <a:bodyPr wrap="square" lIns="0" tIns="113664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894"/>
              </a:spcBef>
            </a:pPr>
            <a:r>
              <a:rPr dirty="0" sz="2100" spc="140" b="1">
                <a:solidFill>
                  <a:srgbClr val="FFFFFF"/>
                </a:solidFill>
                <a:latin typeface="Arial"/>
                <a:cs typeface="Arial"/>
              </a:rPr>
              <a:t>5.</a:t>
            </a:r>
            <a:r>
              <a:rPr dirty="0" sz="21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40" b="1">
                <a:solidFill>
                  <a:srgbClr val="FFFFFF"/>
                </a:solidFill>
                <a:latin typeface="Arial"/>
                <a:cs typeface="Arial"/>
              </a:rPr>
              <a:t>1989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73260" y="10514580"/>
            <a:ext cx="242633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20">
                <a:solidFill>
                  <a:srgbClr val="FFFFFF"/>
                </a:solidFill>
                <a:latin typeface="Trebuchet MS"/>
                <a:cs typeface="Trebuchet MS"/>
              </a:rPr>
              <a:t>80486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integra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una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unidad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punto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flotante,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35">
                <a:solidFill>
                  <a:srgbClr val="FFFFFF"/>
                </a:solidFill>
                <a:latin typeface="Trebuchet MS"/>
                <a:cs typeface="Trebuchet MS"/>
              </a:rPr>
              <a:t>eliminando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dirty="0" sz="13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85">
                <a:solidFill>
                  <a:srgbClr val="FFFFFF"/>
                </a:solidFill>
                <a:latin typeface="Trebuchet MS"/>
                <a:cs typeface="Trebuchet MS"/>
              </a:rPr>
              <a:t>necesidad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un 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coprocesador</a:t>
            </a:r>
            <a:r>
              <a:rPr dirty="0" sz="13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45">
                <a:solidFill>
                  <a:srgbClr val="FFFFFF"/>
                </a:solidFill>
                <a:latin typeface="Trebuchet MS"/>
                <a:cs typeface="Trebuchet MS"/>
              </a:rPr>
              <a:t>matemático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separado,</a:t>
            </a:r>
            <a:r>
              <a:rPr dirty="0" sz="13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Incorpora</a:t>
            </a:r>
            <a:r>
              <a:rPr dirty="0" sz="13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5">
                <a:solidFill>
                  <a:srgbClr val="FFFFFF"/>
                </a:solidFill>
                <a:latin typeface="Trebuchet MS"/>
                <a:cs typeface="Trebuchet MS"/>
              </a:rPr>
              <a:t>caché</a:t>
            </a:r>
            <a:r>
              <a:rPr dirty="0" sz="13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Trebuchet MS"/>
                <a:cs typeface="Trebuchet MS"/>
              </a:rPr>
              <a:t>L1 </a:t>
            </a:r>
            <a:r>
              <a:rPr dirty="0" sz="1300" spc="12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mejorar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 la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80">
                <a:solidFill>
                  <a:srgbClr val="FFFFFF"/>
                </a:solidFill>
                <a:latin typeface="Trebuchet MS"/>
                <a:cs typeface="Trebuchet MS"/>
              </a:rPr>
              <a:t>velocidad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300" spc="105">
                <a:solidFill>
                  <a:srgbClr val="FFFFFF"/>
                </a:solidFill>
                <a:latin typeface="Trebuchet MS"/>
                <a:cs typeface="Trebuchet MS"/>
              </a:rPr>
              <a:t>acceso</a:t>
            </a:r>
            <a:r>
              <a:rPr dirty="0" sz="130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8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instrucciones</a:t>
            </a:r>
            <a:r>
              <a:rPr dirty="0" sz="130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300" spc="5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datos.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46075" y="13935231"/>
            <a:ext cx="2694305" cy="755650"/>
          </a:xfrm>
          <a:prstGeom prst="rect">
            <a:avLst/>
          </a:prstGeom>
          <a:solidFill>
            <a:srgbClr val="242526"/>
          </a:solidFill>
        </p:spPr>
        <p:txBody>
          <a:bodyPr wrap="square" lIns="0" tIns="13271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1045"/>
              </a:spcBef>
            </a:pPr>
            <a:r>
              <a:rPr dirty="0" sz="2100" spc="70" b="1">
                <a:solidFill>
                  <a:srgbClr val="FFFFFF"/>
                </a:solidFill>
                <a:latin typeface="Arial"/>
                <a:cs typeface="Arial"/>
              </a:rPr>
              <a:t>7.</a:t>
            </a:r>
            <a:r>
              <a:rPr dirty="0" sz="21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55" b="1">
                <a:solidFill>
                  <a:srgbClr val="FFFFFF"/>
                </a:solidFill>
                <a:latin typeface="Arial"/>
                <a:cs typeface="Arial"/>
              </a:rPr>
              <a:t>1995</a:t>
            </a:r>
            <a:endParaRPr sz="21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480"/>
              </a:spcBef>
            </a:pP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3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85">
                <a:solidFill>
                  <a:srgbClr val="FFFFFF"/>
                </a:solidFill>
                <a:latin typeface="Trebuchet MS"/>
                <a:cs typeface="Trebuchet MS"/>
              </a:rPr>
              <a:t>procesador</a:t>
            </a:r>
            <a:r>
              <a:rPr dirty="0" sz="13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Pentium</a:t>
            </a:r>
            <a:r>
              <a:rPr dirty="0" sz="13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Pro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61897" y="14634726"/>
            <a:ext cx="229997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1300" spc="80">
                <a:solidFill>
                  <a:srgbClr val="FFFFFF"/>
                </a:solidFill>
                <a:latin typeface="Trebuchet MS"/>
                <a:cs typeface="Trebuchet MS"/>
              </a:rPr>
              <a:t>diseñado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2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aplicaciones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5">
                <a:solidFill>
                  <a:srgbClr val="FFFFFF"/>
                </a:solidFill>
                <a:latin typeface="Trebuchet MS"/>
                <a:cs typeface="Trebuchet MS"/>
              </a:rPr>
              <a:t>32</a:t>
            </a:r>
            <a:r>
              <a:rPr dirty="0" sz="13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Trebuchet MS"/>
                <a:cs typeface="Trebuchet MS"/>
              </a:rPr>
              <a:t>bits,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usado </a:t>
            </a:r>
            <a:r>
              <a:rPr dirty="0" sz="1300" spc="45">
                <a:solidFill>
                  <a:srgbClr val="FFFFFF"/>
                </a:solidFill>
                <a:latin typeface="Trebuchet MS"/>
                <a:cs typeface="Trebuchet MS"/>
              </a:rPr>
              <a:t>principalmente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25">
                <a:solidFill>
                  <a:srgbClr val="FFFFFF"/>
                </a:solidFill>
                <a:latin typeface="Trebuchet MS"/>
                <a:cs typeface="Trebuchet MS"/>
              </a:rPr>
              <a:t>en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estaciones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trabajo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servidores.</a:t>
            </a:r>
            <a:r>
              <a:rPr dirty="0" sz="1300" spc="2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Introduce</a:t>
            </a:r>
            <a:r>
              <a:rPr dirty="0" sz="1300" spc="3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5">
                <a:solidFill>
                  <a:srgbClr val="FFFFFF"/>
                </a:solidFill>
                <a:latin typeface="Trebuchet MS"/>
                <a:cs typeface="Trebuchet MS"/>
              </a:rPr>
              <a:t>caché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L2</a:t>
            </a:r>
            <a:r>
              <a:rPr dirty="0" sz="13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directamente</a:t>
            </a:r>
            <a:r>
              <a:rPr dirty="0" sz="13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13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3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chip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lo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mejora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aún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más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el 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rendimiento.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40060" y="3656451"/>
            <a:ext cx="2516505" cy="2273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75" b="1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dirty="0" sz="21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FFFFFF"/>
                </a:solidFill>
                <a:latin typeface="Arial"/>
                <a:cs typeface="Arial"/>
              </a:rPr>
              <a:t>1979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15399"/>
              </a:lnSpc>
              <a:spcBef>
                <a:spcPts val="775"/>
              </a:spcBef>
            </a:pP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3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0">
                <a:solidFill>
                  <a:srgbClr val="FFFFFF"/>
                </a:solidFill>
                <a:latin typeface="Trebuchet MS"/>
                <a:cs typeface="Trebuchet MS"/>
              </a:rPr>
              <a:t>8088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es</a:t>
            </a:r>
            <a:r>
              <a:rPr dirty="0" sz="13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una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versión</a:t>
            </a:r>
            <a:r>
              <a:rPr dirty="0" sz="13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45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300" spc="80">
                <a:solidFill>
                  <a:srgbClr val="FFFFFF"/>
                </a:solidFill>
                <a:latin typeface="Trebuchet MS"/>
                <a:cs typeface="Trebuchet MS"/>
              </a:rPr>
              <a:t>conómica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8086,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85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 un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bus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75">
                <a:solidFill>
                  <a:srgbClr val="FFFFFF"/>
                </a:solidFill>
                <a:latin typeface="Trebuchet MS"/>
                <a:cs typeface="Trebuchet MS"/>
              </a:rPr>
              <a:t>datos</a:t>
            </a:r>
            <a:r>
              <a:rPr dirty="0" sz="13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r>
              <a:rPr dirty="0" sz="13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Trebuchet MS"/>
                <a:cs typeface="Trebuchet MS"/>
              </a:rPr>
              <a:t>bits,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ideal</a:t>
            </a:r>
            <a:r>
              <a:rPr dirty="0" sz="13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0">
                <a:solidFill>
                  <a:srgbClr val="FFFFFF"/>
                </a:solidFill>
                <a:latin typeface="Trebuchet MS"/>
                <a:cs typeface="Trebuchet MS"/>
              </a:rPr>
              <a:t>para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primera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computadora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personal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IBM,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lo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lo </a:t>
            </a:r>
            <a:r>
              <a:rPr dirty="0" sz="1300" spc="45">
                <a:solidFill>
                  <a:srgbClr val="FFFFFF"/>
                </a:solidFill>
                <a:latin typeface="Trebuchet MS"/>
                <a:cs typeface="Trebuchet MS"/>
              </a:rPr>
              <a:t>volvera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uno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los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 mas </a:t>
            </a:r>
            <a:r>
              <a:rPr dirty="0" sz="1300" spc="20">
                <a:solidFill>
                  <a:srgbClr val="FFFFFF"/>
                </a:solidFill>
                <a:latin typeface="Trebuchet MS"/>
                <a:cs typeface="Trebuchet MS"/>
              </a:rPr>
              <a:t>utilizados</a:t>
            </a:r>
            <a:r>
              <a:rPr dirty="0" sz="1300" spc="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20">
                <a:solidFill>
                  <a:srgbClr val="FFFFFF"/>
                </a:solidFill>
                <a:latin typeface="Trebuchet MS"/>
                <a:cs typeface="Trebuchet MS"/>
              </a:rPr>
              <a:t>convirtiendose</a:t>
            </a:r>
            <a:r>
              <a:rPr dirty="0" sz="1300" spc="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1300" spc="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un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estandar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76976" y="7460001"/>
            <a:ext cx="2334260" cy="2284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45" b="1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dirty="0" sz="21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FFFFFF"/>
                </a:solidFill>
                <a:latin typeface="Arial"/>
                <a:cs typeface="Arial"/>
              </a:rPr>
              <a:t>1985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15399"/>
              </a:lnSpc>
              <a:spcBef>
                <a:spcPts val="860"/>
              </a:spcBef>
            </a:pPr>
            <a:r>
              <a:rPr dirty="0" sz="1300" spc="135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80386,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es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el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primer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85">
                <a:solidFill>
                  <a:srgbClr val="FFFFFF"/>
                </a:solidFill>
                <a:latin typeface="Trebuchet MS"/>
                <a:cs typeface="Trebuchet MS"/>
              </a:rPr>
              <a:t>procesador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80">
                <a:solidFill>
                  <a:srgbClr val="FFFFFF"/>
                </a:solidFill>
                <a:latin typeface="Trebuchet MS"/>
                <a:cs typeface="Trebuchet MS"/>
              </a:rPr>
              <a:t>32</a:t>
            </a:r>
            <a:r>
              <a:rPr dirty="0" sz="1300" spc="5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bits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permitiendo</a:t>
            </a:r>
            <a:r>
              <a:rPr dirty="0" sz="130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un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5">
                <a:solidFill>
                  <a:srgbClr val="FFFFFF"/>
                </a:solidFill>
                <a:latin typeface="Trebuchet MS"/>
                <a:cs typeface="Trebuchet MS"/>
              </a:rPr>
              <a:t>acceso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directo</a:t>
            </a:r>
            <a:r>
              <a:rPr dirty="0" sz="13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8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95">
                <a:solidFill>
                  <a:srgbClr val="FFFFFF"/>
                </a:solidFill>
                <a:latin typeface="Trebuchet MS"/>
                <a:cs typeface="Trebuchet MS"/>
              </a:rPr>
              <a:t>GB</a:t>
            </a:r>
            <a:r>
              <a:rPr dirty="0" sz="13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memoria, 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marcando</a:t>
            </a:r>
            <a:r>
              <a:rPr dirty="0" sz="13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3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comienzo</a:t>
            </a:r>
            <a:r>
              <a:rPr dirty="0" sz="13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aplicacions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mas</a:t>
            </a:r>
            <a:r>
              <a:rPr dirty="0" sz="13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avanzadas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complejas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incluyendo </a:t>
            </a:r>
            <a:r>
              <a:rPr dirty="0" sz="1300" spc="45">
                <a:solidFill>
                  <a:srgbClr val="FFFFFF"/>
                </a:solidFill>
                <a:latin typeface="Trebuchet MS"/>
                <a:cs typeface="Trebuchet MS"/>
              </a:rPr>
              <a:t>ejecucion</a:t>
            </a:r>
            <a:r>
              <a:rPr dirty="0" sz="13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multiple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228506" y="11543647"/>
            <a:ext cx="2215515" cy="185801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2100" spc="170" b="1">
                <a:solidFill>
                  <a:srgbClr val="FFFFFF"/>
                </a:solidFill>
                <a:latin typeface="Arial"/>
                <a:cs typeface="Arial"/>
              </a:rPr>
              <a:t>6.</a:t>
            </a:r>
            <a:r>
              <a:rPr dirty="0" sz="2100" spc="45" b="1">
                <a:solidFill>
                  <a:srgbClr val="FFFFFF"/>
                </a:solidFill>
                <a:latin typeface="Arial"/>
                <a:cs typeface="Arial"/>
              </a:rPr>
              <a:t> 1993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15399"/>
              </a:lnSpc>
              <a:spcBef>
                <a:spcPts val="275"/>
              </a:spcBef>
            </a:pPr>
            <a:r>
              <a:rPr dirty="0" sz="1300" spc="85">
                <a:solidFill>
                  <a:srgbClr val="FFFFFF"/>
                </a:solidFill>
                <a:latin typeface="Trebuchet MS"/>
                <a:cs typeface="Trebuchet MS"/>
              </a:rPr>
              <a:t>Se</a:t>
            </a:r>
            <a:r>
              <a:rPr dirty="0" sz="130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introduce</a:t>
            </a:r>
            <a:r>
              <a:rPr dirty="0" sz="1300" spc="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30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75">
                <a:solidFill>
                  <a:srgbClr val="FFFFFF"/>
                </a:solidFill>
                <a:latin typeface="Trebuchet MS"/>
                <a:cs typeface="Trebuchet MS"/>
              </a:rPr>
              <a:t>procesador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pentium,</a:t>
            </a:r>
            <a:r>
              <a:rPr dirty="0" sz="13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dirty="0" sz="13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permite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ejecutar</a:t>
            </a:r>
            <a:r>
              <a:rPr dirty="0" sz="1300" spc="2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multiples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instrucciones</a:t>
            </a:r>
            <a:r>
              <a:rPr dirty="0" sz="1300" spc="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75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dirty="0" sz="130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ciclo</a:t>
            </a:r>
            <a:r>
              <a:rPr dirty="0" sz="130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300" spc="-20">
                <a:solidFill>
                  <a:srgbClr val="FFFFFF"/>
                </a:solidFill>
                <a:latin typeface="Trebuchet MS"/>
                <a:cs typeface="Trebuchet MS"/>
              </a:rPr>
              <a:t>reloj,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tambien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mejora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FPU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dirty="0" sz="13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5">
                <a:solidFill>
                  <a:srgbClr val="FFFFFF"/>
                </a:solidFill>
                <a:latin typeface="Trebuchet MS"/>
                <a:cs typeface="Trebuchet MS"/>
              </a:rPr>
              <a:t>cache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L1.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949730" y="15351062"/>
            <a:ext cx="2694305" cy="2820035"/>
          </a:xfrm>
          <a:prstGeom prst="rect">
            <a:avLst/>
          </a:prstGeom>
          <a:solidFill>
            <a:srgbClr val="242526"/>
          </a:solidFill>
        </p:spPr>
        <p:txBody>
          <a:bodyPr wrap="square" lIns="0" tIns="23622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860"/>
              </a:spcBef>
            </a:pPr>
            <a:r>
              <a:rPr dirty="0" sz="2100" spc="110" b="1">
                <a:solidFill>
                  <a:srgbClr val="FFFFFF"/>
                </a:solidFill>
                <a:latin typeface="Arial"/>
                <a:cs typeface="Arial"/>
              </a:rPr>
              <a:t>8.</a:t>
            </a:r>
            <a:r>
              <a:rPr dirty="0" sz="21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Arial"/>
                <a:cs typeface="Arial"/>
              </a:rPr>
              <a:t>Resumen</a:t>
            </a:r>
            <a:endParaRPr sz="2100">
              <a:latin typeface="Arial"/>
              <a:cs typeface="Arial"/>
            </a:endParaRPr>
          </a:p>
          <a:p>
            <a:pPr marL="139700" marR="243840">
              <a:lnSpc>
                <a:spcPct val="115399"/>
              </a:lnSpc>
              <a:spcBef>
                <a:spcPts val="745"/>
              </a:spcBef>
            </a:pP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evolución</a:t>
            </a:r>
            <a:r>
              <a:rPr dirty="0" sz="1300" spc="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los </a:t>
            </a:r>
            <a:r>
              <a:rPr dirty="0" sz="1300" spc="80">
                <a:solidFill>
                  <a:srgbClr val="FFFFFF"/>
                </a:solidFill>
                <a:latin typeface="Trebuchet MS"/>
                <a:cs typeface="Trebuchet MS"/>
              </a:rPr>
              <a:t>procesadores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85">
                <a:solidFill>
                  <a:srgbClr val="FFFFFF"/>
                </a:solidFill>
                <a:latin typeface="Trebuchet MS"/>
                <a:cs typeface="Trebuchet MS"/>
              </a:rPr>
              <a:t>x86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impulsó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4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dirty="0" sz="1300" spc="130">
                <a:solidFill>
                  <a:srgbClr val="FFFFFF"/>
                </a:solidFill>
                <a:latin typeface="Trebuchet MS"/>
                <a:cs typeface="Trebuchet MS"/>
              </a:rPr>
              <a:t>capacidad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300" spc="60">
                <a:solidFill>
                  <a:srgbClr val="FFFFFF"/>
                </a:solidFill>
                <a:latin typeface="Trebuchet MS"/>
                <a:cs typeface="Trebuchet MS"/>
              </a:rPr>
              <a:t>procesamiento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las </a:t>
            </a:r>
            <a:r>
              <a:rPr dirty="0" sz="1300" spc="70">
                <a:solidFill>
                  <a:srgbClr val="FFFFFF"/>
                </a:solidFill>
                <a:latin typeface="Trebuchet MS"/>
                <a:cs typeface="Trebuchet MS"/>
              </a:rPr>
              <a:t>computadoras</a:t>
            </a:r>
            <a:r>
              <a:rPr dirty="0" sz="13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personales, </a:t>
            </a:r>
            <a:r>
              <a:rPr dirty="0" sz="1300" spc="80">
                <a:solidFill>
                  <a:srgbClr val="FFFFFF"/>
                </a:solidFill>
                <a:latin typeface="Trebuchet MS"/>
                <a:cs typeface="Trebuchet MS"/>
              </a:rPr>
              <a:t>haciendo</a:t>
            </a:r>
            <a:r>
              <a:rPr dirty="0" sz="13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posible</a:t>
            </a:r>
            <a:r>
              <a:rPr dirty="0" sz="13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el </a:t>
            </a:r>
            <a:r>
              <a:rPr dirty="0" sz="1300" spc="50">
                <a:solidFill>
                  <a:srgbClr val="FFFFFF"/>
                </a:solidFill>
                <a:latin typeface="Trebuchet MS"/>
                <a:cs typeface="Trebuchet MS"/>
              </a:rPr>
              <a:t>desarrollo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14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operativos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5">
                <a:solidFill>
                  <a:srgbClr val="FFFFFF"/>
                </a:solidFill>
                <a:latin typeface="Trebuchet MS"/>
                <a:cs typeface="Trebuchet MS"/>
              </a:rPr>
              <a:t>avanzados</a:t>
            </a:r>
            <a:r>
              <a:rPr dirty="0" sz="13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dirty="0" sz="1300" spc="75">
                <a:solidFill>
                  <a:srgbClr val="FFFFFF"/>
                </a:solidFill>
                <a:latin typeface="Trebuchet MS"/>
                <a:cs typeface="Trebuchet MS"/>
              </a:rPr>
              <a:t>aplicaciones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45">
                <a:solidFill>
                  <a:srgbClr val="FFFFFF"/>
                </a:solidFill>
                <a:latin typeface="Trebuchet MS"/>
                <a:cs typeface="Trebuchet MS"/>
              </a:rPr>
              <a:t>complejas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Mario Castañeda Cragua</dc:creator>
  <cp:keywords>DAGVd_Kgsrw,BAFIsfGH4r8</cp:keywords>
  <dc:title>Primeros Procesadores x86</dc:title>
  <dcterms:created xsi:type="dcterms:W3CDTF">2024-11-05T06:23:58Z</dcterms:created>
  <dcterms:modified xsi:type="dcterms:W3CDTF">2024-11-05T06:23:58Z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2024-11-03T00:00:00Z</vt:filetime>
  </property>
  <property fmtid="{D5CDD505-2E9C-101B-9397-08002B2CF9AE}" pid="3" name="Creator">
    <vt:lpwstr>Canva</vt:lpwstr>
  </property>
  <property fmtid="{D5CDD505-2E9C-101B-9397-08002B2CF9AE}" pid="4" name="LastSaved">
    <vt:filetime>2024-11-05T00:00:00Z</vt:filetime>
  </property>
  <property fmtid="{D5CDD505-2E9C-101B-9397-08002B2CF9AE}" pid="5" name="Producer">
    <vt:lpwstr>Canva</vt:lpwstr>
  </property>
</Properties>
</file>