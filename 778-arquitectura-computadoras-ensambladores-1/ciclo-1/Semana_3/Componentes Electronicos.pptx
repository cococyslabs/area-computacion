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1430000" cy="6445250"/>
  <p:notesSz cx="11430000" cy="64452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B292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B292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B292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5C23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5C23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00238" y="1101725"/>
            <a:ext cx="8229523" cy="1111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FB292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36121" y="691197"/>
            <a:ext cx="5920105" cy="369760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935990">
              <a:lnSpc>
                <a:spcPts val="5850"/>
              </a:lnSpc>
              <a:spcBef>
                <a:spcPts val="75"/>
              </a:spcBef>
            </a:pPr>
            <a:r>
              <a:rPr dirty="0" sz="4650" spc="160" b="1">
                <a:solidFill>
                  <a:srgbClr val="FFB292"/>
                </a:solidFill>
                <a:latin typeface="Cambria"/>
                <a:cs typeface="Cambria"/>
              </a:rPr>
              <a:t>Píincipales </a:t>
            </a:r>
            <a:r>
              <a:rPr dirty="0" sz="4650" spc="165" b="1">
                <a:solidFill>
                  <a:srgbClr val="FFB292"/>
                </a:solidFill>
                <a:latin typeface="Cambria"/>
                <a:cs typeface="Cambria"/>
              </a:rPr>
              <a:t> </a:t>
            </a:r>
            <a:r>
              <a:rPr dirty="0" sz="4650" spc="150" b="1">
                <a:solidFill>
                  <a:srgbClr val="FFB292"/>
                </a:solidFill>
                <a:latin typeface="Cambria"/>
                <a:cs typeface="Cambria"/>
              </a:rPr>
              <a:t>componentes</a:t>
            </a:r>
            <a:endParaRPr sz="4650">
              <a:latin typeface="Cambria"/>
              <a:cs typeface="Cambria"/>
            </a:endParaRPr>
          </a:p>
          <a:p>
            <a:pPr marL="12700" marR="5080">
              <a:lnSpc>
                <a:spcPts val="5780"/>
              </a:lnSpc>
              <a:spcBef>
                <a:spcPts val="55"/>
              </a:spcBef>
            </a:pPr>
            <a:r>
              <a:rPr dirty="0" sz="4650" spc="170" b="1">
                <a:solidFill>
                  <a:srgbClr val="FFB292"/>
                </a:solidFill>
                <a:latin typeface="Cambria"/>
                <a:cs typeface="Cambria"/>
              </a:rPr>
              <a:t>electíónicos </a:t>
            </a:r>
            <a:r>
              <a:rPr dirty="0" sz="4650" spc="305" b="1">
                <a:solidFill>
                  <a:srgbClr val="FFB292"/>
                </a:solidFill>
                <a:latin typeface="Cambria"/>
                <a:cs typeface="Cambria"/>
              </a:rPr>
              <a:t>paía </a:t>
            </a:r>
            <a:r>
              <a:rPr dirty="0" sz="4650" spc="310" b="1">
                <a:solidFill>
                  <a:srgbClr val="FFB292"/>
                </a:solidFill>
                <a:latin typeface="Cambria"/>
                <a:cs typeface="Cambria"/>
              </a:rPr>
              <a:t> </a:t>
            </a:r>
            <a:r>
              <a:rPr dirty="0" sz="4650" spc="215" b="1">
                <a:solidFill>
                  <a:srgbClr val="FFB292"/>
                </a:solidFill>
                <a:latin typeface="Cambria"/>
                <a:cs typeface="Cambria"/>
              </a:rPr>
              <a:t>Aíduino</a:t>
            </a:r>
            <a:r>
              <a:rPr dirty="0" sz="4650" spc="-120" b="1">
                <a:solidFill>
                  <a:srgbClr val="FFB292"/>
                </a:solidFill>
                <a:latin typeface="Cambria"/>
                <a:cs typeface="Cambria"/>
              </a:rPr>
              <a:t> </a:t>
            </a:r>
            <a:r>
              <a:rPr dirty="0" sz="4650" spc="35" b="1">
                <a:solidFill>
                  <a:srgbClr val="FFB292"/>
                </a:solidFill>
                <a:latin typeface="Cambria"/>
                <a:cs typeface="Cambria"/>
              </a:rPr>
              <a:t>y</a:t>
            </a:r>
            <a:r>
              <a:rPr dirty="0" sz="4650" spc="-120" b="1">
                <a:solidFill>
                  <a:srgbClr val="FFB292"/>
                </a:solidFill>
                <a:latin typeface="Cambria"/>
                <a:cs typeface="Cambria"/>
              </a:rPr>
              <a:t> </a:t>
            </a:r>
            <a:r>
              <a:rPr dirty="0" sz="4650" spc="265" b="1">
                <a:solidFill>
                  <a:srgbClr val="FFB292"/>
                </a:solidFill>
                <a:latin typeface="Cambria"/>
                <a:cs typeface="Cambria"/>
              </a:rPr>
              <a:t>Raspbeííy</a:t>
            </a:r>
            <a:endParaRPr sz="4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650" spc="15" b="1">
                <a:solidFill>
                  <a:srgbClr val="FFB292"/>
                </a:solidFill>
                <a:latin typeface="Cambria"/>
                <a:cs typeface="Cambria"/>
              </a:rPr>
              <a:t>Pi</a:t>
            </a:r>
            <a:endParaRPr sz="46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36121" y="4620012"/>
            <a:ext cx="5793740" cy="1054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Estos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pequeños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pero poderosos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dispositivos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computación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abierta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 ofrecen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una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gran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variedad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componentes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electrónicos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que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permiten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crear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proyectos innovadores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en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campo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la robótica, la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5">
                <a:solidFill>
                  <a:srgbClr val="F4CAB7"/>
                </a:solidFill>
                <a:latin typeface="Verdana"/>
                <a:cs typeface="Verdana"/>
              </a:rPr>
              <a:t>z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ó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6121" y="815975"/>
            <a:ext cx="450278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165"/>
              <a:t>Sensoíes</a:t>
            </a:r>
            <a:r>
              <a:rPr dirty="0" spc="-80"/>
              <a:t> </a:t>
            </a:r>
            <a:r>
              <a:rPr dirty="0" spc="100"/>
              <a:t>analógicos</a:t>
            </a:r>
            <a:r>
              <a:rPr dirty="0" spc="-75"/>
              <a:t> </a:t>
            </a:r>
            <a:r>
              <a:rPr dirty="0" spc="35"/>
              <a:t>y </a:t>
            </a:r>
            <a:r>
              <a:rPr dirty="0" spc="-725"/>
              <a:t> </a:t>
            </a:r>
            <a:r>
              <a:rPr dirty="0" spc="95"/>
              <a:t>digitales</a:t>
            </a:r>
          </a:p>
        </p:txBody>
      </p:sp>
      <p:sp>
        <p:nvSpPr>
          <p:cNvPr id="4" name="object 4"/>
          <p:cNvSpPr/>
          <p:nvPr/>
        </p:nvSpPr>
        <p:spPr>
          <a:xfrm>
            <a:off x="4848224" y="2190750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318246" y="0"/>
                </a:moveTo>
                <a:lnTo>
                  <a:pt x="271899" y="14037"/>
                </a:lnTo>
                <a:lnTo>
                  <a:pt x="217170" y="66471"/>
                </a:lnTo>
                <a:lnTo>
                  <a:pt x="90017" y="193547"/>
                </a:lnTo>
                <a:lnTo>
                  <a:pt x="75336" y="229094"/>
                </a:lnTo>
                <a:lnTo>
                  <a:pt x="75336" y="308749"/>
                </a:lnTo>
                <a:lnTo>
                  <a:pt x="0" y="384101"/>
                </a:lnTo>
                <a:lnTo>
                  <a:pt x="0" y="394458"/>
                </a:lnTo>
                <a:lnTo>
                  <a:pt x="5596" y="400049"/>
                </a:lnTo>
                <a:lnTo>
                  <a:pt x="19519" y="400049"/>
                </a:lnTo>
                <a:lnTo>
                  <a:pt x="93078" y="326491"/>
                </a:lnTo>
                <a:lnTo>
                  <a:pt x="172745" y="326491"/>
                </a:lnTo>
                <a:lnTo>
                  <a:pt x="208293" y="311810"/>
                </a:lnTo>
                <a:lnTo>
                  <a:pt x="218715" y="301383"/>
                </a:lnTo>
                <a:lnTo>
                  <a:pt x="100457" y="301383"/>
                </a:lnTo>
                <a:lnTo>
                  <a:pt x="100457" y="222338"/>
                </a:lnTo>
                <a:lnTo>
                  <a:pt x="103124" y="215988"/>
                </a:lnTo>
                <a:lnTo>
                  <a:pt x="125577" y="193547"/>
                </a:lnTo>
                <a:lnTo>
                  <a:pt x="161055" y="193547"/>
                </a:lnTo>
                <a:lnTo>
                  <a:pt x="143307" y="175805"/>
                </a:lnTo>
                <a:lnTo>
                  <a:pt x="175806" y="143306"/>
                </a:lnTo>
                <a:lnTo>
                  <a:pt x="211271" y="143306"/>
                </a:lnTo>
                <a:lnTo>
                  <a:pt x="193535" y="125577"/>
                </a:lnTo>
                <a:lnTo>
                  <a:pt x="226034" y="93077"/>
                </a:lnTo>
                <a:lnTo>
                  <a:pt x="261512" y="93077"/>
                </a:lnTo>
                <a:lnTo>
                  <a:pt x="243776" y="75336"/>
                </a:lnTo>
                <a:lnTo>
                  <a:pt x="276885" y="42227"/>
                </a:lnTo>
                <a:lnTo>
                  <a:pt x="318249" y="25107"/>
                </a:lnTo>
                <a:lnTo>
                  <a:pt x="377770" y="25107"/>
                </a:lnTo>
                <a:lnTo>
                  <a:pt x="377349" y="24485"/>
                </a:lnTo>
                <a:lnTo>
                  <a:pt x="350781" y="6570"/>
                </a:lnTo>
                <a:lnTo>
                  <a:pt x="318246" y="0"/>
                </a:lnTo>
                <a:close/>
              </a:path>
              <a:path w="400050" h="400050">
                <a:moveTo>
                  <a:pt x="377770" y="25107"/>
                </a:moveTo>
                <a:lnTo>
                  <a:pt x="318249" y="25107"/>
                </a:lnTo>
                <a:lnTo>
                  <a:pt x="340994" y="29707"/>
                </a:lnTo>
                <a:lnTo>
                  <a:pt x="359581" y="42246"/>
                </a:lnTo>
                <a:lnTo>
                  <a:pt x="372120" y="60833"/>
                </a:lnTo>
                <a:lnTo>
                  <a:pt x="376720" y="83578"/>
                </a:lnTo>
                <a:lnTo>
                  <a:pt x="375592" y="95054"/>
                </a:lnTo>
                <a:lnTo>
                  <a:pt x="185775" y="298703"/>
                </a:lnTo>
                <a:lnTo>
                  <a:pt x="179413" y="301383"/>
                </a:lnTo>
                <a:lnTo>
                  <a:pt x="218715" y="301383"/>
                </a:lnTo>
                <a:lnTo>
                  <a:pt x="377355" y="142684"/>
                </a:lnTo>
                <a:lnTo>
                  <a:pt x="387798" y="129939"/>
                </a:lnTo>
                <a:lnTo>
                  <a:pt x="395479" y="115545"/>
                </a:lnTo>
                <a:lnTo>
                  <a:pt x="400049" y="100507"/>
                </a:lnTo>
                <a:lnTo>
                  <a:pt x="400049" y="74713"/>
                </a:lnTo>
                <a:lnTo>
                  <a:pt x="395270" y="51054"/>
                </a:lnTo>
                <a:lnTo>
                  <a:pt x="377770" y="25107"/>
                </a:lnTo>
                <a:close/>
              </a:path>
              <a:path w="400050" h="400050">
                <a:moveTo>
                  <a:pt x="161055" y="193547"/>
                </a:moveTo>
                <a:lnTo>
                  <a:pt x="125577" y="193547"/>
                </a:lnTo>
                <a:lnTo>
                  <a:pt x="159245" y="227215"/>
                </a:lnTo>
                <a:lnTo>
                  <a:pt x="167246" y="227215"/>
                </a:lnTo>
                <a:lnTo>
                  <a:pt x="176987" y="217474"/>
                </a:lnTo>
                <a:lnTo>
                  <a:pt x="176987" y="209473"/>
                </a:lnTo>
                <a:lnTo>
                  <a:pt x="161055" y="193547"/>
                </a:lnTo>
                <a:close/>
              </a:path>
              <a:path w="400050" h="400050">
                <a:moveTo>
                  <a:pt x="211271" y="143306"/>
                </a:moveTo>
                <a:lnTo>
                  <a:pt x="175806" y="143306"/>
                </a:lnTo>
                <a:lnTo>
                  <a:pt x="209474" y="176986"/>
                </a:lnTo>
                <a:lnTo>
                  <a:pt x="217475" y="176986"/>
                </a:lnTo>
                <a:lnTo>
                  <a:pt x="227216" y="167245"/>
                </a:lnTo>
                <a:lnTo>
                  <a:pt x="227216" y="159244"/>
                </a:lnTo>
                <a:lnTo>
                  <a:pt x="211271" y="143306"/>
                </a:lnTo>
                <a:close/>
              </a:path>
              <a:path w="400050" h="400050">
                <a:moveTo>
                  <a:pt x="261512" y="93077"/>
                </a:moveTo>
                <a:lnTo>
                  <a:pt x="226034" y="93077"/>
                </a:lnTo>
                <a:lnTo>
                  <a:pt x="259702" y="126758"/>
                </a:lnTo>
                <a:lnTo>
                  <a:pt x="267703" y="126758"/>
                </a:lnTo>
                <a:lnTo>
                  <a:pt x="277444" y="117017"/>
                </a:lnTo>
                <a:lnTo>
                  <a:pt x="277444" y="109016"/>
                </a:lnTo>
                <a:lnTo>
                  <a:pt x="261512" y="93077"/>
                </a:lnTo>
                <a:close/>
              </a:path>
            </a:pathLst>
          </a:custGeom>
          <a:solidFill>
            <a:srgbClr val="FFB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36121" y="2725737"/>
            <a:ext cx="2769870" cy="882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F4CAB7"/>
                </a:solidFill>
                <a:latin typeface="Cambria"/>
                <a:cs typeface="Cambria"/>
              </a:rPr>
              <a:t>Tempeíatuía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670"/>
              </a:spcBef>
            </a:pPr>
            <a:r>
              <a:rPr dirty="0" sz="1250" spc="145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o 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un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4CAB7"/>
                </a:solidFill>
                <a:latin typeface="Verdana"/>
                <a:cs typeface="Verdana"/>
              </a:rPr>
              <a:t>objeto.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81949" y="2229675"/>
            <a:ext cx="400050" cy="324485"/>
          </a:xfrm>
          <a:custGeom>
            <a:avLst/>
            <a:gdLst/>
            <a:ahLst/>
            <a:cxnLst/>
            <a:rect l="l" t="t" r="r" b="b"/>
            <a:pathLst>
              <a:path w="400050" h="324485">
                <a:moveTo>
                  <a:pt x="11925" y="0"/>
                </a:moveTo>
                <a:lnTo>
                  <a:pt x="5588" y="749"/>
                </a:lnTo>
                <a:lnTo>
                  <a:pt x="0" y="7768"/>
                </a:lnTo>
                <a:lnTo>
                  <a:pt x="0" y="16155"/>
                </a:lnTo>
                <a:lnTo>
                  <a:pt x="389903" y="324040"/>
                </a:lnTo>
                <a:lnTo>
                  <a:pt x="396253" y="323291"/>
                </a:lnTo>
                <a:lnTo>
                  <a:pt x="400049" y="318531"/>
                </a:lnTo>
                <a:lnTo>
                  <a:pt x="400049" y="306417"/>
                </a:lnTo>
                <a:lnTo>
                  <a:pt x="153509" y="111760"/>
                </a:lnTo>
                <a:lnTo>
                  <a:pt x="11925" y="0"/>
                </a:lnTo>
                <a:close/>
              </a:path>
              <a:path w="400050" h="324485">
                <a:moveTo>
                  <a:pt x="248133" y="262458"/>
                </a:moveTo>
                <a:lnTo>
                  <a:pt x="153696" y="262458"/>
                </a:lnTo>
                <a:lnTo>
                  <a:pt x="150686" y="265468"/>
                </a:lnTo>
                <a:lnTo>
                  <a:pt x="150686" y="272503"/>
                </a:lnTo>
                <a:lnTo>
                  <a:pt x="154632" y="292058"/>
                </a:lnTo>
                <a:lnTo>
                  <a:pt x="165394" y="308024"/>
                </a:lnTo>
                <a:lnTo>
                  <a:pt x="181359" y="318786"/>
                </a:lnTo>
                <a:lnTo>
                  <a:pt x="200914" y="322732"/>
                </a:lnTo>
                <a:lnTo>
                  <a:pt x="220469" y="318786"/>
                </a:lnTo>
                <a:lnTo>
                  <a:pt x="236434" y="308024"/>
                </a:lnTo>
                <a:lnTo>
                  <a:pt x="240063" y="302641"/>
                </a:lnTo>
                <a:lnTo>
                  <a:pt x="200851" y="302641"/>
                </a:lnTo>
                <a:lnTo>
                  <a:pt x="191455" y="301143"/>
                </a:lnTo>
                <a:lnTo>
                  <a:pt x="183266" y="296972"/>
                </a:lnTo>
                <a:lnTo>
                  <a:pt x="176760" y="290612"/>
                </a:lnTo>
                <a:lnTo>
                  <a:pt x="172415" y="282549"/>
                </a:lnTo>
                <a:lnTo>
                  <a:pt x="249116" y="282549"/>
                </a:lnTo>
                <a:lnTo>
                  <a:pt x="251143" y="272503"/>
                </a:lnTo>
                <a:lnTo>
                  <a:pt x="251143" y="265468"/>
                </a:lnTo>
                <a:lnTo>
                  <a:pt x="248133" y="262458"/>
                </a:lnTo>
                <a:close/>
              </a:path>
              <a:path w="400050" h="324485">
                <a:moveTo>
                  <a:pt x="249116" y="282549"/>
                </a:moveTo>
                <a:lnTo>
                  <a:pt x="229299" y="282549"/>
                </a:lnTo>
                <a:lnTo>
                  <a:pt x="224952" y="290612"/>
                </a:lnTo>
                <a:lnTo>
                  <a:pt x="218442" y="296972"/>
                </a:lnTo>
                <a:lnTo>
                  <a:pt x="210248" y="301143"/>
                </a:lnTo>
                <a:lnTo>
                  <a:pt x="200851" y="302641"/>
                </a:lnTo>
                <a:lnTo>
                  <a:pt x="240063" y="302641"/>
                </a:lnTo>
                <a:lnTo>
                  <a:pt x="247197" y="292058"/>
                </a:lnTo>
                <a:lnTo>
                  <a:pt x="249116" y="282549"/>
                </a:lnTo>
                <a:close/>
              </a:path>
              <a:path w="400050" h="324485">
                <a:moveTo>
                  <a:pt x="93231" y="136690"/>
                </a:moveTo>
                <a:lnTo>
                  <a:pt x="110210" y="174802"/>
                </a:lnTo>
                <a:lnTo>
                  <a:pt x="125567" y="196042"/>
                </a:lnTo>
                <a:lnTo>
                  <a:pt x="131193" y="204065"/>
                </a:lnTo>
                <a:lnTo>
                  <a:pt x="148870" y="242290"/>
                </a:lnTo>
                <a:lnTo>
                  <a:pt x="169215" y="242290"/>
                </a:lnTo>
                <a:lnTo>
                  <a:pt x="153547" y="201607"/>
                </a:lnTo>
                <a:lnTo>
                  <a:pt x="129210" y="166954"/>
                </a:lnTo>
                <a:lnTo>
                  <a:pt x="126645" y="163182"/>
                </a:lnTo>
                <a:lnTo>
                  <a:pt x="126364" y="162801"/>
                </a:lnTo>
                <a:lnTo>
                  <a:pt x="93231" y="136690"/>
                </a:lnTo>
                <a:close/>
              </a:path>
              <a:path w="400050" h="324485">
                <a:moveTo>
                  <a:pt x="260841" y="21348"/>
                </a:moveTo>
                <a:lnTo>
                  <a:pt x="200914" y="21348"/>
                </a:lnTo>
                <a:lnTo>
                  <a:pt x="236102" y="28456"/>
                </a:lnTo>
                <a:lnTo>
                  <a:pt x="264841" y="47837"/>
                </a:lnTo>
                <a:lnTo>
                  <a:pt x="284219" y="76577"/>
                </a:lnTo>
                <a:lnTo>
                  <a:pt x="291325" y="111760"/>
                </a:lnTo>
                <a:lnTo>
                  <a:pt x="290236" y="125863"/>
                </a:lnTo>
                <a:lnTo>
                  <a:pt x="275196" y="163309"/>
                </a:lnTo>
                <a:lnTo>
                  <a:pt x="268478" y="172732"/>
                </a:lnTo>
                <a:lnTo>
                  <a:pt x="284302" y="185229"/>
                </a:lnTo>
                <a:lnTo>
                  <a:pt x="306224" y="145384"/>
                </a:lnTo>
                <a:lnTo>
                  <a:pt x="311417" y="111823"/>
                </a:lnTo>
                <a:lnTo>
                  <a:pt x="302734" y="68776"/>
                </a:lnTo>
                <a:lnTo>
                  <a:pt x="279054" y="33632"/>
                </a:lnTo>
                <a:lnTo>
                  <a:pt x="260841" y="21348"/>
                </a:lnTo>
                <a:close/>
              </a:path>
              <a:path w="400050" h="324485">
                <a:moveTo>
                  <a:pt x="126327" y="162750"/>
                </a:moveTo>
                <a:close/>
              </a:path>
              <a:path w="400050" h="324485">
                <a:moveTo>
                  <a:pt x="206439" y="41440"/>
                </a:moveTo>
                <a:lnTo>
                  <a:pt x="200914" y="41440"/>
                </a:lnTo>
                <a:lnTo>
                  <a:pt x="183186" y="43699"/>
                </a:lnTo>
                <a:lnTo>
                  <a:pt x="167112" y="50098"/>
                </a:lnTo>
                <a:lnTo>
                  <a:pt x="153264" y="60063"/>
                </a:lnTo>
                <a:lnTo>
                  <a:pt x="142215" y="73025"/>
                </a:lnTo>
                <a:lnTo>
                  <a:pt x="158039" y="85521"/>
                </a:lnTo>
                <a:lnTo>
                  <a:pt x="165920" y="75702"/>
                </a:lnTo>
                <a:lnTo>
                  <a:pt x="175990" y="68130"/>
                </a:lnTo>
                <a:lnTo>
                  <a:pt x="187803" y="63256"/>
                </a:lnTo>
                <a:lnTo>
                  <a:pt x="200914" y="61531"/>
                </a:lnTo>
                <a:lnTo>
                  <a:pt x="206439" y="61531"/>
                </a:lnTo>
                <a:lnTo>
                  <a:pt x="210960" y="57010"/>
                </a:lnTo>
                <a:lnTo>
                  <a:pt x="210960" y="45961"/>
                </a:lnTo>
                <a:lnTo>
                  <a:pt x="206439" y="41440"/>
                </a:lnTo>
                <a:close/>
              </a:path>
              <a:path w="400050" h="324485">
                <a:moveTo>
                  <a:pt x="200914" y="1257"/>
                </a:moveTo>
                <a:lnTo>
                  <a:pt x="173884" y="4584"/>
                </a:lnTo>
                <a:lnTo>
                  <a:pt x="149276" y="14028"/>
                </a:lnTo>
                <a:lnTo>
                  <a:pt x="127916" y="28780"/>
                </a:lnTo>
                <a:lnTo>
                  <a:pt x="110630" y="48031"/>
                </a:lnTo>
                <a:lnTo>
                  <a:pt x="126454" y="60528"/>
                </a:lnTo>
                <a:lnTo>
                  <a:pt x="140608" y="44419"/>
                </a:lnTo>
                <a:lnTo>
                  <a:pt x="158202" y="32061"/>
                </a:lnTo>
                <a:lnTo>
                  <a:pt x="178537" y="24141"/>
                </a:lnTo>
                <a:lnTo>
                  <a:pt x="200914" y="21348"/>
                </a:lnTo>
                <a:lnTo>
                  <a:pt x="260841" y="21348"/>
                </a:lnTo>
                <a:lnTo>
                  <a:pt x="243930" y="9942"/>
                </a:lnTo>
                <a:lnTo>
                  <a:pt x="200914" y="1257"/>
                </a:lnTo>
                <a:close/>
              </a:path>
            </a:pathLst>
          </a:custGeom>
          <a:solidFill>
            <a:srgbClr val="FFB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965973" y="2725737"/>
            <a:ext cx="2656205" cy="882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Luz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670"/>
              </a:spcBef>
            </a:pP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Detectan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nivel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iluminación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del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entorno.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98453" y="4114800"/>
            <a:ext cx="301625" cy="401955"/>
          </a:xfrm>
          <a:custGeom>
            <a:avLst/>
            <a:gdLst/>
            <a:ahLst/>
            <a:cxnLst/>
            <a:rect l="l" t="t" r="r" b="b"/>
            <a:pathLst>
              <a:path w="301625" h="401954">
                <a:moveTo>
                  <a:pt x="158927" y="0"/>
                </a:moveTo>
                <a:lnTo>
                  <a:pt x="142443" y="0"/>
                </a:lnTo>
                <a:lnTo>
                  <a:pt x="135458" y="3289"/>
                </a:lnTo>
                <a:lnTo>
                  <a:pt x="111151" y="34672"/>
                </a:lnTo>
                <a:lnTo>
                  <a:pt x="84158" y="72056"/>
                </a:lnTo>
                <a:lnTo>
                  <a:pt x="54663" y="116865"/>
                </a:lnTo>
                <a:lnTo>
                  <a:pt x="27550" y="164629"/>
                </a:lnTo>
                <a:lnTo>
                  <a:pt x="7701" y="210878"/>
                </a:lnTo>
                <a:lnTo>
                  <a:pt x="0" y="251142"/>
                </a:lnTo>
                <a:lnTo>
                  <a:pt x="7685" y="298763"/>
                </a:lnTo>
                <a:lnTo>
                  <a:pt x="29084" y="340129"/>
                </a:lnTo>
                <a:lnTo>
                  <a:pt x="61708" y="372755"/>
                </a:lnTo>
                <a:lnTo>
                  <a:pt x="103071" y="394155"/>
                </a:lnTo>
                <a:lnTo>
                  <a:pt x="150685" y="401840"/>
                </a:lnTo>
                <a:lnTo>
                  <a:pt x="198306" y="394155"/>
                </a:lnTo>
                <a:lnTo>
                  <a:pt x="232009" y="376720"/>
                </a:lnTo>
                <a:lnTo>
                  <a:pt x="150685" y="376720"/>
                </a:lnTo>
                <a:lnTo>
                  <a:pt x="101794" y="366855"/>
                </a:lnTo>
                <a:lnTo>
                  <a:pt x="61879" y="339948"/>
                </a:lnTo>
                <a:lnTo>
                  <a:pt x="34972" y="300033"/>
                </a:lnTo>
                <a:lnTo>
                  <a:pt x="25107" y="251142"/>
                </a:lnTo>
                <a:lnTo>
                  <a:pt x="26007" y="240626"/>
                </a:lnTo>
                <a:lnTo>
                  <a:pt x="39484" y="198170"/>
                </a:lnTo>
                <a:lnTo>
                  <a:pt x="65684" y="147300"/>
                </a:lnTo>
                <a:lnTo>
                  <a:pt x="97528" y="96965"/>
                </a:lnTo>
                <a:lnTo>
                  <a:pt x="136599" y="42653"/>
                </a:lnTo>
                <a:lnTo>
                  <a:pt x="150215" y="25107"/>
                </a:lnTo>
                <a:lnTo>
                  <a:pt x="182872" y="25107"/>
                </a:lnTo>
                <a:lnTo>
                  <a:pt x="170624" y="9182"/>
                </a:lnTo>
                <a:lnTo>
                  <a:pt x="165912" y="3289"/>
                </a:lnTo>
                <a:lnTo>
                  <a:pt x="158927" y="0"/>
                </a:lnTo>
                <a:close/>
              </a:path>
              <a:path w="301625" h="401954">
                <a:moveTo>
                  <a:pt x="182872" y="25107"/>
                </a:moveTo>
                <a:lnTo>
                  <a:pt x="151244" y="25107"/>
                </a:lnTo>
                <a:lnTo>
                  <a:pt x="164860" y="42690"/>
                </a:lnTo>
                <a:lnTo>
                  <a:pt x="183084" y="67252"/>
                </a:lnTo>
                <a:lnTo>
                  <a:pt x="225412" y="130048"/>
                </a:lnTo>
                <a:lnTo>
                  <a:pt x="245531" y="164629"/>
                </a:lnTo>
                <a:lnTo>
                  <a:pt x="268215" y="214030"/>
                </a:lnTo>
                <a:lnTo>
                  <a:pt x="276263" y="251142"/>
                </a:lnTo>
                <a:lnTo>
                  <a:pt x="266398" y="300033"/>
                </a:lnTo>
                <a:lnTo>
                  <a:pt x="239491" y="339948"/>
                </a:lnTo>
                <a:lnTo>
                  <a:pt x="199576" y="366855"/>
                </a:lnTo>
                <a:lnTo>
                  <a:pt x="150685" y="376720"/>
                </a:lnTo>
                <a:lnTo>
                  <a:pt x="232009" y="376720"/>
                </a:lnTo>
                <a:lnTo>
                  <a:pt x="239672" y="372755"/>
                </a:lnTo>
                <a:lnTo>
                  <a:pt x="272298" y="340129"/>
                </a:lnTo>
                <a:lnTo>
                  <a:pt x="293698" y="298763"/>
                </a:lnTo>
                <a:lnTo>
                  <a:pt x="301383" y="251142"/>
                </a:lnTo>
                <a:lnTo>
                  <a:pt x="293681" y="210878"/>
                </a:lnTo>
                <a:lnTo>
                  <a:pt x="273784" y="164547"/>
                </a:lnTo>
                <a:lnTo>
                  <a:pt x="246714" y="116865"/>
                </a:lnTo>
                <a:lnTo>
                  <a:pt x="217219" y="72056"/>
                </a:lnTo>
                <a:lnTo>
                  <a:pt x="190227" y="34672"/>
                </a:lnTo>
                <a:lnTo>
                  <a:pt x="182872" y="25107"/>
                </a:lnTo>
                <a:close/>
              </a:path>
              <a:path w="301625" h="401954">
                <a:moveTo>
                  <a:pt x="82257" y="238582"/>
                </a:moveTo>
                <a:lnTo>
                  <a:pt x="68440" y="238582"/>
                </a:lnTo>
                <a:lnTo>
                  <a:pt x="62788" y="244233"/>
                </a:lnTo>
                <a:lnTo>
                  <a:pt x="62788" y="251142"/>
                </a:lnTo>
                <a:lnTo>
                  <a:pt x="69691" y="285371"/>
                </a:lnTo>
                <a:lnTo>
                  <a:pt x="88520" y="313313"/>
                </a:lnTo>
                <a:lnTo>
                  <a:pt x="116458" y="332147"/>
                </a:lnTo>
                <a:lnTo>
                  <a:pt x="150685" y="339051"/>
                </a:lnTo>
                <a:lnTo>
                  <a:pt x="157594" y="339051"/>
                </a:lnTo>
                <a:lnTo>
                  <a:pt x="163245" y="333400"/>
                </a:lnTo>
                <a:lnTo>
                  <a:pt x="163245" y="319582"/>
                </a:lnTo>
                <a:lnTo>
                  <a:pt x="157594" y="313931"/>
                </a:lnTo>
                <a:lnTo>
                  <a:pt x="150685" y="313931"/>
                </a:lnTo>
                <a:lnTo>
                  <a:pt x="126244" y="308999"/>
                </a:lnTo>
                <a:lnTo>
                  <a:pt x="106291" y="295548"/>
                </a:lnTo>
                <a:lnTo>
                  <a:pt x="92840" y="275590"/>
                </a:lnTo>
                <a:lnTo>
                  <a:pt x="87909" y="251142"/>
                </a:lnTo>
                <a:lnTo>
                  <a:pt x="87909" y="244233"/>
                </a:lnTo>
                <a:lnTo>
                  <a:pt x="82257" y="238582"/>
                </a:lnTo>
                <a:close/>
              </a:path>
            </a:pathLst>
          </a:custGeom>
          <a:solidFill>
            <a:srgbClr val="FFB2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36121" y="4649787"/>
            <a:ext cx="2687320" cy="882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 b="1">
                <a:solidFill>
                  <a:srgbClr val="F4CAB7"/>
                </a:solidFill>
                <a:latin typeface="Cambria"/>
                <a:cs typeface="Cambria"/>
              </a:rPr>
              <a:t>Humedad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670"/>
              </a:spcBef>
            </a:pP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Miden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nivel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humedad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en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 </a:t>
            </a:r>
            <a:r>
              <a:rPr dirty="0" sz="1250" spc="-42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aire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en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un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F4CAB7"/>
                </a:solidFill>
                <a:latin typeface="Verdana"/>
                <a:cs typeface="Verdana"/>
              </a:rPr>
              <a:t>material.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164030" y="4139907"/>
            <a:ext cx="38100" cy="345440"/>
          </a:xfrm>
          <a:custGeom>
            <a:avLst/>
            <a:gdLst/>
            <a:ahLst/>
            <a:cxnLst/>
            <a:rect l="l" t="t" r="r" b="b"/>
            <a:pathLst>
              <a:path w="38100" h="345439">
                <a:moveTo>
                  <a:pt x="25742" y="0"/>
                </a:moveTo>
                <a:lnTo>
                  <a:pt x="11938" y="0"/>
                </a:lnTo>
                <a:lnTo>
                  <a:pt x="6286" y="5651"/>
                </a:lnTo>
                <a:lnTo>
                  <a:pt x="6286" y="258064"/>
                </a:lnTo>
                <a:lnTo>
                  <a:pt x="11938" y="263702"/>
                </a:lnTo>
                <a:lnTo>
                  <a:pt x="25742" y="263702"/>
                </a:lnTo>
                <a:lnTo>
                  <a:pt x="31394" y="258064"/>
                </a:lnTo>
                <a:lnTo>
                  <a:pt x="31394" y="5651"/>
                </a:lnTo>
                <a:lnTo>
                  <a:pt x="25742" y="0"/>
                </a:lnTo>
                <a:close/>
              </a:path>
              <a:path w="38100" h="345439">
                <a:moveTo>
                  <a:pt x="21336" y="307657"/>
                </a:moveTo>
                <a:lnTo>
                  <a:pt x="16332" y="307657"/>
                </a:lnTo>
                <a:lnTo>
                  <a:pt x="13931" y="308140"/>
                </a:lnTo>
                <a:lnTo>
                  <a:pt x="0" y="324002"/>
                </a:lnTo>
                <a:lnTo>
                  <a:pt x="0" y="328993"/>
                </a:lnTo>
                <a:lnTo>
                  <a:pt x="16332" y="345338"/>
                </a:lnTo>
                <a:lnTo>
                  <a:pt x="21336" y="345338"/>
                </a:lnTo>
                <a:lnTo>
                  <a:pt x="37680" y="328993"/>
                </a:lnTo>
                <a:lnTo>
                  <a:pt x="37680" y="324002"/>
                </a:lnTo>
                <a:lnTo>
                  <a:pt x="21336" y="307657"/>
                </a:lnTo>
                <a:close/>
              </a:path>
            </a:pathLst>
          </a:custGeom>
          <a:solidFill>
            <a:srgbClr val="FFB29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85023" y="4730750"/>
            <a:ext cx="184150" cy="1460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965973" y="4649787"/>
            <a:ext cx="2263775" cy="882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135"/>
              </a:spcBef>
            </a:pPr>
            <a:r>
              <a:rPr dirty="0" sz="1650" spc="55" b="1">
                <a:solidFill>
                  <a:srgbClr val="F4CAB7"/>
                </a:solidFill>
                <a:latin typeface="Cambria"/>
                <a:cs typeface="Cambria"/>
              </a:rPr>
              <a:t>ovimiento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670"/>
              </a:spcBef>
            </a:pPr>
            <a:r>
              <a:rPr dirty="0" sz="1250" spc="-140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f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l 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5">
                <a:solidFill>
                  <a:srgbClr val="F4CAB7"/>
                </a:solidFill>
                <a:latin typeface="Verdana"/>
                <a:cs typeface="Verdana"/>
              </a:rPr>
              <a:t>z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-80">
                <a:solidFill>
                  <a:srgbClr val="F4CAB7"/>
                </a:solidFill>
                <a:latin typeface="Verdana"/>
                <a:cs typeface="Verdana"/>
              </a:rPr>
              <a:t>j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870" y="2178050"/>
            <a:ext cx="74631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65"/>
              <a:t>Actuadoíes</a:t>
            </a:r>
            <a:r>
              <a:rPr dirty="0" spc="-70"/>
              <a:t> </a:t>
            </a:r>
            <a:r>
              <a:rPr dirty="0" spc="35"/>
              <a:t>y</a:t>
            </a:r>
            <a:r>
              <a:rPr dirty="0" spc="-65"/>
              <a:t> </a:t>
            </a:r>
            <a:r>
              <a:rPr dirty="0" spc="65"/>
              <a:t>dispositivos</a:t>
            </a:r>
            <a:r>
              <a:rPr dirty="0" spc="-65"/>
              <a:t> </a:t>
            </a:r>
            <a:r>
              <a:rPr dirty="0" spc="95"/>
              <a:t>de</a:t>
            </a:r>
            <a:r>
              <a:rPr dirty="0" spc="-65"/>
              <a:t> </a:t>
            </a:r>
            <a:r>
              <a:rPr dirty="0" spc="170"/>
              <a:t>contíol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920" y="3197225"/>
            <a:ext cx="184150" cy="1460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9870" y="3116262"/>
            <a:ext cx="2908300" cy="939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135"/>
              </a:spcBef>
            </a:pPr>
            <a:r>
              <a:rPr dirty="0" sz="1650" spc="90" b="1">
                <a:solidFill>
                  <a:srgbClr val="FFB292"/>
                </a:solidFill>
                <a:latin typeface="Cambria"/>
                <a:cs typeface="Cambria"/>
              </a:rPr>
              <a:t>otoíes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Controlan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movimiento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4CAB7"/>
                </a:solidFill>
                <a:latin typeface="Verdana"/>
                <a:cs typeface="Verdana"/>
              </a:rPr>
              <a:t>robots,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h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í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4578" y="3116262"/>
            <a:ext cx="3128010" cy="939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5" b="1">
                <a:solidFill>
                  <a:srgbClr val="FFB292"/>
                </a:solidFill>
                <a:latin typeface="Cambria"/>
                <a:cs typeface="Cambria"/>
              </a:rPr>
              <a:t>Relés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13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60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60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s 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eléctricos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manera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remota.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9273" y="3116262"/>
            <a:ext cx="2844165" cy="939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5" b="1">
                <a:solidFill>
                  <a:srgbClr val="FFB292"/>
                </a:solidFill>
                <a:latin typeface="Cambria"/>
                <a:cs typeface="Cambria"/>
              </a:rPr>
              <a:t>Displays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Muestran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información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visual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como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50">
                <a:solidFill>
                  <a:srgbClr val="F4CAB7"/>
                </a:solidFill>
                <a:latin typeface="Verdana"/>
                <a:cs typeface="Verdana"/>
              </a:rPr>
              <a:t>x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,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á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f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9870" y="568325"/>
            <a:ext cx="553339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45"/>
              <a:t>Comunicación</a:t>
            </a:r>
            <a:r>
              <a:rPr dirty="0" spc="-80"/>
              <a:t> </a:t>
            </a:r>
            <a:r>
              <a:rPr dirty="0" spc="105"/>
              <a:t>seíie:</a:t>
            </a:r>
            <a:r>
              <a:rPr dirty="0" spc="-80"/>
              <a:t> </a:t>
            </a:r>
            <a:r>
              <a:rPr dirty="0" spc="10"/>
              <a:t>UART, </a:t>
            </a:r>
            <a:r>
              <a:rPr dirty="0" spc="-725"/>
              <a:t> </a:t>
            </a:r>
            <a:r>
              <a:rPr dirty="0" spc="100"/>
              <a:t>I2C,</a:t>
            </a:r>
            <a:r>
              <a:rPr dirty="0" spc="-70"/>
              <a:t> </a:t>
            </a:r>
            <a:r>
              <a:rPr dirty="0" spc="150"/>
              <a:t>SPI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19273" y="1914524"/>
            <a:ext cx="904875" cy="3924300"/>
            <a:chOff x="619273" y="1914524"/>
            <a:chExt cx="904875" cy="3924300"/>
          </a:xfrm>
        </p:grpSpPr>
        <p:sp>
          <p:nvSpPr>
            <p:cNvPr id="7" name="object 7"/>
            <p:cNvSpPr/>
            <p:nvPr/>
          </p:nvSpPr>
          <p:spPr>
            <a:xfrm>
              <a:off x="790575" y="1914524"/>
              <a:ext cx="734060" cy="3924300"/>
            </a:xfrm>
            <a:custGeom>
              <a:avLst/>
              <a:gdLst/>
              <a:ahLst/>
              <a:cxnLst/>
              <a:rect l="l" t="t" r="r" b="b"/>
              <a:pathLst>
                <a:path w="734060" h="392430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3914787"/>
                  </a:lnTo>
                  <a:lnTo>
                    <a:pt x="0" y="3917416"/>
                  </a:lnTo>
                  <a:lnTo>
                    <a:pt x="927" y="3919651"/>
                  </a:lnTo>
                  <a:lnTo>
                    <a:pt x="4648" y="3923373"/>
                  </a:lnTo>
                  <a:lnTo>
                    <a:pt x="6883" y="3924300"/>
                  </a:lnTo>
                  <a:lnTo>
                    <a:pt x="12153" y="3924300"/>
                  </a:lnTo>
                  <a:lnTo>
                    <a:pt x="14401" y="3923373"/>
                  </a:lnTo>
                  <a:lnTo>
                    <a:pt x="18122" y="3919651"/>
                  </a:lnTo>
                  <a:lnTo>
                    <a:pt x="19050" y="3917416"/>
                  </a:lnTo>
                  <a:lnTo>
                    <a:pt x="19050" y="6896"/>
                  </a:lnTo>
                  <a:close/>
                </a:path>
                <a:path w="734060" h="3924300">
                  <a:moveTo>
                    <a:pt x="733564" y="359321"/>
                  </a:moveTo>
                  <a:lnTo>
                    <a:pt x="732650" y="357073"/>
                  </a:lnTo>
                  <a:lnTo>
                    <a:pt x="728929" y="353352"/>
                  </a:lnTo>
                  <a:lnTo>
                    <a:pt x="726681" y="352425"/>
                  </a:lnTo>
                  <a:lnTo>
                    <a:pt x="178485" y="352425"/>
                  </a:lnTo>
                  <a:lnTo>
                    <a:pt x="176237" y="353352"/>
                  </a:lnTo>
                  <a:lnTo>
                    <a:pt x="172516" y="357073"/>
                  </a:lnTo>
                  <a:lnTo>
                    <a:pt x="171589" y="359321"/>
                  </a:lnTo>
                  <a:lnTo>
                    <a:pt x="171589" y="361950"/>
                  </a:lnTo>
                  <a:lnTo>
                    <a:pt x="171589" y="364578"/>
                  </a:lnTo>
                  <a:lnTo>
                    <a:pt x="172516" y="366826"/>
                  </a:lnTo>
                  <a:lnTo>
                    <a:pt x="176237" y="370547"/>
                  </a:lnTo>
                  <a:lnTo>
                    <a:pt x="178485" y="371475"/>
                  </a:lnTo>
                  <a:lnTo>
                    <a:pt x="726681" y="371475"/>
                  </a:lnTo>
                  <a:lnTo>
                    <a:pt x="728929" y="370547"/>
                  </a:lnTo>
                  <a:lnTo>
                    <a:pt x="732650" y="366826"/>
                  </a:lnTo>
                  <a:lnTo>
                    <a:pt x="733564" y="364578"/>
                  </a:lnTo>
                  <a:lnTo>
                    <a:pt x="733564" y="359321"/>
                  </a:lnTo>
                  <a:close/>
                </a:path>
              </a:pathLst>
            </a:custGeom>
            <a:solidFill>
              <a:srgbClr val="652E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19273" y="209549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44523" y="0"/>
                  </a:moveTo>
                  <a:lnTo>
                    <a:pt x="17428" y="0"/>
                  </a:lnTo>
                  <a:lnTo>
                    <a:pt x="14862" y="508"/>
                  </a:lnTo>
                  <a:lnTo>
                    <a:pt x="0" y="17424"/>
                  </a:lnTo>
                  <a:lnTo>
                    <a:pt x="0" y="341858"/>
                  </a:lnTo>
                  <a:lnTo>
                    <a:pt x="0" y="344525"/>
                  </a:lnTo>
                  <a:lnTo>
                    <a:pt x="17428" y="361950"/>
                  </a:lnTo>
                  <a:lnTo>
                    <a:pt x="344523" y="361950"/>
                  </a:lnTo>
                  <a:lnTo>
                    <a:pt x="361950" y="344525"/>
                  </a:lnTo>
                  <a:lnTo>
                    <a:pt x="361950" y="17424"/>
                  </a:lnTo>
                  <a:lnTo>
                    <a:pt x="347087" y="508"/>
                  </a:lnTo>
                  <a:lnTo>
                    <a:pt x="344523" y="0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26678" y="2092325"/>
            <a:ext cx="1543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75" b="1">
                <a:solidFill>
                  <a:srgbClr val="F4CAB7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5011" y="2049462"/>
            <a:ext cx="4476115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UART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130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ó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í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80">
                <a:solidFill>
                  <a:srgbClr val="F4CAB7"/>
                </a:solidFill>
                <a:latin typeface="Verdana"/>
                <a:cs typeface="Verdana"/>
              </a:rPr>
              <a:t>j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o  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costo.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9273" y="3457575"/>
            <a:ext cx="904875" cy="361950"/>
            <a:chOff x="619273" y="3457575"/>
            <a:chExt cx="904875" cy="361950"/>
          </a:xfrm>
        </p:grpSpPr>
        <p:sp>
          <p:nvSpPr>
            <p:cNvPr id="12" name="object 12"/>
            <p:cNvSpPr/>
            <p:nvPr/>
          </p:nvSpPr>
          <p:spPr>
            <a:xfrm>
              <a:off x="962173" y="3629025"/>
              <a:ext cx="561975" cy="19050"/>
            </a:xfrm>
            <a:custGeom>
              <a:avLst/>
              <a:gdLst/>
              <a:ahLst/>
              <a:cxnLst/>
              <a:rect l="l" t="t" r="r" b="b"/>
              <a:pathLst>
                <a:path w="561975" h="19050">
                  <a:moveTo>
                    <a:pt x="555082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8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8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55082" y="19050"/>
                  </a:lnTo>
                  <a:lnTo>
                    <a:pt x="557330" y="18122"/>
                  </a:lnTo>
                  <a:lnTo>
                    <a:pt x="561051" y="14401"/>
                  </a:lnTo>
                  <a:lnTo>
                    <a:pt x="561978" y="12153"/>
                  </a:lnTo>
                  <a:lnTo>
                    <a:pt x="561978" y="6896"/>
                  </a:lnTo>
                  <a:lnTo>
                    <a:pt x="561051" y="4648"/>
                  </a:lnTo>
                  <a:lnTo>
                    <a:pt x="557330" y="927"/>
                  </a:lnTo>
                  <a:lnTo>
                    <a:pt x="555082" y="0"/>
                  </a:lnTo>
                  <a:close/>
                </a:path>
              </a:pathLst>
            </a:custGeom>
            <a:solidFill>
              <a:srgbClr val="652E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9273" y="345757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44523" y="0"/>
                  </a:moveTo>
                  <a:lnTo>
                    <a:pt x="17428" y="0"/>
                  </a:lnTo>
                  <a:lnTo>
                    <a:pt x="14862" y="508"/>
                  </a:lnTo>
                  <a:lnTo>
                    <a:pt x="0" y="17424"/>
                  </a:lnTo>
                  <a:lnTo>
                    <a:pt x="0" y="341858"/>
                  </a:lnTo>
                  <a:lnTo>
                    <a:pt x="0" y="344525"/>
                  </a:lnTo>
                  <a:lnTo>
                    <a:pt x="17428" y="361950"/>
                  </a:lnTo>
                  <a:lnTo>
                    <a:pt x="344523" y="361950"/>
                  </a:lnTo>
                  <a:lnTo>
                    <a:pt x="361950" y="344525"/>
                  </a:lnTo>
                  <a:lnTo>
                    <a:pt x="361950" y="17424"/>
                  </a:lnTo>
                  <a:lnTo>
                    <a:pt x="347087" y="508"/>
                  </a:lnTo>
                  <a:lnTo>
                    <a:pt x="344523" y="0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17599" y="344487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5" b="1">
                <a:solidFill>
                  <a:srgbClr val="F4CAB7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75010" y="3411537"/>
            <a:ext cx="4853940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 b="1">
                <a:solidFill>
                  <a:srgbClr val="F4CAB7"/>
                </a:solidFill>
                <a:latin typeface="Cambria"/>
                <a:cs typeface="Cambria"/>
              </a:rPr>
              <a:t>I2C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Protocolo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comunicación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síncrono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multipunto,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ideal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para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9273" y="4819650"/>
            <a:ext cx="904875" cy="361950"/>
            <a:chOff x="619273" y="4819650"/>
            <a:chExt cx="904875" cy="361950"/>
          </a:xfrm>
        </p:grpSpPr>
        <p:sp>
          <p:nvSpPr>
            <p:cNvPr id="17" name="object 17"/>
            <p:cNvSpPr/>
            <p:nvPr/>
          </p:nvSpPr>
          <p:spPr>
            <a:xfrm>
              <a:off x="962173" y="4991100"/>
              <a:ext cx="561975" cy="19050"/>
            </a:xfrm>
            <a:custGeom>
              <a:avLst/>
              <a:gdLst/>
              <a:ahLst/>
              <a:cxnLst/>
              <a:rect l="l" t="t" r="r" b="b"/>
              <a:pathLst>
                <a:path w="561975" h="19050">
                  <a:moveTo>
                    <a:pt x="555082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8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8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55082" y="19050"/>
                  </a:lnTo>
                  <a:lnTo>
                    <a:pt x="557330" y="18122"/>
                  </a:lnTo>
                  <a:lnTo>
                    <a:pt x="561051" y="14401"/>
                  </a:lnTo>
                  <a:lnTo>
                    <a:pt x="561978" y="12153"/>
                  </a:lnTo>
                  <a:lnTo>
                    <a:pt x="561978" y="6896"/>
                  </a:lnTo>
                  <a:lnTo>
                    <a:pt x="561051" y="4648"/>
                  </a:lnTo>
                  <a:lnTo>
                    <a:pt x="557330" y="927"/>
                  </a:lnTo>
                  <a:lnTo>
                    <a:pt x="555082" y="0"/>
                  </a:lnTo>
                  <a:close/>
                </a:path>
              </a:pathLst>
            </a:custGeom>
            <a:solidFill>
              <a:srgbClr val="652E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19273" y="48196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44523" y="0"/>
                  </a:moveTo>
                  <a:lnTo>
                    <a:pt x="17428" y="0"/>
                  </a:lnTo>
                  <a:lnTo>
                    <a:pt x="14862" y="508"/>
                  </a:lnTo>
                  <a:lnTo>
                    <a:pt x="0" y="17424"/>
                  </a:lnTo>
                  <a:lnTo>
                    <a:pt x="0" y="341858"/>
                  </a:lnTo>
                  <a:lnTo>
                    <a:pt x="0" y="344525"/>
                  </a:lnTo>
                  <a:lnTo>
                    <a:pt x="17428" y="361951"/>
                  </a:lnTo>
                  <a:lnTo>
                    <a:pt x="344523" y="361951"/>
                  </a:lnTo>
                  <a:lnTo>
                    <a:pt x="361950" y="344525"/>
                  </a:lnTo>
                  <a:lnTo>
                    <a:pt x="361950" y="17424"/>
                  </a:lnTo>
                  <a:lnTo>
                    <a:pt x="347087" y="508"/>
                  </a:lnTo>
                  <a:lnTo>
                    <a:pt x="344523" y="0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12391" y="4806950"/>
            <a:ext cx="1828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50" b="1">
                <a:solidFill>
                  <a:srgbClr val="F4CAB7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5011" y="4773612"/>
            <a:ext cx="4471670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 b="1">
                <a:solidFill>
                  <a:srgbClr val="F4CAB7"/>
                </a:solidFill>
                <a:latin typeface="Cambria"/>
                <a:cs typeface="Cambria"/>
              </a:rPr>
              <a:t>SPI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Protocolo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comunicación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síncrono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alta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velocidad,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utilizado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en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memorias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F4CAB7"/>
                </a:solidFill>
                <a:latin typeface="Verdana"/>
                <a:cs typeface="Verdana"/>
              </a:rPr>
              <a:t>pantallas.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61521" y="1825625"/>
            <a:ext cx="368300" cy="2889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36121" y="1673225"/>
            <a:ext cx="590042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 indent="391795">
              <a:lnSpc>
                <a:spcPts val="4200"/>
              </a:lnSpc>
              <a:spcBef>
                <a:spcPts val="50"/>
              </a:spcBef>
            </a:pPr>
            <a:r>
              <a:rPr dirty="0" spc="180"/>
              <a:t>emoíia</a:t>
            </a:r>
            <a:r>
              <a:rPr dirty="0" spc="-95"/>
              <a:t> </a:t>
            </a:r>
            <a:r>
              <a:rPr dirty="0" spc="35"/>
              <a:t>y</a:t>
            </a:r>
            <a:r>
              <a:rPr dirty="0" spc="-95"/>
              <a:t> </a:t>
            </a:r>
            <a:r>
              <a:rPr dirty="0" spc="110"/>
              <a:t>almacenamiento: </a:t>
            </a:r>
            <a:r>
              <a:rPr dirty="0" spc="-720"/>
              <a:t> </a:t>
            </a:r>
            <a:r>
              <a:rPr dirty="0" spc="170"/>
              <a:t>taíjetas</a:t>
            </a:r>
            <a:r>
              <a:rPr dirty="0" spc="-70"/>
              <a:t> </a:t>
            </a:r>
            <a:r>
              <a:rPr dirty="0" spc="175"/>
              <a:t>SD,</a:t>
            </a:r>
            <a:r>
              <a:rPr dirty="0" spc="-65"/>
              <a:t> </a:t>
            </a:r>
            <a:r>
              <a:rPr dirty="0" spc="165"/>
              <a:t>EEPRO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59011" y="2359025"/>
            <a:ext cx="368300" cy="28892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848225" y="3019424"/>
            <a:ext cx="2933700" cy="1714500"/>
          </a:xfrm>
          <a:custGeom>
            <a:avLst/>
            <a:gdLst/>
            <a:ahLst/>
            <a:cxnLst/>
            <a:rect l="l" t="t" r="r" b="b"/>
            <a:pathLst>
              <a:path w="2933700" h="1714500">
                <a:moveTo>
                  <a:pt x="2916275" y="0"/>
                </a:moveTo>
                <a:lnTo>
                  <a:pt x="17424" y="0"/>
                </a:lnTo>
                <a:lnTo>
                  <a:pt x="14859" y="508"/>
                </a:lnTo>
                <a:lnTo>
                  <a:pt x="0" y="17424"/>
                </a:lnTo>
                <a:lnTo>
                  <a:pt x="0" y="1694408"/>
                </a:lnTo>
                <a:lnTo>
                  <a:pt x="0" y="1697075"/>
                </a:lnTo>
                <a:lnTo>
                  <a:pt x="17424" y="1714500"/>
                </a:lnTo>
                <a:lnTo>
                  <a:pt x="2916275" y="1714500"/>
                </a:lnTo>
                <a:lnTo>
                  <a:pt x="2933700" y="1697075"/>
                </a:lnTo>
                <a:lnTo>
                  <a:pt x="2933700" y="17424"/>
                </a:lnTo>
                <a:lnTo>
                  <a:pt x="2918828" y="508"/>
                </a:lnTo>
                <a:lnTo>
                  <a:pt x="2916275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996853" y="3154362"/>
            <a:ext cx="2229485" cy="1129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 b="1">
                <a:solidFill>
                  <a:srgbClr val="F4CAB7"/>
                </a:solidFill>
                <a:latin typeface="Cambria"/>
                <a:cs typeface="Cambria"/>
              </a:rPr>
              <a:t>Taíjetas</a:t>
            </a:r>
            <a:r>
              <a:rPr dirty="0" sz="1650" spc="-6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145" b="1">
                <a:solidFill>
                  <a:srgbClr val="F4CAB7"/>
                </a:solidFill>
                <a:latin typeface="Cambria"/>
                <a:cs typeface="Cambria"/>
              </a:rPr>
              <a:t>SD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13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65">
                <a:solidFill>
                  <a:srgbClr val="F4CAB7"/>
                </a:solidFill>
                <a:latin typeface="Verdana"/>
                <a:cs typeface="Verdana"/>
              </a:rPr>
              <a:t>, 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  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50">
                <a:solidFill>
                  <a:srgbClr val="F4CAB7"/>
                </a:solidFill>
                <a:latin typeface="Verdana"/>
                <a:cs typeface="Verdana"/>
              </a:rPr>
              <a:t>x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í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á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il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34325" y="3019424"/>
            <a:ext cx="2933700" cy="1714500"/>
            <a:chOff x="7934325" y="3019424"/>
            <a:chExt cx="2933700" cy="1714500"/>
          </a:xfrm>
        </p:grpSpPr>
        <p:sp>
          <p:nvSpPr>
            <p:cNvPr id="9" name="object 9"/>
            <p:cNvSpPr/>
            <p:nvPr/>
          </p:nvSpPr>
          <p:spPr>
            <a:xfrm>
              <a:off x="7934325" y="3019424"/>
              <a:ext cx="2933700" cy="1714500"/>
            </a:xfrm>
            <a:custGeom>
              <a:avLst/>
              <a:gdLst/>
              <a:ahLst/>
              <a:cxnLst/>
              <a:rect l="l" t="t" r="r" b="b"/>
              <a:pathLst>
                <a:path w="2933700" h="1714500">
                  <a:moveTo>
                    <a:pt x="2916275" y="0"/>
                  </a:moveTo>
                  <a:lnTo>
                    <a:pt x="17424" y="0"/>
                  </a:lnTo>
                  <a:lnTo>
                    <a:pt x="14859" y="508"/>
                  </a:lnTo>
                  <a:lnTo>
                    <a:pt x="0" y="17424"/>
                  </a:lnTo>
                  <a:lnTo>
                    <a:pt x="0" y="1694408"/>
                  </a:lnTo>
                  <a:lnTo>
                    <a:pt x="0" y="1697075"/>
                  </a:lnTo>
                  <a:lnTo>
                    <a:pt x="17424" y="1714500"/>
                  </a:lnTo>
                  <a:lnTo>
                    <a:pt x="2916275" y="1714500"/>
                  </a:lnTo>
                  <a:lnTo>
                    <a:pt x="2933700" y="1697075"/>
                  </a:lnTo>
                  <a:lnTo>
                    <a:pt x="2933700" y="17424"/>
                  </a:lnTo>
                  <a:lnTo>
                    <a:pt x="2918828" y="508"/>
                  </a:lnTo>
                  <a:lnTo>
                    <a:pt x="2916275" y="0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13017" y="3235324"/>
              <a:ext cx="184150" cy="14605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086521" y="3154362"/>
            <a:ext cx="2578735" cy="13868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F4CAB7"/>
                </a:solidFill>
                <a:latin typeface="Cambria"/>
                <a:cs typeface="Cambria"/>
              </a:rPr>
              <a:t>EEPRO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Memorias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solo lectura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é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 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,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 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configuraciones.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870" y="2044700"/>
            <a:ext cx="558101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85"/>
              <a:t>Inteífaz</a:t>
            </a:r>
            <a:r>
              <a:rPr dirty="0" spc="-70"/>
              <a:t> </a:t>
            </a:r>
            <a:r>
              <a:rPr dirty="0" spc="190"/>
              <a:t>gíáfica</a:t>
            </a:r>
            <a:r>
              <a:rPr dirty="0" spc="-70"/>
              <a:t> </a:t>
            </a:r>
            <a:r>
              <a:rPr dirty="0" spc="35"/>
              <a:t>y</a:t>
            </a:r>
            <a:r>
              <a:rPr dirty="0" spc="-70"/>
              <a:t> </a:t>
            </a:r>
            <a:r>
              <a:rPr dirty="0" spc="105"/>
              <a:t>pantallas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9870" y="2992437"/>
            <a:ext cx="3166745" cy="939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 b="1">
                <a:solidFill>
                  <a:srgbClr val="FFB292"/>
                </a:solidFill>
                <a:latin typeface="Cambria"/>
                <a:cs typeface="Cambria"/>
              </a:rPr>
              <a:t>Pantallas</a:t>
            </a:r>
            <a:r>
              <a:rPr dirty="0" sz="1650" spc="-60" b="1">
                <a:solidFill>
                  <a:srgbClr val="FFB292"/>
                </a:solidFill>
                <a:latin typeface="Cambria"/>
                <a:cs typeface="Cambria"/>
              </a:rPr>
              <a:t> </a:t>
            </a:r>
            <a:r>
              <a:rPr dirty="0" sz="1650" spc="130" b="1">
                <a:solidFill>
                  <a:srgbClr val="FFB292"/>
                </a:solidFill>
                <a:latin typeface="Cambria"/>
                <a:cs typeface="Cambria"/>
              </a:rPr>
              <a:t>LCD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Muestran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información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textual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gráfica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manera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sencilla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económica.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4578" y="2992437"/>
            <a:ext cx="2593975" cy="11963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 b="1">
                <a:solidFill>
                  <a:srgbClr val="FFB292"/>
                </a:solidFill>
                <a:latin typeface="Cambria"/>
                <a:cs typeface="Cambria"/>
              </a:rPr>
              <a:t>Pantallas</a:t>
            </a:r>
            <a:r>
              <a:rPr dirty="0" sz="1650" spc="-55" b="1">
                <a:solidFill>
                  <a:srgbClr val="FFB292"/>
                </a:solidFill>
                <a:latin typeface="Cambria"/>
                <a:cs typeface="Cambria"/>
              </a:rPr>
              <a:t> </a:t>
            </a:r>
            <a:r>
              <a:rPr dirty="0" sz="1650" spc="100" b="1">
                <a:solidFill>
                  <a:srgbClr val="FFB292"/>
                </a:solidFill>
                <a:latin typeface="Cambria"/>
                <a:cs typeface="Cambria"/>
              </a:rPr>
              <a:t>OLED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Ofrecen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una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calidad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imagen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80">
                <a:solidFill>
                  <a:srgbClr val="F4CAB7"/>
                </a:solidFill>
                <a:latin typeface="Verdana"/>
                <a:cs typeface="Verdana"/>
              </a:rPr>
              <a:t>j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 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energía.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99273" y="2992437"/>
            <a:ext cx="3118485" cy="939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 b="1">
                <a:solidFill>
                  <a:srgbClr val="FFB292"/>
                </a:solidFill>
                <a:latin typeface="Cambria"/>
                <a:cs typeface="Cambria"/>
              </a:rPr>
              <a:t>Pantallas</a:t>
            </a:r>
            <a:r>
              <a:rPr dirty="0" sz="1650" spc="-65" b="1">
                <a:solidFill>
                  <a:srgbClr val="FFB292"/>
                </a:solidFill>
                <a:latin typeface="Cambria"/>
                <a:cs typeface="Cambria"/>
              </a:rPr>
              <a:t> </a:t>
            </a:r>
            <a:r>
              <a:rPr dirty="0" sz="1650" spc="45" b="1">
                <a:solidFill>
                  <a:srgbClr val="FFB292"/>
                </a:solidFill>
                <a:latin typeface="Cambria"/>
                <a:cs typeface="Cambria"/>
              </a:rPr>
              <a:t>Táctiles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Permiten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la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interacción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del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usuario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4CAB7"/>
                </a:solidFill>
                <a:latin typeface="Verdana"/>
                <a:cs typeface="Verdana"/>
              </a:rPr>
              <a:t>f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60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6121" y="1806575"/>
            <a:ext cx="446278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95"/>
              <a:t>Audio</a:t>
            </a:r>
            <a:r>
              <a:rPr dirty="0" spc="-110"/>
              <a:t> </a:t>
            </a:r>
            <a:r>
              <a:rPr dirty="0" spc="35"/>
              <a:t>y</a:t>
            </a:r>
            <a:r>
              <a:rPr dirty="0" spc="-110"/>
              <a:t> </a:t>
            </a:r>
            <a:r>
              <a:rPr dirty="0" spc="185"/>
              <a:t>íepíoducción </a:t>
            </a:r>
            <a:r>
              <a:rPr dirty="0" spc="-725"/>
              <a:t> </a:t>
            </a:r>
            <a:r>
              <a:rPr dirty="0" spc="120"/>
              <a:t>multimedia</a:t>
            </a:r>
          </a:p>
        </p:txBody>
      </p:sp>
      <p:sp>
        <p:nvSpPr>
          <p:cNvPr id="4" name="object 4"/>
          <p:cNvSpPr/>
          <p:nvPr/>
        </p:nvSpPr>
        <p:spPr>
          <a:xfrm>
            <a:off x="4848225" y="3143249"/>
            <a:ext cx="2933700" cy="1457325"/>
          </a:xfrm>
          <a:custGeom>
            <a:avLst/>
            <a:gdLst/>
            <a:ahLst/>
            <a:cxnLst/>
            <a:rect l="l" t="t" r="r" b="b"/>
            <a:pathLst>
              <a:path w="2933700" h="1457325">
                <a:moveTo>
                  <a:pt x="2916275" y="0"/>
                </a:moveTo>
                <a:lnTo>
                  <a:pt x="17424" y="0"/>
                </a:lnTo>
                <a:lnTo>
                  <a:pt x="14859" y="508"/>
                </a:lnTo>
                <a:lnTo>
                  <a:pt x="0" y="17424"/>
                </a:lnTo>
                <a:lnTo>
                  <a:pt x="0" y="1437233"/>
                </a:lnTo>
                <a:lnTo>
                  <a:pt x="0" y="1439900"/>
                </a:lnTo>
                <a:lnTo>
                  <a:pt x="17424" y="1457325"/>
                </a:lnTo>
                <a:lnTo>
                  <a:pt x="2916275" y="1457325"/>
                </a:lnTo>
                <a:lnTo>
                  <a:pt x="2933700" y="1439900"/>
                </a:lnTo>
                <a:lnTo>
                  <a:pt x="2933700" y="17424"/>
                </a:lnTo>
                <a:lnTo>
                  <a:pt x="2918828" y="508"/>
                </a:lnTo>
                <a:lnTo>
                  <a:pt x="2916275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96853" y="3278187"/>
            <a:ext cx="2359660" cy="11391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5" b="1">
                <a:solidFill>
                  <a:srgbClr val="F4CAB7"/>
                </a:solidFill>
                <a:latin typeface="Cambria"/>
                <a:cs typeface="Cambria"/>
              </a:rPr>
              <a:t>Altavoces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5000"/>
              </a:lnSpc>
              <a:spcBef>
                <a:spcPts val="670"/>
              </a:spcBef>
            </a:pPr>
            <a:r>
              <a:rPr dirty="0" sz="1250" spc="13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ó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  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,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ú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">
                <a:solidFill>
                  <a:srgbClr val="F4CAB7"/>
                </a:solidFill>
                <a:latin typeface="Verdana"/>
                <a:cs typeface="Verdana"/>
              </a:rPr>
              <a:t>f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 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audio.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934325" y="3143249"/>
            <a:ext cx="2933700" cy="1457325"/>
            <a:chOff x="7934325" y="3143249"/>
            <a:chExt cx="2933700" cy="1457325"/>
          </a:xfrm>
        </p:grpSpPr>
        <p:sp>
          <p:nvSpPr>
            <p:cNvPr id="7" name="object 7"/>
            <p:cNvSpPr/>
            <p:nvPr/>
          </p:nvSpPr>
          <p:spPr>
            <a:xfrm>
              <a:off x="7934325" y="3143249"/>
              <a:ext cx="2933700" cy="1457325"/>
            </a:xfrm>
            <a:custGeom>
              <a:avLst/>
              <a:gdLst/>
              <a:ahLst/>
              <a:cxnLst/>
              <a:rect l="l" t="t" r="r" b="b"/>
              <a:pathLst>
                <a:path w="2933700" h="1457325">
                  <a:moveTo>
                    <a:pt x="2916275" y="0"/>
                  </a:moveTo>
                  <a:lnTo>
                    <a:pt x="17424" y="0"/>
                  </a:lnTo>
                  <a:lnTo>
                    <a:pt x="14859" y="508"/>
                  </a:lnTo>
                  <a:lnTo>
                    <a:pt x="0" y="17424"/>
                  </a:lnTo>
                  <a:lnTo>
                    <a:pt x="0" y="1437233"/>
                  </a:lnTo>
                  <a:lnTo>
                    <a:pt x="0" y="1439900"/>
                  </a:lnTo>
                  <a:lnTo>
                    <a:pt x="17424" y="1457325"/>
                  </a:lnTo>
                  <a:lnTo>
                    <a:pt x="2916275" y="1457325"/>
                  </a:lnTo>
                  <a:lnTo>
                    <a:pt x="2933700" y="1439900"/>
                  </a:lnTo>
                  <a:lnTo>
                    <a:pt x="2933700" y="17424"/>
                  </a:lnTo>
                  <a:lnTo>
                    <a:pt x="2918828" y="508"/>
                  </a:lnTo>
                  <a:lnTo>
                    <a:pt x="2916275" y="0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5571" y="3359149"/>
              <a:ext cx="184150" cy="14605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086521" y="3278187"/>
            <a:ext cx="2588260" cy="11391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135"/>
              </a:spcBef>
            </a:pP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icíófonos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5000"/>
              </a:lnSpc>
              <a:spcBef>
                <a:spcPts val="670"/>
              </a:spcBef>
            </a:pP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Capturan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audio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para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grabación, </a:t>
            </a:r>
            <a:r>
              <a:rPr dirty="0" sz="1250" spc="-43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control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4CAB7"/>
                </a:solidFill>
                <a:latin typeface="Verdana"/>
                <a:cs typeface="Verdana"/>
              </a:rPr>
              <a:t>voz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interacción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por </a:t>
            </a:r>
            <a:r>
              <a:rPr dirty="0" sz="1250" spc="-43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sonido.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36121" y="606425"/>
            <a:ext cx="565594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135"/>
              <a:t>Píocesamiento</a:t>
            </a:r>
            <a:r>
              <a:rPr dirty="0" spc="-80"/>
              <a:t> </a:t>
            </a:r>
            <a:r>
              <a:rPr dirty="0" spc="95"/>
              <a:t>de</a:t>
            </a:r>
            <a:r>
              <a:rPr dirty="0" spc="-75"/>
              <a:t> </a:t>
            </a:r>
            <a:r>
              <a:rPr dirty="0" spc="80"/>
              <a:t>señales</a:t>
            </a:r>
            <a:r>
              <a:rPr dirty="0" spc="-75"/>
              <a:t> </a:t>
            </a:r>
            <a:r>
              <a:rPr dirty="0" spc="35"/>
              <a:t>y </a:t>
            </a:r>
            <a:r>
              <a:rPr dirty="0" spc="-720"/>
              <a:t> </a:t>
            </a:r>
            <a:r>
              <a:rPr dirty="0" spc="140"/>
              <a:t>apíendizaje</a:t>
            </a:r>
            <a:r>
              <a:rPr dirty="0" spc="-70"/>
              <a:t> </a:t>
            </a:r>
            <a:r>
              <a:rPr dirty="0" spc="130"/>
              <a:t>automático</a:t>
            </a:r>
          </a:p>
        </p:txBody>
      </p:sp>
      <p:sp>
        <p:nvSpPr>
          <p:cNvPr id="4" name="object 4"/>
          <p:cNvSpPr/>
          <p:nvPr/>
        </p:nvSpPr>
        <p:spPr>
          <a:xfrm>
            <a:off x="4848225" y="1943099"/>
            <a:ext cx="803910" cy="1285875"/>
          </a:xfrm>
          <a:custGeom>
            <a:avLst/>
            <a:gdLst/>
            <a:ahLst/>
            <a:cxnLst/>
            <a:rect l="l" t="t" r="r" b="b"/>
            <a:pathLst>
              <a:path w="803910" h="1285875">
                <a:moveTo>
                  <a:pt x="803668" y="0"/>
                </a:moveTo>
                <a:lnTo>
                  <a:pt x="401840" y="160731"/>
                </a:lnTo>
                <a:lnTo>
                  <a:pt x="0" y="0"/>
                </a:lnTo>
                <a:lnTo>
                  <a:pt x="0" y="1125143"/>
                </a:lnTo>
                <a:lnTo>
                  <a:pt x="401840" y="1285875"/>
                </a:lnTo>
                <a:lnTo>
                  <a:pt x="803668" y="1125143"/>
                </a:lnTo>
                <a:lnTo>
                  <a:pt x="803668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77675" y="2413222"/>
            <a:ext cx="14605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80" b="1">
                <a:solidFill>
                  <a:srgbClr val="F4CAB7"/>
                </a:solidFill>
                <a:latin typeface="Cambria"/>
                <a:cs typeface="Cambria"/>
              </a:rPr>
              <a:t>1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0888" y="2078037"/>
            <a:ext cx="3627120" cy="6248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 b="1">
                <a:solidFill>
                  <a:srgbClr val="F4CAB7"/>
                </a:solidFill>
                <a:latin typeface="Cambria"/>
                <a:cs typeface="Cambria"/>
              </a:rPr>
              <a:t>Adquisición</a:t>
            </a:r>
            <a:r>
              <a:rPr dirty="0" sz="1650" spc="-5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de</a:t>
            </a:r>
            <a:r>
              <a:rPr dirty="0" sz="1650" spc="-5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70" b="1">
                <a:solidFill>
                  <a:srgbClr val="F4CAB7"/>
                </a:solidFill>
                <a:latin typeface="Cambria"/>
                <a:cs typeface="Cambria"/>
              </a:rPr>
              <a:t>datos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Recolección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señales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través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sensores.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48225" y="3228974"/>
            <a:ext cx="803910" cy="1285875"/>
          </a:xfrm>
          <a:custGeom>
            <a:avLst/>
            <a:gdLst/>
            <a:ahLst/>
            <a:cxnLst/>
            <a:rect l="l" t="t" r="r" b="b"/>
            <a:pathLst>
              <a:path w="803910" h="1285875">
                <a:moveTo>
                  <a:pt x="803668" y="0"/>
                </a:moveTo>
                <a:lnTo>
                  <a:pt x="401840" y="160731"/>
                </a:lnTo>
                <a:lnTo>
                  <a:pt x="0" y="0"/>
                </a:lnTo>
                <a:lnTo>
                  <a:pt x="0" y="1125143"/>
                </a:lnTo>
                <a:lnTo>
                  <a:pt x="401840" y="1285875"/>
                </a:lnTo>
                <a:lnTo>
                  <a:pt x="803668" y="1125143"/>
                </a:lnTo>
                <a:lnTo>
                  <a:pt x="803668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169192" y="3699097"/>
            <a:ext cx="16319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45" b="1">
                <a:solidFill>
                  <a:srgbClr val="F4CAB7"/>
                </a:solidFill>
                <a:latin typeface="Cambria"/>
                <a:cs typeface="Cambria"/>
              </a:rPr>
              <a:t>2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80888" y="3363912"/>
            <a:ext cx="4086860" cy="6248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Píocesamiento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Análisis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manipulación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datos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recolectados.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48225" y="4514850"/>
            <a:ext cx="803910" cy="1285875"/>
          </a:xfrm>
          <a:custGeom>
            <a:avLst/>
            <a:gdLst/>
            <a:ahLst/>
            <a:cxnLst/>
            <a:rect l="l" t="t" r="r" b="b"/>
            <a:pathLst>
              <a:path w="803910" h="1285875">
                <a:moveTo>
                  <a:pt x="803668" y="0"/>
                </a:moveTo>
                <a:lnTo>
                  <a:pt x="401840" y="160731"/>
                </a:lnTo>
                <a:lnTo>
                  <a:pt x="0" y="0"/>
                </a:lnTo>
                <a:lnTo>
                  <a:pt x="0" y="1125141"/>
                </a:lnTo>
                <a:lnTo>
                  <a:pt x="401840" y="1285876"/>
                </a:lnTo>
                <a:lnTo>
                  <a:pt x="803668" y="1125141"/>
                </a:lnTo>
                <a:lnTo>
                  <a:pt x="803668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164429" y="4984973"/>
            <a:ext cx="17272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30" b="1">
                <a:solidFill>
                  <a:srgbClr val="F4CAB7"/>
                </a:solidFill>
                <a:latin typeface="Cambria"/>
                <a:cs typeface="Cambria"/>
              </a:rPr>
              <a:t>3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0888" y="4649788"/>
            <a:ext cx="4580255" cy="6248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Apíendizaje</a:t>
            </a:r>
            <a:r>
              <a:rPr dirty="0" sz="1650" spc="-5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Automático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Aplicación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algoritmos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IA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para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toma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decisiones.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248025" marR="5080">
              <a:lnSpc>
                <a:spcPct val="106300"/>
              </a:lnSpc>
              <a:spcBef>
                <a:spcPts val="95"/>
              </a:spcBef>
            </a:pPr>
            <a:r>
              <a:rPr dirty="0" spc="100"/>
              <a:t>Aplicaciones</a:t>
            </a:r>
            <a:r>
              <a:rPr dirty="0" spc="-100"/>
              <a:t> </a:t>
            </a:r>
            <a:r>
              <a:rPr dirty="0" spc="180"/>
              <a:t>píácticas</a:t>
            </a:r>
            <a:r>
              <a:rPr dirty="0" spc="-100"/>
              <a:t> </a:t>
            </a:r>
            <a:r>
              <a:rPr dirty="0" spc="35"/>
              <a:t>y </a:t>
            </a:r>
            <a:r>
              <a:rPr dirty="0" spc="-725"/>
              <a:t> </a:t>
            </a:r>
            <a:r>
              <a:rPr dirty="0" spc="100"/>
              <a:t>casos</a:t>
            </a:r>
            <a:r>
              <a:rPr dirty="0" spc="-70"/>
              <a:t> </a:t>
            </a:r>
            <a:r>
              <a:rPr dirty="0" spc="95"/>
              <a:t>de</a:t>
            </a:r>
            <a:r>
              <a:rPr dirty="0" spc="-65"/>
              <a:t> </a:t>
            </a:r>
            <a:r>
              <a:rPr dirty="0" spc="75"/>
              <a:t>uso</a:t>
            </a:r>
          </a:p>
        </p:txBody>
      </p:sp>
      <p:sp>
        <p:nvSpPr>
          <p:cNvPr id="4" name="object 4"/>
          <p:cNvSpPr/>
          <p:nvPr/>
        </p:nvSpPr>
        <p:spPr>
          <a:xfrm>
            <a:off x="4848225" y="2657474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344525" y="0"/>
                </a:moveTo>
                <a:lnTo>
                  <a:pt x="17424" y="0"/>
                </a:lnTo>
                <a:lnTo>
                  <a:pt x="14859" y="508"/>
                </a:lnTo>
                <a:lnTo>
                  <a:pt x="0" y="17424"/>
                </a:lnTo>
                <a:lnTo>
                  <a:pt x="0" y="341858"/>
                </a:lnTo>
                <a:lnTo>
                  <a:pt x="0" y="344525"/>
                </a:lnTo>
                <a:lnTo>
                  <a:pt x="17424" y="361950"/>
                </a:lnTo>
                <a:lnTo>
                  <a:pt x="344525" y="361950"/>
                </a:lnTo>
                <a:lnTo>
                  <a:pt x="361950" y="344525"/>
                </a:lnTo>
                <a:lnTo>
                  <a:pt x="361950" y="17424"/>
                </a:lnTo>
                <a:lnTo>
                  <a:pt x="347078" y="508"/>
                </a:lnTo>
                <a:lnTo>
                  <a:pt x="344525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52656" y="2654300"/>
            <a:ext cx="1543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75" b="1">
                <a:solidFill>
                  <a:srgbClr val="F4CAB7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8510" y="2630487"/>
            <a:ext cx="2239010" cy="1129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Domótica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Control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iluminación,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,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s 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climatización.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34325" y="2657474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344525" y="0"/>
                </a:moveTo>
                <a:lnTo>
                  <a:pt x="17424" y="0"/>
                </a:lnTo>
                <a:lnTo>
                  <a:pt x="14859" y="508"/>
                </a:lnTo>
                <a:lnTo>
                  <a:pt x="0" y="17424"/>
                </a:lnTo>
                <a:lnTo>
                  <a:pt x="0" y="341858"/>
                </a:lnTo>
                <a:lnTo>
                  <a:pt x="0" y="344525"/>
                </a:lnTo>
                <a:lnTo>
                  <a:pt x="17424" y="361950"/>
                </a:lnTo>
                <a:lnTo>
                  <a:pt x="344525" y="361950"/>
                </a:lnTo>
                <a:lnTo>
                  <a:pt x="361950" y="344525"/>
                </a:lnTo>
                <a:lnTo>
                  <a:pt x="361950" y="17424"/>
                </a:lnTo>
                <a:lnTo>
                  <a:pt x="347078" y="508"/>
                </a:lnTo>
                <a:lnTo>
                  <a:pt x="344525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033245" y="2654300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5" b="1">
                <a:solidFill>
                  <a:srgbClr val="F4CAB7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48178" y="2630487"/>
            <a:ext cx="2203450" cy="1129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 b="1">
                <a:solidFill>
                  <a:srgbClr val="F4CAB7"/>
                </a:solidFill>
                <a:latin typeface="Cambria"/>
                <a:cs typeface="Cambria"/>
              </a:rPr>
              <a:t>Robótica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ñ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65">
                <a:solidFill>
                  <a:srgbClr val="F4CAB7"/>
                </a:solidFill>
                <a:latin typeface="Verdana"/>
                <a:cs typeface="Verdana"/>
              </a:rPr>
              <a:t>, 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vehículos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autónomos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 </a:t>
            </a:r>
            <a:r>
              <a:rPr dirty="0" sz="1250" spc="-3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brazos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mecánicos.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48225" y="4133850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344525" y="0"/>
                </a:moveTo>
                <a:lnTo>
                  <a:pt x="17424" y="0"/>
                </a:lnTo>
                <a:lnTo>
                  <a:pt x="14859" y="508"/>
                </a:lnTo>
                <a:lnTo>
                  <a:pt x="0" y="17424"/>
                </a:lnTo>
                <a:lnTo>
                  <a:pt x="0" y="341858"/>
                </a:lnTo>
                <a:lnTo>
                  <a:pt x="0" y="344525"/>
                </a:lnTo>
                <a:lnTo>
                  <a:pt x="17424" y="361950"/>
                </a:lnTo>
                <a:lnTo>
                  <a:pt x="344525" y="361950"/>
                </a:lnTo>
                <a:lnTo>
                  <a:pt x="361950" y="344525"/>
                </a:lnTo>
                <a:lnTo>
                  <a:pt x="361950" y="17424"/>
                </a:lnTo>
                <a:lnTo>
                  <a:pt x="347078" y="508"/>
                </a:lnTo>
                <a:lnTo>
                  <a:pt x="344525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938369" y="4130675"/>
            <a:ext cx="1828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50" b="1">
                <a:solidFill>
                  <a:srgbClr val="F4CAB7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8510" y="4106862"/>
            <a:ext cx="2315210" cy="11391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F4CAB7"/>
                </a:solidFill>
                <a:latin typeface="Cambria"/>
                <a:cs typeface="Cambria"/>
              </a:rPr>
              <a:t>Inteínet</a:t>
            </a:r>
            <a:r>
              <a:rPr dirty="0" sz="1650" spc="-4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de</a:t>
            </a:r>
            <a:r>
              <a:rPr dirty="0" sz="1650" spc="-4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45" b="1">
                <a:solidFill>
                  <a:srgbClr val="F4CAB7"/>
                </a:solidFill>
                <a:latin typeface="Cambria"/>
                <a:cs typeface="Cambria"/>
              </a:rPr>
              <a:t>las</a:t>
            </a:r>
            <a:r>
              <a:rPr dirty="0" sz="1650" spc="-3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Cosas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670"/>
              </a:spcBef>
            </a:pPr>
            <a:r>
              <a:rPr dirty="0" sz="1250" spc="145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5">
                <a:solidFill>
                  <a:srgbClr val="F4CAB7"/>
                </a:solidFill>
                <a:latin typeface="Verdana"/>
                <a:cs typeface="Verdana"/>
              </a:rPr>
              <a:t>z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ó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n 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55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-1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55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é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 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redes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conectadas.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34325" y="4133850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344525" y="0"/>
                </a:moveTo>
                <a:lnTo>
                  <a:pt x="17424" y="0"/>
                </a:lnTo>
                <a:lnTo>
                  <a:pt x="14859" y="508"/>
                </a:lnTo>
                <a:lnTo>
                  <a:pt x="0" y="17424"/>
                </a:lnTo>
                <a:lnTo>
                  <a:pt x="0" y="341858"/>
                </a:lnTo>
                <a:lnTo>
                  <a:pt x="0" y="344525"/>
                </a:lnTo>
                <a:lnTo>
                  <a:pt x="17424" y="361950"/>
                </a:lnTo>
                <a:lnTo>
                  <a:pt x="344525" y="361950"/>
                </a:lnTo>
                <a:lnTo>
                  <a:pt x="361950" y="344525"/>
                </a:lnTo>
                <a:lnTo>
                  <a:pt x="361950" y="17424"/>
                </a:lnTo>
                <a:lnTo>
                  <a:pt x="347078" y="508"/>
                </a:lnTo>
                <a:lnTo>
                  <a:pt x="344525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025510" y="4130675"/>
            <a:ext cx="18796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90" b="1">
                <a:solidFill>
                  <a:srgbClr val="F4CAB7"/>
                </a:solidFill>
                <a:latin typeface="Cambria"/>
                <a:cs typeface="Cambria"/>
              </a:rPr>
              <a:t>4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48183" y="4106862"/>
            <a:ext cx="2399665" cy="11391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 b="1">
                <a:solidFill>
                  <a:srgbClr val="F4CAB7"/>
                </a:solidFill>
                <a:latin typeface="Cambria"/>
                <a:cs typeface="Cambria"/>
              </a:rPr>
              <a:t>Educación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670"/>
              </a:spcBef>
            </a:pP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ñ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5">
                <a:solidFill>
                  <a:srgbClr val="F4CAB7"/>
                </a:solidFill>
                <a:latin typeface="Verdana"/>
                <a:cs typeface="Verdana"/>
              </a:rPr>
              <a:t>z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ó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65">
                <a:solidFill>
                  <a:srgbClr val="F4CAB7"/>
                </a:solidFill>
                <a:latin typeface="Verdana"/>
                <a:cs typeface="Verdana"/>
              </a:rPr>
              <a:t>, 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ó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5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 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innovación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tecnológica.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2024-11-05T06:27:53Z</dcterms:created>
  <dcterms:modified xsi:type="dcterms:W3CDTF">2024-11-05T06:27:53Z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