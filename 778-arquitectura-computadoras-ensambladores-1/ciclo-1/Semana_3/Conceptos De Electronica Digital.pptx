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7283450"/>
  <p:notesSz cx="11430000" cy="72834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F95F87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829425"/>
          </a:xfrm>
          <a:custGeom>
            <a:avLst/>
            <a:gdLst/>
            <a:ahLst/>
            <a:cxnLst/>
            <a:rect l="l" t="t" r="r" b="b"/>
            <a:pathLst>
              <a:path w="11430000" h="6829425">
                <a:moveTo>
                  <a:pt x="11430000" y="0"/>
                </a:moveTo>
                <a:lnTo>
                  <a:pt x="0" y="0"/>
                </a:lnTo>
                <a:lnTo>
                  <a:pt x="0" y="6829425"/>
                </a:lnTo>
                <a:lnTo>
                  <a:pt x="11430000" y="68294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DFA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68294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F95F87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F95F87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DFA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DFA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2563812"/>
            <a:ext cx="10255250" cy="591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F95F87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2854" y="1260697"/>
            <a:ext cx="8924290" cy="2435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260697"/>
            <a:ext cx="5303520" cy="243522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ts val="6380"/>
              </a:lnSpc>
              <a:spcBef>
                <a:spcPts val="120"/>
              </a:spcBef>
            </a:pPr>
            <a:r>
              <a:rPr dirty="0" sz="5100" spc="-360"/>
              <a:t>C</a:t>
            </a:r>
            <a:r>
              <a:rPr dirty="0" sz="5100" spc="-505"/>
              <a:t>o</a:t>
            </a:r>
            <a:r>
              <a:rPr dirty="0" sz="5100" spc="-420"/>
              <a:t>n</a:t>
            </a:r>
            <a:r>
              <a:rPr dirty="0" sz="5100" spc="-275"/>
              <a:t>c</a:t>
            </a:r>
            <a:r>
              <a:rPr dirty="0" sz="5100" spc="-434"/>
              <a:t>e</a:t>
            </a:r>
            <a:r>
              <a:rPr dirty="0" sz="5100" spc="-445"/>
              <a:t>p</a:t>
            </a:r>
            <a:r>
              <a:rPr dirty="0" sz="5100" spc="-280"/>
              <a:t>t</a:t>
            </a:r>
            <a:r>
              <a:rPr dirty="0" sz="5100" spc="-505"/>
              <a:t>o</a:t>
            </a:r>
            <a:r>
              <a:rPr dirty="0" sz="5100" spc="-265"/>
              <a:t>s</a:t>
            </a:r>
            <a:r>
              <a:rPr dirty="0" sz="5100" spc="-380"/>
              <a:t> </a:t>
            </a:r>
            <a:r>
              <a:rPr dirty="0" sz="5100" spc="-450"/>
              <a:t>b</a:t>
            </a:r>
            <a:r>
              <a:rPr dirty="0" sz="5100" spc="-470"/>
              <a:t>á</a:t>
            </a:r>
            <a:r>
              <a:rPr dirty="0" sz="5100" spc="-370"/>
              <a:t>s</a:t>
            </a:r>
            <a:r>
              <a:rPr dirty="0" sz="5100" spc="-185"/>
              <a:t>i</a:t>
            </a:r>
            <a:r>
              <a:rPr dirty="0" sz="5100" spc="-275"/>
              <a:t>c</a:t>
            </a:r>
            <a:r>
              <a:rPr dirty="0" sz="5100" spc="-505"/>
              <a:t>o</a:t>
            </a:r>
            <a:r>
              <a:rPr dirty="0" sz="5100" spc="-175"/>
              <a:t>s  </a:t>
            </a:r>
            <a:r>
              <a:rPr dirty="0" sz="5100" spc="-420"/>
              <a:t>d</a:t>
            </a:r>
            <a:r>
              <a:rPr dirty="0" sz="5100" spc="-330"/>
              <a:t>e</a:t>
            </a:r>
            <a:r>
              <a:rPr dirty="0" sz="5100" spc="-380"/>
              <a:t> </a:t>
            </a:r>
            <a:r>
              <a:rPr dirty="0" sz="5100" spc="-434"/>
              <a:t>e</a:t>
            </a:r>
            <a:r>
              <a:rPr dirty="0" sz="5100" spc="-215"/>
              <a:t>l</a:t>
            </a:r>
            <a:r>
              <a:rPr dirty="0" sz="5100" spc="-434"/>
              <a:t>e</a:t>
            </a:r>
            <a:r>
              <a:rPr dirty="0" sz="5100" spc="-275"/>
              <a:t>c</a:t>
            </a:r>
            <a:r>
              <a:rPr dirty="0" sz="5100" spc="-280"/>
              <a:t>t</a:t>
            </a:r>
            <a:r>
              <a:rPr dirty="0" sz="5100" spc="-545"/>
              <a:t>r</a:t>
            </a:r>
            <a:r>
              <a:rPr dirty="0" sz="5100" spc="-505"/>
              <a:t>ó</a:t>
            </a:r>
            <a:r>
              <a:rPr dirty="0" sz="5100" spc="-420"/>
              <a:t>n</a:t>
            </a:r>
            <a:r>
              <a:rPr dirty="0" sz="5100" spc="-185"/>
              <a:t>i</a:t>
            </a:r>
            <a:r>
              <a:rPr dirty="0" sz="5100" spc="-275"/>
              <a:t>c</a:t>
            </a:r>
            <a:r>
              <a:rPr dirty="0" sz="5100" spc="-365"/>
              <a:t>a</a:t>
            </a:r>
            <a:endParaRPr sz="5100"/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5100" spc="-300"/>
              <a:t>digital</a:t>
            </a:r>
            <a:endParaRPr sz="5100"/>
          </a:p>
        </p:txBody>
      </p:sp>
      <p:sp>
        <p:nvSpPr>
          <p:cNvPr id="4" name="object 4"/>
          <p:cNvSpPr txBox="1"/>
          <p:nvPr/>
        </p:nvSpPr>
        <p:spPr>
          <a:xfrm>
            <a:off x="4873625" y="3955415"/>
            <a:ext cx="5473065" cy="11207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125"/>
              </a:spcBef>
            </a:pP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Bienvenido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a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este 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viaje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por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los </a:t>
            </a: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fundamentos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de 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la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electrónica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digital. </a:t>
            </a:r>
            <a:r>
              <a:rPr dirty="0" sz="1350" spc="-409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Exploraremos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los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principios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básicos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los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semiconductores,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circuitos </a:t>
            </a:r>
            <a:r>
              <a:rPr dirty="0" sz="1350" spc="-4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lógicos 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y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el </a:t>
            </a:r>
            <a:r>
              <a:rPr dirty="0" sz="1350" spc="20">
                <a:solidFill>
                  <a:srgbClr val="262424"/>
                </a:solidFill>
                <a:latin typeface="Tahoma"/>
                <a:cs typeface="Tahoma"/>
              </a:rPr>
              <a:t>funcionamiento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de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dispositivos electrónicos </a:t>
            </a:r>
            <a:r>
              <a:rPr dirty="0" sz="1350" spc="65">
                <a:solidFill>
                  <a:srgbClr val="262424"/>
                </a:solidFill>
                <a:latin typeface="Tahoma"/>
                <a:cs typeface="Tahoma"/>
              </a:rPr>
              <a:t>como </a:t>
            </a:r>
            <a:r>
              <a:rPr dirty="0" sz="1350" spc="7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microcontroladores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sistemas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embebidos.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375" y="2678112"/>
            <a:ext cx="9726295" cy="117221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70"/>
              </a:spcBef>
            </a:pPr>
            <a:r>
              <a:rPr dirty="0" sz="3700" spc="-70" b="1">
                <a:solidFill>
                  <a:srgbClr val="F95F87"/>
                </a:solidFill>
                <a:latin typeface="Arial"/>
                <a:cs typeface="Arial"/>
              </a:rPr>
              <a:t>Introducción</a:t>
            </a:r>
            <a:r>
              <a:rPr dirty="0" sz="3700" spc="-365" b="1">
                <a:solidFill>
                  <a:srgbClr val="F95F87"/>
                </a:solidFill>
                <a:latin typeface="Arial"/>
                <a:cs typeface="Arial"/>
              </a:rPr>
              <a:t> </a:t>
            </a:r>
            <a:r>
              <a:rPr dirty="0" sz="3700" spc="-120" b="1">
                <a:solidFill>
                  <a:srgbClr val="F95F87"/>
                </a:solidFill>
                <a:latin typeface="Arial"/>
                <a:cs typeface="Arial"/>
              </a:rPr>
              <a:t>a</a:t>
            </a:r>
            <a:r>
              <a:rPr dirty="0" sz="3700" spc="-365" b="1">
                <a:solidFill>
                  <a:srgbClr val="F95F87"/>
                </a:solidFill>
                <a:latin typeface="Arial"/>
                <a:cs typeface="Arial"/>
              </a:rPr>
              <a:t> </a:t>
            </a:r>
            <a:r>
              <a:rPr dirty="0" sz="3700" spc="-180" b="1">
                <a:solidFill>
                  <a:srgbClr val="F95F87"/>
                </a:solidFill>
                <a:latin typeface="Arial"/>
                <a:cs typeface="Arial"/>
              </a:rPr>
              <a:t>los</a:t>
            </a:r>
            <a:r>
              <a:rPr dirty="0" sz="3700" spc="-365" b="1">
                <a:solidFill>
                  <a:srgbClr val="F95F87"/>
                </a:solidFill>
                <a:latin typeface="Arial"/>
                <a:cs typeface="Arial"/>
              </a:rPr>
              <a:t> </a:t>
            </a:r>
            <a:r>
              <a:rPr dirty="0" sz="3700" spc="-160" b="1">
                <a:solidFill>
                  <a:srgbClr val="F95F87"/>
                </a:solidFill>
                <a:latin typeface="Arial"/>
                <a:cs typeface="Arial"/>
              </a:rPr>
              <a:t>semiconductores</a:t>
            </a:r>
            <a:r>
              <a:rPr dirty="0" sz="3700" spc="-365" b="1">
                <a:solidFill>
                  <a:srgbClr val="F95F87"/>
                </a:solidFill>
                <a:latin typeface="Arial"/>
                <a:cs typeface="Arial"/>
              </a:rPr>
              <a:t> </a:t>
            </a:r>
            <a:r>
              <a:rPr dirty="0" sz="3700" spc="-165" b="1">
                <a:solidFill>
                  <a:srgbClr val="F95F87"/>
                </a:solidFill>
                <a:latin typeface="Arial"/>
                <a:cs typeface="Arial"/>
              </a:rPr>
              <a:t>y</a:t>
            </a:r>
            <a:r>
              <a:rPr dirty="0" sz="3700" spc="-365" b="1">
                <a:solidFill>
                  <a:srgbClr val="F95F87"/>
                </a:solidFill>
                <a:latin typeface="Arial"/>
                <a:cs typeface="Arial"/>
              </a:rPr>
              <a:t> </a:t>
            </a:r>
            <a:r>
              <a:rPr dirty="0" sz="3700" spc="-105" b="1">
                <a:solidFill>
                  <a:srgbClr val="F95F87"/>
                </a:solidFill>
                <a:latin typeface="Arial"/>
                <a:cs typeface="Arial"/>
              </a:rPr>
              <a:t>circuitos </a:t>
            </a:r>
            <a:r>
              <a:rPr dirty="0" sz="3700" spc="-1010" b="1">
                <a:solidFill>
                  <a:srgbClr val="F95F87"/>
                </a:solidFill>
                <a:latin typeface="Arial"/>
                <a:cs typeface="Arial"/>
              </a:rPr>
              <a:t> </a:t>
            </a:r>
            <a:r>
              <a:rPr dirty="0" sz="3700" spc="-200" b="1">
                <a:solidFill>
                  <a:srgbClr val="F95F87"/>
                </a:solidFill>
                <a:latin typeface="Arial"/>
                <a:cs typeface="Arial"/>
              </a:rPr>
              <a:t>lógicos</a:t>
            </a:r>
            <a:endParaRPr sz="37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0075" y="4362450"/>
            <a:ext cx="390525" cy="381000"/>
            <a:chOff x="600075" y="4362450"/>
            <a:chExt cx="390525" cy="381000"/>
          </a:xfrm>
        </p:grpSpPr>
        <p:sp>
          <p:nvSpPr>
            <p:cNvPr id="4" name="object 4"/>
            <p:cNvSpPr/>
            <p:nvPr/>
          </p:nvSpPr>
          <p:spPr>
            <a:xfrm>
              <a:off x="604837" y="43672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04837" y="43672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29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43"/>
                  </a:lnTo>
                  <a:lnTo>
                    <a:pt x="371688" y="346913"/>
                  </a:lnTo>
                  <a:lnTo>
                    <a:pt x="369674" y="349935"/>
                  </a:lnTo>
                  <a:lnTo>
                    <a:pt x="336529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9311" y="346913"/>
                  </a:lnTo>
                  <a:lnTo>
                    <a:pt x="7292" y="343903"/>
                  </a:lnTo>
                  <a:lnTo>
                    <a:pt x="5590" y="340728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22510" y="4333557"/>
            <a:ext cx="14668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275" b="1">
                <a:solidFill>
                  <a:srgbClr val="262424"/>
                </a:solidFill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587" y="4323556"/>
            <a:ext cx="2709545" cy="1496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85" b="1">
                <a:solidFill>
                  <a:srgbClr val="262424"/>
                </a:solidFill>
                <a:latin typeface="Arial"/>
                <a:cs typeface="Arial"/>
              </a:rPr>
              <a:t>Semiconductores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650"/>
              </a:spcBef>
            </a:pP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Aprenderemos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las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propiedades</a:t>
            </a:r>
            <a:r>
              <a:rPr dirty="0" sz="1350" spc="-9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de </a:t>
            </a:r>
            <a:r>
              <a:rPr dirty="0" sz="1350" spc="-409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-5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5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u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-5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y  </a:t>
            </a:r>
            <a:r>
              <a:rPr dirty="0" sz="1350" spc="65">
                <a:solidFill>
                  <a:srgbClr val="262424"/>
                </a:solidFill>
                <a:latin typeface="Tahoma"/>
                <a:cs typeface="Tahoma"/>
              </a:rPr>
              <a:t>cómo 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se 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utilizan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para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crear 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dispositivos</a:t>
            </a:r>
            <a:r>
              <a:rPr dirty="0" sz="1350" spc="-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electrónicos.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67175" y="4362450"/>
            <a:ext cx="390525" cy="381000"/>
            <a:chOff x="4067175" y="4362450"/>
            <a:chExt cx="390525" cy="381000"/>
          </a:xfrm>
        </p:grpSpPr>
        <p:sp>
          <p:nvSpPr>
            <p:cNvPr id="9" name="object 9"/>
            <p:cNvSpPr/>
            <p:nvPr/>
          </p:nvSpPr>
          <p:spPr>
            <a:xfrm>
              <a:off x="4071937" y="43672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7" y="0"/>
                  </a:moveTo>
                  <a:lnTo>
                    <a:pt x="51612" y="0"/>
                  </a:lnTo>
                  <a:lnTo>
                    <a:pt x="48031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87" y="371475"/>
                  </a:lnTo>
                  <a:lnTo>
                    <a:pt x="367385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071937" y="43672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71690" y="2454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56450" y="362165"/>
                  </a:lnTo>
                  <a:lnTo>
                    <a:pt x="336537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31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169968" y="4333557"/>
            <a:ext cx="18605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35" b="1">
                <a:solidFill>
                  <a:srgbClr val="262424"/>
                </a:solidFill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11691" y="4323556"/>
            <a:ext cx="2708275" cy="1496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15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40" b="1">
                <a:solidFill>
                  <a:srgbClr val="262424"/>
                </a:solidFill>
                <a:latin typeface="Arial"/>
                <a:cs typeface="Arial"/>
              </a:rPr>
              <a:t>r</a:t>
            </a:r>
            <a:r>
              <a:rPr dirty="0" sz="1850" spc="-17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-50" b="1">
                <a:solidFill>
                  <a:srgbClr val="262424"/>
                </a:solidFill>
                <a:latin typeface="Arial"/>
                <a:cs typeface="Arial"/>
              </a:rPr>
              <a:t>u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15" b="1">
                <a:solidFill>
                  <a:srgbClr val="262424"/>
                </a:solidFill>
                <a:latin typeface="Arial"/>
                <a:cs typeface="Arial"/>
              </a:rPr>
              <a:t>t</a:t>
            </a:r>
            <a:r>
              <a:rPr dirty="0" sz="1850" spc="-140" b="1">
                <a:solidFill>
                  <a:srgbClr val="262424"/>
                </a:solidFill>
                <a:latin typeface="Arial"/>
                <a:cs typeface="Arial"/>
              </a:rPr>
              <a:t>o</a:t>
            </a:r>
            <a:r>
              <a:rPr dirty="0" sz="1850" spc="-180" b="1">
                <a:solidFill>
                  <a:srgbClr val="262424"/>
                </a:solidFill>
                <a:latin typeface="Arial"/>
                <a:cs typeface="Arial"/>
              </a:rPr>
              <a:t>s</a:t>
            </a:r>
            <a:r>
              <a:rPr dirty="0" sz="1850" spc="-185" b="1">
                <a:solidFill>
                  <a:srgbClr val="262424"/>
                </a:solidFill>
                <a:latin typeface="Arial"/>
                <a:cs typeface="Arial"/>
              </a:rPr>
              <a:t> </a:t>
            </a:r>
            <a:r>
              <a:rPr dirty="0" sz="1850" spc="-85" b="1">
                <a:solidFill>
                  <a:srgbClr val="262424"/>
                </a:solidFill>
                <a:latin typeface="Arial"/>
                <a:cs typeface="Arial"/>
              </a:rPr>
              <a:t>L</a:t>
            </a:r>
            <a:r>
              <a:rPr dirty="0" sz="1850" spc="-140" b="1">
                <a:solidFill>
                  <a:srgbClr val="262424"/>
                </a:solidFill>
                <a:latin typeface="Arial"/>
                <a:cs typeface="Arial"/>
              </a:rPr>
              <a:t>ó</a:t>
            </a:r>
            <a:r>
              <a:rPr dirty="0" sz="1850" spc="-229" b="1">
                <a:solidFill>
                  <a:srgbClr val="262424"/>
                </a:solidFill>
                <a:latin typeface="Arial"/>
                <a:cs typeface="Arial"/>
              </a:rPr>
              <a:t>g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-15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-140" b="1">
                <a:solidFill>
                  <a:srgbClr val="262424"/>
                </a:solidFill>
                <a:latin typeface="Arial"/>
                <a:cs typeface="Arial"/>
              </a:rPr>
              <a:t>o</a:t>
            </a:r>
            <a:r>
              <a:rPr dirty="0" sz="1850" spc="-180" b="1">
                <a:solidFill>
                  <a:srgbClr val="262424"/>
                </a:solidFill>
                <a:latin typeface="Arial"/>
                <a:cs typeface="Arial"/>
              </a:rPr>
              <a:t>s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650"/>
              </a:spcBef>
            </a:pP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Exploraremos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el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mundo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de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las 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p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u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-3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ó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g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130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ó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p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u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n 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combinar para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crear sistemas 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262424"/>
                </a:solidFill>
                <a:latin typeface="Tahoma"/>
                <a:cs typeface="Tahoma"/>
              </a:rPr>
              <a:t>digitales</a:t>
            </a:r>
            <a:r>
              <a:rPr dirty="0" sz="1350" spc="-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complejos.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34275" y="4362450"/>
            <a:ext cx="390525" cy="381000"/>
            <a:chOff x="7534275" y="4362450"/>
            <a:chExt cx="390525" cy="381000"/>
          </a:xfrm>
        </p:grpSpPr>
        <p:sp>
          <p:nvSpPr>
            <p:cNvPr id="14" name="object 14"/>
            <p:cNvSpPr/>
            <p:nvPr/>
          </p:nvSpPr>
          <p:spPr>
            <a:xfrm>
              <a:off x="7539037" y="43672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87" y="371475"/>
                  </a:lnTo>
                  <a:lnTo>
                    <a:pt x="367385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539037" y="43672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64820" y="16179"/>
                  </a:lnTo>
                  <a:lnTo>
                    <a:pt x="367385" y="18745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64820" y="355295"/>
                  </a:lnTo>
                  <a:lnTo>
                    <a:pt x="362254" y="357860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16179" y="355295"/>
                  </a:lnTo>
                  <a:lnTo>
                    <a:pt x="13614" y="352729"/>
                  </a:lnTo>
                  <a:lnTo>
                    <a:pt x="11328" y="349935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5588" y="340728"/>
                  </a:lnTo>
                  <a:lnTo>
                    <a:pt x="4203" y="337375"/>
                  </a:lnTo>
                  <a:lnTo>
                    <a:pt x="2819" y="334022"/>
                  </a:lnTo>
                  <a:lnTo>
                    <a:pt x="1765" y="330568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637208" y="4333557"/>
            <a:ext cx="18605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35" b="1">
                <a:solidFill>
                  <a:srgbClr val="262424"/>
                </a:solidFill>
                <a:latin typeface="Arial"/>
                <a:cs typeface="Arial"/>
              </a:rPr>
              <a:t>3</a:t>
            </a:r>
            <a:endParaRPr sz="2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78781" y="4323556"/>
            <a:ext cx="2590800" cy="1219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40" b="1">
                <a:solidFill>
                  <a:srgbClr val="262424"/>
                </a:solidFill>
                <a:latin typeface="Arial"/>
                <a:cs typeface="Arial"/>
              </a:rPr>
              <a:t>D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-220" b="1">
                <a:solidFill>
                  <a:srgbClr val="262424"/>
                </a:solidFill>
                <a:latin typeface="Arial"/>
                <a:cs typeface="Arial"/>
              </a:rPr>
              <a:t>s</a:t>
            </a:r>
            <a:r>
              <a:rPr dirty="0" sz="1850" spc="-135" b="1">
                <a:solidFill>
                  <a:srgbClr val="262424"/>
                </a:solidFill>
                <a:latin typeface="Arial"/>
                <a:cs typeface="Arial"/>
              </a:rPr>
              <a:t>e</a:t>
            </a:r>
            <a:r>
              <a:rPr dirty="0" sz="1850" spc="-10" b="1">
                <a:solidFill>
                  <a:srgbClr val="262424"/>
                </a:solidFill>
                <a:latin typeface="Arial"/>
                <a:cs typeface="Arial"/>
              </a:rPr>
              <a:t>ñ</a:t>
            </a:r>
            <a:r>
              <a:rPr dirty="0" sz="1850" spc="-100" b="1">
                <a:solidFill>
                  <a:srgbClr val="262424"/>
                </a:solidFill>
                <a:latin typeface="Arial"/>
                <a:cs typeface="Arial"/>
              </a:rPr>
              <a:t>o</a:t>
            </a:r>
            <a:r>
              <a:rPr dirty="0" sz="1850" spc="-185" b="1">
                <a:solidFill>
                  <a:srgbClr val="262424"/>
                </a:solidFill>
                <a:latin typeface="Arial"/>
                <a:cs typeface="Arial"/>
              </a:rPr>
              <a:t> </a:t>
            </a:r>
            <a:r>
              <a:rPr dirty="0" sz="1850" spc="-60" b="1">
                <a:solidFill>
                  <a:srgbClr val="262424"/>
                </a:solidFill>
                <a:latin typeface="Arial"/>
                <a:cs typeface="Arial"/>
              </a:rPr>
              <a:t>d</a:t>
            </a:r>
            <a:r>
              <a:rPr dirty="0" sz="1850" spc="-95" b="1">
                <a:solidFill>
                  <a:srgbClr val="262424"/>
                </a:solidFill>
                <a:latin typeface="Arial"/>
                <a:cs typeface="Arial"/>
              </a:rPr>
              <a:t>e</a:t>
            </a:r>
            <a:r>
              <a:rPr dirty="0" sz="1850" spc="-185" b="1">
                <a:solidFill>
                  <a:srgbClr val="262424"/>
                </a:solidFill>
                <a:latin typeface="Arial"/>
                <a:cs typeface="Arial"/>
              </a:rPr>
              <a:t> </a:t>
            </a:r>
            <a:r>
              <a:rPr dirty="0" sz="1850" spc="-15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40" b="1">
                <a:solidFill>
                  <a:srgbClr val="262424"/>
                </a:solidFill>
                <a:latin typeface="Arial"/>
                <a:cs typeface="Arial"/>
              </a:rPr>
              <a:t>r</a:t>
            </a:r>
            <a:r>
              <a:rPr dirty="0" sz="1850" spc="-17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-50" b="1">
                <a:solidFill>
                  <a:srgbClr val="262424"/>
                </a:solidFill>
                <a:latin typeface="Arial"/>
                <a:cs typeface="Arial"/>
              </a:rPr>
              <a:t>u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15" b="1">
                <a:solidFill>
                  <a:srgbClr val="262424"/>
                </a:solidFill>
                <a:latin typeface="Arial"/>
                <a:cs typeface="Arial"/>
              </a:rPr>
              <a:t>t</a:t>
            </a:r>
            <a:r>
              <a:rPr dirty="0" sz="1850" spc="-140" b="1">
                <a:solidFill>
                  <a:srgbClr val="262424"/>
                </a:solidFill>
                <a:latin typeface="Arial"/>
                <a:cs typeface="Arial"/>
              </a:rPr>
              <a:t>o</a:t>
            </a:r>
            <a:r>
              <a:rPr dirty="0" sz="1850" spc="-180" b="1">
                <a:solidFill>
                  <a:srgbClr val="262424"/>
                </a:solidFill>
                <a:latin typeface="Arial"/>
                <a:cs typeface="Arial"/>
              </a:rPr>
              <a:t>s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650"/>
              </a:spcBef>
            </a:pP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Introduciremos</a:t>
            </a:r>
            <a:r>
              <a:rPr dirty="0" sz="1350" spc="-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los</a:t>
            </a:r>
            <a:r>
              <a:rPr dirty="0" sz="1350" spc="-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principios</a:t>
            </a:r>
            <a:r>
              <a:rPr dirty="0" sz="1350" spc="-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del </a:t>
            </a:r>
            <a:r>
              <a:rPr dirty="0" sz="1350" spc="-409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diseño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de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circuitos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 combinacionales</a:t>
            </a:r>
            <a:r>
              <a:rPr dirty="0" sz="1350" spc="-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350" spc="-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secuenciales.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792287"/>
            <a:ext cx="8943975" cy="5911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509"/>
              <a:t>F</a:t>
            </a:r>
            <a:r>
              <a:rPr dirty="0" spc="-345"/>
              <a:t>a</a:t>
            </a:r>
            <a:r>
              <a:rPr dirty="0" spc="-459"/>
              <a:t>m</a:t>
            </a:r>
            <a:r>
              <a:rPr dirty="0" spc="-135"/>
              <a:t>i</a:t>
            </a:r>
            <a:r>
              <a:rPr dirty="0" spc="-155"/>
              <a:t>l</a:t>
            </a:r>
            <a:r>
              <a:rPr dirty="0" spc="-135"/>
              <a:t>i</a:t>
            </a:r>
            <a:r>
              <a:rPr dirty="0" spc="-345"/>
              <a:t>a</a:t>
            </a:r>
            <a:r>
              <a:rPr dirty="0" spc="-380"/>
              <a:t>r</a:t>
            </a:r>
            <a:r>
              <a:rPr dirty="0" spc="-135"/>
              <a:t>i</a:t>
            </a:r>
            <a:r>
              <a:rPr dirty="0" spc="-395"/>
              <a:t>z</a:t>
            </a:r>
            <a:r>
              <a:rPr dirty="0" spc="-345"/>
              <a:t>a</a:t>
            </a:r>
            <a:r>
              <a:rPr dirty="0" spc="-200"/>
              <a:t>c</a:t>
            </a:r>
            <a:r>
              <a:rPr dirty="0" spc="-135"/>
              <a:t>i</a:t>
            </a:r>
            <a:r>
              <a:rPr dirty="0" spc="-370"/>
              <a:t>ó</a:t>
            </a:r>
            <a:r>
              <a:rPr dirty="0" spc="-229"/>
              <a:t>n</a:t>
            </a:r>
            <a:r>
              <a:rPr dirty="0" spc="-275"/>
              <a:t> </a:t>
            </a:r>
            <a:r>
              <a:rPr dirty="0" spc="-200"/>
              <a:t>c</a:t>
            </a:r>
            <a:r>
              <a:rPr dirty="0" spc="-370"/>
              <a:t>o</a:t>
            </a:r>
            <a:r>
              <a:rPr dirty="0" spc="-229"/>
              <a:t>n</a:t>
            </a:r>
            <a:r>
              <a:rPr dirty="0" spc="-275"/>
              <a:t> </a:t>
            </a:r>
            <a:r>
              <a:rPr dirty="0" spc="-200"/>
              <a:t>c</a:t>
            </a:r>
            <a:r>
              <a:rPr dirty="0" spc="-370"/>
              <a:t>o</a:t>
            </a:r>
            <a:r>
              <a:rPr dirty="0" spc="-459"/>
              <a:t>m</a:t>
            </a:r>
            <a:r>
              <a:rPr dirty="0" spc="-325"/>
              <a:t>p</a:t>
            </a:r>
            <a:r>
              <a:rPr dirty="0" spc="-370"/>
              <a:t>o</a:t>
            </a:r>
            <a:r>
              <a:rPr dirty="0" spc="-305"/>
              <a:t>n</a:t>
            </a:r>
            <a:r>
              <a:rPr dirty="0" spc="-320"/>
              <a:t>e</a:t>
            </a:r>
            <a:r>
              <a:rPr dirty="0" spc="-335"/>
              <a:t>n</a:t>
            </a:r>
            <a:r>
              <a:rPr dirty="0" spc="-204"/>
              <a:t>t</a:t>
            </a:r>
            <a:r>
              <a:rPr dirty="0" spc="-320"/>
              <a:t>e</a:t>
            </a:r>
            <a:r>
              <a:rPr dirty="0" spc="-195"/>
              <a:t>s</a:t>
            </a:r>
            <a:r>
              <a:rPr dirty="0" spc="-275"/>
              <a:t> </a:t>
            </a:r>
            <a:r>
              <a:rPr dirty="0" spc="-305"/>
              <a:t>d</a:t>
            </a:r>
            <a:r>
              <a:rPr dirty="0" spc="-135"/>
              <a:t>i</a:t>
            </a:r>
            <a:r>
              <a:rPr dirty="0" spc="-320"/>
              <a:t>g</a:t>
            </a:r>
            <a:r>
              <a:rPr dirty="0" spc="-135"/>
              <a:t>i</a:t>
            </a:r>
            <a:r>
              <a:rPr dirty="0" spc="-204"/>
              <a:t>t</a:t>
            </a:r>
            <a:r>
              <a:rPr dirty="0" spc="-345"/>
              <a:t>a</a:t>
            </a:r>
            <a:r>
              <a:rPr dirty="0" spc="-155"/>
              <a:t>l</a:t>
            </a:r>
            <a:r>
              <a:rPr dirty="0" spc="-320"/>
              <a:t>e</a:t>
            </a:r>
            <a:r>
              <a:rPr dirty="0" spc="-195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2828131"/>
            <a:ext cx="2920365" cy="15722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155" b="1">
                <a:solidFill>
                  <a:srgbClr val="F95F87"/>
                </a:solidFill>
                <a:latin typeface="Georgia"/>
                <a:cs typeface="Georgia"/>
              </a:rPr>
              <a:t>Resistores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1250"/>
              </a:spcBef>
            </a:pPr>
            <a:r>
              <a:rPr dirty="0" sz="1350" spc="70">
                <a:solidFill>
                  <a:srgbClr val="262424"/>
                </a:solidFill>
                <a:latin typeface="Tahoma"/>
                <a:cs typeface="Tahoma"/>
              </a:rPr>
              <a:t>Los </a:t>
            </a: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resistores </a:t>
            </a:r>
            <a:r>
              <a:rPr dirty="0" sz="1350" spc="55">
                <a:solidFill>
                  <a:srgbClr val="262424"/>
                </a:solidFill>
                <a:latin typeface="Tahoma"/>
                <a:cs typeface="Tahoma"/>
              </a:rPr>
              <a:t>son 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componentes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f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u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-3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q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u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u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ili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z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62424"/>
                </a:solidFill>
                <a:latin typeface="Tahoma"/>
                <a:cs typeface="Tahoma"/>
              </a:rPr>
              <a:t>p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a  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2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li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-3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2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f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u</a:t>
            </a:r>
            <a:r>
              <a:rPr dirty="0" sz="1350" spc="-85">
                <a:solidFill>
                  <a:srgbClr val="262424"/>
                </a:solidFill>
                <a:latin typeface="Tahoma"/>
                <a:cs typeface="Tahoma"/>
              </a:rPr>
              <a:t>j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5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-5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55">
                <a:solidFill>
                  <a:srgbClr val="262424"/>
                </a:solidFill>
                <a:latin typeface="Tahoma"/>
                <a:cs typeface="Tahoma"/>
              </a:rPr>
              <a:t>e  </a:t>
            </a: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eléctrica.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5851" y="2828131"/>
            <a:ext cx="2871470" cy="12960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145" b="1">
                <a:solidFill>
                  <a:srgbClr val="F95F87"/>
                </a:solidFill>
                <a:latin typeface="Georgia"/>
                <a:cs typeface="Georgia"/>
              </a:rPr>
              <a:t>Capacitores</a:t>
            </a:r>
            <a:endParaRPr sz="1850">
              <a:latin typeface="Georgia"/>
              <a:cs typeface="Georgia"/>
            </a:endParaRPr>
          </a:p>
          <a:p>
            <a:pPr algn="just" marL="12700" marR="5080">
              <a:lnSpc>
                <a:spcPct val="134300"/>
              </a:lnSpc>
              <a:spcBef>
                <a:spcPts val="1250"/>
              </a:spcBef>
            </a:pPr>
            <a:r>
              <a:rPr dirty="0" sz="1350" spc="70">
                <a:solidFill>
                  <a:srgbClr val="262424"/>
                </a:solidFill>
                <a:latin typeface="Tahoma"/>
                <a:cs typeface="Tahoma"/>
              </a:rPr>
              <a:t>Los</a:t>
            </a:r>
            <a:r>
              <a:rPr dirty="0" sz="1350" spc="-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capacitores</a:t>
            </a:r>
            <a:r>
              <a:rPr dirty="0" sz="1350" spc="-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almacenan</a:t>
            </a:r>
            <a:r>
              <a:rPr dirty="0" sz="1350" spc="-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y</a:t>
            </a:r>
            <a:r>
              <a:rPr dirty="0" sz="1350" spc="-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liberan </a:t>
            </a:r>
            <a:r>
              <a:rPr dirty="0" sz="1350" spc="-409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262424"/>
                </a:solidFill>
                <a:latin typeface="Tahoma"/>
                <a:cs typeface="Tahoma"/>
              </a:rPr>
              <a:t>energía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eléctrica,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desempeñando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un </a:t>
            </a:r>
            <a:r>
              <a:rPr dirty="0" sz="1350" spc="-409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62424"/>
                </a:solidFill>
                <a:latin typeface="Tahoma"/>
                <a:cs typeface="Tahoma"/>
              </a:rPr>
              <a:t>p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p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-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v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u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-5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g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-3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4340" y="2828131"/>
            <a:ext cx="3138170" cy="12960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245" b="1">
                <a:solidFill>
                  <a:srgbClr val="F95F87"/>
                </a:solidFill>
                <a:latin typeface="Georgia"/>
                <a:cs typeface="Georgia"/>
              </a:rPr>
              <a:t>D</a:t>
            </a:r>
            <a:r>
              <a:rPr dirty="0" sz="1850" spc="-70" b="1">
                <a:solidFill>
                  <a:srgbClr val="F95F87"/>
                </a:solidFill>
                <a:latin typeface="Georgia"/>
                <a:cs typeface="Georgia"/>
              </a:rPr>
              <a:t>i</a:t>
            </a:r>
            <a:r>
              <a:rPr dirty="0" sz="1850" spc="-190" b="1">
                <a:solidFill>
                  <a:srgbClr val="F95F87"/>
                </a:solidFill>
                <a:latin typeface="Georgia"/>
                <a:cs typeface="Georgia"/>
              </a:rPr>
              <a:t>o</a:t>
            </a:r>
            <a:r>
              <a:rPr dirty="0" sz="1850" spc="-155" b="1">
                <a:solidFill>
                  <a:srgbClr val="F95F87"/>
                </a:solidFill>
                <a:latin typeface="Georgia"/>
                <a:cs typeface="Georgia"/>
              </a:rPr>
              <a:t>d</a:t>
            </a:r>
            <a:r>
              <a:rPr dirty="0" sz="1850" spc="-190" b="1">
                <a:solidFill>
                  <a:srgbClr val="F95F87"/>
                </a:solidFill>
                <a:latin typeface="Georgia"/>
                <a:cs typeface="Georgia"/>
              </a:rPr>
              <a:t>o</a:t>
            </a:r>
            <a:r>
              <a:rPr dirty="0" sz="1850" spc="-100" b="1">
                <a:solidFill>
                  <a:srgbClr val="F95F87"/>
                </a:solidFill>
                <a:latin typeface="Georgia"/>
                <a:cs typeface="Georgia"/>
              </a:rPr>
              <a:t>s</a:t>
            </a:r>
            <a:r>
              <a:rPr dirty="0" sz="1850" spc="-140" b="1">
                <a:solidFill>
                  <a:srgbClr val="F95F87"/>
                </a:solidFill>
                <a:latin typeface="Georgia"/>
                <a:cs typeface="Georgia"/>
              </a:rPr>
              <a:t> </a:t>
            </a:r>
            <a:r>
              <a:rPr dirty="0" sz="1850" spc="-95" b="1">
                <a:solidFill>
                  <a:srgbClr val="F95F87"/>
                </a:solidFill>
                <a:latin typeface="Georgia"/>
                <a:cs typeface="Georgia"/>
              </a:rPr>
              <a:t>y</a:t>
            </a:r>
            <a:r>
              <a:rPr dirty="0" sz="1850" spc="-140" b="1">
                <a:solidFill>
                  <a:srgbClr val="F95F87"/>
                </a:solidFill>
                <a:latin typeface="Georgia"/>
                <a:cs typeface="Georgia"/>
              </a:rPr>
              <a:t> </a:t>
            </a:r>
            <a:r>
              <a:rPr dirty="0" sz="1850" spc="-170" b="1">
                <a:solidFill>
                  <a:srgbClr val="F95F87"/>
                </a:solidFill>
                <a:latin typeface="Georgia"/>
                <a:cs typeface="Georgia"/>
              </a:rPr>
              <a:t>T</a:t>
            </a:r>
            <a:r>
              <a:rPr dirty="0" sz="1850" spc="-215" b="1">
                <a:solidFill>
                  <a:srgbClr val="F95F87"/>
                </a:solidFill>
                <a:latin typeface="Georgia"/>
                <a:cs typeface="Georgia"/>
              </a:rPr>
              <a:t>r</a:t>
            </a:r>
            <a:r>
              <a:rPr dirty="0" sz="1850" spc="-175" b="1">
                <a:solidFill>
                  <a:srgbClr val="F95F87"/>
                </a:solidFill>
                <a:latin typeface="Georgia"/>
                <a:cs typeface="Georgia"/>
              </a:rPr>
              <a:t>a</a:t>
            </a:r>
            <a:r>
              <a:rPr dirty="0" sz="1850" spc="-155" b="1">
                <a:solidFill>
                  <a:srgbClr val="F95F87"/>
                </a:solidFill>
                <a:latin typeface="Georgia"/>
                <a:cs typeface="Georgia"/>
              </a:rPr>
              <a:t>n</a:t>
            </a:r>
            <a:r>
              <a:rPr dirty="0" sz="1850" spc="-140" b="1">
                <a:solidFill>
                  <a:srgbClr val="F95F87"/>
                </a:solidFill>
                <a:latin typeface="Georgia"/>
                <a:cs typeface="Georgia"/>
              </a:rPr>
              <a:t>s</a:t>
            </a:r>
            <a:r>
              <a:rPr dirty="0" sz="1850" spc="-70" b="1">
                <a:solidFill>
                  <a:srgbClr val="F95F87"/>
                </a:solidFill>
                <a:latin typeface="Georgia"/>
                <a:cs typeface="Georgia"/>
              </a:rPr>
              <a:t>i</a:t>
            </a:r>
            <a:r>
              <a:rPr dirty="0" sz="1850" spc="-140" b="1">
                <a:solidFill>
                  <a:srgbClr val="F95F87"/>
                </a:solidFill>
                <a:latin typeface="Georgia"/>
                <a:cs typeface="Georgia"/>
              </a:rPr>
              <a:t>s</a:t>
            </a:r>
            <a:r>
              <a:rPr dirty="0" sz="1850" spc="-105" b="1">
                <a:solidFill>
                  <a:srgbClr val="F95F87"/>
                </a:solidFill>
                <a:latin typeface="Georgia"/>
                <a:cs typeface="Georgia"/>
              </a:rPr>
              <a:t>t</a:t>
            </a:r>
            <a:r>
              <a:rPr dirty="0" sz="1850" spc="-190" b="1">
                <a:solidFill>
                  <a:srgbClr val="F95F87"/>
                </a:solidFill>
                <a:latin typeface="Georgia"/>
                <a:cs typeface="Georgia"/>
              </a:rPr>
              <a:t>o</a:t>
            </a:r>
            <a:r>
              <a:rPr dirty="0" sz="1850" spc="-204" b="1">
                <a:solidFill>
                  <a:srgbClr val="F95F87"/>
                </a:solidFill>
                <a:latin typeface="Georgia"/>
                <a:cs typeface="Georgia"/>
              </a:rPr>
              <a:t>r</a:t>
            </a:r>
            <a:r>
              <a:rPr dirty="0" sz="1850" spc="-165" b="1">
                <a:solidFill>
                  <a:srgbClr val="F95F87"/>
                </a:solidFill>
                <a:latin typeface="Georgia"/>
                <a:cs typeface="Georgia"/>
              </a:rPr>
              <a:t>e</a:t>
            </a:r>
            <a:r>
              <a:rPr dirty="0" sz="1850" spc="-100" b="1">
                <a:solidFill>
                  <a:srgbClr val="F95F87"/>
                </a:solidFill>
                <a:latin typeface="Georgia"/>
                <a:cs typeface="Georgia"/>
              </a:rPr>
              <a:t>s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1250"/>
              </a:spcBef>
            </a:pPr>
            <a:r>
              <a:rPr dirty="0" sz="1350" spc="20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5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p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v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u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-5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n  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la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base de 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la 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lógica 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digital 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y 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la </a:t>
            </a:r>
            <a:r>
              <a:rPr dirty="0" sz="1350" spc="2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electrónica</a:t>
            </a:r>
            <a:r>
              <a:rPr dirty="0" sz="1350" spc="-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conmutación.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591300"/>
          </a:xfrm>
          <a:custGeom>
            <a:avLst/>
            <a:gdLst/>
            <a:ahLst/>
            <a:cxnLst/>
            <a:rect l="l" t="t" r="r" b="b"/>
            <a:pathLst>
              <a:path w="11430000" h="6591300">
                <a:moveTo>
                  <a:pt x="11430000" y="0"/>
                </a:moveTo>
                <a:lnTo>
                  <a:pt x="0" y="0"/>
                </a:lnTo>
                <a:lnTo>
                  <a:pt x="0" y="6591300"/>
                </a:lnTo>
                <a:lnTo>
                  <a:pt x="11430000" y="65913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DFA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6591300"/>
            <a:chOff x="7143750" y="253"/>
            <a:chExt cx="4286250" cy="6591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59104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07847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420687"/>
            <a:ext cx="5751830" cy="1181735"/>
          </a:xfrm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ts val="4650"/>
              </a:lnSpc>
              <a:spcBef>
                <a:spcPts val="5"/>
              </a:spcBef>
            </a:pPr>
            <a:r>
              <a:rPr dirty="0" spc="-300">
                <a:latin typeface="Arial"/>
                <a:cs typeface="Arial"/>
              </a:rPr>
              <a:t>F</a:t>
            </a:r>
            <a:r>
              <a:rPr dirty="0" spc="-90">
                <a:latin typeface="Arial"/>
                <a:cs typeface="Arial"/>
              </a:rPr>
              <a:t>u</a:t>
            </a:r>
            <a:r>
              <a:rPr dirty="0" spc="-15">
                <a:latin typeface="Arial"/>
                <a:cs typeface="Arial"/>
              </a:rPr>
              <a:t>n</a:t>
            </a:r>
            <a:r>
              <a:rPr dirty="0" spc="-295">
                <a:latin typeface="Arial"/>
                <a:cs typeface="Arial"/>
              </a:rPr>
              <a:t>c</a:t>
            </a:r>
            <a:r>
              <a:rPr dirty="0" spc="145">
                <a:latin typeface="Arial"/>
                <a:cs typeface="Arial"/>
              </a:rPr>
              <a:t>i</a:t>
            </a:r>
            <a:r>
              <a:rPr dirty="0" spc="-275">
                <a:latin typeface="Arial"/>
                <a:cs typeface="Arial"/>
              </a:rPr>
              <a:t>o</a:t>
            </a:r>
            <a:r>
              <a:rPr dirty="0" spc="-15">
                <a:latin typeface="Arial"/>
                <a:cs typeface="Arial"/>
              </a:rPr>
              <a:t>n</a:t>
            </a:r>
            <a:r>
              <a:rPr dirty="0" spc="-195">
                <a:latin typeface="Arial"/>
                <a:cs typeface="Arial"/>
              </a:rPr>
              <a:t>a</a:t>
            </a:r>
            <a:r>
              <a:rPr dirty="0" spc="5">
                <a:latin typeface="Arial"/>
                <a:cs typeface="Arial"/>
              </a:rPr>
              <a:t>m</a:t>
            </a:r>
            <a:r>
              <a:rPr dirty="0" spc="145">
                <a:latin typeface="Arial"/>
                <a:cs typeface="Arial"/>
              </a:rPr>
              <a:t>i</a:t>
            </a:r>
            <a:r>
              <a:rPr dirty="0" spc="-260">
                <a:latin typeface="Arial"/>
                <a:cs typeface="Arial"/>
              </a:rPr>
              <a:t>e</a:t>
            </a:r>
            <a:r>
              <a:rPr dirty="0" spc="-45">
                <a:latin typeface="Arial"/>
                <a:cs typeface="Arial"/>
              </a:rPr>
              <a:t>n</a:t>
            </a:r>
            <a:r>
              <a:rPr dirty="0" spc="35">
                <a:latin typeface="Arial"/>
                <a:cs typeface="Arial"/>
              </a:rPr>
              <a:t>t</a:t>
            </a:r>
            <a:r>
              <a:rPr dirty="0" spc="-200">
                <a:latin typeface="Arial"/>
                <a:cs typeface="Arial"/>
              </a:rPr>
              <a:t>o</a:t>
            </a:r>
            <a:r>
              <a:rPr dirty="0" spc="-365">
                <a:latin typeface="Arial"/>
                <a:cs typeface="Arial"/>
              </a:rPr>
              <a:t> </a:t>
            </a:r>
            <a:r>
              <a:rPr dirty="0" spc="-114">
                <a:latin typeface="Arial"/>
                <a:cs typeface="Arial"/>
              </a:rPr>
              <a:t>d</a:t>
            </a:r>
            <a:r>
              <a:rPr dirty="0" spc="-185">
                <a:latin typeface="Arial"/>
                <a:cs typeface="Arial"/>
              </a:rPr>
              <a:t>e</a:t>
            </a:r>
            <a:r>
              <a:rPr dirty="0" spc="-365">
                <a:latin typeface="Arial"/>
                <a:cs typeface="Arial"/>
              </a:rPr>
              <a:t> </a:t>
            </a:r>
            <a:r>
              <a:rPr dirty="0" spc="-150">
                <a:latin typeface="Arial"/>
                <a:cs typeface="Arial"/>
              </a:rPr>
              <a:t>p</a:t>
            </a:r>
            <a:r>
              <a:rPr dirty="0" spc="-90">
                <a:latin typeface="Arial"/>
                <a:cs typeface="Arial"/>
              </a:rPr>
              <a:t>u</a:t>
            </a:r>
            <a:r>
              <a:rPr dirty="0" spc="-260">
                <a:latin typeface="Arial"/>
                <a:cs typeface="Arial"/>
              </a:rPr>
              <a:t>e</a:t>
            </a:r>
            <a:r>
              <a:rPr dirty="0" spc="105">
                <a:latin typeface="Arial"/>
                <a:cs typeface="Arial"/>
              </a:rPr>
              <a:t>r</a:t>
            </a:r>
            <a:r>
              <a:rPr dirty="0" spc="35">
                <a:latin typeface="Arial"/>
                <a:cs typeface="Arial"/>
              </a:rPr>
              <a:t>t</a:t>
            </a:r>
            <a:r>
              <a:rPr dirty="0" spc="-195">
                <a:latin typeface="Arial"/>
                <a:cs typeface="Arial"/>
              </a:rPr>
              <a:t>a</a:t>
            </a:r>
            <a:r>
              <a:rPr dirty="0" spc="-240">
                <a:latin typeface="Arial"/>
                <a:cs typeface="Arial"/>
              </a:rPr>
              <a:t>s  </a:t>
            </a:r>
            <a:r>
              <a:rPr dirty="0" spc="90">
                <a:latin typeface="Arial"/>
                <a:cs typeface="Arial"/>
              </a:rPr>
              <a:t>l</a:t>
            </a:r>
            <a:r>
              <a:rPr dirty="0" spc="-275">
                <a:latin typeface="Arial"/>
                <a:cs typeface="Arial"/>
              </a:rPr>
              <a:t>ó</a:t>
            </a:r>
            <a:r>
              <a:rPr dirty="0" spc="-450">
                <a:latin typeface="Arial"/>
                <a:cs typeface="Arial"/>
              </a:rPr>
              <a:t>g</a:t>
            </a:r>
            <a:r>
              <a:rPr dirty="0" spc="145">
                <a:latin typeface="Arial"/>
                <a:cs typeface="Arial"/>
              </a:rPr>
              <a:t>i</a:t>
            </a:r>
            <a:r>
              <a:rPr dirty="0" spc="-295">
                <a:latin typeface="Arial"/>
                <a:cs typeface="Arial"/>
              </a:rPr>
              <a:t>c</a:t>
            </a:r>
            <a:r>
              <a:rPr dirty="0" spc="-195">
                <a:latin typeface="Arial"/>
                <a:cs typeface="Arial"/>
              </a:rPr>
              <a:t>a</a:t>
            </a:r>
            <a:r>
              <a:rPr dirty="0" spc="-355">
                <a:latin typeface="Arial"/>
                <a:cs typeface="Arial"/>
              </a:rPr>
              <a:t>s</a:t>
            </a:r>
            <a:r>
              <a:rPr dirty="0" spc="-365">
                <a:latin typeface="Arial"/>
                <a:cs typeface="Arial"/>
              </a:rPr>
              <a:t> </a:t>
            </a:r>
            <a:r>
              <a:rPr dirty="0" spc="-165">
                <a:latin typeface="Arial"/>
                <a:cs typeface="Arial"/>
              </a:rPr>
              <a:t>y</a:t>
            </a:r>
            <a:r>
              <a:rPr dirty="0" spc="-365">
                <a:latin typeface="Arial"/>
                <a:cs typeface="Arial"/>
              </a:rPr>
              <a:t> </a:t>
            </a:r>
            <a:r>
              <a:rPr dirty="0" spc="-195">
                <a:latin typeface="Arial"/>
                <a:cs typeface="Arial"/>
              </a:rPr>
              <a:t>á</a:t>
            </a:r>
            <a:r>
              <a:rPr dirty="0" spc="90">
                <a:latin typeface="Arial"/>
                <a:cs typeface="Arial"/>
              </a:rPr>
              <a:t>l</a:t>
            </a:r>
            <a:r>
              <a:rPr dirty="0" spc="-520">
                <a:latin typeface="Arial"/>
                <a:cs typeface="Arial"/>
              </a:rPr>
              <a:t>g</a:t>
            </a:r>
            <a:r>
              <a:rPr dirty="0" spc="-260">
                <a:latin typeface="Arial"/>
                <a:cs typeface="Arial"/>
              </a:rPr>
              <a:t>e</a:t>
            </a:r>
            <a:r>
              <a:rPr dirty="0" spc="-200">
                <a:latin typeface="Arial"/>
                <a:cs typeface="Arial"/>
              </a:rPr>
              <a:t>b</a:t>
            </a:r>
            <a:r>
              <a:rPr dirty="0" spc="65">
                <a:latin typeface="Arial"/>
                <a:cs typeface="Arial"/>
              </a:rPr>
              <a:t>r</a:t>
            </a:r>
            <a:r>
              <a:rPr dirty="0" spc="-120">
                <a:latin typeface="Arial"/>
                <a:cs typeface="Arial"/>
              </a:rPr>
              <a:t>a</a:t>
            </a:r>
            <a:r>
              <a:rPr dirty="0" spc="-365">
                <a:latin typeface="Arial"/>
                <a:cs typeface="Arial"/>
              </a:rPr>
              <a:t> </a:t>
            </a:r>
            <a:r>
              <a:rPr dirty="0" spc="-200">
                <a:latin typeface="Arial"/>
                <a:cs typeface="Arial"/>
              </a:rPr>
              <a:t>b</a:t>
            </a:r>
            <a:r>
              <a:rPr dirty="0" spc="-275">
                <a:latin typeface="Arial"/>
                <a:cs typeface="Arial"/>
              </a:rPr>
              <a:t>oo</a:t>
            </a:r>
            <a:r>
              <a:rPr dirty="0" spc="90">
                <a:latin typeface="Arial"/>
                <a:cs typeface="Arial"/>
              </a:rPr>
              <a:t>l</a:t>
            </a:r>
            <a:r>
              <a:rPr dirty="0" spc="-260">
                <a:latin typeface="Arial"/>
                <a:cs typeface="Arial"/>
              </a:rPr>
              <a:t>e</a:t>
            </a:r>
            <a:r>
              <a:rPr dirty="0" spc="-195">
                <a:latin typeface="Arial"/>
                <a:cs typeface="Arial"/>
              </a:rPr>
              <a:t>a</a:t>
            </a:r>
            <a:r>
              <a:rPr dirty="0" spc="-15">
                <a:latin typeface="Arial"/>
                <a:cs typeface="Arial"/>
              </a:rPr>
              <a:t>n</a:t>
            </a:r>
            <a:r>
              <a:rPr dirty="0" spc="-120">
                <a:latin typeface="Arial"/>
                <a:cs typeface="Arial"/>
              </a:rPr>
              <a:t>a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64368" y="1904999"/>
            <a:ext cx="972185" cy="4210050"/>
            <a:chOff x="664368" y="1904999"/>
            <a:chExt cx="972185" cy="4210050"/>
          </a:xfrm>
        </p:grpSpPr>
        <p:sp>
          <p:nvSpPr>
            <p:cNvPr id="8" name="object 8"/>
            <p:cNvSpPr/>
            <p:nvPr/>
          </p:nvSpPr>
          <p:spPr>
            <a:xfrm>
              <a:off x="847725" y="1904999"/>
              <a:ext cx="788670" cy="4210050"/>
            </a:xfrm>
            <a:custGeom>
              <a:avLst/>
              <a:gdLst/>
              <a:ahLst/>
              <a:cxnLst/>
              <a:rect l="l" t="t" r="r" b="b"/>
              <a:pathLst>
                <a:path w="788669" h="4210050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200537"/>
                  </a:lnTo>
                  <a:lnTo>
                    <a:pt x="0" y="4203166"/>
                  </a:lnTo>
                  <a:lnTo>
                    <a:pt x="927" y="4205401"/>
                  </a:lnTo>
                  <a:lnTo>
                    <a:pt x="4648" y="4209123"/>
                  </a:lnTo>
                  <a:lnTo>
                    <a:pt x="6896" y="4210050"/>
                  </a:lnTo>
                  <a:lnTo>
                    <a:pt x="12153" y="4210050"/>
                  </a:lnTo>
                  <a:lnTo>
                    <a:pt x="14401" y="4209123"/>
                  </a:lnTo>
                  <a:lnTo>
                    <a:pt x="18122" y="4205401"/>
                  </a:lnTo>
                  <a:lnTo>
                    <a:pt x="19050" y="4203166"/>
                  </a:lnTo>
                  <a:lnTo>
                    <a:pt x="19050" y="6896"/>
                  </a:lnTo>
                  <a:close/>
                </a:path>
                <a:path w="788669" h="4210050">
                  <a:moveTo>
                    <a:pt x="788200" y="387896"/>
                  </a:moveTo>
                  <a:lnTo>
                    <a:pt x="787260" y="385648"/>
                  </a:lnTo>
                  <a:lnTo>
                    <a:pt x="783539" y="381927"/>
                  </a:lnTo>
                  <a:lnTo>
                    <a:pt x="781304" y="381000"/>
                  </a:lnTo>
                  <a:lnTo>
                    <a:pt x="195008" y="381000"/>
                  </a:lnTo>
                  <a:lnTo>
                    <a:pt x="192760" y="381927"/>
                  </a:lnTo>
                  <a:lnTo>
                    <a:pt x="189039" y="385648"/>
                  </a:lnTo>
                  <a:lnTo>
                    <a:pt x="188112" y="387896"/>
                  </a:lnTo>
                  <a:lnTo>
                    <a:pt x="188112" y="390525"/>
                  </a:lnTo>
                  <a:lnTo>
                    <a:pt x="188112" y="393153"/>
                  </a:lnTo>
                  <a:lnTo>
                    <a:pt x="189039" y="395401"/>
                  </a:lnTo>
                  <a:lnTo>
                    <a:pt x="192760" y="399122"/>
                  </a:lnTo>
                  <a:lnTo>
                    <a:pt x="195008" y="400050"/>
                  </a:lnTo>
                  <a:lnTo>
                    <a:pt x="781304" y="400050"/>
                  </a:lnTo>
                  <a:lnTo>
                    <a:pt x="783539" y="399122"/>
                  </a:lnTo>
                  <a:lnTo>
                    <a:pt x="787260" y="395401"/>
                  </a:lnTo>
                  <a:lnTo>
                    <a:pt x="788200" y="393153"/>
                  </a:lnTo>
                  <a:lnTo>
                    <a:pt x="788200" y="387896"/>
                  </a:lnTo>
                  <a:close/>
                </a:path>
              </a:pathLst>
            </a:custGeom>
            <a:solidFill>
              <a:srgbClr val="C6BC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9131" y="21097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25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62"/>
                  </a:lnTo>
                  <a:lnTo>
                    <a:pt x="381000" y="51625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69131" y="21097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25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34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25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43"/>
                  </a:lnTo>
                  <a:lnTo>
                    <a:pt x="362252" y="357860"/>
                  </a:lnTo>
                  <a:lnTo>
                    <a:pt x="336534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9311" y="346925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86804" y="2076132"/>
            <a:ext cx="14668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275" b="1">
                <a:solidFill>
                  <a:srgbClr val="262424"/>
                </a:solidFill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7525" y="2037556"/>
            <a:ext cx="4469765" cy="953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140" b="1">
                <a:solidFill>
                  <a:srgbClr val="262424"/>
                </a:solidFill>
                <a:latin typeface="Arial"/>
                <a:cs typeface="Arial"/>
              </a:rPr>
              <a:t>P</a:t>
            </a:r>
            <a:r>
              <a:rPr dirty="0" sz="1850" spc="-50" b="1">
                <a:solidFill>
                  <a:srgbClr val="262424"/>
                </a:solidFill>
                <a:latin typeface="Arial"/>
                <a:cs typeface="Arial"/>
              </a:rPr>
              <a:t>u</a:t>
            </a:r>
            <a:r>
              <a:rPr dirty="0" sz="1850" spc="-135" b="1">
                <a:solidFill>
                  <a:srgbClr val="262424"/>
                </a:solidFill>
                <a:latin typeface="Arial"/>
                <a:cs typeface="Arial"/>
              </a:rPr>
              <a:t>e</a:t>
            </a:r>
            <a:r>
              <a:rPr dirty="0" sz="1850" spc="50" b="1">
                <a:solidFill>
                  <a:srgbClr val="262424"/>
                </a:solidFill>
                <a:latin typeface="Arial"/>
                <a:cs typeface="Arial"/>
              </a:rPr>
              <a:t>r</a:t>
            </a:r>
            <a:r>
              <a:rPr dirty="0" sz="1850" spc="15" b="1">
                <a:solidFill>
                  <a:srgbClr val="262424"/>
                </a:solidFill>
                <a:latin typeface="Arial"/>
                <a:cs typeface="Arial"/>
              </a:rPr>
              <a:t>t</a:t>
            </a:r>
            <a:r>
              <a:rPr dirty="0" sz="1850" spc="-100" b="1">
                <a:solidFill>
                  <a:srgbClr val="262424"/>
                </a:solidFill>
                <a:latin typeface="Arial"/>
                <a:cs typeface="Arial"/>
              </a:rPr>
              <a:t>a</a:t>
            </a:r>
            <a:r>
              <a:rPr dirty="0" sz="1850" spc="-180" b="1">
                <a:solidFill>
                  <a:srgbClr val="262424"/>
                </a:solidFill>
                <a:latin typeface="Arial"/>
                <a:cs typeface="Arial"/>
              </a:rPr>
              <a:t>s</a:t>
            </a:r>
            <a:r>
              <a:rPr dirty="0" sz="1850" spc="-185" b="1">
                <a:solidFill>
                  <a:srgbClr val="262424"/>
                </a:solidFill>
                <a:latin typeface="Arial"/>
                <a:cs typeface="Arial"/>
              </a:rPr>
              <a:t> </a:t>
            </a:r>
            <a:r>
              <a:rPr dirty="0" sz="1850" spc="-85" b="1">
                <a:solidFill>
                  <a:srgbClr val="262424"/>
                </a:solidFill>
                <a:latin typeface="Arial"/>
                <a:cs typeface="Arial"/>
              </a:rPr>
              <a:t>L</a:t>
            </a:r>
            <a:r>
              <a:rPr dirty="0" sz="1850" spc="-140" b="1">
                <a:solidFill>
                  <a:srgbClr val="262424"/>
                </a:solidFill>
                <a:latin typeface="Arial"/>
                <a:cs typeface="Arial"/>
              </a:rPr>
              <a:t>ó</a:t>
            </a:r>
            <a:r>
              <a:rPr dirty="0" sz="1850" spc="-229" b="1">
                <a:solidFill>
                  <a:srgbClr val="262424"/>
                </a:solidFill>
                <a:latin typeface="Arial"/>
                <a:cs typeface="Arial"/>
              </a:rPr>
              <a:t>g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-15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-100" b="1">
                <a:solidFill>
                  <a:srgbClr val="262424"/>
                </a:solidFill>
                <a:latin typeface="Arial"/>
                <a:cs typeface="Arial"/>
              </a:rPr>
              <a:t>a</a:t>
            </a:r>
            <a:r>
              <a:rPr dirty="0" sz="1850" spc="-180" b="1">
                <a:solidFill>
                  <a:srgbClr val="262424"/>
                </a:solidFill>
                <a:latin typeface="Arial"/>
                <a:cs typeface="Arial"/>
              </a:rPr>
              <a:t>s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725"/>
              </a:spcBef>
            </a:pP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ó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u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 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lógicas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básicas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como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AND,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OR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NOT.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4368" y="3562350"/>
            <a:ext cx="972185" cy="381000"/>
            <a:chOff x="664368" y="3562350"/>
            <a:chExt cx="972185" cy="381000"/>
          </a:xfrm>
        </p:grpSpPr>
        <p:sp>
          <p:nvSpPr>
            <p:cNvPr id="14" name="object 14"/>
            <p:cNvSpPr/>
            <p:nvPr/>
          </p:nvSpPr>
          <p:spPr>
            <a:xfrm>
              <a:off x="1035843" y="3743325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C6BC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69131" y="3567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69131" y="3567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7297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34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43"/>
                  </a:lnTo>
                  <a:lnTo>
                    <a:pt x="371688" y="346913"/>
                  </a:lnTo>
                  <a:lnTo>
                    <a:pt x="369674" y="349935"/>
                  </a:lnTo>
                  <a:lnTo>
                    <a:pt x="336534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9311" y="346913"/>
                  </a:lnTo>
                  <a:lnTo>
                    <a:pt x="7297" y="343903"/>
                  </a:lnTo>
                  <a:lnTo>
                    <a:pt x="5590" y="340728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67160" y="3533457"/>
            <a:ext cx="18605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35" b="1">
                <a:solidFill>
                  <a:srgbClr val="262424"/>
                </a:solidFill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87526" y="3504406"/>
            <a:ext cx="4262755" cy="943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125" b="1">
                <a:solidFill>
                  <a:srgbClr val="262424"/>
                </a:solidFill>
                <a:latin typeface="Arial"/>
                <a:cs typeface="Arial"/>
              </a:rPr>
              <a:t>Á</a:t>
            </a:r>
            <a:r>
              <a:rPr dirty="0" sz="1850" spc="40" b="1">
                <a:solidFill>
                  <a:srgbClr val="262424"/>
                </a:solidFill>
                <a:latin typeface="Arial"/>
                <a:cs typeface="Arial"/>
              </a:rPr>
              <a:t>l</a:t>
            </a:r>
            <a:r>
              <a:rPr dirty="0" sz="1850" spc="-265" b="1">
                <a:solidFill>
                  <a:srgbClr val="262424"/>
                </a:solidFill>
                <a:latin typeface="Arial"/>
                <a:cs typeface="Arial"/>
              </a:rPr>
              <a:t>g</a:t>
            </a:r>
            <a:r>
              <a:rPr dirty="0" sz="1850" spc="-135" b="1">
                <a:solidFill>
                  <a:srgbClr val="262424"/>
                </a:solidFill>
                <a:latin typeface="Arial"/>
                <a:cs typeface="Arial"/>
              </a:rPr>
              <a:t>e</a:t>
            </a:r>
            <a:r>
              <a:rPr dirty="0" sz="1850" spc="-105" b="1">
                <a:solidFill>
                  <a:srgbClr val="262424"/>
                </a:solidFill>
                <a:latin typeface="Arial"/>
                <a:cs typeface="Arial"/>
              </a:rPr>
              <a:t>b</a:t>
            </a:r>
            <a:r>
              <a:rPr dirty="0" sz="1850" spc="30" b="1">
                <a:solidFill>
                  <a:srgbClr val="262424"/>
                </a:solidFill>
                <a:latin typeface="Arial"/>
                <a:cs typeface="Arial"/>
              </a:rPr>
              <a:t>r</a:t>
            </a:r>
            <a:r>
              <a:rPr dirty="0" sz="1850" spc="-60" b="1">
                <a:solidFill>
                  <a:srgbClr val="262424"/>
                </a:solidFill>
                <a:latin typeface="Arial"/>
                <a:cs typeface="Arial"/>
              </a:rPr>
              <a:t>a</a:t>
            </a:r>
            <a:r>
              <a:rPr dirty="0" sz="1850" spc="-185" b="1">
                <a:solidFill>
                  <a:srgbClr val="262424"/>
                </a:solidFill>
                <a:latin typeface="Arial"/>
                <a:cs typeface="Arial"/>
              </a:rPr>
              <a:t> </a:t>
            </a:r>
            <a:r>
              <a:rPr dirty="0" sz="1850" spc="-204" b="1">
                <a:solidFill>
                  <a:srgbClr val="262424"/>
                </a:solidFill>
                <a:latin typeface="Arial"/>
                <a:cs typeface="Arial"/>
              </a:rPr>
              <a:t>B</a:t>
            </a:r>
            <a:r>
              <a:rPr dirty="0" sz="1850" spc="-140" b="1">
                <a:solidFill>
                  <a:srgbClr val="262424"/>
                </a:solidFill>
                <a:latin typeface="Arial"/>
                <a:cs typeface="Arial"/>
              </a:rPr>
              <a:t>oo</a:t>
            </a:r>
            <a:r>
              <a:rPr dirty="0" sz="1850" spc="40" b="1">
                <a:solidFill>
                  <a:srgbClr val="262424"/>
                </a:solidFill>
                <a:latin typeface="Arial"/>
                <a:cs typeface="Arial"/>
              </a:rPr>
              <a:t>l</a:t>
            </a:r>
            <a:r>
              <a:rPr dirty="0" sz="1850" spc="-135" b="1">
                <a:solidFill>
                  <a:srgbClr val="262424"/>
                </a:solidFill>
                <a:latin typeface="Arial"/>
                <a:cs typeface="Arial"/>
              </a:rPr>
              <a:t>e</a:t>
            </a:r>
            <a:r>
              <a:rPr dirty="0" sz="1850" spc="-100" b="1">
                <a:solidFill>
                  <a:srgbClr val="262424"/>
                </a:solidFill>
                <a:latin typeface="Arial"/>
                <a:cs typeface="Arial"/>
              </a:rPr>
              <a:t>a</a:t>
            </a:r>
            <a:r>
              <a:rPr dirty="0" sz="1850" spc="-10" b="1">
                <a:solidFill>
                  <a:srgbClr val="262424"/>
                </a:solidFill>
                <a:latin typeface="Arial"/>
                <a:cs typeface="Arial"/>
              </a:rPr>
              <a:t>n</a:t>
            </a:r>
            <a:r>
              <a:rPr dirty="0" sz="1850" spc="-60" b="1">
                <a:solidFill>
                  <a:srgbClr val="262424"/>
                </a:solidFill>
                <a:latin typeface="Arial"/>
                <a:cs typeface="Arial"/>
              </a:rPr>
              <a:t>a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650"/>
              </a:spcBef>
            </a:pP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Estudiaremos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cómo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el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algebra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booleana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se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utiliza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para </a:t>
            </a:r>
            <a:r>
              <a:rPr dirty="0" sz="1350" spc="-459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describir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simplificar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la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lógica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digital.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64368" y="5019675"/>
            <a:ext cx="972185" cy="390525"/>
            <a:chOff x="664368" y="5019675"/>
            <a:chExt cx="972185" cy="390525"/>
          </a:xfrm>
        </p:grpSpPr>
        <p:sp>
          <p:nvSpPr>
            <p:cNvPr id="20" name="object 20"/>
            <p:cNvSpPr/>
            <p:nvPr/>
          </p:nvSpPr>
          <p:spPr>
            <a:xfrm>
              <a:off x="1035843" y="5210175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C6BC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69131" y="50244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25756"/>
                  </a:lnTo>
                  <a:lnTo>
                    <a:pt x="0" y="329382"/>
                  </a:lnTo>
                  <a:lnTo>
                    <a:pt x="18747" y="367383"/>
                  </a:lnTo>
                  <a:lnTo>
                    <a:pt x="51619" y="381001"/>
                  </a:lnTo>
                  <a:lnTo>
                    <a:pt x="329380" y="381001"/>
                  </a:lnTo>
                  <a:lnTo>
                    <a:pt x="367381" y="362253"/>
                  </a:lnTo>
                  <a:lnTo>
                    <a:pt x="381000" y="329382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69131" y="50244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6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7297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34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6"/>
                  </a:lnTo>
                  <a:lnTo>
                    <a:pt x="381000" y="329382"/>
                  </a:lnTo>
                  <a:lnTo>
                    <a:pt x="380648" y="332973"/>
                  </a:lnTo>
                  <a:lnTo>
                    <a:pt x="379938" y="336530"/>
                  </a:lnTo>
                  <a:lnTo>
                    <a:pt x="379228" y="340088"/>
                  </a:lnTo>
                  <a:lnTo>
                    <a:pt x="378181" y="343546"/>
                  </a:lnTo>
                  <a:lnTo>
                    <a:pt x="376793" y="346894"/>
                  </a:lnTo>
                  <a:lnTo>
                    <a:pt x="375404" y="350248"/>
                  </a:lnTo>
                  <a:lnTo>
                    <a:pt x="373702" y="353433"/>
                  </a:lnTo>
                  <a:lnTo>
                    <a:pt x="371688" y="356444"/>
                  </a:lnTo>
                  <a:lnTo>
                    <a:pt x="369674" y="359460"/>
                  </a:lnTo>
                  <a:lnTo>
                    <a:pt x="336534" y="379939"/>
                  </a:lnTo>
                  <a:lnTo>
                    <a:pt x="329380" y="381001"/>
                  </a:lnTo>
                  <a:lnTo>
                    <a:pt x="325755" y="381001"/>
                  </a:lnTo>
                  <a:lnTo>
                    <a:pt x="55245" y="381001"/>
                  </a:lnTo>
                  <a:lnTo>
                    <a:pt x="51619" y="381001"/>
                  </a:lnTo>
                  <a:lnTo>
                    <a:pt x="48026" y="380644"/>
                  </a:lnTo>
                  <a:lnTo>
                    <a:pt x="13618" y="362253"/>
                  </a:lnTo>
                  <a:lnTo>
                    <a:pt x="9311" y="356444"/>
                  </a:lnTo>
                  <a:lnTo>
                    <a:pt x="7297" y="353433"/>
                  </a:lnTo>
                  <a:lnTo>
                    <a:pt x="5590" y="350248"/>
                  </a:lnTo>
                  <a:lnTo>
                    <a:pt x="4207" y="346894"/>
                  </a:lnTo>
                  <a:lnTo>
                    <a:pt x="2818" y="343546"/>
                  </a:lnTo>
                  <a:lnTo>
                    <a:pt x="1771" y="340088"/>
                  </a:lnTo>
                  <a:lnTo>
                    <a:pt x="1061" y="336530"/>
                  </a:lnTo>
                  <a:lnTo>
                    <a:pt x="351" y="332973"/>
                  </a:lnTo>
                  <a:lnTo>
                    <a:pt x="0" y="329382"/>
                  </a:lnTo>
                  <a:lnTo>
                    <a:pt x="0" y="325756"/>
                  </a:lnTo>
                  <a:close/>
                </a:path>
              </a:pathLst>
            </a:custGeom>
            <a:ln w="952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67308" y="5000307"/>
            <a:ext cx="18605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35" b="1">
                <a:solidFill>
                  <a:srgbClr val="262424"/>
                </a:solidFill>
                <a:latin typeface="Arial"/>
                <a:cs typeface="Arial"/>
              </a:rPr>
              <a:t>3</a:t>
            </a:r>
            <a:endParaRPr sz="2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87525" y="4961731"/>
            <a:ext cx="4446270" cy="953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15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40" b="1">
                <a:solidFill>
                  <a:srgbClr val="262424"/>
                </a:solidFill>
                <a:latin typeface="Arial"/>
                <a:cs typeface="Arial"/>
              </a:rPr>
              <a:t>r</a:t>
            </a:r>
            <a:r>
              <a:rPr dirty="0" sz="1850" spc="-17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-50" b="1">
                <a:solidFill>
                  <a:srgbClr val="262424"/>
                </a:solidFill>
                <a:latin typeface="Arial"/>
                <a:cs typeface="Arial"/>
              </a:rPr>
              <a:t>u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15" b="1">
                <a:solidFill>
                  <a:srgbClr val="262424"/>
                </a:solidFill>
                <a:latin typeface="Arial"/>
                <a:cs typeface="Arial"/>
              </a:rPr>
              <a:t>t</a:t>
            </a:r>
            <a:r>
              <a:rPr dirty="0" sz="1850" spc="-140" b="1">
                <a:solidFill>
                  <a:srgbClr val="262424"/>
                </a:solidFill>
                <a:latin typeface="Arial"/>
                <a:cs typeface="Arial"/>
              </a:rPr>
              <a:t>o</a:t>
            </a:r>
            <a:r>
              <a:rPr dirty="0" sz="1850" spc="-180" b="1">
                <a:solidFill>
                  <a:srgbClr val="262424"/>
                </a:solidFill>
                <a:latin typeface="Arial"/>
                <a:cs typeface="Arial"/>
              </a:rPr>
              <a:t>s</a:t>
            </a:r>
            <a:r>
              <a:rPr dirty="0" sz="1850" spc="-185" b="1">
                <a:solidFill>
                  <a:srgbClr val="262424"/>
                </a:solidFill>
                <a:latin typeface="Arial"/>
                <a:cs typeface="Arial"/>
              </a:rPr>
              <a:t> </a:t>
            </a:r>
            <a:r>
              <a:rPr dirty="0" sz="1850" spc="-15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-140" b="1">
                <a:solidFill>
                  <a:srgbClr val="262424"/>
                </a:solidFill>
                <a:latin typeface="Arial"/>
                <a:cs typeface="Arial"/>
              </a:rPr>
              <a:t>o</a:t>
            </a:r>
            <a:r>
              <a:rPr dirty="0" sz="1850" b="1">
                <a:solidFill>
                  <a:srgbClr val="262424"/>
                </a:solidFill>
                <a:latin typeface="Arial"/>
                <a:cs typeface="Arial"/>
              </a:rPr>
              <a:t>m</a:t>
            </a:r>
            <a:r>
              <a:rPr dirty="0" sz="1850" spc="-105" b="1">
                <a:solidFill>
                  <a:srgbClr val="262424"/>
                </a:solidFill>
                <a:latin typeface="Arial"/>
                <a:cs typeface="Arial"/>
              </a:rPr>
              <a:t>b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-10" b="1">
                <a:solidFill>
                  <a:srgbClr val="262424"/>
                </a:solidFill>
                <a:latin typeface="Arial"/>
                <a:cs typeface="Arial"/>
              </a:rPr>
              <a:t>n</a:t>
            </a:r>
            <a:r>
              <a:rPr dirty="0" sz="1850" spc="-100" b="1">
                <a:solidFill>
                  <a:srgbClr val="262424"/>
                </a:solidFill>
                <a:latin typeface="Arial"/>
                <a:cs typeface="Arial"/>
              </a:rPr>
              <a:t>a</a:t>
            </a:r>
            <a:r>
              <a:rPr dirty="0" sz="1850" spc="-15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-140" b="1">
                <a:solidFill>
                  <a:srgbClr val="262424"/>
                </a:solidFill>
                <a:latin typeface="Arial"/>
                <a:cs typeface="Arial"/>
              </a:rPr>
              <a:t>o</a:t>
            </a:r>
            <a:r>
              <a:rPr dirty="0" sz="1850" spc="-10" b="1">
                <a:solidFill>
                  <a:srgbClr val="262424"/>
                </a:solidFill>
                <a:latin typeface="Arial"/>
                <a:cs typeface="Arial"/>
              </a:rPr>
              <a:t>n</a:t>
            </a:r>
            <a:r>
              <a:rPr dirty="0" sz="1850" spc="-100" b="1">
                <a:solidFill>
                  <a:srgbClr val="262424"/>
                </a:solidFill>
                <a:latin typeface="Arial"/>
                <a:cs typeface="Arial"/>
              </a:rPr>
              <a:t>a</a:t>
            </a:r>
            <a:r>
              <a:rPr dirty="0" sz="1850" spc="40" b="1">
                <a:solidFill>
                  <a:srgbClr val="262424"/>
                </a:solidFill>
                <a:latin typeface="Arial"/>
                <a:cs typeface="Arial"/>
              </a:rPr>
              <a:t>l</a:t>
            </a:r>
            <a:r>
              <a:rPr dirty="0" sz="1850" spc="-135" b="1">
                <a:solidFill>
                  <a:srgbClr val="262424"/>
                </a:solidFill>
                <a:latin typeface="Arial"/>
                <a:cs typeface="Arial"/>
              </a:rPr>
              <a:t>e</a:t>
            </a:r>
            <a:r>
              <a:rPr dirty="0" sz="1850" spc="-180" b="1">
                <a:solidFill>
                  <a:srgbClr val="262424"/>
                </a:solidFill>
                <a:latin typeface="Arial"/>
                <a:cs typeface="Arial"/>
              </a:rPr>
              <a:t>s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725"/>
              </a:spcBef>
            </a:pP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li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z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ó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u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b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u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ó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g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50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  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u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14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á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70">
                <a:solidFill>
                  <a:srgbClr val="262424"/>
                </a:solidFill>
                <a:latin typeface="Verdana"/>
                <a:cs typeface="Verdana"/>
              </a:rPr>
              <a:t>j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277100"/>
          </a:xfrm>
          <a:custGeom>
            <a:avLst/>
            <a:gdLst/>
            <a:ahLst/>
            <a:cxnLst/>
            <a:rect l="l" t="t" r="r" b="b"/>
            <a:pathLst>
              <a:path w="11430000" h="7277100">
                <a:moveTo>
                  <a:pt x="11430000" y="0"/>
                </a:moveTo>
                <a:lnTo>
                  <a:pt x="0" y="0"/>
                </a:lnTo>
                <a:lnTo>
                  <a:pt x="0" y="7277100"/>
                </a:lnTo>
                <a:lnTo>
                  <a:pt x="11430000" y="72771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DFA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72768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73625" y="420687"/>
            <a:ext cx="4720590" cy="176276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270">
                <a:latin typeface="Arial"/>
                <a:cs typeface="Arial"/>
              </a:rPr>
              <a:t>P</a:t>
            </a:r>
            <a:r>
              <a:rPr dirty="0" spc="105">
                <a:latin typeface="Arial"/>
                <a:cs typeface="Arial"/>
              </a:rPr>
              <a:t>r</a:t>
            </a:r>
            <a:r>
              <a:rPr dirty="0" spc="145">
                <a:latin typeface="Arial"/>
                <a:cs typeface="Arial"/>
              </a:rPr>
              <a:t>i</a:t>
            </a:r>
            <a:r>
              <a:rPr dirty="0" spc="-15">
                <a:latin typeface="Arial"/>
                <a:cs typeface="Arial"/>
              </a:rPr>
              <a:t>n</a:t>
            </a:r>
            <a:r>
              <a:rPr dirty="0" spc="-295">
                <a:latin typeface="Arial"/>
                <a:cs typeface="Arial"/>
              </a:rPr>
              <a:t>c</a:t>
            </a:r>
            <a:r>
              <a:rPr dirty="0" spc="145">
                <a:latin typeface="Arial"/>
                <a:cs typeface="Arial"/>
              </a:rPr>
              <a:t>i</a:t>
            </a:r>
            <a:r>
              <a:rPr dirty="0" spc="-150">
                <a:latin typeface="Arial"/>
                <a:cs typeface="Arial"/>
              </a:rPr>
              <a:t>p</a:t>
            </a:r>
            <a:r>
              <a:rPr dirty="0" spc="145">
                <a:latin typeface="Arial"/>
                <a:cs typeface="Arial"/>
              </a:rPr>
              <a:t>i</a:t>
            </a:r>
            <a:r>
              <a:rPr dirty="0" spc="-275">
                <a:latin typeface="Arial"/>
                <a:cs typeface="Arial"/>
              </a:rPr>
              <a:t>o</a:t>
            </a:r>
            <a:r>
              <a:rPr dirty="0" spc="-355">
                <a:latin typeface="Arial"/>
                <a:cs typeface="Arial"/>
              </a:rPr>
              <a:t>s</a:t>
            </a:r>
            <a:r>
              <a:rPr dirty="0" spc="-365">
                <a:latin typeface="Arial"/>
                <a:cs typeface="Arial"/>
              </a:rPr>
              <a:t> </a:t>
            </a:r>
            <a:r>
              <a:rPr dirty="0" spc="-114">
                <a:latin typeface="Arial"/>
                <a:cs typeface="Arial"/>
              </a:rPr>
              <a:t>d</a:t>
            </a:r>
            <a:r>
              <a:rPr dirty="0" spc="-185">
                <a:latin typeface="Arial"/>
                <a:cs typeface="Arial"/>
              </a:rPr>
              <a:t>e</a:t>
            </a:r>
            <a:r>
              <a:rPr dirty="0" spc="-365">
                <a:latin typeface="Arial"/>
                <a:cs typeface="Arial"/>
              </a:rPr>
              <a:t> </a:t>
            </a:r>
            <a:r>
              <a:rPr dirty="0" spc="-295">
                <a:latin typeface="Arial"/>
                <a:cs typeface="Arial"/>
              </a:rPr>
              <a:t>c</a:t>
            </a:r>
            <a:r>
              <a:rPr dirty="0" spc="145">
                <a:latin typeface="Arial"/>
                <a:cs typeface="Arial"/>
              </a:rPr>
              <a:t>i</a:t>
            </a:r>
            <a:r>
              <a:rPr dirty="0" spc="85">
                <a:latin typeface="Arial"/>
                <a:cs typeface="Arial"/>
              </a:rPr>
              <a:t>r</a:t>
            </a:r>
            <a:r>
              <a:rPr dirty="0" spc="-340">
                <a:latin typeface="Arial"/>
                <a:cs typeface="Arial"/>
              </a:rPr>
              <a:t>c</a:t>
            </a:r>
            <a:r>
              <a:rPr dirty="0" spc="-90">
                <a:latin typeface="Arial"/>
                <a:cs typeface="Arial"/>
              </a:rPr>
              <a:t>u</a:t>
            </a:r>
            <a:r>
              <a:rPr dirty="0" spc="145">
                <a:latin typeface="Arial"/>
                <a:cs typeface="Arial"/>
              </a:rPr>
              <a:t>i</a:t>
            </a:r>
            <a:r>
              <a:rPr dirty="0" spc="35">
                <a:latin typeface="Arial"/>
                <a:cs typeface="Arial"/>
              </a:rPr>
              <a:t>t</a:t>
            </a:r>
            <a:r>
              <a:rPr dirty="0" spc="-275">
                <a:latin typeface="Arial"/>
                <a:cs typeface="Arial"/>
              </a:rPr>
              <a:t>o</a:t>
            </a:r>
            <a:r>
              <a:rPr dirty="0" spc="-355">
                <a:latin typeface="Arial"/>
                <a:cs typeface="Arial"/>
              </a:rPr>
              <a:t>s</a:t>
            </a:r>
          </a:p>
          <a:p>
            <a:pPr marL="12700" marR="808355">
              <a:lnSpc>
                <a:spcPct val="103000"/>
              </a:lnSpc>
              <a:spcBef>
                <a:spcPts val="80"/>
              </a:spcBef>
            </a:pPr>
            <a:r>
              <a:rPr dirty="0" spc="-295">
                <a:latin typeface="Arial"/>
                <a:cs typeface="Arial"/>
              </a:rPr>
              <a:t>c</a:t>
            </a:r>
            <a:r>
              <a:rPr dirty="0" spc="-275">
                <a:latin typeface="Arial"/>
                <a:cs typeface="Arial"/>
              </a:rPr>
              <a:t>o</a:t>
            </a:r>
            <a:r>
              <a:rPr dirty="0" spc="5">
                <a:latin typeface="Arial"/>
                <a:cs typeface="Arial"/>
              </a:rPr>
              <a:t>m</a:t>
            </a:r>
            <a:r>
              <a:rPr dirty="0" spc="-200">
                <a:latin typeface="Arial"/>
                <a:cs typeface="Arial"/>
              </a:rPr>
              <a:t>b</a:t>
            </a:r>
            <a:r>
              <a:rPr dirty="0" spc="145">
                <a:latin typeface="Arial"/>
                <a:cs typeface="Arial"/>
              </a:rPr>
              <a:t>i</a:t>
            </a:r>
            <a:r>
              <a:rPr dirty="0" spc="-15">
                <a:latin typeface="Arial"/>
                <a:cs typeface="Arial"/>
              </a:rPr>
              <a:t>n</a:t>
            </a:r>
            <a:r>
              <a:rPr dirty="0" spc="-195">
                <a:latin typeface="Arial"/>
                <a:cs typeface="Arial"/>
              </a:rPr>
              <a:t>a</a:t>
            </a:r>
            <a:r>
              <a:rPr dirty="0" spc="-295">
                <a:latin typeface="Arial"/>
                <a:cs typeface="Arial"/>
              </a:rPr>
              <a:t>c</a:t>
            </a:r>
            <a:r>
              <a:rPr dirty="0" spc="145">
                <a:latin typeface="Arial"/>
                <a:cs typeface="Arial"/>
              </a:rPr>
              <a:t>i</a:t>
            </a:r>
            <a:r>
              <a:rPr dirty="0" spc="-275">
                <a:latin typeface="Arial"/>
                <a:cs typeface="Arial"/>
              </a:rPr>
              <a:t>o</a:t>
            </a:r>
            <a:r>
              <a:rPr dirty="0" spc="-15">
                <a:latin typeface="Arial"/>
                <a:cs typeface="Arial"/>
              </a:rPr>
              <a:t>n</a:t>
            </a:r>
            <a:r>
              <a:rPr dirty="0" spc="-195">
                <a:latin typeface="Arial"/>
                <a:cs typeface="Arial"/>
              </a:rPr>
              <a:t>a</a:t>
            </a:r>
            <a:r>
              <a:rPr dirty="0" spc="90">
                <a:latin typeface="Arial"/>
                <a:cs typeface="Arial"/>
              </a:rPr>
              <a:t>l</a:t>
            </a:r>
            <a:r>
              <a:rPr dirty="0" spc="-260">
                <a:latin typeface="Arial"/>
                <a:cs typeface="Arial"/>
              </a:rPr>
              <a:t>e</a:t>
            </a:r>
            <a:r>
              <a:rPr dirty="0" spc="-355">
                <a:latin typeface="Arial"/>
                <a:cs typeface="Arial"/>
              </a:rPr>
              <a:t>s</a:t>
            </a:r>
            <a:r>
              <a:rPr dirty="0" spc="-365">
                <a:latin typeface="Arial"/>
                <a:cs typeface="Arial"/>
              </a:rPr>
              <a:t> </a:t>
            </a:r>
            <a:r>
              <a:rPr dirty="0" spc="-110">
                <a:latin typeface="Arial"/>
                <a:cs typeface="Arial"/>
              </a:rPr>
              <a:t>y  </a:t>
            </a:r>
            <a:r>
              <a:rPr dirty="0" spc="-190">
                <a:latin typeface="Arial"/>
                <a:cs typeface="Arial"/>
              </a:rPr>
              <a:t>secuenciales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880927" y="2490152"/>
            <a:ext cx="868044" cy="1382395"/>
            <a:chOff x="4880927" y="2490152"/>
            <a:chExt cx="868044" cy="1382395"/>
          </a:xfrm>
        </p:grpSpPr>
        <p:sp>
          <p:nvSpPr>
            <p:cNvPr id="6" name="object 6"/>
            <p:cNvSpPr/>
            <p:nvPr/>
          </p:nvSpPr>
          <p:spPr>
            <a:xfrm>
              <a:off x="4886325" y="249554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886325" y="249554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0" y="1200150"/>
                  </a:move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close/>
                </a:path>
              </a:pathLst>
            </a:custGeom>
            <a:ln w="1071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249710" y="2987675"/>
            <a:ext cx="13589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50" b="1">
                <a:solidFill>
                  <a:srgbClr val="262424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88046" y="2628106"/>
            <a:ext cx="4678045" cy="953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15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40" b="1">
                <a:solidFill>
                  <a:srgbClr val="262424"/>
                </a:solidFill>
                <a:latin typeface="Arial"/>
                <a:cs typeface="Arial"/>
              </a:rPr>
              <a:t>r</a:t>
            </a:r>
            <a:r>
              <a:rPr dirty="0" sz="1850" spc="-17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-50" b="1">
                <a:solidFill>
                  <a:srgbClr val="262424"/>
                </a:solidFill>
                <a:latin typeface="Arial"/>
                <a:cs typeface="Arial"/>
              </a:rPr>
              <a:t>u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15" b="1">
                <a:solidFill>
                  <a:srgbClr val="262424"/>
                </a:solidFill>
                <a:latin typeface="Arial"/>
                <a:cs typeface="Arial"/>
              </a:rPr>
              <a:t>t</a:t>
            </a:r>
            <a:r>
              <a:rPr dirty="0" sz="1850" spc="-140" b="1">
                <a:solidFill>
                  <a:srgbClr val="262424"/>
                </a:solidFill>
                <a:latin typeface="Arial"/>
                <a:cs typeface="Arial"/>
              </a:rPr>
              <a:t>o</a:t>
            </a:r>
            <a:r>
              <a:rPr dirty="0" sz="1850" spc="-180" b="1">
                <a:solidFill>
                  <a:srgbClr val="262424"/>
                </a:solidFill>
                <a:latin typeface="Arial"/>
                <a:cs typeface="Arial"/>
              </a:rPr>
              <a:t>s</a:t>
            </a:r>
            <a:r>
              <a:rPr dirty="0" sz="1850" spc="-185" b="1">
                <a:solidFill>
                  <a:srgbClr val="262424"/>
                </a:solidFill>
                <a:latin typeface="Arial"/>
                <a:cs typeface="Arial"/>
              </a:rPr>
              <a:t> </a:t>
            </a:r>
            <a:r>
              <a:rPr dirty="0" sz="1850" spc="-15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-140" b="1">
                <a:solidFill>
                  <a:srgbClr val="262424"/>
                </a:solidFill>
                <a:latin typeface="Arial"/>
                <a:cs typeface="Arial"/>
              </a:rPr>
              <a:t>o</a:t>
            </a:r>
            <a:r>
              <a:rPr dirty="0" sz="1850" b="1">
                <a:solidFill>
                  <a:srgbClr val="262424"/>
                </a:solidFill>
                <a:latin typeface="Arial"/>
                <a:cs typeface="Arial"/>
              </a:rPr>
              <a:t>m</a:t>
            </a:r>
            <a:r>
              <a:rPr dirty="0" sz="1850" spc="-105" b="1">
                <a:solidFill>
                  <a:srgbClr val="262424"/>
                </a:solidFill>
                <a:latin typeface="Arial"/>
                <a:cs typeface="Arial"/>
              </a:rPr>
              <a:t>b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-10" b="1">
                <a:solidFill>
                  <a:srgbClr val="262424"/>
                </a:solidFill>
                <a:latin typeface="Arial"/>
                <a:cs typeface="Arial"/>
              </a:rPr>
              <a:t>n</a:t>
            </a:r>
            <a:r>
              <a:rPr dirty="0" sz="1850" spc="-100" b="1">
                <a:solidFill>
                  <a:srgbClr val="262424"/>
                </a:solidFill>
                <a:latin typeface="Arial"/>
                <a:cs typeface="Arial"/>
              </a:rPr>
              <a:t>a</a:t>
            </a:r>
            <a:r>
              <a:rPr dirty="0" sz="1850" spc="-15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-140" b="1">
                <a:solidFill>
                  <a:srgbClr val="262424"/>
                </a:solidFill>
                <a:latin typeface="Arial"/>
                <a:cs typeface="Arial"/>
              </a:rPr>
              <a:t>o</a:t>
            </a:r>
            <a:r>
              <a:rPr dirty="0" sz="1850" spc="-10" b="1">
                <a:solidFill>
                  <a:srgbClr val="262424"/>
                </a:solidFill>
                <a:latin typeface="Arial"/>
                <a:cs typeface="Arial"/>
              </a:rPr>
              <a:t>n</a:t>
            </a:r>
            <a:r>
              <a:rPr dirty="0" sz="1850" spc="-100" b="1">
                <a:solidFill>
                  <a:srgbClr val="262424"/>
                </a:solidFill>
                <a:latin typeface="Arial"/>
                <a:cs typeface="Arial"/>
              </a:rPr>
              <a:t>a</a:t>
            </a:r>
            <a:r>
              <a:rPr dirty="0" sz="1850" spc="40" b="1">
                <a:solidFill>
                  <a:srgbClr val="262424"/>
                </a:solidFill>
                <a:latin typeface="Arial"/>
                <a:cs typeface="Arial"/>
              </a:rPr>
              <a:t>l</a:t>
            </a:r>
            <a:r>
              <a:rPr dirty="0" sz="1850" spc="-135" b="1">
                <a:solidFill>
                  <a:srgbClr val="262424"/>
                </a:solidFill>
                <a:latin typeface="Arial"/>
                <a:cs typeface="Arial"/>
              </a:rPr>
              <a:t>e</a:t>
            </a:r>
            <a:r>
              <a:rPr dirty="0" sz="1850" spc="-180" b="1">
                <a:solidFill>
                  <a:srgbClr val="262424"/>
                </a:solidFill>
                <a:latin typeface="Arial"/>
                <a:cs typeface="Arial"/>
              </a:rPr>
              <a:t>s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725"/>
              </a:spcBef>
            </a:pP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Estudiaremos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cómo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los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circuitos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combinacionales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procesan </a:t>
            </a:r>
            <a:r>
              <a:rPr dirty="0" sz="1350" spc="-459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ñ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g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u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li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80927" y="3861752"/>
            <a:ext cx="868044" cy="1574165"/>
            <a:chOff x="4880927" y="3861752"/>
            <a:chExt cx="868044" cy="1574165"/>
          </a:xfrm>
        </p:grpSpPr>
        <p:sp>
          <p:nvSpPr>
            <p:cNvPr id="11" name="object 11"/>
            <p:cNvSpPr/>
            <p:nvPr/>
          </p:nvSpPr>
          <p:spPr>
            <a:xfrm>
              <a:off x="4886325" y="3867149"/>
              <a:ext cx="857250" cy="1563370"/>
            </a:xfrm>
            <a:custGeom>
              <a:avLst/>
              <a:gdLst/>
              <a:ahLst/>
              <a:cxnLst/>
              <a:rect l="l" t="t" r="r" b="b"/>
              <a:pathLst>
                <a:path w="857250" h="156337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391843"/>
                  </a:lnTo>
                  <a:lnTo>
                    <a:pt x="428625" y="1563293"/>
                  </a:lnTo>
                  <a:lnTo>
                    <a:pt x="857250" y="1391843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886325" y="3867149"/>
              <a:ext cx="857250" cy="1563370"/>
            </a:xfrm>
            <a:custGeom>
              <a:avLst/>
              <a:gdLst/>
              <a:ahLst/>
              <a:cxnLst/>
              <a:rect l="l" t="t" r="r" b="b"/>
              <a:pathLst>
                <a:path w="857250" h="1563370">
                  <a:moveTo>
                    <a:pt x="0" y="1391843"/>
                  </a:moveTo>
                  <a:lnTo>
                    <a:pt x="428625" y="1563293"/>
                  </a:lnTo>
                  <a:lnTo>
                    <a:pt x="857250" y="1391843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391843"/>
                  </a:lnTo>
                  <a:close/>
                </a:path>
              </a:pathLst>
            </a:custGeom>
            <a:ln w="1071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231853" y="4454525"/>
            <a:ext cx="1714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35" b="1">
                <a:solidFill>
                  <a:srgbClr val="262424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88050" y="3999706"/>
            <a:ext cx="4350385" cy="12293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15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40" b="1">
                <a:solidFill>
                  <a:srgbClr val="262424"/>
                </a:solidFill>
                <a:latin typeface="Arial"/>
                <a:cs typeface="Arial"/>
              </a:rPr>
              <a:t>r</a:t>
            </a:r>
            <a:r>
              <a:rPr dirty="0" sz="1850" spc="-17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-50" b="1">
                <a:solidFill>
                  <a:srgbClr val="262424"/>
                </a:solidFill>
                <a:latin typeface="Arial"/>
                <a:cs typeface="Arial"/>
              </a:rPr>
              <a:t>u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15" b="1">
                <a:solidFill>
                  <a:srgbClr val="262424"/>
                </a:solidFill>
                <a:latin typeface="Arial"/>
                <a:cs typeface="Arial"/>
              </a:rPr>
              <a:t>t</a:t>
            </a:r>
            <a:r>
              <a:rPr dirty="0" sz="1850" spc="-140" b="1">
                <a:solidFill>
                  <a:srgbClr val="262424"/>
                </a:solidFill>
                <a:latin typeface="Arial"/>
                <a:cs typeface="Arial"/>
              </a:rPr>
              <a:t>o</a:t>
            </a:r>
            <a:r>
              <a:rPr dirty="0" sz="1850" spc="-180" b="1">
                <a:solidFill>
                  <a:srgbClr val="262424"/>
                </a:solidFill>
                <a:latin typeface="Arial"/>
                <a:cs typeface="Arial"/>
              </a:rPr>
              <a:t>s</a:t>
            </a:r>
            <a:r>
              <a:rPr dirty="0" sz="1850" spc="-185" b="1">
                <a:solidFill>
                  <a:srgbClr val="262424"/>
                </a:solidFill>
                <a:latin typeface="Arial"/>
                <a:cs typeface="Arial"/>
              </a:rPr>
              <a:t> </a:t>
            </a:r>
            <a:r>
              <a:rPr dirty="0" sz="1850" spc="-235" b="1">
                <a:solidFill>
                  <a:srgbClr val="262424"/>
                </a:solidFill>
                <a:latin typeface="Arial"/>
                <a:cs typeface="Arial"/>
              </a:rPr>
              <a:t>S</a:t>
            </a:r>
            <a:r>
              <a:rPr dirty="0" sz="1850" spc="-135" b="1">
                <a:solidFill>
                  <a:srgbClr val="262424"/>
                </a:solidFill>
                <a:latin typeface="Arial"/>
                <a:cs typeface="Arial"/>
              </a:rPr>
              <a:t>e</a:t>
            </a:r>
            <a:r>
              <a:rPr dirty="0" sz="1850" spc="-17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-50" b="1">
                <a:solidFill>
                  <a:srgbClr val="262424"/>
                </a:solidFill>
                <a:latin typeface="Arial"/>
                <a:cs typeface="Arial"/>
              </a:rPr>
              <a:t>u</a:t>
            </a:r>
            <a:r>
              <a:rPr dirty="0" sz="1850" spc="-135" b="1">
                <a:solidFill>
                  <a:srgbClr val="262424"/>
                </a:solidFill>
                <a:latin typeface="Arial"/>
                <a:cs typeface="Arial"/>
              </a:rPr>
              <a:t>e</a:t>
            </a:r>
            <a:r>
              <a:rPr dirty="0" sz="1850" spc="-10" b="1">
                <a:solidFill>
                  <a:srgbClr val="262424"/>
                </a:solidFill>
                <a:latin typeface="Arial"/>
                <a:cs typeface="Arial"/>
              </a:rPr>
              <a:t>n</a:t>
            </a:r>
            <a:r>
              <a:rPr dirty="0" sz="1850" spc="-150" b="1">
                <a:solidFill>
                  <a:srgbClr val="262424"/>
                </a:solidFill>
                <a:latin typeface="Arial"/>
                <a:cs typeface="Arial"/>
              </a:rPr>
              <a:t>c</a:t>
            </a:r>
            <a:r>
              <a:rPr dirty="0" sz="1850" spc="70" b="1">
                <a:solidFill>
                  <a:srgbClr val="262424"/>
                </a:solidFill>
                <a:latin typeface="Arial"/>
                <a:cs typeface="Arial"/>
              </a:rPr>
              <a:t>i</a:t>
            </a:r>
            <a:r>
              <a:rPr dirty="0" sz="1850" spc="-100" b="1">
                <a:solidFill>
                  <a:srgbClr val="262424"/>
                </a:solidFill>
                <a:latin typeface="Arial"/>
                <a:cs typeface="Arial"/>
              </a:rPr>
              <a:t>a</a:t>
            </a:r>
            <a:r>
              <a:rPr dirty="0" sz="1850" spc="40" b="1">
                <a:solidFill>
                  <a:srgbClr val="262424"/>
                </a:solidFill>
                <a:latin typeface="Arial"/>
                <a:cs typeface="Arial"/>
              </a:rPr>
              <a:t>l</a:t>
            </a:r>
            <a:r>
              <a:rPr dirty="0" sz="1850" spc="-135" b="1">
                <a:solidFill>
                  <a:srgbClr val="262424"/>
                </a:solidFill>
                <a:latin typeface="Arial"/>
                <a:cs typeface="Arial"/>
              </a:rPr>
              <a:t>e</a:t>
            </a:r>
            <a:r>
              <a:rPr dirty="0" sz="1850" spc="-180" b="1">
                <a:solidFill>
                  <a:srgbClr val="262424"/>
                </a:solidFill>
                <a:latin typeface="Arial"/>
                <a:cs typeface="Arial"/>
              </a:rPr>
              <a:t>s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725"/>
              </a:spcBef>
            </a:pP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x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ó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u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14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u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u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ili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z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n 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memoria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para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mantener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un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estado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interno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controlar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la </a:t>
            </a:r>
            <a:r>
              <a:rPr dirty="0" sz="1350" spc="-459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lógica.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80967" y="5423892"/>
            <a:ext cx="868044" cy="1382395"/>
            <a:chOff x="4880967" y="5423892"/>
            <a:chExt cx="868044" cy="1382395"/>
          </a:xfrm>
        </p:grpSpPr>
        <p:sp>
          <p:nvSpPr>
            <p:cNvPr id="16" name="object 16"/>
            <p:cNvSpPr/>
            <p:nvPr/>
          </p:nvSpPr>
          <p:spPr>
            <a:xfrm>
              <a:off x="4886325" y="5429250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200151"/>
                  </a:lnTo>
                  <a:lnTo>
                    <a:pt x="428625" y="1371601"/>
                  </a:lnTo>
                  <a:lnTo>
                    <a:pt x="857250" y="1200151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886325" y="5429250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0" y="1200151"/>
                  </a:moveTo>
                  <a:lnTo>
                    <a:pt x="428625" y="1371601"/>
                  </a:lnTo>
                  <a:lnTo>
                    <a:pt x="857250" y="1200151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200151"/>
                  </a:lnTo>
                  <a:close/>
                </a:path>
              </a:pathLst>
            </a:custGeom>
            <a:ln w="1071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232006" y="5921376"/>
            <a:ext cx="1714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30" b="1">
                <a:solidFill>
                  <a:srgbClr val="262424"/>
                </a:solidFill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88053" y="5561807"/>
            <a:ext cx="4525010" cy="953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75" b="1">
                <a:solidFill>
                  <a:srgbClr val="262424"/>
                </a:solidFill>
                <a:latin typeface="Arial"/>
                <a:cs typeface="Arial"/>
              </a:rPr>
              <a:t>Aplicaciones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725"/>
              </a:spcBef>
            </a:pP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Veremos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ejemplos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de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cómo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se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utilizan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estos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principios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en </a:t>
            </a:r>
            <a:r>
              <a:rPr dirty="0" sz="1350" spc="-459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4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g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u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7642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3625" y="420687"/>
            <a:ext cx="3799840" cy="1172210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70"/>
              </a:spcBef>
            </a:pPr>
            <a:r>
              <a:rPr dirty="0" spc="-375"/>
              <a:t>A</a:t>
            </a:r>
            <a:r>
              <a:rPr dirty="0" spc="-325"/>
              <a:t>p</a:t>
            </a:r>
            <a:r>
              <a:rPr dirty="0" spc="-155"/>
              <a:t>l</a:t>
            </a:r>
            <a:r>
              <a:rPr dirty="0" spc="-135"/>
              <a:t>i</a:t>
            </a:r>
            <a:r>
              <a:rPr dirty="0" spc="-200"/>
              <a:t>c</a:t>
            </a:r>
            <a:r>
              <a:rPr dirty="0" spc="-345"/>
              <a:t>a</a:t>
            </a:r>
            <a:r>
              <a:rPr dirty="0" spc="-200"/>
              <a:t>c</a:t>
            </a:r>
            <a:r>
              <a:rPr dirty="0" spc="-135"/>
              <a:t>i</a:t>
            </a:r>
            <a:r>
              <a:rPr dirty="0" spc="-370"/>
              <a:t>o</a:t>
            </a:r>
            <a:r>
              <a:rPr dirty="0" spc="-305"/>
              <a:t>n</a:t>
            </a:r>
            <a:r>
              <a:rPr dirty="0" spc="-320"/>
              <a:t>e</a:t>
            </a:r>
            <a:r>
              <a:rPr dirty="0" spc="-195"/>
              <a:t>s</a:t>
            </a:r>
            <a:r>
              <a:rPr dirty="0" spc="-275"/>
              <a:t> </a:t>
            </a:r>
            <a:r>
              <a:rPr dirty="0" spc="-305"/>
              <a:t>d</a:t>
            </a:r>
            <a:r>
              <a:rPr dirty="0" spc="-245"/>
              <a:t>e</a:t>
            </a:r>
            <a:r>
              <a:rPr dirty="0" spc="-275"/>
              <a:t> </a:t>
            </a:r>
            <a:r>
              <a:rPr dirty="0" spc="-155"/>
              <a:t>l</a:t>
            </a:r>
            <a:r>
              <a:rPr dirty="0" spc="-165"/>
              <a:t>a  </a:t>
            </a:r>
            <a:r>
              <a:rPr dirty="0" spc="-320"/>
              <a:t>e</a:t>
            </a:r>
            <a:r>
              <a:rPr dirty="0" spc="-155"/>
              <a:t>l</a:t>
            </a:r>
            <a:r>
              <a:rPr dirty="0" spc="-320"/>
              <a:t>e</a:t>
            </a:r>
            <a:r>
              <a:rPr dirty="0" spc="-200"/>
              <a:t>c</a:t>
            </a:r>
            <a:r>
              <a:rPr dirty="0" spc="-204"/>
              <a:t>t</a:t>
            </a:r>
            <a:r>
              <a:rPr dirty="0" spc="-400"/>
              <a:t>r</a:t>
            </a:r>
            <a:r>
              <a:rPr dirty="0" spc="-370"/>
              <a:t>ó</a:t>
            </a:r>
            <a:r>
              <a:rPr dirty="0" spc="-305"/>
              <a:t>n</a:t>
            </a:r>
            <a:r>
              <a:rPr dirty="0" spc="-135"/>
              <a:t>i</a:t>
            </a:r>
            <a:r>
              <a:rPr dirty="0" spc="-200"/>
              <a:t>c</a:t>
            </a:r>
            <a:r>
              <a:rPr dirty="0" spc="-270"/>
              <a:t>a</a:t>
            </a:r>
            <a:r>
              <a:rPr dirty="0" spc="-275"/>
              <a:t> </a:t>
            </a:r>
            <a:r>
              <a:rPr dirty="0" spc="-305"/>
              <a:t>d</a:t>
            </a:r>
            <a:r>
              <a:rPr dirty="0" spc="-135"/>
              <a:t>i</a:t>
            </a:r>
            <a:r>
              <a:rPr dirty="0" spc="-320"/>
              <a:t>g</a:t>
            </a:r>
            <a:r>
              <a:rPr dirty="0" spc="-135"/>
              <a:t>i</a:t>
            </a:r>
            <a:r>
              <a:rPr dirty="0" spc="-204"/>
              <a:t>t</a:t>
            </a:r>
            <a:r>
              <a:rPr dirty="0" spc="-345"/>
              <a:t>a</a:t>
            </a:r>
            <a:r>
              <a:rPr dirty="0" spc="-80"/>
              <a:t>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86325" y="1905000"/>
            <a:ext cx="2886075" cy="2133600"/>
            <a:chOff x="4886325" y="1905000"/>
            <a:chExt cx="2886075" cy="2133600"/>
          </a:xfrm>
        </p:grpSpPr>
        <p:sp>
          <p:nvSpPr>
            <p:cNvPr id="4" name="object 4"/>
            <p:cNvSpPr/>
            <p:nvPr/>
          </p:nvSpPr>
          <p:spPr>
            <a:xfrm>
              <a:off x="4891087" y="1909762"/>
              <a:ext cx="2876550" cy="2124075"/>
            </a:xfrm>
            <a:custGeom>
              <a:avLst/>
              <a:gdLst/>
              <a:ahLst/>
              <a:cxnLst/>
              <a:rect l="l" t="t" r="r" b="b"/>
              <a:pathLst>
                <a:path w="2876550" h="212407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068830"/>
                  </a:lnTo>
                  <a:lnTo>
                    <a:pt x="0" y="2072449"/>
                  </a:lnTo>
                  <a:lnTo>
                    <a:pt x="18745" y="2110460"/>
                  </a:lnTo>
                  <a:lnTo>
                    <a:pt x="51612" y="2124075"/>
                  </a:lnTo>
                  <a:lnTo>
                    <a:pt x="2824937" y="2124075"/>
                  </a:lnTo>
                  <a:lnTo>
                    <a:pt x="2862935" y="2105329"/>
                  </a:lnTo>
                  <a:lnTo>
                    <a:pt x="2876550" y="2072449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891087" y="1909762"/>
              <a:ext cx="2876550" cy="2124075"/>
            </a:xfrm>
            <a:custGeom>
              <a:avLst/>
              <a:gdLst/>
              <a:ahLst/>
              <a:cxnLst/>
              <a:rect l="l" t="t" r="r" b="b"/>
              <a:pathLst>
                <a:path w="2876550" h="2124075">
                  <a:moveTo>
                    <a:pt x="0" y="20688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302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31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068830"/>
                  </a:lnTo>
                  <a:lnTo>
                    <a:pt x="2876550" y="2072449"/>
                  </a:lnTo>
                  <a:lnTo>
                    <a:pt x="2876194" y="2076043"/>
                  </a:lnTo>
                  <a:lnTo>
                    <a:pt x="2875483" y="2079599"/>
                  </a:lnTo>
                  <a:lnTo>
                    <a:pt x="2874784" y="2083168"/>
                  </a:lnTo>
                  <a:lnTo>
                    <a:pt x="2860370" y="2107895"/>
                  </a:lnTo>
                  <a:lnTo>
                    <a:pt x="2857804" y="2110460"/>
                  </a:lnTo>
                  <a:lnTo>
                    <a:pt x="2832074" y="2123008"/>
                  </a:lnTo>
                  <a:lnTo>
                    <a:pt x="2828518" y="2123719"/>
                  </a:lnTo>
                  <a:lnTo>
                    <a:pt x="2824937" y="2124075"/>
                  </a:lnTo>
                  <a:lnTo>
                    <a:pt x="2821305" y="2124075"/>
                  </a:lnTo>
                  <a:lnTo>
                    <a:pt x="55245" y="2124075"/>
                  </a:lnTo>
                  <a:lnTo>
                    <a:pt x="51612" y="2124075"/>
                  </a:lnTo>
                  <a:lnTo>
                    <a:pt x="48018" y="2123719"/>
                  </a:lnTo>
                  <a:lnTo>
                    <a:pt x="13614" y="2105329"/>
                  </a:lnTo>
                  <a:lnTo>
                    <a:pt x="1066" y="2079599"/>
                  </a:lnTo>
                  <a:lnTo>
                    <a:pt x="355" y="2076043"/>
                  </a:lnTo>
                  <a:lnTo>
                    <a:pt x="0" y="2072449"/>
                  </a:lnTo>
                  <a:lnTo>
                    <a:pt x="0" y="2068830"/>
                  </a:lnTo>
                  <a:close/>
                </a:path>
              </a:pathLst>
            </a:custGeom>
            <a:ln w="952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054600" y="2047081"/>
            <a:ext cx="2437130" cy="17722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155" b="1">
                <a:solidFill>
                  <a:srgbClr val="262424"/>
                </a:solidFill>
                <a:latin typeface="Georgia"/>
                <a:cs typeface="Georgia"/>
              </a:rPr>
              <a:t>Microcontroladores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3100"/>
              </a:lnSpc>
              <a:spcBef>
                <a:spcPts val="745"/>
              </a:spcBef>
            </a:pP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Exploraremos </a:t>
            </a:r>
            <a:r>
              <a:rPr dirty="0" sz="1350" spc="65">
                <a:solidFill>
                  <a:srgbClr val="262424"/>
                </a:solidFill>
                <a:latin typeface="Tahoma"/>
                <a:cs typeface="Tahoma"/>
              </a:rPr>
              <a:t>cómo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los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microcontroladores 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integran 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lógica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digital, </a:t>
            </a: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memoria 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y </a:t>
            </a:r>
            <a:r>
              <a:rPr dirty="0" sz="135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p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5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-5">
                <a:solidFill>
                  <a:srgbClr val="262424"/>
                </a:solidFill>
                <a:latin typeface="Tahoma"/>
                <a:cs typeface="Tahoma"/>
              </a:rPr>
              <a:t>f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é</a:t>
            </a:r>
            <a:r>
              <a:rPr dirty="0" sz="1350" spc="5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62424"/>
                </a:solidFill>
                <a:latin typeface="Tahoma"/>
                <a:cs typeface="Tahoma"/>
              </a:rPr>
              <a:t>p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2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5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s  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embebidos.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43850" y="1905000"/>
            <a:ext cx="2886075" cy="2133600"/>
            <a:chOff x="7943850" y="1905000"/>
            <a:chExt cx="2886075" cy="2133600"/>
          </a:xfrm>
        </p:grpSpPr>
        <p:sp>
          <p:nvSpPr>
            <p:cNvPr id="8" name="object 8"/>
            <p:cNvSpPr/>
            <p:nvPr/>
          </p:nvSpPr>
          <p:spPr>
            <a:xfrm>
              <a:off x="7948612" y="1909762"/>
              <a:ext cx="2876550" cy="2124075"/>
            </a:xfrm>
            <a:custGeom>
              <a:avLst/>
              <a:gdLst/>
              <a:ahLst/>
              <a:cxnLst/>
              <a:rect l="l" t="t" r="r" b="b"/>
              <a:pathLst>
                <a:path w="2876550" h="212407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068830"/>
                  </a:lnTo>
                  <a:lnTo>
                    <a:pt x="0" y="2072449"/>
                  </a:lnTo>
                  <a:lnTo>
                    <a:pt x="18745" y="2110460"/>
                  </a:lnTo>
                  <a:lnTo>
                    <a:pt x="51612" y="2124075"/>
                  </a:lnTo>
                  <a:lnTo>
                    <a:pt x="2824937" y="2124075"/>
                  </a:lnTo>
                  <a:lnTo>
                    <a:pt x="2862935" y="2105329"/>
                  </a:lnTo>
                  <a:lnTo>
                    <a:pt x="2876550" y="2072449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948612" y="1909762"/>
              <a:ext cx="2876550" cy="2124075"/>
            </a:xfrm>
            <a:custGeom>
              <a:avLst/>
              <a:gdLst/>
              <a:ahLst/>
              <a:cxnLst/>
              <a:rect l="l" t="t" r="r" b="b"/>
              <a:pathLst>
                <a:path w="2876550" h="2124075">
                  <a:moveTo>
                    <a:pt x="0" y="20688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31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068830"/>
                  </a:lnTo>
                  <a:lnTo>
                    <a:pt x="2876550" y="2072449"/>
                  </a:lnTo>
                  <a:lnTo>
                    <a:pt x="2876194" y="2076043"/>
                  </a:lnTo>
                  <a:lnTo>
                    <a:pt x="2875483" y="2079599"/>
                  </a:lnTo>
                  <a:lnTo>
                    <a:pt x="2874784" y="2083168"/>
                  </a:lnTo>
                  <a:lnTo>
                    <a:pt x="2860370" y="2107895"/>
                  </a:lnTo>
                  <a:lnTo>
                    <a:pt x="2857804" y="2110460"/>
                  </a:lnTo>
                  <a:lnTo>
                    <a:pt x="2832074" y="2123008"/>
                  </a:lnTo>
                  <a:lnTo>
                    <a:pt x="2828518" y="2123719"/>
                  </a:lnTo>
                  <a:lnTo>
                    <a:pt x="2824937" y="2124075"/>
                  </a:lnTo>
                  <a:lnTo>
                    <a:pt x="2821305" y="2124075"/>
                  </a:lnTo>
                  <a:lnTo>
                    <a:pt x="55245" y="2124075"/>
                  </a:lnTo>
                  <a:lnTo>
                    <a:pt x="51612" y="2124075"/>
                  </a:lnTo>
                  <a:lnTo>
                    <a:pt x="48018" y="2123719"/>
                  </a:lnTo>
                  <a:lnTo>
                    <a:pt x="16179" y="2107895"/>
                  </a:lnTo>
                  <a:lnTo>
                    <a:pt x="13614" y="2105329"/>
                  </a:lnTo>
                  <a:lnTo>
                    <a:pt x="1066" y="2079599"/>
                  </a:lnTo>
                  <a:lnTo>
                    <a:pt x="355" y="2076043"/>
                  </a:lnTo>
                  <a:lnTo>
                    <a:pt x="0" y="2072449"/>
                  </a:lnTo>
                  <a:lnTo>
                    <a:pt x="0" y="2068830"/>
                  </a:lnTo>
                  <a:close/>
                </a:path>
              </a:pathLst>
            </a:custGeom>
            <a:ln w="952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112125" y="2047081"/>
            <a:ext cx="2416810" cy="1496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200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850" spc="-7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850" spc="-140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850" spc="-105" b="1">
                <a:solidFill>
                  <a:srgbClr val="262424"/>
                </a:solidFill>
                <a:latin typeface="Georgia"/>
                <a:cs typeface="Georgia"/>
              </a:rPr>
              <a:t>t</a:t>
            </a:r>
            <a:r>
              <a:rPr dirty="0" sz="1850" spc="-165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850" spc="-235" b="1">
                <a:solidFill>
                  <a:srgbClr val="262424"/>
                </a:solidFill>
                <a:latin typeface="Georgia"/>
                <a:cs typeface="Georgia"/>
              </a:rPr>
              <a:t>m</a:t>
            </a:r>
            <a:r>
              <a:rPr dirty="0" sz="1850" spc="-17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850" spc="-100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850" spc="-14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850" spc="-235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850" spc="-235" b="1">
                <a:solidFill>
                  <a:srgbClr val="262424"/>
                </a:solidFill>
                <a:latin typeface="Georgia"/>
                <a:cs typeface="Georgia"/>
              </a:rPr>
              <a:t>m</a:t>
            </a:r>
            <a:r>
              <a:rPr dirty="0" sz="1850" spc="-165" b="1">
                <a:solidFill>
                  <a:srgbClr val="262424"/>
                </a:solidFill>
                <a:latin typeface="Georgia"/>
                <a:cs typeface="Georgia"/>
              </a:rPr>
              <a:t>b</a:t>
            </a:r>
            <a:r>
              <a:rPr dirty="0" sz="1850" spc="-165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850" spc="-165" b="1">
                <a:solidFill>
                  <a:srgbClr val="262424"/>
                </a:solidFill>
                <a:latin typeface="Georgia"/>
                <a:cs typeface="Georgia"/>
              </a:rPr>
              <a:t>b</a:t>
            </a:r>
            <a:r>
              <a:rPr dirty="0" sz="1850" spc="-7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850" spc="-155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r>
              <a:rPr dirty="0" sz="1850" spc="-190" b="1">
                <a:solidFill>
                  <a:srgbClr val="262424"/>
                </a:solidFill>
                <a:latin typeface="Georgia"/>
                <a:cs typeface="Georgia"/>
              </a:rPr>
              <a:t>o</a:t>
            </a:r>
            <a:r>
              <a:rPr dirty="0" sz="1850" spc="-100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2700"/>
              </a:lnSpc>
              <a:spcBef>
                <a:spcPts val="750"/>
              </a:spcBef>
            </a:pPr>
            <a:r>
              <a:rPr dirty="0" sz="1350" spc="9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p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b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ñ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o  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y 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la </a:t>
            </a: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implementación 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de </a:t>
            </a:r>
            <a:r>
              <a:rPr dirty="0" sz="1350" spc="6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5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b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b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62424"/>
                </a:solidFill>
                <a:latin typeface="Tahoma"/>
                <a:cs typeface="Tahoma"/>
              </a:rPr>
              <a:t>b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s 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en</a:t>
            </a:r>
            <a:r>
              <a:rPr dirty="0" sz="1350" spc="-105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electrónica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62424"/>
                </a:solidFill>
                <a:latin typeface="Tahoma"/>
                <a:cs typeface="Tahoma"/>
              </a:rPr>
              <a:t>digital.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86325" y="4210050"/>
            <a:ext cx="2886075" cy="2152650"/>
            <a:chOff x="4886325" y="4210050"/>
            <a:chExt cx="2886075" cy="2152650"/>
          </a:xfrm>
        </p:grpSpPr>
        <p:sp>
          <p:nvSpPr>
            <p:cNvPr id="12" name="object 12"/>
            <p:cNvSpPr/>
            <p:nvPr/>
          </p:nvSpPr>
          <p:spPr>
            <a:xfrm>
              <a:off x="4891087" y="4214812"/>
              <a:ext cx="2876550" cy="2143125"/>
            </a:xfrm>
            <a:custGeom>
              <a:avLst/>
              <a:gdLst/>
              <a:ahLst/>
              <a:cxnLst/>
              <a:rect l="l" t="t" r="r" b="b"/>
              <a:pathLst>
                <a:path w="2876550" h="214312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087878"/>
                  </a:lnTo>
                  <a:lnTo>
                    <a:pt x="0" y="2091505"/>
                  </a:lnTo>
                  <a:lnTo>
                    <a:pt x="18745" y="2129506"/>
                  </a:lnTo>
                  <a:lnTo>
                    <a:pt x="51612" y="2143123"/>
                  </a:lnTo>
                  <a:lnTo>
                    <a:pt x="2824937" y="2143123"/>
                  </a:lnTo>
                  <a:lnTo>
                    <a:pt x="2862935" y="2124376"/>
                  </a:lnTo>
                  <a:lnTo>
                    <a:pt x="2876550" y="2091505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891087" y="4214812"/>
              <a:ext cx="2876550" cy="2143125"/>
            </a:xfrm>
            <a:custGeom>
              <a:avLst/>
              <a:gdLst/>
              <a:ahLst/>
              <a:cxnLst/>
              <a:rect l="l" t="t" r="r" b="b"/>
              <a:pathLst>
                <a:path w="2876550" h="2143125">
                  <a:moveTo>
                    <a:pt x="0" y="2087878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302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31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087878"/>
                  </a:lnTo>
                  <a:lnTo>
                    <a:pt x="2876550" y="2091505"/>
                  </a:lnTo>
                  <a:lnTo>
                    <a:pt x="2876194" y="2095097"/>
                  </a:lnTo>
                  <a:lnTo>
                    <a:pt x="2875483" y="2098654"/>
                  </a:lnTo>
                  <a:lnTo>
                    <a:pt x="2874784" y="2102210"/>
                  </a:lnTo>
                  <a:lnTo>
                    <a:pt x="2860370" y="2126941"/>
                  </a:lnTo>
                  <a:lnTo>
                    <a:pt x="2857804" y="2129506"/>
                  </a:lnTo>
                  <a:lnTo>
                    <a:pt x="2842437" y="2138917"/>
                  </a:lnTo>
                  <a:lnTo>
                    <a:pt x="2839097" y="2140305"/>
                  </a:lnTo>
                  <a:lnTo>
                    <a:pt x="2835643" y="2141353"/>
                  </a:lnTo>
                  <a:lnTo>
                    <a:pt x="2832074" y="2142062"/>
                  </a:lnTo>
                  <a:lnTo>
                    <a:pt x="2828518" y="2142766"/>
                  </a:lnTo>
                  <a:lnTo>
                    <a:pt x="2824937" y="2143123"/>
                  </a:lnTo>
                  <a:lnTo>
                    <a:pt x="2821305" y="2143123"/>
                  </a:lnTo>
                  <a:lnTo>
                    <a:pt x="55245" y="2143123"/>
                  </a:lnTo>
                  <a:lnTo>
                    <a:pt x="51612" y="2143123"/>
                  </a:lnTo>
                  <a:lnTo>
                    <a:pt x="48018" y="2142766"/>
                  </a:lnTo>
                  <a:lnTo>
                    <a:pt x="13614" y="2124376"/>
                  </a:lnTo>
                  <a:lnTo>
                    <a:pt x="4203" y="2109017"/>
                  </a:lnTo>
                  <a:lnTo>
                    <a:pt x="2819" y="2105668"/>
                  </a:lnTo>
                  <a:lnTo>
                    <a:pt x="1765" y="2102210"/>
                  </a:lnTo>
                  <a:lnTo>
                    <a:pt x="1066" y="2098654"/>
                  </a:lnTo>
                  <a:lnTo>
                    <a:pt x="355" y="2095097"/>
                  </a:lnTo>
                  <a:lnTo>
                    <a:pt x="0" y="2091505"/>
                  </a:lnTo>
                  <a:lnTo>
                    <a:pt x="0" y="2087878"/>
                  </a:lnTo>
                  <a:close/>
                </a:path>
              </a:pathLst>
            </a:custGeom>
            <a:ln w="952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054600" y="4352131"/>
            <a:ext cx="2291715" cy="1791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23189">
              <a:lnSpc>
                <a:spcPct val="104700"/>
              </a:lnSpc>
            </a:pPr>
            <a:r>
              <a:rPr dirty="0" sz="1850" spc="-175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850" spc="-170" b="1">
                <a:solidFill>
                  <a:srgbClr val="262424"/>
                </a:solidFill>
                <a:latin typeface="Georgia"/>
                <a:cs typeface="Georgia"/>
              </a:rPr>
              <a:t>n</a:t>
            </a:r>
            <a:r>
              <a:rPr dirty="0" sz="1850" spc="-105" b="1">
                <a:solidFill>
                  <a:srgbClr val="262424"/>
                </a:solidFill>
                <a:latin typeface="Georgia"/>
                <a:cs typeface="Georgia"/>
              </a:rPr>
              <a:t>t</a:t>
            </a:r>
            <a:r>
              <a:rPr dirty="0" sz="1850" spc="-165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850" spc="-195" b="1">
                <a:solidFill>
                  <a:srgbClr val="262424"/>
                </a:solidFill>
                <a:latin typeface="Georgia"/>
                <a:cs typeface="Georgia"/>
              </a:rPr>
              <a:t>r</a:t>
            </a:r>
            <a:r>
              <a:rPr dirty="0" sz="1850" spc="-155" b="1">
                <a:solidFill>
                  <a:srgbClr val="262424"/>
                </a:solidFill>
                <a:latin typeface="Georgia"/>
                <a:cs typeface="Georgia"/>
              </a:rPr>
              <a:t>n</a:t>
            </a:r>
            <a:r>
              <a:rPr dirty="0" sz="1850" spc="-165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850" spc="-65" b="1">
                <a:solidFill>
                  <a:srgbClr val="262424"/>
                </a:solidFill>
                <a:latin typeface="Georgia"/>
                <a:cs typeface="Georgia"/>
              </a:rPr>
              <a:t>t</a:t>
            </a:r>
            <a:r>
              <a:rPr dirty="0" sz="1850" spc="-14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850" spc="-155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r>
              <a:rPr dirty="0" sz="1850" spc="-125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850" spc="-14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850" spc="-80" b="1">
                <a:solidFill>
                  <a:srgbClr val="262424"/>
                </a:solidFill>
                <a:latin typeface="Georgia"/>
                <a:cs typeface="Georgia"/>
              </a:rPr>
              <a:t>l</a:t>
            </a:r>
            <a:r>
              <a:rPr dirty="0" sz="1850" spc="-17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850" spc="-100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850" spc="-14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850" spc="-135" b="1">
                <a:solidFill>
                  <a:srgbClr val="262424"/>
                </a:solidFill>
                <a:latin typeface="Georgia"/>
                <a:cs typeface="Georgia"/>
              </a:rPr>
              <a:t>C</a:t>
            </a:r>
            <a:r>
              <a:rPr dirty="0" sz="1850" spc="-190" b="1">
                <a:solidFill>
                  <a:srgbClr val="262424"/>
                </a:solidFill>
                <a:latin typeface="Georgia"/>
                <a:cs typeface="Georgia"/>
              </a:rPr>
              <a:t>o</a:t>
            </a:r>
            <a:r>
              <a:rPr dirty="0" sz="1850" spc="-140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850" spc="-17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850" spc="-65" b="1">
                <a:solidFill>
                  <a:srgbClr val="262424"/>
                </a:solidFill>
                <a:latin typeface="Georgia"/>
                <a:cs typeface="Georgia"/>
              </a:rPr>
              <a:t>s  </a:t>
            </a:r>
            <a:r>
              <a:rPr dirty="0" sz="1850" spc="-180" b="1">
                <a:solidFill>
                  <a:srgbClr val="262424"/>
                </a:solidFill>
                <a:latin typeface="Georgia"/>
                <a:cs typeface="Georgia"/>
              </a:rPr>
              <a:t>(IoT)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2700"/>
              </a:lnSpc>
              <a:spcBef>
                <a:spcPts val="750"/>
              </a:spcBef>
            </a:pP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u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b</a:t>
            </a:r>
            <a:r>
              <a:rPr dirty="0" sz="1350" spc="5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ó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a 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ó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130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g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-3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p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u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20">
                <a:solidFill>
                  <a:srgbClr val="262424"/>
                </a:solidFill>
                <a:latin typeface="Tahoma"/>
                <a:cs typeface="Tahoma"/>
              </a:rPr>
              <a:t>l 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ll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p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-40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v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7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-60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55">
                <a:solidFill>
                  <a:srgbClr val="262424"/>
                </a:solidFill>
                <a:latin typeface="Tahoma"/>
                <a:cs typeface="Tahoma"/>
              </a:rPr>
              <a:t>T  </a:t>
            </a:r>
            <a:r>
              <a:rPr dirty="0" sz="1350" spc="40">
                <a:solidFill>
                  <a:srgbClr val="262424"/>
                </a:solidFill>
                <a:latin typeface="Tahoma"/>
                <a:cs typeface="Tahoma"/>
              </a:rPr>
              <a:t>conectados.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43850" y="4210050"/>
            <a:ext cx="2886075" cy="2152650"/>
            <a:chOff x="7943850" y="4210050"/>
            <a:chExt cx="2886075" cy="2152650"/>
          </a:xfrm>
        </p:grpSpPr>
        <p:sp>
          <p:nvSpPr>
            <p:cNvPr id="16" name="object 16"/>
            <p:cNvSpPr/>
            <p:nvPr/>
          </p:nvSpPr>
          <p:spPr>
            <a:xfrm>
              <a:off x="7948612" y="4214812"/>
              <a:ext cx="2876550" cy="2143125"/>
            </a:xfrm>
            <a:custGeom>
              <a:avLst/>
              <a:gdLst/>
              <a:ahLst/>
              <a:cxnLst/>
              <a:rect l="l" t="t" r="r" b="b"/>
              <a:pathLst>
                <a:path w="2876550" h="2143125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087878"/>
                  </a:lnTo>
                  <a:lnTo>
                    <a:pt x="0" y="2091505"/>
                  </a:lnTo>
                  <a:lnTo>
                    <a:pt x="18745" y="2129506"/>
                  </a:lnTo>
                  <a:lnTo>
                    <a:pt x="51612" y="2143123"/>
                  </a:lnTo>
                  <a:lnTo>
                    <a:pt x="2824937" y="2143123"/>
                  </a:lnTo>
                  <a:lnTo>
                    <a:pt x="2862935" y="2124376"/>
                  </a:lnTo>
                  <a:lnTo>
                    <a:pt x="2876550" y="2091505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E0D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948612" y="4214812"/>
              <a:ext cx="2876550" cy="2143125"/>
            </a:xfrm>
            <a:custGeom>
              <a:avLst/>
              <a:gdLst/>
              <a:ahLst/>
              <a:cxnLst/>
              <a:rect l="l" t="t" r="r" b="b"/>
              <a:pathLst>
                <a:path w="2876550" h="2143125">
                  <a:moveTo>
                    <a:pt x="0" y="2087878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31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087878"/>
                  </a:lnTo>
                  <a:lnTo>
                    <a:pt x="2876550" y="2091505"/>
                  </a:lnTo>
                  <a:lnTo>
                    <a:pt x="2876194" y="2095097"/>
                  </a:lnTo>
                  <a:lnTo>
                    <a:pt x="2875483" y="2098654"/>
                  </a:lnTo>
                  <a:lnTo>
                    <a:pt x="2874784" y="2102210"/>
                  </a:lnTo>
                  <a:lnTo>
                    <a:pt x="2860370" y="2126941"/>
                  </a:lnTo>
                  <a:lnTo>
                    <a:pt x="2857804" y="2129506"/>
                  </a:lnTo>
                  <a:lnTo>
                    <a:pt x="2855010" y="2131797"/>
                  </a:lnTo>
                  <a:lnTo>
                    <a:pt x="2851988" y="2133812"/>
                  </a:lnTo>
                  <a:lnTo>
                    <a:pt x="2848978" y="2135826"/>
                  </a:lnTo>
                  <a:lnTo>
                    <a:pt x="2845803" y="2137528"/>
                  </a:lnTo>
                  <a:lnTo>
                    <a:pt x="2842437" y="2138917"/>
                  </a:lnTo>
                  <a:lnTo>
                    <a:pt x="2839097" y="2140305"/>
                  </a:lnTo>
                  <a:lnTo>
                    <a:pt x="2835643" y="2141353"/>
                  </a:lnTo>
                  <a:lnTo>
                    <a:pt x="2832074" y="2142062"/>
                  </a:lnTo>
                  <a:lnTo>
                    <a:pt x="2828518" y="2142766"/>
                  </a:lnTo>
                  <a:lnTo>
                    <a:pt x="2824937" y="2143123"/>
                  </a:lnTo>
                  <a:lnTo>
                    <a:pt x="2821305" y="2143123"/>
                  </a:lnTo>
                  <a:lnTo>
                    <a:pt x="55245" y="2143123"/>
                  </a:lnTo>
                  <a:lnTo>
                    <a:pt x="51612" y="2143123"/>
                  </a:lnTo>
                  <a:lnTo>
                    <a:pt x="48018" y="2142766"/>
                  </a:lnTo>
                  <a:lnTo>
                    <a:pt x="16179" y="2126941"/>
                  </a:lnTo>
                  <a:lnTo>
                    <a:pt x="13614" y="2124376"/>
                  </a:lnTo>
                  <a:lnTo>
                    <a:pt x="4203" y="2109017"/>
                  </a:lnTo>
                  <a:lnTo>
                    <a:pt x="2819" y="2105668"/>
                  </a:lnTo>
                  <a:lnTo>
                    <a:pt x="1765" y="2102210"/>
                  </a:lnTo>
                  <a:lnTo>
                    <a:pt x="1066" y="2098654"/>
                  </a:lnTo>
                  <a:lnTo>
                    <a:pt x="355" y="2095097"/>
                  </a:lnTo>
                  <a:lnTo>
                    <a:pt x="0" y="2091505"/>
                  </a:lnTo>
                  <a:lnTo>
                    <a:pt x="0" y="2087878"/>
                  </a:lnTo>
                  <a:close/>
                </a:path>
              </a:pathLst>
            </a:custGeom>
            <a:ln w="9525">
              <a:solidFill>
                <a:srgbClr val="C6BCD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112125" y="4352131"/>
            <a:ext cx="2543175" cy="1496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155" b="1">
                <a:solidFill>
                  <a:srgbClr val="262424"/>
                </a:solidFill>
                <a:latin typeface="Georgia"/>
                <a:cs typeface="Georgia"/>
              </a:rPr>
              <a:t>Innovación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2700"/>
              </a:lnSpc>
              <a:spcBef>
                <a:spcPts val="750"/>
              </a:spcBef>
            </a:pPr>
            <a:r>
              <a:rPr dirty="0" sz="1350" spc="55">
                <a:solidFill>
                  <a:srgbClr val="262424"/>
                </a:solidFill>
                <a:latin typeface="Tahoma"/>
                <a:cs typeface="Tahoma"/>
              </a:rPr>
              <a:t>La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electrónica 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digital </a:t>
            </a: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abre </a:t>
            </a:r>
            <a:r>
              <a:rPr dirty="0" sz="1350" spc="3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35">
                <a:solidFill>
                  <a:srgbClr val="262424"/>
                </a:solidFill>
                <a:latin typeface="Tahoma"/>
                <a:cs typeface="Tahoma"/>
              </a:rPr>
              <a:t>f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-3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p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b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ili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1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62424"/>
                </a:solidFill>
                <a:latin typeface="Tahoma"/>
                <a:cs typeface="Tahoma"/>
              </a:rPr>
              <a:t>p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-1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-30">
                <a:solidFill>
                  <a:srgbClr val="262424"/>
                </a:solidFill>
                <a:latin typeface="Tahoma"/>
                <a:cs typeface="Tahoma"/>
              </a:rPr>
              <a:t>r</a:t>
            </a:r>
            <a:r>
              <a:rPr dirty="0" sz="1350" spc="60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r  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soluciones </a:t>
            </a:r>
            <a:r>
              <a:rPr dirty="0" sz="1350" spc="25">
                <a:solidFill>
                  <a:srgbClr val="262424"/>
                </a:solidFill>
                <a:latin typeface="Tahoma"/>
                <a:cs typeface="Tahoma"/>
              </a:rPr>
              <a:t>innovadoras </a:t>
            </a:r>
            <a:r>
              <a:rPr dirty="0" sz="1350" spc="85">
                <a:solidFill>
                  <a:srgbClr val="262424"/>
                </a:solidFill>
                <a:latin typeface="Tahoma"/>
                <a:cs typeface="Tahoma"/>
              </a:rPr>
              <a:t>y </a:t>
            </a:r>
            <a:r>
              <a:rPr dirty="0" sz="1350" spc="9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o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l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ó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g</a:t>
            </a:r>
            <a:r>
              <a:rPr dirty="0" sz="1350" spc="-15">
                <a:solidFill>
                  <a:srgbClr val="262424"/>
                </a:solidFill>
                <a:latin typeface="Tahoma"/>
                <a:cs typeface="Tahoma"/>
              </a:rPr>
              <a:t>i</a:t>
            </a:r>
            <a:r>
              <a:rPr dirty="0" sz="1350" spc="130">
                <a:solidFill>
                  <a:srgbClr val="262424"/>
                </a:solidFill>
                <a:latin typeface="Tahoma"/>
                <a:cs typeface="Tahoma"/>
              </a:rPr>
              <a:t>c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m</a:t>
            </a:r>
            <a:r>
              <a:rPr dirty="0" sz="1350" spc="4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-55">
                <a:solidFill>
                  <a:srgbClr val="262424"/>
                </a:solidFill>
                <a:latin typeface="Tahoma"/>
                <a:cs typeface="Tahoma"/>
              </a:rPr>
              <a:t>t</a:t>
            </a:r>
            <a:r>
              <a:rPr dirty="0" sz="1350" spc="75">
                <a:solidFill>
                  <a:srgbClr val="262424"/>
                </a:solidFill>
                <a:latin typeface="Tahoma"/>
                <a:cs typeface="Tahom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dirty="0" sz="1350" spc="-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v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1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dirty="0" sz="1350" spc="114">
                <a:solidFill>
                  <a:srgbClr val="262424"/>
                </a:solidFill>
                <a:latin typeface="Tahoma"/>
                <a:cs typeface="Tahoma"/>
              </a:rPr>
              <a:t>z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50">
                <a:solidFill>
                  <a:srgbClr val="262424"/>
                </a:solidFill>
                <a:latin typeface="Tahoma"/>
                <a:cs typeface="Tahoma"/>
              </a:rPr>
              <a:t>d</a:t>
            </a:r>
            <a:r>
              <a:rPr dirty="0" sz="1350" spc="15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dirty="0" sz="1350" spc="80">
                <a:solidFill>
                  <a:srgbClr val="262424"/>
                </a:solidFill>
                <a:latin typeface="Tahoma"/>
                <a:cs typeface="Tahoma"/>
              </a:rPr>
              <a:t>s</a:t>
            </a:r>
            <a:r>
              <a:rPr dirty="0" sz="1350" spc="-20">
                <a:solidFill>
                  <a:srgbClr val="262424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6319266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2906712"/>
            <a:ext cx="6590030" cy="5911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390"/>
              <a:t>S</a:t>
            </a:r>
            <a:r>
              <a:rPr dirty="0" spc="-320"/>
              <a:t>e</a:t>
            </a:r>
            <a:r>
              <a:rPr dirty="0" spc="-305"/>
              <a:t>n</a:t>
            </a:r>
            <a:r>
              <a:rPr dirty="0" spc="-270"/>
              <a:t>s</a:t>
            </a:r>
            <a:r>
              <a:rPr dirty="0" spc="-370"/>
              <a:t>o</a:t>
            </a:r>
            <a:r>
              <a:rPr dirty="0" spc="-400"/>
              <a:t>r</a:t>
            </a:r>
            <a:r>
              <a:rPr dirty="0" spc="-320"/>
              <a:t>e</a:t>
            </a:r>
            <a:r>
              <a:rPr dirty="0" spc="-195"/>
              <a:t>s</a:t>
            </a:r>
            <a:r>
              <a:rPr dirty="0" spc="-275"/>
              <a:t> </a:t>
            </a:r>
            <a:r>
              <a:rPr dirty="0" spc="-185"/>
              <a:t>y</a:t>
            </a:r>
            <a:r>
              <a:rPr dirty="0" spc="-275"/>
              <a:t> </a:t>
            </a:r>
            <a:r>
              <a:rPr dirty="0" spc="-345"/>
              <a:t>a</a:t>
            </a:r>
            <a:r>
              <a:rPr dirty="0" spc="-200"/>
              <a:t>c</a:t>
            </a:r>
            <a:r>
              <a:rPr dirty="0" spc="-204"/>
              <a:t>t</a:t>
            </a:r>
            <a:r>
              <a:rPr dirty="0" spc="-330"/>
              <a:t>u</a:t>
            </a:r>
            <a:r>
              <a:rPr dirty="0" spc="-345"/>
              <a:t>a</a:t>
            </a:r>
            <a:r>
              <a:rPr dirty="0" spc="-305"/>
              <a:t>d</a:t>
            </a:r>
            <a:r>
              <a:rPr dirty="0" spc="-370"/>
              <a:t>o</a:t>
            </a:r>
            <a:r>
              <a:rPr dirty="0" spc="-400"/>
              <a:t>r</a:t>
            </a:r>
            <a:r>
              <a:rPr dirty="0" spc="-320"/>
              <a:t>e</a:t>
            </a:r>
            <a:r>
              <a:rPr dirty="0" spc="-195"/>
              <a:t>s</a:t>
            </a:r>
            <a:r>
              <a:rPr dirty="0" spc="-275"/>
              <a:t> </a:t>
            </a:r>
            <a:r>
              <a:rPr dirty="0" spc="-200"/>
              <a:t>c</a:t>
            </a:r>
            <a:r>
              <a:rPr dirty="0" spc="-370"/>
              <a:t>o</a:t>
            </a:r>
            <a:r>
              <a:rPr dirty="0" spc="-470"/>
              <a:t>m</a:t>
            </a:r>
            <a:r>
              <a:rPr dirty="0" spc="-330"/>
              <a:t>u</a:t>
            </a:r>
            <a:r>
              <a:rPr dirty="0" spc="-305"/>
              <a:t>n</a:t>
            </a:r>
            <a:r>
              <a:rPr dirty="0" spc="-320"/>
              <a:t>e</a:t>
            </a:r>
            <a:r>
              <a:rPr dirty="0" spc="-195"/>
              <a:t>s</a:t>
            </a:r>
          </a:p>
        </p:txBody>
      </p:sp>
      <p:sp>
        <p:nvSpPr>
          <p:cNvPr id="4" name="object 4"/>
          <p:cNvSpPr/>
          <p:nvPr/>
        </p:nvSpPr>
        <p:spPr>
          <a:xfrm>
            <a:off x="693836" y="3800475"/>
            <a:ext cx="241300" cy="428625"/>
          </a:xfrm>
          <a:custGeom>
            <a:avLst/>
            <a:gdLst/>
            <a:ahLst/>
            <a:cxnLst/>
            <a:rect l="l" t="t" r="r" b="b"/>
            <a:pathLst>
              <a:path w="241300" h="428625">
                <a:moveTo>
                  <a:pt x="120550" y="0"/>
                </a:moveTo>
                <a:lnTo>
                  <a:pt x="89275" y="6317"/>
                </a:lnTo>
                <a:lnTo>
                  <a:pt x="63728" y="23542"/>
                </a:lnTo>
                <a:lnTo>
                  <a:pt x="46501" y="49088"/>
                </a:lnTo>
                <a:lnTo>
                  <a:pt x="40184" y="80365"/>
                </a:lnTo>
                <a:lnTo>
                  <a:pt x="40184" y="215404"/>
                </a:lnTo>
                <a:lnTo>
                  <a:pt x="38343" y="219760"/>
                </a:lnTo>
                <a:lnTo>
                  <a:pt x="9239" y="261670"/>
                </a:lnTo>
                <a:lnTo>
                  <a:pt x="0" y="308076"/>
                </a:lnTo>
                <a:lnTo>
                  <a:pt x="9476" y="354987"/>
                </a:lnTo>
                <a:lnTo>
                  <a:pt x="35317" y="393306"/>
                </a:lnTo>
                <a:lnTo>
                  <a:pt x="73636" y="419147"/>
                </a:lnTo>
                <a:lnTo>
                  <a:pt x="120550" y="428625"/>
                </a:lnTo>
                <a:lnTo>
                  <a:pt x="167465" y="419147"/>
                </a:lnTo>
                <a:lnTo>
                  <a:pt x="193129" y="401840"/>
                </a:lnTo>
                <a:lnTo>
                  <a:pt x="120550" y="401840"/>
                </a:lnTo>
                <a:lnTo>
                  <a:pt x="84038" y="394476"/>
                </a:lnTo>
                <a:lnTo>
                  <a:pt x="54236" y="374389"/>
                </a:lnTo>
                <a:lnTo>
                  <a:pt x="34152" y="344587"/>
                </a:lnTo>
                <a:lnTo>
                  <a:pt x="26789" y="308076"/>
                </a:lnTo>
                <a:lnTo>
                  <a:pt x="28644" y="289423"/>
                </a:lnTo>
                <a:lnTo>
                  <a:pt x="33968" y="272021"/>
                </a:lnTo>
                <a:lnTo>
                  <a:pt x="42400" y="256237"/>
                </a:lnTo>
                <a:lnTo>
                  <a:pt x="53578" y="242443"/>
                </a:lnTo>
                <a:lnTo>
                  <a:pt x="58850" y="236118"/>
                </a:lnTo>
                <a:lnTo>
                  <a:pt x="63101" y="228784"/>
                </a:lnTo>
                <a:lnTo>
                  <a:pt x="65940" y="220554"/>
                </a:lnTo>
                <a:lnTo>
                  <a:pt x="66973" y="211543"/>
                </a:lnTo>
                <a:lnTo>
                  <a:pt x="66973" y="80365"/>
                </a:lnTo>
                <a:lnTo>
                  <a:pt x="71189" y="59525"/>
                </a:lnTo>
                <a:lnTo>
                  <a:pt x="82679" y="42492"/>
                </a:lnTo>
                <a:lnTo>
                  <a:pt x="99711" y="31000"/>
                </a:lnTo>
                <a:lnTo>
                  <a:pt x="120550" y="26784"/>
                </a:lnTo>
                <a:lnTo>
                  <a:pt x="179559" y="26784"/>
                </a:lnTo>
                <a:lnTo>
                  <a:pt x="177373" y="23542"/>
                </a:lnTo>
                <a:lnTo>
                  <a:pt x="151827" y="6317"/>
                </a:lnTo>
                <a:lnTo>
                  <a:pt x="120550" y="0"/>
                </a:lnTo>
                <a:close/>
              </a:path>
              <a:path w="241300" h="428625">
                <a:moveTo>
                  <a:pt x="179559" y="26784"/>
                </a:moveTo>
                <a:lnTo>
                  <a:pt x="120550" y="26784"/>
                </a:lnTo>
                <a:lnTo>
                  <a:pt x="141390" y="31000"/>
                </a:lnTo>
                <a:lnTo>
                  <a:pt x="158422" y="42492"/>
                </a:lnTo>
                <a:lnTo>
                  <a:pt x="169913" y="59525"/>
                </a:lnTo>
                <a:lnTo>
                  <a:pt x="174129" y="80365"/>
                </a:lnTo>
                <a:lnTo>
                  <a:pt x="174129" y="211543"/>
                </a:lnTo>
                <a:lnTo>
                  <a:pt x="175162" y="220554"/>
                </a:lnTo>
                <a:lnTo>
                  <a:pt x="178000" y="228784"/>
                </a:lnTo>
                <a:lnTo>
                  <a:pt x="182251" y="236118"/>
                </a:lnTo>
                <a:lnTo>
                  <a:pt x="187523" y="242443"/>
                </a:lnTo>
                <a:lnTo>
                  <a:pt x="198701" y="256237"/>
                </a:lnTo>
                <a:lnTo>
                  <a:pt x="207133" y="272021"/>
                </a:lnTo>
                <a:lnTo>
                  <a:pt x="212457" y="289423"/>
                </a:lnTo>
                <a:lnTo>
                  <a:pt x="214312" y="308076"/>
                </a:lnTo>
                <a:lnTo>
                  <a:pt x="206949" y="344587"/>
                </a:lnTo>
                <a:lnTo>
                  <a:pt x="186865" y="374389"/>
                </a:lnTo>
                <a:lnTo>
                  <a:pt x="157063" y="394476"/>
                </a:lnTo>
                <a:lnTo>
                  <a:pt x="120550" y="401840"/>
                </a:lnTo>
                <a:lnTo>
                  <a:pt x="193129" y="401840"/>
                </a:lnTo>
                <a:lnTo>
                  <a:pt x="205784" y="393306"/>
                </a:lnTo>
                <a:lnTo>
                  <a:pt x="231625" y="354987"/>
                </a:lnTo>
                <a:lnTo>
                  <a:pt x="241101" y="308076"/>
                </a:lnTo>
                <a:lnTo>
                  <a:pt x="238699" y="284056"/>
                </a:lnTo>
                <a:lnTo>
                  <a:pt x="231862" y="261737"/>
                </a:lnTo>
                <a:lnTo>
                  <a:pt x="220965" y="241389"/>
                </a:lnTo>
                <a:lnTo>
                  <a:pt x="206608" y="223685"/>
                </a:lnTo>
                <a:lnTo>
                  <a:pt x="202758" y="219760"/>
                </a:lnTo>
                <a:lnTo>
                  <a:pt x="200917" y="215404"/>
                </a:lnTo>
                <a:lnTo>
                  <a:pt x="200917" y="80365"/>
                </a:lnTo>
                <a:lnTo>
                  <a:pt x="194600" y="49088"/>
                </a:lnTo>
                <a:lnTo>
                  <a:pt x="179559" y="26784"/>
                </a:lnTo>
                <a:close/>
              </a:path>
              <a:path w="241300" h="428625">
                <a:moveTo>
                  <a:pt x="127918" y="107162"/>
                </a:moveTo>
                <a:lnTo>
                  <a:pt x="113183" y="107162"/>
                </a:lnTo>
                <a:lnTo>
                  <a:pt x="107156" y="113182"/>
                </a:lnTo>
                <a:lnTo>
                  <a:pt x="107156" y="256171"/>
                </a:lnTo>
                <a:lnTo>
                  <a:pt x="91129" y="263279"/>
                </a:lnTo>
                <a:lnTo>
                  <a:pt x="78399" y="274994"/>
                </a:lnTo>
                <a:lnTo>
                  <a:pt x="70002" y="290274"/>
                </a:lnTo>
                <a:lnTo>
                  <a:pt x="66973" y="308076"/>
                </a:lnTo>
                <a:lnTo>
                  <a:pt x="71189" y="328916"/>
                </a:lnTo>
                <a:lnTo>
                  <a:pt x="82679" y="345949"/>
                </a:lnTo>
                <a:lnTo>
                  <a:pt x="99711" y="357441"/>
                </a:lnTo>
                <a:lnTo>
                  <a:pt x="120550" y="361657"/>
                </a:lnTo>
                <a:lnTo>
                  <a:pt x="141390" y="357441"/>
                </a:lnTo>
                <a:lnTo>
                  <a:pt x="158422" y="345949"/>
                </a:lnTo>
                <a:lnTo>
                  <a:pt x="165903" y="334860"/>
                </a:lnTo>
                <a:lnTo>
                  <a:pt x="116998" y="334860"/>
                </a:lnTo>
                <a:lnTo>
                  <a:pt x="113581" y="334187"/>
                </a:lnTo>
                <a:lnTo>
                  <a:pt x="93761" y="311632"/>
                </a:lnTo>
                <a:lnTo>
                  <a:pt x="93761" y="304520"/>
                </a:lnTo>
                <a:lnTo>
                  <a:pt x="116998" y="281292"/>
                </a:lnTo>
                <a:lnTo>
                  <a:pt x="166162" y="281292"/>
                </a:lnTo>
                <a:lnTo>
                  <a:pt x="162701" y="274994"/>
                </a:lnTo>
                <a:lnTo>
                  <a:pt x="149970" y="263279"/>
                </a:lnTo>
                <a:lnTo>
                  <a:pt x="133945" y="256171"/>
                </a:lnTo>
                <a:lnTo>
                  <a:pt x="133945" y="113182"/>
                </a:lnTo>
                <a:lnTo>
                  <a:pt x="127918" y="107162"/>
                </a:lnTo>
                <a:close/>
              </a:path>
              <a:path w="241300" h="428625">
                <a:moveTo>
                  <a:pt x="166162" y="281292"/>
                </a:moveTo>
                <a:lnTo>
                  <a:pt x="124103" y="281292"/>
                </a:lnTo>
                <a:lnTo>
                  <a:pt x="127520" y="281965"/>
                </a:lnTo>
                <a:lnTo>
                  <a:pt x="134084" y="284683"/>
                </a:lnTo>
                <a:lnTo>
                  <a:pt x="147340" y="304520"/>
                </a:lnTo>
                <a:lnTo>
                  <a:pt x="147340" y="311632"/>
                </a:lnTo>
                <a:lnTo>
                  <a:pt x="124103" y="334860"/>
                </a:lnTo>
                <a:lnTo>
                  <a:pt x="165903" y="334860"/>
                </a:lnTo>
                <a:lnTo>
                  <a:pt x="169913" y="328916"/>
                </a:lnTo>
                <a:lnTo>
                  <a:pt x="174129" y="308076"/>
                </a:lnTo>
                <a:lnTo>
                  <a:pt x="171099" y="290274"/>
                </a:lnTo>
                <a:lnTo>
                  <a:pt x="166162" y="281292"/>
                </a:lnTo>
                <a:close/>
              </a:path>
            </a:pathLst>
          </a:custGeom>
          <a:solidFill>
            <a:srgbClr val="613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87375" y="4361656"/>
            <a:ext cx="2829560" cy="12293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200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850" spc="-165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850" spc="-155" b="1">
                <a:solidFill>
                  <a:srgbClr val="262424"/>
                </a:solidFill>
                <a:latin typeface="Georgia"/>
                <a:cs typeface="Georgia"/>
              </a:rPr>
              <a:t>n</a:t>
            </a:r>
            <a:r>
              <a:rPr dirty="0" sz="1850" spc="-140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850" spc="-190" b="1">
                <a:solidFill>
                  <a:srgbClr val="262424"/>
                </a:solidFill>
                <a:latin typeface="Georgia"/>
                <a:cs typeface="Georgia"/>
              </a:rPr>
              <a:t>o</a:t>
            </a:r>
            <a:r>
              <a:rPr dirty="0" sz="1850" spc="-204" b="1">
                <a:solidFill>
                  <a:srgbClr val="262424"/>
                </a:solidFill>
                <a:latin typeface="Georgia"/>
                <a:cs typeface="Georgia"/>
              </a:rPr>
              <a:t>r</a:t>
            </a:r>
            <a:r>
              <a:rPr dirty="0" sz="1850" spc="-165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850" spc="-100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850" spc="-14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850" spc="-155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r>
              <a:rPr dirty="0" sz="1850" spc="-125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850" spc="-14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850" spc="-280" b="1">
                <a:solidFill>
                  <a:srgbClr val="262424"/>
                </a:solidFill>
                <a:latin typeface="Georgia"/>
                <a:cs typeface="Georgia"/>
              </a:rPr>
              <a:t>T</a:t>
            </a:r>
            <a:r>
              <a:rPr dirty="0" sz="1850" spc="-165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850" spc="-235" b="1">
                <a:solidFill>
                  <a:srgbClr val="262424"/>
                </a:solidFill>
                <a:latin typeface="Georgia"/>
                <a:cs typeface="Georgia"/>
              </a:rPr>
              <a:t>m</a:t>
            </a:r>
            <a:r>
              <a:rPr dirty="0" sz="1850" spc="-165" b="1">
                <a:solidFill>
                  <a:srgbClr val="262424"/>
                </a:solidFill>
                <a:latin typeface="Georgia"/>
                <a:cs typeface="Georgia"/>
              </a:rPr>
              <a:t>p</a:t>
            </a:r>
            <a:r>
              <a:rPr dirty="0" sz="1850" spc="-165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850" spc="-215" b="1">
                <a:solidFill>
                  <a:srgbClr val="262424"/>
                </a:solidFill>
                <a:latin typeface="Georgia"/>
                <a:cs typeface="Georgia"/>
              </a:rPr>
              <a:t>r</a:t>
            </a:r>
            <a:r>
              <a:rPr dirty="0" sz="1850" spc="-17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850" spc="-105" b="1">
                <a:solidFill>
                  <a:srgbClr val="262424"/>
                </a:solidFill>
                <a:latin typeface="Georgia"/>
                <a:cs typeface="Georgia"/>
              </a:rPr>
              <a:t>t</a:t>
            </a:r>
            <a:r>
              <a:rPr dirty="0" sz="1850" spc="-170" b="1">
                <a:solidFill>
                  <a:srgbClr val="262424"/>
                </a:solidFill>
                <a:latin typeface="Georgia"/>
                <a:cs typeface="Georgia"/>
              </a:rPr>
              <a:t>u</a:t>
            </a:r>
            <a:r>
              <a:rPr dirty="0" sz="1850" spc="-215" b="1">
                <a:solidFill>
                  <a:srgbClr val="262424"/>
                </a:solidFill>
                <a:latin typeface="Georgia"/>
                <a:cs typeface="Georgia"/>
              </a:rPr>
              <a:t>r</a:t>
            </a:r>
            <a:r>
              <a:rPr dirty="0" sz="1850" spc="-13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endParaRPr sz="1850">
              <a:latin typeface="Georgia"/>
              <a:cs typeface="Georgia"/>
            </a:endParaRPr>
          </a:p>
          <a:p>
            <a:pPr algn="just" marL="12700" marR="5080">
              <a:lnSpc>
                <a:spcPct val="134300"/>
              </a:lnSpc>
              <a:spcBef>
                <a:spcPts val="725"/>
              </a:spcBef>
            </a:pP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4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a  </a:t>
            </a:r>
            <a:r>
              <a:rPr dirty="0" sz="1350" spc="-14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u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u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li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g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e 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aplicaciones.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94657" y="3827259"/>
            <a:ext cx="429895" cy="375285"/>
          </a:xfrm>
          <a:custGeom>
            <a:avLst/>
            <a:gdLst/>
            <a:ahLst/>
            <a:cxnLst/>
            <a:rect l="l" t="t" r="r" b="b"/>
            <a:pathLst>
              <a:path w="429895" h="375285">
                <a:moveTo>
                  <a:pt x="215404" y="0"/>
                </a:moveTo>
                <a:lnTo>
                  <a:pt x="166236" y="4602"/>
                </a:lnTo>
                <a:lnTo>
                  <a:pt x="121115" y="17710"/>
                </a:lnTo>
                <a:lnTo>
                  <a:pt x="81324" y="38275"/>
                </a:lnTo>
                <a:lnTo>
                  <a:pt x="48145" y="65249"/>
                </a:lnTo>
                <a:lnTo>
                  <a:pt x="22859" y="97581"/>
                </a:lnTo>
                <a:lnTo>
                  <a:pt x="6747" y="134224"/>
                </a:lnTo>
                <a:lnTo>
                  <a:pt x="1092" y="174129"/>
                </a:lnTo>
                <a:lnTo>
                  <a:pt x="4020" y="202419"/>
                </a:lnTo>
                <a:lnTo>
                  <a:pt x="12215" y="228715"/>
                </a:lnTo>
                <a:lnTo>
                  <a:pt x="24789" y="252937"/>
                </a:lnTo>
                <a:lnTo>
                  <a:pt x="40855" y="275005"/>
                </a:lnTo>
                <a:lnTo>
                  <a:pt x="40944" y="275183"/>
                </a:lnTo>
                <a:lnTo>
                  <a:pt x="29723" y="315476"/>
                </a:lnTo>
                <a:lnTo>
                  <a:pt x="4940" y="352285"/>
                </a:lnTo>
                <a:lnTo>
                  <a:pt x="1181" y="356133"/>
                </a:lnTo>
                <a:lnTo>
                  <a:pt x="0" y="361911"/>
                </a:lnTo>
                <a:lnTo>
                  <a:pt x="4191" y="371792"/>
                </a:lnTo>
                <a:lnTo>
                  <a:pt x="9042" y="375056"/>
                </a:lnTo>
                <a:lnTo>
                  <a:pt x="14490" y="375056"/>
                </a:lnTo>
                <a:lnTo>
                  <a:pt x="67031" y="365090"/>
                </a:lnTo>
                <a:lnTo>
                  <a:pt x="106084" y="347164"/>
                </a:lnTo>
                <a:lnTo>
                  <a:pt x="107050" y="346583"/>
                </a:lnTo>
                <a:lnTo>
                  <a:pt x="77444" y="346583"/>
                </a:lnTo>
                <a:lnTo>
                  <a:pt x="76276" y="343903"/>
                </a:lnTo>
                <a:lnTo>
                  <a:pt x="44704" y="343903"/>
                </a:lnTo>
                <a:lnTo>
                  <a:pt x="45631" y="342480"/>
                </a:lnTo>
                <a:lnTo>
                  <a:pt x="46050" y="341731"/>
                </a:lnTo>
                <a:lnTo>
                  <a:pt x="64791" y="294572"/>
                </a:lnTo>
                <a:lnTo>
                  <a:pt x="68402" y="270243"/>
                </a:lnTo>
                <a:lnTo>
                  <a:pt x="65722" y="263118"/>
                </a:lnTo>
                <a:lnTo>
                  <a:pt x="61366" y="257848"/>
                </a:lnTo>
                <a:lnTo>
                  <a:pt x="47480" y="238752"/>
                </a:lnTo>
                <a:lnTo>
                  <a:pt x="36930" y="218408"/>
                </a:lnTo>
                <a:lnTo>
                  <a:pt x="30225" y="196854"/>
                </a:lnTo>
                <a:lnTo>
                  <a:pt x="27876" y="174129"/>
                </a:lnTo>
                <a:lnTo>
                  <a:pt x="34198" y="136647"/>
                </a:lnTo>
                <a:lnTo>
                  <a:pt x="52274" y="101924"/>
                </a:lnTo>
                <a:lnTo>
                  <a:pt x="80768" y="71769"/>
                </a:lnTo>
                <a:lnTo>
                  <a:pt x="118345" y="47990"/>
                </a:lnTo>
                <a:lnTo>
                  <a:pt x="163669" y="32396"/>
                </a:lnTo>
                <a:lnTo>
                  <a:pt x="215404" y="26797"/>
                </a:lnTo>
                <a:lnTo>
                  <a:pt x="327274" y="26797"/>
                </a:lnTo>
                <a:lnTo>
                  <a:pt x="309693" y="17710"/>
                </a:lnTo>
                <a:lnTo>
                  <a:pt x="264573" y="4602"/>
                </a:lnTo>
                <a:lnTo>
                  <a:pt x="215404" y="0"/>
                </a:lnTo>
                <a:close/>
              </a:path>
              <a:path w="429895" h="375285">
                <a:moveTo>
                  <a:pt x="300583" y="333197"/>
                </a:moveTo>
                <a:lnTo>
                  <a:pt x="128346" y="333197"/>
                </a:lnTo>
                <a:lnTo>
                  <a:pt x="128511" y="333273"/>
                </a:lnTo>
                <a:lnTo>
                  <a:pt x="149711" y="339596"/>
                </a:lnTo>
                <a:lnTo>
                  <a:pt x="171110" y="344285"/>
                </a:lnTo>
                <a:lnTo>
                  <a:pt x="193033" y="347237"/>
                </a:lnTo>
                <a:lnTo>
                  <a:pt x="215404" y="348259"/>
                </a:lnTo>
                <a:lnTo>
                  <a:pt x="264573" y="343657"/>
                </a:lnTo>
                <a:lnTo>
                  <a:pt x="300583" y="333197"/>
                </a:lnTo>
                <a:close/>
              </a:path>
              <a:path w="429895" h="375285">
                <a:moveTo>
                  <a:pt x="130766" y="306514"/>
                </a:moveTo>
                <a:lnTo>
                  <a:pt x="124417" y="306695"/>
                </a:lnTo>
                <a:lnTo>
                  <a:pt x="118270" y="308319"/>
                </a:lnTo>
                <a:lnTo>
                  <a:pt x="112598" y="311340"/>
                </a:lnTo>
                <a:lnTo>
                  <a:pt x="102831" y="317831"/>
                </a:lnTo>
                <a:lnTo>
                  <a:pt x="92846" y="323848"/>
                </a:lnTo>
                <a:lnTo>
                  <a:pt x="82608" y="329348"/>
                </a:lnTo>
                <a:lnTo>
                  <a:pt x="72085" y="334289"/>
                </a:lnTo>
                <a:lnTo>
                  <a:pt x="77444" y="346583"/>
                </a:lnTo>
                <a:lnTo>
                  <a:pt x="107050" y="346583"/>
                </a:lnTo>
                <a:lnTo>
                  <a:pt x="117167" y="340494"/>
                </a:lnTo>
                <a:lnTo>
                  <a:pt x="127927" y="333362"/>
                </a:lnTo>
                <a:lnTo>
                  <a:pt x="128092" y="333273"/>
                </a:lnTo>
                <a:lnTo>
                  <a:pt x="128346" y="333197"/>
                </a:lnTo>
                <a:lnTo>
                  <a:pt x="300583" y="333197"/>
                </a:lnTo>
                <a:lnTo>
                  <a:pt x="309693" y="330550"/>
                </a:lnTo>
                <a:lnTo>
                  <a:pt x="327255" y="321475"/>
                </a:lnTo>
                <a:lnTo>
                  <a:pt x="215404" y="321475"/>
                </a:lnTo>
                <a:lnTo>
                  <a:pt x="195463" y="320567"/>
                </a:lnTo>
                <a:lnTo>
                  <a:pt x="175787" y="317915"/>
                </a:lnTo>
                <a:lnTo>
                  <a:pt x="156329" y="313631"/>
                </a:lnTo>
                <a:lnTo>
                  <a:pt x="137045" y="307822"/>
                </a:lnTo>
                <a:lnTo>
                  <a:pt x="130766" y="306514"/>
                </a:lnTo>
                <a:close/>
              </a:path>
              <a:path w="429895" h="375285">
                <a:moveTo>
                  <a:pt x="72085" y="334289"/>
                </a:moveTo>
                <a:lnTo>
                  <a:pt x="65406" y="337036"/>
                </a:lnTo>
                <a:lnTo>
                  <a:pt x="58585" y="339596"/>
                </a:lnTo>
                <a:lnTo>
                  <a:pt x="51668" y="341906"/>
                </a:lnTo>
                <a:lnTo>
                  <a:pt x="44704" y="343903"/>
                </a:lnTo>
                <a:lnTo>
                  <a:pt x="76276" y="343903"/>
                </a:lnTo>
                <a:lnTo>
                  <a:pt x="72085" y="334289"/>
                </a:lnTo>
                <a:close/>
              </a:path>
              <a:path w="429895" h="375285">
                <a:moveTo>
                  <a:pt x="327274" y="26797"/>
                </a:moveTo>
                <a:lnTo>
                  <a:pt x="215404" y="26797"/>
                </a:lnTo>
                <a:lnTo>
                  <a:pt x="267139" y="32396"/>
                </a:lnTo>
                <a:lnTo>
                  <a:pt x="312463" y="47990"/>
                </a:lnTo>
                <a:lnTo>
                  <a:pt x="350040" y="71769"/>
                </a:lnTo>
                <a:lnTo>
                  <a:pt x="378534" y="101924"/>
                </a:lnTo>
                <a:lnTo>
                  <a:pt x="396610" y="136647"/>
                </a:lnTo>
                <a:lnTo>
                  <a:pt x="402932" y="174129"/>
                </a:lnTo>
                <a:lnTo>
                  <a:pt x="396610" y="211612"/>
                </a:lnTo>
                <a:lnTo>
                  <a:pt x="378534" y="246338"/>
                </a:lnTo>
                <a:lnTo>
                  <a:pt x="350040" y="276496"/>
                </a:lnTo>
                <a:lnTo>
                  <a:pt x="312463" y="300278"/>
                </a:lnTo>
                <a:lnTo>
                  <a:pt x="267139" y="315874"/>
                </a:lnTo>
                <a:lnTo>
                  <a:pt x="215404" y="321475"/>
                </a:lnTo>
                <a:lnTo>
                  <a:pt x="327255" y="321475"/>
                </a:lnTo>
                <a:lnTo>
                  <a:pt x="382663" y="283015"/>
                </a:lnTo>
                <a:lnTo>
                  <a:pt x="407950" y="250683"/>
                </a:lnTo>
                <a:lnTo>
                  <a:pt x="424061" y="214038"/>
                </a:lnTo>
                <a:lnTo>
                  <a:pt x="429717" y="174129"/>
                </a:lnTo>
                <a:lnTo>
                  <a:pt x="424061" y="134224"/>
                </a:lnTo>
                <a:lnTo>
                  <a:pt x="407950" y="97581"/>
                </a:lnTo>
                <a:lnTo>
                  <a:pt x="382663" y="65249"/>
                </a:lnTo>
                <a:lnTo>
                  <a:pt x="349484" y="38275"/>
                </a:lnTo>
                <a:lnTo>
                  <a:pt x="327274" y="26797"/>
                </a:lnTo>
                <a:close/>
              </a:path>
            </a:pathLst>
          </a:custGeom>
          <a:solidFill>
            <a:srgbClr val="6137C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9217" y="4505325"/>
            <a:ext cx="123825" cy="1047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83050" y="4361656"/>
            <a:ext cx="3013710" cy="12293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200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850" spc="-165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850" spc="-155" b="1">
                <a:solidFill>
                  <a:srgbClr val="262424"/>
                </a:solidFill>
                <a:latin typeface="Georgia"/>
                <a:cs typeface="Georgia"/>
              </a:rPr>
              <a:t>n</a:t>
            </a:r>
            <a:r>
              <a:rPr dirty="0" sz="1850" spc="-140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850" spc="-190" b="1">
                <a:solidFill>
                  <a:srgbClr val="262424"/>
                </a:solidFill>
                <a:latin typeface="Georgia"/>
                <a:cs typeface="Georgia"/>
              </a:rPr>
              <a:t>o</a:t>
            </a:r>
            <a:r>
              <a:rPr dirty="0" sz="1850" spc="-204" b="1">
                <a:solidFill>
                  <a:srgbClr val="262424"/>
                </a:solidFill>
                <a:latin typeface="Georgia"/>
                <a:cs typeface="Georgia"/>
              </a:rPr>
              <a:t>r</a:t>
            </a:r>
            <a:r>
              <a:rPr dirty="0" sz="1850" spc="-165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850" spc="-100" b="1">
                <a:solidFill>
                  <a:srgbClr val="262424"/>
                </a:solidFill>
                <a:latin typeface="Georgia"/>
                <a:cs typeface="Georgia"/>
              </a:rPr>
              <a:t>s</a:t>
            </a:r>
            <a:r>
              <a:rPr dirty="0" sz="1850" spc="-14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850" spc="-155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r>
              <a:rPr dirty="0" sz="1850" spc="-125" b="1">
                <a:solidFill>
                  <a:srgbClr val="262424"/>
                </a:solidFill>
                <a:latin typeface="Georgia"/>
                <a:cs typeface="Georgia"/>
              </a:rPr>
              <a:t>e</a:t>
            </a:r>
            <a:r>
              <a:rPr dirty="0" sz="1850" spc="-14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850" spc="-200" b="1">
                <a:solidFill>
                  <a:srgbClr val="262424"/>
                </a:solidFill>
                <a:latin typeface="Georgia"/>
                <a:cs typeface="Georgia"/>
              </a:rPr>
              <a:t>P</a:t>
            </a:r>
            <a:r>
              <a:rPr dirty="0" sz="1850" spc="-204" b="1">
                <a:solidFill>
                  <a:srgbClr val="262424"/>
                </a:solidFill>
                <a:latin typeface="Georgia"/>
                <a:cs typeface="Georgia"/>
              </a:rPr>
              <a:t>r</a:t>
            </a:r>
            <a:r>
              <a:rPr dirty="0" sz="1850" spc="-150" b="1">
                <a:solidFill>
                  <a:srgbClr val="262424"/>
                </a:solidFill>
                <a:latin typeface="Georgia"/>
                <a:cs typeface="Georgia"/>
              </a:rPr>
              <a:t>o</a:t>
            </a:r>
            <a:r>
              <a:rPr dirty="0" sz="1850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850" spc="-55" b="1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dirty="0" sz="1850" spc="-7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850" spc="-235" b="1">
                <a:solidFill>
                  <a:srgbClr val="262424"/>
                </a:solidFill>
                <a:latin typeface="Georgia"/>
                <a:cs typeface="Georgia"/>
              </a:rPr>
              <a:t>m</a:t>
            </a:r>
            <a:r>
              <a:rPr dirty="0" sz="1850" spc="-70" b="1">
                <a:solidFill>
                  <a:srgbClr val="262424"/>
                </a:solidFill>
                <a:latin typeface="Georgia"/>
                <a:cs typeface="Georgia"/>
              </a:rPr>
              <a:t>i</a:t>
            </a:r>
            <a:r>
              <a:rPr dirty="0" sz="1850" spc="-155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r>
              <a:rPr dirty="0" sz="1850" spc="-175" b="1">
                <a:solidFill>
                  <a:srgbClr val="262424"/>
                </a:solidFill>
                <a:latin typeface="Georgia"/>
                <a:cs typeface="Georgia"/>
              </a:rPr>
              <a:t>a</a:t>
            </a:r>
            <a:r>
              <a:rPr dirty="0" sz="1850" spc="-114" b="1">
                <a:solidFill>
                  <a:srgbClr val="262424"/>
                </a:solidFill>
                <a:latin typeface="Georgia"/>
                <a:cs typeface="Georgia"/>
              </a:rPr>
              <a:t>d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725"/>
              </a:spcBef>
            </a:pPr>
            <a:r>
              <a:rPr dirty="0" sz="1350" spc="-70">
                <a:solidFill>
                  <a:srgbClr val="262424"/>
                </a:solidFill>
                <a:latin typeface="Verdana"/>
                <a:cs typeface="Verdana"/>
              </a:rPr>
              <a:t>Detectan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la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presencia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la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distancia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62424"/>
                </a:solidFill>
                <a:latin typeface="Verdana"/>
                <a:cs typeface="Verdana"/>
              </a:rPr>
              <a:t>de </a:t>
            </a:r>
            <a:r>
              <a:rPr dirty="0" sz="1350" spc="-459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b</a:t>
            </a:r>
            <a:r>
              <a:rPr dirty="0" sz="1350" spc="-170">
                <a:solidFill>
                  <a:srgbClr val="262424"/>
                </a:solidFill>
                <a:latin typeface="Verdana"/>
                <a:cs typeface="Verdana"/>
              </a:rPr>
              <a:t>j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4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,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165">
                <a:solidFill>
                  <a:srgbClr val="262424"/>
                </a:solidFill>
                <a:latin typeface="Verdana"/>
                <a:cs typeface="Verdana"/>
              </a:rPr>
              <a:t>m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1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15">
                <a:solidFill>
                  <a:srgbClr val="262424"/>
                </a:solidFill>
                <a:latin typeface="Verdana"/>
                <a:cs typeface="Verdana"/>
              </a:rPr>
              <a:t>e 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interacción.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91425" y="3864774"/>
            <a:ext cx="428625" cy="300355"/>
          </a:xfrm>
          <a:custGeom>
            <a:avLst/>
            <a:gdLst/>
            <a:ahLst/>
            <a:cxnLst/>
            <a:rect l="l" t="t" r="r" b="b"/>
            <a:pathLst>
              <a:path w="428625" h="300354">
                <a:moveTo>
                  <a:pt x="91351" y="128587"/>
                </a:moveTo>
                <a:lnTo>
                  <a:pt x="80098" y="128587"/>
                </a:lnTo>
                <a:lnTo>
                  <a:pt x="74523" y="129133"/>
                </a:lnTo>
                <a:lnTo>
                  <a:pt x="33413" y="146151"/>
                </a:lnTo>
                <a:lnTo>
                  <a:pt x="8674" y="176301"/>
                </a:lnTo>
                <a:lnTo>
                  <a:pt x="0" y="208673"/>
                </a:lnTo>
                <a:lnTo>
                  <a:pt x="110" y="221068"/>
                </a:lnTo>
                <a:lnTo>
                  <a:pt x="17576" y="266611"/>
                </a:lnTo>
                <a:lnTo>
                  <a:pt x="47713" y="291350"/>
                </a:lnTo>
                <a:lnTo>
                  <a:pt x="80098" y="300037"/>
                </a:lnTo>
                <a:lnTo>
                  <a:pt x="91351" y="300037"/>
                </a:lnTo>
                <a:lnTo>
                  <a:pt x="128676" y="288709"/>
                </a:lnTo>
                <a:lnTo>
                  <a:pt x="142659" y="278599"/>
                </a:lnTo>
                <a:lnTo>
                  <a:pt x="85725" y="278599"/>
                </a:lnTo>
                <a:lnTo>
                  <a:pt x="60705" y="273544"/>
                </a:lnTo>
                <a:lnTo>
                  <a:pt x="40270" y="259762"/>
                </a:lnTo>
                <a:lnTo>
                  <a:pt x="26490" y="239327"/>
                </a:lnTo>
                <a:lnTo>
                  <a:pt x="21437" y="214312"/>
                </a:lnTo>
                <a:lnTo>
                  <a:pt x="26490" y="189290"/>
                </a:lnTo>
                <a:lnTo>
                  <a:pt x="40270" y="168851"/>
                </a:lnTo>
                <a:lnTo>
                  <a:pt x="60705" y="155067"/>
                </a:lnTo>
                <a:lnTo>
                  <a:pt x="85725" y="150012"/>
                </a:lnTo>
                <a:lnTo>
                  <a:pt x="142659" y="150012"/>
                </a:lnTo>
                <a:lnTo>
                  <a:pt x="142354" y="149707"/>
                </a:lnTo>
                <a:lnTo>
                  <a:pt x="107975" y="131330"/>
                </a:lnTo>
                <a:lnTo>
                  <a:pt x="96926" y="129133"/>
                </a:lnTo>
                <a:lnTo>
                  <a:pt x="91351" y="128587"/>
                </a:lnTo>
                <a:close/>
              </a:path>
              <a:path w="428625" h="300354">
                <a:moveTo>
                  <a:pt x="308002" y="124968"/>
                </a:moveTo>
                <a:lnTo>
                  <a:pt x="283756" y="124968"/>
                </a:lnTo>
                <a:lnTo>
                  <a:pt x="293801" y="144056"/>
                </a:lnTo>
                <a:lnTo>
                  <a:pt x="278729" y="157471"/>
                </a:lnTo>
                <a:lnTo>
                  <a:pt x="267177" y="174083"/>
                </a:lnTo>
                <a:lnTo>
                  <a:pt x="259781" y="193246"/>
                </a:lnTo>
                <a:lnTo>
                  <a:pt x="257175" y="214312"/>
                </a:lnTo>
                <a:lnTo>
                  <a:pt x="263909" y="247680"/>
                </a:lnTo>
                <a:lnTo>
                  <a:pt x="282278" y="274929"/>
                </a:lnTo>
                <a:lnTo>
                  <a:pt x="309526" y="293300"/>
                </a:lnTo>
                <a:lnTo>
                  <a:pt x="342900" y="300037"/>
                </a:lnTo>
                <a:lnTo>
                  <a:pt x="376268" y="293300"/>
                </a:lnTo>
                <a:lnTo>
                  <a:pt x="398073" y="278599"/>
                </a:lnTo>
                <a:lnTo>
                  <a:pt x="342836" y="278599"/>
                </a:lnTo>
                <a:lnTo>
                  <a:pt x="317814" y="273544"/>
                </a:lnTo>
                <a:lnTo>
                  <a:pt x="297375" y="259762"/>
                </a:lnTo>
                <a:lnTo>
                  <a:pt x="283591" y="239327"/>
                </a:lnTo>
                <a:lnTo>
                  <a:pt x="278536" y="214312"/>
                </a:lnTo>
                <a:lnTo>
                  <a:pt x="280340" y="199145"/>
                </a:lnTo>
                <a:lnTo>
                  <a:pt x="285419" y="185340"/>
                </a:lnTo>
                <a:lnTo>
                  <a:pt x="293398" y="173207"/>
                </a:lnTo>
                <a:lnTo>
                  <a:pt x="303847" y="163207"/>
                </a:lnTo>
                <a:lnTo>
                  <a:pt x="328061" y="163207"/>
                </a:lnTo>
                <a:lnTo>
                  <a:pt x="322808" y="153225"/>
                </a:lnTo>
                <a:lnTo>
                  <a:pt x="329107" y="151155"/>
                </a:lnTo>
                <a:lnTo>
                  <a:pt x="335800" y="150012"/>
                </a:lnTo>
                <a:lnTo>
                  <a:pt x="398060" y="150012"/>
                </a:lnTo>
                <a:lnTo>
                  <a:pt x="376268" y="135322"/>
                </a:lnTo>
                <a:lnTo>
                  <a:pt x="369768" y="134010"/>
                </a:lnTo>
                <a:lnTo>
                  <a:pt x="312762" y="134010"/>
                </a:lnTo>
                <a:lnTo>
                  <a:pt x="308002" y="124968"/>
                </a:lnTo>
                <a:close/>
              </a:path>
              <a:path w="428625" h="300354">
                <a:moveTo>
                  <a:pt x="170952" y="225018"/>
                </a:moveTo>
                <a:lnTo>
                  <a:pt x="149148" y="225018"/>
                </a:lnTo>
                <a:lnTo>
                  <a:pt x="141573" y="246217"/>
                </a:lnTo>
                <a:lnTo>
                  <a:pt x="127481" y="263210"/>
                </a:lnTo>
                <a:lnTo>
                  <a:pt x="108366" y="274503"/>
                </a:lnTo>
                <a:lnTo>
                  <a:pt x="85725" y="278599"/>
                </a:lnTo>
                <a:lnTo>
                  <a:pt x="142659" y="278599"/>
                </a:lnTo>
                <a:lnTo>
                  <a:pt x="167081" y="241909"/>
                </a:lnTo>
                <a:lnTo>
                  <a:pt x="170903" y="225513"/>
                </a:lnTo>
                <a:lnTo>
                  <a:pt x="170952" y="225018"/>
                </a:lnTo>
                <a:close/>
              </a:path>
              <a:path w="428625" h="300354">
                <a:moveTo>
                  <a:pt x="398060" y="150012"/>
                </a:moveTo>
                <a:lnTo>
                  <a:pt x="342836" y="150012"/>
                </a:lnTo>
                <a:lnTo>
                  <a:pt x="367851" y="155067"/>
                </a:lnTo>
                <a:lnTo>
                  <a:pt x="388286" y="168851"/>
                </a:lnTo>
                <a:lnTo>
                  <a:pt x="402068" y="189290"/>
                </a:lnTo>
                <a:lnTo>
                  <a:pt x="407123" y="214312"/>
                </a:lnTo>
                <a:lnTo>
                  <a:pt x="402068" y="239327"/>
                </a:lnTo>
                <a:lnTo>
                  <a:pt x="388286" y="259762"/>
                </a:lnTo>
                <a:lnTo>
                  <a:pt x="367851" y="273544"/>
                </a:lnTo>
                <a:lnTo>
                  <a:pt x="342836" y="278599"/>
                </a:lnTo>
                <a:lnTo>
                  <a:pt x="398073" y="278599"/>
                </a:lnTo>
                <a:lnTo>
                  <a:pt x="403517" y="274929"/>
                </a:lnTo>
                <a:lnTo>
                  <a:pt x="421888" y="247680"/>
                </a:lnTo>
                <a:lnTo>
                  <a:pt x="428625" y="214312"/>
                </a:lnTo>
                <a:lnTo>
                  <a:pt x="421888" y="180938"/>
                </a:lnTo>
                <a:lnTo>
                  <a:pt x="403517" y="153690"/>
                </a:lnTo>
                <a:lnTo>
                  <a:pt x="398060" y="150012"/>
                </a:lnTo>
                <a:close/>
              </a:path>
              <a:path w="428625" h="300354">
                <a:moveTo>
                  <a:pt x="93624" y="192874"/>
                </a:moveTo>
                <a:lnTo>
                  <a:pt x="85725" y="192874"/>
                </a:lnTo>
                <a:lnTo>
                  <a:pt x="77373" y="194556"/>
                </a:lnTo>
                <a:lnTo>
                  <a:pt x="70564" y="199145"/>
                </a:lnTo>
                <a:lnTo>
                  <a:pt x="65979" y="205958"/>
                </a:lnTo>
                <a:lnTo>
                  <a:pt x="64300" y="214312"/>
                </a:lnTo>
                <a:lnTo>
                  <a:pt x="65979" y="222658"/>
                </a:lnTo>
                <a:lnTo>
                  <a:pt x="70564" y="229468"/>
                </a:lnTo>
                <a:lnTo>
                  <a:pt x="77373" y="234056"/>
                </a:lnTo>
                <a:lnTo>
                  <a:pt x="85725" y="235737"/>
                </a:lnTo>
                <a:lnTo>
                  <a:pt x="93624" y="235737"/>
                </a:lnTo>
                <a:lnTo>
                  <a:pt x="100596" y="231457"/>
                </a:lnTo>
                <a:lnTo>
                  <a:pt x="104279" y="225018"/>
                </a:lnTo>
                <a:lnTo>
                  <a:pt x="170952" y="225018"/>
                </a:lnTo>
                <a:lnTo>
                  <a:pt x="171339" y="221068"/>
                </a:lnTo>
                <a:lnTo>
                  <a:pt x="171450" y="208673"/>
                </a:lnTo>
                <a:lnTo>
                  <a:pt x="170952" y="203593"/>
                </a:lnTo>
                <a:lnTo>
                  <a:pt x="104279" y="203593"/>
                </a:lnTo>
                <a:lnTo>
                  <a:pt x="100596" y="197167"/>
                </a:lnTo>
                <a:lnTo>
                  <a:pt x="93624" y="192874"/>
                </a:lnTo>
                <a:close/>
              </a:path>
              <a:path w="428625" h="300354">
                <a:moveTo>
                  <a:pt x="80365" y="85725"/>
                </a:moveTo>
                <a:lnTo>
                  <a:pt x="26250" y="85725"/>
                </a:lnTo>
                <a:lnTo>
                  <a:pt x="21437" y="90538"/>
                </a:lnTo>
                <a:lnTo>
                  <a:pt x="21437" y="102323"/>
                </a:lnTo>
                <a:lnTo>
                  <a:pt x="26250" y="107149"/>
                </a:lnTo>
                <a:lnTo>
                  <a:pt x="80365" y="107149"/>
                </a:lnTo>
                <a:lnTo>
                  <a:pt x="124168" y="115990"/>
                </a:lnTo>
                <a:lnTo>
                  <a:pt x="159934" y="140101"/>
                </a:lnTo>
                <a:lnTo>
                  <a:pt x="184046" y="175863"/>
                </a:lnTo>
                <a:lnTo>
                  <a:pt x="192820" y="219329"/>
                </a:lnTo>
                <a:lnTo>
                  <a:pt x="192887" y="230911"/>
                </a:lnTo>
                <a:lnTo>
                  <a:pt x="197700" y="235737"/>
                </a:lnTo>
                <a:lnTo>
                  <a:pt x="230924" y="235737"/>
                </a:lnTo>
                <a:lnTo>
                  <a:pt x="235750" y="230911"/>
                </a:lnTo>
                <a:lnTo>
                  <a:pt x="235750" y="214312"/>
                </a:lnTo>
                <a:lnTo>
                  <a:pt x="214249" y="214312"/>
                </a:lnTo>
                <a:lnTo>
                  <a:pt x="210552" y="187952"/>
                </a:lnTo>
                <a:lnTo>
                  <a:pt x="202014" y="163483"/>
                </a:lnTo>
                <a:lnTo>
                  <a:pt x="189144" y="141439"/>
                </a:lnTo>
                <a:lnTo>
                  <a:pt x="172453" y="122351"/>
                </a:lnTo>
                <a:lnTo>
                  <a:pt x="190388" y="108559"/>
                </a:lnTo>
                <a:lnTo>
                  <a:pt x="155244" y="108559"/>
                </a:lnTo>
                <a:lnTo>
                  <a:pt x="138426" y="98915"/>
                </a:lnTo>
                <a:lnTo>
                  <a:pt x="120186" y="91741"/>
                </a:lnTo>
                <a:lnTo>
                  <a:pt x="100755" y="87267"/>
                </a:lnTo>
                <a:lnTo>
                  <a:pt x="80365" y="85725"/>
                </a:lnTo>
                <a:close/>
              </a:path>
              <a:path w="428625" h="300354">
                <a:moveTo>
                  <a:pt x="328061" y="163207"/>
                </a:moveTo>
                <a:lnTo>
                  <a:pt x="303847" y="163207"/>
                </a:lnTo>
                <a:lnTo>
                  <a:pt x="336130" y="224548"/>
                </a:lnTo>
                <a:lnTo>
                  <a:pt x="342633" y="226555"/>
                </a:lnTo>
                <a:lnTo>
                  <a:pt x="353085" y="221068"/>
                </a:lnTo>
                <a:lnTo>
                  <a:pt x="355092" y="214579"/>
                </a:lnTo>
                <a:lnTo>
                  <a:pt x="328061" y="163207"/>
                </a:lnTo>
                <a:close/>
              </a:path>
              <a:path w="428625" h="300354">
                <a:moveTo>
                  <a:pt x="337883" y="62141"/>
                </a:moveTo>
                <a:lnTo>
                  <a:pt x="250748" y="62141"/>
                </a:lnTo>
                <a:lnTo>
                  <a:pt x="273786" y="105879"/>
                </a:lnTo>
                <a:lnTo>
                  <a:pt x="249442" y="126051"/>
                </a:lnTo>
                <a:lnTo>
                  <a:pt x="230693" y="151580"/>
                </a:lnTo>
                <a:lnTo>
                  <a:pt x="218638" y="181367"/>
                </a:lnTo>
                <a:lnTo>
                  <a:pt x="214376" y="214312"/>
                </a:lnTo>
                <a:lnTo>
                  <a:pt x="235750" y="214312"/>
                </a:lnTo>
                <a:lnTo>
                  <a:pt x="239182" y="187304"/>
                </a:lnTo>
                <a:lnTo>
                  <a:pt x="248904" y="162829"/>
                </a:lnTo>
                <a:lnTo>
                  <a:pt x="264050" y="141760"/>
                </a:lnTo>
                <a:lnTo>
                  <a:pt x="283756" y="124968"/>
                </a:lnTo>
                <a:lnTo>
                  <a:pt x="308002" y="124968"/>
                </a:lnTo>
                <a:lnTo>
                  <a:pt x="276059" y="64287"/>
                </a:lnTo>
                <a:lnTo>
                  <a:pt x="335737" y="64287"/>
                </a:lnTo>
                <a:lnTo>
                  <a:pt x="337883" y="62141"/>
                </a:lnTo>
                <a:close/>
              </a:path>
              <a:path w="428625" h="300354">
                <a:moveTo>
                  <a:pt x="142659" y="150012"/>
                </a:moveTo>
                <a:lnTo>
                  <a:pt x="85725" y="150012"/>
                </a:lnTo>
                <a:lnTo>
                  <a:pt x="108366" y="154108"/>
                </a:lnTo>
                <a:lnTo>
                  <a:pt x="127481" y="165401"/>
                </a:lnTo>
                <a:lnTo>
                  <a:pt x="141573" y="182395"/>
                </a:lnTo>
                <a:lnTo>
                  <a:pt x="149148" y="203593"/>
                </a:lnTo>
                <a:lnTo>
                  <a:pt x="170952" y="203593"/>
                </a:lnTo>
                <a:lnTo>
                  <a:pt x="153873" y="162001"/>
                </a:lnTo>
                <a:lnTo>
                  <a:pt x="150317" y="157670"/>
                </a:lnTo>
                <a:lnTo>
                  <a:pt x="142659" y="150012"/>
                </a:lnTo>
                <a:close/>
              </a:path>
              <a:path w="428625" h="300354">
                <a:moveTo>
                  <a:pt x="342900" y="128587"/>
                </a:moveTo>
                <a:lnTo>
                  <a:pt x="335046" y="128934"/>
                </a:lnTo>
                <a:lnTo>
                  <a:pt x="327379" y="129965"/>
                </a:lnTo>
                <a:lnTo>
                  <a:pt x="319938" y="131662"/>
                </a:lnTo>
                <a:lnTo>
                  <a:pt x="312762" y="134010"/>
                </a:lnTo>
                <a:lnTo>
                  <a:pt x="369768" y="134010"/>
                </a:lnTo>
                <a:lnTo>
                  <a:pt x="342900" y="128587"/>
                </a:lnTo>
                <a:close/>
              </a:path>
              <a:path w="428625" h="300354">
                <a:moveTo>
                  <a:pt x="237223" y="0"/>
                </a:moveTo>
                <a:lnTo>
                  <a:pt x="176276" y="0"/>
                </a:lnTo>
                <a:lnTo>
                  <a:pt x="171450" y="4813"/>
                </a:lnTo>
                <a:lnTo>
                  <a:pt x="171450" y="16598"/>
                </a:lnTo>
                <a:lnTo>
                  <a:pt x="176276" y="21424"/>
                </a:lnTo>
                <a:lnTo>
                  <a:pt x="229247" y="21424"/>
                </a:lnTo>
                <a:lnTo>
                  <a:pt x="240563" y="42926"/>
                </a:lnTo>
                <a:lnTo>
                  <a:pt x="155244" y="108559"/>
                </a:lnTo>
                <a:lnTo>
                  <a:pt x="190388" y="108559"/>
                </a:lnTo>
                <a:lnTo>
                  <a:pt x="250748" y="62141"/>
                </a:lnTo>
                <a:lnTo>
                  <a:pt x="337883" y="62141"/>
                </a:lnTo>
                <a:lnTo>
                  <a:pt x="342900" y="57124"/>
                </a:lnTo>
                <a:lnTo>
                  <a:pt x="342900" y="42862"/>
                </a:lnTo>
                <a:lnTo>
                  <a:pt x="275793" y="42862"/>
                </a:lnTo>
                <a:lnTo>
                  <a:pt x="292943" y="29667"/>
                </a:lnTo>
                <a:lnTo>
                  <a:pt x="257848" y="29667"/>
                </a:lnTo>
                <a:lnTo>
                  <a:pt x="248196" y="11442"/>
                </a:lnTo>
                <a:lnTo>
                  <a:pt x="244513" y="4419"/>
                </a:lnTo>
                <a:lnTo>
                  <a:pt x="237223" y="0"/>
                </a:lnTo>
                <a:close/>
              </a:path>
              <a:path w="428625" h="300354">
                <a:moveTo>
                  <a:pt x="342900" y="21424"/>
                </a:moveTo>
                <a:lnTo>
                  <a:pt x="321475" y="21424"/>
                </a:lnTo>
                <a:lnTo>
                  <a:pt x="321475" y="42862"/>
                </a:lnTo>
                <a:lnTo>
                  <a:pt x="342900" y="42862"/>
                </a:lnTo>
                <a:lnTo>
                  <a:pt x="342900" y="21424"/>
                </a:lnTo>
                <a:close/>
              </a:path>
              <a:path w="428625" h="300354">
                <a:moveTo>
                  <a:pt x="335737" y="0"/>
                </a:moveTo>
                <a:lnTo>
                  <a:pt x="298297" y="0"/>
                </a:lnTo>
                <a:lnTo>
                  <a:pt x="294881" y="1193"/>
                </a:lnTo>
                <a:lnTo>
                  <a:pt x="257848" y="29667"/>
                </a:lnTo>
                <a:lnTo>
                  <a:pt x="292943" y="29667"/>
                </a:lnTo>
                <a:lnTo>
                  <a:pt x="303657" y="21424"/>
                </a:lnTo>
                <a:lnTo>
                  <a:pt x="342900" y="21424"/>
                </a:lnTo>
                <a:lnTo>
                  <a:pt x="342900" y="7162"/>
                </a:lnTo>
                <a:lnTo>
                  <a:pt x="335737" y="0"/>
                </a:lnTo>
                <a:close/>
              </a:path>
            </a:pathLst>
          </a:custGeom>
          <a:solidFill>
            <a:srgbClr val="613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578725" y="4361656"/>
            <a:ext cx="2994660" cy="12293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50" spc="-155" b="1">
                <a:solidFill>
                  <a:srgbClr val="262424"/>
                </a:solidFill>
                <a:latin typeface="Georgia"/>
                <a:cs typeface="Georgia"/>
              </a:rPr>
              <a:t>Actuadores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725"/>
              </a:spcBef>
            </a:pPr>
            <a:r>
              <a:rPr dirty="0" sz="1350" spc="-20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u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2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35">
                <a:solidFill>
                  <a:srgbClr val="262424"/>
                </a:solidFill>
                <a:latin typeface="Verdana"/>
                <a:cs typeface="Verdana"/>
              </a:rPr>
              <a:t>c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11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v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8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140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60">
                <a:solidFill>
                  <a:srgbClr val="262424"/>
                </a:solidFill>
                <a:latin typeface="Verdana"/>
                <a:cs typeface="Verdana"/>
              </a:rPr>
              <a:t>n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90">
                <a:solidFill>
                  <a:srgbClr val="262424"/>
                </a:solidFill>
                <a:latin typeface="Verdana"/>
                <a:cs typeface="Verdana"/>
              </a:rPr>
              <a:t>ñ</a:t>
            </a:r>
            <a:r>
              <a:rPr dirty="0" sz="1350" spc="-85">
                <a:solidFill>
                  <a:srgbClr val="262424"/>
                </a:solidFill>
                <a:latin typeface="Verdana"/>
                <a:cs typeface="Verdana"/>
              </a:rPr>
              <a:t>a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l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 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eléctricas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62424"/>
                </a:solidFill>
                <a:latin typeface="Verdana"/>
                <a:cs typeface="Verdana"/>
              </a:rPr>
              <a:t>en</a:t>
            </a:r>
            <a:r>
              <a:rPr dirty="0" sz="1350" spc="-145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62424"/>
                </a:solidFill>
                <a:latin typeface="Verdana"/>
                <a:cs typeface="Verdana"/>
              </a:rPr>
              <a:t>movimiento,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62424"/>
                </a:solidFill>
                <a:latin typeface="Verdana"/>
                <a:cs typeface="Verdana"/>
              </a:rPr>
              <a:t>controlando </a:t>
            </a:r>
            <a:r>
              <a:rPr dirty="0" sz="1350" spc="-459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v</a:t>
            </a:r>
            <a:r>
              <a:rPr dirty="0" sz="1350" spc="-50">
                <a:solidFill>
                  <a:srgbClr val="262424"/>
                </a:solidFill>
                <a:latin typeface="Verdana"/>
                <a:cs typeface="Verdana"/>
              </a:rPr>
              <a:t>e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r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5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d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45">
                <a:solidFill>
                  <a:srgbClr val="262424"/>
                </a:solidFill>
                <a:latin typeface="Verdana"/>
                <a:cs typeface="Verdana"/>
              </a:rPr>
              <a:t>p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125">
                <a:solidFill>
                  <a:srgbClr val="262424"/>
                </a:solidFill>
                <a:latin typeface="Verdana"/>
                <a:cs typeface="Verdana"/>
              </a:rPr>
              <a:t>t</a:t>
            </a:r>
            <a:r>
              <a:rPr dirty="0" sz="1350" spc="-75">
                <a:solidFill>
                  <a:srgbClr val="262424"/>
                </a:solidFill>
                <a:latin typeface="Verdana"/>
                <a:cs typeface="Verdana"/>
              </a:rPr>
              <a:t>i</a:t>
            </a:r>
            <a:r>
              <a:rPr dirty="0" sz="1350" spc="-100">
                <a:solidFill>
                  <a:srgbClr val="262424"/>
                </a:solidFill>
                <a:latin typeface="Verdana"/>
                <a:cs typeface="Verdana"/>
              </a:rPr>
              <a:t>v</a:t>
            </a:r>
            <a:r>
              <a:rPr dirty="0" sz="1350" spc="-40">
                <a:solidFill>
                  <a:srgbClr val="262424"/>
                </a:solidFill>
                <a:latin typeface="Verdana"/>
                <a:cs typeface="Verdana"/>
              </a:rPr>
              <a:t>o</a:t>
            </a:r>
            <a:r>
              <a:rPr dirty="0" sz="1350" spc="-25">
                <a:solidFill>
                  <a:srgbClr val="262424"/>
                </a:solidFill>
                <a:latin typeface="Verdana"/>
                <a:cs typeface="Verdana"/>
              </a:rPr>
              <a:t>s</a:t>
            </a:r>
            <a:r>
              <a:rPr dirty="0" sz="1350" spc="-105">
                <a:solidFill>
                  <a:srgbClr val="262424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048500"/>
          </a:xfrm>
          <a:custGeom>
            <a:avLst/>
            <a:gdLst/>
            <a:ahLst/>
            <a:cxnLst/>
            <a:rect l="l" t="t" r="r" b="b"/>
            <a:pathLst>
              <a:path w="11430000" h="7048500">
                <a:moveTo>
                  <a:pt x="11430000" y="0"/>
                </a:moveTo>
                <a:lnTo>
                  <a:pt x="0" y="0"/>
                </a:lnTo>
                <a:lnTo>
                  <a:pt x="0" y="7048500"/>
                </a:lnTo>
                <a:lnTo>
                  <a:pt x="11430000" y="7048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DFA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375" y="2563812"/>
            <a:ext cx="8279130" cy="5911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270"/>
              <a:t>Dispositivos</a:t>
            </a:r>
            <a:r>
              <a:rPr dirty="0" spc="-275"/>
              <a:t> </a:t>
            </a:r>
            <a:r>
              <a:rPr dirty="0" spc="-265"/>
              <a:t>electrónicos</a:t>
            </a:r>
            <a:r>
              <a:rPr dirty="0" spc="-275"/>
              <a:t> </a:t>
            </a:r>
            <a:r>
              <a:rPr dirty="0" spc="-185"/>
              <a:t>y</a:t>
            </a:r>
            <a:r>
              <a:rPr dirty="0" spc="-275"/>
              <a:t> sistemas </a:t>
            </a:r>
            <a:r>
              <a:rPr dirty="0" spc="-285"/>
              <a:t>IoT</a:t>
            </a:r>
          </a:p>
        </p:txBody>
      </p:sp>
      <p:sp>
        <p:nvSpPr>
          <p:cNvPr id="5" name="object 5"/>
          <p:cNvSpPr/>
          <p:nvPr/>
        </p:nvSpPr>
        <p:spPr>
          <a:xfrm>
            <a:off x="604837" y="3471862"/>
            <a:ext cx="10220325" cy="3095625"/>
          </a:xfrm>
          <a:custGeom>
            <a:avLst/>
            <a:gdLst/>
            <a:ahLst/>
            <a:cxnLst/>
            <a:rect l="l" t="t" r="r" b="b"/>
            <a:pathLst>
              <a:path w="10220325" h="3095625">
                <a:moveTo>
                  <a:pt x="0" y="3040381"/>
                </a:moveTo>
                <a:lnTo>
                  <a:pt x="0" y="55245"/>
                </a:lnTo>
                <a:lnTo>
                  <a:pt x="0" y="51612"/>
                </a:lnTo>
                <a:lnTo>
                  <a:pt x="351" y="48018"/>
                </a:lnTo>
                <a:lnTo>
                  <a:pt x="1061" y="44462"/>
                </a:lnTo>
                <a:lnTo>
                  <a:pt x="1771" y="40906"/>
                </a:lnTo>
                <a:lnTo>
                  <a:pt x="2818" y="37452"/>
                </a:lnTo>
                <a:lnTo>
                  <a:pt x="4207" y="34099"/>
                </a:lnTo>
                <a:lnTo>
                  <a:pt x="5590" y="30746"/>
                </a:lnTo>
                <a:lnTo>
                  <a:pt x="24551" y="9309"/>
                </a:lnTo>
                <a:lnTo>
                  <a:pt x="27567" y="7289"/>
                </a:lnTo>
                <a:lnTo>
                  <a:pt x="44465" y="1066"/>
                </a:lnTo>
                <a:lnTo>
                  <a:pt x="48026" y="355"/>
                </a:lnTo>
                <a:lnTo>
                  <a:pt x="51619" y="0"/>
                </a:lnTo>
                <a:lnTo>
                  <a:pt x="55245" y="0"/>
                </a:lnTo>
                <a:lnTo>
                  <a:pt x="10165080" y="0"/>
                </a:lnTo>
                <a:lnTo>
                  <a:pt x="10168712" y="0"/>
                </a:lnTo>
                <a:lnTo>
                  <a:pt x="10172293" y="355"/>
                </a:lnTo>
                <a:lnTo>
                  <a:pt x="10175849" y="1066"/>
                </a:lnTo>
                <a:lnTo>
                  <a:pt x="10179418" y="1765"/>
                </a:lnTo>
                <a:lnTo>
                  <a:pt x="10182872" y="2819"/>
                </a:lnTo>
                <a:lnTo>
                  <a:pt x="10186212" y="4203"/>
                </a:lnTo>
                <a:lnTo>
                  <a:pt x="10189578" y="5588"/>
                </a:lnTo>
                <a:lnTo>
                  <a:pt x="10192753" y="7289"/>
                </a:lnTo>
                <a:lnTo>
                  <a:pt x="10195763" y="9309"/>
                </a:lnTo>
                <a:lnTo>
                  <a:pt x="10198785" y="11328"/>
                </a:lnTo>
                <a:lnTo>
                  <a:pt x="10201579" y="13614"/>
                </a:lnTo>
                <a:lnTo>
                  <a:pt x="10204145" y="16179"/>
                </a:lnTo>
                <a:lnTo>
                  <a:pt x="10206710" y="18745"/>
                </a:lnTo>
                <a:lnTo>
                  <a:pt x="10219258" y="44462"/>
                </a:lnTo>
                <a:lnTo>
                  <a:pt x="10219969" y="48018"/>
                </a:lnTo>
                <a:lnTo>
                  <a:pt x="10220325" y="51612"/>
                </a:lnTo>
                <a:lnTo>
                  <a:pt x="10220325" y="55245"/>
                </a:lnTo>
                <a:lnTo>
                  <a:pt x="10220325" y="3040381"/>
                </a:lnTo>
                <a:lnTo>
                  <a:pt x="10220325" y="3044007"/>
                </a:lnTo>
                <a:lnTo>
                  <a:pt x="10219969" y="3047598"/>
                </a:lnTo>
                <a:lnTo>
                  <a:pt x="10219258" y="3051155"/>
                </a:lnTo>
                <a:lnTo>
                  <a:pt x="10218559" y="3054713"/>
                </a:lnTo>
                <a:lnTo>
                  <a:pt x="10195763" y="3086314"/>
                </a:lnTo>
                <a:lnTo>
                  <a:pt x="10192753" y="3088328"/>
                </a:lnTo>
                <a:lnTo>
                  <a:pt x="10189578" y="3090030"/>
                </a:lnTo>
                <a:lnTo>
                  <a:pt x="10186212" y="3091418"/>
                </a:lnTo>
                <a:lnTo>
                  <a:pt x="10182872" y="3092808"/>
                </a:lnTo>
                <a:lnTo>
                  <a:pt x="10179418" y="3093854"/>
                </a:lnTo>
                <a:lnTo>
                  <a:pt x="10175849" y="3094564"/>
                </a:lnTo>
                <a:lnTo>
                  <a:pt x="10172293" y="3095269"/>
                </a:lnTo>
                <a:lnTo>
                  <a:pt x="10168712" y="3095626"/>
                </a:lnTo>
                <a:lnTo>
                  <a:pt x="10165080" y="3095626"/>
                </a:lnTo>
                <a:lnTo>
                  <a:pt x="55245" y="3095626"/>
                </a:lnTo>
                <a:lnTo>
                  <a:pt x="51619" y="3095626"/>
                </a:lnTo>
                <a:lnTo>
                  <a:pt x="48026" y="3095269"/>
                </a:lnTo>
                <a:lnTo>
                  <a:pt x="13618" y="3076878"/>
                </a:lnTo>
                <a:lnTo>
                  <a:pt x="9311" y="3071069"/>
                </a:lnTo>
                <a:lnTo>
                  <a:pt x="7292" y="3068053"/>
                </a:lnTo>
                <a:lnTo>
                  <a:pt x="5590" y="3064873"/>
                </a:lnTo>
                <a:lnTo>
                  <a:pt x="4207" y="3061519"/>
                </a:lnTo>
                <a:lnTo>
                  <a:pt x="2818" y="3058166"/>
                </a:lnTo>
                <a:lnTo>
                  <a:pt x="1771" y="3054713"/>
                </a:lnTo>
                <a:lnTo>
                  <a:pt x="1061" y="3051155"/>
                </a:lnTo>
                <a:lnTo>
                  <a:pt x="351" y="3047598"/>
                </a:lnTo>
                <a:lnTo>
                  <a:pt x="0" y="3044007"/>
                </a:lnTo>
                <a:lnTo>
                  <a:pt x="0" y="304038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9600" y="3476625"/>
          <a:ext cx="10210800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9845"/>
                <a:gridCol w="5100320"/>
              </a:tblGrid>
              <a:tr h="771525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spc="-5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Microcontroladores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23825">
                    <a:lnR w="9525">
                      <a:solidFill>
                        <a:srgbClr val="FDFAF7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532130" indent="-635">
                        <a:lnSpc>
                          <a:spcPct val="134300"/>
                        </a:lnSpc>
                        <a:spcBef>
                          <a:spcPts val="420"/>
                        </a:spcBef>
                      </a:pPr>
                      <a:r>
                        <a:rPr dirty="0" sz="1350" spc="-7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Plataformas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350" spc="-1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bajo</a:t>
                      </a:r>
                      <a:r>
                        <a:rPr dirty="0" sz="1350" spc="-1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costo</a:t>
                      </a:r>
                      <a:r>
                        <a:rPr dirty="0" sz="1350" spc="-1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dirty="0" sz="1350" spc="-1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4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fácil</a:t>
                      </a:r>
                      <a:r>
                        <a:rPr dirty="0" sz="1350" spc="-1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programación</a:t>
                      </a:r>
                      <a:r>
                        <a:rPr dirty="0" sz="1350" spc="-1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como </a:t>
                      </a:r>
                      <a:r>
                        <a:rPr dirty="0" sz="1350" spc="-459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350" spc="-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pb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350" spc="-1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rr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.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53340">
                    <a:lnL w="9525">
                      <a:solidFill>
                        <a:srgbClr val="FDFAF7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771526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5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Sensores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FDFAF7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749935">
                        <a:lnSpc>
                          <a:spcPct val="129600"/>
                        </a:lnSpc>
                        <a:spcBef>
                          <a:spcPts val="570"/>
                        </a:spcBef>
                      </a:pPr>
                      <a:r>
                        <a:rPr dirty="0" sz="1350" spc="-6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Diversos</a:t>
                      </a:r>
                      <a:r>
                        <a:rPr dirty="0" sz="1350" spc="-1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sensores</a:t>
                      </a:r>
                      <a:r>
                        <a:rPr dirty="0" sz="1350" spc="-1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que</a:t>
                      </a:r>
                      <a:r>
                        <a:rPr dirty="0" sz="1350" spc="-1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8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miden</a:t>
                      </a:r>
                      <a:r>
                        <a:rPr dirty="0" sz="1350" spc="-1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9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temperatura,</a:t>
                      </a:r>
                      <a:r>
                        <a:rPr dirty="0" sz="1350" spc="-1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8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humedad, </a:t>
                      </a:r>
                      <a:r>
                        <a:rPr dirty="0" sz="1350" spc="-459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350" spc="-5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350" spc="-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,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z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á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.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72390">
                    <a:lnL w="9525">
                      <a:solidFill>
                        <a:srgbClr val="FDFAF7"/>
                      </a:solidFill>
                      <a:prstDash val="solid"/>
                    </a:lnL>
                    <a:solidFill>
                      <a:srgbClr val="F5F5F5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5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Conectividad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FDFAF7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217804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ó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350" spc="-1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ó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á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1350" spc="-1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350" spc="-1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W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,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350" spc="-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oo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h  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350" spc="-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.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62865">
                    <a:lnL w="9525">
                      <a:solidFill>
                        <a:srgbClr val="FDFAF7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li</a:t>
                      </a:r>
                      <a:r>
                        <a:rPr dirty="0" sz="1350" spc="-1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350" spc="-13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3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FDFAF7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257810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 spc="-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Desde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sistemas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5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seguridad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hasta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6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control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3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iluminación</a:t>
                      </a:r>
                      <a:r>
                        <a:rPr dirty="0" sz="1350" spc="-15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45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y </a:t>
                      </a:r>
                      <a:r>
                        <a:rPr dirty="0" sz="1350" spc="-459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60">
                          <a:solidFill>
                            <a:srgbClr val="262424"/>
                          </a:solidFill>
                          <a:latin typeface="Verdana"/>
                          <a:cs typeface="Verdana"/>
                        </a:rPr>
                        <a:t>electrodomésticos.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62865">
                    <a:lnL w="9525">
                      <a:solidFill>
                        <a:srgbClr val="FDFAF7"/>
                      </a:solidFill>
                      <a:prstDash val="solid"/>
                    </a:lnL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5356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2024-11-05T06:27:41Z</dcterms:created>
  <dcterms:modified xsi:type="dcterms:W3CDTF">2024-11-05T06:27:41Z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