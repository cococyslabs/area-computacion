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6934200"/>
  <p:notesSz cx="11430000" cy="6934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934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49" cy="643864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6034" y="746891"/>
            <a:ext cx="8837930" cy="531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2" y="1557501"/>
            <a:ext cx="5757545" cy="16351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dirty="0" spc="190"/>
              <a:t>C</a:t>
            </a:r>
            <a:r>
              <a:rPr dirty="0" spc="385"/>
              <a:t>a</a:t>
            </a:r>
            <a:r>
              <a:rPr dirty="0" spc="125"/>
              <a:t>r</a:t>
            </a:r>
            <a:r>
              <a:rPr dirty="0" spc="385"/>
              <a:t>a</a:t>
            </a:r>
            <a:r>
              <a:rPr dirty="0" spc="415"/>
              <a:t>c</a:t>
            </a:r>
            <a:r>
              <a:rPr dirty="0" spc="180"/>
              <a:t>t</a:t>
            </a:r>
            <a:r>
              <a:rPr dirty="0" spc="440"/>
              <a:t>e</a:t>
            </a:r>
            <a:r>
              <a:rPr dirty="0" spc="185"/>
              <a:t>r</a:t>
            </a:r>
            <a:r>
              <a:rPr dirty="0" spc="-110"/>
              <a:t>í</a:t>
            </a:r>
            <a:r>
              <a:rPr dirty="0" spc="500"/>
              <a:t>s</a:t>
            </a:r>
            <a:r>
              <a:rPr dirty="0" spc="210"/>
              <a:t>t</a:t>
            </a:r>
            <a:r>
              <a:rPr dirty="0" spc="-110"/>
              <a:t>i</a:t>
            </a:r>
            <a:r>
              <a:rPr dirty="0" spc="450"/>
              <a:t>c</a:t>
            </a:r>
            <a:r>
              <a:rPr dirty="0" spc="385"/>
              <a:t>a</a:t>
            </a:r>
            <a:r>
              <a:rPr dirty="0" spc="605"/>
              <a:t>s</a:t>
            </a:r>
            <a:r>
              <a:rPr dirty="0" spc="-229"/>
              <a:t> </a:t>
            </a:r>
            <a:r>
              <a:rPr dirty="0" spc="370"/>
              <a:t>d</a:t>
            </a:r>
            <a:r>
              <a:rPr dirty="0" spc="545"/>
              <a:t>e</a:t>
            </a:r>
            <a:r>
              <a:rPr dirty="0" spc="-229"/>
              <a:t> </a:t>
            </a:r>
            <a:r>
              <a:rPr dirty="0" spc="265"/>
              <a:t>S</a:t>
            </a:r>
            <a:r>
              <a:rPr dirty="0" spc="440"/>
              <a:t>e</a:t>
            </a:r>
            <a:r>
              <a:rPr dirty="0" spc="375"/>
              <a:t>g</a:t>
            </a:r>
            <a:r>
              <a:rPr dirty="0" spc="345"/>
              <a:t>u</a:t>
            </a:r>
            <a:r>
              <a:rPr dirty="0" spc="185"/>
              <a:t>r</a:t>
            </a:r>
            <a:r>
              <a:rPr dirty="0" spc="-110"/>
              <a:t>i</a:t>
            </a:r>
            <a:r>
              <a:rPr dirty="0" spc="370"/>
              <a:t>d</a:t>
            </a:r>
            <a:r>
              <a:rPr dirty="0" spc="385"/>
              <a:t>a</a:t>
            </a:r>
            <a:r>
              <a:rPr dirty="0" spc="315"/>
              <a:t>d  </a:t>
            </a:r>
            <a:r>
              <a:rPr dirty="0" spc="440"/>
              <a:t>e</a:t>
            </a:r>
            <a:r>
              <a:rPr dirty="0" spc="450"/>
              <a:t>n</a:t>
            </a:r>
            <a:r>
              <a:rPr dirty="0" spc="-229"/>
              <a:t> </a:t>
            </a:r>
            <a:r>
              <a:rPr dirty="0" spc="265"/>
              <a:t>S</a:t>
            </a:r>
            <a:r>
              <a:rPr dirty="0" spc="-110"/>
              <a:t>i</a:t>
            </a:r>
            <a:r>
              <a:rPr dirty="0" spc="500"/>
              <a:t>s</a:t>
            </a:r>
            <a:r>
              <a:rPr dirty="0" spc="180"/>
              <a:t>t</a:t>
            </a:r>
            <a:r>
              <a:rPr dirty="0" spc="440"/>
              <a:t>e</a:t>
            </a:r>
            <a:r>
              <a:rPr dirty="0" spc="405"/>
              <a:t>m</a:t>
            </a:r>
            <a:r>
              <a:rPr dirty="0" spc="385"/>
              <a:t>a</a:t>
            </a:r>
            <a:r>
              <a:rPr dirty="0" spc="605"/>
              <a:t>s</a:t>
            </a:r>
            <a:r>
              <a:rPr dirty="0" spc="-229"/>
              <a:t> </a:t>
            </a:r>
            <a:r>
              <a:rPr dirty="0" spc="-75"/>
              <a:t>E</a:t>
            </a:r>
            <a:r>
              <a:rPr dirty="0" spc="-110"/>
              <a:t>l</a:t>
            </a:r>
            <a:r>
              <a:rPr dirty="0" spc="440"/>
              <a:t>e</a:t>
            </a:r>
            <a:r>
              <a:rPr dirty="0" spc="415"/>
              <a:t>c</a:t>
            </a:r>
            <a:r>
              <a:rPr dirty="0" spc="210"/>
              <a:t>t</a:t>
            </a:r>
            <a:r>
              <a:rPr dirty="0" spc="90"/>
              <a:t>r</a:t>
            </a:r>
            <a:r>
              <a:rPr dirty="0" spc="310"/>
              <a:t>ó</a:t>
            </a:r>
            <a:r>
              <a:rPr dirty="0" spc="345"/>
              <a:t>n</a:t>
            </a:r>
            <a:r>
              <a:rPr dirty="0" spc="-110"/>
              <a:t>i</a:t>
            </a:r>
            <a:r>
              <a:rPr dirty="0" spc="415"/>
              <a:t>c</a:t>
            </a:r>
            <a:r>
              <a:rPr dirty="0" spc="310"/>
              <a:t>o</a:t>
            </a:r>
            <a:r>
              <a:rPr dirty="0" spc="605"/>
              <a:t>s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pc="185"/>
              <a:t>Digitales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2" y="3402194"/>
            <a:ext cx="5909945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8200"/>
              </a:lnSpc>
              <a:spcBef>
                <a:spcPts val="114"/>
              </a:spcBef>
            </a:pP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seguridad </a:t>
            </a:r>
            <a:r>
              <a:rPr dirty="0" sz="1300" spc="190">
                <a:solidFill>
                  <a:srgbClr val="262424"/>
                </a:solidFill>
                <a:latin typeface="Times New Roman"/>
                <a:cs typeface="Times New Roman"/>
              </a:rPr>
              <a:t>es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un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aspecto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fundamental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en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el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diseño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sistemas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262424"/>
                </a:solidFill>
                <a:latin typeface="Times New Roman"/>
                <a:cs typeface="Times New Roman"/>
              </a:rPr>
              <a:t>  </a:t>
            </a:r>
            <a:r>
              <a:rPr dirty="0" sz="400" spc="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21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-10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2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q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21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á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n 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x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z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80">
                <a:solidFill>
                  <a:srgbClr val="262424"/>
                </a:solidFill>
                <a:latin typeface="Times New Roman"/>
                <a:cs typeface="Times New Roman"/>
              </a:rPr>
              <a:t>x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6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r>
              <a:rPr dirty="0" sz="400">
                <a:solidFill>
                  <a:srgbClr val="262424"/>
                </a:solidFill>
                <a:latin typeface="Times New Roman"/>
                <a:cs typeface="Times New Roman"/>
              </a:rPr>
              <a:t>  </a:t>
            </a:r>
            <a:r>
              <a:rPr dirty="0" sz="400" spc="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3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í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e 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hardware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software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proteger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integridad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 spc="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confidencialidad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estos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15" y="415971"/>
            <a:ext cx="5777865" cy="1092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5"/>
              </a:spcBef>
            </a:pPr>
            <a:r>
              <a:rPr dirty="0" sz="2600" spc="575"/>
              <a:t>Protección</a:t>
            </a:r>
            <a:r>
              <a:rPr dirty="0" sz="2600" spc="-80"/>
              <a:t> </a:t>
            </a:r>
            <a:r>
              <a:rPr dirty="0" sz="2600" spc="610"/>
              <a:t>contra</a:t>
            </a:r>
            <a:r>
              <a:rPr dirty="0" sz="2600" spc="-75"/>
              <a:t> </a:t>
            </a:r>
            <a:r>
              <a:rPr dirty="0" sz="2600" spc="700"/>
              <a:t>Acceso</a:t>
            </a:r>
            <a:r>
              <a:rPr dirty="0" sz="2600" spc="-80"/>
              <a:t> </a:t>
            </a:r>
            <a:r>
              <a:rPr dirty="0" sz="2600" spc="675"/>
              <a:t>No </a:t>
            </a:r>
            <a:r>
              <a:rPr dirty="0" sz="2600" spc="-635"/>
              <a:t> </a:t>
            </a:r>
            <a:r>
              <a:rPr dirty="0" sz="2600" spc="560"/>
              <a:t>Autorizado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4886325" y="1800225"/>
            <a:ext cx="2886075" cy="2381250"/>
            <a:chOff x="4886325" y="1800225"/>
            <a:chExt cx="2886075" cy="2381250"/>
          </a:xfrm>
        </p:grpSpPr>
        <p:sp>
          <p:nvSpPr>
            <p:cNvPr id="4" name="object 4"/>
            <p:cNvSpPr/>
            <p:nvPr/>
          </p:nvSpPr>
          <p:spPr>
            <a:xfrm>
              <a:off x="4891087" y="1804987"/>
              <a:ext cx="2876550" cy="2371725"/>
            </a:xfrm>
            <a:custGeom>
              <a:avLst/>
              <a:gdLst/>
              <a:ahLst/>
              <a:cxnLst/>
              <a:rect l="l" t="t" r="r" b="b"/>
              <a:pathLst>
                <a:path w="2876550" h="23717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16480"/>
                  </a:lnTo>
                  <a:lnTo>
                    <a:pt x="0" y="2320112"/>
                  </a:lnTo>
                  <a:lnTo>
                    <a:pt x="18745" y="2358110"/>
                  </a:lnTo>
                  <a:lnTo>
                    <a:pt x="51612" y="2371725"/>
                  </a:lnTo>
                  <a:lnTo>
                    <a:pt x="2824937" y="2371725"/>
                  </a:lnTo>
                  <a:lnTo>
                    <a:pt x="2862935" y="2352979"/>
                  </a:lnTo>
                  <a:lnTo>
                    <a:pt x="2876550" y="232011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91087" y="1804987"/>
              <a:ext cx="2876550" cy="2371725"/>
            </a:xfrm>
            <a:custGeom>
              <a:avLst/>
              <a:gdLst/>
              <a:ahLst/>
              <a:cxnLst/>
              <a:rect l="l" t="t" r="r" b="b"/>
              <a:pathLst>
                <a:path w="2876550" h="2371725">
                  <a:moveTo>
                    <a:pt x="0" y="23164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16480"/>
                  </a:lnTo>
                  <a:lnTo>
                    <a:pt x="2876550" y="2320112"/>
                  </a:lnTo>
                  <a:lnTo>
                    <a:pt x="2876194" y="2323693"/>
                  </a:lnTo>
                  <a:lnTo>
                    <a:pt x="2875483" y="2327249"/>
                  </a:lnTo>
                  <a:lnTo>
                    <a:pt x="2874784" y="2330818"/>
                  </a:lnTo>
                  <a:lnTo>
                    <a:pt x="2860370" y="2355545"/>
                  </a:lnTo>
                  <a:lnTo>
                    <a:pt x="2857804" y="2358110"/>
                  </a:lnTo>
                  <a:lnTo>
                    <a:pt x="2832074" y="2370658"/>
                  </a:lnTo>
                  <a:lnTo>
                    <a:pt x="2828518" y="2371369"/>
                  </a:lnTo>
                  <a:lnTo>
                    <a:pt x="2824937" y="2371725"/>
                  </a:lnTo>
                  <a:lnTo>
                    <a:pt x="2821305" y="2371725"/>
                  </a:lnTo>
                  <a:lnTo>
                    <a:pt x="55245" y="2371725"/>
                  </a:lnTo>
                  <a:lnTo>
                    <a:pt x="51612" y="2371725"/>
                  </a:lnTo>
                  <a:lnTo>
                    <a:pt x="48018" y="2371369"/>
                  </a:lnTo>
                  <a:lnTo>
                    <a:pt x="44462" y="2370658"/>
                  </a:lnTo>
                  <a:lnTo>
                    <a:pt x="40906" y="2369959"/>
                  </a:lnTo>
                  <a:lnTo>
                    <a:pt x="9309" y="2347175"/>
                  </a:lnTo>
                  <a:lnTo>
                    <a:pt x="4203" y="2337612"/>
                  </a:lnTo>
                  <a:lnTo>
                    <a:pt x="2819" y="2334272"/>
                  </a:lnTo>
                  <a:lnTo>
                    <a:pt x="1765" y="2330818"/>
                  </a:lnTo>
                  <a:lnTo>
                    <a:pt x="1066" y="2327249"/>
                  </a:lnTo>
                  <a:lnTo>
                    <a:pt x="355" y="2323693"/>
                  </a:lnTo>
                  <a:lnTo>
                    <a:pt x="0" y="2320112"/>
                  </a:lnTo>
                  <a:lnTo>
                    <a:pt x="0" y="231648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054581" y="1967295"/>
            <a:ext cx="2407285" cy="19939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1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8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22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650" spc="22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130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18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8500"/>
              </a:lnSpc>
              <a:spcBef>
                <a:spcPts val="540"/>
              </a:spcBef>
            </a:pP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Implementar 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mecanismos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b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262424"/>
                </a:solidFill>
                <a:latin typeface="Times New Roman"/>
                <a:cs typeface="Times New Roman"/>
              </a:rPr>
              <a:t>  </a:t>
            </a:r>
            <a:r>
              <a:rPr dirty="0" sz="400" spc="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o  </a:t>
            </a:r>
            <a:r>
              <a:rPr dirty="0" sz="1300" spc="80">
                <a:solidFill>
                  <a:srgbClr val="262424"/>
                </a:solidFill>
                <a:latin typeface="Times New Roman"/>
                <a:cs typeface="Times New Roman"/>
              </a:rPr>
              <a:t>biometría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claves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á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f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262424"/>
                </a:solidFill>
                <a:latin typeface="Times New Roman"/>
                <a:cs typeface="Times New Roman"/>
              </a:rPr>
              <a:t>  </a:t>
            </a:r>
            <a:r>
              <a:rPr dirty="0" sz="400" spc="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-35">
                <a:solidFill>
                  <a:srgbClr val="262424"/>
                </a:solidFill>
                <a:latin typeface="Times New Roman"/>
                <a:cs typeface="Times New Roman"/>
              </a:rPr>
              <a:t>l  </a:t>
            </a:r>
            <a:r>
              <a:rPr dirty="0" sz="1300" spc="165">
                <a:solidFill>
                  <a:srgbClr val="262424"/>
                </a:solidFill>
                <a:latin typeface="Times New Roman"/>
                <a:cs typeface="Times New Roman"/>
              </a:rPr>
              <a:t>acceso 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no </a:t>
            </a:r>
            <a:r>
              <a:rPr dirty="0" sz="1300" spc="100">
                <a:solidFill>
                  <a:srgbClr val="262424"/>
                </a:solidFill>
                <a:latin typeface="Times New Roman"/>
                <a:cs typeface="Times New Roman"/>
              </a:rPr>
              <a:t>autorizado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al 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h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w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43850" y="1800225"/>
            <a:ext cx="2886075" cy="2381250"/>
            <a:chOff x="7943850" y="1800225"/>
            <a:chExt cx="2886075" cy="2381250"/>
          </a:xfrm>
        </p:grpSpPr>
        <p:sp>
          <p:nvSpPr>
            <p:cNvPr id="8" name="object 8"/>
            <p:cNvSpPr/>
            <p:nvPr/>
          </p:nvSpPr>
          <p:spPr>
            <a:xfrm>
              <a:off x="7948612" y="1804987"/>
              <a:ext cx="2876550" cy="2371725"/>
            </a:xfrm>
            <a:custGeom>
              <a:avLst/>
              <a:gdLst/>
              <a:ahLst/>
              <a:cxnLst/>
              <a:rect l="l" t="t" r="r" b="b"/>
              <a:pathLst>
                <a:path w="2876550" h="23717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16480"/>
                  </a:lnTo>
                  <a:lnTo>
                    <a:pt x="0" y="2320112"/>
                  </a:lnTo>
                  <a:lnTo>
                    <a:pt x="18745" y="2358110"/>
                  </a:lnTo>
                  <a:lnTo>
                    <a:pt x="51612" y="2371725"/>
                  </a:lnTo>
                  <a:lnTo>
                    <a:pt x="2824937" y="2371725"/>
                  </a:lnTo>
                  <a:lnTo>
                    <a:pt x="2862935" y="2352979"/>
                  </a:lnTo>
                  <a:lnTo>
                    <a:pt x="2876550" y="232011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948612" y="1804987"/>
              <a:ext cx="2876550" cy="2371725"/>
            </a:xfrm>
            <a:custGeom>
              <a:avLst/>
              <a:gdLst/>
              <a:ahLst/>
              <a:cxnLst/>
              <a:rect l="l" t="t" r="r" b="b"/>
              <a:pathLst>
                <a:path w="2876550" h="2371725">
                  <a:moveTo>
                    <a:pt x="0" y="23164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16480"/>
                  </a:lnTo>
                  <a:lnTo>
                    <a:pt x="2876550" y="2320112"/>
                  </a:lnTo>
                  <a:lnTo>
                    <a:pt x="2876194" y="2323693"/>
                  </a:lnTo>
                  <a:lnTo>
                    <a:pt x="2875483" y="2327249"/>
                  </a:lnTo>
                  <a:lnTo>
                    <a:pt x="2874784" y="2330818"/>
                  </a:lnTo>
                  <a:lnTo>
                    <a:pt x="2860370" y="2355545"/>
                  </a:lnTo>
                  <a:lnTo>
                    <a:pt x="2857804" y="2358110"/>
                  </a:lnTo>
                  <a:lnTo>
                    <a:pt x="2832074" y="2370658"/>
                  </a:lnTo>
                  <a:lnTo>
                    <a:pt x="2828518" y="2371369"/>
                  </a:lnTo>
                  <a:lnTo>
                    <a:pt x="2824937" y="2371725"/>
                  </a:lnTo>
                  <a:lnTo>
                    <a:pt x="2821305" y="2371725"/>
                  </a:lnTo>
                  <a:lnTo>
                    <a:pt x="55245" y="2371725"/>
                  </a:lnTo>
                  <a:lnTo>
                    <a:pt x="51612" y="2371725"/>
                  </a:lnTo>
                  <a:lnTo>
                    <a:pt x="48018" y="2371369"/>
                  </a:lnTo>
                  <a:lnTo>
                    <a:pt x="44462" y="2370658"/>
                  </a:lnTo>
                  <a:lnTo>
                    <a:pt x="40906" y="2369959"/>
                  </a:lnTo>
                  <a:lnTo>
                    <a:pt x="16179" y="2355545"/>
                  </a:lnTo>
                  <a:lnTo>
                    <a:pt x="13614" y="2352979"/>
                  </a:lnTo>
                  <a:lnTo>
                    <a:pt x="4203" y="2337612"/>
                  </a:lnTo>
                  <a:lnTo>
                    <a:pt x="2819" y="2334272"/>
                  </a:lnTo>
                  <a:lnTo>
                    <a:pt x="1765" y="2330818"/>
                  </a:lnTo>
                  <a:lnTo>
                    <a:pt x="1066" y="2327249"/>
                  </a:lnTo>
                  <a:lnTo>
                    <a:pt x="355" y="2323693"/>
                  </a:lnTo>
                  <a:lnTo>
                    <a:pt x="0" y="2320112"/>
                  </a:lnTo>
                  <a:lnTo>
                    <a:pt x="0" y="231648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12125" y="1967295"/>
            <a:ext cx="2489835" cy="1727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22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262424"/>
                </a:solidFill>
                <a:latin typeface="Times New Roman"/>
                <a:cs typeface="Times New Roman"/>
              </a:rPr>
              <a:t>B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li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9400"/>
              </a:lnSpc>
              <a:spcBef>
                <a:spcPts val="530"/>
              </a:spcBef>
            </a:pPr>
            <a:r>
              <a:rPr dirty="0" sz="1300" spc="30">
                <a:solidFill>
                  <a:srgbClr val="262424"/>
                </a:solidFill>
                <a:latin typeface="Times New Roman"/>
                <a:cs typeface="Times New Roman"/>
              </a:rPr>
              <a:t>Utilizar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carcasas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resistentes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 selladas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que </a:t>
            </a:r>
            <a:r>
              <a:rPr dirty="0" sz="1300" spc="65">
                <a:solidFill>
                  <a:srgbClr val="262424"/>
                </a:solidFill>
                <a:latin typeface="Times New Roman"/>
                <a:cs typeface="Times New Roman"/>
              </a:rPr>
              <a:t>dificulten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inspección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física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del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dispositivo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manipulación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165">
                <a:solidFill>
                  <a:srgbClr val="262424"/>
                </a:solidFill>
                <a:latin typeface="Times New Roman"/>
                <a:cs typeface="Times New Roman"/>
              </a:rPr>
              <a:t>sus </a:t>
            </a:r>
            <a:r>
              <a:rPr dirty="0" sz="1300" spc="17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6325" y="4352925"/>
            <a:ext cx="2886075" cy="2105025"/>
            <a:chOff x="4886325" y="4352925"/>
            <a:chExt cx="2886075" cy="2105025"/>
          </a:xfrm>
        </p:grpSpPr>
        <p:sp>
          <p:nvSpPr>
            <p:cNvPr id="12" name="object 12"/>
            <p:cNvSpPr/>
            <p:nvPr/>
          </p:nvSpPr>
          <p:spPr>
            <a:xfrm>
              <a:off x="4891087" y="43576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40255"/>
                  </a:lnTo>
                  <a:lnTo>
                    <a:pt x="0" y="2043880"/>
                  </a:lnTo>
                  <a:lnTo>
                    <a:pt x="18745" y="2081881"/>
                  </a:lnTo>
                  <a:lnTo>
                    <a:pt x="51612" y="2095500"/>
                  </a:lnTo>
                  <a:lnTo>
                    <a:pt x="2824937" y="2095500"/>
                  </a:lnTo>
                  <a:lnTo>
                    <a:pt x="2862935" y="2076752"/>
                  </a:lnTo>
                  <a:lnTo>
                    <a:pt x="2876550" y="2043880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91087" y="43576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0" y="20402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40255"/>
                  </a:lnTo>
                  <a:lnTo>
                    <a:pt x="2876550" y="2043880"/>
                  </a:lnTo>
                  <a:lnTo>
                    <a:pt x="2876194" y="2047473"/>
                  </a:lnTo>
                  <a:lnTo>
                    <a:pt x="2875483" y="2051029"/>
                  </a:lnTo>
                  <a:lnTo>
                    <a:pt x="2874784" y="2054586"/>
                  </a:lnTo>
                  <a:lnTo>
                    <a:pt x="2852000" y="2086188"/>
                  </a:lnTo>
                  <a:lnTo>
                    <a:pt x="2842437" y="2091292"/>
                  </a:lnTo>
                  <a:lnTo>
                    <a:pt x="2839097" y="2092681"/>
                  </a:lnTo>
                  <a:lnTo>
                    <a:pt x="2835643" y="2093728"/>
                  </a:lnTo>
                  <a:lnTo>
                    <a:pt x="2832074" y="2094438"/>
                  </a:lnTo>
                  <a:lnTo>
                    <a:pt x="2828518" y="2095143"/>
                  </a:lnTo>
                  <a:lnTo>
                    <a:pt x="2824937" y="2095500"/>
                  </a:lnTo>
                  <a:lnTo>
                    <a:pt x="2821305" y="2095500"/>
                  </a:lnTo>
                  <a:lnTo>
                    <a:pt x="55245" y="2095500"/>
                  </a:lnTo>
                  <a:lnTo>
                    <a:pt x="51612" y="2095500"/>
                  </a:lnTo>
                  <a:lnTo>
                    <a:pt x="48018" y="2095143"/>
                  </a:lnTo>
                  <a:lnTo>
                    <a:pt x="44462" y="2094438"/>
                  </a:lnTo>
                  <a:lnTo>
                    <a:pt x="40906" y="2093728"/>
                  </a:lnTo>
                  <a:lnTo>
                    <a:pt x="37452" y="2092681"/>
                  </a:lnTo>
                  <a:lnTo>
                    <a:pt x="34099" y="2091292"/>
                  </a:lnTo>
                  <a:lnTo>
                    <a:pt x="30746" y="2089904"/>
                  </a:lnTo>
                  <a:lnTo>
                    <a:pt x="4203" y="2061394"/>
                  </a:lnTo>
                  <a:lnTo>
                    <a:pt x="2819" y="2058045"/>
                  </a:lnTo>
                  <a:lnTo>
                    <a:pt x="1765" y="2054586"/>
                  </a:lnTo>
                  <a:lnTo>
                    <a:pt x="1066" y="2051029"/>
                  </a:lnTo>
                  <a:lnTo>
                    <a:pt x="355" y="2047473"/>
                  </a:lnTo>
                  <a:lnTo>
                    <a:pt x="0" y="2043880"/>
                  </a:lnTo>
                  <a:lnTo>
                    <a:pt x="0" y="204025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054592" y="4519995"/>
            <a:ext cx="2469515" cy="17176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3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8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cc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650" spc="22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27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-13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8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650" spc="22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545"/>
              </a:spcBef>
            </a:pP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Incorporar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sensores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que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detecten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intentos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apertura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alteración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del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dispositivo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desencadenen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alertas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21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43850" y="4352925"/>
            <a:ext cx="2886075" cy="2105025"/>
            <a:chOff x="7943850" y="4352925"/>
            <a:chExt cx="2886075" cy="2105025"/>
          </a:xfrm>
        </p:grpSpPr>
        <p:sp>
          <p:nvSpPr>
            <p:cNvPr id="16" name="object 16"/>
            <p:cNvSpPr/>
            <p:nvPr/>
          </p:nvSpPr>
          <p:spPr>
            <a:xfrm>
              <a:off x="7948612" y="43576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40255"/>
                  </a:lnTo>
                  <a:lnTo>
                    <a:pt x="0" y="2043880"/>
                  </a:lnTo>
                  <a:lnTo>
                    <a:pt x="18745" y="2081881"/>
                  </a:lnTo>
                  <a:lnTo>
                    <a:pt x="51612" y="2095500"/>
                  </a:lnTo>
                  <a:lnTo>
                    <a:pt x="2824937" y="2095500"/>
                  </a:lnTo>
                  <a:lnTo>
                    <a:pt x="2862935" y="2076752"/>
                  </a:lnTo>
                  <a:lnTo>
                    <a:pt x="2876550" y="2043880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48612" y="43576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0" y="20402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40255"/>
                  </a:lnTo>
                  <a:lnTo>
                    <a:pt x="2876550" y="2043880"/>
                  </a:lnTo>
                  <a:lnTo>
                    <a:pt x="2876194" y="2047473"/>
                  </a:lnTo>
                  <a:lnTo>
                    <a:pt x="2875483" y="2051029"/>
                  </a:lnTo>
                  <a:lnTo>
                    <a:pt x="2874784" y="2054586"/>
                  </a:lnTo>
                  <a:lnTo>
                    <a:pt x="2851988" y="2086188"/>
                  </a:lnTo>
                  <a:lnTo>
                    <a:pt x="2848978" y="2088202"/>
                  </a:lnTo>
                  <a:lnTo>
                    <a:pt x="2845803" y="2089904"/>
                  </a:lnTo>
                  <a:lnTo>
                    <a:pt x="2842437" y="2091292"/>
                  </a:lnTo>
                  <a:lnTo>
                    <a:pt x="2839097" y="2092681"/>
                  </a:lnTo>
                  <a:lnTo>
                    <a:pt x="2835643" y="2093728"/>
                  </a:lnTo>
                  <a:lnTo>
                    <a:pt x="2832074" y="2094438"/>
                  </a:lnTo>
                  <a:lnTo>
                    <a:pt x="2828518" y="2095143"/>
                  </a:lnTo>
                  <a:lnTo>
                    <a:pt x="2824937" y="2095500"/>
                  </a:lnTo>
                  <a:lnTo>
                    <a:pt x="2821305" y="2095500"/>
                  </a:lnTo>
                  <a:lnTo>
                    <a:pt x="55245" y="2095500"/>
                  </a:lnTo>
                  <a:lnTo>
                    <a:pt x="51612" y="2095500"/>
                  </a:lnTo>
                  <a:lnTo>
                    <a:pt x="48018" y="2095143"/>
                  </a:lnTo>
                  <a:lnTo>
                    <a:pt x="44462" y="2094438"/>
                  </a:lnTo>
                  <a:lnTo>
                    <a:pt x="40906" y="2093728"/>
                  </a:lnTo>
                  <a:lnTo>
                    <a:pt x="37452" y="2092681"/>
                  </a:lnTo>
                  <a:lnTo>
                    <a:pt x="34099" y="2091292"/>
                  </a:lnTo>
                  <a:lnTo>
                    <a:pt x="30746" y="2089904"/>
                  </a:lnTo>
                  <a:lnTo>
                    <a:pt x="4203" y="2061394"/>
                  </a:lnTo>
                  <a:lnTo>
                    <a:pt x="2819" y="2058045"/>
                  </a:lnTo>
                  <a:lnTo>
                    <a:pt x="1765" y="2054586"/>
                  </a:lnTo>
                  <a:lnTo>
                    <a:pt x="1066" y="2051029"/>
                  </a:lnTo>
                  <a:lnTo>
                    <a:pt x="355" y="2047473"/>
                  </a:lnTo>
                  <a:lnTo>
                    <a:pt x="0" y="2043880"/>
                  </a:lnTo>
                  <a:lnTo>
                    <a:pt x="0" y="204025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12122" y="4519995"/>
            <a:ext cx="2398395" cy="17176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40">
                <a:solidFill>
                  <a:srgbClr val="262424"/>
                </a:solidFill>
                <a:latin typeface="Times New Roman"/>
                <a:cs typeface="Times New Roman"/>
              </a:rPr>
              <a:t>B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q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0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8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8200"/>
              </a:lnSpc>
              <a:spcBef>
                <a:spcPts val="545"/>
              </a:spcBef>
            </a:pP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Permitir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el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bloqueo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desactivación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remota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dispositivos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en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5">
                <a:solidFill>
                  <a:srgbClr val="262424"/>
                </a:solidFill>
                <a:latin typeface="Times New Roman"/>
                <a:cs typeface="Times New Roman"/>
              </a:rPr>
              <a:t>caso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 spc="-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robo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extravío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evitar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su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uso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li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6419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1" y="2575672"/>
            <a:ext cx="10112375" cy="109220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90"/>
              </a:spcBef>
            </a:pPr>
            <a:r>
              <a:rPr dirty="0" sz="3250" spc="220"/>
              <a:t>C</a:t>
            </a:r>
            <a:r>
              <a:rPr dirty="0" sz="3250" spc="409"/>
              <a:t>a</a:t>
            </a:r>
            <a:r>
              <a:rPr dirty="0" sz="3250" spc="140"/>
              <a:t>r</a:t>
            </a:r>
            <a:r>
              <a:rPr dirty="0" sz="3250" spc="409"/>
              <a:t>a</a:t>
            </a:r>
            <a:r>
              <a:rPr dirty="0" sz="3250" spc="434"/>
              <a:t>c</a:t>
            </a:r>
            <a:r>
              <a:rPr dirty="0" sz="3250" spc="195"/>
              <a:t>t</a:t>
            </a:r>
            <a:r>
              <a:rPr dirty="0" sz="3250" spc="459"/>
              <a:t>e</a:t>
            </a:r>
            <a:r>
              <a:rPr dirty="0" sz="3250" spc="200"/>
              <a:t>r</a:t>
            </a:r>
            <a:r>
              <a:rPr dirty="0" sz="3250" spc="-95"/>
              <a:t>í</a:t>
            </a:r>
            <a:r>
              <a:rPr dirty="0" sz="3250" spc="520"/>
              <a:t>s</a:t>
            </a:r>
            <a:r>
              <a:rPr dirty="0" sz="3250" spc="225"/>
              <a:t>t</a:t>
            </a:r>
            <a:r>
              <a:rPr dirty="0" sz="3250" spc="-95"/>
              <a:t>i</a:t>
            </a:r>
            <a:r>
              <a:rPr dirty="0" sz="3250" spc="470"/>
              <a:t>c</a:t>
            </a:r>
            <a:r>
              <a:rPr dirty="0" sz="3250" spc="409"/>
              <a:t>a</a:t>
            </a:r>
            <a:r>
              <a:rPr dirty="0" sz="3250" spc="625"/>
              <a:t>s</a:t>
            </a:r>
            <a:r>
              <a:rPr dirty="0" sz="3250" spc="-220"/>
              <a:t> </a:t>
            </a:r>
            <a:r>
              <a:rPr dirty="0" sz="3250" spc="395"/>
              <a:t>d</a:t>
            </a:r>
            <a:r>
              <a:rPr dirty="0" sz="3250" spc="565"/>
              <a:t>e</a:t>
            </a:r>
            <a:r>
              <a:rPr dirty="0" sz="3250" spc="-220"/>
              <a:t> </a:t>
            </a:r>
            <a:r>
              <a:rPr dirty="0" sz="3250" spc="65"/>
              <a:t>H</a:t>
            </a:r>
            <a:r>
              <a:rPr dirty="0" sz="3250" spc="409"/>
              <a:t>a</a:t>
            </a:r>
            <a:r>
              <a:rPr dirty="0" sz="3250" spc="105"/>
              <a:t>r</a:t>
            </a:r>
            <a:r>
              <a:rPr dirty="0" sz="3250" spc="395"/>
              <a:t>d</a:t>
            </a:r>
            <a:r>
              <a:rPr dirty="0" sz="3250" spc="405"/>
              <a:t>w</a:t>
            </a:r>
            <a:r>
              <a:rPr dirty="0" sz="3250" spc="409"/>
              <a:t>a</a:t>
            </a:r>
            <a:r>
              <a:rPr dirty="0" sz="3250" spc="105"/>
              <a:t>r</a:t>
            </a:r>
            <a:r>
              <a:rPr dirty="0" sz="3250" spc="565"/>
              <a:t>e</a:t>
            </a:r>
            <a:r>
              <a:rPr dirty="0" sz="3250" spc="-220"/>
              <a:t> </a:t>
            </a:r>
            <a:r>
              <a:rPr dirty="0" sz="3250" spc="430"/>
              <a:t>p</a:t>
            </a:r>
            <a:r>
              <a:rPr dirty="0" sz="3250" spc="409"/>
              <a:t>a</a:t>
            </a:r>
            <a:r>
              <a:rPr dirty="0" sz="3250" spc="140"/>
              <a:t>r</a:t>
            </a:r>
            <a:r>
              <a:rPr dirty="0" sz="3250" spc="515"/>
              <a:t>a</a:t>
            </a:r>
            <a:r>
              <a:rPr dirty="0" sz="3250" spc="-220"/>
              <a:t> </a:t>
            </a:r>
            <a:r>
              <a:rPr dirty="0" sz="3250" spc="270"/>
              <a:t>P</a:t>
            </a:r>
            <a:r>
              <a:rPr dirty="0" sz="3250" spc="105"/>
              <a:t>r</a:t>
            </a:r>
            <a:r>
              <a:rPr dirty="0" sz="3250" spc="400"/>
              <a:t>e</a:t>
            </a:r>
            <a:r>
              <a:rPr dirty="0" sz="3250" spc="229"/>
              <a:t>v</a:t>
            </a:r>
            <a:r>
              <a:rPr dirty="0" sz="3250" spc="459"/>
              <a:t>e</a:t>
            </a:r>
            <a:r>
              <a:rPr dirty="0" sz="3250" spc="370"/>
              <a:t>n</a:t>
            </a:r>
            <a:r>
              <a:rPr dirty="0" sz="3250" spc="-95"/>
              <a:t>i</a:t>
            </a:r>
            <a:r>
              <a:rPr dirty="0" sz="3250" spc="290"/>
              <a:t>r</a:t>
            </a:r>
            <a:r>
              <a:rPr dirty="0" sz="3250" spc="-220"/>
              <a:t> </a:t>
            </a:r>
            <a:r>
              <a:rPr dirty="0" sz="3250" spc="-25"/>
              <a:t>A</a:t>
            </a:r>
            <a:r>
              <a:rPr dirty="0" sz="3250" spc="245"/>
              <a:t>t</a:t>
            </a:r>
            <a:r>
              <a:rPr dirty="0" sz="3250" spc="409"/>
              <a:t>a</a:t>
            </a:r>
            <a:r>
              <a:rPr dirty="0" sz="3250" spc="395"/>
              <a:t>q</a:t>
            </a:r>
            <a:r>
              <a:rPr dirty="0" sz="3250" spc="370"/>
              <a:t>u</a:t>
            </a:r>
            <a:r>
              <a:rPr dirty="0" sz="3250" spc="459"/>
              <a:t>e</a:t>
            </a:r>
            <a:r>
              <a:rPr dirty="0" sz="3250" spc="475"/>
              <a:t>s  </a:t>
            </a:r>
            <a:r>
              <a:rPr dirty="0" sz="3250" spc="254"/>
              <a:t>Físicos</a:t>
            </a:r>
            <a:endParaRPr sz="3250"/>
          </a:p>
        </p:txBody>
      </p:sp>
      <p:sp>
        <p:nvSpPr>
          <p:cNvPr id="4" name="object 4"/>
          <p:cNvSpPr/>
          <p:nvPr/>
        </p:nvSpPr>
        <p:spPr>
          <a:xfrm>
            <a:off x="613469" y="3945610"/>
            <a:ext cx="401955" cy="424180"/>
          </a:xfrm>
          <a:custGeom>
            <a:avLst/>
            <a:gdLst/>
            <a:ahLst/>
            <a:cxnLst/>
            <a:rect l="l" t="t" r="r" b="b"/>
            <a:pathLst>
              <a:path w="401955" h="424179">
                <a:moveTo>
                  <a:pt x="200917" y="0"/>
                </a:moveTo>
                <a:lnTo>
                  <a:pt x="32062" y="67056"/>
                </a:lnTo>
                <a:lnTo>
                  <a:pt x="2384" y="99295"/>
                </a:lnTo>
                <a:lnTo>
                  <a:pt x="0" y="114935"/>
                </a:lnTo>
                <a:lnTo>
                  <a:pt x="1886" y="149010"/>
                </a:lnTo>
                <a:lnTo>
                  <a:pt x="7831" y="187767"/>
                </a:lnTo>
                <a:lnTo>
                  <a:pt x="18728" y="229427"/>
                </a:lnTo>
                <a:lnTo>
                  <a:pt x="35473" y="272210"/>
                </a:lnTo>
                <a:lnTo>
                  <a:pt x="58959" y="314337"/>
                </a:lnTo>
                <a:lnTo>
                  <a:pt x="90082" y="354030"/>
                </a:lnTo>
                <a:lnTo>
                  <a:pt x="129736" y="389510"/>
                </a:lnTo>
                <a:lnTo>
                  <a:pt x="178817" y="418998"/>
                </a:lnTo>
                <a:lnTo>
                  <a:pt x="200917" y="424018"/>
                </a:lnTo>
                <a:lnTo>
                  <a:pt x="212180" y="422763"/>
                </a:lnTo>
                <a:lnTo>
                  <a:pt x="223018" y="418998"/>
                </a:lnTo>
                <a:lnTo>
                  <a:pt x="258002" y="397979"/>
                </a:lnTo>
                <a:lnTo>
                  <a:pt x="196983" y="397979"/>
                </a:lnTo>
                <a:lnTo>
                  <a:pt x="190370" y="394804"/>
                </a:lnTo>
                <a:lnTo>
                  <a:pt x="140183" y="363732"/>
                </a:lnTo>
                <a:lnTo>
                  <a:pt x="100864" y="325707"/>
                </a:lnTo>
                <a:lnTo>
                  <a:pt x="71255" y="283114"/>
                </a:lnTo>
                <a:lnTo>
                  <a:pt x="50200" y="238338"/>
                </a:lnTo>
                <a:lnTo>
                  <a:pt x="36542" y="193765"/>
                </a:lnTo>
                <a:lnTo>
                  <a:pt x="29124" y="151781"/>
                </a:lnTo>
                <a:lnTo>
                  <a:pt x="26789" y="114769"/>
                </a:lnTo>
                <a:lnTo>
                  <a:pt x="27883" y="107449"/>
                </a:lnTo>
                <a:lnTo>
                  <a:pt x="31089" y="100923"/>
                </a:lnTo>
                <a:lnTo>
                  <a:pt x="36065" y="95583"/>
                </a:lnTo>
                <a:lnTo>
                  <a:pt x="42524" y="91757"/>
                </a:lnTo>
                <a:lnTo>
                  <a:pt x="197152" y="26123"/>
                </a:lnTo>
                <a:lnTo>
                  <a:pt x="273340" y="26123"/>
                </a:lnTo>
                <a:lnTo>
                  <a:pt x="221847" y="4267"/>
                </a:lnTo>
                <a:lnTo>
                  <a:pt x="211540" y="1066"/>
                </a:lnTo>
                <a:lnTo>
                  <a:pt x="200917" y="0"/>
                </a:lnTo>
                <a:close/>
              </a:path>
              <a:path w="401955" h="424179">
                <a:moveTo>
                  <a:pt x="279832" y="28879"/>
                </a:moveTo>
                <a:lnTo>
                  <a:pt x="211380" y="28879"/>
                </a:lnTo>
                <a:lnTo>
                  <a:pt x="359305" y="91668"/>
                </a:lnTo>
                <a:lnTo>
                  <a:pt x="365768" y="95546"/>
                </a:lnTo>
                <a:lnTo>
                  <a:pt x="370761" y="100934"/>
                </a:lnTo>
                <a:lnTo>
                  <a:pt x="373953" y="107450"/>
                </a:lnTo>
                <a:lnTo>
                  <a:pt x="375046" y="114769"/>
                </a:lnTo>
                <a:lnTo>
                  <a:pt x="372706" y="151805"/>
                </a:lnTo>
                <a:lnTo>
                  <a:pt x="365276" y="193799"/>
                </a:lnTo>
                <a:lnTo>
                  <a:pt x="351602" y="238370"/>
                </a:lnTo>
                <a:lnTo>
                  <a:pt x="330529" y="283138"/>
                </a:lnTo>
                <a:lnTo>
                  <a:pt x="300903" y="325720"/>
                </a:lnTo>
                <a:lnTo>
                  <a:pt x="261571" y="363736"/>
                </a:lnTo>
                <a:lnTo>
                  <a:pt x="211380" y="394804"/>
                </a:lnTo>
                <a:lnTo>
                  <a:pt x="204767" y="397979"/>
                </a:lnTo>
                <a:lnTo>
                  <a:pt x="258002" y="397979"/>
                </a:lnTo>
                <a:lnTo>
                  <a:pt x="311752" y="354030"/>
                </a:lnTo>
                <a:lnTo>
                  <a:pt x="342875" y="314337"/>
                </a:lnTo>
                <a:lnTo>
                  <a:pt x="366362" y="272210"/>
                </a:lnTo>
                <a:lnTo>
                  <a:pt x="383106" y="229427"/>
                </a:lnTo>
                <a:lnTo>
                  <a:pt x="394004" y="187767"/>
                </a:lnTo>
                <a:lnTo>
                  <a:pt x="399948" y="149010"/>
                </a:lnTo>
                <a:lnTo>
                  <a:pt x="401835" y="114935"/>
                </a:lnTo>
                <a:lnTo>
                  <a:pt x="399451" y="99295"/>
                </a:lnTo>
                <a:lnTo>
                  <a:pt x="392741" y="85690"/>
                </a:lnTo>
                <a:lnTo>
                  <a:pt x="382563" y="74737"/>
                </a:lnTo>
                <a:lnTo>
                  <a:pt x="369773" y="67056"/>
                </a:lnTo>
                <a:lnTo>
                  <a:pt x="279832" y="28879"/>
                </a:lnTo>
                <a:close/>
              </a:path>
              <a:path w="401955" h="424179">
                <a:moveTo>
                  <a:pt x="273340" y="26123"/>
                </a:moveTo>
                <a:lnTo>
                  <a:pt x="204683" y="26123"/>
                </a:lnTo>
                <a:lnTo>
                  <a:pt x="211380" y="28968"/>
                </a:lnTo>
                <a:lnTo>
                  <a:pt x="279832" y="28879"/>
                </a:lnTo>
                <a:lnTo>
                  <a:pt x="273340" y="26123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7375" y="4532032"/>
            <a:ext cx="817244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95">
                <a:solidFill>
                  <a:srgbClr val="262424"/>
                </a:solidFill>
                <a:latin typeface="Times New Roman"/>
                <a:cs typeface="Times New Roman"/>
              </a:rPr>
              <a:t>Blindaje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75" y="4849995"/>
            <a:ext cx="2289810" cy="1120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120"/>
              </a:spcBef>
            </a:pPr>
            <a:r>
              <a:rPr dirty="0" sz="1300" spc="30">
                <a:solidFill>
                  <a:srgbClr val="262424"/>
                </a:solidFill>
                <a:latin typeface="Times New Roman"/>
                <a:cs typeface="Times New Roman"/>
              </a:rPr>
              <a:t>Utilizar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materiales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diseños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que</a:t>
            </a:r>
            <a:r>
              <a:rPr dirty="0" sz="1300" spc="-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62424"/>
                </a:solidFill>
                <a:latin typeface="Times New Roman"/>
                <a:cs typeface="Times New Roman"/>
              </a:rPr>
              <a:t>dificulten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inspección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manipulación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física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del </a:t>
            </a:r>
            <a:r>
              <a:rPr dirty="0" sz="1300" spc="1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h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w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9450" y="3943350"/>
            <a:ext cx="428625" cy="417195"/>
          </a:xfrm>
          <a:custGeom>
            <a:avLst/>
            <a:gdLst/>
            <a:ahLst/>
            <a:cxnLst/>
            <a:rect l="l" t="t" r="r" b="b"/>
            <a:pathLst>
              <a:path w="428625" h="417195">
                <a:moveTo>
                  <a:pt x="221678" y="200914"/>
                </a:moveTo>
                <a:lnTo>
                  <a:pt x="206946" y="200914"/>
                </a:lnTo>
                <a:lnTo>
                  <a:pt x="200914" y="206946"/>
                </a:lnTo>
                <a:lnTo>
                  <a:pt x="200914" y="235153"/>
                </a:lnTo>
                <a:lnTo>
                  <a:pt x="199190" y="272659"/>
                </a:lnTo>
                <a:lnTo>
                  <a:pt x="193935" y="310959"/>
                </a:lnTo>
                <a:lnTo>
                  <a:pt x="173202" y="384251"/>
                </a:lnTo>
                <a:lnTo>
                  <a:pt x="165595" y="403923"/>
                </a:lnTo>
                <a:lnTo>
                  <a:pt x="169024" y="411708"/>
                </a:lnTo>
                <a:lnTo>
                  <a:pt x="182918" y="417068"/>
                </a:lnTo>
                <a:lnTo>
                  <a:pt x="190614" y="413639"/>
                </a:lnTo>
                <a:lnTo>
                  <a:pt x="198234" y="393877"/>
                </a:lnTo>
                <a:lnTo>
                  <a:pt x="211069" y="355339"/>
                </a:lnTo>
                <a:lnTo>
                  <a:pt x="220287" y="315868"/>
                </a:lnTo>
                <a:lnTo>
                  <a:pt x="225848" y="275720"/>
                </a:lnTo>
                <a:lnTo>
                  <a:pt x="227711" y="235153"/>
                </a:lnTo>
                <a:lnTo>
                  <a:pt x="227711" y="206946"/>
                </a:lnTo>
                <a:lnTo>
                  <a:pt x="221678" y="200914"/>
                </a:lnTo>
                <a:close/>
              </a:path>
              <a:path w="428625" h="417195">
                <a:moveTo>
                  <a:pt x="214312" y="133946"/>
                </a:moveTo>
                <a:lnTo>
                  <a:pt x="157489" y="157489"/>
                </a:lnTo>
                <a:lnTo>
                  <a:pt x="133964" y="214223"/>
                </a:lnTo>
                <a:lnTo>
                  <a:pt x="133946" y="235153"/>
                </a:lnTo>
                <a:lnTo>
                  <a:pt x="133087" y="259492"/>
                </a:lnTo>
                <a:lnTo>
                  <a:pt x="130587" y="283378"/>
                </a:lnTo>
                <a:lnTo>
                  <a:pt x="126424" y="307158"/>
                </a:lnTo>
                <a:lnTo>
                  <a:pt x="120637" y="330593"/>
                </a:lnTo>
                <a:lnTo>
                  <a:pt x="118122" y="339293"/>
                </a:lnTo>
                <a:lnTo>
                  <a:pt x="124574" y="348259"/>
                </a:lnTo>
                <a:lnTo>
                  <a:pt x="139382" y="348259"/>
                </a:lnTo>
                <a:lnTo>
                  <a:pt x="144487" y="344487"/>
                </a:lnTo>
                <a:lnTo>
                  <a:pt x="157048" y="287624"/>
                </a:lnTo>
                <a:lnTo>
                  <a:pt x="160731" y="235153"/>
                </a:lnTo>
                <a:lnTo>
                  <a:pt x="160749" y="214223"/>
                </a:lnTo>
                <a:lnTo>
                  <a:pt x="164947" y="193472"/>
                </a:lnTo>
                <a:lnTo>
                  <a:pt x="176439" y="176439"/>
                </a:lnTo>
                <a:lnTo>
                  <a:pt x="193472" y="164947"/>
                </a:lnTo>
                <a:lnTo>
                  <a:pt x="214312" y="160731"/>
                </a:lnTo>
                <a:lnTo>
                  <a:pt x="273321" y="160731"/>
                </a:lnTo>
                <a:lnTo>
                  <a:pt x="271135" y="157489"/>
                </a:lnTo>
                <a:lnTo>
                  <a:pt x="245589" y="140263"/>
                </a:lnTo>
                <a:lnTo>
                  <a:pt x="214312" y="133946"/>
                </a:lnTo>
                <a:close/>
              </a:path>
              <a:path w="428625" h="417195">
                <a:moveTo>
                  <a:pt x="273321" y="160731"/>
                </a:moveTo>
                <a:lnTo>
                  <a:pt x="214312" y="160731"/>
                </a:lnTo>
                <a:lnTo>
                  <a:pt x="235152" y="164947"/>
                </a:lnTo>
                <a:lnTo>
                  <a:pt x="252185" y="176439"/>
                </a:lnTo>
                <a:lnTo>
                  <a:pt x="263677" y="193472"/>
                </a:lnTo>
                <a:lnTo>
                  <a:pt x="267875" y="214223"/>
                </a:lnTo>
                <a:lnTo>
                  <a:pt x="267893" y="235153"/>
                </a:lnTo>
                <a:lnTo>
                  <a:pt x="267285" y="259345"/>
                </a:lnTo>
                <a:lnTo>
                  <a:pt x="265445" y="283743"/>
                </a:lnTo>
                <a:lnTo>
                  <a:pt x="262385" y="307851"/>
                </a:lnTo>
                <a:lnTo>
                  <a:pt x="258102" y="331762"/>
                </a:lnTo>
                <a:lnTo>
                  <a:pt x="256336" y="340220"/>
                </a:lnTo>
                <a:lnTo>
                  <a:pt x="262699" y="348259"/>
                </a:lnTo>
                <a:lnTo>
                  <a:pt x="277520" y="348259"/>
                </a:lnTo>
                <a:lnTo>
                  <a:pt x="282956" y="343979"/>
                </a:lnTo>
                <a:lnTo>
                  <a:pt x="292050" y="286832"/>
                </a:lnTo>
                <a:lnTo>
                  <a:pt x="294678" y="235153"/>
                </a:lnTo>
                <a:lnTo>
                  <a:pt x="294660" y="214223"/>
                </a:lnTo>
                <a:lnTo>
                  <a:pt x="288361" y="183035"/>
                </a:lnTo>
                <a:lnTo>
                  <a:pt x="273321" y="160731"/>
                </a:lnTo>
                <a:close/>
              </a:path>
              <a:path w="428625" h="417195">
                <a:moveTo>
                  <a:pt x="107403" y="112598"/>
                </a:moveTo>
                <a:lnTo>
                  <a:pt x="76385" y="162345"/>
                </a:lnTo>
                <a:lnTo>
                  <a:pt x="66975" y="214223"/>
                </a:lnTo>
                <a:lnTo>
                  <a:pt x="66967" y="235153"/>
                </a:lnTo>
                <a:lnTo>
                  <a:pt x="66433" y="252572"/>
                </a:lnTo>
                <a:lnTo>
                  <a:pt x="64833" y="269887"/>
                </a:lnTo>
                <a:lnTo>
                  <a:pt x="62166" y="287059"/>
                </a:lnTo>
                <a:lnTo>
                  <a:pt x="58432" y="304050"/>
                </a:lnTo>
                <a:lnTo>
                  <a:pt x="56261" y="312762"/>
                </a:lnTo>
                <a:lnTo>
                  <a:pt x="62611" y="321462"/>
                </a:lnTo>
                <a:lnTo>
                  <a:pt x="77431" y="321462"/>
                </a:lnTo>
                <a:lnTo>
                  <a:pt x="82626" y="317614"/>
                </a:lnTo>
                <a:lnTo>
                  <a:pt x="91403" y="273886"/>
                </a:lnTo>
                <a:lnTo>
                  <a:pt x="93840" y="235153"/>
                </a:lnTo>
                <a:lnTo>
                  <a:pt x="93848" y="214223"/>
                </a:lnTo>
                <a:lnTo>
                  <a:pt x="95716" y="193028"/>
                </a:lnTo>
                <a:lnTo>
                  <a:pt x="101125" y="172972"/>
                </a:lnTo>
                <a:lnTo>
                  <a:pt x="109736" y="154456"/>
                </a:lnTo>
                <a:lnTo>
                  <a:pt x="121221" y="137795"/>
                </a:lnTo>
                <a:lnTo>
                  <a:pt x="125742" y="132346"/>
                </a:lnTo>
                <a:lnTo>
                  <a:pt x="126161" y="124320"/>
                </a:lnTo>
                <a:lnTo>
                  <a:pt x="121475" y="118960"/>
                </a:lnTo>
                <a:lnTo>
                  <a:pt x="116446" y="113093"/>
                </a:lnTo>
                <a:lnTo>
                  <a:pt x="107403" y="112598"/>
                </a:lnTo>
                <a:close/>
              </a:path>
              <a:path w="428625" h="417195">
                <a:moveTo>
                  <a:pt x="297914" y="93675"/>
                </a:moveTo>
                <a:lnTo>
                  <a:pt x="214312" y="93675"/>
                </a:lnTo>
                <a:lnTo>
                  <a:pt x="261228" y="103152"/>
                </a:lnTo>
                <a:lnTo>
                  <a:pt x="299546" y="128993"/>
                </a:lnTo>
                <a:lnTo>
                  <a:pt x="325385" y="167312"/>
                </a:lnTo>
                <a:lnTo>
                  <a:pt x="334860" y="214223"/>
                </a:lnTo>
                <a:lnTo>
                  <a:pt x="334859" y="235153"/>
                </a:lnTo>
                <a:lnTo>
                  <a:pt x="332283" y="288272"/>
                </a:lnTo>
                <a:lnTo>
                  <a:pt x="329171" y="314020"/>
                </a:lnTo>
                <a:lnTo>
                  <a:pt x="335445" y="321386"/>
                </a:lnTo>
                <a:lnTo>
                  <a:pt x="350266" y="321386"/>
                </a:lnTo>
                <a:lnTo>
                  <a:pt x="355879" y="316522"/>
                </a:lnTo>
                <a:lnTo>
                  <a:pt x="360367" y="272659"/>
                </a:lnTo>
                <a:lnTo>
                  <a:pt x="361567" y="235153"/>
                </a:lnTo>
                <a:lnTo>
                  <a:pt x="361554" y="214223"/>
                </a:lnTo>
                <a:lnTo>
                  <a:pt x="354057" y="167742"/>
                </a:lnTo>
                <a:lnTo>
                  <a:pt x="333141" y="127295"/>
                </a:lnTo>
                <a:lnTo>
                  <a:pt x="301246" y="95398"/>
                </a:lnTo>
                <a:lnTo>
                  <a:pt x="297914" y="93675"/>
                </a:lnTo>
                <a:close/>
              </a:path>
              <a:path w="428625" h="417195">
                <a:moveTo>
                  <a:pt x="214312" y="0"/>
                </a:moveTo>
                <a:lnTo>
                  <a:pt x="165167" y="5659"/>
                </a:lnTo>
                <a:lnTo>
                  <a:pt x="120056" y="21780"/>
                </a:lnTo>
                <a:lnTo>
                  <a:pt x="80264" y="47077"/>
                </a:lnTo>
                <a:lnTo>
                  <a:pt x="47077" y="80264"/>
                </a:lnTo>
                <a:lnTo>
                  <a:pt x="21780" y="120056"/>
                </a:lnTo>
                <a:lnTo>
                  <a:pt x="5659" y="165167"/>
                </a:lnTo>
                <a:lnTo>
                  <a:pt x="10" y="214223"/>
                </a:lnTo>
                <a:lnTo>
                  <a:pt x="0" y="261861"/>
                </a:lnTo>
                <a:lnTo>
                  <a:pt x="6032" y="267893"/>
                </a:lnTo>
                <a:lnTo>
                  <a:pt x="20764" y="267893"/>
                </a:lnTo>
                <a:lnTo>
                  <a:pt x="26784" y="261861"/>
                </a:lnTo>
                <a:lnTo>
                  <a:pt x="26796" y="214223"/>
                </a:lnTo>
                <a:lnTo>
                  <a:pt x="33483" y="164464"/>
                </a:lnTo>
                <a:lnTo>
                  <a:pt x="52390" y="119669"/>
                </a:lnTo>
                <a:lnTo>
                  <a:pt x="81714" y="81714"/>
                </a:lnTo>
                <a:lnTo>
                  <a:pt x="119669" y="52390"/>
                </a:lnTo>
                <a:lnTo>
                  <a:pt x="164464" y="33483"/>
                </a:lnTo>
                <a:lnTo>
                  <a:pt x="214312" y="26784"/>
                </a:lnTo>
                <a:lnTo>
                  <a:pt x="316395" y="26784"/>
                </a:lnTo>
                <a:lnTo>
                  <a:pt x="308094" y="21545"/>
                </a:lnTo>
                <a:lnTo>
                  <a:pt x="263180" y="5597"/>
                </a:lnTo>
                <a:lnTo>
                  <a:pt x="214312" y="0"/>
                </a:lnTo>
                <a:close/>
              </a:path>
              <a:path w="428625" h="417195">
                <a:moveTo>
                  <a:pt x="214243" y="66970"/>
                </a:moveTo>
                <a:lnTo>
                  <a:pt x="173062" y="72801"/>
                </a:lnTo>
                <a:lnTo>
                  <a:pt x="152876" y="85955"/>
                </a:lnTo>
                <a:lnTo>
                  <a:pt x="153017" y="91829"/>
                </a:lnTo>
                <a:lnTo>
                  <a:pt x="155879" y="97358"/>
                </a:lnTo>
                <a:lnTo>
                  <a:pt x="159893" y="102044"/>
                </a:lnTo>
                <a:lnTo>
                  <a:pt x="166598" y="103390"/>
                </a:lnTo>
                <a:lnTo>
                  <a:pt x="172377" y="101206"/>
                </a:lnTo>
                <a:lnTo>
                  <a:pt x="182365" y="97982"/>
                </a:lnTo>
                <a:lnTo>
                  <a:pt x="192716" y="95621"/>
                </a:lnTo>
                <a:lnTo>
                  <a:pt x="203380" y="94169"/>
                </a:lnTo>
                <a:lnTo>
                  <a:pt x="214312" y="93675"/>
                </a:lnTo>
                <a:lnTo>
                  <a:pt x="297914" y="93675"/>
                </a:lnTo>
                <a:lnTo>
                  <a:pt x="260798" y="74479"/>
                </a:lnTo>
                <a:lnTo>
                  <a:pt x="214243" y="66970"/>
                </a:lnTo>
                <a:close/>
              </a:path>
              <a:path w="428625" h="417195">
                <a:moveTo>
                  <a:pt x="316395" y="26784"/>
                </a:moveTo>
                <a:lnTo>
                  <a:pt x="214312" y="26784"/>
                </a:lnTo>
                <a:lnTo>
                  <a:pt x="257075" y="31684"/>
                </a:lnTo>
                <a:lnTo>
                  <a:pt x="296352" y="45642"/>
                </a:lnTo>
                <a:lnTo>
                  <a:pt x="331046" y="67541"/>
                </a:lnTo>
                <a:lnTo>
                  <a:pt x="360057" y="96266"/>
                </a:lnTo>
                <a:lnTo>
                  <a:pt x="364744" y="102044"/>
                </a:lnTo>
                <a:lnTo>
                  <a:pt x="373126" y="102882"/>
                </a:lnTo>
                <a:lnTo>
                  <a:pt x="384670" y="93675"/>
                </a:lnTo>
                <a:lnTo>
                  <a:pt x="385508" y="85217"/>
                </a:lnTo>
                <a:lnTo>
                  <a:pt x="380911" y="79438"/>
                </a:lnTo>
                <a:lnTo>
                  <a:pt x="347766" y="46580"/>
                </a:lnTo>
                <a:lnTo>
                  <a:pt x="316395" y="26784"/>
                </a:lnTo>
                <a:close/>
              </a:path>
              <a:path w="428625" h="417195">
                <a:moveTo>
                  <a:pt x="411543" y="145834"/>
                </a:moveTo>
                <a:lnTo>
                  <a:pt x="397319" y="149682"/>
                </a:lnTo>
                <a:lnTo>
                  <a:pt x="393128" y="157137"/>
                </a:lnTo>
                <a:lnTo>
                  <a:pt x="395058" y="164249"/>
                </a:lnTo>
                <a:lnTo>
                  <a:pt x="397956" y="176329"/>
                </a:lnTo>
                <a:lnTo>
                  <a:pt x="400083" y="188702"/>
                </a:lnTo>
                <a:lnTo>
                  <a:pt x="401393" y="201343"/>
                </a:lnTo>
                <a:lnTo>
                  <a:pt x="401840" y="214223"/>
                </a:lnTo>
                <a:lnTo>
                  <a:pt x="401840" y="261772"/>
                </a:lnTo>
                <a:lnTo>
                  <a:pt x="407860" y="267804"/>
                </a:lnTo>
                <a:lnTo>
                  <a:pt x="422592" y="267804"/>
                </a:lnTo>
                <a:lnTo>
                  <a:pt x="428625" y="261772"/>
                </a:lnTo>
                <a:lnTo>
                  <a:pt x="428622" y="214223"/>
                </a:lnTo>
                <a:lnTo>
                  <a:pt x="424242" y="170991"/>
                </a:lnTo>
                <a:lnTo>
                  <a:pt x="418909" y="150012"/>
                </a:lnTo>
                <a:lnTo>
                  <a:pt x="411543" y="145834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09136" y="4515223"/>
            <a:ext cx="1370330" cy="55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0"/>
              </a:spcBef>
            </a:pPr>
            <a:r>
              <a:rPr dirty="0" sz="1600" spc="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00" spc="2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00" spc="2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225">
                <a:solidFill>
                  <a:srgbClr val="262424"/>
                </a:solidFill>
                <a:latin typeface="Times New Roman"/>
                <a:cs typeface="Times New Roman"/>
              </a:rPr>
              <a:t>cc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600" spc="25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00" spc="-10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e  </a:t>
            </a:r>
            <a:r>
              <a:rPr dirty="0" sz="1600" spc="9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600" spc="21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00" spc="19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600" spc="195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600" spc="21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00" spc="22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600" spc="25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9136" y="5116695"/>
            <a:ext cx="2325370" cy="854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95"/>
              </a:spcBef>
            </a:pP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Incorporar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sensores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que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detecten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intentos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apertura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4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-3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5134" y="3943350"/>
            <a:ext cx="375285" cy="428625"/>
          </a:xfrm>
          <a:custGeom>
            <a:avLst/>
            <a:gdLst/>
            <a:ahLst/>
            <a:cxnLst/>
            <a:rect l="l" t="t" r="r" b="b"/>
            <a:pathLst>
              <a:path w="375285" h="428625">
                <a:moveTo>
                  <a:pt x="308076" y="160731"/>
                </a:moveTo>
                <a:lnTo>
                  <a:pt x="66979" y="160731"/>
                </a:lnTo>
                <a:lnTo>
                  <a:pt x="40901" y="165992"/>
                </a:lnTo>
                <a:lnTo>
                  <a:pt x="19611" y="180343"/>
                </a:lnTo>
                <a:lnTo>
                  <a:pt x="5261" y="201632"/>
                </a:lnTo>
                <a:lnTo>
                  <a:pt x="0" y="227711"/>
                </a:lnTo>
                <a:lnTo>
                  <a:pt x="0" y="361645"/>
                </a:lnTo>
                <a:lnTo>
                  <a:pt x="5261" y="387723"/>
                </a:lnTo>
                <a:lnTo>
                  <a:pt x="19611" y="409013"/>
                </a:lnTo>
                <a:lnTo>
                  <a:pt x="40901" y="423363"/>
                </a:lnTo>
                <a:lnTo>
                  <a:pt x="66979" y="428625"/>
                </a:lnTo>
                <a:lnTo>
                  <a:pt x="308076" y="428625"/>
                </a:lnTo>
                <a:lnTo>
                  <a:pt x="334154" y="423363"/>
                </a:lnTo>
                <a:lnTo>
                  <a:pt x="355444" y="409013"/>
                </a:lnTo>
                <a:lnTo>
                  <a:pt x="360279" y="401840"/>
                </a:lnTo>
                <a:lnTo>
                  <a:pt x="66979" y="401840"/>
                </a:lnTo>
                <a:lnTo>
                  <a:pt x="51341" y="398680"/>
                </a:lnTo>
                <a:lnTo>
                  <a:pt x="38568" y="390063"/>
                </a:lnTo>
                <a:lnTo>
                  <a:pt x="29955" y="377285"/>
                </a:lnTo>
                <a:lnTo>
                  <a:pt x="26797" y="361645"/>
                </a:lnTo>
                <a:lnTo>
                  <a:pt x="26797" y="227711"/>
                </a:lnTo>
                <a:lnTo>
                  <a:pt x="29955" y="212072"/>
                </a:lnTo>
                <a:lnTo>
                  <a:pt x="38568" y="199299"/>
                </a:lnTo>
                <a:lnTo>
                  <a:pt x="51341" y="190686"/>
                </a:lnTo>
                <a:lnTo>
                  <a:pt x="66979" y="187528"/>
                </a:lnTo>
                <a:lnTo>
                  <a:pt x="360287" y="187528"/>
                </a:lnTo>
                <a:lnTo>
                  <a:pt x="355444" y="180343"/>
                </a:lnTo>
                <a:lnTo>
                  <a:pt x="334154" y="165992"/>
                </a:lnTo>
                <a:lnTo>
                  <a:pt x="308076" y="160731"/>
                </a:lnTo>
                <a:close/>
              </a:path>
              <a:path w="375285" h="428625">
                <a:moveTo>
                  <a:pt x="360287" y="187528"/>
                </a:moveTo>
                <a:lnTo>
                  <a:pt x="308076" y="187528"/>
                </a:lnTo>
                <a:lnTo>
                  <a:pt x="323715" y="190686"/>
                </a:lnTo>
                <a:lnTo>
                  <a:pt x="336488" y="199299"/>
                </a:lnTo>
                <a:lnTo>
                  <a:pt x="345100" y="212072"/>
                </a:lnTo>
                <a:lnTo>
                  <a:pt x="348259" y="227711"/>
                </a:lnTo>
                <a:lnTo>
                  <a:pt x="348259" y="361645"/>
                </a:lnTo>
                <a:lnTo>
                  <a:pt x="345100" y="377285"/>
                </a:lnTo>
                <a:lnTo>
                  <a:pt x="336488" y="390063"/>
                </a:lnTo>
                <a:lnTo>
                  <a:pt x="323715" y="398680"/>
                </a:lnTo>
                <a:lnTo>
                  <a:pt x="308076" y="401840"/>
                </a:lnTo>
                <a:lnTo>
                  <a:pt x="360279" y="401840"/>
                </a:lnTo>
                <a:lnTo>
                  <a:pt x="369795" y="387723"/>
                </a:lnTo>
                <a:lnTo>
                  <a:pt x="375056" y="361645"/>
                </a:lnTo>
                <a:lnTo>
                  <a:pt x="375056" y="227711"/>
                </a:lnTo>
                <a:lnTo>
                  <a:pt x="369795" y="201632"/>
                </a:lnTo>
                <a:lnTo>
                  <a:pt x="360287" y="187528"/>
                </a:lnTo>
                <a:close/>
              </a:path>
              <a:path w="375285" h="428625">
                <a:moveTo>
                  <a:pt x="187528" y="0"/>
                </a:moveTo>
                <a:lnTo>
                  <a:pt x="145813" y="8419"/>
                </a:lnTo>
                <a:lnTo>
                  <a:pt x="111755" y="31381"/>
                </a:lnTo>
                <a:lnTo>
                  <a:pt x="88796" y="65440"/>
                </a:lnTo>
                <a:lnTo>
                  <a:pt x="80378" y="107149"/>
                </a:lnTo>
                <a:lnTo>
                  <a:pt x="80378" y="160731"/>
                </a:lnTo>
                <a:lnTo>
                  <a:pt x="107162" y="160731"/>
                </a:lnTo>
                <a:lnTo>
                  <a:pt x="107162" y="107149"/>
                </a:lnTo>
                <a:lnTo>
                  <a:pt x="113479" y="75877"/>
                </a:lnTo>
                <a:lnTo>
                  <a:pt x="130705" y="50331"/>
                </a:lnTo>
                <a:lnTo>
                  <a:pt x="156250" y="33103"/>
                </a:lnTo>
                <a:lnTo>
                  <a:pt x="187528" y="26784"/>
                </a:lnTo>
                <a:lnTo>
                  <a:pt x="256487" y="26784"/>
                </a:lnTo>
                <a:lnTo>
                  <a:pt x="229245" y="8419"/>
                </a:lnTo>
                <a:lnTo>
                  <a:pt x="187528" y="0"/>
                </a:lnTo>
                <a:close/>
              </a:path>
              <a:path w="375285" h="428625">
                <a:moveTo>
                  <a:pt x="256487" y="26784"/>
                </a:moveTo>
                <a:lnTo>
                  <a:pt x="187528" y="26784"/>
                </a:lnTo>
                <a:lnTo>
                  <a:pt x="218805" y="33103"/>
                </a:lnTo>
                <a:lnTo>
                  <a:pt x="244351" y="50331"/>
                </a:lnTo>
                <a:lnTo>
                  <a:pt x="261576" y="75877"/>
                </a:lnTo>
                <a:lnTo>
                  <a:pt x="267893" y="107149"/>
                </a:lnTo>
                <a:lnTo>
                  <a:pt x="267893" y="160731"/>
                </a:lnTo>
                <a:lnTo>
                  <a:pt x="294690" y="160731"/>
                </a:lnTo>
                <a:lnTo>
                  <a:pt x="294690" y="107149"/>
                </a:lnTo>
                <a:lnTo>
                  <a:pt x="286270" y="65440"/>
                </a:lnTo>
                <a:lnTo>
                  <a:pt x="263307" y="31381"/>
                </a:lnTo>
                <a:lnTo>
                  <a:pt x="256487" y="26784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30887" y="4532032"/>
            <a:ext cx="1958975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-10">
                <a:solidFill>
                  <a:srgbClr val="262424"/>
                </a:solidFill>
                <a:latin typeface="Times New Roman"/>
                <a:cs typeface="Times New Roman"/>
              </a:rPr>
              <a:t>B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q</a:t>
            </a:r>
            <a:r>
              <a:rPr dirty="0" sz="1600" spc="195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00" spc="2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229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-10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00" spc="29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-10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600" spc="195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00" spc="2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13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0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320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0878" y="4849995"/>
            <a:ext cx="2186305" cy="1120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120"/>
              </a:spcBef>
            </a:pP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Restringir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bloquear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el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5">
                <a:solidFill>
                  <a:srgbClr val="262424"/>
                </a:solidFill>
                <a:latin typeface="Times New Roman"/>
                <a:cs typeface="Times New Roman"/>
              </a:rPr>
              <a:t>acceso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a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puertos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comunicación</a:t>
            </a:r>
            <a:r>
              <a:rPr dirty="0" sz="1300" spc="-1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 spc="-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depuración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-3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67725" y="3970134"/>
            <a:ext cx="428625" cy="375285"/>
          </a:xfrm>
          <a:custGeom>
            <a:avLst/>
            <a:gdLst/>
            <a:ahLst/>
            <a:cxnLst/>
            <a:rect l="l" t="t" r="r" b="b"/>
            <a:pathLst>
              <a:path w="428625" h="375285">
                <a:moveTo>
                  <a:pt x="268643" y="0"/>
                </a:moveTo>
                <a:lnTo>
                  <a:pt x="159981" y="0"/>
                </a:lnTo>
                <a:lnTo>
                  <a:pt x="147481" y="1984"/>
                </a:lnTo>
                <a:lnTo>
                  <a:pt x="136475" y="7580"/>
                </a:lnTo>
                <a:lnTo>
                  <a:pt x="127701" y="16250"/>
                </a:lnTo>
                <a:lnTo>
                  <a:pt x="121894" y="27457"/>
                </a:lnTo>
                <a:lnTo>
                  <a:pt x="113093" y="53581"/>
                </a:lnTo>
                <a:lnTo>
                  <a:pt x="53581" y="53581"/>
                </a:lnTo>
                <a:lnTo>
                  <a:pt x="15708" y="69289"/>
                </a:lnTo>
                <a:lnTo>
                  <a:pt x="17" y="107073"/>
                </a:lnTo>
                <a:lnTo>
                  <a:pt x="0" y="321475"/>
                </a:lnTo>
                <a:lnTo>
                  <a:pt x="4216" y="342314"/>
                </a:lnTo>
                <a:lnTo>
                  <a:pt x="15708" y="359348"/>
                </a:lnTo>
                <a:lnTo>
                  <a:pt x="32741" y="370840"/>
                </a:lnTo>
                <a:lnTo>
                  <a:pt x="53581" y="375056"/>
                </a:lnTo>
                <a:lnTo>
                  <a:pt x="375043" y="375056"/>
                </a:lnTo>
                <a:lnTo>
                  <a:pt x="395883" y="370840"/>
                </a:lnTo>
                <a:lnTo>
                  <a:pt x="412916" y="359348"/>
                </a:lnTo>
                <a:lnTo>
                  <a:pt x="420398" y="348259"/>
                </a:lnTo>
                <a:lnTo>
                  <a:pt x="53581" y="348259"/>
                </a:lnTo>
                <a:lnTo>
                  <a:pt x="43141" y="346158"/>
                </a:lnTo>
                <a:lnTo>
                  <a:pt x="34624" y="340425"/>
                </a:lnTo>
                <a:lnTo>
                  <a:pt x="28887" y="331912"/>
                </a:lnTo>
                <a:lnTo>
                  <a:pt x="26784" y="321475"/>
                </a:lnTo>
                <a:lnTo>
                  <a:pt x="26802" y="107073"/>
                </a:lnTo>
                <a:lnTo>
                  <a:pt x="28887" y="96723"/>
                </a:lnTo>
                <a:lnTo>
                  <a:pt x="34624" y="88206"/>
                </a:lnTo>
                <a:lnTo>
                  <a:pt x="43141" y="82468"/>
                </a:lnTo>
                <a:lnTo>
                  <a:pt x="53581" y="80365"/>
                </a:lnTo>
                <a:lnTo>
                  <a:pt x="128587" y="80365"/>
                </a:lnTo>
                <a:lnTo>
                  <a:pt x="133692" y="76695"/>
                </a:lnTo>
                <a:lnTo>
                  <a:pt x="135563" y="71158"/>
                </a:lnTo>
                <a:lnTo>
                  <a:pt x="147256" y="36004"/>
                </a:lnTo>
                <a:lnTo>
                  <a:pt x="149098" y="30480"/>
                </a:lnTo>
                <a:lnTo>
                  <a:pt x="154203" y="26797"/>
                </a:lnTo>
                <a:lnTo>
                  <a:pt x="306474" y="26797"/>
                </a:lnTo>
                <a:lnTo>
                  <a:pt x="300961" y="16250"/>
                </a:lnTo>
                <a:lnTo>
                  <a:pt x="292160" y="7580"/>
                </a:lnTo>
                <a:lnTo>
                  <a:pt x="281144" y="1984"/>
                </a:lnTo>
                <a:lnTo>
                  <a:pt x="268643" y="0"/>
                </a:lnTo>
                <a:close/>
              </a:path>
              <a:path w="428625" h="375285">
                <a:moveTo>
                  <a:pt x="306474" y="26797"/>
                </a:moveTo>
                <a:lnTo>
                  <a:pt x="274421" y="26797"/>
                </a:lnTo>
                <a:lnTo>
                  <a:pt x="279527" y="30480"/>
                </a:lnTo>
                <a:lnTo>
                  <a:pt x="281398" y="36004"/>
                </a:lnTo>
                <a:lnTo>
                  <a:pt x="293120" y="71247"/>
                </a:lnTo>
                <a:lnTo>
                  <a:pt x="294932" y="76606"/>
                </a:lnTo>
                <a:lnTo>
                  <a:pt x="300037" y="80289"/>
                </a:lnTo>
                <a:lnTo>
                  <a:pt x="375043" y="80289"/>
                </a:lnTo>
                <a:lnTo>
                  <a:pt x="385483" y="82390"/>
                </a:lnTo>
                <a:lnTo>
                  <a:pt x="394000" y="88123"/>
                </a:lnTo>
                <a:lnTo>
                  <a:pt x="399737" y="96636"/>
                </a:lnTo>
                <a:lnTo>
                  <a:pt x="401840" y="107073"/>
                </a:lnTo>
                <a:lnTo>
                  <a:pt x="401840" y="321475"/>
                </a:lnTo>
                <a:lnTo>
                  <a:pt x="399737" y="331912"/>
                </a:lnTo>
                <a:lnTo>
                  <a:pt x="394000" y="340425"/>
                </a:lnTo>
                <a:lnTo>
                  <a:pt x="385483" y="346158"/>
                </a:lnTo>
                <a:lnTo>
                  <a:pt x="375043" y="348259"/>
                </a:lnTo>
                <a:lnTo>
                  <a:pt x="420398" y="348259"/>
                </a:lnTo>
                <a:lnTo>
                  <a:pt x="424408" y="342314"/>
                </a:lnTo>
                <a:lnTo>
                  <a:pt x="428625" y="321475"/>
                </a:lnTo>
                <a:lnTo>
                  <a:pt x="428607" y="107073"/>
                </a:lnTo>
                <a:lnTo>
                  <a:pt x="424408" y="86322"/>
                </a:lnTo>
                <a:lnTo>
                  <a:pt x="412916" y="69289"/>
                </a:lnTo>
                <a:lnTo>
                  <a:pt x="395883" y="57797"/>
                </a:lnTo>
                <a:lnTo>
                  <a:pt x="375043" y="53581"/>
                </a:lnTo>
                <a:lnTo>
                  <a:pt x="315531" y="53581"/>
                </a:lnTo>
                <a:lnTo>
                  <a:pt x="306819" y="27457"/>
                </a:lnTo>
                <a:lnTo>
                  <a:pt x="306474" y="26797"/>
                </a:lnTo>
                <a:close/>
              </a:path>
              <a:path w="428625" h="375285">
                <a:moveTo>
                  <a:pt x="220472" y="120548"/>
                </a:moveTo>
                <a:lnTo>
                  <a:pt x="208153" y="120548"/>
                </a:lnTo>
                <a:lnTo>
                  <a:pt x="202057" y="121158"/>
                </a:lnTo>
                <a:lnTo>
                  <a:pt x="157099" y="139776"/>
                </a:lnTo>
                <a:lnTo>
                  <a:pt x="130048" y="172745"/>
                </a:lnTo>
                <a:lnTo>
                  <a:pt x="120548" y="208165"/>
                </a:lnTo>
                <a:lnTo>
                  <a:pt x="120548" y="220472"/>
                </a:lnTo>
                <a:lnTo>
                  <a:pt x="132930" y="261289"/>
                </a:lnTo>
                <a:lnTo>
                  <a:pt x="167347" y="295694"/>
                </a:lnTo>
                <a:lnTo>
                  <a:pt x="208153" y="308076"/>
                </a:lnTo>
                <a:lnTo>
                  <a:pt x="220472" y="308076"/>
                </a:lnTo>
                <a:lnTo>
                  <a:pt x="261277" y="295694"/>
                </a:lnTo>
                <a:lnTo>
                  <a:pt x="279940" y="281292"/>
                </a:lnTo>
                <a:lnTo>
                  <a:pt x="209918" y="281292"/>
                </a:lnTo>
                <a:lnTo>
                  <a:pt x="205562" y="280860"/>
                </a:lnTo>
                <a:lnTo>
                  <a:pt x="170065" y="264782"/>
                </a:lnTo>
                <a:lnTo>
                  <a:pt x="149479" y="231698"/>
                </a:lnTo>
                <a:lnTo>
                  <a:pt x="147345" y="218706"/>
                </a:lnTo>
                <a:lnTo>
                  <a:pt x="147345" y="209918"/>
                </a:lnTo>
                <a:lnTo>
                  <a:pt x="161074" y="173456"/>
                </a:lnTo>
                <a:lnTo>
                  <a:pt x="192747" y="150761"/>
                </a:lnTo>
                <a:lnTo>
                  <a:pt x="209918" y="147345"/>
                </a:lnTo>
                <a:lnTo>
                  <a:pt x="279940" y="147345"/>
                </a:lnTo>
                <a:lnTo>
                  <a:pt x="276263" y="143662"/>
                </a:lnTo>
                <a:lnTo>
                  <a:pt x="238645" y="123558"/>
                </a:lnTo>
                <a:lnTo>
                  <a:pt x="226568" y="121158"/>
                </a:lnTo>
                <a:lnTo>
                  <a:pt x="220472" y="120548"/>
                </a:lnTo>
                <a:close/>
              </a:path>
              <a:path w="428625" h="375285">
                <a:moveTo>
                  <a:pt x="279940" y="147345"/>
                </a:moveTo>
                <a:lnTo>
                  <a:pt x="218706" y="147345"/>
                </a:lnTo>
                <a:lnTo>
                  <a:pt x="223062" y="147764"/>
                </a:lnTo>
                <a:lnTo>
                  <a:pt x="231686" y="149491"/>
                </a:lnTo>
                <a:lnTo>
                  <a:pt x="264782" y="170065"/>
                </a:lnTo>
                <a:lnTo>
                  <a:pt x="280847" y="205562"/>
                </a:lnTo>
                <a:lnTo>
                  <a:pt x="281279" y="209918"/>
                </a:lnTo>
                <a:lnTo>
                  <a:pt x="281279" y="218706"/>
                </a:lnTo>
                <a:lnTo>
                  <a:pt x="267550" y="255181"/>
                </a:lnTo>
                <a:lnTo>
                  <a:pt x="235877" y="277876"/>
                </a:lnTo>
                <a:lnTo>
                  <a:pt x="218706" y="281292"/>
                </a:lnTo>
                <a:lnTo>
                  <a:pt x="279940" y="281292"/>
                </a:lnTo>
                <a:lnTo>
                  <a:pt x="303288" y="244513"/>
                </a:lnTo>
                <a:lnTo>
                  <a:pt x="308076" y="220472"/>
                </a:lnTo>
                <a:lnTo>
                  <a:pt x="308076" y="208165"/>
                </a:lnTo>
                <a:lnTo>
                  <a:pt x="295694" y="167347"/>
                </a:lnTo>
                <a:lnTo>
                  <a:pt x="284962" y="152374"/>
                </a:lnTo>
                <a:lnTo>
                  <a:pt x="279940" y="147345"/>
                </a:lnTo>
                <a:close/>
              </a:path>
            </a:pathLst>
          </a:custGeom>
          <a:solidFill>
            <a:srgbClr val="494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452649" y="4532032"/>
            <a:ext cx="2325370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9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19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00" spc="17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5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00" spc="24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229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00" spc="-10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00" spc="29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00" spc="-10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00" spc="1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00" spc="22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00" spc="114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155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600" spc="-4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00" spc="204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00" spc="21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00" spc="26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52639" y="4849995"/>
            <a:ext cx="2349500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8200"/>
              </a:lnSpc>
              <a:spcBef>
                <a:spcPts val="114"/>
              </a:spcBef>
            </a:pP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Registrar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monitorear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actividad</a:t>
            </a:r>
            <a:r>
              <a:rPr dirty="0" sz="1300" spc="-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física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del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dispositivo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detectar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comportamientos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h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2430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83714"/>
            <a:ext cx="8188959" cy="5276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300"/>
              <a:t>Técnicas</a:t>
            </a:r>
            <a:r>
              <a:rPr dirty="0" spc="-229"/>
              <a:t> </a:t>
            </a:r>
            <a:r>
              <a:rPr dirty="0" spc="455"/>
              <a:t>de</a:t>
            </a:r>
            <a:r>
              <a:rPr dirty="0" spc="-229"/>
              <a:t> </a:t>
            </a:r>
            <a:r>
              <a:rPr dirty="0" spc="235"/>
              <a:t>Encriptación</a:t>
            </a:r>
            <a:r>
              <a:rPr dirty="0" spc="-229"/>
              <a:t> </a:t>
            </a:r>
            <a:r>
              <a:rPr dirty="0" spc="380"/>
              <a:t>y</a:t>
            </a:r>
            <a:r>
              <a:rPr dirty="0" spc="-229"/>
              <a:t> </a:t>
            </a:r>
            <a:r>
              <a:rPr dirty="0" spc="254"/>
              <a:t>Autenticación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846107"/>
            <a:ext cx="2192655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-10">
                <a:latin typeface="Times New Roman"/>
                <a:cs typeface="Times New Roman"/>
              </a:rPr>
              <a:t>E</a:t>
            </a:r>
            <a:r>
              <a:rPr dirty="0" sz="1600" spc="195">
                <a:latin typeface="Times New Roman"/>
                <a:cs typeface="Times New Roman"/>
              </a:rPr>
              <a:t>n</a:t>
            </a:r>
            <a:r>
              <a:rPr dirty="0" sz="1600" spc="225">
                <a:latin typeface="Times New Roman"/>
                <a:cs typeface="Times New Roman"/>
              </a:rPr>
              <a:t>c</a:t>
            </a:r>
            <a:r>
              <a:rPr dirty="0" sz="1600" spc="105">
                <a:latin typeface="Times New Roman"/>
                <a:cs typeface="Times New Roman"/>
              </a:rPr>
              <a:t>r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204">
                <a:latin typeface="Times New Roman"/>
                <a:cs typeface="Times New Roman"/>
              </a:rPr>
              <a:t>p</a:t>
            </a:r>
            <a:r>
              <a:rPr dirty="0" sz="1600" spc="125">
                <a:latin typeface="Times New Roman"/>
                <a:cs typeface="Times New Roman"/>
              </a:rPr>
              <a:t>t</a:t>
            </a:r>
            <a:r>
              <a:rPr dirty="0" sz="1600" spc="210">
                <a:latin typeface="Times New Roman"/>
                <a:cs typeface="Times New Roman"/>
              </a:rPr>
              <a:t>a</a:t>
            </a:r>
            <a:r>
              <a:rPr dirty="0" sz="1600" spc="225">
                <a:latin typeface="Times New Roman"/>
                <a:cs typeface="Times New Roman"/>
              </a:rPr>
              <a:t>c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175">
                <a:latin typeface="Times New Roman"/>
                <a:cs typeface="Times New Roman"/>
              </a:rPr>
              <a:t>ó</a:t>
            </a:r>
            <a:r>
              <a:rPr dirty="0" sz="1600" spc="250">
                <a:latin typeface="Times New Roman"/>
                <a:cs typeface="Times New Roman"/>
              </a:rPr>
              <a:t>n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204">
                <a:latin typeface="Times New Roman"/>
                <a:cs typeface="Times New Roman"/>
              </a:rPr>
              <a:t>d</a:t>
            </a:r>
            <a:r>
              <a:rPr dirty="0" sz="1600" spc="295">
                <a:latin typeface="Times New Roman"/>
                <a:cs typeface="Times New Roman"/>
              </a:rPr>
              <a:t>e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5">
                <a:latin typeface="Times New Roman"/>
                <a:cs typeface="Times New Roman"/>
              </a:rPr>
              <a:t>D</a:t>
            </a:r>
            <a:r>
              <a:rPr dirty="0" sz="1600" spc="210">
                <a:latin typeface="Times New Roman"/>
                <a:cs typeface="Times New Roman"/>
              </a:rPr>
              <a:t>a</a:t>
            </a:r>
            <a:r>
              <a:rPr dirty="0" sz="1600" spc="100">
                <a:latin typeface="Times New Roman"/>
                <a:cs typeface="Times New Roman"/>
              </a:rPr>
              <a:t>t</a:t>
            </a:r>
            <a:r>
              <a:rPr dirty="0" sz="1600" spc="175">
                <a:latin typeface="Times New Roman"/>
                <a:cs typeface="Times New Roman"/>
              </a:rPr>
              <a:t>o</a:t>
            </a:r>
            <a:r>
              <a:rPr dirty="0" sz="1600" spc="32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375" y="3230744"/>
            <a:ext cx="2555875" cy="1120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120"/>
              </a:spcBef>
            </a:pPr>
            <a:r>
              <a:rPr dirty="0" sz="1300" spc="30">
                <a:solidFill>
                  <a:srgbClr val="262424"/>
                </a:solidFill>
                <a:latin typeface="Times New Roman"/>
                <a:cs typeface="Times New Roman"/>
              </a:rPr>
              <a:t>Utilizar</a:t>
            </a:r>
            <a:r>
              <a:rPr dirty="0" sz="1300" spc="-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algoritmos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criptográficos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robustos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proteger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confidencialidad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los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datos 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5851" y="2846107"/>
            <a:ext cx="2688590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45">
                <a:latin typeface="Times New Roman"/>
                <a:cs typeface="Times New Roman"/>
              </a:rPr>
              <a:t>A</a:t>
            </a:r>
            <a:r>
              <a:rPr dirty="0" sz="1600" spc="195">
                <a:latin typeface="Times New Roman"/>
                <a:cs typeface="Times New Roman"/>
              </a:rPr>
              <a:t>u</a:t>
            </a:r>
            <a:r>
              <a:rPr dirty="0" sz="1600" spc="100">
                <a:latin typeface="Times New Roman"/>
                <a:cs typeface="Times New Roman"/>
              </a:rPr>
              <a:t>t</a:t>
            </a:r>
            <a:r>
              <a:rPr dirty="0" sz="1600" spc="240">
                <a:latin typeface="Times New Roman"/>
                <a:cs typeface="Times New Roman"/>
              </a:rPr>
              <a:t>e</a:t>
            </a:r>
            <a:r>
              <a:rPr dirty="0" sz="1600" spc="195">
                <a:latin typeface="Times New Roman"/>
                <a:cs typeface="Times New Roman"/>
              </a:rPr>
              <a:t>n</a:t>
            </a:r>
            <a:r>
              <a:rPr dirty="0" sz="1600" spc="114">
                <a:latin typeface="Times New Roman"/>
                <a:cs typeface="Times New Roman"/>
              </a:rPr>
              <a:t>t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245">
                <a:latin typeface="Times New Roman"/>
                <a:cs typeface="Times New Roman"/>
              </a:rPr>
              <a:t>c</a:t>
            </a:r>
            <a:r>
              <a:rPr dirty="0" sz="1600" spc="210">
                <a:latin typeface="Times New Roman"/>
                <a:cs typeface="Times New Roman"/>
              </a:rPr>
              <a:t>a</a:t>
            </a:r>
            <a:r>
              <a:rPr dirty="0" sz="1600" spc="225">
                <a:latin typeface="Times New Roman"/>
                <a:cs typeface="Times New Roman"/>
              </a:rPr>
              <a:t>c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175">
                <a:latin typeface="Times New Roman"/>
                <a:cs typeface="Times New Roman"/>
              </a:rPr>
              <a:t>ó</a:t>
            </a:r>
            <a:r>
              <a:rPr dirty="0" sz="1600" spc="250">
                <a:latin typeface="Times New Roman"/>
                <a:cs typeface="Times New Roman"/>
              </a:rPr>
              <a:t>n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204">
                <a:latin typeface="Times New Roman"/>
                <a:cs typeface="Times New Roman"/>
              </a:rPr>
              <a:t>d</a:t>
            </a:r>
            <a:r>
              <a:rPr dirty="0" sz="1600" spc="295">
                <a:latin typeface="Times New Roman"/>
                <a:cs typeface="Times New Roman"/>
              </a:rPr>
              <a:t>e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45">
                <a:latin typeface="Times New Roman"/>
                <a:cs typeface="Times New Roman"/>
              </a:rPr>
              <a:t>F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110">
                <a:latin typeface="Times New Roman"/>
                <a:cs typeface="Times New Roman"/>
              </a:rPr>
              <a:t>r</a:t>
            </a:r>
            <a:r>
              <a:rPr dirty="0" sz="1600" spc="240">
                <a:latin typeface="Times New Roman"/>
                <a:cs typeface="Times New Roman"/>
              </a:rPr>
              <a:t>m</a:t>
            </a:r>
            <a:r>
              <a:rPr dirty="0" sz="1600" spc="215">
                <a:latin typeface="Times New Roman"/>
                <a:cs typeface="Times New Roman"/>
              </a:rPr>
              <a:t>w</a:t>
            </a:r>
            <a:r>
              <a:rPr dirty="0" sz="1600" spc="210">
                <a:latin typeface="Times New Roman"/>
                <a:cs typeface="Times New Roman"/>
              </a:rPr>
              <a:t>a</a:t>
            </a:r>
            <a:r>
              <a:rPr dirty="0" sz="1600" spc="55">
                <a:latin typeface="Times New Roman"/>
                <a:cs typeface="Times New Roman"/>
              </a:rPr>
              <a:t>r</a:t>
            </a:r>
            <a:r>
              <a:rPr dirty="0" sz="1600" spc="295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5849" y="3230744"/>
            <a:ext cx="3044190" cy="1120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120"/>
              </a:spcBef>
            </a:pP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Implementar 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mecanismos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firma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digital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verificación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62424"/>
                </a:solidFill>
                <a:latin typeface="Times New Roman"/>
                <a:cs typeface="Times New Roman"/>
              </a:rPr>
              <a:t>integridad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asegurar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autenticidad del </a:t>
            </a: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software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4340" y="2846107"/>
            <a:ext cx="2543175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10">
                <a:latin typeface="Times New Roman"/>
                <a:cs typeface="Times New Roman"/>
              </a:rPr>
              <a:t>A</a:t>
            </a:r>
            <a:r>
              <a:rPr dirty="0" sz="1600" spc="204">
                <a:latin typeface="Times New Roman"/>
                <a:cs typeface="Times New Roman"/>
              </a:rPr>
              <a:t>d</a:t>
            </a:r>
            <a:r>
              <a:rPr dirty="0" sz="1600" spc="240">
                <a:latin typeface="Times New Roman"/>
                <a:cs typeface="Times New Roman"/>
              </a:rPr>
              <a:t>m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195">
                <a:latin typeface="Times New Roman"/>
                <a:cs typeface="Times New Roman"/>
              </a:rPr>
              <a:t>n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265">
                <a:latin typeface="Times New Roman"/>
                <a:cs typeface="Times New Roman"/>
              </a:rPr>
              <a:t>s</a:t>
            </a:r>
            <a:r>
              <a:rPr dirty="0" sz="1600" spc="114">
                <a:latin typeface="Times New Roman"/>
                <a:cs typeface="Times New Roman"/>
              </a:rPr>
              <a:t>t</a:t>
            </a:r>
            <a:r>
              <a:rPr dirty="0" sz="1600" spc="75">
                <a:latin typeface="Times New Roman"/>
                <a:cs typeface="Times New Roman"/>
              </a:rPr>
              <a:t>r</a:t>
            </a:r>
            <a:r>
              <a:rPr dirty="0" sz="1600" spc="210">
                <a:latin typeface="Times New Roman"/>
                <a:cs typeface="Times New Roman"/>
              </a:rPr>
              <a:t>a</a:t>
            </a:r>
            <a:r>
              <a:rPr dirty="0" sz="1600" spc="225">
                <a:latin typeface="Times New Roman"/>
                <a:cs typeface="Times New Roman"/>
              </a:rPr>
              <a:t>c</a:t>
            </a:r>
            <a:r>
              <a:rPr dirty="0" sz="1600" spc="-45">
                <a:latin typeface="Times New Roman"/>
                <a:cs typeface="Times New Roman"/>
              </a:rPr>
              <a:t>i</a:t>
            </a:r>
            <a:r>
              <a:rPr dirty="0" sz="1600" spc="175">
                <a:latin typeface="Times New Roman"/>
                <a:cs typeface="Times New Roman"/>
              </a:rPr>
              <a:t>ó</a:t>
            </a:r>
            <a:r>
              <a:rPr dirty="0" sz="1600" spc="250">
                <a:latin typeface="Times New Roman"/>
                <a:cs typeface="Times New Roman"/>
              </a:rPr>
              <a:t>n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204">
                <a:latin typeface="Times New Roman"/>
                <a:cs typeface="Times New Roman"/>
              </a:rPr>
              <a:t>d</a:t>
            </a:r>
            <a:r>
              <a:rPr dirty="0" sz="1600" spc="295">
                <a:latin typeface="Times New Roman"/>
                <a:cs typeface="Times New Roman"/>
              </a:rPr>
              <a:t>e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125">
                <a:latin typeface="Times New Roman"/>
                <a:cs typeface="Times New Roman"/>
              </a:rPr>
              <a:t>C</a:t>
            </a:r>
            <a:r>
              <a:rPr dirty="0" sz="1600" spc="-45">
                <a:latin typeface="Times New Roman"/>
                <a:cs typeface="Times New Roman"/>
              </a:rPr>
              <a:t>l</a:t>
            </a:r>
            <a:r>
              <a:rPr dirty="0" sz="1600" spc="185">
                <a:latin typeface="Times New Roman"/>
                <a:cs typeface="Times New Roman"/>
              </a:rPr>
              <a:t>a</a:t>
            </a:r>
            <a:r>
              <a:rPr dirty="0" sz="1600" spc="125">
                <a:latin typeface="Times New Roman"/>
                <a:cs typeface="Times New Roman"/>
              </a:rPr>
              <a:t>v</a:t>
            </a:r>
            <a:r>
              <a:rPr dirty="0" sz="1600" spc="240">
                <a:latin typeface="Times New Roman"/>
                <a:cs typeface="Times New Roman"/>
              </a:rPr>
              <a:t>e</a:t>
            </a:r>
            <a:r>
              <a:rPr dirty="0" sz="1600" spc="32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4339" y="3230744"/>
            <a:ext cx="3094355" cy="854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95"/>
              </a:spcBef>
            </a:pP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Establecer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procesos seguros 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para 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la 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,</a:t>
            </a:r>
            <a:r>
              <a:rPr dirty="0" sz="400">
                <a:solidFill>
                  <a:srgbClr val="262424"/>
                </a:solidFill>
                <a:latin typeface="Times New Roman"/>
                <a:cs typeface="Times New Roman"/>
              </a:rPr>
              <a:t>  </a:t>
            </a:r>
            <a:r>
              <a:rPr dirty="0" sz="400" spc="2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ó</a:t>
            </a:r>
            <a:r>
              <a:rPr dirty="0" sz="1300" spc="95">
                <a:solidFill>
                  <a:srgbClr val="262424"/>
                </a:solidFill>
                <a:latin typeface="Times New Roman"/>
                <a:cs typeface="Times New Roman"/>
              </a:rPr>
              <a:t>n 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21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3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á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f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400" spc="2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590290">
              <a:lnSpc>
                <a:spcPct val="100000"/>
              </a:lnSpc>
              <a:spcBef>
                <a:spcPts val="114"/>
              </a:spcBef>
            </a:pPr>
            <a:r>
              <a:rPr dirty="0" spc="265"/>
              <a:t>S</a:t>
            </a:r>
            <a:r>
              <a:rPr dirty="0" spc="440"/>
              <a:t>e</a:t>
            </a:r>
            <a:r>
              <a:rPr dirty="0" spc="375"/>
              <a:t>g</a:t>
            </a:r>
            <a:r>
              <a:rPr dirty="0" spc="345"/>
              <a:t>u</a:t>
            </a:r>
            <a:r>
              <a:rPr dirty="0" spc="185"/>
              <a:t>r</a:t>
            </a:r>
            <a:r>
              <a:rPr dirty="0" spc="-110"/>
              <a:t>i</a:t>
            </a:r>
            <a:r>
              <a:rPr dirty="0" spc="370"/>
              <a:t>d</a:t>
            </a:r>
            <a:r>
              <a:rPr dirty="0" spc="385"/>
              <a:t>a</a:t>
            </a:r>
            <a:r>
              <a:rPr dirty="0" spc="475"/>
              <a:t>d</a:t>
            </a:r>
            <a:r>
              <a:rPr dirty="0" spc="-229"/>
              <a:t> </a:t>
            </a:r>
            <a:r>
              <a:rPr dirty="0" spc="440"/>
              <a:t>e</a:t>
            </a:r>
            <a:r>
              <a:rPr dirty="0" spc="450"/>
              <a:t>n</a:t>
            </a:r>
            <a:r>
              <a:rPr dirty="0" spc="-229"/>
              <a:t> </a:t>
            </a:r>
            <a:r>
              <a:rPr dirty="0" spc="265"/>
              <a:t>S</a:t>
            </a:r>
            <a:r>
              <a:rPr dirty="0" spc="-110"/>
              <a:t>i</a:t>
            </a:r>
            <a:r>
              <a:rPr dirty="0" spc="500"/>
              <a:t>s</a:t>
            </a:r>
            <a:r>
              <a:rPr dirty="0" spc="180"/>
              <a:t>t</a:t>
            </a:r>
            <a:r>
              <a:rPr dirty="0" spc="440"/>
              <a:t>e</a:t>
            </a:r>
            <a:r>
              <a:rPr dirty="0" spc="405"/>
              <a:t>m</a:t>
            </a:r>
            <a:r>
              <a:rPr dirty="0" spc="385"/>
              <a:t>a</a:t>
            </a:r>
            <a:r>
              <a:rPr dirty="0" spc="605"/>
              <a:t>s</a:t>
            </a:r>
            <a:r>
              <a:rPr dirty="0" spc="-229"/>
              <a:t> </a:t>
            </a:r>
            <a:r>
              <a:rPr dirty="0" spc="-260"/>
              <a:t>I</a:t>
            </a:r>
            <a:r>
              <a:rPr dirty="0" spc="50"/>
              <a:t>o</a:t>
            </a:r>
            <a:r>
              <a:rPr dirty="0" spc="235"/>
              <a:t>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50625" y="1552574"/>
            <a:ext cx="971550" cy="4124325"/>
            <a:chOff x="4950625" y="1552574"/>
            <a:chExt cx="971550" cy="4124325"/>
          </a:xfrm>
        </p:grpSpPr>
        <p:sp>
          <p:nvSpPr>
            <p:cNvPr id="5" name="object 5"/>
            <p:cNvSpPr/>
            <p:nvPr/>
          </p:nvSpPr>
          <p:spPr>
            <a:xfrm>
              <a:off x="5133975" y="1552574"/>
              <a:ext cx="788670" cy="4124960"/>
            </a:xfrm>
            <a:custGeom>
              <a:avLst/>
              <a:gdLst/>
              <a:ahLst/>
              <a:cxnLst/>
              <a:rect l="l" t="t" r="r" b="b"/>
              <a:pathLst>
                <a:path w="788670" h="412496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14812"/>
                  </a:lnTo>
                  <a:lnTo>
                    <a:pt x="0" y="4117441"/>
                  </a:lnTo>
                  <a:lnTo>
                    <a:pt x="927" y="4119676"/>
                  </a:lnTo>
                  <a:lnTo>
                    <a:pt x="4648" y="4123398"/>
                  </a:lnTo>
                  <a:lnTo>
                    <a:pt x="6896" y="4124337"/>
                  </a:lnTo>
                  <a:lnTo>
                    <a:pt x="12153" y="4124337"/>
                  </a:lnTo>
                  <a:lnTo>
                    <a:pt x="14401" y="4123398"/>
                  </a:lnTo>
                  <a:lnTo>
                    <a:pt x="18122" y="4119676"/>
                  </a:lnTo>
                  <a:lnTo>
                    <a:pt x="19050" y="4117441"/>
                  </a:lnTo>
                  <a:lnTo>
                    <a:pt x="19050" y="6896"/>
                  </a:lnTo>
                  <a:close/>
                </a:path>
                <a:path w="788670" h="412496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73" y="372402"/>
                  </a:lnTo>
                  <a:lnTo>
                    <a:pt x="189039" y="376123"/>
                  </a:lnTo>
                  <a:lnTo>
                    <a:pt x="188125" y="378371"/>
                  </a:lnTo>
                  <a:lnTo>
                    <a:pt x="188125" y="381000"/>
                  </a:lnTo>
                  <a:lnTo>
                    <a:pt x="188125" y="383628"/>
                  </a:lnTo>
                  <a:lnTo>
                    <a:pt x="189039" y="385876"/>
                  </a:lnTo>
                  <a:lnTo>
                    <a:pt x="192773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55387" y="17478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25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55387" y="17478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42" y="13614"/>
                  </a:lnTo>
                  <a:lnTo>
                    <a:pt x="364807" y="16179"/>
                  </a:lnTo>
                  <a:lnTo>
                    <a:pt x="367372" y="18745"/>
                  </a:lnTo>
                  <a:lnTo>
                    <a:pt x="369671" y="21539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900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50"/>
                  </a:lnTo>
                  <a:lnTo>
                    <a:pt x="369671" y="359460"/>
                  </a:lnTo>
                  <a:lnTo>
                    <a:pt x="367372" y="362254"/>
                  </a:lnTo>
                  <a:lnTo>
                    <a:pt x="364807" y="364820"/>
                  </a:lnTo>
                  <a:lnTo>
                    <a:pt x="362242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15" y="359460"/>
                  </a:lnTo>
                  <a:lnTo>
                    <a:pt x="9309" y="356450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37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79161" y="1823997"/>
            <a:ext cx="136525" cy="256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120">
                <a:solidFill>
                  <a:srgbClr val="262424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3780" y="1710120"/>
            <a:ext cx="147510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30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ñ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130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18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4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3780" y="2030243"/>
            <a:ext cx="422846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100"/>
              </a:spcBef>
            </a:pPr>
            <a:r>
              <a:rPr dirty="0" sz="1300" spc="55">
                <a:solidFill>
                  <a:srgbClr val="262424"/>
                </a:solidFill>
                <a:latin typeface="Times New Roman"/>
                <a:cs typeface="Times New Roman"/>
              </a:rPr>
              <a:t>Aplicar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principios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262424"/>
                </a:solidFill>
                <a:latin typeface="Times New Roman"/>
                <a:cs typeface="Times New Roman"/>
              </a:rPr>
              <a:t>seguridad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0">
                <a:solidFill>
                  <a:srgbClr val="262424"/>
                </a:solidFill>
                <a:latin typeface="Times New Roman"/>
                <a:cs typeface="Times New Roman"/>
              </a:rPr>
              <a:t>desde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el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diseño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los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-10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2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z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b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ili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50625" y="3181349"/>
            <a:ext cx="971550" cy="381000"/>
            <a:chOff x="4950625" y="3181349"/>
            <a:chExt cx="971550" cy="381000"/>
          </a:xfrm>
        </p:grpSpPr>
        <p:sp>
          <p:nvSpPr>
            <p:cNvPr id="12" name="object 12"/>
            <p:cNvSpPr/>
            <p:nvPr/>
          </p:nvSpPr>
          <p:spPr>
            <a:xfrm>
              <a:off x="5322100" y="3362324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55387" y="3186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74" y="371475"/>
                  </a:lnTo>
                  <a:lnTo>
                    <a:pt x="367372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5387" y="3186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43535" y="2819"/>
                  </a:lnTo>
                  <a:lnTo>
                    <a:pt x="346887" y="4203"/>
                  </a:lnTo>
                  <a:lnTo>
                    <a:pt x="350240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22" y="330568"/>
                  </a:lnTo>
                  <a:lnTo>
                    <a:pt x="378180" y="334022"/>
                  </a:lnTo>
                  <a:lnTo>
                    <a:pt x="376783" y="337375"/>
                  </a:lnTo>
                  <a:lnTo>
                    <a:pt x="375399" y="340728"/>
                  </a:lnTo>
                  <a:lnTo>
                    <a:pt x="373697" y="343903"/>
                  </a:lnTo>
                  <a:lnTo>
                    <a:pt x="371678" y="346913"/>
                  </a:lnTo>
                  <a:lnTo>
                    <a:pt x="369671" y="34993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74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15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06" y="334022"/>
                  </a:lnTo>
                  <a:lnTo>
                    <a:pt x="1765" y="330568"/>
                  </a:lnTo>
                  <a:lnTo>
                    <a:pt x="1054" y="327012"/>
                  </a:lnTo>
                  <a:lnTo>
                    <a:pt x="342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53558" y="3252747"/>
            <a:ext cx="187960" cy="256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525">
                <a:solidFill>
                  <a:srgbClr val="262424"/>
                </a:solidFill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3771" y="3138870"/>
            <a:ext cx="4333875" cy="898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25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10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li</a:t>
            </a:r>
            <a:r>
              <a:rPr dirty="0" sz="1650" spc="175">
                <a:solidFill>
                  <a:srgbClr val="262424"/>
                </a:solidFill>
                <a:latin typeface="Times New Roman"/>
                <a:cs typeface="Times New Roman"/>
              </a:rPr>
              <a:t>z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300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9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11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8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300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9400"/>
              </a:lnSpc>
              <a:spcBef>
                <a:spcPts val="530"/>
              </a:spcBef>
            </a:pPr>
            <a:r>
              <a:rPr dirty="0" sz="1300" spc="110">
                <a:solidFill>
                  <a:srgbClr val="262424"/>
                </a:solidFill>
                <a:latin typeface="Times New Roman"/>
                <a:cs typeface="Times New Roman"/>
              </a:rPr>
              <a:t>Mantener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los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sistemas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IoT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actualizados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con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parches</a:t>
            </a:r>
            <a:r>
              <a:rPr dirty="0" sz="1300" spc="-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4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7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70">
                <a:solidFill>
                  <a:srgbClr val="262424"/>
                </a:solidFill>
                <a:latin typeface="Times New Roman"/>
                <a:cs typeface="Times New Roman"/>
              </a:rPr>
              <a:t>v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z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50625" y="4610100"/>
            <a:ext cx="971550" cy="390525"/>
            <a:chOff x="4950625" y="4610100"/>
            <a:chExt cx="971550" cy="390525"/>
          </a:xfrm>
        </p:grpSpPr>
        <p:sp>
          <p:nvSpPr>
            <p:cNvPr id="18" name="object 18"/>
            <p:cNvSpPr/>
            <p:nvPr/>
          </p:nvSpPr>
          <p:spPr>
            <a:xfrm>
              <a:off x="5322100" y="479107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55387" y="46148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55387" y="46148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900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38"/>
                  </a:lnTo>
                  <a:lnTo>
                    <a:pt x="369671" y="359460"/>
                  </a:lnTo>
                  <a:lnTo>
                    <a:pt x="367372" y="362254"/>
                  </a:lnTo>
                  <a:lnTo>
                    <a:pt x="364807" y="364820"/>
                  </a:lnTo>
                  <a:lnTo>
                    <a:pt x="362242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15" y="359460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37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051628" y="4691022"/>
            <a:ext cx="191770" cy="256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555">
                <a:solidFill>
                  <a:srgbClr val="262424"/>
                </a:solidFill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3780" y="4577145"/>
            <a:ext cx="4145915" cy="898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5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650" spc="-60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650" spc="8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150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4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04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190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650" spc="-114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180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650" spc="170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650" spc="21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650" spc="11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650" spc="245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39400"/>
              </a:lnSpc>
              <a:spcBef>
                <a:spcPts val="530"/>
              </a:spcBef>
            </a:pP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Implementar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sistemas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de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62424"/>
                </a:solidFill>
                <a:latin typeface="Times New Roman"/>
                <a:cs typeface="Times New Roman"/>
              </a:rPr>
              <a:t>monitoreo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62424"/>
                </a:solidFill>
                <a:latin typeface="Times New Roman"/>
                <a:cs typeface="Times New Roman"/>
              </a:rPr>
              <a:t>y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262424"/>
                </a:solidFill>
                <a:latin typeface="Times New Roman"/>
                <a:cs typeface="Times New Roman"/>
              </a:rPr>
              <a:t>respuesta</a:t>
            </a:r>
            <a:r>
              <a:rPr dirty="0" sz="1300" spc="5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62424"/>
                </a:solidFill>
                <a:latin typeface="Times New Roman"/>
                <a:cs typeface="Times New Roman"/>
              </a:rPr>
              <a:t>ante </a:t>
            </a:r>
            <a:r>
              <a:rPr dirty="0" sz="1300" spc="-31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160">
                <a:solidFill>
                  <a:srgbClr val="262424"/>
                </a:solidFill>
                <a:latin typeface="Times New Roman"/>
                <a:cs typeface="Times New Roman"/>
              </a:rPr>
              <a:t>c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 spc="35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204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21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s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g</a:t>
            </a:r>
            <a:r>
              <a:rPr dirty="0" sz="1300" spc="114">
                <a:solidFill>
                  <a:srgbClr val="262424"/>
                </a:solidFill>
                <a:latin typeface="Times New Roman"/>
                <a:cs typeface="Times New Roman"/>
              </a:rPr>
              <a:t>u</a:t>
            </a:r>
            <a:r>
              <a:rPr dirty="0" sz="1300" spc="60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175">
                <a:solidFill>
                  <a:srgbClr val="262424"/>
                </a:solidFill>
                <a:latin typeface="Times New Roman"/>
                <a:cs typeface="Times New Roman"/>
              </a:rPr>
              <a:t>d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n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62424"/>
                </a:solidFill>
                <a:latin typeface="Times New Roman"/>
                <a:cs typeface="Times New Roman"/>
              </a:rPr>
              <a:t>t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i</a:t>
            </a:r>
            <a:r>
              <a:rPr dirty="0" sz="1300" spc="180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40">
                <a:solidFill>
                  <a:srgbClr val="262424"/>
                </a:solidFill>
                <a:latin typeface="Times New Roman"/>
                <a:cs typeface="Times New Roman"/>
              </a:rPr>
              <a:t>m</a:t>
            </a:r>
            <a:r>
              <a:rPr dirty="0" sz="1300" spc="145">
                <a:solidFill>
                  <a:srgbClr val="262424"/>
                </a:solidFill>
                <a:latin typeface="Times New Roman"/>
                <a:cs typeface="Times New Roman"/>
              </a:rPr>
              <a:t>p</a:t>
            </a:r>
            <a:r>
              <a:rPr dirty="0" sz="1300" spc="155">
                <a:solidFill>
                  <a:srgbClr val="262424"/>
                </a:solidFill>
                <a:latin typeface="Times New Roman"/>
                <a:cs typeface="Times New Roman"/>
              </a:rPr>
              <a:t>o</a:t>
            </a:r>
            <a:r>
              <a:rPr dirty="0" sz="1300">
                <a:solidFill>
                  <a:srgbClr val="262424"/>
                </a:solidFill>
                <a:latin typeface="Times New Roman"/>
                <a:cs typeface="Times New Roman"/>
              </a:rPr>
              <a:t> </a:t>
            </a:r>
            <a:r>
              <a:rPr dirty="0" sz="1300" spc="25">
                <a:solidFill>
                  <a:srgbClr val="262424"/>
                </a:solidFill>
                <a:latin typeface="Times New Roman"/>
                <a:cs typeface="Times New Roman"/>
              </a:rPr>
              <a:t>r</a:t>
            </a:r>
            <a:r>
              <a:rPr dirty="0" sz="1300" spc="195">
                <a:solidFill>
                  <a:srgbClr val="262424"/>
                </a:solidFill>
                <a:latin typeface="Times New Roman"/>
                <a:cs typeface="Times New Roman"/>
              </a:rPr>
              <a:t>e</a:t>
            </a:r>
            <a:r>
              <a:rPr dirty="0" sz="1300" spc="150">
                <a:solidFill>
                  <a:srgbClr val="262424"/>
                </a:solidFill>
                <a:latin typeface="Times New Roman"/>
                <a:cs typeface="Times New Roman"/>
              </a:rPr>
              <a:t>a</a:t>
            </a:r>
            <a:r>
              <a:rPr dirty="0" sz="1300" spc="-65">
                <a:solidFill>
                  <a:srgbClr val="262424"/>
                </a:solidFill>
                <a:latin typeface="Times New Roman"/>
                <a:cs typeface="Times New Roman"/>
              </a:rPr>
              <a:t>l</a:t>
            </a:r>
            <a:r>
              <a:rPr dirty="0" sz="150" spc="185">
                <a:solidFill>
                  <a:srgbClr val="262424"/>
                </a:solidFill>
                <a:latin typeface="Times New Roman"/>
                <a:cs typeface="Times New Roman"/>
              </a:rPr>
              <a:t>.</a:t>
            </a:r>
            <a:endParaRPr sz="15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2024-11-05T06:27:28Z</dcterms:created>
  <dcterms:modified xsi:type="dcterms:W3CDTF">2024-11-05T06:27:28Z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