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1430000" cy="7969250"/>
  <p:notesSz cx="11430000" cy="79692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49375" y="423068"/>
            <a:ext cx="8731250" cy="1127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50009" y="1690370"/>
            <a:ext cx="8729980" cy="15519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690370"/>
            <a:ext cx="5206365" cy="155194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6150"/>
              </a:lnSpc>
            </a:pPr>
            <a:r>
              <a:rPr dirty="0" sz="4900" spc="-370"/>
              <a:t>I</a:t>
            </a:r>
            <a:r>
              <a:rPr dirty="0" sz="4900" spc="-360"/>
              <a:t>n</a:t>
            </a:r>
            <a:r>
              <a:rPr dirty="0" sz="4900" spc="-185"/>
              <a:t>t</a:t>
            </a:r>
            <a:r>
              <a:rPr dirty="0" sz="4900" spc="-440"/>
              <a:t>r</a:t>
            </a:r>
            <a:r>
              <a:rPr dirty="0" sz="4900" spc="-409"/>
              <a:t>o</a:t>
            </a:r>
            <a:r>
              <a:rPr dirty="0" sz="4900" spc="-355"/>
              <a:t>d</a:t>
            </a:r>
            <a:r>
              <a:rPr dirty="0" sz="4900" spc="-360"/>
              <a:t>u</a:t>
            </a:r>
            <a:r>
              <a:rPr dirty="0" sz="4900" spc="-185"/>
              <a:t>cc</a:t>
            </a:r>
            <a:r>
              <a:rPr dirty="0" sz="4900" spc="-90"/>
              <a:t>i</a:t>
            </a:r>
            <a:r>
              <a:rPr dirty="0" sz="4900" spc="-409"/>
              <a:t>ó</a:t>
            </a:r>
            <a:r>
              <a:rPr dirty="0" sz="4900" spc="-320"/>
              <a:t>n</a:t>
            </a:r>
            <a:r>
              <a:rPr dirty="0" sz="4900" spc="-175"/>
              <a:t> </a:t>
            </a:r>
            <a:r>
              <a:rPr dirty="0" sz="4900" spc="-370"/>
              <a:t>a</a:t>
            </a:r>
            <a:r>
              <a:rPr dirty="0" sz="4900" spc="-175"/>
              <a:t> </a:t>
            </a:r>
            <a:r>
              <a:rPr dirty="0" sz="4900" spc="-120"/>
              <a:t>l</a:t>
            </a:r>
            <a:r>
              <a:rPr dirty="0" sz="4900" spc="-409"/>
              <a:t>o</a:t>
            </a:r>
            <a:r>
              <a:rPr dirty="0" sz="4900" spc="-180"/>
              <a:t>s  </a:t>
            </a:r>
            <a:r>
              <a:rPr dirty="0" sz="4900" spc="-275"/>
              <a:t>s</a:t>
            </a:r>
            <a:r>
              <a:rPr dirty="0" sz="4900" spc="-90"/>
              <a:t>i</a:t>
            </a:r>
            <a:r>
              <a:rPr dirty="0" sz="4900" spc="-275"/>
              <a:t>s</a:t>
            </a:r>
            <a:r>
              <a:rPr dirty="0" sz="4900" spc="-185"/>
              <a:t>t</a:t>
            </a:r>
            <a:r>
              <a:rPr dirty="0" sz="4900" spc="-340"/>
              <a:t>e</a:t>
            </a:r>
            <a:r>
              <a:rPr dirty="0" sz="4900" spc="-540"/>
              <a:t>m</a:t>
            </a:r>
            <a:r>
              <a:rPr dirty="0" sz="4900" spc="-375"/>
              <a:t>a</a:t>
            </a:r>
            <a:r>
              <a:rPr dirty="0" sz="4900" spc="-270"/>
              <a:t>s</a:t>
            </a:r>
            <a:r>
              <a:rPr dirty="0" sz="4900" spc="-175"/>
              <a:t> </a:t>
            </a:r>
            <a:r>
              <a:rPr dirty="0" sz="4900" spc="-370"/>
              <a:t>I</a:t>
            </a:r>
            <a:r>
              <a:rPr dirty="0" sz="4900" spc="-409"/>
              <a:t>o</a:t>
            </a:r>
            <a:r>
              <a:rPr dirty="0" sz="4900" spc="-204"/>
              <a:t>T</a:t>
            </a:r>
            <a:endParaRPr sz="4900"/>
          </a:p>
        </p:txBody>
      </p:sp>
      <p:sp>
        <p:nvSpPr>
          <p:cNvPr id="4" name="object 4"/>
          <p:cNvSpPr txBox="1"/>
          <p:nvPr/>
        </p:nvSpPr>
        <p:spPr>
          <a:xfrm>
            <a:off x="4873625" y="3507740"/>
            <a:ext cx="5598160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85">
                <a:solidFill>
                  <a:srgbClr val="262424"/>
                </a:solidFill>
                <a:latin typeface="Tahoma"/>
                <a:cs typeface="Tahoma"/>
              </a:rPr>
              <a:t>Los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62424"/>
                </a:solidFill>
                <a:latin typeface="Tahoma"/>
                <a:cs typeface="Tahoma"/>
              </a:rPr>
              <a:t>sistemas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Tahoma"/>
                <a:cs typeface="Tahoma"/>
              </a:rPr>
              <a:t>IoT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5">
                <a:solidFill>
                  <a:srgbClr val="262424"/>
                </a:solidFill>
                <a:latin typeface="Tahoma"/>
                <a:cs typeface="Tahoma"/>
              </a:rPr>
              <a:t>(Internet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262424"/>
                </a:solidFill>
                <a:latin typeface="Tahoma"/>
                <a:cs typeface="Tahoma"/>
              </a:rPr>
              <a:t>of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Things)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62424"/>
                </a:solidFill>
                <a:latin typeface="Tahoma"/>
                <a:cs typeface="Tahoma"/>
              </a:rPr>
              <a:t>se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62424"/>
                </a:solidFill>
                <a:latin typeface="Tahoma"/>
                <a:cs typeface="Tahoma"/>
              </a:rPr>
              <a:t>basan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62424"/>
                </a:solidFill>
                <a:latin typeface="Tahoma"/>
                <a:cs typeface="Tahoma"/>
              </a:rPr>
              <a:t>en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la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interconexión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262424"/>
                </a:solidFill>
                <a:latin typeface="Tahoma"/>
                <a:cs typeface="Tahoma"/>
              </a:rPr>
              <a:t>de </a:t>
            </a:r>
            <a:r>
              <a:rPr dirty="0" sz="1350" spc="-409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62424"/>
                </a:solidFill>
                <a:latin typeface="Tahoma"/>
                <a:cs typeface="Tahoma"/>
              </a:rPr>
              <a:t>diversos</a:t>
            </a:r>
            <a:r>
              <a:rPr dirty="0" sz="1350" spc="-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62424"/>
                </a:solidFill>
                <a:latin typeface="Tahoma"/>
                <a:cs typeface="Tahoma"/>
              </a:rPr>
              <a:t>dispositivos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8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262424"/>
                </a:solidFill>
                <a:latin typeface="Tahoma"/>
                <a:cs typeface="Tahoma"/>
              </a:rPr>
              <a:t>sensores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62424"/>
                </a:solidFill>
                <a:latin typeface="Tahoma"/>
                <a:cs typeface="Tahoma"/>
              </a:rPr>
              <a:t>que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62424"/>
                </a:solidFill>
                <a:latin typeface="Tahoma"/>
                <a:cs typeface="Tahoma"/>
              </a:rPr>
              <a:t>recopilan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8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transmiten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62424"/>
                </a:solidFill>
                <a:latin typeface="Tahoma"/>
                <a:cs typeface="Tahoma"/>
              </a:rPr>
              <a:t>datos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62424"/>
                </a:solidFill>
                <a:latin typeface="Tahoma"/>
                <a:cs typeface="Tahoma"/>
              </a:rPr>
              <a:t>en </a:t>
            </a:r>
            <a:r>
              <a:rPr dirty="0" sz="1350" spc="-4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262424"/>
                </a:solidFill>
                <a:latin typeface="Tahoma"/>
                <a:cs typeface="Tahoma"/>
              </a:rPr>
              <a:t>tiempo </a:t>
            </a:r>
            <a:r>
              <a:rPr dirty="0" sz="1350" spc="25">
                <a:solidFill>
                  <a:srgbClr val="262424"/>
                </a:solidFill>
                <a:latin typeface="Tahoma"/>
                <a:cs typeface="Tahoma"/>
              </a:rPr>
              <a:t>real,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permitiendo </a:t>
            </a:r>
            <a:r>
              <a:rPr dirty="0" sz="1350" spc="40">
                <a:solidFill>
                  <a:srgbClr val="262424"/>
                </a:solidFill>
                <a:latin typeface="Tahoma"/>
                <a:cs typeface="Tahoma"/>
              </a:rPr>
              <a:t>un monitoreo </a:t>
            </a:r>
            <a:r>
              <a:rPr dirty="0" sz="1350" spc="85">
                <a:solidFill>
                  <a:srgbClr val="262424"/>
                </a:solidFill>
                <a:latin typeface="Tahoma"/>
                <a:cs typeface="Tahoma"/>
              </a:rPr>
              <a:t>y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control </a:t>
            </a:r>
            <a:r>
              <a:rPr dirty="0" sz="1350" spc="65">
                <a:solidFill>
                  <a:srgbClr val="262424"/>
                </a:solidFill>
                <a:latin typeface="Tahoma"/>
                <a:cs typeface="Tahoma"/>
              </a:rPr>
              <a:t>más </a:t>
            </a:r>
            <a:r>
              <a:rPr dirty="0" sz="1350" spc="55">
                <a:solidFill>
                  <a:srgbClr val="262424"/>
                </a:solidFill>
                <a:latin typeface="Tahoma"/>
                <a:cs typeface="Tahoma"/>
              </a:rPr>
              <a:t>eficiente </a:t>
            </a:r>
            <a:r>
              <a:rPr dirty="0" sz="1350" spc="70">
                <a:solidFill>
                  <a:srgbClr val="262424"/>
                </a:solidFill>
                <a:latin typeface="Tahoma"/>
                <a:cs typeface="Tahoma"/>
              </a:rPr>
              <a:t>de </a:t>
            </a:r>
            <a:r>
              <a:rPr dirty="0" sz="1350" spc="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procesos</a:t>
            </a:r>
            <a:r>
              <a:rPr dirty="0" sz="1350" spc="-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8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350" spc="-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entornos.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670843"/>
            <a:ext cx="9367520" cy="1127760"/>
          </a:xfrm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15"/>
              </a:spcBef>
            </a:pPr>
            <a:r>
              <a:rPr dirty="0" spc="-250"/>
              <a:t>Componentes</a:t>
            </a:r>
            <a:r>
              <a:rPr dirty="0" spc="-125"/>
              <a:t> </a:t>
            </a:r>
            <a:r>
              <a:rPr dirty="0" spc="-240"/>
              <a:t>de</a:t>
            </a:r>
            <a:r>
              <a:rPr dirty="0" spc="-125"/>
              <a:t> </a:t>
            </a:r>
            <a:r>
              <a:rPr dirty="0" spc="-305"/>
              <a:t>hardware</a:t>
            </a:r>
            <a:r>
              <a:rPr dirty="0" spc="-120"/>
              <a:t> </a:t>
            </a:r>
            <a:r>
              <a:rPr dirty="0" spc="-185"/>
              <a:t>y</a:t>
            </a:r>
            <a:r>
              <a:rPr dirty="0" spc="-125"/>
              <a:t> </a:t>
            </a:r>
            <a:r>
              <a:rPr dirty="0" spc="-180"/>
              <a:t>especificaciones </a:t>
            </a:r>
            <a:r>
              <a:rPr dirty="0" spc="-885"/>
              <a:t> </a:t>
            </a:r>
            <a:r>
              <a:rPr dirty="0" spc="-215"/>
              <a:t>clave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3248469"/>
            <a:ext cx="3090545" cy="12757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110" b="1">
                <a:latin typeface="Georgia"/>
                <a:cs typeface="Georgia"/>
              </a:rPr>
              <a:t>Microcontroladores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1195"/>
              </a:spcBef>
            </a:pP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Chip</a:t>
            </a:r>
            <a:r>
              <a:rPr dirty="0" sz="1350" spc="-1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62424"/>
                </a:solidFill>
                <a:latin typeface="Verdana"/>
                <a:cs typeface="Verdana"/>
              </a:rPr>
              <a:t>b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ajo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consum</a:t>
            </a:r>
            <a:r>
              <a:rPr dirty="0" sz="1350" spc="-3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qu</a:t>
            </a:r>
            <a:r>
              <a:rPr dirty="0" sz="1350" spc="-3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ocesan 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lo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da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5">
                <a:solidFill>
                  <a:srgbClr val="262424"/>
                </a:solidFill>
                <a:latin typeface="Verdana"/>
                <a:cs typeface="Verdana"/>
              </a:rPr>
              <a:t>os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cont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olan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lo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dispositi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v</a:t>
            </a:r>
            <a:r>
              <a:rPr dirty="0" sz="1350" spc="-5">
                <a:solidFill>
                  <a:srgbClr val="262424"/>
                </a:solidFill>
                <a:latin typeface="Verdana"/>
                <a:cs typeface="Verdana"/>
              </a:rPr>
              <a:t>os  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IoT.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5851" y="3248469"/>
            <a:ext cx="2858135" cy="12757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165" b="1">
                <a:latin typeface="Georgia"/>
                <a:cs typeface="Georgia"/>
              </a:rPr>
              <a:t>M</a:t>
            </a:r>
            <a:r>
              <a:rPr dirty="0" sz="1750" spc="-135" b="1">
                <a:latin typeface="Georgia"/>
                <a:cs typeface="Georgia"/>
              </a:rPr>
              <a:t>ó</a:t>
            </a:r>
            <a:r>
              <a:rPr dirty="0" sz="1750" spc="-114" b="1">
                <a:latin typeface="Georgia"/>
                <a:cs typeface="Georgia"/>
              </a:rPr>
              <a:t>d</a:t>
            </a:r>
            <a:r>
              <a:rPr dirty="0" sz="1750" spc="-120" b="1">
                <a:latin typeface="Georgia"/>
                <a:cs typeface="Georgia"/>
              </a:rPr>
              <a:t>u</a:t>
            </a:r>
            <a:r>
              <a:rPr dirty="0" sz="1750" spc="-40" b="1">
                <a:latin typeface="Georgia"/>
                <a:cs typeface="Georgia"/>
              </a:rPr>
              <a:t>l</a:t>
            </a:r>
            <a:r>
              <a:rPr dirty="0" sz="1750" spc="-135" b="1">
                <a:latin typeface="Georgia"/>
                <a:cs typeface="Georgia"/>
              </a:rPr>
              <a:t>o</a:t>
            </a:r>
            <a:r>
              <a:rPr dirty="0" sz="1750" spc="-85" b="1">
                <a:latin typeface="Georgia"/>
                <a:cs typeface="Georgia"/>
              </a:rPr>
              <a:t>s</a:t>
            </a:r>
            <a:r>
              <a:rPr dirty="0" sz="1750" spc="-60" b="1">
                <a:latin typeface="Georgia"/>
                <a:cs typeface="Georgia"/>
              </a:rPr>
              <a:t> </a:t>
            </a:r>
            <a:r>
              <a:rPr dirty="0" sz="1750" spc="-105" b="1">
                <a:latin typeface="Georgia"/>
                <a:cs typeface="Georgia"/>
              </a:rPr>
              <a:t>d</a:t>
            </a:r>
            <a:r>
              <a:rPr dirty="0" sz="1750" spc="-110" b="1">
                <a:latin typeface="Georgia"/>
                <a:cs typeface="Georgia"/>
              </a:rPr>
              <a:t>e</a:t>
            </a:r>
            <a:r>
              <a:rPr dirty="0" sz="1750" spc="-60" b="1">
                <a:latin typeface="Georgia"/>
                <a:cs typeface="Georgia"/>
              </a:rPr>
              <a:t> </a:t>
            </a:r>
            <a:r>
              <a:rPr dirty="0" sz="1750" spc="-60" b="1">
                <a:latin typeface="Georgia"/>
                <a:cs typeface="Georgia"/>
              </a:rPr>
              <a:t>c</a:t>
            </a:r>
            <a:r>
              <a:rPr dirty="0" sz="1750" spc="-135" b="1">
                <a:latin typeface="Georgia"/>
                <a:cs typeface="Georgia"/>
              </a:rPr>
              <a:t>o</a:t>
            </a:r>
            <a:r>
              <a:rPr dirty="0" sz="1750" spc="-105" b="1">
                <a:latin typeface="Georgia"/>
                <a:cs typeface="Georgia"/>
              </a:rPr>
              <a:t>n</a:t>
            </a:r>
            <a:r>
              <a:rPr dirty="0" sz="1750" spc="-114" b="1">
                <a:latin typeface="Georgia"/>
                <a:cs typeface="Georgia"/>
              </a:rPr>
              <a:t>e</a:t>
            </a:r>
            <a:r>
              <a:rPr dirty="0" sz="1750" spc="-60" b="1">
                <a:latin typeface="Georgia"/>
                <a:cs typeface="Georgia"/>
              </a:rPr>
              <a:t>c</a:t>
            </a:r>
            <a:r>
              <a:rPr dirty="0" sz="1750" spc="-60" b="1">
                <a:latin typeface="Georgia"/>
                <a:cs typeface="Georgia"/>
              </a:rPr>
              <a:t>t</a:t>
            </a:r>
            <a:r>
              <a:rPr dirty="0" sz="1750" spc="-30" b="1">
                <a:latin typeface="Georgia"/>
                <a:cs typeface="Georgia"/>
              </a:rPr>
              <a:t>i</a:t>
            </a:r>
            <a:r>
              <a:rPr dirty="0" sz="1750" spc="-100" b="1">
                <a:latin typeface="Georgia"/>
                <a:cs typeface="Georgia"/>
              </a:rPr>
              <a:t>v</a:t>
            </a:r>
            <a:r>
              <a:rPr dirty="0" sz="1750" spc="-30" b="1">
                <a:latin typeface="Georgia"/>
                <a:cs typeface="Georgia"/>
              </a:rPr>
              <a:t>i</a:t>
            </a:r>
            <a:r>
              <a:rPr dirty="0" sz="1750" spc="-105" b="1">
                <a:latin typeface="Georgia"/>
                <a:cs typeface="Georgia"/>
              </a:rPr>
              <a:t>d</a:t>
            </a:r>
            <a:r>
              <a:rPr dirty="0" sz="1750" spc="-125" b="1">
                <a:latin typeface="Georgia"/>
                <a:cs typeface="Georgia"/>
              </a:rPr>
              <a:t>a</a:t>
            </a:r>
            <a:r>
              <a:rPr dirty="0" sz="1750" spc="-100" b="1">
                <a:latin typeface="Georgia"/>
                <a:cs typeface="Georgia"/>
              </a:rPr>
              <a:t>d</a:t>
            </a:r>
            <a:endParaRPr sz="1750">
              <a:latin typeface="Georgia"/>
              <a:cs typeface="Georgia"/>
            </a:endParaRPr>
          </a:p>
          <a:p>
            <a:pPr algn="just" marL="12700" marR="5080">
              <a:lnSpc>
                <a:spcPct val="134300"/>
              </a:lnSpc>
              <a:spcBef>
                <a:spcPts val="1195"/>
              </a:spcBef>
            </a:pPr>
            <a:r>
              <a:rPr dirty="0" sz="1350" spc="3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mi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en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transmisió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da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5">
                <a:solidFill>
                  <a:srgbClr val="262424"/>
                </a:solidFill>
                <a:latin typeface="Verdana"/>
                <a:cs typeface="Verdana"/>
              </a:rPr>
              <a:t>os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a 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tr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v</a:t>
            </a:r>
            <a:r>
              <a:rPr dirty="0" sz="1350" spc="-5">
                <a:solidFill>
                  <a:srgbClr val="262424"/>
                </a:solidFill>
                <a:latin typeface="Verdana"/>
                <a:cs typeface="Verdana"/>
              </a:rPr>
              <a:t>és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edes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inalámb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25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as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como 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WiFi</a:t>
            </a:r>
            <a:r>
              <a:rPr dirty="0" sz="1350" spc="-30">
                <a:solidFill>
                  <a:srgbClr val="262424"/>
                </a:solidFill>
                <a:latin typeface="Verdana"/>
                <a:cs typeface="Verdana"/>
              </a:rPr>
              <a:t>,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Blue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ooth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edes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celula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es.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4340" y="3248469"/>
            <a:ext cx="2946400" cy="999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145" b="1">
                <a:latin typeface="Georgia"/>
                <a:cs typeface="Georgia"/>
              </a:rPr>
              <a:t>S</a:t>
            </a:r>
            <a:r>
              <a:rPr dirty="0" sz="1750" spc="-114" b="1">
                <a:latin typeface="Georgia"/>
                <a:cs typeface="Georgia"/>
              </a:rPr>
              <a:t>e</a:t>
            </a:r>
            <a:r>
              <a:rPr dirty="0" sz="1750" spc="-105" b="1">
                <a:latin typeface="Georgia"/>
                <a:cs typeface="Georgia"/>
              </a:rPr>
              <a:t>n</a:t>
            </a:r>
            <a:r>
              <a:rPr dirty="0" sz="1750" spc="-90" b="1">
                <a:latin typeface="Georgia"/>
                <a:cs typeface="Georgia"/>
              </a:rPr>
              <a:t>s</a:t>
            </a:r>
            <a:r>
              <a:rPr dirty="0" sz="1750" spc="-135" b="1">
                <a:latin typeface="Georgia"/>
                <a:cs typeface="Georgia"/>
              </a:rPr>
              <a:t>o</a:t>
            </a:r>
            <a:r>
              <a:rPr dirty="0" sz="1750" spc="-150" b="1">
                <a:latin typeface="Georgia"/>
                <a:cs typeface="Georgia"/>
              </a:rPr>
              <a:t>r</a:t>
            </a:r>
            <a:r>
              <a:rPr dirty="0" sz="1750" spc="-114" b="1">
                <a:latin typeface="Georgia"/>
                <a:cs typeface="Georgia"/>
              </a:rPr>
              <a:t>e</a:t>
            </a:r>
            <a:r>
              <a:rPr dirty="0" sz="1750" spc="-85" b="1">
                <a:latin typeface="Georgia"/>
                <a:cs typeface="Georgia"/>
              </a:rPr>
              <a:t>s</a:t>
            </a:r>
            <a:r>
              <a:rPr dirty="0" sz="1750" spc="-60" b="1">
                <a:latin typeface="Georgia"/>
                <a:cs typeface="Georgia"/>
              </a:rPr>
              <a:t> </a:t>
            </a:r>
            <a:r>
              <a:rPr dirty="0" sz="1750" spc="-80" b="1">
                <a:latin typeface="Georgia"/>
                <a:cs typeface="Georgia"/>
              </a:rPr>
              <a:t>y</a:t>
            </a:r>
            <a:r>
              <a:rPr dirty="0" sz="1750" spc="-60" b="1">
                <a:latin typeface="Georgia"/>
                <a:cs typeface="Georgia"/>
              </a:rPr>
              <a:t> </a:t>
            </a:r>
            <a:r>
              <a:rPr dirty="0" sz="1750" spc="-125" b="1">
                <a:latin typeface="Georgia"/>
                <a:cs typeface="Georgia"/>
              </a:rPr>
              <a:t>a</a:t>
            </a:r>
            <a:r>
              <a:rPr dirty="0" sz="1750" spc="-60" b="1">
                <a:latin typeface="Georgia"/>
                <a:cs typeface="Georgia"/>
              </a:rPr>
              <a:t>c</a:t>
            </a:r>
            <a:r>
              <a:rPr dirty="0" sz="1750" spc="-60" b="1">
                <a:latin typeface="Georgia"/>
                <a:cs typeface="Georgia"/>
              </a:rPr>
              <a:t>t</a:t>
            </a:r>
            <a:r>
              <a:rPr dirty="0" sz="1750" spc="-120" b="1">
                <a:latin typeface="Georgia"/>
                <a:cs typeface="Georgia"/>
              </a:rPr>
              <a:t>u</a:t>
            </a:r>
            <a:r>
              <a:rPr dirty="0" sz="1750" spc="-125" b="1">
                <a:latin typeface="Georgia"/>
                <a:cs typeface="Georgia"/>
              </a:rPr>
              <a:t>a</a:t>
            </a:r>
            <a:r>
              <a:rPr dirty="0" sz="1750" spc="-105" b="1">
                <a:latin typeface="Georgia"/>
                <a:cs typeface="Georgia"/>
              </a:rPr>
              <a:t>d</a:t>
            </a:r>
            <a:r>
              <a:rPr dirty="0" sz="1750" spc="-135" b="1">
                <a:latin typeface="Georgia"/>
                <a:cs typeface="Georgia"/>
              </a:rPr>
              <a:t>o</a:t>
            </a:r>
            <a:r>
              <a:rPr dirty="0" sz="1750" spc="-150" b="1">
                <a:latin typeface="Georgia"/>
                <a:cs typeface="Georgia"/>
              </a:rPr>
              <a:t>r</a:t>
            </a:r>
            <a:r>
              <a:rPr dirty="0" sz="1750" spc="-114" b="1">
                <a:latin typeface="Georgia"/>
                <a:cs typeface="Georgia"/>
              </a:rPr>
              <a:t>e</a:t>
            </a:r>
            <a:r>
              <a:rPr dirty="0" sz="1750" spc="-85" b="1">
                <a:latin typeface="Georgia"/>
                <a:cs typeface="Georgia"/>
              </a:rPr>
              <a:t>s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1195"/>
              </a:spcBef>
            </a:pP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ecopilan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in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f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1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mación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de</a:t>
            </a:r>
            <a:r>
              <a:rPr dirty="0" sz="1350" spc="-15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en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1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no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62424"/>
                </a:solidFill>
                <a:latin typeface="Verdana"/>
                <a:cs typeface="Verdana"/>
              </a:rPr>
              <a:t>y 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vían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comando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lo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dispositi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v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os.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3625" y="680243"/>
            <a:ext cx="5692140" cy="1127760"/>
          </a:xfrm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15"/>
              </a:spcBef>
            </a:pPr>
            <a:r>
              <a:rPr dirty="0" spc="-180"/>
              <a:t>Certificaciones</a:t>
            </a:r>
            <a:r>
              <a:rPr dirty="0" spc="-130"/>
              <a:t> </a:t>
            </a:r>
            <a:r>
              <a:rPr dirty="0" spc="-185"/>
              <a:t>y</a:t>
            </a:r>
            <a:r>
              <a:rPr dirty="0" spc="-130"/>
              <a:t> </a:t>
            </a:r>
            <a:r>
              <a:rPr dirty="0" spc="-320"/>
              <a:t>r</a:t>
            </a:r>
            <a:r>
              <a:rPr dirty="0" spc="-204"/>
              <a:t>e</a:t>
            </a:r>
            <a:r>
              <a:rPr dirty="0" spc="-245"/>
              <a:t>q</a:t>
            </a:r>
            <a:r>
              <a:rPr dirty="0" spc="-155"/>
              <a:t>uisitos  </a:t>
            </a:r>
            <a:r>
              <a:rPr dirty="0" spc="-240"/>
              <a:t>de</a:t>
            </a:r>
            <a:r>
              <a:rPr dirty="0" spc="-130"/>
              <a:t> </a:t>
            </a:r>
            <a:r>
              <a:rPr dirty="0" spc="-225"/>
              <a:t>seguridad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86325" y="2114549"/>
            <a:ext cx="2886075" cy="1571625"/>
            <a:chOff x="4886325" y="2114549"/>
            <a:chExt cx="2886075" cy="1571625"/>
          </a:xfrm>
        </p:grpSpPr>
        <p:sp>
          <p:nvSpPr>
            <p:cNvPr id="4" name="object 4"/>
            <p:cNvSpPr/>
            <p:nvPr/>
          </p:nvSpPr>
          <p:spPr>
            <a:xfrm>
              <a:off x="4891087" y="2119312"/>
              <a:ext cx="2876550" cy="1562100"/>
            </a:xfrm>
            <a:custGeom>
              <a:avLst/>
              <a:gdLst/>
              <a:ahLst/>
              <a:cxnLst/>
              <a:rect l="l" t="t" r="r" b="b"/>
              <a:pathLst>
                <a:path w="2876550" h="1562100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506855"/>
                  </a:lnTo>
                  <a:lnTo>
                    <a:pt x="0" y="1510487"/>
                  </a:lnTo>
                  <a:lnTo>
                    <a:pt x="18745" y="1548485"/>
                  </a:lnTo>
                  <a:lnTo>
                    <a:pt x="51612" y="1562100"/>
                  </a:lnTo>
                  <a:lnTo>
                    <a:pt x="2824937" y="1562100"/>
                  </a:lnTo>
                  <a:lnTo>
                    <a:pt x="2862935" y="1543354"/>
                  </a:lnTo>
                  <a:lnTo>
                    <a:pt x="2876550" y="1510487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891087" y="2119312"/>
              <a:ext cx="2876550" cy="1562100"/>
            </a:xfrm>
            <a:custGeom>
              <a:avLst/>
              <a:gdLst/>
              <a:ahLst/>
              <a:cxnLst/>
              <a:rect l="l" t="t" r="r" b="b"/>
              <a:pathLst>
                <a:path w="2876550" h="1562100">
                  <a:moveTo>
                    <a:pt x="0" y="15068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50" y="4203"/>
                  </a:lnTo>
                  <a:lnTo>
                    <a:pt x="2845803" y="5588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1506855"/>
                  </a:lnTo>
                  <a:lnTo>
                    <a:pt x="2876550" y="1510487"/>
                  </a:lnTo>
                  <a:lnTo>
                    <a:pt x="2876194" y="1514068"/>
                  </a:lnTo>
                  <a:lnTo>
                    <a:pt x="2875483" y="1517637"/>
                  </a:lnTo>
                  <a:lnTo>
                    <a:pt x="2874784" y="1521193"/>
                  </a:lnTo>
                  <a:lnTo>
                    <a:pt x="2860370" y="1545920"/>
                  </a:lnTo>
                  <a:lnTo>
                    <a:pt x="2857804" y="1548485"/>
                  </a:lnTo>
                  <a:lnTo>
                    <a:pt x="2832074" y="1561033"/>
                  </a:lnTo>
                  <a:lnTo>
                    <a:pt x="2828518" y="1561744"/>
                  </a:lnTo>
                  <a:lnTo>
                    <a:pt x="2824937" y="1562100"/>
                  </a:lnTo>
                  <a:lnTo>
                    <a:pt x="2821305" y="1562100"/>
                  </a:lnTo>
                  <a:lnTo>
                    <a:pt x="55245" y="1562100"/>
                  </a:lnTo>
                  <a:lnTo>
                    <a:pt x="51612" y="1562100"/>
                  </a:lnTo>
                  <a:lnTo>
                    <a:pt x="48018" y="1561744"/>
                  </a:lnTo>
                  <a:lnTo>
                    <a:pt x="44462" y="1561033"/>
                  </a:lnTo>
                  <a:lnTo>
                    <a:pt x="40906" y="1560334"/>
                  </a:lnTo>
                  <a:lnTo>
                    <a:pt x="9309" y="1537538"/>
                  </a:lnTo>
                  <a:lnTo>
                    <a:pt x="7289" y="1534528"/>
                  </a:lnTo>
                  <a:lnTo>
                    <a:pt x="1066" y="1517637"/>
                  </a:lnTo>
                  <a:lnTo>
                    <a:pt x="355" y="1514068"/>
                  </a:lnTo>
                  <a:lnTo>
                    <a:pt x="0" y="1510487"/>
                  </a:lnTo>
                  <a:lnTo>
                    <a:pt x="0" y="1506855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054600" y="2257869"/>
            <a:ext cx="2479675" cy="12090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80" b="1">
                <a:solidFill>
                  <a:srgbClr val="262424"/>
                </a:solidFill>
                <a:latin typeface="Georgia"/>
                <a:cs typeface="Georgia"/>
              </a:rPr>
              <a:t>Certificaciones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670"/>
              </a:spcBef>
            </a:pP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Garantiza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el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cumplimien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de 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es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ánda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5">
                <a:solidFill>
                  <a:srgbClr val="262424"/>
                </a:solidFill>
                <a:latin typeface="Verdana"/>
                <a:cs typeface="Verdana"/>
              </a:rPr>
              <a:t>es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segu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ida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62424"/>
                </a:solidFill>
                <a:latin typeface="Verdana"/>
                <a:cs typeface="Verdana"/>
              </a:rPr>
              <a:t>y 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funcionalidad.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943850" y="2114549"/>
            <a:ext cx="2886075" cy="1571625"/>
            <a:chOff x="7943850" y="2114549"/>
            <a:chExt cx="2886075" cy="1571625"/>
          </a:xfrm>
        </p:grpSpPr>
        <p:sp>
          <p:nvSpPr>
            <p:cNvPr id="8" name="object 8"/>
            <p:cNvSpPr/>
            <p:nvPr/>
          </p:nvSpPr>
          <p:spPr>
            <a:xfrm>
              <a:off x="7948612" y="2119312"/>
              <a:ext cx="2876550" cy="1562100"/>
            </a:xfrm>
            <a:custGeom>
              <a:avLst/>
              <a:gdLst/>
              <a:ahLst/>
              <a:cxnLst/>
              <a:rect l="l" t="t" r="r" b="b"/>
              <a:pathLst>
                <a:path w="2876550" h="1562100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506855"/>
                  </a:lnTo>
                  <a:lnTo>
                    <a:pt x="0" y="1510487"/>
                  </a:lnTo>
                  <a:lnTo>
                    <a:pt x="18745" y="1548485"/>
                  </a:lnTo>
                  <a:lnTo>
                    <a:pt x="51612" y="1562100"/>
                  </a:lnTo>
                  <a:lnTo>
                    <a:pt x="2824937" y="1562100"/>
                  </a:lnTo>
                  <a:lnTo>
                    <a:pt x="2862935" y="1543354"/>
                  </a:lnTo>
                  <a:lnTo>
                    <a:pt x="2876550" y="1510487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948612" y="2119312"/>
              <a:ext cx="2876550" cy="1562100"/>
            </a:xfrm>
            <a:custGeom>
              <a:avLst/>
              <a:gdLst/>
              <a:ahLst/>
              <a:cxnLst/>
              <a:rect l="l" t="t" r="r" b="b"/>
              <a:pathLst>
                <a:path w="2876550" h="1562100">
                  <a:moveTo>
                    <a:pt x="0" y="15068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48978" y="7289"/>
                  </a:lnTo>
                  <a:lnTo>
                    <a:pt x="2851988" y="9309"/>
                  </a:lnTo>
                  <a:lnTo>
                    <a:pt x="2855010" y="11328"/>
                  </a:lnTo>
                  <a:lnTo>
                    <a:pt x="2857804" y="13614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1506855"/>
                  </a:lnTo>
                  <a:lnTo>
                    <a:pt x="2876550" y="1510487"/>
                  </a:lnTo>
                  <a:lnTo>
                    <a:pt x="2876194" y="1514068"/>
                  </a:lnTo>
                  <a:lnTo>
                    <a:pt x="2875483" y="1517637"/>
                  </a:lnTo>
                  <a:lnTo>
                    <a:pt x="2874784" y="1521193"/>
                  </a:lnTo>
                  <a:lnTo>
                    <a:pt x="2860370" y="1545920"/>
                  </a:lnTo>
                  <a:lnTo>
                    <a:pt x="2857804" y="1548485"/>
                  </a:lnTo>
                  <a:lnTo>
                    <a:pt x="2832074" y="1561033"/>
                  </a:lnTo>
                  <a:lnTo>
                    <a:pt x="2828518" y="1561744"/>
                  </a:lnTo>
                  <a:lnTo>
                    <a:pt x="2824937" y="1562100"/>
                  </a:lnTo>
                  <a:lnTo>
                    <a:pt x="2821305" y="1562100"/>
                  </a:lnTo>
                  <a:lnTo>
                    <a:pt x="55245" y="1562100"/>
                  </a:lnTo>
                  <a:lnTo>
                    <a:pt x="51612" y="1562100"/>
                  </a:lnTo>
                  <a:lnTo>
                    <a:pt x="48018" y="1561744"/>
                  </a:lnTo>
                  <a:lnTo>
                    <a:pt x="44462" y="1561033"/>
                  </a:lnTo>
                  <a:lnTo>
                    <a:pt x="40906" y="1560334"/>
                  </a:lnTo>
                  <a:lnTo>
                    <a:pt x="16179" y="1545920"/>
                  </a:lnTo>
                  <a:lnTo>
                    <a:pt x="13614" y="1543354"/>
                  </a:lnTo>
                  <a:lnTo>
                    <a:pt x="11328" y="1540560"/>
                  </a:lnTo>
                  <a:lnTo>
                    <a:pt x="9309" y="1537538"/>
                  </a:lnTo>
                  <a:lnTo>
                    <a:pt x="7289" y="1534528"/>
                  </a:lnTo>
                  <a:lnTo>
                    <a:pt x="5588" y="1531353"/>
                  </a:lnTo>
                  <a:lnTo>
                    <a:pt x="4203" y="1528000"/>
                  </a:lnTo>
                  <a:lnTo>
                    <a:pt x="2819" y="1524647"/>
                  </a:lnTo>
                  <a:lnTo>
                    <a:pt x="1765" y="1521193"/>
                  </a:lnTo>
                  <a:lnTo>
                    <a:pt x="1066" y="1517637"/>
                  </a:lnTo>
                  <a:lnTo>
                    <a:pt x="355" y="1514068"/>
                  </a:lnTo>
                  <a:lnTo>
                    <a:pt x="0" y="1510487"/>
                  </a:lnTo>
                  <a:lnTo>
                    <a:pt x="0" y="1506855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112125" y="2257869"/>
            <a:ext cx="1854835" cy="12090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85" b="1">
                <a:solidFill>
                  <a:srgbClr val="262424"/>
                </a:solidFill>
                <a:latin typeface="Georgia"/>
                <a:cs typeface="Georgia"/>
              </a:rPr>
              <a:t>C</a:t>
            </a:r>
            <a:r>
              <a:rPr dirty="0" sz="1750" spc="-30" b="1">
                <a:solidFill>
                  <a:srgbClr val="262424"/>
                </a:solidFill>
                <a:latin typeface="Georgia"/>
                <a:cs typeface="Georgia"/>
              </a:rPr>
              <a:t>i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f</a:t>
            </a:r>
            <a:r>
              <a:rPr dirty="0" sz="1750" spc="-160" b="1">
                <a:solidFill>
                  <a:srgbClr val="262424"/>
                </a:solidFill>
                <a:latin typeface="Georgia"/>
                <a:cs typeface="Georgia"/>
              </a:rPr>
              <a:t>r</a:t>
            </a:r>
            <a:r>
              <a:rPr dirty="0" sz="1750" spc="-125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r>
              <a:rPr dirty="0" sz="1750" spc="-105" b="1">
                <a:solidFill>
                  <a:srgbClr val="262424"/>
                </a:solidFill>
                <a:latin typeface="Georgia"/>
                <a:cs typeface="Georgia"/>
              </a:rPr>
              <a:t>d</a:t>
            </a:r>
            <a:r>
              <a:rPr dirty="0" sz="1750" spc="-130" b="1">
                <a:solidFill>
                  <a:srgbClr val="262424"/>
                </a:solidFill>
                <a:latin typeface="Georgia"/>
                <a:cs typeface="Georgia"/>
              </a:rPr>
              <a:t>o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750" spc="-105" b="1">
                <a:solidFill>
                  <a:srgbClr val="262424"/>
                </a:solidFill>
                <a:latin typeface="Georgia"/>
                <a:cs typeface="Georgia"/>
              </a:rPr>
              <a:t>d</a:t>
            </a:r>
            <a:r>
              <a:rPr dirty="0" sz="1750" spc="-110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750" spc="-105" b="1">
                <a:solidFill>
                  <a:srgbClr val="262424"/>
                </a:solidFill>
                <a:latin typeface="Georgia"/>
                <a:cs typeface="Georgia"/>
              </a:rPr>
              <a:t>d</a:t>
            </a:r>
            <a:r>
              <a:rPr dirty="0" sz="1750" spc="-125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t</a:t>
            </a:r>
            <a:r>
              <a:rPr dirty="0" sz="1750" spc="-135" b="1">
                <a:solidFill>
                  <a:srgbClr val="262424"/>
                </a:solidFill>
                <a:latin typeface="Georgia"/>
                <a:cs typeface="Georgia"/>
              </a:rPr>
              <a:t>o</a:t>
            </a:r>
            <a:r>
              <a:rPr dirty="0" sz="1750" spc="-85" b="1">
                <a:solidFill>
                  <a:srgbClr val="262424"/>
                </a:solidFill>
                <a:latin typeface="Georgia"/>
                <a:cs typeface="Georgia"/>
              </a:rPr>
              <a:t>s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670"/>
              </a:spcBef>
            </a:pPr>
            <a:r>
              <a:rPr dirty="0" sz="1350" spc="-1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ege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in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f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1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mación 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transmitid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ent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los 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dispositi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v</a:t>
            </a:r>
            <a:r>
              <a:rPr dirty="0" sz="1350" spc="-5">
                <a:solidFill>
                  <a:srgbClr val="262424"/>
                </a:solidFill>
                <a:latin typeface="Verdana"/>
                <a:cs typeface="Verdana"/>
              </a:rPr>
              <a:t>os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nube.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86325" y="3857625"/>
            <a:ext cx="2886075" cy="1847850"/>
            <a:chOff x="4886325" y="3857625"/>
            <a:chExt cx="2886075" cy="1847850"/>
          </a:xfrm>
        </p:grpSpPr>
        <p:sp>
          <p:nvSpPr>
            <p:cNvPr id="12" name="object 12"/>
            <p:cNvSpPr/>
            <p:nvPr/>
          </p:nvSpPr>
          <p:spPr>
            <a:xfrm>
              <a:off x="4891087" y="3862387"/>
              <a:ext cx="2876550" cy="1838325"/>
            </a:xfrm>
            <a:custGeom>
              <a:avLst/>
              <a:gdLst/>
              <a:ahLst/>
              <a:cxnLst/>
              <a:rect l="l" t="t" r="r" b="b"/>
              <a:pathLst>
                <a:path w="2876550" h="1838325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783081"/>
                  </a:lnTo>
                  <a:lnTo>
                    <a:pt x="0" y="1786707"/>
                  </a:lnTo>
                  <a:lnTo>
                    <a:pt x="18745" y="1824708"/>
                  </a:lnTo>
                  <a:lnTo>
                    <a:pt x="51612" y="1838326"/>
                  </a:lnTo>
                  <a:lnTo>
                    <a:pt x="2824937" y="1838326"/>
                  </a:lnTo>
                  <a:lnTo>
                    <a:pt x="2862935" y="1819578"/>
                  </a:lnTo>
                  <a:lnTo>
                    <a:pt x="2876550" y="1786707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891087" y="3862387"/>
              <a:ext cx="2876550" cy="1838325"/>
            </a:xfrm>
            <a:custGeom>
              <a:avLst/>
              <a:gdLst/>
              <a:ahLst/>
              <a:cxnLst/>
              <a:rect l="l" t="t" r="r" b="b"/>
              <a:pathLst>
                <a:path w="2876550" h="1838325">
                  <a:moveTo>
                    <a:pt x="0" y="1783081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1783081"/>
                  </a:lnTo>
                  <a:lnTo>
                    <a:pt x="2876550" y="1786707"/>
                  </a:lnTo>
                  <a:lnTo>
                    <a:pt x="2876194" y="1790298"/>
                  </a:lnTo>
                  <a:lnTo>
                    <a:pt x="2875483" y="1793855"/>
                  </a:lnTo>
                  <a:lnTo>
                    <a:pt x="2874784" y="1797413"/>
                  </a:lnTo>
                  <a:lnTo>
                    <a:pt x="2852000" y="1829014"/>
                  </a:lnTo>
                  <a:lnTo>
                    <a:pt x="2842437" y="1834118"/>
                  </a:lnTo>
                  <a:lnTo>
                    <a:pt x="2839097" y="1835508"/>
                  </a:lnTo>
                  <a:lnTo>
                    <a:pt x="2835643" y="1836554"/>
                  </a:lnTo>
                  <a:lnTo>
                    <a:pt x="2832074" y="1837264"/>
                  </a:lnTo>
                  <a:lnTo>
                    <a:pt x="2828518" y="1837969"/>
                  </a:lnTo>
                  <a:lnTo>
                    <a:pt x="2824937" y="1838326"/>
                  </a:lnTo>
                  <a:lnTo>
                    <a:pt x="2821305" y="1838326"/>
                  </a:lnTo>
                  <a:lnTo>
                    <a:pt x="55245" y="1838326"/>
                  </a:lnTo>
                  <a:lnTo>
                    <a:pt x="51612" y="1838326"/>
                  </a:lnTo>
                  <a:lnTo>
                    <a:pt x="48018" y="1837969"/>
                  </a:lnTo>
                  <a:lnTo>
                    <a:pt x="44462" y="1837264"/>
                  </a:lnTo>
                  <a:lnTo>
                    <a:pt x="40906" y="1836554"/>
                  </a:lnTo>
                  <a:lnTo>
                    <a:pt x="37452" y="1835508"/>
                  </a:lnTo>
                  <a:lnTo>
                    <a:pt x="34099" y="1834118"/>
                  </a:lnTo>
                  <a:lnTo>
                    <a:pt x="30746" y="1832730"/>
                  </a:lnTo>
                  <a:lnTo>
                    <a:pt x="4203" y="1804219"/>
                  </a:lnTo>
                  <a:lnTo>
                    <a:pt x="2819" y="1800866"/>
                  </a:lnTo>
                  <a:lnTo>
                    <a:pt x="1765" y="1797413"/>
                  </a:lnTo>
                  <a:lnTo>
                    <a:pt x="1066" y="1793855"/>
                  </a:lnTo>
                  <a:lnTo>
                    <a:pt x="355" y="1790298"/>
                  </a:lnTo>
                  <a:lnTo>
                    <a:pt x="0" y="1786707"/>
                  </a:lnTo>
                  <a:lnTo>
                    <a:pt x="0" y="1783081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054600" y="4000944"/>
            <a:ext cx="2505710" cy="12090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90" b="1">
                <a:solidFill>
                  <a:srgbClr val="262424"/>
                </a:solidFill>
                <a:latin typeface="Georgia"/>
                <a:cs typeface="Georgia"/>
              </a:rPr>
              <a:t>Autenticación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670"/>
              </a:spcBef>
            </a:pP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Confi</a:t>
            </a:r>
            <a:r>
              <a:rPr dirty="0" sz="135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ma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identida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los 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dispositi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v</a:t>
            </a:r>
            <a:r>
              <a:rPr dirty="0" sz="1350" spc="-5">
                <a:solidFill>
                  <a:srgbClr val="262424"/>
                </a:solidFill>
                <a:latin typeface="Verdana"/>
                <a:cs typeface="Verdana"/>
              </a:rPr>
              <a:t>os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usua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io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ara 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vi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ar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10">
                <a:solidFill>
                  <a:srgbClr val="262424"/>
                </a:solidFill>
                <a:latin typeface="Verdana"/>
                <a:cs typeface="Verdana"/>
              </a:rPr>
              <a:t>accesos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no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au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izados.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943850" y="3857625"/>
            <a:ext cx="2886075" cy="1847850"/>
            <a:chOff x="7943850" y="3857625"/>
            <a:chExt cx="2886075" cy="1847850"/>
          </a:xfrm>
        </p:grpSpPr>
        <p:sp>
          <p:nvSpPr>
            <p:cNvPr id="16" name="object 16"/>
            <p:cNvSpPr/>
            <p:nvPr/>
          </p:nvSpPr>
          <p:spPr>
            <a:xfrm>
              <a:off x="7948612" y="3862387"/>
              <a:ext cx="2876550" cy="1838325"/>
            </a:xfrm>
            <a:custGeom>
              <a:avLst/>
              <a:gdLst/>
              <a:ahLst/>
              <a:cxnLst/>
              <a:rect l="l" t="t" r="r" b="b"/>
              <a:pathLst>
                <a:path w="2876550" h="1838325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783081"/>
                  </a:lnTo>
                  <a:lnTo>
                    <a:pt x="0" y="1786707"/>
                  </a:lnTo>
                  <a:lnTo>
                    <a:pt x="18745" y="1824708"/>
                  </a:lnTo>
                  <a:lnTo>
                    <a:pt x="51612" y="1838326"/>
                  </a:lnTo>
                  <a:lnTo>
                    <a:pt x="2824937" y="1838326"/>
                  </a:lnTo>
                  <a:lnTo>
                    <a:pt x="2862935" y="1819578"/>
                  </a:lnTo>
                  <a:lnTo>
                    <a:pt x="2876550" y="1786707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948612" y="3862387"/>
              <a:ext cx="2876550" cy="1838325"/>
            </a:xfrm>
            <a:custGeom>
              <a:avLst/>
              <a:gdLst/>
              <a:ahLst/>
              <a:cxnLst/>
              <a:rect l="l" t="t" r="r" b="b"/>
              <a:pathLst>
                <a:path w="2876550" h="1838325">
                  <a:moveTo>
                    <a:pt x="0" y="1783081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48978" y="7289"/>
                  </a:lnTo>
                  <a:lnTo>
                    <a:pt x="2851988" y="9309"/>
                  </a:lnTo>
                  <a:lnTo>
                    <a:pt x="2855010" y="11328"/>
                  </a:lnTo>
                  <a:lnTo>
                    <a:pt x="2857804" y="13614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1783081"/>
                  </a:lnTo>
                  <a:lnTo>
                    <a:pt x="2876550" y="1786707"/>
                  </a:lnTo>
                  <a:lnTo>
                    <a:pt x="2876194" y="1790298"/>
                  </a:lnTo>
                  <a:lnTo>
                    <a:pt x="2875483" y="1793855"/>
                  </a:lnTo>
                  <a:lnTo>
                    <a:pt x="2874784" y="1797413"/>
                  </a:lnTo>
                  <a:lnTo>
                    <a:pt x="2851988" y="1829014"/>
                  </a:lnTo>
                  <a:lnTo>
                    <a:pt x="2848978" y="1831028"/>
                  </a:lnTo>
                  <a:lnTo>
                    <a:pt x="2845803" y="1832730"/>
                  </a:lnTo>
                  <a:lnTo>
                    <a:pt x="2842437" y="1834118"/>
                  </a:lnTo>
                  <a:lnTo>
                    <a:pt x="2839097" y="1835508"/>
                  </a:lnTo>
                  <a:lnTo>
                    <a:pt x="2835643" y="1836554"/>
                  </a:lnTo>
                  <a:lnTo>
                    <a:pt x="2832074" y="1837264"/>
                  </a:lnTo>
                  <a:lnTo>
                    <a:pt x="2828518" y="1837969"/>
                  </a:lnTo>
                  <a:lnTo>
                    <a:pt x="2824937" y="1838326"/>
                  </a:lnTo>
                  <a:lnTo>
                    <a:pt x="2821305" y="1838326"/>
                  </a:lnTo>
                  <a:lnTo>
                    <a:pt x="55245" y="1838326"/>
                  </a:lnTo>
                  <a:lnTo>
                    <a:pt x="51612" y="1838326"/>
                  </a:lnTo>
                  <a:lnTo>
                    <a:pt x="48018" y="1837969"/>
                  </a:lnTo>
                  <a:lnTo>
                    <a:pt x="44462" y="1837264"/>
                  </a:lnTo>
                  <a:lnTo>
                    <a:pt x="40906" y="1836554"/>
                  </a:lnTo>
                  <a:lnTo>
                    <a:pt x="37452" y="1835508"/>
                  </a:lnTo>
                  <a:lnTo>
                    <a:pt x="34099" y="1834118"/>
                  </a:lnTo>
                  <a:lnTo>
                    <a:pt x="30746" y="1832730"/>
                  </a:lnTo>
                  <a:lnTo>
                    <a:pt x="4203" y="1804219"/>
                  </a:lnTo>
                  <a:lnTo>
                    <a:pt x="2819" y="1800866"/>
                  </a:lnTo>
                  <a:lnTo>
                    <a:pt x="1765" y="1797413"/>
                  </a:lnTo>
                  <a:lnTo>
                    <a:pt x="1066" y="1793855"/>
                  </a:lnTo>
                  <a:lnTo>
                    <a:pt x="355" y="1790298"/>
                  </a:lnTo>
                  <a:lnTo>
                    <a:pt x="0" y="1786707"/>
                  </a:lnTo>
                  <a:lnTo>
                    <a:pt x="0" y="1783081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112125" y="4000944"/>
            <a:ext cx="2216150" cy="148526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265430">
              <a:lnSpc>
                <a:spcPct val="103600"/>
              </a:lnSpc>
              <a:spcBef>
                <a:spcPts val="45"/>
              </a:spcBef>
            </a:pPr>
            <a:r>
              <a:rPr dirty="0" sz="1750" spc="-135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c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t</a:t>
            </a:r>
            <a:r>
              <a:rPr dirty="0" sz="1750" spc="-120" b="1">
                <a:solidFill>
                  <a:srgbClr val="262424"/>
                </a:solidFill>
                <a:latin typeface="Georgia"/>
                <a:cs typeface="Georgia"/>
              </a:rPr>
              <a:t>u</a:t>
            </a:r>
            <a:r>
              <a:rPr dirty="0" sz="1750" spc="-125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r>
              <a:rPr dirty="0" sz="1750" spc="-40" b="1">
                <a:solidFill>
                  <a:srgbClr val="262424"/>
                </a:solidFill>
                <a:latin typeface="Georgia"/>
                <a:cs typeface="Georgia"/>
              </a:rPr>
              <a:t>l</a:t>
            </a:r>
            <a:r>
              <a:rPr dirty="0" sz="1750" spc="-30" b="1">
                <a:solidFill>
                  <a:srgbClr val="262424"/>
                </a:solidFill>
                <a:latin typeface="Georgia"/>
                <a:cs typeface="Georgia"/>
              </a:rPr>
              <a:t>i</a:t>
            </a:r>
            <a:r>
              <a:rPr dirty="0" sz="1750" spc="-150" b="1">
                <a:solidFill>
                  <a:srgbClr val="262424"/>
                </a:solidFill>
                <a:latin typeface="Georgia"/>
                <a:cs typeface="Georgia"/>
              </a:rPr>
              <a:t>z</a:t>
            </a:r>
            <a:r>
              <a:rPr dirty="0" sz="1750" spc="-125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c</a:t>
            </a:r>
            <a:r>
              <a:rPr dirty="0" sz="1750" spc="-30" b="1">
                <a:solidFill>
                  <a:srgbClr val="262424"/>
                </a:solidFill>
                <a:latin typeface="Georgia"/>
                <a:cs typeface="Georgia"/>
              </a:rPr>
              <a:t>i</a:t>
            </a:r>
            <a:r>
              <a:rPr dirty="0" sz="1750" spc="-135" b="1">
                <a:solidFill>
                  <a:srgbClr val="262424"/>
                </a:solidFill>
                <a:latin typeface="Georgia"/>
                <a:cs typeface="Georgia"/>
              </a:rPr>
              <a:t>o</a:t>
            </a:r>
            <a:r>
              <a:rPr dirty="0" sz="1750" spc="-105" b="1">
                <a:solidFill>
                  <a:srgbClr val="262424"/>
                </a:solidFill>
                <a:latin typeface="Georgia"/>
                <a:cs typeface="Georgia"/>
              </a:rPr>
              <a:t>n</a:t>
            </a:r>
            <a:r>
              <a:rPr dirty="0" sz="1750" spc="-114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750" spc="-85" b="1">
                <a:solidFill>
                  <a:srgbClr val="262424"/>
                </a:solidFill>
                <a:latin typeface="Georgia"/>
                <a:cs typeface="Georgia"/>
              </a:rPr>
              <a:t>s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750" spc="-105" b="1">
                <a:solidFill>
                  <a:srgbClr val="262424"/>
                </a:solidFill>
                <a:latin typeface="Georgia"/>
                <a:cs typeface="Georgia"/>
              </a:rPr>
              <a:t>d</a:t>
            </a:r>
            <a:r>
              <a:rPr dirty="0" sz="1750" spc="-70" b="1">
                <a:solidFill>
                  <a:srgbClr val="262424"/>
                </a:solidFill>
                <a:latin typeface="Georgia"/>
                <a:cs typeface="Georgia"/>
              </a:rPr>
              <a:t>e  </a:t>
            </a:r>
            <a:r>
              <a:rPr dirty="0" sz="1750" spc="-105" b="1">
                <a:solidFill>
                  <a:srgbClr val="262424"/>
                </a:solidFill>
                <a:latin typeface="Georgia"/>
                <a:cs typeface="Georgia"/>
              </a:rPr>
              <a:t>seguridad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1900"/>
              </a:lnSpc>
              <a:spcBef>
                <a:spcPts val="785"/>
              </a:spcBef>
            </a:pP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Mantiene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lo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62424"/>
                </a:solidFill>
                <a:latin typeface="Verdana"/>
                <a:cs typeface="Verdana"/>
              </a:rPr>
              <a:t>sis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emas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10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25">
                <a:solidFill>
                  <a:srgbClr val="262424"/>
                </a:solidFill>
                <a:latin typeface="Verdana"/>
                <a:cs typeface="Verdana"/>
              </a:rPr>
              <a:t>T 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15">
                <a:solidFill>
                  <a:srgbClr val="262424"/>
                </a:solidFill>
                <a:latin typeface="Verdana"/>
                <a:cs typeface="Verdana"/>
              </a:rPr>
              <a:t>egidos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contr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nu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v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as 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amenazas.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4"/>
            <a:ext cx="4286250" cy="6496050"/>
            <a:chOff x="7143750" y="254"/>
            <a:chExt cx="4286250" cy="6496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4"/>
              <a:ext cx="4286249" cy="64957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8703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423068"/>
            <a:ext cx="5558790" cy="1127760"/>
          </a:xfrm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15"/>
              </a:spcBef>
            </a:pPr>
            <a:r>
              <a:rPr dirty="0" spc="-225"/>
              <a:t>Conside</a:t>
            </a:r>
            <a:r>
              <a:rPr dirty="0" spc="-235"/>
              <a:t>r</a:t>
            </a:r>
            <a:r>
              <a:rPr dirty="0" spc="-204"/>
              <a:t>aciones</a:t>
            </a:r>
            <a:r>
              <a:rPr dirty="0" spc="-130"/>
              <a:t> </a:t>
            </a:r>
            <a:r>
              <a:rPr dirty="0" spc="-240"/>
              <a:t>de</a:t>
            </a:r>
            <a:r>
              <a:rPr dirty="0" spc="-130"/>
              <a:t> </a:t>
            </a:r>
            <a:r>
              <a:rPr dirty="0" spc="-180"/>
              <a:t>diseño  </a:t>
            </a:r>
            <a:r>
              <a:rPr dirty="0" spc="-240"/>
              <a:t>en</a:t>
            </a:r>
            <a:r>
              <a:rPr dirty="0" spc="-130"/>
              <a:t> </a:t>
            </a:r>
            <a:r>
              <a:rPr dirty="0" spc="-175"/>
              <a:t>la</a:t>
            </a:r>
            <a:r>
              <a:rPr dirty="0" spc="-130"/>
              <a:t> </a:t>
            </a:r>
            <a:r>
              <a:rPr dirty="0" spc="-204"/>
              <a:t>fase</a:t>
            </a:r>
            <a:r>
              <a:rPr dirty="0" spc="-130"/>
              <a:t> </a:t>
            </a:r>
            <a:r>
              <a:rPr dirty="0" spc="-240"/>
              <a:t>de</a:t>
            </a:r>
            <a:r>
              <a:rPr dirty="0" spc="-130"/>
              <a:t> </a:t>
            </a:r>
            <a:r>
              <a:rPr dirty="0" spc="-204"/>
              <a:t>planeación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64368" y="1857375"/>
            <a:ext cx="972185" cy="4162425"/>
            <a:chOff x="664368" y="1857375"/>
            <a:chExt cx="972185" cy="4162425"/>
          </a:xfrm>
        </p:grpSpPr>
        <p:sp>
          <p:nvSpPr>
            <p:cNvPr id="7" name="object 7"/>
            <p:cNvSpPr/>
            <p:nvPr/>
          </p:nvSpPr>
          <p:spPr>
            <a:xfrm>
              <a:off x="847725" y="1857375"/>
              <a:ext cx="788670" cy="4163060"/>
            </a:xfrm>
            <a:custGeom>
              <a:avLst/>
              <a:gdLst/>
              <a:ahLst/>
              <a:cxnLst/>
              <a:rect l="l" t="t" r="r" b="b"/>
              <a:pathLst>
                <a:path w="788669" h="4163060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4152912"/>
                  </a:lnTo>
                  <a:lnTo>
                    <a:pt x="0" y="4155541"/>
                  </a:lnTo>
                  <a:lnTo>
                    <a:pt x="927" y="4157776"/>
                  </a:lnTo>
                  <a:lnTo>
                    <a:pt x="4648" y="4161498"/>
                  </a:lnTo>
                  <a:lnTo>
                    <a:pt x="6896" y="4162437"/>
                  </a:lnTo>
                  <a:lnTo>
                    <a:pt x="12153" y="4162437"/>
                  </a:lnTo>
                  <a:lnTo>
                    <a:pt x="14401" y="4161498"/>
                  </a:lnTo>
                  <a:lnTo>
                    <a:pt x="18122" y="4157776"/>
                  </a:lnTo>
                  <a:lnTo>
                    <a:pt x="19050" y="4155541"/>
                  </a:lnTo>
                  <a:lnTo>
                    <a:pt x="19050" y="6896"/>
                  </a:lnTo>
                  <a:close/>
                </a:path>
                <a:path w="788669" h="4163060">
                  <a:moveTo>
                    <a:pt x="788200" y="378371"/>
                  </a:moveTo>
                  <a:lnTo>
                    <a:pt x="787260" y="376123"/>
                  </a:lnTo>
                  <a:lnTo>
                    <a:pt x="783539" y="372402"/>
                  </a:lnTo>
                  <a:lnTo>
                    <a:pt x="781304" y="371475"/>
                  </a:lnTo>
                  <a:lnTo>
                    <a:pt x="195008" y="371475"/>
                  </a:lnTo>
                  <a:lnTo>
                    <a:pt x="192760" y="372402"/>
                  </a:lnTo>
                  <a:lnTo>
                    <a:pt x="189039" y="376123"/>
                  </a:lnTo>
                  <a:lnTo>
                    <a:pt x="188112" y="378371"/>
                  </a:lnTo>
                  <a:lnTo>
                    <a:pt x="188112" y="381000"/>
                  </a:lnTo>
                  <a:lnTo>
                    <a:pt x="188112" y="383628"/>
                  </a:lnTo>
                  <a:lnTo>
                    <a:pt x="189039" y="385876"/>
                  </a:lnTo>
                  <a:lnTo>
                    <a:pt x="192760" y="389597"/>
                  </a:lnTo>
                  <a:lnTo>
                    <a:pt x="195008" y="390525"/>
                  </a:lnTo>
                  <a:lnTo>
                    <a:pt x="781304" y="390525"/>
                  </a:lnTo>
                  <a:lnTo>
                    <a:pt x="783539" y="389597"/>
                  </a:lnTo>
                  <a:lnTo>
                    <a:pt x="787260" y="385876"/>
                  </a:lnTo>
                  <a:lnTo>
                    <a:pt x="788200" y="383628"/>
                  </a:lnTo>
                  <a:lnTo>
                    <a:pt x="788200" y="378371"/>
                  </a:lnTo>
                  <a:close/>
                </a:path>
              </a:pathLst>
            </a:custGeom>
            <a:solidFill>
              <a:srgbClr val="B1D4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69131" y="205263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25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7" y="357860"/>
                  </a:lnTo>
                  <a:lnTo>
                    <a:pt x="51619" y="371475"/>
                  </a:lnTo>
                  <a:lnTo>
                    <a:pt x="329380" y="371475"/>
                  </a:lnTo>
                  <a:lnTo>
                    <a:pt x="367381" y="352729"/>
                  </a:lnTo>
                  <a:lnTo>
                    <a:pt x="381000" y="319862"/>
                  </a:lnTo>
                  <a:lnTo>
                    <a:pt x="381000" y="51625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9131" y="205263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25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59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34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25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8" y="323443"/>
                  </a:lnTo>
                  <a:lnTo>
                    <a:pt x="362252" y="357860"/>
                  </a:lnTo>
                  <a:lnTo>
                    <a:pt x="336534" y="370408"/>
                  </a:lnTo>
                  <a:lnTo>
                    <a:pt x="332973" y="371119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19"/>
                  </a:lnTo>
                  <a:lnTo>
                    <a:pt x="44465" y="370408"/>
                  </a:lnTo>
                  <a:lnTo>
                    <a:pt x="40907" y="369709"/>
                  </a:lnTo>
                  <a:lnTo>
                    <a:pt x="9311" y="346925"/>
                  </a:lnTo>
                  <a:lnTo>
                    <a:pt x="4207" y="337375"/>
                  </a:lnTo>
                  <a:lnTo>
                    <a:pt x="2818" y="334022"/>
                  </a:lnTo>
                  <a:lnTo>
                    <a:pt x="1771" y="330568"/>
                  </a:lnTo>
                  <a:lnTo>
                    <a:pt x="1061" y="327012"/>
                  </a:lnTo>
                  <a:lnTo>
                    <a:pt x="351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86655" y="2031841"/>
            <a:ext cx="140970" cy="3498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00" spc="-120" b="1">
                <a:solidFill>
                  <a:srgbClr val="262424"/>
                </a:solidFill>
                <a:latin typeface="Georgia"/>
                <a:cs typeface="Georgia"/>
              </a:rPr>
              <a:t>1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7525" y="1991169"/>
            <a:ext cx="4251960" cy="9328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200" b="1">
                <a:solidFill>
                  <a:srgbClr val="262424"/>
                </a:solidFill>
                <a:latin typeface="Georgia"/>
                <a:cs typeface="Georgia"/>
              </a:rPr>
              <a:t>D</a:t>
            </a:r>
            <a:r>
              <a:rPr dirty="0" sz="1750" spc="-114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f</a:t>
            </a:r>
            <a:r>
              <a:rPr dirty="0" sz="1750" spc="-30" b="1">
                <a:solidFill>
                  <a:srgbClr val="262424"/>
                </a:solidFill>
                <a:latin typeface="Georgia"/>
                <a:cs typeface="Georgia"/>
              </a:rPr>
              <a:t>i</a:t>
            </a:r>
            <a:r>
              <a:rPr dirty="0" sz="1750" spc="-105" b="1">
                <a:solidFill>
                  <a:srgbClr val="262424"/>
                </a:solidFill>
                <a:latin typeface="Georgia"/>
                <a:cs typeface="Georgia"/>
              </a:rPr>
              <a:t>n</a:t>
            </a:r>
            <a:r>
              <a:rPr dirty="0" sz="1750" spc="-30" b="1">
                <a:solidFill>
                  <a:srgbClr val="262424"/>
                </a:solidFill>
                <a:latin typeface="Georgia"/>
                <a:cs typeface="Georgia"/>
              </a:rPr>
              <a:t>i</a:t>
            </a:r>
            <a:r>
              <a:rPr dirty="0" sz="1750" spc="-140" b="1">
                <a:solidFill>
                  <a:srgbClr val="262424"/>
                </a:solidFill>
                <a:latin typeface="Georgia"/>
                <a:cs typeface="Georgia"/>
              </a:rPr>
              <a:t>r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750" spc="-135" b="1">
                <a:solidFill>
                  <a:srgbClr val="262424"/>
                </a:solidFill>
                <a:latin typeface="Georgia"/>
                <a:cs typeface="Georgia"/>
              </a:rPr>
              <a:t>o</a:t>
            </a:r>
            <a:r>
              <a:rPr dirty="0" sz="1750" spc="-114" b="1">
                <a:solidFill>
                  <a:srgbClr val="262424"/>
                </a:solidFill>
                <a:latin typeface="Georgia"/>
                <a:cs typeface="Georgia"/>
              </a:rPr>
              <a:t>b</a:t>
            </a:r>
            <a:r>
              <a:rPr dirty="0" sz="1750" spc="-50" b="1">
                <a:solidFill>
                  <a:srgbClr val="262424"/>
                </a:solidFill>
                <a:latin typeface="Georgia"/>
                <a:cs typeface="Georgia"/>
              </a:rPr>
              <a:t>j</a:t>
            </a:r>
            <a:r>
              <a:rPr dirty="0" sz="1750" spc="-114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t</a:t>
            </a:r>
            <a:r>
              <a:rPr dirty="0" sz="1750" spc="-30" b="1">
                <a:solidFill>
                  <a:srgbClr val="262424"/>
                </a:solidFill>
                <a:latin typeface="Georgia"/>
                <a:cs typeface="Georgia"/>
              </a:rPr>
              <a:t>i</a:t>
            </a:r>
            <a:r>
              <a:rPr dirty="0" sz="1750" spc="-125" b="1">
                <a:solidFill>
                  <a:srgbClr val="262424"/>
                </a:solidFill>
                <a:latin typeface="Georgia"/>
                <a:cs typeface="Georgia"/>
              </a:rPr>
              <a:t>v</a:t>
            </a:r>
            <a:r>
              <a:rPr dirty="0" sz="1750" spc="-135" b="1">
                <a:solidFill>
                  <a:srgbClr val="262424"/>
                </a:solidFill>
                <a:latin typeface="Georgia"/>
                <a:cs typeface="Georgia"/>
              </a:rPr>
              <a:t>o</a:t>
            </a:r>
            <a:r>
              <a:rPr dirty="0" sz="1750" spc="-85" b="1">
                <a:solidFill>
                  <a:srgbClr val="262424"/>
                </a:solidFill>
                <a:latin typeface="Georgia"/>
                <a:cs typeface="Georgia"/>
              </a:rPr>
              <a:t>s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670"/>
              </a:spcBef>
            </a:pP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Identificar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claramente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los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problemas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resolver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los </a:t>
            </a:r>
            <a:r>
              <a:rPr dirty="0" sz="1350" spc="-459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5">
                <a:solidFill>
                  <a:srgbClr val="262424"/>
                </a:solidFill>
                <a:latin typeface="Verdana"/>
                <a:cs typeface="Verdana"/>
              </a:rPr>
              <a:t>beneficios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62424"/>
                </a:solidFill>
                <a:latin typeface="Verdana"/>
                <a:cs typeface="Verdana"/>
              </a:rPr>
              <a:t>esperados.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64368" y="3495675"/>
            <a:ext cx="972185" cy="381000"/>
            <a:chOff x="664368" y="3495675"/>
            <a:chExt cx="972185" cy="381000"/>
          </a:xfrm>
        </p:grpSpPr>
        <p:sp>
          <p:nvSpPr>
            <p:cNvPr id="13" name="object 13"/>
            <p:cNvSpPr/>
            <p:nvPr/>
          </p:nvSpPr>
          <p:spPr>
            <a:xfrm>
              <a:off x="1035843" y="3676650"/>
              <a:ext cx="600710" cy="19050"/>
            </a:xfrm>
            <a:custGeom>
              <a:avLst/>
              <a:gdLst/>
              <a:ahLst/>
              <a:cxnLst/>
              <a:rect l="l" t="t" r="r" b="b"/>
              <a:pathLst>
                <a:path w="600710" h="19050">
                  <a:moveTo>
                    <a:pt x="59318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3185" y="19050"/>
                  </a:lnTo>
                  <a:lnTo>
                    <a:pt x="595420" y="18122"/>
                  </a:lnTo>
                  <a:lnTo>
                    <a:pt x="599141" y="14401"/>
                  </a:lnTo>
                  <a:lnTo>
                    <a:pt x="600081" y="12153"/>
                  </a:lnTo>
                  <a:lnTo>
                    <a:pt x="600081" y="6896"/>
                  </a:lnTo>
                  <a:lnTo>
                    <a:pt x="599141" y="4648"/>
                  </a:lnTo>
                  <a:lnTo>
                    <a:pt x="595420" y="927"/>
                  </a:lnTo>
                  <a:lnTo>
                    <a:pt x="593185" y="0"/>
                  </a:lnTo>
                  <a:close/>
                </a:path>
              </a:pathLst>
            </a:custGeom>
            <a:solidFill>
              <a:srgbClr val="B1D4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69131" y="350043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25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7" y="357860"/>
                  </a:lnTo>
                  <a:lnTo>
                    <a:pt x="51619" y="371475"/>
                  </a:lnTo>
                  <a:lnTo>
                    <a:pt x="329380" y="371475"/>
                  </a:lnTo>
                  <a:lnTo>
                    <a:pt x="367381" y="352729"/>
                  </a:lnTo>
                  <a:lnTo>
                    <a:pt x="381000" y="319862"/>
                  </a:lnTo>
                  <a:lnTo>
                    <a:pt x="381000" y="51625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69131" y="350043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25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59"/>
                  </a:lnTo>
                  <a:lnTo>
                    <a:pt x="7297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34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25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8" y="323443"/>
                  </a:lnTo>
                  <a:lnTo>
                    <a:pt x="362252" y="357860"/>
                  </a:lnTo>
                  <a:lnTo>
                    <a:pt x="336534" y="370408"/>
                  </a:lnTo>
                  <a:lnTo>
                    <a:pt x="332973" y="371119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19"/>
                  </a:lnTo>
                  <a:lnTo>
                    <a:pt x="44465" y="370408"/>
                  </a:lnTo>
                  <a:lnTo>
                    <a:pt x="40907" y="369709"/>
                  </a:lnTo>
                  <a:lnTo>
                    <a:pt x="9311" y="346925"/>
                  </a:lnTo>
                  <a:lnTo>
                    <a:pt x="4207" y="337375"/>
                  </a:lnTo>
                  <a:lnTo>
                    <a:pt x="2818" y="334022"/>
                  </a:lnTo>
                  <a:lnTo>
                    <a:pt x="1771" y="330568"/>
                  </a:lnTo>
                  <a:lnTo>
                    <a:pt x="1061" y="327012"/>
                  </a:lnTo>
                  <a:lnTo>
                    <a:pt x="351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67902" y="3479641"/>
            <a:ext cx="179070" cy="3498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00" spc="-110" b="1">
                <a:solidFill>
                  <a:srgbClr val="262424"/>
                </a:solidFill>
                <a:latin typeface="Georgia"/>
                <a:cs typeface="Georgia"/>
              </a:rPr>
              <a:t>2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87525" y="3438969"/>
            <a:ext cx="4203700" cy="9328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145" b="1">
                <a:solidFill>
                  <a:srgbClr val="262424"/>
                </a:solidFill>
                <a:latin typeface="Georgia"/>
                <a:cs typeface="Georgia"/>
              </a:rPr>
              <a:t>S</a:t>
            </a:r>
            <a:r>
              <a:rPr dirty="0" sz="1750" spc="-114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750" spc="-40" b="1">
                <a:solidFill>
                  <a:srgbClr val="262424"/>
                </a:solidFill>
                <a:latin typeface="Georgia"/>
                <a:cs typeface="Georgia"/>
              </a:rPr>
              <a:t>l</a:t>
            </a:r>
            <a:r>
              <a:rPr dirty="0" sz="1750" spc="-114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cc</a:t>
            </a:r>
            <a:r>
              <a:rPr dirty="0" sz="1750" spc="-30" b="1">
                <a:solidFill>
                  <a:srgbClr val="262424"/>
                </a:solidFill>
                <a:latin typeface="Georgia"/>
                <a:cs typeface="Georgia"/>
              </a:rPr>
              <a:t>i</a:t>
            </a:r>
            <a:r>
              <a:rPr dirty="0" sz="1750" spc="-135" b="1">
                <a:solidFill>
                  <a:srgbClr val="262424"/>
                </a:solidFill>
                <a:latin typeface="Georgia"/>
                <a:cs typeface="Georgia"/>
              </a:rPr>
              <a:t>ó</a:t>
            </a:r>
            <a:r>
              <a:rPr dirty="0" sz="1750" spc="-100" b="1">
                <a:solidFill>
                  <a:srgbClr val="262424"/>
                </a:solidFill>
                <a:latin typeface="Georgia"/>
                <a:cs typeface="Georgia"/>
              </a:rPr>
              <a:t>n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750" spc="-105" b="1">
                <a:solidFill>
                  <a:srgbClr val="262424"/>
                </a:solidFill>
                <a:latin typeface="Georgia"/>
                <a:cs typeface="Georgia"/>
              </a:rPr>
              <a:t>d</a:t>
            </a:r>
            <a:r>
              <a:rPr dirty="0" sz="1750" spc="-110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750" spc="-105" b="1">
                <a:solidFill>
                  <a:srgbClr val="262424"/>
                </a:solidFill>
                <a:latin typeface="Georgia"/>
                <a:cs typeface="Georgia"/>
              </a:rPr>
              <a:t>h</a:t>
            </a:r>
            <a:r>
              <a:rPr dirty="0" sz="1750" spc="-125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r>
              <a:rPr dirty="0" sz="1750" spc="-150" b="1">
                <a:solidFill>
                  <a:srgbClr val="262424"/>
                </a:solidFill>
                <a:latin typeface="Georgia"/>
                <a:cs typeface="Georgia"/>
              </a:rPr>
              <a:t>r</a:t>
            </a:r>
            <a:r>
              <a:rPr dirty="0" sz="1750" spc="-105" b="1">
                <a:solidFill>
                  <a:srgbClr val="262424"/>
                </a:solidFill>
                <a:latin typeface="Georgia"/>
                <a:cs typeface="Georgia"/>
              </a:rPr>
              <a:t>d</a:t>
            </a:r>
            <a:r>
              <a:rPr dirty="0" sz="1750" spc="-260" b="1">
                <a:solidFill>
                  <a:srgbClr val="262424"/>
                </a:solidFill>
                <a:latin typeface="Georgia"/>
                <a:cs typeface="Georgia"/>
              </a:rPr>
              <a:t>w</a:t>
            </a:r>
            <a:r>
              <a:rPr dirty="0" sz="1750" spc="-125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r>
              <a:rPr dirty="0" sz="1750" spc="-150" b="1">
                <a:solidFill>
                  <a:srgbClr val="262424"/>
                </a:solidFill>
                <a:latin typeface="Georgia"/>
                <a:cs typeface="Georgia"/>
              </a:rPr>
              <a:t>r</a:t>
            </a:r>
            <a:r>
              <a:rPr dirty="0" sz="1750" spc="-110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670"/>
              </a:spcBef>
            </a:pP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Elegir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los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componentes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adecuados </a:t>
            </a:r>
            <a:r>
              <a:rPr dirty="0" sz="1350" spc="-30">
                <a:solidFill>
                  <a:srgbClr val="262424"/>
                </a:solidFill>
                <a:latin typeface="Verdana"/>
                <a:cs typeface="Verdana"/>
              </a:rPr>
              <a:t>considerando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requisitos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de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rendimiento,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consumo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conectividad.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4368" y="4943475"/>
            <a:ext cx="972185" cy="381000"/>
            <a:chOff x="664368" y="4943475"/>
            <a:chExt cx="972185" cy="381000"/>
          </a:xfrm>
        </p:grpSpPr>
        <p:sp>
          <p:nvSpPr>
            <p:cNvPr id="19" name="object 19"/>
            <p:cNvSpPr/>
            <p:nvPr/>
          </p:nvSpPr>
          <p:spPr>
            <a:xfrm>
              <a:off x="1035843" y="5124450"/>
              <a:ext cx="600710" cy="19050"/>
            </a:xfrm>
            <a:custGeom>
              <a:avLst/>
              <a:gdLst/>
              <a:ahLst/>
              <a:cxnLst/>
              <a:rect l="l" t="t" r="r" b="b"/>
              <a:pathLst>
                <a:path w="600710" h="19050">
                  <a:moveTo>
                    <a:pt x="59318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3185" y="19050"/>
                  </a:lnTo>
                  <a:lnTo>
                    <a:pt x="595420" y="18122"/>
                  </a:lnTo>
                  <a:lnTo>
                    <a:pt x="599141" y="14401"/>
                  </a:lnTo>
                  <a:lnTo>
                    <a:pt x="600081" y="12153"/>
                  </a:lnTo>
                  <a:lnTo>
                    <a:pt x="600081" y="6896"/>
                  </a:lnTo>
                  <a:lnTo>
                    <a:pt x="599141" y="4648"/>
                  </a:lnTo>
                  <a:lnTo>
                    <a:pt x="595420" y="927"/>
                  </a:lnTo>
                  <a:lnTo>
                    <a:pt x="593185" y="0"/>
                  </a:lnTo>
                  <a:close/>
                </a:path>
              </a:pathLst>
            </a:custGeom>
            <a:solidFill>
              <a:srgbClr val="B1D4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69131" y="494823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25"/>
                  </a:lnTo>
                  <a:lnTo>
                    <a:pt x="0" y="316231"/>
                  </a:lnTo>
                  <a:lnTo>
                    <a:pt x="0" y="319857"/>
                  </a:lnTo>
                  <a:lnTo>
                    <a:pt x="18747" y="357858"/>
                  </a:lnTo>
                  <a:lnTo>
                    <a:pt x="51619" y="371476"/>
                  </a:lnTo>
                  <a:lnTo>
                    <a:pt x="329380" y="371476"/>
                  </a:lnTo>
                  <a:lnTo>
                    <a:pt x="367381" y="352728"/>
                  </a:lnTo>
                  <a:lnTo>
                    <a:pt x="381000" y="319857"/>
                  </a:lnTo>
                  <a:lnTo>
                    <a:pt x="381000" y="51625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69131" y="494823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1"/>
                  </a:moveTo>
                  <a:lnTo>
                    <a:pt x="0" y="55245"/>
                  </a:lnTo>
                  <a:lnTo>
                    <a:pt x="0" y="51625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59"/>
                  </a:lnTo>
                  <a:lnTo>
                    <a:pt x="7297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34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25"/>
                  </a:lnTo>
                  <a:lnTo>
                    <a:pt x="381000" y="55245"/>
                  </a:lnTo>
                  <a:lnTo>
                    <a:pt x="381000" y="316231"/>
                  </a:lnTo>
                  <a:lnTo>
                    <a:pt x="381000" y="319857"/>
                  </a:lnTo>
                  <a:lnTo>
                    <a:pt x="380648" y="323448"/>
                  </a:lnTo>
                  <a:lnTo>
                    <a:pt x="379938" y="327005"/>
                  </a:lnTo>
                  <a:lnTo>
                    <a:pt x="379228" y="330563"/>
                  </a:lnTo>
                  <a:lnTo>
                    <a:pt x="378181" y="334021"/>
                  </a:lnTo>
                  <a:lnTo>
                    <a:pt x="376793" y="337369"/>
                  </a:lnTo>
                  <a:lnTo>
                    <a:pt x="375404" y="340723"/>
                  </a:lnTo>
                  <a:lnTo>
                    <a:pt x="373702" y="343908"/>
                  </a:lnTo>
                  <a:lnTo>
                    <a:pt x="371688" y="346924"/>
                  </a:lnTo>
                  <a:lnTo>
                    <a:pt x="369674" y="349940"/>
                  </a:lnTo>
                  <a:lnTo>
                    <a:pt x="336534" y="370414"/>
                  </a:lnTo>
                  <a:lnTo>
                    <a:pt x="329380" y="371476"/>
                  </a:lnTo>
                  <a:lnTo>
                    <a:pt x="325755" y="371476"/>
                  </a:lnTo>
                  <a:lnTo>
                    <a:pt x="55245" y="371476"/>
                  </a:lnTo>
                  <a:lnTo>
                    <a:pt x="51619" y="371476"/>
                  </a:lnTo>
                  <a:lnTo>
                    <a:pt x="48026" y="371119"/>
                  </a:lnTo>
                  <a:lnTo>
                    <a:pt x="13618" y="352728"/>
                  </a:lnTo>
                  <a:lnTo>
                    <a:pt x="4207" y="337369"/>
                  </a:lnTo>
                  <a:lnTo>
                    <a:pt x="2818" y="334021"/>
                  </a:lnTo>
                  <a:lnTo>
                    <a:pt x="1771" y="330563"/>
                  </a:lnTo>
                  <a:lnTo>
                    <a:pt x="1061" y="327005"/>
                  </a:lnTo>
                  <a:lnTo>
                    <a:pt x="351" y="323448"/>
                  </a:lnTo>
                  <a:lnTo>
                    <a:pt x="0" y="319857"/>
                  </a:lnTo>
                  <a:lnTo>
                    <a:pt x="0" y="316231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68052" y="4927441"/>
            <a:ext cx="178435" cy="3498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00" spc="-110" b="1">
                <a:solidFill>
                  <a:srgbClr val="262424"/>
                </a:solidFill>
                <a:latin typeface="Georgia"/>
                <a:cs typeface="Georgia"/>
              </a:rPr>
              <a:t>3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87525" y="4886769"/>
            <a:ext cx="4572000" cy="9328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135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r>
              <a:rPr dirty="0" sz="1750" spc="-150" b="1">
                <a:solidFill>
                  <a:srgbClr val="262424"/>
                </a:solidFill>
                <a:latin typeface="Georgia"/>
                <a:cs typeface="Georgia"/>
              </a:rPr>
              <a:t>r</a:t>
            </a:r>
            <a:r>
              <a:rPr dirty="0" sz="1750" spc="-90" b="1">
                <a:solidFill>
                  <a:srgbClr val="262424"/>
                </a:solidFill>
                <a:latin typeface="Georgia"/>
                <a:cs typeface="Georgia"/>
              </a:rPr>
              <a:t>q</a:t>
            </a:r>
            <a:r>
              <a:rPr dirty="0" sz="1750" spc="-120" b="1">
                <a:solidFill>
                  <a:srgbClr val="262424"/>
                </a:solidFill>
                <a:latin typeface="Georgia"/>
                <a:cs typeface="Georgia"/>
              </a:rPr>
              <a:t>u</a:t>
            </a:r>
            <a:r>
              <a:rPr dirty="0" sz="1750" spc="-30" b="1">
                <a:solidFill>
                  <a:srgbClr val="262424"/>
                </a:solidFill>
                <a:latin typeface="Georgia"/>
                <a:cs typeface="Georgia"/>
              </a:rPr>
              <a:t>i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t</a:t>
            </a:r>
            <a:r>
              <a:rPr dirty="0" sz="1750" spc="-114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c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t</a:t>
            </a:r>
            <a:r>
              <a:rPr dirty="0" sz="1750" spc="-120" b="1">
                <a:solidFill>
                  <a:srgbClr val="262424"/>
                </a:solidFill>
                <a:latin typeface="Georgia"/>
                <a:cs typeface="Georgia"/>
              </a:rPr>
              <a:t>u</a:t>
            </a:r>
            <a:r>
              <a:rPr dirty="0" sz="1750" spc="-160" b="1">
                <a:solidFill>
                  <a:srgbClr val="262424"/>
                </a:solidFill>
                <a:latin typeface="Georgia"/>
                <a:cs typeface="Georgia"/>
              </a:rPr>
              <a:t>r</a:t>
            </a:r>
            <a:r>
              <a:rPr dirty="0" sz="1750" spc="-120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750" spc="-105" b="1">
                <a:solidFill>
                  <a:srgbClr val="262424"/>
                </a:solidFill>
                <a:latin typeface="Georgia"/>
                <a:cs typeface="Georgia"/>
              </a:rPr>
              <a:t>d</a:t>
            </a:r>
            <a:r>
              <a:rPr dirty="0" sz="1750" spc="-114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750" spc="-35" b="1">
                <a:solidFill>
                  <a:srgbClr val="262424"/>
                </a:solidFill>
                <a:latin typeface="Georgia"/>
                <a:cs typeface="Georgia"/>
              </a:rPr>
              <a:t>l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750" spc="-90" b="1">
                <a:solidFill>
                  <a:srgbClr val="262424"/>
                </a:solidFill>
                <a:latin typeface="Georgia"/>
                <a:cs typeface="Georgia"/>
              </a:rPr>
              <a:t>s</a:t>
            </a:r>
            <a:r>
              <a:rPr dirty="0" sz="1750" spc="-30" b="1">
                <a:solidFill>
                  <a:srgbClr val="262424"/>
                </a:solidFill>
                <a:latin typeface="Georgia"/>
                <a:cs typeface="Georgia"/>
              </a:rPr>
              <a:t>i</a:t>
            </a:r>
            <a:r>
              <a:rPr dirty="0" sz="1750" spc="-90" b="1">
                <a:solidFill>
                  <a:srgbClr val="262424"/>
                </a:solidFill>
                <a:latin typeface="Georgia"/>
                <a:cs typeface="Georgia"/>
              </a:rPr>
              <a:t>s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t</a:t>
            </a:r>
            <a:r>
              <a:rPr dirty="0" sz="1750" spc="-114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750" spc="-175" b="1">
                <a:solidFill>
                  <a:srgbClr val="262424"/>
                </a:solidFill>
                <a:latin typeface="Georgia"/>
                <a:cs typeface="Georgia"/>
              </a:rPr>
              <a:t>m</a:t>
            </a:r>
            <a:r>
              <a:rPr dirty="0" sz="1750" spc="-120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670"/>
              </a:spcBef>
            </a:pP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Diseñar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in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15">
                <a:solidFill>
                  <a:srgbClr val="262424"/>
                </a:solidFill>
                <a:latin typeface="Verdana"/>
                <a:cs typeface="Verdana"/>
              </a:rPr>
              <a:t>eracción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ent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lo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di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f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en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5">
                <a:solidFill>
                  <a:srgbClr val="262424"/>
                </a:solidFill>
                <a:latin typeface="Verdana"/>
                <a:cs typeface="Verdana"/>
              </a:rPr>
              <a:t>es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elemen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5">
                <a:solidFill>
                  <a:srgbClr val="262424"/>
                </a:solidFill>
                <a:latin typeface="Verdana"/>
                <a:cs typeface="Verdana"/>
              </a:rPr>
              <a:t>os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62424"/>
                </a:solidFill>
                <a:latin typeface="Verdana"/>
                <a:cs typeface="Verdana"/>
              </a:rPr>
              <a:t>del  </a:t>
            </a:r>
            <a:r>
              <a:rPr dirty="0" sz="1350" spc="-30">
                <a:solidFill>
                  <a:srgbClr val="262424"/>
                </a:solidFill>
                <a:latin typeface="Verdana"/>
                <a:cs typeface="Verdana"/>
              </a:rPr>
              <a:t>sis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ema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10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1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796264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3089" y="682624"/>
            <a:ext cx="234950" cy="203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536950" marR="5080">
              <a:lnSpc>
                <a:spcPts val="4430"/>
              </a:lnSpc>
              <a:spcBef>
                <a:spcPts val="15"/>
              </a:spcBef>
              <a:tabLst>
                <a:tab pos="7700645" algn="l"/>
              </a:tabLst>
            </a:pPr>
            <a:r>
              <a:rPr dirty="0" spc="-200"/>
              <a:t>Conclusiones</a:t>
            </a:r>
            <a:r>
              <a:rPr dirty="0" spc="-130"/>
              <a:t> </a:t>
            </a:r>
            <a:r>
              <a:rPr dirty="0" spc="-185"/>
              <a:t>y</a:t>
            </a:r>
            <a:r>
              <a:rPr dirty="0" spc="-130"/>
              <a:t> </a:t>
            </a:r>
            <a:r>
              <a:rPr dirty="0" spc="-305"/>
              <a:t>p</a:t>
            </a:r>
            <a:r>
              <a:rPr dirty="0" spc="-265"/>
              <a:t>r</a:t>
            </a:r>
            <a:r>
              <a:rPr dirty="0" spc="-295"/>
              <a:t>ó</a:t>
            </a:r>
            <a:r>
              <a:rPr dirty="0"/>
              <a:t>	</a:t>
            </a:r>
            <a:r>
              <a:rPr dirty="0" spc="-190"/>
              <a:t>imos  </a:t>
            </a:r>
            <a:r>
              <a:rPr dirty="0" spc="-240"/>
              <a:t>pasos</a:t>
            </a:r>
          </a:p>
        </p:txBody>
      </p:sp>
      <p:sp>
        <p:nvSpPr>
          <p:cNvPr id="5" name="object 5"/>
          <p:cNvSpPr/>
          <p:nvPr/>
        </p:nvSpPr>
        <p:spPr>
          <a:xfrm>
            <a:off x="4953292" y="1857374"/>
            <a:ext cx="295275" cy="428625"/>
          </a:xfrm>
          <a:custGeom>
            <a:avLst/>
            <a:gdLst/>
            <a:ahLst/>
            <a:cxnLst/>
            <a:rect l="l" t="t" r="r" b="b"/>
            <a:pathLst>
              <a:path w="295275" h="428625">
                <a:moveTo>
                  <a:pt x="147345" y="0"/>
                </a:moveTo>
                <a:lnTo>
                  <a:pt x="100775" y="7511"/>
                </a:lnTo>
                <a:lnTo>
                  <a:pt x="60328" y="28427"/>
                </a:lnTo>
                <a:lnTo>
                  <a:pt x="28431" y="60322"/>
                </a:lnTo>
                <a:lnTo>
                  <a:pt x="7512" y="100770"/>
                </a:lnTo>
                <a:lnTo>
                  <a:pt x="0" y="147345"/>
                </a:lnTo>
                <a:lnTo>
                  <a:pt x="1775" y="170291"/>
                </a:lnTo>
                <a:lnTo>
                  <a:pt x="15157" y="212583"/>
                </a:lnTo>
                <a:lnTo>
                  <a:pt x="39103" y="249301"/>
                </a:lnTo>
                <a:lnTo>
                  <a:pt x="46794" y="259926"/>
                </a:lnTo>
                <a:lnTo>
                  <a:pt x="67983" y="292671"/>
                </a:lnTo>
                <a:lnTo>
                  <a:pt x="77863" y="321551"/>
                </a:lnTo>
                <a:lnTo>
                  <a:pt x="105067" y="321551"/>
                </a:lnTo>
                <a:lnTo>
                  <a:pt x="91451" y="279692"/>
                </a:lnTo>
                <a:lnTo>
                  <a:pt x="67773" y="243150"/>
                </a:lnTo>
                <a:lnTo>
                  <a:pt x="59208" y="231305"/>
                </a:lnTo>
                <a:lnTo>
                  <a:pt x="55676" y="226364"/>
                </a:lnTo>
                <a:lnTo>
                  <a:pt x="32467" y="183991"/>
                </a:lnTo>
                <a:lnTo>
                  <a:pt x="26797" y="147345"/>
                </a:lnTo>
                <a:lnTo>
                  <a:pt x="36272" y="100427"/>
                </a:lnTo>
                <a:lnTo>
                  <a:pt x="62110" y="62104"/>
                </a:lnTo>
                <a:lnTo>
                  <a:pt x="100429" y="36261"/>
                </a:lnTo>
                <a:lnTo>
                  <a:pt x="147345" y="26784"/>
                </a:lnTo>
                <a:lnTo>
                  <a:pt x="231184" y="26784"/>
                </a:lnTo>
                <a:lnTo>
                  <a:pt x="193914" y="7511"/>
                </a:lnTo>
                <a:lnTo>
                  <a:pt x="147345" y="0"/>
                </a:lnTo>
                <a:close/>
              </a:path>
              <a:path w="295275" h="428625">
                <a:moveTo>
                  <a:pt x="231184" y="26784"/>
                </a:moveTo>
                <a:lnTo>
                  <a:pt x="147345" y="26784"/>
                </a:lnTo>
                <a:lnTo>
                  <a:pt x="194261" y="36261"/>
                </a:lnTo>
                <a:lnTo>
                  <a:pt x="232579" y="62104"/>
                </a:lnTo>
                <a:lnTo>
                  <a:pt x="258418" y="100427"/>
                </a:lnTo>
                <a:lnTo>
                  <a:pt x="267893" y="147345"/>
                </a:lnTo>
                <a:lnTo>
                  <a:pt x="266439" y="166141"/>
                </a:lnTo>
                <a:lnTo>
                  <a:pt x="262223" y="183991"/>
                </a:lnTo>
                <a:lnTo>
                  <a:pt x="255463" y="200698"/>
                </a:lnTo>
                <a:lnTo>
                  <a:pt x="246380" y="216065"/>
                </a:lnTo>
                <a:lnTo>
                  <a:pt x="242951" y="221005"/>
                </a:lnTo>
                <a:lnTo>
                  <a:pt x="218426" y="255122"/>
                </a:lnTo>
                <a:lnTo>
                  <a:pt x="198185" y="290075"/>
                </a:lnTo>
                <a:lnTo>
                  <a:pt x="189623" y="321475"/>
                </a:lnTo>
                <a:lnTo>
                  <a:pt x="216738" y="321475"/>
                </a:lnTo>
                <a:lnTo>
                  <a:pt x="218371" y="313994"/>
                </a:lnTo>
                <a:lnTo>
                  <a:pt x="220527" y="306652"/>
                </a:lnTo>
                <a:lnTo>
                  <a:pt x="240312" y="270494"/>
                </a:lnTo>
                <a:lnTo>
                  <a:pt x="264210" y="237337"/>
                </a:lnTo>
                <a:lnTo>
                  <a:pt x="268401" y="231305"/>
                </a:lnTo>
                <a:lnTo>
                  <a:pt x="279501" y="212546"/>
                </a:lnTo>
                <a:lnTo>
                  <a:pt x="287761" y="192116"/>
                </a:lnTo>
                <a:lnTo>
                  <a:pt x="292913" y="170290"/>
                </a:lnTo>
                <a:lnTo>
                  <a:pt x="294690" y="147345"/>
                </a:lnTo>
                <a:lnTo>
                  <a:pt x="287178" y="100770"/>
                </a:lnTo>
                <a:lnTo>
                  <a:pt x="266259" y="60322"/>
                </a:lnTo>
                <a:lnTo>
                  <a:pt x="234362" y="28427"/>
                </a:lnTo>
                <a:lnTo>
                  <a:pt x="231184" y="26784"/>
                </a:lnTo>
                <a:close/>
              </a:path>
              <a:path w="295275" h="428625">
                <a:moveTo>
                  <a:pt x="246380" y="215988"/>
                </a:moveTo>
                <a:close/>
              </a:path>
              <a:path w="295275" h="428625">
                <a:moveTo>
                  <a:pt x="154711" y="53581"/>
                </a:moveTo>
                <a:lnTo>
                  <a:pt x="147345" y="53581"/>
                </a:lnTo>
                <a:lnTo>
                  <a:pt x="110834" y="60943"/>
                </a:lnTo>
                <a:lnTo>
                  <a:pt x="81032" y="81027"/>
                </a:lnTo>
                <a:lnTo>
                  <a:pt x="60945" y="110829"/>
                </a:lnTo>
                <a:lnTo>
                  <a:pt x="53581" y="147345"/>
                </a:lnTo>
                <a:lnTo>
                  <a:pt x="53581" y="154711"/>
                </a:lnTo>
                <a:lnTo>
                  <a:pt x="59613" y="160731"/>
                </a:lnTo>
                <a:lnTo>
                  <a:pt x="74345" y="160731"/>
                </a:lnTo>
                <a:lnTo>
                  <a:pt x="80378" y="154711"/>
                </a:lnTo>
                <a:lnTo>
                  <a:pt x="80378" y="147345"/>
                </a:lnTo>
                <a:lnTo>
                  <a:pt x="85637" y="121267"/>
                </a:lnTo>
                <a:lnTo>
                  <a:pt x="99983" y="99977"/>
                </a:lnTo>
                <a:lnTo>
                  <a:pt x="121269" y="85626"/>
                </a:lnTo>
                <a:lnTo>
                  <a:pt x="147345" y="80365"/>
                </a:lnTo>
                <a:lnTo>
                  <a:pt x="154711" y="80365"/>
                </a:lnTo>
                <a:lnTo>
                  <a:pt x="160743" y="74345"/>
                </a:lnTo>
                <a:lnTo>
                  <a:pt x="160743" y="59601"/>
                </a:lnTo>
                <a:lnTo>
                  <a:pt x="154711" y="53581"/>
                </a:lnTo>
                <a:close/>
              </a:path>
              <a:path w="295275" h="428625">
                <a:moveTo>
                  <a:pt x="210299" y="348259"/>
                </a:moveTo>
                <a:lnTo>
                  <a:pt x="84391" y="348259"/>
                </a:lnTo>
                <a:lnTo>
                  <a:pt x="80378" y="352272"/>
                </a:lnTo>
                <a:lnTo>
                  <a:pt x="80378" y="361657"/>
                </a:lnTo>
                <a:lnTo>
                  <a:pt x="85637" y="387728"/>
                </a:lnTo>
                <a:lnTo>
                  <a:pt x="99983" y="409014"/>
                </a:lnTo>
                <a:lnTo>
                  <a:pt x="121269" y="423363"/>
                </a:lnTo>
                <a:lnTo>
                  <a:pt x="147345" y="428625"/>
                </a:lnTo>
                <a:lnTo>
                  <a:pt x="173421" y="423363"/>
                </a:lnTo>
                <a:lnTo>
                  <a:pt x="194706" y="409014"/>
                </a:lnTo>
                <a:lnTo>
                  <a:pt x="199541" y="401840"/>
                </a:lnTo>
                <a:lnTo>
                  <a:pt x="147345" y="401840"/>
                </a:lnTo>
                <a:lnTo>
                  <a:pt x="134813" y="399843"/>
                </a:lnTo>
                <a:lnTo>
                  <a:pt x="123893" y="394281"/>
                </a:lnTo>
                <a:lnTo>
                  <a:pt x="115218" y="385799"/>
                </a:lnTo>
                <a:lnTo>
                  <a:pt x="109423" y="375043"/>
                </a:lnTo>
                <a:lnTo>
                  <a:pt x="211612" y="375043"/>
                </a:lnTo>
                <a:lnTo>
                  <a:pt x="214312" y="361657"/>
                </a:lnTo>
                <a:lnTo>
                  <a:pt x="214312" y="352272"/>
                </a:lnTo>
                <a:lnTo>
                  <a:pt x="210299" y="348259"/>
                </a:lnTo>
                <a:close/>
              </a:path>
              <a:path w="295275" h="428625">
                <a:moveTo>
                  <a:pt x="211612" y="375043"/>
                </a:moveTo>
                <a:lnTo>
                  <a:pt x="185267" y="375043"/>
                </a:lnTo>
                <a:lnTo>
                  <a:pt x="179472" y="385799"/>
                </a:lnTo>
                <a:lnTo>
                  <a:pt x="170797" y="394281"/>
                </a:lnTo>
                <a:lnTo>
                  <a:pt x="159876" y="399843"/>
                </a:lnTo>
                <a:lnTo>
                  <a:pt x="147345" y="401840"/>
                </a:lnTo>
                <a:lnTo>
                  <a:pt x="199541" y="401840"/>
                </a:lnTo>
                <a:lnTo>
                  <a:pt x="209053" y="387728"/>
                </a:lnTo>
                <a:lnTo>
                  <a:pt x="211612" y="375043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3625" y="2419794"/>
            <a:ext cx="5600065" cy="9328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110" b="1">
                <a:solidFill>
                  <a:srgbClr val="262424"/>
                </a:solidFill>
                <a:latin typeface="Georgia"/>
                <a:cs typeface="Georgia"/>
              </a:rPr>
              <a:t>Innovación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29600"/>
              </a:lnSpc>
              <a:spcBef>
                <a:spcPts val="819"/>
              </a:spcBef>
            </a:pPr>
            <a:r>
              <a:rPr dirty="0" sz="1350">
                <a:solidFill>
                  <a:srgbClr val="262424"/>
                </a:solidFill>
                <a:latin typeface="Verdana"/>
                <a:cs typeface="Verdana"/>
              </a:rPr>
              <a:t>Los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sistemas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IoT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impulsan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la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transformación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digital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al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ofrecer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nuevas </a:t>
            </a:r>
            <a:r>
              <a:rPr dirty="0" sz="1350" spc="-45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5">
                <a:solidFill>
                  <a:srgbClr val="262424"/>
                </a:solidFill>
                <a:latin typeface="Verdana"/>
                <a:cs typeface="Verdana"/>
              </a:rPr>
              <a:t>f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1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mas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moni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15">
                <a:solidFill>
                  <a:srgbClr val="262424"/>
                </a:solidFill>
                <a:latin typeface="Verdana"/>
                <a:cs typeface="Verdana"/>
              </a:rPr>
              <a:t>eo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cont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ol.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00142" y="3905884"/>
            <a:ext cx="401320" cy="427990"/>
          </a:xfrm>
          <a:custGeom>
            <a:avLst/>
            <a:gdLst/>
            <a:ahLst/>
            <a:cxnLst/>
            <a:rect l="l" t="t" r="r" b="b"/>
            <a:pathLst>
              <a:path w="401320" h="427989">
                <a:moveTo>
                  <a:pt x="224731" y="426720"/>
                </a:moveTo>
                <a:lnTo>
                  <a:pt x="176257" y="426720"/>
                </a:lnTo>
                <a:lnTo>
                  <a:pt x="184265" y="427990"/>
                </a:lnTo>
                <a:lnTo>
                  <a:pt x="216723" y="427990"/>
                </a:lnTo>
                <a:lnTo>
                  <a:pt x="224731" y="426720"/>
                </a:lnTo>
                <a:close/>
              </a:path>
              <a:path w="401320" h="427989">
                <a:moveTo>
                  <a:pt x="234061" y="425450"/>
                </a:moveTo>
                <a:lnTo>
                  <a:pt x="166839" y="425450"/>
                </a:lnTo>
                <a:lnTo>
                  <a:pt x="168351" y="426720"/>
                </a:lnTo>
                <a:lnTo>
                  <a:pt x="232638" y="426720"/>
                </a:lnTo>
                <a:lnTo>
                  <a:pt x="234061" y="425450"/>
                </a:lnTo>
                <a:close/>
              </a:path>
              <a:path w="401320" h="427989">
                <a:moveTo>
                  <a:pt x="155230" y="345440"/>
                </a:moveTo>
                <a:lnTo>
                  <a:pt x="107149" y="345440"/>
                </a:lnTo>
                <a:lnTo>
                  <a:pt x="109499" y="346710"/>
                </a:lnTo>
                <a:lnTo>
                  <a:pt x="116357" y="351790"/>
                </a:lnTo>
                <a:lnTo>
                  <a:pt x="123647" y="355600"/>
                </a:lnTo>
                <a:lnTo>
                  <a:pt x="131254" y="359410"/>
                </a:lnTo>
                <a:lnTo>
                  <a:pt x="133858" y="360680"/>
                </a:lnTo>
                <a:lnTo>
                  <a:pt x="135356" y="363220"/>
                </a:lnTo>
                <a:lnTo>
                  <a:pt x="135953" y="364490"/>
                </a:lnTo>
                <a:lnTo>
                  <a:pt x="147421" y="403860"/>
                </a:lnTo>
                <a:lnTo>
                  <a:pt x="150012" y="410210"/>
                </a:lnTo>
                <a:lnTo>
                  <a:pt x="153781" y="416560"/>
                </a:lnTo>
                <a:lnTo>
                  <a:pt x="158555" y="421640"/>
                </a:lnTo>
                <a:lnTo>
                  <a:pt x="164160" y="425450"/>
                </a:lnTo>
                <a:lnTo>
                  <a:pt x="236829" y="425450"/>
                </a:lnTo>
                <a:lnTo>
                  <a:pt x="254308" y="401320"/>
                </a:lnTo>
                <a:lnTo>
                  <a:pt x="181376" y="401320"/>
                </a:lnTo>
                <a:lnTo>
                  <a:pt x="175133" y="400050"/>
                </a:lnTo>
                <a:lnTo>
                  <a:pt x="174205" y="398780"/>
                </a:lnTo>
                <a:lnTo>
                  <a:pt x="173532" y="398780"/>
                </a:lnTo>
                <a:lnTo>
                  <a:pt x="173126" y="397510"/>
                </a:lnTo>
                <a:lnTo>
                  <a:pt x="161645" y="356870"/>
                </a:lnTo>
                <a:lnTo>
                  <a:pt x="158683" y="350520"/>
                </a:lnTo>
                <a:lnTo>
                  <a:pt x="155230" y="345440"/>
                </a:lnTo>
                <a:close/>
              </a:path>
              <a:path w="401320" h="427989">
                <a:moveTo>
                  <a:pt x="304723" y="318770"/>
                </a:moveTo>
                <a:lnTo>
                  <a:pt x="289683" y="318770"/>
                </a:lnTo>
                <a:lnTo>
                  <a:pt x="282692" y="321310"/>
                </a:lnTo>
                <a:lnTo>
                  <a:pt x="276339" y="325120"/>
                </a:lnTo>
                <a:lnTo>
                  <a:pt x="270560" y="328930"/>
                </a:lnTo>
                <a:lnTo>
                  <a:pt x="264541" y="332740"/>
                </a:lnTo>
                <a:lnTo>
                  <a:pt x="227863" y="397510"/>
                </a:lnTo>
                <a:lnTo>
                  <a:pt x="227533" y="398780"/>
                </a:lnTo>
                <a:lnTo>
                  <a:pt x="226783" y="398780"/>
                </a:lnTo>
                <a:lnTo>
                  <a:pt x="225856" y="400050"/>
                </a:lnTo>
                <a:lnTo>
                  <a:pt x="219613" y="401320"/>
                </a:lnTo>
                <a:lnTo>
                  <a:pt x="254308" y="401320"/>
                </a:lnTo>
                <a:lnTo>
                  <a:pt x="265036" y="364490"/>
                </a:lnTo>
                <a:lnTo>
                  <a:pt x="265544" y="361950"/>
                </a:lnTo>
                <a:lnTo>
                  <a:pt x="267131" y="360680"/>
                </a:lnTo>
                <a:lnTo>
                  <a:pt x="277342" y="355600"/>
                </a:lnTo>
                <a:lnTo>
                  <a:pt x="284632" y="351790"/>
                </a:lnTo>
                <a:lnTo>
                  <a:pt x="293839" y="345440"/>
                </a:lnTo>
                <a:lnTo>
                  <a:pt x="370094" y="345440"/>
                </a:lnTo>
                <a:lnTo>
                  <a:pt x="372205" y="342900"/>
                </a:lnTo>
                <a:lnTo>
                  <a:pt x="376380" y="336550"/>
                </a:lnTo>
                <a:lnTo>
                  <a:pt x="380369" y="330200"/>
                </a:lnTo>
                <a:lnTo>
                  <a:pt x="346329" y="330200"/>
                </a:lnTo>
                <a:lnTo>
                  <a:pt x="345071" y="328930"/>
                </a:lnTo>
                <a:lnTo>
                  <a:pt x="304723" y="318770"/>
                </a:lnTo>
                <a:close/>
              </a:path>
              <a:path w="401320" h="427989">
                <a:moveTo>
                  <a:pt x="55590" y="72390"/>
                </a:moveTo>
                <a:lnTo>
                  <a:pt x="48833" y="72390"/>
                </a:lnTo>
                <a:lnTo>
                  <a:pt x="42373" y="74930"/>
                </a:lnTo>
                <a:lnTo>
                  <a:pt x="36410" y="77470"/>
                </a:lnTo>
                <a:lnTo>
                  <a:pt x="35153" y="78740"/>
                </a:lnTo>
                <a:lnTo>
                  <a:pt x="34061" y="78740"/>
                </a:lnTo>
                <a:lnTo>
                  <a:pt x="28770" y="86360"/>
                </a:lnTo>
                <a:lnTo>
                  <a:pt x="24566" y="91440"/>
                </a:lnTo>
                <a:lnTo>
                  <a:pt x="20550" y="97790"/>
                </a:lnTo>
                <a:lnTo>
                  <a:pt x="16738" y="104140"/>
                </a:lnTo>
                <a:lnTo>
                  <a:pt x="12966" y="110490"/>
                </a:lnTo>
                <a:lnTo>
                  <a:pt x="9594" y="116840"/>
                </a:lnTo>
                <a:lnTo>
                  <a:pt x="0" y="140970"/>
                </a:lnTo>
                <a:lnTo>
                  <a:pt x="357" y="147320"/>
                </a:lnTo>
                <a:lnTo>
                  <a:pt x="38252" y="195580"/>
                </a:lnTo>
                <a:lnTo>
                  <a:pt x="39585" y="196850"/>
                </a:lnTo>
                <a:lnTo>
                  <a:pt x="40513" y="199390"/>
                </a:lnTo>
                <a:lnTo>
                  <a:pt x="40259" y="201930"/>
                </a:lnTo>
                <a:lnTo>
                  <a:pt x="39928" y="205740"/>
                </a:lnTo>
                <a:lnTo>
                  <a:pt x="39818" y="219710"/>
                </a:lnTo>
                <a:lnTo>
                  <a:pt x="39928" y="222250"/>
                </a:lnTo>
                <a:lnTo>
                  <a:pt x="40259" y="227330"/>
                </a:lnTo>
                <a:lnTo>
                  <a:pt x="40513" y="229870"/>
                </a:lnTo>
                <a:lnTo>
                  <a:pt x="39585" y="232410"/>
                </a:lnTo>
                <a:lnTo>
                  <a:pt x="9372" y="262890"/>
                </a:lnTo>
                <a:lnTo>
                  <a:pt x="76" y="289560"/>
                </a:lnTo>
                <a:lnTo>
                  <a:pt x="419" y="290830"/>
                </a:lnTo>
                <a:lnTo>
                  <a:pt x="914" y="292100"/>
                </a:lnTo>
                <a:lnTo>
                  <a:pt x="3596" y="298450"/>
                </a:lnTo>
                <a:lnTo>
                  <a:pt x="6492" y="306070"/>
                </a:lnTo>
                <a:lnTo>
                  <a:pt x="9594" y="311150"/>
                </a:lnTo>
                <a:lnTo>
                  <a:pt x="12890" y="317500"/>
                </a:lnTo>
                <a:lnTo>
                  <a:pt x="12966" y="318770"/>
                </a:lnTo>
                <a:lnTo>
                  <a:pt x="16649" y="325120"/>
                </a:lnTo>
                <a:lnTo>
                  <a:pt x="20538" y="331470"/>
                </a:lnTo>
                <a:lnTo>
                  <a:pt x="24533" y="336550"/>
                </a:lnTo>
                <a:lnTo>
                  <a:pt x="55590" y="356870"/>
                </a:lnTo>
                <a:lnTo>
                  <a:pt x="62445" y="355600"/>
                </a:lnTo>
                <a:lnTo>
                  <a:pt x="102793" y="345440"/>
                </a:lnTo>
                <a:lnTo>
                  <a:pt x="155230" y="345440"/>
                </a:lnTo>
                <a:lnTo>
                  <a:pt x="154366" y="344170"/>
                </a:lnTo>
                <a:lnTo>
                  <a:pt x="148981" y="339090"/>
                </a:lnTo>
                <a:lnTo>
                  <a:pt x="142811" y="335280"/>
                </a:lnTo>
                <a:lnTo>
                  <a:pt x="136448" y="332740"/>
                </a:lnTo>
                <a:lnTo>
                  <a:pt x="132435" y="330200"/>
                </a:lnTo>
                <a:lnTo>
                  <a:pt x="53403" y="330200"/>
                </a:lnTo>
                <a:lnTo>
                  <a:pt x="52235" y="328930"/>
                </a:lnTo>
                <a:lnTo>
                  <a:pt x="29540" y="292100"/>
                </a:lnTo>
                <a:lnTo>
                  <a:pt x="26784" y="285750"/>
                </a:lnTo>
                <a:lnTo>
                  <a:pt x="27038" y="284480"/>
                </a:lnTo>
                <a:lnTo>
                  <a:pt x="27622" y="283210"/>
                </a:lnTo>
                <a:lnTo>
                  <a:pt x="28549" y="281940"/>
                </a:lnTo>
                <a:lnTo>
                  <a:pt x="57505" y="251460"/>
                </a:lnTo>
                <a:lnTo>
                  <a:pt x="62164" y="246380"/>
                </a:lnTo>
                <a:lnTo>
                  <a:pt x="65251" y="238760"/>
                </a:lnTo>
                <a:lnTo>
                  <a:pt x="66829" y="232410"/>
                </a:lnTo>
                <a:lnTo>
                  <a:pt x="66944" y="226060"/>
                </a:lnTo>
                <a:lnTo>
                  <a:pt x="66883" y="223520"/>
                </a:lnTo>
                <a:lnTo>
                  <a:pt x="66631" y="219710"/>
                </a:lnTo>
                <a:lnTo>
                  <a:pt x="66713" y="207010"/>
                </a:lnTo>
                <a:lnTo>
                  <a:pt x="66967" y="204470"/>
                </a:lnTo>
                <a:lnTo>
                  <a:pt x="66829" y="196850"/>
                </a:lnTo>
                <a:lnTo>
                  <a:pt x="65251" y="189230"/>
                </a:lnTo>
                <a:lnTo>
                  <a:pt x="62164" y="182880"/>
                </a:lnTo>
                <a:lnTo>
                  <a:pt x="57505" y="176530"/>
                </a:lnTo>
                <a:lnTo>
                  <a:pt x="28625" y="146050"/>
                </a:lnTo>
                <a:lnTo>
                  <a:pt x="27711" y="146050"/>
                </a:lnTo>
                <a:lnTo>
                  <a:pt x="27114" y="144780"/>
                </a:lnTo>
                <a:lnTo>
                  <a:pt x="26873" y="143510"/>
                </a:lnTo>
                <a:lnTo>
                  <a:pt x="29629" y="137160"/>
                </a:lnTo>
                <a:lnTo>
                  <a:pt x="32727" y="129540"/>
                </a:lnTo>
                <a:lnTo>
                  <a:pt x="36245" y="123190"/>
                </a:lnTo>
                <a:lnTo>
                  <a:pt x="39763" y="118110"/>
                </a:lnTo>
                <a:lnTo>
                  <a:pt x="43611" y="111760"/>
                </a:lnTo>
                <a:lnTo>
                  <a:pt x="47802" y="105410"/>
                </a:lnTo>
                <a:lnTo>
                  <a:pt x="52311" y="99060"/>
                </a:lnTo>
                <a:lnTo>
                  <a:pt x="132516" y="99060"/>
                </a:lnTo>
                <a:lnTo>
                  <a:pt x="136537" y="96520"/>
                </a:lnTo>
                <a:lnTo>
                  <a:pt x="142900" y="92710"/>
                </a:lnTo>
                <a:lnTo>
                  <a:pt x="149081" y="90170"/>
                </a:lnTo>
                <a:lnTo>
                  <a:pt x="154484" y="85090"/>
                </a:lnTo>
                <a:lnTo>
                  <a:pt x="155348" y="83820"/>
                </a:lnTo>
                <a:lnTo>
                  <a:pt x="102793" y="83820"/>
                </a:lnTo>
                <a:lnTo>
                  <a:pt x="62445" y="73660"/>
                </a:lnTo>
                <a:lnTo>
                  <a:pt x="55590" y="72390"/>
                </a:lnTo>
                <a:close/>
              </a:path>
              <a:path w="401320" h="427989">
                <a:moveTo>
                  <a:pt x="370094" y="345440"/>
                </a:moveTo>
                <a:lnTo>
                  <a:pt x="298196" y="345440"/>
                </a:lnTo>
                <a:lnTo>
                  <a:pt x="338543" y="355600"/>
                </a:lnTo>
                <a:lnTo>
                  <a:pt x="345399" y="356870"/>
                </a:lnTo>
                <a:lnTo>
                  <a:pt x="358616" y="354330"/>
                </a:lnTo>
                <a:lnTo>
                  <a:pt x="364578" y="350520"/>
                </a:lnTo>
                <a:lnTo>
                  <a:pt x="365836" y="350520"/>
                </a:lnTo>
                <a:lnTo>
                  <a:pt x="366928" y="349250"/>
                </a:lnTo>
                <a:lnTo>
                  <a:pt x="370094" y="345440"/>
                </a:lnTo>
                <a:close/>
              </a:path>
              <a:path w="401320" h="427989">
                <a:moveTo>
                  <a:pt x="111334" y="318770"/>
                </a:moveTo>
                <a:lnTo>
                  <a:pt x="96266" y="318770"/>
                </a:lnTo>
                <a:lnTo>
                  <a:pt x="55918" y="328930"/>
                </a:lnTo>
                <a:lnTo>
                  <a:pt x="54660" y="330200"/>
                </a:lnTo>
                <a:lnTo>
                  <a:pt x="132435" y="330200"/>
                </a:lnTo>
                <a:lnTo>
                  <a:pt x="130429" y="328930"/>
                </a:lnTo>
                <a:lnTo>
                  <a:pt x="124650" y="325120"/>
                </a:lnTo>
                <a:lnTo>
                  <a:pt x="118329" y="321310"/>
                </a:lnTo>
                <a:lnTo>
                  <a:pt x="111334" y="318770"/>
                </a:lnTo>
                <a:close/>
              </a:path>
              <a:path w="401320" h="427989">
                <a:moveTo>
                  <a:pt x="381212" y="99060"/>
                </a:moveTo>
                <a:lnTo>
                  <a:pt x="348754" y="99060"/>
                </a:lnTo>
                <a:lnTo>
                  <a:pt x="353275" y="105410"/>
                </a:lnTo>
                <a:lnTo>
                  <a:pt x="357466" y="111760"/>
                </a:lnTo>
                <a:lnTo>
                  <a:pt x="361226" y="118110"/>
                </a:lnTo>
                <a:lnTo>
                  <a:pt x="364832" y="124460"/>
                </a:lnTo>
                <a:lnTo>
                  <a:pt x="368338" y="129540"/>
                </a:lnTo>
                <a:lnTo>
                  <a:pt x="371449" y="137160"/>
                </a:lnTo>
                <a:lnTo>
                  <a:pt x="374205" y="143510"/>
                </a:lnTo>
                <a:lnTo>
                  <a:pt x="373951" y="144780"/>
                </a:lnTo>
                <a:lnTo>
                  <a:pt x="373367" y="146050"/>
                </a:lnTo>
                <a:lnTo>
                  <a:pt x="372440" y="147320"/>
                </a:lnTo>
                <a:lnTo>
                  <a:pt x="343484" y="176530"/>
                </a:lnTo>
                <a:lnTo>
                  <a:pt x="338825" y="182880"/>
                </a:lnTo>
                <a:lnTo>
                  <a:pt x="335738" y="189230"/>
                </a:lnTo>
                <a:lnTo>
                  <a:pt x="334159" y="196850"/>
                </a:lnTo>
                <a:lnTo>
                  <a:pt x="334022" y="204470"/>
                </a:lnTo>
                <a:lnTo>
                  <a:pt x="334276" y="207010"/>
                </a:lnTo>
                <a:lnTo>
                  <a:pt x="334357" y="219710"/>
                </a:lnTo>
                <a:lnTo>
                  <a:pt x="334106" y="223520"/>
                </a:lnTo>
                <a:lnTo>
                  <a:pt x="334045" y="226060"/>
                </a:lnTo>
                <a:lnTo>
                  <a:pt x="334159" y="232410"/>
                </a:lnTo>
                <a:lnTo>
                  <a:pt x="335738" y="238760"/>
                </a:lnTo>
                <a:lnTo>
                  <a:pt x="338825" y="246380"/>
                </a:lnTo>
                <a:lnTo>
                  <a:pt x="343484" y="251460"/>
                </a:lnTo>
                <a:lnTo>
                  <a:pt x="372364" y="281940"/>
                </a:lnTo>
                <a:lnTo>
                  <a:pt x="373278" y="283210"/>
                </a:lnTo>
                <a:lnTo>
                  <a:pt x="373875" y="284480"/>
                </a:lnTo>
                <a:lnTo>
                  <a:pt x="374116" y="285750"/>
                </a:lnTo>
                <a:lnTo>
                  <a:pt x="371360" y="292100"/>
                </a:lnTo>
                <a:lnTo>
                  <a:pt x="348754" y="328930"/>
                </a:lnTo>
                <a:lnTo>
                  <a:pt x="347586" y="330200"/>
                </a:lnTo>
                <a:lnTo>
                  <a:pt x="380369" y="330200"/>
                </a:lnTo>
                <a:lnTo>
                  <a:pt x="384175" y="325120"/>
                </a:lnTo>
                <a:lnTo>
                  <a:pt x="384251" y="323850"/>
                </a:lnTo>
                <a:lnTo>
                  <a:pt x="388023" y="317500"/>
                </a:lnTo>
                <a:lnTo>
                  <a:pt x="391395" y="311150"/>
                </a:lnTo>
                <a:lnTo>
                  <a:pt x="400913" y="289560"/>
                </a:lnTo>
                <a:lnTo>
                  <a:pt x="400856" y="285750"/>
                </a:lnTo>
                <a:lnTo>
                  <a:pt x="362737" y="233680"/>
                </a:lnTo>
                <a:lnTo>
                  <a:pt x="361403" y="232410"/>
                </a:lnTo>
                <a:lnTo>
                  <a:pt x="360476" y="229870"/>
                </a:lnTo>
                <a:lnTo>
                  <a:pt x="360730" y="227330"/>
                </a:lnTo>
                <a:lnTo>
                  <a:pt x="361061" y="222250"/>
                </a:lnTo>
                <a:lnTo>
                  <a:pt x="361171" y="219710"/>
                </a:lnTo>
                <a:lnTo>
                  <a:pt x="361061" y="205740"/>
                </a:lnTo>
                <a:lnTo>
                  <a:pt x="360730" y="201930"/>
                </a:lnTo>
                <a:lnTo>
                  <a:pt x="360476" y="199390"/>
                </a:lnTo>
                <a:lnTo>
                  <a:pt x="361403" y="196850"/>
                </a:lnTo>
                <a:lnTo>
                  <a:pt x="391617" y="165100"/>
                </a:lnTo>
                <a:lnTo>
                  <a:pt x="400913" y="138430"/>
                </a:lnTo>
                <a:lnTo>
                  <a:pt x="400570" y="137160"/>
                </a:lnTo>
                <a:lnTo>
                  <a:pt x="388099" y="110490"/>
                </a:lnTo>
                <a:lnTo>
                  <a:pt x="384327" y="104140"/>
                </a:lnTo>
                <a:lnTo>
                  <a:pt x="381212" y="99060"/>
                </a:lnTo>
                <a:close/>
              </a:path>
              <a:path w="401320" h="427989">
                <a:moveTo>
                  <a:pt x="210121" y="140970"/>
                </a:moveTo>
                <a:lnTo>
                  <a:pt x="190868" y="140970"/>
                </a:lnTo>
                <a:lnTo>
                  <a:pt x="176771" y="144780"/>
                </a:lnTo>
                <a:lnTo>
                  <a:pt x="167830" y="148590"/>
                </a:lnTo>
                <a:lnTo>
                  <a:pt x="163588" y="149860"/>
                </a:lnTo>
                <a:lnTo>
                  <a:pt x="155549" y="156210"/>
                </a:lnTo>
                <a:lnTo>
                  <a:pt x="151828" y="158750"/>
                </a:lnTo>
                <a:lnTo>
                  <a:pt x="144983" y="165100"/>
                </a:lnTo>
                <a:lnTo>
                  <a:pt x="127292" y="204470"/>
                </a:lnTo>
                <a:lnTo>
                  <a:pt x="126822" y="219710"/>
                </a:lnTo>
                <a:lnTo>
                  <a:pt x="127292" y="223520"/>
                </a:lnTo>
                <a:lnTo>
                  <a:pt x="141922" y="259080"/>
                </a:lnTo>
                <a:lnTo>
                  <a:pt x="151828" y="269240"/>
                </a:lnTo>
                <a:lnTo>
                  <a:pt x="155549" y="273050"/>
                </a:lnTo>
                <a:lnTo>
                  <a:pt x="190868" y="287020"/>
                </a:lnTo>
                <a:lnTo>
                  <a:pt x="195656" y="288290"/>
                </a:lnTo>
                <a:lnTo>
                  <a:pt x="205333" y="288290"/>
                </a:lnTo>
                <a:lnTo>
                  <a:pt x="210121" y="287020"/>
                </a:lnTo>
                <a:lnTo>
                  <a:pt x="219608" y="285750"/>
                </a:lnTo>
                <a:lnTo>
                  <a:pt x="249161" y="269240"/>
                </a:lnTo>
                <a:lnTo>
                  <a:pt x="256006" y="262890"/>
                </a:lnTo>
                <a:lnTo>
                  <a:pt x="257026" y="261620"/>
                </a:lnTo>
                <a:lnTo>
                  <a:pt x="194284" y="261620"/>
                </a:lnTo>
                <a:lnTo>
                  <a:pt x="188290" y="260350"/>
                </a:lnTo>
                <a:lnTo>
                  <a:pt x="154800" y="226060"/>
                </a:lnTo>
                <a:lnTo>
                  <a:pt x="153619" y="220980"/>
                </a:lnTo>
                <a:lnTo>
                  <a:pt x="153619" y="208280"/>
                </a:lnTo>
                <a:lnTo>
                  <a:pt x="176809" y="173990"/>
                </a:lnTo>
                <a:lnTo>
                  <a:pt x="194284" y="167640"/>
                </a:lnTo>
                <a:lnTo>
                  <a:pt x="258047" y="167640"/>
                </a:lnTo>
                <a:lnTo>
                  <a:pt x="256006" y="165100"/>
                </a:lnTo>
                <a:lnTo>
                  <a:pt x="249161" y="158750"/>
                </a:lnTo>
                <a:lnTo>
                  <a:pt x="245440" y="156210"/>
                </a:lnTo>
                <a:lnTo>
                  <a:pt x="237401" y="149860"/>
                </a:lnTo>
                <a:lnTo>
                  <a:pt x="233159" y="148590"/>
                </a:lnTo>
                <a:lnTo>
                  <a:pt x="224218" y="144780"/>
                </a:lnTo>
                <a:lnTo>
                  <a:pt x="210121" y="140970"/>
                </a:lnTo>
                <a:close/>
              </a:path>
              <a:path w="401320" h="427989">
                <a:moveTo>
                  <a:pt x="258047" y="167640"/>
                </a:moveTo>
                <a:lnTo>
                  <a:pt x="206705" y="167640"/>
                </a:lnTo>
                <a:lnTo>
                  <a:pt x="212699" y="168910"/>
                </a:lnTo>
                <a:lnTo>
                  <a:pt x="224180" y="173990"/>
                </a:lnTo>
                <a:lnTo>
                  <a:pt x="247370" y="208280"/>
                </a:lnTo>
                <a:lnTo>
                  <a:pt x="247370" y="220980"/>
                </a:lnTo>
                <a:lnTo>
                  <a:pt x="224180" y="255270"/>
                </a:lnTo>
                <a:lnTo>
                  <a:pt x="206705" y="261620"/>
                </a:lnTo>
                <a:lnTo>
                  <a:pt x="257026" y="261620"/>
                </a:lnTo>
                <a:lnTo>
                  <a:pt x="273697" y="223520"/>
                </a:lnTo>
                <a:lnTo>
                  <a:pt x="274167" y="219710"/>
                </a:lnTo>
                <a:lnTo>
                  <a:pt x="274050" y="208280"/>
                </a:lnTo>
                <a:lnTo>
                  <a:pt x="259067" y="168910"/>
                </a:lnTo>
                <a:lnTo>
                  <a:pt x="258047" y="167640"/>
                </a:lnTo>
                <a:close/>
              </a:path>
              <a:path w="401320" h="427989">
                <a:moveTo>
                  <a:pt x="132516" y="99060"/>
                </a:moveTo>
                <a:lnTo>
                  <a:pt x="56007" y="99060"/>
                </a:lnTo>
                <a:lnTo>
                  <a:pt x="96354" y="109220"/>
                </a:lnTo>
                <a:lnTo>
                  <a:pt x="103977" y="110490"/>
                </a:lnTo>
                <a:lnTo>
                  <a:pt x="111388" y="109220"/>
                </a:lnTo>
                <a:lnTo>
                  <a:pt x="118375" y="106680"/>
                </a:lnTo>
                <a:lnTo>
                  <a:pt x="124726" y="104140"/>
                </a:lnTo>
                <a:lnTo>
                  <a:pt x="130505" y="100330"/>
                </a:lnTo>
                <a:lnTo>
                  <a:pt x="132516" y="99060"/>
                </a:lnTo>
                <a:close/>
              </a:path>
              <a:path w="401320" h="427989">
                <a:moveTo>
                  <a:pt x="254290" y="26670"/>
                </a:moveTo>
                <a:lnTo>
                  <a:pt x="213304" y="26670"/>
                </a:lnTo>
                <a:lnTo>
                  <a:pt x="219613" y="27940"/>
                </a:lnTo>
                <a:lnTo>
                  <a:pt x="225856" y="27940"/>
                </a:lnTo>
                <a:lnTo>
                  <a:pt x="226783" y="29210"/>
                </a:lnTo>
                <a:lnTo>
                  <a:pt x="227457" y="30480"/>
                </a:lnTo>
                <a:lnTo>
                  <a:pt x="227863" y="31750"/>
                </a:lnTo>
                <a:lnTo>
                  <a:pt x="239344" y="71120"/>
                </a:lnTo>
                <a:lnTo>
                  <a:pt x="242306" y="78740"/>
                </a:lnTo>
                <a:lnTo>
                  <a:pt x="246622" y="85090"/>
                </a:lnTo>
                <a:lnTo>
                  <a:pt x="252008" y="90170"/>
                </a:lnTo>
                <a:lnTo>
                  <a:pt x="258178" y="93980"/>
                </a:lnTo>
                <a:lnTo>
                  <a:pt x="264541" y="96520"/>
                </a:lnTo>
                <a:lnTo>
                  <a:pt x="270560" y="100330"/>
                </a:lnTo>
                <a:lnTo>
                  <a:pt x="276339" y="104140"/>
                </a:lnTo>
                <a:lnTo>
                  <a:pt x="282660" y="107950"/>
                </a:lnTo>
                <a:lnTo>
                  <a:pt x="289655" y="109220"/>
                </a:lnTo>
                <a:lnTo>
                  <a:pt x="297088" y="110490"/>
                </a:lnTo>
                <a:lnTo>
                  <a:pt x="304723" y="109220"/>
                </a:lnTo>
                <a:lnTo>
                  <a:pt x="345071" y="99060"/>
                </a:lnTo>
                <a:lnTo>
                  <a:pt x="381212" y="99060"/>
                </a:lnTo>
                <a:lnTo>
                  <a:pt x="380452" y="97790"/>
                </a:lnTo>
                <a:lnTo>
                  <a:pt x="376467" y="91440"/>
                </a:lnTo>
                <a:lnTo>
                  <a:pt x="372294" y="86360"/>
                </a:lnTo>
                <a:lnTo>
                  <a:pt x="370531" y="83820"/>
                </a:lnTo>
                <a:lnTo>
                  <a:pt x="293916" y="83820"/>
                </a:lnTo>
                <a:lnTo>
                  <a:pt x="291579" y="81280"/>
                </a:lnTo>
                <a:lnTo>
                  <a:pt x="284708" y="77470"/>
                </a:lnTo>
                <a:lnTo>
                  <a:pt x="277431" y="72390"/>
                </a:lnTo>
                <a:lnTo>
                  <a:pt x="269811" y="69850"/>
                </a:lnTo>
                <a:lnTo>
                  <a:pt x="267220" y="68580"/>
                </a:lnTo>
                <a:lnTo>
                  <a:pt x="265709" y="66040"/>
                </a:lnTo>
                <a:lnTo>
                  <a:pt x="265125" y="64770"/>
                </a:lnTo>
                <a:lnTo>
                  <a:pt x="254290" y="26670"/>
                </a:lnTo>
                <a:close/>
              </a:path>
              <a:path w="401320" h="427989">
                <a:moveTo>
                  <a:pt x="235483" y="2540"/>
                </a:moveTo>
                <a:lnTo>
                  <a:pt x="165506" y="2540"/>
                </a:lnTo>
                <a:lnTo>
                  <a:pt x="164160" y="3810"/>
                </a:lnTo>
                <a:lnTo>
                  <a:pt x="158555" y="7620"/>
                </a:lnTo>
                <a:lnTo>
                  <a:pt x="153781" y="12700"/>
                </a:lnTo>
                <a:lnTo>
                  <a:pt x="150012" y="17780"/>
                </a:lnTo>
                <a:lnTo>
                  <a:pt x="147421" y="24130"/>
                </a:lnTo>
                <a:lnTo>
                  <a:pt x="135953" y="64770"/>
                </a:lnTo>
                <a:lnTo>
                  <a:pt x="135445" y="66040"/>
                </a:lnTo>
                <a:lnTo>
                  <a:pt x="133858" y="68580"/>
                </a:lnTo>
                <a:lnTo>
                  <a:pt x="131254" y="69850"/>
                </a:lnTo>
                <a:lnTo>
                  <a:pt x="123647" y="72390"/>
                </a:lnTo>
                <a:lnTo>
                  <a:pt x="107149" y="83820"/>
                </a:lnTo>
                <a:lnTo>
                  <a:pt x="155348" y="83820"/>
                </a:lnTo>
                <a:lnTo>
                  <a:pt x="158804" y="78740"/>
                </a:lnTo>
                <a:lnTo>
                  <a:pt x="161734" y="71120"/>
                </a:lnTo>
                <a:lnTo>
                  <a:pt x="173202" y="31750"/>
                </a:lnTo>
                <a:lnTo>
                  <a:pt x="173456" y="30480"/>
                </a:lnTo>
                <a:lnTo>
                  <a:pt x="174205" y="29210"/>
                </a:lnTo>
                <a:lnTo>
                  <a:pt x="175133" y="27940"/>
                </a:lnTo>
                <a:lnTo>
                  <a:pt x="181376" y="27940"/>
                </a:lnTo>
                <a:lnTo>
                  <a:pt x="187685" y="26670"/>
                </a:lnTo>
                <a:lnTo>
                  <a:pt x="254290" y="26670"/>
                </a:lnTo>
                <a:lnTo>
                  <a:pt x="253568" y="24130"/>
                </a:lnTo>
                <a:lnTo>
                  <a:pt x="250977" y="17780"/>
                </a:lnTo>
                <a:lnTo>
                  <a:pt x="247208" y="12700"/>
                </a:lnTo>
                <a:lnTo>
                  <a:pt x="242434" y="7620"/>
                </a:lnTo>
                <a:lnTo>
                  <a:pt x="236829" y="3810"/>
                </a:lnTo>
                <a:lnTo>
                  <a:pt x="235483" y="2540"/>
                </a:lnTo>
                <a:close/>
              </a:path>
              <a:path w="401320" h="427989">
                <a:moveTo>
                  <a:pt x="352240" y="72390"/>
                </a:moveTo>
                <a:lnTo>
                  <a:pt x="345486" y="72390"/>
                </a:lnTo>
                <a:lnTo>
                  <a:pt x="338632" y="73660"/>
                </a:lnTo>
                <a:lnTo>
                  <a:pt x="298272" y="83820"/>
                </a:lnTo>
                <a:lnTo>
                  <a:pt x="370531" y="83820"/>
                </a:lnTo>
                <a:lnTo>
                  <a:pt x="367004" y="78740"/>
                </a:lnTo>
                <a:lnTo>
                  <a:pt x="365912" y="78740"/>
                </a:lnTo>
                <a:lnTo>
                  <a:pt x="364667" y="77470"/>
                </a:lnTo>
                <a:lnTo>
                  <a:pt x="358699" y="74930"/>
                </a:lnTo>
                <a:lnTo>
                  <a:pt x="352240" y="72390"/>
                </a:lnTo>
                <a:close/>
              </a:path>
              <a:path w="401320" h="427989">
                <a:moveTo>
                  <a:pt x="216723" y="0"/>
                </a:moveTo>
                <a:lnTo>
                  <a:pt x="184265" y="0"/>
                </a:lnTo>
                <a:lnTo>
                  <a:pt x="168351" y="2540"/>
                </a:lnTo>
                <a:lnTo>
                  <a:pt x="232638" y="2540"/>
                </a:lnTo>
                <a:lnTo>
                  <a:pt x="216723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3625" y="4467669"/>
            <a:ext cx="5479415" cy="9328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165" b="1">
                <a:solidFill>
                  <a:srgbClr val="262424"/>
                </a:solidFill>
                <a:latin typeface="Georgia"/>
                <a:cs typeface="Georgia"/>
              </a:rPr>
              <a:t>M</a:t>
            </a:r>
            <a:r>
              <a:rPr dirty="0" sz="1750" spc="-114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750" spc="-50" b="1">
                <a:solidFill>
                  <a:srgbClr val="262424"/>
                </a:solidFill>
                <a:latin typeface="Georgia"/>
                <a:cs typeface="Georgia"/>
              </a:rPr>
              <a:t>j</a:t>
            </a:r>
            <a:r>
              <a:rPr dirty="0" sz="1750" spc="-135" b="1">
                <a:solidFill>
                  <a:srgbClr val="262424"/>
                </a:solidFill>
                <a:latin typeface="Georgia"/>
                <a:cs typeface="Georgia"/>
              </a:rPr>
              <a:t>o</a:t>
            </a:r>
            <a:r>
              <a:rPr dirty="0" sz="1750" spc="-160" b="1">
                <a:solidFill>
                  <a:srgbClr val="262424"/>
                </a:solidFill>
                <a:latin typeface="Georgia"/>
                <a:cs typeface="Georgia"/>
              </a:rPr>
              <a:t>r</a:t>
            </a:r>
            <a:r>
              <a:rPr dirty="0" sz="1750" spc="-120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c</a:t>
            </a:r>
            <a:r>
              <a:rPr dirty="0" sz="1750" spc="-135" b="1">
                <a:solidFill>
                  <a:srgbClr val="262424"/>
                </a:solidFill>
                <a:latin typeface="Georgia"/>
                <a:cs typeface="Georgia"/>
              </a:rPr>
              <a:t>o</a:t>
            </a:r>
            <a:r>
              <a:rPr dirty="0" sz="1750" spc="-114" b="1">
                <a:solidFill>
                  <a:srgbClr val="262424"/>
                </a:solidFill>
                <a:latin typeface="Georgia"/>
                <a:cs typeface="Georgia"/>
              </a:rPr>
              <a:t>n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t</a:t>
            </a:r>
            <a:r>
              <a:rPr dirty="0" sz="1750" spc="-30" b="1">
                <a:solidFill>
                  <a:srgbClr val="262424"/>
                </a:solidFill>
                <a:latin typeface="Georgia"/>
                <a:cs typeface="Georgia"/>
              </a:rPr>
              <a:t>i</a:t>
            </a:r>
            <a:r>
              <a:rPr dirty="0" sz="1750" spc="-105" b="1">
                <a:solidFill>
                  <a:srgbClr val="262424"/>
                </a:solidFill>
                <a:latin typeface="Georgia"/>
                <a:cs typeface="Georgia"/>
              </a:rPr>
              <a:t>n</a:t>
            </a:r>
            <a:r>
              <a:rPr dirty="0" sz="1750" spc="-120" b="1">
                <a:solidFill>
                  <a:srgbClr val="262424"/>
                </a:solidFill>
                <a:latin typeface="Georgia"/>
                <a:cs typeface="Georgia"/>
              </a:rPr>
              <a:t>u</a:t>
            </a:r>
            <a:r>
              <a:rPr dirty="0" sz="1750" spc="-120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670"/>
              </a:spcBef>
            </a:pP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El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62424"/>
                </a:solidFill>
                <a:latin typeface="Verdana"/>
                <a:cs typeface="Verdana"/>
              </a:rPr>
              <a:t>diseño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desarrollo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de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5">
                <a:solidFill>
                  <a:srgbClr val="262424"/>
                </a:solidFill>
                <a:latin typeface="Verdana"/>
                <a:cs typeface="Verdana"/>
              </a:rPr>
              <a:t>soluciones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IoT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">
                <a:solidFill>
                  <a:srgbClr val="262424"/>
                </a:solidFill>
                <a:latin typeface="Verdana"/>
                <a:cs typeface="Verdana"/>
              </a:rPr>
              <a:t>es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un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5">
                <a:solidFill>
                  <a:srgbClr val="262424"/>
                </a:solidFill>
                <a:latin typeface="Verdana"/>
                <a:cs typeface="Verdana"/>
              </a:rPr>
              <a:t>proceso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iterativo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que </a:t>
            </a:r>
            <a:r>
              <a:rPr dirty="0" sz="1350" spc="-459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equie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62424"/>
                </a:solidFill>
                <a:latin typeface="Verdana"/>
                <a:cs typeface="Verdana"/>
              </a:rPr>
              <a:t>actualización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cons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an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e.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13109" y="5953125"/>
            <a:ext cx="375285" cy="428625"/>
          </a:xfrm>
          <a:custGeom>
            <a:avLst/>
            <a:gdLst/>
            <a:ahLst/>
            <a:cxnLst/>
            <a:rect l="l" t="t" r="r" b="b"/>
            <a:pathLst>
              <a:path w="375285" h="428625">
                <a:moveTo>
                  <a:pt x="187528" y="0"/>
                </a:moveTo>
                <a:lnTo>
                  <a:pt x="128259" y="4098"/>
                </a:lnTo>
                <a:lnTo>
                  <a:pt x="76782" y="15509"/>
                </a:lnTo>
                <a:lnTo>
                  <a:pt x="36185" y="32907"/>
                </a:lnTo>
                <a:lnTo>
                  <a:pt x="0" y="80365"/>
                </a:lnTo>
                <a:lnTo>
                  <a:pt x="0" y="348259"/>
                </a:lnTo>
                <a:lnTo>
                  <a:pt x="36185" y="395712"/>
                </a:lnTo>
                <a:lnTo>
                  <a:pt x="76782" y="413112"/>
                </a:lnTo>
                <a:lnTo>
                  <a:pt x="128259" y="424525"/>
                </a:lnTo>
                <a:lnTo>
                  <a:pt x="187528" y="428625"/>
                </a:lnTo>
                <a:lnTo>
                  <a:pt x="246796" y="424525"/>
                </a:lnTo>
                <a:lnTo>
                  <a:pt x="298274" y="413112"/>
                </a:lnTo>
                <a:lnTo>
                  <a:pt x="324571" y="401840"/>
                </a:lnTo>
                <a:lnTo>
                  <a:pt x="187528" y="401840"/>
                </a:lnTo>
                <a:lnTo>
                  <a:pt x="151963" y="400305"/>
                </a:lnTo>
                <a:lnTo>
                  <a:pt x="90253" y="389228"/>
                </a:lnTo>
                <a:lnTo>
                  <a:pt x="46381" y="370578"/>
                </a:lnTo>
                <a:lnTo>
                  <a:pt x="26797" y="350266"/>
                </a:lnTo>
                <a:lnTo>
                  <a:pt x="26797" y="277520"/>
                </a:lnTo>
                <a:lnTo>
                  <a:pt x="127230" y="277520"/>
                </a:lnTo>
                <a:lnTo>
                  <a:pt x="107382" y="274680"/>
                </a:lnTo>
                <a:lnTo>
                  <a:pt x="66120" y="264724"/>
                </a:lnTo>
                <a:lnTo>
                  <a:pt x="26797" y="246202"/>
                </a:lnTo>
                <a:lnTo>
                  <a:pt x="26797" y="170357"/>
                </a:lnTo>
                <a:lnTo>
                  <a:pt x="127179" y="170357"/>
                </a:lnTo>
                <a:lnTo>
                  <a:pt x="107382" y="167528"/>
                </a:lnTo>
                <a:lnTo>
                  <a:pt x="66135" y="157574"/>
                </a:lnTo>
                <a:lnTo>
                  <a:pt x="26797" y="139052"/>
                </a:lnTo>
                <a:lnTo>
                  <a:pt x="26797" y="78359"/>
                </a:lnTo>
                <a:lnTo>
                  <a:pt x="65468" y="48133"/>
                </a:lnTo>
                <a:lnTo>
                  <a:pt x="119311" y="32658"/>
                </a:lnTo>
                <a:lnTo>
                  <a:pt x="187528" y="26784"/>
                </a:lnTo>
                <a:lnTo>
                  <a:pt x="324583" y="26784"/>
                </a:lnTo>
                <a:lnTo>
                  <a:pt x="298274" y="15509"/>
                </a:lnTo>
                <a:lnTo>
                  <a:pt x="246796" y="4098"/>
                </a:lnTo>
                <a:lnTo>
                  <a:pt x="187528" y="0"/>
                </a:lnTo>
                <a:close/>
              </a:path>
              <a:path w="375285" h="428625">
                <a:moveTo>
                  <a:pt x="375056" y="277596"/>
                </a:moveTo>
                <a:lnTo>
                  <a:pt x="348259" y="277596"/>
                </a:lnTo>
                <a:lnTo>
                  <a:pt x="348259" y="350266"/>
                </a:lnTo>
                <a:lnTo>
                  <a:pt x="347421" y="354444"/>
                </a:lnTo>
                <a:lnTo>
                  <a:pt x="309587" y="380492"/>
                </a:lnTo>
                <a:lnTo>
                  <a:pt x="255744" y="395966"/>
                </a:lnTo>
                <a:lnTo>
                  <a:pt x="187528" y="401840"/>
                </a:lnTo>
                <a:lnTo>
                  <a:pt x="324571" y="401840"/>
                </a:lnTo>
                <a:lnTo>
                  <a:pt x="338870" y="395712"/>
                </a:lnTo>
                <a:lnTo>
                  <a:pt x="365494" y="373652"/>
                </a:lnTo>
                <a:lnTo>
                  <a:pt x="375056" y="348259"/>
                </a:lnTo>
                <a:lnTo>
                  <a:pt x="375056" y="277596"/>
                </a:lnTo>
                <a:close/>
              </a:path>
              <a:path w="375285" h="428625">
                <a:moveTo>
                  <a:pt x="127230" y="277520"/>
                </a:moveTo>
                <a:lnTo>
                  <a:pt x="26797" y="277520"/>
                </a:lnTo>
                <a:lnTo>
                  <a:pt x="38152" y="282864"/>
                </a:lnTo>
                <a:lnTo>
                  <a:pt x="78028" y="295846"/>
                </a:lnTo>
                <a:lnTo>
                  <a:pt x="129420" y="304880"/>
                </a:lnTo>
                <a:lnTo>
                  <a:pt x="187528" y="308076"/>
                </a:lnTo>
                <a:lnTo>
                  <a:pt x="217261" y="307260"/>
                </a:lnTo>
                <a:lnTo>
                  <a:pt x="272347" y="301079"/>
                </a:lnTo>
                <a:lnTo>
                  <a:pt x="311167" y="292103"/>
                </a:lnTo>
                <a:lnTo>
                  <a:pt x="340395" y="281292"/>
                </a:lnTo>
                <a:lnTo>
                  <a:pt x="187528" y="281292"/>
                </a:lnTo>
                <a:lnTo>
                  <a:pt x="159254" y="280512"/>
                </a:lnTo>
                <a:lnTo>
                  <a:pt x="132422" y="278263"/>
                </a:lnTo>
                <a:lnTo>
                  <a:pt x="127230" y="277520"/>
                </a:lnTo>
                <a:close/>
              </a:path>
              <a:path w="375285" h="428625">
                <a:moveTo>
                  <a:pt x="375056" y="170357"/>
                </a:moveTo>
                <a:lnTo>
                  <a:pt x="348259" y="170357"/>
                </a:lnTo>
                <a:lnTo>
                  <a:pt x="348259" y="246202"/>
                </a:lnTo>
                <a:lnTo>
                  <a:pt x="337748" y="252755"/>
                </a:lnTo>
                <a:lnTo>
                  <a:pt x="290576" y="269900"/>
                </a:lnTo>
                <a:lnTo>
                  <a:pt x="242633" y="278263"/>
                </a:lnTo>
                <a:lnTo>
                  <a:pt x="187528" y="281292"/>
                </a:lnTo>
                <a:lnTo>
                  <a:pt x="340395" y="281292"/>
                </a:lnTo>
                <a:lnTo>
                  <a:pt x="348259" y="277596"/>
                </a:lnTo>
                <a:lnTo>
                  <a:pt x="375056" y="277596"/>
                </a:lnTo>
                <a:lnTo>
                  <a:pt x="375056" y="170357"/>
                </a:lnTo>
                <a:close/>
              </a:path>
              <a:path w="375285" h="428625">
                <a:moveTo>
                  <a:pt x="127179" y="170357"/>
                </a:moveTo>
                <a:lnTo>
                  <a:pt x="26797" y="170357"/>
                </a:lnTo>
                <a:lnTo>
                  <a:pt x="38152" y="175709"/>
                </a:lnTo>
                <a:lnTo>
                  <a:pt x="78028" y="188696"/>
                </a:lnTo>
                <a:lnTo>
                  <a:pt x="129420" y="197724"/>
                </a:lnTo>
                <a:lnTo>
                  <a:pt x="187528" y="200914"/>
                </a:lnTo>
                <a:lnTo>
                  <a:pt x="217261" y="200099"/>
                </a:lnTo>
                <a:lnTo>
                  <a:pt x="272347" y="193927"/>
                </a:lnTo>
                <a:lnTo>
                  <a:pt x="311167" y="184952"/>
                </a:lnTo>
                <a:lnTo>
                  <a:pt x="340414" y="174129"/>
                </a:lnTo>
                <a:lnTo>
                  <a:pt x="187528" y="174129"/>
                </a:lnTo>
                <a:lnTo>
                  <a:pt x="159254" y="173351"/>
                </a:lnTo>
                <a:lnTo>
                  <a:pt x="132422" y="171107"/>
                </a:lnTo>
                <a:lnTo>
                  <a:pt x="127179" y="170357"/>
                </a:lnTo>
                <a:close/>
              </a:path>
              <a:path w="375285" h="428625">
                <a:moveTo>
                  <a:pt x="324583" y="26784"/>
                </a:moveTo>
                <a:lnTo>
                  <a:pt x="187528" y="26784"/>
                </a:lnTo>
                <a:lnTo>
                  <a:pt x="223093" y="28319"/>
                </a:lnTo>
                <a:lnTo>
                  <a:pt x="255744" y="32658"/>
                </a:lnTo>
                <a:lnTo>
                  <a:pt x="309587" y="48133"/>
                </a:lnTo>
                <a:lnTo>
                  <a:pt x="347421" y="74168"/>
                </a:lnTo>
                <a:lnTo>
                  <a:pt x="348259" y="78359"/>
                </a:lnTo>
                <a:lnTo>
                  <a:pt x="348259" y="139052"/>
                </a:lnTo>
                <a:lnTo>
                  <a:pt x="308719" y="157606"/>
                </a:lnTo>
                <a:lnTo>
                  <a:pt x="267673" y="167528"/>
                </a:lnTo>
                <a:lnTo>
                  <a:pt x="215802" y="173351"/>
                </a:lnTo>
                <a:lnTo>
                  <a:pt x="187528" y="174129"/>
                </a:lnTo>
                <a:lnTo>
                  <a:pt x="340414" y="174129"/>
                </a:lnTo>
                <a:lnTo>
                  <a:pt x="348259" y="170446"/>
                </a:lnTo>
                <a:lnTo>
                  <a:pt x="375056" y="170357"/>
                </a:lnTo>
                <a:lnTo>
                  <a:pt x="375056" y="80365"/>
                </a:lnTo>
                <a:lnTo>
                  <a:pt x="365494" y="54968"/>
                </a:lnTo>
                <a:lnTo>
                  <a:pt x="338870" y="32907"/>
                </a:lnTo>
                <a:lnTo>
                  <a:pt x="324583" y="26784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3625" y="6515545"/>
            <a:ext cx="5619750" cy="9328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210" b="1">
                <a:solidFill>
                  <a:srgbClr val="262424"/>
                </a:solidFill>
                <a:latin typeface="Georgia"/>
                <a:cs typeface="Georgia"/>
              </a:rPr>
              <a:t>B</a:t>
            </a:r>
            <a:r>
              <a:rPr dirty="0" sz="1750" spc="-30" b="1">
                <a:solidFill>
                  <a:srgbClr val="262424"/>
                </a:solidFill>
                <a:latin typeface="Georgia"/>
                <a:cs typeface="Georgia"/>
              </a:rPr>
              <a:t>i</a:t>
            </a:r>
            <a:r>
              <a:rPr dirty="0" sz="1750" spc="-110" b="1">
                <a:solidFill>
                  <a:srgbClr val="262424"/>
                </a:solidFill>
                <a:latin typeface="Georgia"/>
                <a:cs typeface="Georgia"/>
              </a:rPr>
              <a:t>g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750" spc="-190" b="1">
                <a:solidFill>
                  <a:srgbClr val="262424"/>
                </a:solidFill>
                <a:latin typeface="Georgia"/>
                <a:cs typeface="Georgia"/>
              </a:rPr>
              <a:t>D</a:t>
            </a:r>
            <a:r>
              <a:rPr dirty="0" sz="1750" spc="-125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r>
              <a:rPr dirty="0" sz="1750" spc="-60" b="1">
                <a:solidFill>
                  <a:srgbClr val="262424"/>
                </a:solidFill>
                <a:latin typeface="Georgia"/>
                <a:cs typeface="Georgia"/>
              </a:rPr>
              <a:t>t</a:t>
            </a:r>
            <a:r>
              <a:rPr dirty="0" sz="1750" spc="-120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670"/>
              </a:spcBef>
            </a:pPr>
            <a:r>
              <a:rPr dirty="0" sz="1350">
                <a:solidFill>
                  <a:srgbClr val="262424"/>
                </a:solidFill>
                <a:latin typeface="Verdana"/>
                <a:cs typeface="Verdana"/>
              </a:rPr>
              <a:t>Los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datos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recopilados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por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los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sistemas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IoT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permiten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obtener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valiosos </a:t>
            </a:r>
            <a:r>
              <a:rPr dirty="0" sz="1350" spc="-459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insigh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ara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oma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decisiones.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7450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2024-11-05T06:32:48Z</dcterms:created>
  <dcterms:modified xsi:type="dcterms:W3CDTF">2024-11-05T06:32:48Z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