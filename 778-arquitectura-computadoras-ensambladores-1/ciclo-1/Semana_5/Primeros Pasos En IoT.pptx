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30000" cy="8394700"/>
  <p:notesSz cx="11430000" cy="8394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2597150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262697"/>
            <a:ext cx="10255250" cy="221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262697"/>
            <a:ext cx="4679950" cy="22117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455"/>
              <a:t>Introducción</a:t>
            </a:r>
            <a:r>
              <a:rPr dirty="0" sz="4650" spc="254"/>
              <a:t> </a:t>
            </a:r>
            <a:r>
              <a:rPr dirty="0" sz="4650" spc="275"/>
              <a:t>al</a:t>
            </a:r>
            <a:endParaRPr sz="4650"/>
          </a:p>
          <a:p>
            <a:pPr marL="12700" marR="325120">
              <a:lnSpc>
                <a:spcPct val="103499"/>
              </a:lnSpc>
              <a:spcBef>
                <a:spcPts val="75"/>
              </a:spcBef>
            </a:pPr>
            <a:r>
              <a:rPr dirty="0" sz="4650" spc="385"/>
              <a:t>Internet</a:t>
            </a:r>
            <a:r>
              <a:rPr dirty="0" sz="4650" spc="270"/>
              <a:t> </a:t>
            </a:r>
            <a:r>
              <a:rPr dirty="0" sz="4650" spc="480"/>
              <a:t>de</a:t>
            </a:r>
            <a:r>
              <a:rPr dirty="0" sz="4650" spc="270"/>
              <a:t> </a:t>
            </a:r>
            <a:r>
              <a:rPr dirty="0" sz="4650" spc="220"/>
              <a:t>las </a:t>
            </a:r>
            <a:r>
              <a:rPr dirty="0" sz="4650" spc="-1010"/>
              <a:t> </a:t>
            </a:r>
            <a:r>
              <a:rPr dirty="0" sz="4650" spc="440"/>
              <a:t>Cosas</a:t>
            </a:r>
            <a:r>
              <a:rPr dirty="0" sz="4650" spc="295"/>
              <a:t> </a:t>
            </a:r>
            <a:r>
              <a:rPr dirty="0" sz="4650" spc="170"/>
              <a:t>(IoT)</a:t>
            </a:r>
            <a:endParaRPr sz="4650"/>
          </a:p>
        </p:txBody>
      </p:sp>
      <p:sp>
        <p:nvSpPr>
          <p:cNvPr id="6" name="object 6"/>
          <p:cNvSpPr txBox="1"/>
          <p:nvPr/>
        </p:nvSpPr>
        <p:spPr>
          <a:xfrm>
            <a:off x="587375" y="3717290"/>
            <a:ext cx="5933440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dirty="0" sz="1350" spc="-20">
                <a:solidFill>
                  <a:srgbClr val="494959"/>
                </a:solidFill>
                <a:latin typeface="Trebuchet MS"/>
                <a:cs typeface="Trebuchet MS"/>
              </a:rPr>
              <a:t>El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Internet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las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rebuchet MS"/>
                <a:cs typeface="Trebuchet MS"/>
              </a:rPr>
              <a:t>Cosas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Trebuchet MS"/>
                <a:cs typeface="Trebuchet MS"/>
              </a:rPr>
              <a:t>(IoT)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es</a:t>
            </a:r>
            <a:r>
              <a:rPr dirty="0" sz="1350" spc="-4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85">
                <a:solidFill>
                  <a:srgbClr val="494959"/>
                </a:solidFill>
                <a:latin typeface="Trebuchet MS"/>
                <a:cs typeface="Trebuchet MS"/>
              </a:rPr>
              <a:t>un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concepto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que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describe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interconexión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dispositivos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cotidianos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a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través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 redes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inalámbricas,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permitiendo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recolección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-20">
                <a:solidFill>
                  <a:srgbClr val="494959"/>
                </a:solidFill>
                <a:latin typeface="Trebuchet MS"/>
                <a:cs typeface="Trebuchet MS"/>
              </a:rPr>
              <a:t>el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intercambio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datos.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Esta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tecnología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emergente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transforma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manera en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que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interactuamos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con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nuestro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entorno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abre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nuevas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posibilidades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automatización,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Trebuchet MS"/>
                <a:cs typeface="Trebuchet MS"/>
              </a:rPr>
              <a:t>eficiencia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innovación.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606550"/>
            <a:ext cx="100552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80"/>
              <a:t>Conceptos</a:t>
            </a:r>
            <a:r>
              <a:rPr dirty="0" spc="229"/>
              <a:t> </a:t>
            </a:r>
            <a:r>
              <a:rPr dirty="0" spc="250"/>
              <a:t>básicos</a:t>
            </a:r>
            <a:r>
              <a:rPr dirty="0" spc="229"/>
              <a:t> </a:t>
            </a:r>
            <a:r>
              <a:rPr dirty="0" spc="355"/>
              <a:t>de</a:t>
            </a:r>
            <a:r>
              <a:rPr dirty="0" spc="229"/>
              <a:t> </a:t>
            </a:r>
            <a:r>
              <a:rPr dirty="0" spc="215"/>
              <a:t>IoT:</a:t>
            </a:r>
            <a:r>
              <a:rPr dirty="0" spc="235"/>
              <a:t> </a:t>
            </a:r>
            <a:r>
              <a:rPr dirty="0" spc="275"/>
              <a:t>hardware,</a:t>
            </a:r>
            <a:r>
              <a:rPr dirty="0" spc="229"/>
              <a:t> </a:t>
            </a:r>
            <a:r>
              <a:rPr dirty="0" spc="245"/>
              <a:t>software, </a:t>
            </a:r>
            <a:r>
              <a:rPr dirty="0" spc="-725"/>
              <a:t> </a:t>
            </a:r>
            <a:r>
              <a:rPr dirty="0" spc="320"/>
              <a:t>conectividad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06737"/>
            <a:ext cx="3043555" cy="1531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3F3CCF"/>
                </a:solidFill>
                <a:latin typeface="Cambria"/>
                <a:cs typeface="Cambria"/>
              </a:rPr>
              <a:t>Hardware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65">
                <a:solidFill>
                  <a:srgbClr val="494959"/>
                </a:solidFill>
                <a:latin typeface="Trebuchet MS"/>
                <a:cs typeface="Trebuchet MS"/>
              </a:rPr>
              <a:t>Los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dispositivos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IoT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cuentan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con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sensores,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procesadores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rebuchet MS"/>
                <a:cs typeface="Trebuchet MS"/>
              </a:rPr>
              <a:t>módulos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conectividad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recopilar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 transmitir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datos.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3106737"/>
            <a:ext cx="2701290" cy="1531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>
                <a:solidFill>
                  <a:srgbClr val="3F3CCF"/>
                </a:solidFill>
                <a:latin typeface="Cambria"/>
                <a:cs typeface="Cambria"/>
              </a:rPr>
              <a:t>Software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Plataformas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aplicaciones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que </a:t>
            </a:r>
            <a:r>
              <a:rPr dirty="0" sz="1350" spc="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gestionan,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analizan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visualizan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información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recopilada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por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dispositivos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Trebuchet MS"/>
                <a:cs typeface="Trebuchet MS"/>
              </a:rPr>
              <a:t>IoT.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3106737"/>
            <a:ext cx="2885440" cy="1531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0">
                <a:solidFill>
                  <a:srgbClr val="3F3CCF"/>
                </a:solidFill>
                <a:latin typeface="Cambria"/>
                <a:cs typeface="Cambria"/>
              </a:rPr>
              <a:t>Conectividad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Redes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inalámbricas </a:t>
            </a:r>
            <a:r>
              <a:rPr dirty="0" sz="1350" spc="70">
                <a:solidFill>
                  <a:srgbClr val="494959"/>
                </a:solidFill>
                <a:latin typeface="Trebuchet MS"/>
                <a:cs typeface="Trebuchet MS"/>
              </a:rPr>
              <a:t>como </a:t>
            </a:r>
            <a:r>
              <a:rPr dirty="0" sz="1350" spc="-45">
                <a:solidFill>
                  <a:srgbClr val="494959"/>
                </a:solidFill>
                <a:latin typeface="Trebuchet MS"/>
                <a:cs typeface="Trebuchet MS"/>
              </a:rPr>
              <a:t>Wi-Fi, </a:t>
            </a:r>
            <a:r>
              <a:rPr dirty="0" sz="1350" spc="-4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Bluetooth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5">
                <a:solidFill>
                  <a:srgbClr val="494959"/>
                </a:solidFill>
                <a:latin typeface="Trebuchet MS"/>
                <a:cs typeface="Trebuchet MS"/>
              </a:rPr>
              <a:t>celular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permiten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 </a:t>
            </a:r>
            <a:r>
              <a:rPr dirty="0" sz="1350" spc="-1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interconexión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comunicación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entre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dispositivos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Trebuchet MS"/>
                <a:cs typeface="Trebuchet MS"/>
              </a:rPr>
              <a:t>IoT.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10500"/>
          </a:xfrm>
          <a:custGeom>
            <a:avLst/>
            <a:gdLst/>
            <a:ahLst/>
            <a:cxnLst/>
            <a:rect l="l" t="t" r="r" b="b"/>
            <a:pathLst>
              <a:path w="11430000" h="7810500">
                <a:moveTo>
                  <a:pt x="11430000" y="0"/>
                </a:moveTo>
                <a:lnTo>
                  <a:pt x="0" y="0"/>
                </a:lnTo>
                <a:lnTo>
                  <a:pt x="0" y="7810500"/>
                </a:lnTo>
                <a:lnTo>
                  <a:pt x="11430000" y="7810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80"/>
              <a:t>Hoja</a:t>
            </a:r>
            <a:r>
              <a:rPr dirty="0" spc="190"/>
              <a:t> </a:t>
            </a:r>
            <a:r>
              <a:rPr dirty="0" spc="355"/>
              <a:t>de</a:t>
            </a:r>
            <a:r>
              <a:rPr dirty="0" spc="235"/>
              <a:t> </a:t>
            </a:r>
            <a:r>
              <a:rPr dirty="0" spc="250"/>
              <a:t>ruta</a:t>
            </a:r>
            <a:r>
              <a:rPr dirty="0" spc="190"/>
              <a:t> </a:t>
            </a:r>
            <a:r>
              <a:rPr dirty="0" spc="355"/>
              <a:t>de</a:t>
            </a:r>
            <a:r>
              <a:rPr dirty="0" spc="235"/>
              <a:t> </a:t>
            </a:r>
            <a:r>
              <a:rPr dirty="0" spc="355"/>
              <a:t>conocimientos</a:t>
            </a:r>
            <a:r>
              <a:rPr dirty="0" spc="229"/>
              <a:t> </a:t>
            </a:r>
            <a:r>
              <a:rPr dirty="0" spc="280"/>
              <a:t>previos </a:t>
            </a:r>
            <a:r>
              <a:rPr dirty="0" spc="-720"/>
              <a:t> </a:t>
            </a:r>
            <a:r>
              <a:rPr dirty="0" spc="265"/>
              <a:t>necesarios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075" y="5041112"/>
            <a:ext cx="10229850" cy="790575"/>
            <a:chOff x="600075" y="5041112"/>
            <a:chExt cx="10229850" cy="790575"/>
          </a:xfrm>
        </p:grpSpPr>
        <p:sp>
          <p:nvSpPr>
            <p:cNvPr id="6" name="object 6"/>
            <p:cNvSpPr/>
            <p:nvPr/>
          </p:nvSpPr>
          <p:spPr>
            <a:xfrm>
              <a:off x="600075" y="5041112"/>
              <a:ext cx="10229850" cy="617220"/>
            </a:xfrm>
            <a:custGeom>
              <a:avLst/>
              <a:gdLst/>
              <a:ahLst/>
              <a:cxnLst/>
              <a:rect l="l" t="t" r="r" b="b"/>
              <a:pathLst>
                <a:path w="10229850" h="617220">
                  <a:moveTo>
                    <a:pt x="10229850" y="604583"/>
                  </a:moveTo>
                  <a:lnTo>
                    <a:pt x="10228923" y="602335"/>
                  </a:lnTo>
                  <a:lnTo>
                    <a:pt x="10225202" y="598614"/>
                  </a:lnTo>
                  <a:lnTo>
                    <a:pt x="10222954" y="597687"/>
                  </a:lnTo>
                  <a:lnTo>
                    <a:pt x="2520924" y="597687"/>
                  </a:lnTo>
                  <a:lnTo>
                    <a:pt x="2523198" y="595414"/>
                  </a:lnTo>
                  <a:lnTo>
                    <a:pt x="2524125" y="593178"/>
                  </a:lnTo>
                  <a:lnTo>
                    <a:pt x="2524125" y="6883"/>
                  </a:lnTo>
                  <a:lnTo>
                    <a:pt x="2523198" y="4648"/>
                  </a:lnTo>
                  <a:lnTo>
                    <a:pt x="2519476" y="927"/>
                  </a:lnTo>
                  <a:lnTo>
                    <a:pt x="2517229" y="0"/>
                  </a:lnTo>
                  <a:lnTo>
                    <a:pt x="2511958" y="0"/>
                  </a:lnTo>
                  <a:lnTo>
                    <a:pt x="2509723" y="927"/>
                  </a:lnTo>
                  <a:lnTo>
                    <a:pt x="2506002" y="4648"/>
                  </a:lnTo>
                  <a:lnTo>
                    <a:pt x="2505075" y="6883"/>
                  </a:lnTo>
                  <a:lnTo>
                    <a:pt x="2505075" y="590550"/>
                  </a:lnTo>
                  <a:lnTo>
                    <a:pt x="2505075" y="593178"/>
                  </a:lnTo>
                  <a:lnTo>
                    <a:pt x="2506002" y="595414"/>
                  </a:lnTo>
                  <a:lnTo>
                    <a:pt x="2508275" y="597687"/>
                  </a:lnTo>
                  <a:lnTo>
                    <a:pt x="6896" y="597687"/>
                  </a:lnTo>
                  <a:lnTo>
                    <a:pt x="4648" y="598614"/>
                  </a:lnTo>
                  <a:lnTo>
                    <a:pt x="927" y="602335"/>
                  </a:lnTo>
                  <a:lnTo>
                    <a:pt x="0" y="604583"/>
                  </a:lnTo>
                  <a:lnTo>
                    <a:pt x="0" y="607212"/>
                  </a:lnTo>
                  <a:lnTo>
                    <a:pt x="0" y="609841"/>
                  </a:lnTo>
                  <a:lnTo>
                    <a:pt x="927" y="612089"/>
                  </a:lnTo>
                  <a:lnTo>
                    <a:pt x="4648" y="615810"/>
                  </a:lnTo>
                  <a:lnTo>
                    <a:pt x="6896" y="616737"/>
                  </a:lnTo>
                  <a:lnTo>
                    <a:pt x="10222954" y="616737"/>
                  </a:lnTo>
                  <a:lnTo>
                    <a:pt x="10225202" y="615810"/>
                  </a:lnTo>
                  <a:lnTo>
                    <a:pt x="10228923" y="612089"/>
                  </a:lnTo>
                  <a:lnTo>
                    <a:pt x="10229850" y="609841"/>
                  </a:lnTo>
                  <a:lnTo>
                    <a:pt x="10229850" y="604583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24175" y="54506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62407" y="0"/>
                  </a:moveTo>
                  <a:lnTo>
                    <a:pt x="18592" y="0"/>
                  </a:lnTo>
                  <a:lnTo>
                    <a:pt x="15849" y="533"/>
                  </a:lnTo>
                  <a:lnTo>
                    <a:pt x="0" y="18580"/>
                  </a:lnTo>
                  <a:lnTo>
                    <a:pt x="0" y="359562"/>
                  </a:lnTo>
                  <a:lnTo>
                    <a:pt x="0" y="362407"/>
                  </a:lnTo>
                  <a:lnTo>
                    <a:pt x="18592" y="381000"/>
                  </a:lnTo>
                  <a:lnTo>
                    <a:pt x="362407" y="381000"/>
                  </a:lnTo>
                  <a:lnTo>
                    <a:pt x="381000" y="362407"/>
                  </a:lnTo>
                  <a:lnTo>
                    <a:pt x="381000" y="18580"/>
                  </a:lnTo>
                  <a:lnTo>
                    <a:pt x="365150" y="533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044532" y="5466562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187" y="3935412"/>
            <a:ext cx="46386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204">
                <a:solidFill>
                  <a:srgbClr val="494959"/>
                </a:solidFill>
                <a:latin typeface="Cambria"/>
                <a:cs typeface="Cambria"/>
              </a:rPr>
              <a:t>Fundamentos</a:t>
            </a:r>
            <a:r>
              <a:rPr dirty="0" sz="1650" spc="9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9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IoT</a:t>
            </a:r>
            <a:endParaRPr sz="1650">
              <a:latin typeface="Cambria"/>
              <a:cs typeface="Cambria"/>
            </a:endParaRPr>
          </a:p>
          <a:p>
            <a:pPr algn="ctr"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Comprender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Lucida Sans Unicode"/>
                <a:cs typeface="Lucida Sans Unicode"/>
              </a:rPr>
              <a:t>los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conceptos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Lucida Sans Unicode"/>
                <a:cs typeface="Lucida Sans Unicode"/>
              </a:rPr>
              <a:t>básicos,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las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arquitecturas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las </a:t>
            </a:r>
            <a:r>
              <a:rPr dirty="0" sz="1350" spc="-41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aplicaciones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del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94959"/>
                </a:solidFill>
                <a:latin typeface="Lucida Sans Unicode"/>
                <a:cs typeface="Lucida Sans Unicode"/>
              </a:rPr>
              <a:t>IoT.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4500" y="5445924"/>
            <a:ext cx="381000" cy="800100"/>
            <a:chOff x="5524500" y="5445924"/>
            <a:chExt cx="381000" cy="800100"/>
          </a:xfrm>
        </p:grpSpPr>
        <p:sp>
          <p:nvSpPr>
            <p:cNvPr id="11" name="object 11"/>
            <p:cNvSpPr/>
            <p:nvPr/>
          </p:nvSpPr>
          <p:spPr>
            <a:xfrm>
              <a:off x="5705475" y="5645949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24500" y="5445924"/>
              <a:ext cx="381000" cy="390525"/>
            </a:xfrm>
            <a:custGeom>
              <a:avLst/>
              <a:gdLst/>
              <a:ahLst/>
              <a:cxnLst/>
              <a:rect l="l" t="t" r="r" b="b"/>
              <a:pathLst>
                <a:path w="381000" h="390525">
                  <a:moveTo>
                    <a:pt x="362407" y="0"/>
                  </a:moveTo>
                  <a:lnTo>
                    <a:pt x="18592" y="0"/>
                  </a:lnTo>
                  <a:lnTo>
                    <a:pt x="15849" y="533"/>
                  </a:lnTo>
                  <a:lnTo>
                    <a:pt x="0" y="18580"/>
                  </a:lnTo>
                  <a:lnTo>
                    <a:pt x="0" y="369087"/>
                  </a:lnTo>
                  <a:lnTo>
                    <a:pt x="0" y="371932"/>
                  </a:lnTo>
                  <a:lnTo>
                    <a:pt x="18592" y="390525"/>
                  </a:lnTo>
                  <a:lnTo>
                    <a:pt x="362407" y="390525"/>
                  </a:lnTo>
                  <a:lnTo>
                    <a:pt x="381000" y="371932"/>
                  </a:lnTo>
                  <a:lnTo>
                    <a:pt x="381000" y="18580"/>
                  </a:lnTo>
                  <a:lnTo>
                    <a:pt x="365150" y="533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22975" y="5461799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0772" y="6392868"/>
            <a:ext cx="439039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Programación</a:t>
            </a:r>
            <a:endParaRPr sz="1650">
              <a:latin typeface="Cambria"/>
              <a:cs typeface="Cambria"/>
            </a:endParaRPr>
          </a:p>
          <a:p>
            <a:pPr algn="ctr"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Dominar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Lucida Sans Unicode"/>
                <a:cs typeface="Lucida Sans Unicode"/>
              </a:rPr>
              <a:t>lenguajes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programación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como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494959"/>
                </a:solidFill>
                <a:latin typeface="Lucida Sans Unicode"/>
                <a:cs typeface="Lucida Sans Unicode"/>
              </a:rPr>
              <a:t>C,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Lucida Sans Unicode"/>
                <a:cs typeface="Lucida Sans Unicode"/>
              </a:rPr>
              <a:t>Python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o </a:t>
            </a:r>
            <a:r>
              <a:rPr dirty="0" sz="1350" spc="-409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JavaScript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Lucida Sans Unicode"/>
                <a:cs typeface="Lucida Sans Unicode"/>
              </a:rPr>
              <a:t>para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desarrollar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soluciones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94959"/>
                </a:solidFill>
                <a:latin typeface="Lucida Sans Unicode"/>
                <a:cs typeface="Lucida Sans Unicode"/>
              </a:rPr>
              <a:t>IoT.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24825" y="5041112"/>
            <a:ext cx="381000" cy="790575"/>
            <a:chOff x="8124825" y="5041112"/>
            <a:chExt cx="381000" cy="790575"/>
          </a:xfrm>
        </p:grpSpPr>
        <p:sp>
          <p:nvSpPr>
            <p:cNvPr id="16" name="object 16"/>
            <p:cNvSpPr/>
            <p:nvPr/>
          </p:nvSpPr>
          <p:spPr>
            <a:xfrm>
              <a:off x="8305800" y="5041112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124825" y="54506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62407" y="0"/>
                  </a:moveTo>
                  <a:lnTo>
                    <a:pt x="18592" y="0"/>
                  </a:lnTo>
                  <a:lnTo>
                    <a:pt x="15849" y="533"/>
                  </a:lnTo>
                  <a:lnTo>
                    <a:pt x="0" y="18580"/>
                  </a:lnTo>
                  <a:lnTo>
                    <a:pt x="0" y="359562"/>
                  </a:lnTo>
                  <a:lnTo>
                    <a:pt x="0" y="362407"/>
                  </a:lnTo>
                  <a:lnTo>
                    <a:pt x="18592" y="381000"/>
                  </a:lnTo>
                  <a:lnTo>
                    <a:pt x="362407" y="381000"/>
                  </a:lnTo>
                  <a:lnTo>
                    <a:pt x="381000" y="362407"/>
                  </a:lnTo>
                  <a:lnTo>
                    <a:pt x="381000" y="18580"/>
                  </a:lnTo>
                  <a:lnTo>
                    <a:pt x="365150" y="533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23301" y="5466562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12606" y="3935412"/>
            <a:ext cx="460565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Redes</a:t>
            </a:r>
            <a:r>
              <a:rPr dirty="0" sz="1650" spc="5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245">
                <a:solidFill>
                  <a:srgbClr val="494959"/>
                </a:solidFill>
                <a:latin typeface="Cambria"/>
                <a:cs typeface="Cambria"/>
              </a:rPr>
              <a:t>y</a:t>
            </a:r>
            <a:r>
              <a:rPr dirty="0" sz="1650" spc="5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Conectividad</a:t>
            </a:r>
            <a:endParaRPr sz="1650">
              <a:latin typeface="Cambria"/>
              <a:cs typeface="Cambria"/>
            </a:endParaRPr>
          </a:p>
          <a:p>
            <a:pPr algn="ctr"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Conocer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protocolos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comunicación,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Lucida Sans Unicode"/>
                <a:cs typeface="Lucida Sans Unicode"/>
              </a:rPr>
              <a:t>topología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red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y  </a:t>
            </a:r>
            <a:r>
              <a:rPr dirty="0" sz="1350" spc="-40">
                <a:solidFill>
                  <a:srgbClr val="494959"/>
                </a:solidFill>
                <a:latin typeface="Lucida Sans Unicode"/>
                <a:cs typeface="Lucida Sans Unicode"/>
              </a:rPr>
              <a:t>tecnología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inalámbricas.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297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777875"/>
            <a:ext cx="589470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40"/>
              <a:t>Selección</a:t>
            </a:r>
            <a:r>
              <a:rPr dirty="0" spc="204"/>
              <a:t> </a:t>
            </a:r>
            <a:r>
              <a:rPr dirty="0" spc="355"/>
              <a:t>de</a:t>
            </a:r>
            <a:r>
              <a:rPr dirty="0" spc="210"/>
              <a:t> </a:t>
            </a:r>
            <a:r>
              <a:rPr dirty="0" spc="305"/>
              <a:t>plataformas</a:t>
            </a:r>
            <a:r>
              <a:rPr dirty="0" spc="110"/>
              <a:t> </a:t>
            </a:r>
            <a:r>
              <a:rPr dirty="0" spc="465"/>
              <a:t>y </a:t>
            </a:r>
            <a:r>
              <a:rPr dirty="0" spc="-725"/>
              <a:t> </a:t>
            </a:r>
            <a:r>
              <a:rPr dirty="0" spc="310"/>
              <a:t>herramientas</a:t>
            </a:r>
            <a:r>
              <a:rPr dirty="0" spc="225"/>
              <a:t> </a:t>
            </a:r>
            <a:r>
              <a:rPr dirty="0" spc="325"/>
              <a:t>IoT</a:t>
            </a:r>
          </a:p>
        </p:txBody>
      </p:sp>
      <p:sp>
        <p:nvSpPr>
          <p:cNvPr id="4" name="object 4"/>
          <p:cNvSpPr/>
          <p:nvPr/>
        </p:nvSpPr>
        <p:spPr>
          <a:xfrm>
            <a:off x="4886325" y="2124074"/>
            <a:ext cx="2886075" cy="2085975"/>
          </a:xfrm>
          <a:custGeom>
            <a:avLst/>
            <a:gdLst/>
            <a:ahLst/>
            <a:cxnLst/>
            <a:rect l="l" t="t" r="r" b="b"/>
            <a:pathLst>
              <a:path w="2886075" h="208597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64550"/>
                </a:lnTo>
                <a:lnTo>
                  <a:pt x="0" y="2067382"/>
                </a:lnTo>
                <a:lnTo>
                  <a:pt x="18592" y="2085975"/>
                </a:lnTo>
                <a:lnTo>
                  <a:pt x="2867482" y="2085975"/>
                </a:lnTo>
                <a:lnTo>
                  <a:pt x="2886075" y="206738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45075" y="2259012"/>
            <a:ext cx="2423160" cy="1750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63905">
              <a:lnSpc>
                <a:spcPct val="109800"/>
              </a:lnSpc>
              <a:spcBef>
                <a:spcPts val="90"/>
              </a:spcBef>
            </a:pPr>
            <a:r>
              <a:rPr dirty="0" sz="1650" spc="160">
                <a:solidFill>
                  <a:srgbClr val="494959"/>
                </a:solidFill>
                <a:latin typeface="Cambria"/>
                <a:cs typeface="Cambria"/>
              </a:rPr>
              <a:t>Plataformas</a:t>
            </a:r>
            <a:r>
              <a:rPr dirty="0" sz="1650" spc="7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 </a:t>
            </a:r>
            <a:r>
              <a:rPr dirty="0" sz="1650" spc="-34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Hardware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Opciones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populares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como 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Arduino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,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94959"/>
                </a:solidFill>
                <a:latin typeface="Verdana"/>
                <a:cs typeface="Verdana"/>
              </a:rPr>
              <a:t>Raspberr</a:t>
            </a:r>
            <a:r>
              <a:rPr dirty="0" sz="1350" spc="-55">
                <a:solidFill>
                  <a:srgbClr val="494959"/>
                </a:solidFill>
                <a:latin typeface="Verdana"/>
                <a:cs typeface="Verdana"/>
              </a:rPr>
              <a:t>y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Verdana"/>
                <a:cs typeface="Verdana"/>
              </a:rPr>
              <a:t>Pi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y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494959"/>
                </a:solidFill>
                <a:latin typeface="Verdana"/>
                <a:cs typeface="Verdana"/>
              </a:rPr>
              <a:t>ESP32  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que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ofrecen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Verdana"/>
                <a:cs typeface="Verdana"/>
              </a:rPr>
              <a:t>un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Verdana"/>
                <a:cs typeface="Verdana"/>
              </a:rPr>
              <a:t>amplia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94959"/>
                </a:solidFill>
                <a:latin typeface="Verdana"/>
                <a:cs typeface="Verdana"/>
              </a:rPr>
              <a:t>gama 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de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posibilidades.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3850" y="2124074"/>
            <a:ext cx="2886075" cy="2085975"/>
          </a:xfrm>
          <a:custGeom>
            <a:avLst/>
            <a:gdLst/>
            <a:ahLst/>
            <a:cxnLst/>
            <a:rect l="l" t="t" r="r" b="b"/>
            <a:pathLst>
              <a:path w="2886075" h="208597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64550"/>
                </a:lnTo>
                <a:lnTo>
                  <a:pt x="0" y="2067382"/>
                </a:lnTo>
                <a:lnTo>
                  <a:pt x="18592" y="2085975"/>
                </a:lnTo>
                <a:lnTo>
                  <a:pt x="2867482" y="2085975"/>
                </a:lnTo>
                <a:lnTo>
                  <a:pt x="2886075" y="206738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600" y="2259012"/>
            <a:ext cx="2505710" cy="1750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846455">
              <a:lnSpc>
                <a:spcPct val="109800"/>
              </a:lnSpc>
              <a:spcBef>
                <a:spcPts val="90"/>
              </a:spcBef>
            </a:pPr>
            <a:r>
              <a:rPr dirty="0" sz="1650" spc="160">
                <a:solidFill>
                  <a:srgbClr val="494959"/>
                </a:solidFill>
                <a:latin typeface="Cambria"/>
                <a:cs typeface="Cambria"/>
              </a:rPr>
              <a:t>Plataformas</a:t>
            </a:r>
            <a:r>
              <a:rPr dirty="0" sz="1650" spc="7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 </a:t>
            </a:r>
            <a:r>
              <a:rPr dirty="0" sz="1650" spc="-34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494959"/>
                </a:solidFill>
                <a:latin typeface="Cambria"/>
                <a:cs typeface="Cambria"/>
              </a:rPr>
              <a:t>Software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70">
                <a:solidFill>
                  <a:srgbClr val="494959"/>
                </a:solidFill>
                <a:latin typeface="Verdana"/>
                <a:cs typeface="Verdana"/>
              </a:rPr>
              <a:t>Servicio</a:t>
            </a:r>
            <a:r>
              <a:rPr dirty="0" sz="1350" spc="-65">
                <a:solidFill>
                  <a:srgbClr val="494959"/>
                </a:solidFill>
                <a:latin typeface="Verdana"/>
                <a:cs typeface="Verdana"/>
              </a:rPr>
              <a:t>s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en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l</a:t>
            </a:r>
            <a:r>
              <a:rPr dirty="0" sz="1350" spc="-65">
                <a:solidFill>
                  <a:srgbClr val="494959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nub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como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94959"/>
                </a:solidFill>
                <a:latin typeface="Verdana"/>
                <a:cs typeface="Verdana"/>
              </a:rPr>
              <a:t>AWS  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IoT</a:t>
            </a:r>
            <a:r>
              <a:rPr dirty="0" sz="1350" spc="-80">
                <a:solidFill>
                  <a:srgbClr val="494959"/>
                </a:solidFill>
                <a:latin typeface="Verdana"/>
                <a:cs typeface="Verdana"/>
              </a:rPr>
              <a:t>,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94959"/>
                </a:solidFill>
                <a:latin typeface="Verdana"/>
                <a:cs typeface="Verdana"/>
              </a:rPr>
              <a:t>Azur</a:t>
            </a:r>
            <a:r>
              <a:rPr dirty="0" sz="1350" spc="-55">
                <a:solidFill>
                  <a:srgbClr val="494959"/>
                </a:solidFill>
                <a:latin typeface="Verdana"/>
                <a:cs typeface="Verdana"/>
              </a:rPr>
              <a:t>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94959"/>
                </a:solidFill>
                <a:latin typeface="Verdana"/>
                <a:cs typeface="Verdana"/>
              </a:rPr>
              <a:t>Io</a:t>
            </a:r>
            <a:r>
              <a:rPr dirty="0" sz="1350" spc="-110">
                <a:solidFill>
                  <a:srgbClr val="494959"/>
                </a:solidFill>
                <a:latin typeface="Verdana"/>
                <a:cs typeface="Verdana"/>
              </a:rPr>
              <a:t>T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y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Googl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Cloud  </a:t>
            </a:r>
            <a:r>
              <a:rPr dirty="0" sz="1350" spc="-95">
                <a:solidFill>
                  <a:srgbClr val="494959"/>
                </a:solidFill>
                <a:latin typeface="Verdana"/>
                <a:cs typeface="Verdana"/>
              </a:rPr>
              <a:t>Io</a:t>
            </a:r>
            <a:r>
              <a:rPr dirty="0" sz="1350" spc="-110">
                <a:solidFill>
                  <a:srgbClr val="494959"/>
                </a:solidFill>
                <a:latin typeface="Verdana"/>
                <a:cs typeface="Verdana"/>
              </a:rPr>
              <a:t>T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que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Verdana"/>
                <a:cs typeface="Verdana"/>
              </a:rPr>
              <a:t>facilita</a:t>
            </a:r>
            <a:r>
              <a:rPr dirty="0" sz="1350" spc="-60">
                <a:solidFill>
                  <a:srgbClr val="494959"/>
                </a:solidFill>
                <a:latin typeface="Verdana"/>
                <a:cs typeface="Verdana"/>
              </a:rPr>
              <a:t>n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l</a:t>
            </a:r>
            <a:r>
              <a:rPr dirty="0" sz="1350" spc="-65">
                <a:solidFill>
                  <a:srgbClr val="494959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gestión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Verdana"/>
                <a:cs typeface="Verdana"/>
              </a:rPr>
              <a:t>de  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datos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y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dispositivos.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6325" y="4381500"/>
            <a:ext cx="5943600" cy="1257300"/>
          </a:xfrm>
          <a:custGeom>
            <a:avLst/>
            <a:gdLst/>
            <a:ahLst/>
            <a:cxnLst/>
            <a:rect l="l" t="t" r="r" b="b"/>
            <a:pathLst>
              <a:path w="5943600" h="1257300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35870"/>
                </a:lnTo>
                <a:lnTo>
                  <a:pt x="0" y="1238707"/>
                </a:lnTo>
                <a:lnTo>
                  <a:pt x="18592" y="1257296"/>
                </a:lnTo>
                <a:lnTo>
                  <a:pt x="5925007" y="1257296"/>
                </a:lnTo>
                <a:lnTo>
                  <a:pt x="5943600" y="12387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45075" y="4535487"/>
            <a:ext cx="541655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Herramientas</a:t>
            </a:r>
            <a:r>
              <a:rPr dirty="0" sz="1650" spc="11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1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494959"/>
                </a:solidFill>
                <a:latin typeface="Cambria"/>
                <a:cs typeface="Cambria"/>
              </a:rPr>
              <a:t>Desarrollo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Entornos</a:t>
            </a:r>
            <a:r>
              <a:rPr dirty="0" sz="1350" spc="-120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de</a:t>
            </a:r>
            <a:r>
              <a:rPr dirty="0" sz="1350" spc="-120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programación,</a:t>
            </a:r>
            <a:r>
              <a:rPr dirty="0" sz="1350" spc="-120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94959"/>
                </a:solidFill>
                <a:latin typeface="Verdana"/>
                <a:cs typeface="Verdana"/>
              </a:rPr>
              <a:t>emuladores,</a:t>
            </a:r>
            <a:r>
              <a:rPr dirty="0" sz="1350" spc="-114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simuladores</a:t>
            </a:r>
            <a:r>
              <a:rPr dirty="0" sz="1350" spc="-120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y</a:t>
            </a:r>
            <a:r>
              <a:rPr dirty="0" sz="1350" spc="-120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94959"/>
                </a:solidFill>
                <a:latin typeface="Verdana"/>
                <a:cs typeface="Verdana"/>
              </a:rPr>
              <a:t>frameworks </a:t>
            </a:r>
            <a:r>
              <a:rPr dirty="0" sz="1350" spc="-459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Verdana"/>
                <a:cs typeface="Verdana"/>
              </a:rPr>
              <a:t>que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Verdana"/>
                <a:cs typeface="Verdana"/>
              </a:rPr>
              <a:t>aceleran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94959"/>
                </a:solidFill>
                <a:latin typeface="Verdana"/>
                <a:cs typeface="Verdana"/>
              </a:rPr>
              <a:t>el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proceso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Verdana"/>
                <a:cs typeface="Verdana"/>
              </a:rPr>
              <a:t>de</a:t>
            </a:r>
            <a:r>
              <a:rPr dirty="0" sz="1350" spc="-125">
                <a:solidFill>
                  <a:srgbClr val="49495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94959"/>
                </a:solidFill>
                <a:latin typeface="Verdana"/>
                <a:cs typeface="Verdana"/>
              </a:rPr>
              <a:t>desarrollo.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77100"/>
          </a:xfrm>
          <a:custGeom>
            <a:avLst/>
            <a:gdLst/>
            <a:ahLst/>
            <a:cxnLst/>
            <a:rect l="l" t="t" r="r" b="b"/>
            <a:pathLst>
              <a:path w="11430000" h="7277100">
                <a:moveTo>
                  <a:pt x="11430000" y="0"/>
                </a:moveTo>
                <a:lnTo>
                  <a:pt x="0" y="0"/>
                </a:lnTo>
                <a:lnTo>
                  <a:pt x="0" y="7277100"/>
                </a:lnTo>
                <a:lnTo>
                  <a:pt x="11430000" y="7277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00"/>
              <a:t>Desarrollo</a:t>
            </a:r>
            <a:r>
              <a:rPr dirty="0" spc="229"/>
              <a:t> </a:t>
            </a:r>
            <a:r>
              <a:rPr dirty="0" spc="355"/>
              <a:t>de</a:t>
            </a:r>
            <a:r>
              <a:rPr dirty="0" spc="235"/>
              <a:t> </a:t>
            </a:r>
            <a:r>
              <a:rPr dirty="0" spc="430"/>
              <a:t>un</a:t>
            </a:r>
            <a:r>
              <a:rPr dirty="0" spc="229"/>
              <a:t> </a:t>
            </a:r>
            <a:r>
              <a:rPr dirty="0" spc="320"/>
              <a:t>proyecto</a:t>
            </a:r>
            <a:r>
              <a:rPr dirty="0" spc="235"/>
              <a:t> </a:t>
            </a:r>
            <a:r>
              <a:rPr dirty="0" spc="325"/>
              <a:t>IoT</a:t>
            </a:r>
            <a:r>
              <a:rPr dirty="0" spc="130"/>
              <a:t> </a:t>
            </a:r>
            <a:r>
              <a:rPr dirty="0" spc="355"/>
              <a:t>de</a:t>
            </a:r>
            <a:r>
              <a:rPr dirty="0" spc="229"/>
              <a:t> </a:t>
            </a:r>
            <a:r>
              <a:rPr dirty="0" spc="325"/>
              <a:t>principio</a:t>
            </a:r>
            <a:r>
              <a:rPr dirty="0" spc="235"/>
              <a:t> </a:t>
            </a:r>
            <a:r>
              <a:rPr dirty="0" spc="229"/>
              <a:t>a </a:t>
            </a:r>
            <a:r>
              <a:rPr dirty="0" spc="-725"/>
              <a:t> </a:t>
            </a:r>
            <a:r>
              <a:rPr dirty="0" spc="360"/>
              <a:t>fin</a:t>
            </a:r>
          </a:p>
        </p:txBody>
      </p:sp>
      <p:sp>
        <p:nvSpPr>
          <p:cNvPr id="5" name="object 5"/>
          <p:cNvSpPr/>
          <p:nvPr/>
        </p:nvSpPr>
        <p:spPr>
          <a:xfrm>
            <a:off x="600075" y="3952887"/>
            <a:ext cx="10234930" cy="685800"/>
          </a:xfrm>
          <a:custGeom>
            <a:avLst/>
            <a:gdLst/>
            <a:ahLst/>
            <a:cxnLst/>
            <a:rect l="l" t="t" r="r" b="b"/>
            <a:pathLst>
              <a:path w="10234930" h="685800">
                <a:moveTo>
                  <a:pt x="2557462" y="342900"/>
                </a:moveTo>
                <a:lnTo>
                  <a:pt x="2386012" y="0"/>
                </a:ln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2386012" y="685800"/>
                </a:lnTo>
                <a:lnTo>
                  <a:pt x="2557462" y="342900"/>
                </a:lnTo>
                <a:close/>
              </a:path>
              <a:path w="10234930" h="685800">
                <a:moveTo>
                  <a:pt x="5119687" y="342900"/>
                </a:moveTo>
                <a:lnTo>
                  <a:pt x="4948237" y="0"/>
                </a:lnTo>
                <a:lnTo>
                  <a:pt x="2562225" y="0"/>
                </a:lnTo>
                <a:lnTo>
                  <a:pt x="2733675" y="342900"/>
                </a:lnTo>
                <a:lnTo>
                  <a:pt x="2562225" y="685800"/>
                </a:lnTo>
                <a:lnTo>
                  <a:pt x="4948237" y="685800"/>
                </a:lnTo>
                <a:lnTo>
                  <a:pt x="5119687" y="342900"/>
                </a:lnTo>
                <a:close/>
              </a:path>
              <a:path w="10234930" h="685800">
                <a:moveTo>
                  <a:pt x="7672387" y="342900"/>
                </a:moveTo>
                <a:lnTo>
                  <a:pt x="7500937" y="0"/>
                </a:lnTo>
                <a:lnTo>
                  <a:pt x="5114925" y="0"/>
                </a:lnTo>
                <a:lnTo>
                  <a:pt x="5286375" y="342900"/>
                </a:lnTo>
                <a:lnTo>
                  <a:pt x="5114925" y="685800"/>
                </a:lnTo>
                <a:lnTo>
                  <a:pt x="7500937" y="685800"/>
                </a:lnTo>
                <a:lnTo>
                  <a:pt x="7672387" y="342900"/>
                </a:lnTo>
                <a:close/>
              </a:path>
              <a:path w="10234930" h="685800">
                <a:moveTo>
                  <a:pt x="10234612" y="342900"/>
                </a:moveTo>
                <a:lnTo>
                  <a:pt x="10063162" y="0"/>
                </a:lnTo>
                <a:lnTo>
                  <a:pt x="7677150" y="0"/>
                </a:lnTo>
                <a:lnTo>
                  <a:pt x="7848600" y="342900"/>
                </a:lnTo>
                <a:lnTo>
                  <a:pt x="7677150" y="685800"/>
                </a:lnTo>
                <a:lnTo>
                  <a:pt x="10063162" y="685800"/>
                </a:lnTo>
                <a:lnTo>
                  <a:pt x="10234612" y="34290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8825" y="4878387"/>
            <a:ext cx="212788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>
                <a:solidFill>
                  <a:srgbClr val="494959"/>
                </a:solidFill>
                <a:latin typeface="Cambria"/>
                <a:cs typeface="Cambria"/>
              </a:rPr>
              <a:t>Definir</a:t>
            </a:r>
            <a:r>
              <a:rPr dirty="0" sz="1650" spc="4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94959"/>
                </a:solidFill>
                <a:latin typeface="Cambria"/>
                <a:cs typeface="Cambria"/>
              </a:rPr>
              <a:t>Requisitos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dirty="0" sz="1350" spc="-5">
                <a:solidFill>
                  <a:srgbClr val="494959"/>
                </a:solidFill>
                <a:latin typeface="Trebuchet MS"/>
                <a:cs typeface="Trebuchet MS"/>
              </a:rPr>
              <a:t>Identificar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las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necesidades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objetivos del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proyecto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Trebuchet MS"/>
                <a:cs typeface="Trebuchet MS"/>
              </a:rPr>
              <a:t>IoT.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6287" y="4878387"/>
            <a:ext cx="2227580" cy="17221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820419">
              <a:lnSpc>
                <a:spcPct val="106100"/>
              </a:lnSpc>
              <a:spcBef>
                <a:spcPts val="1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Diseñar </a:t>
            </a:r>
            <a:r>
              <a:rPr dirty="0" sz="1650" spc="18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235">
                <a:solidFill>
                  <a:srgbClr val="494959"/>
                </a:solidFill>
                <a:latin typeface="Cambria"/>
                <a:cs typeface="Cambria"/>
              </a:rPr>
              <a:t>A</a:t>
            </a:r>
            <a:r>
              <a:rPr dirty="0" sz="1650" spc="135">
                <a:solidFill>
                  <a:srgbClr val="494959"/>
                </a:solidFill>
                <a:latin typeface="Cambria"/>
                <a:cs typeface="Cambria"/>
              </a:rPr>
              <a:t>r</a:t>
            </a:r>
            <a:r>
              <a:rPr dirty="0" sz="1650" spc="150">
                <a:solidFill>
                  <a:srgbClr val="494959"/>
                </a:solidFill>
                <a:latin typeface="Cambria"/>
                <a:cs typeface="Cambria"/>
              </a:rPr>
              <a:t>quitectura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640"/>
              </a:spcBef>
            </a:pP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Seleccionar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componentes</a:t>
            </a:r>
            <a:r>
              <a:rPr dirty="0" sz="1350" spc="-8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hardware,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software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conectividad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adecuados.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50" y="4878387"/>
            <a:ext cx="2162175" cy="14458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681990">
              <a:lnSpc>
                <a:spcPct val="106100"/>
              </a:lnSpc>
              <a:spcBef>
                <a:spcPts val="15"/>
              </a:spcBef>
            </a:pPr>
            <a:r>
              <a:rPr dirty="0" sz="1650" spc="185">
                <a:solidFill>
                  <a:srgbClr val="494959"/>
                </a:solidFill>
                <a:latin typeface="Cambria"/>
                <a:cs typeface="Cambria"/>
              </a:rPr>
              <a:t>Implementar  </a:t>
            </a:r>
            <a:r>
              <a:rPr dirty="0" sz="1650" spc="195">
                <a:solidFill>
                  <a:srgbClr val="494959"/>
                </a:solidFill>
                <a:latin typeface="Cambria"/>
                <a:cs typeface="Cambria"/>
              </a:rPr>
              <a:t>Solución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Integrar</a:t>
            </a:r>
            <a:r>
              <a:rPr dirty="0" sz="1350" spc="-8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8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configurar</a:t>
            </a:r>
            <a:r>
              <a:rPr dirty="0" sz="1350" spc="-8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todos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 elementos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del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sistema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Trebuchet MS"/>
                <a:cs typeface="Trebuchet MS"/>
              </a:rPr>
              <a:t>IoT.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8657" y="4111625"/>
            <a:ext cx="78308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47620" algn="l"/>
                <a:tab pos="5105400" algn="l"/>
                <a:tab pos="7666990" algn="l"/>
              </a:tabLst>
            </a:pP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1</a:t>
            </a: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	</a:t>
            </a: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2</a:t>
            </a: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	</a:t>
            </a: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3</a:t>
            </a: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	</a:t>
            </a:r>
            <a:r>
              <a:rPr dirty="0" sz="2000" spc="75">
                <a:solidFill>
                  <a:srgbClr val="494959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1212" y="4878387"/>
            <a:ext cx="216154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94959"/>
                </a:solidFill>
                <a:latin typeface="Cambria"/>
                <a:cs typeface="Cambria"/>
              </a:rPr>
              <a:t>Probar</a:t>
            </a:r>
            <a:r>
              <a:rPr dirty="0" sz="1650" spc="-1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245">
                <a:solidFill>
                  <a:srgbClr val="494959"/>
                </a:solidFill>
                <a:latin typeface="Cambria"/>
                <a:cs typeface="Cambria"/>
              </a:rPr>
              <a:t>y</a:t>
            </a:r>
            <a:r>
              <a:rPr dirty="0" sz="1650" spc="3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215">
                <a:solidFill>
                  <a:srgbClr val="494959"/>
                </a:solidFill>
                <a:latin typeface="Cambria"/>
                <a:cs typeface="Cambria"/>
              </a:rPr>
              <a:t>Optimizar</a:t>
            </a:r>
            <a:endParaRPr sz="1650">
              <a:latin typeface="Cambria"/>
              <a:cs typeface="Cambria"/>
            </a:endParaRPr>
          </a:p>
          <a:p>
            <a:pPr marL="12700" marR="286385">
              <a:lnSpc>
                <a:spcPct val="132700"/>
              </a:lnSpc>
              <a:spcBef>
                <a:spcPts val="640"/>
              </a:spcBef>
            </a:pPr>
            <a:r>
              <a:rPr dirty="0" sz="1350">
                <a:solidFill>
                  <a:srgbClr val="494959"/>
                </a:solidFill>
                <a:latin typeface="Trebuchet MS"/>
                <a:cs typeface="Trebuchet MS"/>
              </a:rPr>
              <a:t>Realizar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pruebas </a:t>
            </a:r>
            <a:r>
              <a:rPr dirty="0" sz="1350" spc="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exhaustivas</a:t>
            </a:r>
            <a:r>
              <a:rPr dirty="0" sz="1350" spc="-7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7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ajustar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Trebuchet MS"/>
                <a:cs typeface="Trebuchet MS"/>
              </a:rPr>
              <a:t>el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sistema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 </a:t>
            </a:r>
            <a:r>
              <a:rPr dirty="0" sz="1350" spc="85">
                <a:solidFill>
                  <a:srgbClr val="494959"/>
                </a:solidFill>
                <a:latin typeface="Trebuchet MS"/>
                <a:cs typeface="Trebuchet MS"/>
              </a:rPr>
              <a:t>un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mejor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rendimiento.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764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391525"/>
          </a:xfrm>
          <a:custGeom>
            <a:avLst/>
            <a:gdLst/>
            <a:ahLst/>
            <a:cxnLst/>
            <a:rect l="l" t="t" r="r" b="b"/>
            <a:pathLst>
              <a:path w="11430000" h="8391525">
                <a:moveTo>
                  <a:pt x="11430000" y="0"/>
                </a:moveTo>
                <a:lnTo>
                  <a:pt x="0" y="0"/>
                </a:lnTo>
                <a:lnTo>
                  <a:pt x="0" y="8391525"/>
                </a:lnTo>
                <a:lnTo>
                  <a:pt x="11430000" y="83915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83915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54025"/>
            <a:ext cx="5483225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35"/>
              <a:t>Consideraciones </a:t>
            </a:r>
            <a:r>
              <a:rPr dirty="0" spc="355"/>
              <a:t>de </a:t>
            </a:r>
            <a:r>
              <a:rPr dirty="0" spc="360"/>
              <a:t> </a:t>
            </a:r>
            <a:r>
              <a:rPr dirty="0" spc="295"/>
              <a:t>seguridad</a:t>
            </a:r>
            <a:r>
              <a:rPr dirty="0" spc="95"/>
              <a:t> </a:t>
            </a:r>
            <a:r>
              <a:rPr dirty="0" spc="465"/>
              <a:t>y</a:t>
            </a:r>
            <a:r>
              <a:rPr dirty="0" spc="100"/>
              <a:t> </a:t>
            </a:r>
            <a:r>
              <a:rPr dirty="0" spc="265"/>
              <a:t>escalabilidad </a:t>
            </a:r>
            <a:r>
              <a:rPr dirty="0" spc="-720"/>
              <a:t> </a:t>
            </a:r>
            <a:r>
              <a:rPr dirty="0" spc="375"/>
              <a:t>en</a:t>
            </a:r>
            <a:r>
              <a:rPr dirty="0" spc="225"/>
              <a:t> </a:t>
            </a:r>
            <a:r>
              <a:rPr dirty="0" spc="325"/>
              <a:t>IoT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3109" y="2333625"/>
            <a:ext cx="375056" cy="428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73625" y="2916237"/>
            <a:ext cx="5189855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94959"/>
                </a:solidFill>
                <a:latin typeface="Cambria"/>
                <a:cs typeface="Cambria"/>
              </a:rPr>
              <a:t>Seguridad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Implementar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medidas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seguridad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rebuchet MS"/>
                <a:cs typeface="Trebuchet MS"/>
              </a:rPr>
              <a:t>como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encriptación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datos, </a:t>
            </a:r>
            <a:r>
              <a:rPr dirty="0" sz="1350" spc="-39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autenticación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control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">
                <a:solidFill>
                  <a:srgbClr val="494959"/>
                </a:solidFill>
                <a:latin typeface="Trebuchet MS"/>
                <a:cs typeface="Trebuchet MS"/>
              </a:rPr>
              <a:t>acceso.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5207" y="4395787"/>
            <a:ext cx="429742" cy="381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73625" y="4954587"/>
            <a:ext cx="565785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94959"/>
                </a:solidFill>
                <a:latin typeface="Cambria"/>
                <a:cs typeface="Cambria"/>
              </a:rPr>
              <a:t>Escalabilidad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Diseñar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rebuchet MS"/>
                <a:cs typeface="Trebuchet MS"/>
              </a:rPr>
              <a:t>una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infraestructura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IoT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que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pueda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adaptarse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a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85">
                <a:solidFill>
                  <a:srgbClr val="494959"/>
                </a:solidFill>
                <a:latin typeface="Trebuchet MS"/>
                <a:cs typeface="Trebuchet MS"/>
              </a:rPr>
              <a:t>un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crecimiento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futuro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dispositivos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datos.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86325" y="6465087"/>
            <a:ext cx="428625" cy="3000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73625" y="6983410"/>
            <a:ext cx="5389245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35">
                <a:solidFill>
                  <a:srgbClr val="494959"/>
                </a:solidFill>
                <a:latin typeface="Cambria"/>
                <a:cs typeface="Cambria"/>
              </a:rPr>
              <a:t>Cloud</a:t>
            </a:r>
            <a:r>
              <a:rPr dirty="0" sz="1650" spc="8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240">
                <a:solidFill>
                  <a:srgbClr val="494959"/>
                </a:solidFill>
                <a:latin typeface="Cambria"/>
                <a:cs typeface="Cambria"/>
              </a:rPr>
              <a:t>Computing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Aprovechar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servicios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en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rebuchet MS"/>
                <a:cs typeface="Trebuchet MS"/>
              </a:rPr>
              <a:t>nube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Trebuchet MS"/>
                <a:cs typeface="Trebuchet MS"/>
              </a:rPr>
              <a:t>la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gestión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centralizada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y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Trebuchet MS"/>
                <a:cs typeface="Trebuchet MS"/>
              </a:rPr>
              <a:t>el </a:t>
            </a:r>
            <a:r>
              <a:rPr dirty="0" sz="1350" spc="-39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procesamiento</a:t>
            </a:r>
            <a:r>
              <a:rPr dirty="0" sz="1350" spc="-6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datos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rebuchet MS"/>
                <a:cs typeface="Trebuchet MS"/>
              </a:rPr>
              <a:t>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rebuchet MS"/>
                <a:cs typeface="Trebuchet MS"/>
              </a:rPr>
              <a:t>gran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Trebuchet MS"/>
                <a:cs typeface="Trebuchet MS"/>
              </a:rPr>
              <a:t>escala.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78798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2024-11-05T06:32:33Z</dcterms:created>
  <dcterms:modified xsi:type="dcterms:W3CDTF">2024-11-05T06:32:33Z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