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1430000" cy="6934200"/>
  <p:notesSz cx="11430000" cy="69342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22187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22187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22187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AFA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454025"/>
            <a:ext cx="10255250" cy="1616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22187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7375" y="1035050"/>
            <a:ext cx="10255250" cy="1644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1643697"/>
            <a:ext cx="5734050" cy="147828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850"/>
              </a:lnSpc>
            </a:pPr>
            <a:r>
              <a:rPr dirty="0" sz="4650" spc="-145">
                <a:latin typeface="Verdana"/>
                <a:cs typeface="Verdana"/>
              </a:rPr>
              <a:t>Q</a:t>
            </a:r>
            <a:r>
              <a:rPr dirty="0" sz="4650" spc="-760">
                <a:latin typeface="Verdana"/>
                <a:cs typeface="Verdana"/>
              </a:rPr>
              <a:t>u</a:t>
            </a:r>
            <a:r>
              <a:rPr dirty="0" sz="4650" spc="-509">
                <a:latin typeface="Verdana"/>
                <a:cs typeface="Verdana"/>
              </a:rPr>
              <a:t>é</a:t>
            </a:r>
            <a:r>
              <a:rPr dirty="0" sz="4650" spc="-730">
                <a:latin typeface="Verdana"/>
                <a:cs typeface="Verdana"/>
              </a:rPr>
              <a:t> </a:t>
            </a:r>
            <a:r>
              <a:rPr dirty="0" sz="4650" spc="-515">
                <a:latin typeface="Verdana"/>
                <a:cs typeface="Verdana"/>
              </a:rPr>
              <a:t>e</a:t>
            </a:r>
            <a:r>
              <a:rPr dirty="0" sz="4650" spc="-565">
                <a:latin typeface="Verdana"/>
                <a:cs typeface="Verdana"/>
              </a:rPr>
              <a:t>s</a:t>
            </a:r>
            <a:r>
              <a:rPr dirty="0" sz="4650" spc="-730">
                <a:latin typeface="Verdana"/>
                <a:cs typeface="Verdana"/>
              </a:rPr>
              <a:t> </a:t>
            </a:r>
            <a:r>
              <a:rPr dirty="0" sz="4650" spc="-1125">
                <a:latin typeface="Verdana"/>
                <a:cs typeface="Verdana"/>
              </a:rPr>
              <a:t>I</a:t>
            </a:r>
            <a:r>
              <a:rPr dirty="0" sz="4650" spc="-490">
                <a:latin typeface="Verdana"/>
                <a:cs typeface="Verdana"/>
              </a:rPr>
              <a:t>o</a:t>
            </a:r>
            <a:r>
              <a:rPr dirty="0" sz="4650" spc="-150">
                <a:latin typeface="Verdana"/>
                <a:cs typeface="Verdana"/>
              </a:rPr>
              <a:t>T</a:t>
            </a:r>
            <a:r>
              <a:rPr dirty="0" sz="4650" spc="-805">
                <a:latin typeface="Verdana"/>
                <a:cs typeface="Verdana"/>
              </a:rPr>
              <a:t> </a:t>
            </a:r>
            <a:r>
              <a:rPr dirty="0" sz="4650" spc="-509">
                <a:latin typeface="Verdana"/>
                <a:cs typeface="Verdana"/>
              </a:rPr>
              <a:t>y</a:t>
            </a:r>
            <a:r>
              <a:rPr dirty="0" sz="4650" spc="-730">
                <a:latin typeface="Verdana"/>
                <a:cs typeface="Verdana"/>
              </a:rPr>
              <a:t> </a:t>
            </a:r>
            <a:r>
              <a:rPr dirty="0" sz="4650" spc="-470">
                <a:latin typeface="Verdana"/>
                <a:cs typeface="Verdana"/>
              </a:rPr>
              <a:t>c</a:t>
            </a:r>
            <a:r>
              <a:rPr dirty="0" sz="4650" spc="-490">
                <a:latin typeface="Verdana"/>
                <a:cs typeface="Verdana"/>
              </a:rPr>
              <a:t>ó</a:t>
            </a:r>
            <a:r>
              <a:rPr dirty="0" sz="4650" spc="295">
                <a:latin typeface="Verdana"/>
                <a:cs typeface="Verdana"/>
              </a:rPr>
              <a:t>f</a:t>
            </a:r>
            <a:r>
              <a:rPr dirty="0" sz="4650" spc="235">
                <a:latin typeface="Verdana"/>
                <a:cs typeface="Verdana"/>
              </a:rPr>
              <a:t>i</a:t>
            </a:r>
            <a:r>
              <a:rPr dirty="0" sz="4650" spc="-484">
                <a:latin typeface="Verdana"/>
                <a:cs typeface="Verdana"/>
              </a:rPr>
              <a:t>o</a:t>
            </a:r>
            <a:r>
              <a:rPr dirty="0" sz="4650" spc="-730">
                <a:latin typeface="Verdana"/>
                <a:cs typeface="Verdana"/>
              </a:rPr>
              <a:t> </a:t>
            </a:r>
            <a:r>
              <a:rPr dirty="0" sz="4650" spc="-605">
                <a:latin typeface="Verdana"/>
                <a:cs typeface="Verdana"/>
              </a:rPr>
              <a:t>h</a:t>
            </a:r>
            <a:r>
              <a:rPr dirty="0" sz="4650" spc="-204">
                <a:latin typeface="Verdana"/>
                <a:cs typeface="Verdana"/>
              </a:rPr>
              <a:t>a  </a:t>
            </a:r>
            <a:r>
              <a:rPr dirty="0" sz="4650" spc="-475">
                <a:latin typeface="Verdana"/>
                <a:cs typeface="Verdana"/>
              </a:rPr>
              <a:t>evolucionado</a:t>
            </a:r>
            <a:endParaRPr sz="46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7375" y="3336290"/>
            <a:ext cx="5815965" cy="1397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33100"/>
              </a:lnSpc>
              <a:spcBef>
                <a:spcPts val="114"/>
              </a:spcBef>
            </a:pPr>
            <a:r>
              <a:rPr dirty="0" sz="1350" spc="-40">
                <a:solidFill>
                  <a:srgbClr val="2A2641"/>
                </a:solidFill>
                <a:latin typeface="Arial MT"/>
                <a:cs typeface="Arial MT"/>
              </a:rPr>
              <a:t>IoT,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o Internet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de las Cosas,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se refiere a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la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red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de dispositivos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físicos, </a:t>
            </a:r>
            <a:r>
              <a:rPr dirty="0" sz="1350" spc="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vehículos,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electrodomésticos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y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otros elementos que están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conectados a </a:t>
            </a:r>
            <a:r>
              <a:rPr dirty="0" sz="1350" spc="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Internet y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pueden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recopilar y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intercambiar datos.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En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los últimos años,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IoT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ha </a:t>
            </a:r>
            <a:r>
              <a:rPr dirty="0" sz="1350" spc="-36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evolucionado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rápidamente,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integrándose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cada vez más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en nuestras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vidas </a:t>
            </a:r>
            <a:r>
              <a:rPr dirty="0" sz="1350" spc="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diarias</a:t>
            </a:r>
            <a:r>
              <a:rPr dirty="0" sz="1350" spc="-1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y transformando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diversos</a:t>
            </a:r>
            <a:r>
              <a:rPr dirty="0" sz="1350" spc="-1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sectores.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2006600"/>
            <a:ext cx="100228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0"/>
              <a:t>Apli</a:t>
            </a:r>
            <a:r>
              <a:rPr dirty="0" spc="-70"/>
              <a:t>c</a:t>
            </a:r>
            <a:r>
              <a:rPr dirty="0" spc="-95"/>
              <a:t>aciones</a:t>
            </a:r>
            <a:r>
              <a:rPr dirty="0" spc="-360"/>
              <a:t> </a:t>
            </a:r>
            <a:r>
              <a:rPr dirty="0" spc="-120"/>
              <a:t>e</a:t>
            </a:r>
            <a:r>
              <a:rPr dirty="0" spc="-360"/>
              <a:t> </a:t>
            </a:r>
            <a:r>
              <a:rPr dirty="0" spc="75"/>
              <a:t>ifipa</a:t>
            </a:r>
            <a:r>
              <a:rPr dirty="0" spc="60"/>
              <a:t>c</a:t>
            </a:r>
            <a:r>
              <a:rPr dirty="0" spc="-40"/>
              <a:t>t</a:t>
            </a:r>
            <a:r>
              <a:rPr dirty="0" spc="-105"/>
              <a:t>o</a:t>
            </a:r>
            <a:r>
              <a:rPr dirty="0" spc="-360"/>
              <a:t> </a:t>
            </a:r>
            <a:r>
              <a:rPr dirty="0" spc="-100"/>
              <a:t>de</a:t>
            </a:r>
            <a:r>
              <a:rPr dirty="0" spc="-360"/>
              <a:t> </a:t>
            </a:r>
            <a:r>
              <a:rPr dirty="0" spc="-185"/>
              <a:t>IoT</a:t>
            </a:r>
            <a:r>
              <a:rPr dirty="0" spc="-415"/>
              <a:t> </a:t>
            </a:r>
            <a:r>
              <a:rPr dirty="0" spc="-150"/>
              <a:t>en</a:t>
            </a:r>
            <a:r>
              <a:rPr dirty="0" spc="-360"/>
              <a:t> </a:t>
            </a:r>
            <a:r>
              <a:rPr dirty="0" spc="-75"/>
              <a:t>di</a:t>
            </a:r>
            <a:r>
              <a:rPr dirty="0" spc="-135"/>
              <a:t>v</a:t>
            </a:r>
            <a:r>
              <a:rPr dirty="0" spc="-25"/>
              <a:t>e</a:t>
            </a:r>
            <a:r>
              <a:rPr dirty="0" spc="-114"/>
              <a:t>r</a:t>
            </a:r>
            <a:r>
              <a:rPr dirty="0" spc="-125"/>
              <a:t>sos</a:t>
            </a:r>
            <a:r>
              <a:rPr dirty="0" spc="-360"/>
              <a:t> </a:t>
            </a:r>
            <a:r>
              <a:rPr dirty="0" spc="-114"/>
              <a:t>se</a:t>
            </a:r>
            <a:r>
              <a:rPr dirty="0" spc="-140"/>
              <a:t>c</a:t>
            </a:r>
            <a:r>
              <a:rPr dirty="0" spc="-40"/>
              <a:t>t</a:t>
            </a:r>
            <a:r>
              <a:rPr dirty="0" spc="-105"/>
              <a:t>o</a:t>
            </a:r>
            <a:r>
              <a:rPr dirty="0" spc="-30"/>
              <a:t>r</a:t>
            </a:r>
            <a:r>
              <a:rPr dirty="0" spc="-130"/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2973387"/>
            <a:ext cx="2813685" cy="12458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0" b="1">
                <a:solidFill>
                  <a:srgbClr val="221870"/>
                </a:solidFill>
                <a:latin typeface="Tahoma"/>
                <a:cs typeface="Tahoma"/>
              </a:rPr>
              <a:t>Ciudades</a:t>
            </a:r>
            <a:r>
              <a:rPr dirty="0" sz="1650" spc="-175" b="1">
                <a:solidFill>
                  <a:srgbClr val="221870"/>
                </a:solidFill>
                <a:latin typeface="Tahoma"/>
                <a:cs typeface="Tahoma"/>
              </a:rPr>
              <a:t> </a:t>
            </a:r>
            <a:r>
              <a:rPr dirty="0" sz="1650" spc="-155" b="1">
                <a:solidFill>
                  <a:srgbClr val="221870"/>
                </a:solidFill>
                <a:latin typeface="Tahoma"/>
                <a:cs typeface="Tahoma"/>
              </a:rPr>
              <a:t>I</a:t>
            </a:r>
            <a:r>
              <a:rPr dirty="0" sz="1650" spc="-220" b="1">
                <a:solidFill>
                  <a:srgbClr val="221870"/>
                </a:solidFill>
                <a:latin typeface="Tahoma"/>
                <a:cs typeface="Tahoma"/>
              </a:rPr>
              <a:t>n</a:t>
            </a:r>
            <a:r>
              <a:rPr dirty="0" sz="1650" spc="-10" b="1">
                <a:solidFill>
                  <a:srgbClr val="221870"/>
                </a:solidFill>
                <a:latin typeface="Tahoma"/>
                <a:cs typeface="Tahoma"/>
              </a:rPr>
              <a:t>t</a:t>
            </a:r>
            <a:r>
              <a:rPr dirty="0" sz="1650" spc="-45" b="1">
                <a:solidFill>
                  <a:srgbClr val="221870"/>
                </a:solidFill>
                <a:latin typeface="Tahoma"/>
                <a:cs typeface="Tahoma"/>
              </a:rPr>
              <a:t>elige</a:t>
            </a:r>
            <a:r>
              <a:rPr dirty="0" sz="1650" spc="-75" b="1">
                <a:solidFill>
                  <a:srgbClr val="221870"/>
                </a:solidFill>
                <a:latin typeface="Tahoma"/>
                <a:cs typeface="Tahoma"/>
              </a:rPr>
              <a:t>n</a:t>
            </a:r>
            <a:r>
              <a:rPr dirty="0" sz="1650" spc="-10" b="1">
                <a:solidFill>
                  <a:srgbClr val="221870"/>
                </a:solidFill>
                <a:latin typeface="Tahoma"/>
                <a:cs typeface="Tahoma"/>
              </a:rPr>
              <a:t>t</a:t>
            </a:r>
            <a:r>
              <a:rPr dirty="0" sz="1650" spc="-50" b="1">
                <a:solidFill>
                  <a:srgbClr val="221870"/>
                </a:solidFill>
                <a:latin typeface="Tahoma"/>
                <a:cs typeface="Tahoma"/>
              </a:rPr>
              <a:t>es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IoT</a:t>
            </a:r>
            <a:r>
              <a:rPr dirty="0" sz="1350" spc="-4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permite</a:t>
            </a:r>
            <a:r>
              <a:rPr dirty="0" sz="1350" spc="-2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monitorear</a:t>
            </a:r>
            <a:r>
              <a:rPr dirty="0" sz="1350" spc="-2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y</a:t>
            </a:r>
            <a:r>
              <a:rPr dirty="0" sz="1350" spc="-1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optimizar</a:t>
            </a:r>
            <a:r>
              <a:rPr dirty="0" sz="1350" spc="-2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el </a:t>
            </a:r>
            <a:r>
              <a:rPr dirty="0" sz="1350" spc="-36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tráfico,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la iluminación, la gestión de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 residuos</a:t>
            </a:r>
            <a:r>
              <a:rPr dirty="0" sz="1350" spc="-1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y</a:t>
            </a:r>
            <a:r>
              <a:rPr dirty="0" sz="1350" spc="-1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otros</a:t>
            </a:r>
            <a:r>
              <a:rPr dirty="0" sz="1350" spc="-1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servicios</a:t>
            </a:r>
            <a:r>
              <a:rPr dirty="0" sz="1350" spc="-1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urbanos.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5851" y="2973387"/>
            <a:ext cx="2970530" cy="12458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5" b="1">
                <a:solidFill>
                  <a:srgbClr val="221870"/>
                </a:solidFill>
                <a:latin typeface="Tahoma"/>
                <a:cs typeface="Tahoma"/>
              </a:rPr>
              <a:t>S</a:t>
            </a:r>
            <a:r>
              <a:rPr dirty="0" sz="1650" spc="-40" b="1">
                <a:solidFill>
                  <a:srgbClr val="221870"/>
                </a:solidFill>
                <a:latin typeface="Tahoma"/>
                <a:cs typeface="Tahoma"/>
              </a:rPr>
              <a:t>alud</a:t>
            </a:r>
            <a:r>
              <a:rPr dirty="0" sz="1650" spc="-175" b="1">
                <a:solidFill>
                  <a:srgbClr val="221870"/>
                </a:solidFill>
                <a:latin typeface="Tahoma"/>
                <a:cs typeface="Tahoma"/>
              </a:rPr>
              <a:t> </a:t>
            </a:r>
            <a:r>
              <a:rPr dirty="0" sz="1650" spc="45" b="1">
                <a:solidFill>
                  <a:srgbClr val="221870"/>
                </a:solidFill>
                <a:latin typeface="Tahoma"/>
                <a:cs typeface="Tahoma"/>
              </a:rPr>
              <a:t>C</a:t>
            </a:r>
            <a:r>
              <a:rPr dirty="0" sz="1650" spc="-50" b="1">
                <a:solidFill>
                  <a:srgbClr val="221870"/>
                </a:solidFill>
                <a:latin typeface="Tahoma"/>
                <a:cs typeface="Tahoma"/>
              </a:rPr>
              <a:t>one</a:t>
            </a:r>
            <a:r>
              <a:rPr dirty="0" sz="1650" spc="-55" b="1">
                <a:solidFill>
                  <a:srgbClr val="221870"/>
                </a:solidFill>
                <a:latin typeface="Tahoma"/>
                <a:cs typeface="Tahoma"/>
              </a:rPr>
              <a:t>c</a:t>
            </a:r>
            <a:r>
              <a:rPr dirty="0" sz="1650" spc="-10" b="1">
                <a:solidFill>
                  <a:srgbClr val="221870"/>
                </a:solidFill>
                <a:latin typeface="Tahoma"/>
                <a:cs typeface="Tahoma"/>
              </a:rPr>
              <a:t>t</a:t>
            </a:r>
            <a:r>
              <a:rPr dirty="0" sz="1650" spc="10" b="1">
                <a:solidFill>
                  <a:srgbClr val="221870"/>
                </a:solidFill>
                <a:latin typeface="Tahoma"/>
                <a:cs typeface="Tahoma"/>
              </a:rPr>
              <a:t>ada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Dispositivos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IoT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pueden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recopilar y </a:t>
            </a:r>
            <a:r>
              <a:rPr dirty="0" sz="1350" spc="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analizar datos de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salud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en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tiempo real, </a:t>
            </a:r>
            <a:r>
              <a:rPr dirty="0" sz="1350" spc="-36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mejorando</a:t>
            </a:r>
            <a:r>
              <a:rPr dirty="0" sz="1350" spc="-1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el</a:t>
            </a:r>
            <a:r>
              <a:rPr dirty="0" sz="1350" spc="-1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cuidado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médico.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04340" y="2973387"/>
            <a:ext cx="2579370" cy="12458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75" b="1">
                <a:solidFill>
                  <a:srgbClr val="221870"/>
                </a:solidFill>
                <a:latin typeface="Tahoma"/>
                <a:cs typeface="Tahoma"/>
              </a:rPr>
              <a:t>Indust</a:t>
            </a:r>
            <a:r>
              <a:rPr dirty="0" sz="1650" spc="-95" b="1">
                <a:solidFill>
                  <a:srgbClr val="221870"/>
                </a:solidFill>
                <a:latin typeface="Tahoma"/>
                <a:cs typeface="Tahoma"/>
              </a:rPr>
              <a:t>r</a:t>
            </a:r>
            <a:r>
              <a:rPr dirty="0" sz="1650" spc="-5" b="1">
                <a:solidFill>
                  <a:srgbClr val="221870"/>
                </a:solidFill>
                <a:latin typeface="Tahoma"/>
                <a:cs typeface="Tahoma"/>
              </a:rPr>
              <a:t>ia</a:t>
            </a:r>
            <a:r>
              <a:rPr dirty="0" sz="1650" spc="-175" b="1">
                <a:solidFill>
                  <a:srgbClr val="221870"/>
                </a:solidFill>
                <a:latin typeface="Tahoma"/>
                <a:cs typeface="Tahoma"/>
              </a:rPr>
              <a:t> </a:t>
            </a:r>
            <a:r>
              <a:rPr dirty="0" sz="1650" spc="-55" b="1">
                <a:solidFill>
                  <a:srgbClr val="221870"/>
                </a:solidFill>
                <a:latin typeface="Tahoma"/>
                <a:cs typeface="Tahoma"/>
              </a:rPr>
              <a:t>f</a:t>
            </a:r>
            <a:r>
              <a:rPr dirty="0" sz="1650" spc="-85" b="1">
                <a:solidFill>
                  <a:srgbClr val="221870"/>
                </a:solidFill>
                <a:latin typeface="Tahoma"/>
                <a:cs typeface="Tahoma"/>
              </a:rPr>
              <a:t>i</a:t>
            </a:r>
            <a:r>
              <a:rPr dirty="0" sz="1650" spc="-35" b="1">
                <a:solidFill>
                  <a:srgbClr val="221870"/>
                </a:solidFill>
                <a:latin typeface="Tahoma"/>
                <a:cs typeface="Tahoma"/>
              </a:rPr>
              <a:t>.</a:t>
            </a:r>
            <a:r>
              <a:rPr dirty="0" sz="1650" spc="80" b="1">
                <a:solidFill>
                  <a:srgbClr val="221870"/>
                </a:solidFill>
                <a:latin typeface="Tahoma"/>
                <a:cs typeface="Tahoma"/>
              </a:rPr>
              <a:t>0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IoT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impulsa la automatización, la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eficiencia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y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la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toma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de decisiones </a:t>
            </a:r>
            <a:r>
              <a:rPr dirty="0" sz="1350" spc="-36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informadas</a:t>
            </a:r>
            <a:r>
              <a:rPr dirty="0" sz="1350" spc="-2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en</a:t>
            </a:r>
            <a:r>
              <a:rPr dirty="0" sz="1350" spc="-1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la</a:t>
            </a:r>
            <a:r>
              <a:rPr dirty="0" sz="1350" spc="-1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manufactura.</a:t>
            </a:r>
            <a:endParaRPr sz="135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1035050"/>
            <a:ext cx="5308600" cy="164465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algn="just" marL="12700" marR="5080">
              <a:lnSpc>
                <a:spcPct val="105400"/>
              </a:lnSpc>
              <a:spcBef>
                <a:spcPts val="130"/>
              </a:spcBef>
            </a:pPr>
            <a:r>
              <a:rPr dirty="0" spc="-70"/>
              <a:t>Habilidades</a:t>
            </a:r>
            <a:r>
              <a:rPr dirty="0" spc="-360"/>
              <a:t> </a:t>
            </a:r>
            <a:r>
              <a:rPr dirty="0" spc="-105"/>
              <a:t>y</a:t>
            </a:r>
            <a:r>
              <a:rPr dirty="0" spc="-360"/>
              <a:t> </a:t>
            </a:r>
            <a:r>
              <a:rPr dirty="0" spc="-45"/>
              <a:t>pe</a:t>
            </a:r>
            <a:r>
              <a:rPr dirty="0" spc="-70"/>
              <a:t>r</a:t>
            </a:r>
            <a:r>
              <a:rPr dirty="0" spc="-35"/>
              <a:t>files</a:t>
            </a:r>
            <a:r>
              <a:rPr dirty="0" spc="-360"/>
              <a:t> </a:t>
            </a:r>
            <a:r>
              <a:rPr dirty="0" spc="125"/>
              <a:t>fiás  </a:t>
            </a:r>
            <a:r>
              <a:rPr dirty="0" spc="-5"/>
              <a:t>defiandados</a:t>
            </a:r>
            <a:r>
              <a:rPr dirty="0" spc="-360"/>
              <a:t> </a:t>
            </a:r>
            <a:r>
              <a:rPr dirty="0" spc="-30"/>
              <a:t>r</a:t>
            </a:r>
            <a:r>
              <a:rPr dirty="0" spc="-80"/>
              <a:t>elacionados  </a:t>
            </a:r>
            <a:r>
              <a:rPr dirty="0" spc="-125"/>
              <a:t>c</a:t>
            </a:r>
            <a:r>
              <a:rPr dirty="0" spc="-145"/>
              <a:t>on</a:t>
            </a:r>
            <a:r>
              <a:rPr dirty="0" spc="-360"/>
              <a:t> </a:t>
            </a:r>
            <a:r>
              <a:rPr dirty="0" spc="-185"/>
              <a:t>IoT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00075" y="3143249"/>
            <a:ext cx="390525" cy="390525"/>
            <a:chOff x="600075" y="3143249"/>
            <a:chExt cx="390525" cy="390525"/>
          </a:xfrm>
        </p:grpSpPr>
        <p:sp>
          <p:nvSpPr>
            <p:cNvPr id="7" name="object 7"/>
            <p:cNvSpPr/>
            <p:nvPr/>
          </p:nvSpPr>
          <p:spPr>
            <a:xfrm>
              <a:off x="604837" y="31480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325755"/>
                  </a:lnTo>
                  <a:lnTo>
                    <a:pt x="0" y="329387"/>
                  </a:lnTo>
                  <a:lnTo>
                    <a:pt x="18747" y="367385"/>
                  </a:lnTo>
                  <a:lnTo>
                    <a:pt x="51619" y="381000"/>
                  </a:lnTo>
                  <a:lnTo>
                    <a:pt x="329380" y="381000"/>
                  </a:lnTo>
                  <a:lnTo>
                    <a:pt x="367381" y="362254"/>
                  </a:lnTo>
                  <a:lnTo>
                    <a:pt x="381000" y="329387"/>
                  </a:lnTo>
                  <a:lnTo>
                    <a:pt x="381000" y="51612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E9E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04837" y="31480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29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8" y="332968"/>
                  </a:lnTo>
                  <a:lnTo>
                    <a:pt x="371688" y="356438"/>
                  </a:lnTo>
                  <a:lnTo>
                    <a:pt x="369674" y="359460"/>
                  </a:lnTo>
                  <a:lnTo>
                    <a:pt x="336529" y="379933"/>
                  </a:lnTo>
                  <a:lnTo>
                    <a:pt x="332973" y="380644"/>
                  </a:lnTo>
                  <a:lnTo>
                    <a:pt x="329380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9" y="381000"/>
                  </a:lnTo>
                  <a:lnTo>
                    <a:pt x="48026" y="380644"/>
                  </a:lnTo>
                  <a:lnTo>
                    <a:pt x="44465" y="379933"/>
                  </a:lnTo>
                  <a:lnTo>
                    <a:pt x="40907" y="379234"/>
                  </a:lnTo>
                  <a:lnTo>
                    <a:pt x="9311" y="356438"/>
                  </a:lnTo>
                  <a:lnTo>
                    <a:pt x="7292" y="353428"/>
                  </a:lnTo>
                  <a:lnTo>
                    <a:pt x="5590" y="350253"/>
                  </a:lnTo>
                  <a:lnTo>
                    <a:pt x="4207" y="346900"/>
                  </a:lnTo>
                  <a:lnTo>
                    <a:pt x="2818" y="343547"/>
                  </a:lnTo>
                  <a:lnTo>
                    <a:pt x="1771" y="340093"/>
                  </a:lnTo>
                  <a:lnTo>
                    <a:pt x="1061" y="336537"/>
                  </a:lnTo>
                  <a:lnTo>
                    <a:pt x="351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BCB7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30101" y="3159125"/>
            <a:ext cx="12573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484" b="1">
                <a:solidFill>
                  <a:srgbClr val="2A2641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4587" y="3125787"/>
            <a:ext cx="2308860" cy="1179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60" b="1">
                <a:solidFill>
                  <a:srgbClr val="2A2641"/>
                </a:solidFill>
                <a:latin typeface="Tahoma"/>
                <a:cs typeface="Tahoma"/>
              </a:rPr>
              <a:t>Ingeniería</a:t>
            </a:r>
            <a:r>
              <a:rPr dirty="0" sz="1650" spc="-175" b="1">
                <a:solidFill>
                  <a:srgbClr val="2A2641"/>
                </a:solidFill>
                <a:latin typeface="Tahoma"/>
                <a:cs typeface="Tahoma"/>
              </a:rPr>
              <a:t> </a:t>
            </a:r>
            <a:r>
              <a:rPr dirty="0" sz="1650" spc="-35" b="1">
                <a:solidFill>
                  <a:srgbClr val="2A2641"/>
                </a:solidFill>
                <a:latin typeface="Tahoma"/>
                <a:cs typeface="Tahoma"/>
              </a:rPr>
              <a:t>de</a:t>
            </a:r>
            <a:r>
              <a:rPr dirty="0" sz="1650" spc="-175" b="1">
                <a:solidFill>
                  <a:srgbClr val="2A2641"/>
                </a:solidFill>
                <a:latin typeface="Tahoma"/>
                <a:cs typeface="Tahoma"/>
              </a:rPr>
              <a:t> </a:t>
            </a:r>
            <a:r>
              <a:rPr dirty="0" sz="1650" spc="-35" b="1">
                <a:solidFill>
                  <a:srgbClr val="2A2641"/>
                </a:solidFill>
                <a:latin typeface="Tahoma"/>
                <a:cs typeface="Tahoma"/>
              </a:rPr>
              <a:t>Sis</a:t>
            </a:r>
            <a:r>
              <a:rPr dirty="0" sz="1650" spc="-45" b="1">
                <a:solidFill>
                  <a:srgbClr val="2A2641"/>
                </a:solidFill>
                <a:latin typeface="Tahoma"/>
                <a:cs typeface="Tahoma"/>
              </a:rPr>
              <a:t>t</a:t>
            </a:r>
            <a:r>
              <a:rPr dirty="0" sz="1650" spc="55" b="1">
                <a:solidFill>
                  <a:srgbClr val="2A2641"/>
                </a:solidFill>
                <a:latin typeface="Tahoma"/>
                <a:cs typeface="Tahoma"/>
              </a:rPr>
              <a:t>efias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Diseño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y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desarrollo de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arquitecturas</a:t>
            </a:r>
            <a:r>
              <a:rPr dirty="0" sz="1350" spc="-3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IoT</a:t>
            </a:r>
            <a:r>
              <a:rPr dirty="0" sz="1350" spc="-5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escalables</a:t>
            </a:r>
            <a:r>
              <a:rPr dirty="0" sz="1350" spc="-3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e </a:t>
            </a:r>
            <a:r>
              <a:rPr dirty="0" sz="1350" spc="-36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integradas.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57600" y="3143249"/>
            <a:ext cx="390525" cy="390525"/>
            <a:chOff x="3657600" y="3143249"/>
            <a:chExt cx="390525" cy="390525"/>
          </a:xfrm>
        </p:grpSpPr>
        <p:sp>
          <p:nvSpPr>
            <p:cNvPr id="12" name="object 12"/>
            <p:cNvSpPr/>
            <p:nvPr/>
          </p:nvSpPr>
          <p:spPr>
            <a:xfrm>
              <a:off x="3662362" y="31480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8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25755"/>
                  </a:lnTo>
                  <a:lnTo>
                    <a:pt x="0" y="329387"/>
                  </a:lnTo>
                  <a:lnTo>
                    <a:pt x="18745" y="367385"/>
                  </a:lnTo>
                  <a:lnTo>
                    <a:pt x="51612" y="381000"/>
                  </a:lnTo>
                  <a:lnTo>
                    <a:pt x="329387" y="381000"/>
                  </a:lnTo>
                  <a:lnTo>
                    <a:pt x="367385" y="362254"/>
                  </a:lnTo>
                  <a:lnTo>
                    <a:pt x="381000" y="329387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55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E9E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662362" y="31480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37" y="1066"/>
                  </a:lnTo>
                  <a:lnTo>
                    <a:pt x="340093" y="1765"/>
                  </a:lnTo>
                  <a:lnTo>
                    <a:pt x="371690" y="24549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4" y="332968"/>
                  </a:lnTo>
                  <a:lnTo>
                    <a:pt x="379933" y="336537"/>
                  </a:lnTo>
                  <a:lnTo>
                    <a:pt x="379234" y="340093"/>
                  </a:lnTo>
                  <a:lnTo>
                    <a:pt x="356450" y="371690"/>
                  </a:lnTo>
                  <a:lnTo>
                    <a:pt x="336524" y="379933"/>
                  </a:lnTo>
                  <a:lnTo>
                    <a:pt x="332968" y="380644"/>
                  </a:lnTo>
                  <a:lnTo>
                    <a:pt x="329387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2" y="381000"/>
                  </a:lnTo>
                  <a:lnTo>
                    <a:pt x="48018" y="380644"/>
                  </a:lnTo>
                  <a:lnTo>
                    <a:pt x="44462" y="379933"/>
                  </a:lnTo>
                  <a:lnTo>
                    <a:pt x="40906" y="379234"/>
                  </a:lnTo>
                  <a:lnTo>
                    <a:pt x="9309" y="356438"/>
                  </a:lnTo>
                  <a:lnTo>
                    <a:pt x="7289" y="353428"/>
                  </a:lnTo>
                  <a:lnTo>
                    <a:pt x="1066" y="336537"/>
                  </a:lnTo>
                  <a:lnTo>
                    <a:pt x="355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BCB7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763670" y="3159125"/>
            <a:ext cx="17399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10" b="1">
                <a:solidFill>
                  <a:srgbClr val="2A2641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02117" y="3125787"/>
            <a:ext cx="2322195" cy="1179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0" b="1">
                <a:solidFill>
                  <a:srgbClr val="2A2641"/>
                </a:solidFill>
                <a:latin typeface="Tahoma"/>
                <a:cs typeface="Tahoma"/>
              </a:rPr>
              <a:t>Análisis</a:t>
            </a:r>
            <a:r>
              <a:rPr dirty="0" sz="1650" spc="-175" b="1">
                <a:solidFill>
                  <a:srgbClr val="2A2641"/>
                </a:solidFill>
                <a:latin typeface="Tahoma"/>
                <a:cs typeface="Tahoma"/>
              </a:rPr>
              <a:t> </a:t>
            </a:r>
            <a:r>
              <a:rPr dirty="0" sz="1650" spc="-35" b="1">
                <a:solidFill>
                  <a:srgbClr val="2A2641"/>
                </a:solidFill>
                <a:latin typeface="Tahoma"/>
                <a:cs typeface="Tahoma"/>
              </a:rPr>
              <a:t>de</a:t>
            </a:r>
            <a:r>
              <a:rPr dirty="0" sz="1650" spc="-175" b="1">
                <a:solidFill>
                  <a:srgbClr val="2A2641"/>
                </a:solidFill>
                <a:latin typeface="Tahoma"/>
                <a:cs typeface="Tahoma"/>
              </a:rPr>
              <a:t> </a:t>
            </a:r>
            <a:r>
              <a:rPr dirty="0" sz="1650" spc="25" b="1">
                <a:solidFill>
                  <a:srgbClr val="2A2641"/>
                </a:solidFill>
                <a:latin typeface="Tahoma"/>
                <a:cs typeface="Tahoma"/>
              </a:rPr>
              <a:t>Da</a:t>
            </a:r>
            <a:r>
              <a:rPr dirty="0" sz="1650" b="1">
                <a:solidFill>
                  <a:srgbClr val="2A2641"/>
                </a:solidFill>
                <a:latin typeface="Tahoma"/>
                <a:cs typeface="Tahoma"/>
              </a:rPr>
              <a:t>t</a:t>
            </a:r>
            <a:r>
              <a:rPr dirty="0" sz="1650" spc="-50" b="1">
                <a:solidFill>
                  <a:srgbClr val="2A2641"/>
                </a:solidFill>
                <a:latin typeface="Tahoma"/>
                <a:cs typeface="Tahoma"/>
              </a:rPr>
              <a:t>os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Procesamiento</a:t>
            </a:r>
            <a:r>
              <a:rPr dirty="0" sz="1350" spc="-5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y</a:t>
            </a:r>
            <a:r>
              <a:rPr dirty="0" sz="1350" spc="-5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visualización </a:t>
            </a:r>
            <a:r>
              <a:rPr dirty="0" sz="1350" spc="-36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de datos generados por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dispositivos</a:t>
            </a:r>
            <a:r>
              <a:rPr dirty="0" sz="1350" spc="-1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40">
                <a:solidFill>
                  <a:srgbClr val="2A2641"/>
                </a:solidFill>
                <a:latin typeface="Arial MT"/>
                <a:cs typeface="Arial MT"/>
              </a:rPr>
              <a:t>IoT.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0075" y="4705350"/>
            <a:ext cx="390525" cy="381000"/>
            <a:chOff x="600075" y="4705350"/>
            <a:chExt cx="390525" cy="381000"/>
          </a:xfrm>
        </p:grpSpPr>
        <p:sp>
          <p:nvSpPr>
            <p:cNvPr id="17" name="object 17"/>
            <p:cNvSpPr/>
            <p:nvPr/>
          </p:nvSpPr>
          <p:spPr>
            <a:xfrm>
              <a:off x="604837" y="47101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7" y="357860"/>
                  </a:lnTo>
                  <a:lnTo>
                    <a:pt x="51619" y="371475"/>
                  </a:lnTo>
                  <a:lnTo>
                    <a:pt x="329380" y="371475"/>
                  </a:lnTo>
                  <a:lnTo>
                    <a:pt x="367381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E9E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04837" y="47101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29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8" y="323443"/>
                  </a:lnTo>
                  <a:lnTo>
                    <a:pt x="371688" y="346913"/>
                  </a:lnTo>
                  <a:lnTo>
                    <a:pt x="369674" y="349935"/>
                  </a:lnTo>
                  <a:lnTo>
                    <a:pt x="336529" y="370408"/>
                  </a:lnTo>
                  <a:lnTo>
                    <a:pt x="332973" y="371119"/>
                  </a:lnTo>
                  <a:lnTo>
                    <a:pt x="329380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9" y="371475"/>
                  </a:lnTo>
                  <a:lnTo>
                    <a:pt x="48026" y="371119"/>
                  </a:lnTo>
                  <a:lnTo>
                    <a:pt x="44465" y="370408"/>
                  </a:lnTo>
                  <a:lnTo>
                    <a:pt x="40907" y="369709"/>
                  </a:lnTo>
                  <a:lnTo>
                    <a:pt x="9311" y="346913"/>
                  </a:lnTo>
                  <a:lnTo>
                    <a:pt x="7292" y="343903"/>
                  </a:lnTo>
                  <a:lnTo>
                    <a:pt x="5590" y="340728"/>
                  </a:lnTo>
                  <a:lnTo>
                    <a:pt x="4207" y="337375"/>
                  </a:lnTo>
                  <a:lnTo>
                    <a:pt x="2818" y="334010"/>
                  </a:lnTo>
                  <a:lnTo>
                    <a:pt x="1771" y="330568"/>
                  </a:lnTo>
                  <a:lnTo>
                    <a:pt x="1061" y="327012"/>
                  </a:lnTo>
                  <a:lnTo>
                    <a:pt x="351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BCB7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707033" y="4721225"/>
            <a:ext cx="1720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25" b="1">
                <a:solidFill>
                  <a:srgbClr val="2A2641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44587" y="4687887"/>
            <a:ext cx="528256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5" b="1">
                <a:solidFill>
                  <a:srgbClr val="2A2641"/>
                </a:solidFill>
                <a:latin typeface="Tahoma"/>
                <a:cs typeface="Tahoma"/>
              </a:rPr>
              <a:t>Ciberseguridad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Protección</a:t>
            </a:r>
            <a:r>
              <a:rPr dirty="0" sz="1350" spc="-1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de</a:t>
            </a:r>
            <a:r>
              <a:rPr dirty="0" sz="1350" spc="-1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redes</a:t>
            </a:r>
            <a:r>
              <a:rPr dirty="0" sz="1350" spc="-1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y</a:t>
            </a:r>
            <a:r>
              <a:rPr dirty="0" sz="1350" spc="-1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dispositivos</a:t>
            </a:r>
            <a:r>
              <a:rPr dirty="0" sz="1350" spc="-1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IoT</a:t>
            </a:r>
            <a:r>
              <a:rPr dirty="0" sz="1350" spc="-3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contra</a:t>
            </a:r>
            <a:r>
              <a:rPr dirty="0" sz="1350" spc="-1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amenazas</a:t>
            </a:r>
            <a:r>
              <a:rPr dirty="0" sz="1350" spc="-1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cibernéticas.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492125"/>
            <a:ext cx="5882640" cy="16065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475">
                <a:latin typeface="Verdana"/>
                <a:cs typeface="Verdana"/>
              </a:rPr>
              <a:t>T</a:t>
            </a:r>
            <a:r>
              <a:rPr dirty="0" spc="-330">
                <a:latin typeface="Verdana"/>
                <a:cs typeface="Verdana"/>
              </a:rPr>
              <a:t>endencias</a:t>
            </a:r>
            <a:r>
              <a:rPr dirty="0" spc="-525">
                <a:latin typeface="Verdana"/>
                <a:cs typeface="Verdana"/>
              </a:rPr>
              <a:t> </a:t>
            </a:r>
            <a:r>
              <a:rPr dirty="0" spc="-355">
                <a:latin typeface="Verdana"/>
                <a:cs typeface="Verdana"/>
              </a:rPr>
              <a:t>y</a:t>
            </a:r>
            <a:r>
              <a:rPr dirty="0" spc="-525">
                <a:latin typeface="Verdana"/>
                <a:cs typeface="Verdana"/>
              </a:rPr>
              <a:t> </a:t>
            </a:r>
            <a:r>
              <a:rPr dirty="0" spc="-300">
                <a:latin typeface="Verdana"/>
                <a:cs typeface="Verdana"/>
              </a:rPr>
              <a:t>opo</a:t>
            </a:r>
            <a:r>
              <a:rPr dirty="0" spc="-254">
                <a:latin typeface="Verdana"/>
                <a:cs typeface="Verdana"/>
              </a:rPr>
              <a:t>r</a:t>
            </a:r>
            <a:r>
              <a:rPr dirty="0" spc="-295">
                <a:latin typeface="Verdana"/>
                <a:cs typeface="Verdana"/>
              </a:rPr>
              <a:t>tunidades  </a:t>
            </a:r>
            <a:r>
              <a:rPr dirty="0" spc="-275">
                <a:latin typeface="Verdana"/>
                <a:cs typeface="Verdana"/>
              </a:rPr>
              <a:t>futu</a:t>
            </a:r>
            <a:r>
              <a:rPr dirty="0" spc="-245">
                <a:latin typeface="Verdana"/>
                <a:cs typeface="Verdana"/>
              </a:rPr>
              <a:t>r</a:t>
            </a:r>
            <a:r>
              <a:rPr dirty="0" spc="-305">
                <a:latin typeface="Verdana"/>
                <a:cs typeface="Verdana"/>
              </a:rPr>
              <a:t>as</a:t>
            </a:r>
            <a:r>
              <a:rPr dirty="0" spc="-525">
                <a:latin typeface="Verdana"/>
                <a:cs typeface="Verdana"/>
              </a:rPr>
              <a:t> </a:t>
            </a:r>
            <a:r>
              <a:rPr dirty="0" spc="-390">
                <a:latin typeface="Verdana"/>
                <a:cs typeface="Verdana"/>
              </a:rPr>
              <a:t>en</a:t>
            </a:r>
            <a:r>
              <a:rPr dirty="0" spc="-525">
                <a:latin typeface="Verdana"/>
                <a:cs typeface="Verdana"/>
              </a:rPr>
              <a:t> </a:t>
            </a:r>
            <a:r>
              <a:rPr dirty="0" spc="-285">
                <a:latin typeface="Verdana"/>
                <a:cs typeface="Verdana"/>
              </a:rPr>
              <a:t>el</a:t>
            </a:r>
            <a:r>
              <a:rPr dirty="0" spc="-525">
                <a:latin typeface="Verdana"/>
                <a:cs typeface="Verdana"/>
              </a:rPr>
              <a:t> </a:t>
            </a:r>
            <a:r>
              <a:rPr dirty="0" spc="15">
                <a:latin typeface="Verdana"/>
                <a:cs typeface="Verdana"/>
              </a:rPr>
              <a:t>fie</a:t>
            </a:r>
            <a:r>
              <a:rPr dirty="0" spc="-245">
                <a:latin typeface="Verdana"/>
                <a:cs typeface="Verdana"/>
              </a:rPr>
              <a:t>r</a:t>
            </a:r>
            <a:r>
              <a:rPr dirty="0" spc="-330">
                <a:latin typeface="Verdana"/>
                <a:cs typeface="Verdana"/>
              </a:rPr>
              <a:t>c</a:t>
            </a:r>
            <a:r>
              <a:rPr dirty="0" spc="-285">
                <a:latin typeface="Verdana"/>
                <a:cs typeface="Verdana"/>
              </a:rPr>
              <a:t>ado</a:t>
            </a:r>
            <a:r>
              <a:rPr dirty="0" spc="-525">
                <a:latin typeface="Verdana"/>
                <a:cs typeface="Verdana"/>
              </a:rPr>
              <a:t> </a:t>
            </a:r>
            <a:r>
              <a:rPr dirty="0" spc="-265">
                <a:latin typeface="Verdana"/>
                <a:cs typeface="Verdana"/>
              </a:rPr>
              <a:t>labo</a:t>
            </a:r>
            <a:r>
              <a:rPr dirty="0" spc="-245">
                <a:latin typeface="Verdana"/>
                <a:cs typeface="Verdana"/>
              </a:rPr>
              <a:t>r</a:t>
            </a:r>
            <a:r>
              <a:rPr dirty="0" spc="-175">
                <a:latin typeface="Verdana"/>
                <a:cs typeface="Verdana"/>
              </a:rPr>
              <a:t>al  </a:t>
            </a:r>
            <a:r>
              <a:rPr dirty="0" spc="-335">
                <a:latin typeface="Verdana"/>
                <a:cs typeface="Verdana"/>
              </a:rPr>
              <a:t>de</a:t>
            </a:r>
            <a:r>
              <a:rPr dirty="0" spc="-525">
                <a:latin typeface="Verdana"/>
                <a:cs typeface="Verdana"/>
              </a:rPr>
              <a:t> </a:t>
            </a:r>
            <a:r>
              <a:rPr dirty="0" spc="-409">
                <a:latin typeface="Verdana"/>
                <a:cs typeface="Verdana"/>
              </a:rPr>
              <a:t>IoT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86325" y="2381249"/>
            <a:ext cx="2886075" cy="2095500"/>
            <a:chOff x="4886325" y="2381249"/>
            <a:chExt cx="2886075" cy="2095500"/>
          </a:xfrm>
        </p:grpSpPr>
        <p:sp>
          <p:nvSpPr>
            <p:cNvPr id="5" name="object 5"/>
            <p:cNvSpPr/>
            <p:nvPr/>
          </p:nvSpPr>
          <p:spPr>
            <a:xfrm>
              <a:off x="4891087" y="2386012"/>
              <a:ext cx="2876550" cy="2085975"/>
            </a:xfrm>
            <a:custGeom>
              <a:avLst/>
              <a:gdLst/>
              <a:ahLst/>
              <a:cxnLst/>
              <a:rect l="l" t="t" r="r" b="b"/>
              <a:pathLst>
                <a:path w="2876550" h="2085975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030730"/>
                  </a:lnTo>
                  <a:lnTo>
                    <a:pt x="0" y="2034362"/>
                  </a:lnTo>
                  <a:lnTo>
                    <a:pt x="18745" y="2072360"/>
                  </a:lnTo>
                  <a:lnTo>
                    <a:pt x="51612" y="2085975"/>
                  </a:lnTo>
                  <a:lnTo>
                    <a:pt x="2824937" y="2085975"/>
                  </a:lnTo>
                  <a:lnTo>
                    <a:pt x="2862935" y="2067229"/>
                  </a:lnTo>
                  <a:lnTo>
                    <a:pt x="2876550" y="2034362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E9E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891087" y="2386012"/>
              <a:ext cx="2876550" cy="2085975"/>
            </a:xfrm>
            <a:custGeom>
              <a:avLst/>
              <a:gdLst/>
              <a:ahLst/>
              <a:cxnLst/>
              <a:rect l="l" t="t" r="r" b="b"/>
              <a:pathLst>
                <a:path w="2876550" h="2085975">
                  <a:moveTo>
                    <a:pt x="0" y="20307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50" y="4203"/>
                  </a:lnTo>
                  <a:lnTo>
                    <a:pt x="2845803" y="5588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2030730"/>
                  </a:lnTo>
                  <a:lnTo>
                    <a:pt x="2876550" y="2034362"/>
                  </a:lnTo>
                  <a:lnTo>
                    <a:pt x="2876194" y="2037943"/>
                  </a:lnTo>
                  <a:lnTo>
                    <a:pt x="2875483" y="2041512"/>
                  </a:lnTo>
                  <a:lnTo>
                    <a:pt x="2874784" y="2045068"/>
                  </a:lnTo>
                  <a:lnTo>
                    <a:pt x="2860370" y="2069795"/>
                  </a:lnTo>
                  <a:lnTo>
                    <a:pt x="2857804" y="2072360"/>
                  </a:lnTo>
                  <a:lnTo>
                    <a:pt x="2832074" y="2084908"/>
                  </a:lnTo>
                  <a:lnTo>
                    <a:pt x="2828518" y="2085619"/>
                  </a:lnTo>
                  <a:lnTo>
                    <a:pt x="2824937" y="2085975"/>
                  </a:lnTo>
                  <a:lnTo>
                    <a:pt x="2821305" y="2085975"/>
                  </a:lnTo>
                  <a:lnTo>
                    <a:pt x="55245" y="2085975"/>
                  </a:lnTo>
                  <a:lnTo>
                    <a:pt x="51612" y="2085975"/>
                  </a:lnTo>
                  <a:lnTo>
                    <a:pt x="48018" y="2085619"/>
                  </a:lnTo>
                  <a:lnTo>
                    <a:pt x="44462" y="2084908"/>
                  </a:lnTo>
                  <a:lnTo>
                    <a:pt x="40906" y="2084209"/>
                  </a:lnTo>
                  <a:lnTo>
                    <a:pt x="9309" y="2061413"/>
                  </a:lnTo>
                  <a:lnTo>
                    <a:pt x="7289" y="2058403"/>
                  </a:lnTo>
                  <a:lnTo>
                    <a:pt x="1066" y="2041512"/>
                  </a:lnTo>
                  <a:lnTo>
                    <a:pt x="355" y="2037943"/>
                  </a:lnTo>
                  <a:lnTo>
                    <a:pt x="0" y="2034362"/>
                  </a:lnTo>
                  <a:lnTo>
                    <a:pt x="0" y="2030730"/>
                  </a:lnTo>
                  <a:close/>
                </a:path>
              </a:pathLst>
            </a:custGeom>
            <a:ln w="9525">
              <a:solidFill>
                <a:srgbClr val="BCB7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054600" y="2544762"/>
            <a:ext cx="254127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0" b="1">
                <a:solidFill>
                  <a:srgbClr val="2A2641"/>
                </a:solidFill>
                <a:latin typeface="Verdana"/>
                <a:cs typeface="Verdana"/>
              </a:rPr>
              <a:t>C</a:t>
            </a:r>
            <a:r>
              <a:rPr dirty="0" sz="1650" spc="-90" b="1">
                <a:solidFill>
                  <a:srgbClr val="2A2641"/>
                </a:solidFill>
                <a:latin typeface="Verdana"/>
                <a:cs typeface="Verdana"/>
              </a:rPr>
              <a:t>r</a:t>
            </a:r>
            <a:r>
              <a:rPr dirty="0" sz="1650" spc="-75" b="1">
                <a:solidFill>
                  <a:srgbClr val="2A2641"/>
                </a:solidFill>
                <a:latin typeface="Verdana"/>
                <a:cs typeface="Verdana"/>
              </a:rPr>
              <a:t>ecifiie</a:t>
            </a:r>
            <a:r>
              <a:rPr dirty="0" sz="1650" spc="-125" b="1">
                <a:solidFill>
                  <a:srgbClr val="2A2641"/>
                </a:solidFill>
                <a:latin typeface="Verdana"/>
                <a:cs typeface="Verdana"/>
              </a:rPr>
              <a:t>n</a:t>
            </a:r>
            <a:r>
              <a:rPr dirty="0" sz="1650" spc="-75" b="1">
                <a:solidFill>
                  <a:srgbClr val="2A2641"/>
                </a:solidFill>
                <a:latin typeface="Verdana"/>
                <a:cs typeface="Verdana"/>
              </a:rPr>
              <a:t>t</a:t>
            </a:r>
            <a:r>
              <a:rPr dirty="0" sz="1650" spc="-155" b="1">
                <a:solidFill>
                  <a:srgbClr val="2A2641"/>
                </a:solidFill>
                <a:latin typeface="Verdana"/>
                <a:cs typeface="Verdana"/>
              </a:rPr>
              <a:t>o</a:t>
            </a:r>
            <a:r>
              <a:rPr dirty="0" sz="1650" spc="-300" b="1">
                <a:solidFill>
                  <a:srgbClr val="2A2641"/>
                </a:solidFill>
                <a:latin typeface="Verdana"/>
                <a:cs typeface="Verdana"/>
              </a:rPr>
              <a:t> </a:t>
            </a:r>
            <a:r>
              <a:rPr dirty="0" sz="1650" spc="-70" b="1">
                <a:solidFill>
                  <a:srgbClr val="2A2641"/>
                </a:solidFill>
                <a:latin typeface="Verdana"/>
                <a:cs typeface="Verdana"/>
              </a:rPr>
              <a:t>A</a:t>
            </a:r>
            <a:r>
              <a:rPr dirty="0" sz="1650" spc="-155" b="1">
                <a:solidFill>
                  <a:srgbClr val="2A2641"/>
                </a:solidFill>
                <a:latin typeface="Verdana"/>
                <a:cs typeface="Verdana"/>
              </a:rPr>
              <a:t>c</a:t>
            </a:r>
            <a:r>
              <a:rPr dirty="0" sz="1650" spc="-125" b="1">
                <a:solidFill>
                  <a:srgbClr val="2A2641"/>
                </a:solidFill>
                <a:latin typeface="Verdana"/>
                <a:cs typeface="Verdana"/>
              </a:rPr>
              <a:t>ele</a:t>
            </a:r>
            <a:r>
              <a:rPr dirty="0" sz="1650" spc="-165" b="1">
                <a:solidFill>
                  <a:srgbClr val="2A2641"/>
                </a:solidFill>
                <a:latin typeface="Verdana"/>
                <a:cs typeface="Verdana"/>
              </a:rPr>
              <a:t>r</a:t>
            </a:r>
            <a:r>
              <a:rPr dirty="0" sz="1650" spc="-125" b="1">
                <a:solidFill>
                  <a:srgbClr val="2A2641"/>
                </a:solidFill>
                <a:latin typeface="Verdana"/>
                <a:cs typeface="Verdana"/>
              </a:rPr>
              <a:t>ado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Se</a:t>
            </a:r>
            <a:r>
              <a:rPr dirty="0" sz="1350" spc="-2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espera</a:t>
            </a:r>
            <a:r>
              <a:rPr dirty="0" sz="1350" spc="-2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que</a:t>
            </a:r>
            <a:r>
              <a:rPr dirty="0" sz="1350" spc="-2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el</a:t>
            </a:r>
            <a:r>
              <a:rPr dirty="0" sz="1350" spc="-2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mercado</a:t>
            </a:r>
            <a:r>
              <a:rPr dirty="0" sz="1350" spc="-2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global </a:t>
            </a:r>
            <a:r>
              <a:rPr dirty="0" sz="1350" spc="-36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de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IoT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alcance los $1.1 billones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de</a:t>
            </a:r>
            <a:r>
              <a:rPr dirty="0" sz="1350" spc="-1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dólares</a:t>
            </a:r>
            <a:r>
              <a:rPr dirty="0" sz="1350" spc="-1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para</a:t>
            </a:r>
            <a:r>
              <a:rPr dirty="0" sz="1350" spc="-1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2026.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943850" y="2381249"/>
            <a:ext cx="2886075" cy="2095500"/>
            <a:chOff x="7943850" y="2381249"/>
            <a:chExt cx="2886075" cy="2095500"/>
          </a:xfrm>
        </p:grpSpPr>
        <p:sp>
          <p:nvSpPr>
            <p:cNvPr id="9" name="object 9"/>
            <p:cNvSpPr/>
            <p:nvPr/>
          </p:nvSpPr>
          <p:spPr>
            <a:xfrm>
              <a:off x="7948612" y="2386012"/>
              <a:ext cx="2876550" cy="2085975"/>
            </a:xfrm>
            <a:custGeom>
              <a:avLst/>
              <a:gdLst/>
              <a:ahLst/>
              <a:cxnLst/>
              <a:rect l="l" t="t" r="r" b="b"/>
              <a:pathLst>
                <a:path w="2876550" h="2085975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030730"/>
                  </a:lnTo>
                  <a:lnTo>
                    <a:pt x="0" y="2034362"/>
                  </a:lnTo>
                  <a:lnTo>
                    <a:pt x="18745" y="2072360"/>
                  </a:lnTo>
                  <a:lnTo>
                    <a:pt x="51612" y="2085975"/>
                  </a:lnTo>
                  <a:lnTo>
                    <a:pt x="2824937" y="2085975"/>
                  </a:lnTo>
                  <a:lnTo>
                    <a:pt x="2862935" y="2067229"/>
                  </a:lnTo>
                  <a:lnTo>
                    <a:pt x="2876550" y="2034362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E9E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948612" y="2386012"/>
              <a:ext cx="2876550" cy="2085975"/>
            </a:xfrm>
            <a:custGeom>
              <a:avLst/>
              <a:gdLst/>
              <a:ahLst/>
              <a:cxnLst/>
              <a:rect l="l" t="t" r="r" b="b"/>
              <a:pathLst>
                <a:path w="2876550" h="2085975">
                  <a:moveTo>
                    <a:pt x="0" y="20307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37" y="4203"/>
                  </a:lnTo>
                  <a:lnTo>
                    <a:pt x="2845803" y="5588"/>
                  </a:lnTo>
                  <a:lnTo>
                    <a:pt x="2848978" y="7289"/>
                  </a:lnTo>
                  <a:lnTo>
                    <a:pt x="2851988" y="9309"/>
                  </a:lnTo>
                  <a:lnTo>
                    <a:pt x="2855010" y="11328"/>
                  </a:lnTo>
                  <a:lnTo>
                    <a:pt x="2857804" y="13614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2030730"/>
                  </a:lnTo>
                  <a:lnTo>
                    <a:pt x="2876550" y="2034362"/>
                  </a:lnTo>
                  <a:lnTo>
                    <a:pt x="2876194" y="2037943"/>
                  </a:lnTo>
                  <a:lnTo>
                    <a:pt x="2875483" y="2041512"/>
                  </a:lnTo>
                  <a:lnTo>
                    <a:pt x="2874784" y="2045068"/>
                  </a:lnTo>
                  <a:lnTo>
                    <a:pt x="2860370" y="2069795"/>
                  </a:lnTo>
                  <a:lnTo>
                    <a:pt x="2857804" y="2072360"/>
                  </a:lnTo>
                  <a:lnTo>
                    <a:pt x="2832074" y="2084908"/>
                  </a:lnTo>
                  <a:lnTo>
                    <a:pt x="2828518" y="2085619"/>
                  </a:lnTo>
                  <a:lnTo>
                    <a:pt x="2824937" y="2085975"/>
                  </a:lnTo>
                  <a:lnTo>
                    <a:pt x="2821305" y="2085975"/>
                  </a:lnTo>
                  <a:lnTo>
                    <a:pt x="55245" y="2085975"/>
                  </a:lnTo>
                  <a:lnTo>
                    <a:pt x="51612" y="2085975"/>
                  </a:lnTo>
                  <a:lnTo>
                    <a:pt x="48018" y="2085619"/>
                  </a:lnTo>
                  <a:lnTo>
                    <a:pt x="44462" y="2084908"/>
                  </a:lnTo>
                  <a:lnTo>
                    <a:pt x="40906" y="2084209"/>
                  </a:lnTo>
                  <a:lnTo>
                    <a:pt x="16179" y="2069795"/>
                  </a:lnTo>
                  <a:lnTo>
                    <a:pt x="13614" y="2067229"/>
                  </a:lnTo>
                  <a:lnTo>
                    <a:pt x="11328" y="2064435"/>
                  </a:lnTo>
                  <a:lnTo>
                    <a:pt x="9309" y="2061413"/>
                  </a:lnTo>
                  <a:lnTo>
                    <a:pt x="7289" y="2058403"/>
                  </a:lnTo>
                  <a:lnTo>
                    <a:pt x="5588" y="2055228"/>
                  </a:lnTo>
                  <a:lnTo>
                    <a:pt x="4203" y="2051875"/>
                  </a:lnTo>
                  <a:lnTo>
                    <a:pt x="2819" y="2048522"/>
                  </a:lnTo>
                  <a:lnTo>
                    <a:pt x="1765" y="2045068"/>
                  </a:lnTo>
                  <a:lnTo>
                    <a:pt x="1066" y="2041512"/>
                  </a:lnTo>
                  <a:lnTo>
                    <a:pt x="355" y="2037943"/>
                  </a:lnTo>
                  <a:lnTo>
                    <a:pt x="0" y="2034362"/>
                  </a:lnTo>
                  <a:lnTo>
                    <a:pt x="0" y="2030730"/>
                  </a:lnTo>
                  <a:close/>
                </a:path>
              </a:pathLst>
            </a:custGeom>
            <a:ln w="9525">
              <a:solidFill>
                <a:srgbClr val="BCB7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112125" y="2544762"/>
            <a:ext cx="2385060" cy="171259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806450">
              <a:lnSpc>
                <a:spcPct val="106100"/>
              </a:lnSpc>
              <a:spcBef>
                <a:spcPts val="15"/>
              </a:spcBef>
            </a:pPr>
            <a:r>
              <a:rPr dirty="0" sz="1650" spc="-195" b="1">
                <a:solidFill>
                  <a:srgbClr val="2A2641"/>
                </a:solidFill>
                <a:latin typeface="Verdana"/>
                <a:cs typeface="Verdana"/>
              </a:rPr>
              <a:t>Nu</a:t>
            </a:r>
            <a:r>
              <a:rPr dirty="0" sz="1650" spc="-180" b="1">
                <a:solidFill>
                  <a:srgbClr val="2A2641"/>
                </a:solidFill>
                <a:latin typeface="Verdana"/>
                <a:cs typeface="Verdana"/>
              </a:rPr>
              <a:t>e</a:t>
            </a:r>
            <a:r>
              <a:rPr dirty="0" sz="1650" spc="-165" b="1">
                <a:solidFill>
                  <a:srgbClr val="2A2641"/>
                </a:solidFill>
                <a:latin typeface="Verdana"/>
                <a:cs typeface="Verdana"/>
              </a:rPr>
              <a:t>v</a:t>
            </a:r>
            <a:r>
              <a:rPr dirty="0" sz="1650" spc="-170" b="1">
                <a:solidFill>
                  <a:srgbClr val="2A2641"/>
                </a:solidFill>
                <a:latin typeface="Verdana"/>
                <a:cs typeface="Verdana"/>
              </a:rPr>
              <a:t>os</a:t>
            </a:r>
            <a:r>
              <a:rPr dirty="0" sz="1650" spc="-254" b="1">
                <a:solidFill>
                  <a:srgbClr val="2A2641"/>
                </a:solidFill>
                <a:latin typeface="Verdana"/>
                <a:cs typeface="Verdana"/>
              </a:rPr>
              <a:t> </a:t>
            </a:r>
            <a:r>
              <a:rPr dirty="0" sz="1650" spc="-165" b="1">
                <a:solidFill>
                  <a:srgbClr val="2A2641"/>
                </a:solidFill>
                <a:latin typeface="Verdana"/>
                <a:cs typeface="Verdana"/>
              </a:rPr>
              <a:t>P</a:t>
            </a:r>
            <a:r>
              <a:rPr dirty="0" sz="1650" spc="-125" b="1">
                <a:solidFill>
                  <a:srgbClr val="2A2641"/>
                </a:solidFill>
                <a:latin typeface="Verdana"/>
                <a:cs typeface="Verdana"/>
              </a:rPr>
              <a:t>e</a:t>
            </a:r>
            <a:r>
              <a:rPr dirty="0" sz="1650" spc="-114" b="1">
                <a:solidFill>
                  <a:srgbClr val="2A2641"/>
                </a:solidFill>
                <a:latin typeface="Verdana"/>
                <a:cs typeface="Verdana"/>
              </a:rPr>
              <a:t>r</a:t>
            </a:r>
            <a:r>
              <a:rPr dirty="0" sz="1650" spc="-90" b="1">
                <a:solidFill>
                  <a:srgbClr val="2A2641"/>
                </a:solidFill>
                <a:latin typeface="Verdana"/>
                <a:cs typeface="Verdana"/>
              </a:rPr>
              <a:t>files  </a:t>
            </a:r>
            <a:r>
              <a:rPr dirty="0" sz="1650" spc="-130" b="1">
                <a:solidFill>
                  <a:srgbClr val="2A2641"/>
                </a:solidFill>
                <a:latin typeface="Verdana"/>
                <a:cs typeface="Verdana"/>
              </a:rPr>
              <a:t>Profesionales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2700"/>
              </a:lnSpc>
              <a:spcBef>
                <a:spcPts val="565"/>
              </a:spcBef>
            </a:pP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Surgirán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nuevos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roles </a:t>
            </a:r>
            <a:r>
              <a:rPr dirty="0" sz="1350" spc="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especializados en áreas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como </a:t>
            </a:r>
            <a:r>
              <a:rPr dirty="0" sz="1350" spc="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desarrollo de plataformas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IoT y </a:t>
            </a:r>
            <a:r>
              <a:rPr dirty="0" sz="1350" spc="-37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gestión</a:t>
            </a:r>
            <a:r>
              <a:rPr dirty="0" sz="1350" spc="-1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de</a:t>
            </a:r>
            <a:r>
              <a:rPr dirty="0" sz="1350" spc="-1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dispositivos.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886325" y="4648200"/>
            <a:ext cx="5943600" cy="1276350"/>
            <a:chOff x="4886325" y="4648200"/>
            <a:chExt cx="5943600" cy="1276350"/>
          </a:xfrm>
        </p:grpSpPr>
        <p:sp>
          <p:nvSpPr>
            <p:cNvPr id="13" name="object 13"/>
            <p:cNvSpPr/>
            <p:nvPr/>
          </p:nvSpPr>
          <p:spPr>
            <a:xfrm>
              <a:off x="4891087" y="4652962"/>
              <a:ext cx="5934075" cy="1266825"/>
            </a:xfrm>
            <a:custGeom>
              <a:avLst/>
              <a:gdLst/>
              <a:ahLst/>
              <a:cxnLst/>
              <a:rect l="l" t="t" r="r" b="b"/>
              <a:pathLst>
                <a:path w="5934075" h="1266825">
                  <a:moveTo>
                    <a:pt x="58824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211581"/>
                  </a:lnTo>
                  <a:lnTo>
                    <a:pt x="0" y="1215207"/>
                  </a:lnTo>
                  <a:lnTo>
                    <a:pt x="18745" y="1253208"/>
                  </a:lnTo>
                  <a:lnTo>
                    <a:pt x="51612" y="1266821"/>
                  </a:lnTo>
                  <a:lnTo>
                    <a:pt x="5882462" y="1266821"/>
                  </a:lnTo>
                  <a:lnTo>
                    <a:pt x="5920460" y="1248078"/>
                  </a:lnTo>
                  <a:lnTo>
                    <a:pt x="5934075" y="1215207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E9E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891087" y="4652962"/>
              <a:ext cx="5934075" cy="1266825"/>
            </a:xfrm>
            <a:custGeom>
              <a:avLst/>
              <a:gdLst/>
              <a:ahLst/>
              <a:cxnLst/>
              <a:rect l="l" t="t" r="r" b="b"/>
              <a:pathLst>
                <a:path w="5934075" h="1266825">
                  <a:moveTo>
                    <a:pt x="0" y="1211581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06503" y="7289"/>
                  </a:lnTo>
                  <a:lnTo>
                    <a:pt x="5909513" y="9309"/>
                  </a:lnTo>
                  <a:lnTo>
                    <a:pt x="5912535" y="11328"/>
                  </a:lnTo>
                  <a:lnTo>
                    <a:pt x="5915329" y="13614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1211581"/>
                  </a:lnTo>
                  <a:lnTo>
                    <a:pt x="5934075" y="1215207"/>
                  </a:lnTo>
                  <a:lnTo>
                    <a:pt x="5933719" y="1218798"/>
                  </a:lnTo>
                  <a:lnTo>
                    <a:pt x="5933008" y="1222355"/>
                  </a:lnTo>
                  <a:lnTo>
                    <a:pt x="5932309" y="1225913"/>
                  </a:lnTo>
                  <a:lnTo>
                    <a:pt x="5909513" y="1257514"/>
                  </a:lnTo>
                  <a:lnTo>
                    <a:pt x="5906503" y="1259528"/>
                  </a:lnTo>
                  <a:lnTo>
                    <a:pt x="5903328" y="1261230"/>
                  </a:lnTo>
                  <a:lnTo>
                    <a:pt x="5899962" y="1262618"/>
                  </a:lnTo>
                  <a:lnTo>
                    <a:pt x="5896622" y="1264008"/>
                  </a:lnTo>
                  <a:lnTo>
                    <a:pt x="5878830" y="1266826"/>
                  </a:lnTo>
                  <a:lnTo>
                    <a:pt x="55245" y="1266826"/>
                  </a:lnTo>
                  <a:lnTo>
                    <a:pt x="34099" y="1262618"/>
                  </a:lnTo>
                  <a:lnTo>
                    <a:pt x="30746" y="1261230"/>
                  </a:lnTo>
                  <a:lnTo>
                    <a:pt x="4203" y="1232719"/>
                  </a:lnTo>
                  <a:lnTo>
                    <a:pt x="2819" y="1229366"/>
                  </a:lnTo>
                  <a:lnTo>
                    <a:pt x="1765" y="1225913"/>
                  </a:lnTo>
                  <a:lnTo>
                    <a:pt x="1066" y="1222355"/>
                  </a:lnTo>
                  <a:lnTo>
                    <a:pt x="355" y="1218798"/>
                  </a:lnTo>
                  <a:lnTo>
                    <a:pt x="0" y="1215207"/>
                  </a:lnTo>
                  <a:lnTo>
                    <a:pt x="0" y="1211581"/>
                  </a:lnTo>
                  <a:close/>
                </a:path>
              </a:pathLst>
            </a:custGeom>
            <a:ln w="9525">
              <a:solidFill>
                <a:srgbClr val="BCB7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054600" y="4811712"/>
            <a:ext cx="5071745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70" b="1">
                <a:solidFill>
                  <a:srgbClr val="2A2641"/>
                </a:solidFill>
                <a:latin typeface="Verdana"/>
                <a:cs typeface="Verdana"/>
              </a:rPr>
              <a:t>Defianda</a:t>
            </a:r>
            <a:r>
              <a:rPr dirty="0" sz="1650" spc="-254" b="1">
                <a:solidFill>
                  <a:srgbClr val="2A2641"/>
                </a:solidFill>
                <a:latin typeface="Verdana"/>
                <a:cs typeface="Verdana"/>
              </a:rPr>
              <a:t> </a:t>
            </a:r>
            <a:r>
              <a:rPr dirty="0" sz="1650" spc="-50" b="1">
                <a:solidFill>
                  <a:srgbClr val="2A2641"/>
                </a:solidFill>
                <a:latin typeface="Verdana"/>
                <a:cs typeface="Verdana"/>
              </a:rPr>
              <a:t>C</a:t>
            </a:r>
            <a:r>
              <a:rPr dirty="0" sz="1650" spc="-160" b="1">
                <a:solidFill>
                  <a:srgbClr val="2A2641"/>
                </a:solidFill>
                <a:latin typeface="Verdana"/>
                <a:cs typeface="Verdana"/>
              </a:rPr>
              <a:t>ons</a:t>
            </a:r>
            <a:r>
              <a:rPr dirty="0" sz="1650" spc="-125" b="1">
                <a:solidFill>
                  <a:srgbClr val="2A2641"/>
                </a:solidFill>
                <a:latin typeface="Verdana"/>
                <a:cs typeface="Verdana"/>
              </a:rPr>
              <a:t>t</a:t>
            </a:r>
            <a:r>
              <a:rPr dirty="0" sz="1650" spc="-135" b="1">
                <a:solidFill>
                  <a:srgbClr val="2A2641"/>
                </a:solidFill>
                <a:latin typeface="Verdana"/>
                <a:cs typeface="Verdana"/>
              </a:rPr>
              <a:t>a</a:t>
            </a:r>
            <a:r>
              <a:rPr dirty="0" sz="1650" spc="-160" b="1">
                <a:solidFill>
                  <a:srgbClr val="2A2641"/>
                </a:solidFill>
                <a:latin typeface="Verdana"/>
                <a:cs typeface="Verdana"/>
              </a:rPr>
              <a:t>n</a:t>
            </a:r>
            <a:r>
              <a:rPr dirty="0" sz="1650" spc="-75" b="1">
                <a:solidFill>
                  <a:srgbClr val="2A2641"/>
                </a:solidFill>
                <a:latin typeface="Verdana"/>
                <a:cs typeface="Verdana"/>
              </a:rPr>
              <a:t>t</a:t>
            </a:r>
            <a:r>
              <a:rPr dirty="0" sz="1650" spc="-165" b="1">
                <a:solidFill>
                  <a:srgbClr val="2A2641"/>
                </a:solidFill>
                <a:latin typeface="Verdana"/>
                <a:cs typeface="Verdana"/>
              </a:rPr>
              <a:t>e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29600"/>
              </a:lnSpc>
              <a:spcBef>
                <a:spcPts val="615"/>
              </a:spcBef>
            </a:pP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La implementación de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IoT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en diversos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sectores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generará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múltiples </a:t>
            </a:r>
            <a:r>
              <a:rPr dirty="0" sz="1350" spc="-36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oportunidades</a:t>
            </a:r>
            <a:r>
              <a:rPr dirty="0" sz="1350" spc="-1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de empleo.</a:t>
            </a:r>
            <a:endParaRPr sz="135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934200"/>
          </a:xfrm>
          <a:custGeom>
            <a:avLst/>
            <a:gdLst/>
            <a:ahLst/>
            <a:cxnLst/>
            <a:rect l="l" t="t" r="r" b="b"/>
            <a:pathLst>
              <a:path w="11430000" h="6934200">
                <a:moveTo>
                  <a:pt x="11430000" y="0"/>
                </a:moveTo>
                <a:lnTo>
                  <a:pt x="0" y="0"/>
                </a:lnTo>
                <a:lnTo>
                  <a:pt x="0" y="6934200"/>
                </a:lnTo>
                <a:lnTo>
                  <a:pt x="11430000" y="69342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AFA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143750" y="0"/>
            <a:ext cx="4286250" cy="6934200"/>
            <a:chOff x="7143750" y="0"/>
            <a:chExt cx="4286250" cy="69342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49" cy="69341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6419850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375" y="454025"/>
            <a:ext cx="4279900" cy="1616075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 marR="444500">
              <a:lnSpc>
                <a:spcPts val="4200"/>
              </a:lnSpc>
              <a:spcBef>
                <a:spcPts val="115"/>
              </a:spcBef>
            </a:pPr>
            <a:r>
              <a:rPr dirty="0" spc="60"/>
              <a:t>C</a:t>
            </a:r>
            <a:r>
              <a:rPr dirty="0" spc="114"/>
              <a:t>ófio</a:t>
            </a:r>
            <a:r>
              <a:rPr dirty="0" spc="-360"/>
              <a:t> </a:t>
            </a:r>
            <a:r>
              <a:rPr dirty="0" spc="-75"/>
              <a:t>p</a:t>
            </a:r>
            <a:r>
              <a:rPr dirty="0" spc="-30"/>
              <a:t>r</a:t>
            </a:r>
            <a:r>
              <a:rPr dirty="0" spc="-55"/>
              <a:t>epa</a:t>
            </a:r>
            <a:r>
              <a:rPr dirty="0" spc="-30"/>
              <a:t>r</a:t>
            </a:r>
            <a:r>
              <a:rPr dirty="0" spc="60"/>
              <a:t>a</a:t>
            </a:r>
            <a:r>
              <a:rPr dirty="0" spc="-55"/>
              <a:t>r</a:t>
            </a:r>
            <a:r>
              <a:rPr dirty="0" spc="-130"/>
              <a:t>se</a:t>
            </a:r>
            <a:r>
              <a:rPr dirty="0" spc="-360"/>
              <a:t> </a:t>
            </a:r>
            <a:r>
              <a:rPr dirty="0" spc="-70"/>
              <a:t>y  </a:t>
            </a:r>
            <a:r>
              <a:rPr dirty="0" spc="-25"/>
              <a:t>ap</a:t>
            </a:r>
            <a:r>
              <a:rPr dirty="0" spc="-30"/>
              <a:t>r</a:t>
            </a:r>
            <a:r>
              <a:rPr dirty="0" spc="-145"/>
              <a:t>o</a:t>
            </a:r>
            <a:r>
              <a:rPr dirty="0" spc="-125"/>
              <a:t>v</a:t>
            </a:r>
            <a:r>
              <a:rPr dirty="0" spc="-55"/>
              <a:t>echar</a:t>
            </a:r>
            <a:r>
              <a:rPr dirty="0" spc="-360"/>
              <a:t> </a:t>
            </a:r>
            <a:r>
              <a:rPr dirty="0" spc="-65"/>
              <a:t>las</a:t>
            </a: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60"/>
              <a:t>opo</a:t>
            </a:r>
            <a:r>
              <a:rPr dirty="0" spc="-75"/>
              <a:t>r</a:t>
            </a:r>
            <a:r>
              <a:rPr dirty="0" spc="-105"/>
              <a:t>tunidades</a:t>
            </a:r>
            <a:r>
              <a:rPr dirty="0" spc="-360"/>
              <a:t> </a:t>
            </a:r>
            <a:r>
              <a:rPr dirty="0" spc="-100"/>
              <a:t>de</a:t>
            </a:r>
            <a:r>
              <a:rPr dirty="0" spc="-360"/>
              <a:t> </a:t>
            </a:r>
            <a:r>
              <a:rPr dirty="0" spc="-185"/>
              <a:t>IoT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594677" y="2337752"/>
            <a:ext cx="868044" cy="1382395"/>
            <a:chOff x="594677" y="2337752"/>
            <a:chExt cx="868044" cy="1382395"/>
          </a:xfrm>
        </p:grpSpPr>
        <p:sp>
          <p:nvSpPr>
            <p:cNvPr id="8" name="object 8"/>
            <p:cNvSpPr/>
            <p:nvPr/>
          </p:nvSpPr>
          <p:spPr>
            <a:xfrm>
              <a:off x="600075" y="2343149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1200150"/>
                  </a:lnTo>
                  <a:lnTo>
                    <a:pt x="428625" y="1371600"/>
                  </a:lnTo>
                  <a:lnTo>
                    <a:pt x="857250" y="12001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E9E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00075" y="2343149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0" y="1200150"/>
                  </a:moveTo>
                  <a:lnTo>
                    <a:pt x="428625" y="1371600"/>
                  </a:lnTo>
                  <a:lnTo>
                    <a:pt x="857250" y="12001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1200150"/>
                  </a:lnTo>
                  <a:close/>
                </a:path>
              </a:pathLst>
            </a:custGeom>
            <a:ln w="10715">
              <a:solidFill>
                <a:srgbClr val="BCB7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965845" y="2844800"/>
            <a:ext cx="12573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484" b="1">
                <a:solidFill>
                  <a:srgbClr val="2A2641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1800" y="2497137"/>
            <a:ext cx="200977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35" b="1">
                <a:solidFill>
                  <a:srgbClr val="2A2641"/>
                </a:solidFill>
                <a:latin typeface="Tahoma"/>
                <a:cs typeface="Tahoma"/>
              </a:rPr>
              <a:t>E</a:t>
            </a:r>
            <a:r>
              <a:rPr dirty="0" sz="1650" spc="-65" b="1">
                <a:solidFill>
                  <a:srgbClr val="2A2641"/>
                </a:solidFill>
                <a:latin typeface="Tahoma"/>
                <a:cs typeface="Tahoma"/>
              </a:rPr>
              <a:t>du</a:t>
            </a:r>
            <a:r>
              <a:rPr dirty="0" sz="1650" spc="-80" b="1">
                <a:solidFill>
                  <a:srgbClr val="2A2641"/>
                </a:solidFill>
                <a:latin typeface="Tahoma"/>
                <a:cs typeface="Tahoma"/>
              </a:rPr>
              <a:t>c</a:t>
            </a:r>
            <a:r>
              <a:rPr dirty="0" sz="1650" spc="-30" b="1">
                <a:solidFill>
                  <a:srgbClr val="2A2641"/>
                </a:solidFill>
                <a:latin typeface="Tahoma"/>
                <a:cs typeface="Tahoma"/>
              </a:rPr>
              <a:t>ación</a:t>
            </a:r>
            <a:r>
              <a:rPr dirty="0" sz="1650" spc="-175" b="1">
                <a:solidFill>
                  <a:srgbClr val="2A2641"/>
                </a:solidFill>
                <a:latin typeface="Tahoma"/>
                <a:cs typeface="Tahoma"/>
              </a:rPr>
              <a:t> </a:t>
            </a:r>
            <a:r>
              <a:rPr dirty="0" sz="1650" spc="45" b="1">
                <a:solidFill>
                  <a:srgbClr val="2A2641"/>
                </a:solidFill>
                <a:latin typeface="Tahoma"/>
                <a:cs typeface="Tahoma"/>
              </a:rPr>
              <a:t>C</a:t>
            </a:r>
            <a:r>
              <a:rPr dirty="0" sz="1650" spc="-55" b="1">
                <a:solidFill>
                  <a:srgbClr val="2A2641"/>
                </a:solidFill>
                <a:latin typeface="Tahoma"/>
                <a:cs typeface="Tahoma"/>
              </a:rPr>
              <a:t>o</a:t>
            </a:r>
            <a:r>
              <a:rPr dirty="0" sz="1650" spc="-75" b="1">
                <a:solidFill>
                  <a:srgbClr val="2A2641"/>
                </a:solidFill>
                <a:latin typeface="Tahoma"/>
                <a:cs typeface="Tahoma"/>
              </a:rPr>
              <a:t>n</a:t>
            </a:r>
            <a:r>
              <a:rPr dirty="0" sz="1650" spc="-40" b="1">
                <a:solidFill>
                  <a:srgbClr val="2A2641"/>
                </a:solidFill>
                <a:latin typeface="Tahoma"/>
                <a:cs typeface="Tahoma"/>
              </a:rPr>
              <a:t>tinua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1800" y="2821939"/>
            <a:ext cx="4037329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Mantenerse</a:t>
            </a:r>
            <a:r>
              <a:rPr dirty="0" sz="1350" spc="-2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actualizado</a:t>
            </a:r>
            <a:r>
              <a:rPr dirty="0" sz="1350" spc="-2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con</a:t>
            </a:r>
            <a:r>
              <a:rPr dirty="0" sz="1350" spc="-1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cursos,</a:t>
            </a:r>
            <a:r>
              <a:rPr dirty="0" sz="1350" spc="-2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certificaciones</a:t>
            </a:r>
            <a:r>
              <a:rPr dirty="0" sz="1350" spc="-2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y </a:t>
            </a:r>
            <a:r>
              <a:rPr dirty="0" sz="1350" spc="-36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experiencia</a:t>
            </a:r>
            <a:r>
              <a:rPr dirty="0" sz="1350" spc="-1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práctica en</a:t>
            </a:r>
            <a:r>
              <a:rPr dirty="0" sz="1350" spc="-1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40">
                <a:solidFill>
                  <a:srgbClr val="2A2641"/>
                </a:solidFill>
                <a:latin typeface="Arial MT"/>
                <a:cs typeface="Arial MT"/>
              </a:rPr>
              <a:t>IoT.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94677" y="3709352"/>
            <a:ext cx="868044" cy="1382395"/>
            <a:chOff x="594677" y="3709352"/>
            <a:chExt cx="868044" cy="1382395"/>
          </a:xfrm>
        </p:grpSpPr>
        <p:sp>
          <p:nvSpPr>
            <p:cNvPr id="14" name="object 14"/>
            <p:cNvSpPr/>
            <p:nvPr/>
          </p:nvSpPr>
          <p:spPr>
            <a:xfrm>
              <a:off x="600075" y="3714749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1200150"/>
                  </a:lnTo>
                  <a:lnTo>
                    <a:pt x="428625" y="1371600"/>
                  </a:lnTo>
                  <a:lnTo>
                    <a:pt x="857250" y="12001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E9E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00075" y="3714749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0" y="1200150"/>
                  </a:moveTo>
                  <a:lnTo>
                    <a:pt x="428625" y="1371600"/>
                  </a:lnTo>
                  <a:lnTo>
                    <a:pt x="857250" y="12001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1200150"/>
                  </a:lnTo>
                  <a:close/>
                </a:path>
              </a:pathLst>
            </a:custGeom>
            <a:ln w="10715">
              <a:solidFill>
                <a:srgbClr val="BCB7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941884" y="4216400"/>
            <a:ext cx="17399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10" b="1">
                <a:solidFill>
                  <a:srgbClr val="2A2641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01800" y="3868737"/>
            <a:ext cx="457962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2A2641"/>
                </a:solidFill>
                <a:latin typeface="Tahoma"/>
                <a:cs typeface="Tahoma"/>
              </a:rPr>
              <a:t>Desa</a:t>
            </a:r>
            <a:r>
              <a:rPr dirty="0" sz="1650" spc="-40" b="1">
                <a:solidFill>
                  <a:srgbClr val="2A2641"/>
                </a:solidFill>
                <a:latin typeface="Tahoma"/>
                <a:cs typeface="Tahoma"/>
              </a:rPr>
              <a:t>r</a:t>
            </a:r>
            <a:r>
              <a:rPr dirty="0" sz="1650" spc="-10" b="1">
                <a:solidFill>
                  <a:srgbClr val="2A2641"/>
                </a:solidFill>
                <a:latin typeface="Tahoma"/>
                <a:cs typeface="Tahoma"/>
              </a:rPr>
              <a:t>r</a:t>
            </a:r>
            <a:r>
              <a:rPr dirty="0" sz="1650" spc="-5" b="1">
                <a:solidFill>
                  <a:srgbClr val="2A2641"/>
                </a:solidFill>
                <a:latin typeface="Tahoma"/>
                <a:cs typeface="Tahoma"/>
              </a:rPr>
              <a:t>ollar</a:t>
            </a:r>
            <a:r>
              <a:rPr dirty="0" sz="1650" spc="-175" b="1">
                <a:solidFill>
                  <a:srgbClr val="2A2641"/>
                </a:solidFill>
                <a:latin typeface="Tahoma"/>
                <a:cs typeface="Tahoma"/>
              </a:rPr>
              <a:t> </a:t>
            </a:r>
            <a:r>
              <a:rPr dirty="0" sz="1650" spc="-20" b="1">
                <a:solidFill>
                  <a:srgbClr val="2A2641"/>
                </a:solidFill>
                <a:latin typeface="Tahoma"/>
                <a:cs typeface="Tahoma"/>
              </a:rPr>
              <a:t>Habilidades</a:t>
            </a:r>
            <a:r>
              <a:rPr dirty="0" sz="1650" spc="-175" b="1">
                <a:solidFill>
                  <a:srgbClr val="2A2641"/>
                </a:solidFill>
                <a:latin typeface="Tahoma"/>
                <a:cs typeface="Tahoma"/>
              </a:rPr>
              <a:t> </a:t>
            </a:r>
            <a:r>
              <a:rPr dirty="0" sz="1650" spc="5" b="1">
                <a:solidFill>
                  <a:srgbClr val="2A2641"/>
                </a:solidFill>
                <a:latin typeface="Tahoma"/>
                <a:cs typeface="Tahoma"/>
              </a:rPr>
              <a:t>Cla</a:t>
            </a:r>
            <a:r>
              <a:rPr dirty="0" sz="1650" spc="-10" b="1">
                <a:solidFill>
                  <a:srgbClr val="2A2641"/>
                </a:solidFill>
                <a:latin typeface="Tahoma"/>
                <a:cs typeface="Tahoma"/>
              </a:rPr>
              <a:t>v</a:t>
            </a:r>
            <a:r>
              <a:rPr dirty="0" sz="1650" spc="-45" b="1">
                <a:solidFill>
                  <a:srgbClr val="2A2641"/>
                </a:solidFill>
                <a:latin typeface="Tahoma"/>
                <a:cs typeface="Tahoma"/>
              </a:rPr>
              <a:t>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Enfocarse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en áreas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como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programación, análisis de datos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y </a:t>
            </a:r>
            <a:r>
              <a:rPr dirty="0" sz="1350" spc="-36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seguridad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cibernética.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4717" y="5080992"/>
            <a:ext cx="868044" cy="1382395"/>
            <a:chOff x="594717" y="5080992"/>
            <a:chExt cx="868044" cy="1382395"/>
          </a:xfrm>
        </p:grpSpPr>
        <p:sp>
          <p:nvSpPr>
            <p:cNvPr id="19" name="object 19"/>
            <p:cNvSpPr/>
            <p:nvPr/>
          </p:nvSpPr>
          <p:spPr>
            <a:xfrm>
              <a:off x="600075" y="5086350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1200150"/>
                  </a:lnTo>
                  <a:lnTo>
                    <a:pt x="428625" y="1371600"/>
                  </a:lnTo>
                  <a:lnTo>
                    <a:pt x="857250" y="12001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E9E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00075" y="5086350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0" y="1200150"/>
                  </a:moveTo>
                  <a:lnTo>
                    <a:pt x="428625" y="1371600"/>
                  </a:lnTo>
                  <a:lnTo>
                    <a:pt x="857250" y="12001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1200150"/>
                  </a:lnTo>
                  <a:close/>
                </a:path>
              </a:pathLst>
            </a:custGeom>
            <a:ln w="10715">
              <a:solidFill>
                <a:srgbClr val="BCB7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942776" y="5588000"/>
            <a:ext cx="1720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25" b="1">
                <a:solidFill>
                  <a:srgbClr val="2A2641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01800" y="5240337"/>
            <a:ext cx="449199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0" b="1">
                <a:solidFill>
                  <a:srgbClr val="2A2641"/>
                </a:solidFill>
                <a:latin typeface="Tahoma"/>
                <a:cs typeface="Tahoma"/>
              </a:rPr>
              <a:t>C</a:t>
            </a:r>
            <a:r>
              <a:rPr dirty="0" sz="1650" spc="-10" b="1">
                <a:solidFill>
                  <a:srgbClr val="2A2641"/>
                </a:solidFill>
                <a:latin typeface="Tahoma"/>
                <a:cs typeface="Tahoma"/>
              </a:rPr>
              <a:t>r</a:t>
            </a:r>
            <a:r>
              <a:rPr dirty="0" sz="1650" spc="10" b="1">
                <a:solidFill>
                  <a:srgbClr val="2A2641"/>
                </a:solidFill>
                <a:latin typeface="Tahoma"/>
                <a:cs typeface="Tahoma"/>
              </a:rPr>
              <a:t>ear</a:t>
            </a:r>
            <a:r>
              <a:rPr dirty="0" sz="1650" spc="-175" b="1">
                <a:solidFill>
                  <a:srgbClr val="2A2641"/>
                </a:solidFill>
                <a:latin typeface="Tahoma"/>
                <a:cs typeface="Tahoma"/>
              </a:rPr>
              <a:t> </a:t>
            </a:r>
            <a:r>
              <a:rPr dirty="0" sz="1650" spc="-60" b="1">
                <a:solidFill>
                  <a:srgbClr val="2A2641"/>
                </a:solidFill>
                <a:latin typeface="Tahoma"/>
                <a:cs typeface="Tahoma"/>
              </a:rPr>
              <a:t>una</a:t>
            </a:r>
            <a:r>
              <a:rPr dirty="0" sz="1650" spc="-175" b="1">
                <a:solidFill>
                  <a:srgbClr val="2A2641"/>
                </a:solidFill>
                <a:latin typeface="Tahoma"/>
                <a:cs typeface="Tahoma"/>
              </a:rPr>
              <a:t> </a:t>
            </a:r>
            <a:r>
              <a:rPr dirty="0" sz="1650" spc="-35" b="1">
                <a:solidFill>
                  <a:srgbClr val="2A2641"/>
                </a:solidFill>
                <a:latin typeface="Tahoma"/>
                <a:cs typeface="Tahoma"/>
              </a:rPr>
              <a:t>Hoja</a:t>
            </a:r>
            <a:r>
              <a:rPr dirty="0" sz="1650" spc="-175" b="1">
                <a:solidFill>
                  <a:srgbClr val="2A2641"/>
                </a:solidFill>
                <a:latin typeface="Tahoma"/>
                <a:cs typeface="Tahoma"/>
              </a:rPr>
              <a:t> </a:t>
            </a:r>
            <a:r>
              <a:rPr dirty="0" sz="1650" spc="-35" b="1">
                <a:solidFill>
                  <a:srgbClr val="2A2641"/>
                </a:solidFill>
                <a:latin typeface="Tahoma"/>
                <a:cs typeface="Tahoma"/>
              </a:rPr>
              <a:t>de</a:t>
            </a:r>
            <a:r>
              <a:rPr dirty="0" sz="1650" spc="-175" b="1">
                <a:solidFill>
                  <a:srgbClr val="2A2641"/>
                </a:solidFill>
                <a:latin typeface="Tahoma"/>
                <a:cs typeface="Tahoma"/>
              </a:rPr>
              <a:t> </a:t>
            </a:r>
            <a:r>
              <a:rPr dirty="0" sz="1650" spc="-100" b="1">
                <a:solidFill>
                  <a:srgbClr val="2A2641"/>
                </a:solidFill>
                <a:latin typeface="Tahoma"/>
                <a:cs typeface="Tahoma"/>
              </a:rPr>
              <a:t>R</a:t>
            </a:r>
            <a:r>
              <a:rPr dirty="0" sz="1650" spc="-75" b="1">
                <a:solidFill>
                  <a:srgbClr val="2A2641"/>
                </a:solidFill>
                <a:latin typeface="Tahoma"/>
                <a:cs typeface="Tahoma"/>
              </a:rPr>
              <a:t>u</a:t>
            </a:r>
            <a:r>
              <a:rPr dirty="0" sz="1650" spc="-65" b="1">
                <a:solidFill>
                  <a:srgbClr val="2A2641"/>
                </a:solidFill>
                <a:latin typeface="Tahoma"/>
                <a:cs typeface="Tahoma"/>
              </a:rPr>
              <a:t>t</a:t>
            </a:r>
            <a:r>
              <a:rPr dirty="0" sz="1650" spc="25" b="1">
                <a:solidFill>
                  <a:srgbClr val="2A2641"/>
                </a:solidFill>
                <a:latin typeface="Tahoma"/>
                <a:cs typeface="Tahoma"/>
              </a:rPr>
              <a:t>a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Identificar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las oportunidades laborales en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IoT y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planificar el </a:t>
            </a:r>
            <a:r>
              <a:rPr dirty="0" sz="1350" spc="-365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desarrollo</a:t>
            </a:r>
            <a:r>
              <a:rPr dirty="0" sz="1350" spc="-10">
                <a:solidFill>
                  <a:srgbClr val="2A2641"/>
                </a:solidFill>
                <a:latin typeface="Arial MT"/>
                <a:cs typeface="Arial MT"/>
              </a:rPr>
              <a:t> </a:t>
            </a:r>
            <a:r>
              <a:rPr dirty="0" sz="1350" spc="-5">
                <a:solidFill>
                  <a:srgbClr val="2A2641"/>
                </a:solidFill>
                <a:latin typeface="Arial MT"/>
                <a:cs typeface="Arial MT"/>
              </a:rPr>
              <a:t>de </a:t>
            </a:r>
            <a:r>
              <a:rPr dirty="0" sz="1350">
                <a:solidFill>
                  <a:srgbClr val="2A2641"/>
                </a:solidFill>
                <a:latin typeface="Arial MT"/>
                <a:cs typeface="Arial MT"/>
              </a:rPr>
              <a:t>tu carrera.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2024-11-05T06:32:18Z</dcterms:created>
  <dcterms:modified xsi:type="dcterms:W3CDTF">2024-11-05T06:32:18Z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</Properties>
</file>