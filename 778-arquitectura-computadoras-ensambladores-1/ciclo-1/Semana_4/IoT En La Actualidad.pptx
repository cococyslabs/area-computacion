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1430000" cy="8077200"/>
  <p:notesSz cx="11430000" cy="8077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2764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79" y="454025"/>
            <a:ext cx="9556115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11128" y="1548447"/>
            <a:ext cx="5288280" cy="1468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780"/>
              </a:lnSpc>
            </a:pPr>
            <a:r>
              <a:rPr dirty="0" spc="-160"/>
              <a:t>Panorama</a:t>
            </a:r>
            <a:r>
              <a:rPr dirty="0" spc="-130"/>
              <a:t> </a:t>
            </a:r>
            <a:r>
              <a:rPr dirty="0" spc="-114"/>
              <a:t>actual</a:t>
            </a:r>
            <a:r>
              <a:rPr dirty="0" spc="-130"/>
              <a:t> </a:t>
            </a:r>
            <a:r>
              <a:rPr dirty="0" spc="-80"/>
              <a:t>del </a:t>
            </a:r>
            <a:r>
              <a:rPr dirty="0" spc="-135"/>
              <a:t>mercado </a:t>
            </a:r>
            <a:r>
              <a:rPr dirty="0" spc="-130"/>
              <a:t>de</a:t>
            </a:r>
            <a:r>
              <a:rPr dirty="0" spc="-135"/>
              <a:t> </a:t>
            </a:r>
            <a:r>
              <a:rPr dirty="0" spc="-25"/>
              <a:t>IoT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911128" y="3300323"/>
            <a:ext cx="5778500" cy="14922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37300"/>
              </a:lnSpc>
              <a:spcBef>
                <a:spcPts val="110"/>
              </a:spcBef>
            </a:pP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mercado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20">
                <a:solidFill>
                  <a:srgbClr val="262424"/>
                </a:solidFill>
                <a:latin typeface="Tahoma"/>
                <a:cs typeface="Tahoma"/>
              </a:rPr>
              <a:t>IoT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70">
                <a:solidFill>
                  <a:srgbClr val="262424"/>
                </a:solidFill>
                <a:latin typeface="Tahoma"/>
                <a:cs typeface="Tahoma"/>
              </a:rPr>
              <a:t>(Internet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las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262424"/>
                </a:solidFill>
                <a:latin typeface="Tahoma"/>
                <a:cs typeface="Tahoma"/>
              </a:rPr>
              <a:t>Cosas)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ha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experimentado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un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crecimiento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exponencial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en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los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últimos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años,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convirtiéndose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en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una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industria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clave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para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la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transformación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digital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automatización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procesos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en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diversos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sectores. </a:t>
            </a:r>
            <a:r>
              <a:rPr dirty="0" sz="1400" spc="-60">
                <a:solidFill>
                  <a:srgbClr val="262424"/>
                </a:solidFill>
                <a:latin typeface="Tahoma"/>
                <a:cs typeface="Tahoma"/>
              </a:rPr>
              <a:t>Desde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soluciones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para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hogar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inteligente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hasta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aplicaciones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industriales,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IoT 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ofrece</a:t>
            </a:r>
            <a:r>
              <a:rPr dirty="0" sz="1400" spc="-1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oportunidades</a:t>
            </a:r>
            <a:r>
              <a:rPr dirty="0" sz="1400" spc="-1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sin</a:t>
            </a:r>
            <a:r>
              <a:rPr dirty="0" sz="1400" spc="-1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precedentes.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879" y="1635125"/>
            <a:ext cx="88766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5"/>
              <a:t>Oportunidades</a:t>
            </a:r>
            <a:r>
              <a:rPr dirty="0" spc="-114"/>
              <a:t> </a:t>
            </a:r>
            <a:r>
              <a:rPr dirty="0" spc="-95"/>
              <a:t>de</a:t>
            </a:r>
            <a:r>
              <a:rPr dirty="0" spc="-110"/>
              <a:t> </a:t>
            </a:r>
            <a:r>
              <a:rPr dirty="0" spc="-70"/>
              <a:t>negocio</a:t>
            </a:r>
            <a:r>
              <a:rPr dirty="0" spc="-110"/>
              <a:t> </a:t>
            </a:r>
            <a:r>
              <a:rPr dirty="0" spc="-45"/>
              <a:t>en</a:t>
            </a:r>
            <a:r>
              <a:rPr dirty="0" spc="-110"/>
              <a:t> </a:t>
            </a:r>
            <a:r>
              <a:rPr dirty="0" spc="-85"/>
              <a:t>el</a:t>
            </a:r>
            <a:r>
              <a:rPr dirty="0" spc="-110"/>
              <a:t> </a:t>
            </a:r>
            <a:r>
              <a:rPr dirty="0" spc="-80"/>
              <a:t>mercado</a:t>
            </a:r>
            <a:r>
              <a:rPr dirty="0" spc="-110"/>
              <a:t> </a:t>
            </a:r>
            <a:r>
              <a:rPr dirty="0" spc="-95"/>
              <a:t>de</a:t>
            </a:r>
            <a:r>
              <a:rPr dirty="0" spc="-110"/>
              <a:t> </a:t>
            </a:r>
            <a:r>
              <a:rPr dirty="0" spc="-25"/>
              <a:t>IoT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4879" y="2640012"/>
            <a:ext cx="3111500" cy="19145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latin typeface="Cambria"/>
                <a:cs typeface="Cambria"/>
              </a:rPr>
              <a:t>Automatización</a:t>
            </a:r>
            <a:r>
              <a:rPr dirty="0" sz="1650" spc="-20" b="1">
                <a:latin typeface="Cambria"/>
                <a:cs typeface="Cambria"/>
              </a:rPr>
              <a:t> </a:t>
            </a:r>
            <a:r>
              <a:rPr dirty="0" sz="1650" spc="-40" b="1">
                <a:latin typeface="Cambria"/>
                <a:cs typeface="Cambria"/>
              </a:rPr>
              <a:t>del</a:t>
            </a:r>
            <a:r>
              <a:rPr dirty="0" sz="1650" spc="-15" b="1">
                <a:latin typeface="Cambria"/>
                <a:cs typeface="Cambria"/>
              </a:rPr>
              <a:t> </a:t>
            </a:r>
            <a:r>
              <a:rPr dirty="0" sz="1650" spc="-20" b="1">
                <a:latin typeface="Cambria"/>
                <a:cs typeface="Cambria"/>
              </a:rPr>
              <a:t>Hogar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6200"/>
              </a:lnSpc>
              <a:spcBef>
                <a:spcPts val="1415"/>
              </a:spcBef>
            </a:pPr>
            <a:r>
              <a:rPr dirty="0" sz="1400" spc="-130">
                <a:solidFill>
                  <a:srgbClr val="262424"/>
                </a:solidFill>
                <a:latin typeface="Verdana"/>
                <a:cs typeface="Verdana"/>
              </a:rPr>
              <a:t>Dispositivos</a:t>
            </a:r>
            <a:r>
              <a:rPr dirty="0" sz="1400" spc="-18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62424"/>
                </a:solidFill>
                <a:latin typeface="Verdana"/>
                <a:cs typeface="Verdana"/>
              </a:rPr>
              <a:t>inteligentes</a:t>
            </a:r>
            <a:r>
              <a:rPr dirty="0" sz="1400" spc="-18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Verdana"/>
                <a:cs typeface="Verdana"/>
              </a:rPr>
              <a:t>como </a:t>
            </a:r>
            <a:r>
              <a:rPr dirty="0" sz="1400" spc="-155">
                <a:solidFill>
                  <a:srgbClr val="262424"/>
                </a:solidFill>
                <a:latin typeface="Verdana"/>
                <a:cs typeface="Verdana"/>
              </a:rPr>
              <a:t>termostatos,</a:t>
            </a:r>
            <a:r>
              <a:rPr dirty="0" sz="1400" spc="-2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62424"/>
                </a:solidFill>
                <a:latin typeface="Verdana"/>
                <a:cs typeface="Verdana"/>
              </a:rPr>
              <a:t>luces</a:t>
            </a:r>
            <a:r>
              <a:rPr dirty="0" sz="1400" spc="-2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6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400" spc="-2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62424"/>
                </a:solidFill>
                <a:latin typeface="Verdana"/>
                <a:cs typeface="Verdana"/>
              </a:rPr>
              <a:t>electrodomésticos </a:t>
            </a:r>
            <a:r>
              <a:rPr dirty="0" sz="1400" spc="-140">
                <a:solidFill>
                  <a:srgbClr val="262424"/>
                </a:solidFill>
                <a:latin typeface="Verdana"/>
                <a:cs typeface="Verdana"/>
              </a:rPr>
              <a:t>que</a:t>
            </a:r>
            <a:r>
              <a:rPr dirty="0" sz="1400" spc="-23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55">
                <a:solidFill>
                  <a:srgbClr val="262424"/>
                </a:solidFill>
                <a:latin typeface="Verdana"/>
                <a:cs typeface="Verdana"/>
              </a:rPr>
              <a:t>se</a:t>
            </a:r>
            <a:r>
              <a:rPr dirty="0" sz="1400" spc="-23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62424"/>
                </a:solidFill>
                <a:latin typeface="Verdana"/>
                <a:cs typeface="Verdana"/>
              </a:rPr>
              <a:t>conectan</a:t>
            </a:r>
            <a:r>
              <a:rPr dirty="0" sz="1400" spc="-23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6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400" spc="-23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55">
                <a:solidFill>
                  <a:srgbClr val="262424"/>
                </a:solidFill>
                <a:latin typeface="Verdana"/>
                <a:cs typeface="Verdana"/>
              </a:rPr>
              <a:t>se</a:t>
            </a:r>
            <a:r>
              <a:rPr dirty="0" sz="1400" spc="-23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262424"/>
                </a:solidFill>
                <a:latin typeface="Verdana"/>
                <a:cs typeface="Verdana"/>
              </a:rPr>
              <a:t>controlan</a:t>
            </a:r>
            <a:r>
              <a:rPr dirty="0" sz="1400" spc="-23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62424"/>
                </a:solidFill>
                <a:latin typeface="Verdana"/>
                <a:cs typeface="Verdana"/>
              </a:rPr>
              <a:t>de</a:t>
            </a:r>
            <a:r>
              <a:rPr dirty="0" sz="1400" spc="-23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Verdana"/>
                <a:cs typeface="Verdana"/>
              </a:rPr>
              <a:t>forma </a:t>
            </a:r>
            <a:r>
              <a:rPr dirty="0" sz="1400" spc="-165">
                <a:solidFill>
                  <a:srgbClr val="262424"/>
                </a:solidFill>
                <a:latin typeface="Verdana"/>
                <a:cs typeface="Verdana"/>
              </a:rPr>
              <a:t>remota,</a:t>
            </a:r>
            <a:r>
              <a:rPr dirty="0" sz="1400" spc="-2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50">
                <a:solidFill>
                  <a:srgbClr val="262424"/>
                </a:solidFill>
                <a:latin typeface="Verdana"/>
                <a:cs typeface="Verdana"/>
              </a:rPr>
              <a:t>mejorando</a:t>
            </a:r>
            <a:r>
              <a:rPr dirty="0" sz="1400" spc="-2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62424"/>
                </a:solidFill>
                <a:latin typeface="Verdana"/>
                <a:cs typeface="Verdana"/>
              </a:rPr>
              <a:t>la</a:t>
            </a:r>
            <a:r>
              <a:rPr dirty="0" sz="1400" spc="-2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62424"/>
                </a:solidFill>
                <a:latin typeface="Verdana"/>
                <a:cs typeface="Verdana"/>
              </a:rPr>
              <a:t>eficiencia</a:t>
            </a:r>
            <a:r>
              <a:rPr dirty="0" sz="1400" spc="-2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0">
                <a:solidFill>
                  <a:srgbClr val="262424"/>
                </a:solidFill>
                <a:latin typeface="Verdana"/>
                <a:cs typeface="Verdana"/>
              </a:rPr>
              <a:t>energética </a:t>
            </a:r>
            <a:r>
              <a:rPr dirty="0" sz="1400" spc="-16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400" spc="-25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62424"/>
                </a:solidFill>
                <a:latin typeface="Verdana"/>
                <a:cs typeface="Verdana"/>
              </a:rPr>
              <a:t>la</a:t>
            </a:r>
            <a:r>
              <a:rPr dirty="0" sz="1400" spc="-2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Verdana"/>
                <a:cs typeface="Verdana"/>
              </a:rPr>
              <a:t>comodidad.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66984" y="2640012"/>
            <a:ext cx="3096895" cy="1619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latin typeface="Cambria"/>
                <a:cs typeface="Cambria"/>
              </a:rPr>
              <a:t>Soluciones</a:t>
            </a:r>
            <a:r>
              <a:rPr dirty="0" sz="1650" spc="-40" b="1">
                <a:latin typeface="Cambria"/>
                <a:cs typeface="Cambria"/>
              </a:rPr>
              <a:t> </a:t>
            </a:r>
            <a:r>
              <a:rPr dirty="0" sz="1650" spc="-10" b="1">
                <a:latin typeface="Cambria"/>
                <a:cs typeface="Cambria"/>
              </a:rPr>
              <a:t>Industriales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400"/>
              </a:lnSpc>
              <a:spcBef>
                <a:spcPts val="1425"/>
              </a:spcBef>
            </a:pPr>
            <a:r>
              <a:rPr dirty="0" sz="1400" spc="-165">
                <a:solidFill>
                  <a:srgbClr val="262424"/>
                </a:solidFill>
                <a:latin typeface="Verdana"/>
                <a:cs typeface="Verdana"/>
              </a:rPr>
              <a:t>Sensores</a:t>
            </a:r>
            <a:r>
              <a:rPr dirty="0" sz="1400" spc="-2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6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400" spc="-2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55">
                <a:solidFill>
                  <a:srgbClr val="262424"/>
                </a:solidFill>
                <a:latin typeface="Verdana"/>
                <a:cs typeface="Verdana"/>
              </a:rPr>
              <a:t>sistemas</a:t>
            </a:r>
            <a:r>
              <a:rPr dirty="0" sz="1400" spc="-2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62424"/>
                </a:solidFill>
                <a:latin typeface="Verdana"/>
                <a:cs typeface="Verdana"/>
              </a:rPr>
              <a:t>de</a:t>
            </a:r>
            <a:r>
              <a:rPr dirty="0" sz="1400" spc="-2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62424"/>
                </a:solidFill>
                <a:latin typeface="Verdana"/>
                <a:cs typeface="Verdana"/>
              </a:rPr>
              <a:t>monitoreo</a:t>
            </a:r>
            <a:r>
              <a:rPr dirty="0" sz="1400" spc="-2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Verdana"/>
                <a:cs typeface="Verdana"/>
              </a:rPr>
              <a:t>en </a:t>
            </a:r>
            <a:r>
              <a:rPr dirty="0" sz="1400" spc="-130">
                <a:solidFill>
                  <a:srgbClr val="262424"/>
                </a:solidFill>
                <a:latin typeface="Verdana"/>
                <a:cs typeface="Verdana"/>
              </a:rPr>
              <a:t>tiempo</a:t>
            </a:r>
            <a:r>
              <a:rPr dirty="0" sz="1400" spc="-2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62424"/>
                </a:solidFill>
                <a:latin typeface="Verdana"/>
                <a:cs typeface="Verdana"/>
              </a:rPr>
              <a:t>real</a:t>
            </a:r>
            <a:r>
              <a:rPr dirty="0" sz="1400" spc="-2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40">
                <a:solidFill>
                  <a:srgbClr val="262424"/>
                </a:solidFill>
                <a:latin typeface="Verdana"/>
                <a:cs typeface="Verdana"/>
              </a:rPr>
              <a:t>que</a:t>
            </a:r>
            <a:r>
              <a:rPr dirty="0" sz="1400" spc="-2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62424"/>
                </a:solidFill>
                <a:latin typeface="Verdana"/>
                <a:cs typeface="Verdana"/>
              </a:rPr>
              <a:t>optimizan</a:t>
            </a:r>
            <a:r>
              <a:rPr dirty="0" sz="1400" spc="-2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Verdana"/>
                <a:cs typeface="Verdana"/>
              </a:rPr>
              <a:t>procesos, </a:t>
            </a:r>
            <a:r>
              <a:rPr dirty="0" sz="1400" spc="-150">
                <a:solidFill>
                  <a:srgbClr val="262424"/>
                </a:solidFill>
                <a:latin typeface="Verdana"/>
                <a:cs typeface="Verdana"/>
              </a:rPr>
              <a:t>reducen</a:t>
            </a:r>
            <a:r>
              <a:rPr dirty="0" sz="1400" spc="-2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40">
                <a:solidFill>
                  <a:srgbClr val="262424"/>
                </a:solidFill>
                <a:latin typeface="Verdana"/>
                <a:cs typeface="Verdana"/>
              </a:rPr>
              <a:t>costos</a:t>
            </a:r>
            <a:r>
              <a:rPr dirty="0" sz="1400" spc="-2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6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400" spc="-2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60">
                <a:solidFill>
                  <a:srgbClr val="262424"/>
                </a:solidFill>
                <a:latin typeface="Verdana"/>
                <a:cs typeface="Verdana"/>
              </a:rPr>
              <a:t>mejoran</a:t>
            </a:r>
            <a:r>
              <a:rPr dirty="0" sz="1400" spc="-2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62424"/>
                </a:solidFill>
                <a:latin typeface="Verdana"/>
                <a:cs typeface="Verdana"/>
              </a:rPr>
              <a:t>la</a:t>
            </a:r>
            <a:r>
              <a:rPr dirty="0" sz="1400" spc="-2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62424"/>
                </a:solidFill>
                <a:latin typeface="Verdana"/>
                <a:cs typeface="Verdana"/>
              </a:rPr>
              <a:t>productividad </a:t>
            </a:r>
            <a:r>
              <a:rPr dirty="0" sz="1400" spc="-145">
                <a:solidFill>
                  <a:srgbClr val="262424"/>
                </a:solidFill>
                <a:latin typeface="Verdana"/>
                <a:cs typeface="Verdana"/>
              </a:rPr>
              <a:t>en</a:t>
            </a:r>
            <a:r>
              <a:rPr dirty="0" sz="1400" spc="-23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62424"/>
                </a:solidFill>
                <a:latin typeface="Verdana"/>
                <a:cs typeface="Verdana"/>
              </a:rPr>
              <a:t>entornos</a:t>
            </a:r>
            <a:r>
              <a:rPr dirty="0" sz="1400" spc="-229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62424"/>
                </a:solidFill>
                <a:latin typeface="Verdana"/>
                <a:cs typeface="Verdana"/>
              </a:rPr>
              <a:t>industriales.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709103" y="2640012"/>
            <a:ext cx="3069590" cy="1619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latin typeface="Cambria"/>
                <a:cs typeface="Cambria"/>
              </a:rPr>
              <a:t>Ciudades</a:t>
            </a:r>
            <a:r>
              <a:rPr dirty="0" sz="1650" spc="-50" b="1">
                <a:latin typeface="Cambria"/>
                <a:cs typeface="Cambria"/>
              </a:rPr>
              <a:t> </a:t>
            </a:r>
            <a:r>
              <a:rPr dirty="0" sz="1650" spc="-10" b="1">
                <a:latin typeface="Cambria"/>
                <a:cs typeface="Cambria"/>
              </a:rPr>
              <a:t>Inteligentes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400"/>
              </a:lnSpc>
              <a:spcBef>
                <a:spcPts val="1425"/>
              </a:spcBef>
            </a:pPr>
            <a:r>
              <a:rPr dirty="0" sz="1400" spc="-155">
                <a:solidFill>
                  <a:srgbClr val="262424"/>
                </a:solidFill>
                <a:latin typeface="Verdana"/>
                <a:cs typeface="Verdana"/>
              </a:rPr>
              <a:t>Infraestructura</a:t>
            </a:r>
            <a:r>
              <a:rPr dirty="0" sz="1400" spc="-2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85">
                <a:solidFill>
                  <a:srgbClr val="262424"/>
                </a:solidFill>
                <a:latin typeface="Verdana"/>
                <a:cs typeface="Verdana"/>
              </a:rPr>
              <a:t>IoT</a:t>
            </a:r>
            <a:r>
              <a:rPr dirty="0" sz="1400" spc="-2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40">
                <a:solidFill>
                  <a:srgbClr val="262424"/>
                </a:solidFill>
                <a:latin typeface="Verdana"/>
                <a:cs typeface="Verdana"/>
              </a:rPr>
              <a:t>que</a:t>
            </a:r>
            <a:r>
              <a:rPr dirty="0" sz="1400" spc="-1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45">
                <a:solidFill>
                  <a:srgbClr val="262424"/>
                </a:solidFill>
                <a:latin typeface="Verdana"/>
                <a:cs typeface="Verdana"/>
              </a:rPr>
              <a:t>gestiona</a:t>
            </a:r>
            <a:r>
              <a:rPr dirty="0" sz="1400" spc="-2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Verdana"/>
                <a:cs typeface="Verdana"/>
              </a:rPr>
              <a:t>de </a:t>
            </a:r>
            <a:r>
              <a:rPr dirty="0" sz="1400" spc="-165">
                <a:solidFill>
                  <a:srgbClr val="262424"/>
                </a:solidFill>
                <a:latin typeface="Verdana"/>
                <a:cs typeface="Verdana"/>
              </a:rPr>
              <a:t>manera</a:t>
            </a:r>
            <a:r>
              <a:rPr dirty="0" sz="1400" spc="-2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262424"/>
                </a:solidFill>
                <a:latin typeface="Verdana"/>
                <a:cs typeface="Verdana"/>
              </a:rPr>
              <a:t>eficiente</a:t>
            </a:r>
            <a:r>
              <a:rPr dirty="0" sz="1400" spc="-2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62424"/>
                </a:solidFill>
                <a:latin typeface="Verdana"/>
                <a:cs typeface="Verdana"/>
              </a:rPr>
              <a:t>los</a:t>
            </a:r>
            <a:r>
              <a:rPr dirty="0" sz="1400" spc="-2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45">
                <a:solidFill>
                  <a:srgbClr val="262424"/>
                </a:solidFill>
                <a:latin typeface="Verdana"/>
                <a:cs typeface="Verdana"/>
              </a:rPr>
              <a:t>recursos</a:t>
            </a:r>
            <a:r>
              <a:rPr dirty="0" sz="1400" spc="-2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Verdana"/>
                <a:cs typeface="Verdana"/>
              </a:rPr>
              <a:t>públicos, </a:t>
            </a:r>
            <a:r>
              <a:rPr dirty="0" sz="1400" spc="-165">
                <a:solidFill>
                  <a:srgbClr val="262424"/>
                </a:solidFill>
                <a:latin typeface="Verdana"/>
                <a:cs typeface="Verdana"/>
              </a:rPr>
              <a:t>mejora</a:t>
            </a:r>
            <a:r>
              <a:rPr dirty="0" sz="1400" spc="-229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62424"/>
                </a:solidFill>
                <a:latin typeface="Verdana"/>
                <a:cs typeface="Verdana"/>
              </a:rPr>
              <a:t>los</a:t>
            </a:r>
            <a:r>
              <a:rPr dirty="0" sz="1400" spc="-2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0">
                <a:solidFill>
                  <a:srgbClr val="262424"/>
                </a:solidFill>
                <a:latin typeface="Verdana"/>
                <a:cs typeface="Verdana"/>
              </a:rPr>
              <a:t>servicios</a:t>
            </a:r>
            <a:r>
              <a:rPr dirty="0" sz="1400" spc="-2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6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400" spc="-2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62424"/>
                </a:solidFill>
                <a:latin typeface="Verdana"/>
                <a:cs typeface="Verdana"/>
              </a:rPr>
              <a:t>la</a:t>
            </a:r>
            <a:r>
              <a:rPr dirty="0" sz="1400" spc="-2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62424"/>
                </a:solidFill>
                <a:latin typeface="Verdana"/>
                <a:cs typeface="Verdana"/>
              </a:rPr>
              <a:t>calidad</a:t>
            </a:r>
            <a:r>
              <a:rPr dirty="0" sz="1400" spc="-2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62424"/>
                </a:solidFill>
                <a:latin typeface="Verdana"/>
                <a:cs typeface="Verdana"/>
              </a:rPr>
              <a:t>de</a:t>
            </a:r>
            <a:r>
              <a:rPr dirty="0" sz="1400" spc="-2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130">
                <a:solidFill>
                  <a:srgbClr val="262424"/>
                </a:solidFill>
                <a:latin typeface="Verdana"/>
                <a:cs typeface="Verdana"/>
              </a:rPr>
              <a:t>vida</a:t>
            </a:r>
            <a:r>
              <a:rPr dirty="0" sz="1400" spc="-2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Verdana"/>
                <a:cs typeface="Verdana"/>
              </a:rPr>
              <a:t>de </a:t>
            </a:r>
            <a:r>
              <a:rPr dirty="0" sz="1400" spc="-105">
                <a:solidFill>
                  <a:srgbClr val="262424"/>
                </a:solidFill>
                <a:latin typeface="Verdana"/>
                <a:cs typeface="Verdana"/>
              </a:rPr>
              <a:t>los</a:t>
            </a:r>
            <a:r>
              <a:rPr dirty="0" sz="1400" spc="-2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Verdana"/>
                <a:cs typeface="Verdana"/>
              </a:rPr>
              <a:t>ciudadanos.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6" name="object 6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879" y="2730500"/>
            <a:ext cx="954595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35"/>
              <a:t>Nichos</a:t>
            </a:r>
            <a:r>
              <a:rPr dirty="0" spc="-120"/>
              <a:t> </a:t>
            </a:r>
            <a:r>
              <a:rPr dirty="0" spc="-95"/>
              <a:t>de</a:t>
            </a:r>
            <a:r>
              <a:rPr dirty="0" spc="-114"/>
              <a:t> </a:t>
            </a:r>
            <a:r>
              <a:rPr dirty="0" spc="-80"/>
              <a:t>mercado</a:t>
            </a:r>
            <a:r>
              <a:rPr dirty="0" spc="-114"/>
              <a:t> </a:t>
            </a:r>
            <a:r>
              <a:rPr dirty="0" spc="-105"/>
              <a:t>emergentes</a:t>
            </a:r>
            <a:r>
              <a:rPr dirty="0" spc="-114"/>
              <a:t> </a:t>
            </a:r>
            <a:r>
              <a:rPr dirty="0" spc="-45"/>
              <a:t>en</a:t>
            </a:r>
            <a:r>
              <a:rPr dirty="0" spc="-114"/>
              <a:t> </a:t>
            </a:r>
            <a:r>
              <a:rPr dirty="0" spc="-85"/>
              <a:t>el</a:t>
            </a:r>
            <a:r>
              <a:rPr dirty="0" spc="-114"/>
              <a:t> </a:t>
            </a:r>
            <a:r>
              <a:rPr dirty="0" spc="-90"/>
              <a:t>ecosistema</a:t>
            </a:r>
            <a:r>
              <a:rPr dirty="0" spc="-114"/>
              <a:t> </a:t>
            </a:r>
            <a:r>
              <a:rPr dirty="0" spc="-25"/>
              <a:t>de IoT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38175" y="4124325"/>
            <a:ext cx="4981575" cy="1638300"/>
            <a:chOff x="638175" y="4124325"/>
            <a:chExt cx="4981575" cy="1638300"/>
          </a:xfrm>
        </p:grpSpPr>
        <p:sp>
          <p:nvSpPr>
            <p:cNvPr id="4" name="object 4" descr=""/>
            <p:cNvSpPr/>
            <p:nvPr/>
          </p:nvSpPr>
          <p:spPr>
            <a:xfrm>
              <a:off x="642937" y="4129087"/>
              <a:ext cx="4972050" cy="1628775"/>
            </a:xfrm>
            <a:custGeom>
              <a:avLst/>
              <a:gdLst/>
              <a:ahLst/>
              <a:cxnLst/>
              <a:rect l="l" t="t" r="r" b="b"/>
              <a:pathLst>
                <a:path w="4972050" h="1628775">
                  <a:moveTo>
                    <a:pt x="4916932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1569783"/>
                  </a:lnTo>
                  <a:lnTo>
                    <a:pt x="0" y="1573657"/>
                  </a:lnTo>
                  <a:lnTo>
                    <a:pt x="20017" y="1614233"/>
                  </a:lnTo>
                  <a:lnTo>
                    <a:pt x="55120" y="1628775"/>
                  </a:lnTo>
                  <a:lnTo>
                    <a:pt x="4916932" y="1628775"/>
                  </a:lnTo>
                  <a:lnTo>
                    <a:pt x="4957508" y="1608759"/>
                  </a:lnTo>
                  <a:lnTo>
                    <a:pt x="4972050" y="1573657"/>
                  </a:lnTo>
                  <a:lnTo>
                    <a:pt x="4972050" y="55118"/>
                  </a:lnTo>
                  <a:lnTo>
                    <a:pt x="4952034" y="14541"/>
                  </a:lnTo>
                  <a:lnTo>
                    <a:pt x="4920767" y="381"/>
                  </a:lnTo>
                  <a:lnTo>
                    <a:pt x="4916932" y="0"/>
                  </a:lnTo>
                  <a:close/>
                </a:path>
              </a:pathLst>
            </a:custGeom>
            <a:solidFill>
              <a:srgbClr val="F0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42937" y="4129087"/>
              <a:ext cx="4972050" cy="1628775"/>
            </a:xfrm>
            <a:custGeom>
              <a:avLst/>
              <a:gdLst/>
              <a:ahLst/>
              <a:cxnLst/>
              <a:rect l="l" t="t" r="r" b="b"/>
              <a:pathLst>
                <a:path w="4972050" h="1628775">
                  <a:moveTo>
                    <a:pt x="0" y="1569783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4913058" y="0"/>
                  </a:lnTo>
                  <a:lnTo>
                    <a:pt x="4916932" y="0"/>
                  </a:lnTo>
                  <a:lnTo>
                    <a:pt x="4920767" y="381"/>
                  </a:lnTo>
                  <a:lnTo>
                    <a:pt x="4924564" y="1130"/>
                  </a:lnTo>
                  <a:lnTo>
                    <a:pt x="4928362" y="1892"/>
                  </a:lnTo>
                  <a:lnTo>
                    <a:pt x="4932045" y="3009"/>
                  </a:lnTo>
                  <a:lnTo>
                    <a:pt x="4935626" y="4495"/>
                  </a:lnTo>
                  <a:lnTo>
                    <a:pt x="4939207" y="5969"/>
                  </a:lnTo>
                  <a:lnTo>
                    <a:pt x="4942611" y="7785"/>
                  </a:lnTo>
                  <a:lnTo>
                    <a:pt x="4945837" y="9944"/>
                  </a:lnTo>
                  <a:lnTo>
                    <a:pt x="4949050" y="12090"/>
                  </a:lnTo>
                  <a:lnTo>
                    <a:pt x="4952034" y="14541"/>
                  </a:lnTo>
                  <a:lnTo>
                    <a:pt x="4954765" y="17284"/>
                  </a:lnTo>
                  <a:lnTo>
                    <a:pt x="4957508" y="20015"/>
                  </a:lnTo>
                  <a:lnTo>
                    <a:pt x="4959959" y="22999"/>
                  </a:lnTo>
                  <a:lnTo>
                    <a:pt x="4962105" y="26212"/>
                  </a:lnTo>
                  <a:lnTo>
                    <a:pt x="4964264" y="29438"/>
                  </a:lnTo>
                  <a:lnTo>
                    <a:pt x="4966081" y="32842"/>
                  </a:lnTo>
                  <a:lnTo>
                    <a:pt x="4967554" y="36423"/>
                  </a:lnTo>
                  <a:lnTo>
                    <a:pt x="4969040" y="39992"/>
                  </a:lnTo>
                  <a:lnTo>
                    <a:pt x="4970157" y="43688"/>
                  </a:lnTo>
                  <a:lnTo>
                    <a:pt x="4970919" y="47485"/>
                  </a:lnTo>
                  <a:lnTo>
                    <a:pt x="4971669" y="51282"/>
                  </a:lnTo>
                  <a:lnTo>
                    <a:pt x="4972050" y="55118"/>
                  </a:lnTo>
                  <a:lnTo>
                    <a:pt x="4972050" y="58991"/>
                  </a:lnTo>
                  <a:lnTo>
                    <a:pt x="4972050" y="1569783"/>
                  </a:lnTo>
                  <a:lnTo>
                    <a:pt x="4972050" y="1573657"/>
                  </a:lnTo>
                  <a:lnTo>
                    <a:pt x="4971669" y="1577492"/>
                  </a:lnTo>
                  <a:lnTo>
                    <a:pt x="4970919" y="1581289"/>
                  </a:lnTo>
                  <a:lnTo>
                    <a:pt x="4970157" y="1585087"/>
                  </a:lnTo>
                  <a:lnTo>
                    <a:pt x="4969040" y="1588770"/>
                  </a:lnTo>
                  <a:lnTo>
                    <a:pt x="4967554" y="1592351"/>
                  </a:lnTo>
                  <a:lnTo>
                    <a:pt x="4966081" y="1595932"/>
                  </a:lnTo>
                  <a:lnTo>
                    <a:pt x="4964264" y="1599336"/>
                  </a:lnTo>
                  <a:lnTo>
                    <a:pt x="4962105" y="1602562"/>
                  </a:lnTo>
                  <a:lnTo>
                    <a:pt x="4959959" y="1605775"/>
                  </a:lnTo>
                  <a:lnTo>
                    <a:pt x="4957508" y="1608759"/>
                  </a:lnTo>
                  <a:lnTo>
                    <a:pt x="4954765" y="1611490"/>
                  </a:lnTo>
                  <a:lnTo>
                    <a:pt x="4952034" y="1614233"/>
                  </a:lnTo>
                  <a:lnTo>
                    <a:pt x="4935626" y="1624279"/>
                  </a:lnTo>
                  <a:lnTo>
                    <a:pt x="4932045" y="1625765"/>
                  </a:lnTo>
                  <a:lnTo>
                    <a:pt x="4928362" y="1626882"/>
                  </a:lnTo>
                  <a:lnTo>
                    <a:pt x="4924564" y="1627644"/>
                  </a:lnTo>
                  <a:lnTo>
                    <a:pt x="4920767" y="1628394"/>
                  </a:lnTo>
                  <a:lnTo>
                    <a:pt x="4916932" y="1628775"/>
                  </a:lnTo>
                  <a:lnTo>
                    <a:pt x="4913058" y="1628775"/>
                  </a:lnTo>
                  <a:lnTo>
                    <a:pt x="58995" y="1628775"/>
                  </a:lnTo>
                  <a:lnTo>
                    <a:pt x="55120" y="1628775"/>
                  </a:lnTo>
                  <a:lnTo>
                    <a:pt x="51286" y="1628394"/>
                  </a:lnTo>
                  <a:lnTo>
                    <a:pt x="47486" y="1627644"/>
                  </a:lnTo>
                  <a:lnTo>
                    <a:pt x="43685" y="1626882"/>
                  </a:lnTo>
                  <a:lnTo>
                    <a:pt x="39999" y="1625765"/>
                  </a:lnTo>
                  <a:lnTo>
                    <a:pt x="36418" y="1624279"/>
                  </a:lnTo>
                  <a:lnTo>
                    <a:pt x="32840" y="1622806"/>
                  </a:lnTo>
                  <a:lnTo>
                    <a:pt x="29438" y="1620977"/>
                  </a:lnTo>
                  <a:lnTo>
                    <a:pt x="26219" y="1618830"/>
                  </a:lnTo>
                  <a:lnTo>
                    <a:pt x="22998" y="1616684"/>
                  </a:lnTo>
                  <a:lnTo>
                    <a:pt x="20017" y="1614233"/>
                  </a:lnTo>
                  <a:lnTo>
                    <a:pt x="17278" y="1611490"/>
                  </a:lnTo>
                  <a:lnTo>
                    <a:pt x="14540" y="1608759"/>
                  </a:lnTo>
                  <a:lnTo>
                    <a:pt x="4489" y="1592351"/>
                  </a:lnTo>
                  <a:lnTo>
                    <a:pt x="3006" y="1588770"/>
                  </a:lnTo>
                  <a:lnTo>
                    <a:pt x="1889" y="1585087"/>
                  </a:lnTo>
                  <a:lnTo>
                    <a:pt x="1131" y="1581289"/>
                  </a:lnTo>
                  <a:lnTo>
                    <a:pt x="377" y="1577492"/>
                  </a:lnTo>
                  <a:lnTo>
                    <a:pt x="0" y="1573657"/>
                  </a:lnTo>
                  <a:lnTo>
                    <a:pt x="0" y="1569783"/>
                  </a:lnTo>
                  <a:close/>
                </a:path>
              </a:pathLst>
            </a:custGeom>
            <a:ln w="9525">
              <a:solidFill>
                <a:srgbClr val="D6B9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16570" y="4278312"/>
            <a:ext cx="4533900" cy="12573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262424"/>
                </a:solidFill>
                <a:latin typeface="Cambria"/>
                <a:cs typeface="Cambria"/>
              </a:rPr>
              <a:t>Salud</a:t>
            </a:r>
            <a:r>
              <a:rPr dirty="0" sz="1650" spc="-65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Cambria"/>
                <a:cs typeface="Cambria"/>
              </a:rPr>
              <a:t>Conectada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6200"/>
              </a:lnSpc>
              <a:spcBef>
                <a:spcPts val="815"/>
              </a:spcBef>
            </a:pP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Dispositivos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médicos</a:t>
            </a:r>
            <a:r>
              <a:rPr dirty="0" sz="1400" spc="-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portátiles</a:t>
            </a:r>
            <a:r>
              <a:rPr dirty="0" sz="1400" spc="-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aplicaciones</a:t>
            </a:r>
            <a:r>
              <a:rPr dirty="0" sz="1400" spc="-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móviles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que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monitorean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salud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bienestar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los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pacientes,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mejorando los</a:t>
            </a:r>
            <a:r>
              <a:rPr dirty="0" sz="1400" spc="-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resultados</a:t>
            </a:r>
            <a:r>
              <a:rPr dirty="0" sz="1400" spc="-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400" spc="-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atención</a:t>
            </a:r>
            <a:r>
              <a:rPr dirty="0" sz="1400" spc="-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médica.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810250" y="4124325"/>
            <a:ext cx="4981575" cy="1638300"/>
            <a:chOff x="5810250" y="4124325"/>
            <a:chExt cx="4981575" cy="1638300"/>
          </a:xfrm>
        </p:grpSpPr>
        <p:sp>
          <p:nvSpPr>
            <p:cNvPr id="8" name="object 8" descr=""/>
            <p:cNvSpPr/>
            <p:nvPr/>
          </p:nvSpPr>
          <p:spPr>
            <a:xfrm>
              <a:off x="5815012" y="4129087"/>
              <a:ext cx="4972050" cy="1628775"/>
            </a:xfrm>
            <a:custGeom>
              <a:avLst/>
              <a:gdLst/>
              <a:ahLst/>
              <a:cxnLst/>
              <a:rect l="l" t="t" r="r" b="b"/>
              <a:pathLst>
                <a:path w="4972050" h="1628775">
                  <a:moveTo>
                    <a:pt x="49169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1569783"/>
                  </a:lnTo>
                  <a:lnTo>
                    <a:pt x="0" y="1573657"/>
                  </a:lnTo>
                  <a:lnTo>
                    <a:pt x="20015" y="1614233"/>
                  </a:lnTo>
                  <a:lnTo>
                    <a:pt x="55118" y="1628775"/>
                  </a:lnTo>
                  <a:lnTo>
                    <a:pt x="4916932" y="1628775"/>
                  </a:lnTo>
                  <a:lnTo>
                    <a:pt x="4957508" y="1608759"/>
                  </a:lnTo>
                  <a:lnTo>
                    <a:pt x="4972050" y="1573657"/>
                  </a:lnTo>
                  <a:lnTo>
                    <a:pt x="4972050" y="55118"/>
                  </a:lnTo>
                  <a:lnTo>
                    <a:pt x="4952034" y="14541"/>
                  </a:lnTo>
                  <a:lnTo>
                    <a:pt x="4920767" y="381"/>
                  </a:lnTo>
                  <a:lnTo>
                    <a:pt x="4916932" y="0"/>
                  </a:lnTo>
                  <a:close/>
                </a:path>
              </a:pathLst>
            </a:custGeom>
            <a:solidFill>
              <a:srgbClr val="F0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15012" y="4129087"/>
              <a:ext cx="4972050" cy="1628775"/>
            </a:xfrm>
            <a:custGeom>
              <a:avLst/>
              <a:gdLst/>
              <a:ahLst/>
              <a:cxnLst/>
              <a:rect l="l" t="t" r="r" b="b"/>
              <a:pathLst>
                <a:path w="4972050" h="1628775">
                  <a:moveTo>
                    <a:pt x="0" y="1569783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12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4913058" y="0"/>
                  </a:lnTo>
                  <a:lnTo>
                    <a:pt x="4916932" y="0"/>
                  </a:lnTo>
                  <a:lnTo>
                    <a:pt x="4920767" y="381"/>
                  </a:lnTo>
                  <a:lnTo>
                    <a:pt x="4924564" y="1130"/>
                  </a:lnTo>
                  <a:lnTo>
                    <a:pt x="4928362" y="1892"/>
                  </a:lnTo>
                  <a:lnTo>
                    <a:pt x="4932045" y="3009"/>
                  </a:lnTo>
                  <a:lnTo>
                    <a:pt x="4935626" y="4495"/>
                  </a:lnTo>
                  <a:lnTo>
                    <a:pt x="4939207" y="5969"/>
                  </a:lnTo>
                  <a:lnTo>
                    <a:pt x="4942611" y="7785"/>
                  </a:lnTo>
                  <a:lnTo>
                    <a:pt x="4945837" y="9944"/>
                  </a:lnTo>
                  <a:lnTo>
                    <a:pt x="4949050" y="12090"/>
                  </a:lnTo>
                  <a:lnTo>
                    <a:pt x="4952034" y="14541"/>
                  </a:lnTo>
                  <a:lnTo>
                    <a:pt x="4954765" y="17284"/>
                  </a:lnTo>
                  <a:lnTo>
                    <a:pt x="4957508" y="20015"/>
                  </a:lnTo>
                  <a:lnTo>
                    <a:pt x="4967554" y="36423"/>
                  </a:lnTo>
                  <a:lnTo>
                    <a:pt x="4969040" y="39992"/>
                  </a:lnTo>
                  <a:lnTo>
                    <a:pt x="4970157" y="43688"/>
                  </a:lnTo>
                  <a:lnTo>
                    <a:pt x="4970919" y="47485"/>
                  </a:lnTo>
                  <a:lnTo>
                    <a:pt x="4971669" y="51282"/>
                  </a:lnTo>
                  <a:lnTo>
                    <a:pt x="4972050" y="55118"/>
                  </a:lnTo>
                  <a:lnTo>
                    <a:pt x="4972050" y="58991"/>
                  </a:lnTo>
                  <a:lnTo>
                    <a:pt x="4972050" y="1569783"/>
                  </a:lnTo>
                  <a:lnTo>
                    <a:pt x="4972050" y="1573657"/>
                  </a:lnTo>
                  <a:lnTo>
                    <a:pt x="4971669" y="1577492"/>
                  </a:lnTo>
                  <a:lnTo>
                    <a:pt x="4970919" y="1581289"/>
                  </a:lnTo>
                  <a:lnTo>
                    <a:pt x="4970157" y="1585087"/>
                  </a:lnTo>
                  <a:lnTo>
                    <a:pt x="4969040" y="1588770"/>
                  </a:lnTo>
                  <a:lnTo>
                    <a:pt x="4967554" y="1592351"/>
                  </a:lnTo>
                  <a:lnTo>
                    <a:pt x="4966081" y="1595932"/>
                  </a:lnTo>
                  <a:lnTo>
                    <a:pt x="4954765" y="1611490"/>
                  </a:lnTo>
                  <a:lnTo>
                    <a:pt x="4952034" y="1614233"/>
                  </a:lnTo>
                  <a:lnTo>
                    <a:pt x="4935626" y="1624279"/>
                  </a:lnTo>
                  <a:lnTo>
                    <a:pt x="4932045" y="1625765"/>
                  </a:lnTo>
                  <a:lnTo>
                    <a:pt x="4928362" y="1626882"/>
                  </a:lnTo>
                  <a:lnTo>
                    <a:pt x="4924564" y="1627644"/>
                  </a:lnTo>
                  <a:lnTo>
                    <a:pt x="4920767" y="1628394"/>
                  </a:lnTo>
                  <a:lnTo>
                    <a:pt x="4916932" y="1628775"/>
                  </a:lnTo>
                  <a:lnTo>
                    <a:pt x="4913058" y="1628775"/>
                  </a:lnTo>
                  <a:lnTo>
                    <a:pt x="58991" y="1628775"/>
                  </a:lnTo>
                  <a:lnTo>
                    <a:pt x="55118" y="1628775"/>
                  </a:lnTo>
                  <a:lnTo>
                    <a:pt x="51282" y="1628394"/>
                  </a:lnTo>
                  <a:lnTo>
                    <a:pt x="47485" y="1627644"/>
                  </a:lnTo>
                  <a:lnTo>
                    <a:pt x="43688" y="1626882"/>
                  </a:lnTo>
                  <a:lnTo>
                    <a:pt x="39992" y="1625765"/>
                  </a:lnTo>
                  <a:lnTo>
                    <a:pt x="36423" y="1624279"/>
                  </a:lnTo>
                  <a:lnTo>
                    <a:pt x="32842" y="1622806"/>
                  </a:lnTo>
                  <a:lnTo>
                    <a:pt x="17284" y="1611490"/>
                  </a:lnTo>
                  <a:lnTo>
                    <a:pt x="14541" y="1608759"/>
                  </a:lnTo>
                  <a:lnTo>
                    <a:pt x="12090" y="1605775"/>
                  </a:lnTo>
                  <a:lnTo>
                    <a:pt x="9944" y="1602562"/>
                  </a:lnTo>
                  <a:lnTo>
                    <a:pt x="7785" y="1599336"/>
                  </a:lnTo>
                  <a:lnTo>
                    <a:pt x="5969" y="1595932"/>
                  </a:lnTo>
                  <a:lnTo>
                    <a:pt x="4495" y="1592351"/>
                  </a:lnTo>
                  <a:lnTo>
                    <a:pt x="3009" y="1588770"/>
                  </a:lnTo>
                  <a:lnTo>
                    <a:pt x="1892" y="1585087"/>
                  </a:lnTo>
                  <a:lnTo>
                    <a:pt x="1130" y="1581289"/>
                  </a:lnTo>
                  <a:lnTo>
                    <a:pt x="381" y="1577492"/>
                  </a:lnTo>
                  <a:lnTo>
                    <a:pt x="0" y="1573657"/>
                  </a:lnTo>
                  <a:lnTo>
                    <a:pt x="0" y="1569783"/>
                  </a:lnTo>
                  <a:close/>
                </a:path>
              </a:pathLst>
            </a:custGeom>
            <a:ln w="9525">
              <a:solidFill>
                <a:srgbClr val="D6B9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5985078" y="4278312"/>
            <a:ext cx="4585970" cy="12573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solidFill>
                  <a:srgbClr val="262424"/>
                </a:solidFill>
                <a:latin typeface="Cambria"/>
                <a:cs typeface="Cambria"/>
              </a:rPr>
              <a:t>Agricultura </a:t>
            </a:r>
            <a:r>
              <a:rPr dirty="0" sz="1650" spc="-20" b="1">
                <a:solidFill>
                  <a:srgbClr val="262424"/>
                </a:solidFill>
                <a:latin typeface="Cambria"/>
                <a:cs typeface="Cambria"/>
              </a:rPr>
              <a:t>de</a:t>
            </a:r>
            <a:r>
              <a:rPr dirty="0" sz="1650" spc="-35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Cambria"/>
                <a:cs typeface="Cambria"/>
              </a:rPr>
              <a:t>Precisión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6200"/>
              </a:lnSpc>
              <a:spcBef>
                <a:spcPts val="815"/>
              </a:spcBef>
            </a:pP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Sensores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sistemas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análisis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datos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que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optimizan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uso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recursos,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reducen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desperdicio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mejoran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los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rendimientos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en</a:t>
            </a:r>
            <a:r>
              <a:rPr dirty="0" sz="1400" spc="-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producción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agrícola.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38175" y="5943600"/>
            <a:ext cx="4981575" cy="1628775"/>
            <a:chOff x="638175" y="5943600"/>
            <a:chExt cx="4981575" cy="1628775"/>
          </a:xfrm>
        </p:grpSpPr>
        <p:sp>
          <p:nvSpPr>
            <p:cNvPr id="12" name="object 12" descr=""/>
            <p:cNvSpPr/>
            <p:nvPr/>
          </p:nvSpPr>
          <p:spPr>
            <a:xfrm>
              <a:off x="642937" y="5948362"/>
              <a:ext cx="4972050" cy="1619250"/>
            </a:xfrm>
            <a:custGeom>
              <a:avLst/>
              <a:gdLst/>
              <a:ahLst/>
              <a:cxnLst/>
              <a:rect l="l" t="t" r="r" b="b"/>
              <a:pathLst>
                <a:path w="4972050" h="1619250">
                  <a:moveTo>
                    <a:pt x="4916932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1560254"/>
                  </a:lnTo>
                  <a:lnTo>
                    <a:pt x="0" y="1564129"/>
                  </a:lnTo>
                  <a:lnTo>
                    <a:pt x="20017" y="1604709"/>
                  </a:lnTo>
                  <a:lnTo>
                    <a:pt x="55120" y="1619250"/>
                  </a:lnTo>
                  <a:lnTo>
                    <a:pt x="4916932" y="1619250"/>
                  </a:lnTo>
                  <a:lnTo>
                    <a:pt x="4957508" y="1599227"/>
                  </a:lnTo>
                  <a:lnTo>
                    <a:pt x="4972050" y="1564129"/>
                  </a:lnTo>
                  <a:lnTo>
                    <a:pt x="4972050" y="55118"/>
                  </a:lnTo>
                  <a:lnTo>
                    <a:pt x="4952034" y="14541"/>
                  </a:lnTo>
                  <a:lnTo>
                    <a:pt x="4920767" y="381"/>
                  </a:lnTo>
                  <a:lnTo>
                    <a:pt x="4916932" y="0"/>
                  </a:lnTo>
                  <a:close/>
                </a:path>
              </a:pathLst>
            </a:custGeom>
            <a:solidFill>
              <a:srgbClr val="F0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42937" y="5948362"/>
              <a:ext cx="4972050" cy="1619250"/>
            </a:xfrm>
            <a:custGeom>
              <a:avLst/>
              <a:gdLst/>
              <a:ahLst/>
              <a:cxnLst/>
              <a:rect l="l" t="t" r="r" b="b"/>
              <a:pathLst>
                <a:path w="4972050" h="1619250">
                  <a:moveTo>
                    <a:pt x="0" y="1560254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4913058" y="0"/>
                  </a:lnTo>
                  <a:lnTo>
                    <a:pt x="4916932" y="0"/>
                  </a:lnTo>
                  <a:lnTo>
                    <a:pt x="4920767" y="381"/>
                  </a:lnTo>
                  <a:lnTo>
                    <a:pt x="4924564" y="1130"/>
                  </a:lnTo>
                  <a:lnTo>
                    <a:pt x="4928362" y="1892"/>
                  </a:lnTo>
                  <a:lnTo>
                    <a:pt x="4932045" y="3009"/>
                  </a:lnTo>
                  <a:lnTo>
                    <a:pt x="4935626" y="4495"/>
                  </a:lnTo>
                  <a:lnTo>
                    <a:pt x="4939207" y="5969"/>
                  </a:lnTo>
                  <a:lnTo>
                    <a:pt x="4942611" y="7785"/>
                  </a:lnTo>
                  <a:lnTo>
                    <a:pt x="4945837" y="9944"/>
                  </a:lnTo>
                  <a:lnTo>
                    <a:pt x="4949050" y="12090"/>
                  </a:lnTo>
                  <a:lnTo>
                    <a:pt x="4952034" y="14541"/>
                  </a:lnTo>
                  <a:lnTo>
                    <a:pt x="4954765" y="17284"/>
                  </a:lnTo>
                  <a:lnTo>
                    <a:pt x="4957508" y="20015"/>
                  </a:lnTo>
                  <a:lnTo>
                    <a:pt x="4959959" y="22999"/>
                  </a:lnTo>
                  <a:lnTo>
                    <a:pt x="4962105" y="26212"/>
                  </a:lnTo>
                  <a:lnTo>
                    <a:pt x="4964264" y="29438"/>
                  </a:lnTo>
                  <a:lnTo>
                    <a:pt x="4966081" y="32842"/>
                  </a:lnTo>
                  <a:lnTo>
                    <a:pt x="4967554" y="36423"/>
                  </a:lnTo>
                  <a:lnTo>
                    <a:pt x="4969040" y="39992"/>
                  </a:lnTo>
                  <a:lnTo>
                    <a:pt x="4970157" y="43688"/>
                  </a:lnTo>
                  <a:lnTo>
                    <a:pt x="4970919" y="47485"/>
                  </a:lnTo>
                  <a:lnTo>
                    <a:pt x="4971669" y="51282"/>
                  </a:lnTo>
                  <a:lnTo>
                    <a:pt x="4972050" y="55118"/>
                  </a:lnTo>
                  <a:lnTo>
                    <a:pt x="4972050" y="58991"/>
                  </a:lnTo>
                  <a:lnTo>
                    <a:pt x="4972050" y="1560254"/>
                  </a:lnTo>
                  <a:lnTo>
                    <a:pt x="4972050" y="1564129"/>
                  </a:lnTo>
                  <a:lnTo>
                    <a:pt x="4971669" y="1567963"/>
                  </a:lnTo>
                  <a:lnTo>
                    <a:pt x="4970919" y="1571763"/>
                  </a:lnTo>
                  <a:lnTo>
                    <a:pt x="4970157" y="1575564"/>
                  </a:lnTo>
                  <a:lnTo>
                    <a:pt x="4969040" y="1579250"/>
                  </a:lnTo>
                  <a:lnTo>
                    <a:pt x="4967554" y="1582831"/>
                  </a:lnTo>
                  <a:lnTo>
                    <a:pt x="4966081" y="1586409"/>
                  </a:lnTo>
                  <a:lnTo>
                    <a:pt x="4964264" y="1589806"/>
                  </a:lnTo>
                  <a:lnTo>
                    <a:pt x="4962105" y="1593027"/>
                  </a:lnTo>
                  <a:lnTo>
                    <a:pt x="4959959" y="1596251"/>
                  </a:lnTo>
                  <a:lnTo>
                    <a:pt x="4957508" y="1599227"/>
                  </a:lnTo>
                  <a:lnTo>
                    <a:pt x="4954765" y="1601971"/>
                  </a:lnTo>
                  <a:lnTo>
                    <a:pt x="4952034" y="1604709"/>
                  </a:lnTo>
                  <a:lnTo>
                    <a:pt x="4935626" y="1614755"/>
                  </a:lnTo>
                  <a:lnTo>
                    <a:pt x="4932045" y="1616238"/>
                  </a:lnTo>
                  <a:lnTo>
                    <a:pt x="4928362" y="1617360"/>
                  </a:lnTo>
                  <a:lnTo>
                    <a:pt x="4924564" y="1618113"/>
                  </a:lnTo>
                  <a:lnTo>
                    <a:pt x="4920767" y="1618872"/>
                  </a:lnTo>
                  <a:lnTo>
                    <a:pt x="4916932" y="1619250"/>
                  </a:lnTo>
                  <a:lnTo>
                    <a:pt x="4913058" y="1619250"/>
                  </a:lnTo>
                  <a:lnTo>
                    <a:pt x="58995" y="1619250"/>
                  </a:lnTo>
                  <a:lnTo>
                    <a:pt x="55120" y="1619250"/>
                  </a:lnTo>
                  <a:lnTo>
                    <a:pt x="51286" y="1618872"/>
                  </a:lnTo>
                  <a:lnTo>
                    <a:pt x="47486" y="1618113"/>
                  </a:lnTo>
                  <a:lnTo>
                    <a:pt x="43685" y="1617360"/>
                  </a:lnTo>
                  <a:lnTo>
                    <a:pt x="39999" y="1616238"/>
                  </a:lnTo>
                  <a:lnTo>
                    <a:pt x="36418" y="1614755"/>
                  </a:lnTo>
                  <a:lnTo>
                    <a:pt x="32840" y="1613277"/>
                  </a:lnTo>
                  <a:lnTo>
                    <a:pt x="29438" y="1611456"/>
                  </a:lnTo>
                  <a:lnTo>
                    <a:pt x="26219" y="1609303"/>
                  </a:lnTo>
                  <a:lnTo>
                    <a:pt x="22998" y="1607155"/>
                  </a:lnTo>
                  <a:lnTo>
                    <a:pt x="9941" y="1593027"/>
                  </a:lnTo>
                  <a:lnTo>
                    <a:pt x="7788" y="1589806"/>
                  </a:lnTo>
                  <a:lnTo>
                    <a:pt x="0" y="1564129"/>
                  </a:lnTo>
                  <a:lnTo>
                    <a:pt x="0" y="1560254"/>
                  </a:lnTo>
                  <a:close/>
                </a:path>
              </a:pathLst>
            </a:custGeom>
            <a:ln w="9525">
              <a:solidFill>
                <a:srgbClr val="D6B9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816570" y="6097587"/>
            <a:ext cx="4530725" cy="12573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solidFill>
                  <a:srgbClr val="262424"/>
                </a:solidFill>
                <a:latin typeface="Cambria"/>
                <a:cs typeface="Cambria"/>
              </a:rPr>
              <a:t>Movilidad </a:t>
            </a:r>
            <a:r>
              <a:rPr dirty="0" sz="1650" spc="-10" b="1">
                <a:solidFill>
                  <a:srgbClr val="262424"/>
                </a:solidFill>
                <a:latin typeface="Cambria"/>
                <a:cs typeface="Cambria"/>
              </a:rPr>
              <a:t>Inteligente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8400"/>
              </a:lnSpc>
              <a:spcBef>
                <a:spcPts val="700"/>
              </a:spcBef>
            </a:pP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Vehículos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conectados,</a:t>
            </a:r>
            <a:r>
              <a:rPr dirty="0" sz="1400" spc="-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sistemas</a:t>
            </a:r>
            <a:r>
              <a:rPr dirty="0" sz="1400" spc="-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transporte</a:t>
            </a:r>
            <a:r>
              <a:rPr dirty="0" sz="1400" spc="-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público</a:t>
            </a:r>
            <a:r>
              <a:rPr dirty="0" sz="1400" spc="-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y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soluciones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logística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que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mejoran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eficiencia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seguridad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en</a:t>
            </a:r>
            <a:r>
              <a:rPr dirty="0" sz="1400" spc="-1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dirty="0" sz="1400" spc="-1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desplazamiento.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810250" y="5943600"/>
            <a:ext cx="4981575" cy="1628775"/>
            <a:chOff x="5810250" y="5943600"/>
            <a:chExt cx="4981575" cy="1628775"/>
          </a:xfrm>
        </p:grpSpPr>
        <p:sp>
          <p:nvSpPr>
            <p:cNvPr id="16" name="object 16" descr=""/>
            <p:cNvSpPr/>
            <p:nvPr/>
          </p:nvSpPr>
          <p:spPr>
            <a:xfrm>
              <a:off x="5815012" y="5948362"/>
              <a:ext cx="4972050" cy="1619250"/>
            </a:xfrm>
            <a:custGeom>
              <a:avLst/>
              <a:gdLst/>
              <a:ahLst/>
              <a:cxnLst/>
              <a:rect l="l" t="t" r="r" b="b"/>
              <a:pathLst>
                <a:path w="4972050" h="1619250">
                  <a:moveTo>
                    <a:pt x="49169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1560254"/>
                  </a:lnTo>
                  <a:lnTo>
                    <a:pt x="0" y="1564129"/>
                  </a:lnTo>
                  <a:lnTo>
                    <a:pt x="20015" y="1604709"/>
                  </a:lnTo>
                  <a:lnTo>
                    <a:pt x="55118" y="1619250"/>
                  </a:lnTo>
                  <a:lnTo>
                    <a:pt x="4916932" y="1619250"/>
                  </a:lnTo>
                  <a:lnTo>
                    <a:pt x="4957508" y="1599227"/>
                  </a:lnTo>
                  <a:lnTo>
                    <a:pt x="4972050" y="1564129"/>
                  </a:lnTo>
                  <a:lnTo>
                    <a:pt x="4972050" y="55118"/>
                  </a:lnTo>
                  <a:lnTo>
                    <a:pt x="4952034" y="14541"/>
                  </a:lnTo>
                  <a:lnTo>
                    <a:pt x="4920767" y="381"/>
                  </a:lnTo>
                  <a:lnTo>
                    <a:pt x="4916932" y="0"/>
                  </a:lnTo>
                  <a:close/>
                </a:path>
              </a:pathLst>
            </a:custGeom>
            <a:solidFill>
              <a:srgbClr val="F0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815012" y="5948362"/>
              <a:ext cx="4972050" cy="1619250"/>
            </a:xfrm>
            <a:custGeom>
              <a:avLst/>
              <a:gdLst/>
              <a:ahLst/>
              <a:cxnLst/>
              <a:rect l="l" t="t" r="r" b="b"/>
              <a:pathLst>
                <a:path w="4972050" h="1619250">
                  <a:moveTo>
                    <a:pt x="0" y="1560254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12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4913058" y="0"/>
                  </a:lnTo>
                  <a:lnTo>
                    <a:pt x="4916932" y="0"/>
                  </a:lnTo>
                  <a:lnTo>
                    <a:pt x="4920767" y="381"/>
                  </a:lnTo>
                  <a:lnTo>
                    <a:pt x="4924564" y="1130"/>
                  </a:lnTo>
                  <a:lnTo>
                    <a:pt x="4928362" y="1892"/>
                  </a:lnTo>
                  <a:lnTo>
                    <a:pt x="4932045" y="3009"/>
                  </a:lnTo>
                  <a:lnTo>
                    <a:pt x="4935626" y="4495"/>
                  </a:lnTo>
                  <a:lnTo>
                    <a:pt x="4939207" y="5969"/>
                  </a:lnTo>
                  <a:lnTo>
                    <a:pt x="4942611" y="7785"/>
                  </a:lnTo>
                  <a:lnTo>
                    <a:pt x="4945837" y="9944"/>
                  </a:lnTo>
                  <a:lnTo>
                    <a:pt x="4949050" y="12090"/>
                  </a:lnTo>
                  <a:lnTo>
                    <a:pt x="4952034" y="14541"/>
                  </a:lnTo>
                  <a:lnTo>
                    <a:pt x="4954765" y="17284"/>
                  </a:lnTo>
                  <a:lnTo>
                    <a:pt x="4957508" y="20015"/>
                  </a:lnTo>
                  <a:lnTo>
                    <a:pt x="4967554" y="36423"/>
                  </a:lnTo>
                  <a:lnTo>
                    <a:pt x="4969040" y="39992"/>
                  </a:lnTo>
                  <a:lnTo>
                    <a:pt x="4970157" y="43688"/>
                  </a:lnTo>
                  <a:lnTo>
                    <a:pt x="4970919" y="47485"/>
                  </a:lnTo>
                  <a:lnTo>
                    <a:pt x="4971669" y="51282"/>
                  </a:lnTo>
                  <a:lnTo>
                    <a:pt x="4972050" y="55118"/>
                  </a:lnTo>
                  <a:lnTo>
                    <a:pt x="4972050" y="58991"/>
                  </a:lnTo>
                  <a:lnTo>
                    <a:pt x="4972050" y="1560254"/>
                  </a:lnTo>
                  <a:lnTo>
                    <a:pt x="4972050" y="1564129"/>
                  </a:lnTo>
                  <a:lnTo>
                    <a:pt x="4971669" y="1567963"/>
                  </a:lnTo>
                  <a:lnTo>
                    <a:pt x="4970919" y="1571763"/>
                  </a:lnTo>
                  <a:lnTo>
                    <a:pt x="4970157" y="1575564"/>
                  </a:lnTo>
                  <a:lnTo>
                    <a:pt x="4969040" y="1579250"/>
                  </a:lnTo>
                  <a:lnTo>
                    <a:pt x="4967554" y="1582831"/>
                  </a:lnTo>
                  <a:lnTo>
                    <a:pt x="4966081" y="1586409"/>
                  </a:lnTo>
                  <a:lnTo>
                    <a:pt x="4964252" y="1589806"/>
                  </a:lnTo>
                  <a:lnTo>
                    <a:pt x="4962105" y="1593027"/>
                  </a:lnTo>
                  <a:lnTo>
                    <a:pt x="4959959" y="1596251"/>
                  </a:lnTo>
                  <a:lnTo>
                    <a:pt x="4957508" y="1599227"/>
                  </a:lnTo>
                  <a:lnTo>
                    <a:pt x="4954765" y="1601971"/>
                  </a:lnTo>
                  <a:lnTo>
                    <a:pt x="4952034" y="1604709"/>
                  </a:lnTo>
                  <a:lnTo>
                    <a:pt x="4935626" y="1614755"/>
                  </a:lnTo>
                  <a:lnTo>
                    <a:pt x="4932045" y="1616238"/>
                  </a:lnTo>
                  <a:lnTo>
                    <a:pt x="4928362" y="1617360"/>
                  </a:lnTo>
                  <a:lnTo>
                    <a:pt x="4924564" y="1618113"/>
                  </a:lnTo>
                  <a:lnTo>
                    <a:pt x="4920767" y="1618872"/>
                  </a:lnTo>
                  <a:lnTo>
                    <a:pt x="4916932" y="1619250"/>
                  </a:lnTo>
                  <a:lnTo>
                    <a:pt x="4913058" y="1619250"/>
                  </a:lnTo>
                  <a:lnTo>
                    <a:pt x="58991" y="1619250"/>
                  </a:lnTo>
                  <a:lnTo>
                    <a:pt x="55118" y="1619250"/>
                  </a:lnTo>
                  <a:lnTo>
                    <a:pt x="51282" y="1618872"/>
                  </a:lnTo>
                  <a:lnTo>
                    <a:pt x="47485" y="1618113"/>
                  </a:lnTo>
                  <a:lnTo>
                    <a:pt x="43688" y="1617360"/>
                  </a:lnTo>
                  <a:lnTo>
                    <a:pt x="39992" y="1616238"/>
                  </a:lnTo>
                  <a:lnTo>
                    <a:pt x="36423" y="1614755"/>
                  </a:lnTo>
                  <a:lnTo>
                    <a:pt x="32842" y="1613277"/>
                  </a:lnTo>
                  <a:lnTo>
                    <a:pt x="17284" y="1601971"/>
                  </a:lnTo>
                  <a:lnTo>
                    <a:pt x="14541" y="1599227"/>
                  </a:lnTo>
                  <a:lnTo>
                    <a:pt x="12090" y="1596251"/>
                  </a:lnTo>
                  <a:lnTo>
                    <a:pt x="9944" y="1593027"/>
                  </a:lnTo>
                  <a:lnTo>
                    <a:pt x="7785" y="1589806"/>
                  </a:lnTo>
                  <a:lnTo>
                    <a:pt x="5969" y="1586409"/>
                  </a:lnTo>
                  <a:lnTo>
                    <a:pt x="4495" y="1582831"/>
                  </a:lnTo>
                  <a:lnTo>
                    <a:pt x="3009" y="1579250"/>
                  </a:lnTo>
                  <a:lnTo>
                    <a:pt x="1892" y="1575564"/>
                  </a:lnTo>
                  <a:lnTo>
                    <a:pt x="1130" y="1571763"/>
                  </a:lnTo>
                  <a:lnTo>
                    <a:pt x="381" y="1567963"/>
                  </a:lnTo>
                  <a:lnTo>
                    <a:pt x="0" y="1564129"/>
                  </a:lnTo>
                  <a:lnTo>
                    <a:pt x="0" y="1560254"/>
                  </a:lnTo>
                  <a:close/>
                </a:path>
              </a:pathLst>
            </a:custGeom>
            <a:ln w="9525">
              <a:solidFill>
                <a:srgbClr val="D6B9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985078" y="6097587"/>
            <a:ext cx="4428490" cy="12573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262424"/>
                </a:solidFill>
                <a:latin typeface="Cambria"/>
                <a:cs typeface="Cambria"/>
              </a:rPr>
              <a:t>Manufactura</a:t>
            </a:r>
            <a:r>
              <a:rPr dirty="0" sz="1650" spc="10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Cambria"/>
                <a:cs typeface="Cambria"/>
              </a:rPr>
              <a:t>Inteligente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8400"/>
              </a:lnSpc>
              <a:spcBef>
                <a:spcPts val="700"/>
              </a:spcBef>
            </a:pPr>
            <a:r>
              <a:rPr dirty="0" sz="1400" spc="-60">
                <a:solidFill>
                  <a:srgbClr val="262424"/>
                </a:solidFill>
                <a:latin typeface="Tahoma"/>
                <a:cs typeface="Tahoma"/>
              </a:rPr>
              <a:t>Integración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tecnologías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20">
                <a:solidFill>
                  <a:srgbClr val="262424"/>
                </a:solidFill>
                <a:latin typeface="Tahoma"/>
                <a:cs typeface="Tahoma"/>
              </a:rPr>
              <a:t>IoT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para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optimizar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los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procesos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de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producción,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reducir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errores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aumentar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calidad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la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productividad.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9" name="object 19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75628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60"/>
              <a:t>Casos</a:t>
            </a:r>
            <a:r>
              <a:rPr dirty="0" spc="-100"/>
              <a:t> </a:t>
            </a:r>
            <a:r>
              <a:rPr dirty="0" spc="-95"/>
              <a:t>de éxito de</a:t>
            </a:r>
            <a:r>
              <a:rPr dirty="0" spc="-100"/>
              <a:t> emprendimientos</a:t>
            </a:r>
            <a:r>
              <a:rPr dirty="0" spc="-95"/>
              <a:t> </a:t>
            </a:r>
            <a:r>
              <a:rPr dirty="0" spc="-45"/>
              <a:t>en</a:t>
            </a:r>
            <a:r>
              <a:rPr dirty="0" spc="-95"/>
              <a:t> </a:t>
            </a:r>
            <a:r>
              <a:rPr dirty="0" spc="-85"/>
              <a:t>el</a:t>
            </a:r>
            <a:r>
              <a:rPr dirty="0" spc="-95"/>
              <a:t> </a:t>
            </a:r>
            <a:r>
              <a:rPr dirty="0" spc="-85"/>
              <a:t>ámbito</a:t>
            </a:r>
            <a:r>
              <a:rPr dirty="0" spc="-100"/>
              <a:t> </a:t>
            </a:r>
            <a:r>
              <a:rPr dirty="0" spc="-25"/>
              <a:t>de IoT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1933574"/>
            <a:ext cx="3200399" cy="19812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879" y="4106862"/>
            <a:ext cx="3230880" cy="18383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262424"/>
                </a:solidFill>
                <a:latin typeface="Cambria"/>
                <a:cs typeface="Cambria"/>
              </a:rPr>
              <a:t>Nest:</a:t>
            </a:r>
            <a:r>
              <a:rPr dirty="0" sz="1650" spc="-55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20" b="1">
                <a:solidFill>
                  <a:srgbClr val="262424"/>
                </a:solidFill>
                <a:latin typeface="Cambria"/>
                <a:cs typeface="Cambria"/>
              </a:rPr>
              <a:t>Hogar</a:t>
            </a:r>
            <a:r>
              <a:rPr dirty="0" sz="1650" spc="-55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Cambria"/>
                <a:cs typeface="Cambria"/>
              </a:rPr>
              <a:t>Inteligente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6200"/>
              </a:lnSpc>
              <a:spcBef>
                <a:spcPts val="815"/>
              </a:spcBef>
            </a:pPr>
            <a:r>
              <a:rPr dirty="0" sz="1400" spc="-60">
                <a:solidFill>
                  <a:srgbClr val="262424"/>
                </a:solidFill>
                <a:latin typeface="Tahoma"/>
                <a:cs typeface="Tahoma"/>
              </a:rPr>
              <a:t>Nest,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adquirida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por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Google,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ofrece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una solución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integral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para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automatizar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y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controlar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hogar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manera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inteligente,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con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productos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como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termostatos,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cámaras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y detectores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humo.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4800" y="1933574"/>
            <a:ext cx="3200399" cy="19812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100906" y="4106862"/>
            <a:ext cx="3207385" cy="18383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262424"/>
                </a:solidFill>
                <a:latin typeface="Cambria"/>
                <a:cs typeface="Cambria"/>
              </a:rPr>
              <a:t>FarmBot:</a:t>
            </a:r>
            <a:r>
              <a:rPr dirty="0" sz="1650" spc="-40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35" b="1">
                <a:solidFill>
                  <a:srgbClr val="262424"/>
                </a:solidFill>
                <a:latin typeface="Cambria"/>
                <a:cs typeface="Cambria"/>
              </a:rPr>
              <a:t>Agricultura</a:t>
            </a:r>
            <a:r>
              <a:rPr dirty="0" sz="1650" spc="-40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20" b="1">
                <a:solidFill>
                  <a:srgbClr val="262424"/>
                </a:solidFill>
                <a:latin typeface="Cambria"/>
                <a:cs typeface="Cambria"/>
              </a:rPr>
              <a:t>de</a:t>
            </a:r>
            <a:r>
              <a:rPr dirty="0" sz="1650" spc="-35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Cambria"/>
                <a:cs typeface="Cambria"/>
              </a:rPr>
              <a:t>Precisión</a:t>
            </a:r>
            <a:endParaRPr sz="1650">
              <a:latin typeface="Cambria"/>
              <a:cs typeface="Cambria"/>
            </a:endParaRPr>
          </a:p>
          <a:p>
            <a:pPr marL="12700" marR="53340">
              <a:lnSpc>
                <a:spcPct val="136200"/>
              </a:lnSpc>
              <a:spcBef>
                <a:spcPts val="815"/>
              </a:spcBef>
            </a:pP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FarmBot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es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un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sistema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robótico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código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abierto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que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automatiza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las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62424"/>
                </a:solidFill>
                <a:latin typeface="Tahoma"/>
                <a:cs typeface="Tahoma"/>
              </a:rPr>
              <a:t>tareas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agrícolas,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desde</a:t>
            </a:r>
            <a:r>
              <a:rPr dirty="0" sz="1400" spc="-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400" spc="-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siembra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hasta</a:t>
            </a:r>
            <a:r>
              <a:rPr dirty="0" sz="1400" spc="-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dirty="0" sz="1400" spc="-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cuidado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los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cultivos,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aumentando</a:t>
            </a:r>
            <a:r>
              <a:rPr dirty="0" sz="1400" spc="-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eficiencia</a:t>
            </a:r>
            <a:r>
              <a:rPr dirty="0" sz="1400" spc="-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y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reduciendo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desperdicio.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91425" y="1933574"/>
            <a:ext cx="3200399" cy="19812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576934" y="4106862"/>
            <a:ext cx="3198495" cy="210502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887730">
              <a:lnSpc>
                <a:spcPct val="106100"/>
              </a:lnSpc>
              <a:spcBef>
                <a:spcPts val="15"/>
              </a:spcBef>
            </a:pPr>
            <a:r>
              <a:rPr dirty="0" sz="1650" spc="-45" b="1">
                <a:solidFill>
                  <a:srgbClr val="262424"/>
                </a:solidFill>
                <a:latin typeface="Cambria"/>
                <a:cs typeface="Cambria"/>
              </a:rPr>
              <a:t>Sidewalk</a:t>
            </a:r>
            <a:r>
              <a:rPr dirty="0" sz="1650" spc="-30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Cambria"/>
                <a:cs typeface="Cambria"/>
              </a:rPr>
              <a:t>Labs:</a:t>
            </a:r>
            <a:r>
              <a:rPr dirty="0" sz="1650" spc="-25" b="1">
                <a:solidFill>
                  <a:srgbClr val="262424"/>
                </a:solidFill>
                <a:latin typeface="Cambria"/>
                <a:cs typeface="Cambria"/>
              </a:rPr>
              <a:t> Ciudades </a:t>
            </a:r>
            <a:r>
              <a:rPr dirty="0" sz="1650" spc="-10" b="1">
                <a:solidFill>
                  <a:srgbClr val="262424"/>
                </a:solidFill>
                <a:latin typeface="Cambria"/>
                <a:cs typeface="Cambria"/>
              </a:rPr>
              <a:t>Inteligentes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6200"/>
              </a:lnSpc>
              <a:spcBef>
                <a:spcPts val="810"/>
              </a:spcBef>
            </a:pP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Sidewalk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Labs,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una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subsidiaria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Alphabet,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desarrolla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soluciones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infraestructura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urbana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inteligente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que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mejoran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calidad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vida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los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ciudadanos</a:t>
            </a:r>
            <a:r>
              <a:rPr dirty="0" sz="1400" spc="-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eficiencia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de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los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servicios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públicos.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9" name="object 9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62308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972300"/>
            <a:chOff x="7143750" y="253"/>
            <a:chExt cx="4286250" cy="69723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9720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64594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4879" y="454025"/>
            <a:ext cx="534733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105"/>
              <a:t>Estrategias</a:t>
            </a:r>
            <a:r>
              <a:rPr dirty="0" spc="-80"/>
              <a:t> </a:t>
            </a:r>
            <a:r>
              <a:rPr dirty="0" spc="-114"/>
              <a:t>clave</a:t>
            </a:r>
            <a:r>
              <a:rPr dirty="0" spc="-80"/>
              <a:t> </a:t>
            </a:r>
            <a:r>
              <a:rPr dirty="0" spc="-114"/>
              <a:t>para</a:t>
            </a:r>
            <a:r>
              <a:rPr dirty="0" spc="-80"/>
              <a:t> </a:t>
            </a:r>
            <a:r>
              <a:rPr dirty="0" spc="-40"/>
              <a:t>iniciar </a:t>
            </a:r>
            <a:r>
              <a:rPr dirty="0"/>
              <a:t>un</a:t>
            </a:r>
            <a:r>
              <a:rPr dirty="0" spc="-120"/>
              <a:t> </a:t>
            </a:r>
            <a:r>
              <a:rPr dirty="0" spc="-70"/>
              <a:t>negocio</a:t>
            </a:r>
            <a:r>
              <a:rPr dirty="0" spc="-114"/>
              <a:t> </a:t>
            </a:r>
            <a:r>
              <a:rPr dirty="0" spc="-95"/>
              <a:t>de</a:t>
            </a:r>
            <a:r>
              <a:rPr dirty="0" spc="-114"/>
              <a:t> </a:t>
            </a:r>
            <a:r>
              <a:rPr dirty="0" spc="-25"/>
              <a:t>IoT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709463" y="1847849"/>
            <a:ext cx="1028700" cy="4629150"/>
            <a:chOff x="709463" y="1847849"/>
            <a:chExt cx="1028700" cy="4629150"/>
          </a:xfrm>
        </p:grpSpPr>
        <p:sp>
          <p:nvSpPr>
            <p:cNvPr id="7" name="object 7" descr=""/>
            <p:cNvSpPr/>
            <p:nvPr/>
          </p:nvSpPr>
          <p:spPr>
            <a:xfrm>
              <a:off x="904875" y="1847849"/>
              <a:ext cx="833755" cy="4629785"/>
            </a:xfrm>
            <a:custGeom>
              <a:avLst/>
              <a:gdLst/>
              <a:ahLst/>
              <a:cxnLst/>
              <a:rect l="l" t="t" r="r" b="b"/>
              <a:pathLst>
                <a:path w="833755" h="4629785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619637"/>
                  </a:lnTo>
                  <a:lnTo>
                    <a:pt x="0" y="4622266"/>
                  </a:lnTo>
                  <a:lnTo>
                    <a:pt x="927" y="4624502"/>
                  </a:lnTo>
                  <a:lnTo>
                    <a:pt x="4648" y="4628223"/>
                  </a:lnTo>
                  <a:lnTo>
                    <a:pt x="6896" y="4629162"/>
                  </a:lnTo>
                  <a:lnTo>
                    <a:pt x="12153" y="4629162"/>
                  </a:lnTo>
                  <a:lnTo>
                    <a:pt x="14401" y="4628223"/>
                  </a:lnTo>
                  <a:lnTo>
                    <a:pt x="18122" y="4624502"/>
                  </a:lnTo>
                  <a:lnTo>
                    <a:pt x="19050" y="4622266"/>
                  </a:lnTo>
                  <a:lnTo>
                    <a:pt x="19050" y="6896"/>
                  </a:lnTo>
                  <a:close/>
                </a:path>
                <a:path w="833755" h="4629785">
                  <a:moveTo>
                    <a:pt x="833285" y="406946"/>
                  </a:moveTo>
                  <a:lnTo>
                    <a:pt x="832358" y="404698"/>
                  </a:lnTo>
                  <a:lnTo>
                    <a:pt x="828636" y="400977"/>
                  </a:lnTo>
                  <a:lnTo>
                    <a:pt x="826389" y="400050"/>
                  </a:lnTo>
                  <a:lnTo>
                    <a:pt x="202006" y="400050"/>
                  </a:lnTo>
                  <a:lnTo>
                    <a:pt x="199758" y="400977"/>
                  </a:lnTo>
                  <a:lnTo>
                    <a:pt x="196037" y="404698"/>
                  </a:lnTo>
                  <a:lnTo>
                    <a:pt x="195110" y="406946"/>
                  </a:lnTo>
                  <a:lnTo>
                    <a:pt x="195110" y="409575"/>
                  </a:lnTo>
                  <a:lnTo>
                    <a:pt x="195110" y="412203"/>
                  </a:lnTo>
                  <a:lnTo>
                    <a:pt x="196037" y="414451"/>
                  </a:lnTo>
                  <a:lnTo>
                    <a:pt x="199758" y="418172"/>
                  </a:lnTo>
                  <a:lnTo>
                    <a:pt x="202006" y="419100"/>
                  </a:lnTo>
                  <a:lnTo>
                    <a:pt x="826389" y="419100"/>
                  </a:lnTo>
                  <a:lnTo>
                    <a:pt x="828636" y="418172"/>
                  </a:lnTo>
                  <a:lnTo>
                    <a:pt x="832358" y="414451"/>
                  </a:lnTo>
                  <a:lnTo>
                    <a:pt x="833285" y="412203"/>
                  </a:lnTo>
                  <a:lnTo>
                    <a:pt x="833285" y="406946"/>
                  </a:lnTo>
                  <a:close/>
                </a:path>
              </a:pathLst>
            </a:custGeom>
            <a:solidFill>
              <a:srgbClr val="D6B9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14226" y="205263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28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7" y="385508"/>
                  </a:lnTo>
                  <a:lnTo>
                    <a:pt x="55120" y="400050"/>
                  </a:lnTo>
                  <a:lnTo>
                    <a:pt x="344928" y="400050"/>
                  </a:lnTo>
                  <a:lnTo>
                    <a:pt x="385509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2" y="14541"/>
                  </a:lnTo>
                  <a:lnTo>
                    <a:pt x="348763" y="381"/>
                  </a:lnTo>
                  <a:lnTo>
                    <a:pt x="344928" y="0"/>
                  </a:lnTo>
                  <a:close/>
                </a:path>
              </a:pathLst>
            </a:custGeom>
            <a:solidFill>
              <a:srgbClr val="F0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14226" y="205263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0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7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5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341054" y="0"/>
                  </a:lnTo>
                  <a:lnTo>
                    <a:pt x="344928" y="0"/>
                  </a:lnTo>
                  <a:lnTo>
                    <a:pt x="348763" y="381"/>
                  </a:lnTo>
                  <a:lnTo>
                    <a:pt x="352563" y="1130"/>
                  </a:lnTo>
                  <a:lnTo>
                    <a:pt x="356363" y="1892"/>
                  </a:lnTo>
                  <a:lnTo>
                    <a:pt x="360050" y="3009"/>
                  </a:lnTo>
                  <a:lnTo>
                    <a:pt x="363631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0" y="9944"/>
                  </a:lnTo>
                  <a:lnTo>
                    <a:pt x="377050" y="12090"/>
                  </a:lnTo>
                  <a:lnTo>
                    <a:pt x="380032" y="14541"/>
                  </a:lnTo>
                  <a:lnTo>
                    <a:pt x="382770" y="17284"/>
                  </a:lnTo>
                  <a:lnTo>
                    <a:pt x="385509" y="20015"/>
                  </a:lnTo>
                  <a:lnTo>
                    <a:pt x="387954" y="22999"/>
                  </a:lnTo>
                  <a:lnTo>
                    <a:pt x="390108" y="26225"/>
                  </a:lnTo>
                  <a:lnTo>
                    <a:pt x="392261" y="29438"/>
                  </a:lnTo>
                  <a:lnTo>
                    <a:pt x="394077" y="32842"/>
                  </a:lnTo>
                  <a:lnTo>
                    <a:pt x="395560" y="36423"/>
                  </a:lnTo>
                  <a:lnTo>
                    <a:pt x="397043" y="39992"/>
                  </a:lnTo>
                  <a:lnTo>
                    <a:pt x="398160" y="43688"/>
                  </a:lnTo>
                  <a:lnTo>
                    <a:pt x="398913" y="47485"/>
                  </a:lnTo>
                  <a:lnTo>
                    <a:pt x="399672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72" y="348767"/>
                  </a:lnTo>
                  <a:lnTo>
                    <a:pt x="398913" y="352564"/>
                  </a:lnTo>
                  <a:lnTo>
                    <a:pt x="398160" y="356362"/>
                  </a:lnTo>
                  <a:lnTo>
                    <a:pt x="397043" y="360045"/>
                  </a:lnTo>
                  <a:lnTo>
                    <a:pt x="395560" y="363626"/>
                  </a:lnTo>
                  <a:lnTo>
                    <a:pt x="394077" y="367207"/>
                  </a:lnTo>
                  <a:lnTo>
                    <a:pt x="373830" y="390105"/>
                  </a:lnTo>
                  <a:lnTo>
                    <a:pt x="370611" y="392252"/>
                  </a:lnTo>
                  <a:lnTo>
                    <a:pt x="367207" y="394081"/>
                  </a:lnTo>
                  <a:lnTo>
                    <a:pt x="363631" y="395554"/>
                  </a:lnTo>
                  <a:lnTo>
                    <a:pt x="360050" y="397040"/>
                  </a:lnTo>
                  <a:lnTo>
                    <a:pt x="356363" y="398157"/>
                  </a:lnTo>
                  <a:lnTo>
                    <a:pt x="352563" y="398919"/>
                  </a:lnTo>
                  <a:lnTo>
                    <a:pt x="348763" y="399669"/>
                  </a:lnTo>
                  <a:lnTo>
                    <a:pt x="344928" y="400050"/>
                  </a:lnTo>
                  <a:lnTo>
                    <a:pt x="341054" y="400050"/>
                  </a:lnTo>
                  <a:lnTo>
                    <a:pt x="58995" y="400050"/>
                  </a:lnTo>
                  <a:lnTo>
                    <a:pt x="55120" y="400050"/>
                  </a:lnTo>
                  <a:lnTo>
                    <a:pt x="51286" y="399669"/>
                  </a:lnTo>
                  <a:lnTo>
                    <a:pt x="47485" y="398919"/>
                  </a:lnTo>
                  <a:lnTo>
                    <a:pt x="43685" y="398157"/>
                  </a:lnTo>
                  <a:lnTo>
                    <a:pt x="39999" y="397040"/>
                  </a:lnTo>
                  <a:lnTo>
                    <a:pt x="36418" y="395554"/>
                  </a:lnTo>
                  <a:lnTo>
                    <a:pt x="32840" y="394081"/>
                  </a:lnTo>
                  <a:lnTo>
                    <a:pt x="4489" y="363626"/>
                  </a:lnTo>
                  <a:lnTo>
                    <a:pt x="3006" y="360045"/>
                  </a:lnTo>
                  <a:lnTo>
                    <a:pt x="1889" y="356362"/>
                  </a:lnTo>
                  <a:lnTo>
                    <a:pt x="1130" y="352564"/>
                  </a:lnTo>
                  <a:lnTo>
                    <a:pt x="377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D6B9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33835" y="2054225"/>
            <a:ext cx="1593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90" b="1">
                <a:solidFill>
                  <a:srgbClr val="262424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00039" y="1992312"/>
            <a:ext cx="4615180" cy="9620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262424"/>
                </a:solidFill>
                <a:latin typeface="Cambria"/>
                <a:cs typeface="Cambria"/>
              </a:rPr>
              <a:t>Identificar</a:t>
            </a:r>
            <a:r>
              <a:rPr dirty="0" sz="1650" spc="-40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20" b="1">
                <a:solidFill>
                  <a:srgbClr val="262424"/>
                </a:solidFill>
                <a:latin typeface="Cambria"/>
                <a:cs typeface="Cambria"/>
              </a:rPr>
              <a:t>una</a:t>
            </a:r>
            <a:r>
              <a:rPr dirty="0" sz="1650" spc="-35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Cambria"/>
                <a:cs typeface="Cambria"/>
              </a:rPr>
              <a:t>necesidad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3900"/>
              </a:lnSpc>
              <a:spcBef>
                <a:spcPts val="850"/>
              </a:spcBef>
            </a:pP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Analiza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las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tendencias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del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mercado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encuentra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un</a:t>
            </a:r>
            <a:r>
              <a:rPr dirty="0" sz="1400" spc="-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problema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que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puedas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resolver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manera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innovadora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con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tecnologías</a:t>
            </a:r>
            <a:r>
              <a:rPr dirty="0" sz="1400" spc="-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95">
                <a:solidFill>
                  <a:srgbClr val="262424"/>
                </a:solidFill>
                <a:latin typeface="Tahoma"/>
                <a:cs typeface="Tahoma"/>
              </a:rPr>
              <a:t>IoT.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09463" y="3552825"/>
            <a:ext cx="1028700" cy="409575"/>
            <a:chOff x="709463" y="3552825"/>
            <a:chExt cx="1028700" cy="409575"/>
          </a:xfrm>
        </p:grpSpPr>
        <p:sp>
          <p:nvSpPr>
            <p:cNvPr id="13" name="object 13" descr=""/>
            <p:cNvSpPr/>
            <p:nvPr/>
          </p:nvSpPr>
          <p:spPr>
            <a:xfrm>
              <a:off x="1099988" y="3752850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5" y="19050"/>
                  </a:lnTo>
                  <a:lnTo>
                    <a:pt x="633522" y="18122"/>
                  </a:lnTo>
                  <a:lnTo>
                    <a:pt x="637244" y="14401"/>
                  </a:lnTo>
                  <a:lnTo>
                    <a:pt x="638171" y="12153"/>
                  </a:lnTo>
                  <a:lnTo>
                    <a:pt x="638171" y="6896"/>
                  </a:lnTo>
                  <a:lnTo>
                    <a:pt x="637244" y="4648"/>
                  </a:lnTo>
                  <a:lnTo>
                    <a:pt x="633522" y="927"/>
                  </a:lnTo>
                  <a:lnTo>
                    <a:pt x="631275" y="0"/>
                  </a:lnTo>
                  <a:close/>
                </a:path>
              </a:pathLst>
            </a:custGeom>
            <a:solidFill>
              <a:srgbClr val="D6B9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14226" y="35575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28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19"/>
                  </a:lnTo>
                  <a:lnTo>
                    <a:pt x="20017" y="385508"/>
                  </a:lnTo>
                  <a:lnTo>
                    <a:pt x="55120" y="400050"/>
                  </a:lnTo>
                  <a:lnTo>
                    <a:pt x="344928" y="400050"/>
                  </a:lnTo>
                  <a:lnTo>
                    <a:pt x="385509" y="380034"/>
                  </a:lnTo>
                  <a:lnTo>
                    <a:pt x="400050" y="344919"/>
                  </a:lnTo>
                  <a:lnTo>
                    <a:pt x="400050" y="55118"/>
                  </a:lnTo>
                  <a:lnTo>
                    <a:pt x="380032" y="14541"/>
                  </a:lnTo>
                  <a:lnTo>
                    <a:pt x="348763" y="381"/>
                  </a:lnTo>
                  <a:lnTo>
                    <a:pt x="344928" y="0"/>
                  </a:lnTo>
                  <a:close/>
                </a:path>
              </a:pathLst>
            </a:custGeom>
            <a:solidFill>
              <a:srgbClr val="F0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14226" y="35575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0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7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5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341054" y="0"/>
                  </a:lnTo>
                  <a:lnTo>
                    <a:pt x="344928" y="0"/>
                  </a:lnTo>
                  <a:lnTo>
                    <a:pt x="348763" y="381"/>
                  </a:lnTo>
                  <a:lnTo>
                    <a:pt x="352563" y="1130"/>
                  </a:lnTo>
                  <a:lnTo>
                    <a:pt x="356363" y="1892"/>
                  </a:lnTo>
                  <a:lnTo>
                    <a:pt x="360050" y="3009"/>
                  </a:lnTo>
                  <a:lnTo>
                    <a:pt x="363631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0" y="9944"/>
                  </a:lnTo>
                  <a:lnTo>
                    <a:pt x="377050" y="12090"/>
                  </a:lnTo>
                  <a:lnTo>
                    <a:pt x="380032" y="14541"/>
                  </a:lnTo>
                  <a:lnTo>
                    <a:pt x="382770" y="17284"/>
                  </a:lnTo>
                  <a:lnTo>
                    <a:pt x="385509" y="20015"/>
                  </a:lnTo>
                  <a:lnTo>
                    <a:pt x="387954" y="22999"/>
                  </a:lnTo>
                  <a:lnTo>
                    <a:pt x="390108" y="26225"/>
                  </a:lnTo>
                  <a:lnTo>
                    <a:pt x="392261" y="29438"/>
                  </a:lnTo>
                  <a:lnTo>
                    <a:pt x="394077" y="32842"/>
                  </a:lnTo>
                  <a:lnTo>
                    <a:pt x="395560" y="36423"/>
                  </a:lnTo>
                  <a:lnTo>
                    <a:pt x="397043" y="39992"/>
                  </a:lnTo>
                  <a:lnTo>
                    <a:pt x="398160" y="43688"/>
                  </a:lnTo>
                  <a:lnTo>
                    <a:pt x="398913" y="47485"/>
                  </a:lnTo>
                  <a:lnTo>
                    <a:pt x="399672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19"/>
                  </a:lnTo>
                  <a:lnTo>
                    <a:pt x="399672" y="348767"/>
                  </a:lnTo>
                  <a:lnTo>
                    <a:pt x="398913" y="352564"/>
                  </a:lnTo>
                  <a:lnTo>
                    <a:pt x="398160" y="356362"/>
                  </a:lnTo>
                  <a:lnTo>
                    <a:pt x="397043" y="360045"/>
                  </a:lnTo>
                  <a:lnTo>
                    <a:pt x="395560" y="363626"/>
                  </a:lnTo>
                  <a:lnTo>
                    <a:pt x="394077" y="367207"/>
                  </a:lnTo>
                  <a:lnTo>
                    <a:pt x="392261" y="370611"/>
                  </a:lnTo>
                  <a:lnTo>
                    <a:pt x="390108" y="373824"/>
                  </a:lnTo>
                  <a:lnTo>
                    <a:pt x="387954" y="377050"/>
                  </a:lnTo>
                  <a:lnTo>
                    <a:pt x="373830" y="390105"/>
                  </a:lnTo>
                  <a:lnTo>
                    <a:pt x="370611" y="392252"/>
                  </a:lnTo>
                  <a:lnTo>
                    <a:pt x="367207" y="394081"/>
                  </a:lnTo>
                  <a:lnTo>
                    <a:pt x="363631" y="395554"/>
                  </a:lnTo>
                  <a:lnTo>
                    <a:pt x="360050" y="397040"/>
                  </a:lnTo>
                  <a:lnTo>
                    <a:pt x="356363" y="398157"/>
                  </a:lnTo>
                  <a:lnTo>
                    <a:pt x="352563" y="398919"/>
                  </a:lnTo>
                  <a:lnTo>
                    <a:pt x="348763" y="399669"/>
                  </a:lnTo>
                  <a:lnTo>
                    <a:pt x="344928" y="400050"/>
                  </a:lnTo>
                  <a:lnTo>
                    <a:pt x="341054" y="400050"/>
                  </a:lnTo>
                  <a:lnTo>
                    <a:pt x="58995" y="400050"/>
                  </a:lnTo>
                  <a:lnTo>
                    <a:pt x="55120" y="400050"/>
                  </a:lnTo>
                  <a:lnTo>
                    <a:pt x="51286" y="399669"/>
                  </a:lnTo>
                  <a:lnTo>
                    <a:pt x="47485" y="398919"/>
                  </a:lnTo>
                  <a:lnTo>
                    <a:pt x="43685" y="398157"/>
                  </a:lnTo>
                  <a:lnTo>
                    <a:pt x="39999" y="397040"/>
                  </a:lnTo>
                  <a:lnTo>
                    <a:pt x="36418" y="395554"/>
                  </a:lnTo>
                  <a:lnTo>
                    <a:pt x="32840" y="394081"/>
                  </a:lnTo>
                  <a:lnTo>
                    <a:pt x="9941" y="373824"/>
                  </a:lnTo>
                  <a:lnTo>
                    <a:pt x="7788" y="370611"/>
                  </a:lnTo>
                  <a:lnTo>
                    <a:pt x="5972" y="367207"/>
                  </a:lnTo>
                  <a:lnTo>
                    <a:pt x="4489" y="363626"/>
                  </a:lnTo>
                  <a:lnTo>
                    <a:pt x="3006" y="360045"/>
                  </a:lnTo>
                  <a:lnTo>
                    <a:pt x="1889" y="356362"/>
                  </a:lnTo>
                  <a:lnTo>
                    <a:pt x="1130" y="352564"/>
                  </a:lnTo>
                  <a:lnTo>
                    <a:pt x="377" y="348767"/>
                  </a:lnTo>
                  <a:lnTo>
                    <a:pt x="0" y="344919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D6B9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33835" y="3559175"/>
            <a:ext cx="1593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90" b="1">
                <a:solidFill>
                  <a:srgbClr val="262424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900039" y="3497262"/>
            <a:ext cx="4469765" cy="9620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 b="1">
                <a:solidFill>
                  <a:srgbClr val="262424"/>
                </a:solidFill>
                <a:latin typeface="Cambria"/>
                <a:cs typeface="Cambria"/>
              </a:rPr>
              <a:t>Desarrollar</a:t>
            </a:r>
            <a:r>
              <a:rPr dirty="0" sz="1650" spc="-25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20" b="1">
                <a:solidFill>
                  <a:srgbClr val="262424"/>
                </a:solidFill>
                <a:latin typeface="Cambria"/>
                <a:cs typeface="Cambria"/>
              </a:rPr>
              <a:t>una </a:t>
            </a:r>
            <a:r>
              <a:rPr dirty="0" sz="1650" spc="-10" b="1">
                <a:solidFill>
                  <a:srgbClr val="262424"/>
                </a:solidFill>
                <a:latin typeface="Cambria"/>
                <a:cs typeface="Cambria"/>
              </a:rPr>
              <a:t>solución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3900"/>
              </a:lnSpc>
              <a:spcBef>
                <a:spcPts val="850"/>
              </a:spcBef>
            </a:pP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Diseña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un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prototipo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que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demuestre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funcionalidad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valor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tu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producto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servicio,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través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un</a:t>
            </a:r>
            <a:r>
              <a:rPr dirty="0" sz="1400" spc="-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proceso</a:t>
            </a:r>
            <a:r>
              <a:rPr dirty="0" sz="1400" spc="-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iterativo.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09463" y="5067300"/>
            <a:ext cx="1028700" cy="409575"/>
            <a:chOff x="709463" y="5067300"/>
            <a:chExt cx="1028700" cy="409575"/>
          </a:xfrm>
        </p:grpSpPr>
        <p:sp>
          <p:nvSpPr>
            <p:cNvPr id="19" name="object 19" descr=""/>
            <p:cNvSpPr/>
            <p:nvPr/>
          </p:nvSpPr>
          <p:spPr>
            <a:xfrm>
              <a:off x="1099988" y="5257800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5" y="19050"/>
                  </a:lnTo>
                  <a:lnTo>
                    <a:pt x="633522" y="18122"/>
                  </a:lnTo>
                  <a:lnTo>
                    <a:pt x="637244" y="14401"/>
                  </a:lnTo>
                  <a:lnTo>
                    <a:pt x="638171" y="12153"/>
                  </a:lnTo>
                  <a:lnTo>
                    <a:pt x="638171" y="6896"/>
                  </a:lnTo>
                  <a:lnTo>
                    <a:pt x="637244" y="4648"/>
                  </a:lnTo>
                  <a:lnTo>
                    <a:pt x="633522" y="927"/>
                  </a:lnTo>
                  <a:lnTo>
                    <a:pt x="631275" y="0"/>
                  </a:lnTo>
                  <a:close/>
                </a:path>
              </a:pathLst>
            </a:custGeom>
            <a:solidFill>
              <a:srgbClr val="D6B9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14226" y="50720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28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7" y="385508"/>
                  </a:lnTo>
                  <a:lnTo>
                    <a:pt x="55120" y="400050"/>
                  </a:lnTo>
                  <a:lnTo>
                    <a:pt x="344928" y="400050"/>
                  </a:lnTo>
                  <a:lnTo>
                    <a:pt x="385509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2" y="14541"/>
                  </a:lnTo>
                  <a:lnTo>
                    <a:pt x="348763" y="381"/>
                  </a:lnTo>
                  <a:lnTo>
                    <a:pt x="344928" y="0"/>
                  </a:lnTo>
                  <a:close/>
                </a:path>
              </a:pathLst>
            </a:custGeom>
            <a:solidFill>
              <a:srgbClr val="F0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14226" y="50720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0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7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5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341054" y="0"/>
                  </a:lnTo>
                  <a:lnTo>
                    <a:pt x="344928" y="0"/>
                  </a:lnTo>
                  <a:lnTo>
                    <a:pt x="348763" y="381"/>
                  </a:lnTo>
                  <a:lnTo>
                    <a:pt x="352563" y="1130"/>
                  </a:lnTo>
                  <a:lnTo>
                    <a:pt x="356363" y="1892"/>
                  </a:lnTo>
                  <a:lnTo>
                    <a:pt x="360050" y="3009"/>
                  </a:lnTo>
                  <a:lnTo>
                    <a:pt x="363631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0" y="9944"/>
                  </a:lnTo>
                  <a:lnTo>
                    <a:pt x="377050" y="12090"/>
                  </a:lnTo>
                  <a:lnTo>
                    <a:pt x="380032" y="14541"/>
                  </a:lnTo>
                  <a:lnTo>
                    <a:pt x="382770" y="17284"/>
                  </a:lnTo>
                  <a:lnTo>
                    <a:pt x="385509" y="20015"/>
                  </a:lnTo>
                  <a:lnTo>
                    <a:pt x="387954" y="22999"/>
                  </a:lnTo>
                  <a:lnTo>
                    <a:pt x="390108" y="26225"/>
                  </a:lnTo>
                  <a:lnTo>
                    <a:pt x="392261" y="29438"/>
                  </a:lnTo>
                  <a:lnTo>
                    <a:pt x="394077" y="32842"/>
                  </a:lnTo>
                  <a:lnTo>
                    <a:pt x="395560" y="36423"/>
                  </a:lnTo>
                  <a:lnTo>
                    <a:pt x="397043" y="39992"/>
                  </a:lnTo>
                  <a:lnTo>
                    <a:pt x="398160" y="43688"/>
                  </a:lnTo>
                  <a:lnTo>
                    <a:pt x="398913" y="47485"/>
                  </a:lnTo>
                  <a:lnTo>
                    <a:pt x="399672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72" y="348767"/>
                  </a:lnTo>
                  <a:lnTo>
                    <a:pt x="398913" y="352564"/>
                  </a:lnTo>
                  <a:lnTo>
                    <a:pt x="398160" y="356362"/>
                  </a:lnTo>
                  <a:lnTo>
                    <a:pt x="397043" y="360045"/>
                  </a:lnTo>
                  <a:lnTo>
                    <a:pt x="395560" y="363626"/>
                  </a:lnTo>
                  <a:lnTo>
                    <a:pt x="394077" y="367207"/>
                  </a:lnTo>
                  <a:lnTo>
                    <a:pt x="373830" y="390105"/>
                  </a:lnTo>
                  <a:lnTo>
                    <a:pt x="370611" y="392252"/>
                  </a:lnTo>
                  <a:lnTo>
                    <a:pt x="367207" y="394081"/>
                  </a:lnTo>
                  <a:lnTo>
                    <a:pt x="363631" y="395554"/>
                  </a:lnTo>
                  <a:lnTo>
                    <a:pt x="360050" y="397040"/>
                  </a:lnTo>
                  <a:lnTo>
                    <a:pt x="356363" y="398157"/>
                  </a:lnTo>
                  <a:lnTo>
                    <a:pt x="352563" y="398919"/>
                  </a:lnTo>
                  <a:lnTo>
                    <a:pt x="348763" y="399669"/>
                  </a:lnTo>
                  <a:lnTo>
                    <a:pt x="344928" y="400050"/>
                  </a:lnTo>
                  <a:lnTo>
                    <a:pt x="341054" y="400050"/>
                  </a:lnTo>
                  <a:lnTo>
                    <a:pt x="58995" y="400050"/>
                  </a:lnTo>
                  <a:lnTo>
                    <a:pt x="55120" y="400050"/>
                  </a:lnTo>
                  <a:lnTo>
                    <a:pt x="51286" y="399669"/>
                  </a:lnTo>
                  <a:lnTo>
                    <a:pt x="47485" y="398919"/>
                  </a:lnTo>
                  <a:lnTo>
                    <a:pt x="43685" y="398157"/>
                  </a:lnTo>
                  <a:lnTo>
                    <a:pt x="39999" y="397040"/>
                  </a:lnTo>
                  <a:lnTo>
                    <a:pt x="36418" y="395554"/>
                  </a:lnTo>
                  <a:lnTo>
                    <a:pt x="32840" y="394081"/>
                  </a:lnTo>
                  <a:lnTo>
                    <a:pt x="4489" y="363626"/>
                  </a:lnTo>
                  <a:lnTo>
                    <a:pt x="3006" y="360045"/>
                  </a:lnTo>
                  <a:lnTo>
                    <a:pt x="1889" y="356362"/>
                  </a:lnTo>
                  <a:lnTo>
                    <a:pt x="1130" y="352564"/>
                  </a:lnTo>
                  <a:lnTo>
                    <a:pt x="377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D6B9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833835" y="5073650"/>
            <a:ext cx="1593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90" b="1">
                <a:solidFill>
                  <a:srgbClr val="262424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900039" y="5002212"/>
            <a:ext cx="4370705" cy="12573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262424"/>
                </a:solidFill>
                <a:latin typeface="Cambria"/>
                <a:cs typeface="Cambria"/>
              </a:rPr>
              <a:t>Construir </a:t>
            </a:r>
            <a:r>
              <a:rPr dirty="0" sz="1650" b="1">
                <a:solidFill>
                  <a:srgbClr val="262424"/>
                </a:solidFill>
                <a:latin typeface="Cambria"/>
                <a:cs typeface="Cambria"/>
              </a:rPr>
              <a:t>un</a:t>
            </a:r>
            <a:r>
              <a:rPr dirty="0" sz="1650" spc="-30" b="1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Cambria"/>
                <a:cs typeface="Cambria"/>
              </a:rPr>
              <a:t>ecosistema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6200"/>
              </a:lnSpc>
              <a:spcBef>
                <a:spcPts val="815"/>
              </a:spcBef>
            </a:pP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Establece</a:t>
            </a:r>
            <a:r>
              <a:rPr dirty="0" sz="1400" spc="-1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alianzas</a:t>
            </a:r>
            <a:r>
              <a:rPr dirty="0" sz="1400" spc="-1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62424"/>
                </a:solidFill>
                <a:latin typeface="Tahoma"/>
                <a:cs typeface="Tahoma"/>
              </a:rPr>
              <a:t>estratégicas</a:t>
            </a:r>
            <a:r>
              <a:rPr dirty="0" sz="1400" spc="-1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con</a:t>
            </a:r>
            <a:r>
              <a:rPr dirty="0" sz="1400" spc="-1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proveedores,</a:t>
            </a:r>
            <a:r>
              <a:rPr dirty="0" sz="1400" spc="-1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socios 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tecnológicos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distribuidores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para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62424"/>
                </a:solidFill>
                <a:latin typeface="Tahoma"/>
                <a:cs typeface="Tahoma"/>
              </a:rPr>
              <a:t>potenciar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tu</a:t>
            </a:r>
            <a:r>
              <a:rPr dirty="0" sz="1400" spc="-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62424"/>
                </a:solidFill>
                <a:latin typeface="Tahoma"/>
                <a:cs typeface="Tahoma"/>
              </a:rPr>
              <a:t>propuesta</a:t>
            </a:r>
            <a:r>
              <a:rPr dirty="0" sz="1400" spc="-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de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valor.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2024-11-05T06:29:49Z</dcterms:created>
  <dcterms:modified xsi:type="dcterms:W3CDTF">2024-11-05T06:29:49Z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  <property fmtid="{D5CDD505-2E9C-101B-9397-08002B2CF9AE}" pid="5" name="Producer">
    <vt:lpwstr>GPL Ghostscript 10.02.0</vt:lpwstr>
  </property>
</Properties>
</file>