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1430000" cy="6445250"/>
  <p:notesSz cx="11430000" cy="64452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114E72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0" i="0">
                <a:solidFill>
                  <a:srgbClr val="114E72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114E72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650" b="0" i="0">
                <a:solidFill>
                  <a:srgbClr val="114E72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114E72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114E72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CF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C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71732" y="444292"/>
            <a:ext cx="5825490" cy="1051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114E72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7375" y="1767522"/>
            <a:ext cx="5139055" cy="1478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0" i="0">
                <a:solidFill>
                  <a:srgbClr val="114E72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5850"/>
              </a:lnSpc>
            </a:pPr>
            <a:r>
              <a:rPr dirty="0" spc="225"/>
              <a:t>Introducción</a:t>
            </a:r>
            <a:r>
              <a:rPr dirty="0" spc="5"/>
              <a:t> </a:t>
            </a:r>
            <a:r>
              <a:rPr dirty="0" spc="385"/>
              <a:t>a</a:t>
            </a:r>
            <a:r>
              <a:rPr dirty="0" spc="10"/>
              <a:t> </a:t>
            </a:r>
            <a:r>
              <a:rPr dirty="0" spc="155"/>
              <a:t>los </a:t>
            </a:r>
            <a:r>
              <a:rPr dirty="0" spc="250"/>
              <a:t>sistemas</a:t>
            </a:r>
            <a:r>
              <a:rPr dirty="0" spc="-5"/>
              <a:t> </a:t>
            </a:r>
            <a:r>
              <a:rPr dirty="0" spc="320"/>
              <a:t>IoT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87375" y="3488690"/>
            <a:ext cx="5857240" cy="11112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32700"/>
              </a:lnSpc>
              <a:spcBef>
                <a:spcPts val="50"/>
              </a:spcBef>
            </a:pPr>
            <a:r>
              <a:rPr dirty="0" sz="1350" spc="-40">
                <a:solidFill>
                  <a:srgbClr val="2B404F"/>
                </a:solidFill>
                <a:latin typeface="Tahoma"/>
                <a:cs typeface="Tahoma"/>
              </a:rPr>
              <a:t>Los</a:t>
            </a:r>
            <a:r>
              <a:rPr dirty="0" sz="1350" spc="-114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2B404F"/>
                </a:solidFill>
                <a:latin typeface="Tahoma"/>
                <a:cs typeface="Tahoma"/>
              </a:rPr>
              <a:t>sistemas</a:t>
            </a:r>
            <a:r>
              <a:rPr dirty="0" sz="1350" spc="-110">
                <a:solidFill>
                  <a:srgbClr val="2B404F"/>
                </a:solidFill>
                <a:latin typeface="Tahoma"/>
                <a:cs typeface="Tahoma"/>
              </a:rPr>
              <a:t> IoT </a:t>
            </a:r>
            <a:r>
              <a:rPr dirty="0" sz="1350" spc="-55">
                <a:solidFill>
                  <a:srgbClr val="2B404F"/>
                </a:solidFill>
                <a:latin typeface="Tahoma"/>
                <a:cs typeface="Tahoma"/>
              </a:rPr>
              <a:t>(Internet</a:t>
            </a:r>
            <a:r>
              <a:rPr dirty="0" sz="1350" spc="-11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of</a:t>
            </a:r>
            <a:r>
              <a:rPr dirty="0" sz="1350" spc="-11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2B404F"/>
                </a:solidFill>
                <a:latin typeface="Tahoma"/>
                <a:cs typeface="Tahoma"/>
              </a:rPr>
              <a:t>Things)</a:t>
            </a:r>
            <a:r>
              <a:rPr dirty="0" sz="1350" spc="-11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2B404F"/>
                </a:solidFill>
                <a:latin typeface="Tahoma"/>
                <a:cs typeface="Tahoma"/>
              </a:rPr>
              <a:t>representan</a:t>
            </a:r>
            <a:r>
              <a:rPr dirty="0" sz="1350" spc="-11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la</a:t>
            </a:r>
            <a:r>
              <a:rPr dirty="0" sz="1350" spc="-114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interconexión</a:t>
            </a:r>
            <a:r>
              <a:rPr dirty="0" sz="1350" spc="-11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de</a:t>
            </a:r>
            <a:r>
              <a:rPr dirty="0" sz="1350" spc="-11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dispositivos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electrónicos,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2B404F"/>
                </a:solidFill>
                <a:latin typeface="Tahoma"/>
                <a:cs typeface="Tahoma"/>
              </a:rPr>
              <a:t>sensores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2B404F"/>
                </a:solidFill>
                <a:latin typeface="Tahoma"/>
                <a:cs typeface="Tahoma"/>
              </a:rPr>
              <a:t>y</a:t>
            </a:r>
            <a:r>
              <a:rPr dirty="0" sz="1350" spc="-10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B404F"/>
                </a:solidFill>
                <a:latin typeface="Tahoma"/>
                <a:cs typeface="Tahoma"/>
              </a:rPr>
              <a:t>aplicaciones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2B404F"/>
                </a:solidFill>
                <a:latin typeface="Tahoma"/>
                <a:cs typeface="Tahoma"/>
              </a:rPr>
              <a:t>a</a:t>
            </a:r>
            <a:r>
              <a:rPr dirty="0" sz="1350" spc="-10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2B404F"/>
                </a:solidFill>
                <a:latin typeface="Tahoma"/>
                <a:cs typeface="Tahoma"/>
              </a:rPr>
              <a:t>través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de</a:t>
            </a:r>
            <a:r>
              <a:rPr dirty="0" sz="1350" spc="-10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2B404F"/>
                </a:solidFill>
                <a:latin typeface="Tahoma"/>
                <a:cs typeface="Tahoma"/>
              </a:rPr>
              <a:t>Internet,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B404F"/>
                </a:solidFill>
                <a:latin typeface="Tahoma"/>
                <a:cs typeface="Tahoma"/>
              </a:rPr>
              <a:t>permitiendo</a:t>
            </a:r>
            <a:r>
              <a:rPr dirty="0" sz="1350" spc="-10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la </a:t>
            </a:r>
            <a:r>
              <a:rPr dirty="0" sz="1350" spc="-20">
                <a:solidFill>
                  <a:srgbClr val="2B404F"/>
                </a:solidFill>
                <a:latin typeface="Tahoma"/>
                <a:cs typeface="Tahoma"/>
              </a:rPr>
              <a:t>recolección</a:t>
            </a:r>
            <a:r>
              <a:rPr dirty="0" sz="1350" spc="-13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2B404F"/>
                </a:solidFill>
                <a:latin typeface="Tahoma"/>
                <a:cs typeface="Tahoma"/>
              </a:rPr>
              <a:t>y</a:t>
            </a:r>
            <a:r>
              <a:rPr dirty="0" sz="1350" spc="-12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B404F"/>
                </a:solidFill>
                <a:latin typeface="Tahoma"/>
                <a:cs typeface="Tahoma"/>
              </a:rPr>
              <a:t>el</a:t>
            </a:r>
            <a:r>
              <a:rPr dirty="0" sz="1350" spc="-12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intercambio</a:t>
            </a:r>
            <a:r>
              <a:rPr dirty="0" sz="1350" spc="-13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de</a:t>
            </a:r>
            <a:r>
              <a:rPr dirty="0" sz="1350" spc="-12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datos</a:t>
            </a:r>
            <a:r>
              <a:rPr dirty="0" sz="1350" spc="-12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en</a:t>
            </a:r>
            <a:r>
              <a:rPr dirty="0" sz="1350" spc="-13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B404F"/>
                </a:solidFill>
                <a:latin typeface="Tahoma"/>
                <a:cs typeface="Tahoma"/>
              </a:rPr>
              <a:t>tiempo</a:t>
            </a:r>
            <a:r>
              <a:rPr dirty="0" sz="1350" spc="-12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real</a:t>
            </a:r>
            <a:r>
              <a:rPr dirty="0" sz="1350" spc="-12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2B404F"/>
                </a:solidFill>
                <a:latin typeface="Tahoma"/>
                <a:cs typeface="Tahoma"/>
              </a:rPr>
              <a:t>para</a:t>
            </a:r>
            <a:r>
              <a:rPr dirty="0" sz="1350" spc="-12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2B404F"/>
                </a:solidFill>
                <a:latin typeface="Tahoma"/>
                <a:cs typeface="Tahoma"/>
              </a:rPr>
              <a:t>mejorar</a:t>
            </a:r>
            <a:r>
              <a:rPr dirty="0" sz="1350" spc="-13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la</a:t>
            </a:r>
            <a:r>
              <a:rPr dirty="0" sz="1350" spc="-12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eficiencia</a:t>
            </a:r>
            <a:r>
              <a:rPr dirty="0" sz="1350" spc="-12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2B404F"/>
                </a:solidFill>
                <a:latin typeface="Tahoma"/>
                <a:cs typeface="Tahoma"/>
              </a:rPr>
              <a:t>y</a:t>
            </a:r>
            <a:r>
              <a:rPr dirty="0" sz="1350" spc="-13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la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toma</a:t>
            </a:r>
            <a:r>
              <a:rPr dirty="0" sz="1350" spc="-13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de</a:t>
            </a:r>
            <a:r>
              <a:rPr dirty="0" sz="1350" spc="-13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decisiones.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739900"/>
            <a:ext cx="60604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85"/>
              <a:t>Ventajas</a:t>
            </a:r>
            <a:r>
              <a:rPr dirty="0" sz="3350" spc="-30"/>
              <a:t> </a:t>
            </a:r>
            <a:r>
              <a:rPr dirty="0" sz="3350" spc="145"/>
              <a:t>de</a:t>
            </a:r>
            <a:r>
              <a:rPr dirty="0" sz="3350" spc="-30"/>
              <a:t> </a:t>
            </a:r>
            <a:r>
              <a:rPr dirty="0" sz="3350" spc="140"/>
              <a:t>los</a:t>
            </a:r>
            <a:r>
              <a:rPr dirty="0" sz="3350" spc="-30"/>
              <a:t> </a:t>
            </a:r>
            <a:r>
              <a:rPr dirty="0" sz="3350" spc="195"/>
              <a:t>sistemas</a:t>
            </a:r>
            <a:r>
              <a:rPr dirty="0" sz="3350" spc="-30"/>
              <a:t> </a:t>
            </a:r>
            <a:r>
              <a:rPr dirty="0" sz="3350" spc="229"/>
              <a:t>IoT</a:t>
            </a:r>
            <a:endParaRPr sz="3350"/>
          </a:p>
        </p:txBody>
      </p:sp>
      <p:sp>
        <p:nvSpPr>
          <p:cNvPr id="3" name="object 3" descr=""/>
          <p:cNvSpPr txBox="1"/>
          <p:nvPr/>
        </p:nvSpPr>
        <p:spPr>
          <a:xfrm>
            <a:off x="587375" y="2706687"/>
            <a:ext cx="267589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0">
                <a:solidFill>
                  <a:srgbClr val="114E72"/>
                </a:solidFill>
                <a:latin typeface="Arial MT"/>
                <a:cs typeface="Arial MT"/>
              </a:rPr>
              <a:t>Optimización</a:t>
            </a:r>
            <a:r>
              <a:rPr dirty="0" sz="1650" spc="-15">
                <a:solidFill>
                  <a:srgbClr val="114E72"/>
                </a:solidFill>
                <a:latin typeface="Arial MT"/>
                <a:cs typeface="Arial MT"/>
              </a:rPr>
              <a:t> </a:t>
            </a:r>
            <a:r>
              <a:rPr dirty="0" sz="1650" spc="100">
                <a:solidFill>
                  <a:srgbClr val="114E72"/>
                </a:solidFill>
                <a:latin typeface="Arial MT"/>
                <a:cs typeface="Arial MT"/>
              </a:rPr>
              <a:t>de</a:t>
            </a:r>
            <a:r>
              <a:rPr dirty="0" sz="1650" spc="-10">
                <a:solidFill>
                  <a:srgbClr val="114E72"/>
                </a:solidFill>
                <a:latin typeface="Arial MT"/>
                <a:cs typeface="Arial MT"/>
              </a:rPr>
              <a:t> Procesos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87375" y="3098164"/>
            <a:ext cx="3125470" cy="11207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32700"/>
              </a:lnSpc>
              <a:spcBef>
                <a:spcPts val="125"/>
              </a:spcBef>
            </a:pPr>
            <a:r>
              <a:rPr dirty="0" sz="1350" spc="-125">
                <a:solidFill>
                  <a:srgbClr val="2B404F"/>
                </a:solidFill>
                <a:latin typeface="Verdana"/>
                <a:cs typeface="Verdana"/>
              </a:rPr>
              <a:t>Los</a:t>
            </a:r>
            <a:r>
              <a:rPr dirty="0" sz="1350" spc="-16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40">
                <a:solidFill>
                  <a:srgbClr val="2B404F"/>
                </a:solidFill>
                <a:latin typeface="Verdana"/>
                <a:cs typeface="Verdana"/>
              </a:rPr>
              <a:t>sistemas</a:t>
            </a:r>
            <a:r>
              <a:rPr dirty="0" sz="1350" spc="-16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75">
                <a:solidFill>
                  <a:srgbClr val="2B404F"/>
                </a:solidFill>
                <a:latin typeface="Verdana"/>
                <a:cs typeface="Verdana"/>
              </a:rPr>
              <a:t>IoT</a:t>
            </a:r>
            <a:r>
              <a:rPr dirty="0" sz="1350" spc="-16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25">
                <a:solidFill>
                  <a:srgbClr val="2B404F"/>
                </a:solidFill>
                <a:latin typeface="Verdana"/>
                <a:cs typeface="Verdana"/>
              </a:rPr>
              <a:t>permiten</a:t>
            </a:r>
            <a:r>
              <a:rPr dirty="0" sz="1350" spc="-16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25">
                <a:solidFill>
                  <a:srgbClr val="2B404F"/>
                </a:solidFill>
                <a:latin typeface="Verdana"/>
                <a:cs typeface="Verdana"/>
              </a:rPr>
              <a:t>monitorear</a:t>
            </a:r>
            <a:r>
              <a:rPr dirty="0" sz="1350" spc="-16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B404F"/>
                </a:solidFill>
                <a:latin typeface="Verdana"/>
                <a:cs typeface="Verdana"/>
              </a:rPr>
              <a:t>y </a:t>
            </a:r>
            <a:r>
              <a:rPr dirty="0" sz="1350" spc="-110">
                <a:solidFill>
                  <a:srgbClr val="2B404F"/>
                </a:solidFill>
                <a:latin typeface="Verdana"/>
                <a:cs typeface="Verdana"/>
              </a:rPr>
              <a:t>controlar</a:t>
            </a:r>
            <a:r>
              <a:rPr dirty="0" sz="1350" spc="-17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20">
                <a:solidFill>
                  <a:srgbClr val="2B404F"/>
                </a:solidFill>
                <a:latin typeface="Verdana"/>
                <a:cs typeface="Verdana"/>
              </a:rPr>
              <a:t>de</a:t>
            </a:r>
            <a:r>
              <a:rPr dirty="0" sz="1350" spc="-17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50">
                <a:solidFill>
                  <a:srgbClr val="2B404F"/>
                </a:solidFill>
                <a:latin typeface="Verdana"/>
                <a:cs typeface="Verdana"/>
              </a:rPr>
              <a:t>manera</a:t>
            </a:r>
            <a:r>
              <a:rPr dirty="0" sz="1350" spc="-170">
                <a:solidFill>
                  <a:srgbClr val="2B404F"/>
                </a:solidFill>
                <a:latin typeface="Verdana"/>
                <a:cs typeface="Verdana"/>
              </a:rPr>
              <a:t> más </a:t>
            </a:r>
            <a:r>
              <a:rPr dirty="0" sz="1350" spc="-105">
                <a:solidFill>
                  <a:srgbClr val="2B404F"/>
                </a:solidFill>
                <a:latin typeface="Verdana"/>
                <a:cs typeface="Verdana"/>
              </a:rPr>
              <a:t>eficiente</a:t>
            </a:r>
            <a:r>
              <a:rPr dirty="0" sz="1350" spc="-17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B404F"/>
                </a:solidFill>
                <a:latin typeface="Verdana"/>
                <a:cs typeface="Verdana"/>
              </a:rPr>
              <a:t>diversos </a:t>
            </a:r>
            <a:r>
              <a:rPr dirty="0" sz="1350" spc="-130">
                <a:solidFill>
                  <a:srgbClr val="2B404F"/>
                </a:solidFill>
                <a:latin typeface="Verdana"/>
                <a:cs typeface="Verdana"/>
              </a:rPr>
              <a:t>procesos,</a:t>
            </a:r>
            <a:r>
              <a:rPr dirty="0" sz="1350" spc="-15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2B404F"/>
                </a:solidFill>
                <a:latin typeface="Verdana"/>
                <a:cs typeface="Verdana"/>
              </a:rPr>
              <a:t>reduciendo</a:t>
            </a:r>
            <a:r>
              <a:rPr dirty="0" sz="1350" spc="-15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25">
                <a:solidFill>
                  <a:srgbClr val="2B404F"/>
                </a:solidFill>
                <a:latin typeface="Verdana"/>
                <a:cs typeface="Verdana"/>
              </a:rPr>
              <a:t>costos</a:t>
            </a:r>
            <a:r>
              <a:rPr dirty="0" sz="1350" spc="-15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85">
                <a:solidFill>
                  <a:srgbClr val="2B404F"/>
                </a:solidFill>
                <a:latin typeface="Verdana"/>
                <a:cs typeface="Verdana"/>
              </a:rPr>
              <a:t>y</a:t>
            </a:r>
            <a:r>
              <a:rPr dirty="0" sz="1350" spc="-15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25">
                <a:solidFill>
                  <a:srgbClr val="2B404F"/>
                </a:solidFill>
                <a:latin typeface="Verdana"/>
                <a:cs typeface="Verdana"/>
              </a:rPr>
              <a:t>aumentando </a:t>
            </a:r>
            <a:r>
              <a:rPr dirty="0" sz="1350" spc="-90">
                <a:solidFill>
                  <a:srgbClr val="2B404F"/>
                </a:solidFill>
                <a:latin typeface="Verdana"/>
                <a:cs typeface="Verdana"/>
              </a:rPr>
              <a:t>la</a:t>
            </a:r>
            <a:r>
              <a:rPr dirty="0" sz="1350" spc="-19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B404F"/>
                </a:solidFill>
                <a:latin typeface="Verdana"/>
                <a:cs typeface="Verdana"/>
              </a:rPr>
              <a:t>productividad.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45851" y="2706687"/>
            <a:ext cx="2937510" cy="54927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dirty="0" sz="1650" spc="150">
                <a:solidFill>
                  <a:srgbClr val="114E72"/>
                </a:solidFill>
                <a:latin typeface="Arial MT"/>
                <a:cs typeface="Arial MT"/>
              </a:rPr>
              <a:t>Mejora</a:t>
            </a:r>
            <a:r>
              <a:rPr dirty="0" sz="1650">
                <a:solidFill>
                  <a:srgbClr val="114E72"/>
                </a:solidFill>
                <a:latin typeface="Arial MT"/>
                <a:cs typeface="Arial MT"/>
              </a:rPr>
              <a:t> </a:t>
            </a:r>
            <a:r>
              <a:rPr dirty="0" sz="1650" spc="100">
                <a:solidFill>
                  <a:srgbClr val="114E72"/>
                </a:solidFill>
                <a:latin typeface="Arial MT"/>
                <a:cs typeface="Arial MT"/>
              </a:rPr>
              <a:t>de</a:t>
            </a:r>
            <a:r>
              <a:rPr dirty="0" sz="1650">
                <a:solidFill>
                  <a:srgbClr val="114E72"/>
                </a:solidFill>
                <a:latin typeface="Arial MT"/>
                <a:cs typeface="Arial MT"/>
              </a:rPr>
              <a:t> </a:t>
            </a:r>
            <a:r>
              <a:rPr dirty="0" sz="1650" spc="110">
                <a:solidFill>
                  <a:srgbClr val="114E72"/>
                </a:solidFill>
                <a:latin typeface="Arial MT"/>
                <a:cs typeface="Arial MT"/>
              </a:rPr>
              <a:t>la</a:t>
            </a:r>
            <a:r>
              <a:rPr dirty="0" sz="1650">
                <a:solidFill>
                  <a:srgbClr val="114E72"/>
                </a:solidFill>
                <a:latin typeface="Arial MT"/>
                <a:cs typeface="Arial MT"/>
              </a:rPr>
              <a:t> </a:t>
            </a:r>
            <a:r>
              <a:rPr dirty="0" sz="1650" spc="50">
                <a:solidFill>
                  <a:srgbClr val="114E72"/>
                </a:solidFill>
                <a:latin typeface="Arial MT"/>
                <a:cs typeface="Arial MT"/>
              </a:rPr>
              <a:t>Experiencia</a:t>
            </a:r>
            <a:r>
              <a:rPr dirty="0" sz="1650" spc="5">
                <a:solidFill>
                  <a:srgbClr val="114E72"/>
                </a:solidFill>
                <a:latin typeface="Arial MT"/>
                <a:cs typeface="Arial MT"/>
              </a:rPr>
              <a:t> </a:t>
            </a:r>
            <a:r>
              <a:rPr dirty="0" sz="1650" spc="60">
                <a:solidFill>
                  <a:srgbClr val="114E72"/>
                </a:solidFill>
                <a:latin typeface="Arial MT"/>
                <a:cs typeface="Arial MT"/>
              </a:rPr>
              <a:t>del </a:t>
            </a:r>
            <a:r>
              <a:rPr dirty="0" sz="1650" spc="75">
                <a:solidFill>
                  <a:srgbClr val="114E72"/>
                </a:solidFill>
                <a:latin typeface="Arial MT"/>
                <a:cs typeface="Arial MT"/>
              </a:rPr>
              <a:t>Usuario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145851" y="3364865"/>
            <a:ext cx="3105785" cy="11207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32700"/>
              </a:lnSpc>
              <a:spcBef>
                <a:spcPts val="125"/>
              </a:spcBef>
            </a:pPr>
            <a:r>
              <a:rPr dirty="0" sz="1350" spc="-175">
                <a:solidFill>
                  <a:srgbClr val="2B404F"/>
                </a:solidFill>
                <a:latin typeface="Verdana"/>
                <a:cs typeface="Verdana"/>
              </a:rPr>
              <a:t>IoT</a:t>
            </a:r>
            <a:r>
              <a:rPr dirty="0" sz="1350" spc="-17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B404F"/>
                </a:solidFill>
                <a:latin typeface="Verdana"/>
                <a:cs typeface="Verdana"/>
              </a:rPr>
              <a:t>posibilita</a:t>
            </a:r>
            <a:r>
              <a:rPr dirty="0" sz="1350" spc="-16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B404F"/>
                </a:solidFill>
                <a:latin typeface="Verdana"/>
                <a:cs typeface="Verdana"/>
              </a:rPr>
              <a:t>la</a:t>
            </a:r>
            <a:r>
              <a:rPr dirty="0" sz="1350" spc="-17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14">
                <a:solidFill>
                  <a:srgbClr val="2B404F"/>
                </a:solidFill>
                <a:latin typeface="Verdana"/>
                <a:cs typeface="Verdana"/>
              </a:rPr>
              <a:t>creación</a:t>
            </a:r>
            <a:r>
              <a:rPr dirty="0" sz="1350" spc="-16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20">
                <a:solidFill>
                  <a:srgbClr val="2B404F"/>
                </a:solidFill>
                <a:latin typeface="Verdana"/>
                <a:cs typeface="Verdana"/>
              </a:rPr>
              <a:t>de</a:t>
            </a:r>
            <a:r>
              <a:rPr dirty="0" sz="1350" spc="-17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05">
                <a:solidFill>
                  <a:srgbClr val="2B404F"/>
                </a:solidFill>
                <a:latin typeface="Verdana"/>
                <a:cs typeface="Verdana"/>
              </a:rPr>
              <a:t>soluciones</a:t>
            </a:r>
            <a:r>
              <a:rPr dirty="0" sz="1350" spc="-16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35">
                <a:solidFill>
                  <a:srgbClr val="2B404F"/>
                </a:solidFill>
                <a:latin typeface="Verdana"/>
                <a:cs typeface="Verdana"/>
              </a:rPr>
              <a:t>más </a:t>
            </a:r>
            <a:r>
              <a:rPr dirty="0" sz="1350" spc="-120">
                <a:solidFill>
                  <a:srgbClr val="2B404F"/>
                </a:solidFill>
                <a:latin typeface="Verdana"/>
                <a:cs typeface="Verdana"/>
              </a:rPr>
              <a:t>personalizadas</a:t>
            </a:r>
            <a:r>
              <a:rPr dirty="0" sz="1350" spc="-16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85">
                <a:solidFill>
                  <a:srgbClr val="2B404F"/>
                </a:solidFill>
                <a:latin typeface="Verdana"/>
                <a:cs typeface="Verdana"/>
              </a:rPr>
              <a:t>y</a:t>
            </a:r>
            <a:r>
              <a:rPr dirty="0" sz="1350" spc="-16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30">
                <a:solidFill>
                  <a:srgbClr val="2B404F"/>
                </a:solidFill>
                <a:latin typeface="Verdana"/>
                <a:cs typeface="Verdana"/>
              </a:rPr>
              <a:t>adaptadas</a:t>
            </a:r>
            <a:r>
              <a:rPr dirty="0" sz="1350" spc="-16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45">
                <a:solidFill>
                  <a:srgbClr val="2B404F"/>
                </a:solidFill>
                <a:latin typeface="Verdana"/>
                <a:cs typeface="Verdana"/>
              </a:rPr>
              <a:t>a</a:t>
            </a:r>
            <a:r>
              <a:rPr dirty="0" sz="1350" spc="-16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B404F"/>
                </a:solidFill>
                <a:latin typeface="Verdana"/>
                <a:cs typeface="Verdana"/>
              </a:rPr>
              <a:t>las </a:t>
            </a:r>
            <a:r>
              <a:rPr dirty="0" sz="1350" spc="-125">
                <a:solidFill>
                  <a:srgbClr val="2B404F"/>
                </a:solidFill>
                <a:latin typeface="Verdana"/>
                <a:cs typeface="Verdana"/>
              </a:rPr>
              <a:t>necesidades</a:t>
            </a:r>
            <a:r>
              <a:rPr dirty="0" sz="1350" spc="-15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20">
                <a:solidFill>
                  <a:srgbClr val="2B404F"/>
                </a:solidFill>
                <a:latin typeface="Verdana"/>
                <a:cs typeface="Verdana"/>
              </a:rPr>
              <a:t>de</a:t>
            </a:r>
            <a:r>
              <a:rPr dirty="0" sz="1350" spc="-15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B404F"/>
                </a:solidFill>
                <a:latin typeface="Verdana"/>
                <a:cs typeface="Verdana"/>
              </a:rPr>
              <a:t>los</a:t>
            </a:r>
            <a:r>
              <a:rPr dirty="0" sz="1350" spc="-15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25">
                <a:solidFill>
                  <a:srgbClr val="2B404F"/>
                </a:solidFill>
                <a:latin typeface="Verdana"/>
                <a:cs typeface="Verdana"/>
              </a:rPr>
              <a:t>usuarios,</a:t>
            </a:r>
            <a:r>
              <a:rPr dirty="0" sz="1350" spc="-15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25">
                <a:solidFill>
                  <a:srgbClr val="2B404F"/>
                </a:solidFill>
                <a:latin typeface="Verdana"/>
                <a:cs typeface="Verdana"/>
              </a:rPr>
              <a:t>elevando</a:t>
            </a:r>
            <a:r>
              <a:rPr dirty="0" sz="1350" spc="-15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B404F"/>
                </a:solidFill>
                <a:latin typeface="Verdana"/>
                <a:cs typeface="Verdana"/>
              </a:rPr>
              <a:t>su </a:t>
            </a:r>
            <a:r>
              <a:rPr dirty="0" sz="1350" spc="-40">
                <a:solidFill>
                  <a:srgbClr val="2B404F"/>
                </a:solidFill>
                <a:latin typeface="Verdana"/>
                <a:cs typeface="Verdana"/>
              </a:rPr>
              <a:t>satisfacción.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704340" y="2706687"/>
            <a:ext cx="2070735" cy="54927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dirty="0" sz="1650" spc="95">
                <a:solidFill>
                  <a:srgbClr val="114E72"/>
                </a:solidFill>
                <a:latin typeface="Arial MT"/>
                <a:cs typeface="Arial MT"/>
              </a:rPr>
              <a:t>Toma</a:t>
            </a:r>
            <a:r>
              <a:rPr dirty="0" sz="1650" spc="-10">
                <a:solidFill>
                  <a:srgbClr val="114E72"/>
                </a:solidFill>
                <a:latin typeface="Arial MT"/>
                <a:cs typeface="Arial MT"/>
              </a:rPr>
              <a:t> </a:t>
            </a:r>
            <a:r>
              <a:rPr dirty="0" sz="1650" spc="100">
                <a:solidFill>
                  <a:srgbClr val="114E72"/>
                </a:solidFill>
                <a:latin typeface="Arial MT"/>
                <a:cs typeface="Arial MT"/>
              </a:rPr>
              <a:t>de</a:t>
            </a:r>
            <a:r>
              <a:rPr dirty="0" sz="1650" spc="-5">
                <a:solidFill>
                  <a:srgbClr val="114E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14E72"/>
                </a:solidFill>
                <a:latin typeface="Arial MT"/>
                <a:cs typeface="Arial MT"/>
              </a:rPr>
              <a:t>Decisiones </a:t>
            </a:r>
            <a:r>
              <a:rPr dirty="0" sz="1650" spc="145">
                <a:solidFill>
                  <a:srgbClr val="114E72"/>
                </a:solidFill>
                <a:latin typeface="Arial MT"/>
                <a:cs typeface="Arial MT"/>
              </a:rPr>
              <a:t>Informadas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704340" y="3364865"/>
            <a:ext cx="2887345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330">
                <a:solidFill>
                  <a:srgbClr val="2B404F"/>
                </a:solidFill>
                <a:latin typeface="Verdana"/>
                <a:cs typeface="Verdana"/>
              </a:rPr>
              <a:t>La</a:t>
            </a:r>
            <a:r>
              <a:rPr dirty="0" sz="1350" spc="21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25">
                <a:solidFill>
                  <a:srgbClr val="2B404F"/>
                </a:solidFill>
                <a:latin typeface="Verdana"/>
                <a:cs typeface="Verdana"/>
              </a:rPr>
              <a:t>recolección</a:t>
            </a:r>
            <a:r>
              <a:rPr dirty="0" sz="1350" spc="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325">
                <a:solidFill>
                  <a:srgbClr val="2B404F"/>
                </a:solidFill>
                <a:latin typeface="Verdana"/>
                <a:cs typeface="Verdana"/>
              </a:rPr>
              <a:t>de</a:t>
            </a:r>
            <a:r>
              <a:rPr dirty="0" sz="1350" spc="204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70">
                <a:solidFill>
                  <a:srgbClr val="2B404F"/>
                </a:solidFill>
                <a:latin typeface="Verdana"/>
                <a:cs typeface="Verdana"/>
              </a:rPr>
              <a:t>datos</a:t>
            </a:r>
            <a:r>
              <a:rPr dirty="0" sz="1350" spc="5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335">
                <a:solidFill>
                  <a:srgbClr val="2B404F"/>
                </a:solidFill>
                <a:latin typeface="Verdana"/>
                <a:cs typeface="Verdana"/>
              </a:rPr>
              <a:t>en</a:t>
            </a:r>
            <a:r>
              <a:rPr dirty="0" sz="1350" spc="21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50">
                <a:solidFill>
                  <a:srgbClr val="2B404F"/>
                </a:solidFill>
                <a:latin typeface="Verdana"/>
                <a:cs typeface="Verdana"/>
              </a:rPr>
              <a:t>tiempo</a:t>
            </a:r>
            <a:r>
              <a:rPr dirty="0" sz="1350" spc="7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85">
                <a:solidFill>
                  <a:srgbClr val="2B404F"/>
                </a:solidFill>
                <a:latin typeface="Verdana"/>
                <a:cs typeface="Verdana"/>
              </a:rPr>
              <a:t>real</a:t>
            </a:r>
            <a:r>
              <a:rPr dirty="0" sz="1350" spc="12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B404F"/>
                </a:solidFill>
                <a:latin typeface="Verdana"/>
                <a:cs typeface="Verdana"/>
              </a:rPr>
              <a:t>a </a:t>
            </a:r>
            <a:r>
              <a:rPr dirty="0" sz="1350" spc="-180">
                <a:solidFill>
                  <a:srgbClr val="2B404F"/>
                </a:solidFill>
                <a:latin typeface="Verdana"/>
                <a:cs typeface="Verdana"/>
              </a:rPr>
              <a:t>través</a:t>
            </a:r>
            <a:r>
              <a:rPr dirty="0" sz="1350" spc="6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325">
                <a:solidFill>
                  <a:srgbClr val="2B404F"/>
                </a:solidFill>
                <a:latin typeface="Verdana"/>
                <a:cs typeface="Verdana"/>
              </a:rPr>
              <a:t>de</a:t>
            </a:r>
            <a:r>
              <a:rPr dirty="0" sz="1350" spc="204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300">
                <a:solidFill>
                  <a:srgbClr val="2B404F"/>
                </a:solidFill>
                <a:latin typeface="Verdana"/>
                <a:cs typeface="Verdana"/>
              </a:rPr>
              <a:t>IoT</a:t>
            </a:r>
            <a:r>
              <a:rPr dirty="0" sz="1350" spc="18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55">
                <a:solidFill>
                  <a:srgbClr val="2B404F"/>
                </a:solidFill>
                <a:latin typeface="Verdana"/>
                <a:cs typeface="Verdana"/>
              </a:rPr>
              <a:t>ofrece</a:t>
            </a:r>
            <a:r>
              <a:rPr dirty="0" sz="1350" spc="4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30">
                <a:solidFill>
                  <a:srgbClr val="2B404F"/>
                </a:solidFill>
                <a:latin typeface="Verdana"/>
                <a:cs typeface="Verdana"/>
              </a:rPr>
              <a:t>información</a:t>
            </a:r>
            <a:r>
              <a:rPr dirty="0" sz="1350" spc="114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B404F"/>
                </a:solidFill>
                <a:latin typeface="Verdana"/>
                <a:cs typeface="Verdana"/>
              </a:rPr>
              <a:t>valiosa </a:t>
            </a:r>
            <a:r>
              <a:rPr dirty="0" sz="1350" spc="-140">
                <a:solidFill>
                  <a:srgbClr val="2B404F"/>
                </a:solidFill>
                <a:latin typeface="Verdana"/>
                <a:cs typeface="Verdana"/>
              </a:rPr>
              <a:t>para</a:t>
            </a:r>
            <a:r>
              <a:rPr dirty="0" sz="1350" spc="-18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B404F"/>
                </a:solidFill>
                <a:latin typeface="Verdana"/>
                <a:cs typeface="Verdana"/>
              </a:rPr>
              <a:t>la</a:t>
            </a:r>
            <a:r>
              <a:rPr dirty="0" sz="1350" spc="-18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45">
                <a:solidFill>
                  <a:srgbClr val="2B404F"/>
                </a:solidFill>
                <a:latin typeface="Verdana"/>
                <a:cs typeface="Verdana"/>
              </a:rPr>
              <a:t>toma</a:t>
            </a:r>
            <a:r>
              <a:rPr dirty="0" sz="1350" spc="-17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20">
                <a:solidFill>
                  <a:srgbClr val="2B404F"/>
                </a:solidFill>
                <a:latin typeface="Verdana"/>
                <a:cs typeface="Verdana"/>
              </a:rPr>
              <a:t>de</a:t>
            </a:r>
            <a:r>
              <a:rPr dirty="0" sz="1350" spc="-18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2B404F"/>
                </a:solidFill>
                <a:latin typeface="Verdana"/>
                <a:cs typeface="Verdana"/>
              </a:rPr>
              <a:t>decisiones</a:t>
            </a:r>
            <a:r>
              <a:rPr dirty="0" sz="1350" spc="-17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2B404F"/>
                </a:solidFill>
                <a:latin typeface="Verdana"/>
                <a:cs typeface="Verdana"/>
              </a:rPr>
              <a:t>estratégicas.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9" name="object 9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191875" cy="6435725"/>
          </a:xfrm>
          <a:custGeom>
            <a:avLst/>
            <a:gdLst/>
            <a:ahLst/>
            <a:cxnLst/>
            <a:rect l="l" t="t" r="r" b="b"/>
            <a:pathLst>
              <a:path w="11191875" h="6435725">
                <a:moveTo>
                  <a:pt x="11191654" y="0"/>
                </a:moveTo>
                <a:lnTo>
                  <a:pt x="0" y="0"/>
                </a:lnTo>
                <a:lnTo>
                  <a:pt x="0" y="6435201"/>
                </a:lnTo>
                <a:lnTo>
                  <a:pt x="11191654" y="6435201"/>
                </a:lnTo>
                <a:lnTo>
                  <a:pt x="11191654" y="0"/>
                </a:lnTo>
                <a:close/>
              </a:path>
            </a:pathLst>
          </a:custGeom>
          <a:solidFill>
            <a:srgbClr val="FFFCF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8"/>
            <a:ext cx="4196870" cy="64349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ts val="4110"/>
              </a:lnSpc>
              <a:spcBef>
                <a:spcPts val="55"/>
              </a:spcBef>
            </a:pPr>
            <a:r>
              <a:rPr dirty="0" spc="140"/>
              <a:t>Desventajas</a:t>
            </a:r>
            <a:r>
              <a:rPr dirty="0" spc="-30"/>
              <a:t> </a:t>
            </a:r>
            <a:r>
              <a:rPr dirty="0" spc="145"/>
              <a:t>de</a:t>
            </a:r>
            <a:r>
              <a:rPr dirty="0" spc="-25"/>
              <a:t> </a:t>
            </a:r>
            <a:r>
              <a:rPr dirty="0" spc="140"/>
              <a:t>los</a:t>
            </a:r>
            <a:r>
              <a:rPr dirty="0" spc="-30"/>
              <a:t> </a:t>
            </a:r>
            <a:r>
              <a:rPr dirty="0" spc="165"/>
              <a:t>sistemas </a:t>
            </a:r>
            <a:r>
              <a:rPr dirty="0" spc="225"/>
              <a:t>IoT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4784432" y="1949212"/>
            <a:ext cx="382905" cy="382905"/>
          </a:xfrm>
          <a:custGeom>
            <a:avLst/>
            <a:gdLst/>
            <a:ahLst/>
            <a:cxnLst/>
            <a:rect l="l" t="t" r="r" b="b"/>
            <a:pathLst>
              <a:path w="382904" h="382905">
                <a:moveTo>
                  <a:pt x="364176" y="0"/>
                </a:moveTo>
                <a:lnTo>
                  <a:pt x="18205" y="0"/>
                </a:lnTo>
                <a:lnTo>
                  <a:pt x="15519" y="534"/>
                </a:lnTo>
                <a:lnTo>
                  <a:pt x="0" y="18205"/>
                </a:lnTo>
                <a:lnTo>
                  <a:pt x="0" y="361403"/>
                </a:lnTo>
                <a:lnTo>
                  <a:pt x="0" y="364176"/>
                </a:lnTo>
                <a:lnTo>
                  <a:pt x="18205" y="382381"/>
                </a:lnTo>
                <a:lnTo>
                  <a:pt x="364176" y="382381"/>
                </a:lnTo>
                <a:lnTo>
                  <a:pt x="382381" y="364176"/>
                </a:lnTo>
                <a:lnTo>
                  <a:pt x="382381" y="18205"/>
                </a:lnTo>
                <a:lnTo>
                  <a:pt x="366862" y="534"/>
                </a:lnTo>
                <a:lnTo>
                  <a:pt x="364176" y="0"/>
                </a:lnTo>
                <a:close/>
              </a:path>
            </a:pathLst>
          </a:custGeom>
          <a:solidFill>
            <a:srgbClr val="F3EE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4901431" y="1964492"/>
            <a:ext cx="14351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114">
                <a:solidFill>
                  <a:srgbClr val="2B404F"/>
                </a:solidFill>
                <a:latin typeface="Arial MT"/>
                <a:cs typeface="Arial MT"/>
              </a:rPr>
              <a:t>1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17329" y="1931849"/>
            <a:ext cx="2214880" cy="194818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 marR="964565">
              <a:lnSpc>
                <a:spcPct val="103800"/>
              </a:lnSpc>
              <a:spcBef>
                <a:spcPts val="25"/>
              </a:spcBef>
            </a:pPr>
            <a:r>
              <a:rPr dirty="0" sz="1650" spc="70">
                <a:solidFill>
                  <a:srgbClr val="2B404F"/>
                </a:solidFill>
                <a:latin typeface="Arial MT"/>
                <a:cs typeface="Arial MT"/>
              </a:rPr>
              <a:t>Seguridad</a:t>
            </a:r>
            <a:r>
              <a:rPr dirty="0" sz="1650" spc="15">
                <a:solidFill>
                  <a:srgbClr val="2B404F"/>
                </a:solidFill>
                <a:latin typeface="Arial MT"/>
                <a:cs typeface="Arial MT"/>
              </a:rPr>
              <a:t> </a:t>
            </a:r>
            <a:r>
              <a:rPr dirty="0" sz="1650" spc="155">
                <a:solidFill>
                  <a:srgbClr val="2B404F"/>
                </a:solidFill>
                <a:latin typeface="Arial MT"/>
                <a:cs typeface="Arial MT"/>
              </a:rPr>
              <a:t>y </a:t>
            </a:r>
            <a:r>
              <a:rPr dirty="0" sz="1650" spc="40">
                <a:solidFill>
                  <a:srgbClr val="2B404F"/>
                </a:solidFill>
                <a:latin typeface="Arial MT"/>
                <a:cs typeface="Arial MT"/>
              </a:rPr>
              <a:t>Privacidad</a:t>
            </a:r>
            <a:endParaRPr sz="1650">
              <a:latin typeface="Arial MT"/>
              <a:cs typeface="Arial MT"/>
            </a:endParaRPr>
          </a:p>
          <a:p>
            <a:pPr marL="12700" marR="5080">
              <a:lnSpc>
                <a:spcPct val="135300"/>
              </a:lnSpc>
              <a:spcBef>
                <a:spcPts val="535"/>
              </a:spcBef>
            </a:pPr>
            <a:r>
              <a:rPr dirty="0" sz="1300" spc="-110">
                <a:solidFill>
                  <a:srgbClr val="2B404F"/>
                </a:solidFill>
                <a:latin typeface="Verdana"/>
                <a:cs typeface="Verdana"/>
              </a:rPr>
              <a:t>Los</a:t>
            </a:r>
            <a:r>
              <a:rPr dirty="0" sz="1300" spc="-16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25">
                <a:solidFill>
                  <a:srgbClr val="2B404F"/>
                </a:solidFill>
                <a:latin typeface="Verdana"/>
                <a:cs typeface="Verdana"/>
              </a:rPr>
              <a:t>sistemas</a:t>
            </a:r>
            <a:r>
              <a:rPr dirty="0" sz="1300" spc="-160">
                <a:solidFill>
                  <a:srgbClr val="2B404F"/>
                </a:solidFill>
                <a:latin typeface="Verdana"/>
                <a:cs typeface="Verdana"/>
              </a:rPr>
              <a:t> IoT </a:t>
            </a:r>
            <a:r>
              <a:rPr dirty="0" sz="1300" spc="-110">
                <a:solidFill>
                  <a:srgbClr val="2B404F"/>
                </a:solidFill>
                <a:latin typeface="Verdana"/>
                <a:cs typeface="Verdana"/>
              </a:rPr>
              <a:t>pueden</a:t>
            </a:r>
            <a:r>
              <a:rPr dirty="0" sz="1300" spc="-16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2B404F"/>
                </a:solidFill>
                <a:latin typeface="Verdana"/>
                <a:cs typeface="Verdana"/>
              </a:rPr>
              <a:t>ser </a:t>
            </a:r>
            <a:r>
              <a:rPr dirty="0" sz="1300" spc="-110">
                <a:solidFill>
                  <a:srgbClr val="2B404F"/>
                </a:solidFill>
                <a:latin typeface="Verdana"/>
                <a:cs typeface="Verdana"/>
              </a:rPr>
              <a:t>vulnerables</a:t>
            </a:r>
            <a:r>
              <a:rPr dirty="0" sz="1300" spc="-13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25">
                <a:solidFill>
                  <a:srgbClr val="2B404F"/>
                </a:solidFill>
                <a:latin typeface="Verdana"/>
                <a:cs typeface="Verdana"/>
              </a:rPr>
              <a:t>a</a:t>
            </a:r>
            <a:r>
              <a:rPr dirty="0" sz="1300" spc="-13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10">
                <a:solidFill>
                  <a:srgbClr val="2B404F"/>
                </a:solidFill>
                <a:latin typeface="Verdana"/>
                <a:cs typeface="Verdana"/>
              </a:rPr>
              <a:t>ciberataques</a:t>
            </a:r>
            <a:r>
              <a:rPr dirty="0" sz="1300" spc="-13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2B404F"/>
                </a:solidFill>
                <a:latin typeface="Verdana"/>
                <a:cs typeface="Verdana"/>
              </a:rPr>
              <a:t>y </a:t>
            </a:r>
            <a:r>
              <a:rPr dirty="0" sz="1300" spc="-105">
                <a:solidFill>
                  <a:srgbClr val="2B404F"/>
                </a:solidFill>
                <a:latin typeface="Verdana"/>
                <a:cs typeface="Verdana"/>
              </a:rPr>
              <a:t>plantean</a:t>
            </a:r>
            <a:r>
              <a:rPr dirty="0" sz="1300" spc="-12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14">
                <a:solidFill>
                  <a:srgbClr val="2B404F"/>
                </a:solidFill>
                <a:latin typeface="Verdana"/>
                <a:cs typeface="Verdana"/>
              </a:rPr>
              <a:t>interrogantes</a:t>
            </a:r>
            <a:r>
              <a:rPr dirty="0" sz="1300" spc="-12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10">
                <a:solidFill>
                  <a:srgbClr val="2B404F"/>
                </a:solidFill>
                <a:latin typeface="Verdana"/>
                <a:cs typeface="Verdana"/>
              </a:rPr>
              <a:t>sobre</a:t>
            </a:r>
            <a:r>
              <a:rPr dirty="0" sz="1300" spc="-12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2B404F"/>
                </a:solidFill>
                <a:latin typeface="Verdana"/>
                <a:cs typeface="Verdana"/>
              </a:rPr>
              <a:t>la </a:t>
            </a:r>
            <a:r>
              <a:rPr dirty="0" sz="1300" spc="-100">
                <a:solidFill>
                  <a:srgbClr val="2B404F"/>
                </a:solidFill>
                <a:latin typeface="Verdana"/>
                <a:cs typeface="Verdana"/>
              </a:rPr>
              <a:t>privacidad</a:t>
            </a:r>
            <a:r>
              <a:rPr dirty="0" sz="1300" spc="-15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10">
                <a:solidFill>
                  <a:srgbClr val="2B404F"/>
                </a:solidFill>
                <a:latin typeface="Verdana"/>
                <a:cs typeface="Verdana"/>
              </a:rPr>
              <a:t>de</a:t>
            </a:r>
            <a:r>
              <a:rPr dirty="0" sz="1300" spc="-15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80">
                <a:solidFill>
                  <a:srgbClr val="2B404F"/>
                </a:solidFill>
                <a:latin typeface="Verdana"/>
                <a:cs typeface="Verdana"/>
              </a:rPr>
              <a:t>los</a:t>
            </a:r>
            <a:r>
              <a:rPr dirty="0" sz="1300" spc="-15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2B404F"/>
                </a:solidFill>
                <a:latin typeface="Verdana"/>
                <a:cs typeface="Verdana"/>
              </a:rPr>
              <a:t>datos </a:t>
            </a:r>
            <a:r>
              <a:rPr dirty="0" sz="1300" spc="-30">
                <a:solidFill>
                  <a:srgbClr val="2B404F"/>
                </a:solidFill>
                <a:latin typeface="Verdana"/>
                <a:cs typeface="Verdana"/>
              </a:rPr>
              <a:t>recolectados.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7778200" y="1949212"/>
            <a:ext cx="382905" cy="382905"/>
          </a:xfrm>
          <a:custGeom>
            <a:avLst/>
            <a:gdLst/>
            <a:ahLst/>
            <a:cxnLst/>
            <a:rect l="l" t="t" r="r" b="b"/>
            <a:pathLst>
              <a:path w="382904" h="382905">
                <a:moveTo>
                  <a:pt x="364176" y="0"/>
                </a:moveTo>
                <a:lnTo>
                  <a:pt x="18205" y="0"/>
                </a:lnTo>
                <a:lnTo>
                  <a:pt x="15519" y="534"/>
                </a:lnTo>
                <a:lnTo>
                  <a:pt x="0" y="18205"/>
                </a:lnTo>
                <a:lnTo>
                  <a:pt x="0" y="361403"/>
                </a:lnTo>
                <a:lnTo>
                  <a:pt x="0" y="364176"/>
                </a:lnTo>
                <a:lnTo>
                  <a:pt x="18205" y="382381"/>
                </a:lnTo>
                <a:lnTo>
                  <a:pt x="364176" y="382381"/>
                </a:lnTo>
                <a:lnTo>
                  <a:pt x="382381" y="364176"/>
                </a:lnTo>
                <a:lnTo>
                  <a:pt x="382381" y="18205"/>
                </a:lnTo>
                <a:lnTo>
                  <a:pt x="366862" y="534"/>
                </a:lnTo>
                <a:lnTo>
                  <a:pt x="364176" y="0"/>
                </a:lnTo>
                <a:close/>
              </a:path>
            </a:pathLst>
          </a:custGeom>
          <a:solidFill>
            <a:srgbClr val="F3EE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7884268" y="1964492"/>
            <a:ext cx="16573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solidFill>
                  <a:srgbClr val="2B404F"/>
                </a:solidFill>
                <a:latin typeface="Arial MT"/>
                <a:cs typeface="Arial MT"/>
              </a:rPr>
              <a:t>2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311095" y="1931849"/>
            <a:ext cx="2172335" cy="194818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 marR="893444">
              <a:lnSpc>
                <a:spcPct val="103800"/>
              </a:lnSpc>
              <a:spcBef>
                <a:spcPts val="25"/>
              </a:spcBef>
            </a:pPr>
            <a:r>
              <a:rPr dirty="0" sz="1650" spc="55">
                <a:solidFill>
                  <a:srgbClr val="2B404F"/>
                </a:solidFill>
                <a:latin typeface="Arial MT"/>
                <a:cs typeface="Arial MT"/>
              </a:rPr>
              <a:t>Complejidad </a:t>
            </a:r>
            <a:r>
              <a:rPr dirty="0" sz="1650" spc="-10">
                <a:solidFill>
                  <a:srgbClr val="2B404F"/>
                </a:solidFill>
                <a:latin typeface="Arial MT"/>
                <a:cs typeface="Arial MT"/>
              </a:rPr>
              <a:t>Tecnológica</a:t>
            </a:r>
            <a:endParaRPr sz="1650">
              <a:latin typeface="Arial MT"/>
              <a:cs typeface="Arial MT"/>
            </a:endParaRPr>
          </a:p>
          <a:p>
            <a:pPr marL="12700" marR="5080">
              <a:lnSpc>
                <a:spcPct val="135300"/>
              </a:lnSpc>
              <a:spcBef>
                <a:spcPts val="535"/>
              </a:spcBef>
            </a:pPr>
            <a:r>
              <a:rPr dirty="0" sz="1300" spc="-105">
                <a:solidFill>
                  <a:srgbClr val="2B404F"/>
                </a:solidFill>
                <a:latin typeface="Verdana"/>
                <a:cs typeface="Verdana"/>
              </a:rPr>
              <a:t>La</a:t>
            </a:r>
            <a:r>
              <a:rPr dirty="0" sz="1300" spc="-14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05">
                <a:solidFill>
                  <a:srgbClr val="2B404F"/>
                </a:solidFill>
                <a:latin typeface="Verdana"/>
                <a:cs typeface="Verdana"/>
              </a:rPr>
              <a:t>implementación</a:t>
            </a:r>
            <a:r>
              <a:rPr dirty="0" sz="1300" spc="-14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10">
                <a:solidFill>
                  <a:srgbClr val="2B404F"/>
                </a:solidFill>
                <a:latin typeface="Verdana"/>
                <a:cs typeface="Verdana"/>
              </a:rPr>
              <a:t>de</a:t>
            </a:r>
            <a:r>
              <a:rPr dirty="0" sz="1300" spc="-14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2B404F"/>
                </a:solidFill>
                <a:latin typeface="Verdana"/>
                <a:cs typeface="Verdana"/>
              </a:rPr>
              <a:t>IoT </a:t>
            </a:r>
            <a:r>
              <a:rPr dirty="0" sz="1300" spc="-110">
                <a:solidFill>
                  <a:srgbClr val="2B404F"/>
                </a:solidFill>
                <a:latin typeface="Verdana"/>
                <a:cs typeface="Verdana"/>
              </a:rPr>
              <a:t>requiere</a:t>
            </a:r>
            <a:r>
              <a:rPr dirty="0" sz="1300" spc="-16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20">
                <a:solidFill>
                  <a:srgbClr val="2B404F"/>
                </a:solidFill>
                <a:latin typeface="Verdana"/>
                <a:cs typeface="Verdana"/>
              </a:rPr>
              <a:t>una</a:t>
            </a:r>
            <a:r>
              <a:rPr dirty="0" sz="1300" spc="-15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2B404F"/>
                </a:solidFill>
                <a:latin typeface="Verdana"/>
                <a:cs typeface="Verdana"/>
              </a:rPr>
              <a:t>infraestructura </a:t>
            </a:r>
            <a:r>
              <a:rPr dirty="0" sz="1300" spc="-95">
                <a:solidFill>
                  <a:srgbClr val="2B404F"/>
                </a:solidFill>
                <a:latin typeface="Verdana"/>
                <a:cs typeface="Verdana"/>
              </a:rPr>
              <a:t>tecnológica</a:t>
            </a:r>
            <a:r>
              <a:rPr dirty="0" sz="1300" spc="-14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14">
                <a:solidFill>
                  <a:srgbClr val="2B404F"/>
                </a:solidFill>
                <a:latin typeface="Verdana"/>
                <a:cs typeface="Verdana"/>
              </a:rPr>
              <a:t>robusta</a:t>
            </a:r>
            <a:r>
              <a:rPr dirty="0" sz="1300" spc="-14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70">
                <a:solidFill>
                  <a:srgbClr val="2B404F"/>
                </a:solidFill>
                <a:latin typeface="Verdana"/>
                <a:cs typeface="Verdana"/>
              </a:rPr>
              <a:t>y</a:t>
            </a:r>
            <a:r>
              <a:rPr dirty="0" sz="1300" spc="-14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95">
                <a:solidFill>
                  <a:srgbClr val="2B404F"/>
                </a:solidFill>
                <a:latin typeface="Verdana"/>
                <a:cs typeface="Verdana"/>
              </a:rPr>
              <a:t>personal </a:t>
            </a:r>
            <a:r>
              <a:rPr dirty="0" sz="1300" spc="-105">
                <a:solidFill>
                  <a:srgbClr val="2B404F"/>
                </a:solidFill>
                <a:latin typeface="Verdana"/>
                <a:cs typeface="Verdana"/>
              </a:rPr>
              <a:t>capacitado,</a:t>
            </a:r>
            <a:r>
              <a:rPr dirty="0" sz="1300" spc="-15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2B404F"/>
                </a:solidFill>
                <a:latin typeface="Verdana"/>
                <a:cs typeface="Verdana"/>
              </a:rPr>
              <a:t>lo</a:t>
            </a:r>
            <a:r>
              <a:rPr dirty="0" sz="1300" spc="-15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85">
                <a:solidFill>
                  <a:srgbClr val="2B404F"/>
                </a:solidFill>
                <a:latin typeface="Verdana"/>
                <a:cs typeface="Verdana"/>
              </a:rPr>
              <a:t>cual</a:t>
            </a:r>
            <a:r>
              <a:rPr dirty="0" sz="1300" spc="-15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2B404F"/>
                </a:solidFill>
                <a:latin typeface="Verdana"/>
                <a:cs typeface="Verdana"/>
              </a:rPr>
              <a:t>puede </a:t>
            </a:r>
            <a:r>
              <a:rPr dirty="0" sz="1300" spc="-105">
                <a:solidFill>
                  <a:srgbClr val="2B404F"/>
                </a:solidFill>
                <a:latin typeface="Verdana"/>
                <a:cs typeface="Verdana"/>
              </a:rPr>
              <a:t>resultar</a:t>
            </a:r>
            <a:r>
              <a:rPr dirty="0" sz="1300" spc="-15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2B404F"/>
                </a:solidFill>
                <a:latin typeface="Verdana"/>
                <a:cs typeface="Verdana"/>
              </a:rPr>
              <a:t>costoso.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4784432" y="4280807"/>
            <a:ext cx="382905" cy="373380"/>
          </a:xfrm>
          <a:custGeom>
            <a:avLst/>
            <a:gdLst/>
            <a:ahLst/>
            <a:cxnLst/>
            <a:rect l="l" t="t" r="r" b="b"/>
            <a:pathLst>
              <a:path w="382904" h="373379">
                <a:moveTo>
                  <a:pt x="364176" y="0"/>
                </a:moveTo>
                <a:lnTo>
                  <a:pt x="18205" y="0"/>
                </a:lnTo>
                <a:lnTo>
                  <a:pt x="15519" y="534"/>
                </a:lnTo>
                <a:lnTo>
                  <a:pt x="0" y="18205"/>
                </a:lnTo>
                <a:lnTo>
                  <a:pt x="0" y="352077"/>
                </a:lnTo>
                <a:lnTo>
                  <a:pt x="0" y="354850"/>
                </a:lnTo>
                <a:lnTo>
                  <a:pt x="18205" y="373055"/>
                </a:lnTo>
                <a:lnTo>
                  <a:pt x="364176" y="373055"/>
                </a:lnTo>
                <a:lnTo>
                  <a:pt x="382381" y="354850"/>
                </a:lnTo>
                <a:lnTo>
                  <a:pt x="382381" y="18205"/>
                </a:lnTo>
                <a:lnTo>
                  <a:pt x="366862" y="534"/>
                </a:lnTo>
                <a:lnTo>
                  <a:pt x="364176" y="0"/>
                </a:lnTo>
                <a:close/>
              </a:path>
            </a:pathLst>
          </a:custGeom>
          <a:solidFill>
            <a:srgbClr val="F3EE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4889767" y="4286760"/>
            <a:ext cx="16700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solidFill>
                  <a:srgbClr val="2B404F"/>
                </a:solidFill>
                <a:latin typeface="Arial MT"/>
                <a:cs typeface="Arial MT"/>
              </a:rPr>
              <a:t>3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317323" y="4263444"/>
            <a:ext cx="2203450" cy="167767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 marR="875665">
              <a:lnSpc>
                <a:spcPct val="103800"/>
              </a:lnSpc>
              <a:spcBef>
                <a:spcPts val="25"/>
              </a:spcBef>
            </a:pPr>
            <a:r>
              <a:rPr dirty="0" sz="1650" spc="40">
                <a:solidFill>
                  <a:srgbClr val="2B404F"/>
                </a:solidFill>
                <a:latin typeface="Arial MT"/>
                <a:cs typeface="Arial MT"/>
              </a:rPr>
              <a:t>Dependencia </a:t>
            </a:r>
            <a:r>
              <a:rPr dirty="0" sz="1650" spc="-10">
                <a:solidFill>
                  <a:srgbClr val="2B404F"/>
                </a:solidFill>
                <a:latin typeface="Arial MT"/>
                <a:cs typeface="Arial MT"/>
              </a:rPr>
              <a:t>Tecnológica</a:t>
            </a:r>
            <a:endParaRPr sz="1650">
              <a:latin typeface="Arial MT"/>
              <a:cs typeface="Arial MT"/>
            </a:endParaRPr>
          </a:p>
          <a:p>
            <a:pPr marL="12700" marR="5080">
              <a:lnSpc>
                <a:spcPct val="134900"/>
              </a:lnSpc>
              <a:spcBef>
                <a:spcPts val="545"/>
              </a:spcBef>
            </a:pPr>
            <a:r>
              <a:rPr dirty="0" sz="1300" spc="-120">
                <a:solidFill>
                  <a:srgbClr val="2B404F"/>
                </a:solidFill>
                <a:latin typeface="Verdana"/>
                <a:cs typeface="Verdana"/>
              </a:rPr>
              <a:t>Una</a:t>
            </a:r>
            <a:r>
              <a:rPr dirty="0" sz="1300" spc="-16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85">
                <a:solidFill>
                  <a:srgbClr val="2B404F"/>
                </a:solidFill>
                <a:latin typeface="Verdana"/>
                <a:cs typeface="Verdana"/>
              </a:rPr>
              <a:t>falla</a:t>
            </a:r>
            <a:r>
              <a:rPr dirty="0" sz="1300" spc="-16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20">
                <a:solidFill>
                  <a:srgbClr val="2B404F"/>
                </a:solidFill>
                <a:latin typeface="Verdana"/>
                <a:cs typeface="Verdana"/>
              </a:rPr>
              <a:t>en</a:t>
            </a:r>
            <a:r>
              <a:rPr dirty="0" sz="1300" spc="-16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80">
                <a:solidFill>
                  <a:srgbClr val="2B404F"/>
                </a:solidFill>
                <a:latin typeface="Verdana"/>
                <a:cs typeface="Verdana"/>
              </a:rPr>
              <a:t>los</a:t>
            </a:r>
            <a:r>
              <a:rPr dirty="0" sz="1300" spc="-16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25">
                <a:solidFill>
                  <a:srgbClr val="2B404F"/>
                </a:solidFill>
                <a:latin typeface="Verdana"/>
                <a:cs typeface="Verdana"/>
              </a:rPr>
              <a:t>sistemas</a:t>
            </a:r>
            <a:r>
              <a:rPr dirty="0" sz="1300" spc="-16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2B404F"/>
                </a:solidFill>
                <a:latin typeface="Verdana"/>
                <a:cs typeface="Verdana"/>
              </a:rPr>
              <a:t>IoT </a:t>
            </a:r>
            <a:r>
              <a:rPr dirty="0" sz="1300" spc="-110">
                <a:solidFill>
                  <a:srgbClr val="2B404F"/>
                </a:solidFill>
                <a:latin typeface="Verdana"/>
                <a:cs typeface="Verdana"/>
              </a:rPr>
              <a:t>puede</a:t>
            </a:r>
            <a:r>
              <a:rPr dirty="0" sz="1300" spc="-16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14">
                <a:solidFill>
                  <a:srgbClr val="2B404F"/>
                </a:solidFill>
                <a:latin typeface="Verdana"/>
                <a:cs typeface="Verdana"/>
              </a:rPr>
              <a:t>tener</a:t>
            </a:r>
            <a:r>
              <a:rPr dirty="0" sz="1300" spc="-16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14">
                <a:solidFill>
                  <a:srgbClr val="2B404F"/>
                </a:solidFill>
                <a:latin typeface="Verdana"/>
                <a:cs typeface="Verdana"/>
              </a:rPr>
              <a:t>un</a:t>
            </a:r>
            <a:r>
              <a:rPr dirty="0" sz="1300" spc="-16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2B404F"/>
                </a:solidFill>
                <a:latin typeface="Verdana"/>
                <a:cs typeface="Verdana"/>
              </a:rPr>
              <a:t>impacto </a:t>
            </a:r>
            <a:r>
              <a:rPr dirty="0" sz="1300" spc="-95">
                <a:solidFill>
                  <a:srgbClr val="2B404F"/>
                </a:solidFill>
                <a:latin typeface="Verdana"/>
                <a:cs typeface="Verdana"/>
              </a:rPr>
              <a:t>significativo</a:t>
            </a:r>
            <a:r>
              <a:rPr dirty="0" sz="1300" spc="-15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20">
                <a:solidFill>
                  <a:srgbClr val="2B404F"/>
                </a:solidFill>
                <a:latin typeface="Verdana"/>
                <a:cs typeface="Verdana"/>
              </a:rPr>
              <a:t>en</a:t>
            </a:r>
            <a:r>
              <a:rPr dirty="0" sz="1300" spc="-15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00">
                <a:solidFill>
                  <a:srgbClr val="2B404F"/>
                </a:solidFill>
                <a:latin typeface="Verdana"/>
                <a:cs typeface="Verdana"/>
              </a:rPr>
              <a:t>las</a:t>
            </a:r>
            <a:r>
              <a:rPr dirty="0" sz="1300" spc="-15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00">
                <a:solidFill>
                  <a:srgbClr val="2B404F"/>
                </a:solidFill>
                <a:latin typeface="Verdana"/>
                <a:cs typeface="Verdana"/>
              </a:rPr>
              <a:t>operaciones </a:t>
            </a:r>
            <a:r>
              <a:rPr dirty="0" sz="1300" spc="-170">
                <a:solidFill>
                  <a:srgbClr val="2B404F"/>
                </a:solidFill>
                <a:latin typeface="Verdana"/>
                <a:cs typeface="Verdana"/>
              </a:rPr>
              <a:t>y</a:t>
            </a:r>
            <a:r>
              <a:rPr dirty="0" sz="1300" spc="-18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75">
                <a:solidFill>
                  <a:srgbClr val="2B404F"/>
                </a:solidFill>
                <a:latin typeface="Verdana"/>
                <a:cs typeface="Verdana"/>
              </a:rPr>
              <a:t>la</a:t>
            </a:r>
            <a:r>
              <a:rPr dirty="0" sz="1300" spc="-18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20">
                <a:solidFill>
                  <a:srgbClr val="2B404F"/>
                </a:solidFill>
                <a:latin typeface="Verdana"/>
                <a:cs typeface="Verdana"/>
              </a:rPr>
              <a:t>toma</a:t>
            </a:r>
            <a:r>
              <a:rPr dirty="0" sz="1300" spc="-18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10">
                <a:solidFill>
                  <a:srgbClr val="2B404F"/>
                </a:solidFill>
                <a:latin typeface="Verdana"/>
                <a:cs typeface="Verdana"/>
              </a:rPr>
              <a:t>de</a:t>
            </a:r>
            <a:r>
              <a:rPr dirty="0" sz="1300" spc="-18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2B404F"/>
                </a:solidFill>
                <a:latin typeface="Verdana"/>
                <a:cs typeface="Verdana"/>
              </a:rPr>
              <a:t>decisiones.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7778200" y="4280807"/>
            <a:ext cx="382905" cy="373380"/>
          </a:xfrm>
          <a:custGeom>
            <a:avLst/>
            <a:gdLst/>
            <a:ahLst/>
            <a:cxnLst/>
            <a:rect l="l" t="t" r="r" b="b"/>
            <a:pathLst>
              <a:path w="382904" h="373379">
                <a:moveTo>
                  <a:pt x="364176" y="0"/>
                </a:moveTo>
                <a:lnTo>
                  <a:pt x="18205" y="0"/>
                </a:lnTo>
                <a:lnTo>
                  <a:pt x="15519" y="534"/>
                </a:lnTo>
                <a:lnTo>
                  <a:pt x="0" y="18205"/>
                </a:lnTo>
                <a:lnTo>
                  <a:pt x="0" y="352077"/>
                </a:lnTo>
                <a:lnTo>
                  <a:pt x="0" y="354850"/>
                </a:lnTo>
                <a:lnTo>
                  <a:pt x="18205" y="373055"/>
                </a:lnTo>
                <a:lnTo>
                  <a:pt x="364176" y="373055"/>
                </a:lnTo>
                <a:lnTo>
                  <a:pt x="382381" y="354850"/>
                </a:lnTo>
                <a:lnTo>
                  <a:pt x="382381" y="18205"/>
                </a:lnTo>
                <a:lnTo>
                  <a:pt x="366862" y="534"/>
                </a:lnTo>
                <a:lnTo>
                  <a:pt x="364176" y="0"/>
                </a:lnTo>
                <a:close/>
              </a:path>
            </a:pathLst>
          </a:custGeom>
          <a:solidFill>
            <a:srgbClr val="F3EE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7873188" y="4286760"/>
            <a:ext cx="18796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130">
                <a:solidFill>
                  <a:srgbClr val="2B404F"/>
                </a:solidFill>
                <a:latin typeface="Arial MT"/>
                <a:cs typeface="Arial MT"/>
              </a:rPr>
              <a:t>4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311090" y="4263444"/>
            <a:ext cx="2201545" cy="1416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135">
                <a:solidFill>
                  <a:srgbClr val="2B404F"/>
                </a:solidFill>
                <a:latin typeface="Arial MT"/>
                <a:cs typeface="Arial MT"/>
              </a:rPr>
              <a:t>Impacto</a:t>
            </a:r>
            <a:r>
              <a:rPr dirty="0" sz="1650" spc="-50">
                <a:solidFill>
                  <a:srgbClr val="2B404F"/>
                </a:solidFill>
                <a:latin typeface="Arial MT"/>
                <a:cs typeface="Arial MT"/>
              </a:rPr>
              <a:t> </a:t>
            </a:r>
            <a:r>
              <a:rPr dirty="0" sz="1650" spc="100">
                <a:solidFill>
                  <a:srgbClr val="2B404F"/>
                </a:solidFill>
                <a:latin typeface="Arial MT"/>
                <a:cs typeface="Arial MT"/>
              </a:rPr>
              <a:t>Ambiental</a:t>
            </a:r>
            <a:endParaRPr sz="1650">
              <a:latin typeface="Arial MT"/>
              <a:cs typeface="Arial MT"/>
            </a:endParaRPr>
          </a:p>
          <a:p>
            <a:pPr marL="12700" marR="5080">
              <a:lnSpc>
                <a:spcPct val="136500"/>
              </a:lnSpc>
              <a:spcBef>
                <a:spcPts val="445"/>
              </a:spcBef>
            </a:pPr>
            <a:r>
              <a:rPr dirty="0" sz="1300" spc="-105">
                <a:solidFill>
                  <a:srgbClr val="2B404F"/>
                </a:solidFill>
                <a:latin typeface="Verdana"/>
                <a:cs typeface="Verdana"/>
              </a:rPr>
              <a:t>La</a:t>
            </a:r>
            <a:r>
              <a:rPr dirty="0" sz="1300" spc="-16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90">
                <a:solidFill>
                  <a:srgbClr val="2B404F"/>
                </a:solidFill>
                <a:latin typeface="Verdana"/>
                <a:cs typeface="Verdana"/>
              </a:rPr>
              <a:t>proliferación</a:t>
            </a:r>
            <a:r>
              <a:rPr dirty="0" sz="1300" spc="-15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10">
                <a:solidFill>
                  <a:srgbClr val="2B404F"/>
                </a:solidFill>
                <a:latin typeface="Verdana"/>
                <a:cs typeface="Verdana"/>
              </a:rPr>
              <a:t>de</a:t>
            </a:r>
            <a:r>
              <a:rPr dirty="0" sz="1300" spc="-15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90">
                <a:solidFill>
                  <a:srgbClr val="2B404F"/>
                </a:solidFill>
                <a:latin typeface="Verdana"/>
                <a:cs typeface="Verdana"/>
              </a:rPr>
              <a:t>dispositivos </a:t>
            </a:r>
            <a:r>
              <a:rPr dirty="0" sz="1300" spc="-160">
                <a:solidFill>
                  <a:srgbClr val="2B404F"/>
                </a:solidFill>
                <a:latin typeface="Verdana"/>
                <a:cs typeface="Verdana"/>
              </a:rPr>
              <a:t>IoT</a:t>
            </a:r>
            <a:r>
              <a:rPr dirty="0" sz="1300" spc="-17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10">
                <a:solidFill>
                  <a:srgbClr val="2B404F"/>
                </a:solidFill>
                <a:latin typeface="Verdana"/>
                <a:cs typeface="Verdana"/>
              </a:rPr>
              <a:t>puede</a:t>
            </a:r>
            <a:r>
              <a:rPr dirty="0" sz="1300" spc="-16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30">
                <a:solidFill>
                  <a:srgbClr val="2B404F"/>
                </a:solidFill>
                <a:latin typeface="Verdana"/>
                <a:cs typeface="Verdana"/>
              </a:rPr>
              <a:t>generar</a:t>
            </a:r>
            <a:r>
              <a:rPr dirty="0" sz="1300" spc="-16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14">
                <a:solidFill>
                  <a:srgbClr val="2B404F"/>
                </a:solidFill>
                <a:latin typeface="Verdana"/>
                <a:cs typeface="Verdana"/>
              </a:rPr>
              <a:t>un</a:t>
            </a:r>
            <a:r>
              <a:rPr dirty="0" sz="1300" spc="-165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20">
                <a:solidFill>
                  <a:srgbClr val="2B404F"/>
                </a:solidFill>
                <a:latin typeface="Verdana"/>
                <a:cs typeface="Verdana"/>
              </a:rPr>
              <a:t>mayor </a:t>
            </a:r>
            <a:r>
              <a:rPr dirty="0" sz="1300" spc="-120">
                <a:solidFill>
                  <a:srgbClr val="2B404F"/>
                </a:solidFill>
                <a:latin typeface="Verdana"/>
                <a:cs typeface="Verdana"/>
              </a:rPr>
              <a:t>consumo</a:t>
            </a:r>
            <a:r>
              <a:rPr dirty="0" sz="1300" spc="-16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10">
                <a:solidFill>
                  <a:srgbClr val="2B404F"/>
                </a:solidFill>
                <a:latin typeface="Verdana"/>
                <a:cs typeface="Verdana"/>
              </a:rPr>
              <a:t>de</a:t>
            </a:r>
            <a:r>
              <a:rPr dirty="0" sz="1300" spc="-16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14">
                <a:solidFill>
                  <a:srgbClr val="2B404F"/>
                </a:solidFill>
                <a:latin typeface="Verdana"/>
                <a:cs typeface="Verdana"/>
              </a:rPr>
              <a:t>energía</a:t>
            </a:r>
            <a:r>
              <a:rPr dirty="0" sz="1300" spc="-16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170">
                <a:solidFill>
                  <a:srgbClr val="2B404F"/>
                </a:solidFill>
                <a:latin typeface="Verdana"/>
                <a:cs typeface="Verdana"/>
              </a:rPr>
              <a:t>y</a:t>
            </a:r>
            <a:r>
              <a:rPr dirty="0" sz="1300" spc="-160">
                <a:solidFill>
                  <a:srgbClr val="2B404F"/>
                </a:solidFill>
                <a:latin typeface="Verdana"/>
                <a:cs typeface="Verdana"/>
              </a:rPr>
              <a:t> </a:t>
            </a:r>
            <a:r>
              <a:rPr dirty="0" sz="1300" spc="-85">
                <a:solidFill>
                  <a:srgbClr val="2B404F"/>
                </a:solidFill>
                <a:latin typeface="Verdana"/>
                <a:cs typeface="Verdana"/>
              </a:rPr>
              <a:t>residuos </a:t>
            </a:r>
            <a:r>
              <a:rPr dirty="0" sz="1300" spc="-25">
                <a:solidFill>
                  <a:srgbClr val="2B404F"/>
                </a:solidFill>
                <a:latin typeface="Verdana"/>
                <a:cs typeface="Verdana"/>
              </a:rPr>
              <a:t>electrónicos.</a:t>
            </a:r>
            <a:endParaRPr sz="1300">
              <a:latin typeface="Verdana"/>
              <a:cs typeface="Verdana"/>
            </a:endParaRPr>
          </a:p>
        </p:txBody>
      </p:sp>
      <p:pic>
        <p:nvPicPr>
          <p:cNvPr id="17" name="object 17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80471" y="5936799"/>
            <a:ext cx="1717918" cy="41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787400"/>
            <a:ext cx="9630410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z="3350"/>
              <a:t>Casos</a:t>
            </a:r>
            <a:r>
              <a:rPr dirty="0" sz="3350" spc="-10"/>
              <a:t> </a:t>
            </a:r>
            <a:r>
              <a:rPr dirty="0" sz="3350" spc="145"/>
              <a:t>de</a:t>
            </a:r>
            <a:r>
              <a:rPr dirty="0" sz="3350" spc="-5"/>
              <a:t> </a:t>
            </a:r>
            <a:r>
              <a:rPr dirty="0" sz="3350" spc="150"/>
              <a:t>estudio:</a:t>
            </a:r>
            <a:r>
              <a:rPr dirty="0" sz="3350" spc="-110"/>
              <a:t> </a:t>
            </a:r>
            <a:r>
              <a:rPr dirty="0" sz="3350" spc="75"/>
              <a:t>Aplicaciones</a:t>
            </a:r>
            <a:r>
              <a:rPr dirty="0" sz="3350" spc="-10"/>
              <a:t> </a:t>
            </a:r>
            <a:r>
              <a:rPr dirty="0" sz="3350" spc="145"/>
              <a:t>de</a:t>
            </a:r>
            <a:r>
              <a:rPr dirty="0" sz="3350" spc="-5"/>
              <a:t> </a:t>
            </a:r>
            <a:r>
              <a:rPr dirty="0" sz="3350" spc="140"/>
              <a:t>los</a:t>
            </a:r>
            <a:r>
              <a:rPr dirty="0" sz="3350" spc="-10"/>
              <a:t> </a:t>
            </a:r>
            <a:r>
              <a:rPr dirty="0" sz="3350" spc="185"/>
              <a:t>sistemas </a:t>
            </a:r>
            <a:r>
              <a:rPr dirty="0" sz="3350" spc="229"/>
              <a:t>IoT</a:t>
            </a:r>
            <a:endParaRPr sz="335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2219324"/>
            <a:ext cx="3238499" cy="200025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87375" y="4421187"/>
            <a:ext cx="3163570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0">
                <a:solidFill>
                  <a:srgbClr val="2B404F"/>
                </a:solidFill>
                <a:latin typeface="Arial MT"/>
                <a:cs typeface="Arial MT"/>
              </a:rPr>
              <a:t>Ciudades</a:t>
            </a:r>
            <a:r>
              <a:rPr dirty="0" sz="1650" spc="-10">
                <a:solidFill>
                  <a:srgbClr val="2B404F"/>
                </a:solidFill>
                <a:latin typeface="Arial MT"/>
                <a:cs typeface="Arial MT"/>
              </a:rPr>
              <a:t> </a:t>
            </a:r>
            <a:r>
              <a:rPr dirty="0" sz="1650" spc="110">
                <a:solidFill>
                  <a:srgbClr val="2B404F"/>
                </a:solidFill>
                <a:latin typeface="Arial MT"/>
                <a:cs typeface="Arial MT"/>
              </a:rPr>
              <a:t>Inteligentes</a:t>
            </a:r>
            <a:endParaRPr sz="1650">
              <a:latin typeface="Arial MT"/>
              <a:cs typeface="Arial MT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 spc="-110">
                <a:solidFill>
                  <a:srgbClr val="2B404F"/>
                </a:solidFill>
                <a:latin typeface="Tahoma"/>
                <a:cs typeface="Tahoma"/>
              </a:rPr>
              <a:t>IoT</a:t>
            </a:r>
            <a:r>
              <a:rPr dirty="0" sz="1350" spc="-13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permite</a:t>
            </a:r>
            <a:r>
              <a:rPr dirty="0" sz="1350" spc="-13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5">
                <a:solidFill>
                  <a:srgbClr val="2B404F"/>
                </a:solidFill>
                <a:latin typeface="Tahoma"/>
                <a:cs typeface="Tahoma"/>
              </a:rPr>
              <a:t>optimizar</a:t>
            </a:r>
            <a:r>
              <a:rPr dirty="0" sz="1350" spc="-13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la</a:t>
            </a:r>
            <a:r>
              <a:rPr dirty="0" sz="1350" spc="-13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gestión</a:t>
            </a:r>
            <a:r>
              <a:rPr dirty="0" sz="1350" spc="-13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de</a:t>
            </a:r>
            <a:r>
              <a:rPr dirty="0" sz="1350" spc="-13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servicios </a:t>
            </a: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públicos,</a:t>
            </a:r>
            <a:r>
              <a:rPr dirty="0" sz="1350" spc="-9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2B404F"/>
                </a:solidFill>
                <a:latin typeface="Tahoma"/>
                <a:cs typeface="Tahoma"/>
              </a:rPr>
              <a:t>transporte,</a:t>
            </a:r>
            <a:r>
              <a:rPr dirty="0" sz="1350" spc="-9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alumbrado</a:t>
            </a:r>
            <a:r>
              <a:rPr dirty="0" sz="1350" spc="-9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2B404F"/>
                </a:solidFill>
                <a:latin typeface="Tahoma"/>
                <a:cs typeface="Tahoma"/>
              </a:rPr>
              <a:t>y</a:t>
            </a:r>
            <a:r>
              <a:rPr dirty="0" sz="1350" spc="-9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B404F"/>
                </a:solidFill>
                <a:latin typeface="Tahoma"/>
                <a:cs typeface="Tahoma"/>
              </a:rPr>
              <a:t>otros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recursos</a:t>
            </a:r>
            <a:r>
              <a:rPr dirty="0" sz="1350" spc="-10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urbanos.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95750" y="2219324"/>
            <a:ext cx="3238499" cy="200025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083050" y="4421187"/>
            <a:ext cx="3183890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5">
                <a:solidFill>
                  <a:srgbClr val="2B404F"/>
                </a:solidFill>
                <a:latin typeface="Arial MT"/>
                <a:cs typeface="Arial MT"/>
              </a:rPr>
              <a:t>Agricultura</a:t>
            </a:r>
            <a:r>
              <a:rPr dirty="0" sz="1650" spc="-15">
                <a:solidFill>
                  <a:srgbClr val="2B404F"/>
                </a:solidFill>
                <a:latin typeface="Arial MT"/>
                <a:cs typeface="Arial MT"/>
              </a:rPr>
              <a:t> </a:t>
            </a:r>
            <a:r>
              <a:rPr dirty="0" sz="1650" spc="100">
                <a:solidFill>
                  <a:srgbClr val="2B404F"/>
                </a:solidFill>
                <a:latin typeface="Arial MT"/>
                <a:cs typeface="Arial MT"/>
              </a:rPr>
              <a:t>de</a:t>
            </a:r>
            <a:r>
              <a:rPr dirty="0" sz="1650" spc="-10">
                <a:solidFill>
                  <a:srgbClr val="2B404F"/>
                </a:solidFill>
                <a:latin typeface="Arial MT"/>
                <a:cs typeface="Arial MT"/>
              </a:rPr>
              <a:t> Precisión</a:t>
            </a:r>
            <a:endParaRPr sz="1650">
              <a:latin typeface="Arial MT"/>
              <a:cs typeface="Arial MT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 spc="-40">
                <a:solidFill>
                  <a:srgbClr val="2B404F"/>
                </a:solidFill>
                <a:latin typeface="Tahoma"/>
                <a:cs typeface="Tahoma"/>
              </a:rPr>
              <a:t>Sensores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2B404F"/>
                </a:solidFill>
                <a:latin typeface="Tahoma"/>
                <a:cs typeface="Tahoma"/>
              </a:rPr>
              <a:t>y</a:t>
            </a:r>
            <a:r>
              <a:rPr dirty="0" sz="1350" spc="-114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B404F"/>
                </a:solidFill>
                <a:latin typeface="Tahoma"/>
                <a:cs typeface="Tahoma"/>
              </a:rPr>
              <a:t>dispositivos</a:t>
            </a:r>
            <a:r>
              <a:rPr dirty="0" sz="1350" spc="-114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10">
                <a:solidFill>
                  <a:srgbClr val="2B404F"/>
                </a:solidFill>
                <a:latin typeface="Tahoma"/>
                <a:cs typeface="Tahoma"/>
              </a:rPr>
              <a:t>IoT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ayudan</a:t>
            </a:r>
            <a:r>
              <a:rPr dirty="0" sz="1350" spc="-114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2B404F"/>
                </a:solidFill>
                <a:latin typeface="Tahoma"/>
                <a:cs typeface="Tahoma"/>
              </a:rPr>
              <a:t>a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monitorear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2B404F"/>
                </a:solidFill>
                <a:latin typeface="Tahoma"/>
                <a:cs typeface="Tahoma"/>
              </a:rPr>
              <a:t>y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2B404F"/>
                </a:solidFill>
                <a:latin typeface="Tahoma"/>
                <a:cs typeface="Tahoma"/>
              </a:rPr>
              <a:t>mejorar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los</a:t>
            </a:r>
            <a:r>
              <a:rPr dirty="0" sz="1350" spc="-114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procesos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agrícolas,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aumentando</a:t>
            </a:r>
            <a:r>
              <a:rPr dirty="0" sz="1350" spc="-114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la</a:t>
            </a:r>
            <a:r>
              <a:rPr dirty="0" sz="1350" spc="-11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productividad.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91425" y="2219324"/>
            <a:ext cx="3238499" cy="200025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7578725" y="4421187"/>
            <a:ext cx="3141980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5">
                <a:solidFill>
                  <a:srgbClr val="2B404F"/>
                </a:solidFill>
                <a:latin typeface="Arial MT"/>
                <a:cs typeface="Arial MT"/>
              </a:rPr>
              <a:t>Hogares</a:t>
            </a:r>
            <a:r>
              <a:rPr dirty="0" sz="1650" spc="10">
                <a:solidFill>
                  <a:srgbClr val="2B404F"/>
                </a:solidFill>
                <a:latin typeface="Arial MT"/>
                <a:cs typeface="Arial MT"/>
              </a:rPr>
              <a:t> </a:t>
            </a:r>
            <a:r>
              <a:rPr dirty="0" sz="1650" spc="110">
                <a:solidFill>
                  <a:srgbClr val="2B404F"/>
                </a:solidFill>
                <a:latin typeface="Arial MT"/>
                <a:cs typeface="Arial MT"/>
              </a:rPr>
              <a:t>Inteligentes</a:t>
            </a:r>
            <a:endParaRPr sz="1650">
              <a:latin typeface="Arial MT"/>
              <a:cs typeface="Arial MT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 spc="-110">
                <a:solidFill>
                  <a:srgbClr val="2B404F"/>
                </a:solidFill>
                <a:latin typeface="Tahoma"/>
                <a:cs typeface="Tahoma"/>
              </a:rPr>
              <a:t>IoT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posibilita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la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automatización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2B404F"/>
                </a:solidFill>
                <a:latin typeface="Tahoma"/>
                <a:cs typeface="Tahoma"/>
              </a:rPr>
              <a:t>y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control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remoto</a:t>
            </a:r>
            <a:r>
              <a:rPr dirty="0" sz="1350" spc="-10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de</a:t>
            </a:r>
            <a:r>
              <a:rPr dirty="0" sz="1350" spc="-10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2B404F"/>
                </a:solidFill>
                <a:latin typeface="Tahoma"/>
                <a:cs typeface="Tahoma"/>
              </a:rPr>
              <a:t>sistemas</a:t>
            </a:r>
            <a:r>
              <a:rPr dirty="0" sz="1350" spc="-10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domésticos,</a:t>
            </a:r>
            <a:r>
              <a:rPr dirty="0" sz="1350" spc="-10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mejorando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la</a:t>
            </a:r>
            <a:r>
              <a:rPr dirty="0" sz="1350" spc="-13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B404F"/>
                </a:solidFill>
                <a:latin typeface="Tahoma"/>
                <a:cs typeface="Tahoma"/>
              </a:rPr>
              <a:t>comodidad</a:t>
            </a:r>
            <a:r>
              <a:rPr dirty="0" sz="1350" spc="-12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2B404F"/>
                </a:solidFill>
                <a:latin typeface="Tahoma"/>
                <a:cs typeface="Tahoma"/>
              </a:rPr>
              <a:t>y</a:t>
            </a:r>
            <a:r>
              <a:rPr dirty="0" sz="1350" spc="-12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B404F"/>
                </a:solidFill>
                <a:latin typeface="Tahoma"/>
                <a:cs typeface="Tahoma"/>
              </a:rPr>
              <a:t>el</a:t>
            </a:r>
            <a:r>
              <a:rPr dirty="0" sz="1350" spc="-12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ahorro</a:t>
            </a:r>
            <a:r>
              <a:rPr dirty="0" sz="1350" spc="-12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energético.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9" name="object 9" descr="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7375" y="2978150"/>
            <a:ext cx="6050915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>
                <a:solidFill>
                  <a:srgbClr val="114E72"/>
                </a:solidFill>
                <a:latin typeface="Arial MT"/>
                <a:cs typeface="Arial MT"/>
              </a:rPr>
              <a:t>Conclusión</a:t>
            </a:r>
            <a:r>
              <a:rPr dirty="0" sz="3350" spc="125">
                <a:solidFill>
                  <a:srgbClr val="114E72"/>
                </a:solidFill>
                <a:latin typeface="Arial MT"/>
                <a:cs typeface="Arial MT"/>
              </a:rPr>
              <a:t> </a:t>
            </a:r>
            <a:r>
              <a:rPr dirty="0" sz="3350" spc="434">
                <a:solidFill>
                  <a:srgbClr val="114E72"/>
                </a:solidFill>
                <a:latin typeface="Arial MT"/>
                <a:cs typeface="Arial MT"/>
              </a:rPr>
              <a:t>y</a:t>
            </a:r>
            <a:r>
              <a:rPr dirty="0" sz="3350" spc="130">
                <a:solidFill>
                  <a:srgbClr val="114E72"/>
                </a:solidFill>
                <a:latin typeface="Arial MT"/>
                <a:cs typeface="Arial MT"/>
              </a:rPr>
              <a:t> </a:t>
            </a:r>
            <a:r>
              <a:rPr dirty="0" sz="3350" spc="220">
                <a:solidFill>
                  <a:srgbClr val="114E72"/>
                </a:solidFill>
                <a:latin typeface="Arial MT"/>
                <a:cs typeface="Arial MT"/>
              </a:rPr>
              <a:t>próximos</a:t>
            </a:r>
            <a:r>
              <a:rPr dirty="0" sz="3350" spc="125">
                <a:solidFill>
                  <a:srgbClr val="114E72"/>
                </a:solidFill>
                <a:latin typeface="Arial MT"/>
                <a:cs typeface="Arial MT"/>
              </a:rPr>
              <a:t> </a:t>
            </a:r>
            <a:r>
              <a:rPr dirty="0" sz="3350" spc="185">
                <a:solidFill>
                  <a:srgbClr val="114E72"/>
                </a:solidFill>
                <a:latin typeface="Arial MT"/>
                <a:cs typeface="Arial MT"/>
              </a:rPr>
              <a:t>pasos</a:t>
            </a:r>
            <a:endParaRPr sz="335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8958" y="3814762"/>
            <a:ext cx="429741" cy="3810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87375" y="4373562"/>
            <a:ext cx="2849245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0">
                <a:solidFill>
                  <a:srgbClr val="2B404F"/>
                </a:solidFill>
                <a:latin typeface="Arial MT"/>
                <a:cs typeface="Arial MT"/>
              </a:rPr>
              <a:t>Expansión</a:t>
            </a:r>
            <a:r>
              <a:rPr dirty="0" sz="1650" spc="-45">
                <a:solidFill>
                  <a:srgbClr val="2B404F"/>
                </a:solidFill>
                <a:latin typeface="Arial MT"/>
                <a:cs typeface="Arial MT"/>
              </a:rPr>
              <a:t> </a:t>
            </a:r>
            <a:r>
              <a:rPr dirty="0" sz="1650" spc="55">
                <a:solidFill>
                  <a:srgbClr val="2B404F"/>
                </a:solidFill>
                <a:latin typeface="Arial MT"/>
                <a:cs typeface="Arial MT"/>
              </a:rPr>
              <a:t>Acelerada</a:t>
            </a:r>
            <a:endParaRPr sz="1650">
              <a:latin typeface="Arial MT"/>
              <a:cs typeface="Arial MT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 spc="-45">
                <a:solidFill>
                  <a:srgbClr val="2B404F"/>
                </a:solidFill>
                <a:latin typeface="Tahoma"/>
                <a:cs typeface="Tahoma"/>
              </a:rPr>
              <a:t>Se</a:t>
            </a:r>
            <a:r>
              <a:rPr dirty="0" sz="1350" spc="-13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2B404F"/>
                </a:solidFill>
                <a:latin typeface="Tahoma"/>
                <a:cs typeface="Tahoma"/>
              </a:rPr>
              <a:t>espera</a:t>
            </a:r>
            <a:r>
              <a:rPr dirty="0" sz="1350" spc="-12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que</a:t>
            </a:r>
            <a:r>
              <a:rPr dirty="0" sz="1350" spc="-13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B404F"/>
                </a:solidFill>
                <a:latin typeface="Tahoma"/>
                <a:cs typeface="Tahoma"/>
              </a:rPr>
              <a:t>el</a:t>
            </a:r>
            <a:r>
              <a:rPr dirty="0" sz="1350" spc="-12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mercado</a:t>
            </a:r>
            <a:r>
              <a:rPr dirty="0" sz="1350" spc="-13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de</a:t>
            </a:r>
            <a:r>
              <a:rPr dirty="0" sz="1350" spc="-12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10">
                <a:solidFill>
                  <a:srgbClr val="2B404F"/>
                </a:solidFill>
                <a:latin typeface="Tahoma"/>
                <a:cs typeface="Tahoma"/>
              </a:rPr>
              <a:t>IoT</a:t>
            </a:r>
            <a:r>
              <a:rPr dirty="0" sz="1350" spc="-12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B404F"/>
                </a:solidFill>
                <a:latin typeface="Tahoma"/>
                <a:cs typeface="Tahoma"/>
              </a:rPr>
              <a:t>siga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creciendo</a:t>
            </a:r>
            <a:r>
              <a:rPr dirty="0" sz="1350" spc="-11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rápidamente</a:t>
            </a:r>
            <a:r>
              <a:rPr dirty="0" sz="1350" spc="-11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en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los</a:t>
            </a:r>
            <a:r>
              <a:rPr dirty="0" sz="1350" spc="-11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B404F"/>
                </a:solidFill>
                <a:latin typeface="Tahoma"/>
                <a:cs typeface="Tahoma"/>
              </a:rPr>
              <a:t>próximos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años.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4107662" y="3814762"/>
            <a:ext cx="403225" cy="381000"/>
          </a:xfrm>
          <a:custGeom>
            <a:avLst/>
            <a:gdLst/>
            <a:ahLst/>
            <a:cxnLst/>
            <a:rect l="l" t="t" r="r" b="b"/>
            <a:pathLst>
              <a:path w="403225" h="381000">
                <a:moveTo>
                  <a:pt x="170916" y="309880"/>
                </a:moveTo>
                <a:lnTo>
                  <a:pt x="75006" y="309880"/>
                </a:lnTo>
                <a:lnTo>
                  <a:pt x="71437" y="313690"/>
                </a:lnTo>
                <a:lnTo>
                  <a:pt x="71437" y="322580"/>
                </a:lnTo>
                <a:lnTo>
                  <a:pt x="76112" y="345440"/>
                </a:lnTo>
                <a:lnTo>
                  <a:pt x="88865" y="364490"/>
                </a:lnTo>
                <a:lnTo>
                  <a:pt x="107784" y="377190"/>
                </a:lnTo>
                <a:lnTo>
                  <a:pt x="130962" y="381000"/>
                </a:lnTo>
                <a:lnTo>
                  <a:pt x="149708" y="378460"/>
                </a:lnTo>
                <a:lnTo>
                  <a:pt x="166001" y="370840"/>
                </a:lnTo>
                <a:lnTo>
                  <a:pt x="177705" y="358140"/>
                </a:lnTo>
                <a:lnTo>
                  <a:pt x="130886" y="358140"/>
                </a:lnTo>
                <a:lnTo>
                  <a:pt x="119752" y="355600"/>
                </a:lnTo>
                <a:lnTo>
                  <a:pt x="110047" y="350520"/>
                </a:lnTo>
                <a:lnTo>
                  <a:pt x="102334" y="344170"/>
                </a:lnTo>
                <a:lnTo>
                  <a:pt x="97180" y="334010"/>
                </a:lnTo>
                <a:lnTo>
                  <a:pt x="182600" y="334010"/>
                </a:lnTo>
                <a:lnTo>
                  <a:pt x="180378" y="330200"/>
                </a:lnTo>
                <a:lnTo>
                  <a:pt x="176657" y="323850"/>
                </a:lnTo>
                <a:lnTo>
                  <a:pt x="173532" y="317500"/>
                </a:lnTo>
                <a:lnTo>
                  <a:pt x="170916" y="309880"/>
                </a:lnTo>
                <a:close/>
              </a:path>
              <a:path w="403225" h="381000">
                <a:moveTo>
                  <a:pt x="281723" y="337820"/>
                </a:moveTo>
                <a:lnTo>
                  <a:pt x="248691" y="337820"/>
                </a:lnTo>
                <a:lnTo>
                  <a:pt x="253593" y="341630"/>
                </a:lnTo>
                <a:lnTo>
                  <a:pt x="258508" y="344170"/>
                </a:lnTo>
                <a:lnTo>
                  <a:pt x="262001" y="349250"/>
                </a:lnTo>
                <a:lnTo>
                  <a:pt x="262001" y="364490"/>
                </a:lnTo>
                <a:lnTo>
                  <a:pt x="269074" y="372110"/>
                </a:lnTo>
                <a:lnTo>
                  <a:pt x="326377" y="372110"/>
                </a:lnTo>
                <a:lnTo>
                  <a:pt x="333514" y="364490"/>
                </a:lnTo>
                <a:lnTo>
                  <a:pt x="333514" y="349250"/>
                </a:lnTo>
                <a:lnTo>
                  <a:pt x="334371" y="347980"/>
                </a:lnTo>
                <a:lnTo>
                  <a:pt x="285216" y="347980"/>
                </a:lnTo>
                <a:lnTo>
                  <a:pt x="282473" y="339090"/>
                </a:lnTo>
                <a:lnTo>
                  <a:pt x="281723" y="337820"/>
                </a:lnTo>
                <a:close/>
              </a:path>
              <a:path w="403225" h="381000">
                <a:moveTo>
                  <a:pt x="182600" y="334010"/>
                </a:moveTo>
                <a:lnTo>
                  <a:pt x="164592" y="334010"/>
                </a:lnTo>
                <a:lnTo>
                  <a:pt x="159445" y="344170"/>
                </a:lnTo>
                <a:lnTo>
                  <a:pt x="151734" y="350520"/>
                </a:lnTo>
                <a:lnTo>
                  <a:pt x="142026" y="355600"/>
                </a:lnTo>
                <a:lnTo>
                  <a:pt x="130886" y="358140"/>
                </a:lnTo>
                <a:lnTo>
                  <a:pt x="177705" y="358140"/>
                </a:lnTo>
                <a:lnTo>
                  <a:pt x="178875" y="356870"/>
                </a:lnTo>
                <a:lnTo>
                  <a:pt x="187363" y="341630"/>
                </a:lnTo>
                <a:lnTo>
                  <a:pt x="184912" y="337820"/>
                </a:lnTo>
                <a:lnTo>
                  <a:pt x="182600" y="334010"/>
                </a:lnTo>
                <a:close/>
              </a:path>
              <a:path w="403225" h="381000">
                <a:moveTo>
                  <a:pt x="355133" y="314960"/>
                </a:moveTo>
                <a:lnTo>
                  <a:pt x="346216" y="314960"/>
                </a:lnTo>
                <a:lnTo>
                  <a:pt x="337701" y="317500"/>
                </a:lnTo>
                <a:lnTo>
                  <a:pt x="310222" y="347980"/>
                </a:lnTo>
                <a:lnTo>
                  <a:pt x="334371" y="347980"/>
                </a:lnTo>
                <a:lnTo>
                  <a:pt x="336943" y="344170"/>
                </a:lnTo>
                <a:lnTo>
                  <a:pt x="341782" y="341630"/>
                </a:lnTo>
                <a:lnTo>
                  <a:pt x="346608" y="337820"/>
                </a:lnTo>
                <a:lnTo>
                  <a:pt x="379272" y="337820"/>
                </a:lnTo>
                <a:lnTo>
                  <a:pt x="381444" y="335280"/>
                </a:lnTo>
                <a:lnTo>
                  <a:pt x="391631" y="317500"/>
                </a:lnTo>
                <a:lnTo>
                  <a:pt x="364096" y="317500"/>
                </a:lnTo>
                <a:lnTo>
                  <a:pt x="355133" y="314960"/>
                </a:lnTo>
                <a:close/>
              </a:path>
              <a:path w="403225" h="381000">
                <a:moveTo>
                  <a:pt x="230360" y="182880"/>
                </a:moveTo>
                <a:lnTo>
                  <a:pt x="223997" y="182880"/>
                </a:lnTo>
                <a:lnTo>
                  <a:pt x="218275" y="186690"/>
                </a:lnTo>
                <a:lnTo>
                  <a:pt x="213931" y="191770"/>
                </a:lnTo>
                <a:lnTo>
                  <a:pt x="194208" y="226060"/>
                </a:lnTo>
                <a:lnTo>
                  <a:pt x="192270" y="232410"/>
                </a:lnTo>
                <a:lnTo>
                  <a:pt x="192706" y="238760"/>
                </a:lnTo>
                <a:lnTo>
                  <a:pt x="195347" y="243840"/>
                </a:lnTo>
                <a:lnTo>
                  <a:pt x="200025" y="247650"/>
                </a:lnTo>
                <a:lnTo>
                  <a:pt x="205447" y="251460"/>
                </a:lnTo>
                <a:lnTo>
                  <a:pt x="208356" y="256540"/>
                </a:lnTo>
                <a:lnTo>
                  <a:pt x="208356" y="269240"/>
                </a:lnTo>
                <a:lnTo>
                  <a:pt x="205447" y="275590"/>
                </a:lnTo>
                <a:lnTo>
                  <a:pt x="200025" y="279400"/>
                </a:lnTo>
                <a:lnTo>
                  <a:pt x="195379" y="283210"/>
                </a:lnTo>
                <a:lnTo>
                  <a:pt x="192735" y="288290"/>
                </a:lnTo>
                <a:lnTo>
                  <a:pt x="192281" y="294640"/>
                </a:lnTo>
                <a:lnTo>
                  <a:pt x="194208" y="300990"/>
                </a:lnTo>
                <a:lnTo>
                  <a:pt x="213931" y="335280"/>
                </a:lnTo>
                <a:lnTo>
                  <a:pt x="218286" y="340360"/>
                </a:lnTo>
                <a:lnTo>
                  <a:pt x="224026" y="342900"/>
                </a:lnTo>
                <a:lnTo>
                  <a:pt x="230392" y="344170"/>
                </a:lnTo>
                <a:lnTo>
                  <a:pt x="236626" y="341630"/>
                </a:lnTo>
                <a:lnTo>
                  <a:pt x="237820" y="340360"/>
                </a:lnTo>
                <a:lnTo>
                  <a:pt x="242658" y="337820"/>
                </a:lnTo>
                <a:lnTo>
                  <a:pt x="281723" y="337820"/>
                </a:lnTo>
                <a:lnTo>
                  <a:pt x="277976" y="331470"/>
                </a:lnTo>
                <a:lnTo>
                  <a:pt x="272152" y="325120"/>
                </a:lnTo>
                <a:lnTo>
                  <a:pt x="265430" y="320040"/>
                </a:lnTo>
                <a:lnTo>
                  <a:pt x="257672" y="317500"/>
                </a:lnTo>
                <a:lnTo>
                  <a:pt x="231203" y="317500"/>
                </a:lnTo>
                <a:lnTo>
                  <a:pt x="218401" y="294640"/>
                </a:lnTo>
                <a:lnTo>
                  <a:pt x="224571" y="288290"/>
                </a:lnTo>
                <a:lnTo>
                  <a:pt x="228857" y="279400"/>
                </a:lnTo>
                <a:lnTo>
                  <a:pt x="231357" y="271780"/>
                </a:lnTo>
                <a:lnTo>
                  <a:pt x="232168" y="262890"/>
                </a:lnTo>
                <a:lnTo>
                  <a:pt x="231357" y="255270"/>
                </a:lnTo>
                <a:lnTo>
                  <a:pt x="228857" y="246380"/>
                </a:lnTo>
                <a:lnTo>
                  <a:pt x="224571" y="238760"/>
                </a:lnTo>
                <a:lnTo>
                  <a:pt x="218401" y="231140"/>
                </a:lnTo>
                <a:lnTo>
                  <a:pt x="231203" y="209550"/>
                </a:lnTo>
                <a:lnTo>
                  <a:pt x="257662" y="209550"/>
                </a:lnTo>
                <a:lnTo>
                  <a:pt x="265430" y="205740"/>
                </a:lnTo>
                <a:lnTo>
                  <a:pt x="272163" y="201930"/>
                </a:lnTo>
                <a:lnTo>
                  <a:pt x="278004" y="195580"/>
                </a:lnTo>
                <a:lnTo>
                  <a:pt x="281755" y="189230"/>
                </a:lnTo>
                <a:lnTo>
                  <a:pt x="242658" y="189230"/>
                </a:lnTo>
                <a:lnTo>
                  <a:pt x="237820" y="185420"/>
                </a:lnTo>
                <a:lnTo>
                  <a:pt x="236626" y="185420"/>
                </a:lnTo>
                <a:lnTo>
                  <a:pt x="230360" y="182880"/>
                </a:lnTo>
                <a:close/>
              </a:path>
              <a:path w="403225" h="381000">
                <a:moveTo>
                  <a:pt x="379272" y="337820"/>
                </a:moveTo>
                <a:lnTo>
                  <a:pt x="352564" y="337820"/>
                </a:lnTo>
                <a:lnTo>
                  <a:pt x="357403" y="340360"/>
                </a:lnTo>
                <a:lnTo>
                  <a:pt x="358749" y="341630"/>
                </a:lnTo>
                <a:lnTo>
                  <a:pt x="365015" y="344170"/>
                </a:lnTo>
                <a:lnTo>
                  <a:pt x="371378" y="342900"/>
                </a:lnTo>
                <a:lnTo>
                  <a:pt x="377100" y="340360"/>
                </a:lnTo>
                <a:lnTo>
                  <a:pt x="379272" y="337820"/>
                </a:lnTo>
                <a:close/>
              </a:path>
              <a:path w="403225" h="381000">
                <a:moveTo>
                  <a:pt x="249150" y="314960"/>
                </a:moveTo>
                <a:lnTo>
                  <a:pt x="240210" y="314960"/>
                </a:lnTo>
                <a:lnTo>
                  <a:pt x="231203" y="317500"/>
                </a:lnTo>
                <a:lnTo>
                  <a:pt x="257672" y="317500"/>
                </a:lnTo>
                <a:lnTo>
                  <a:pt x="249150" y="314960"/>
                </a:lnTo>
                <a:close/>
              </a:path>
              <a:path w="403225" h="381000">
                <a:moveTo>
                  <a:pt x="391631" y="209550"/>
                </a:moveTo>
                <a:lnTo>
                  <a:pt x="364172" y="209550"/>
                </a:lnTo>
                <a:lnTo>
                  <a:pt x="376974" y="231140"/>
                </a:lnTo>
                <a:lnTo>
                  <a:pt x="370804" y="238760"/>
                </a:lnTo>
                <a:lnTo>
                  <a:pt x="366518" y="246380"/>
                </a:lnTo>
                <a:lnTo>
                  <a:pt x="364018" y="255270"/>
                </a:lnTo>
                <a:lnTo>
                  <a:pt x="363207" y="262890"/>
                </a:lnTo>
                <a:lnTo>
                  <a:pt x="364018" y="271780"/>
                </a:lnTo>
                <a:lnTo>
                  <a:pt x="366518" y="279400"/>
                </a:lnTo>
                <a:lnTo>
                  <a:pt x="370804" y="288290"/>
                </a:lnTo>
                <a:lnTo>
                  <a:pt x="376974" y="294640"/>
                </a:lnTo>
                <a:lnTo>
                  <a:pt x="364096" y="317500"/>
                </a:lnTo>
                <a:lnTo>
                  <a:pt x="391631" y="317500"/>
                </a:lnTo>
                <a:lnTo>
                  <a:pt x="401091" y="300990"/>
                </a:lnTo>
                <a:lnTo>
                  <a:pt x="403029" y="294640"/>
                </a:lnTo>
                <a:lnTo>
                  <a:pt x="402594" y="288290"/>
                </a:lnTo>
                <a:lnTo>
                  <a:pt x="399957" y="283210"/>
                </a:lnTo>
                <a:lnTo>
                  <a:pt x="395287" y="279400"/>
                </a:lnTo>
                <a:lnTo>
                  <a:pt x="389851" y="275590"/>
                </a:lnTo>
                <a:lnTo>
                  <a:pt x="386943" y="269240"/>
                </a:lnTo>
                <a:lnTo>
                  <a:pt x="386943" y="256540"/>
                </a:lnTo>
                <a:lnTo>
                  <a:pt x="389851" y="251460"/>
                </a:lnTo>
                <a:lnTo>
                  <a:pt x="395287" y="247650"/>
                </a:lnTo>
                <a:lnTo>
                  <a:pt x="399925" y="243840"/>
                </a:lnTo>
                <a:lnTo>
                  <a:pt x="402566" y="238760"/>
                </a:lnTo>
                <a:lnTo>
                  <a:pt x="403018" y="232410"/>
                </a:lnTo>
                <a:lnTo>
                  <a:pt x="401091" y="226060"/>
                </a:lnTo>
                <a:lnTo>
                  <a:pt x="391631" y="209550"/>
                </a:lnTo>
                <a:close/>
              </a:path>
              <a:path w="403225" h="381000">
                <a:moveTo>
                  <a:pt x="308559" y="222250"/>
                </a:moveTo>
                <a:lnTo>
                  <a:pt x="286880" y="222250"/>
                </a:lnTo>
                <a:lnTo>
                  <a:pt x="276669" y="227330"/>
                </a:lnTo>
                <a:lnTo>
                  <a:pt x="256057" y="257810"/>
                </a:lnTo>
                <a:lnTo>
                  <a:pt x="256057" y="269240"/>
                </a:lnTo>
                <a:lnTo>
                  <a:pt x="286880" y="303530"/>
                </a:lnTo>
                <a:lnTo>
                  <a:pt x="292201" y="304800"/>
                </a:lnTo>
                <a:lnTo>
                  <a:pt x="303250" y="304800"/>
                </a:lnTo>
                <a:lnTo>
                  <a:pt x="335697" y="280670"/>
                </a:lnTo>
                <a:lnTo>
                  <a:pt x="293103" y="280670"/>
                </a:lnTo>
                <a:lnTo>
                  <a:pt x="288721" y="279400"/>
                </a:lnTo>
                <a:lnTo>
                  <a:pt x="286791" y="278130"/>
                </a:lnTo>
                <a:lnTo>
                  <a:pt x="283425" y="274320"/>
                </a:lnTo>
                <a:lnTo>
                  <a:pt x="282143" y="273050"/>
                </a:lnTo>
                <a:lnTo>
                  <a:pt x="280314" y="267970"/>
                </a:lnTo>
                <a:lnTo>
                  <a:pt x="279869" y="265430"/>
                </a:lnTo>
                <a:lnTo>
                  <a:pt x="279869" y="261620"/>
                </a:lnTo>
                <a:lnTo>
                  <a:pt x="280314" y="259080"/>
                </a:lnTo>
                <a:lnTo>
                  <a:pt x="282143" y="254000"/>
                </a:lnTo>
                <a:lnTo>
                  <a:pt x="283425" y="252730"/>
                </a:lnTo>
                <a:lnTo>
                  <a:pt x="286791" y="248920"/>
                </a:lnTo>
                <a:lnTo>
                  <a:pt x="288721" y="247650"/>
                </a:lnTo>
                <a:lnTo>
                  <a:pt x="293103" y="246380"/>
                </a:lnTo>
                <a:lnTo>
                  <a:pt x="295389" y="245110"/>
                </a:lnTo>
                <a:lnTo>
                  <a:pt x="335168" y="245110"/>
                </a:lnTo>
                <a:lnTo>
                  <a:pt x="334111" y="242570"/>
                </a:lnTo>
                <a:lnTo>
                  <a:pt x="331101" y="237490"/>
                </a:lnTo>
                <a:lnTo>
                  <a:pt x="323278" y="229870"/>
                </a:lnTo>
                <a:lnTo>
                  <a:pt x="318782" y="227330"/>
                </a:lnTo>
                <a:lnTo>
                  <a:pt x="308559" y="222250"/>
                </a:lnTo>
                <a:close/>
              </a:path>
              <a:path w="403225" h="381000">
                <a:moveTo>
                  <a:pt x="130962" y="0"/>
                </a:moveTo>
                <a:lnTo>
                  <a:pt x="79986" y="11430"/>
                </a:lnTo>
                <a:lnTo>
                  <a:pt x="38358" y="39370"/>
                </a:lnTo>
                <a:lnTo>
                  <a:pt x="10291" y="80010"/>
                </a:lnTo>
                <a:lnTo>
                  <a:pt x="0" y="132080"/>
                </a:lnTo>
                <a:lnTo>
                  <a:pt x="1577" y="152400"/>
                </a:lnTo>
                <a:lnTo>
                  <a:pt x="6153" y="171450"/>
                </a:lnTo>
                <a:lnTo>
                  <a:pt x="13490" y="189230"/>
                </a:lnTo>
                <a:lnTo>
                  <a:pt x="23355" y="205740"/>
                </a:lnTo>
                <a:lnTo>
                  <a:pt x="27076" y="212090"/>
                </a:lnTo>
                <a:lnTo>
                  <a:pt x="34823" y="222250"/>
                </a:lnTo>
                <a:lnTo>
                  <a:pt x="41655" y="231140"/>
                </a:lnTo>
                <a:lnTo>
                  <a:pt x="48323" y="241300"/>
                </a:lnTo>
                <a:lnTo>
                  <a:pt x="67832" y="279400"/>
                </a:lnTo>
                <a:lnTo>
                  <a:pt x="69278" y="285750"/>
                </a:lnTo>
                <a:lnTo>
                  <a:pt x="93383" y="285750"/>
                </a:lnTo>
                <a:lnTo>
                  <a:pt x="81330" y="248920"/>
                </a:lnTo>
                <a:lnTo>
                  <a:pt x="74816" y="238760"/>
                </a:lnTo>
                <a:lnTo>
                  <a:pt x="67689" y="227330"/>
                </a:lnTo>
                <a:lnTo>
                  <a:pt x="60312" y="217170"/>
                </a:lnTo>
                <a:lnTo>
                  <a:pt x="45986" y="196850"/>
                </a:lnTo>
                <a:lnTo>
                  <a:pt x="42926" y="193040"/>
                </a:lnTo>
                <a:lnTo>
                  <a:pt x="34854" y="179070"/>
                </a:lnTo>
                <a:lnTo>
                  <a:pt x="28849" y="163830"/>
                </a:lnTo>
                <a:lnTo>
                  <a:pt x="25104" y="148590"/>
                </a:lnTo>
                <a:lnTo>
                  <a:pt x="23812" y="132080"/>
                </a:lnTo>
                <a:lnTo>
                  <a:pt x="32235" y="90170"/>
                </a:lnTo>
                <a:lnTo>
                  <a:pt x="55203" y="55880"/>
                </a:lnTo>
                <a:lnTo>
                  <a:pt x="89263" y="33020"/>
                </a:lnTo>
                <a:lnTo>
                  <a:pt x="130962" y="24130"/>
                </a:lnTo>
                <a:lnTo>
                  <a:pt x="200732" y="24130"/>
                </a:lnTo>
                <a:lnTo>
                  <a:pt x="181838" y="11430"/>
                </a:lnTo>
                <a:lnTo>
                  <a:pt x="130962" y="0"/>
                </a:lnTo>
                <a:close/>
              </a:path>
              <a:path w="403225" h="381000">
                <a:moveTo>
                  <a:pt x="335168" y="245110"/>
                </a:moveTo>
                <a:lnTo>
                  <a:pt x="300139" y="245110"/>
                </a:lnTo>
                <a:lnTo>
                  <a:pt x="302412" y="246380"/>
                </a:lnTo>
                <a:lnTo>
                  <a:pt x="306806" y="247650"/>
                </a:lnTo>
                <a:lnTo>
                  <a:pt x="308737" y="248920"/>
                </a:lnTo>
                <a:lnTo>
                  <a:pt x="312102" y="252730"/>
                </a:lnTo>
                <a:lnTo>
                  <a:pt x="313385" y="254000"/>
                </a:lnTo>
                <a:lnTo>
                  <a:pt x="315201" y="259080"/>
                </a:lnTo>
                <a:lnTo>
                  <a:pt x="315658" y="261620"/>
                </a:lnTo>
                <a:lnTo>
                  <a:pt x="315658" y="265430"/>
                </a:lnTo>
                <a:lnTo>
                  <a:pt x="315201" y="267970"/>
                </a:lnTo>
                <a:lnTo>
                  <a:pt x="313385" y="273050"/>
                </a:lnTo>
                <a:lnTo>
                  <a:pt x="312102" y="274320"/>
                </a:lnTo>
                <a:lnTo>
                  <a:pt x="308737" y="278130"/>
                </a:lnTo>
                <a:lnTo>
                  <a:pt x="306806" y="279400"/>
                </a:lnTo>
                <a:lnTo>
                  <a:pt x="302412" y="280670"/>
                </a:lnTo>
                <a:lnTo>
                  <a:pt x="335697" y="280670"/>
                </a:lnTo>
                <a:lnTo>
                  <a:pt x="338340" y="274320"/>
                </a:lnTo>
                <a:lnTo>
                  <a:pt x="339394" y="269240"/>
                </a:lnTo>
                <a:lnTo>
                  <a:pt x="339394" y="257810"/>
                </a:lnTo>
                <a:lnTo>
                  <a:pt x="338340" y="252730"/>
                </a:lnTo>
                <a:lnTo>
                  <a:pt x="335168" y="245110"/>
                </a:lnTo>
                <a:close/>
              </a:path>
              <a:path w="403225" h="381000">
                <a:moveTo>
                  <a:pt x="257662" y="209550"/>
                </a:moveTo>
                <a:lnTo>
                  <a:pt x="231203" y="209550"/>
                </a:lnTo>
                <a:lnTo>
                  <a:pt x="249121" y="212090"/>
                </a:lnTo>
                <a:lnTo>
                  <a:pt x="257662" y="209550"/>
                </a:lnTo>
                <a:close/>
              </a:path>
              <a:path w="403225" h="381000">
                <a:moveTo>
                  <a:pt x="334371" y="179070"/>
                </a:moveTo>
                <a:lnTo>
                  <a:pt x="310299" y="179070"/>
                </a:lnTo>
                <a:lnTo>
                  <a:pt x="313005" y="187960"/>
                </a:lnTo>
                <a:lnTo>
                  <a:pt x="346263" y="212090"/>
                </a:lnTo>
                <a:lnTo>
                  <a:pt x="364172" y="209550"/>
                </a:lnTo>
                <a:lnTo>
                  <a:pt x="391631" y="209550"/>
                </a:lnTo>
                <a:lnTo>
                  <a:pt x="381444" y="191770"/>
                </a:lnTo>
                <a:lnTo>
                  <a:pt x="379266" y="189230"/>
                </a:lnTo>
                <a:lnTo>
                  <a:pt x="352564" y="189230"/>
                </a:lnTo>
                <a:lnTo>
                  <a:pt x="346608" y="187960"/>
                </a:lnTo>
                <a:lnTo>
                  <a:pt x="336943" y="182880"/>
                </a:lnTo>
                <a:lnTo>
                  <a:pt x="334371" y="179070"/>
                </a:lnTo>
                <a:close/>
              </a:path>
              <a:path w="403225" h="381000">
                <a:moveTo>
                  <a:pt x="326377" y="154940"/>
                </a:moveTo>
                <a:lnTo>
                  <a:pt x="269151" y="154940"/>
                </a:lnTo>
                <a:lnTo>
                  <a:pt x="262001" y="162560"/>
                </a:lnTo>
                <a:lnTo>
                  <a:pt x="262001" y="177800"/>
                </a:lnTo>
                <a:lnTo>
                  <a:pt x="258584" y="182880"/>
                </a:lnTo>
                <a:lnTo>
                  <a:pt x="248691" y="187960"/>
                </a:lnTo>
                <a:lnTo>
                  <a:pt x="242658" y="189230"/>
                </a:lnTo>
                <a:lnTo>
                  <a:pt x="281755" y="189230"/>
                </a:lnTo>
                <a:lnTo>
                  <a:pt x="282505" y="187960"/>
                </a:lnTo>
                <a:lnTo>
                  <a:pt x="285216" y="179070"/>
                </a:lnTo>
                <a:lnTo>
                  <a:pt x="334371" y="179070"/>
                </a:lnTo>
                <a:lnTo>
                  <a:pt x="333514" y="177800"/>
                </a:lnTo>
                <a:lnTo>
                  <a:pt x="333514" y="162560"/>
                </a:lnTo>
                <a:lnTo>
                  <a:pt x="326377" y="154940"/>
                </a:lnTo>
                <a:close/>
              </a:path>
              <a:path w="403225" h="381000">
                <a:moveTo>
                  <a:pt x="371349" y="182880"/>
                </a:moveTo>
                <a:lnTo>
                  <a:pt x="364983" y="182880"/>
                </a:lnTo>
                <a:lnTo>
                  <a:pt x="358749" y="185420"/>
                </a:lnTo>
                <a:lnTo>
                  <a:pt x="357403" y="185420"/>
                </a:lnTo>
                <a:lnTo>
                  <a:pt x="352564" y="189230"/>
                </a:lnTo>
                <a:lnTo>
                  <a:pt x="379266" y="189230"/>
                </a:lnTo>
                <a:lnTo>
                  <a:pt x="377089" y="186690"/>
                </a:lnTo>
                <a:lnTo>
                  <a:pt x="371349" y="182880"/>
                </a:lnTo>
                <a:close/>
              </a:path>
              <a:path w="403225" h="381000">
                <a:moveTo>
                  <a:pt x="200732" y="24130"/>
                </a:moveTo>
                <a:lnTo>
                  <a:pt x="130962" y="24130"/>
                </a:lnTo>
                <a:lnTo>
                  <a:pt x="172663" y="33020"/>
                </a:lnTo>
                <a:lnTo>
                  <a:pt x="206727" y="55880"/>
                </a:lnTo>
                <a:lnTo>
                  <a:pt x="229699" y="90170"/>
                </a:lnTo>
                <a:lnTo>
                  <a:pt x="238125" y="132080"/>
                </a:lnTo>
                <a:lnTo>
                  <a:pt x="237860" y="139700"/>
                </a:lnTo>
                <a:lnTo>
                  <a:pt x="237078" y="146050"/>
                </a:lnTo>
                <a:lnTo>
                  <a:pt x="235794" y="153670"/>
                </a:lnTo>
                <a:lnTo>
                  <a:pt x="234022" y="161290"/>
                </a:lnTo>
                <a:lnTo>
                  <a:pt x="236486" y="161290"/>
                </a:lnTo>
                <a:lnTo>
                  <a:pt x="238861" y="162560"/>
                </a:lnTo>
                <a:lnTo>
                  <a:pt x="241096" y="163830"/>
                </a:lnTo>
                <a:lnTo>
                  <a:pt x="242490" y="153670"/>
                </a:lnTo>
                <a:lnTo>
                  <a:pt x="246549" y="144780"/>
                </a:lnTo>
                <a:lnTo>
                  <a:pt x="253092" y="137160"/>
                </a:lnTo>
                <a:lnTo>
                  <a:pt x="261937" y="130810"/>
                </a:lnTo>
                <a:lnTo>
                  <a:pt x="251495" y="80010"/>
                </a:lnTo>
                <a:lnTo>
                  <a:pt x="223405" y="39370"/>
                </a:lnTo>
                <a:lnTo>
                  <a:pt x="200732" y="24130"/>
                </a:lnTo>
                <a:close/>
              </a:path>
              <a:path w="403225" h="381000">
                <a:moveTo>
                  <a:pt x="137515" y="48260"/>
                </a:moveTo>
                <a:lnTo>
                  <a:pt x="130962" y="48260"/>
                </a:lnTo>
                <a:lnTo>
                  <a:pt x="98508" y="54610"/>
                </a:lnTo>
                <a:lnTo>
                  <a:pt x="72020" y="72390"/>
                </a:lnTo>
                <a:lnTo>
                  <a:pt x="54168" y="99060"/>
                </a:lnTo>
                <a:lnTo>
                  <a:pt x="47625" y="132080"/>
                </a:lnTo>
                <a:lnTo>
                  <a:pt x="47625" y="138430"/>
                </a:lnTo>
                <a:lnTo>
                  <a:pt x="52971" y="143510"/>
                </a:lnTo>
                <a:lnTo>
                  <a:pt x="66078" y="143510"/>
                </a:lnTo>
                <a:lnTo>
                  <a:pt x="71437" y="138430"/>
                </a:lnTo>
                <a:lnTo>
                  <a:pt x="71437" y="132080"/>
                </a:lnTo>
                <a:lnTo>
                  <a:pt x="76112" y="107950"/>
                </a:lnTo>
                <a:lnTo>
                  <a:pt x="88865" y="88900"/>
                </a:lnTo>
                <a:lnTo>
                  <a:pt x="107784" y="76200"/>
                </a:lnTo>
                <a:lnTo>
                  <a:pt x="130962" y="72390"/>
                </a:lnTo>
                <a:lnTo>
                  <a:pt x="137515" y="72390"/>
                </a:lnTo>
                <a:lnTo>
                  <a:pt x="142875" y="67310"/>
                </a:lnTo>
                <a:lnTo>
                  <a:pt x="142875" y="53340"/>
                </a:lnTo>
                <a:lnTo>
                  <a:pt x="137515" y="48260"/>
                </a:lnTo>
                <a:close/>
              </a:path>
            </a:pathLst>
          </a:custGeom>
          <a:solidFill>
            <a:srgbClr val="315F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4083050" y="4373562"/>
            <a:ext cx="3066415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14">
                <a:solidFill>
                  <a:srgbClr val="2B404F"/>
                </a:solidFill>
                <a:latin typeface="Arial MT"/>
                <a:cs typeface="Arial MT"/>
              </a:rPr>
              <a:t>Innovación</a:t>
            </a:r>
            <a:r>
              <a:rPr dirty="0" sz="1650" spc="25">
                <a:solidFill>
                  <a:srgbClr val="2B404F"/>
                </a:solidFill>
                <a:latin typeface="Arial MT"/>
                <a:cs typeface="Arial MT"/>
              </a:rPr>
              <a:t> </a:t>
            </a:r>
            <a:r>
              <a:rPr dirty="0" sz="1650" spc="70">
                <a:solidFill>
                  <a:srgbClr val="2B404F"/>
                </a:solidFill>
                <a:latin typeface="Arial MT"/>
                <a:cs typeface="Arial MT"/>
              </a:rPr>
              <a:t>Constante</a:t>
            </a:r>
            <a:endParaRPr sz="1650">
              <a:latin typeface="Arial MT"/>
              <a:cs typeface="Arial MT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 spc="-50">
                <a:solidFill>
                  <a:srgbClr val="2B404F"/>
                </a:solidFill>
                <a:latin typeface="Tahoma"/>
                <a:cs typeface="Tahoma"/>
              </a:rPr>
              <a:t>Nuevas</a:t>
            </a:r>
            <a:r>
              <a:rPr dirty="0" sz="1350" spc="-11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tecnologías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2B404F"/>
                </a:solidFill>
                <a:latin typeface="Tahoma"/>
                <a:cs typeface="Tahoma"/>
              </a:rPr>
              <a:t>y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B404F"/>
                </a:solidFill>
                <a:latin typeface="Tahoma"/>
                <a:cs typeface="Tahoma"/>
              </a:rPr>
              <a:t>aplicaciones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2B404F"/>
                </a:solidFill>
                <a:latin typeface="Tahoma"/>
                <a:cs typeface="Tahoma"/>
              </a:rPr>
              <a:t>para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80">
                <a:solidFill>
                  <a:srgbClr val="2B404F"/>
                </a:solidFill>
                <a:latin typeface="Tahoma"/>
                <a:cs typeface="Tahoma"/>
              </a:rPr>
              <a:t>IoT </a:t>
            </a:r>
            <a:r>
              <a:rPr dirty="0" sz="1350" spc="-50">
                <a:solidFill>
                  <a:srgbClr val="2B404F"/>
                </a:solidFill>
                <a:latin typeface="Tahoma"/>
                <a:cs typeface="Tahoma"/>
              </a:rPr>
              <a:t>surgen</a:t>
            </a:r>
            <a:r>
              <a:rPr dirty="0" sz="1350" spc="-8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2B404F"/>
                </a:solidFill>
                <a:latin typeface="Tahoma"/>
                <a:cs typeface="Tahoma"/>
              </a:rPr>
              <a:t>constantemente,</a:t>
            </a:r>
            <a:r>
              <a:rPr dirty="0" sz="1350" spc="-7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B404F"/>
                </a:solidFill>
                <a:latin typeface="Tahoma"/>
                <a:cs typeface="Tahoma"/>
              </a:rPr>
              <a:t>abriendo</a:t>
            </a:r>
            <a:r>
              <a:rPr dirty="0" sz="1350" spc="-7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más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posibilidades.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7618209" y="3817734"/>
            <a:ext cx="375285" cy="375285"/>
          </a:xfrm>
          <a:custGeom>
            <a:avLst/>
            <a:gdLst/>
            <a:ahLst/>
            <a:cxnLst/>
            <a:rect l="l" t="t" r="r" b="b"/>
            <a:pathLst>
              <a:path w="375284" h="375285">
                <a:moveTo>
                  <a:pt x="321475" y="0"/>
                </a:moveTo>
                <a:lnTo>
                  <a:pt x="53581" y="0"/>
                </a:lnTo>
                <a:lnTo>
                  <a:pt x="32741" y="4216"/>
                </a:lnTo>
                <a:lnTo>
                  <a:pt x="15708" y="15708"/>
                </a:lnTo>
                <a:lnTo>
                  <a:pt x="4216" y="32741"/>
                </a:lnTo>
                <a:lnTo>
                  <a:pt x="0" y="53581"/>
                </a:lnTo>
                <a:lnTo>
                  <a:pt x="0" y="321475"/>
                </a:lnTo>
                <a:lnTo>
                  <a:pt x="4216" y="342314"/>
                </a:lnTo>
                <a:lnTo>
                  <a:pt x="15708" y="359348"/>
                </a:lnTo>
                <a:lnTo>
                  <a:pt x="32741" y="370840"/>
                </a:lnTo>
                <a:lnTo>
                  <a:pt x="53581" y="375056"/>
                </a:lnTo>
                <a:lnTo>
                  <a:pt x="321475" y="375056"/>
                </a:lnTo>
                <a:lnTo>
                  <a:pt x="342314" y="370840"/>
                </a:lnTo>
                <a:lnTo>
                  <a:pt x="359348" y="359348"/>
                </a:lnTo>
                <a:lnTo>
                  <a:pt x="366829" y="348259"/>
                </a:lnTo>
                <a:lnTo>
                  <a:pt x="53581" y="348259"/>
                </a:lnTo>
                <a:lnTo>
                  <a:pt x="43143" y="346158"/>
                </a:lnTo>
                <a:lnTo>
                  <a:pt x="34631" y="340425"/>
                </a:lnTo>
                <a:lnTo>
                  <a:pt x="28897" y="331912"/>
                </a:lnTo>
                <a:lnTo>
                  <a:pt x="26797" y="321475"/>
                </a:lnTo>
                <a:lnTo>
                  <a:pt x="26797" y="53581"/>
                </a:lnTo>
                <a:lnTo>
                  <a:pt x="28897" y="43143"/>
                </a:lnTo>
                <a:lnTo>
                  <a:pt x="34631" y="34631"/>
                </a:lnTo>
                <a:lnTo>
                  <a:pt x="43143" y="28897"/>
                </a:lnTo>
                <a:lnTo>
                  <a:pt x="53581" y="26797"/>
                </a:lnTo>
                <a:lnTo>
                  <a:pt x="366829" y="26797"/>
                </a:lnTo>
                <a:lnTo>
                  <a:pt x="359348" y="15708"/>
                </a:lnTo>
                <a:lnTo>
                  <a:pt x="342314" y="4216"/>
                </a:lnTo>
                <a:lnTo>
                  <a:pt x="321475" y="0"/>
                </a:lnTo>
                <a:close/>
              </a:path>
              <a:path w="375284" h="375285">
                <a:moveTo>
                  <a:pt x="366829" y="26797"/>
                </a:moveTo>
                <a:lnTo>
                  <a:pt x="321475" y="26797"/>
                </a:lnTo>
                <a:lnTo>
                  <a:pt x="331912" y="28897"/>
                </a:lnTo>
                <a:lnTo>
                  <a:pt x="340425" y="34631"/>
                </a:lnTo>
                <a:lnTo>
                  <a:pt x="346158" y="43143"/>
                </a:lnTo>
                <a:lnTo>
                  <a:pt x="348259" y="53581"/>
                </a:lnTo>
                <a:lnTo>
                  <a:pt x="348259" y="321475"/>
                </a:lnTo>
                <a:lnTo>
                  <a:pt x="346158" y="331912"/>
                </a:lnTo>
                <a:lnTo>
                  <a:pt x="340425" y="340425"/>
                </a:lnTo>
                <a:lnTo>
                  <a:pt x="331912" y="346158"/>
                </a:lnTo>
                <a:lnTo>
                  <a:pt x="321475" y="348259"/>
                </a:lnTo>
                <a:lnTo>
                  <a:pt x="366829" y="348259"/>
                </a:lnTo>
                <a:lnTo>
                  <a:pt x="370840" y="342314"/>
                </a:lnTo>
                <a:lnTo>
                  <a:pt x="375056" y="321475"/>
                </a:lnTo>
                <a:lnTo>
                  <a:pt x="375056" y="53581"/>
                </a:lnTo>
                <a:lnTo>
                  <a:pt x="370840" y="32741"/>
                </a:lnTo>
                <a:lnTo>
                  <a:pt x="366829" y="26797"/>
                </a:lnTo>
                <a:close/>
              </a:path>
              <a:path w="375284" h="375285">
                <a:moveTo>
                  <a:pt x="145503" y="202349"/>
                </a:moveTo>
                <a:lnTo>
                  <a:pt x="135177" y="212722"/>
                </a:lnTo>
                <a:lnTo>
                  <a:pt x="127317" y="225128"/>
                </a:lnTo>
                <a:lnTo>
                  <a:pt x="122315" y="239184"/>
                </a:lnTo>
                <a:lnTo>
                  <a:pt x="120561" y="254508"/>
                </a:lnTo>
                <a:lnTo>
                  <a:pt x="125820" y="280578"/>
                </a:lnTo>
                <a:lnTo>
                  <a:pt x="140166" y="301864"/>
                </a:lnTo>
                <a:lnTo>
                  <a:pt x="161451" y="316213"/>
                </a:lnTo>
                <a:lnTo>
                  <a:pt x="187528" y="321475"/>
                </a:lnTo>
                <a:lnTo>
                  <a:pt x="213604" y="316213"/>
                </a:lnTo>
                <a:lnTo>
                  <a:pt x="234889" y="301864"/>
                </a:lnTo>
                <a:lnTo>
                  <a:pt x="239724" y="294690"/>
                </a:lnTo>
                <a:lnTo>
                  <a:pt x="187528" y="294690"/>
                </a:lnTo>
                <a:lnTo>
                  <a:pt x="171889" y="291530"/>
                </a:lnTo>
                <a:lnTo>
                  <a:pt x="159116" y="282914"/>
                </a:lnTo>
                <a:lnTo>
                  <a:pt x="150503" y="270141"/>
                </a:lnTo>
                <a:lnTo>
                  <a:pt x="147345" y="254508"/>
                </a:lnTo>
                <a:lnTo>
                  <a:pt x="147345" y="204190"/>
                </a:lnTo>
                <a:lnTo>
                  <a:pt x="145503" y="202349"/>
                </a:lnTo>
                <a:close/>
              </a:path>
              <a:path w="375284" h="375285">
                <a:moveTo>
                  <a:pt x="229552" y="202349"/>
                </a:moveTo>
                <a:lnTo>
                  <a:pt x="227711" y="204190"/>
                </a:lnTo>
                <a:lnTo>
                  <a:pt x="227711" y="254508"/>
                </a:lnTo>
                <a:lnTo>
                  <a:pt x="224552" y="270141"/>
                </a:lnTo>
                <a:lnTo>
                  <a:pt x="215939" y="282914"/>
                </a:lnTo>
                <a:lnTo>
                  <a:pt x="203166" y="291530"/>
                </a:lnTo>
                <a:lnTo>
                  <a:pt x="187528" y="294690"/>
                </a:lnTo>
                <a:lnTo>
                  <a:pt x="239724" y="294690"/>
                </a:lnTo>
                <a:lnTo>
                  <a:pt x="249235" y="280578"/>
                </a:lnTo>
                <a:lnTo>
                  <a:pt x="254495" y="254508"/>
                </a:lnTo>
                <a:lnTo>
                  <a:pt x="252741" y="239184"/>
                </a:lnTo>
                <a:lnTo>
                  <a:pt x="247738" y="225128"/>
                </a:lnTo>
                <a:lnTo>
                  <a:pt x="239879" y="212722"/>
                </a:lnTo>
                <a:lnTo>
                  <a:pt x="229552" y="202349"/>
                </a:lnTo>
                <a:close/>
              </a:path>
              <a:path w="375284" h="375285">
                <a:moveTo>
                  <a:pt x="124828" y="105905"/>
                </a:moveTo>
                <a:lnTo>
                  <a:pt x="116281" y="105905"/>
                </a:lnTo>
                <a:lnTo>
                  <a:pt x="105905" y="116281"/>
                </a:lnTo>
                <a:lnTo>
                  <a:pt x="105905" y="124828"/>
                </a:lnTo>
                <a:lnTo>
                  <a:pt x="174129" y="193052"/>
                </a:lnTo>
                <a:lnTo>
                  <a:pt x="174129" y="261874"/>
                </a:lnTo>
                <a:lnTo>
                  <a:pt x="180162" y="267893"/>
                </a:lnTo>
                <a:lnTo>
                  <a:pt x="194894" y="267893"/>
                </a:lnTo>
                <a:lnTo>
                  <a:pt x="200926" y="261874"/>
                </a:lnTo>
                <a:lnTo>
                  <a:pt x="200926" y="193052"/>
                </a:lnTo>
                <a:lnTo>
                  <a:pt x="225374" y="168605"/>
                </a:lnTo>
                <a:lnTo>
                  <a:pt x="187528" y="168605"/>
                </a:lnTo>
                <a:lnTo>
                  <a:pt x="124828" y="105905"/>
                </a:lnTo>
                <a:close/>
              </a:path>
              <a:path w="375284" h="375285">
                <a:moveTo>
                  <a:pt x="120561" y="53581"/>
                </a:moveTo>
                <a:lnTo>
                  <a:pt x="94482" y="58842"/>
                </a:lnTo>
                <a:lnTo>
                  <a:pt x="73193" y="73193"/>
                </a:lnTo>
                <a:lnTo>
                  <a:pt x="58842" y="94482"/>
                </a:lnTo>
                <a:lnTo>
                  <a:pt x="53581" y="120561"/>
                </a:lnTo>
                <a:lnTo>
                  <a:pt x="58842" y="146632"/>
                </a:lnTo>
                <a:lnTo>
                  <a:pt x="73193" y="167917"/>
                </a:lnTo>
                <a:lnTo>
                  <a:pt x="94482" y="182267"/>
                </a:lnTo>
                <a:lnTo>
                  <a:pt x="120561" y="187528"/>
                </a:lnTo>
                <a:lnTo>
                  <a:pt x="123736" y="187528"/>
                </a:lnTo>
                <a:lnTo>
                  <a:pt x="126911" y="187274"/>
                </a:lnTo>
                <a:lnTo>
                  <a:pt x="130009" y="186855"/>
                </a:lnTo>
                <a:lnTo>
                  <a:pt x="92087" y="148932"/>
                </a:lnTo>
                <a:lnTo>
                  <a:pt x="83286" y="135664"/>
                </a:lnTo>
                <a:lnTo>
                  <a:pt x="80355" y="120561"/>
                </a:lnTo>
                <a:lnTo>
                  <a:pt x="83286" y="105413"/>
                </a:lnTo>
                <a:lnTo>
                  <a:pt x="92087" y="92087"/>
                </a:lnTo>
                <a:lnTo>
                  <a:pt x="105363" y="83249"/>
                </a:lnTo>
                <a:lnTo>
                  <a:pt x="120481" y="80319"/>
                </a:lnTo>
                <a:lnTo>
                  <a:pt x="172720" y="80319"/>
                </a:lnTo>
                <a:lnTo>
                  <a:pt x="167917" y="73193"/>
                </a:lnTo>
                <a:lnTo>
                  <a:pt x="146632" y="58842"/>
                </a:lnTo>
                <a:lnTo>
                  <a:pt x="120561" y="53581"/>
                </a:lnTo>
                <a:close/>
              </a:path>
              <a:path w="375284" h="375285">
                <a:moveTo>
                  <a:pt x="306689" y="80352"/>
                </a:moveTo>
                <a:lnTo>
                  <a:pt x="254506" y="80352"/>
                </a:lnTo>
                <a:lnTo>
                  <a:pt x="269637" y="83286"/>
                </a:lnTo>
                <a:lnTo>
                  <a:pt x="282956" y="92087"/>
                </a:lnTo>
                <a:lnTo>
                  <a:pt x="291801" y="105363"/>
                </a:lnTo>
                <a:lnTo>
                  <a:pt x="294733" y="120481"/>
                </a:lnTo>
                <a:lnTo>
                  <a:pt x="291776" y="135614"/>
                </a:lnTo>
                <a:lnTo>
                  <a:pt x="282956" y="148932"/>
                </a:lnTo>
                <a:lnTo>
                  <a:pt x="245046" y="186855"/>
                </a:lnTo>
                <a:lnTo>
                  <a:pt x="248132" y="187274"/>
                </a:lnTo>
                <a:lnTo>
                  <a:pt x="251320" y="187528"/>
                </a:lnTo>
                <a:lnTo>
                  <a:pt x="254495" y="187528"/>
                </a:lnTo>
                <a:lnTo>
                  <a:pt x="280573" y="182267"/>
                </a:lnTo>
                <a:lnTo>
                  <a:pt x="301863" y="167917"/>
                </a:lnTo>
                <a:lnTo>
                  <a:pt x="316213" y="146632"/>
                </a:lnTo>
                <a:lnTo>
                  <a:pt x="321475" y="120561"/>
                </a:lnTo>
                <a:lnTo>
                  <a:pt x="316213" y="94482"/>
                </a:lnTo>
                <a:lnTo>
                  <a:pt x="306689" y="80352"/>
                </a:lnTo>
                <a:close/>
              </a:path>
              <a:path w="375284" h="375285">
                <a:moveTo>
                  <a:pt x="258775" y="105905"/>
                </a:moveTo>
                <a:lnTo>
                  <a:pt x="250228" y="105905"/>
                </a:lnTo>
                <a:lnTo>
                  <a:pt x="187528" y="168605"/>
                </a:lnTo>
                <a:lnTo>
                  <a:pt x="225374" y="168605"/>
                </a:lnTo>
                <a:lnTo>
                  <a:pt x="269151" y="124828"/>
                </a:lnTo>
                <a:lnTo>
                  <a:pt x="269151" y="116281"/>
                </a:lnTo>
                <a:lnTo>
                  <a:pt x="258775" y="105905"/>
                </a:lnTo>
                <a:close/>
              </a:path>
              <a:path w="375284" h="375285">
                <a:moveTo>
                  <a:pt x="172720" y="80319"/>
                </a:moveTo>
                <a:lnTo>
                  <a:pt x="120481" y="80319"/>
                </a:lnTo>
                <a:lnTo>
                  <a:pt x="135633" y="83286"/>
                </a:lnTo>
                <a:lnTo>
                  <a:pt x="148932" y="92087"/>
                </a:lnTo>
                <a:lnTo>
                  <a:pt x="187528" y="130683"/>
                </a:lnTo>
                <a:lnTo>
                  <a:pt x="197650" y="120561"/>
                </a:lnTo>
                <a:lnTo>
                  <a:pt x="187528" y="120561"/>
                </a:lnTo>
                <a:lnTo>
                  <a:pt x="182267" y="94482"/>
                </a:lnTo>
                <a:lnTo>
                  <a:pt x="172720" y="80319"/>
                </a:lnTo>
                <a:close/>
              </a:path>
              <a:path w="375284" h="375285">
                <a:moveTo>
                  <a:pt x="254495" y="53581"/>
                </a:moveTo>
                <a:lnTo>
                  <a:pt x="228424" y="58842"/>
                </a:lnTo>
                <a:lnTo>
                  <a:pt x="207138" y="73193"/>
                </a:lnTo>
                <a:lnTo>
                  <a:pt x="192789" y="94482"/>
                </a:lnTo>
                <a:lnTo>
                  <a:pt x="187528" y="120561"/>
                </a:lnTo>
                <a:lnTo>
                  <a:pt x="197650" y="120561"/>
                </a:lnTo>
                <a:lnTo>
                  <a:pt x="226123" y="92087"/>
                </a:lnTo>
                <a:lnTo>
                  <a:pt x="239391" y="83286"/>
                </a:lnTo>
                <a:lnTo>
                  <a:pt x="254506" y="80352"/>
                </a:lnTo>
                <a:lnTo>
                  <a:pt x="306689" y="80352"/>
                </a:lnTo>
                <a:lnTo>
                  <a:pt x="301863" y="73193"/>
                </a:lnTo>
                <a:lnTo>
                  <a:pt x="280573" y="58842"/>
                </a:lnTo>
                <a:lnTo>
                  <a:pt x="254495" y="53581"/>
                </a:lnTo>
                <a:close/>
              </a:path>
            </a:pathLst>
          </a:custGeom>
          <a:solidFill>
            <a:srgbClr val="315F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7578725" y="4373562"/>
            <a:ext cx="3126105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5">
                <a:solidFill>
                  <a:srgbClr val="2B404F"/>
                </a:solidFill>
                <a:latin typeface="Arial MT"/>
                <a:cs typeface="Arial MT"/>
              </a:rPr>
              <a:t>Futuro</a:t>
            </a:r>
            <a:r>
              <a:rPr dirty="0" sz="1650" spc="-15">
                <a:solidFill>
                  <a:srgbClr val="2B404F"/>
                </a:solidFill>
                <a:latin typeface="Arial MT"/>
                <a:cs typeface="Arial MT"/>
              </a:rPr>
              <a:t> </a:t>
            </a:r>
            <a:r>
              <a:rPr dirty="0" sz="1650" spc="90">
                <a:solidFill>
                  <a:srgbClr val="2B404F"/>
                </a:solidFill>
                <a:latin typeface="Arial MT"/>
                <a:cs typeface="Arial MT"/>
              </a:rPr>
              <a:t>Prometedor</a:t>
            </a:r>
            <a:endParaRPr sz="1650">
              <a:latin typeface="Arial MT"/>
              <a:cs typeface="Arial MT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 spc="-110">
                <a:solidFill>
                  <a:srgbClr val="2B404F"/>
                </a:solidFill>
                <a:latin typeface="Tahoma"/>
                <a:cs typeface="Tahoma"/>
              </a:rPr>
              <a:t>IoT</a:t>
            </a:r>
            <a:r>
              <a:rPr dirty="0" sz="1350" spc="-13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tiene</a:t>
            </a:r>
            <a:r>
              <a:rPr dirty="0" sz="1350" spc="-12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B404F"/>
                </a:solidFill>
                <a:latin typeface="Tahoma"/>
                <a:cs typeface="Tahoma"/>
              </a:rPr>
              <a:t>el</a:t>
            </a:r>
            <a:r>
              <a:rPr dirty="0" sz="1350" spc="-12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B404F"/>
                </a:solidFill>
                <a:latin typeface="Tahoma"/>
                <a:cs typeface="Tahoma"/>
              </a:rPr>
              <a:t>potencial</a:t>
            </a:r>
            <a:r>
              <a:rPr dirty="0" sz="1350" spc="-12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de</a:t>
            </a:r>
            <a:r>
              <a:rPr dirty="0" sz="1350" spc="-12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transformar </a:t>
            </a: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profundamente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diversos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2B404F"/>
                </a:solidFill>
                <a:latin typeface="Tahoma"/>
                <a:cs typeface="Tahoma"/>
              </a:rPr>
              <a:t>sectores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2B404F"/>
                </a:solidFill>
                <a:latin typeface="Tahoma"/>
                <a:cs typeface="Tahoma"/>
              </a:rPr>
              <a:t>y</a:t>
            </a:r>
            <a:r>
              <a:rPr dirty="0" sz="1350" spc="-114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mejorar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la</a:t>
            </a:r>
            <a:r>
              <a:rPr dirty="0" sz="1350" spc="-14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calidad</a:t>
            </a:r>
            <a:r>
              <a:rPr dirty="0" sz="1350" spc="-14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de</a:t>
            </a:r>
            <a:r>
              <a:rPr dirty="0" sz="1350" spc="-14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vida.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9" name="object 9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2024-11-05T06:31:01Z</dcterms:created>
  <dcterms:modified xsi:type="dcterms:W3CDTF">2024-11-05T06:31:01Z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  <property fmtid="{D5CDD505-2E9C-101B-9397-08002B2CF9AE}" pid="5" name="Producer">
    <vt:lpwstr>GPL Ghostscript 10.02.0</vt:lpwstr>
  </property>
</Properties>
</file>