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7848600"/>
  <p:notesSz cx="11430000" cy="7848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3F3F2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3F3F2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3F3F2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92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0954" y="463550"/>
            <a:ext cx="8848090" cy="160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3F3F2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87375" y="681672"/>
            <a:ext cx="5966460" cy="3688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711200">
              <a:lnSpc>
                <a:spcPts val="5780"/>
              </a:lnSpc>
              <a:spcBef>
                <a:spcPts val="130"/>
              </a:spcBef>
            </a:pPr>
            <a:r>
              <a:rPr dirty="0" sz="4650" spc="185">
                <a:solidFill>
                  <a:srgbClr val="F3F3F2"/>
                </a:solidFill>
                <a:latin typeface="Tahoma"/>
                <a:cs typeface="Tahoma"/>
              </a:rPr>
              <a:t>S</a:t>
            </a:r>
            <a:r>
              <a:rPr dirty="0" sz="4650" spc="195">
                <a:solidFill>
                  <a:srgbClr val="F3F3F2"/>
                </a:solidFill>
                <a:latin typeface="Tahoma"/>
                <a:cs typeface="Tahoma"/>
              </a:rPr>
              <a:t>m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120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140">
                <a:solidFill>
                  <a:srgbClr val="F3F3F2"/>
                </a:solidFill>
                <a:latin typeface="Tahoma"/>
                <a:cs typeface="Tahoma"/>
              </a:rPr>
              <a:t>t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55">
                <a:solidFill>
                  <a:srgbClr val="F3F3F2"/>
                </a:solidFill>
                <a:latin typeface="Tahoma"/>
                <a:cs typeface="Tahoma"/>
              </a:rPr>
              <a:t>C</a:t>
            </a:r>
            <a:r>
              <a:rPr dirty="0" sz="4650" spc="95">
                <a:solidFill>
                  <a:srgbClr val="F3F3F2"/>
                </a:solidFill>
                <a:latin typeface="Tahoma"/>
                <a:cs typeface="Tahoma"/>
              </a:rPr>
              <a:t>o</a:t>
            </a:r>
            <a:r>
              <a:rPr dirty="0" sz="4650" spc="100">
                <a:solidFill>
                  <a:srgbClr val="F3F3F2"/>
                </a:solidFill>
                <a:latin typeface="Tahoma"/>
                <a:cs typeface="Tahoma"/>
              </a:rPr>
              <a:t>nn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220">
                <a:solidFill>
                  <a:srgbClr val="F3F3F2"/>
                </a:solidFill>
                <a:latin typeface="Tahoma"/>
                <a:cs typeface="Tahoma"/>
              </a:rPr>
              <a:t>c</a:t>
            </a:r>
            <a:r>
              <a:rPr dirty="0" sz="4650" spc="120">
                <a:solidFill>
                  <a:srgbClr val="F3F3F2"/>
                </a:solidFill>
                <a:latin typeface="Tahoma"/>
                <a:cs typeface="Tahoma"/>
              </a:rPr>
              <a:t>t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130">
                <a:solidFill>
                  <a:srgbClr val="F3F3F2"/>
                </a:solidFill>
                <a:latin typeface="Tahoma"/>
                <a:cs typeface="Tahoma"/>
              </a:rPr>
              <a:t>d  </a:t>
            </a:r>
            <a:r>
              <a:rPr dirty="0" sz="4650" spc="20">
                <a:solidFill>
                  <a:srgbClr val="F3F3F2"/>
                </a:solidFill>
                <a:latin typeface="Tahoma"/>
                <a:cs typeface="Tahoma"/>
              </a:rPr>
              <a:t>D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220">
                <a:solidFill>
                  <a:srgbClr val="F3F3F2"/>
                </a:solidFill>
                <a:latin typeface="Tahoma"/>
                <a:cs typeface="Tahoma"/>
              </a:rPr>
              <a:t>s</a:t>
            </a:r>
            <a:r>
              <a:rPr dirty="0" sz="4650" spc="165">
                <a:solidFill>
                  <a:srgbClr val="F3F3F2"/>
                </a:solidFill>
                <a:latin typeface="Tahoma"/>
                <a:cs typeface="Tahoma"/>
              </a:rPr>
              <a:t>i</a:t>
            </a:r>
            <a:r>
              <a:rPr dirty="0" sz="4650" spc="-75">
                <a:solidFill>
                  <a:srgbClr val="F3F3F2"/>
                </a:solidFill>
                <a:latin typeface="Tahoma"/>
                <a:cs typeface="Tahoma"/>
              </a:rPr>
              <a:t>g</a:t>
            </a:r>
            <a:r>
              <a:rPr dirty="0" sz="4650" spc="105">
                <a:solidFill>
                  <a:srgbClr val="F3F3F2"/>
                </a:solidFill>
                <a:latin typeface="Tahoma"/>
                <a:cs typeface="Tahoma"/>
              </a:rPr>
              <a:t>n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F</a:t>
            </a:r>
            <a:r>
              <a:rPr dirty="0" sz="4650" spc="65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195">
                <a:solidFill>
                  <a:srgbClr val="F3F3F2"/>
                </a:solidFill>
                <a:latin typeface="Tahoma"/>
                <a:cs typeface="Tahoma"/>
              </a:rPr>
              <a:t>m</a:t>
            </a:r>
            <a:r>
              <a:rPr dirty="0" sz="4650" spc="114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235">
                <a:solidFill>
                  <a:srgbClr val="F3F3F2"/>
                </a:solidFill>
                <a:latin typeface="Tahoma"/>
                <a:cs typeface="Tahoma"/>
              </a:rPr>
              <a:t>w</a:t>
            </a:r>
            <a:r>
              <a:rPr dirty="0" sz="4650" spc="95">
                <a:solidFill>
                  <a:srgbClr val="F3F3F2"/>
                </a:solidFill>
                <a:latin typeface="Tahoma"/>
                <a:cs typeface="Tahoma"/>
              </a:rPr>
              <a:t>o</a:t>
            </a:r>
            <a:r>
              <a:rPr dirty="0" sz="4650" spc="100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225">
                <a:solidFill>
                  <a:srgbClr val="F3F3F2"/>
                </a:solidFill>
                <a:latin typeface="Tahoma"/>
                <a:cs typeface="Tahoma"/>
              </a:rPr>
              <a:t>k</a:t>
            </a:r>
            <a:r>
              <a:rPr dirty="0" sz="4650" spc="-200">
                <a:solidFill>
                  <a:srgbClr val="F3F3F2"/>
                </a:solidFill>
                <a:latin typeface="Tahoma"/>
                <a:cs typeface="Tahoma"/>
              </a:rPr>
              <a:t>:</a:t>
            </a:r>
            <a:endParaRPr sz="4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650" spc="140">
                <a:solidFill>
                  <a:srgbClr val="F3F3F2"/>
                </a:solidFill>
                <a:latin typeface="Tahoma"/>
                <a:cs typeface="Tahoma"/>
              </a:rPr>
              <a:t>U</a:t>
            </a:r>
            <a:r>
              <a:rPr dirty="0" sz="4650" spc="105">
                <a:solidFill>
                  <a:srgbClr val="F3F3F2"/>
                </a:solidFill>
                <a:latin typeface="Tahoma"/>
                <a:cs typeface="Tahoma"/>
              </a:rPr>
              <a:t>n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95">
                <a:solidFill>
                  <a:srgbClr val="F3F3F2"/>
                </a:solidFill>
                <a:latin typeface="Tahoma"/>
                <a:cs typeface="Tahoma"/>
              </a:rPr>
              <a:t>m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80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195">
                <a:solidFill>
                  <a:srgbClr val="F3F3F2"/>
                </a:solidFill>
                <a:latin typeface="Tahoma"/>
                <a:cs typeface="Tahoma"/>
              </a:rPr>
              <a:t>c</a:t>
            </a:r>
            <a:r>
              <a:rPr dirty="0" sz="4650" spc="100">
                <a:solidFill>
                  <a:srgbClr val="F3F3F2"/>
                </a:solidFill>
                <a:latin typeface="Tahoma"/>
                <a:cs typeface="Tahoma"/>
              </a:rPr>
              <a:t>o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80">
                <a:solidFill>
                  <a:srgbClr val="F3F3F2"/>
                </a:solidFill>
                <a:latin typeface="Tahoma"/>
                <a:cs typeface="Tahoma"/>
              </a:rPr>
              <a:t>d</a:t>
            </a:r>
            <a:r>
              <a:rPr dirty="0" sz="4650" spc="140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t</a:t>
            </a:r>
            <a:r>
              <a:rPr dirty="0" sz="4650" spc="65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180">
                <a:solidFill>
                  <a:srgbClr val="F3F3F2"/>
                </a:solidFill>
                <a:latin typeface="Tahoma"/>
                <a:cs typeface="Tahoma"/>
              </a:rPr>
              <a:t>b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-85">
                <a:solidFill>
                  <a:srgbClr val="F3F3F2"/>
                </a:solidFill>
                <a:latin typeface="Tahoma"/>
                <a:cs typeface="Tahoma"/>
              </a:rPr>
              <a:t>j</a:t>
            </a:r>
            <a:r>
              <a:rPr dirty="0" sz="4650" spc="100">
                <a:solidFill>
                  <a:srgbClr val="F3F3F2"/>
                </a:solidFill>
                <a:latin typeface="Tahoma"/>
                <a:cs typeface="Tahoma"/>
              </a:rPr>
              <a:t>o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03499"/>
              </a:lnSpc>
              <a:spcBef>
                <a:spcPts val="75"/>
              </a:spcBef>
            </a:pPr>
            <a:r>
              <a:rPr dirty="0" sz="4650" spc="180">
                <a:solidFill>
                  <a:srgbClr val="F3F3F2"/>
                </a:solidFill>
                <a:latin typeface="Tahoma"/>
                <a:cs typeface="Tahoma"/>
              </a:rPr>
              <a:t>p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65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114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180">
                <a:solidFill>
                  <a:srgbClr val="F3F3F2"/>
                </a:solidFill>
                <a:latin typeface="Tahoma"/>
                <a:cs typeface="Tahoma"/>
              </a:rPr>
              <a:t>d</a:t>
            </a:r>
            <a:r>
              <a:rPr dirty="0" sz="4650" spc="165">
                <a:solidFill>
                  <a:srgbClr val="F3F3F2"/>
                </a:solidFill>
                <a:latin typeface="Tahoma"/>
                <a:cs typeface="Tahoma"/>
              </a:rPr>
              <a:t>i</a:t>
            </a:r>
            <a:r>
              <a:rPr dirty="0" sz="4650" spc="220">
                <a:solidFill>
                  <a:srgbClr val="F3F3F2"/>
                </a:solidFill>
                <a:latin typeface="Tahoma"/>
                <a:cs typeface="Tahoma"/>
              </a:rPr>
              <a:t>s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100">
                <a:solidFill>
                  <a:srgbClr val="F3F3F2"/>
                </a:solidFill>
                <a:latin typeface="Tahoma"/>
                <a:cs typeface="Tahoma"/>
              </a:rPr>
              <a:t>ñ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105">
                <a:solidFill>
                  <a:srgbClr val="F3F3F2"/>
                </a:solidFill>
                <a:latin typeface="Tahoma"/>
                <a:cs typeface="Tahoma"/>
              </a:rPr>
              <a:t>r</a:t>
            </a:r>
            <a:r>
              <a:rPr dirty="0" sz="4650" spc="-355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4650" spc="220">
                <a:solidFill>
                  <a:srgbClr val="F3F3F2"/>
                </a:solidFill>
                <a:latin typeface="Tahoma"/>
                <a:cs typeface="Tahoma"/>
              </a:rPr>
              <a:t>s</a:t>
            </a:r>
            <a:r>
              <a:rPr dirty="0" sz="4650" spc="165">
                <a:solidFill>
                  <a:srgbClr val="F3F3F2"/>
                </a:solidFill>
                <a:latin typeface="Tahoma"/>
                <a:cs typeface="Tahoma"/>
              </a:rPr>
              <a:t>i</a:t>
            </a:r>
            <a:r>
              <a:rPr dirty="0" sz="4650" spc="190">
                <a:solidFill>
                  <a:srgbClr val="F3F3F2"/>
                </a:solidFill>
                <a:latin typeface="Tahoma"/>
                <a:cs typeface="Tahoma"/>
              </a:rPr>
              <a:t>s</a:t>
            </a:r>
            <a:r>
              <a:rPr dirty="0" sz="4650" spc="120">
                <a:solidFill>
                  <a:srgbClr val="F3F3F2"/>
                </a:solidFill>
                <a:latin typeface="Tahoma"/>
                <a:cs typeface="Tahoma"/>
              </a:rPr>
              <a:t>t</a:t>
            </a:r>
            <a:r>
              <a:rPr dirty="0" sz="4650" spc="135">
                <a:solidFill>
                  <a:srgbClr val="F3F3F2"/>
                </a:solidFill>
                <a:latin typeface="Tahoma"/>
                <a:cs typeface="Tahoma"/>
              </a:rPr>
              <a:t>e</a:t>
            </a:r>
            <a:r>
              <a:rPr dirty="0" sz="4650" spc="195">
                <a:solidFill>
                  <a:srgbClr val="F3F3F2"/>
                </a:solidFill>
                <a:latin typeface="Tahoma"/>
                <a:cs typeface="Tahoma"/>
              </a:rPr>
              <a:t>m</a:t>
            </a:r>
            <a:r>
              <a:rPr dirty="0" sz="4650" spc="110">
                <a:solidFill>
                  <a:srgbClr val="F3F3F2"/>
                </a:solidFill>
                <a:latin typeface="Tahoma"/>
                <a:cs typeface="Tahoma"/>
              </a:rPr>
              <a:t>a</a:t>
            </a:r>
            <a:r>
              <a:rPr dirty="0" sz="4650" spc="180">
                <a:solidFill>
                  <a:srgbClr val="F3F3F2"/>
                </a:solidFill>
                <a:latin typeface="Tahoma"/>
                <a:cs typeface="Tahoma"/>
              </a:rPr>
              <a:t>s  </a:t>
            </a:r>
            <a:r>
              <a:rPr dirty="0" sz="4650" spc="-25">
                <a:solidFill>
                  <a:srgbClr val="F3F3F2"/>
                </a:solidFill>
                <a:latin typeface="Tahoma"/>
                <a:cs typeface="Tahoma"/>
              </a:rPr>
              <a:t>IoT</a:t>
            </a:r>
            <a:endParaRPr sz="4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75" y="4584064"/>
            <a:ext cx="5958205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El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Smart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Connected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Design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Framework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D4D4D1"/>
                </a:solidFill>
                <a:latin typeface="Roboto"/>
                <a:cs typeface="Roboto"/>
              </a:rPr>
              <a:t>un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enfoque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integral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que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ayuda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organizaciones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diseñar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desarrollar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sistemas</a:t>
            </a:r>
            <a:r>
              <a:rPr dirty="0" sz="1350" spc="3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IoT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efectivos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centrados</a:t>
            </a:r>
            <a:r>
              <a:rPr dirty="0" sz="1350" spc="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en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el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usuario.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Este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marco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abarca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aspectos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clave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como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usuario,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integración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tecnológica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modelos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negocio.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901700"/>
            <a:ext cx="533908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175">
                <a:latin typeface="Verdana"/>
                <a:cs typeface="Verdana"/>
              </a:rPr>
              <a:t>Qué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00">
                <a:latin typeface="Verdana"/>
                <a:cs typeface="Verdana"/>
              </a:rPr>
              <a:t>es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40">
                <a:latin typeface="Verdana"/>
                <a:cs typeface="Verdana"/>
              </a:rPr>
              <a:t>el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240">
                <a:latin typeface="Verdana"/>
                <a:cs typeface="Verdana"/>
              </a:rPr>
              <a:t>Sma</a:t>
            </a:r>
            <a:r>
              <a:rPr dirty="0" spc="-130">
                <a:latin typeface="Verdana"/>
                <a:cs typeface="Verdana"/>
              </a:rPr>
              <a:t>r</a:t>
            </a:r>
            <a:r>
              <a:rPr dirty="0" spc="-90">
                <a:latin typeface="Verdana"/>
                <a:cs typeface="Verdana"/>
              </a:rPr>
              <a:t>t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35">
                <a:latin typeface="Verdana"/>
                <a:cs typeface="Verdana"/>
              </a:rPr>
              <a:t>Connec</a:t>
            </a:r>
            <a:r>
              <a:rPr dirty="0" spc="-105">
                <a:latin typeface="Verdana"/>
                <a:cs typeface="Verdana"/>
              </a:rPr>
              <a:t>t</a:t>
            </a:r>
            <a:r>
              <a:rPr dirty="0" spc="-85">
                <a:latin typeface="Verdana"/>
                <a:cs typeface="Verdana"/>
              </a:rPr>
              <a:t>ed  </a:t>
            </a:r>
            <a:r>
              <a:rPr dirty="0" spc="-160">
                <a:latin typeface="Verdana"/>
                <a:cs typeface="Verdana"/>
              </a:rPr>
              <a:t>Design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90">
                <a:latin typeface="Verdana"/>
                <a:cs typeface="Verdana"/>
              </a:rPr>
              <a:t>F</a:t>
            </a:r>
            <a:r>
              <a:rPr dirty="0" spc="-170">
                <a:latin typeface="Verdana"/>
                <a:cs typeface="Verdana"/>
              </a:rPr>
              <a:t>r</a:t>
            </a:r>
            <a:r>
              <a:rPr dirty="0" spc="-204">
                <a:latin typeface="Verdana"/>
                <a:cs typeface="Verdana"/>
              </a:rPr>
              <a:t>am</a:t>
            </a:r>
            <a:r>
              <a:rPr dirty="0" spc="-175">
                <a:latin typeface="Verdana"/>
                <a:cs typeface="Verdana"/>
              </a:rPr>
              <a:t>e</a:t>
            </a:r>
            <a:r>
              <a:rPr dirty="0" spc="-70">
                <a:latin typeface="Verdana"/>
                <a:cs typeface="Verdana"/>
              </a:rPr>
              <a:t>w</a:t>
            </a:r>
            <a:r>
              <a:rPr dirty="0" spc="-150">
                <a:latin typeface="Verdana"/>
                <a:cs typeface="Verdana"/>
              </a:rPr>
              <a:t>ork?</a:t>
            </a:r>
          </a:p>
        </p:txBody>
      </p:sp>
      <p:sp>
        <p:nvSpPr>
          <p:cNvPr id="6" name="object 6"/>
          <p:cNvSpPr/>
          <p:nvPr/>
        </p:nvSpPr>
        <p:spPr>
          <a:xfrm>
            <a:off x="600075" y="246697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6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3014" y="249237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D4D4D1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7" y="2449512"/>
            <a:ext cx="233997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D4D4D1"/>
                </a:solidFill>
                <a:latin typeface="Verdana"/>
                <a:cs typeface="Verdana"/>
              </a:rPr>
              <a:t>En</a:t>
            </a:r>
            <a:r>
              <a:rPr dirty="0" sz="1650" spc="-35">
                <a:solidFill>
                  <a:srgbClr val="D4D4D1"/>
                </a:solidFill>
                <a:latin typeface="Verdana"/>
                <a:cs typeface="Verdana"/>
              </a:rPr>
              <a:t>f</a:t>
            </a:r>
            <a:r>
              <a:rPr dirty="0" sz="1650" spc="-50">
                <a:solidFill>
                  <a:srgbClr val="D4D4D1"/>
                </a:solidFill>
                <a:latin typeface="Verdana"/>
                <a:cs typeface="Verdana"/>
              </a:rPr>
              <a:t>oque</a:t>
            </a:r>
            <a:r>
              <a:rPr dirty="0" sz="1650" spc="-185">
                <a:solidFill>
                  <a:srgbClr val="D4D4D1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4D4D1"/>
                </a:solidFill>
                <a:latin typeface="Verdana"/>
                <a:cs typeface="Verdana"/>
              </a:rPr>
              <a:t>Holí</a:t>
            </a:r>
            <a:r>
              <a:rPr dirty="0" sz="1650" spc="-35">
                <a:solidFill>
                  <a:srgbClr val="D4D4D1"/>
                </a:solidFill>
                <a:latin typeface="Verdana"/>
                <a:cs typeface="Verdana"/>
              </a:rPr>
              <a:t>s</a:t>
            </a:r>
            <a:r>
              <a:rPr dirty="0" sz="1650" spc="-15">
                <a:solidFill>
                  <a:srgbClr val="D4D4D1"/>
                </a:solidFill>
                <a:latin typeface="Verdana"/>
                <a:cs typeface="Verdana"/>
              </a:rPr>
              <a:t>ti</a:t>
            </a:r>
            <a:r>
              <a:rPr dirty="0" sz="1650" spc="-35">
                <a:solidFill>
                  <a:srgbClr val="D4D4D1"/>
                </a:solidFill>
                <a:latin typeface="Verdana"/>
                <a:cs typeface="Verdana"/>
              </a:rPr>
              <a:t>c</a:t>
            </a:r>
            <a:r>
              <a:rPr dirty="0" sz="1650" spc="-50">
                <a:solidFill>
                  <a:srgbClr val="D4D4D1"/>
                </a:solidFill>
                <a:latin typeface="Verdana"/>
                <a:cs typeface="Verdana"/>
              </a:rPr>
              <a:t>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El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framework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analiza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el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diseño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sistemas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IoT desde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múltiples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perspectivas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para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 lograr resultados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exitosos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sostenibles.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57600" y="246697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60533" y="249237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D4D4D1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02106" y="2449512"/>
            <a:ext cx="1933575" cy="17125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278130">
              <a:lnSpc>
                <a:spcPct val="106100"/>
              </a:lnSpc>
              <a:spcBef>
                <a:spcPts val="15"/>
              </a:spcBef>
            </a:pPr>
            <a:r>
              <a:rPr dirty="0" sz="1650" spc="-35">
                <a:solidFill>
                  <a:srgbClr val="D4D4D1"/>
                </a:solidFill>
                <a:latin typeface="Verdana"/>
                <a:cs typeface="Verdana"/>
              </a:rPr>
              <a:t>In</a:t>
            </a:r>
            <a:r>
              <a:rPr dirty="0" sz="1650" spc="-40">
                <a:solidFill>
                  <a:srgbClr val="D4D4D1"/>
                </a:solidFill>
                <a:latin typeface="Verdana"/>
                <a:cs typeface="Verdana"/>
              </a:rPr>
              <a:t>t</a:t>
            </a:r>
            <a:r>
              <a:rPr dirty="0" sz="1650" spc="-85">
                <a:solidFill>
                  <a:srgbClr val="D4D4D1"/>
                </a:solidFill>
                <a:latin typeface="Verdana"/>
                <a:cs typeface="Verdana"/>
              </a:rPr>
              <a:t>eg</a:t>
            </a:r>
            <a:r>
              <a:rPr dirty="0" sz="1650" spc="-75">
                <a:solidFill>
                  <a:srgbClr val="D4D4D1"/>
                </a:solidFill>
                <a:latin typeface="Verdana"/>
                <a:cs typeface="Verdana"/>
              </a:rPr>
              <a:t>r</a:t>
            </a:r>
            <a:r>
              <a:rPr dirty="0" sz="1650" spc="-40">
                <a:solidFill>
                  <a:srgbClr val="D4D4D1"/>
                </a:solidFill>
                <a:latin typeface="Verdana"/>
                <a:cs typeface="Verdana"/>
              </a:rPr>
              <a:t>ación</a:t>
            </a:r>
            <a:r>
              <a:rPr dirty="0" sz="1650" spc="-185">
                <a:solidFill>
                  <a:srgbClr val="D4D4D1"/>
                </a:solidFill>
                <a:latin typeface="Verdana"/>
                <a:cs typeface="Verdana"/>
              </a:rPr>
              <a:t> </a:t>
            </a:r>
            <a:r>
              <a:rPr dirty="0" sz="1650" spc="-30">
                <a:solidFill>
                  <a:srgbClr val="D4D4D1"/>
                </a:solidFill>
                <a:latin typeface="Verdana"/>
                <a:cs typeface="Verdana"/>
              </a:rPr>
              <a:t>de  </a:t>
            </a:r>
            <a:r>
              <a:rPr dirty="0" sz="1650" spc="-50">
                <a:solidFill>
                  <a:srgbClr val="D4D4D1"/>
                </a:solidFill>
                <a:latin typeface="Verdana"/>
                <a:cs typeface="Verdana"/>
              </a:rPr>
              <a:t>Elemen</a:t>
            </a:r>
            <a:r>
              <a:rPr dirty="0" sz="1650" spc="-45">
                <a:solidFill>
                  <a:srgbClr val="D4D4D1"/>
                </a:solidFill>
                <a:latin typeface="Verdana"/>
                <a:cs typeface="Verdana"/>
              </a:rPr>
              <a:t>t</a:t>
            </a:r>
            <a:r>
              <a:rPr dirty="0" sz="1650" spc="-40">
                <a:solidFill>
                  <a:srgbClr val="D4D4D1"/>
                </a:solidFill>
                <a:latin typeface="Verdana"/>
                <a:cs typeface="Verdana"/>
              </a:rPr>
              <a:t>os</a:t>
            </a:r>
            <a:r>
              <a:rPr dirty="0" sz="1650" spc="-185">
                <a:solidFill>
                  <a:srgbClr val="D4D4D1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4D4D1"/>
                </a:solidFill>
                <a:latin typeface="Verdana"/>
                <a:cs typeface="Verdana"/>
              </a:rPr>
              <a:t>Cl</a:t>
            </a:r>
            <a:r>
              <a:rPr dirty="0" sz="1650" spc="-70">
                <a:solidFill>
                  <a:srgbClr val="D4D4D1"/>
                </a:solidFill>
                <a:latin typeface="Verdana"/>
                <a:cs typeface="Verdana"/>
              </a:rPr>
              <a:t>a</a:t>
            </a:r>
            <a:r>
              <a:rPr dirty="0" sz="1650" spc="-130">
                <a:solidFill>
                  <a:srgbClr val="D4D4D1"/>
                </a:solidFill>
                <a:latin typeface="Verdana"/>
                <a:cs typeface="Verdana"/>
              </a:rPr>
              <a:t>v</a:t>
            </a:r>
            <a:r>
              <a:rPr dirty="0" sz="1650" spc="-45">
                <a:solidFill>
                  <a:srgbClr val="D4D4D1"/>
                </a:solidFill>
                <a:latin typeface="Verdana"/>
                <a:cs typeface="Verdana"/>
              </a:rPr>
              <a:t>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Abarca áreas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como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usuario,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 integración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tecnológica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modelos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negocio.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5" y="457200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6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3014" y="459740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D4D4D1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7" y="4554537"/>
            <a:ext cx="53625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D4D4D1"/>
                </a:solidFill>
                <a:latin typeface="Verdana"/>
                <a:cs typeface="Verdana"/>
              </a:rPr>
              <a:t>Orientación</a:t>
            </a:r>
            <a:r>
              <a:rPr dirty="0" sz="1650" spc="-185">
                <a:solidFill>
                  <a:srgbClr val="D4D4D1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4D4D1"/>
                </a:solidFill>
                <a:latin typeface="Verdana"/>
                <a:cs typeface="Verdana"/>
              </a:rPr>
              <a:t>al</a:t>
            </a:r>
            <a:r>
              <a:rPr dirty="0" sz="1650" spc="-185">
                <a:solidFill>
                  <a:srgbClr val="D4D4D1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4D4D1"/>
                </a:solidFill>
                <a:latin typeface="Verdana"/>
                <a:cs typeface="Verdana"/>
              </a:rPr>
              <a:t>Usuario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Pone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final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centro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diseño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para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garantizar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mayor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adopción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satisfacción.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82775"/>
            <a:ext cx="84035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>
                <a:latin typeface="Verdana"/>
                <a:cs typeface="Verdana"/>
              </a:rPr>
              <a:t>L</a:t>
            </a:r>
            <a:r>
              <a:rPr dirty="0" spc="-120">
                <a:latin typeface="Verdana"/>
                <a:cs typeface="Verdana"/>
              </a:rPr>
              <a:t>as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05">
                <a:latin typeface="Verdana"/>
                <a:cs typeface="Verdana"/>
              </a:rPr>
              <a:t>3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75">
                <a:latin typeface="Verdana"/>
                <a:cs typeface="Verdana"/>
              </a:rPr>
              <a:t>á</a:t>
            </a:r>
            <a:r>
              <a:rPr dirty="0" spc="-145">
                <a:latin typeface="Verdana"/>
                <a:cs typeface="Verdana"/>
              </a:rPr>
              <a:t>r</a:t>
            </a:r>
            <a:r>
              <a:rPr dirty="0" spc="-120">
                <a:latin typeface="Verdana"/>
                <a:cs typeface="Verdana"/>
              </a:rPr>
              <a:t>eas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40">
                <a:latin typeface="Verdana"/>
                <a:cs typeface="Verdana"/>
              </a:rPr>
              <a:t>cl</a:t>
            </a:r>
            <a:r>
              <a:rPr dirty="0" spc="-100">
                <a:latin typeface="Verdana"/>
                <a:cs typeface="Verdana"/>
              </a:rPr>
              <a:t>a</a:t>
            </a:r>
            <a:r>
              <a:rPr dirty="0" spc="-285">
                <a:latin typeface="Verdana"/>
                <a:cs typeface="Verdana"/>
              </a:rPr>
              <a:t>v</a:t>
            </a:r>
            <a:r>
              <a:rPr dirty="0" spc="-120">
                <a:latin typeface="Verdana"/>
                <a:cs typeface="Verdana"/>
              </a:rPr>
              <a:t>e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25">
                <a:latin typeface="Verdana"/>
                <a:cs typeface="Verdana"/>
              </a:rPr>
              <a:t>que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110">
                <a:latin typeface="Verdana"/>
                <a:cs typeface="Verdana"/>
              </a:rPr>
              <a:t>analiza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40">
                <a:latin typeface="Verdana"/>
                <a:cs typeface="Verdana"/>
              </a:rPr>
              <a:t>el</a:t>
            </a:r>
            <a:r>
              <a:rPr dirty="0" spc="-385">
                <a:latin typeface="Verdana"/>
                <a:cs typeface="Verdana"/>
              </a:rPr>
              <a:t> </a:t>
            </a:r>
            <a:r>
              <a:rPr dirty="0" spc="-80">
                <a:latin typeface="Verdana"/>
                <a:cs typeface="Verdana"/>
              </a:rPr>
              <a:t>f</a:t>
            </a:r>
            <a:r>
              <a:rPr dirty="0" spc="-125">
                <a:latin typeface="Verdana"/>
                <a:cs typeface="Verdana"/>
              </a:rPr>
              <a:t>r</a:t>
            </a:r>
            <a:r>
              <a:rPr dirty="0" spc="-204">
                <a:latin typeface="Verdana"/>
                <a:cs typeface="Verdana"/>
              </a:rPr>
              <a:t>am</a:t>
            </a:r>
            <a:r>
              <a:rPr dirty="0" spc="-175">
                <a:latin typeface="Verdana"/>
                <a:cs typeface="Verdana"/>
              </a:rPr>
              <a:t>e</a:t>
            </a:r>
            <a:r>
              <a:rPr dirty="0" spc="-70">
                <a:latin typeface="Verdana"/>
                <a:cs typeface="Verdana"/>
              </a:rPr>
              <a:t>w</a:t>
            </a:r>
            <a:r>
              <a:rPr dirty="0" spc="-135">
                <a:latin typeface="Verdana"/>
                <a:cs typeface="Verdana"/>
              </a:rPr>
              <a:t>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840037"/>
            <a:ext cx="2983230" cy="124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F3F3F2"/>
                </a:solidFill>
                <a:latin typeface="Verdana"/>
                <a:cs typeface="Verdana"/>
              </a:rPr>
              <a:t>Diseño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F3F3F2"/>
                </a:solidFill>
                <a:latin typeface="Verdana"/>
                <a:cs typeface="Verdana"/>
              </a:rPr>
              <a:t>Cent</a:t>
            </a:r>
            <a:r>
              <a:rPr dirty="0" sz="1650" spc="-60">
                <a:solidFill>
                  <a:srgbClr val="F3F3F2"/>
                </a:solidFill>
                <a:latin typeface="Verdana"/>
                <a:cs typeface="Verdana"/>
              </a:rPr>
              <a:t>r</a:t>
            </a:r>
            <a:r>
              <a:rPr dirty="0" sz="1650" spc="-50">
                <a:solidFill>
                  <a:srgbClr val="F3F3F2"/>
                </a:solidFill>
                <a:latin typeface="Verdana"/>
                <a:cs typeface="Verdana"/>
              </a:rPr>
              <a:t>ado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F3F3F2"/>
                </a:solidFill>
                <a:latin typeface="Verdana"/>
                <a:cs typeface="Verdana"/>
              </a:rPr>
              <a:t>en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F3F3F2"/>
                </a:solidFill>
                <a:latin typeface="Verdana"/>
                <a:cs typeface="Verdana"/>
              </a:rPr>
              <a:t>el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F3F3F2"/>
                </a:solidFill>
                <a:latin typeface="Verdana"/>
                <a:cs typeface="Verdana"/>
              </a:rPr>
              <a:t>Usuario</a:t>
            </a:r>
            <a:endParaRPr sz="1650">
              <a:latin typeface="Verdana"/>
              <a:cs typeface="Verdana"/>
            </a:endParaRPr>
          </a:p>
          <a:p>
            <a:pPr marL="12700" marR="290195">
              <a:lnSpc>
                <a:spcPct val="134300"/>
              </a:lnSpc>
              <a:spcBef>
                <a:spcPts val="1065"/>
              </a:spcBef>
            </a:pP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Enfocarse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en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necesidades,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comportamientos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final.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2840037"/>
            <a:ext cx="2903855" cy="15125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76835">
              <a:lnSpc>
                <a:spcPct val="106100"/>
              </a:lnSpc>
              <a:spcBef>
                <a:spcPts val="15"/>
              </a:spcBef>
            </a:pPr>
            <a:r>
              <a:rPr dirty="0" sz="1650" spc="-35">
                <a:solidFill>
                  <a:srgbClr val="F3F3F2"/>
                </a:solidFill>
                <a:latin typeface="Verdana"/>
                <a:cs typeface="Verdana"/>
              </a:rPr>
              <a:t>In</a:t>
            </a:r>
            <a:r>
              <a:rPr dirty="0" sz="1650" spc="-40">
                <a:solidFill>
                  <a:srgbClr val="F3F3F2"/>
                </a:solidFill>
                <a:latin typeface="Verdana"/>
                <a:cs typeface="Verdana"/>
              </a:rPr>
              <a:t>t</a:t>
            </a:r>
            <a:r>
              <a:rPr dirty="0" sz="1650" spc="-85">
                <a:solidFill>
                  <a:srgbClr val="F3F3F2"/>
                </a:solidFill>
                <a:latin typeface="Verdana"/>
                <a:cs typeface="Verdana"/>
              </a:rPr>
              <a:t>eg</a:t>
            </a:r>
            <a:r>
              <a:rPr dirty="0" sz="1650" spc="-75">
                <a:solidFill>
                  <a:srgbClr val="F3F3F2"/>
                </a:solidFill>
                <a:latin typeface="Verdana"/>
                <a:cs typeface="Verdana"/>
              </a:rPr>
              <a:t>r</a:t>
            </a:r>
            <a:r>
              <a:rPr dirty="0" sz="1650" spc="-40">
                <a:solidFill>
                  <a:srgbClr val="F3F3F2"/>
                </a:solidFill>
                <a:latin typeface="Verdana"/>
                <a:cs typeface="Verdana"/>
              </a:rPr>
              <a:t>ación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155">
                <a:solidFill>
                  <a:srgbClr val="F3F3F2"/>
                </a:solidFill>
                <a:latin typeface="Verdana"/>
                <a:cs typeface="Verdana"/>
              </a:rPr>
              <a:t>T</a:t>
            </a:r>
            <a:r>
              <a:rPr dirty="0" sz="1650" spc="-40">
                <a:solidFill>
                  <a:srgbClr val="F3F3F2"/>
                </a:solidFill>
                <a:latin typeface="Verdana"/>
                <a:cs typeface="Verdana"/>
              </a:rPr>
              <a:t>ecnológica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110">
                <a:solidFill>
                  <a:srgbClr val="F3F3F2"/>
                </a:solidFill>
                <a:latin typeface="Verdana"/>
                <a:cs typeface="Verdana"/>
              </a:rPr>
              <a:t>y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30">
                <a:solidFill>
                  <a:srgbClr val="F3F3F2"/>
                </a:solidFill>
                <a:latin typeface="Verdana"/>
                <a:cs typeface="Verdana"/>
              </a:rPr>
              <a:t>de  </a:t>
            </a:r>
            <a:r>
              <a:rPr dirty="0" sz="1650" spc="-60">
                <a:solidFill>
                  <a:srgbClr val="F3F3F2"/>
                </a:solidFill>
                <a:latin typeface="Verdana"/>
                <a:cs typeface="Verdana"/>
              </a:rPr>
              <a:t>Sistemas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Asegurar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implementación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fluida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eficiente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 componentes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tecnológicos.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2840037"/>
            <a:ext cx="3081020" cy="15125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929640">
              <a:lnSpc>
                <a:spcPct val="106100"/>
              </a:lnSpc>
              <a:spcBef>
                <a:spcPts val="15"/>
              </a:spcBef>
            </a:pPr>
            <a:r>
              <a:rPr dirty="0" sz="1650" spc="-30">
                <a:solidFill>
                  <a:srgbClr val="F3F3F2"/>
                </a:solidFill>
                <a:latin typeface="Verdana"/>
                <a:cs typeface="Verdana"/>
              </a:rPr>
              <a:t>Modelos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F3F3F2"/>
                </a:solidFill>
                <a:latin typeface="Verdana"/>
                <a:cs typeface="Verdana"/>
              </a:rPr>
              <a:t>de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F3F3F2"/>
                </a:solidFill>
                <a:latin typeface="Verdana"/>
                <a:cs typeface="Verdana"/>
              </a:rPr>
              <a:t>Ne</a:t>
            </a:r>
            <a:r>
              <a:rPr dirty="0" sz="1650" spc="-80">
                <a:solidFill>
                  <a:srgbClr val="F3F3F2"/>
                </a:solidFill>
                <a:latin typeface="Verdana"/>
                <a:cs typeface="Verdana"/>
              </a:rPr>
              <a:t>g</a:t>
            </a:r>
            <a:r>
              <a:rPr dirty="0" sz="1650" spc="-30">
                <a:solidFill>
                  <a:srgbClr val="F3F3F2"/>
                </a:solidFill>
                <a:latin typeface="Verdana"/>
                <a:cs typeface="Verdana"/>
              </a:rPr>
              <a:t>ocio</a:t>
            </a:r>
            <a:r>
              <a:rPr dirty="0" sz="1650" spc="-185">
                <a:solidFill>
                  <a:srgbClr val="F3F3F2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F3F3F2"/>
                </a:solidFill>
                <a:latin typeface="Verdana"/>
                <a:cs typeface="Verdana"/>
              </a:rPr>
              <a:t>y  </a:t>
            </a:r>
            <a:r>
              <a:rPr dirty="0" sz="1650" spc="-45">
                <a:solidFill>
                  <a:srgbClr val="F3F3F2"/>
                </a:solidFill>
                <a:latin typeface="Verdana"/>
                <a:cs typeface="Verdana"/>
              </a:rPr>
              <a:t>Experiencia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Desarrollar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modelos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negocio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sostenibles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ofrecer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D4D4D1"/>
                </a:solidFill>
                <a:latin typeface="Roboto"/>
                <a:cs typeface="Roboto"/>
              </a:rPr>
              <a:t>valor.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749300"/>
            <a:ext cx="59404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0"/>
              <a:t>Diseño</a:t>
            </a:r>
            <a:r>
              <a:rPr dirty="0" spc="-254"/>
              <a:t> </a:t>
            </a:r>
            <a:r>
              <a:rPr dirty="0" spc="110"/>
              <a:t>Cent</a:t>
            </a:r>
            <a:r>
              <a:rPr dirty="0" spc="45"/>
              <a:t>r</a:t>
            </a:r>
            <a:r>
              <a:rPr dirty="0" spc="105"/>
              <a:t>ado</a:t>
            </a:r>
            <a:r>
              <a:rPr dirty="0" spc="-254"/>
              <a:t> </a:t>
            </a:r>
            <a:r>
              <a:rPr dirty="0" spc="100"/>
              <a:t>en</a:t>
            </a:r>
            <a:r>
              <a:rPr dirty="0" spc="-254"/>
              <a:t> </a:t>
            </a:r>
            <a:r>
              <a:rPr dirty="0" spc="150"/>
              <a:t>el</a:t>
            </a:r>
            <a:r>
              <a:rPr dirty="0" spc="-254"/>
              <a:t> </a:t>
            </a:r>
            <a:r>
              <a:rPr dirty="0" spc="110"/>
              <a:t>Usuario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4368" y="1552574"/>
            <a:ext cx="972185" cy="4124325"/>
            <a:chOff x="664368" y="1552574"/>
            <a:chExt cx="972185" cy="4124325"/>
          </a:xfrm>
        </p:grpSpPr>
        <p:sp>
          <p:nvSpPr>
            <p:cNvPr id="7" name="object 7"/>
            <p:cNvSpPr/>
            <p:nvPr/>
          </p:nvSpPr>
          <p:spPr>
            <a:xfrm>
              <a:off x="847725" y="1552574"/>
              <a:ext cx="788670" cy="4124960"/>
            </a:xfrm>
            <a:custGeom>
              <a:avLst/>
              <a:gdLst/>
              <a:ahLst/>
              <a:cxnLst/>
              <a:rect l="l" t="t" r="r" b="b"/>
              <a:pathLst>
                <a:path w="788669" h="412496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14812"/>
                  </a:lnTo>
                  <a:lnTo>
                    <a:pt x="0" y="4117441"/>
                  </a:lnTo>
                  <a:lnTo>
                    <a:pt x="927" y="4119676"/>
                  </a:lnTo>
                  <a:lnTo>
                    <a:pt x="4648" y="4123398"/>
                  </a:lnTo>
                  <a:lnTo>
                    <a:pt x="6896" y="4124337"/>
                  </a:lnTo>
                  <a:lnTo>
                    <a:pt x="12153" y="4124337"/>
                  </a:lnTo>
                  <a:lnTo>
                    <a:pt x="14401" y="4123398"/>
                  </a:lnTo>
                  <a:lnTo>
                    <a:pt x="18122" y="4119676"/>
                  </a:lnTo>
                  <a:lnTo>
                    <a:pt x="19050" y="4117441"/>
                  </a:lnTo>
                  <a:lnTo>
                    <a:pt x="19050" y="6896"/>
                  </a:lnTo>
                  <a:close/>
                </a:path>
                <a:path w="788669" h="412496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4368" y="174307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8" y="390525"/>
                  </a:lnTo>
                  <a:lnTo>
                    <a:pt x="371936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67308" y="176847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7525" y="1706562"/>
            <a:ext cx="47529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Investigación</a:t>
            </a:r>
            <a:r>
              <a:rPr dirty="0" sz="1650" spc="-13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del</a:t>
            </a:r>
            <a:r>
              <a:rPr dirty="0" sz="1650" spc="-125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Usuario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Comprender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necesidades,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comportamientos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dolor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points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los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368" y="3181349"/>
            <a:ext cx="972185" cy="381000"/>
            <a:chOff x="664368" y="3181349"/>
            <a:chExt cx="972185" cy="381000"/>
          </a:xfrm>
        </p:grpSpPr>
        <p:sp>
          <p:nvSpPr>
            <p:cNvPr id="12" name="object 12"/>
            <p:cNvSpPr/>
            <p:nvPr/>
          </p:nvSpPr>
          <p:spPr>
            <a:xfrm>
              <a:off x="1035843" y="3362324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4368" y="31813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8" y="381000"/>
                  </a:lnTo>
                  <a:lnTo>
                    <a:pt x="371936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7308" y="319722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7525" y="3135312"/>
            <a:ext cx="438404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Diseño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I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ti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v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Desarrollar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probar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soluciones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con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usuarios,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iterando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sobre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el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diseño.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4368" y="4610100"/>
            <a:ext cx="972185" cy="390525"/>
            <a:chOff x="664368" y="4610100"/>
            <a:chExt cx="972185" cy="390525"/>
          </a:xfrm>
        </p:grpSpPr>
        <p:sp>
          <p:nvSpPr>
            <p:cNvPr id="17" name="object 17"/>
            <p:cNvSpPr/>
            <p:nvPr/>
          </p:nvSpPr>
          <p:spPr>
            <a:xfrm>
              <a:off x="1035843" y="479107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368" y="46101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8" y="390525"/>
                  </a:lnTo>
                  <a:lnTo>
                    <a:pt x="371936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7308" y="463550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87525" y="4573587"/>
            <a:ext cx="438277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Experiencia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Intuiti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v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Crear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interfaces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que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sean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fáciles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generen </a:t>
            </a:r>
            <a:r>
              <a:rPr dirty="0" sz="1350" spc="-30">
                <a:solidFill>
                  <a:srgbClr val="D4D4D1"/>
                </a:solidFill>
                <a:latin typeface="Roboto"/>
                <a:cs typeface="Roboto"/>
              </a:rPr>
              <a:t>valor.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730500"/>
            <a:ext cx="75368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90"/>
              <a:t>Integración</a:t>
            </a:r>
            <a:r>
              <a:rPr dirty="0" spc="-250"/>
              <a:t> </a:t>
            </a:r>
            <a:r>
              <a:rPr dirty="0" spc="75"/>
              <a:t>Tecnológica</a:t>
            </a:r>
            <a:r>
              <a:rPr dirty="0" spc="-245"/>
              <a:t> </a:t>
            </a:r>
            <a:r>
              <a:rPr dirty="0" spc="65"/>
              <a:t>y</a:t>
            </a:r>
            <a:r>
              <a:rPr dirty="0" spc="-245"/>
              <a:t> </a:t>
            </a:r>
            <a:r>
              <a:rPr dirty="0" spc="125"/>
              <a:t>de</a:t>
            </a:r>
            <a:r>
              <a:rPr dirty="0" spc="-245"/>
              <a:t> </a:t>
            </a:r>
            <a:r>
              <a:rPr dirty="0" spc="130"/>
              <a:t>Sistemas</a:t>
            </a:r>
          </a:p>
        </p:txBody>
      </p:sp>
      <p:sp>
        <p:nvSpPr>
          <p:cNvPr id="4" name="object 4"/>
          <p:cNvSpPr/>
          <p:nvPr/>
        </p:nvSpPr>
        <p:spPr>
          <a:xfrm>
            <a:off x="600075" y="3533787"/>
            <a:ext cx="6819900" cy="685800"/>
          </a:xfrm>
          <a:custGeom>
            <a:avLst/>
            <a:gdLst/>
            <a:ahLst/>
            <a:cxnLst/>
            <a:rect l="l" t="t" r="r" b="b"/>
            <a:pathLst>
              <a:path w="6819900" h="685800">
                <a:moveTo>
                  <a:pt x="3409950" y="342887"/>
                </a:moveTo>
                <a:lnTo>
                  <a:pt x="3238500" y="0"/>
                </a:lnTo>
                <a:lnTo>
                  <a:pt x="0" y="0"/>
                </a:lnTo>
                <a:lnTo>
                  <a:pt x="171450" y="342887"/>
                </a:lnTo>
                <a:lnTo>
                  <a:pt x="0" y="685787"/>
                </a:lnTo>
                <a:lnTo>
                  <a:pt x="3238500" y="685787"/>
                </a:lnTo>
                <a:lnTo>
                  <a:pt x="3409950" y="342887"/>
                </a:lnTo>
                <a:close/>
              </a:path>
              <a:path w="6819900" h="685800">
                <a:moveTo>
                  <a:pt x="6819900" y="342887"/>
                </a:moveTo>
                <a:lnTo>
                  <a:pt x="6648450" y="0"/>
                </a:lnTo>
                <a:lnTo>
                  <a:pt x="3409950" y="0"/>
                </a:lnTo>
                <a:lnTo>
                  <a:pt x="3581400" y="342887"/>
                </a:lnTo>
                <a:lnTo>
                  <a:pt x="3409950" y="685787"/>
                </a:lnTo>
                <a:lnTo>
                  <a:pt x="6648450" y="685787"/>
                </a:lnTo>
                <a:lnTo>
                  <a:pt x="6819900" y="342887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8825" y="4459287"/>
            <a:ext cx="286067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qui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ectu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In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eg</a:t>
            </a:r>
            <a:r>
              <a:rPr dirty="0" sz="1650" spc="1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ada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Diseñar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arquitectura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sistemas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que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permita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interoperabilidad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escalabilidad.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5108" y="3702050"/>
            <a:ext cx="3589654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22015" algn="l"/>
              </a:tabLst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1</a:t>
            </a: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	</a:t>
            </a: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8775" y="4459287"/>
            <a:ext cx="238887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Inf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ae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s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tructu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obu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s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ta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Asegurar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que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 infraestructura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tecnológica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pueda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soportar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demandas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sistema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IoT.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19975" y="3533775"/>
            <a:ext cx="3409950" cy="685800"/>
          </a:xfrm>
          <a:custGeom>
            <a:avLst/>
            <a:gdLst/>
            <a:ahLst/>
            <a:cxnLst/>
            <a:rect l="l" t="t" r="r" b="b"/>
            <a:pathLst>
              <a:path w="3409950" h="685800">
                <a:moveTo>
                  <a:pt x="3238500" y="0"/>
                </a:move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3238500" y="685800"/>
                </a:lnTo>
                <a:lnTo>
                  <a:pt x="3409950" y="342900"/>
                </a:lnTo>
                <a:lnTo>
                  <a:pt x="3238500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35008" y="370205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78725" y="4459287"/>
            <a:ext cx="284734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Se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g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uridad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y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125">
                <a:solidFill>
                  <a:srgbClr val="D4D4D1"/>
                </a:solidFill>
                <a:latin typeface="Tahoma"/>
                <a:cs typeface="Tahoma"/>
              </a:rPr>
              <a:t>P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ri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v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acidad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Implementar medidas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seguridad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protección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datos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para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mitigar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riesgos.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375" y="3111500"/>
            <a:ext cx="669417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35">
                <a:solidFill>
                  <a:srgbClr val="F3F3F2"/>
                </a:solidFill>
                <a:latin typeface="Tahoma"/>
                <a:cs typeface="Tahoma"/>
              </a:rPr>
              <a:t>Modelos</a:t>
            </a:r>
            <a:r>
              <a:rPr dirty="0" sz="3350" spc="-254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3350" spc="125">
                <a:solidFill>
                  <a:srgbClr val="F3F3F2"/>
                </a:solidFill>
                <a:latin typeface="Tahoma"/>
                <a:cs typeface="Tahoma"/>
              </a:rPr>
              <a:t>de</a:t>
            </a:r>
            <a:r>
              <a:rPr dirty="0" sz="3350" spc="-254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3350" spc="80">
                <a:solidFill>
                  <a:srgbClr val="F3F3F2"/>
                </a:solidFill>
                <a:latin typeface="Tahoma"/>
                <a:cs typeface="Tahoma"/>
              </a:rPr>
              <a:t>Ne</a:t>
            </a:r>
            <a:r>
              <a:rPr dirty="0" sz="3350" spc="50">
                <a:solidFill>
                  <a:srgbClr val="F3F3F2"/>
                </a:solidFill>
                <a:latin typeface="Tahoma"/>
                <a:cs typeface="Tahoma"/>
              </a:rPr>
              <a:t>g</a:t>
            </a:r>
            <a:r>
              <a:rPr dirty="0" sz="3350" spc="114">
                <a:solidFill>
                  <a:srgbClr val="F3F3F2"/>
                </a:solidFill>
                <a:latin typeface="Tahoma"/>
                <a:cs typeface="Tahoma"/>
              </a:rPr>
              <a:t>ocio</a:t>
            </a:r>
            <a:r>
              <a:rPr dirty="0" sz="3350" spc="-254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3350" spc="65">
                <a:solidFill>
                  <a:srgbClr val="F3F3F2"/>
                </a:solidFill>
                <a:latin typeface="Tahoma"/>
                <a:cs typeface="Tahoma"/>
              </a:rPr>
              <a:t>y</a:t>
            </a:r>
            <a:r>
              <a:rPr dirty="0" sz="3350" spc="-254">
                <a:solidFill>
                  <a:srgbClr val="F3F3F2"/>
                </a:solidFill>
                <a:latin typeface="Tahoma"/>
                <a:cs typeface="Tahoma"/>
              </a:rPr>
              <a:t> </a:t>
            </a:r>
            <a:r>
              <a:rPr dirty="0" sz="3350" spc="120">
                <a:solidFill>
                  <a:srgbClr val="F3F3F2"/>
                </a:solidFill>
                <a:latin typeface="Tahoma"/>
                <a:cs typeface="Tahoma"/>
              </a:rPr>
              <a:t>Experiencia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3914775"/>
            <a:ext cx="3295650" cy="1543050"/>
          </a:xfrm>
          <a:custGeom>
            <a:avLst/>
            <a:gdLst/>
            <a:ahLst/>
            <a:cxnLst/>
            <a:rect l="l" t="t" r="r" b="b"/>
            <a:pathLst>
              <a:path w="3295650" h="1543050">
                <a:moveTo>
                  <a:pt x="327705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88" y="1543051"/>
                </a:lnTo>
                <a:lnTo>
                  <a:pt x="3277057" y="1543051"/>
                </a:lnTo>
                <a:lnTo>
                  <a:pt x="3295650" y="1524457"/>
                </a:lnTo>
                <a:lnTo>
                  <a:pt x="3295650" y="18592"/>
                </a:lnTo>
                <a:lnTo>
                  <a:pt x="3279800" y="546"/>
                </a:lnTo>
                <a:lnTo>
                  <a:pt x="3277057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8825" y="4068762"/>
            <a:ext cx="295021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D4D4D1"/>
                </a:solidFill>
                <a:latin typeface="Tahoma"/>
                <a:cs typeface="Tahoma"/>
              </a:rPr>
              <a:t>V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alor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pa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el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Clien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Desarrollar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modelos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negocio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que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creen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valor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tangible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reconocible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para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67175" y="3914775"/>
            <a:ext cx="3295650" cy="1543050"/>
          </a:xfrm>
          <a:custGeom>
            <a:avLst/>
            <a:gdLst/>
            <a:ahLst/>
            <a:cxnLst/>
            <a:rect l="l" t="t" r="r" b="b"/>
            <a:pathLst>
              <a:path w="3295650" h="1543050">
                <a:moveTo>
                  <a:pt x="32770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92" y="1543051"/>
                </a:lnTo>
                <a:lnTo>
                  <a:pt x="3277057" y="1543051"/>
                </a:lnTo>
                <a:lnTo>
                  <a:pt x="3295650" y="1524457"/>
                </a:lnTo>
                <a:lnTo>
                  <a:pt x="3295650" y="18592"/>
                </a:lnTo>
                <a:lnTo>
                  <a:pt x="3279800" y="546"/>
                </a:lnTo>
                <a:lnTo>
                  <a:pt x="3277057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25925" y="4068762"/>
            <a:ext cx="291465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Inn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o</a:t>
            </a:r>
            <a:r>
              <a:rPr dirty="0" sz="1650" spc="20">
                <a:solidFill>
                  <a:srgbClr val="D4D4D1"/>
                </a:solidFill>
                <a:latin typeface="Tahoma"/>
                <a:cs typeface="Tahoma"/>
              </a:rPr>
              <a:t>v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ación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Continua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Mantener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capacidad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evolucionar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mejorar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 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lo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largo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del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tiempo.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34275" y="3914775"/>
            <a:ext cx="3295650" cy="1543050"/>
          </a:xfrm>
          <a:custGeom>
            <a:avLst/>
            <a:gdLst/>
            <a:ahLst/>
            <a:cxnLst/>
            <a:rect l="l" t="t" r="r" b="b"/>
            <a:pathLst>
              <a:path w="3295650" h="1543050">
                <a:moveTo>
                  <a:pt x="32770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92" y="1543051"/>
                </a:lnTo>
                <a:lnTo>
                  <a:pt x="3277057" y="1543051"/>
                </a:lnTo>
                <a:lnTo>
                  <a:pt x="3295650" y="1524457"/>
                </a:lnTo>
                <a:lnTo>
                  <a:pt x="3295650" y="18592"/>
                </a:lnTo>
                <a:lnTo>
                  <a:pt x="3279800" y="546"/>
                </a:lnTo>
                <a:lnTo>
                  <a:pt x="3277057" y="0"/>
                </a:lnTo>
                <a:close/>
              </a:path>
            </a:pathLst>
          </a:custGeom>
          <a:solidFill>
            <a:srgbClr val="484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93025" y="4068762"/>
            <a:ext cx="272796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Ing</a:t>
            </a:r>
            <a:r>
              <a:rPr dirty="0" sz="1650" spc="2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esos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So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s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enibles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Asegurar la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viabilidad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financiera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del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sistema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IoT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través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modelos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32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negocio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rentables.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48600"/>
          </a:xfrm>
          <a:custGeom>
            <a:avLst/>
            <a:gdLst/>
            <a:ahLst/>
            <a:cxnLst/>
            <a:rect l="l" t="t" r="r" b="b"/>
            <a:pathLst>
              <a:path w="11430000" h="7848600">
                <a:moveTo>
                  <a:pt x="11430000" y="0"/>
                </a:moveTo>
                <a:lnTo>
                  <a:pt x="0" y="0"/>
                </a:lnTo>
                <a:lnTo>
                  <a:pt x="0" y="7848600"/>
                </a:lnTo>
                <a:lnTo>
                  <a:pt x="11430000" y="7848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9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7848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63550"/>
            <a:ext cx="545592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35"/>
              <a:t>Beneficios </a:t>
            </a:r>
            <a:r>
              <a:rPr dirty="0" spc="125"/>
              <a:t>de </a:t>
            </a:r>
            <a:r>
              <a:rPr dirty="0" spc="120"/>
              <a:t>utilizar </a:t>
            </a:r>
            <a:r>
              <a:rPr dirty="0" spc="85"/>
              <a:t>un </a:t>
            </a:r>
            <a:r>
              <a:rPr dirty="0" spc="90"/>
              <a:t> </a:t>
            </a:r>
            <a:r>
              <a:rPr dirty="0" spc="135"/>
              <a:t>ma</a:t>
            </a:r>
            <a:r>
              <a:rPr dirty="0" spc="50"/>
              <a:t>r</a:t>
            </a:r>
            <a:r>
              <a:rPr dirty="0" spc="150"/>
              <a:t>c</a:t>
            </a:r>
            <a:r>
              <a:rPr dirty="0" spc="80"/>
              <a:t>o</a:t>
            </a:r>
            <a:r>
              <a:rPr dirty="0" spc="-254"/>
              <a:t> </a:t>
            </a:r>
            <a:r>
              <a:rPr dirty="0" spc="125"/>
              <a:t>de</a:t>
            </a:r>
            <a:r>
              <a:rPr dirty="0" spc="-254"/>
              <a:t> </a:t>
            </a:r>
            <a:r>
              <a:rPr dirty="0" spc="90"/>
              <a:t>t</a:t>
            </a:r>
            <a:r>
              <a:rPr dirty="0" spc="70"/>
              <a:t>r</a:t>
            </a:r>
            <a:r>
              <a:rPr dirty="0" spc="70"/>
              <a:t>abajo</a:t>
            </a:r>
            <a:r>
              <a:rPr dirty="0" spc="-254"/>
              <a:t> </a:t>
            </a:r>
            <a:r>
              <a:rPr dirty="0" spc="120"/>
              <a:t>pa</a:t>
            </a:r>
            <a:r>
              <a:rPr dirty="0" spc="50"/>
              <a:t>r</a:t>
            </a:r>
            <a:r>
              <a:rPr dirty="0" spc="90"/>
              <a:t>a</a:t>
            </a:r>
            <a:r>
              <a:rPr dirty="0" spc="-254"/>
              <a:t> </a:t>
            </a:r>
            <a:r>
              <a:rPr dirty="0" spc="145"/>
              <a:t>c</a:t>
            </a:r>
            <a:r>
              <a:rPr dirty="0" spc="90"/>
              <a:t>r</a:t>
            </a:r>
            <a:r>
              <a:rPr dirty="0" spc="80"/>
              <a:t>ear  </a:t>
            </a:r>
            <a:r>
              <a:rPr dirty="0" spc="135"/>
              <a:t>sistemas</a:t>
            </a:r>
            <a:r>
              <a:rPr dirty="0" spc="-260"/>
              <a:t> </a:t>
            </a:r>
            <a:r>
              <a:rPr dirty="0" spc="-10"/>
              <a:t>IoT</a:t>
            </a:r>
          </a:p>
        </p:txBody>
      </p:sp>
      <p:sp>
        <p:nvSpPr>
          <p:cNvPr id="5" name="object 5"/>
          <p:cNvSpPr/>
          <p:nvPr/>
        </p:nvSpPr>
        <p:spPr>
          <a:xfrm>
            <a:off x="4886325" y="2376487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121996" y="85725"/>
                </a:moveTo>
                <a:lnTo>
                  <a:pt x="113474" y="85725"/>
                </a:lnTo>
                <a:lnTo>
                  <a:pt x="109372" y="86537"/>
                </a:lnTo>
                <a:lnTo>
                  <a:pt x="85585" y="113614"/>
                </a:lnTo>
                <a:lnTo>
                  <a:pt x="85585" y="122135"/>
                </a:lnTo>
                <a:lnTo>
                  <a:pt x="113474" y="150012"/>
                </a:lnTo>
                <a:lnTo>
                  <a:pt x="121996" y="150012"/>
                </a:lnTo>
                <a:lnTo>
                  <a:pt x="148098" y="128587"/>
                </a:lnTo>
                <a:lnTo>
                  <a:pt x="114782" y="128587"/>
                </a:lnTo>
                <a:lnTo>
                  <a:pt x="112255" y="127546"/>
                </a:lnTo>
                <a:lnTo>
                  <a:pt x="108064" y="123355"/>
                </a:lnTo>
                <a:lnTo>
                  <a:pt x="107022" y="120827"/>
                </a:lnTo>
                <a:lnTo>
                  <a:pt x="107022" y="114909"/>
                </a:lnTo>
                <a:lnTo>
                  <a:pt x="108064" y="112382"/>
                </a:lnTo>
                <a:lnTo>
                  <a:pt x="112255" y="108204"/>
                </a:lnTo>
                <a:lnTo>
                  <a:pt x="114782" y="107149"/>
                </a:lnTo>
                <a:lnTo>
                  <a:pt x="148095" y="107149"/>
                </a:lnTo>
                <a:lnTo>
                  <a:pt x="145808" y="101625"/>
                </a:lnTo>
                <a:lnTo>
                  <a:pt x="143484" y="98158"/>
                </a:lnTo>
                <a:lnTo>
                  <a:pt x="137452" y="92125"/>
                </a:lnTo>
                <a:lnTo>
                  <a:pt x="133985" y="89801"/>
                </a:lnTo>
                <a:lnTo>
                  <a:pt x="126098" y="86537"/>
                </a:lnTo>
                <a:lnTo>
                  <a:pt x="121996" y="85725"/>
                </a:lnTo>
                <a:close/>
              </a:path>
              <a:path w="428625" h="342900">
                <a:moveTo>
                  <a:pt x="148095" y="107149"/>
                </a:moveTo>
                <a:lnTo>
                  <a:pt x="120700" y="107149"/>
                </a:lnTo>
                <a:lnTo>
                  <a:pt x="123228" y="108204"/>
                </a:lnTo>
                <a:lnTo>
                  <a:pt x="127406" y="112382"/>
                </a:lnTo>
                <a:lnTo>
                  <a:pt x="128447" y="114909"/>
                </a:lnTo>
                <a:lnTo>
                  <a:pt x="128447" y="120827"/>
                </a:lnTo>
                <a:lnTo>
                  <a:pt x="127406" y="123355"/>
                </a:lnTo>
                <a:lnTo>
                  <a:pt x="123228" y="127546"/>
                </a:lnTo>
                <a:lnTo>
                  <a:pt x="120700" y="128587"/>
                </a:lnTo>
                <a:lnTo>
                  <a:pt x="148098" y="128587"/>
                </a:lnTo>
                <a:lnTo>
                  <a:pt x="149072" y="126238"/>
                </a:lnTo>
                <a:lnTo>
                  <a:pt x="149885" y="122135"/>
                </a:lnTo>
                <a:lnTo>
                  <a:pt x="149885" y="113614"/>
                </a:lnTo>
                <a:lnTo>
                  <a:pt x="149072" y="109512"/>
                </a:lnTo>
                <a:lnTo>
                  <a:pt x="148095" y="107149"/>
                </a:lnTo>
                <a:close/>
              </a:path>
              <a:path w="428625" h="342900">
                <a:moveTo>
                  <a:pt x="91617" y="0"/>
                </a:moveTo>
                <a:lnTo>
                  <a:pt x="7162" y="0"/>
                </a:lnTo>
                <a:lnTo>
                  <a:pt x="0" y="7162"/>
                </a:lnTo>
                <a:lnTo>
                  <a:pt x="0" y="91617"/>
                </a:lnTo>
                <a:lnTo>
                  <a:pt x="4826" y="96443"/>
                </a:lnTo>
                <a:lnTo>
                  <a:pt x="16611" y="96443"/>
                </a:lnTo>
                <a:lnTo>
                  <a:pt x="21437" y="91617"/>
                </a:lnTo>
                <a:lnTo>
                  <a:pt x="21437" y="21424"/>
                </a:lnTo>
                <a:lnTo>
                  <a:pt x="91617" y="21424"/>
                </a:lnTo>
                <a:lnTo>
                  <a:pt x="96443" y="16611"/>
                </a:lnTo>
                <a:lnTo>
                  <a:pt x="96443" y="4826"/>
                </a:lnTo>
                <a:lnTo>
                  <a:pt x="91617" y="0"/>
                </a:lnTo>
                <a:close/>
              </a:path>
              <a:path w="428625" h="342900">
                <a:moveTo>
                  <a:pt x="315150" y="85725"/>
                </a:moveTo>
                <a:lnTo>
                  <a:pt x="306628" y="85725"/>
                </a:lnTo>
                <a:lnTo>
                  <a:pt x="302526" y="86537"/>
                </a:lnTo>
                <a:lnTo>
                  <a:pt x="278739" y="113614"/>
                </a:lnTo>
                <a:lnTo>
                  <a:pt x="278739" y="122135"/>
                </a:lnTo>
                <a:lnTo>
                  <a:pt x="306628" y="150012"/>
                </a:lnTo>
                <a:lnTo>
                  <a:pt x="315150" y="150012"/>
                </a:lnTo>
                <a:lnTo>
                  <a:pt x="341240" y="128587"/>
                </a:lnTo>
                <a:lnTo>
                  <a:pt x="307924" y="128587"/>
                </a:lnTo>
                <a:lnTo>
                  <a:pt x="305396" y="127546"/>
                </a:lnTo>
                <a:lnTo>
                  <a:pt x="301218" y="123355"/>
                </a:lnTo>
                <a:lnTo>
                  <a:pt x="300177" y="120827"/>
                </a:lnTo>
                <a:lnTo>
                  <a:pt x="300177" y="114909"/>
                </a:lnTo>
                <a:lnTo>
                  <a:pt x="301218" y="112382"/>
                </a:lnTo>
                <a:lnTo>
                  <a:pt x="305396" y="108204"/>
                </a:lnTo>
                <a:lnTo>
                  <a:pt x="307924" y="107149"/>
                </a:lnTo>
                <a:lnTo>
                  <a:pt x="341236" y="107149"/>
                </a:lnTo>
                <a:lnTo>
                  <a:pt x="338950" y="101625"/>
                </a:lnTo>
                <a:lnTo>
                  <a:pt x="336638" y="98158"/>
                </a:lnTo>
                <a:lnTo>
                  <a:pt x="330606" y="92125"/>
                </a:lnTo>
                <a:lnTo>
                  <a:pt x="327126" y="89801"/>
                </a:lnTo>
                <a:lnTo>
                  <a:pt x="319252" y="86537"/>
                </a:lnTo>
                <a:lnTo>
                  <a:pt x="315150" y="85725"/>
                </a:lnTo>
                <a:close/>
              </a:path>
              <a:path w="428625" h="342900">
                <a:moveTo>
                  <a:pt x="341236" y="107149"/>
                </a:moveTo>
                <a:lnTo>
                  <a:pt x="313842" y="107149"/>
                </a:lnTo>
                <a:lnTo>
                  <a:pt x="316369" y="108204"/>
                </a:lnTo>
                <a:lnTo>
                  <a:pt x="320560" y="112382"/>
                </a:lnTo>
                <a:lnTo>
                  <a:pt x="321602" y="114909"/>
                </a:lnTo>
                <a:lnTo>
                  <a:pt x="321602" y="120827"/>
                </a:lnTo>
                <a:lnTo>
                  <a:pt x="320560" y="123355"/>
                </a:lnTo>
                <a:lnTo>
                  <a:pt x="316369" y="127546"/>
                </a:lnTo>
                <a:lnTo>
                  <a:pt x="313842" y="128587"/>
                </a:lnTo>
                <a:lnTo>
                  <a:pt x="341240" y="128587"/>
                </a:lnTo>
                <a:lnTo>
                  <a:pt x="342214" y="126238"/>
                </a:lnTo>
                <a:lnTo>
                  <a:pt x="343039" y="122135"/>
                </a:lnTo>
                <a:lnTo>
                  <a:pt x="343039" y="113614"/>
                </a:lnTo>
                <a:lnTo>
                  <a:pt x="342214" y="109512"/>
                </a:lnTo>
                <a:lnTo>
                  <a:pt x="341236" y="107149"/>
                </a:lnTo>
                <a:close/>
              </a:path>
              <a:path w="428625" h="342900">
                <a:moveTo>
                  <a:pt x="421462" y="0"/>
                </a:moveTo>
                <a:lnTo>
                  <a:pt x="337007" y="0"/>
                </a:lnTo>
                <a:lnTo>
                  <a:pt x="332181" y="4826"/>
                </a:lnTo>
                <a:lnTo>
                  <a:pt x="332181" y="16611"/>
                </a:lnTo>
                <a:lnTo>
                  <a:pt x="337007" y="21424"/>
                </a:lnTo>
                <a:lnTo>
                  <a:pt x="407200" y="21424"/>
                </a:lnTo>
                <a:lnTo>
                  <a:pt x="407200" y="91617"/>
                </a:lnTo>
                <a:lnTo>
                  <a:pt x="412013" y="96443"/>
                </a:lnTo>
                <a:lnTo>
                  <a:pt x="423799" y="96443"/>
                </a:lnTo>
                <a:lnTo>
                  <a:pt x="428625" y="91617"/>
                </a:lnTo>
                <a:lnTo>
                  <a:pt x="428625" y="7162"/>
                </a:lnTo>
                <a:lnTo>
                  <a:pt x="421462" y="0"/>
                </a:lnTo>
                <a:close/>
              </a:path>
              <a:path w="428625" h="342900">
                <a:moveTo>
                  <a:pt x="16611" y="246456"/>
                </a:moveTo>
                <a:lnTo>
                  <a:pt x="4826" y="246456"/>
                </a:lnTo>
                <a:lnTo>
                  <a:pt x="0" y="251282"/>
                </a:lnTo>
                <a:lnTo>
                  <a:pt x="0" y="335737"/>
                </a:lnTo>
                <a:lnTo>
                  <a:pt x="7162" y="342900"/>
                </a:lnTo>
                <a:lnTo>
                  <a:pt x="91617" y="342900"/>
                </a:lnTo>
                <a:lnTo>
                  <a:pt x="96443" y="338074"/>
                </a:lnTo>
                <a:lnTo>
                  <a:pt x="96443" y="326288"/>
                </a:lnTo>
                <a:lnTo>
                  <a:pt x="91617" y="321462"/>
                </a:lnTo>
                <a:lnTo>
                  <a:pt x="21437" y="321462"/>
                </a:lnTo>
                <a:lnTo>
                  <a:pt x="21437" y="251282"/>
                </a:lnTo>
                <a:lnTo>
                  <a:pt x="16611" y="246456"/>
                </a:lnTo>
                <a:close/>
              </a:path>
              <a:path w="428625" h="342900">
                <a:moveTo>
                  <a:pt x="423799" y="246456"/>
                </a:moveTo>
                <a:lnTo>
                  <a:pt x="412013" y="246456"/>
                </a:lnTo>
                <a:lnTo>
                  <a:pt x="407200" y="251282"/>
                </a:lnTo>
                <a:lnTo>
                  <a:pt x="407200" y="321462"/>
                </a:lnTo>
                <a:lnTo>
                  <a:pt x="337007" y="321462"/>
                </a:lnTo>
                <a:lnTo>
                  <a:pt x="332181" y="326288"/>
                </a:lnTo>
                <a:lnTo>
                  <a:pt x="332181" y="338074"/>
                </a:lnTo>
                <a:lnTo>
                  <a:pt x="337007" y="342900"/>
                </a:lnTo>
                <a:lnTo>
                  <a:pt x="421462" y="342900"/>
                </a:lnTo>
                <a:lnTo>
                  <a:pt x="428625" y="335737"/>
                </a:lnTo>
                <a:lnTo>
                  <a:pt x="428625" y="251282"/>
                </a:lnTo>
                <a:lnTo>
                  <a:pt x="423799" y="246456"/>
                </a:lnTo>
                <a:close/>
              </a:path>
              <a:path w="428625" h="342900">
                <a:moveTo>
                  <a:pt x="220002" y="85725"/>
                </a:moveTo>
                <a:lnTo>
                  <a:pt x="208622" y="85725"/>
                </a:lnTo>
                <a:lnTo>
                  <a:pt x="203161" y="86817"/>
                </a:lnTo>
                <a:lnTo>
                  <a:pt x="172542" y="117436"/>
                </a:lnTo>
                <a:lnTo>
                  <a:pt x="171450" y="122897"/>
                </a:lnTo>
                <a:lnTo>
                  <a:pt x="171450" y="134277"/>
                </a:lnTo>
                <a:lnTo>
                  <a:pt x="192659" y="166014"/>
                </a:lnTo>
                <a:lnTo>
                  <a:pt x="208622" y="171450"/>
                </a:lnTo>
                <a:lnTo>
                  <a:pt x="220002" y="171450"/>
                </a:lnTo>
                <a:lnTo>
                  <a:pt x="251739" y="150241"/>
                </a:lnTo>
                <a:lnTo>
                  <a:pt x="251833" y="150012"/>
                </a:lnTo>
                <a:lnTo>
                  <a:pt x="211467" y="150012"/>
                </a:lnTo>
                <a:lnTo>
                  <a:pt x="208737" y="149479"/>
                </a:lnTo>
                <a:lnTo>
                  <a:pt x="192887" y="131432"/>
                </a:lnTo>
                <a:lnTo>
                  <a:pt x="192887" y="125742"/>
                </a:lnTo>
                <a:lnTo>
                  <a:pt x="211467" y="107149"/>
                </a:lnTo>
                <a:lnTo>
                  <a:pt x="251828" y="107149"/>
                </a:lnTo>
                <a:lnTo>
                  <a:pt x="251739" y="106934"/>
                </a:lnTo>
                <a:lnTo>
                  <a:pt x="248640" y="102298"/>
                </a:lnTo>
                <a:lnTo>
                  <a:pt x="240601" y="94259"/>
                </a:lnTo>
                <a:lnTo>
                  <a:pt x="235966" y="91160"/>
                </a:lnTo>
                <a:lnTo>
                  <a:pt x="225463" y="86817"/>
                </a:lnTo>
                <a:lnTo>
                  <a:pt x="220002" y="85725"/>
                </a:lnTo>
                <a:close/>
              </a:path>
              <a:path w="428625" h="342900">
                <a:moveTo>
                  <a:pt x="251828" y="107149"/>
                </a:moveTo>
                <a:lnTo>
                  <a:pt x="217157" y="107149"/>
                </a:lnTo>
                <a:lnTo>
                  <a:pt x="219887" y="107696"/>
                </a:lnTo>
                <a:lnTo>
                  <a:pt x="225132" y="109880"/>
                </a:lnTo>
                <a:lnTo>
                  <a:pt x="235750" y="125742"/>
                </a:lnTo>
                <a:lnTo>
                  <a:pt x="235750" y="131432"/>
                </a:lnTo>
                <a:lnTo>
                  <a:pt x="217157" y="150012"/>
                </a:lnTo>
                <a:lnTo>
                  <a:pt x="251833" y="150012"/>
                </a:lnTo>
                <a:lnTo>
                  <a:pt x="256082" y="139738"/>
                </a:lnTo>
                <a:lnTo>
                  <a:pt x="257175" y="134277"/>
                </a:lnTo>
                <a:lnTo>
                  <a:pt x="257175" y="122897"/>
                </a:lnTo>
                <a:lnTo>
                  <a:pt x="256082" y="117436"/>
                </a:lnTo>
                <a:lnTo>
                  <a:pt x="251828" y="107149"/>
                </a:lnTo>
                <a:close/>
              </a:path>
              <a:path w="428625" h="342900">
                <a:moveTo>
                  <a:pt x="241096" y="192874"/>
                </a:moveTo>
                <a:lnTo>
                  <a:pt x="187528" y="192874"/>
                </a:lnTo>
                <a:lnTo>
                  <a:pt x="168747" y="196662"/>
                </a:lnTo>
                <a:lnTo>
                  <a:pt x="153420" y="206994"/>
                </a:lnTo>
                <a:lnTo>
                  <a:pt x="143092" y="222321"/>
                </a:lnTo>
                <a:lnTo>
                  <a:pt x="139306" y="241096"/>
                </a:lnTo>
                <a:lnTo>
                  <a:pt x="139306" y="250012"/>
                </a:lnTo>
                <a:lnTo>
                  <a:pt x="146469" y="257175"/>
                </a:lnTo>
                <a:lnTo>
                  <a:pt x="282155" y="257175"/>
                </a:lnTo>
                <a:lnTo>
                  <a:pt x="289318" y="250012"/>
                </a:lnTo>
                <a:lnTo>
                  <a:pt x="289318" y="241096"/>
                </a:lnTo>
                <a:lnTo>
                  <a:pt x="288238" y="235737"/>
                </a:lnTo>
                <a:lnTo>
                  <a:pt x="161264" y="235737"/>
                </a:lnTo>
                <a:lnTo>
                  <a:pt x="164586" y="227219"/>
                </a:lnTo>
                <a:lnTo>
                  <a:pt x="170453" y="220429"/>
                </a:lnTo>
                <a:lnTo>
                  <a:pt x="178291" y="215936"/>
                </a:lnTo>
                <a:lnTo>
                  <a:pt x="187528" y="214312"/>
                </a:lnTo>
                <a:lnTo>
                  <a:pt x="280135" y="214312"/>
                </a:lnTo>
                <a:lnTo>
                  <a:pt x="275204" y="206994"/>
                </a:lnTo>
                <a:lnTo>
                  <a:pt x="259877" y="196662"/>
                </a:lnTo>
                <a:lnTo>
                  <a:pt x="241096" y="192874"/>
                </a:lnTo>
                <a:close/>
              </a:path>
              <a:path w="428625" h="342900">
                <a:moveTo>
                  <a:pt x="280135" y="214312"/>
                </a:moveTo>
                <a:lnTo>
                  <a:pt x="241096" y="214312"/>
                </a:lnTo>
                <a:lnTo>
                  <a:pt x="250331" y="215936"/>
                </a:lnTo>
                <a:lnTo>
                  <a:pt x="258167" y="220429"/>
                </a:lnTo>
                <a:lnTo>
                  <a:pt x="264033" y="227219"/>
                </a:lnTo>
                <a:lnTo>
                  <a:pt x="267360" y="235737"/>
                </a:lnTo>
                <a:lnTo>
                  <a:pt x="288238" y="235737"/>
                </a:lnTo>
                <a:lnTo>
                  <a:pt x="285532" y="222321"/>
                </a:lnTo>
                <a:lnTo>
                  <a:pt x="280135" y="214312"/>
                </a:lnTo>
                <a:close/>
              </a:path>
              <a:path w="428625" h="342900">
                <a:moveTo>
                  <a:pt x="145199" y="171450"/>
                </a:moveTo>
                <a:lnTo>
                  <a:pt x="101803" y="171450"/>
                </a:lnTo>
                <a:lnTo>
                  <a:pt x="87210" y="174398"/>
                </a:lnTo>
                <a:lnTo>
                  <a:pt x="75288" y="182438"/>
                </a:lnTo>
                <a:lnTo>
                  <a:pt x="67248" y="194360"/>
                </a:lnTo>
                <a:lnTo>
                  <a:pt x="64300" y="208953"/>
                </a:lnTo>
                <a:lnTo>
                  <a:pt x="64300" y="220205"/>
                </a:lnTo>
                <a:lnTo>
                  <a:pt x="69113" y="225031"/>
                </a:lnTo>
                <a:lnTo>
                  <a:pt x="80899" y="225031"/>
                </a:lnTo>
                <a:lnTo>
                  <a:pt x="85725" y="220205"/>
                </a:lnTo>
                <a:lnTo>
                  <a:pt x="85725" y="200050"/>
                </a:lnTo>
                <a:lnTo>
                  <a:pt x="92887" y="192874"/>
                </a:lnTo>
                <a:lnTo>
                  <a:pt x="145199" y="192874"/>
                </a:lnTo>
                <a:lnTo>
                  <a:pt x="150025" y="188061"/>
                </a:lnTo>
                <a:lnTo>
                  <a:pt x="150025" y="176276"/>
                </a:lnTo>
                <a:lnTo>
                  <a:pt x="145199" y="171450"/>
                </a:lnTo>
                <a:close/>
              </a:path>
              <a:path w="428625" h="342900">
                <a:moveTo>
                  <a:pt x="326821" y="171450"/>
                </a:moveTo>
                <a:lnTo>
                  <a:pt x="283425" y="171450"/>
                </a:lnTo>
                <a:lnTo>
                  <a:pt x="278612" y="176276"/>
                </a:lnTo>
                <a:lnTo>
                  <a:pt x="278612" y="188061"/>
                </a:lnTo>
                <a:lnTo>
                  <a:pt x="283425" y="192874"/>
                </a:lnTo>
                <a:lnTo>
                  <a:pt x="335737" y="192874"/>
                </a:lnTo>
                <a:lnTo>
                  <a:pt x="342900" y="200050"/>
                </a:lnTo>
                <a:lnTo>
                  <a:pt x="342900" y="220205"/>
                </a:lnTo>
                <a:lnTo>
                  <a:pt x="347726" y="225031"/>
                </a:lnTo>
                <a:lnTo>
                  <a:pt x="359511" y="225031"/>
                </a:lnTo>
                <a:lnTo>
                  <a:pt x="364337" y="220205"/>
                </a:lnTo>
                <a:lnTo>
                  <a:pt x="364337" y="208953"/>
                </a:lnTo>
                <a:lnTo>
                  <a:pt x="361386" y="194360"/>
                </a:lnTo>
                <a:lnTo>
                  <a:pt x="353342" y="182438"/>
                </a:lnTo>
                <a:lnTo>
                  <a:pt x="341416" y="174398"/>
                </a:lnTo>
                <a:lnTo>
                  <a:pt x="326821" y="171450"/>
                </a:lnTo>
                <a:close/>
              </a:path>
            </a:pathLst>
          </a:custGeom>
          <a:solidFill>
            <a:srgbClr val="FFBB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3625" y="2916237"/>
            <a:ext cx="543369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En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f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oque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En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f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ocado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Mantiene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diseño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alineado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con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necesidades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clave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5232" y="4122534"/>
            <a:ext cx="429895" cy="375285"/>
          </a:xfrm>
          <a:custGeom>
            <a:avLst/>
            <a:gdLst/>
            <a:ahLst/>
            <a:cxnLst/>
            <a:rect l="l" t="t" r="r" b="b"/>
            <a:pathLst>
              <a:path w="429895" h="375285">
                <a:moveTo>
                  <a:pt x="215404" y="0"/>
                </a:moveTo>
                <a:lnTo>
                  <a:pt x="166236" y="4602"/>
                </a:lnTo>
                <a:lnTo>
                  <a:pt x="121115" y="17710"/>
                </a:lnTo>
                <a:lnTo>
                  <a:pt x="81324" y="38275"/>
                </a:lnTo>
                <a:lnTo>
                  <a:pt x="48145" y="65249"/>
                </a:lnTo>
                <a:lnTo>
                  <a:pt x="22859" y="97581"/>
                </a:lnTo>
                <a:lnTo>
                  <a:pt x="6747" y="134224"/>
                </a:lnTo>
                <a:lnTo>
                  <a:pt x="1092" y="174129"/>
                </a:lnTo>
                <a:lnTo>
                  <a:pt x="4020" y="202419"/>
                </a:lnTo>
                <a:lnTo>
                  <a:pt x="12215" y="228715"/>
                </a:lnTo>
                <a:lnTo>
                  <a:pt x="24789" y="252937"/>
                </a:lnTo>
                <a:lnTo>
                  <a:pt x="40855" y="275005"/>
                </a:lnTo>
                <a:lnTo>
                  <a:pt x="40944" y="275183"/>
                </a:lnTo>
                <a:lnTo>
                  <a:pt x="29723" y="315476"/>
                </a:lnTo>
                <a:lnTo>
                  <a:pt x="4940" y="352285"/>
                </a:lnTo>
                <a:lnTo>
                  <a:pt x="1181" y="356133"/>
                </a:lnTo>
                <a:lnTo>
                  <a:pt x="0" y="361911"/>
                </a:lnTo>
                <a:lnTo>
                  <a:pt x="4191" y="371792"/>
                </a:lnTo>
                <a:lnTo>
                  <a:pt x="9042" y="375056"/>
                </a:lnTo>
                <a:lnTo>
                  <a:pt x="14490" y="375056"/>
                </a:lnTo>
                <a:lnTo>
                  <a:pt x="67031" y="365090"/>
                </a:lnTo>
                <a:lnTo>
                  <a:pt x="106084" y="347164"/>
                </a:lnTo>
                <a:lnTo>
                  <a:pt x="107050" y="346583"/>
                </a:lnTo>
                <a:lnTo>
                  <a:pt x="77444" y="346583"/>
                </a:lnTo>
                <a:lnTo>
                  <a:pt x="76277" y="343903"/>
                </a:lnTo>
                <a:lnTo>
                  <a:pt x="44704" y="343903"/>
                </a:lnTo>
                <a:lnTo>
                  <a:pt x="45123" y="343242"/>
                </a:lnTo>
                <a:lnTo>
                  <a:pt x="45631" y="342493"/>
                </a:lnTo>
                <a:lnTo>
                  <a:pt x="54094" y="326522"/>
                </a:lnTo>
                <a:lnTo>
                  <a:pt x="60321" y="310795"/>
                </a:lnTo>
                <a:lnTo>
                  <a:pt x="64791" y="294566"/>
                </a:lnTo>
                <a:lnTo>
                  <a:pt x="67564" y="277850"/>
                </a:lnTo>
                <a:lnTo>
                  <a:pt x="68402" y="270230"/>
                </a:lnTo>
                <a:lnTo>
                  <a:pt x="65722" y="263118"/>
                </a:lnTo>
                <a:lnTo>
                  <a:pt x="61366" y="257848"/>
                </a:lnTo>
                <a:lnTo>
                  <a:pt x="47480" y="238752"/>
                </a:lnTo>
                <a:lnTo>
                  <a:pt x="36930" y="218408"/>
                </a:lnTo>
                <a:lnTo>
                  <a:pt x="30225" y="196854"/>
                </a:lnTo>
                <a:lnTo>
                  <a:pt x="27876" y="174129"/>
                </a:lnTo>
                <a:lnTo>
                  <a:pt x="34198" y="136647"/>
                </a:lnTo>
                <a:lnTo>
                  <a:pt x="52274" y="101924"/>
                </a:lnTo>
                <a:lnTo>
                  <a:pt x="80768" y="71769"/>
                </a:lnTo>
                <a:lnTo>
                  <a:pt x="118345" y="47990"/>
                </a:lnTo>
                <a:lnTo>
                  <a:pt x="163669" y="32396"/>
                </a:lnTo>
                <a:lnTo>
                  <a:pt x="215404" y="26797"/>
                </a:lnTo>
                <a:lnTo>
                  <a:pt x="327274" y="26797"/>
                </a:lnTo>
                <a:lnTo>
                  <a:pt x="309693" y="17710"/>
                </a:lnTo>
                <a:lnTo>
                  <a:pt x="264573" y="4602"/>
                </a:lnTo>
                <a:lnTo>
                  <a:pt x="215404" y="0"/>
                </a:lnTo>
                <a:close/>
              </a:path>
              <a:path w="429895" h="375285">
                <a:moveTo>
                  <a:pt x="300577" y="333197"/>
                </a:moveTo>
                <a:lnTo>
                  <a:pt x="128346" y="333197"/>
                </a:lnTo>
                <a:lnTo>
                  <a:pt x="128511" y="333273"/>
                </a:lnTo>
                <a:lnTo>
                  <a:pt x="149728" y="339594"/>
                </a:lnTo>
                <a:lnTo>
                  <a:pt x="171110" y="344281"/>
                </a:lnTo>
                <a:lnTo>
                  <a:pt x="193033" y="347235"/>
                </a:lnTo>
                <a:lnTo>
                  <a:pt x="215404" y="348259"/>
                </a:lnTo>
                <a:lnTo>
                  <a:pt x="264573" y="343656"/>
                </a:lnTo>
                <a:lnTo>
                  <a:pt x="300577" y="333197"/>
                </a:lnTo>
                <a:close/>
              </a:path>
              <a:path w="429895" h="375285">
                <a:moveTo>
                  <a:pt x="130766" y="306514"/>
                </a:moveTo>
                <a:lnTo>
                  <a:pt x="124417" y="306695"/>
                </a:lnTo>
                <a:lnTo>
                  <a:pt x="118270" y="308319"/>
                </a:lnTo>
                <a:lnTo>
                  <a:pt x="112598" y="311340"/>
                </a:lnTo>
                <a:lnTo>
                  <a:pt x="102831" y="317837"/>
                </a:lnTo>
                <a:lnTo>
                  <a:pt x="92846" y="323851"/>
                </a:lnTo>
                <a:lnTo>
                  <a:pt x="82608" y="329344"/>
                </a:lnTo>
                <a:lnTo>
                  <a:pt x="72085" y="334276"/>
                </a:lnTo>
                <a:lnTo>
                  <a:pt x="77444" y="346583"/>
                </a:lnTo>
                <a:lnTo>
                  <a:pt x="107050" y="346583"/>
                </a:lnTo>
                <a:lnTo>
                  <a:pt x="117167" y="340494"/>
                </a:lnTo>
                <a:lnTo>
                  <a:pt x="127927" y="333362"/>
                </a:lnTo>
                <a:lnTo>
                  <a:pt x="128092" y="333273"/>
                </a:lnTo>
                <a:lnTo>
                  <a:pt x="128346" y="333197"/>
                </a:lnTo>
                <a:lnTo>
                  <a:pt x="300577" y="333197"/>
                </a:lnTo>
                <a:lnTo>
                  <a:pt x="309693" y="330548"/>
                </a:lnTo>
                <a:lnTo>
                  <a:pt x="327250" y="321475"/>
                </a:lnTo>
                <a:lnTo>
                  <a:pt x="215404" y="321475"/>
                </a:lnTo>
                <a:lnTo>
                  <a:pt x="195463" y="320567"/>
                </a:lnTo>
                <a:lnTo>
                  <a:pt x="175787" y="317915"/>
                </a:lnTo>
                <a:lnTo>
                  <a:pt x="156329" y="313631"/>
                </a:lnTo>
                <a:lnTo>
                  <a:pt x="137045" y="307822"/>
                </a:lnTo>
                <a:lnTo>
                  <a:pt x="130766" y="306514"/>
                </a:lnTo>
                <a:close/>
              </a:path>
              <a:path w="429895" h="375285">
                <a:moveTo>
                  <a:pt x="72085" y="334276"/>
                </a:moveTo>
                <a:lnTo>
                  <a:pt x="65406" y="337031"/>
                </a:lnTo>
                <a:lnTo>
                  <a:pt x="58585" y="339594"/>
                </a:lnTo>
                <a:lnTo>
                  <a:pt x="51668" y="341906"/>
                </a:lnTo>
                <a:lnTo>
                  <a:pt x="44704" y="343903"/>
                </a:lnTo>
                <a:lnTo>
                  <a:pt x="76277" y="343903"/>
                </a:lnTo>
                <a:lnTo>
                  <a:pt x="72085" y="334276"/>
                </a:lnTo>
                <a:close/>
              </a:path>
              <a:path w="429895" h="375285">
                <a:moveTo>
                  <a:pt x="327274" y="26797"/>
                </a:moveTo>
                <a:lnTo>
                  <a:pt x="215404" y="26797"/>
                </a:lnTo>
                <a:lnTo>
                  <a:pt x="267139" y="32396"/>
                </a:lnTo>
                <a:lnTo>
                  <a:pt x="312463" y="47990"/>
                </a:lnTo>
                <a:lnTo>
                  <a:pt x="350040" y="71769"/>
                </a:lnTo>
                <a:lnTo>
                  <a:pt x="378534" y="101924"/>
                </a:lnTo>
                <a:lnTo>
                  <a:pt x="396610" y="136647"/>
                </a:lnTo>
                <a:lnTo>
                  <a:pt x="402932" y="174129"/>
                </a:lnTo>
                <a:lnTo>
                  <a:pt x="396610" y="211612"/>
                </a:lnTo>
                <a:lnTo>
                  <a:pt x="378534" y="246338"/>
                </a:lnTo>
                <a:lnTo>
                  <a:pt x="350040" y="276496"/>
                </a:lnTo>
                <a:lnTo>
                  <a:pt x="312463" y="300278"/>
                </a:lnTo>
                <a:lnTo>
                  <a:pt x="267139" y="315874"/>
                </a:lnTo>
                <a:lnTo>
                  <a:pt x="215404" y="321475"/>
                </a:lnTo>
                <a:lnTo>
                  <a:pt x="327250" y="321475"/>
                </a:lnTo>
                <a:lnTo>
                  <a:pt x="382663" y="283010"/>
                </a:lnTo>
                <a:lnTo>
                  <a:pt x="407950" y="250677"/>
                </a:lnTo>
                <a:lnTo>
                  <a:pt x="424061" y="214034"/>
                </a:lnTo>
                <a:lnTo>
                  <a:pt x="429717" y="174129"/>
                </a:lnTo>
                <a:lnTo>
                  <a:pt x="424061" y="134224"/>
                </a:lnTo>
                <a:lnTo>
                  <a:pt x="407950" y="97581"/>
                </a:lnTo>
                <a:lnTo>
                  <a:pt x="382663" y="65249"/>
                </a:lnTo>
                <a:lnTo>
                  <a:pt x="349484" y="38275"/>
                </a:lnTo>
                <a:lnTo>
                  <a:pt x="327274" y="26797"/>
                </a:lnTo>
                <a:close/>
              </a:path>
            </a:pathLst>
          </a:custGeom>
          <a:solidFill>
            <a:srgbClr val="FFBB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3625" y="4678362"/>
            <a:ext cx="538924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D4D4D1"/>
                </a:solidFill>
                <a:latin typeface="Tahoma"/>
                <a:cs typeface="Tahoma"/>
              </a:rPr>
              <a:t>M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a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y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or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E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f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iciencia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Facilita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 spc="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integración</a:t>
            </a:r>
            <a:r>
              <a:rPr dirty="0" sz="1350" spc="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efectiva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</a:t>
            </a:r>
            <a:r>
              <a:rPr dirty="0" sz="1350" spc="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los</a:t>
            </a:r>
            <a:r>
              <a:rPr dirty="0" sz="1350" spc="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diversos</a:t>
            </a:r>
            <a:r>
              <a:rPr dirty="0" sz="1350" spc="1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elementos</a:t>
            </a:r>
            <a:r>
              <a:rPr dirty="0" sz="1350" spc="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tecnológicos.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5207" y="5881687"/>
            <a:ext cx="429742" cy="381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73625" y="6440487"/>
            <a:ext cx="523811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C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ecimien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o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So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s</a:t>
            </a:r>
            <a:r>
              <a:rPr dirty="0" sz="1650" spc="5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enible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Permite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desarrollar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modelos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negocio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rentables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con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potencial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expansión.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3342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43800"/>
          </a:xfrm>
          <a:custGeom>
            <a:avLst/>
            <a:gdLst/>
            <a:ahLst/>
            <a:cxnLst/>
            <a:rect l="l" t="t" r="r" b="b"/>
            <a:pathLst>
              <a:path w="11430000" h="7543800">
                <a:moveTo>
                  <a:pt x="11430000" y="0"/>
                </a:moveTo>
                <a:lnTo>
                  <a:pt x="0" y="0"/>
                </a:lnTo>
                <a:lnTo>
                  <a:pt x="0" y="7543800"/>
                </a:lnTo>
                <a:lnTo>
                  <a:pt x="11430000" y="75438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9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75437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63550"/>
            <a:ext cx="526542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20"/>
              <a:t>P</a:t>
            </a:r>
            <a:r>
              <a:rPr dirty="0" spc="130"/>
              <a:t>asos</a:t>
            </a:r>
            <a:r>
              <a:rPr dirty="0" spc="-254"/>
              <a:t> </a:t>
            </a:r>
            <a:r>
              <a:rPr dirty="0" spc="120"/>
              <a:t>pa</a:t>
            </a:r>
            <a:r>
              <a:rPr dirty="0" spc="50"/>
              <a:t>r</a:t>
            </a:r>
            <a:r>
              <a:rPr dirty="0" spc="90"/>
              <a:t>a</a:t>
            </a:r>
            <a:r>
              <a:rPr dirty="0" spc="-254"/>
              <a:t> </a:t>
            </a:r>
            <a:r>
              <a:rPr dirty="0" spc="125"/>
              <a:t>implementar</a:t>
            </a:r>
            <a:r>
              <a:rPr dirty="0" spc="-254"/>
              <a:t> </a:t>
            </a:r>
            <a:r>
              <a:rPr dirty="0" spc="140"/>
              <a:t>el  </a:t>
            </a:r>
            <a:r>
              <a:rPr dirty="0" spc="135"/>
              <a:t>Sma</a:t>
            </a:r>
            <a:r>
              <a:rPr dirty="0" spc="85"/>
              <a:t>r</a:t>
            </a:r>
            <a:r>
              <a:rPr dirty="0" spc="110"/>
              <a:t>t</a:t>
            </a:r>
            <a:r>
              <a:rPr dirty="0" spc="-254"/>
              <a:t> </a:t>
            </a:r>
            <a:r>
              <a:rPr dirty="0" spc="114"/>
              <a:t>Connec</a:t>
            </a:r>
            <a:r>
              <a:rPr dirty="0" spc="55"/>
              <a:t>t</a:t>
            </a:r>
            <a:r>
              <a:rPr dirty="0" spc="125"/>
              <a:t>ed</a:t>
            </a:r>
            <a:r>
              <a:rPr dirty="0" spc="-254"/>
              <a:t> </a:t>
            </a:r>
            <a:r>
              <a:rPr dirty="0" spc="75"/>
              <a:t>Design  </a:t>
            </a:r>
            <a:r>
              <a:rPr dirty="0" spc="110"/>
              <a:t>Framework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50625" y="2333625"/>
            <a:ext cx="971550" cy="4743450"/>
            <a:chOff x="4950625" y="2333625"/>
            <a:chExt cx="971550" cy="4743450"/>
          </a:xfrm>
        </p:grpSpPr>
        <p:sp>
          <p:nvSpPr>
            <p:cNvPr id="6" name="object 6"/>
            <p:cNvSpPr/>
            <p:nvPr/>
          </p:nvSpPr>
          <p:spPr>
            <a:xfrm>
              <a:off x="5133975" y="2333624"/>
              <a:ext cx="788670" cy="4743450"/>
            </a:xfrm>
            <a:custGeom>
              <a:avLst/>
              <a:gdLst/>
              <a:ahLst/>
              <a:cxnLst/>
              <a:rect l="l" t="t" r="r" b="b"/>
              <a:pathLst>
                <a:path w="788670" h="474345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733925"/>
                  </a:lnTo>
                  <a:lnTo>
                    <a:pt x="0" y="4736554"/>
                  </a:lnTo>
                  <a:lnTo>
                    <a:pt x="927" y="4738802"/>
                  </a:lnTo>
                  <a:lnTo>
                    <a:pt x="4648" y="4742523"/>
                  </a:lnTo>
                  <a:lnTo>
                    <a:pt x="6896" y="4743450"/>
                  </a:lnTo>
                  <a:lnTo>
                    <a:pt x="12153" y="4743450"/>
                  </a:lnTo>
                  <a:lnTo>
                    <a:pt x="14401" y="4742523"/>
                  </a:lnTo>
                  <a:lnTo>
                    <a:pt x="18122" y="4738802"/>
                  </a:lnTo>
                  <a:lnTo>
                    <a:pt x="19050" y="4736554"/>
                  </a:lnTo>
                  <a:lnTo>
                    <a:pt x="19050" y="6896"/>
                  </a:lnTo>
                  <a:close/>
                </a:path>
                <a:path w="788670" h="4743450">
                  <a:moveTo>
                    <a:pt x="788200" y="387896"/>
                  </a:moveTo>
                  <a:lnTo>
                    <a:pt x="787260" y="385648"/>
                  </a:lnTo>
                  <a:lnTo>
                    <a:pt x="783539" y="381927"/>
                  </a:lnTo>
                  <a:lnTo>
                    <a:pt x="781304" y="381000"/>
                  </a:lnTo>
                  <a:lnTo>
                    <a:pt x="195008" y="381000"/>
                  </a:lnTo>
                  <a:lnTo>
                    <a:pt x="192773" y="381927"/>
                  </a:lnTo>
                  <a:lnTo>
                    <a:pt x="189039" y="385648"/>
                  </a:lnTo>
                  <a:lnTo>
                    <a:pt x="188125" y="387896"/>
                  </a:lnTo>
                  <a:lnTo>
                    <a:pt x="188125" y="390525"/>
                  </a:lnTo>
                  <a:lnTo>
                    <a:pt x="188125" y="393153"/>
                  </a:lnTo>
                  <a:lnTo>
                    <a:pt x="189039" y="395401"/>
                  </a:lnTo>
                  <a:lnTo>
                    <a:pt x="192773" y="399122"/>
                  </a:lnTo>
                  <a:lnTo>
                    <a:pt x="195008" y="400050"/>
                  </a:lnTo>
                  <a:lnTo>
                    <a:pt x="781304" y="400050"/>
                  </a:lnTo>
                  <a:lnTo>
                    <a:pt x="783539" y="399122"/>
                  </a:lnTo>
                  <a:lnTo>
                    <a:pt x="787260" y="395401"/>
                  </a:lnTo>
                  <a:lnTo>
                    <a:pt x="788200" y="393153"/>
                  </a:lnTo>
                  <a:lnTo>
                    <a:pt x="788200" y="387896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50625" y="25336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62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53558" y="254952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3775" y="2487612"/>
            <a:ext cx="444500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Comp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65">
                <a:solidFill>
                  <a:srgbClr val="D4D4D1"/>
                </a:solidFill>
                <a:latin typeface="Tahoma"/>
                <a:cs typeface="Tahoma"/>
              </a:rPr>
              <a:t>ender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el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Con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e</a:t>
            </a: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x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Analizar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el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mercado,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competencia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las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necesidades del </a:t>
            </a:r>
            <a:r>
              <a:rPr dirty="0" sz="1350" spc="-32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50625" y="3962400"/>
            <a:ext cx="971550" cy="390525"/>
            <a:chOff x="4950625" y="3962400"/>
            <a:chExt cx="971550" cy="390525"/>
          </a:xfrm>
        </p:grpSpPr>
        <p:sp>
          <p:nvSpPr>
            <p:cNvPr id="11" name="object 11"/>
            <p:cNvSpPr/>
            <p:nvPr/>
          </p:nvSpPr>
          <p:spPr>
            <a:xfrm>
              <a:off x="5322100" y="414337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50625" y="39624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087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053558" y="398780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3775" y="3925887"/>
            <a:ext cx="396303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Diseñar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la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Experiencia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Crear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experiencia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usuario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intuitiva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D4D4D1"/>
                </a:solidFill>
                <a:latin typeface="Roboto"/>
                <a:cs typeface="Roboto"/>
              </a:rPr>
              <a:t>valor.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50625" y="5124450"/>
            <a:ext cx="971550" cy="381000"/>
            <a:chOff x="4950625" y="5124450"/>
            <a:chExt cx="971550" cy="381000"/>
          </a:xfrm>
        </p:grpSpPr>
        <p:sp>
          <p:nvSpPr>
            <p:cNvPr id="16" name="object 16"/>
            <p:cNvSpPr/>
            <p:nvPr/>
          </p:nvSpPr>
          <p:spPr>
            <a:xfrm>
              <a:off x="5322100" y="530542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50625" y="51244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62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53558" y="514032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3775" y="5078412"/>
            <a:ext cx="460311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In</a:t>
            </a:r>
            <a:r>
              <a:rPr dirty="0" sz="1650" spc="45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40">
                <a:solidFill>
                  <a:srgbClr val="D4D4D1"/>
                </a:solidFill>
                <a:latin typeface="Tahoma"/>
                <a:cs typeface="Tahoma"/>
              </a:rPr>
              <a:t>eg</a:t>
            </a:r>
            <a:r>
              <a:rPr dirty="0" sz="1650" spc="10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ar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D4D4D1"/>
                </a:solidFill>
                <a:latin typeface="Tahoma"/>
                <a:cs typeface="Tahoma"/>
              </a:rPr>
              <a:t>la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-100">
                <a:solidFill>
                  <a:srgbClr val="D4D4D1"/>
                </a:solidFill>
                <a:latin typeface="Tahoma"/>
                <a:cs typeface="Tahoma"/>
              </a:rPr>
              <a:t>T</a:t>
            </a: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ecnología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Implementar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4D4D1"/>
                </a:solidFill>
                <a:latin typeface="Roboto"/>
                <a:cs typeface="Roboto"/>
              </a:rPr>
              <a:t>una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arquitectura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de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sistemas</a:t>
            </a:r>
            <a:r>
              <a:rPr dirty="0" sz="1350" spc="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4D4D1"/>
                </a:solidFill>
                <a:latin typeface="Roboto"/>
                <a:cs typeface="Roboto"/>
              </a:rPr>
              <a:t>robusta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segura.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50625" y="6276975"/>
            <a:ext cx="971550" cy="390525"/>
            <a:chOff x="4950625" y="6276975"/>
            <a:chExt cx="971550" cy="390525"/>
          </a:xfrm>
        </p:grpSpPr>
        <p:sp>
          <p:nvSpPr>
            <p:cNvPr id="21" name="object 21"/>
            <p:cNvSpPr/>
            <p:nvPr/>
          </p:nvSpPr>
          <p:spPr>
            <a:xfrm>
              <a:off x="5322100" y="646747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17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17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60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50625" y="627697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88"/>
                  </a:lnTo>
                  <a:lnTo>
                    <a:pt x="0" y="369093"/>
                  </a:lnTo>
                  <a:lnTo>
                    <a:pt x="0" y="371936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6"/>
                  </a:lnTo>
                  <a:lnTo>
                    <a:pt x="390525" y="18588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484B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053558" y="630237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0">
                <a:solidFill>
                  <a:srgbClr val="D4D4D1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73775" y="6240462"/>
            <a:ext cx="436943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4D4D1"/>
                </a:solidFill>
                <a:latin typeface="Tahoma"/>
                <a:cs typeface="Tahoma"/>
              </a:rPr>
              <a:t>Desar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r</a:t>
            </a:r>
            <a:r>
              <a:rPr dirty="0" sz="1650" spc="110">
                <a:solidFill>
                  <a:srgbClr val="D4D4D1"/>
                </a:solidFill>
                <a:latin typeface="Tahoma"/>
                <a:cs typeface="Tahoma"/>
              </a:rPr>
              <a:t>o</a:t>
            </a:r>
            <a:r>
              <a:rPr dirty="0" sz="1650" spc="30">
                <a:solidFill>
                  <a:srgbClr val="D4D4D1"/>
                </a:solidFill>
                <a:latin typeface="Tahoma"/>
                <a:cs typeface="Tahoma"/>
              </a:rPr>
              <a:t>l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lar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4D4D1"/>
                </a:solidFill>
                <a:latin typeface="Tahoma"/>
                <a:cs typeface="Tahoma"/>
              </a:rPr>
              <a:t>el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Modelo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D4D4D1"/>
                </a:solidFill>
                <a:latin typeface="Tahoma"/>
                <a:cs typeface="Tahoma"/>
              </a:rPr>
              <a:t>de</a:t>
            </a:r>
            <a:r>
              <a:rPr dirty="0" sz="1650" spc="-120">
                <a:solidFill>
                  <a:srgbClr val="D4D4D1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D4D4D1"/>
                </a:solidFill>
                <a:latin typeface="Tahoma"/>
                <a:cs typeface="Tahoma"/>
              </a:rPr>
              <a:t>Ne</a:t>
            </a:r>
            <a:r>
              <a:rPr dirty="0" sz="1650" spc="35">
                <a:solidFill>
                  <a:srgbClr val="D4D4D1"/>
                </a:solidFill>
                <a:latin typeface="Tahoma"/>
                <a:cs typeface="Tahoma"/>
              </a:rPr>
              <a:t>g</a:t>
            </a:r>
            <a:r>
              <a:rPr dirty="0" sz="1650" spc="70">
                <a:solidFill>
                  <a:srgbClr val="D4D4D1"/>
                </a:solidFill>
                <a:latin typeface="Tahoma"/>
                <a:cs typeface="Tahoma"/>
              </a:rPr>
              <a:t>ocio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Establecer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D4D4D1"/>
                </a:solidFill>
                <a:latin typeface="Roboto"/>
                <a:cs typeface="Roboto"/>
              </a:rPr>
              <a:t>un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modelo 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D4D4D1"/>
                </a:solidFill>
                <a:latin typeface="Roboto"/>
                <a:cs typeface="Roboto"/>
              </a:rPr>
              <a:t>ingresos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4D4D1"/>
                </a:solidFill>
                <a:latin typeface="Roboto"/>
                <a:cs typeface="Roboto"/>
              </a:rPr>
              <a:t>sostenible</a:t>
            </a:r>
            <a:r>
              <a:rPr dirty="0" sz="1350">
                <a:solidFill>
                  <a:srgbClr val="D4D4D1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4D4D1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D4D4D1"/>
                </a:solidFill>
                <a:latin typeface="Roboto"/>
                <a:cs typeface="Roboto"/>
              </a:rPr>
              <a:t> escalable.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0294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2024-11-05T06:33:54Z</dcterms:created>
  <dcterms:modified xsi:type="dcterms:W3CDTF">2024-11-05T06:33:54Z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