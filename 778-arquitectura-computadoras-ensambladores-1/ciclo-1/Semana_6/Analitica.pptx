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5C4E3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rgbClr val="5C4E3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5C4E3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650" b="0" i="0">
                <a:solidFill>
                  <a:srgbClr val="5C4E3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5C4E3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5C4E3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D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34975"/>
            <a:ext cx="5382260" cy="1111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5C4E3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3625" y="1634172"/>
            <a:ext cx="4608195" cy="1478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rgbClr val="5C4E3D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850"/>
              </a:lnSpc>
            </a:pPr>
            <a:r>
              <a:rPr dirty="0" spc="360"/>
              <a:t>Analítica</a:t>
            </a:r>
            <a:r>
              <a:rPr dirty="0" spc="265"/>
              <a:t> </a:t>
            </a:r>
            <a:r>
              <a:rPr dirty="0" spc="484"/>
              <a:t>en</a:t>
            </a:r>
            <a:r>
              <a:rPr dirty="0" spc="325"/>
              <a:t> </a:t>
            </a:r>
            <a:r>
              <a:rPr dirty="0" spc="270"/>
              <a:t>los </a:t>
            </a:r>
            <a:r>
              <a:rPr dirty="0" spc="310"/>
              <a:t>sistemas</a:t>
            </a:r>
            <a:r>
              <a:rPr dirty="0" spc="325"/>
              <a:t> </a:t>
            </a:r>
            <a:r>
              <a:rPr dirty="0" spc="400"/>
              <a:t>IoT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873625" y="3336290"/>
            <a:ext cx="5962015" cy="1397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14"/>
              </a:spcBef>
            </a:pP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En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un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mundo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cada</a:t>
            </a:r>
            <a:r>
              <a:rPr dirty="0" sz="1350" spc="-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vez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más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conectado,</a:t>
            </a:r>
            <a:r>
              <a:rPr dirty="0" sz="1350" spc="-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la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analítica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4413F"/>
                </a:solidFill>
                <a:latin typeface="Tahoma"/>
                <a:cs typeface="Tahoma"/>
              </a:rPr>
              <a:t>desempeña</a:t>
            </a:r>
            <a:r>
              <a:rPr dirty="0" sz="1350" spc="-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un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 papel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fundamental</a:t>
            </a:r>
            <a:r>
              <a:rPr dirty="0" sz="1350" spc="8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en</a:t>
            </a:r>
            <a:r>
              <a:rPr dirty="0" sz="1350" spc="8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350" spc="8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sistemas</a:t>
            </a:r>
            <a:r>
              <a:rPr dirty="0" sz="1350" spc="8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44413F"/>
                </a:solidFill>
                <a:latin typeface="Tahoma"/>
                <a:cs typeface="Tahoma"/>
              </a:rPr>
              <a:t>IoT</a:t>
            </a:r>
            <a:r>
              <a:rPr dirty="0" sz="1350" spc="8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(Internet</a:t>
            </a:r>
            <a:r>
              <a:rPr dirty="0" sz="1350" spc="8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of</a:t>
            </a:r>
            <a:r>
              <a:rPr dirty="0" sz="1350" spc="8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Things).</a:t>
            </a:r>
            <a:r>
              <a:rPr dirty="0" sz="1350" spc="8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Estos</a:t>
            </a:r>
            <a:r>
              <a:rPr dirty="0" sz="1350" spc="8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sistemas</a:t>
            </a:r>
            <a:r>
              <a:rPr dirty="0" sz="1350" spc="50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generan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una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enorme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4413F"/>
                </a:solidFill>
                <a:latin typeface="Tahoma"/>
                <a:cs typeface="Tahoma"/>
              </a:rPr>
              <a:t>cantidad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4413F"/>
                </a:solidFill>
                <a:latin typeface="Tahoma"/>
                <a:cs typeface="Tahoma"/>
              </a:rPr>
              <a:t>datos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4413F"/>
                </a:solidFill>
                <a:latin typeface="Tahoma"/>
                <a:cs typeface="Tahoma"/>
              </a:rPr>
              <a:t>que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4413F"/>
                </a:solidFill>
                <a:latin typeface="Tahoma"/>
                <a:cs typeface="Tahoma"/>
              </a:rPr>
              <a:t>deben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ser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recolectados, </a:t>
            </a:r>
            <a:r>
              <a:rPr dirty="0" sz="1350" spc="60">
                <a:solidFill>
                  <a:srgbClr val="44413F"/>
                </a:solidFill>
                <a:latin typeface="Tahoma"/>
                <a:cs typeface="Tahoma"/>
              </a:rPr>
              <a:t>procesados</a:t>
            </a:r>
            <a:r>
              <a:rPr dirty="0" sz="1350" spc="4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y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analizados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 eficientemente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para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extraer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información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valiosa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y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tomar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4413F"/>
                </a:solidFill>
                <a:latin typeface="Tahoma"/>
                <a:cs typeface="Tahoma"/>
              </a:rPr>
              <a:t>decisiones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informadas.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" name="object 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739900"/>
            <a:ext cx="977582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305"/>
              <a:t>Roles</a:t>
            </a:r>
            <a:r>
              <a:rPr dirty="0" spc="135"/>
              <a:t> </a:t>
            </a:r>
            <a:r>
              <a:rPr dirty="0" spc="455"/>
              <a:t>y</a:t>
            </a:r>
            <a:r>
              <a:rPr dirty="0" spc="140"/>
              <a:t> </a:t>
            </a:r>
            <a:r>
              <a:rPr dirty="0" spc="270"/>
              <a:t>responsabilidades</a:t>
            </a:r>
            <a:r>
              <a:rPr dirty="0" spc="250"/>
              <a:t> </a:t>
            </a:r>
            <a:r>
              <a:rPr dirty="0" spc="310"/>
              <a:t>dentro</a:t>
            </a:r>
            <a:r>
              <a:rPr dirty="0" spc="245"/>
              <a:t> </a:t>
            </a:r>
            <a:r>
              <a:rPr dirty="0" spc="290"/>
              <a:t>del</a:t>
            </a:r>
            <a:r>
              <a:rPr dirty="0" spc="245"/>
              <a:t> </a:t>
            </a:r>
            <a:r>
              <a:rPr dirty="0" spc="254"/>
              <a:t>sistema </a:t>
            </a:r>
            <a:r>
              <a:rPr dirty="0" spc="295"/>
              <a:t>IoT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7375" y="3240087"/>
            <a:ext cx="2905760" cy="9696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70">
                <a:solidFill>
                  <a:srgbClr val="5C4E3D"/>
                </a:solidFill>
                <a:latin typeface="Cambria"/>
                <a:cs typeface="Cambria"/>
              </a:rPr>
              <a:t>Ingeniero</a:t>
            </a:r>
            <a:r>
              <a:rPr dirty="0" sz="1650" spc="135">
                <a:solidFill>
                  <a:srgbClr val="5C4E3D"/>
                </a:solidFill>
                <a:latin typeface="Cambria"/>
                <a:cs typeface="Cambria"/>
              </a:rPr>
              <a:t> </a:t>
            </a:r>
            <a:r>
              <a:rPr dirty="0" sz="1650" spc="185">
                <a:solidFill>
                  <a:srgbClr val="5C4E3D"/>
                </a:solidFill>
                <a:latin typeface="Cambria"/>
                <a:cs typeface="Cambria"/>
              </a:rPr>
              <a:t>de</a:t>
            </a:r>
            <a:r>
              <a:rPr dirty="0" sz="1650" spc="140">
                <a:solidFill>
                  <a:srgbClr val="5C4E3D"/>
                </a:solidFill>
                <a:latin typeface="Cambria"/>
                <a:cs typeface="Cambria"/>
              </a:rPr>
              <a:t> </a:t>
            </a:r>
            <a:r>
              <a:rPr dirty="0" sz="1650" spc="145">
                <a:solidFill>
                  <a:srgbClr val="5C4E3D"/>
                </a:solidFill>
                <a:latin typeface="Cambria"/>
                <a:cs typeface="Cambria"/>
              </a:rPr>
              <a:t>IoT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1215"/>
              </a:spcBef>
            </a:pP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Diseña</a:t>
            </a:r>
            <a:r>
              <a:rPr dirty="0" sz="1350" spc="7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y</a:t>
            </a:r>
            <a:r>
              <a:rPr dirty="0" sz="1350" spc="7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configura</a:t>
            </a:r>
            <a:r>
              <a:rPr dirty="0" sz="1350" spc="7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350" spc="7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4413F"/>
                </a:solidFill>
                <a:latin typeface="Tahoma"/>
                <a:cs typeface="Tahoma"/>
              </a:rPr>
              <a:t>dispositivos</a:t>
            </a:r>
            <a:r>
              <a:rPr dirty="0" sz="1350" spc="7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y </a:t>
            </a:r>
            <a:r>
              <a:rPr dirty="0" sz="1350" spc="50">
                <a:solidFill>
                  <a:srgbClr val="44413F"/>
                </a:solidFill>
                <a:latin typeface="Tahoma"/>
                <a:cs typeface="Tahoma"/>
              </a:rPr>
              <a:t>redes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4413F"/>
                </a:solidFill>
                <a:latin typeface="Tahoma"/>
                <a:cs typeface="Tahoma"/>
              </a:rPr>
              <a:t>que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conforman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el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sistema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44413F"/>
                </a:solidFill>
                <a:latin typeface="Tahoma"/>
                <a:cs typeface="Tahoma"/>
              </a:rPr>
              <a:t>IoT.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45851" y="3240087"/>
            <a:ext cx="3023235" cy="9696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35">
                <a:solidFill>
                  <a:srgbClr val="5C4E3D"/>
                </a:solidFill>
                <a:latin typeface="Cambria"/>
                <a:cs typeface="Cambria"/>
              </a:rPr>
              <a:t>Analista</a:t>
            </a:r>
            <a:r>
              <a:rPr dirty="0" sz="1650" spc="105">
                <a:solidFill>
                  <a:srgbClr val="5C4E3D"/>
                </a:solidFill>
                <a:latin typeface="Cambria"/>
                <a:cs typeface="Cambria"/>
              </a:rPr>
              <a:t> </a:t>
            </a:r>
            <a:r>
              <a:rPr dirty="0" sz="1650" spc="185">
                <a:solidFill>
                  <a:srgbClr val="5C4E3D"/>
                </a:solidFill>
                <a:latin typeface="Cambria"/>
                <a:cs typeface="Cambria"/>
              </a:rPr>
              <a:t>de</a:t>
            </a:r>
            <a:r>
              <a:rPr dirty="0" sz="1650" spc="130">
                <a:solidFill>
                  <a:srgbClr val="5C4E3D"/>
                </a:solidFill>
                <a:latin typeface="Cambria"/>
                <a:cs typeface="Cambria"/>
              </a:rPr>
              <a:t> </a:t>
            </a:r>
            <a:r>
              <a:rPr dirty="0" sz="1650" spc="160">
                <a:solidFill>
                  <a:srgbClr val="5C4E3D"/>
                </a:solidFill>
                <a:latin typeface="Cambria"/>
                <a:cs typeface="Cambria"/>
              </a:rPr>
              <a:t>Datos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1215"/>
              </a:spcBef>
            </a:pP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Recolecta,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4413F"/>
                </a:solidFill>
                <a:latin typeface="Tahoma"/>
                <a:cs typeface="Tahoma"/>
              </a:rPr>
              <a:t>procesa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y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analiza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datos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generados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4413F"/>
                </a:solidFill>
                <a:latin typeface="Tahoma"/>
                <a:cs typeface="Tahoma"/>
              </a:rPr>
              <a:t>por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el</a:t>
            </a:r>
            <a:r>
              <a:rPr dirty="0" sz="1350" spc="4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sistema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Tahoma"/>
                <a:cs typeface="Tahoma"/>
              </a:rPr>
              <a:t>IoT.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704340" y="3240087"/>
            <a:ext cx="2922270" cy="12458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85">
                <a:solidFill>
                  <a:srgbClr val="5C4E3D"/>
                </a:solidFill>
                <a:latin typeface="Cambria"/>
                <a:cs typeface="Cambria"/>
              </a:rPr>
              <a:t>Gerente</a:t>
            </a:r>
            <a:r>
              <a:rPr dirty="0" sz="1650" spc="135">
                <a:solidFill>
                  <a:srgbClr val="5C4E3D"/>
                </a:solidFill>
                <a:latin typeface="Cambria"/>
                <a:cs typeface="Cambria"/>
              </a:rPr>
              <a:t> </a:t>
            </a:r>
            <a:r>
              <a:rPr dirty="0" sz="1650" spc="185">
                <a:solidFill>
                  <a:srgbClr val="5C4E3D"/>
                </a:solidFill>
                <a:latin typeface="Cambria"/>
                <a:cs typeface="Cambria"/>
              </a:rPr>
              <a:t>de</a:t>
            </a:r>
            <a:r>
              <a:rPr dirty="0" sz="1650" spc="135">
                <a:solidFill>
                  <a:srgbClr val="5C4E3D"/>
                </a:solidFill>
                <a:latin typeface="Cambria"/>
                <a:cs typeface="Cambria"/>
              </a:rPr>
              <a:t> </a:t>
            </a:r>
            <a:r>
              <a:rPr dirty="0" sz="1650" spc="150">
                <a:solidFill>
                  <a:srgbClr val="5C4E3D"/>
                </a:solidFill>
                <a:latin typeface="Cambria"/>
                <a:cs typeface="Cambria"/>
              </a:rPr>
              <a:t>Proyecto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1900"/>
              </a:lnSpc>
              <a:spcBef>
                <a:spcPts val="1180"/>
              </a:spcBef>
            </a:pP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Coordina</a:t>
            </a:r>
            <a:r>
              <a:rPr dirty="0" sz="1350" spc="14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y</a:t>
            </a:r>
            <a:r>
              <a:rPr dirty="0" sz="1350" spc="1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supervisa</a:t>
            </a:r>
            <a:r>
              <a:rPr dirty="0" sz="1350" spc="1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Tahoma"/>
                <a:cs typeface="Tahoma"/>
              </a:rPr>
              <a:t>la 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implementación</a:t>
            </a:r>
            <a:r>
              <a:rPr dirty="0" sz="1350" spc="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y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el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funcionamiento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del 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sistema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Tahoma"/>
                <a:cs typeface="Tahoma"/>
              </a:rPr>
              <a:t>IoT.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6" name="object 6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787400"/>
            <a:ext cx="584962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335"/>
              <a:t>Importancia</a:t>
            </a:r>
            <a:r>
              <a:rPr dirty="0" spc="195"/>
              <a:t> </a:t>
            </a:r>
            <a:r>
              <a:rPr dirty="0" spc="350"/>
              <a:t>de</a:t>
            </a:r>
            <a:r>
              <a:rPr dirty="0" spc="235"/>
              <a:t> </a:t>
            </a:r>
            <a:r>
              <a:rPr dirty="0" spc="200"/>
              <a:t>la</a:t>
            </a:r>
            <a:r>
              <a:rPr dirty="0" spc="195"/>
              <a:t> </a:t>
            </a:r>
            <a:r>
              <a:rPr dirty="0" spc="229"/>
              <a:t>analítica </a:t>
            </a:r>
            <a:r>
              <a:rPr dirty="0" spc="365"/>
              <a:t>en</a:t>
            </a:r>
            <a:r>
              <a:rPr dirty="0" spc="245"/>
              <a:t> </a:t>
            </a:r>
            <a:r>
              <a:rPr dirty="0" spc="229"/>
              <a:t>los</a:t>
            </a:r>
            <a:r>
              <a:rPr dirty="0" spc="250"/>
              <a:t> </a:t>
            </a:r>
            <a:r>
              <a:rPr dirty="0" spc="245"/>
              <a:t>sistemas</a:t>
            </a:r>
            <a:r>
              <a:rPr dirty="0" spc="240"/>
              <a:t> </a:t>
            </a:r>
            <a:r>
              <a:rPr dirty="0" spc="295"/>
              <a:t>IoT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600075" y="2333624"/>
            <a:ext cx="390525" cy="381000"/>
            <a:chOff x="600075" y="2333624"/>
            <a:chExt cx="390525" cy="381000"/>
          </a:xfrm>
        </p:grpSpPr>
        <p:sp>
          <p:nvSpPr>
            <p:cNvPr id="7" name="object 7" descr=""/>
            <p:cNvSpPr/>
            <p:nvPr/>
          </p:nvSpPr>
          <p:spPr>
            <a:xfrm>
              <a:off x="604837" y="23383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7" y="357860"/>
                  </a:lnTo>
                  <a:lnTo>
                    <a:pt x="51619" y="371475"/>
                  </a:lnTo>
                  <a:lnTo>
                    <a:pt x="329380" y="371475"/>
                  </a:lnTo>
                  <a:lnTo>
                    <a:pt x="367381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04837" y="23383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29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8" y="323443"/>
                  </a:lnTo>
                  <a:lnTo>
                    <a:pt x="371688" y="346913"/>
                  </a:lnTo>
                  <a:lnTo>
                    <a:pt x="369674" y="349935"/>
                  </a:lnTo>
                  <a:lnTo>
                    <a:pt x="336529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44465" y="370408"/>
                  </a:lnTo>
                  <a:lnTo>
                    <a:pt x="40907" y="369709"/>
                  </a:lnTo>
                  <a:lnTo>
                    <a:pt x="9311" y="346913"/>
                  </a:lnTo>
                  <a:lnTo>
                    <a:pt x="7292" y="343903"/>
                  </a:lnTo>
                  <a:lnTo>
                    <a:pt x="5590" y="340728"/>
                  </a:lnTo>
                  <a:lnTo>
                    <a:pt x="4207" y="337375"/>
                  </a:lnTo>
                  <a:lnTo>
                    <a:pt x="2818" y="334022"/>
                  </a:lnTo>
                  <a:lnTo>
                    <a:pt x="1771" y="330568"/>
                  </a:lnTo>
                  <a:lnTo>
                    <a:pt x="1061" y="327012"/>
                  </a:lnTo>
                  <a:lnTo>
                    <a:pt x="351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22809" y="2349500"/>
            <a:ext cx="14033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65">
                <a:solidFill>
                  <a:srgbClr val="44413F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44587" y="2316162"/>
            <a:ext cx="2331085" cy="198882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106045">
              <a:lnSpc>
                <a:spcPct val="106100"/>
              </a:lnSpc>
              <a:spcBef>
                <a:spcPts val="15"/>
              </a:spcBef>
            </a:pPr>
            <a:r>
              <a:rPr dirty="0" sz="1650" spc="240">
                <a:solidFill>
                  <a:srgbClr val="44413F"/>
                </a:solidFill>
                <a:latin typeface="Cambria"/>
                <a:cs typeface="Cambria"/>
              </a:rPr>
              <a:t>Toma</a:t>
            </a:r>
            <a:r>
              <a:rPr dirty="0" sz="1650" spc="10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85">
                <a:solidFill>
                  <a:srgbClr val="44413F"/>
                </a:solidFill>
                <a:latin typeface="Cambria"/>
                <a:cs typeface="Cambria"/>
              </a:rPr>
              <a:t>de</a:t>
            </a:r>
            <a:r>
              <a:rPr dirty="0" sz="1650" spc="13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55">
                <a:solidFill>
                  <a:srgbClr val="44413F"/>
                </a:solidFill>
                <a:latin typeface="Cambria"/>
                <a:cs typeface="Cambria"/>
              </a:rPr>
              <a:t>Decisiones </a:t>
            </a:r>
            <a:r>
              <a:rPr dirty="0" sz="1650" spc="175">
                <a:solidFill>
                  <a:srgbClr val="44413F"/>
                </a:solidFill>
                <a:latin typeface="Cambria"/>
                <a:cs typeface="Cambria"/>
              </a:rPr>
              <a:t>Informadas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3100"/>
              </a:lnSpc>
              <a:spcBef>
                <a:spcPts val="560"/>
              </a:spcBef>
            </a:pP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La</a:t>
            </a:r>
            <a:r>
              <a:rPr dirty="0" sz="1350" spc="5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analítica</a:t>
            </a:r>
            <a:r>
              <a:rPr dirty="0" sz="1350" spc="6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permite</a:t>
            </a:r>
            <a:r>
              <a:rPr dirty="0" sz="1350" spc="6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tomar </a:t>
            </a:r>
            <a:r>
              <a:rPr dirty="0" sz="1350" spc="60">
                <a:solidFill>
                  <a:srgbClr val="44413F"/>
                </a:solidFill>
                <a:latin typeface="Tahoma"/>
                <a:cs typeface="Tahoma"/>
              </a:rPr>
              <a:t>decisiones</a:t>
            </a:r>
            <a:r>
              <a:rPr dirty="0" sz="1350" spc="-4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4413F"/>
                </a:solidFill>
                <a:latin typeface="Tahoma"/>
                <a:cs typeface="Tahoma"/>
              </a:rPr>
              <a:t>basadas</a:t>
            </a:r>
            <a:r>
              <a:rPr dirty="0" sz="1350" spc="-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en</a:t>
            </a:r>
            <a:r>
              <a:rPr dirty="0" sz="1350" spc="-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datos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concretos,</a:t>
            </a:r>
            <a:r>
              <a:rPr dirty="0" sz="1350" spc="20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mejorando</a:t>
            </a:r>
            <a:r>
              <a:rPr dirty="0" sz="1350" spc="20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Tahoma"/>
                <a:cs typeface="Tahoma"/>
              </a:rPr>
              <a:t>la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eficiencia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y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el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rendimiento</a:t>
            </a:r>
            <a:r>
              <a:rPr dirty="0" sz="1350" spc="50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del 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sistema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Tahoma"/>
                <a:cs typeface="Tahoma"/>
              </a:rPr>
              <a:t>IoT.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657600" y="2333624"/>
            <a:ext cx="390525" cy="381000"/>
            <a:chOff x="3657600" y="2333624"/>
            <a:chExt cx="390525" cy="381000"/>
          </a:xfrm>
        </p:grpSpPr>
        <p:sp>
          <p:nvSpPr>
            <p:cNvPr id="12" name="object 12" descr=""/>
            <p:cNvSpPr/>
            <p:nvPr/>
          </p:nvSpPr>
          <p:spPr>
            <a:xfrm>
              <a:off x="3662362" y="23383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5" y="357860"/>
                  </a:lnTo>
                  <a:lnTo>
                    <a:pt x="51612" y="371475"/>
                  </a:lnTo>
                  <a:lnTo>
                    <a:pt x="329387" y="371475"/>
                  </a:lnTo>
                  <a:lnTo>
                    <a:pt x="367385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662362" y="23383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37" y="1066"/>
                  </a:lnTo>
                  <a:lnTo>
                    <a:pt x="340093" y="1765"/>
                  </a:lnTo>
                  <a:lnTo>
                    <a:pt x="371690" y="2454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34" y="330568"/>
                  </a:lnTo>
                  <a:lnTo>
                    <a:pt x="356450" y="362165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3758450" y="2349500"/>
            <a:ext cx="1841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80">
                <a:solidFill>
                  <a:srgbClr val="44413F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202107" y="2316162"/>
            <a:ext cx="2295525" cy="198882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426720">
              <a:lnSpc>
                <a:spcPct val="106100"/>
              </a:lnSpc>
              <a:spcBef>
                <a:spcPts val="15"/>
              </a:spcBef>
            </a:pPr>
            <a:r>
              <a:rPr dirty="0" sz="1650" spc="210">
                <a:solidFill>
                  <a:srgbClr val="44413F"/>
                </a:solidFill>
                <a:latin typeface="Cambria"/>
                <a:cs typeface="Cambria"/>
              </a:rPr>
              <a:t>Optimización</a:t>
            </a:r>
            <a:r>
              <a:rPr dirty="0" sz="1650" spc="13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60">
                <a:solidFill>
                  <a:srgbClr val="44413F"/>
                </a:solidFill>
                <a:latin typeface="Cambria"/>
                <a:cs typeface="Cambria"/>
              </a:rPr>
              <a:t>de </a:t>
            </a:r>
            <a:r>
              <a:rPr dirty="0" sz="1650" spc="135">
                <a:solidFill>
                  <a:srgbClr val="44413F"/>
                </a:solidFill>
                <a:latin typeface="Cambria"/>
                <a:cs typeface="Cambria"/>
              </a:rPr>
              <a:t>Procesos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3100"/>
              </a:lnSpc>
              <a:spcBef>
                <a:spcPts val="560"/>
              </a:spcBef>
            </a:pP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El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análisis</a:t>
            </a:r>
            <a:r>
              <a:rPr dirty="0" sz="1350" spc="1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50" spc="1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350" spc="1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datos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recopilados</a:t>
            </a:r>
            <a:r>
              <a:rPr dirty="0" sz="1350" spc="1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ayuda</a:t>
            </a:r>
            <a:r>
              <a:rPr dirty="0" sz="1350" spc="1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44413F"/>
                </a:solidFill>
                <a:latin typeface="Tahoma"/>
                <a:cs typeface="Tahoma"/>
              </a:rPr>
              <a:t>a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identificar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áreas</a:t>
            </a:r>
            <a:r>
              <a:rPr dirty="0" sz="1350" spc="7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50" spc="7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mejora</a:t>
            </a:r>
            <a:r>
              <a:rPr dirty="0" sz="1350" spc="7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y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optimizar</a:t>
            </a:r>
            <a:r>
              <a:rPr dirty="0" sz="1350" spc="9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350" spc="9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procesos</a:t>
            </a:r>
            <a:r>
              <a:rPr dirty="0" sz="1350" spc="9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Tahoma"/>
                <a:cs typeface="Tahoma"/>
              </a:rPr>
              <a:t>del 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sistema</a:t>
            </a:r>
            <a:r>
              <a:rPr dirty="0" sz="1350" spc="-6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Tahoma"/>
                <a:cs typeface="Tahoma"/>
              </a:rPr>
              <a:t>IoT.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00075" y="4705350"/>
            <a:ext cx="390525" cy="390525"/>
            <a:chOff x="600075" y="4705350"/>
            <a:chExt cx="390525" cy="390525"/>
          </a:xfrm>
        </p:grpSpPr>
        <p:sp>
          <p:nvSpPr>
            <p:cNvPr id="17" name="object 17" descr=""/>
            <p:cNvSpPr/>
            <p:nvPr/>
          </p:nvSpPr>
          <p:spPr>
            <a:xfrm>
              <a:off x="604837" y="47101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7" y="367385"/>
                  </a:lnTo>
                  <a:lnTo>
                    <a:pt x="51619" y="381000"/>
                  </a:lnTo>
                  <a:lnTo>
                    <a:pt x="329380" y="381000"/>
                  </a:lnTo>
                  <a:lnTo>
                    <a:pt x="367381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04837" y="47101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29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8" y="332968"/>
                  </a:lnTo>
                  <a:lnTo>
                    <a:pt x="371688" y="356438"/>
                  </a:lnTo>
                  <a:lnTo>
                    <a:pt x="369674" y="359460"/>
                  </a:lnTo>
                  <a:lnTo>
                    <a:pt x="336529" y="379933"/>
                  </a:lnTo>
                  <a:lnTo>
                    <a:pt x="332973" y="380644"/>
                  </a:lnTo>
                  <a:lnTo>
                    <a:pt x="329380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9" y="381000"/>
                  </a:lnTo>
                  <a:lnTo>
                    <a:pt x="48026" y="380644"/>
                  </a:lnTo>
                  <a:lnTo>
                    <a:pt x="44465" y="379933"/>
                  </a:lnTo>
                  <a:lnTo>
                    <a:pt x="40907" y="379234"/>
                  </a:lnTo>
                  <a:lnTo>
                    <a:pt x="9311" y="356438"/>
                  </a:lnTo>
                  <a:lnTo>
                    <a:pt x="7292" y="353428"/>
                  </a:lnTo>
                  <a:lnTo>
                    <a:pt x="5590" y="350253"/>
                  </a:lnTo>
                  <a:lnTo>
                    <a:pt x="4207" y="346900"/>
                  </a:lnTo>
                  <a:lnTo>
                    <a:pt x="2818" y="343535"/>
                  </a:lnTo>
                  <a:lnTo>
                    <a:pt x="1771" y="340093"/>
                  </a:lnTo>
                  <a:lnTo>
                    <a:pt x="1061" y="336537"/>
                  </a:lnTo>
                  <a:lnTo>
                    <a:pt x="351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00930" y="4721225"/>
            <a:ext cx="1841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80">
                <a:solidFill>
                  <a:srgbClr val="44413F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144587" y="4687887"/>
            <a:ext cx="528002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80">
                <a:solidFill>
                  <a:srgbClr val="44413F"/>
                </a:solidFill>
                <a:latin typeface="Cambria"/>
                <a:cs typeface="Cambria"/>
              </a:rPr>
              <a:t>Innovación</a:t>
            </a:r>
            <a:r>
              <a:rPr dirty="0" sz="1650" spc="9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229">
                <a:solidFill>
                  <a:srgbClr val="44413F"/>
                </a:solidFill>
                <a:latin typeface="Cambria"/>
                <a:cs typeface="Cambria"/>
              </a:rPr>
              <a:t>y</a:t>
            </a:r>
            <a:r>
              <a:rPr dirty="0" sz="1650" spc="9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85">
                <a:solidFill>
                  <a:srgbClr val="44413F"/>
                </a:solidFill>
                <a:latin typeface="Cambria"/>
                <a:cs typeface="Cambria"/>
              </a:rPr>
              <a:t>Crecimiento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La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analítica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4413F"/>
                </a:solidFill>
                <a:latin typeface="Tahoma"/>
                <a:cs typeface="Tahoma"/>
              </a:rPr>
              <a:t>puede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impulsar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la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innovación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 y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el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desarrollo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 de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nuevas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soluciones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y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4413F"/>
                </a:solidFill>
                <a:latin typeface="Tahoma"/>
                <a:cs typeface="Tahoma"/>
              </a:rPr>
              <a:t>servicios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Tahoma"/>
                <a:cs typeface="Tahoma"/>
              </a:rPr>
              <a:t>IoT.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"/>
            <a:ext cx="11083925" cy="6438265"/>
          </a:xfrm>
          <a:custGeom>
            <a:avLst/>
            <a:gdLst/>
            <a:ahLst/>
            <a:cxnLst/>
            <a:rect l="l" t="t" r="r" b="b"/>
            <a:pathLst>
              <a:path w="11083925" h="6438265">
                <a:moveTo>
                  <a:pt x="11083794" y="0"/>
                </a:moveTo>
                <a:lnTo>
                  <a:pt x="0" y="0"/>
                </a:lnTo>
                <a:lnTo>
                  <a:pt x="0" y="6437837"/>
                </a:lnTo>
                <a:lnTo>
                  <a:pt x="11083794" y="6437837"/>
                </a:lnTo>
                <a:lnTo>
                  <a:pt x="11083794" y="0"/>
                </a:lnTo>
                <a:close/>
              </a:path>
            </a:pathLst>
          </a:custGeom>
          <a:solidFill>
            <a:srgbClr val="FFFD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156422" cy="643783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25622" y="439888"/>
            <a:ext cx="5131435" cy="1042035"/>
          </a:xfrm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ts val="4070"/>
              </a:lnSpc>
              <a:spcBef>
                <a:spcPts val="60"/>
              </a:spcBef>
            </a:pPr>
            <a:r>
              <a:rPr dirty="0" sz="3250" spc="325"/>
              <a:t>Recolección</a:t>
            </a:r>
            <a:r>
              <a:rPr dirty="0" sz="3250" spc="229"/>
              <a:t> </a:t>
            </a:r>
            <a:r>
              <a:rPr dirty="0" sz="3250" spc="335"/>
              <a:t>de</a:t>
            </a:r>
            <a:r>
              <a:rPr dirty="0" sz="3250" spc="235"/>
              <a:t> </a:t>
            </a:r>
            <a:r>
              <a:rPr dirty="0" sz="3250" spc="240"/>
              <a:t>datos</a:t>
            </a:r>
            <a:r>
              <a:rPr dirty="0" sz="3250" spc="235"/>
              <a:t> </a:t>
            </a:r>
            <a:r>
              <a:rPr dirty="0" sz="3250" spc="330"/>
              <a:t>en </a:t>
            </a:r>
            <a:r>
              <a:rPr dirty="0" sz="3250" spc="240"/>
              <a:t>sistemas</a:t>
            </a:r>
            <a:r>
              <a:rPr dirty="0" sz="3250" spc="229"/>
              <a:t> </a:t>
            </a:r>
            <a:r>
              <a:rPr dirty="0" sz="3250" spc="290"/>
              <a:t>IoT</a:t>
            </a:r>
            <a:endParaRPr sz="3250"/>
          </a:p>
        </p:txBody>
      </p:sp>
      <p:grpSp>
        <p:nvGrpSpPr>
          <p:cNvPr id="5" name="object 5" descr=""/>
          <p:cNvGrpSpPr/>
          <p:nvPr/>
        </p:nvGrpSpPr>
        <p:grpSpPr>
          <a:xfrm>
            <a:off x="4738322" y="1745698"/>
            <a:ext cx="2799080" cy="2032635"/>
            <a:chOff x="4738322" y="1745698"/>
            <a:chExt cx="2799080" cy="2032635"/>
          </a:xfrm>
        </p:grpSpPr>
        <p:sp>
          <p:nvSpPr>
            <p:cNvPr id="6" name="object 6" descr=""/>
            <p:cNvSpPr/>
            <p:nvPr/>
          </p:nvSpPr>
          <p:spPr>
            <a:xfrm>
              <a:off x="4742940" y="1750316"/>
              <a:ext cx="2789555" cy="2023110"/>
            </a:xfrm>
            <a:custGeom>
              <a:avLst/>
              <a:gdLst/>
              <a:ahLst/>
              <a:cxnLst/>
              <a:rect l="l" t="t" r="r" b="b"/>
              <a:pathLst>
                <a:path w="2789554" h="2023110">
                  <a:moveTo>
                    <a:pt x="2739372" y="0"/>
                  </a:moveTo>
                  <a:lnTo>
                    <a:pt x="50049" y="0"/>
                  </a:lnTo>
                  <a:lnTo>
                    <a:pt x="46564" y="344"/>
                  </a:lnTo>
                  <a:lnTo>
                    <a:pt x="10985" y="20886"/>
                  </a:lnTo>
                  <a:lnTo>
                    <a:pt x="0" y="50049"/>
                  </a:lnTo>
                  <a:lnTo>
                    <a:pt x="0" y="1969220"/>
                  </a:lnTo>
                  <a:lnTo>
                    <a:pt x="0" y="1972742"/>
                  </a:lnTo>
                  <a:lnTo>
                    <a:pt x="18177" y="2009590"/>
                  </a:lnTo>
                  <a:lnTo>
                    <a:pt x="50049" y="2022792"/>
                  </a:lnTo>
                  <a:lnTo>
                    <a:pt x="2739372" y="2022792"/>
                  </a:lnTo>
                  <a:lnTo>
                    <a:pt x="2776219" y="2004615"/>
                  </a:lnTo>
                  <a:lnTo>
                    <a:pt x="2789421" y="1972742"/>
                  </a:lnTo>
                  <a:lnTo>
                    <a:pt x="2789421" y="50049"/>
                  </a:lnTo>
                  <a:lnTo>
                    <a:pt x="2771244" y="13202"/>
                  </a:lnTo>
                  <a:lnTo>
                    <a:pt x="2742845" y="344"/>
                  </a:lnTo>
                  <a:lnTo>
                    <a:pt x="2739372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742940" y="1750316"/>
              <a:ext cx="2789555" cy="2023110"/>
            </a:xfrm>
            <a:custGeom>
              <a:avLst/>
              <a:gdLst/>
              <a:ahLst/>
              <a:cxnLst/>
              <a:rect l="l" t="t" r="r" b="b"/>
              <a:pathLst>
                <a:path w="2789554" h="2023110">
                  <a:moveTo>
                    <a:pt x="0" y="1969220"/>
                  </a:moveTo>
                  <a:lnTo>
                    <a:pt x="0" y="53571"/>
                  </a:lnTo>
                  <a:lnTo>
                    <a:pt x="0" y="50049"/>
                  </a:lnTo>
                  <a:lnTo>
                    <a:pt x="344" y="46564"/>
                  </a:lnTo>
                  <a:lnTo>
                    <a:pt x="1034" y="43115"/>
                  </a:lnTo>
                  <a:lnTo>
                    <a:pt x="1711" y="39667"/>
                  </a:lnTo>
                  <a:lnTo>
                    <a:pt x="2734" y="36317"/>
                  </a:lnTo>
                  <a:lnTo>
                    <a:pt x="29815" y="5418"/>
                  </a:lnTo>
                  <a:lnTo>
                    <a:pt x="33066" y="4076"/>
                  </a:lnTo>
                  <a:lnTo>
                    <a:pt x="36317" y="2734"/>
                  </a:lnTo>
                  <a:lnTo>
                    <a:pt x="39667" y="1711"/>
                  </a:lnTo>
                  <a:lnTo>
                    <a:pt x="43115" y="1022"/>
                  </a:lnTo>
                  <a:lnTo>
                    <a:pt x="46564" y="344"/>
                  </a:lnTo>
                  <a:lnTo>
                    <a:pt x="50049" y="0"/>
                  </a:lnTo>
                  <a:lnTo>
                    <a:pt x="53571" y="0"/>
                  </a:lnTo>
                  <a:lnTo>
                    <a:pt x="2735849" y="0"/>
                  </a:lnTo>
                  <a:lnTo>
                    <a:pt x="2739372" y="0"/>
                  </a:lnTo>
                  <a:lnTo>
                    <a:pt x="2742845" y="344"/>
                  </a:lnTo>
                  <a:lnTo>
                    <a:pt x="2746293" y="1022"/>
                  </a:lnTo>
                  <a:lnTo>
                    <a:pt x="2749753" y="1711"/>
                  </a:lnTo>
                  <a:lnTo>
                    <a:pt x="2753103" y="2734"/>
                  </a:lnTo>
                  <a:lnTo>
                    <a:pt x="2756354" y="4076"/>
                  </a:lnTo>
                  <a:lnTo>
                    <a:pt x="2759606" y="5418"/>
                  </a:lnTo>
                  <a:lnTo>
                    <a:pt x="2786687" y="36317"/>
                  </a:lnTo>
                  <a:lnTo>
                    <a:pt x="2788387" y="43115"/>
                  </a:lnTo>
                  <a:lnTo>
                    <a:pt x="2789076" y="46564"/>
                  </a:lnTo>
                  <a:lnTo>
                    <a:pt x="2789421" y="50049"/>
                  </a:lnTo>
                  <a:lnTo>
                    <a:pt x="2789421" y="53571"/>
                  </a:lnTo>
                  <a:lnTo>
                    <a:pt x="2789421" y="1969220"/>
                  </a:lnTo>
                  <a:lnTo>
                    <a:pt x="2789421" y="1972742"/>
                  </a:lnTo>
                  <a:lnTo>
                    <a:pt x="2789076" y="1976228"/>
                  </a:lnTo>
                  <a:lnTo>
                    <a:pt x="2788387" y="1979676"/>
                  </a:lnTo>
                  <a:lnTo>
                    <a:pt x="2787709" y="1983124"/>
                  </a:lnTo>
                  <a:lnTo>
                    <a:pt x="2762685" y="2015723"/>
                  </a:lnTo>
                  <a:lnTo>
                    <a:pt x="2756342" y="2018716"/>
                  </a:lnTo>
                  <a:lnTo>
                    <a:pt x="2753103" y="2020058"/>
                  </a:lnTo>
                  <a:lnTo>
                    <a:pt x="2749753" y="2021080"/>
                  </a:lnTo>
                  <a:lnTo>
                    <a:pt x="2746293" y="2021757"/>
                  </a:lnTo>
                  <a:lnTo>
                    <a:pt x="2742845" y="2022447"/>
                  </a:lnTo>
                  <a:lnTo>
                    <a:pt x="2739372" y="2022792"/>
                  </a:lnTo>
                  <a:lnTo>
                    <a:pt x="2735849" y="2022792"/>
                  </a:lnTo>
                  <a:lnTo>
                    <a:pt x="53571" y="2022792"/>
                  </a:lnTo>
                  <a:lnTo>
                    <a:pt x="50049" y="2022792"/>
                  </a:lnTo>
                  <a:lnTo>
                    <a:pt x="46564" y="2022447"/>
                  </a:lnTo>
                  <a:lnTo>
                    <a:pt x="43115" y="2021757"/>
                  </a:lnTo>
                  <a:lnTo>
                    <a:pt x="39667" y="2021080"/>
                  </a:lnTo>
                  <a:lnTo>
                    <a:pt x="7068" y="1996055"/>
                  </a:lnTo>
                  <a:lnTo>
                    <a:pt x="1034" y="1979676"/>
                  </a:lnTo>
                  <a:lnTo>
                    <a:pt x="344" y="1976228"/>
                  </a:lnTo>
                  <a:lnTo>
                    <a:pt x="0" y="1972742"/>
                  </a:lnTo>
                  <a:lnTo>
                    <a:pt x="0" y="1969220"/>
                  </a:lnTo>
                  <a:close/>
                </a:path>
              </a:pathLst>
            </a:custGeom>
            <a:ln w="9236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901115" y="1903873"/>
            <a:ext cx="2473325" cy="166179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1160145">
              <a:lnSpc>
                <a:spcPct val="106100"/>
              </a:lnSpc>
              <a:spcBef>
                <a:spcPts val="20"/>
              </a:spcBef>
            </a:pPr>
            <a:r>
              <a:rPr dirty="0" sz="1600" spc="150">
                <a:solidFill>
                  <a:srgbClr val="44413F"/>
                </a:solidFill>
                <a:latin typeface="Cambria"/>
                <a:cs typeface="Cambria"/>
              </a:rPr>
              <a:t>Sensores</a:t>
            </a:r>
            <a:r>
              <a:rPr dirty="0" sz="1600" spc="7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00" spc="175">
                <a:solidFill>
                  <a:srgbClr val="44413F"/>
                </a:solidFill>
                <a:latin typeface="Cambria"/>
                <a:cs typeface="Cambria"/>
              </a:rPr>
              <a:t>y </a:t>
            </a:r>
            <a:r>
              <a:rPr dirty="0" sz="1600" spc="130">
                <a:solidFill>
                  <a:srgbClr val="44413F"/>
                </a:solidFill>
                <a:latin typeface="Cambria"/>
                <a:cs typeface="Cambria"/>
              </a:rPr>
              <a:t>Dispositivos</a:t>
            </a:r>
            <a:endParaRPr sz="1600">
              <a:latin typeface="Cambria"/>
              <a:cs typeface="Cambria"/>
            </a:endParaRPr>
          </a:p>
          <a:p>
            <a:pPr marL="12700" marR="5080">
              <a:lnSpc>
                <a:spcPct val="133600"/>
              </a:lnSpc>
              <a:spcBef>
                <a:spcPts val="545"/>
              </a:spcBef>
            </a:pPr>
            <a:r>
              <a:rPr dirty="0" sz="1300" spc="5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300" spc="-4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50">
                <a:solidFill>
                  <a:srgbClr val="44413F"/>
                </a:solidFill>
                <a:latin typeface="Tahoma"/>
                <a:cs typeface="Tahoma"/>
              </a:rPr>
              <a:t>sensores</a:t>
            </a:r>
            <a:r>
              <a:rPr dirty="0" sz="1300" spc="-4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70">
                <a:solidFill>
                  <a:srgbClr val="44413F"/>
                </a:solidFill>
                <a:latin typeface="Tahoma"/>
                <a:cs typeface="Tahoma"/>
              </a:rPr>
              <a:t>y</a:t>
            </a:r>
            <a:r>
              <a:rPr dirty="0" sz="1300" spc="-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55">
                <a:solidFill>
                  <a:srgbClr val="44413F"/>
                </a:solidFill>
                <a:latin typeface="Tahoma"/>
                <a:cs typeface="Tahoma"/>
              </a:rPr>
              <a:t>dispositivos</a:t>
            </a:r>
            <a:r>
              <a:rPr dirty="0" sz="1300" spc="-4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44413F"/>
                </a:solidFill>
                <a:latin typeface="Tahoma"/>
                <a:cs typeface="Tahoma"/>
              </a:rPr>
              <a:t>IoT </a:t>
            </a:r>
            <a:r>
              <a:rPr dirty="0" sz="1300" spc="10">
                <a:solidFill>
                  <a:srgbClr val="44413F"/>
                </a:solidFill>
                <a:latin typeface="Tahoma"/>
                <a:cs typeface="Tahoma"/>
              </a:rPr>
              <a:t>recopilan</a:t>
            </a:r>
            <a:r>
              <a:rPr dirty="0" sz="1300" spc="5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44413F"/>
                </a:solidFill>
                <a:latin typeface="Tahoma"/>
                <a:cs typeface="Tahoma"/>
              </a:rPr>
              <a:t>datos</a:t>
            </a:r>
            <a:r>
              <a:rPr dirty="0" sz="1300" spc="5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75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00" spc="5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40">
                <a:solidFill>
                  <a:srgbClr val="44413F"/>
                </a:solidFill>
                <a:latin typeface="Tahoma"/>
                <a:cs typeface="Tahoma"/>
              </a:rPr>
              <a:t>diversos </a:t>
            </a:r>
            <a:r>
              <a:rPr dirty="0" sz="1300">
                <a:solidFill>
                  <a:srgbClr val="44413F"/>
                </a:solidFill>
                <a:latin typeface="Tahoma"/>
                <a:cs typeface="Tahoma"/>
              </a:rPr>
              <a:t>parámetros,</a:t>
            </a:r>
            <a:r>
              <a:rPr dirty="0" sz="1300" spc="114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90">
                <a:solidFill>
                  <a:srgbClr val="44413F"/>
                </a:solidFill>
                <a:latin typeface="Tahoma"/>
                <a:cs typeface="Tahoma"/>
              </a:rPr>
              <a:t>como</a:t>
            </a:r>
            <a:r>
              <a:rPr dirty="0" sz="1300" spc="114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44413F"/>
                </a:solidFill>
                <a:latin typeface="Tahoma"/>
                <a:cs typeface="Tahoma"/>
              </a:rPr>
              <a:t>temperatura, </a:t>
            </a:r>
            <a:r>
              <a:rPr dirty="0" sz="1300">
                <a:solidFill>
                  <a:srgbClr val="44413F"/>
                </a:solidFill>
                <a:latin typeface="Tahoma"/>
                <a:cs typeface="Tahoma"/>
              </a:rPr>
              <a:t>humedad,</a:t>
            </a:r>
            <a:r>
              <a:rPr dirty="0" sz="1300" spc="204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44413F"/>
                </a:solidFill>
                <a:latin typeface="Tahoma"/>
                <a:cs typeface="Tahoma"/>
              </a:rPr>
              <a:t>movimiento,</a:t>
            </a:r>
            <a:r>
              <a:rPr dirty="0" sz="1300" spc="204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44413F"/>
                </a:solidFill>
                <a:latin typeface="Tahoma"/>
                <a:cs typeface="Tahoma"/>
              </a:rPr>
              <a:t>etc.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7703236" y="1745698"/>
            <a:ext cx="2799080" cy="2032635"/>
            <a:chOff x="7703236" y="1745698"/>
            <a:chExt cx="2799080" cy="2032635"/>
          </a:xfrm>
        </p:grpSpPr>
        <p:sp>
          <p:nvSpPr>
            <p:cNvPr id="10" name="object 10" descr=""/>
            <p:cNvSpPr/>
            <p:nvPr/>
          </p:nvSpPr>
          <p:spPr>
            <a:xfrm>
              <a:off x="7707855" y="1750316"/>
              <a:ext cx="2789555" cy="2023110"/>
            </a:xfrm>
            <a:custGeom>
              <a:avLst/>
              <a:gdLst/>
              <a:ahLst/>
              <a:cxnLst/>
              <a:rect l="l" t="t" r="r" b="b"/>
              <a:pathLst>
                <a:path w="2789554" h="2023110">
                  <a:moveTo>
                    <a:pt x="2739372" y="0"/>
                  </a:moveTo>
                  <a:lnTo>
                    <a:pt x="50049" y="0"/>
                  </a:lnTo>
                  <a:lnTo>
                    <a:pt x="46564" y="344"/>
                  </a:lnTo>
                  <a:lnTo>
                    <a:pt x="10985" y="20886"/>
                  </a:lnTo>
                  <a:lnTo>
                    <a:pt x="0" y="50049"/>
                  </a:lnTo>
                  <a:lnTo>
                    <a:pt x="0" y="1969220"/>
                  </a:lnTo>
                  <a:lnTo>
                    <a:pt x="0" y="1972742"/>
                  </a:lnTo>
                  <a:lnTo>
                    <a:pt x="18177" y="2009590"/>
                  </a:lnTo>
                  <a:lnTo>
                    <a:pt x="50049" y="2022792"/>
                  </a:lnTo>
                  <a:lnTo>
                    <a:pt x="2739372" y="2022792"/>
                  </a:lnTo>
                  <a:lnTo>
                    <a:pt x="2776219" y="2004615"/>
                  </a:lnTo>
                  <a:lnTo>
                    <a:pt x="2789421" y="1972742"/>
                  </a:lnTo>
                  <a:lnTo>
                    <a:pt x="2789421" y="50049"/>
                  </a:lnTo>
                  <a:lnTo>
                    <a:pt x="2771244" y="13202"/>
                  </a:lnTo>
                  <a:lnTo>
                    <a:pt x="2742845" y="344"/>
                  </a:lnTo>
                  <a:lnTo>
                    <a:pt x="2739372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707855" y="1750316"/>
              <a:ext cx="2789555" cy="2023110"/>
            </a:xfrm>
            <a:custGeom>
              <a:avLst/>
              <a:gdLst/>
              <a:ahLst/>
              <a:cxnLst/>
              <a:rect l="l" t="t" r="r" b="b"/>
              <a:pathLst>
                <a:path w="2789554" h="2023110">
                  <a:moveTo>
                    <a:pt x="0" y="1969220"/>
                  </a:moveTo>
                  <a:lnTo>
                    <a:pt x="0" y="53571"/>
                  </a:lnTo>
                  <a:lnTo>
                    <a:pt x="0" y="50049"/>
                  </a:lnTo>
                  <a:lnTo>
                    <a:pt x="344" y="46564"/>
                  </a:lnTo>
                  <a:lnTo>
                    <a:pt x="1034" y="43115"/>
                  </a:lnTo>
                  <a:lnTo>
                    <a:pt x="1711" y="39667"/>
                  </a:lnTo>
                  <a:lnTo>
                    <a:pt x="2734" y="36317"/>
                  </a:lnTo>
                  <a:lnTo>
                    <a:pt x="4076" y="33066"/>
                  </a:lnTo>
                  <a:lnTo>
                    <a:pt x="5418" y="29815"/>
                  </a:lnTo>
                  <a:lnTo>
                    <a:pt x="7068" y="26736"/>
                  </a:lnTo>
                  <a:lnTo>
                    <a:pt x="33066" y="4076"/>
                  </a:lnTo>
                  <a:lnTo>
                    <a:pt x="36317" y="2734"/>
                  </a:lnTo>
                  <a:lnTo>
                    <a:pt x="39667" y="1711"/>
                  </a:lnTo>
                  <a:lnTo>
                    <a:pt x="43115" y="1022"/>
                  </a:lnTo>
                  <a:lnTo>
                    <a:pt x="46564" y="344"/>
                  </a:lnTo>
                  <a:lnTo>
                    <a:pt x="50049" y="0"/>
                  </a:lnTo>
                  <a:lnTo>
                    <a:pt x="53571" y="0"/>
                  </a:lnTo>
                  <a:lnTo>
                    <a:pt x="2735849" y="0"/>
                  </a:lnTo>
                  <a:lnTo>
                    <a:pt x="2739372" y="0"/>
                  </a:lnTo>
                  <a:lnTo>
                    <a:pt x="2742845" y="344"/>
                  </a:lnTo>
                  <a:lnTo>
                    <a:pt x="2746293" y="1022"/>
                  </a:lnTo>
                  <a:lnTo>
                    <a:pt x="2749753" y="1711"/>
                  </a:lnTo>
                  <a:lnTo>
                    <a:pt x="2753103" y="2734"/>
                  </a:lnTo>
                  <a:lnTo>
                    <a:pt x="2756342" y="4076"/>
                  </a:lnTo>
                  <a:lnTo>
                    <a:pt x="2759606" y="5418"/>
                  </a:lnTo>
                  <a:lnTo>
                    <a:pt x="2762685" y="7068"/>
                  </a:lnTo>
                  <a:lnTo>
                    <a:pt x="2765603" y="9027"/>
                  </a:lnTo>
                  <a:lnTo>
                    <a:pt x="2768534" y="10985"/>
                  </a:lnTo>
                  <a:lnTo>
                    <a:pt x="2771244" y="13202"/>
                  </a:lnTo>
                  <a:lnTo>
                    <a:pt x="2773731" y="15689"/>
                  </a:lnTo>
                  <a:lnTo>
                    <a:pt x="2776219" y="18177"/>
                  </a:lnTo>
                  <a:lnTo>
                    <a:pt x="2788387" y="43115"/>
                  </a:lnTo>
                  <a:lnTo>
                    <a:pt x="2789076" y="46564"/>
                  </a:lnTo>
                  <a:lnTo>
                    <a:pt x="2789421" y="50049"/>
                  </a:lnTo>
                  <a:lnTo>
                    <a:pt x="2789421" y="53571"/>
                  </a:lnTo>
                  <a:lnTo>
                    <a:pt x="2789421" y="1969220"/>
                  </a:lnTo>
                  <a:lnTo>
                    <a:pt x="2789421" y="1972742"/>
                  </a:lnTo>
                  <a:lnTo>
                    <a:pt x="2789076" y="1976228"/>
                  </a:lnTo>
                  <a:lnTo>
                    <a:pt x="2788387" y="1979676"/>
                  </a:lnTo>
                  <a:lnTo>
                    <a:pt x="2787709" y="1983124"/>
                  </a:lnTo>
                  <a:lnTo>
                    <a:pt x="2773731" y="2007102"/>
                  </a:lnTo>
                  <a:lnTo>
                    <a:pt x="2771244" y="2009590"/>
                  </a:lnTo>
                  <a:lnTo>
                    <a:pt x="2768534" y="2011807"/>
                  </a:lnTo>
                  <a:lnTo>
                    <a:pt x="2765603" y="2013765"/>
                  </a:lnTo>
                  <a:lnTo>
                    <a:pt x="2762685" y="2015723"/>
                  </a:lnTo>
                  <a:lnTo>
                    <a:pt x="2759606" y="2017373"/>
                  </a:lnTo>
                  <a:lnTo>
                    <a:pt x="2756342" y="2018716"/>
                  </a:lnTo>
                  <a:lnTo>
                    <a:pt x="2753103" y="2020058"/>
                  </a:lnTo>
                  <a:lnTo>
                    <a:pt x="2749753" y="2021080"/>
                  </a:lnTo>
                  <a:lnTo>
                    <a:pt x="2746293" y="2021757"/>
                  </a:lnTo>
                  <a:lnTo>
                    <a:pt x="2742845" y="2022447"/>
                  </a:lnTo>
                  <a:lnTo>
                    <a:pt x="2739372" y="2022792"/>
                  </a:lnTo>
                  <a:lnTo>
                    <a:pt x="2735849" y="2022792"/>
                  </a:lnTo>
                  <a:lnTo>
                    <a:pt x="53571" y="2022792"/>
                  </a:lnTo>
                  <a:lnTo>
                    <a:pt x="50049" y="2022792"/>
                  </a:lnTo>
                  <a:lnTo>
                    <a:pt x="46564" y="2022447"/>
                  </a:lnTo>
                  <a:lnTo>
                    <a:pt x="43115" y="2021757"/>
                  </a:lnTo>
                  <a:lnTo>
                    <a:pt x="39667" y="2021080"/>
                  </a:lnTo>
                  <a:lnTo>
                    <a:pt x="7068" y="1996055"/>
                  </a:lnTo>
                  <a:lnTo>
                    <a:pt x="1034" y="1979676"/>
                  </a:lnTo>
                  <a:lnTo>
                    <a:pt x="344" y="1976228"/>
                  </a:lnTo>
                  <a:lnTo>
                    <a:pt x="0" y="1972742"/>
                  </a:lnTo>
                  <a:lnTo>
                    <a:pt x="0" y="1969220"/>
                  </a:lnTo>
                  <a:close/>
                </a:path>
              </a:pathLst>
            </a:custGeom>
            <a:ln w="9236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7866030" y="1903873"/>
            <a:ext cx="2112010" cy="166179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25145">
              <a:lnSpc>
                <a:spcPct val="106100"/>
              </a:lnSpc>
              <a:spcBef>
                <a:spcPts val="20"/>
              </a:spcBef>
            </a:pPr>
            <a:r>
              <a:rPr dirty="0" sz="1600" spc="170">
                <a:solidFill>
                  <a:srgbClr val="44413F"/>
                </a:solidFill>
                <a:latin typeface="Cambria"/>
                <a:cs typeface="Cambria"/>
              </a:rPr>
              <a:t>Redes</a:t>
            </a:r>
            <a:r>
              <a:rPr dirty="0" sz="1600" spc="12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00" spc="155">
                <a:solidFill>
                  <a:srgbClr val="44413F"/>
                </a:solidFill>
                <a:latin typeface="Cambria"/>
                <a:cs typeface="Cambria"/>
              </a:rPr>
              <a:t>de </a:t>
            </a:r>
            <a:r>
              <a:rPr dirty="0" sz="1600" spc="204">
                <a:solidFill>
                  <a:srgbClr val="44413F"/>
                </a:solidFill>
                <a:latin typeface="Cambria"/>
                <a:cs typeface="Cambria"/>
              </a:rPr>
              <a:t>Comunicación</a:t>
            </a:r>
            <a:endParaRPr sz="1600">
              <a:latin typeface="Cambria"/>
              <a:cs typeface="Cambria"/>
            </a:endParaRPr>
          </a:p>
          <a:p>
            <a:pPr marL="12700" marR="5080">
              <a:lnSpc>
                <a:spcPct val="133600"/>
              </a:lnSpc>
              <a:spcBef>
                <a:spcPts val="545"/>
              </a:spcBef>
            </a:pPr>
            <a:r>
              <a:rPr dirty="0" sz="1300" spc="5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300" spc="2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44413F"/>
                </a:solidFill>
                <a:latin typeface="Tahoma"/>
                <a:cs typeface="Tahoma"/>
              </a:rPr>
              <a:t>datos</a:t>
            </a:r>
            <a:r>
              <a:rPr dirty="0" sz="130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44413F"/>
                </a:solidFill>
                <a:latin typeface="Tahoma"/>
                <a:cs typeface="Tahoma"/>
              </a:rPr>
              <a:t>se</a:t>
            </a:r>
            <a:r>
              <a:rPr dirty="0" sz="130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10">
                <a:solidFill>
                  <a:srgbClr val="44413F"/>
                </a:solidFill>
                <a:latin typeface="Tahoma"/>
                <a:cs typeface="Tahoma"/>
              </a:rPr>
              <a:t>transmiten</a:t>
            </a:r>
            <a:r>
              <a:rPr dirty="0" sz="130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-50">
                <a:solidFill>
                  <a:srgbClr val="44413F"/>
                </a:solidFill>
                <a:latin typeface="Tahoma"/>
                <a:cs typeface="Tahoma"/>
              </a:rPr>
              <a:t>a </a:t>
            </a:r>
            <a:r>
              <a:rPr dirty="0" sz="1300">
                <a:solidFill>
                  <a:srgbClr val="44413F"/>
                </a:solidFill>
                <a:latin typeface="Tahoma"/>
                <a:cs typeface="Tahoma"/>
              </a:rPr>
              <a:t>través </a:t>
            </a:r>
            <a:r>
              <a:rPr dirty="0" sz="1300" spc="75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0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55">
                <a:solidFill>
                  <a:srgbClr val="44413F"/>
                </a:solidFill>
                <a:latin typeface="Tahoma"/>
                <a:cs typeface="Tahoma"/>
              </a:rPr>
              <a:t>redes</a:t>
            </a:r>
            <a:r>
              <a:rPr dirty="0" sz="130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90">
                <a:solidFill>
                  <a:srgbClr val="44413F"/>
                </a:solidFill>
                <a:latin typeface="Tahoma"/>
                <a:cs typeface="Tahoma"/>
              </a:rPr>
              <a:t>como</a:t>
            </a:r>
            <a:r>
              <a:rPr dirty="0" sz="130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44413F"/>
                </a:solidFill>
                <a:latin typeface="Tahoma"/>
                <a:cs typeface="Tahoma"/>
              </a:rPr>
              <a:t>WiFi, </a:t>
            </a:r>
            <a:r>
              <a:rPr dirty="0" sz="1300">
                <a:solidFill>
                  <a:srgbClr val="44413F"/>
                </a:solidFill>
                <a:latin typeface="Tahoma"/>
                <a:cs typeface="Tahoma"/>
              </a:rPr>
              <a:t>Bluetooth</a:t>
            </a:r>
            <a:r>
              <a:rPr dirty="0" sz="1300" spc="6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70">
                <a:solidFill>
                  <a:srgbClr val="44413F"/>
                </a:solidFill>
                <a:latin typeface="Tahoma"/>
                <a:cs typeface="Tahoma"/>
              </a:rPr>
              <a:t>o </a:t>
            </a:r>
            <a:r>
              <a:rPr dirty="0" sz="1300" spc="100">
                <a:solidFill>
                  <a:srgbClr val="44413F"/>
                </a:solidFill>
                <a:latin typeface="Tahoma"/>
                <a:cs typeface="Tahoma"/>
              </a:rPr>
              <a:t>5G</a:t>
            </a:r>
            <a:r>
              <a:rPr dirty="0" sz="1300" spc="7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44413F"/>
                </a:solidFill>
                <a:latin typeface="Tahoma"/>
                <a:cs typeface="Tahoma"/>
              </a:rPr>
              <a:t>para</a:t>
            </a:r>
            <a:r>
              <a:rPr dirty="0" sz="1300" spc="6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25">
                <a:solidFill>
                  <a:srgbClr val="44413F"/>
                </a:solidFill>
                <a:latin typeface="Tahoma"/>
                <a:cs typeface="Tahoma"/>
              </a:rPr>
              <a:t>su </a:t>
            </a:r>
            <a:r>
              <a:rPr dirty="0" sz="1300" spc="-10">
                <a:solidFill>
                  <a:srgbClr val="44413F"/>
                </a:solidFill>
                <a:latin typeface="Tahoma"/>
                <a:cs typeface="Tahoma"/>
              </a:rPr>
              <a:t>procesamiento.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738322" y="3943984"/>
            <a:ext cx="2799080" cy="2032635"/>
            <a:chOff x="4738322" y="3943984"/>
            <a:chExt cx="2799080" cy="2032635"/>
          </a:xfrm>
        </p:grpSpPr>
        <p:sp>
          <p:nvSpPr>
            <p:cNvPr id="14" name="object 14" descr=""/>
            <p:cNvSpPr/>
            <p:nvPr/>
          </p:nvSpPr>
          <p:spPr>
            <a:xfrm>
              <a:off x="4742940" y="3948602"/>
              <a:ext cx="2789555" cy="2023110"/>
            </a:xfrm>
            <a:custGeom>
              <a:avLst/>
              <a:gdLst/>
              <a:ahLst/>
              <a:cxnLst/>
              <a:rect l="l" t="t" r="r" b="b"/>
              <a:pathLst>
                <a:path w="2789554" h="2023110">
                  <a:moveTo>
                    <a:pt x="2739372" y="0"/>
                  </a:moveTo>
                  <a:lnTo>
                    <a:pt x="50049" y="0"/>
                  </a:lnTo>
                  <a:lnTo>
                    <a:pt x="46564" y="344"/>
                  </a:lnTo>
                  <a:lnTo>
                    <a:pt x="10985" y="20886"/>
                  </a:lnTo>
                  <a:lnTo>
                    <a:pt x="0" y="50049"/>
                  </a:lnTo>
                  <a:lnTo>
                    <a:pt x="0" y="1969218"/>
                  </a:lnTo>
                  <a:lnTo>
                    <a:pt x="0" y="1972740"/>
                  </a:lnTo>
                  <a:lnTo>
                    <a:pt x="18177" y="2009590"/>
                  </a:lnTo>
                  <a:lnTo>
                    <a:pt x="50049" y="2022790"/>
                  </a:lnTo>
                  <a:lnTo>
                    <a:pt x="2739372" y="2022790"/>
                  </a:lnTo>
                  <a:lnTo>
                    <a:pt x="2776219" y="2004611"/>
                  </a:lnTo>
                  <a:lnTo>
                    <a:pt x="2789421" y="1972740"/>
                  </a:lnTo>
                  <a:lnTo>
                    <a:pt x="2789421" y="50049"/>
                  </a:lnTo>
                  <a:lnTo>
                    <a:pt x="2771244" y="13202"/>
                  </a:lnTo>
                  <a:lnTo>
                    <a:pt x="2742845" y="344"/>
                  </a:lnTo>
                  <a:lnTo>
                    <a:pt x="2739372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742940" y="3948602"/>
              <a:ext cx="2789555" cy="2023110"/>
            </a:xfrm>
            <a:custGeom>
              <a:avLst/>
              <a:gdLst/>
              <a:ahLst/>
              <a:cxnLst/>
              <a:rect l="l" t="t" r="r" b="b"/>
              <a:pathLst>
                <a:path w="2789554" h="2023110">
                  <a:moveTo>
                    <a:pt x="0" y="1969218"/>
                  </a:moveTo>
                  <a:lnTo>
                    <a:pt x="0" y="53571"/>
                  </a:lnTo>
                  <a:lnTo>
                    <a:pt x="0" y="50049"/>
                  </a:lnTo>
                  <a:lnTo>
                    <a:pt x="344" y="46564"/>
                  </a:lnTo>
                  <a:lnTo>
                    <a:pt x="1034" y="43115"/>
                  </a:lnTo>
                  <a:lnTo>
                    <a:pt x="1711" y="39667"/>
                  </a:lnTo>
                  <a:lnTo>
                    <a:pt x="2734" y="36317"/>
                  </a:lnTo>
                  <a:lnTo>
                    <a:pt x="29815" y="5418"/>
                  </a:lnTo>
                  <a:lnTo>
                    <a:pt x="33066" y="4076"/>
                  </a:lnTo>
                  <a:lnTo>
                    <a:pt x="36317" y="2734"/>
                  </a:lnTo>
                  <a:lnTo>
                    <a:pt x="39667" y="1711"/>
                  </a:lnTo>
                  <a:lnTo>
                    <a:pt x="43115" y="1022"/>
                  </a:lnTo>
                  <a:lnTo>
                    <a:pt x="46564" y="344"/>
                  </a:lnTo>
                  <a:lnTo>
                    <a:pt x="50049" y="0"/>
                  </a:lnTo>
                  <a:lnTo>
                    <a:pt x="53571" y="0"/>
                  </a:lnTo>
                  <a:lnTo>
                    <a:pt x="2735849" y="0"/>
                  </a:lnTo>
                  <a:lnTo>
                    <a:pt x="2739372" y="0"/>
                  </a:lnTo>
                  <a:lnTo>
                    <a:pt x="2742845" y="344"/>
                  </a:lnTo>
                  <a:lnTo>
                    <a:pt x="2746293" y="1022"/>
                  </a:lnTo>
                  <a:lnTo>
                    <a:pt x="2749753" y="1711"/>
                  </a:lnTo>
                  <a:lnTo>
                    <a:pt x="2753103" y="2734"/>
                  </a:lnTo>
                  <a:lnTo>
                    <a:pt x="2756354" y="4076"/>
                  </a:lnTo>
                  <a:lnTo>
                    <a:pt x="2759606" y="5418"/>
                  </a:lnTo>
                  <a:lnTo>
                    <a:pt x="2786687" y="36317"/>
                  </a:lnTo>
                  <a:lnTo>
                    <a:pt x="2788387" y="43115"/>
                  </a:lnTo>
                  <a:lnTo>
                    <a:pt x="2789076" y="46564"/>
                  </a:lnTo>
                  <a:lnTo>
                    <a:pt x="2789421" y="50049"/>
                  </a:lnTo>
                  <a:lnTo>
                    <a:pt x="2789421" y="53571"/>
                  </a:lnTo>
                  <a:lnTo>
                    <a:pt x="2789421" y="1969218"/>
                  </a:lnTo>
                  <a:lnTo>
                    <a:pt x="2789421" y="1972740"/>
                  </a:lnTo>
                  <a:lnTo>
                    <a:pt x="2789076" y="1976223"/>
                  </a:lnTo>
                  <a:lnTo>
                    <a:pt x="2788387" y="1979672"/>
                  </a:lnTo>
                  <a:lnTo>
                    <a:pt x="2787709" y="1983121"/>
                  </a:lnTo>
                  <a:lnTo>
                    <a:pt x="2762685" y="2015718"/>
                  </a:lnTo>
                  <a:lnTo>
                    <a:pt x="2756342" y="2018716"/>
                  </a:lnTo>
                  <a:lnTo>
                    <a:pt x="2753103" y="2020058"/>
                  </a:lnTo>
                  <a:lnTo>
                    <a:pt x="2749753" y="2021078"/>
                  </a:lnTo>
                  <a:lnTo>
                    <a:pt x="2746293" y="2021760"/>
                  </a:lnTo>
                  <a:lnTo>
                    <a:pt x="2742845" y="2022448"/>
                  </a:lnTo>
                  <a:lnTo>
                    <a:pt x="2739372" y="2022790"/>
                  </a:lnTo>
                  <a:lnTo>
                    <a:pt x="2735849" y="2022790"/>
                  </a:lnTo>
                  <a:lnTo>
                    <a:pt x="53571" y="2022790"/>
                  </a:lnTo>
                  <a:lnTo>
                    <a:pt x="50049" y="2022790"/>
                  </a:lnTo>
                  <a:lnTo>
                    <a:pt x="46564" y="2022448"/>
                  </a:lnTo>
                  <a:lnTo>
                    <a:pt x="43115" y="2021760"/>
                  </a:lnTo>
                  <a:lnTo>
                    <a:pt x="39667" y="2021078"/>
                  </a:lnTo>
                  <a:lnTo>
                    <a:pt x="9027" y="1998982"/>
                  </a:lnTo>
                  <a:lnTo>
                    <a:pt x="7068" y="1996057"/>
                  </a:lnTo>
                  <a:lnTo>
                    <a:pt x="1034" y="1979672"/>
                  </a:lnTo>
                  <a:lnTo>
                    <a:pt x="344" y="1976223"/>
                  </a:lnTo>
                  <a:lnTo>
                    <a:pt x="0" y="1972740"/>
                  </a:lnTo>
                  <a:lnTo>
                    <a:pt x="0" y="1969218"/>
                  </a:lnTo>
                  <a:close/>
                </a:path>
              </a:pathLst>
            </a:custGeom>
            <a:ln w="9236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4901115" y="4102158"/>
            <a:ext cx="2464435" cy="167068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298450">
              <a:lnSpc>
                <a:spcPct val="106100"/>
              </a:lnSpc>
              <a:spcBef>
                <a:spcPts val="20"/>
              </a:spcBef>
            </a:pPr>
            <a:r>
              <a:rPr dirty="0" sz="1600" spc="195">
                <a:solidFill>
                  <a:srgbClr val="44413F"/>
                </a:solidFill>
                <a:latin typeface="Cambria"/>
                <a:cs typeface="Cambria"/>
              </a:rPr>
              <a:t>Almacenamiento</a:t>
            </a:r>
            <a:r>
              <a:rPr dirty="0" sz="1600" spc="155">
                <a:solidFill>
                  <a:srgbClr val="44413F"/>
                </a:solidFill>
                <a:latin typeface="Cambria"/>
                <a:cs typeface="Cambria"/>
              </a:rPr>
              <a:t> de Datos</a:t>
            </a:r>
            <a:endParaRPr sz="1600">
              <a:latin typeface="Cambria"/>
              <a:cs typeface="Cambria"/>
            </a:endParaRPr>
          </a:p>
          <a:p>
            <a:pPr marL="12700" marR="5080">
              <a:lnSpc>
                <a:spcPct val="135200"/>
              </a:lnSpc>
              <a:spcBef>
                <a:spcPts val="520"/>
              </a:spcBef>
            </a:pPr>
            <a:r>
              <a:rPr dirty="0" sz="1300" spc="5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300" spc="-4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44413F"/>
                </a:solidFill>
                <a:latin typeface="Tahoma"/>
                <a:cs typeface="Tahoma"/>
              </a:rPr>
              <a:t>datos</a:t>
            </a:r>
            <a:r>
              <a:rPr dirty="0" sz="1300" spc="-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55">
                <a:solidFill>
                  <a:srgbClr val="44413F"/>
                </a:solidFill>
                <a:latin typeface="Tahoma"/>
                <a:cs typeface="Tahoma"/>
              </a:rPr>
              <a:t>recopilados</a:t>
            </a:r>
            <a:r>
              <a:rPr dirty="0" sz="1300" spc="-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35">
                <a:solidFill>
                  <a:srgbClr val="44413F"/>
                </a:solidFill>
                <a:latin typeface="Tahoma"/>
                <a:cs typeface="Tahoma"/>
              </a:rPr>
              <a:t>se </a:t>
            </a:r>
            <a:r>
              <a:rPr dirty="0" sz="1300" spc="10">
                <a:solidFill>
                  <a:srgbClr val="44413F"/>
                </a:solidFill>
                <a:latin typeface="Tahoma"/>
                <a:cs typeface="Tahoma"/>
              </a:rPr>
              <a:t>almacenan en</a:t>
            </a:r>
            <a:r>
              <a:rPr dirty="0" sz="1300" spc="1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44413F"/>
                </a:solidFill>
                <a:latin typeface="Tahoma"/>
                <a:cs typeface="Tahoma"/>
              </a:rPr>
              <a:t>bases</a:t>
            </a:r>
            <a:r>
              <a:rPr dirty="0" sz="1300" spc="1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75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00" spc="1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44413F"/>
                </a:solidFill>
                <a:latin typeface="Tahoma"/>
                <a:cs typeface="Tahoma"/>
              </a:rPr>
              <a:t>datos</a:t>
            </a:r>
            <a:r>
              <a:rPr dirty="0" sz="1300" spc="1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-50">
                <a:solidFill>
                  <a:srgbClr val="44413F"/>
                </a:solidFill>
                <a:latin typeface="Tahoma"/>
                <a:cs typeface="Tahoma"/>
              </a:rPr>
              <a:t>o </a:t>
            </a:r>
            <a:r>
              <a:rPr dirty="0" sz="1300" spc="20">
                <a:solidFill>
                  <a:srgbClr val="44413F"/>
                </a:solidFill>
                <a:latin typeface="Tahoma"/>
                <a:cs typeface="Tahoma"/>
              </a:rPr>
              <a:t>plataformas</a:t>
            </a:r>
            <a:r>
              <a:rPr dirty="0" sz="130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44413F"/>
                </a:solidFill>
                <a:latin typeface="Tahoma"/>
                <a:cs typeface="Tahoma"/>
              </a:rPr>
              <a:t>en</a:t>
            </a:r>
            <a:r>
              <a:rPr dirty="0" sz="130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44413F"/>
                </a:solidFill>
                <a:latin typeface="Tahoma"/>
                <a:cs typeface="Tahoma"/>
              </a:rPr>
              <a:t>la</a:t>
            </a:r>
            <a:r>
              <a:rPr dirty="0" sz="130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44413F"/>
                </a:solidFill>
                <a:latin typeface="Tahoma"/>
                <a:cs typeface="Tahoma"/>
              </a:rPr>
              <a:t>nube</a:t>
            </a:r>
            <a:r>
              <a:rPr dirty="0" sz="130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20">
                <a:solidFill>
                  <a:srgbClr val="44413F"/>
                </a:solidFill>
                <a:latin typeface="Tahoma"/>
                <a:cs typeface="Tahoma"/>
              </a:rPr>
              <a:t>para</a:t>
            </a:r>
            <a:r>
              <a:rPr dirty="0" sz="130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25">
                <a:solidFill>
                  <a:srgbClr val="44413F"/>
                </a:solidFill>
                <a:latin typeface="Tahoma"/>
                <a:cs typeface="Tahoma"/>
              </a:rPr>
              <a:t>su </a:t>
            </a:r>
            <a:r>
              <a:rPr dirty="0" sz="1300">
                <a:solidFill>
                  <a:srgbClr val="44413F"/>
                </a:solidFill>
                <a:latin typeface="Tahoma"/>
                <a:cs typeface="Tahoma"/>
              </a:rPr>
              <a:t>análisis</a:t>
            </a:r>
            <a:r>
              <a:rPr dirty="0" sz="1300" spc="18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44413F"/>
                </a:solidFill>
                <a:latin typeface="Tahoma"/>
                <a:cs typeface="Tahoma"/>
              </a:rPr>
              <a:t>posterior.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7703092" y="3943839"/>
            <a:ext cx="2799080" cy="2032635"/>
            <a:chOff x="7703092" y="3943839"/>
            <a:chExt cx="2799080" cy="2032635"/>
          </a:xfrm>
        </p:grpSpPr>
        <p:sp>
          <p:nvSpPr>
            <p:cNvPr id="18" name="object 18" descr=""/>
            <p:cNvSpPr/>
            <p:nvPr/>
          </p:nvSpPr>
          <p:spPr>
            <a:xfrm>
              <a:off x="7707855" y="3948602"/>
              <a:ext cx="2789555" cy="2023110"/>
            </a:xfrm>
            <a:custGeom>
              <a:avLst/>
              <a:gdLst/>
              <a:ahLst/>
              <a:cxnLst/>
              <a:rect l="l" t="t" r="r" b="b"/>
              <a:pathLst>
                <a:path w="2789554" h="2023110">
                  <a:moveTo>
                    <a:pt x="2739372" y="0"/>
                  </a:moveTo>
                  <a:lnTo>
                    <a:pt x="50049" y="0"/>
                  </a:lnTo>
                  <a:lnTo>
                    <a:pt x="46564" y="344"/>
                  </a:lnTo>
                  <a:lnTo>
                    <a:pt x="10985" y="20886"/>
                  </a:lnTo>
                  <a:lnTo>
                    <a:pt x="0" y="50049"/>
                  </a:lnTo>
                  <a:lnTo>
                    <a:pt x="0" y="1969218"/>
                  </a:lnTo>
                  <a:lnTo>
                    <a:pt x="0" y="1972740"/>
                  </a:lnTo>
                  <a:lnTo>
                    <a:pt x="18177" y="2009590"/>
                  </a:lnTo>
                  <a:lnTo>
                    <a:pt x="50049" y="2022790"/>
                  </a:lnTo>
                  <a:lnTo>
                    <a:pt x="2739372" y="2022790"/>
                  </a:lnTo>
                  <a:lnTo>
                    <a:pt x="2776219" y="2004611"/>
                  </a:lnTo>
                  <a:lnTo>
                    <a:pt x="2789421" y="1972740"/>
                  </a:lnTo>
                  <a:lnTo>
                    <a:pt x="2789421" y="50049"/>
                  </a:lnTo>
                  <a:lnTo>
                    <a:pt x="2771244" y="13202"/>
                  </a:lnTo>
                  <a:lnTo>
                    <a:pt x="2742845" y="344"/>
                  </a:lnTo>
                  <a:lnTo>
                    <a:pt x="2739372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707855" y="3948602"/>
              <a:ext cx="2789555" cy="2023110"/>
            </a:xfrm>
            <a:custGeom>
              <a:avLst/>
              <a:gdLst/>
              <a:ahLst/>
              <a:cxnLst/>
              <a:rect l="l" t="t" r="r" b="b"/>
              <a:pathLst>
                <a:path w="2789554" h="2023110">
                  <a:moveTo>
                    <a:pt x="0" y="1969218"/>
                  </a:moveTo>
                  <a:lnTo>
                    <a:pt x="0" y="53571"/>
                  </a:lnTo>
                  <a:lnTo>
                    <a:pt x="0" y="50049"/>
                  </a:lnTo>
                  <a:lnTo>
                    <a:pt x="344" y="46564"/>
                  </a:lnTo>
                  <a:lnTo>
                    <a:pt x="1034" y="43115"/>
                  </a:lnTo>
                  <a:lnTo>
                    <a:pt x="1711" y="39667"/>
                  </a:lnTo>
                  <a:lnTo>
                    <a:pt x="2734" y="36317"/>
                  </a:lnTo>
                  <a:lnTo>
                    <a:pt x="4076" y="33066"/>
                  </a:lnTo>
                  <a:lnTo>
                    <a:pt x="5418" y="29815"/>
                  </a:lnTo>
                  <a:lnTo>
                    <a:pt x="7068" y="26736"/>
                  </a:lnTo>
                  <a:lnTo>
                    <a:pt x="33066" y="4076"/>
                  </a:lnTo>
                  <a:lnTo>
                    <a:pt x="36317" y="2734"/>
                  </a:lnTo>
                  <a:lnTo>
                    <a:pt x="39667" y="1711"/>
                  </a:lnTo>
                  <a:lnTo>
                    <a:pt x="43115" y="1022"/>
                  </a:lnTo>
                  <a:lnTo>
                    <a:pt x="46564" y="344"/>
                  </a:lnTo>
                  <a:lnTo>
                    <a:pt x="50049" y="0"/>
                  </a:lnTo>
                  <a:lnTo>
                    <a:pt x="53571" y="0"/>
                  </a:lnTo>
                  <a:lnTo>
                    <a:pt x="2735849" y="0"/>
                  </a:lnTo>
                  <a:lnTo>
                    <a:pt x="2739372" y="0"/>
                  </a:lnTo>
                  <a:lnTo>
                    <a:pt x="2742845" y="344"/>
                  </a:lnTo>
                  <a:lnTo>
                    <a:pt x="2746293" y="1022"/>
                  </a:lnTo>
                  <a:lnTo>
                    <a:pt x="2749753" y="1711"/>
                  </a:lnTo>
                  <a:lnTo>
                    <a:pt x="2753103" y="2734"/>
                  </a:lnTo>
                  <a:lnTo>
                    <a:pt x="2756342" y="4076"/>
                  </a:lnTo>
                  <a:lnTo>
                    <a:pt x="2759606" y="5418"/>
                  </a:lnTo>
                  <a:lnTo>
                    <a:pt x="2762685" y="7068"/>
                  </a:lnTo>
                  <a:lnTo>
                    <a:pt x="2765603" y="9027"/>
                  </a:lnTo>
                  <a:lnTo>
                    <a:pt x="2768534" y="10985"/>
                  </a:lnTo>
                  <a:lnTo>
                    <a:pt x="2771244" y="13202"/>
                  </a:lnTo>
                  <a:lnTo>
                    <a:pt x="2773731" y="15689"/>
                  </a:lnTo>
                  <a:lnTo>
                    <a:pt x="2776219" y="18177"/>
                  </a:lnTo>
                  <a:lnTo>
                    <a:pt x="2788387" y="43115"/>
                  </a:lnTo>
                  <a:lnTo>
                    <a:pt x="2789076" y="46564"/>
                  </a:lnTo>
                  <a:lnTo>
                    <a:pt x="2789421" y="50049"/>
                  </a:lnTo>
                  <a:lnTo>
                    <a:pt x="2789421" y="53571"/>
                  </a:lnTo>
                  <a:lnTo>
                    <a:pt x="2789421" y="1969218"/>
                  </a:lnTo>
                  <a:lnTo>
                    <a:pt x="2789421" y="1972740"/>
                  </a:lnTo>
                  <a:lnTo>
                    <a:pt x="2789076" y="1976223"/>
                  </a:lnTo>
                  <a:lnTo>
                    <a:pt x="2788387" y="1979672"/>
                  </a:lnTo>
                  <a:lnTo>
                    <a:pt x="2787709" y="1983121"/>
                  </a:lnTo>
                  <a:lnTo>
                    <a:pt x="2765603" y="2013760"/>
                  </a:lnTo>
                  <a:lnTo>
                    <a:pt x="2762685" y="2015718"/>
                  </a:lnTo>
                  <a:lnTo>
                    <a:pt x="2759606" y="2017368"/>
                  </a:lnTo>
                  <a:lnTo>
                    <a:pt x="2756342" y="2018716"/>
                  </a:lnTo>
                  <a:lnTo>
                    <a:pt x="2753103" y="2020058"/>
                  </a:lnTo>
                  <a:lnTo>
                    <a:pt x="2749753" y="2021078"/>
                  </a:lnTo>
                  <a:lnTo>
                    <a:pt x="2746293" y="2021760"/>
                  </a:lnTo>
                  <a:lnTo>
                    <a:pt x="2742845" y="2022448"/>
                  </a:lnTo>
                  <a:lnTo>
                    <a:pt x="2739372" y="2022790"/>
                  </a:lnTo>
                  <a:lnTo>
                    <a:pt x="2735849" y="2022790"/>
                  </a:lnTo>
                  <a:lnTo>
                    <a:pt x="53571" y="2022790"/>
                  </a:lnTo>
                  <a:lnTo>
                    <a:pt x="50049" y="2022790"/>
                  </a:lnTo>
                  <a:lnTo>
                    <a:pt x="46564" y="2022448"/>
                  </a:lnTo>
                  <a:lnTo>
                    <a:pt x="43115" y="2021760"/>
                  </a:lnTo>
                  <a:lnTo>
                    <a:pt x="39667" y="2021078"/>
                  </a:lnTo>
                  <a:lnTo>
                    <a:pt x="7068" y="1996057"/>
                  </a:lnTo>
                  <a:lnTo>
                    <a:pt x="1034" y="1979672"/>
                  </a:lnTo>
                  <a:lnTo>
                    <a:pt x="344" y="1976223"/>
                  </a:lnTo>
                  <a:lnTo>
                    <a:pt x="0" y="1972740"/>
                  </a:lnTo>
                  <a:lnTo>
                    <a:pt x="0" y="1969218"/>
                  </a:lnTo>
                  <a:close/>
                </a:path>
              </a:pathLst>
            </a:custGeom>
            <a:ln w="9236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7866030" y="4102158"/>
            <a:ext cx="2165350" cy="167068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828675">
              <a:lnSpc>
                <a:spcPct val="106100"/>
              </a:lnSpc>
              <a:spcBef>
                <a:spcPts val="20"/>
              </a:spcBef>
            </a:pPr>
            <a:r>
              <a:rPr dirty="0" sz="1600" spc="150">
                <a:solidFill>
                  <a:srgbClr val="44413F"/>
                </a:solidFill>
                <a:latin typeface="Cambria"/>
                <a:cs typeface="Cambria"/>
              </a:rPr>
              <a:t>Privacidad</a:t>
            </a:r>
            <a:r>
              <a:rPr dirty="0" sz="1600" spc="8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00" spc="175">
                <a:solidFill>
                  <a:srgbClr val="44413F"/>
                </a:solidFill>
                <a:latin typeface="Cambria"/>
                <a:cs typeface="Cambria"/>
              </a:rPr>
              <a:t>y </a:t>
            </a:r>
            <a:r>
              <a:rPr dirty="0" sz="1600" spc="165">
                <a:solidFill>
                  <a:srgbClr val="44413F"/>
                </a:solidFill>
                <a:latin typeface="Cambria"/>
                <a:cs typeface="Cambria"/>
              </a:rPr>
              <a:t>Seguridad</a:t>
            </a:r>
            <a:endParaRPr sz="1600">
              <a:latin typeface="Cambria"/>
              <a:cs typeface="Cambria"/>
            </a:endParaRPr>
          </a:p>
          <a:p>
            <a:pPr marL="12700" marR="5080">
              <a:lnSpc>
                <a:spcPct val="135200"/>
              </a:lnSpc>
              <a:spcBef>
                <a:spcPts val="520"/>
              </a:spcBef>
            </a:pPr>
            <a:r>
              <a:rPr dirty="0" sz="1300">
                <a:solidFill>
                  <a:srgbClr val="44413F"/>
                </a:solidFill>
                <a:latin typeface="Tahoma"/>
                <a:cs typeface="Tahoma"/>
              </a:rPr>
              <a:t>Es</a:t>
            </a:r>
            <a:r>
              <a:rPr dirty="0" sz="1300" spc="50">
                <a:solidFill>
                  <a:srgbClr val="44413F"/>
                </a:solidFill>
                <a:latin typeface="Tahoma"/>
                <a:cs typeface="Tahoma"/>
              </a:rPr>
              <a:t> crucial</a:t>
            </a:r>
            <a:r>
              <a:rPr dirty="0" sz="1300" spc="5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44413F"/>
                </a:solidFill>
                <a:latin typeface="Tahoma"/>
                <a:cs typeface="Tahoma"/>
              </a:rPr>
              <a:t>garantizar</a:t>
            </a:r>
            <a:r>
              <a:rPr dirty="0" sz="1300" spc="5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44413F"/>
                </a:solidFill>
                <a:latin typeface="Tahoma"/>
                <a:cs typeface="Tahoma"/>
              </a:rPr>
              <a:t>la </a:t>
            </a:r>
            <a:r>
              <a:rPr dirty="0" sz="1300" spc="65">
                <a:solidFill>
                  <a:srgbClr val="44413F"/>
                </a:solidFill>
                <a:latin typeface="Tahoma"/>
                <a:cs typeface="Tahoma"/>
              </a:rPr>
              <a:t>protección</a:t>
            </a:r>
            <a:r>
              <a:rPr dirty="0" sz="1300" spc="-2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75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00" spc="-2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300" spc="-2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44413F"/>
                </a:solidFill>
                <a:latin typeface="Tahoma"/>
                <a:cs typeface="Tahoma"/>
              </a:rPr>
              <a:t>datos</a:t>
            </a:r>
            <a:r>
              <a:rPr dirty="0" sz="1300" spc="-2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70">
                <a:solidFill>
                  <a:srgbClr val="44413F"/>
                </a:solidFill>
                <a:latin typeface="Tahoma"/>
                <a:cs typeface="Tahoma"/>
              </a:rPr>
              <a:t>y</a:t>
            </a:r>
            <a:r>
              <a:rPr dirty="0" sz="1300" spc="-2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44413F"/>
                </a:solidFill>
                <a:latin typeface="Tahoma"/>
                <a:cs typeface="Tahoma"/>
              </a:rPr>
              <a:t>el </a:t>
            </a:r>
            <a:r>
              <a:rPr dirty="0" sz="1300" spc="50">
                <a:solidFill>
                  <a:srgbClr val="44413F"/>
                </a:solidFill>
                <a:latin typeface="Tahoma"/>
                <a:cs typeface="Tahoma"/>
              </a:rPr>
              <a:t>cumplimiento</a:t>
            </a:r>
            <a:r>
              <a:rPr dirty="0" sz="1300" spc="-5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75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00" spc="-5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44413F"/>
                </a:solidFill>
                <a:latin typeface="Tahoma"/>
                <a:cs typeface="Tahoma"/>
              </a:rPr>
              <a:t>las </a:t>
            </a:r>
            <a:r>
              <a:rPr dirty="0" sz="1300" spc="10">
                <a:solidFill>
                  <a:srgbClr val="44413F"/>
                </a:solidFill>
                <a:latin typeface="Tahoma"/>
                <a:cs typeface="Tahoma"/>
              </a:rPr>
              <a:t>regulaciones</a:t>
            </a:r>
            <a:r>
              <a:rPr dirty="0" sz="1300" spc="1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75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00" spc="114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44413F"/>
                </a:solidFill>
                <a:latin typeface="Tahoma"/>
                <a:cs typeface="Tahoma"/>
              </a:rPr>
              <a:t>privacidad.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21" name="object 21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90067" y="5941653"/>
            <a:ext cx="1701362" cy="4064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320"/>
              <a:t>Procesamiento</a:t>
            </a:r>
            <a:r>
              <a:rPr dirty="0" spc="145"/>
              <a:t> </a:t>
            </a:r>
            <a:r>
              <a:rPr dirty="0" spc="455"/>
              <a:t>y</a:t>
            </a:r>
            <a:r>
              <a:rPr dirty="0" spc="150"/>
              <a:t> </a:t>
            </a:r>
            <a:r>
              <a:rPr dirty="0" spc="204"/>
              <a:t>análisis </a:t>
            </a:r>
            <a:r>
              <a:rPr dirty="0" spc="350"/>
              <a:t>de</a:t>
            </a:r>
            <a:r>
              <a:rPr dirty="0" spc="240"/>
              <a:t> </a:t>
            </a:r>
            <a:r>
              <a:rPr dirty="0" spc="250"/>
              <a:t>datos</a:t>
            </a:r>
            <a:r>
              <a:rPr dirty="0" spc="240"/>
              <a:t> </a:t>
            </a:r>
            <a:r>
              <a:rPr dirty="0" spc="365"/>
              <a:t>en</a:t>
            </a:r>
            <a:r>
              <a:rPr dirty="0" spc="240"/>
              <a:t> </a:t>
            </a:r>
            <a:r>
              <a:rPr dirty="0" spc="245"/>
              <a:t>sistemas</a:t>
            </a:r>
            <a:r>
              <a:rPr dirty="0" spc="240"/>
              <a:t> </a:t>
            </a:r>
            <a:r>
              <a:rPr dirty="0" spc="295"/>
              <a:t>IoT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664368" y="1819274"/>
            <a:ext cx="972185" cy="4133850"/>
            <a:chOff x="664368" y="1819274"/>
            <a:chExt cx="972185" cy="4133850"/>
          </a:xfrm>
        </p:grpSpPr>
        <p:sp>
          <p:nvSpPr>
            <p:cNvPr id="7" name="object 7" descr=""/>
            <p:cNvSpPr/>
            <p:nvPr/>
          </p:nvSpPr>
          <p:spPr>
            <a:xfrm>
              <a:off x="847725" y="1819274"/>
              <a:ext cx="788670" cy="4134485"/>
            </a:xfrm>
            <a:custGeom>
              <a:avLst/>
              <a:gdLst/>
              <a:ahLst/>
              <a:cxnLst/>
              <a:rect l="l" t="t" r="r" b="b"/>
              <a:pathLst>
                <a:path w="788669" h="4134485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4124337"/>
                  </a:lnTo>
                  <a:lnTo>
                    <a:pt x="0" y="4126966"/>
                  </a:lnTo>
                  <a:lnTo>
                    <a:pt x="927" y="4129201"/>
                  </a:lnTo>
                  <a:lnTo>
                    <a:pt x="4648" y="4132923"/>
                  </a:lnTo>
                  <a:lnTo>
                    <a:pt x="6896" y="4133862"/>
                  </a:lnTo>
                  <a:lnTo>
                    <a:pt x="12153" y="4133862"/>
                  </a:lnTo>
                  <a:lnTo>
                    <a:pt x="14401" y="4132923"/>
                  </a:lnTo>
                  <a:lnTo>
                    <a:pt x="18122" y="4129201"/>
                  </a:lnTo>
                  <a:lnTo>
                    <a:pt x="19050" y="4126966"/>
                  </a:lnTo>
                  <a:lnTo>
                    <a:pt x="19050" y="6896"/>
                  </a:lnTo>
                  <a:close/>
                </a:path>
                <a:path w="788669" h="4134485">
                  <a:moveTo>
                    <a:pt x="788200" y="378371"/>
                  </a:moveTo>
                  <a:lnTo>
                    <a:pt x="787260" y="376123"/>
                  </a:lnTo>
                  <a:lnTo>
                    <a:pt x="783539" y="372402"/>
                  </a:lnTo>
                  <a:lnTo>
                    <a:pt x="781304" y="371475"/>
                  </a:lnTo>
                  <a:lnTo>
                    <a:pt x="195008" y="371475"/>
                  </a:lnTo>
                  <a:lnTo>
                    <a:pt x="192760" y="372402"/>
                  </a:lnTo>
                  <a:lnTo>
                    <a:pt x="189039" y="376123"/>
                  </a:lnTo>
                  <a:lnTo>
                    <a:pt x="188112" y="378371"/>
                  </a:lnTo>
                  <a:lnTo>
                    <a:pt x="188112" y="381000"/>
                  </a:lnTo>
                  <a:lnTo>
                    <a:pt x="188112" y="383628"/>
                  </a:lnTo>
                  <a:lnTo>
                    <a:pt x="189039" y="385876"/>
                  </a:lnTo>
                  <a:lnTo>
                    <a:pt x="192760" y="389597"/>
                  </a:lnTo>
                  <a:lnTo>
                    <a:pt x="195008" y="390525"/>
                  </a:lnTo>
                  <a:lnTo>
                    <a:pt x="781304" y="390525"/>
                  </a:lnTo>
                  <a:lnTo>
                    <a:pt x="783539" y="389597"/>
                  </a:lnTo>
                  <a:lnTo>
                    <a:pt x="787260" y="385876"/>
                  </a:lnTo>
                  <a:lnTo>
                    <a:pt x="788200" y="383628"/>
                  </a:lnTo>
                  <a:lnTo>
                    <a:pt x="788200" y="378371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69131" y="20145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25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7" y="367385"/>
                  </a:lnTo>
                  <a:lnTo>
                    <a:pt x="51619" y="381000"/>
                  </a:lnTo>
                  <a:lnTo>
                    <a:pt x="329380" y="381000"/>
                  </a:lnTo>
                  <a:lnTo>
                    <a:pt x="367381" y="362254"/>
                  </a:lnTo>
                  <a:lnTo>
                    <a:pt x="381000" y="329387"/>
                  </a:lnTo>
                  <a:lnTo>
                    <a:pt x="381000" y="51625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69131" y="20145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25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34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25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8" y="332968"/>
                  </a:lnTo>
                  <a:lnTo>
                    <a:pt x="362252" y="367385"/>
                  </a:lnTo>
                  <a:lnTo>
                    <a:pt x="336534" y="379933"/>
                  </a:lnTo>
                  <a:lnTo>
                    <a:pt x="332973" y="380644"/>
                  </a:lnTo>
                  <a:lnTo>
                    <a:pt x="329380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9" y="381000"/>
                  </a:lnTo>
                  <a:lnTo>
                    <a:pt x="48026" y="380644"/>
                  </a:lnTo>
                  <a:lnTo>
                    <a:pt x="44465" y="379933"/>
                  </a:lnTo>
                  <a:lnTo>
                    <a:pt x="40907" y="379234"/>
                  </a:lnTo>
                  <a:lnTo>
                    <a:pt x="9311" y="356450"/>
                  </a:lnTo>
                  <a:lnTo>
                    <a:pt x="4207" y="346900"/>
                  </a:lnTo>
                  <a:lnTo>
                    <a:pt x="2818" y="343547"/>
                  </a:lnTo>
                  <a:lnTo>
                    <a:pt x="1771" y="340093"/>
                  </a:lnTo>
                  <a:lnTo>
                    <a:pt x="1061" y="336537"/>
                  </a:lnTo>
                  <a:lnTo>
                    <a:pt x="351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787102" y="2025650"/>
            <a:ext cx="14033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65">
                <a:solidFill>
                  <a:srgbClr val="44413F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87525" y="1973262"/>
            <a:ext cx="464058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75">
                <a:solidFill>
                  <a:srgbClr val="44413F"/>
                </a:solidFill>
                <a:latin typeface="Cambria"/>
                <a:cs typeface="Cambria"/>
              </a:rPr>
              <a:t>Recopilación</a:t>
            </a:r>
            <a:r>
              <a:rPr dirty="0" sz="1650" spc="13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85">
                <a:solidFill>
                  <a:srgbClr val="44413F"/>
                </a:solidFill>
                <a:latin typeface="Cambria"/>
                <a:cs typeface="Cambria"/>
              </a:rPr>
              <a:t>de</a:t>
            </a:r>
            <a:r>
              <a:rPr dirty="0" sz="1650" spc="13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50">
                <a:solidFill>
                  <a:srgbClr val="44413F"/>
                </a:solidFill>
                <a:latin typeface="Cambria"/>
                <a:cs typeface="Cambria"/>
              </a:rPr>
              <a:t>Datos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4413F"/>
                </a:solidFill>
                <a:latin typeface="Tahoma"/>
                <a:cs typeface="Tahoma"/>
              </a:rPr>
              <a:t>datos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se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recopilan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manera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continua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a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través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Tahoma"/>
                <a:cs typeface="Tahoma"/>
              </a:rPr>
              <a:t>los </a:t>
            </a:r>
            <a:r>
              <a:rPr dirty="0" sz="1350" spc="50">
                <a:solidFill>
                  <a:srgbClr val="44413F"/>
                </a:solidFill>
                <a:latin typeface="Tahoma"/>
                <a:cs typeface="Tahoma"/>
              </a:rPr>
              <a:t>dispositivos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y</a:t>
            </a:r>
            <a:r>
              <a:rPr dirty="0" sz="1350" spc="5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sensores</a:t>
            </a:r>
            <a:r>
              <a:rPr dirty="0" sz="1350" spc="5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Tahoma"/>
                <a:cs typeface="Tahoma"/>
              </a:rPr>
              <a:t>IoT.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64368" y="3448050"/>
            <a:ext cx="972185" cy="381000"/>
            <a:chOff x="664368" y="3448050"/>
            <a:chExt cx="972185" cy="381000"/>
          </a:xfrm>
        </p:grpSpPr>
        <p:sp>
          <p:nvSpPr>
            <p:cNvPr id="13" name="object 13" descr=""/>
            <p:cNvSpPr/>
            <p:nvPr/>
          </p:nvSpPr>
          <p:spPr>
            <a:xfrm>
              <a:off x="1035843" y="3629025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22"/>
                  </a:lnTo>
                  <a:lnTo>
                    <a:pt x="599141" y="14401"/>
                  </a:lnTo>
                  <a:lnTo>
                    <a:pt x="600081" y="12153"/>
                  </a:lnTo>
                  <a:lnTo>
                    <a:pt x="600081" y="6896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69131" y="34528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7" y="357860"/>
                  </a:lnTo>
                  <a:lnTo>
                    <a:pt x="51619" y="371475"/>
                  </a:lnTo>
                  <a:lnTo>
                    <a:pt x="329380" y="371475"/>
                  </a:lnTo>
                  <a:lnTo>
                    <a:pt x="367381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69131" y="34528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7297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34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8" y="323443"/>
                  </a:lnTo>
                  <a:lnTo>
                    <a:pt x="371688" y="346913"/>
                  </a:lnTo>
                  <a:lnTo>
                    <a:pt x="369674" y="349935"/>
                  </a:lnTo>
                  <a:lnTo>
                    <a:pt x="336534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44465" y="370408"/>
                  </a:lnTo>
                  <a:lnTo>
                    <a:pt x="40907" y="369709"/>
                  </a:lnTo>
                  <a:lnTo>
                    <a:pt x="9311" y="346913"/>
                  </a:lnTo>
                  <a:lnTo>
                    <a:pt x="7297" y="343903"/>
                  </a:lnTo>
                  <a:lnTo>
                    <a:pt x="5590" y="340728"/>
                  </a:lnTo>
                  <a:lnTo>
                    <a:pt x="4207" y="337375"/>
                  </a:lnTo>
                  <a:lnTo>
                    <a:pt x="2818" y="334022"/>
                  </a:lnTo>
                  <a:lnTo>
                    <a:pt x="1771" y="330568"/>
                  </a:lnTo>
                  <a:lnTo>
                    <a:pt x="1061" y="327012"/>
                  </a:lnTo>
                  <a:lnTo>
                    <a:pt x="351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765224" y="3454400"/>
            <a:ext cx="1841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80">
                <a:solidFill>
                  <a:srgbClr val="44413F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787525" y="3402012"/>
            <a:ext cx="466598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5">
                <a:solidFill>
                  <a:srgbClr val="44413F"/>
                </a:solidFill>
                <a:latin typeface="Cambria"/>
                <a:cs typeface="Cambria"/>
              </a:rPr>
              <a:t>Preparación</a:t>
            </a:r>
            <a:r>
              <a:rPr dirty="0" sz="1650" spc="13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85">
                <a:solidFill>
                  <a:srgbClr val="44413F"/>
                </a:solidFill>
                <a:latin typeface="Cambria"/>
                <a:cs typeface="Cambria"/>
              </a:rPr>
              <a:t>de</a:t>
            </a:r>
            <a:r>
              <a:rPr dirty="0" sz="1650" spc="13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50">
                <a:solidFill>
                  <a:srgbClr val="44413F"/>
                </a:solidFill>
                <a:latin typeface="Cambria"/>
                <a:cs typeface="Cambria"/>
              </a:rPr>
              <a:t>Datos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350" spc="-1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4413F"/>
                </a:solidFill>
                <a:latin typeface="Tahoma"/>
                <a:cs typeface="Tahoma"/>
              </a:rPr>
              <a:t>datos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se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limpian,</a:t>
            </a:r>
            <a:r>
              <a:rPr dirty="0" sz="1350" spc="-1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se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estructuran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y</a:t>
            </a:r>
            <a:r>
              <a:rPr dirty="0" sz="1350" spc="-1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se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transforman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Tahoma"/>
                <a:cs typeface="Tahoma"/>
              </a:rPr>
              <a:t>para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facilitar</a:t>
            </a:r>
            <a:r>
              <a:rPr dirty="0" sz="1350" spc="12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su</a:t>
            </a:r>
            <a:r>
              <a:rPr dirty="0" sz="1350" spc="12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análisis.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64368" y="4876800"/>
            <a:ext cx="972185" cy="390525"/>
            <a:chOff x="664368" y="4876800"/>
            <a:chExt cx="972185" cy="390525"/>
          </a:xfrm>
        </p:grpSpPr>
        <p:sp>
          <p:nvSpPr>
            <p:cNvPr id="19" name="object 19" descr=""/>
            <p:cNvSpPr/>
            <p:nvPr/>
          </p:nvSpPr>
          <p:spPr>
            <a:xfrm>
              <a:off x="1035843" y="5067300"/>
              <a:ext cx="600710" cy="19050"/>
            </a:xfrm>
            <a:custGeom>
              <a:avLst/>
              <a:gdLst/>
              <a:ahLst/>
              <a:cxnLst/>
              <a:rect l="l" t="t" r="r" b="b"/>
              <a:pathLst>
                <a:path w="600710" h="19050">
                  <a:moveTo>
                    <a:pt x="593185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3185" y="19050"/>
                  </a:lnTo>
                  <a:lnTo>
                    <a:pt x="595420" y="18122"/>
                  </a:lnTo>
                  <a:lnTo>
                    <a:pt x="599141" y="14401"/>
                  </a:lnTo>
                  <a:lnTo>
                    <a:pt x="600081" y="12153"/>
                  </a:lnTo>
                  <a:lnTo>
                    <a:pt x="600081" y="6896"/>
                  </a:lnTo>
                  <a:lnTo>
                    <a:pt x="599141" y="4648"/>
                  </a:lnTo>
                  <a:lnTo>
                    <a:pt x="595420" y="927"/>
                  </a:lnTo>
                  <a:lnTo>
                    <a:pt x="593185" y="0"/>
                  </a:lnTo>
                  <a:close/>
                </a:path>
              </a:pathLst>
            </a:custGeom>
            <a:solidFill>
              <a:srgbClr val="DDD3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69131" y="488156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25756"/>
                  </a:lnTo>
                  <a:lnTo>
                    <a:pt x="0" y="329382"/>
                  </a:lnTo>
                  <a:lnTo>
                    <a:pt x="18747" y="367383"/>
                  </a:lnTo>
                  <a:lnTo>
                    <a:pt x="51619" y="381001"/>
                  </a:lnTo>
                  <a:lnTo>
                    <a:pt x="329380" y="381001"/>
                  </a:lnTo>
                  <a:lnTo>
                    <a:pt x="367381" y="362253"/>
                  </a:lnTo>
                  <a:lnTo>
                    <a:pt x="381000" y="329382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69131" y="488156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6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7297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34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6"/>
                  </a:lnTo>
                  <a:lnTo>
                    <a:pt x="381000" y="329382"/>
                  </a:lnTo>
                  <a:lnTo>
                    <a:pt x="380648" y="332973"/>
                  </a:lnTo>
                  <a:lnTo>
                    <a:pt x="379938" y="336530"/>
                  </a:lnTo>
                  <a:lnTo>
                    <a:pt x="379228" y="340088"/>
                  </a:lnTo>
                  <a:lnTo>
                    <a:pt x="378181" y="343546"/>
                  </a:lnTo>
                  <a:lnTo>
                    <a:pt x="376793" y="346894"/>
                  </a:lnTo>
                  <a:lnTo>
                    <a:pt x="375404" y="350248"/>
                  </a:lnTo>
                  <a:lnTo>
                    <a:pt x="373702" y="353433"/>
                  </a:lnTo>
                  <a:lnTo>
                    <a:pt x="371688" y="356444"/>
                  </a:lnTo>
                  <a:lnTo>
                    <a:pt x="369674" y="359460"/>
                  </a:lnTo>
                  <a:lnTo>
                    <a:pt x="336534" y="379939"/>
                  </a:lnTo>
                  <a:lnTo>
                    <a:pt x="329380" y="381001"/>
                  </a:lnTo>
                  <a:lnTo>
                    <a:pt x="325755" y="381001"/>
                  </a:lnTo>
                  <a:lnTo>
                    <a:pt x="55245" y="381001"/>
                  </a:lnTo>
                  <a:lnTo>
                    <a:pt x="51619" y="381001"/>
                  </a:lnTo>
                  <a:lnTo>
                    <a:pt x="48026" y="380644"/>
                  </a:lnTo>
                  <a:lnTo>
                    <a:pt x="13618" y="362253"/>
                  </a:lnTo>
                  <a:lnTo>
                    <a:pt x="9311" y="356444"/>
                  </a:lnTo>
                  <a:lnTo>
                    <a:pt x="7297" y="353433"/>
                  </a:lnTo>
                  <a:lnTo>
                    <a:pt x="5590" y="350248"/>
                  </a:lnTo>
                  <a:lnTo>
                    <a:pt x="4207" y="346894"/>
                  </a:lnTo>
                  <a:lnTo>
                    <a:pt x="2818" y="343546"/>
                  </a:lnTo>
                  <a:lnTo>
                    <a:pt x="1771" y="340088"/>
                  </a:lnTo>
                  <a:lnTo>
                    <a:pt x="1061" y="336530"/>
                  </a:lnTo>
                  <a:lnTo>
                    <a:pt x="351" y="332973"/>
                  </a:lnTo>
                  <a:lnTo>
                    <a:pt x="0" y="329382"/>
                  </a:lnTo>
                  <a:lnTo>
                    <a:pt x="0" y="325756"/>
                  </a:lnTo>
                  <a:close/>
                </a:path>
              </a:pathLst>
            </a:custGeom>
            <a:ln w="9525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765224" y="4892675"/>
            <a:ext cx="1841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80">
                <a:solidFill>
                  <a:srgbClr val="44413F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787525" y="4840287"/>
            <a:ext cx="457644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30">
                <a:solidFill>
                  <a:srgbClr val="44413F"/>
                </a:solidFill>
                <a:latin typeface="Cambria"/>
                <a:cs typeface="Cambria"/>
              </a:rPr>
              <a:t>Análisis</a:t>
            </a:r>
            <a:r>
              <a:rPr dirty="0" sz="1650" spc="6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70">
                <a:solidFill>
                  <a:srgbClr val="44413F"/>
                </a:solidFill>
                <a:latin typeface="Cambria"/>
                <a:cs typeface="Cambria"/>
              </a:rPr>
              <a:t>Avanzado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Se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aplican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técnicas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aprendizaje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4413F"/>
                </a:solidFill>
                <a:latin typeface="Tahoma"/>
                <a:cs typeface="Tahoma"/>
              </a:rPr>
              <a:t>automático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y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analítica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avanzada</a:t>
            </a:r>
            <a:r>
              <a:rPr dirty="0" sz="1350" spc="7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para</a:t>
            </a:r>
            <a:r>
              <a:rPr dirty="0" sz="1350" spc="8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extraer</a:t>
            </a:r>
            <a:r>
              <a:rPr dirty="0" sz="1350" spc="8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información</a:t>
            </a:r>
            <a:r>
              <a:rPr dirty="0" sz="1350" spc="8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y</a:t>
            </a:r>
            <a:r>
              <a:rPr dirty="0" sz="1350" spc="8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patrones</a:t>
            </a:r>
            <a:r>
              <a:rPr dirty="0" sz="1350" spc="8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valiosos.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787400"/>
            <a:ext cx="846772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300"/>
              <a:t>Visualización</a:t>
            </a:r>
            <a:r>
              <a:rPr dirty="0" spc="250"/>
              <a:t> </a:t>
            </a:r>
            <a:r>
              <a:rPr dirty="0" spc="350"/>
              <a:t>de</a:t>
            </a:r>
            <a:r>
              <a:rPr dirty="0" spc="250"/>
              <a:t> datos</a:t>
            </a:r>
            <a:r>
              <a:rPr dirty="0" spc="140"/>
              <a:t> </a:t>
            </a:r>
            <a:r>
              <a:rPr dirty="0" spc="455"/>
              <a:t>y</a:t>
            </a:r>
            <a:r>
              <a:rPr dirty="0" spc="145"/>
              <a:t> </a:t>
            </a:r>
            <a:r>
              <a:rPr dirty="0" spc="315"/>
              <a:t>generación</a:t>
            </a:r>
            <a:r>
              <a:rPr dirty="0" spc="250"/>
              <a:t> </a:t>
            </a:r>
            <a:r>
              <a:rPr dirty="0" spc="325"/>
              <a:t>de </a:t>
            </a:r>
            <a:r>
              <a:rPr dirty="0" spc="240"/>
              <a:t>reportes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2219324"/>
            <a:ext cx="3238499" cy="200025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87375" y="4421187"/>
            <a:ext cx="307276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80">
                <a:solidFill>
                  <a:srgbClr val="44413F"/>
                </a:solidFill>
                <a:latin typeface="Cambria"/>
                <a:cs typeface="Cambria"/>
              </a:rPr>
              <a:t>Gráficos</a:t>
            </a:r>
            <a:r>
              <a:rPr dirty="0" sz="1650" spc="14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85">
                <a:solidFill>
                  <a:srgbClr val="44413F"/>
                </a:solidFill>
                <a:latin typeface="Cambria"/>
                <a:cs typeface="Cambria"/>
              </a:rPr>
              <a:t>de</a:t>
            </a:r>
            <a:r>
              <a:rPr dirty="0" sz="1650" spc="8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55">
                <a:solidFill>
                  <a:srgbClr val="44413F"/>
                </a:solidFill>
                <a:latin typeface="Cambria"/>
                <a:cs typeface="Cambria"/>
              </a:rPr>
              <a:t>Tendencias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350" spc="5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gráficos</a:t>
            </a:r>
            <a:r>
              <a:rPr dirty="0" sz="1350" spc="6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50" spc="6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4413F"/>
                </a:solidFill>
                <a:latin typeface="Tahoma"/>
                <a:cs typeface="Tahoma"/>
              </a:rPr>
              <a:t>tendencias</a:t>
            </a:r>
            <a:r>
              <a:rPr dirty="0" sz="1350" spc="6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permiten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visualizar</a:t>
            </a:r>
            <a:r>
              <a:rPr dirty="0" sz="13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la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evolución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4413F"/>
                </a:solidFill>
                <a:latin typeface="Tahoma"/>
                <a:cs typeface="Tahoma"/>
              </a:rPr>
              <a:t>datos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a</a:t>
            </a:r>
            <a:r>
              <a:rPr dirty="0" sz="1350" spc="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Tahoma"/>
                <a:cs typeface="Tahoma"/>
              </a:rPr>
              <a:t>lo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largo</a:t>
            </a:r>
            <a:r>
              <a:rPr dirty="0" sz="1350" spc="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del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tiempo.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5750" y="2219324"/>
            <a:ext cx="3238499" cy="200025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083050" y="4421187"/>
            <a:ext cx="299529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80">
                <a:solidFill>
                  <a:srgbClr val="44413F"/>
                </a:solidFill>
                <a:latin typeface="Cambria"/>
                <a:cs typeface="Cambria"/>
              </a:rPr>
              <a:t>Gráficos</a:t>
            </a:r>
            <a:r>
              <a:rPr dirty="0" sz="1650" spc="14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85">
                <a:solidFill>
                  <a:srgbClr val="44413F"/>
                </a:solidFill>
                <a:latin typeface="Cambria"/>
                <a:cs typeface="Cambria"/>
              </a:rPr>
              <a:t>de</a:t>
            </a:r>
            <a:r>
              <a:rPr dirty="0" sz="1650" spc="14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55">
                <a:solidFill>
                  <a:srgbClr val="44413F"/>
                </a:solidFill>
                <a:latin typeface="Cambria"/>
                <a:cs typeface="Cambria"/>
              </a:rPr>
              <a:t>Distribución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350" spc="7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gráficos</a:t>
            </a:r>
            <a:r>
              <a:rPr dirty="0" sz="1350" spc="7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50" spc="7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0">
                <a:solidFill>
                  <a:srgbClr val="44413F"/>
                </a:solidFill>
                <a:latin typeface="Tahoma"/>
                <a:cs typeface="Tahoma"/>
              </a:rPr>
              <a:t>distribución</a:t>
            </a:r>
            <a:r>
              <a:rPr dirty="0" sz="1350" spc="7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ayudan</a:t>
            </a:r>
            <a:r>
              <a:rPr dirty="0" sz="1350" spc="7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44413F"/>
                </a:solidFill>
                <a:latin typeface="Tahoma"/>
                <a:cs typeface="Tahoma"/>
              </a:rPr>
              <a:t>a </a:t>
            </a:r>
            <a:r>
              <a:rPr dirty="0" sz="1350" spc="55">
                <a:solidFill>
                  <a:srgbClr val="44413F"/>
                </a:solidFill>
                <a:latin typeface="Tahoma"/>
                <a:cs typeface="Tahoma"/>
              </a:rPr>
              <a:t>comprender</a:t>
            </a:r>
            <a:r>
              <a:rPr dirty="0" sz="1350" spc="-5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la</a:t>
            </a:r>
            <a:r>
              <a:rPr dirty="0" sz="1350" spc="-5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composición</a:t>
            </a:r>
            <a:r>
              <a:rPr dirty="0" sz="1350" spc="-5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y</a:t>
            </a:r>
            <a:r>
              <a:rPr dirty="0" sz="1350" spc="-5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4413F"/>
                </a:solidFill>
                <a:latin typeface="Tahoma"/>
                <a:cs typeface="Tahoma"/>
              </a:rPr>
              <a:t>el </a:t>
            </a:r>
            <a:r>
              <a:rPr dirty="0" sz="1350" spc="50">
                <a:solidFill>
                  <a:srgbClr val="44413F"/>
                </a:solidFill>
                <a:latin typeface="Tahoma"/>
                <a:cs typeface="Tahoma"/>
              </a:rPr>
              <a:t>desglose</a:t>
            </a:r>
            <a:r>
              <a:rPr dirty="0" sz="1350" spc="-2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50" spc="-2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350" spc="-2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datos.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91425" y="2219324"/>
            <a:ext cx="3238499" cy="200025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578725" y="4421187"/>
            <a:ext cx="305689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40">
                <a:solidFill>
                  <a:srgbClr val="44413F"/>
                </a:solidFill>
                <a:latin typeface="Cambria"/>
                <a:cs typeface="Cambria"/>
              </a:rPr>
              <a:t>Tableros</a:t>
            </a:r>
            <a:r>
              <a:rPr dirty="0" sz="1650" spc="13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85">
                <a:solidFill>
                  <a:srgbClr val="44413F"/>
                </a:solidFill>
                <a:latin typeface="Cambria"/>
                <a:cs typeface="Cambria"/>
              </a:rPr>
              <a:t>de</a:t>
            </a:r>
            <a:r>
              <a:rPr dirty="0" sz="1650" spc="13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85">
                <a:solidFill>
                  <a:srgbClr val="44413F"/>
                </a:solidFill>
                <a:latin typeface="Cambria"/>
                <a:cs typeface="Cambria"/>
              </a:rPr>
              <a:t>Control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350" spc="1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tableros</a:t>
            </a:r>
            <a:r>
              <a:rPr dirty="0" sz="1350" spc="1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50" spc="1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control</a:t>
            </a:r>
            <a:r>
              <a:rPr dirty="0" sz="1350" spc="13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integran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múltiples</a:t>
            </a:r>
            <a:r>
              <a:rPr dirty="0" sz="1350" spc="9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visualizaciones</a:t>
            </a:r>
            <a:r>
              <a:rPr dirty="0" sz="1350" spc="9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para</a:t>
            </a:r>
            <a:r>
              <a:rPr dirty="0" sz="1350" spc="9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obtener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una imagen </a:t>
            </a:r>
            <a:r>
              <a:rPr dirty="0" sz="1350" spc="55">
                <a:solidFill>
                  <a:srgbClr val="44413F"/>
                </a:solidFill>
                <a:latin typeface="Tahoma"/>
                <a:cs typeface="Tahoma"/>
              </a:rPr>
              <a:t>completa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50" spc="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los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datos.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9" name="object 9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D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5" name="object 5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335"/>
              <a:t>Soluciones</a:t>
            </a:r>
            <a:r>
              <a:rPr dirty="0" spc="250"/>
              <a:t> </a:t>
            </a:r>
            <a:r>
              <a:rPr dirty="0" spc="270"/>
              <a:t>tecnológicas </a:t>
            </a:r>
            <a:r>
              <a:rPr dirty="0" spc="275"/>
              <a:t>para</a:t>
            </a:r>
            <a:r>
              <a:rPr dirty="0" spc="200"/>
              <a:t> la</a:t>
            </a:r>
            <a:r>
              <a:rPr dirty="0" spc="204"/>
              <a:t> </a:t>
            </a:r>
            <a:r>
              <a:rPr dirty="0" spc="240"/>
              <a:t>analítica</a:t>
            </a:r>
            <a:r>
              <a:rPr dirty="0" spc="204"/>
              <a:t> </a:t>
            </a:r>
            <a:r>
              <a:rPr dirty="0" spc="365"/>
              <a:t>en</a:t>
            </a:r>
            <a:r>
              <a:rPr dirty="0" spc="240"/>
              <a:t> </a:t>
            </a:r>
            <a:r>
              <a:rPr dirty="0" spc="295"/>
              <a:t>IoT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600075" y="1893099"/>
            <a:ext cx="428625" cy="300355"/>
          </a:xfrm>
          <a:custGeom>
            <a:avLst/>
            <a:gdLst/>
            <a:ahLst/>
            <a:cxnLst/>
            <a:rect l="l" t="t" r="r" b="b"/>
            <a:pathLst>
              <a:path w="428625" h="300355">
                <a:moveTo>
                  <a:pt x="182166" y="0"/>
                </a:moveTo>
                <a:lnTo>
                  <a:pt x="137426" y="8784"/>
                </a:lnTo>
                <a:lnTo>
                  <a:pt x="100567" y="32807"/>
                </a:lnTo>
                <a:lnTo>
                  <a:pt x="75072" y="68569"/>
                </a:lnTo>
                <a:lnTo>
                  <a:pt x="64427" y="112572"/>
                </a:lnTo>
                <a:lnTo>
                  <a:pt x="38538" y="126473"/>
                </a:lnTo>
                <a:lnTo>
                  <a:pt x="18149" y="147281"/>
                </a:lnTo>
                <a:lnTo>
                  <a:pt x="4792" y="173491"/>
                </a:lnTo>
                <a:lnTo>
                  <a:pt x="0" y="203593"/>
                </a:lnTo>
                <a:lnTo>
                  <a:pt x="7581" y="241123"/>
                </a:lnTo>
                <a:lnTo>
                  <a:pt x="28253" y="271780"/>
                </a:lnTo>
                <a:lnTo>
                  <a:pt x="58909" y="292454"/>
                </a:lnTo>
                <a:lnTo>
                  <a:pt x="96441" y="300037"/>
                </a:lnTo>
                <a:lnTo>
                  <a:pt x="342900" y="300037"/>
                </a:lnTo>
                <a:lnTo>
                  <a:pt x="376269" y="293300"/>
                </a:lnTo>
                <a:lnTo>
                  <a:pt x="398073" y="278599"/>
                </a:lnTo>
                <a:lnTo>
                  <a:pt x="96441" y="278599"/>
                </a:lnTo>
                <a:lnTo>
                  <a:pt x="67230" y="272709"/>
                </a:lnTo>
                <a:lnTo>
                  <a:pt x="43389" y="256641"/>
                </a:lnTo>
                <a:lnTo>
                  <a:pt x="27321" y="232801"/>
                </a:lnTo>
                <a:lnTo>
                  <a:pt x="21431" y="203593"/>
                </a:lnTo>
                <a:lnTo>
                  <a:pt x="25075" y="180676"/>
                </a:lnTo>
                <a:lnTo>
                  <a:pt x="25152" y="180191"/>
                </a:lnTo>
                <a:lnTo>
                  <a:pt x="35528" y="159807"/>
                </a:lnTo>
                <a:lnTo>
                  <a:pt x="51380" y="143618"/>
                </a:lnTo>
                <a:lnTo>
                  <a:pt x="71526" y="132803"/>
                </a:lnTo>
                <a:lnTo>
                  <a:pt x="79762" y="129921"/>
                </a:lnTo>
                <a:lnTo>
                  <a:pt x="85457" y="122288"/>
                </a:lnTo>
                <a:lnTo>
                  <a:pt x="94519" y="77510"/>
                </a:lnTo>
                <a:lnTo>
                  <a:pt x="145558" y="28609"/>
                </a:lnTo>
                <a:lnTo>
                  <a:pt x="182166" y="21424"/>
                </a:lnTo>
                <a:lnTo>
                  <a:pt x="248519" y="21424"/>
                </a:lnTo>
                <a:lnTo>
                  <a:pt x="237316" y="13666"/>
                </a:lnTo>
                <a:lnTo>
                  <a:pt x="211040" y="3559"/>
                </a:lnTo>
                <a:lnTo>
                  <a:pt x="182166" y="0"/>
                </a:lnTo>
                <a:close/>
              </a:path>
              <a:path w="428625" h="300355">
                <a:moveTo>
                  <a:pt x="363018" y="64287"/>
                </a:moveTo>
                <a:lnTo>
                  <a:pt x="310753" y="64287"/>
                </a:lnTo>
                <a:lnTo>
                  <a:pt x="331974" y="68569"/>
                </a:lnTo>
                <a:lnTo>
                  <a:pt x="331721" y="68569"/>
                </a:lnTo>
                <a:lnTo>
                  <a:pt x="348642" y="79976"/>
                </a:lnTo>
                <a:lnTo>
                  <a:pt x="360122" y="97007"/>
                </a:lnTo>
                <a:lnTo>
                  <a:pt x="364331" y="117868"/>
                </a:lnTo>
                <a:lnTo>
                  <a:pt x="364331" y="123024"/>
                </a:lnTo>
                <a:lnTo>
                  <a:pt x="363592" y="127914"/>
                </a:lnTo>
                <a:lnTo>
                  <a:pt x="362322" y="132600"/>
                </a:lnTo>
                <a:lnTo>
                  <a:pt x="361563" y="139907"/>
                </a:lnTo>
                <a:lnTo>
                  <a:pt x="363240" y="146878"/>
                </a:lnTo>
                <a:lnTo>
                  <a:pt x="367104" y="152921"/>
                </a:lnTo>
                <a:lnTo>
                  <a:pt x="372903" y="157441"/>
                </a:lnTo>
                <a:lnTo>
                  <a:pt x="386878" y="167410"/>
                </a:lnTo>
                <a:lnTo>
                  <a:pt x="397707" y="180676"/>
                </a:lnTo>
                <a:lnTo>
                  <a:pt x="404708" y="196543"/>
                </a:lnTo>
                <a:lnTo>
                  <a:pt x="407193" y="214312"/>
                </a:lnTo>
                <a:lnTo>
                  <a:pt x="402139" y="239327"/>
                </a:lnTo>
                <a:lnTo>
                  <a:pt x="388357" y="259762"/>
                </a:lnTo>
                <a:lnTo>
                  <a:pt x="367920" y="273544"/>
                </a:lnTo>
                <a:lnTo>
                  <a:pt x="342900" y="278599"/>
                </a:lnTo>
                <a:lnTo>
                  <a:pt x="398073" y="278599"/>
                </a:lnTo>
                <a:lnTo>
                  <a:pt x="403517" y="274929"/>
                </a:lnTo>
                <a:lnTo>
                  <a:pt x="421888" y="247680"/>
                </a:lnTo>
                <a:lnTo>
                  <a:pt x="428625" y="214312"/>
                </a:lnTo>
                <a:lnTo>
                  <a:pt x="425301" y="190605"/>
                </a:lnTo>
                <a:lnTo>
                  <a:pt x="415949" y="169444"/>
                </a:lnTo>
                <a:lnTo>
                  <a:pt x="401498" y="151763"/>
                </a:lnTo>
                <a:lnTo>
                  <a:pt x="382879" y="138493"/>
                </a:lnTo>
                <a:lnTo>
                  <a:pt x="384755" y="131927"/>
                </a:lnTo>
                <a:lnTo>
                  <a:pt x="385762" y="125031"/>
                </a:lnTo>
                <a:lnTo>
                  <a:pt x="385762" y="117868"/>
                </a:lnTo>
                <a:lnTo>
                  <a:pt x="379871" y="88655"/>
                </a:lnTo>
                <a:lnTo>
                  <a:pt x="363802" y="64816"/>
                </a:lnTo>
                <a:lnTo>
                  <a:pt x="363018" y="64287"/>
                </a:lnTo>
                <a:close/>
              </a:path>
              <a:path w="428625" h="300355">
                <a:moveTo>
                  <a:pt x="248519" y="21424"/>
                </a:moveTo>
                <a:lnTo>
                  <a:pt x="182166" y="21424"/>
                </a:lnTo>
                <a:lnTo>
                  <a:pt x="205793" y="24335"/>
                </a:lnTo>
                <a:lnTo>
                  <a:pt x="227286" y="32600"/>
                </a:lnTo>
                <a:lnTo>
                  <a:pt x="245943" y="45524"/>
                </a:lnTo>
                <a:lnTo>
                  <a:pt x="261059" y="62407"/>
                </a:lnTo>
                <a:lnTo>
                  <a:pt x="266450" y="67727"/>
                </a:lnTo>
                <a:lnTo>
                  <a:pt x="273139" y="70797"/>
                </a:lnTo>
                <a:lnTo>
                  <a:pt x="280469" y="71432"/>
                </a:lnTo>
                <a:lnTo>
                  <a:pt x="287779" y="69443"/>
                </a:lnTo>
                <a:lnTo>
                  <a:pt x="294679" y="66167"/>
                </a:lnTo>
                <a:lnTo>
                  <a:pt x="302447" y="64287"/>
                </a:lnTo>
                <a:lnTo>
                  <a:pt x="363018" y="64287"/>
                </a:lnTo>
                <a:lnTo>
                  <a:pt x="341946" y="50088"/>
                </a:lnTo>
                <a:lnTo>
                  <a:pt x="278606" y="50088"/>
                </a:lnTo>
                <a:lnTo>
                  <a:pt x="260126" y="29462"/>
                </a:lnTo>
                <a:lnTo>
                  <a:pt x="248519" y="21424"/>
                </a:lnTo>
                <a:close/>
              </a:path>
              <a:path w="428625" h="300355">
                <a:moveTo>
                  <a:pt x="310753" y="42862"/>
                </a:moveTo>
                <a:lnTo>
                  <a:pt x="302235" y="43341"/>
                </a:lnTo>
                <a:lnTo>
                  <a:pt x="294000" y="44742"/>
                </a:lnTo>
                <a:lnTo>
                  <a:pt x="286105" y="47009"/>
                </a:lnTo>
                <a:lnTo>
                  <a:pt x="278606" y="50088"/>
                </a:lnTo>
                <a:lnTo>
                  <a:pt x="341946" y="50088"/>
                </a:lnTo>
                <a:lnTo>
                  <a:pt x="339961" y="48751"/>
                </a:lnTo>
                <a:lnTo>
                  <a:pt x="310753" y="42862"/>
                </a:lnTo>
                <a:close/>
              </a:path>
            </a:pathLst>
          </a:custGeom>
          <a:solidFill>
            <a:srgbClr val="AA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87375" y="2411412"/>
            <a:ext cx="2420620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60">
                <a:solidFill>
                  <a:srgbClr val="44413F"/>
                </a:solidFill>
                <a:latin typeface="Cambria"/>
                <a:cs typeface="Cambria"/>
              </a:rPr>
              <a:t>Plataformas</a:t>
            </a:r>
            <a:r>
              <a:rPr dirty="0" sz="1650" spc="12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45">
                <a:solidFill>
                  <a:srgbClr val="44413F"/>
                </a:solidFill>
                <a:latin typeface="Cambria"/>
                <a:cs typeface="Cambria"/>
              </a:rPr>
              <a:t>IoT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50">
                <a:solidFill>
                  <a:srgbClr val="44413F"/>
                </a:solidFill>
                <a:latin typeface="Tahoma"/>
                <a:cs typeface="Tahoma"/>
              </a:rPr>
              <a:t>Ofrecen</a:t>
            </a:r>
            <a:r>
              <a:rPr dirty="0" sz="1350" spc="-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capacidades</a:t>
            </a:r>
            <a:r>
              <a:rPr dirty="0" sz="1350" spc="-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de 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recopilación,</a:t>
            </a:r>
            <a:r>
              <a:rPr dirty="0" sz="1350" spc="10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procesamiento</a:t>
            </a:r>
            <a:r>
              <a:rPr dirty="0" sz="1350" spc="10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y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análisis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50" spc="1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4413F"/>
                </a:solidFill>
                <a:latin typeface="Tahoma"/>
                <a:cs typeface="Tahoma"/>
              </a:rPr>
              <a:t>datos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4413F"/>
                </a:solidFill>
                <a:latin typeface="Tahoma"/>
                <a:cs typeface="Tahoma"/>
              </a:rPr>
              <a:t>IoT.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732009" y="1828799"/>
            <a:ext cx="375285" cy="428625"/>
          </a:xfrm>
          <a:custGeom>
            <a:avLst/>
            <a:gdLst/>
            <a:ahLst/>
            <a:cxnLst/>
            <a:rect l="l" t="t" r="r" b="b"/>
            <a:pathLst>
              <a:path w="375285" h="428625">
                <a:moveTo>
                  <a:pt x="187528" y="0"/>
                </a:moveTo>
                <a:lnTo>
                  <a:pt x="128259" y="4098"/>
                </a:lnTo>
                <a:lnTo>
                  <a:pt x="76782" y="15509"/>
                </a:lnTo>
                <a:lnTo>
                  <a:pt x="36185" y="32907"/>
                </a:lnTo>
                <a:lnTo>
                  <a:pt x="0" y="80365"/>
                </a:lnTo>
                <a:lnTo>
                  <a:pt x="0" y="348259"/>
                </a:lnTo>
                <a:lnTo>
                  <a:pt x="36185" y="395712"/>
                </a:lnTo>
                <a:lnTo>
                  <a:pt x="76782" y="413112"/>
                </a:lnTo>
                <a:lnTo>
                  <a:pt x="128259" y="424525"/>
                </a:lnTo>
                <a:lnTo>
                  <a:pt x="187528" y="428625"/>
                </a:lnTo>
                <a:lnTo>
                  <a:pt x="246796" y="424525"/>
                </a:lnTo>
                <a:lnTo>
                  <a:pt x="298274" y="413112"/>
                </a:lnTo>
                <a:lnTo>
                  <a:pt x="324571" y="401840"/>
                </a:lnTo>
                <a:lnTo>
                  <a:pt x="187528" y="401840"/>
                </a:lnTo>
                <a:lnTo>
                  <a:pt x="151963" y="400305"/>
                </a:lnTo>
                <a:lnTo>
                  <a:pt x="90253" y="389228"/>
                </a:lnTo>
                <a:lnTo>
                  <a:pt x="46381" y="370578"/>
                </a:lnTo>
                <a:lnTo>
                  <a:pt x="26797" y="350266"/>
                </a:lnTo>
                <a:lnTo>
                  <a:pt x="26797" y="277596"/>
                </a:lnTo>
                <a:lnTo>
                  <a:pt x="127762" y="277596"/>
                </a:lnTo>
                <a:lnTo>
                  <a:pt x="107382" y="274680"/>
                </a:lnTo>
                <a:lnTo>
                  <a:pt x="66223" y="264761"/>
                </a:lnTo>
                <a:lnTo>
                  <a:pt x="26797" y="246202"/>
                </a:lnTo>
                <a:lnTo>
                  <a:pt x="26797" y="170446"/>
                </a:lnTo>
                <a:lnTo>
                  <a:pt x="127801" y="170446"/>
                </a:lnTo>
                <a:lnTo>
                  <a:pt x="107382" y="167528"/>
                </a:lnTo>
                <a:lnTo>
                  <a:pt x="66223" y="157606"/>
                </a:lnTo>
                <a:lnTo>
                  <a:pt x="26797" y="139052"/>
                </a:lnTo>
                <a:lnTo>
                  <a:pt x="26797" y="78359"/>
                </a:lnTo>
                <a:lnTo>
                  <a:pt x="65468" y="48133"/>
                </a:lnTo>
                <a:lnTo>
                  <a:pt x="119311" y="32658"/>
                </a:lnTo>
                <a:lnTo>
                  <a:pt x="187528" y="26784"/>
                </a:lnTo>
                <a:lnTo>
                  <a:pt x="324583" y="26784"/>
                </a:lnTo>
                <a:lnTo>
                  <a:pt x="298274" y="15509"/>
                </a:lnTo>
                <a:lnTo>
                  <a:pt x="246796" y="4098"/>
                </a:lnTo>
                <a:lnTo>
                  <a:pt x="187528" y="0"/>
                </a:lnTo>
                <a:close/>
              </a:path>
              <a:path w="375285" h="428625">
                <a:moveTo>
                  <a:pt x="375056" y="277596"/>
                </a:moveTo>
                <a:lnTo>
                  <a:pt x="348259" y="277596"/>
                </a:lnTo>
                <a:lnTo>
                  <a:pt x="348259" y="350266"/>
                </a:lnTo>
                <a:lnTo>
                  <a:pt x="347421" y="354444"/>
                </a:lnTo>
                <a:lnTo>
                  <a:pt x="309587" y="380492"/>
                </a:lnTo>
                <a:lnTo>
                  <a:pt x="255744" y="395966"/>
                </a:lnTo>
                <a:lnTo>
                  <a:pt x="187528" y="401840"/>
                </a:lnTo>
                <a:lnTo>
                  <a:pt x="324571" y="401840"/>
                </a:lnTo>
                <a:lnTo>
                  <a:pt x="338870" y="395712"/>
                </a:lnTo>
                <a:lnTo>
                  <a:pt x="365494" y="373652"/>
                </a:lnTo>
                <a:lnTo>
                  <a:pt x="375056" y="348259"/>
                </a:lnTo>
                <a:lnTo>
                  <a:pt x="375056" y="277596"/>
                </a:lnTo>
                <a:close/>
              </a:path>
              <a:path w="375285" h="428625">
                <a:moveTo>
                  <a:pt x="127762" y="277596"/>
                </a:moveTo>
                <a:lnTo>
                  <a:pt x="26958" y="277596"/>
                </a:lnTo>
                <a:lnTo>
                  <a:pt x="38333" y="282935"/>
                </a:lnTo>
                <a:lnTo>
                  <a:pt x="78451" y="295935"/>
                </a:lnTo>
                <a:lnTo>
                  <a:pt x="129553" y="304892"/>
                </a:lnTo>
                <a:lnTo>
                  <a:pt x="187528" y="308076"/>
                </a:lnTo>
                <a:lnTo>
                  <a:pt x="217244" y="307261"/>
                </a:lnTo>
                <a:lnTo>
                  <a:pt x="272347" y="301079"/>
                </a:lnTo>
                <a:lnTo>
                  <a:pt x="311167" y="292103"/>
                </a:lnTo>
                <a:lnTo>
                  <a:pt x="340395" y="281292"/>
                </a:lnTo>
                <a:lnTo>
                  <a:pt x="187528" y="281292"/>
                </a:lnTo>
                <a:lnTo>
                  <a:pt x="159254" y="280512"/>
                </a:lnTo>
                <a:lnTo>
                  <a:pt x="132422" y="278263"/>
                </a:lnTo>
                <a:lnTo>
                  <a:pt x="127762" y="277596"/>
                </a:lnTo>
                <a:close/>
              </a:path>
              <a:path w="375285" h="428625">
                <a:moveTo>
                  <a:pt x="375056" y="170446"/>
                </a:moveTo>
                <a:lnTo>
                  <a:pt x="348259" y="170446"/>
                </a:lnTo>
                <a:lnTo>
                  <a:pt x="348259" y="246202"/>
                </a:lnTo>
                <a:lnTo>
                  <a:pt x="337748" y="252755"/>
                </a:lnTo>
                <a:lnTo>
                  <a:pt x="290576" y="269900"/>
                </a:lnTo>
                <a:lnTo>
                  <a:pt x="242633" y="278263"/>
                </a:lnTo>
                <a:lnTo>
                  <a:pt x="187528" y="281292"/>
                </a:lnTo>
                <a:lnTo>
                  <a:pt x="340395" y="281292"/>
                </a:lnTo>
                <a:lnTo>
                  <a:pt x="348259" y="277596"/>
                </a:lnTo>
                <a:lnTo>
                  <a:pt x="375056" y="277596"/>
                </a:lnTo>
                <a:lnTo>
                  <a:pt x="375056" y="170446"/>
                </a:lnTo>
                <a:close/>
              </a:path>
              <a:path w="375285" h="428625">
                <a:moveTo>
                  <a:pt x="127801" y="170446"/>
                </a:moveTo>
                <a:lnTo>
                  <a:pt x="26985" y="170446"/>
                </a:lnTo>
                <a:lnTo>
                  <a:pt x="38333" y="175780"/>
                </a:lnTo>
                <a:lnTo>
                  <a:pt x="78451" y="188785"/>
                </a:lnTo>
                <a:lnTo>
                  <a:pt x="129553" y="197735"/>
                </a:lnTo>
                <a:lnTo>
                  <a:pt x="187528" y="200914"/>
                </a:lnTo>
                <a:lnTo>
                  <a:pt x="217244" y="200101"/>
                </a:lnTo>
                <a:lnTo>
                  <a:pt x="272347" y="193927"/>
                </a:lnTo>
                <a:lnTo>
                  <a:pt x="311167" y="184952"/>
                </a:lnTo>
                <a:lnTo>
                  <a:pt x="340414" y="174129"/>
                </a:lnTo>
                <a:lnTo>
                  <a:pt x="187528" y="174129"/>
                </a:lnTo>
                <a:lnTo>
                  <a:pt x="159254" y="173351"/>
                </a:lnTo>
                <a:lnTo>
                  <a:pt x="132422" y="171107"/>
                </a:lnTo>
                <a:lnTo>
                  <a:pt x="127801" y="170446"/>
                </a:lnTo>
                <a:close/>
              </a:path>
              <a:path w="375285" h="428625">
                <a:moveTo>
                  <a:pt x="324583" y="26784"/>
                </a:moveTo>
                <a:lnTo>
                  <a:pt x="187528" y="26784"/>
                </a:lnTo>
                <a:lnTo>
                  <a:pt x="223093" y="28319"/>
                </a:lnTo>
                <a:lnTo>
                  <a:pt x="255744" y="32658"/>
                </a:lnTo>
                <a:lnTo>
                  <a:pt x="309587" y="48133"/>
                </a:lnTo>
                <a:lnTo>
                  <a:pt x="347421" y="74168"/>
                </a:lnTo>
                <a:lnTo>
                  <a:pt x="348259" y="78359"/>
                </a:lnTo>
                <a:lnTo>
                  <a:pt x="348259" y="139052"/>
                </a:lnTo>
                <a:lnTo>
                  <a:pt x="308719" y="157606"/>
                </a:lnTo>
                <a:lnTo>
                  <a:pt x="267673" y="167528"/>
                </a:lnTo>
                <a:lnTo>
                  <a:pt x="215802" y="173351"/>
                </a:lnTo>
                <a:lnTo>
                  <a:pt x="187528" y="174129"/>
                </a:lnTo>
                <a:lnTo>
                  <a:pt x="340414" y="174129"/>
                </a:lnTo>
                <a:lnTo>
                  <a:pt x="348259" y="170446"/>
                </a:lnTo>
                <a:lnTo>
                  <a:pt x="375056" y="170446"/>
                </a:lnTo>
                <a:lnTo>
                  <a:pt x="375056" y="80365"/>
                </a:lnTo>
                <a:lnTo>
                  <a:pt x="365494" y="54968"/>
                </a:lnTo>
                <a:lnTo>
                  <a:pt x="338870" y="32907"/>
                </a:lnTo>
                <a:lnTo>
                  <a:pt x="324583" y="26784"/>
                </a:lnTo>
                <a:close/>
              </a:path>
            </a:pathLst>
          </a:custGeom>
          <a:solidFill>
            <a:srgbClr val="AA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687762" y="2411412"/>
            <a:ext cx="2620010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35">
                <a:solidFill>
                  <a:srgbClr val="44413F"/>
                </a:solidFill>
                <a:latin typeface="Cambria"/>
                <a:cs typeface="Cambria"/>
              </a:rPr>
              <a:t>Bases</a:t>
            </a:r>
            <a:r>
              <a:rPr dirty="0" sz="1650" spc="12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85">
                <a:solidFill>
                  <a:srgbClr val="44413F"/>
                </a:solidFill>
                <a:latin typeface="Cambria"/>
                <a:cs typeface="Cambria"/>
              </a:rPr>
              <a:t>de</a:t>
            </a:r>
            <a:r>
              <a:rPr dirty="0" sz="1650" spc="13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60">
                <a:solidFill>
                  <a:srgbClr val="44413F"/>
                </a:solidFill>
                <a:latin typeface="Cambria"/>
                <a:cs typeface="Cambria"/>
              </a:rPr>
              <a:t>Datos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Permiten</a:t>
            </a:r>
            <a:r>
              <a:rPr dirty="0" sz="1350" spc="12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almacenar</a:t>
            </a:r>
            <a:r>
              <a:rPr dirty="0" sz="1350" spc="12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y</a:t>
            </a:r>
            <a:r>
              <a:rPr dirty="0" sz="1350" spc="12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gestionar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grandes</a:t>
            </a:r>
            <a:r>
              <a:rPr dirty="0" sz="1350" spc="9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volúmenes</a:t>
            </a:r>
            <a:r>
              <a:rPr dirty="0" sz="1350" spc="9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50" spc="9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55">
                <a:solidFill>
                  <a:srgbClr val="44413F"/>
                </a:solidFill>
                <a:latin typeface="Tahoma"/>
                <a:cs typeface="Tahoma"/>
              </a:rPr>
              <a:t>datos</a:t>
            </a:r>
            <a:r>
              <a:rPr dirty="0" sz="1350" spc="10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10">
                <a:solidFill>
                  <a:srgbClr val="44413F"/>
                </a:solidFill>
                <a:latin typeface="Tahoma"/>
                <a:cs typeface="Tahoma"/>
              </a:rPr>
              <a:t>IoT.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00075" y="4191000"/>
            <a:ext cx="428625" cy="333375"/>
          </a:xfrm>
          <a:custGeom>
            <a:avLst/>
            <a:gdLst/>
            <a:ahLst/>
            <a:cxnLst/>
            <a:rect l="l" t="t" r="r" b="b"/>
            <a:pathLst>
              <a:path w="428625" h="333375">
                <a:moveTo>
                  <a:pt x="221903" y="190500"/>
                </a:moveTo>
                <a:lnTo>
                  <a:pt x="206721" y="190500"/>
                </a:lnTo>
                <a:lnTo>
                  <a:pt x="199280" y="193408"/>
                </a:lnTo>
                <a:lnTo>
                  <a:pt x="105269" y="282181"/>
                </a:lnTo>
                <a:lnTo>
                  <a:pt x="104363" y="283107"/>
                </a:lnTo>
                <a:lnTo>
                  <a:pt x="98524" y="288582"/>
                </a:lnTo>
                <a:lnTo>
                  <a:pt x="95250" y="296240"/>
                </a:lnTo>
                <a:lnTo>
                  <a:pt x="95250" y="304279"/>
                </a:lnTo>
                <a:lnTo>
                  <a:pt x="97535" y="315608"/>
                </a:lnTo>
                <a:lnTo>
                  <a:pt x="103770" y="324856"/>
                </a:lnTo>
                <a:lnTo>
                  <a:pt x="113018" y="331089"/>
                </a:lnTo>
                <a:lnTo>
                  <a:pt x="124345" y="333375"/>
                </a:lnTo>
                <a:lnTo>
                  <a:pt x="304279" y="333375"/>
                </a:lnTo>
                <a:lnTo>
                  <a:pt x="315606" y="331089"/>
                </a:lnTo>
                <a:lnTo>
                  <a:pt x="324854" y="324856"/>
                </a:lnTo>
                <a:lnTo>
                  <a:pt x="331089" y="315608"/>
                </a:lnTo>
                <a:lnTo>
                  <a:pt x="332309" y="309562"/>
                </a:lnTo>
                <a:lnTo>
                  <a:pt x="121443" y="309562"/>
                </a:lnTo>
                <a:lnTo>
                  <a:pt x="119062" y="307187"/>
                </a:lnTo>
                <a:lnTo>
                  <a:pt x="119062" y="302793"/>
                </a:lnTo>
                <a:lnTo>
                  <a:pt x="119631" y="301447"/>
                </a:lnTo>
                <a:lnTo>
                  <a:pt x="120699" y="300405"/>
                </a:lnTo>
                <a:lnTo>
                  <a:pt x="210145" y="215950"/>
                </a:lnTo>
                <a:lnTo>
                  <a:pt x="211110" y="214985"/>
                </a:lnTo>
                <a:lnTo>
                  <a:pt x="212750" y="214312"/>
                </a:lnTo>
                <a:lnTo>
                  <a:pt x="251461" y="214312"/>
                </a:lnTo>
                <a:lnTo>
                  <a:pt x="234850" y="198615"/>
                </a:lnTo>
                <a:lnTo>
                  <a:pt x="229269" y="193408"/>
                </a:lnTo>
                <a:lnTo>
                  <a:pt x="221903" y="190500"/>
                </a:lnTo>
                <a:close/>
              </a:path>
              <a:path w="428625" h="333375">
                <a:moveTo>
                  <a:pt x="251461" y="214312"/>
                </a:moveTo>
                <a:lnTo>
                  <a:pt x="215874" y="214312"/>
                </a:lnTo>
                <a:lnTo>
                  <a:pt x="217437" y="214985"/>
                </a:lnTo>
                <a:lnTo>
                  <a:pt x="218479" y="215950"/>
                </a:lnTo>
                <a:lnTo>
                  <a:pt x="307925" y="300405"/>
                </a:lnTo>
                <a:lnTo>
                  <a:pt x="308966" y="301447"/>
                </a:lnTo>
                <a:lnTo>
                  <a:pt x="309562" y="302793"/>
                </a:lnTo>
                <a:lnTo>
                  <a:pt x="309562" y="307187"/>
                </a:lnTo>
                <a:lnTo>
                  <a:pt x="307181" y="309562"/>
                </a:lnTo>
                <a:lnTo>
                  <a:pt x="332309" y="309562"/>
                </a:lnTo>
                <a:lnTo>
                  <a:pt x="333375" y="304279"/>
                </a:lnTo>
                <a:lnTo>
                  <a:pt x="333375" y="296240"/>
                </a:lnTo>
                <a:lnTo>
                  <a:pt x="330026" y="288582"/>
                </a:lnTo>
                <a:lnTo>
                  <a:pt x="251461" y="214312"/>
                </a:lnTo>
                <a:close/>
              </a:path>
              <a:path w="428625" h="333375">
                <a:moveTo>
                  <a:pt x="357187" y="0"/>
                </a:moveTo>
                <a:lnTo>
                  <a:pt x="71437" y="0"/>
                </a:lnTo>
                <a:lnTo>
                  <a:pt x="43636" y="5616"/>
                </a:lnTo>
                <a:lnTo>
                  <a:pt x="20928" y="20931"/>
                </a:lnTo>
                <a:lnTo>
                  <a:pt x="5615" y="43639"/>
                </a:lnTo>
                <a:lnTo>
                  <a:pt x="0" y="71437"/>
                </a:lnTo>
                <a:lnTo>
                  <a:pt x="0" y="214312"/>
                </a:lnTo>
                <a:lnTo>
                  <a:pt x="5615" y="242115"/>
                </a:lnTo>
                <a:lnTo>
                  <a:pt x="20928" y="264823"/>
                </a:lnTo>
                <a:lnTo>
                  <a:pt x="43636" y="280135"/>
                </a:lnTo>
                <a:lnTo>
                  <a:pt x="71437" y="285750"/>
                </a:lnTo>
                <a:lnTo>
                  <a:pt x="77837" y="285750"/>
                </a:lnTo>
                <a:lnTo>
                  <a:pt x="79921" y="282181"/>
                </a:lnTo>
                <a:lnTo>
                  <a:pt x="82393" y="278904"/>
                </a:lnTo>
                <a:lnTo>
                  <a:pt x="99343" y="261937"/>
                </a:lnTo>
                <a:lnTo>
                  <a:pt x="71437" y="261937"/>
                </a:lnTo>
                <a:lnTo>
                  <a:pt x="52913" y="258189"/>
                </a:lnTo>
                <a:lnTo>
                  <a:pt x="37774" y="247973"/>
                </a:lnTo>
                <a:lnTo>
                  <a:pt x="27559" y="232833"/>
                </a:lnTo>
                <a:lnTo>
                  <a:pt x="23812" y="214312"/>
                </a:lnTo>
                <a:lnTo>
                  <a:pt x="23812" y="71437"/>
                </a:lnTo>
                <a:lnTo>
                  <a:pt x="27559" y="52916"/>
                </a:lnTo>
                <a:lnTo>
                  <a:pt x="37774" y="37776"/>
                </a:lnTo>
                <a:lnTo>
                  <a:pt x="52913" y="27560"/>
                </a:lnTo>
                <a:lnTo>
                  <a:pt x="71437" y="23812"/>
                </a:lnTo>
                <a:lnTo>
                  <a:pt x="409639" y="23812"/>
                </a:lnTo>
                <a:lnTo>
                  <a:pt x="407696" y="20931"/>
                </a:lnTo>
                <a:lnTo>
                  <a:pt x="384988" y="5616"/>
                </a:lnTo>
                <a:lnTo>
                  <a:pt x="357187" y="0"/>
                </a:lnTo>
                <a:close/>
              </a:path>
              <a:path w="428625" h="333375">
                <a:moveTo>
                  <a:pt x="409639" y="23812"/>
                </a:moveTo>
                <a:lnTo>
                  <a:pt x="357187" y="23812"/>
                </a:lnTo>
                <a:lnTo>
                  <a:pt x="375711" y="27560"/>
                </a:lnTo>
                <a:lnTo>
                  <a:pt x="390850" y="37776"/>
                </a:lnTo>
                <a:lnTo>
                  <a:pt x="401065" y="52916"/>
                </a:lnTo>
                <a:lnTo>
                  <a:pt x="404812" y="71437"/>
                </a:lnTo>
                <a:lnTo>
                  <a:pt x="404812" y="214312"/>
                </a:lnTo>
                <a:lnTo>
                  <a:pt x="401065" y="232833"/>
                </a:lnTo>
                <a:lnTo>
                  <a:pt x="390850" y="247973"/>
                </a:lnTo>
                <a:lnTo>
                  <a:pt x="375711" y="258189"/>
                </a:lnTo>
                <a:lnTo>
                  <a:pt x="357187" y="261937"/>
                </a:lnTo>
                <a:lnTo>
                  <a:pt x="329281" y="261937"/>
                </a:lnTo>
                <a:lnTo>
                  <a:pt x="343197" y="275856"/>
                </a:lnTo>
                <a:lnTo>
                  <a:pt x="346174" y="278904"/>
                </a:lnTo>
                <a:lnTo>
                  <a:pt x="348703" y="282181"/>
                </a:lnTo>
                <a:lnTo>
                  <a:pt x="350787" y="285750"/>
                </a:lnTo>
                <a:lnTo>
                  <a:pt x="357187" y="285750"/>
                </a:lnTo>
                <a:lnTo>
                  <a:pt x="384988" y="280135"/>
                </a:lnTo>
                <a:lnTo>
                  <a:pt x="407696" y="264823"/>
                </a:lnTo>
                <a:lnTo>
                  <a:pt x="423009" y="242115"/>
                </a:lnTo>
                <a:lnTo>
                  <a:pt x="428625" y="214312"/>
                </a:lnTo>
                <a:lnTo>
                  <a:pt x="428625" y="71437"/>
                </a:lnTo>
                <a:lnTo>
                  <a:pt x="423009" y="43639"/>
                </a:lnTo>
                <a:lnTo>
                  <a:pt x="409639" y="23812"/>
                </a:lnTo>
                <a:close/>
              </a:path>
            </a:pathLst>
          </a:custGeom>
          <a:solidFill>
            <a:srgbClr val="AA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587375" y="4725987"/>
            <a:ext cx="236156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45">
                <a:solidFill>
                  <a:srgbClr val="44413F"/>
                </a:solidFill>
                <a:latin typeface="Cambria"/>
                <a:cs typeface="Cambria"/>
              </a:rPr>
              <a:t>Analítica</a:t>
            </a:r>
            <a:r>
              <a:rPr dirty="0" sz="1650" spc="2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650" spc="160">
                <a:solidFill>
                  <a:srgbClr val="44413F"/>
                </a:solidFill>
                <a:latin typeface="Cambria"/>
                <a:cs typeface="Cambria"/>
              </a:rPr>
              <a:t>Avanzada</a:t>
            </a:r>
            <a:endParaRPr sz="1650">
              <a:latin typeface="Cambria"/>
              <a:cs typeface="Cambria"/>
            </a:endParaRPr>
          </a:p>
          <a:p>
            <a:pPr algn="just"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Técnicas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80">
                <a:solidFill>
                  <a:srgbClr val="44413F"/>
                </a:solidFill>
                <a:latin typeface="Tahoma"/>
                <a:cs typeface="Tahoma"/>
              </a:rPr>
              <a:t>como</a:t>
            </a:r>
            <a:r>
              <a:rPr dirty="0" sz="1350" spc="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el</a:t>
            </a:r>
            <a:r>
              <a:rPr dirty="0" sz="1350" spc="5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aprendizaje </a:t>
            </a:r>
            <a:r>
              <a:rPr dirty="0" sz="1350" spc="50">
                <a:solidFill>
                  <a:srgbClr val="44413F"/>
                </a:solidFill>
                <a:latin typeface="Tahoma"/>
                <a:cs typeface="Tahoma"/>
              </a:rPr>
              <a:t>automático</a:t>
            </a: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ayudan</a:t>
            </a:r>
            <a:r>
              <a:rPr dirty="0" sz="1350" spc="1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a</a:t>
            </a:r>
            <a:r>
              <a:rPr dirty="0" sz="1350" spc="1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extraer </a:t>
            </a:r>
            <a:r>
              <a:rPr dirty="0" sz="1350">
                <a:solidFill>
                  <a:srgbClr val="44413F"/>
                </a:solidFill>
                <a:latin typeface="Tahoma"/>
                <a:cs typeface="Tahoma"/>
              </a:rPr>
              <a:t>insights</a:t>
            </a:r>
            <a:r>
              <a:rPr dirty="0" sz="1350" spc="204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valiosos.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3705568" y="4144009"/>
            <a:ext cx="428625" cy="427990"/>
          </a:xfrm>
          <a:custGeom>
            <a:avLst/>
            <a:gdLst/>
            <a:ahLst/>
            <a:cxnLst/>
            <a:rect l="l" t="t" r="r" b="b"/>
            <a:pathLst>
              <a:path w="428625" h="427989">
                <a:moveTo>
                  <a:pt x="227990" y="0"/>
                </a:moveTo>
                <a:lnTo>
                  <a:pt x="199948" y="0"/>
                </a:lnTo>
                <a:lnTo>
                  <a:pt x="185978" y="1270"/>
                </a:lnTo>
                <a:lnTo>
                  <a:pt x="165277" y="5080"/>
                </a:lnTo>
                <a:lnTo>
                  <a:pt x="158470" y="7620"/>
                </a:lnTo>
                <a:lnTo>
                  <a:pt x="145046" y="11430"/>
                </a:lnTo>
                <a:lnTo>
                  <a:pt x="119126" y="21590"/>
                </a:lnTo>
                <a:lnTo>
                  <a:pt x="106756" y="29210"/>
                </a:lnTo>
                <a:lnTo>
                  <a:pt x="100736" y="31750"/>
                </a:lnTo>
                <a:lnTo>
                  <a:pt x="89065" y="40640"/>
                </a:lnTo>
                <a:lnTo>
                  <a:pt x="83439" y="44450"/>
                </a:lnTo>
                <a:lnTo>
                  <a:pt x="72580" y="53340"/>
                </a:lnTo>
                <a:lnTo>
                  <a:pt x="67386" y="58420"/>
                </a:lnTo>
                <a:lnTo>
                  <a:pt x="57467" y="67310"/>
                </a:lnTo>
                <a:lnTo>
                  <a:pt x="52755" y="72390"/>
                </a:lnTo>
                <a:lnTo>
                  <a:pt x="43853" y="83820"/>
                </a:lnTo>
                <a:lnTo>
                  <a:pt x="39674" y="88900"/>
                </a:lnTo>
                <a:lnTo>
                  <a:pt x="31877" y="101600"/>
                </a:lnTo>
                <a:lnTo>
                  <a:pt x="13284" y="138430"/>
                </a:lnTo>
                <a:lnTo>
                  <a:pt x="2400" y="179070"/>
                </a:lnTo>
                <a:lnTo>
                  <a:pt x="0" y="200660"/>
                </a:lnTo>
                <a:lnTo>
                  <a:pt x="125" y="229870"/>
                </a:lnTo>
                <a:lnTo>
                  <a:pt x="1258" y="241300"/>
                </a:lnTo>
                <a:lnTo>
                  <a:pt x="1384" y="242570"/>
                </a:lnTo>
                <a:lnTo>
                  <a:pt x="10922" y="283210"/>
                </a:lnTo>
                <a:lnTo>
                  <a:pt x="28270" y="321310"/>
                </a:lnTo>
                <a:lnTo>
                  <a:pt x="39674" y="339090"/>
                </a:lnTo>
                <a:lnTo>
                  <a:pt x="43853" y="345440"/>
                </a:lnTo>
                <a:lnTo>
                  <a:pt x="72580" y="375920"/>
                </a:lnTo>
                <a:lnTo>
                  <a:pt x="106756" y="400050"/>
                </a:lnTo>
                <a:lnTo>
                  <a:pt x="119126" y="406400"/>
                </a:lnTo>
                <a:lnTo>
                  <a:pt x="125476" y="410210"/>
                </a:lnTo>
                <a:lnTo>
                  <a:pt x="145046" y="417830"/>
                </a:lnTo>
                <a:lnTo>
                  <a:pt x="158470" y="421640"/>
                </a:lnTo>
                <a:lnTo>
                  <a:pt x="185978" y="426720"/>
                </a:lnTo>
                <a:lnTo>
                  <a:pt x="199948" y="427990"/>
                </a:lnTo>
                <a:lnTo>
                  <a:pt x="227990" y="427990"/>
                </a:lnTo>
                <a:lnTo>
                  <a:pt x="269468" y="421640"/>
                </a:lnTo>
                <a:lnTo>
                  <a:pt x="308813" y="406400"/>
                </a:lnTo>
                <a:lnTo>
                  <a:pt x="318709" y="401320"/>
                </a:lnTo>
                <a:lnTo>
                  <a:pt x="195586" y="401320"/>
                </a:lnTo>
                <a:lnTo>
                  <a:pt x="177393" y="398780"/>
                </a:lnTo>
                <a:lnTo>
                  <a:pt x="150806" y="391160"/>
                </a:lnTo>
                <a:lnTo>
                  <a:pt x="133787" y="383540"/>
                </a:lnTo>
                <a:lnTo>
                  <a:pt x="125572" y="379730"/>
                </a:lnTo>
                <a:lnTo>
                  <a:pt x="117570" y="374650"/>
                </a:lnTo>
                <a:lnTo>
                  <a:pt x="109778" y="370840"/>
                </a:lnTo>
                <a:lnTo>
                  <a:pt x="102251" y="364490"/>
                </a:lnTo>
                <a:lnTo>
                  <a:pt x="95007" y="359410"/>
                </a:lnTo>
                <a:lnTo>
                  <a:pt x="88045" y="353060"/>
                </a:lnTo>
                <a:lnTo>
                  <a:pt x="81368" y="346710"/>
                </a:lnTo>
                <a:lnTo>
                  <a:pt x="75010" y="340360"/>
                </a:lnTo>
                <a:lnTo>
                  <a:pt x="69005" y="332740"/>
                </a:lnTo>
                <a:lnTo>
                  <a:pt x="63352" y="326390"/>
                </a:lnTo>
                <a:lnTo>
                  <a:pt x="58051" y="318770"/>
                </a:lnTo>
                <a:lnTo>
                  <a:pt x="53117" y="311150"/>
                </a:lnTo>
                <a:lnTo>
                  <a:pt x="48583" y="302260"/>
                </a:lnTo>
                <a:lnTo>
                  <a:pt x="44450" y="294640"/>
                </a:lnTo>
                <a:lnTo>
                  <a:pt x="40716" y="285750"/>
                </a:lnTo>
                <a:lnTo>
                  <a:pt x="37404" y="276860"/>
                </a:lnTo>
                <a:lnTo>
                  <a:pt x="34520" y="269240"/>
                </a:lnTo>
                <a:lnTo>
                  <a:pt x="26860" y="226060"/>
                </a:lnTo>
                <a:lnTo>
                  <a:pt x="26764" y="224790"/>
                </a:lnTo>
                <a:lnTo>
                  <a:pt x="26667" y="204470"/>
                </a:lnTo>
                <a:lnTo>
                  <a:pt x="27151" y="198120"/>
                </a:lnTo>
                <a:lnTo>
                  <a:pt x="27247" y="196850"/>
                </a:lnTo>
                <a:lnTo>
                  <a:pt x="27344" y="195580"/>
                </a:lnTo>
                <a:lnTo>
                  <a:pt x="37404" y="151130"/>
                </a:lnTo>
                <a:lnTo>
                  <a:pt x="44450" y="134620"/>
                </a:lnTo>
                <a:lnTo>
                  <a:pt x="48583" y="125730"/>
                </a:lnTo>
                <a:lnTo>
                  <a:pt x="75010" y="88900"/>
                </a:lnTo>
                <a:lnTo>
                  <a:pt x="81368" y="81280"/>
                </a:lnTo>
                <a:lnTo>
                  <a:pt x="88045" y="74930"/>
                </a:lnTo>
                <a:lnTo>
                  <a:pt x="95007" y="69850"/>
                </a:lnTo>
                <a:lnTo>
                  <a:pt x="102251" y="63500"/>
                </a:lnTo>
                <a:lnTo>
                  <a:pt x="109778" y="58420"/>
                </a:lnTo>
                <a:lnTo>
                  <a:pt x="117570" y="53340"/>
                </a:lnTo>
                <a:lnTo>
                  <a:pt x="125572" y="49530"/>
                </a:lnTo>
                <a:lnTo>
                  <a:pt x="133787" y="44450"/>
                </a:lnTo>
                <a:lnTo>
                  <a:pt x="142214" y="40640"/>
                </a:lnTo>
                <a:lnTo>
                  <a:pt x="150806" y="38100"/>
                </a:lnTo>
                <a:lnTo>
                  <a:pt x="159532" y="34290"/>
                </a:lnTo>
                <a:lnTo>
                  <a:pt x="168394" y="33020"/>
                </a:lnTo>
                <a:lnTo>
                  <a:pt x="177393" y="30480"/>
                </a:lnTo>
                <a:lnTo>
                  <a:pt x="204754" y="26670"/>
                </a:lnTo>
                <a:lnTo>
                  <a:pt x="317059" y="26670"/>
                </a:lnTo>
                <a:lnTo>
                  <a:pt x="308813" y="21590"/>
                </a:lnTo>
                <a:lnTo>
                  <a:pt x="282892" y="11430"/>
                </a:lnTo>
                <a:lnTo>
                  <a:pt x="269468" y="7620"/>
                </a:lnTo>
                <a:lnTo>
                  <a:pt x="262661" y="5080"/>
                </a:lnTo>
                <a:lnTo>
                  <a:pt x="241960" y="1270"/>
                </a:lnTo>
                <a:lnTo>
                  <a:pt x="227990" y="0"/>
                </a:lnTo>
                <a:close/>
              </a:path>
              <a:path w="428625" h="427989">
                <a:moveTo>
                  <a:pt x="317059" y="26670"/>
                </a:moveTo>
                <a:lnTo>
                  <a:pt x="223185" y="26670"/>
                </a:lnTo>
                <a:lnTo>
                  <a:pt x="250545" y="30480"/>
                </a:lnTo>
                <a:lnTo>
                  <a:pt x="259544" y="33020"/>
                </a:lnTo>
                <a:lnTo>
                  <a:pt x="268406" y="34290"/>
                </a:lnTo>
                <a:lnTo>
                  <a:pt x="277132" y="38100"/>
                </a:lnTo>
                <a:lnTo>
                  <a:pt x="285724" y="40640"/>
                </a:lnTo>
                <a:lnTo>
                  <a:pt x="294152" y="44450"/>
                </a:lnTo>
                <a:lnTo>
                  <a:pt x="302366" y="49530"/>
                </a:lnTo>
                <a:lnTo>
                  <a:pt x="310368" y="53340"/>
                </a:lnTo>
                <a:lnTo>
                  <a:pt x="318160" y="58420"/>
                </a:lnTo>
                <a:lnTo>
                  <a:pt x="325687" y="63500"/>
                </a:lnTo>
                <a:lnTo>
                  <a:pt x="332932" y="69850"/>
                </a:lnTo>
                <a:lnTo>
                  <a:pt x="339893" y="74930"/>
                </a:lnTo>
                <a:lnTo>
                  <a:pt x="346570" y="81280"/>
                </a:lnTo>
                <a:lnTo>
                  <a:pt x="352928" y="88900"/>
                </a:lnTo>
                <a:lnTo>
                  <a:pt x="358933" y="95250"/>
                </a:lnTo>
                <a:lnTo>
                  <a:pt x="383489" y="134620"/>
                </a:lnTo>
                <a:lnTo>
                  <a:pt x="387223" y="142240"/>
                </a:lnTo>
                <a:lnTo>
                  <a:pt x="399467" y="186690"/>
                </a:lnTo>
                <a:lnTo>
                  <a:pt x="401271" y="204470"/>
                </a:lnTo>
                <a:lnTo>
                  <a:pt x="401175" y="224790"/>
                </a:lnTo>
                <a:lnTo>
                  <a:pt x="393423" y="269240"/>
                </a:lnTo>
                <a:lnTo>
                  <a:pt x="390540" y="276860"/>
                </a:lnTo>
                <a:lnTo>
                  <a:pt x="387223" y="285750"/>
                </a:lnTo>
                <a:lnTo>
                  <a:pt x="383489" y="294640"/>
                </a:lnTo>
                <a:lnTo>
                  <a:pt x="379355" y="302260"/>
                </a:lnTo>
                <a:lnTo>
                  <a:pt x="374821" y="311150"/>
                </a:lnTo>
                <a:lnTo>
                  <a:pt x="369887" y="318770"/>
                </a:lnTo>
                <a:lnTo>
                  <a:pt x="364586" y="326390"/>
                </a:lnTo>
                <a:lnTo>
                  <a:pt x="358933" y="332740"/>
                </a:lnTo>
                <a:lnTo>
                  <a:pt x="352928" y="340360"/>
                </a:lnTo>
                <a:lnTo>
                  <a:pt x="346570" y="346710"/>
                </a:lnTo>
                <a:lnTo>
                  <a:pt x="339893" y="353060"/>
                </a:lnTo>
                <a:lnTo>
                  <a:pt x="332932" y="359410"/>
                </a:lnTo>
                <a:lnTo>
                  <a:pt x="325687" y="364490"/>
                </a:lnTo>
                <a:lnTo>
                  <a:pt x="318160" y="370840"/>
                </a:lnTo>
                <a:lnTo>
                  <a:pt x="310368" y="374650"/>
                </a:lnTo>
                <a:lnTo>
                  <a:pt x="302366" y="379730"/>
                </a:lnTo>
                <a:lnTo>
                  <a:pt x="294152" y="383540"/>
                </a:lnTo>
                <a:lnTo>
                  <a:pt x="277132" y="391160"/>
                </a:lnTo>
                <a:lnTo>
                  <a:pt x="250545" y="398780"/>
                </a:lnTo>
                <a:lnTo>
                  <a:pt x="232352" y="401320"/>
                </a:lnTo>
                <a:lnTo>
                  <a:pt x="318709" y="401320"/>
                </a:lnTo>
                <a:lnTo>
                  <a:pt x="355346" y="375920"/>
                </a:lnTo>
                <a:lnTo>
                  <a:pt x="384086" y="345440"/>
                </a:lnTo>
                <a:lnTo>
                  <a:pt x="388264" y="339090"/>
                </a:lnTo>
                <a:lnTo>
                  <a:pt x="396062" y="327660"/>
                </a:lnTo>
                <a:lnTo>
                  <a:pt x="414655" y="289560"/>
                </a:lnTo>
                <a:lnTo>
                  <a:pt x="425538" y="248920"/>
                </a:lnTo>
                <a:lnTo>
                  <a:pt x="427813" y="229870"/>
                </a:lnTo>
                <a:lnTo>
                  <a:pt x="427939" y="228600"/>
                </a:lnTo>
                <a:lnTo>
                  <a:pt x="428053" y="226060"/>
                </a:lnTo>
                <a:lnTo>
                  <a:pt x="428167" y="223520"/>
                </a:lnTo>
                <a:lnTo>
                  <a:pt x="428282" y="207010"/>
                </a:lnTo>
                <a:lnTo>
                  <a:pt x="428007" y="201930"/>
                </a:lnTo>
                <a:lnTo>
                  <a:pt x="427939" y="200660"/>
                </a:lnTo>
                <a:lnTo>
                  <a:pt x="426554" y="186690"/>
                </a:lnTo>
                <a:lnTo>
                  <a:pt x="417017" y="144780"/>
                </a:lnTo>
                <a:lnTo>
                  <a:pt x="399669" y="106680"/>
                </a:lnTo>
                <a:lnTo>
                  <a:pt x="396062" y="101600"/>
                </a:lnTo>
                <a:lnTo>
                  <a:pt x="388264" y="88900"/>
                </a:lnTo>
                <a:lnTo>
                  <a:pt x="384086" y="83820"/>
                </a:lnTo>
                <a:lnTo>
                  <a:pt x="375183" y="72390"/>
                </a:lnTo>
                <a:lnTo>
                  <a:pt x="370471" y="67310"/>
                </a:lnTo>
                <a:lnTo>
                  <a:pt x="360553" y="58420"/>
                </a:lnTo>
                <a:lnTo>
                  <a:pt x="355346" y="53340"/>
                </a:lnTo>
                <a:lnTo>
                  <a:pt x="344500" y="44450"/>
                </a:lnTo>
                <a:lnTo>
                  <a:pt x="338874" y="40640"/>
                </a:lnTo>
                <a:lnTo>
                  <a:pt x="327202" y="31750"/>
                </a:lnTo>
                <a:lnTo>
                  <a:pt x="321183" y="29210"/>
                </a:lnTo>
                <a:lnTo>
                  <a:pt x="317059" y="26670"/>
                </a:lnTo>
                <a:close/>
              </a:path>
              <a:path w="428625" h="427989">
                <a:moveTo>
                  <a:pt x="221335" y="67310"/>
                </a:moveTo>
                <a:lnTo>
                  <a:pt x="206603" y="67310"/>
                </a:lnTo>
                <a:lnTo>
                  <a:pt x="200571" y="72390"/>
                </a:lnTo>
                <a:lnTo>
                  <a:pt x="200571" y="242570"/>
                </a:lnTo>
                <a:lnTo>
                  <a:pt x="184546" y="250190"/>
                </a:lnTo>
                <a:lnTo>
                  <a:pt x="171816" y="261620"/>
                </a:lnTo>
                <a:lnTo>
                  <a:pt x="163418" y="276860"/>
                </a:lnTo>
                <a:lnTo>
                  <a:pt x="160388" y="294640"/>
                </a:lnTo>
                <a:lnTo>
                  <a:pt x="164604" y="314960"/>
                </a:lnTo>
                <a:lnTo>
                  <a:pt x="176096" y="332740"/>
                </a:lnTo>
                <a:lnTo>
                  <a:pt x="193129" y="344170"/>
                </a:lnTo>
                <a:lnTo>
                  <a:pt x="213969" y="347980"/>
                </a:lnTo>
                <a:lnTo>
                  <a:pt x="234809" y="344170"/>
                </a:lnTo>
                <a:lnTo>
                  <a:pt x="251842" y="332740"/>
                </a:lnTo>
                <a:lnTo>
                  <a:pt x="259230" y="321310"/>
                </a:lnTo>
                <a:lnTo>
                  <a:pt x="206997" y="321310"/>
                </a:lnTo>
                <a:lnTo>
                  <a:pt x="200431" y="317500"/>
                </a:lnTo>
                <a:lnTo>
                  <a:pt x="187185" y="298450"/>
                </a:lnTo>
                <a:lnTo>
                  <a:pt x="187185" y="290830"/>
                </a:lnTo>
                <a:lnTo>
                  <a:pt x="200431" y="271780"/>
                </a:lnTo>
                <a:lnTo>
                  <a:pt x="206997" y="267970"/>
                </a:lnTo>
                <a:lnTo>
                  <a:pt x="259621" y="267970"/>
                </a:lnTo>
                <a:lnTo>
                  <a:pt x="256122" y="261620"/>
                </a:lnTo>
                <a:lnTo>
                  <a:pt x="243392" y="250190"/>
                </a:lnTo>
                <a:lnTo>
                  <a:pt x="227368" y="242570"/>
                </a:lnTo>
                <a:lnTo>
                  <a:pt x="227368" y="72390"/>
                </a:lnTo>
                <a:lnTo>
                  <a:pt x="221335" y="67310"/>
                </a:lnTo>
                <a:close/>
              </a:path>
              <a:path w="428625" h="427989">
                <a:moveTo>
                  <a:pt x="259621" y="267970"/>
                </a:moveTo>
                <a:lnTo>
                  <a:pt x="220941" y="267970"/>
                </a:lnTo>
                <a:lnTo>
                  <a:pt x="227507" y="271780"/>
                </a:lnTo>
                <a:lnTo>
                  <a:pt x="230403" y="273050"/>
                </a:lnTo>
                <a:lnTo>
                  <a:pt x="235419" y="278130"/>
                </a:lnTo>
                <a:lnTo>
                  <a:pt x="237363" y="280670"/>
                </a:lnTo>
                <a:lnTo>
                  <a:pt x="240080" y="288290"/>
                </a:lnTo>
                <a:lnTo>
                  <a:pt x="240753" y="290830"/>
                </a:lnTo>
                <a:lnTo>
                  <a:pt x="240753" y="298450"/>
                </a:lnTo>
                <a:lnTo>
                  <a:pt x="227507" y="317500"/>
                </a:lnTo>
                <a:lnTo>
                  <a:pt x="220941" y="321310"/>
                </a:lnTo>
                <a:lnTo>
                  <a:pt x="259230" y="321310"/>
                </a:lnTo>
                <a:lnTo>
                  <a:pt x="263334" y="314960"/>
                </a:lnTo>
                <a:lnTo>
                  <a:pt x="267550" y="294640"/>
                </a:lnTo>
                <a:lnTo>
                  <a:pt x="264520" y="276860"/>
                </a:lnTo>
                <a:lnTo>
                  <a:pt x="259621" y="267970"/>
                </a:lnTo>
                <a:close/>
              </a:path>
              <a:path w="428625" h="427989">
                <a:moveTo>
                  <a:pt x="85255" y="194310"/>
                </a:moveTo>
                <a:lnTo>
                  <a:pt x="74790" y="194310"/>
                </a:lnTo>
                <a:lnTo>
                  <a:pt x="69875" y="196850"/>
                </a:lnTo>
                <a:lnTo>
                  <a:pt x="59931" y="212090"/>
                </a:lnTo>
                <a:lnTo>
                  <a:pt x="59931" y="217170"/>
                </a:lnTo>
                <a:lnTo>
                  <a:pt x="60439" y="219710"/>
                </a:lnTo>
                <a:lnTo>
                  <a:pt x="62484" y="224790"/>
                </a:lnTo>
                <a:lnTo>
                  <a:pt x="63931" y="226060"/>
                </a:lnTo>
                <a:lnTo>
                  <a:pt x="67703" y="229870"/>
                </a:lnTo>
                <a:lnTo>
                  <a:pt x="69875" y="232410"/>
                </a:lnTo>
                <a:lnTo>
                  <a:pt x="74790" y="233680"/>
                </a:lnTo>
                <a:lnTo>
                  <a:pt x="77355" y="234950"/>
                </a:lnTo>
                <a:lnTo>
                  <a:pt x="82689" y="234950"/>
                </a:lnTo>
                <a:lnTo>
                  <a:pt x="85255" y="233680"/>
                </a:lnTo>
                <a:lnTo>
                  <a:pt x="90170" y="232410"/>
                </a:lnTo>
                <a:lnTo>
                  <a:pt x="92341" y="229870"/>
                </a:lnTo>
                <a:lnTo>
                  <a:pt x="96113" y="226060"/>
                </a:lnTo>
                <a:lnTo>
                  <a:pt x="97561" y="224790"/>
                </a:lnTo>
                <a:lnTo>
                  <a:pt x="99606" y="219710"/>
                </a:lnTo>
                <a:lnTo>
                  <a:pt x="100114" y="217170"/>
                </a:lnTo>
                <a:lnTo>
                  <a:pt x="100114" y="212090"/>
                </a:lnTo>
                <a:lnTo>
                  <a:pt x="90170" y="196850"/>
                </a:lnTo>
                <a:lnTo>
                  <a:pt x="85255" y="194310"/>
                </a:lnTo>
                <a:close/>
              </a:path>
              <a:path w="428625" h="427989">
                <a:moveTo>
                  <a:pt x="353148" y="194310"/>
                </a:moveTo>
                <a:lnTo>
                  <a:pt x="342684" y="194310"/>
                </a:lnTo>
                <a:lnTo>
                  <a:pt x="337769" y="196850"/>
                </a:lnTo>
                <a:lnTo>
                  <a:pt x="327825" y="212090"/>
                </a:lnTo>
                <a:lnTo>
                  <a:pt x="327825" y="217170"/>
                </a:lnTo>
                <a:lnTo>
                  <a:pt x="328333" y="219710"/>
                </a:lnTo>
                <a:lnTo>
                  <a:pt x="330377" y="224790"/>
                </a:lnTo>
                <a:lnTo>
                  <a:pt x="331825" y="226060"/>
                </a:lnTo>
                <a:lnTo>
                  <a:pt x="335597" y="229870"/>
                </a:lnTo>
                <a:lnTo>
                  <a:pt x="337769" y="232410"/>
                </a:lnTo>
                <a:lnTo>
                  <a:pt x="342684" y="233680"/>
                </a:lnTo>
                <a:lnTo>
                  <a:pt x="345249" y="234950"/>
                </a:lnTo>
                <a:lnTo>
                  <a:pt x="350583" y="234950"/>
                </a:lnTo>
                <a:lnTo>
                  <a:pt x="353148" y="233680"/>
                </a:lnTo>
                <a:lnTo>
                  <a:pt x="358063" y="232410"/>
                </a:lnTo>
                <a:lnTo>
                  <a:pt x="360235" y="229870"/>
                </a:lnTo>
                <a:lnTo>
                  <a:pt x="364007" y="226060"/>
                </a:lnTo>
                <a:lnTo>
                  <a:pt x="365455" y="224790"/>
                </a:lnTo>
                <a:lnTo>
                  <a:pt x="367499" y="219710"/>
                </a:lnTo>
                <a:lnTo>
                  <a:pt x="368007" y="217170"/>
                </a:lnTo>
                <a:lnTo>
                  <a:pt x="368007" y="212090"/>
                </a:lnTo>
                <a:lnTo>
                  <a:pt x="358063" y="196850"/>
                </a:lnTo>
                <a:lnTo>
                  <a:pt x="353148" y="194310"/>
                </a:lnTo>
                <a:close/>
              </a:path>
              <a:path w="428625" h="427989">
                <a:moveTo>
                  <a:pt x="125437" y="100330"/>
                </a:moveTo>
                <a:lnTo>
                  <a:pt x="114973" y="100330"/>
                </a:lnTo>
                <a:lnTo>
                  <a:pt x="110058" y="102870"/>
                </a:lnTo>
                <a:lnTo>
                  <a:pt x="100114" y="118110"/>
                </a:lnTo>
                <a:lnTo>
                  <a:pt x="100114" y="123190"/>
                </a:lnTo>
                <a:lnTo>
                  <a:pt x="114973" y="139700"/>
                </a:lnTo>
                <a:lnTo>
                  <a:pt x="117538" y="140970"/>
                </a:lnTo>
                <a:lnTo>
                  <a:pt x="122872" y="140970"/>
                </a:lnTo>
                <a:lnTo>
                  <a:pt x="125437" y="139700"/>
                </a:lnTo>
                <a:lnTo>
                  <a:pt x="130352" y="138430"/>
                </a:lnTo>
                <a:lnTo>
                  <a:pt x="140296" y="123190"/>
                </a:lnTo>
                <a:lnTo>
                  <a:pt x="140296" y="118110"/>
                </a:lnTo>
                <a:lnTo>
                  <a:pt x="130352" y="102870"/>
                </a:lnTo>
                <a:lnTo>
                  <a:pt x="125437" y="100330"/>
                </a:lnTo>
                <a:close/>
              </a:path>
              <a:path w="428625" h="427989">
                <a:moveTo>
                  <a:pt x="312966" y="100330"/>
                </a:moveTo>
                <a:lnTo>
                  <a:pt x="302501" y="100330"/>
                </a:lnTo>
                <a:lnTo>
                  <a:pt x="297586" y="102870"/>
                </a:lnTo>
                <a:lnTo>
                  <a:pt x="287642" y="118110"/>
                </a:lnTo>
                <a:lnTo>
                  <a:pt x="287642" y="123190"/>
                </a:lnTo>
                <a:lnTo>
                  <a:pt x="302501" y="139700"/>
                </a:lnTo>
                <a:lnTo>
                  <a:pt x="305066" y="140970"/>
                </a:lnTo>
                <a:lnTo>
                  <a:pt x="310400" y="140970"/>
                </a:lnTo>
                <a:lnTo>
                  <a:pt x="312966" y="139700"/>
                </a:lnTo>
                <a:lnTo>
                  <a:pt x="317881" y="138430"/>
                </a:lnTo>
                <a:lnTo>
                  <a:pt x="327825" y="123190"/>
                </a:lnTo>
                <a:lnTo>
                  <a:pt x="327825" y="118110"/>
                </a:lnTo>
                <a:lnTo>
                  <a:pt x="317881" y="102870"/>
                </a:lnTo>
                <a:lnTo>
                  <a:pt x="312966" y="100330"/>
                </a:lnTo>
                <a:close/>
              </a:path>
            </a:pathLst>
          </a:custGeom>
          <a:solidFill>
            <a:srgbClr val="AA83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3687762" y="4725987"/>
            <a:ext cx="239204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45">
                <a:solidFill>
                  <a:srgbClr val="44413F"/>
                </a:solidFill>
                <a:latin typeface="Cambria"/>
                <a:cs typeface="Cambria"/>
              </a:rPr>
              <a:t>Visualización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10">
                <a:solidFill>
                  <a:srgbClr val="44413F"/>
                </a:solidFill>
                <a:latin typeface="Tahoma"/>
                <a:cs typeface="Tahoma"/>
              </a:rPr>
              <a:t>Herramientas</a:t>
            </a:r>
            <a:r>
              <a:rPr dirty="0" sz="1350" spc="7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350" spc="8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visualización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facilitan</a:t>
            </a:r>
            <a:r>
              <a:rPr dirty="0" sz="1350" spc="6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la</a:t>
            </a:r>
            <a:r>
              <a:rPr dirty="0" sz="1350" spc="6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interpretación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y presentación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70">
                <a:solidFill>
                  <a:srgbClr val="44413F"/>
                </a:solidFill>
                <a:latin typeface="Tahoma"/>
                <a:cs typeface="Tahoma"/>
              </a:rPr>
              <a:t>de </a:t>
            </a:r>
            <a:r>
              <a:rPr dirty="0" sz="1350" spc="2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350" spc="6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4413F"/>
                </a:solidFill>
                <a:latin typeface="Tahoma"/>
                <a:cs typeface="Tahoma"/>
              </a:rPr>
              <a:t>datos.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0616565" cy="6440805"/>
          </a:xfrm>
          <a:custGeom>
            <a:avLst/>
            <a:gdLst/>
            <a:ahLst/>
            <a:cxnLst/>
            <a:rect l="l" t="t" r="r" b="b"/>
            <a:pathLst>
              <a:path w="10616565" h="6440805">
                <a:moveTo>
                  <a:pt x="10616083" y="0"/>
                </a:moveTo>
                <a:lnTo>
                  <a:pt x="0" y="0"/>
                </a:lnTo>
                <a:lnTo>
                  <a:pt x="0" y="6440423"/>
                </a:lnTo>
                <a:lnTo>
                  <a:pt x="10616083" y="6440423"/>
                </a:lnTo>
                <a:lnTo>
                  <a:pt x="10616083" y="0"/>
                </a:lnTo>
                <a:close/>
              </a:path>
            </a:pathLst>
          </a:custGeom>
          <a:solidFill>
            <a:srgbClr val="FFFD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981031" cy="644042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25675" y="420789"/>
            <a:ext cx="5123815" cy="1503045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115"/>
              </a:spcBef>
            </a:pPr>
            <a:r>
              <a:rPr dirty="0" sz="3100" spc="305"/>
              <a:t>Beneficios</a:t>
            </a:r>
            <a:r>
              <a:rPr dirty="0" sz="3100" spc="235"/>
              <a:t> </a:t>
            </a:r>
            <a:r>
              <a:rPr dirty="0" sz="3100" spc="295"/>
              <a:t>de </a:t>
            </a:r>
            <a:r>
              <a:rPr dirty="0" sz="3100" spc="340"/>
              <a:t>implementar</a:t>
            </a:r>
            <a:r>
              <a:rPr dirty="0" sz="3100" spc="160"/>
              <a:t> </a:t>
            </a:r>
            <a:r>
              <a:rPr dirty="0" sz="3100" spc="235"/>
              <a:t>analítica</a:t>
            </a:r>
            <a:r>
              <a:rPr dirty="0" sz="3100" spc="210"/>
              <a:t> </a:t>
            </a:r>
            <a:r>
              <a:rPr dirty="0" sz="3100" spc="330"/>
              <a:t>en</a:t>
            </a:r>
            <a:endParaRPr sz="3100"/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 spc="229"/>
              <a:t>sistemas</a:t>
            </a:r>
            <a:r>
              <a:rPr dirty="0" sz="3100" spc="215"/>
              <a:t> </a:t>
            </a:r>
            <a:r>
              <a:rPr dirty="0" sz="3100" spc="275"/>
              <a:t>IoT</a:t>
            </a:r>
            <a:endParaRPr sz="3100"/>
          </a:p>
        </p:txBody>
      </p:sp>
      <p:grpSp>
        <p:nvGrpSpPr>
          <p:cNvPr id="5" name="object 5" descr=""/>
          <p:cNvGrpSpPr/>
          <p:nvPr/>
        </p:nvGrpSpPr>
        <p:grpSpPr>
          <a:xfrm>
            <a:off x="4533295" y="2171217"/>
            <a:ext cx="806450" cy="1284605"/>
            <a:chOff x="4533295" y="2171217"/>
            <a:chExt cx="806450" cy="1284605"/>
          </a:xfrm>
        </p:grpSpPr>
        <p:sp>
          <p:nvSpPr>
            <p:cNvPr id="6" name="object 6" descr=""/>
            <p:cNvSpPr/>
            <p:nvPr/>
          </p:nvSpPr>
          <p:spPr>
            <a:xfrm>
              <a:off x="4538375" y="2176297"/>
              <a:ext cx="796290" cy="1274445"/>
            </a:xfrm>
            <a:custGeom>
              <a:avLst/>
              <a:gdLst/>
              <a:ahLst/>
              <a:cxnLst/>
              <a:rect l="l" t="t" r="r" b="b"/>
              <a:pathLst>
                <a:path w="796289" h="1274445">
                  <a:moveTo>
                    <a:pt x="796206" y="0"/>
                  </a:moveTo>
                  <a:lnTo>
                    <a:pt x="398103" y="159241"/>
                  </a:lnTo>
                  <a:lnTo>
                    <a:pt x="0" y="0"/>
                  </a:lnTo>
                  <a:lnTo>
                    <a:pt x="0" y="1114688"/>
                  </a:lnTo>
                  <a:lnTo>
                    <a:pt x="398103" y="1273929"/>
                  </a:lnTo>
                  <a:lnTo>
                    <a:pt x="796206" y="1114688"/>
                  </a:lnTo>
                  <a:lnTo>
                    <a:pt x="796206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538375" y="2176297"/>
              <a:ext cx="796290" cy="1274445"/>
            </a:xfrm>
            <a:custGeom>
              <a:avLst/>
              <a:gdLst/>
              <a:ahLst/>
              <a:cxnLst/>
              <a:rect l="l" t="t" r="r" b="b"/>
              <a:pathLst>
                <a:path w="796289" h="1274445">
                  <a:moveTo>
                    <a:pt x="0" y="1114688"/>
                  </a:moveTo>
                  <a:lnTo>
                    <a:pt x="398103" y="1273929"/>
                  </a:lnTo>
                  <a:lnTo>
                    <a:pt x="796206" y="1114688"/>
                  </a:lnTo>
                  <a:lnTo>
                    <a:pt x="796206" y="0"/>
                  </a:lnTo>
                  <a:lnTo>
                    <a:pt x="398103" y="159241"/>
                  </a:lnTo>
                  <a:lnTo>
                    <a:pt x="0" y="0"/>
                  </a:lnTo>
                  <a:lnTo>
                    <a:pt x="0" y="1114688"/>
                  </a:lnTo>
                  <a:close/>
                </a:path>
              </a:pathLst>
            </a:custGeom>
            <a:ln w="9952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870427" y="2641320"/>
            <a:ext cx="132080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-135">
                <a:solidFill>
                  <a:srgbClr val="44413F"/>
                </a:solidFill>
                <a:latin typeface="Cambria"/>
                <a:cs typeface="Cambria"/>
              </a:rPr>
              <a:t>1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60748" y="2318414"/>
            <a:ext cx="2691130" cy="2647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 spc="190">
                <a:solidFill>
                  <a:srgbClr val="44413F"/>
                </a:solidFill>
                <a:latin typeface="Cambria"/>
                <a:cs typeface="Cambria"/>
              </a:rPr>
              <a:t>Optimización</a:t>
            </a:r>
            <a:r>
              <a:rPr dirty="0" sz="1550" spc="11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550" spc="165">
                <a:solidFill>
                  <a:srgbClr val="44413F"/>
                </a:solidFill>
                <a:latin typeface="Cambria"/>
                <a:cs typeface="Cambria"/>
              </a:rPr>
              <a:t>de</a:t>
            </a:r>
            <a:r>
              <a:rPr dirty="0" sz="1550" spc="114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550" spc="120">
                <a:solidFill>
                  <a:srgbClr val="44413F"/>
                </a:solidFill>
                <a:latin typeface="Cambria"/>
                <a:cs typeface="Cambria"/>
              </a:rPr>
              <a:t>Procesos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560748" y="2620088"/>
            <a:ext cx="4358640" cy="539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4700"/>
              </a:lnSpc>
              <a:spcBef>
                <a:spcPts val="95"/>
              </a:spcBef>
            </a:pPr>
            <a:r>
              <a:rPr dirty="0" sz="1250" spc="20">
                <a:solidFill>
                  <a:srgbClr val="44413F"/>
                </a:solidFill>
                <a:latin typeface="Tahoma"/>
                <a:cs typeface="Tahoma"/>
              </a:rPr>
              <a:t>La</a:t>
            </a:r>
            <a:r>
              <a:rPr dirty="0" sz="1250" spc="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44413F"/>
                </a:solidFill>
                <a:latin typeface="Tahoma"/>
                <a:cs typeface="Tahoma"/>
              </a:rPr>
              <a:t>analítica</a:t>
            </a:r>
            <a:r>
              <a:rPr dirty="0" sz="12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44413F"/>
                </a:solidFill>
                <a:latin typeface="Tahoma"/>
                <a:cs typeface="Tahoma"/>
              </a:rPr>
              <a:t>permite</a:t>
            </a:r>
            <a:r>
              <a:rPr dirty="0" sz="12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44413F"/>
                </a:solidFill>
                <a:latin typeface="Tahoma"/>
                <a:cs typeface="Tahoma"/>
              </a:rPr>
              <a:t>identificar</a:t>
            </a:r>
            <a:r>
              <a:rPr dirty="0" sz="1250" spc="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44413F"/>
                </a:solidFill>
                <a:latin typeface="Tahoma"/>
                <a:cs typeface="Tahoma"/>
              </a:rPr>
              <a:t>áreas</a:t>
            </a:r>
            <a:r>
              <a:rPr dirty="0" sz="12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2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44413F"/>
                </a:solidFill>
                <a:latin typeface="Tahoma"/>
                <a:cs typeface="Tahoma"/>
              </a:rPr>
              <a:t>mejora</a:t>
            </a:r>
            <a:r>
              <a:rPr dirty="0" sz="1250" spc="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44413F"/>
                </a:solidFill>
                <a:latin typeface="Tahoma"/>
                <a:cs typeface="Tahoma"/>
              </a:rPr>
              <a:t>y</a:t>
            </a:r>
            <a:r>
              <a:rPr dirty="0" sz="1250" spc="1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44413F"/>
                </a:solidFill>
                <a:latin typeface="Tahoma"/>
                <a:cs typeface="Tahoma"/>
              </a:rPr>
              <a:t>optimizar </a:t>
            </a:r>
            <a:r>
              <a:rPr dirty="0" sz="125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250" spc="8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44413F"/>
                </a:solidFill>
                <a:latin typeface="Tahoma"/>
                <a:cs typeface="Tahoma"/>
              </a:rPr>
              <a:t>procesos</a:t>
            </a:r>
            <a:r>
              <a:rPr dirty="0" sz="1250" spc="8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44413F"/>
                </a:solidFill>
                <a:latin typeface="Tahoma"/>
                <a:cs typeface="Tahoma"/>
              </a:rPr>
              <a:t>del</a:t>
            </a:r>
            <a:r>
              <a:rPr dirty="0" sz="1250" spc="8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44413F"/>
                </a:solidFill>
                <a:latin typeface="Tahoma"/>
                <a:cs typeface="Tahoma"/>
              </a:rPr>
              <a:t>sistema</a:t>
            </a:r>
            <a:r>
              <a:rPr dirty="0" sz="1250" spc="8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-20">
                <a:solidFill>
                  <a:srgbClr val="44413F"/>
                </a:solidFill>
                <a:latin typeface="Tahoma"/>
                <a:cs typeface="Tahoma"/>
              </a:rPr>
              <a:t>IoT.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533295" y="3445147"/>
            <a:ext cx="806450" cy="1284605"/>
            <a:chOff x="4533295" y="3445147"/>
            <a:chExt cx="806450" cy="1284605"/>
          </a:xfrm>
        </p:grpSpPr>
        <p:sp>
          <p:nvSpPr>
            <p:cNvPr id="12" name="object 12" descr=""/>
            <p:cNvSpPr/>
            <p:nvPr/>
          </p:nvSpPr>
          <p:spPr>
            <a:xfrm>
              <a:off x="4538375" y="3450227"/>
              <a:ext cx="796290" cy="1274445"/>
            </a:xfrm>
            <a:custGeom>
              <a:avLst/>
              <a:gdLst/>
              <a:ahLst/>
              <a:cxnLst/>
              <a:rect l="l" t="t" r="r" b="b"/>
              <a:pathLst>
                <a:path w="796289" h="1274445">
                  <a:moveTo>
                    <a:pt x="796206" y="0"/>
                  </a:moveTo>
                  <a:lnTo>
                    <a:pt x="398103" y="159241"/>
                  </a:lnTo>
                  <a:lnTo>
                    <a:pt x="0" y="0"/>
                  </a:lnTo>
                  <a:lnTo>
                    <a:pt x="0" y="1114688"/>
                  </a:lnTo>
                  <a:lnTo>
                    <a:pt x="398103" y="1273929"/>
                  </a:lnTo>
                  <a:lnTo>
                    <a:pt x="796206" y="1114688"/>
                  </a:lnTo>
                  <a:lnTo>
                    <a:pt x="796206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38375" y="3450227"/>
              <a:ext cx="796290" cy="1274445"/>
            </a:xfrm>
            <a:custGeom>
              <a:avLst/>
              <a:gdLst/>
              <a:ahLst/>
              <a:cxnLst/>
              <a:rect l="l" t="t" r="r" b="b"/>
              <a:pathLst>
                <a:path w="796289" h="1274445">
                  <a:moveTo>
                    <a:pt x="0" y="1114688"/>
                  </a:moveTo>
                  <a:lnTo>
                    <a:pt x="398103" y="1273929"/>
                  </a:lnTo>
                  <a:lnTo>
                    <a:pt x="796206" y="1114688"/>
                  </a:lnTo>
                  <a:lnTo>
                    <a:pt x="796206" y="0"/>
                  </a:lnTo>
                  <a:lnTo>
                    <a:pt x="398103" y="159241"/>
                  </a:lnTo>
                  <a:lnTo>
                    <a:pt x="0" y="0"/>
                  </a:lnTo>
                  <a:lnTo>
                    <a:pt x="0" y="1114688"/>
                  </a:lnTo>
                  <a:close/>
                </a:path>
              </a:pathLst>
            </a:custGeom>
            <a:ln w="9952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850103" y="3915250"/>
            <a:ext cx="172720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80">
                <a:solidFill>
                  <a:srgbClr val="44413F"/>
                </a:solidFill>
                <a:latin typeface="Cambria"/>
                <a:cs typeface="Cambria"/>
              </a:rPr>
              <a:t>2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560745" y="3592345"/>
            <a:ext cx="3941445" cy="8407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 spc="210">
                <a:solidFill>
                  <a:srgbClr val="44413F"/>
                </a:solidFill>
                <a:latin typeface="Cambria"/>
                <a:cs typeface="Cambria"/>
              </a:rPr>
              <a:t>Toma</a:t>
            </a:r>
            <a:r>
              <a:rPr dirty="0" sz="1550" spc="10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550" spc="165">
                <a:solidFill>
                  <a:srgbClr val="44413F"/>
                </a:solidFill>
                <a:latin typeface="Cambria"/>
                <a:cs typeface="Cambria"/>
              </a:rPr>
              <a:t>de</a:t>
            </a:r>
            <a:r>
              <a:rPr dirty="0" sz="1550" spc="12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550" spc="145">
                <a:solidFill>
                  <a:srgbClr val="44413F"/>
                </a:solidFill>
                <a:latin typeface="Cambria"/>
                <a:cs typeface="Cambria"/>
              </a:rPr>
              <a:t>Decisiones</a:t>
            </a:r>
            <a:r>
              <a:rPr dirty="0" sz="1550" spc="125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550" spc="155">
                <a:solidFill>
                  <a:srgbClr val="44413F"/>
                </a:solidFill>
                <a:latin typeface="Cambria"/>
                <a:cs typeface="Cambria"/>
              </a:rPr>
              <a:t>Informadas</a:t>
            </a:r>
            <a:endParaRPr sz="1550">
              <a:latin typeface="Cambria"/>
              <a:cs typeface="Cambria"/>
            </a:endParaRPr>
          </a:p>
          <a:p>
            <a:pPr marL="12700" marR="5080">
              <a:lnSpc>
                <a:spcPct val="134700"/>
              </a:lnSpc>
              <a:spcBef>
                <a:spcPts val="500"/>
              </a:spcBef>
            </a:pPr>
            <a:r>
              <a:rPr dirty="0" sz="1250" spc="10">
                <a:solidFill>
                  <a:srgbClr val="44413F"/>
                </a:solidFill>
                <a:latin typeface="Tahoma"/>
                <a:cs typeface="Tahoma"/>
              </a:rPr>
              <a:t>Los</a:t>
            </a:r>
            <a:r>
              <a:rPr dirty="0" sz="1250" spc="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44413F"/>
                </a:solidFill>
                <a:latin typeface="Tahoma"/>
                <a:cs typeface="Tahoma"/>
              </a:rPr>
              <a:t>datos</a:t>
            </a:r>
            <a:r>
              <a:rPr dirty="0" sz="1250" spc="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44413F"/>
                </a:solidFill>
                <a:latin typeface="Tahoma"/>
                <a:cs typeface="Tahoma"/>
              </a:rPr>
              <a:t>analizados</a:t>
            </a:r>
            <a:r>
              <a:rPr dirty="0" sz="1250" spc="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44413F"/>
                </a:solidFill>
                <a:latin typeface="Tahoma"/>
                <a:cs typeface="Tahoma"/>
              </a:rPr>
              <a:t>ayudan</a:t>
            </a:r>
            <a:r>
              <a:rPr dirty="0" sz="1250" spc="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44413F"/>
                </a:solidFill>
                <a:latin typeface="Tahoma"/>
                <a:cs typeface="Tahoma"/>
              </a:rPr>
              <a:t>a</a:t>
            </a:r>
            <a:r>
              <a:rPr dirty="0" sz="1250" spc="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44413F"/>
                </a:solidFill>
                <a:latin typeface="Tahoma"/>
                <a:cs typeface="Tahoma"/>
              </a:rPr>
              <a:t>tomar</a:t>
            </a:r>
            <a:r>
              <a:rPr dirty="0" sz="1250" spc="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44413F"/>
                </a:solidFill>
                <a:latin typeface="Tahoma"/>
                <a:cs typeface="Tahoma"/>
              </a:rPr>
              <a:t>decisiones</a:t>
            </a:r>
            <a:r>
              <a:rPr dirty="0" sz="1250" spc="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25">
                <a:solidFill>
                  <a:srgbClr val="44413F"/>
                </a:solidFill>
                <a:latin typeface="Tahoma"/>
                <a:cs typeface="Tahoma"/>
              </a:rPr>
              <a:t>más </a:t>
            </a:r>
            <a:r>
              <a:rPr dirty="0" sz="1250" spc="55">
                <a:solidFill>
                  <a:srgbClr val="44413F"/>
                </a:solidFill>
                <a:latin typeface="Tahoma"/>
                <a:cs typeface="Tahoma"/>
              </a:rPr>
              <a:t>acertadas</a:t>
            </a:r>
            <a:r>
              <a:rPr dirty="0" sz="1250" spc="-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44413F"/>
                </a:solidFill>
                <a:latin typeface="Tahoma"/>
                <a:cs typeface="Tahoma"/>
              </a:rPr>
              <a:t>y</a:t>
            </a:r>
            <a:r>
              <a:rPr dirty="0" sz="1250" spc="-4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44413F"/>
                </a:solidFill>
                <a:latin typeface="Tahoma"/>
                <a:cs typeface="Tahoma"/>
              </a:rPr>
              <a:t>estratégicas.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533399" y="4719180"/>
            <a:ext cx="806450" cy="1283970"/>
            <a:chOff x="4533399" y="4719180"/>
            <a:chExt cx="806450" cy="1283970"/>
          </a:xfrm>
        </p:grpSpPr>
        <p:sp>
          <p:nvSpPr>
            <p:cNvPr id="17" name="object 17" descr=""/>
            <p:cNvSpPr/>
            <p:nvPr/>
          </p:nvSpPr>
          <p:spPr>
            <a:xfrm>
              <a:off x="4538375" y="4724157"/>
              <a:ext cx="796290" cy="1274445"/>
            </a:xfrm>
            <a:custGeom>
              <a:avLst/>
              <a:gdLst/>
              <a:ahLst/>
              <a:cxnLst/>
              <a:rect l="l" t="t" r="r" b="b"/>
              <a:pathLst>
                <a:path w="796289" h="1274445">
                  <a:moveTo>
                    <a:pt x="796206" y="0"/>
                  </a:moveTo>
                  <a:lnTo>
                    <a:pt x="398103" y="159241"/>
                  </a:lnTo>
                  <a:lnTo>
                    <a:pt x="0" y="0"/>
                  </a:lnTo>
                  <a:lnTo>
                    <a:pt x="0" y="1114688"/>
                  </a:lnTo>
                  <a:lnTo>
                    <a:pt x="398103" y="1273929"/>
                  </a:lnTo>
                  <a:lnTo>
                    <a:pt x="796206" y="1114688"/>
                  </a:lnTo>
                  <a:lnTo>
                    <a:pt x="796206" y="0"/>
                  </a:lnTo>
                  <a:close/>
                </a:path>
              </a:pathLst>
            </a:custGeom>
            <a:solidFill>
              <a:srgbClr val="F7ED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538375" y="4724157"/>
              <a:ext cx="796290" cy="1274445"/>
            </a:xfrm>
            <a:custGeom>
              <a:avLst/>
              <a:gdLst/>
              <a:ahLst/>
              <a:cxnLst/>
              <a:rect l="l" t="t" r="r" b="b"/>
              <a:pathLst>
                <a:path w="796289" h="1274445">
                  <a:moveTo>
                    <a:pt x="0" y="1114688"/>
                  </a:moveTo>
                  <a:lnTo>
                    <a:pt x="398103" y="1273929"/>
                  </a:lnTo>
                  <a:lnTo>
                    <a:pt x="796206" y="1114688"/>
                  </a:lnTo>
                  <a:lnTo>
                    <a:pt x="796206" y="0"/>
                  </a:lnTo>
                  <a:lnTo>
                    <a:pt x="398103" y="159241"/>
                  </a:lnTo>
                  <a:lnTo>
                    <a:pt x="0" y="0"/>
                  </a:lnTo>
                  <a:lnTo>
                    <a:pt x="0" y="1114688"/>
                  </a:lnTo>
                  <a:close/>
                </a:path>
              </a:pathLst>
            </a:custGeom>
            <a:ln w="9952">
              <a:solidFill>
                <a:srgbClr val="DDD3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4850103" y="5189180"/>
            <a:ext cx="172720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80">
                <a:solidFill>
                  <a:srgbClr val="44413F"/>
                </a:solidFill>
                <a:latin typeface="Cambria"/>
                <a:cs typeface="Cambria"/>
              </a:rPr>
              <a:t>3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560745" y="4866275"/>
            <a:ext cx="4161790" cy="8407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 spc="165">
                <a:solidFill>
                  <a:srgbClr val="44413F"/>
                </a:solidFill>
                <a:latin typeface="Cambria"/>
                <a:cs typeface="Cambria"/>
              </a:rPr>
              <a:t>Innovación</a:t>
            </a:r>
            <a:r>
              <a:rPr dirty="0" sz="1550" spc="7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550" spc="220">
                <a:solidFill>
                  <a:srgbClr val="44413F"/>
                </a:solidFill>
                <a:latin typeface="Cambria"/>
                <a:cs typeface="Cambria"/>
              </a:rPr>
              <a:t>y</a:t>
            </a:r>
            <a:r>
              <a:rPr dirty="0" sz="1550" spc="70">
                <a:solidFill>
                  <a:srgbClr val="44413F"/>
                </a:solidFill>
                <a:latin typeface="Cambria"/>
                <a:cs typeface="Cambria"/>
              </a:rPr>
              <a:t> </a:t>
            </a:r>
            <a:r>
              <a:rPr dirty="0" sz="1550" spc="165">
                <a:solidFill>
                  <a:srgbClr val="44413F"/>
                </a:solidFill>
                <a:latin typeface="Cambria"/>
                <a:cs typeface="Cambria"/>
              </a:rPr>
              <a:t>Crecimiento</a:t>
            </a:r>
            <a:endParaRPr sz="1550">
              <a:latin typeface="Cambria"/>
              <a:cs typeface="Cambria"/>
            </a:endParaRPr>
          </a:p>
          <a:p>
            <a:pPr marL="12700" marR="5080">
              <a:lnSpc>
                <a:spcPct val="134700"/>
              </a:lnSpc>
              <a:spcBef>
                <a:spcPts val="500"/>
              </a:spcBef>
            </a:pPr>
            <a:r>
              <a:rPr dirty="0" sz="1250" spc="20">
                <a:solidFill>
                  <a:srgbClr val="44413F"/>
                </a:solidFill>
                <a:latin typeface="Tahoma"/>
                <a:cs typeface="Tahoma"/>
              </a:rPr>
              <a:t>La</a:t>
            </a:r>
            <a:r>
              <a:rPr dirty="0" sz="1250" spc="2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44413F"/>
                </a:solidFill>
                <a:latin typeface="Tahoma"/>
                <a:cs typeface="Tahoma"/>
              </a:rPr>
              <a:t>analítica</a:t>
            </a:r>
            <a:r>
              <a:rPr dirty="0" sz="1250" spc="2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44413F"/>
                </a:solidFill>
                <a:latin typeface="Tahoma"/>
                <a:cs typeface="Tahoma"/>
              </a:rPr>
              <a:t>impulsa</a:t>
            </a:r>
            <a:r>
              <a:rPr dirty="0" sz="1250" spc="2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44413F"/>
                </a:solidFill>
                <a:latin typeface="Tahoma"/>
                <a:cs typeface="Tahoma"/>
              </a:rPr>
              <a:t>el</a:t>
            </a:r>
            <a:r>
              <a:rPr dirty="0" sz="1250" spc="2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44413F"/>
                </a:solidFill>
                <a:latin typeface="Tahoma"/>
                <a:cs typeface="Tahoma"/>
              </a:rPr>
              <a:t>desarrollo</a:t>
            </a:r>
            <a:r>
              <a:rPr dirty="0" sz="1250" spc="3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44413F"/>
                </a:solidFill>
                <a:latin typeface="Tahoma"/>
                <a:cs typeface="Tahoma"/>
              </a:rPr>
              <a:t>de</a:t>
            </a:r>
            <a:r>
              <a:rPr dirty="0" sz="1250" spc="2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44413F"/>
                </a:solidFill>
                <a:latin typeface="Tahoma"/>
                <a:cs typeface="Tahoma"/>
              </a:rPr>
              <a:t>nuevas</a:t>
            </a:r>
            <a:r>
              <a:rPr dirty="0" sz="1250" spc="2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20">
                <a:solidFill>
                  <a:srgbClr val="44413F"/>
                </a:solidFill>
                <a:latin typeface="Tahoma"/>
                <a:cs typeface="Tahoma"/>
              </a:rPr>
              <a:t>soluciones</a:t>
            </a:r>
            <a:r>
              <a:rPr dirty="0" sz="1250" spc="2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15">
                <a:solidFill>
                  <a:srgbClr val="44413F"/>
                </a:solidFill>
                <a:latin typeface="Tahoma"/>
                <a:cs typeface="Tahoma"/>
              </a:rPr>
              <a:t>y </a:t>
            </a:r>
            <a:r>
              <a:rPr dirty="0" sz="1250" spc="50">
                <a:solidFill>
                  <a:srgbClr val="44413F"/>
                </a:solidFill>
                <a:latin typeface="Tahoma"/>
                <a:cs typeface="Tahoma"/>
              </a:rPr>
              <a:t>servicios</a:t>
            </a:r>
            <a:r>
              <a:rPr dirty="0" sz="1250" spc="-45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-50">
                <a:solidFill>
                  <a:srgbClr val="44413F"/>
                </a:solidFill>
                <a:latin typeface="Tahoma"/>
                <a:cs typeface="Tahoma"/>
              </a:rPr>
              <a:t>IoT</a:t>
            </a:r>
            <a:r>
              <a:rPr dirty="0" sz="1250" spc="-40">
                <a:solidFill>
                  <a:srgbClr val="44413F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44413F"/>
                </a:solidFill>
                <a:latin typeface="Tahoma"/>
                <a:cs typeface="Tahoma"/>
              </a:rPr>
              <a:t>innovadores.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21" name="object 21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98047" y="5962699"/>
            <a:ext cx="1629568" cy="3892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2024-11-05T06:34:13Z</dcterms:created>
  <dcterms:modified xsi:type="dcterms:W3CDTF">2024-11-05T06:34:13Z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  <property fmtid="{D5CDD505-2E9C-101B-9397-08002B2CF9AE}" pid="5" name="Producer">
    <vt:lpwstr>GPL Ghostscript 10.02.0</vt:lpwstr>
  </property>
</Properties>
</file>