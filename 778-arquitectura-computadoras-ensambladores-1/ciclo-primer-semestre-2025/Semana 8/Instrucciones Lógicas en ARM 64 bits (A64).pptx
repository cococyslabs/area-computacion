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8229600" cx="14630400"/>
  <p:notesSz cx="8229600" cy="14630400"/>
  <p:embeddedFontLst>
    <p:embeddedFont>
      <p:font typeface="Montserra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M5J5SNfvaEte9qlOgFwJxCU4+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regular.fntdata"/><Relationship Id="rId10" Type="http://schemas.openxmlformats.org/officeDocument/2006/relationships/slide" Target="slides/slide6.xml"/><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 name="Google Shape;4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8"/>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8"/>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9"/>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9"/>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0"/>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0"/>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1"/>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1"/>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2"/>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2"/>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3"/>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3"/>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4" name="Shape 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pic>
        <p:nvPicPr>
          <p:cNvPr descr="preencoded.png" id="40" name="Google Shape;40;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1" name="Google Shape;41;p1"/>
          <p:cNvSpPr/>
          <p:nvPr/>
        </p:nvSpPr>
        <p:spPr>
          <a:xfrm>
            <a:off x="863798" y="2488049"/>
            <a:ext cx="7416403" cy="1402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Instrucciones Lógicas en ARM 64 bits (A64)</a:t>
            </a:r>
            <a:endParaRPr b="0" i="0" sz="4400" u="none" cap="none" strike="noStrike">
              <a:solidFill>
                <a:srgbClr val="000000"/>
              </a:solidFill>
              <a:latin typeface="Arial"/>
              <a:ea typeface="Arial"/>
              <a:cs typeface="Arial"/>
              <a:sym typeface="Arial"/>
            </a:endParaRPr>
          </a:p>
        </p:txBody>
      </p:sp>
      <p:sp>
        <p:nvSpPr>
          <p:cNvPr id="42" name="Google Shape;42;p1"/>
          <p:cNvSpPr/>
          <p:nvPr/>
        </p:nvSpPr>
        <p:spPr>
          <a:xfrm>
            <a:off x="863798" y="4260771"/>
            <a:ext cx="7416403" cy="148066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Exploraremos las instrucciones lógicas del ensamblador ARM de 64 bits. Son fundamentales para la manipulación a nivel de bit. Estas instrucciones operan con registros de 64 bits en la arquitectura ARMv8-A A64.</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9" name="Google Shape;49;p2"/>
          <p:cNvSpPr/>
          <p:nvPr/>
        </p:nvSpPr>
        <p:spPr>
          <a:xfrm>
            <a:off x="6191845" y="556498"/>
            <a:ext cx="7733109" cy="114538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600"/>
              <a:buFont typeface="Montserrat"/>
              <a:buNone/>
            </a:pPr>
            <a:r>
              <a:rPr b="1" i="0" lang="en-US" sz="3600" u="none" cap="none" strike="noStrike">
                <a:solidFill>
                  <a:srgbClr val="FFFFFF"/>
                </a:solidFill>
                <a:latin typeface="Montserrat"/>
                <a:ea typeface="Montserrat"/>
                <a:cs typeface="Montserrat"/>
                <a:sym typeface="Montserrat"/>
              </a:rPr>
              <a:t>Clasificación y Modificación de Banderas</a:t>
            </a:r>
            <a:endParaRPr b="0" i="0" sz="3600" u="none" cap="none" strike="noStrike">
              <a:solidFill>
                <a:srgbClr val="000000"/>
              </a:solidFill>
              <a:latin typeface="Arial"/>
              <a:ea typeface="Arial"/>
              <a:cs typeface="Arial"/>
              <a:sym typeface="Arial"/>
            </a:endParaRPr>
          </a:p>
        </p:txBody>
      </p:sp>
      <p:pic>
        <p:nvPicPr>
          <p:cNvPr descr="preencoded.png" id="50" name="Google Shape;50;p2"/>
          <p:cNvPicPr preferRelativeResize="0"/>
          <p:nvPr/>
        </p:nvPicPr>
        <p:blipFill rotWithShape="1">
          <a:blip r:embed="rId4">
            <a:alphaModFix/>
          </a:blip>
          <a:srcRect b="0" l="0" r="0" t="0"/>
          <a:stretch/>
        </p:blipFill>
        <p:spPr>
          <a:xfrm>
            <a:off x="6191845" y="2004179"/>
            <a:ext cx="1007864" cy="1209437"/>
          </a:xfrm>
          <a:prstGeom prst="rect">
            <a:avLst/>
          </a:prstGeom>
          <a:noFill/>
          <a:ln>
            <a:noFill/>
          </a:ln>
        </p:spPr>
      </p:pic>
      <p:sp>
        <p:nvSpPr>
          <p:cNvPr id="51" name="Google Shape;51;p2"/>
          <p:cNvSpPr/>
          <p:nvPr/>
        </p:nvSpPr>
        <p:spPr>
          <a:xfrm>
            <a:off x="7502009" y="2205752"/>
            <a:ext cx="2290643" cy="28634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800"/>
              <a:buFont typeface="Montserrat"/>
              <a:buNone/>
            </a:pPr>
            <a:r>
              <a:rPr b="1" i="0" lang="en-US" sz="1800" u="none" cap="none" strike="noStrike">
                <a:solidFill>
                  <a:srgbClr val="E2E6E9"/>
                </a:solidFill>
                <a:latin typeface="Montserrat"/>
                <a:ea typeface="Montserrat"/>
                <a:cs typeface="Montserrat"/>
                <a:sym typeface="Montserrat"/>
              </a:rPr>
              <a:t>Variante estándar</a:t>
            </a:r>
            <a:endParaRPr b="0" i="0" sz="1800" u="none" cap="none" strike="noStrike">
              <a:solidFill>
                <a:srgbClr val="000000"/>
              </a:solidFill>
              <a:latin typeface="Arial"/>
              <a:ea typeface="Arial"/>
              <a:cs typeface="Arial"/>
              <a:sym typeface="Arial"/>
            </a:endParaRPr>
          </a:p>
        </p:txBody>
      </p:sp>
      <p:sp>
        <p:nvSpPr>
          <p:cNvPr id="52" name="Google Shape;52;p2"/>
          <p:cNvSpPr/>
          <p:nvPr/>
        </p:nvSpPr>
        <p:spPr>
          <a:xfrm>
            <a:off x="7502009" y="2612946"/>
            <a:ext cx="6422946" cy="302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No modifica banderas NZCV.</a:t>
            </a:r>
            <a:endParaRPr b="0" i="0" sz="1550" u="none" cap="none" strike="noStrike">
              <a:solidFill>
                <a:srgbClr val="000000"/>
              </a:solidFill>
              <a:latin typeface="Arial"/>
              <a:ea typeface="Arial"/>
              <a:cs typeface="Arial"/>
              <a:sym typeface="Arial"/>
            </a:endParaRPr>
          </a:p>
        </p:txBody>
      </p:sp>
      <p:pic>
        <p:nvPicPr>
          <p:cNvPr descr="preencoded.png" id="53" name="Google Shape;53;p2"/>
          <p:cNvPicPr preferRelativeResize="0"/>
          <p:nvPr/>
        </p:nvPicPr>
        <p:blipFill rotWithShape="1">
          <a:blip r:embed="rId5">
            <a:alphaModFix/>
          </a:blip>
          <a:srcRect b="0" l="0" r="0" t="0"/>
          <a:stretch/>
        </p:blipFill>
        <p:spPr>
          <a:xfrm>
            <a:off x="6191845" y="3213616"/>
            <a:ext cx="1007864" cy="1209437"/>
          </a:xfrm>
          <a:prstGeom prst="rect">
            <a:avLst/>
          </a:prstGeom>
          <a:noFill/>
          <a:ln>
            <a:noFill/>
          </a:ln>
        </p:spPr>
      </p:pic>
      <p:sp>
        <p:nvSpPr>
          <p:cNvPr id="54" name="Google Shape;54;p2"/>
          <p:cNvSpPr/>
          <p:nvPr/>
        </p:nvSpPr>
        <p:spPr>
          <a:xfrm>
            <a:off x="7502009" y="3415189"/>
            <a:ext cx="2290643" cy="28634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800"/>
              <a:buFont typeface="Montserrat"/>
              <a:buNone/>
            </a:pPr>
            <a:r>
              <a:rPr b="1" i="0" lang="en-US" sz="1800" u="none" cap="none" strike="noStrike">
                <a:solidFill>
                  <a:srgbClr val="E2E6E9"/>
                </a:solidFill>
                <a:latin typeface="Montserrat"/>
                <a:ea typeface="Montserrat"/>
                <a:cs typeface="Montserrat"/>
                <a:sym typeface="Montserrat"/>
              </a:rPr>
              <a:t>Variante "S"</a:t>
            </a:r>
            <a:endParaRPr b="0" i="0" sz="1800" u="none" cap="none" strike="noStrike">
              <a:solidFill>
                <a:srgbClr val="000000"/>
              </a:solidFill>
              <a:latin typeface="Arial"/>
              <a:ea typeface="Arial"/>
              <a:cs typeface="Arial"/>
              <a:sym typeface="Arial"/>
            </a:endParaRPr>
          </a:p>
        </p:txBody>
      </p:sp>
      <p:sp>
        <p:nvSpPr>
          <p:cNvPr id="55" name="Google Shape;55;p2"/>
          <p:cNvSpPr/>
          <p:nvPr/>
        </p:nvSpPr>
        <p:spPr>
          <a:xfrm>
            <a:off x="7502009" y="3822383"/>
            <a:ext cx="6422946" cy="302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Actualiza banderas NZCV.</a:t>
            </a:r>
            <a:endParaRPr b="0" i="0" sz="1550" u="none" cap="none" strike="noStrike">
              <a:solidFill>
                <a:srgbClr val="000000"/>
              </a:solidFill>
              <a:latin typeface="Arial"/>
              <a:ea typeface="Arial"/>
              <a:cs typeface="Arial"/>
              <a:sym typeface="Arial"/>
            </a:endParaRPr>
          </a:p>
        </p:txBody>
      </p:sp>
      <p:pic>
        <p:nvPicPr>
          <p:cNvPr descr="preencoded.png" id="56" name="Google Shape;56;p2"/>
          <p:cNvPicPr preferRelativeResize="0"/>
          <p:nvPr/>
        </p:nvPicPr>
        <p:blipFill rotWithShape="1">
          <a:blip r:embed="rId6">
            <a:alphaModFix/>
          </a:blip>
          <a:srcRect b="0" l="0" r="0" t="0"/>
          <a:stretch/>
        </p:blipFill>
        <p:spPr>
          <a:xfrm>
            <a:off x="6191845" y="4423053"/>
            <a:ext cx="1007864" cy="1209437"/>
          </a:xfrm>
          <a:prstGeom prst="rect">
            <a:avLst/>
          </a:prstGeom>
          <a:noFill/>
          <a:ln>
            <a:noFill/>
          </a:ln>
        </p:spPr>
      </p:pic>
      <p:sp>
        <p:nvSpPr>
          <p:cNvPr id="57" name="Google Shape;57;p2"/>
          <p:cNvSpPr/>
          <p:nvPr/>
        </p:nvSpPr>
        <p:spPr>
          <a:xfrm>
            <a:off x="7502009" y="4624626"/>
            <a:ext cx="2290643" cy="28634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800"/>
              <a:buFont typeface="Montserrat"/>
              <a:buNone/>
            </a:pPr>
            <a:r>
              <a:rPr b="1" i="0" lang="en-US" sz="1800" u="none" cap="none" strike="noStrike">
                <a:solidFill>
                  <a:srgbClr val="E2E6E9"/>
                </a:solidFill>
                <a:latin typeface="Montserrat"/>
                <a:ea typeface="Montserrat"/>
                <a:cs typeface="Montserrat"/>
                <a:sym typeface="Montserrat"/>
              </a:rPr>
              <a:t>Solo Sufijo "S"</a:t>
            </a:r>
            <a:endParaRPr b="0" i="0" sz="1800" u="none" cap="none" strike="noStrike">
              <a:solidFill>
                <a:srgbClr val="000000"/>
              </a:solidFill>
              <a:latin typeface="Arial"/>
              <a:ea typeface="Arial"/>
              <a:cs typeface="Arial"/>
              <a:sym typeface="Arial"/>
            </a:endParaRPr>
          </a:p>
        </p:txBody>
      </p:sp>
      <p:sp>
        <p:nvSpPr>
          <p:cNvPr id="58" name="Google Shape;58;p2"/>
          <p:cNvSpPr/>
          <p:nvPr/>
        </p:nvSpPr>
        <p:spPr>
          <a:xfrm>
            <a:off x="7502009" y="5031819"/>
            <a:ext cx="6422946" cy="302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Únicamente las instrucciones con este sufijo modifican banderas.</a:t>
            </a:r>
            <a:endParaRPr b="0" i="0" sz="1550" u="none" cap="none" strike="noStrike">
              <a:solidFill>
                <a:srgbClr val="000000"/>
              </a:solidFill>
              <a:latin typeface="Arial"/>
              <a:ea typeface="Arial"/>
              <a:cs typeface="Arial"/>
              <a:sym typeface="Arial"/>
            </a:endParaRPr>
          </a:p>
        </p:txBody>
      </p:sp>
      <p:sp>
        <p:nvSpPr>
          <p:cNvPr id="59" name="Google Shape;59;p2"/>
          <p:cNvSpPr/>
          <p:nvPr/>
        </p:nvSpPr>
        <p:spPr>
          <a:xfrm>
            <a:off x="6191845" y="5859185"/>
            <a:ext cx="7733109" cy="1813798"/>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Las instrucciones lógicas en ARM de 64 bits se clasifican según su impacto en las banderas de estado del procesador. Las variantes sin sufijo "S" (como AND, ORR) no alteran las banderas NZCV (Negativo, Cero, Acarreo, Desbordamiento). Por otro lado, las instrucciones con el sufijo "S" (ANDS, ORRS) actualizan estas banderas basándose en el resultado de la operación. Esta distinción es crucial para el control de flujo y la lógica condicional en el código.</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863798" y="1075015"/>
            <a:ext cx="8697992" cy="7012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Sintaxis General y Descripción</a:t>
            </a:r>
            <a:endParaRPr b="0" i="0" sz="4400" u="none" cap="none" strike="noStrike">
              <a:solidFill>
                <a:srgbClr val="000000"/>
              </a:solidFill>
              <a:latin typeface="Arial"/>
              <a:ea typeface="Arial"/>
              <a:cs typeface="Arial"/>
              <a:sym typeface="Arial"/>
            </a:endParaRPr>
          </a:p>
        </p:txBody>
      </p:sp>
      <p:sp>
        <p:nvSpPr>
          <p:cNvPr id="66" name="Google Shape;66;p3"/>
          <p:cNvSpPr/>
          <p:nvPr/>
        </p:nvSpPr>
        <p:spPr>
          <a:xfrm>
            <a:off x="863798" y="2269927"/>
            <a:ext cx="12902803" cy="2756059"/>
          </a:xfrm>
          <a:prstGeom prst="roundRect">
            <a:avLst>
              <a:gd fmla="val 1343" name="adj"/>
            </a:avLst>
          </a:prstGeom>
          <a:noFill/>
          <a:ln cap="flat" cmpd="sng" w="15225">
            <a:solidFill>
              <a:srgbClr val="FFFFFF">
                <a:alpha val="2352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
          <p:cNvSpPr/>
          <p:nvPr/>
        </p:nvSpPr>
        <p:spPr>
          <a:xfrm>
            <a:off x="879038" y="2285167"/>
            <a:ext cx="12872323" cy="681395"/>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p:nvPr/>
        </p:nvSpPr>
        <p:spPr>
          <a:xfrm>
            <a:off x="1125855" y="2440781"/>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INSTR Sd, Sn, Op2</a:t>
            </a:r>
            <a:endParaRPr b="0" i="0" sz="1900" u="none" cap="none" strike="noStrike">
              <a:solidFill>
                <a:srgbClr val="000000"/>
              </a:solidFill>
              <a:latin typeface="Arial"/>
              <a:ea typeface="Arial"/>
              <a:cs typeface="Arial"/>
              <a:sym typeface="Arial"/>
            </a:endParaRPr>
          </a:p>
        </p:txBody>
      </p:sp>
      <p:sp>
        <p:nvSpPr>
          <p:cNvPr id="69" name="Google Shape;69;p3"/>
          <p:cNvSpPr/>
          <p:nvPr/>
        </p:nvSpPr>
        <p:spPr>
          <a:xfrm>
            <a:off x="7565827" y="2440781"/>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Formato general de la instrucción.</a:t>
            </a:r>
            <a:endParaRPr b="0" i="0" sz="1900" u="none" cap="none" strike="noStrike">
              <a:solidFill>
                <a:srgbClr val="000000"/>
              </a:solidFill>
              <a:latin typeface="Arial"/>
              <a:ea typeface="Arial"/>
              <a:cs typeface="Arial"/>
              <a:sym typeface="Arial"/>
            </a:endParaRPr>
          </a:p>
        </p:txBody>
      </p:sp>
      <p:sp>
        <p:nvSpPr>
          <p:cNvPr id="70" name="Google Shape;70;p3"/>
          <p:cNvSpPr/>
          <p:nvPr/>
        </p:nvSpPr>
        <p:spPr>
          <a:xfrm>
            <a:off x="879038" y="2966561"/>
            <a:ext cx="12872323" cy="681395"/>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1125855" y="3122176"/>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ANDS X3, X1, X2</a:t>
            </a:r>
            <a:endParaRPr b="0" i="0" sz="1900" u="none" cap="none" strike="noStrike">
              <a:solidFill>
                <a:srgbClr val="000000"/>
              </a:solidFill>
              <a:latin typeface="Arial"/>
              <a:ea typeface="Arial"/>
              <a:cs typeface="Arial"/>
              <a:sym typeface="Arial"/>
            </a:endParaRPr>
          </a:p>
        </p:txBody>
      </p:sp>
      <p:sp>
        <p:nvSpPr>
          <p:cNvPr id="72" name="Google Shape;72;p3"/>
          <p:cNvSpPr/>
          <p:nvPr/>
        </p:nvSpPr>
        <p:spPr>
          <a:xfrm>
            <a:off x="7565827" y="3122176"/>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Ejemplo de Y lógico con actualización de banderas.</a:t>
            </a:r>
            <a:endParaRPr b="0" i="0" sz="1900" u="none" cap="none" strike="noStrike">
              <a:solidFill>
                <a:srgbClr val="000000"/>
              </a:solidFill>
              <a:latin typeface="Arial"/>
              <a:ea typeface="Arial"/>
              <a:cs typeface="Arial"/>
              <a:sym typeface="Arial"/>
            </a:endParaRPr>
          </a:p>
        </p:txBody>
      </p:sp>
      <p:sp>
        <p:nvSpPr>
          <p:cNvPr id="73" name="Google Shape;73;p3"/>
          <p:cNvSpPr/>
          <p:nvPr/>
        </p:nvSpPr>
        <p:spPr>
          <a:xfrm>
            <a:off x="879038" y="3647956"/>
            <a:ext cx="12872323" cy="681395"/>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
          <p:cNvSpPr/>
          <p:nvPr/>
        </p:nvSpPr>
        <p:spPr>
          <a:xfrm>
            <a:off x="1125855" y="3803571"/>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Operandos</a:t>
            </a:r>
            <a:endParaRPr b="0" i="0" sz="1900" u="none" cap="none" strike="noStrike">
              <a:solidFill>
                <a:srgbClr val="000000"/>
              </a:solidFill>
              <a:latin typeface="Arial"/>
              <a:ea typeface="Arial"/>
              <a:cs typeface="Arial"/>
              <a:sym typeface="Arial"/>
            </a:endParaRPr>
          </a:p>
        </p:txBody>
      </p:sp>
      <p:sp>
        <p:nvSpPr>
          <p:cNvPr id="75" name="Google Shape;75;p3"/>
          <p:cNvSpPr/>
          <p:nvPr/>
        </p:nvSpPr>
        <p:spPr>
          <a:xfrm>
            <a:off x="7565827" y="3803571"/>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Registros (Wn o Xn) o inmediato codificado.</a:t>
            </a:r>
            <a:endParaRPr b="0" i="0" sz="1900" u="none" cap="none" strike="noStrike">
              <a:solidFill>
                <a:srgbClr val="000000"/>
              </a:solidFill>
              <a:latin typeface="Arial"/>
              <a:ea typeface="Arial"/>
              <a:cs typeface="Arial"/>
              <a:sym typeface="Arial"/>
            </a:endParaRPr>
          </a:p>
        </p:txBody>
      </p:sp>
      <p:sp>
        <p:nvSpPr>
          <p:cNvPr id="76" name="Google Shape;76;p3"/>
          <p:cNvSpPr/>
          <p:nvPr/>
        </p:nvSpPr>
        <p:spPr>
          <a:xfrm>
            <a:off x="879038" y="4329351"/>
            <a:ext cx="12872323" cy="681395"/>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1125855" y="4484965"/>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INSTR</a:t>
            </a:r>
            <a:endParaRPr b="0" i="0" sz="1900" u="none" cap="none" strike="noStrike">
              <a:solidFill>
                <a:srgbClr val="000000"/>
              </a:solidFill>
              <a:latin typeface="Arial"/>
              <a:ea typeface="Arial"/>
              <a:cs typeface="Arial"/>
              <a:sym typeface="Arial"/>
            </a:endParaRPr>
          </a:p>
        </p:txBody>
      </p:sp>
      <p:sp>
        <p:nvSpPr>
          <p:cNvPr id="78" name="Google Shape;78;p3"/>
          <p:cNvSpPr/>
          <p:nvPr/>
        </p:nvSpPr>
        <p:spPr>
          <a:xfrm>
            <a:off x="7565827" y="4484965"/>
            <a:ext cx="5938718"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AND, ORR, EOR, BIC, ANDS, ORRS, EORS, BICS.</a:t>
            </a:r>
            <a:endParaRPr b="0" i="0" sz="1900" u="none" cap="none" strike="noStrike">
              <a:solidFill>
                <a:srgbClr val="000000"/>
              </a:solidFill>
              <a:latin typeface="Arial"/>
              <a:ea typeface="Arial"/>
              <a:cs typeface="Arial"/>
              <a:sym typeface="Arial"/>
            </a:endParaRPr>
          </a:p>
        </p:txBody>
      </p:sp>
      <p:sp>
        <p:nvSpPr>
          <p:cNvPr id="79" name="Google Shape;79;p3"/>
          <p:cNvSpPr/>
          <p:nvPr/>
        </p:nvSpPr>
        <p:spPr>
          <a:xfrm>
            <a:off x="863798" y="5303639"/>
            <a:ext cx="12902803" cy="185082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La sintaxis general de las instrucciones lógicas en A64 sigue un patrón predecible. Esto facilita la lectura y escritura del código ensamblador. El tercer operando, Op2, puede ser otro registro. También puede ser un valor inmediato codificado, lo que permite operaciones directas con constantes. La elección de "Wn" o "Xn" para los registros determina si la operación se realiza en 32 o 64 bits, respectivamente. Mantener la coherencia en el tamaño de los registros es vital para evitar errores de programación.</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p:nvPr/>
        </p:nvSpPr>
        <p:spPr>
          <a:xfrm>
            <a:off x="863798" y="623801"/>
            <a:ext cx="110874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Detalles de Funcionamiento: Ejemplos</a:t>
            </a:r>
            <a:endParaRPr b="0" i="0" sz="4400" u="none" cap="none" strike="noStrike">
              <a:solidFill>
                <a:srgbClr val="000000"/>
              </a:solidFill>
              <a:latin typeface="Arial"/>
              <a:ea typeface="Arial"/>
              <a:cs typeface="Arial"/>
              <a:sym typeface="Arial"/>
            </a:endParaRPr>
          </a:p>
        </p:txBody>
      </p:sp>
      <p:sp>
        <p:nvSpPr>
          <p:cNvPr id="86" name="Google Shape;86;p4"/>
          <p:cNvSpPr/>
          <p:nvPr/>
        </p:nvSpPr>
        <p:spPr>
          <a:xfrm>
            <a:off x="863798" y="2593062"/>
            <a:ext cx="12902803"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1" i="0" lang="en-US" sz="1900" u="none" cap="none" strike="noStrike">
                <a:solidFill>
                  <a:srgbClr val="E2E6E9"/>
                </a:solidFill>
                <a:latin typeface="Arial"/>
                <a:ea typeface="Arial"/>
                <a:cs typeface="Arial"/>
                <a:sym typeface="Arial"/>
              </a:rPr>
              <a:t>AND Xd, Xn, Xm:</a:t>
            </a:r>
            <a:r>
              <a:rPr b="0" i="0" lang="en-US" sz="1900" u="none" cap="none" strike="noStrike">
                <a:solidFill>
                  <a:srgbClr val="E2E6E9"/>
                </a:solidFill>
                <a:latin typeface="Arial"/>
                <a:ea typeface="Arial"/>
                <a:cs typeface="Arial"/>
                <a:sym typeface="Arial"/>
              </a:rPr>
              <a:t> Realiza un Y lógico entre Xn y Xm, el resultado se guarda en Xd. No modifica banderas NZCV.</a:t>
            </a:r>
            <a:endParaRPr b="0" i="0" sz="1900" u="none" cap="none" strike="noStrike">
              <a:solidFill>
                <a:srgbClr val="000000"/>
              </a:solidFill>
              <a:latin typeface="Arial"/>
              <a:ea typeface="Arial"/>
              <a:cs typeface="Arial"/>
              <a:sym typeface="Arial"/>
            </a:endParaRPr>
          </a:p>
        </p:txBody>
      </p:sp>
      <p:sp>
        <p:nvSpPr>
          <p:cNvPr id="87" name="Google Shape;87;p4"/>
          <p:cNvSpPr/>
          <p:nvPr/>
        </p:nvSpPr>
        <p:spPr>
          <a:xfrm>
            <a:off x="863798" y="3049548"/>
            <a:ext cx="12902803" cy="370165"/>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1" i="0" lang="en-US" sz="1900" u="none" cap="none" strike="noStrike">
                <a:solidFill>
                  <a:srgbClr val="E2E6E9"/>
                </a:solidFill>
                <a:latin typeface="Arial"/>
                <a:ea typeface="Arial"/>
                <a:cs typeface="Arial"/>
                <a:sym typeface="Arial"/>
              </a:rPr>
              <a:t>ANDS Xd, Xn, Xm:</a:t>
            </a:r>
            <a:r>
              <a:rPr b="0" i="0" lang="en-US" sz="1900" u="none" cap="none" strike="noStrike">
                <a:solidFill>
                  <a:srgbClr val="E2E6E9"/>
                </a:solidFill>
                <a:latin typeface="Arial"/>
                <a:ea typeface="Arial"/>
                <a:cs typeface="Arial"/>
                <a:sym typeface="Arial"/>
              </a:rPr>
              <a:t> Ejecuta un Y lógico igual que AND. Actualiza las banderas NZCV según el resultado de la operación.</a:t>
            </a:r>
            <a:endParaRPr b="0" i="0" sz="1900" u="none" cap="none" strike="noStrike">
              <a:solidFill>
                <a:srgbClr val="000000"/>
              </a:solidFill>
              <a:latin typeface="Arial"/>
              <a:ea typeface="Arial"/>
              <a:cs typeface="Arial"/>
              <a:sym typeface="Arial"/>
            </a:endParaRPr>
          </a:p>
        </p:txBody>
      </p:sp>
      <p:sp>
        <p:nvSpPr>
          <p:cNvPr id="88" name="Google Shape;88;p4"/>
          <p:cNvSpPr/>
          <p:nvPr/>
        </p:nvSpPr>
        <p:spPr>
          <a:xfrm>
            <a:off x="863798" y="3506033"/>
            <a:ext cx="12902803" cy="74033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1" i="0" lang="en-US" sz="1900" u="none" cap="none" strike="noStrike">
                <a:solidFill>
                  <a:srgbClr val="E2E6E9"/>
                </a:solidFill>
                <a:latin typeface="Arial"/>
                <a:ea typeface="Arial"/>
                <a:cs typeface="Arial"/>
                <a:sym typeface="Arial"/>
              </a:rPr>
              <a:t>EOR Xd, Xn, #inm:</a:t>
            </a:r>
            <a:r>
              <a:rPr b="0" i="0" lang="en-US" sz="1900" u="none" cap="none" strike="noStrike">
                <a:solidFill>
                  <a:srgbClr val="E2E6E9"/>
                </a:solidFill>
                <a:latin typeface="Arial"/>
                <a:ea typeface="Arial"/>
                <a:cs typeface="Arial"/>
                <a:sym typeface="Arial"/>
              </a:rPr>
              <a:t> Realiza un XOR bit a bit entre Xn y un valor inmediato. El resultado se guarda en Xd, y no modifica banderas.</a:t>
            </a:r>
            <a:endParaRPr b="0" i="0" sz="1900" u="none" cap="none" strike="noStrike">
              <a:solidFill>
                <a:srgbClr val="000000"/>
              </a:solidFill>
              <a:latin typeface="Arial"/>
              <a:ea typeface="Arial"/>
              <a:cs typeface="Arial"/>
              <a:sym typeface="Arial"/>
            </a:endParaRPr>
          </a:p>
        </p:txBody>
      </p:sp>
      <p:sp>
        <p:nvSpPr>
          <p:cNvPr id="89" name="Google Shape;89;p4"/>
          <p:cNvSpPr/>
          <p:nvPr/>
        </p:nvSpPr>
        <p:spPr>
          <a:xfrm>
            <a:off x="863798" y="4332684"/>
            <a:ext cx="12902803" cy="74033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1" i="0" lang="en-US" sz="1900" u="none" cap="none" strike="noStrike">
                <a:solidFill>
                  <a:srgbClr val="E2E6E9"/>
                </a:solidFill>
                <a:latin typeface="Arial"/>
                <a:ea typeface="Arial"/>
                <a:cs typeface="Arial"/>
                <a:sym typeface="Arial"/>
              </a:rPr>
              <a:t>EORS Wd, Wn, Wm:</a:t>
            </a:r>
            <a:r>
              <a:rPr b="0" i="0" lang="en-US" sz="1900" u="none" cap="none" strike="noStrike">
                <a:solidFill>
                  <a:srgbClr val="E2E6E9"/>
                </a:solidFill>
                <a:latin typeface="Arial"/>
                <a:ea typeface="Arial"/>
                <a:cs typeface="Arial"/>
                <a:sym typeface="Arial"/>
              </a:rPr>
              <a:t> Realiza un XOR bit a bit entre Wn y Wm. El resultado se guarda en Wd, y sí modifica las banderas NZCV. Esta operación es en registros de 32 bits.</a:t>
            </a:r>
            <a:endParaRPr b="0" i="0" sz="1900" u="none" cap="none" strike="noStrike">
              <a:solidFill>
                <a:srgbClr val="000000"/>
              </a:solidFill>
              <a:latin typeface="Arial"/>
              <a:ea typeface="Arial"/>
              <a:cs typeface="Arial"/>
              <a:sym typeface="Arial"/>
            </a:endParaRPr>
          </a:p>
        </p:txBody>
      </p:sp>
      <p:sp>
        <p:nvSpPr>
          <p:cNvPr id="90" name="Google Shape;90;p4"/>
          <p:cNvSpPr/>
          <p:nvPr/>
        </p:nvSpPr>
        <p:spPr>
          <a:xfrm>
            <a:off x="863798" y="5350669"/>
            <a:ext cx="12902803" cy="148066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Los ejemplos ilustran cómo la adición del sufijo "S" cambia el comportamiento de la instrucción en relación con las banderas del procesador. Es crucial comprender estas diferencias para escribir código ensamblador preciso. La capacidad de operar con inmediatos o registros ofrece flexibilidad en la manipulación de datos. La elección entre registros de 32 bits (W) y 64 bits (X) permite optimizar el uso de recursos.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p:nvPr/>
        </p:nvSpPr>
        <p:spPr>
          <a:xfrm>
            <a:off x="863798" y="1031558"/>
            <a:ext cx="10664428" cy="7012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Restricciones en Tipos de Operandos</a:t>
            </a:r>
            <a:endParaRPr b="0" i="0" sz="4400" u="none" cap="none" strike="noStrike">
              <a:solidFill>
                <a:srgbClr val="000000"/>
              </a:solidFill>
              <a:latin typeface="Arial"/>
              <a:ea typeface="Arial"/>
              <a:cs typeface="Arial"/>
              <a:sym typeface="Arial"/>
            </a:endParaRPr>
          </a:p>
        </p:txBody>
      </p:sp>
      <p:sp>
        <p:nvSpPr>
          <p:cNvPr id="97" name="Google Shape;97;p5"/>
          <p:cNvSpPr/>
          <p:nvPr/>
        </p:nvSpPr>
        <p:spPr>
          <a:xfrm>
            <a:off x="863798" y="2226469"/>
            <a:ext cx="4136350" cy="2843093"/>
          </a:xfrm>
          <a:prstGeom prst="roundRect">
            <a:avLst>
              <a:gd fmla="val 1302" name="adj"/>
            </a:avLst>
          </a:prstGeom>
          <a:solidFill>
            <a:srgbClr val="3031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5"/>
          <p:cNvSpPr/>
          <p:nvPr/>
        </p:nvSpPr>
        <p:spPr>
          <a:xfrm>
            <a:off x="1110615" y="2473285"/>
            <a:ext cx="2804874"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Registros</a:t>
            </a:r>
            <a:endParaRPr b="0" i="0" sz="2200" u="none" cap="none" strike="noStrike">
              <a:solidFill>
                <a:srgbClr val="000000"/>
              </a:solidFill>
              <a:latin typeface="Arial"/>
              <a:ea typeface="Arial"/>
              <a:cs typeface="Arial"/>
              <a:sym typeface="Arial"/>
            </a:endParaRPr>
          </a:p>
        </p:txBody>
      </p:sp>
      <p:sp>
        <p:nvSpPr>
          <p:cNvPr id="99" name="Google Shape;99;p5"/>
          <p:cNvSpPr/>
          <p:nvPr/>
        </p:nvSpPr>
        <p:spPr>
          <a:xfrm>
            <a:off x="1110615" y="2971919"/>
            <a:ext cx="3642717" cy="74033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Usa Xn/Xm para 64 bits o Wn/Wm para 32 bits.</a:t>
            </a:r>
            <a:endParaRPr b="0" i="0" sz="1900" u="none" cap="none" strike="noStrike">
              <a:solidFill>
                <a:srgbClr val="000000"/>
              </a:solidFill>
              <a:latin typeface="Arial"/>
              <a:ea typeface="Arial"/>
              <a:cs typeface="Arial"/>
              <a:sym typeface="Arial"/>
            </a:endParaRPr>
          </a:p>
        </p:txBody>
      </p:sp>
      <p:sp>
        <p:nvSpPr>
          <p:cNvPr id="100" name="Google Shape;100;p5"/>
          <p:cNvSpPr/>
          <p:nvPr/>
        </p:nvSpPr>
        <p:spPr>
          <a:xfrm>
            <a:off x="1110615" y="3860244"/>
            <a:ext cx="3642717" cy="74033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1" i="0" lang="en-US" sz="1900" u="none" cap="none" strike="noStrike">
                <a:solidFill>
                  <a:srgbClr val="E2E6E9"/>
                </a:solidFill>
                <a:latin typeface="Arial"/>
                <a:ea typeface="Arial"/>
                <a:cs typeface="Arial"/>
                <a:sym typeface="Arial"/>
              </a:rPr>
              <a:t>Importante:</a:t>
            </a:r>
            <a:r>
              <a:rPr b="0" i="0" lang="en-US" sz="1900" u="none" cap="none" strike="noStrike">
                <a:solidFill>
                  <a:srgbClr val="E2E6E9"/>
                </a:solidFill>
                <a:latin typeface="Arial"/>
                <a:ea typeface="Arial"/>
                <a:cs typeface="Arial"/>
                <a:sym typeface="Arial"/>
              </a:rPr>
              <a:t> ¡No mezcles registros de diferentes tamaños!</a:t>
            </a:r>
            <a:endParaRPr b="0" i="0" sz="1900" u="none" cap="none" strike="noStrike">
              <a:solidFill>
                <a:srgbClr val="000000"/>
              </a:solidFill>
              <a:latin typeface="Arial"/>
              <a:ea typeface="Arial"/>
              <a:cs typeface="Arial"/>
              <a:sym typeface="Arial"/>
            </a:endParaRPr>
          </a:p>
        </p:txBody>
      </p:sp>
      <p:sp>
        <p:nvSpPr>
          <p:cNvPr id="101" name="Google Shape;101;p5"/>
          <p:cNvSpPr/>
          <p:nvPr/>
        </p:nvSpPr>
        <p:spPr>
          <a:xfrm>
            <a:off x="5246965" y="2226469"/>
            <a:ext cx="4136350" cy="2843093"/>
          </a:xfrm>
          <a:prstGeom prst="roundRect">
            <a:avLst>
              <a:gd fmla="val 1302" name="adj"/>
            </a:avLst>
          </a:prstGeom>
          <a:solidFill>
            <a:srgbClr val="3031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
          <p:cNvSpPr/>
          <p:nvPr/>
        </p:nvSpPr>
        <p:spPr>
          <a:xfrm>
            <a:off x="5493782" y="2473285"/>
            <a:ext cx="3396972"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Inmediatos Codificados</a:t>
            </a:r>
            <a:endParaRPr b="0" i="0" sz="2200" u="none" cap="none" strike="noStrike">
              <a:solidFill>
                <a:srgbClr val="000000"/>
              </a:solidFill>
              <a:latin typeface="Arial"/>
              <a:ea typeface="Arial"/>
              <a:cs typeface="Arial"/>
              <a:sym typeface="Arial"/>
            </a:endParaRPr>
          </a:p>
        </p:txBody>
      </p:sp>
      <p:sp>
        <p:nvSpPr>
          <p:cNvPr id="103" name="Google Shape;103;p5"/>
          <p:cNvSpPr/>
          <p:nvPr/>
        </p:nvSpPr>
        <p:spPr>
          <a:xfrm>
            <a:off x="5493782" y="2971919"/>
            <a:ext cx="3642717" cy="185082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Solo ciertos patrones de bits son válidos. La codificación es muy específica y restrictiva. No cualquier valor arbitrario es permitido.</a:t>
            </a:r>
            <a:endParaRPr b="0" i="0" sz="1900" u="none" cap="none" strike="noStrike">
              <a:solidFill>
                <a:srgbClr val="000000"/>
              </a:solidFill>
              <a:latin typeface="Arial"/>
              <a:ea typeface="Arial"/>
              <a:cs typeface="Arial"/>
              <a:sym typeface="Arial"/>
            </a:endParaRPr>
          </a:p>
        </p:txBody>
      </p:sp>
      <p:sp>
        <p:nvSpPr>
          <p:cNvPr id="104" name="Google Shape;104;p5"/>
          <p:cNvSpPr/>
          <p:nvPr/>
        </p:nvSpPr>
        <p:spPr>
          <a:xfrm>
            <a:off x="9630132" y="2226469"/>
            <a:ext cx="4136350" cy="2843093"/>
          </a:xfrm>
          <a:prstGeom prst="roundRect">
            <a:avLst>
              <a:gd fmla="val 1302" name="adj"/>
            </a:avLst>
          </a:prstGeom>
          <a:solidFill>
            <a:srgbClr val="3031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
          <p:cNvSpPr/>
          <p:nvPr/>
        </p:nvSpPr>
        <p:spPr>
          <a:xfrm>
            <a:off x="9876949" y="2473285"/>
            <a:ext cx="3385780"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Operandos de Memoria</a:t>
            </a:r>
            <a:endParaRPr b="0" i="0" sz="2200" u="none" cap="none" strike="noStrike">
              <a:solidFill>
                <a:srgbClr val="000000"/>
              </a:solidFill>
              <a:latin typeface="Arial"/>
              <a:ea typeface="Arial"/>
              <a:cs typeface="Arial"/>
              <a:sym typeface="Arial"/>
            </a:endParaRPr>
          </a:p>
        </p:txBody>
      </p:sp>
      <p:sp>
        <p:nvSpPr>
          <p:cNvPr id="106" name="Google Shape;106;p5"/>
          <p:cNvSpPr/>
          <p:nvPr/>
        </p:nvSpPr>
        <p:spPr>
          <a:xfrm>
            <a:off x="9876949" y="2971919"/>
            <a:ext cx="3642717" cy="1110496"/>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No puedes usar operandos de memoria directa. Solo registros o inmediatos.</a:t>
            </a:r>
            <a:endParaRPr b="0" i="0" sz="1900" u="none" cap="none" strike="noStrike">
              <a:solidFill>
                <a:srgbClr val="000000"/>
              </a:solidFill>
              <a:latin typeface="Arial"/>
              <a:ea typeface="Arial"/>
              <a:cs typeface="Arial"/>
              <a:sym typeface="Arial"/>
            </a:endParaRPr>
          </a:p>
        </p:txBody>
      </p:sp>
      <p:sp>
        <p:nvSpPr>
          <p:cNvPr id="107" name="Google Shape;107;p5"/>
          <p:cNvSpPr/>
          <p:nvPr/>
        </p:nvSpPr>
        <p:spPr>
          <a:xfrm>
            <a:off x="863798" y="5347216"/>
            <a:ext cx="12902803" cy="185082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Las restricciones en los operandos son un aspecto crítico del ensamblador A64. La incapacidad de mezclar tipos de registros (32 y 64 bits) en la misma operación es una medida de seguridad para evitar errores. Los inmediatos codificados no son tan directos como se podría pensar; requieren patrones de bits específicos. Esto es debido a cómo se codifican en la propia instrucción. La falta de soporte para operandos de memoria directa significa que la carga y almacenamiento de datos debe manejarse en pasos separados.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preencoded.png" id="113" name="Google Shape;113;p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14" name="Google Shape;114;p6"/>
          <p:cNvSpPr/>
          <p:nvPr/>
        </p:nvSpPr>
        <p:spPr>
          <a:xfrm>
            <a:off x="692587" y="690682"/>
            <a:ext cx="6690241" cy="56221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FFFFF"/>
              </a:buClr>
              <a:buSzPts val="3500"/>
              <a:buFont typeface="Montserrat"/>
              <a:buNone/>
            </a:pPr>
            <a:r>
              <a:rPr b="1" i="0" lang="en-US" sz="3500" u="none" cap="none" strike="noStrike">
                <a:solidFill>
                  <a:srgbClr val="FFFFFF"/>
                </a:solidFill>
                <a:latin typeface="Montserrat"/>
                <a:ea typeface="Montserrat"/>
                <a:cs typeface="Montserrat"/>
                <a:sym typeface="Montserrat"/>
              </a:rPr>
              <a:t>Resumen y Buenas Prácticas</a:t>
            </a:r>
            <a:endParaRPr b="0" i="0" sz="3500" u="none" cap="none" strike="noStrike">
              <a:solidFill>
                <a:srgbClr val="000000"/>
              </a:solidFill>
              <a:latin typeface="Arial"/>
              <a:ea typeface="Arial"/>
              <a:cs typeface="Arial"/>
              <a:sym typeface="Arial"/>
            </a:endParaRPr>
          </a:p>
        </p:txBody>
      </p:sp>
      <p:sp>
        <p:nvSpPr>
          <p:cNvPr id="115" name="Google Shape;115;p6"/>
          <p:cNvSpPr/>
          <p:nvPr/>
        </p:nvSpPr>
        <p:spPr>
          <a:xfrm>
            <a:off x="692587" y="1648658"/>
            <a:ext cx="3730943" cy="6530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5100"/>
              <a:buFont typeface="Montserrat"/>
              <a:buNone/>
            </a:pPr>
            <a:r>
              <a:rPr b="1" i="0" lang="en-US" sz="5100" u="none" cap="none" strike="noStrike">
                <a:solidFill>
                  <a:srgbClr val="E2E6E9"/>
                </a:solidFill>
                <a:latin typeface="Montserrat"/>
                <a:ea typeface="Montserrat"/>
                <a:cs typeface="Montserrat"/>
                <a:sym typeface="Montserrat"/>
              </a:rPr>
              <a:t>1</a:t>
            </a:r>
            <a:endParaRPr b="0" i="0" sz="5100" u="none" cap="none" strike="noStrike">
              <a:solidFill>
                <a:srgbClr val="000000"/>
              </a:solidFill>
              <a:latin typeface="Arial"/>
              <a:ea typeface="Arial"/>
              <a:cs typeface="Arial"/>
              <a:sym typeface="Arial"/>
            </a:endParaRPr>
          </a:p>
        </p:txBody>
      </p:sp>
      <p:sp>
        <p:nvSpPr>
          <p:cNvPr id="116" name="Google Shape;116;p6"/>
          <p:cNvSpPr/>
          <p:nvPr/>
        </p:nvSpPr>
        <p:spPr>
          <a:xfrm>
            <a:off x="1433513" y="2549009"/>
            <a:ext cx="2248972" cy="281107"/>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E2E6E9"/>
              </a:buClr>
              <a:buSzPts val="1750"/>
              <a:buFont typeface="Montserrat"/>
              <a:buNone/>
            </a:pPr>
            <a:r>
              <a:rPr b="1" i="0" lang="en-US" sz="1750" u="none" cap="none" strike="noStrike">
                <a:solidFill>
                  <a:srgbClr val="E2E6E9"/>
                </a:solidFill>
                <a:latin typeface="Montserrat"/>
                <a:ea typeface="Montserrat"/>
                <a:cs typeface="Montserrat"/>
                <a:sym typeface="Montserrat"/>
              </a:rPr>
              <a:t>Sufijo "S"</a:t>
            </a:r>
            <a:endParaRPr b="0" i="0" sz="1750" u="none" cap="none" strike="noStrike">
              <a:solidFill>
                <a:srgbClr val="000000"/>
              </a:solidFill>
              <a:latin typeface="Arial"/>
              <a:ea typeface="Arial"/>
              <a:cs typeface="Arial"/>
              <a:sym typeface="Arial"/>
            </a:endParaRPr>
          </a:p>
        </p:txBody>
      </p:sp>
      <p:sp>
        <p:nvSpPr>
          <p:cNvPr id="117" name="Google Shape;117;p6"/>
          <p:cNvSpPr/>
          <p:nvPr/>
        </p:nvSpPr>
        <p:spPr>
          <a:xfrm>
            <a:off x="692587" y="2948821"/>
            <a:ext cx="3730943" cy="593646"/>
          </a:xfrm>
          <a:prstGeom prst="rect">
            <a:avLst/>
          </a:prstGeom>
          <a:noFill/>
          <a:ln>
            <a:noFill/>
          </a:ln>
        </p:spPr>
        <p:txBody>
          <a:bodyPr anchorCtr="0" anchor="t" bIns="0" lIns="0" spcFirstLastPara="1" rIns="0" wrap="square" tIns="0">
            <a:noAutofit/>
          </a:bodyPr>
          <a:lstStyle/>
          <a:p>
            <a:pPr indent="0" lvl="0" marL="0" marR="0" rtl="0" algn="ctr">
              <a:lnSpc>
                <a:spcPct val="148387"/>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Usar para actualizar banderas cuando sea necesario.</a:t>
            </a:r>
            <a:endParaRPr b="0" i="0" sz="1550" u="none" cap="none" strike="noStrike">
              <a:solidFill>
                <a:srgbClr val="000000"/>
              </a:solidFill>
              <a:latin typeface="Arial"/>
              <a:ea typeface="Arial"/>
              <a:cs typeface="Arial"/>
              <a:sym typeface="Arial"/>
            </a:endParaRPr>
          </a:p>
        </p:txBody>
      </p:sp>
      <p:sp>
        <p:nvSpPr>
          <p:cNvPr id="118" name="Google Shape;118;p6"/>
          <p:cNvSpPr/>
          <p:nvPr/>
        </p:nvSpPr>
        <p:spPr>
          <a:xfrm>
            <a:off x="4720352" y="1648658"/>
            <a:ext cx="3731062" cy="6530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5100"/>
              <a:buFont typeface="Montserrat"/>
              <a:buNone/>
            </a:pPr>
            <a:r>
              <a:rPr b="1" i="0" lang="en-US" sz="5100" u="none" cap="none" strike="noStrike">
                <a:solidFill>
                  <a:srgbClr val="E2E6E9"/>
                </a:solidFill>
                <a:latin typeface="Montserrat"/>
                <a:ea typeface="Montserrat"/>
                <a:cs typeface="Montserrat"/>
                <a:sym typeface="Montserrat"/>
              </a:rPr>
              <a:t>2</a:t>
            </a:r>
            <a:endParaRPr b="0" i="0" sz="5100" u="none" cap="none" strike="noStrike">
              <a:solidFill>
                <a:srgbClr val="000000"/>
              </a:solidFill>
              <a:latin typeface="Arial"/>
              <a:ea typeface="Arial"/>
              <a:cs typeface="Arial"/>
              <a:sym typeface="Arial"/>
            </a:endParaRPr>
          </a:p>
        </p:txBody>
      </p:sp>
      <p:sp>
        <p:nvSpPr>
          <p:cNvPr id="119" name="Google Shape;119;p6"/>
          <p:cNvSpPr/>
          <p:nvPr/>
        </p:nvSpPr>
        <p:spPr>
          <a:xfrm>
            <a:off x="5461397" y="2549009"/>
            <a:ext cx="2248972" cy="281107"/>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E2E6E9"/>
              </a:buClr>
              <a:buSzPts val="1750"/>
              <a:buFont typeface="Montserrat"/>
              <a:buNone/>
            </a:pPr>
            <a:r>
              <a:rPr b="1" i="0" lang="en-US" sz="1750" u="none" cap="none" strike="noStrike">
                <a:solidFill>
                  <a:srgbClr val="E2E6E9"/>
                </a:solidFill>
                <a:latin typeface="Montserrat"/>
                <a:ea typeface="Montserrat"/>
                <a:cs typeface="Montserrat"/>
                <a:sym typeface="Montserrat"/>
              </a:rPr>
              <a:t>Restricciones</a:t>
            </a:r>
            <a:endParaRPr b="0" i="0" sz="1750" u="none" cap="none" strike="noStrike">
              <a:solidFill>
                <a:srgbClr val="000000"/>
              </a:solidFill>
              <a:latin typeface="Arial"/>
              <a:ea typeface="Arial"/>
              <a:cs typeface="Arial"/>
              <a:sym typeface="Arial"/>
            </a:endParaRPr>
          </a:p>
        </p:txBody>
      </p:sp>
      <p:sp>
        <p:nvSpPr>
          <p:cNvPr id="120" name="Google Shape;120;p6"/>
          <p:cNvSpPr/>
          <p:nvPr/>
        </p:nvSpPr>
        <p:spPr>
          <a:xfrm>
            <a:off x="4720352" y="2948821"/>
            <a:ext cx="3731062" cy="593646"/>
          </a:xfrm>
          <a:prstGeom prst="rect">
            <a:avLst/>
          </a:prstGeom>
          <a:noFill/>
          <a:ln>
            <a:noFill/>
          </a:ln>
        </p:spPr>
        <p:txBody>
          <a:bodyPr anchorCtr="0" anchor="t" bIns="0" lIns="0" spcFirstLastPara="1" rIns="0" wrap="square" tIns="0">
            <a:noAutofit/>
          </a:bodyPr>
          <a:lstStyle/>
          <a:p>
            <a:pPr indent="0" lvl="0" marL="0" marR="0" rtl="0" algn="ctr">
              <a:lnSpc>
                <a:spcPct val="148387"/>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Verificar tipo de registro y formato de inmediato.</a:t>
            </a:r>
            <a:endParaRPr b="0" i="0" sz="1550" u="none" cap="none" strike="noStrike">
              <a:solidFill>
                <a:srgbClr val="000000"/>
              </a:solidFill>
              <a:latin typeface="Arial"/>
              <a:ea typeface="Arial"/>
              <a:cs typeface="Arial"/>
              <a:sym typeface="Arial"/>
            </a:endParaRPr>
          </a:p>
        </p:txBody>
      </p:sp>
      <p:sp>
        <p:nvSpPr>
          <p:cNvPr id="121" name="Google Shape;121;p6"/>
          <p:cNvSpPr/>
          <p:nvPr/>
        </p:nvSpPr>
        <p:spPr>
          <a:xfrm>
            <a:off x="2706410" y="4235053"/>
            <a:ext cx="3731062" cy="6530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5100"/>
              <a:buFont typeface="Montserrat"/>
              <a:buNone/>
            </a:pPr>
            <a:r>
              <a:rPr b="1" i="0" lang="en-US" sz="5100" u="none" cap="none" strike="noStrike">
                <a:solidFill>
                  <a:srgbClr val="E2E6E9"/>
                </a:solidFill>
                <a:latin typeface="Montserrat"/>
                <a:ea typeface="Montserrat"/>
                <a:cs typeface="Montserrat"/>
                <a:sym typeface="Montserrat"/>
              </a:rPr>
              <a:t>3</a:t>
            </a:r>
            <a:endParaRPr b="0" i="0" sz="5100" u="none" cap="none" strike="noStrike">
              <a:solidFill>
                <a:srgbClr val="000000"/>
              </a:solidFill>
              <a:latin typeface="Arial"/>
              <a:ea typeface="Arial"/>
              <a:cs typeface="Arial"/>
              <a:sym typeface="Arial"/>
            </a:endParaRPr>
          </a:p>
        </p:txBody>
      </p:sp>
      <p:sp>
        <p:nvSpPr>
          <p:cNvPr id="122" name="Google Shape;122;p6"/>
          <p:cNvSpPr/>
          <p:nvPr/>
        </p:nvSpPr>
        <p:spPr>
          <a:xfrm>
            <a:off x="3363873" y="5135404"/>
            <a:ext cx="2416135" cy="281107"/>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E2E6E9"/>
              </a:buClr>
              <a:buSzPts val="1750"/>
              <a:buFont typeface="Montserrat"/>
              <a:buNone/>
            </a:pPr>
            <a:r>
              <a:rPr b="1" i="0" lang="en-US" sz="1750" u="none" cap="none" strike="noStrike">
                <a:solidFill>
                  <a:srgbClr val="E2E6E9"/>
                </a:solidFill>
                <a:latin typeface="Montserrat"/>
                <a:ea typeface="Montserrat"/>
                <a:cs typeface="Montserrat"/>
                <a:sym typeface="Montserrat"/>
              </a:rPr>
              <a:t>Consultar Referencia</a:t>
            </a:r>
            <a:endParaRPr b="0" i="0" sz="1750" u="none" cap="none" strike="noStrike">
              <a:solidFill>
                <a:srgbClr val="000000"/>
              </a:solidFill>
              <a:latin typeface="Arial"/>
              <a:ea typeface="Arial"/>
              <a:cs typeface="Arial"/>
              <a:sym typeface="Arial"/>
            </a:endParaRPr>
          </a:p>
        </p:txBody>
      </p:sp>
      <p:sp>
        <p:nvSpPr>
          <p:cNvPr id="123" name="Google Shape;123;p6"/>
          <p:cNvSpPr/>
          <p:nvPr/>
        </p:nvSpPr>
        <p:spPr>
          <a:xfrm>
            <a:off x="2706410" y="5535216"/>
            <a:ext cx="3731062" cy="296823"/>
          </a:xfrm>
          <a:prstGeom prst="rect">
            <a:avLst/>
          </a:prstGeom>
          <a:noFill/>
          <a:ln>
            <a:noFill/>
          </a:ln>
        </p:spPr>
        <p:txBody>
          <a:bodyPr anchorCtr="0" anchor="t" bIns="0" lIns="0" spcFirstLastPara="1" rIns="0" wrap="square" tIns="0">
            <a:noAutofit/>
          </a:bodyPr>
          <a:lstStyle/>
          <a:p>
            <a:pPr indent="0" lvl="0" marL="0" marR="0" rtl="0" algn="ctr">
              <a:lnSpc>
                <a:spcPct val="148387"/>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Para formas válidas y casos particulares.</a:t>
            </a:r>
            <a:endParaRPr b="0" i="0" sz="1550" u="none" cap="none" strike="noStrike">
              <a:solidFill>
                <a:srgbClr val="000000"/>
              </a:solidFill>
              <a:latin typeface="Arial"/>
              <a:ea typeface="Arial"/>
              <a:cs typeface="Arial"/>
              <a:sym typeface="Arial"/>
            </a:endParaRPr>
          </a:p>
        </p:txBody>
      </p:sp>
      <p:sp>
        <p:nvSpPr>
          <p:cNvPr id="124" name="Google Shape;124;p6"/>
          <p:cNvSpPr/>
          <p:nvPr/>
        </p:nvSpPr>
        <p:spPr>
          <a:xfrm>
            <a:off x="692587" y="6054685"/>
            <a:ext cx="7758827" cy="1484114"/>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1550"/>
              <a:buFont typeface="Arial"/>
              <a:buNone/>
            </a:pPr>
            <a:r>
              <a:rPr b="0" i="0" lang="en-US" sz="1550" u="none" cap="none" strike="noStrike">
                <a:solidFill>
                  <a:srgbClr val="E2E6E9"/>
                </a:solidFill>
                <a:latin typeface="Arial"/>
                <a:ea typeface="Arial"/>
                <a:cs typeface="Arial"/>
                <a:sym typeface="Arial"/>
              </a:rPr>
              <a:t>Dominar las instrucciones lógicas ARM de 64 bits requiere atención a los detalles. La decisión de usar el sufijo "S" depende directamente de la necesidad de afectar las banderas del procesador. Comprender las restricciones de operandos es fundamental para escribir código sin errores. Siempre consulta la documentación oficial de ARMv8-A para los detalles más finos y ejemplos avanzados. Esto te permitirá aprovechar al máximo el poder de la arquitectura A64.</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