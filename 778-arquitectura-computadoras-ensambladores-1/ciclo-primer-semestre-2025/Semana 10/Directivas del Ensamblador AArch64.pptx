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8229600" cx="14630400"/>
  <p:notesSz cx="8229600" cy="14630400"/>
  <p:embeddedFontLst>
    <p:embeddedFont>
      <p:font typeface="Funnel Sans"/>
      <p:regular r:id="rId13"/>
      <p:bold r:id="rId14"/>
      <p:italic r:id="rId15"/>
      <p:boldItalic r:id="rId16"/>
    </p:embeddedFont>
    <p:embeddedFont>
      <p:font typeface="Mona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hRMbSp2tcY4SaHZeQTrCBO/zC78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aSans-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font" Target="fonts/FunnelSans-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FunnelSans-italic.fntdata"/><Relationship Id="rId14" Type="http://schemas.openxmlformats.org/officeDocument/2006/relationships/font" Target="fonts/FunnelSans-bold.fntdata"/><Relationship Id="rId17" Type="http://schemas.openxmlformats.org/officeDocument/2006/relationships/font" Target="fonts/MonaSans-regular.fntdata"/><Relationship Id="rId16" Type="http://schemas.openxmlformats.org/officeDocument/2006/relationships/font" Target="fonts/FunnelSans-boldItalic.fntdata"/><Relationship Id="rId5" Type="http://schemas.openxmlformats.org/officeDocument/2006/relationships/slide" Target="slides/slide1.xml"/><Relationship Id="rId19" Type="http://schemas.openxmlformats.org/officeDocument/2006/relationships/font" Target="fonts/MonaSans-italic.fntdata"/><Relationship Id="rId6" Type="http://schemas.openxmlformats.org/officeDocument/2006/relationships/slide" Target="slides/slide2.xml"/><Relationship Id="rId18" Type="http://schemas.openxmlformats.org/officeDocument/2006/relationships/font" Target="fonts/MonaSa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 name="Google Shape;4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 name="Google Shape;5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gamma.app/?utm_source=made-with-gamma" TargetMode="Externa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gamma.app/?utm_source=made-with-gamma" TargetMode="Externa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gamma.app/?utm_source=made-with-gamma" TargetMode="Externa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gamma.app/?utm_source=made-with-gamma" TargetMode="Externa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gamma.app/?utm_source=made-with-gamma" TargetMode="Externa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gamma.app/?utm_source=made-with-gamma" TargetMode="Externa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gamma.app/?utm_source=made-with-gamma" TargetMode="Externa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gamma.app/?utm_source=made-with-gamma" TargetMode="Externa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1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10"/>
          <p:cNvSpPr/>
          <p:nvPr/>
        </p:nvSpPr>
        <p:spPr>
          <a:xfrm>
            <a:off x="0" y="0"/>
            <a:ext cx="14630400" cy="8229600"/>
          </a:xfrm>
          <a:prstGeom prst="rect">
            <a:avLst/>
          </a:prstGeom>
          <a:solidFill>
            <a:srgbClr val="181616">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 name="Google Shape;13;p10">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1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11"/>
          <p:cNvSpPr/>
          <p:nvPr/>
        </p:nvSpPr>
        <p:spPr>
          <a:xfrm>
            <a:off x="0" y="0"/>
            <a:ext cx="14630400" cy="8229600"/>
          </a:xfrm>
          <a:prstGeom prst="rect">
            <a:avLst/>
          </a:prstGeom>
          <a:solidFill>
            <a:srgbClr val="181616">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 name="Google Shape;17;p11">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pic>
        <p:nvPicPr>
          <p:cNvPr descr="preencoded.png" id="19" name="Google Shape;19;p1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12"/>
          <p:cNvSpPr/>
          <p:nvPr/>
        </p:nvSpPr>
        <p:spPr>
          <a:xfrm>
            <a:off x="0" y="0"/>
            <a:ext cx="14630400" cy="8229600"/>
          </a:xfrm>
          <a:prstGeom prst="rect">
            <a:avLst/>
          </a:prstGeom>
          <a:solidFill>
            <a:srgbClr val="181616">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 name="Google Shape;21;p1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pic>
        <p:nvPicPr>
          <p:cNvPr descr="preencoded.png" id="23" name="Google Shape;23;p1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13"/>
          <p:cNvSpPr/>
          <p:nvPr/>
        </p:nvSpPr>
        <p:spPr>
          <a:xfrm>
            <a:off x="0" y="0"/>
            <a:ext cx="14630400" cy="8229600"/>
          </a:xfrm>
          <a:prstGeom prst="rect">
            <a:avLst/>
          </a:prstGeom>
          <a:solidFill>
            <a:srgbClr val="181616">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 name="Google Shape;25;p1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1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14"/>
          <p:cNvSpPr/>
          <p:nvPr/>
        </p:nvSpPr>
        <p:spPr>
          <a:xfrm>
            <a:off x="0" y="0"/>
            <a:ext cx="14630400" cy="8229600"/>
          </a:xfrm>
          <a:prstGeom prst="rect">
            <a:avLst/>
          </a:prstGeom>
          <a:solidFill>
            <a:srgbClr val="181616">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 name="Google Shape;29;p1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pic>
        <p:nvPicPr>
          <p:cNvPr descr="preencoded.png" id="31" name="Google Shape;31;p1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15"/>
          <p:cNvSpPr/>
          <p:nvPr/>
        </p:nvSpPr>
        <p:spPr>
          <a:xfrm>
            <a:off x="0" y="0"/>
            <a:ext cx="14630400" cy="8229600"/>
          </a:xfrm>
          <a:prstGeom prst="rect">
            <a:avLst/>
          </a:prstGeom>
          <a:solidFill>
            <a:srgbClr val="181616">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 name="Google Shape;33;p1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pic>
        <p:nvPicPr>
          <p:cNvPr descr="preencoded.png" id="35" name="Google Shape;35;p1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16"/>
          <p:cNvSpPr/>
          <p:nvPr/>
        </p:nvSpPr>
        <p:spPr>
          <a:xfrm>
            <a:off x="0" y="0"/>
            <a:ext cx="14630400" cy="8229600"/>
          </a:xfrm>
          <a:prstGeom prst="rect">
            <a:avLst/>
          </a:prstGeom>
          <a:solidFill>
            <a:srgbClr val="181616">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7" name="Google Shape;37;p1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pic>
        <p:nvPicPr>
          <p:cNvPr descr="preencoded.png" id="39" name="Google Shape;39;p1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17"/>
          <p:cNvSpPr/>
          <p:nvPr/>
        </p:nvSpPr>
        <p:spPr>
          <a:xfrm>
            <a:off x="0" y="0"/>
            <a:ext cx="14630400" cy="8229600"/>
          </a:xfrm>
          <a:prstGeom prst="rect">
            <a:avLst/>
          </a:prstGeom>
          <a:solidFill>
            <a:srgbClr val="181616">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1" name="Google Shape;41;p1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2" name="Shape 4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11.png"/><Relationship Id="rId7"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13.png"/><Relationship Id="rId7"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descr="preencoded.png" id="48" name="Google Shape;48;p1"/>
          <p:cNvPicPr preferRelativeResize="0"/>
          <p:nvPr/>
        </p:nvPicPr>
        <p:blipFill rotWithShape="1">
          <a:blip r:embed="rId3">
            <a:alphaModFix/>
          </a:blip>
          <a:srcRect b="0" l="0" r="0" t="0"/>
          <a:stretch/>
        </p:blipFill>
        <p:spPr>
          <a:xfrm>
            <a:off x="0" y="0"/>
            <a:ext cx="6035040" cy="8229600"/>
          </a:xfrm>
          <a:prstGeom prst="rect">
            <a:avLst/>
          </a:prstGeom>
          <a:noFill/>
          <a:ln>
            <a:noFill/>
          </a:ln>
        </p:spPr>
      </p:pic>
      <p:sp>
        <p:nvSpPr>
          <p:cNvPr id="49" name="Google Shape;49;p1"/>
          <p:cNvSpPr/>
          <p:nvPr/>
        </p:nvSpPr>
        <p:spPr>
          <a:xfrm>
            <a:off x="6280190" y="2510076"/>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DDDDD"/>
              </a:buClr>
              <a:buSzPts val="4450"/>
              <a:buFont typeface="Mona Sans"/>
              <a:buNone/>
            </a:pPr>
            <a:r>
              <a:rPr b="0" i="0" lang="en-US" sz="4450" u="none" cap="none" strike="noStrike">
                <a:solidFill>
                  <a:srgbClr val="DDDDDD"/>
                </a:solidFill>
                <a:latin typeface="Mona Sans"/>
                <a:ea typeface="Mona Sans"/>
                <a:cs typeface="Mona Sans"/>
                <a:sym typeface="Mona Sans"/>
              </a:rPr>
              <a:t>Directivas del Ensamblador AArch64</a:t>
            </a:r>
            <a:endParaRPr b="0" i="0" sz="4450" u="none" cap="none" strike="noStrike">
              <a:solidFill>
                <a:srgbClr val="000000"/>
              </a:solidFill>
              <a:latin typeface="Arial"/>
              <a:ea typeface="Arial"/>
              <a:cs typeface="Arial"/>
              <a:sym typeface="Arial"/>
            </a:endParaRPr>
          </a:p>
        </p:txBody>
      </p:sp>
      <p:sp>
        <p:nvSpPr>
          <p:cNvPr id="50" name="Google Shape;50;p1"/>
          <p:cNvSpPr/>
          <p:nvPr/>
        </p:nvSpPr>
        <p:spPr>
          <a:xfrm>
            <a:off x="6280190" y="426779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Las directivas del ensamblador son elementos esenciales en la programación de bajo nivel. Son instrucciones para el ensamblador, no para el procesador. Se utilizan en la arquitectura ARM de 64 bits (ARMv8+), controlando aspectos críticos en la generación de código.</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p2"/>
          <p:cNvPicPr preferRelativeResize="0"/>
          <p:nvPr/>
        </p:nvPicPr>
        <p:blipFill rotWithShape="1">
          <a:blip r:embed="rId3">
            <a:alphaModFix/>
          </a:blip>
          <a:srcRect b="0" l="0" r="0" t="0"/>
          <a:stretch/>
        </p:blipFill>
        <p:spPr>
          <a:xfrm>
            <a:off x="0" y="0"/>
            <a:ext cx="14630400" cy="3118723"/>
          </a:xfrm>
          <a:prstGeom prst="rect">
            <a:avLst/>
          </a:prstGeom>
          <a:noFill/>
          <a:ln>
            <a:noFill/>
          </a:ln>
        </p:spPr>
      </p:pic>
      <p:sp>
        <p:nvSpPr>
          <p:cNvPr id="57" name="Google Shape;57;p2"/>
          <p:cNvSpPr/>
          <p:nvPr/>
        </p:nvSpPr>
        <p:spPr>
          <a:xfrm>
            <a:off x="793790" y="3486983"/>
            <a:ext cx="10876359"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DDDDD"/>
              </a:buClr>
              <a:buSzPts val="4450"/>
              <a:buFont typeface="Mona Sans"/>
              <a:buNone/>
            </a:pPr>
            <a:r>
              <a:rPr b="0" i="0" lang="en-US" sz="4450" u="none" cap="none" strike="noStrike">
                <a:solidFill>
                  <a:srgbClr val="DDDDDD"/>
                </a:solidFill>
                <a:latin typeface="Mona Sans"/>
                <a:ea typeface="Mona Sans"/>
                <a:cs typeface="Mona Sans"/>
                <a:sym typeface="Mona Sans"/>
              </a:rPr>
              <a:t>¿Qué es una Directiva de Ensamblador?</a:t>
            </a:r>
            <a:endParaRPr b="0" i="0" sz="4450" u="none" cap="none" strike="noStrike">
              <a:solidFill>
                <a:srgbClr val="000000"/>
              </a:solidFill>
              <a:latin typeface="Arial"/>
              <a:ea typeface="Arial"/>
              <a:cs typeface="Arial"/>
              <a:sym typeface="Arial"/>
            </a:endParaRPr>
          </a:p>
        </p:txBody>
      </p:sp>
      <p:sp>
        <p:nvSpPr>
          <p:cNvPr id="58" name="Google Shape;58;p2"/>
          <p:cNvSpPr/>
          <p:nvPr/>
        </p:nvSpPr>
        <p:spPr>
          <a:xfrm>
            <a:off x="793790" y="4535924"/>
            <a:ext cx="510302" cy="510302"/>
          </a:xfrm>
          <a:prstGeom prst="roundRect">
            <a:avLst>
              <a:gd fmla="val 18669"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9" name="Google Shape;59;p2"/>
          <p:cNvPicPr preferRelativeResize="0"/>
          <p:nvPr/>
        </p:nvPicPr>
        <p:blipFill rotWithShape="1">
          <a:blip r:embed="rId4">
            <a:alphaModFix/>
          </a:blip>
          <a:srcRect b="0" l="0" r="0" t="0"/>
          <a:stretch/>
        </p:blipFill>
        <p:spPr>
          <a:xfrm>
            <a:off x="878860" y="4578429"/>
            <a:ext cx="340162" cy="425291"/>
          </a:xfrm>
          <a:prstGeom prst="rect">
            <a:avLst/>
          </a:prstGeom>
          <a:noFill/>
          <a:ln>
            <a:noFill/>
          </a:ln>
        </p:spPr>
      </p:pic>
      <p:sp>
        <p:nvSpPr>
          <p:cNvPr id="60" name="Google Shape;60;p2"/>
          <p:cNvSpPr/>
          <p:nvPr/>
        </p:nvSpPr>
        <p:spPr>
          <a:xfrm>
            <a:off x="1530906" y="4613791"/>
            <a:ext cx="338494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Instrucciones Especiales</a:t>
            </a:r>
            <a:endParaRPr b="0" i="0" sz="2200" u="none" cap="none" strike="noStrike">
              <a:solidFill>
                <a:srgbClr val="000000"/>
              </a:solidFill>
              <a:latin typeface="Arial"/>
              <a:ea typeface="Arial"/>
              <a:cs typeface="Arial"/>
              <a:sym typeface="Arial"/>
            </a:endParaRPr>
          </a:p>
        </p:txBody>
      </p:sp>
      <p:sp>
        <p:nvSpPr>
          <p:cNvPr id="61" name="Google Shape;61;p2"/>
          <p:cNvSpPr/>
          <p:nvPr/>
        </p:nvSpPr>
        <p:spPr>
          <a:xfrm>
            <a:off x="1530906" y="5104209"/>
            <a:ext cx="564261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Dirigidas exclusivamente al ensamblador, no al procesador.</a:t>
            </a:r>
            <a:endParaRPr b="0" i="0" sz="1750" u="none" cap="none" strike="noStrike">
              <a:solidFill>
                <a:srgbClr val="000000"/>
              </a:solidFill>
              <a:latin typeface="Arial"/>
              <a:ea typeface="Arial"/>
              <a:cs typeface="Arial"/>
              <a:sym typeface="Arial"/>
            </a:endParaRPr>
          </a:p>
        </p:txBody>
      </p:sp>
      <p:sp>
        <p:nvSpPr>
          <p:cNvPr id="62" name="Google Shape;62;p2"/>
          <p:cNvSpPr/>
          <p:nvPr/>
        </p:nvSpPr>
        <p:spPr>
          <a:xfrm>
            <a:off x="7457003" y="4535924"/>
            <a:ext cx="510302" cy="510302"/>
          </a:xfrm>
          <a:prstGeom prst="roundRect">
            <a:avLst>
              <a:gd fmla="val 18669"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3" name="Google Shape;63;p2"/>
          <p:cNvPicPr preferRelativeResize="0"/>
          <p:nvPr/>
        </p:nvPicPr>
        <p:blipFill rotWithShape="1">
          <a:blip r:embed="rId5">
            <a:alphaModFix/>
          </a:blip>
          <a:srcRect b="0" l="0" r="0" t="0"/>
          <a:stretch/>
        </p:blipFill>
        <p:spPr>
          <a:xfrm>
            <a:off x="7542074" y="4578429"/>
            <a:ext cx="340162" cy="425291"/>
          </a:xfrm>
          <a:prstGeom prst="rect">
            <a:avLst/>
          </a:prstGeom>
          <a:noFill/>
          <a:ln>
            <a:noFill/>
          </a:ln>
        </p:spPr>
      </p:pic>
      <p:sp>
        <p:nvSpPr>
          <p:cNvPr id="64" name="Google Shape;64;p2"/>
          <p:cNvSpPr/>
          <p:nvPr/>
        </p:nvSpPr>
        <p:spPr>
          <a:xfrm>
            <a:off x="8194119" y="461379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No Generan Código</a:t>
            </a:r>
            <a:endParaRPr b="0" i="0" sz="2200" u="none" cap="none" strike="noStrike">
              <a:solidFill>
                <a:srgbClr val="000000"/>
              </a:solidFill>
              <a:latin typeface="Arial"/>
              <a:ea typeface="Arial"/>
              <a:cs typeface="Arial"/>
              <a:sym typeface="Arial"/>
            </a:endParaRPr>
          </a:p>
        </p:txBody>
      </p:sp>
      <p:sp>
        <p:nvSpPr>
          <p:cNvPr id="65" name="Google Shape;65;p2"/>
          <p:cNvSpPr/>
          <p:nvPr/>
        </p:nvSpPr>
        <p:spPr>
          <a:xfrm>
            <a:off x="8194119" y="5104209"/>
            <a:ext cx="564261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No producen código máquina ejecutable directamente.</a:t>
            </a:r>
            <a:endParaRPr b="0" i="0" sz="1750" u="none" cap="none" strike="noStrike">
              <a:solidFill>
                <a:srgbClr val="000000"/>
              </a:solidFill>
              <a:latin typeface="Arial"/>
              <a:ea typeface="Arial"/>
              <a:cs typeface="Arial"/>
              <a:sym typeface="Arial"/>
            </a:endParaRPr>
          </a:p>
        </p:txBody>
      </p:sp>
      <p:sp>
        <p:nvSpPr>
          <p:cNvPr id="66" name="Google Shape;66;p2"/>
          <p:cNvSpPr/>
          <p:nvPr/>
        </p:nvSpPr>
        <p:spPr>
          <a:xfrm>
            <a:off x="793790" y="6283643"/>
            <a:ext cx="510302" cy="510302"/>
          </a:xfrm>
          <a:prstGeom prst="roundRect">
            <a:avLst>
              <a:gd fmla="val 18669"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7" name="Google Shape;67;p2"/>
          <p:cNvPicPr preferRelativeResize="0"/>
          <p:nvPr/>
        </p:nvPicPr>
        <p:blipFill rotWithShape="1">
          <a:blip r:embed="rId6">
            <a:alphaModFix/>
          </a:blip>
          <a:srcRect b="0" l="0" r="0" t="0"/>
          <a:stretch/>
        </p:blipFill>
        <p:spPr>
          <a:xfrm>
            <a:off x="878860" y="6326148"/>
            <a:ext cx="340162" cy="425291"/>
          </a:xfrm>
          <a:prstGeom prst="rect">
            <a:avLst/>
          </a:prstGeom>
          <a:noFill/>
          <a:ln>
            <a:noFill/>
          </a:ln>
        </p:spPr>
      </p:pic>
      <p:sp>
        <p:nvSpPr>
          <p:cNvPr id="68" name="Google Shape;68;p2"/>
          <p:cNvSpPr/>
          <p:nvPr/>
        </p:nvSpPr>
        <p:spPr>
          <a:xfrm>
            <a:off x="1530906" y="6361509"/>
            <a:ext cx="2969181"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Información y Control</a:t>
            </a:r>
            <a:endParaRPr b="0" i="0" sz="2200" u="none" cap="none" strike="noStrike">
              <a:solidFill>
                <a:srgbClr val="000000"/>
              </a:solidFill>
              <a:latin typeface="Arial"/>
              <a:ea typeface="Arial"/>
              <a:cs typeface="Arial"/>
              <a:sym typeface="Arial"/>
            </a:endParaRPr>
          </a:p>
        </p:txBody>
      </p:sp>
      <p:sp>
        <p:nvSpPr>
          <p:cNvPr id="69" name="Google Shape;69;p2"/>
          <p:cNvSpPr/>
          <p:nvPr/>
        </p:nvSpPr>
        <p:spPr>
          <a:xfrm>
            <a:off x="1530906" y="6851928"/>
            <a:ext cx="564261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Ofrecen datos y control sobre el proceso de ensamblado.</a:t>
            </a:r>
            <a:endParaRPr b="0" i="0" sz="1750" u="none" cap="none" strike="noStrike">
              <a:solidFill>
                <a:srgbClr val="000000"/>
              </a:solidFill>
              <a:latin typeface="Arial"/>
              <a:ea typeface="Arial"/>
              <a:cs typeface="Arial"/>
              <a:sym typeface="Arial"/>
            </a:endParaRPr>
          </a:p>
        </p:txBody>
      </p:sp>
      <p:sp>
        <p:nvSpPr>
          <p:cNvPr id="70" name="Google Shape;70;p2"/>
          <p:cNvSpPr/>
          <p:nvPr/>
        </p:nvSpPr>
        <p:spPr>
          <a:xfrm>
            <a:off x="7457003" y="6283643"/>
            <a:ext cx="510302" cy="510302"/>
          </a:xfrm>
          <a:prstGeom prst="roundRect">
            <a:avLst>
              <a:gd fmla="val 18669"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1" name="Google Shape;71;p2"/>
          <p:cNvPicPr preferRelativeResize="0"/>
          <p:nvPr/>
        </p:nvPicPr>
        <p:blipFill rotWithShape="1">
          <a:blip r:embed="rId7">
            <a:alphaModFix/>
          </a:blip>
          <a:srcRect b="0" l="0" r="0" t="0"/>
          <a:stretch/>
        </p:blipFill>
        <p:spPr>
          <a:xfrm>
            <a:off x="7542074" y="6326148"/>
            <a:ext cx="340162" cy="425291"/>
          </a:xfrm>
          <a:prstGeom prst="rect">
            <a:avLst/>
          </a:prstGeom>
          <a:noFill/>
          <a:ln>
            <a:noFill/>
          </a:ln>
        </p:spPr>
      </p:pic>
      <p:sp>
        <p:nvSpPr>
          <p:cNvPr id="72" name="Google Shape;72;p2"/>
          <p:cNvSpPr/>
          <p:nvPr/>
        </p:nvSpPr>
        <p:spPr>
          <a:xfrm>
            <a:off x="8194119" y="636150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Símbolo Distintivo</a:t>
            </a:r>
            <a:endParaRPr b="0" i="0" sz="2200" u="none" cap="none" strike="noStrike">
              <a:solidFill>
                <a:srgbClr val="000000"/>
              </a:solidFill>
              <a:latin typeface="Arial"/>
              <a:ea typeface="Arial"/>
              <a:cs typeface="Arial"/>
              <a:sym typeface="Arial"/>
            </a:endParaRPr>
          </a:p>
        </p:txBody>
      </p:sp>
      <p:sp>
        <p:nvSpPr>
          <p:cNvPr id="73" name="Google Shape;73;p2"/>
          <p:cNvSpPr/>
          <p:nvPr/>
        </p:nvSpPr>
        <p:spPr>
          <a:xfrm>
            <a:off x="8194119" y="6851928"/>
            <a:ext cx="564261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Se reconocen por iniciar siempre con el símbolo ".".</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3"/>
          <p:cNvSpPr/>
          <p:nvPr/>
        </p:nvSpPr>
        <p:spPr>
          <a:xfrm>
            <a:off x="709136" y="557213"/>
            <a:ext cx="8386048" cy="633174"/>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DDDDDD"/>
              </a:buClr>
              <a:buSzPts val="3950"/>
              <a:buFont typeface="Mona Sans"/>
              <a:buNone/>
            </a:pPr>
            <a:r>
              <a:rPr b="0" i="0" lang="en-US" sz="3950" u="none" cap="none" strike="noStrike">
                <a:solidFill>
                  <a:srgbClr val="DDDDDD"/>
                </a:solidFill>
                <a:latin typeface="Mona Sans"/>
                <a:ea typeface="Mona Sans"/>
                <a:cs typeface="Mona Sans"/>
                <a:sym typeface="Mona Sans"/>
              </a:rPr>
              <a:t>Función Principal de las Directivas</a:t>
            </a:r>
            <a:endParaRPr b="0" i="0" sz="3950" u="none" cap="none" strike="noStrike">
              <a:solidFill>
                <a:srgbClr val="000000"/>
              </a:solidFill>
              <a:latin typeface="Arial"/>
              <a:ea typeface="Arial"/>
              <a:cs typeface="Arial"/>
              <a:sym typeface="Arial"/>
            </a:endParaRPr>
          </a:p>
        </p:txBody>
      </p:sp>
      <p:pic>
        <p:nvPicPr>
          <p:cNvPr descr="preencoded.png" id="80" name="Google Shape;80;p3"/>
          <p:cNvPicPr preferRelativeResize="0"/>
          <p:nvPr/>
        </p:nvPicPr>
        <p:blipFill rotWithShape="1">
          <a:blip r:embed="rId3">
            <a:alphaModFix/>
          </a:blip>
          <a:srcRect b="0" l="0" r="0" t="0"/>
          <a:stretch/>
        </p:blipFill>
        <p:spPr>
          <a:xfrm>
            <a:off x="709136" y="1595557"/>
            <a:ext cx="1013103" cy="1215747"/>
          </a:xfrm>
          <a:prstGeom prst="rect">
            <a:avLst/>
          </a:prstGeom>
          <a:noFill/>
          <a:ln>
            <a:noFill/>
          </a:ln>
        </p:spPr>
      </p:pic>
      <p:sp>
        <p:nvSpPr>
          <p:cNvPr id="81" name="Google Shape;81;p3"/>
          <p:cNvSpPr/>
          <p:nvPr/>
        </p:nvSpPr>
        <p:spPr>
          <a:xfrm>
            <a:off x="2026087" y="1798082"/>
            <a:ext cx="3037046" cy="31646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8F8F8F"/>
              </a:buClr>
              <a:buSzPts val="1950"/>
              <a:buFont typeface="Mona Sans"/>
              <a:buNone/>
            </a:pPr>
            <a:r>
              <a:rPr b="0" i="0" lang="en-US" sz="1950" u="none" cap="none" strike="noStrike">
                <a:solidFill>
                  <a:srgbClr val="8F8F8F"/>
                </a:solidFill>
                <a:latin typeface="Mona Sans"/>
                <a:ea typeface="Mona Sans"/>
                <a:cs typeface="Mona Sans"/>
                <a:sym typeface="Mona Sans"/>
              </a:rPr>
              <a:t>Control del Ensamblador</a:t>
            </a:r>
            <a:endParaRPr b="0" i="0" sz="1950" u="none" cap="none" strike="noStrike">
              <a:solidFill>
                <a:srgbClr val="000000"/>
              </a:solidFill>
              <a:latin typeface="Arial"/>
              <a:ea typeface="Arial"/>
              <a:cs typeface="Arial"/>
              <a:sym typeface="Arial"/>
            </a:endParaRPr>
          </a:p>
        </p:txBody>
      </p:sp>
      <p:sp>
        <p:nvSpPr>
          <p:cNvPr id="82" name="Google Shape;82;p3"/>
          <p:cNvSpPr/>
          <p:nvPr/>
        </p:nvSpPr>
        <p:spPr>
          <a:xfrm>
            <a:off x="2026087" y="2236113"/>
            <a:ext cx="11895177" cy="324207"/>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8F8F8F"/>
              </a:buClr>
              <a:buSzPts val="1550"/>
              <a:buFont typeface="Funnel Sans"/>
              <a:buNone/>
            </a:pPr>
            <a:r>
              <a:rPr b="0" i="0" lang="en-US" sz="1550" u="none" cap="none" strike="noStrike">
                <a:solidFill>
                  <a:srgbClr val="8F8F8F"/>
                </a:solidFill>
                <a:latin typeface="Funnel Sans"/>
                <a:ea typeface="Funnel Sans"/>
                <a:cs typeface="Funnel Sans"/>
                <a:sym typeface="Funnel Sans"/>
              </a:rPr>
              <a:t>Gestionan el comportamiento durante el ensamblado.</a:t>
            </a:r>
            <a:endParaRPr b="0" i="0" sz="1550" u="none" cap="none" strike="noStrike">
              <a:solidFill>
                <a:srgbClr val="000000"/>
              </a:solidFill>
              <a:latin typeface="Arial"/>
              <a:ea typeface="Arial"/>
              <a:cs typeface="Arial"/>
              <a:sym typeface="Arial"/>
            </a:endParaRPr>
          </a:p>
        </p:txBody>
      </p:sp>
      <p:pic>
        <p:nvPicPr>
          <p:cNvPr descr="preencoded.png" id="83" name="Google Shape;83;p3"/>
          <p:cNvPicPr preferRelativeResize="0"/>
          <p:nvPr/>
        </p:nvPicPr>
        <p:blipFill rotWithShape="1">
          <a:blip r:embed="rId4">
            <a:alphaModFix/>
          </a:blip>
          <a:srcRect b="0" l="0" r="0" t="0"/>
          <a:stretch/>
        </p:blipFill>
        <p:spPr>
          <a:xfrm>
            <a:off x="709136" y="2811304"/>
            <a:ext cx="1013103" cy="1215747"/>
          </a:xfrm>
          <a:prstGeom prst="rect">
            <a:avLst/>
          </a:prstGeom>
          <a:noFill/>
          <a:ln>
            <a:noFill/>
          </a:ln>
        </p:spPr>
      </p:pic>
      <p:sp>
        <p:nvSpPr>
          <p:cNvPr id="84" name="Google Shape;84;p3"/>
          <p:cNvSpPr/>
          <p:nvPr/>
        </p:nvSpPr>
        <p:spPr>
          <a:xfrm>
            <a:off x="2026087" y="3013829"/>
            <a:ext cx="2900124" cy="31646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8F8F8F"/>
              </a:buClr>
              <a:buSzPts val="1950"/>
              <a:buFont typeface="Mona Sans"/>
              <a:buNone/>
            </a:pPr>
            <a:r>
              <a:rPr b="0" i="0" lang="en-US" sz="1950" u="none" cap="none" strike="noStrike">
                <a:solidFill>
                  <a:srgbClr val="8F8F8F"/>
                </a:solidFill>
                <a:latin typeface="Mona Sans"/>
                <a:ea typeface="Mona Sans"/>
                <a:cs typeface="Mona Sans"/>
                <a:sym typeface="Mona Sans"/>
              </a:rPr>
              <a:t>Definición de Secciones</a:t>
            </a:r>
            <a:endParaRPr b="0" i="0" sz="1950" u="none" cap="none" strike="noStrike">
              <a:solidFill>
                <a:srgbClr val="000000"/>
              </a:solidFill>
              <a:latin typeface="Arial"/>
              <a:ea typeface="Arial"/>
              <a:cs typeface="Arial"/>
              <a:sym typeface="Arial"/>
            </a:endParaRPr>
          </a:p>
        </p:txBody>
      </p:sp>
      <p:sp>
        <p:nvSpPr>
          <p:cNvPr id="85" name="Google Shape;85;p3"/>
          <p:cNvSpPr/>
          <p:nvPr/>
        </p:nvSpPr>
        <p:spPr>
          <a:xfrm>
            <a:off x="2026087" y="3451860"/>
            <a:ext cx="11895177" cy="324207"/>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8F8F8F"/>
              </a:buClr>
              <a:buSzPts val="1550"/>
              <a:buFont typeface="Funnel Sans"/>
              <a:buNone/>
            </a:pPr>
            <a:r>
              <a:rPr b="0" i="0" lang="en-US" sz="1550" u="none" cap="none" strike="noStrike">
                <a:solidFill>
                  <a:srgbClr val="8F8F8F"/>
                </a:solidFill>
                <a:latin typeface="Funnel Sans"/>
                <a:ea typeface="Funnel Sans"/>
                <a:cs typeface="Funnel Sans"/>
                <a:sym typeface="Funnel Sans"/>
              </a:rPr>
              <a:t>Establecen áreas de memoria como código o datos.</a:t>
            </a:r>
            <a:endParaRPr b="0" i="0" sz="1550" u="none" cap="none" strike="noStrike">
              <a:solidFill>
                <a:srgbClr val="000000"/>
              </a:solidFill>
              <a:latin typeface="Arial"/>
              <a:ea typeface="Arial"/>
              <a:cs typeface="Arial"/>
              <a:sym typeface="Arial"/>
            </a:endParaRPr>
          </a:p>
        </p:txBody>
      </p:sp>
      <p:pic>
        <p:nvPicPr>
          <p:cNvPr descr="preencoded.png" id="86" name="Google Shape;86;p3"/>
          <p:cNvPicPr preferRelativeResize="0"/>
          <p:nvPr/>
        </p:nvPicPr>
        <p:blipFill rotWithShape="1">
          <a:blip r:embed="rId5">
            <a:alphaModFix/>
          </a:blip>
          <a:srcRect b="0" l="0" r="0" t="0"/>
          <a:stretch/>
        </p:blipFill>
        <p:spPr>
          <a:xfrm>
            <a:off x="709136" y="4027051"/>
            <a:ext cx="1013103" cy="1215747"/>
          </a:xfrm>
          <a:prstGeom prst="rect">
            <a:avLst/>
          </a:prstGeom>
          <a:noFill/>
          <a:ln>
            <a:noFill/>
          </a:ln>
        </p:spPr>
      </p:pic>
      <p:sp>
        <p:nvSpPr>
          <p:cNvPr id="87" name="Google Shape;87;p3"/>
          <p:cNvSpPr/>
          <p:nvPr/>
        </p:nvSpPr>
        <p:spPr>
          <a:xfrm>
            <a:off x="2026087" y="4229576"/>
            <a:ext cx="3191470" cy="31646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8F8F8F"/>
              </a:buClr>
              <a:buSzPts val="1950"/>
              <a:buFont typeface="Mona Sans"/>
              <a:buNone/>
            </a:pPr>
            <a:r>
              <a:rPr b="0" i="0" lang="en-US" sz="1950" u="none" cap="none" strike="noStrike">
                <a:solidFill>
                  <a:srgbClr val="8F8F8F"/>
                </a:solidFill>
                <a:latin typeface="Mona Sans"/>
                <a:ea typeface="Mona Sans"/>
                <a:cs typeface="Mona Sans"/>
                <a:sym typeface="Mona Sans"/>
              </a:rPr>
              <a:t>Alineación y Organización</a:t>
            </a:r>
            <a:endParaRPr b="0" i="0" sz="1950" u="none" cap="none" strike="noStrike">
              <a:solidFill>
                <a:srgbClr val="000000"/>
              </a:solidFill>
              <a:latin typeface="Arial"/>
              <a:ea typeface="Arial"/>
              <a:cs typeface="Arial"/>
              <a:sym typeface="Arial"/>
            </a:endParaRPr>
          </a:p>
        </p:txBody>
      </p:sp>
      <p:sp>
        <p:nvSpPr>
          <p:cNvPr id="88" name="Google Shape;88;p3"/>
          <p:cNvSpPr/>
          <p:nvPr/>
        </p:nvSpPr>
        <p:spPr>
          <a:xfrm>
            <a:off x="2026087" y="4667607"/>
            <a:ext cx="11895177" cy="324207"/>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8F8F8F"/>
              </a:buClr>
              <a:buSzPts val="1550"/>
              <a:buFont typeface="Funnel Sans"/>
              <a:buNone/>
            </a:pPr>
            <a:r>
              <a:rPr b="0" i="0" lang="en-US" sz="1550" u="none" cap="none" strike="noStrike">
                <a:solidFill>
                  <a:srgbClr val="8F8F8F"/>
                </a:solidFill>
                <a:latin typeface="Funnel Sans"/>
                <a:ea typeface="Funnel Sans"/>
                <a:cs typeface="Funnel Sans"/>
                <a:sym typeface="Funnel Sans"/>
              </a:rPr>
              <a:t>Aseguran la correcta alineación y estructura de los datos.</a:t>
            </a:r>
            <a:endParaRPr b="0" i="0" sz="1550" u="none" cap="none" strike="noStrike">
              <a:solidFill>
                <a:srgbClr val="000000"/>
              </a:solidFill>
              <a:latin typeface="Arial"/>
              <a:ea typeface="Arial"/>
              <a:cs typeface="Arial"/>
              <a:sym typeface="Arial"/>
            </a:endParaRPr>
          </a:p>
        </p:txBody>
      </p:sp>
      <p:pic>
        <p:nvPicPr>
          <p:cNvPr descr="preencoded.png" id="89" name="Google Shape;89;p3"/>
          <p:cNvPicPr preferRelativeResize="0"/>
          <p:nvPr/>
        </p:nvPicPr>
        <p:blipFill rotWithShape="1">
          <a:blip r:embed="rId6">
            <a:alphaModFix/>
          </a:blip>
          <a:srcRect b="0" l="0" r="0" t="0"/>
          <a:stretch/>
        </p:blipFill>
        <p:spPr>
          <a:xfrm>
            <a:off x="709136" y="5242798"/>
            <a:ext cx="1013103" cy="1215747"/>
          </a:xfrm>
          <a:prstGeom prst="rect">
            <a:avLst/>
          </a:prstGeom>
          <a:noFill/>
          <a:ln>
            <a:noFill/>
          </a:ln>
        </p:spPr>
      </p:pic>
      <p:sp>
        <p:nvSpPr>
          <p:cNvPr id="90" name="Google Shape;90;p3"/>
          <p:cNvSpPr/>
          <p:nvPr/>
        </p:nvSpPr>
        <p:spPr>
          <a:xfrm>
            <a:off x="2026087" y="5445323"/>
            <a:ext cx="3153489" cy="31646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8F8F8F"/>
              </a:buClr>
              <a:buSzPts val="1950"/>
              <a:buFont typeface="Mona Sans"/>
              <a:buNone/>
            </a:pPr>
            <a:r>
              <a:rPr b="0" i="0" lang="en-US" sz="1950" u="none" cap="none" strike="noStrike">
                <a:solidFill>
                  <a:srgbClr val="8F8F8F"/>
                </a:solidFill>
                <a:latin typeface="Mona Sans"/>
                <a:ea typeface="Mona Sans"/>
                <a:cs typeface="Mona Sans"/>
                <a:sym typeface="Mona Sans"/>
              </a:rPr>
              <a:t>Selección de Arquitectura</a:t>
            </a:r>
            <a:endParaRPr b="0" i="0" sz="1950" u="none" cap="none" strike="noStrike">
              <a:solidFill>
                <a:srgbClr val="000000"/>
              </a:solidFill>
              <a:latin typeface="Arial"/>
              <a:ea typeface="Arial"/>
              <a:cs typeface="Arial"/>
              <a:sym typeface="Arial"/>
            </a:endParaRPr>
          </a:p>
        </p:txBody>
      </p:sp>
      <p:sp>
        <p:nvSpPr>
          <p:cNvPr id="91" name="Google Shape;91;p3"/>
          <p:cNvSpPr/>
          <p:nvPr/>
        </p:nvSpPr>
        <p:spPr>
          <a:xfrm>
            <a:off x="2026087" y="5883354"/>
            <a:ext cx="11895177" cy="324207"/>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8F8F8F"/>
              </a:buClr>
              <a:buSzPts val="1550"/>
              <a:buFont typeface="Funnel Sans"/>
              <a:buNone/>
            </a:pPr>
            <a:r>
              <a:rPr b="0" i="0" lang="en-US" sz="1550" u="none" cap="none" strike="noStrike">
                <a:solidFill>
                  <a:srgbClr val="8F8F8F"/>
                </a:solidFill>
                <a:latin typeface="Funnel Sans"/>
                <a:ea typeface="Funnel Sans"/>
                <a:cs typeface="Funnel Sans"/>
                <a:sym typeface="Funnel Sans"/>
              </a:rPr>
              <a:t>Permiten elegir la arquitectura y extensiones deseadas.</a:t>
            </a:r>
            <a:endParaRPr b="0" i="0" sz="1550" u="none" cap="none" strike="noStrike">
              <a:solidFill>
                <a:srgbClr val="000000"/>
              </a:solidFill>
              <a:latin typeface="Arial"/>
              <a:ea typeface="Arial"/>
              <a:cs typeface="Arial"/>
              <a:sym typeface="Arial"/>
            </a:endParaRPr>
          </a:p>
        </p:txBody>
      </p:sp>
      <p:pic>
        <p:nvPicPr>
          <p:cNvPr descr="preencoded.png" id="92" name="Google Shape;92;p3"/>
          <p:cNvPicPr preferRelativeResize="0"/>
          <p:nvPr/>
        </p:nvPicPr>
        <p:blipFill rotWithShape="1">
          <a:blip r:embed="rId7">
            <a:alphaModFix/>
          </a:blip>
          <a:srcRect b="0" l="0" r="0" t="0"/>
          <a:stretch/>
        </p:blipFill>
        <p:spPr>
          <a:xfrm>
            <a:off x="709136" y="6458545"/>
            <a:ext cx="1013103" cy="1215747"/>
          </a:xfrm>
          <a:prstGeom prst="rect">
            <a:avLst/>
          </a:prstGeom>
          <a:noFill/>
          <a:ln>
            <a:noFill/>
          </a:ln>
        </p:spPr>
      </p:pic>
      <p:sp>
        <p:nvSpPr>
          <p:cNvPr id="93" name="Google Shape;93;p3"/>
          <p:cNvSpPr/>
          <p:nvPr/>
        </p:nvSpPr>
        <p:spPr>
          <a:xfrm>
            <a:off x="2026087" y="6661071"/>
            <a:ext cx="3062407" cy="31646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8F8F8F"/>
              </a:buClr>
              <a:buSzPts val="1950"/>
              <a:buFont typeface="Mona Sans"/>
              <a:buNone/>
            </a:pPr>
            <a:r>
              <a:rPr b="0" i="0" lang="en-US" sz="1950" u="none" cap="none" strike="noStrike">
                <a:solidFill>
                  <a:srgbClr val="8F8F8F"/>
                </a:solidFill>
                <a:latin typeface="Mona Sans"/>
                <a:ea typeface="Mona Sans"/>
                <a:cs typeface="Mona Sans"/>
                <a:sym typeface="Mona Sans"/>
              </a:rPr>
              <a:t>Definición de Constantes</a:t>
            </a:r>
            <a:endParaRPr b="0" i="0" sz="1950" u="none" cap="none" strike="noStrike">
              <a:solidFill>
                <a:srgbClr val="000000"/>
              </a:solidFill>
              <a:latin typeface="Arial"/>
              <a:ea typeface="Arial"/>
              <a:cs typeface="Arial"/>
              <a:sym typeface="Arial"/>
            </a:endParaRPr>
          </a:p>
        </p:txBody>
      </p:sp>
      <p:sp>
        <p:nvSpPr>
          <p:cNvPr id="94" name="Google Shape;94;p3"/>
          <p:cNvSpPr/>
          <p:nvPr/>
        </p:nvSpPr>
        <p:spPr>
          <a:xfrm>
            <a:off x="2026087" y="7099102"/>
            <a:ext cx="11895177" cy="324207"/>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8F8F8F"/>
              </a:buClr>
              <a:buSzPts val="1550"/>
              <a:buFont typeface="Funnel Sans"/>
              <a:buNone/>
            </a:pPr>
            <a:r>
              <a:rPr b="0" i="0" lang="en-US" sz="1550" u="none" cap="none" strike="noStrike">
                <a:solidFill>
                  <a:srgbClr val="8F8F8F"/>
                </a:solidFill>
                <a:latin typeface="Funnel Sans"/>
                <a:ea typeface="Funnel Sans"/>
                <a:cs typeface="Funnel Sans"/>
                <a:sym typeface="Funnel Sans"/>
              </a:rPr>
              <a:t>Declaran valores fijos y reservan espacio para variables.</a:t>
            </a:r>
            <a:endParaRPr b="0" i="0" sz="155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p:nvPr/>
        </p:nvSpPr>
        <p:spPr>
          <a:xfrm>
            <a:off x="793790" y="1841183"/>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DDDDD"/>
              </a:buClr>
              <a:buSzPts val="4450"/>
              <a:buFont typeface="Mona Sans"/>
              <a:buNone/>
            </a:pPr>
            <a:r>
              <a:rPr b="0" i="0" lang="en-US" sz="4450" u="none" cap="none" strike="noStrike">
                <a:solidFill>
                  <a:srgbClr val="DDDDDD"/>
                </a:solidFill>
                <a:latin typeface="Mona Sans"/>
                <a:ea typeface="Mona Sans"/>
                <a:cs typeface="Mona Sans"/>
                <a:sym typeface="Mona Sans"/>
              </a:rPr>
              <a:t>Directiva: .arch</a:t>
            </a:r>
            <a:endParaRPr b="0" i="0" sz="4450" u="none" cap="none" strike="noStrike">
              <a:solidFill>
                <a:srgbClr val="000000"/>
              </a:solidFill>
              <a:latin typeface="Arial"/>
              <a:ea typeface="Arial"/>
              <a:cs typeface="Arial"/>
              <a:sym typeface="Arial"/>
            </a:endParaRPr>
          </a:p>
        </p:txBody>
      </p:sp>
      <p:sp>
        <p:nvSpPr>
          <p:cNvPr id="101" name="Google Shape;101;p4"/>
          <p:cNvSpPr/>
          <p:nvPr/>
        </p:nvSpPr>
        <p:spPr>
          <a:xfrm>
            <a:off x="793790" y="311693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DDDDD"/>
              </a:buClr>
              <a:buSzPts val="2200"/>
              <a:buFont typeface="Mona Sans"/>
              <a:buNone/>
            </a:pPr>
            <a:r>
              <a:rPr b="0" i="0" lang="en-US" sz="2200" u="none" cap="none" strike="noStrike">
                <a:solidFill>
                  <a:srgbClr val="DDDDDD"/>
                </a:solidFill>
                <a:latin typeface="Mona Sans"/>
                <a:ea typeface="Mona Sans"/>
                <a:cs typeface="Mona Sans"/>
                <a:sym typeface="Mona Sans"/>
              </a:rPr>
              <a:t>Especificación</a:t>
            </a:r>
            <a:endParaRPr b="0" i="0" sz="2200" u="none" cap="none" strike="noStrike">
              <a:solidFill>
                <a:srgbClr val="000000"/>
              </a:solidFill>
              <a:latin typeface="Arial"/>
              <a:ea typeface="Arial"/>
              <a:cs typeface="Arial"/>
              <a:sym typeface="Arial"/>
            </a:endParaRPr>
          </a:p>
        </p:txBody>
      </p:sp>
      <p:sp>
        <p:nvSpPr>
          <p:cNvPr id="102" name="Google Shape;102;p4"/>
          <p:cNvSpPr/>
          <p:nvPr/>
        </p:nvSpPr>
        <p:spPr>
          <a:xfrm>
            <a:off x="793790" y="3698081"/>
            <a:ext cx="2845594"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Indica la arquitectura objetivo para la generación de código.</a:t>
            </a:r>
            <a:endParaRPr b="0" i="0" sz="1750" u="none" cap="none" strike="noStrike">
              <a:solidFill>
                <a:srgbClr val="000000"/>
              </a:solidFill>
              <a:latin typeface="Arial"/>
              <a:ea typeface="Arial"/>
              <a:cs typeface="Arial"/>
              <a:sym typeface="Arial"/>
            </a:endParaRPr>
          </a:p>
        </p:txBody>
      </p:sp>
      <p:sp>
        <p:nvSpPr>
          <p:cNvPr id="103" name="Google Shape;103;p4"/>
          <p:cNvSpPr/>
          <p:nvPr/>
        </p:nvSpPr>
        <p:spPr>
          <a:xfrm>
            <a:off x="4200406" y="311693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DDDDD"/>
              </a:buClr>
              <a:buSzPts val="2200"/>
              <a:buFont typeface="Mona Sans"/>
              <a:buNone/>
            </a:pPr>
            <a:r>
              <a:rPr b="0" i="0" lang="en-US" sz="2200" u="none" cap="none" strike="noStrike">
                <a:solidFill>
                  <a:srgbClr val="DDDDDD"/>
                </a:solidFill>
                <a:latin typeface="Mona Sans"/>
                <a:ea typeface="Mona Sans"/>
                <a:cs typeface="Mona Sans"/>
                <a:sym typeface="Mona Sans"/>
              </a:rPr>
              <a:t>Sintaxis Flexible</a:t>
            </a:r>
            <a:endParaRPr b="0" i="0" sz="2200" u="none" cap="none" strike="noStrike">
              <a:solidFill>
                <a:srgbClr val="000000"/>
              </a:solidFill>
              <a:latin typeface="Arial"/>
              <a:ea typeface="Arial"/>
              <a:cs typeface="Arial"/>
              <a:sym typeface="Arial"/>
            </a:endParaRPr>
          </a:p>
        </p:txBody>
      </p:sp>
      <p:sp>
        <p:nvSpPr>
          <p:cNvPr id="104" name="Google Shape;104;p4"/>
          <p:cNvSpPr/>
          <p:nvPr/>
        </p:nvSpPr>
        <p:spPr>
          <a:xfrm>
            <a:off x="4200406" y="3698081"/>
            <a:ext cx="2845594"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Usa </a:t>
            </a:r>
            <a:r>
              <a:rPr b="0" i="0" lang="en-US" sz="1750" u="none" cap="none" strike="noStrike">
                <a:solidFill>
                  <a:srgbClr val="8F8F8F"/>
                </a:solidFill>
                <a:highlight>
                  <a:srgbClr val="262626"/>
                </a:highlight>
                <a:latin typeface="Consolas"/>
                <a:ea typeface="Consolas"/>
                <a:cs typeface="Consolas"/>
                <a:sym typeface="Consolas"/>
              </a:rPr>
              <a:t>.arch &lt;nombre_arquitectura&gt;[+[no]&lt;extensión&gt;]</a:t>
            </a:r>
            <a:r>
              <a:rPr b="0" i="0" lang="en-US" sz="1750" u="none" cap="none" strike="noStrike">
                <a:solidFill>
                  <a:srgbClr val="8F8F8F"/>
                </a:solidFill>
                <a:latin typeface="Funnel Sans"/>
                <a:ea typeface="Funnel Sans"/>
                <a:cs typeface="Funnel Sans"/>
                <a:sym typeface="Funnel Sans"/>
              </a:rPr>
              <a:t>.</a:t>
            </a:r>
            <a:endParaRPr b="0" i="0" sz="1750" u="none" cap="none" strike="noStrike">
              <a:solidFill>
                <a:srgbClr val="000000"/>
              </a:solidFill>
              <a:latin typeface="Arial"/>
              <a:ea typeface="Arial"/>
              <a:cs typeface="Arial"/>
              <a:sym typeface="Arial"/>
            </a:endParaRPr>
          </a:p>
        </p:txBody>
      </p:sp>
      <p:sp>
        <p:nvSpPr>
          <p:cNvPr id="105" name="Google Shape;105;p4"/>
          <p:cNvSpPr/>
          <p:nvPr/>
        </p:nvSpPr>
        <p:spPr>
          <a:xfrm>
            <a:off x="7607022" y="311693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DDDDD"/>
              </a:buClr>
              <a:buSzPts val="2200"/>
              <a:buFont typeface="Mona Sans"/>
              <a:buNone/>
            </a:pPr>
            <a:r>
              <a:rPr b="0" i="0" lang="en-US" sz="2200" u="none" cap="none" strike="noStrike">
                <a:solidFill>
                  <a:srgbClr val="DDDDDD"/>
                </a:solidFill>
                <a:latin typeface="Mona Sans"/>
                <a:ea typeface="Mona Sans"/>
                <a:cs typeface="Mona Sans"/>
                <a:sym typeface="Mona Sans"/>
              </a:rPr>
              <a:t>Variantes AArch64</a:t>
            </a:r>
            <a:endParaRPr b="0" i="0" sz="2200" u="none" cap="none" strike="noStrike">
              <a:solidFill>
                <a:srgbClr val="000000"/>
              </a:solidFill>
              <a:latin typeface="Arial"/>
              <a:ea typeface="Arial"/>
              <a:cs typeface="Arial"/>
              <a:sym typeface="Arial"/>
            </a:endParaRPr>
          </a:p>
        </p:txBody>
      </p:sp>
      <p:sp>
        <p:nvSpPr>
          <p:cNvPr id="106" name="Google Shape;106;p4"/>
          <p:cNvSpPr/>
          <p:nvPr/>
        </p:nvSpPr>
        <p:spPr>
          <a:xfrm>
            <a:off x="7607022" y="3698081"/>
            <a:ext cx="2845594"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Permite seleccionar versiones específicas de AArch64.</a:t>
            </a:r>
            <a:endParaRPr b="0" i="0" sz="1750" u="none" cap="none" strike="noStrike">
              <a:solidFill>
                <a:srgbClr val="000000"/>
              </a:solidFill>
              <a:latin typeface="Arial"/>
              <a:ea typeface="Arial"/>
              <a:cs typeface="Arial"/>
              <a:sym typeface="Arial"/>
            </a:endParaRPr>
          </a:p>
        </p:txBody>
      </p:sp>
      <p:sp>
        <p:nvSpPr>
          <p:cNvPr id="107" name="Google Shape;107;p4"/>
          <p:cNvSpPr/>
          <p:nvPr/>
        </p:nvSpPr>
        <p:spPr>
          <a:xfrm>
            <a:off x="11013638" y="311693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DDDDD"/>
              </a:buClr>
              <a:buSzPts val="2200"/>
              <a:buFont typeface="Mona Sans"/>
              <a:buNone/>
            </a:pPr>
            <a:r>
              <a:rPr b="0" i="0" lang="en-US" sz="2200" u="none" cap="none" strike="noStrike">
                <a:solidFill>
                  <a:srgbClr val="DDDDDD"/>
                </a:solidFill>
                <a:latin typeface="Mona Sans"/>
                <a:ea typeface="Mona Sans"/>
                <a:cs typeface="Mona Sans"/>
                <a:sym typeface="Mona Sans"/>
              </a:rPr>
              <a:t>Extensiones</a:t>
            </a:r>
            <a:endParaRPr b="0" i="0" sz="2200" u="none" cap="none" strike="noStrike">
              <a:solidFill>
                <a:srgbClr val="000000"/>
              </a:solidFill>
              <a:latin typeface="Arial"/>
              <a:ea typeface="Arial"/>
              <a:cs typeface="Arial"/>
              <a:sym typeface="Arial"/>
            </a:endParaRPr>
          </a:p>
        </p:txBody>
      </p:sp>
      <p:sp>
        <p:nvSpPr>
          <p:cNvPr id="108" name="Google Shape;108;p4"/>
          <p:cNvSpPr/>
          <p:nvPr/>
        </p:nvSpPr>
        <p:spPr>
          <a:xfrm>
            <a:off x="11013638" y="3698081"/>
            <a:ext cx="2845594"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Habilita o deshabilita extensiones de arquitectura concretas.</a:t>
            </a:r>
            <a:endParaRPr b="0" i="0" sz="1750" u="none" cap="none" strike="noStrike">
              <a:solidFill>
                <a:srgbClr val="000000"/>
              </a:solidFill>
              <a:latin typeface="Arial"/>
              <a:ea typeface="Arial"/>
              <a:cs typeface="Arial"/>
              <a:sym typeface="Arial"/>
            </a:endParaRPr>
          </a:p>
        </p:txBody>
      </p:sp>
      <p:sp>
        <p:nvSpPr>
          <p:cNvPr id="109" name="Google Shape;109;p4"/>
          <p:cNvSpPr/>
          <p:nvPr/>
        </p:nvSpPr>
        <p:spPr>
          <a:xfrm>
            <a:off x="793790" y="533102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DDDDD"/>
              </a:buClr>
              <a:buSzPts val="2200"/>
              <a:buFont typeface="Mona Sans"/>
              <a:buNone/>
            </a:pPr>
            <a:r>
              <a:rPr b="0" i="0" lang="en-US" sz="2200" u="none" cap="none" strike="noStrike">
                <a:solidFill>
                  <a:srgbClr val="DDDDDD"/>
                </a:solidFill>
                <a:latin typeface="Mona Sans"/>
                <a:ea typeface="Mona Sans"/>
                <a:cs typeface="Mona Sans"/>
                <a:sym typeface="Mona Sans"/>
              </a:rPr>
              <a:t>Ejemplos</a:t>
            </a:r>
            <a:endParaRPr b="0" i="0" sz="2200" u="none" cap="none" strike="noStrike">
              <a:solidFill>
                <a:srgbClr val="000000"/>
              </a:solidFill>
              <a:latin typeface="Arial"/>
              <a:ea typeface="Arial"/>
              <a:cs typeface="Arial"/>
              <a:sym typeface="Arial"/>
            </a:endParaRPr>
          </a:p>
        </p:txBody>
      </p:sp>
      <p:sp>
        <p:nvSpPr>
          <p:cNvPr id="110" name="Google Shape;110;p4"/>
          <p:cNvSpPr/>
          <p:nvPr/>
        </p:nvSpPr>
        <p:spPr>
          <a:xfrm>
            <a:off x="793790" y="6025515"/>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Como </a:t>
            </a:r>
            <a:r>
              <a:rPr b="0" i="0" lang="en-US" sz="1750" u="none" cap="none" strike="noStrike">
                <a:solidFill>
                  <a:srgbClr val="8F8F8F"/>
                </a:solidFill>
                <a:highlight>
                  <a:srgbClr val="262626"/>
                </a:highlight>
                <a:latin typeface="Consolas"/>
                <a:ea typeface="Consolas"/>
                <a:cs typeface="Consolas"/>
                <a:sym typeface="Consolas"/>
              </a:rPr>
              <a:t>.arch armv8-a</a:t>
            </a:r>
            <a:r>
              <a:rPr b="0" i="0" lang="en-US" sz="1750" u="none" cap="none" strike="noStrike">
                <a:solidFill>
                  <a:srgbClr val="8F8F8F"/>
                </a:solidFill>
                <a:latin typeface="Funnel Sans"/>
                <a:ea typeface="Funnel Sans"/>
                <a:cs typeface="Funnel Sans"/>
                <a:sym typeface="Funnel Sans"/>
              </a:rPr>
              <a:t> o </a:t>
            </a:r>
            <a:r>
              <a:rPr b="0" i="0" lang="en-US" sz="1750" u="none" cap="none" strike="noStrike">
                <a:solidFill>
                  <a:srgbClr val="8F8F8F"/>
                </a:solidFill>
                <a:highlight>
                  <a:srgbClr val="262626"/>
                </a:highlight>
                <a:latin typeface="Consolas"/>
                <a:ea typeface="Consolas"/>
                <a:cs typeface="Consolas"/>
                <a:sym typeface="Consolas"/>
              </a:rPr>
              <a:t>.arch armv8.2-a+crypto</a:t>
            </a:r>
            <a:r>
              <a:rPr b="0" i="0" lang="en-US" sz="1750" u="none" cap="none" strike="noStrike">
                <a:solidFill>
                  <a:srgbClr val="8F8F8F"/>
                </a:solidFill>
                <a:latin typeface="Funnel Sans"/>
                <a:ea typeface="Funnel Sans"/>
                <a:cs typeface="Funnel Sans"/>
                <a:sym typeface="Funnel Sans"/>
              </a:rPr>
              <a:t>.</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p:nvPr/>
        </p:nvSpPr>
        <p:spPr>
          <a:xfrm>
            <a:off x="793790" y="1735098"/>
            <a:ext cx="8089106"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DDDDD"/>
              </a:buClr>
              <a:buSzPts val="4450"/>
              <a:buFont typeface="Mona Sans"/>
              <a:buNone/>
            </a:pPr>
            <a:r>
              <a:rPr b="0" i="0" lang="en-US" sz="4450" u="none" cap="none" strike="noStrike">
                <a:solidFill>
                  <a:srgbClr val="DDDDDD"/>
                </a:solidFill>
                <a:latin typeface="Mona Sans"/>
                <a:ea typeface="Mona Sans"/>
                <a:cs typeface="Mona Sans"/>
                <a:sym typeface="Mona Sans"/>
              </a:rPr>
              <a:t>Directivas de Sección y Datos</a:t>
            </a:r>
            <a:endParaRPr b="0" i="0" sz="4450" u="none" cap="none" strike="noStrike">
              <a:solidFill>
                <a:srgbClr val="000000"/>
              </a:solidFill>
              <a:latin typeface="Arial"/>
              <a:ea typeface="Arial"/>
              <a:cs typeface="Arial"/>
              <a:sym typeface="Arial"/>
            </a:endParaRPr>
          </a:p>
        </p:txBody>
      </p:sp>
      <p:sp>
        <p:nvSpPr>
          <p:cNvPr id="117" name="Google Shape;117;p5"/>
          <p:cNvSpPr/>
          <p:nvPr/>
        </p:nvSpPr>
        <p:spPr>
          <a:xfrm>
            <a:off x="793790" y="2897505"/>
            <a:ext cx="4196358" cy="1685092"/>
          </a:xfrm>
          <a:prstGeom prst="roundRect">
            <a:avLst>
              <a:gd fmla="val 5654"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5"/>
          <p:cNvSpPr/>
          <p:nvPr/>
        </p:nvSpPr>
        <p:spPr>
          <a:xfrm>
            <a:off x="1028224" y="313193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Mona Sans"/>
              <a:buNone/>
            </a:pPr>
            <a:r>
              <a:rPr b="0" i="0" lang="en-US" sz="2200" u="none" cap="none" strike="noStrike">
                <a:solidFill>
                  <a:srgbClr val="FFFFFF"/>
                </a:solidFill>
                <a:latin typeface="Mona Sans"/>
                <a:ea typeface="Mona Sans"/>
                <a:cs typeface="Mona Sans"/>
                <a:sym typeface="Mona Sans"/>
              </a:rPr>
              <a:t>.text</a:t>
            </a:r>
            <a:endParaRPr b="0" i="0" sz="2200" u="none" cap="none" strike="noStrike">
              <a:solidFill>
                <a:srgbClr val="000000"/>
              </a:solidFill>
              <a:latin typeface="Arial"/>
              <a:ea typeface="Arial"/>
              <a:cs typeface="Arial"/>
              <a:sym typeface="Arial"/>
            </a:endParaRPr>
          </a:p>
        </p:txBody>
      </p:sp>
      <p:sp>
        <p:nvSpPr>
          <p:cNvPr id="119" name="Google Shape;119;p5"/>
          <p:cNvSpPr/>
          <p:nvPr/>
        </p:nvSpPr>
        <p:spPr>
          <a:xfrm>
            <a:off x="1028224" y="3622358"/>
            <a:ext cx="372749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FFFFF"/>
              </a:buClr>
              <a:buSzPts val="1750"/>
              <a:buFont typeface="Funnel Sans"/>
              <a:buNone/>
            </a:pPr>
            <a:r>
              <a:rPr b="0" i="0" lang="en-US" sz="1750" u="none" cap="none" strike="noStrike">
                <a:solidFill>
                  <a:srgbClr val="FFFFFF"/>
                </a:solidFill>
                <a:latin typeface="Funnel Sans"/>
                <a:ea typeface="Funnel Sans"/>
                <a:cs typeface="Funnel Sans"/>
                <a:sym typeface="Funnel Sans"/>
              </a:rPr>
              <a:t>Define la sección que contiene el código ejecutable del programa.</a:t>
            </a:r>
            <a:endParaRPr b="0" i="0" sz="1750" u="none" cap="none" strike="noStrike">
              <a:solidFill>
                <a:srgbClr val="000000"/>
              </a:solidFill>
              <a:latin typeface="Arial"/>
              <a:ea typeface="Arial"/>
              <a:cs typeface="Arial"/>
              <a:sym typeface="Arial"/>
            </a:endParaRPr>
          </a:p>
        </p:txBody>
      </p:sp>
      <p:sp>
        <p:nvSpPr>
          <p:cNvPr id="120" name="Google Shape;120;p5"/>
          <p:cNvSpPr/>
          <p:nvPr/>
        </p:nvSpPr>
        <p:spPr>
          <a:xfrm>
            <a:off x="5216962" y="2897505"/>
            <a:ext cx="4196358" cy="1685092"/>
          </a:xfrm>
          <a:prstGeom prst="roundRect">
            <a:avLst>
              <a:gd fmla="val 5654"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5"/>
          <p:cNvSpPr/>
          <p:nvPr/>
        </p:nvSpPr>
        <p:spPr>
          <a:xfrm>
            <a:off x="5451396" y="313193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Mona Sans"/>
              <a:buNone/>
            </a:pPr>
            <a:r>
              <a:rPr b="0" i="0" lang="en-US" sz="2200" u="none" cap="none" strike="noStrike">
                <a:solidFill>
                  <a:srgbClr val="FFFFFF"/>
                </a:solidFill>
                <a:latin typeface="Mona Sans"/>
                <a:ea typeface="Mona Sans"/>
                <a:cs typeface="Mona Sans"/>
                <a:sym typeface="Mona Sans"/>
              </a:rPr>
              <a:t>.data</a:t>
            </a:r>
            <a:endParaRPr b="0" i="0" sz="2200" u="none" cap="none" strike="noStrike">
              <a:solidFill>
                <a:srgbClr val="000000"/>
              </a:solidFill>
              <a:latin typeface="Arial"/>
              <a:ea typeface="Arial"/>
              <a:cs typeface="Arial"/>
              <a:sym typeface="Arial"/>
            </a:endParaRPr>
          </a:p>
        </p:txBody>
      </p:sp>
      <p:sp>
        <p:nvSpPr>
          <p:cNvPr id="122" name="Google Shape;122;p5"/>
          <p:cNvSpPr/>
          <p:nvPr/>
        </p:nvSpPr>
        <p:spPr>
          <a:xfrm>
            <a:off x="5451396" y="3622358"/>
            <a:ext cx="372749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FFFFF"/>
              </a:buClr>
              <a:buSzPts val="1750"/>
              <a:buFont typeface="Funnel Sans"/>
              <a:buNone/>
            </a:pPr>
            <a:r>
              <a:rPr b="0" i="0" lang="en-US" sz="1750" u="none" cap="none" strike="noStrike">
                <a:solidFill>
                  <a:srgbClr val="FFFFFF"/>
                </a:solidFill>
                <a:latin typeface="Funnel Sans"/>
                <a:ea typeface="Funnel Sans"/>
                <a:cs typeface="Funnel Sans"/>
                <a:sym typeface="Funnel Sans"/>
              </a:rPr>
              <a:t>Establece la sección para datos que ya están inicializados.</a:t>
            </a:r>
            <a:endParaRPr b="0" i="0" sz="1750" u="none" cap="none" strike="noStrike">
              <a:solidFill>
                <a:srgbClr val="000000"/>
              </a:solidFill>
              <a:latin typeface="Arial"/>
              <a:ea typeface="Arial"/>
              <a:cs typeface="Arial"/>
              <a:sym typeface="Arial"/>
            </a:endParaRPr>
          </a:p>
        </p:txBody>
      </p:sp>
      <p:sp>
        <p:nvSpPr>
          <p:cNvPr id="123" name="Google Shape;123;p5"/>
          <p:cNvSpPr/>
          <p:nvPr/>
        </p:nvSpPr>
        <p:spPr>
          <a:xfrm>
            <a:off x="9640133" y="2897505"/>
            <a:ext cx="4196358" cy="1685092"/>
          </a:xfrm>
          <a:prstGeom prst="roundRect">
            <a:avLst>
              <a:gd fmla="val 5654"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5"/>
          <p:cNvSpPr/>
          <p:nvPr/>
        </p:nvSpPr>
        <p:spPr>
          <a:xfrm>
            <a:off x="9874568" y="313193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Mona Sans"/>
              <a:buNone/>
            </a:pPr>
            <a:r>
              <a:rPr b="0" i="0" lang="en-US" sz="2200" u="none" cap="none" strike="noStrike">
                <a:solidFill>
                  <a:srgbClr val="FFFFFF"/>
                </a:solidFill>
                <a:latin typeface="Mona Sans"/>
                <a:ea typeface="Mona Sans"/>
                <a:cs typeface="Mona Sans"/>
                <a:sym typeface="Mona Sans"/>
              </a:rPr>
              <a:t>.bss</a:t>
            </a:r>
            <a:endParaRPr b="0" i="0" sz="2200" u="none" cap="none" strike="noStrike">
              <a:solidFill>
                <a:srgbClr val="000000"/>
              </a:solidFill>
              <a:latin typeface="Arial"/>
              <a:ea typeface="Arial"/>
              <a:cs typeface="Arial"/>
              <a:sym typeface="Arial"/>
            </a:endParaRPr>
          </a:p>
        </p:txBody>
      </p:sp>
      <p:sp>
        <p:nvSpPr>
          <p:cNvPr id="125" name="Google Shape;125;p5"/>
          <p:cNvSpPr/>
          <p:nvPr/>
        </p:nvSpPr>
        <p:spPr>
          <a:xfrm>
            <a:off x="9874568" y="3622358"/>
            <a:ext cx="372749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FFFFF"/>
              </a:buClr>
              <a:buSzPts val="1750"/>
              <a:buFont typeface="Funnel Sans"/>
              <a:buNone/>
            </a:pPr>
            <a:r>
              <a:rPr b="0" i="0" lang="en-US" sz="1750" u="none" cap="none" strike="noStrike">
                <a:solidFill>
                  <a:srgbClr val="FFFFFF"/>
                </a:solidFill>
                <a:latin typeface="Funnel Sans"/>
                <a:ea typeface="Funnel Sans"/>
                <a:cs typeface="Funnel Sans"/>
                <a:sym typeface="Funnel Sans"/>
              </a:rPr>
              <a:t>Reserva espacio para variables que no han sido inicializadas.</a:t>
            </a:r>
            <a:endParaRPr b="0" i="0" sz="1750" u="none" cap="none" strike="noStrike">
              <a:solidFill>
                <a:srgbClr val="000000"/>
              </a:solidFill>
              <a:latin typeface="Arial"/>
              <a:ea typeface="Arial"/>
              <a:cs typeface="Arial"/>
              <a:sym typeface="Arial"/>
            </a:endParaRPr>
          </a:p>
        </p:txBody>
      </p:sp>
      <p:sp>
        <p:nvSpPr>
          <p:cNvPr id="126" name="Google Shape;126;p5"/>
          <p:cNvSpPr/>
          <p:nvPr/>
        </p:nvSpPr>
        <p:spPr>
          <a:xfrm>
            <a:off x="793790" y="4809411"/>
            <a:ext cx="6408063" cy="1685092"/>
          </a:xfrm>
          <a:prstGeom prst="roundRect">
            <a:avLst>
              <a:gd fmla="val 5654"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5"/>
          <p:cNvSpPr/>
          <p:nvPr/>
        </p:nvSpPr>
        <p:spPr>
          <a:xfrm>
            <a:off x="1028224" y="504384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Mona Sans"/>
              <a:buNone/>
            </a:pPr>
            <a:r>
              <a:rPr b="0" i="0" lang="en-US" sz="2200" u="none" cap="none" strike="noStrike">
                <a:solidFill>
                  <a:srgbClr val="FFFFFF"/>
                </a:solidFill>
                <a:latin typeface="Mona Sans"/>
                <a:ea typeface="Mona Sans"/>
                <a:cs typeface="Mona Sans"/>
                <a:sym typeface="Mona Sans"/>
              </a:rPr>
              <a:t>.global</a:t>
            </a:r>
            <a:endParaRPr b="0" i="0" sz="2200" u="none" cap="none" strike="noStrike">
              <a:solidFill>
                <a:srgbClr val="000000"/>
              </a:solidFill>
              <a:latin typeface="Arial"/>
              <a:ea typeface="Arial"/>
              <a:cs typeface="Arial"/>
              <a:sym typeface="Arial"/>
            </a:endParaRPr>
          </a:p>
        </p:txBody>
      </p:sp>
      <p:sp>
        <p:nvSpPr>
          <p:cNvPr id="128" name="Google Shape;128;p5"/>
          <p:cNvSpPr/>
          <p:nvPr/>
        </p:nvSpPr>
        <p:spPr>
          <a:xfrm>
            <a:off x="1028224" y="5534263"/>
            <a:ext cx="593919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FFFFF"/>
              </a:buClr>
              <a:buSzPts val="1750"/>
              <a:buFont typeface="Funnel Sans"/>
              <a:buNone/>
            </a:pPr>
            <a:r>
              <a:rPr b="0" i="0" lang="en-US" sz="1750" u="none" cap="none" strike="noStrike">
                <a:solidFill>
                  <a:srgbClr val="FFFFFF"/>
                </a:solidFill>
                <a:latin typeface="Funnel Sans"/>
                <a:ea typeface="Funnel Sans"/>
                <a:cs typeface="Funnel Sans"/>
                <a:sym typeface="Funnel Sans"/>
              </a:rPr>
              <a:t>Hace que los símbolos sean visibles para el enlazador externo.</a:t>
            </a:r>
            <a:endParaRPr b="0" i="0" sz="1750" u="none" cap="none" strike="noStrike">
              <a:solidFill>
                <a:srgbClr val="000000"/>
              </a:solidFill>
              <a:latin typeface="Arial"/>
              <a:ea typeface="Arial"/>
              <a:cs typeface="Arial"/>
              <a:sym typeface="Arial"/>
            </a:endParaRPr>
          </a:p>
        </p:txBody>
      </p:sp>
      <p:sp>
        <p:nvSpPr>
          <p:cNvPr id="129" name="Google Shape;129;p5"/>
          <p:cNvSpPr/>
          <p:nvPr/>
        </p:nvSpPr>
        <p:spPr>
          <a:xfrm>
            <a:off x="7428667" y="4809411"/>
            <a:ext cx="6408063" cy="1685092"/>
          </a:xfrm>
          <a:prstGeom prst="roundRect">
            <a:avLst>
              <a:gd fmla="val 5654"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5"/>
          <p:cNvSpPr/>
          <p:nvPr/>
        </p:nvSpPr>
        <p:spPr>
          <a:xfrm>
            <a:off x="7663101" y="504384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Mona Sans"/>
              <a:buNone/>
            </a:pPr>
            <a:r>
              <a:rPr b="0" i="0" lang="en-US" sz="2200" u="none" cap="none" strike="noStrike">
                <a:solidFill>
                  <a:srgbClr val="FFFFFF"/>
                </a:solidFill>
                <a:latin typeface="Mona Sans"/>
                <a:ea typeface="Mona Sans"/>
                <a:cs typeface="Mona Sans"/>
                <a:sym typeface="Mona Sans"/>
              </a:rPr>
              <a:t>.align</a:t>
            </a:r>
            <a:endParaRPr b="0" i="0" sz="2200" u="none" cap="none" strike="noStrike">
              <a:solidFill>
                <a:srgbClr val="000000"/>
              </a:solidFill>
              <a:latin typeface="Arial"/>
              <a:ea typeface="Arial"/>
              <a:cs typeface="Arial"/>
              <a:sym typeface="Arial"/>
            </a:endParaRPr>
          </a:p>
        </p:txBody>
      </p:sp>
      <p:sp>
        <p:nvSpPr>
          <p:cNvPr id="131" name="Google Shape;131;p5"/>
          <p:cNvSpPr/>
          <p:nvPr/>
        </p:nvSpPr>
        <p:spPr>
          <a:xfrm>
            <a:off x="7663101" y="5534263"/>
            <a:ext cx="593919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FFFFF"/>
              </a:buClr>
              <a:buSzPts val="1750"/>
              <a:buFont typeface="Funnel Sans"/>
              <a:buNone/>
            </a:pPr>
            <a:r>
              <a:rPr b="0" i="0" lang="en-US" sz="1750" u="none" cap="none" strike="noStrike">
                <a:solidFill>
                  <a:srgbClr val="FFFFFF"/>
                </a:solidFill>
                <a:latin typeface="Funnel Sans"/>
                <a:ea typeface="Funnel Sans"/>
                <a:cs typeface="Funnel Sans"/>
                <a:sym typeface="Funnel Sans"/>
              </a:rPr>
              <a:t>Asegura que el código o los datos se alineen a un límite específico.</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descr="preencoded.png" id="137" name="Google Shape;137;p6"/>
          <p:cNvPicPr preferRelativeResize="0"/>
          <p:nvPr/>
        </p:nvPicPr>
        <p:blipFill rotWithShape="1">
          <a:blip r:embed="rId3">
            <a:alphaModFix/>
          </a:blip>
          <a:srcRect b="0" l="0" r="0" t="0"/>
          <a:stretch/>
        </p:blipFill>
        <p:spPr>
          <a:xfrm>
            <a:off x="0" y="0"/>
            <a:ext cx="6035040" cy="8229600"/>
          </a:xfrm>
          <a:prstGeom prst="rect">
            <a:avLst/>
          </a:prstGeom>
          <a:noFill/>
          <a:ln>
            <a:noFill/>
          </a:ln>
        </p:spPr>
      </p:pic>
      <p:sp>
        <p:nvSpPr>
          <p:cNvPr id="138" name="Google Shape;138;p6"/>
          <p:cNvSpPr/>
          <p:nvPr/>
        </p:nvSpPr>
        <p:spPr>
          <a:xfrm>
            <a:off x="6280190" y="695206"/>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DDDDD"/>
              </a:buClr>
              <a:buSzPts val="4450"/>
              <a:buFont typeface="Mona Sans"/>
              <a:buNone/>
            </a:pPr>
            <a:r>
              <a:rPr b="0" i="0" lang="en-US" sz="4450" u="none" cap="none" strike="noStrike">
                <a:solidFill>
                  <a:srgbClr val="DDDDDD"/>
                </a:solidFill>
                <a:latin typeface="Mona Sans"/>
                <a:ea typeface="Mona Sans"/>
                <a:cs typeface="Mona Sans"/>
                <a:sym typeface="Mona Sans"/>
              </a:rPr>
              <a:t>Directivas de Declaración de Datos</a:t>
            </a:r>
            <a:endParaRPr b="0" i="0" sz="4450" u="none" cap="none" strike="noStrike">
              <a:solidFill>
                <a:srgbClr val="000000"/>
              </a:solidFill>
              <a:latin typeface="Arial"/>
              <a:ea typeface="Arial"/>
              <a:cs typeface="Arial"/>
              <a:sym typeface="Arial"/>
            </a:endParaRPr>
          </a:p>
        </p:txBody>
      </p:sp>
      <p:sp>
        <p:nvSpPr>
          <p:cNvPr id="139" name="Google Shape;139;p6"/>
          <p:cNvSpPr/>
          <p:nvPr/>
        </p:nvSpPr>
        <p:spPr>
          <a:xfrm>
            <a:off x="6280190" y="2452926"/>
            <a:ext cx="7556421" cy="5081349"/>
          </a:xfrm>
          <a:prstGeom prst="roundRect">
            <a:avLst>
              <a:gd fmla="val 1875" name="adj"/>
            </a:avLst>
          </a:prstGeom>
          <a:noFill/>
          <a:ln cap="flat" cmpd="sng" w="9525">
            <a:solidFill>
              <a:srgbClr val="FFFFFF">
                <a:alpha val="2352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6"/>
          <p:cNvSpPr/>
          <p:nvPr/>
        </p:nvSpPr>
        <p:spPr>
          <a:xfrm>
            <a:off x="6287810" y="2460546"/>
            <a:ext cx="7541181" cy="1013222"/>
          </a:xfrm>
          <a:prstGeom prst="rect">
            <a:avLst/>
          </a:prstGeom>
          <a:solidFill>
            <a:srgbClr val="FFFFFF">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6"/>
          <p:cNvSpPr/>
          <p:nvPr/>
        </p:nvSpPr>
        <p:spPr>
          <a:xfrm>
            <a:off x="6514624" y="2604254"/>
            <a:ext cx="3313152"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.byte, .short, .word, .quad</a:t>
            </a:r>
            <a:endParaRPr b="0" i="0" sz="1750" u="none" cap="none" strike="noStrike">
              <a:solidFill>
                <a:srgbClr val="000000"/>
              </a:solidFill>
              <a:latin typeface="Arial"/>
              <a:ea typeface="Arial"/>
              <a:cs typeface="Arial"/>
              <a:sym typeface="Arial"/>
            </a:endParaRPr>
          </a:p>
        </p:txBody>
      </p:sp>
      <p:sp>
        <p:nvSpPr>
          <p:cNvPr id="142" name="Google Shape;142;p6"/>
          <p:cNvSpPr/>
          <p:nvPr/>
        </p:nvSpPr>
        <p:spPr>
          <a:xfrm>
            <a:off x="10289024" y="2604254"/>
            <a:ext cx="331315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Declaran datos enteros de varios tamaños.</a:t>
            </a:r>
            <a:endParaRPr b="0" i="0" sz="1750" u="none" cap="none" strike="noStrike">
              <a:solidFill>
                <a:srgbClr val="000000"/>
              </a:solidFill>
              <a:latin typeface="Arial"/>
              <a:ea typeface="Arial"/>
              <a:cs typeface="Arial"/>
              <a:sym typeface="Arial"/>
            </a:endParaRPr>
          </a:p>
        </p:txBody>
      </p:sp>
      <p:sp>
        <p:nvSpPr>
          <p:cNvPr id="143" name="Google Shape;143;p6"/>
          <p:cNvSpPr/>
          <p:nvPr/>
        </p:nvSpPr>
        <p:spPr>
          <a:xfrm>
            <a:off x="6287810" y="3473767"/>
            <a:ext cx="7541181" cy="1013222"/>
          </a:xfrm>
          <a:prstGeom prst="rect">
            <a:avLst/>
          </a:prstGeom>
          <a:solidFill>
            <a:srgbClr val="000000">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6"/>
          <p:cNvSpPr/>
          <p:nvPr/>
        </p:nvSpPr>
        <p:spPr>
          <a:xfrm>
            <a:off x="6514624" y="3617476"/>
            <a:ext cx="3313152"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.float, .double</a:t>
            </a:r>
            <a:endParaRPr b="0" i="0" sz="1750" u="none" cap="none" strike="noStrike">
              <a:solidFill>
                <a:srgbClr val="000000"/>
              </a:solidFill>
              <a:latin typeface="Arial"/>
              <a:ea typeface="Arial"/>
              <a:cs typeface="Arial"/>
              <a:sym typeface="Arial"/>
            </a:endParaRPr>
          </a:p>
        </p:txBody>
      </p:sp>
      <p:sp>
        <p:nvSpPr>
          <p:cNvPr id="145" name="Google Shape;145;p6"/>
          <p:cNvSpPr/>
          <p:nvPr/>
        </p:nvSpPr>
        <p:spPr>
          <a:xfrm>
            <a:off x="10289024" y="3617476"/>
            <a:ext cx="331315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Declaran valores de punto flotante.</a:t>
            </a:r>
            <a:endParaRPr b="0" i="0" sz="1750" u="none" cap="none" strike="noStrike">
              <a:solidFill>
                <a:srgbClr val="000000"/>
              </a:solidFill>
              <a:latin typeface="Arial"/>
              <a:ea typeface="Arial"/>
              <a:cs typeface="Arial"/>
              <a:sym typeface="Arial"/>
            </a:endParaRPr>
          </a:p>
        </p:txBody>
      </p:sp>
      <p:sp>
        <p:nvSpPr>
          <p:cNvPr id="146" name="Google Shape;146;p6"/>
          <p:cNvSpPr/>
          <p:nvPr/>
        </p:nvSpPr>
        <p:spPr>
          <a:xfrm>
            <a:off x="6287810" y="4486989"/>
            <a:ext cx="7541181" cy="1013222"/>
          </a:xfrm>
          <a:prstGeom prst="rect">
            <a:avLst/>
          </a:prstGeom>
          <a:solidFill>
            <a:srgbClr val="FFFFFF">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6"/>
          <p:cNvSpPr/>
          <p:nvPr/>
        </p:nvSpPr>
        <p:spPr>
          <a:xfrm>
            <a:off x="6514624" y="4630698"/>
            <a:ext cx="3313152"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.ascii, .asciz</a:t>
            </a:r>
            <a:endParaRPr b="0" i="0" sz="1750" u="none" cap="none" strike="noStrike">
              <a:solidFill>
                <a:srgbClr val="000000"/>
              </a:solidFill>
              <a:latin typeface="Arial"/>
              <a:ea typeface="Arial"/>
              <a:cs typeface="Arial"/>
              <a:sym typeface="Arial"/>
            </a:endParaRPr>
          </a:p>
        </p:txBody>
      </p:sp>
      <p:sp>
        <p:nvSpPr>
          <p:cNvPr id="148" name="Google Shape;148;p6"/>
          <p:cNvSpPr/>
          <p:nvPr/>
        </p:nvSpPr>
        <p:spPr>
          <a:xfrm>
            <a:off x="10289024" y="4630698"/>
            <a:ext cx="331315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Definen cadenas de texto (con/sin terminador nulo).</a:t>
            </a:r>
            <a:endParaRPr b="0" i="0" sz="1750" u="none" cap="none" strike="noStrike">
              <a:solidFill>
                <a:srgbClr val="000000"/>
              </a:solidFill>
              <a:latin typeface="Arial"/>
              <a:ea typeface="Arial"/>
              <a:cs typeface="Arial"/>
              <a:sym typeface="Arial"/>
            </a:endParaRPr>
          </a:p>
        </p:txBody>
      </p:sp>
      <p:sp>
        <p:nvSpPr>
          <p:cNvPr id="149" name="Google Shape;149;p6"/>
          <p:cNvSpPr/>
          <p:nvPr/>
        </p:nvSpPr>
        <p:spPr>
          <a:xfrm>
            <a:off x="6287810" y="5500211"/>
            <a:ext cx="7541181" cy="1013222"/>
          </a:xfrm>
          <a:prstGeom prst="rect">
            <a:avLst/>
          </a:prstGeom>
          <a:solidFill>
            <a:srgbClr val="000000">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6"/>
          <p:cNvSpPr/>
          <p:nvPr/>
        </p:nvSpPr>
        <p:spPr>
          <a:xfrm>
            <a:off x="6514624" y="5643920"/>
            <a:ext cx="3313152"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.space, .skip</a:t>
            </a:r>
            <a:endParaRPr b="0" i="0" sz="1750" u="none" cap="none" strike="noStrike">
              <a:solidFill>
                <a:srgbClr val="000000"/>
              </a:solidFill>
              <a:latin typeface="Arial"/>
              <a:ea typeface="Arial"/>
              <a:cs typeface="Arial"/>
              <a:sym typeface="Arial"/>
            </a:endParaRPr>
          </a:p>
        </p:txBody>
      </p:sp>
      <p:sp>
        <p:nvSpPr>
          <p:cNvPr id="151" name="Google Shape;151;p6"/>
          <p:cNvSpPr/>
          <p:nvPr/>
        </p:nvSpPr>
        <p:spPr>
          <a:xfrm>
            <a:off x="10289024" y="5643920"/>
            <a:ext cx="331315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Reserva un número específico de bytes en la memoria.</a:t>
            </a:r>
            <a:endParaRPr b="0" i="0" sz="1750" u="none" cap="none" strike="noStrike">
              <a:solidFill>
                <a:srgbClr val="000000"/>
              </a:solidFill>
              <a:latin typeface="Arial"/>
              <a:ea typeface="Arial"/>
              <a:cs typeface="Arial"/>
              <a:sym typeface="Arial"/>
            </a:endParaRPr>
          </a:p>
        </p:txBody>
      </p:sp>
      <p:sp>
        <p:nvSpPr>
          <p:cNvPr id="152" name="Google Shape;152;p6"/>
          <p:cNvSpPr/>
          <p:nvPr/>
        </p:nvSpPr>
        <p:spPr>
          <a:xfrm>
            <a:off x="6287810" y="6513433"/>
            <a:ext cx="7541181" cy="1013222"/>
          </a:xfrm>
          <a:prstGeom prst="rect">
            <a:avLst/>
          </a:prstGeom>
          <a:solidFill>
            <a:srgbClr val="FFFFFF">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6"/>
          <p:cNvSpPr/>
          <p:nvPr/>
        </p:nvSpPr>
        <p:spPr>
          <a:xfrm>
            <a:off x="6514624" y="6657142"/>
            <a:ext cx="3313152"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.equ</a:t>
            </a:r>
            <a:endParaRPr b="0" i="0" sz="1750" u="none" cap="none" strike="noStrike">
              <a:solidFill>
                <a:srgbClr val="000000"/>
              </a:solidFill>
              <a:latin typeface="Arial"/>
              <a:ea typeface="Arial"/>
              <a:cs typeface="Arial"/>
              <a:sym typeface="Arial"/>
            </a:endParaRPr>
          </a:p>
        </p:txBody>
      </p:sp>
      <p:sp>
        <p:nvSpPr>
          <p:cNvPr id="154" name="Google Shape;154;p6"/>
          <p:cNvSpPr/>
          <p:nvPr/>
        </p:nvSpPr>
        <p:spPr>
          <a:xfrm>
            <a:off x="10289024" y="6657142"/>
            <a:ext cx="331315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Asigna un valor constante a un símbolo.</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p:nvPr/>
        </p:nvSpPr>
        <p:spPr>
          <a:xfrm>
            <a:off x="793790" y="1296710"/>
            <a:ext cx="9408438"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DDDDD"/>
              </a:buClr>
              <a:buSzPts val="4450"/>
              <a:buFont typeface="Mona Sans"/>
              <a:buNone/>
            </a:pPr>
            <a:r>
              <a:rPr b="0" i="0" lang="en-US" sz="4450" u="none" cap="none" strike="noStrike">
                <a:solidFill>
                  <a:srgbClr val="DDDDDD"/>
                </a:solidFill>
                <a:latin typeface="Mona Sans"/>
                <a:ea typeface="Mona Sans"/>
                <a:cs typeface="Mona Sans"/>
                <a:sym typeface="Mona Sans"/>
              </a:rPr>
              <a:t>Directivas Específicas de AArch64</a:t>
            </a:r>
            <a:endParaRPr b="0" i="0" sz="4450" u="none" cap="none" strike="noStrike">
              <a:solidFill>
                <a:srgbClr val="000000"/>
              </a:solidFill>
              <a:latin typeface="Arial"/>
              <a:ea typeface="Arial"/>
              <a:cs typeface="Arial"/>
              <a:sym typeface="Arial"/>
            </a:endParaRPr>
          </a:p>
        </p:txBody>
      </p:sp>
      <p:pic>
        <p:nvPicPr>
          <p:cNvPr descr="preencoded.png" id="161" name="Google Shape;161;p7"/>
          <p:cNvPicPr preferRelativeResize="0"/>
          <p:nvPr/>
        </p:nvPicPr>
        <p:blipFill rotWithShape="1">
          <a:blip r:embed="rId3">
            <a:alphaModFix/>
          </a:blip>
          <a:srcRect b="0" l="0" r="0" t="0"/>
          <a:stretch/>
        </p:blipFill>
        <p:spPr>
          <a:xfrm>
            <a:off x="793790" y="2459117"/>
            <a:ext cx="566976" cy="566976"/>
          </a:xfrm>
          <a:prstGeom prst="rect">
            <a:avLst/>
          </a:prstGeom>
          <a:noFill/>
          <a:ln>
            <a:noFill/>
          </a:ln>
        </p:spPr>
      </p:pic>
      <p:sp>
        <p:nvSpPr>
          <p:cNvPr id="162" name="Google Shape;162;p7"/>
          <p:cNvSpPr/>
          <p:nvPr/>
        </p:nvSpPr>
        <p:spPr>
          <a:xfrm>
            <a:off x="793790" y="325290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.req</a:t>
            </a:r>
            <a:endParaRPr b="0" i="0" sz="2200" u="none" cap="none" strike="noStrike">
              <a:solidFill>
                <a:srgbClr val="000000"/>
              </a:solidFill>
              <a:latin typeface="Arial"/>
              <a:ea typeface="Arial"/>
              <a:cs typeface="Arial"/>
              <a:sym typeface="Arial"/>
            </a:endParaRPr>
          </a:p>
        </p:txBody>
      </p:sp>
      <p:sp>
        <p:nvSpPr>
          <p:cNvPr id="163" name="Google Shape;163;p7"/>
          <p:cNvSpPr/>
          <p:nvPr/>
        </p:nvSpPr>
        <p:spPr>
          <a:xfrm>
            <a:off x="793790" y="3743325"/>
            <a:ext cx="304800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Crea un alias para un registro.</a:t>
            </a:r>
            <a:endParaRPr b="0" i="0" sz="1750" u="none" cap="none" strike="noStrike">
              <a:solidFill>
                <a:srgbClr val="000000"/>
              </a:solidFill>
              <a:latin typeface="Arial"/>
              <a:ea typeface="Arial"/>
              <a:cs typeface="Arial"/>
              <a:sym typeface="Arial"/>
            </a:endParaRPr>
          </a:p>
        </p:txBody>
      </p:sp>
      <p:pic>
        <p:nvPicPr>
          <p:cNvPr descr="preencoded.png" id="164" name="Google Shape;164;p7"/>
          <p:cNvPicPr preferRelativeResize="0"/>
          <p:nvPr/>
        </p:nvPicPr>
        <p:blipFill rotWithShape="1">
          <a:blip r:embed="rId4">
            <a:alphaModFix/>
          </a:blip>
          <a:srcRect b="0" l="0" r="0" t="0"/>
          <a:stretch/>
        </p:blipFill>
        <p:spPr>
          <a:xfrm>
            <a:off x="4125278" y="2459117"/>
            <a:ext cx="566976" cy="566976"/>
          </a:xfrm>
          <a:prstGeom prst="rect">
            <a:avLst/>
          </a:prstGeom>
          <a:noFill/>
          <a:ln>
            <a:noFill/>
          </a:ln>
        </p:spPr>
      </p:pic>
      <p:sp>
        <p:nvSpPr>
          <p:cNvPr id="165" name="Google Shape;165;p7"/>
          <p:cNvSpPr/>
          <p:nvPr/>
        </p:nvSpPr>
        <p:spPr>
          <a:xfrm>
            <a:off x="4125278" y="325290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.variant_pcs</a:t>
            </a:r>
            <a:endParaRPr b="0" i="0" sz="2200" u="none" cap="none" strike="noStrike">
              <a:solidFill>
                <a:srgbClr val="000000"/>
              </a:solidFill>
              <a:latin typeface="Arial"/>
              <a:ea typeface="Arial"/>
              <a:cs typeface="Arial"/>
              <a:sym typeface="Arial"/>
            </a:endParaRPr>
          </a:p>
        </p:txBody>
      </p:sp>
      <p:sp>
        <p:nvSpPr>
          <p:cNvPr id="166" name="Google Shape;166;p7"/>
          <p:cNvSpPr/>
          <p:nvPr/>
        </p:nvSpPr>
        <p:spPr>
          <a:xfrm>
            <a:off x="4125278" y="3743325"/>
            <a:ext cx="304811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Indica un convenio de llamada alternativo.</a:t>
            </a:r>
            <a:endParaRPr b="0" i="0" sz="1750" u="none" cap="none" strike="noStrike">
              <a:solidFill>
                <a:srgbClr val="000000"/>
              </a:solidFill>
              <a:latin typeface="Arial"/>
              <a:ea typeface="Arial"/>
              <a:cs typeface="Arial"/>
              <a:sym typeface="Arial"/>
            </a:endParaRPr>
          </a:p>
        </p:txBody>
      </p:sp>
      <p:pic>
        <p:nvPicPr>
          <p:cNvPr descr="preencoded.png" id="167" name="Google Shape;167;p7"/>
          <p:cNvPicPr preferRelativeResize="0"/>
          <p:nvPr/>
        </p:nvPicPr>
        <p:blipFill rotWithShape="1">
          <a:blip r:embed="rId5">
            <a:alphaModFix/>
          </a:blip>
          <a:srcRect b="0" l="0" r="0" t="0"/>
          <a:stretch/>
        </p:blipFill>
        <p:spPr>
          <a:xfrm>
            <a:off x="7456884" y="2459117"/>
            <a:ext cx="566976" cy="566976"/>
          </a:xfrm>
          <a:prstGeom prst="rect">
            <a:avLst/>
          </a:prstGeom>
          <a:noFill/>
          <a:ln>
            <a:noFill/>
          </a:ln>
        </p:spPr>
      </p:pic>
      <p:sp>
        <p:nvSpPr>
          <p:cNvPr id="168" name="Google Shape;168;p7"/>
          <p:cNvSpPr/>
          <p:nvPr/>
        </p:nvSpPr>
        <p:spPr>
          <a:xfrm>
            <a:off x="7456884" y="325290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.cfi_*</a:t>
            </a:r>
            <a:endParaRPr b="0" i="0" sz="2200" u="none" cap="none" strike="noStrike">
              <a:solidFill>
                <a:srgbClr val="000000"/>
              </a:solidFill>
              <a:latin typeface="Arial"/>
              <a:ea typeface="Arial"/>
              <a:cs typeface="Arial"/>
              <a:sym typeface="Arial"/>
            </a:endParaRPr>
          </a:p>
        </p:txBody>
      </p:sp>
      <p:sp>
        <p:nvSpPr>
          <p:cNvPr id="169" name="Google Shape;169;p7"/>
          <p:cNvSpPr/>
          <p:nvPr/>
        </p:nvSpPr>
        <p:spPr>
          <a:xfrm>
            <a:off x="7456884" y="3743325"/>
            <a:ext cx="304811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Soporte para información de desenrollado de pila.</a:t>
            </a:r>
            <a:endParaRPr b="0" i="0" sz="1750" u="none" cap="none" strike="noStrike">
              <a:solidFill>
                <a:srgbClr val="000000"/>
              </a:solidFill>
              <a:latin typeface="Arial"/>
              <a:ea typeface="Arial"/>
              <a:cs typeface="Arial"/>
              <a:sym typeface="Arial"/>
            </a:endParaRPr>
          </a:p>
        </p:txBody>
      </p:sp>
      <p:pic>
        <p:nvPicPr>
          <p:cNvPr descr="preencoded.png" id="170" name="Google Shape;170;p7"/>
          <p:cNvPicPr preferRelativeResize="0"/>
          <p:nvPr/>
        </p:nvPicPr>
        <p:blipFill rotWithShape="1">
          <a:blip r:embed="rId6">
            <a:alphaModFix/>
          </a:blip>
          <a:srcRect b="0" l="0" r="0" t="0"/>
          <a:stretch/>
        </p:blipFill>
        <p:spPr>
          <a:xfrm>
            <a:off x="10788491" y="2459117"/>
            <a:ext cx="566976" cy="566976"/>
          </a:xfrm>
          <a:prstGeom prst="rect">
            <a:avLst/>
          </a:prstGeom>
          <a:noFill/>
          <a:ln>
            <a:noFill/>
          </a:ln>
        </p:spPr>
      </p:pic>
      <p:sp>
        <p:nvSpPr>
          <p:cNvPr id="171" name="Google Shape;171;p7"/>
          <p:cNvSpPr/>
          <p:nvPr/>
        </p:nvSpPr>
        <p:spPr>
          <a:xfrm>
            <a:off x="10788491" y="325290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.tlsdesccall</a:t>
            </a:r>
            <a:endParaRPr b="0" i="0" sz="2200" u="none" cap="none" strike="noStrike">
              <a:solidFill>
                <a:srgbClr val="000000"/>
              </a:solidFill>
              <a:latin typeface="Arial"/>
              <a:ea typeface="Arial"/>
              <a:cs typeface="Arial"/>
              <a:sym typeface="Arial"/>
            </a:endParaRPr>
          </a:p>
        </p:txBody>
      </p:sp>
      <p:sp>
        <p:nvSpPr>
          <p:cNvPr id="172" name="Google Shape;172;p7"/>
          <p:cNvSpPr/>
          <p:nvPr/>
        </p:nvSpPr>
        <p:spPr>
          <a:xfrm>
            <a:off x="10788491" y="3743325"/>
            <a:ext cx="304811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Directivas para el modelo de hilos (TLS).</a:t>
            </a:r>
            <a:endParaRPr b="0" i="0" sz="1750" u="none" cap="none" strike="noStrike">
              <a:solidFill>
                <a:srgbClr val="000000"/>
              </a:solidFill>
              <a:latin typeface="Arial"/>
              <a:ea typeface="Arial"/>
              <a:cs typeface="Arial"/>
              <a:sym typeface="Arial"/>
            </a:endParaRPr>
          </a:p>
        </p:txBody>
      </p:sp>
      <p:pic>
        <p:nvPicPr>
          <p:cNvPr descr="preencoded.png" id="173" name="Google Shape;173;p7"/>
          <p:cNvPicPr preferRelativeResize="0"/>
          <p:nvPr/>
        </p:nvPicPr>
        <p:blipFill rotWithShape="1">
          <a:blip r:embed="rId7">
            <a:alphaModFix/>
          </a:blip>
          <a:srcRect b="0" l="0" r="0" t="0"/>
          <a:stretch/>
        </p:blipFill>
        <p:spPr>
          <a:xfrm>
            <a:off x="793790" y="4922758"/>
            <a:ext cx="566976" cy="566976"/>
          </a:xfrm>
          <a:prstGeom prst="rect">
            <a:avLst/>
          </a:prstGeom>
          <a:noFill/>
          <a:ln>
            <a:noFill/>
          </a:ln>
        </p:spPr>
      </p:pic>
      <p:sp>
        <p:nvSpPr>
          <p:cNvPr id="174" name="Google Shape;174;p7"/>
          <p:cNvSpPr/>
          <p:nvPr/>
        </p:nvSpPr>
        <p:spPr>
          <a:xfrm>
            <a:off x="793790" y="571654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.inst</a:t>
            </a:r>
            <a:endParaRPr b="0" i="0" sz="2200" u="none" cap="none" strike="noStrike">
              <a:solidFill>
                <a:srgbClr val="000000"/>
              </a:solidFill>
              <a:latin typeface="Arial"/>
              <a:ea typeface="Arial"/>
              <a:cs typeface="Arial"/>
              <a:sym typeface="Arial"/>
            </a:endParaRPr>
          </a:p>
        </p:txBody>
      </p:sp>
      <p:sp>
        <p:nvSpPr>
          <p:cNvPr id="175" name="Google Shape;175;p7"/>
          <p:cNvSpPr/>
          <p:nvPr/>
        </p:nvSpPr>
        <p:spPr>
          <a:xfrm>
            <a:off x="793790" y="6206966"/>
            <a:ext cx="304800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Inserta instrucciones codificadas manualmente.</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8"/>
          <p:cNvSpPr/>
          <p:nvPr/>
        </p:nvSpPr>
        <p:spPr>
          <a:xfrm>
            <a:off x="793790" y="833199"/>
            <a:ext cx="9711214"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DDDDD"/>
              </a:buClr>
              <a:buSzPts val="4450"/>
              <a:buFont typeface="Mona Sans"/>
              <a:buNone/>
            </a:pPr>
            <a:r>
              <a:rPr b="0" i="0" lang="en-US" sz="4450" u="none" cap="none" strike="noStrike">
                <a:solidFill>
                  <a:srgbClr val="DDDDDD"/>
                </a:solidFill>
                <a:latin typeface="Mona Sans"/>
                <a:ea typeface="Mona Sans"/>
                <a:cs typeface="Mona Sans"/>
                <a:sym typeface="Mona Sans"/>
              </a:rPr>
              <a:t>Integración en el Flujo de Desarrollo</a:t>
            </a:r>
            <a:endParaRPr b="0" i="0" sz="4450" u="none" cap="none" strike="noStrike">
              <a:solidFill>
                <a:srgbClr val="000000"/>
              </a:solidFill>
              <a:latin typeface="Arial"/>
              <a:ea typeface="Arial"/>
              <a:cs typeface="Arial"/>
              <a:sym typeface="Arial"/>
            </a:endParaRPr>
          </a:p>
        </p:txBody>
      </p:sp>
      <p:sp>
        <p:nvSpPr>
          <p:cNvPr id="182" name="Google Shape;182;p8"/>
          <p:cNvSpPr/>
          <p:nvPr/>
        </p:nvSpPr>
        <p:spPr>
          <a:xfrm>
            <a:off x="793790" y="1995607"/>
            <a:ext cx="170021" cy="853321"/>
          </a:xfrm>
          <a:prstGeom prst="roundRect">
            <a:avLst>
              <a:gd fmla="val 56033"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8"/>
          <p:cNvSpPr/>
          <p:nvPr/>
        </p:nvSpPr>
        <p:spPr>
          <a:xfrm>
            <a:off x="1303973" y="1995607"/>
            <a:ext cx="324100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Desarrollo de Bajo Nivel</a:t>
            </a:r>
            <a:endParaRPr b="0" i="0" sz="2200" u="none" cap="none" strike="noStrike">
              <a:solidFill>
                <a:srgbClr val="000000"/>
              </a:solidFill>
              <a:latin typeface="Arial"/>
              <a:ea typeface="Arial"/>
              <a:cs typeface="Arial"/>
              <a:sym typeface="Arial"/>
            </a:endParaRPr>
          </a:p>
        </p:txBody>
      </p:sp>
      <p:sp>
        <p:nvSpPr>
          <p:cNvPr id="184" name="Google Shape;184;p8"/>
          <p:cNvSpPr/>
          <p:nvPr/>
        </p:nvSpPr>
        <p:spPr>
          <a:xfrm>
            <a:off x="1303973" y="2486025"/>
            <a:ext cx="12532638"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Esenciales para kernels, drivers y firmware.</a:t>
            </a:r>
            <a:endParaRPr b="0" i="0" sz="1750" u="none" cap="none" strike="noStrike">
              <a:solidFill>
                <a:srgbClr val="000000"/>
              </a:solidFill>
              <a:latin typeface="Arial"/>
              <a:ea typeface="Arial"/>
              <a:cs typeface="Arial"/>
              <a:sym typeface="Arial"/>
            </a:endParaRPr>
          </a:p>
        </p:txBody>
      </p:sp>
      <p:sp>
        <p:nvSpPr>
          <p:cNvPr id="185" name="Google Shape;185;p8"/>
          <p:cNvSpPr/>
          <p:nvPr/>
        </p:nvSpPr>
        <p:spPr>
          <a:xfrm>
            <a:off x="1133951" y="3075742"/>
            <a:ext cx="170021" cy="853321"/>
          </a:xfrm>
          <a:prstGeom prst="roundRect">
            <a:avLst>
              <a:gd fmla="val 56033"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8"/>
          <p:cNvSpPr/>
          <p:nvPr/>
        </p:nvSpPr>
        <p:spPr>
          <a:xfrm>
            <a:off x="1644134" y="3075742"/>
            <a:ext cx="325052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Optimización Hardware</a:t>
            </a:r>
            <a:endParaRPr b="0" i="0" sz="2200" u="none" cap="none" strike="noStrike">
              <a:solidFill>
                <a:srgbClr val="000000"/>
              </a:solidFill>
              <a:latin typeface="Arial"/>
              <a:ea typeface="Arial"/>
              <a:cs typeface="Arial"/>
              <a:sym typeface="Arial"/>
            </a:endParaRPr>
          </a:p>
        </p:txBody>
      </p:sp>
      <p:sp>
        <p:nvSpPr>
          <p:cNvPr id="187" name="Google Shape;187;p8"/>
          <p:cNvSpPr/>
          <p:nvPr/>
        </p:nvSpPr>
        <p:spPr>
          <a:xfrm>
            <a:off x="1644134" y="3566160"/>
            <a:ext cx="121924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Permiten ajustes específicos de hardware.</a:t>
            </a:r>
            <a:endParaRPr b="0" i="0" sz="1750" u="none" cap="none" strike="noStrike">
              <a:solidFill>
                <a:srgbClr val="000000"/>
              </a:solidFill>
              <a:latin typeface="Arial"/>
              <a:ea typeface="Arial"/>
              <a:cs typeface="Arial"/>
              <a:sym typeface="Arial"/>
            </a:endParaRPr>
          </a:p>
        </p:txBody>
      </p:sp>
      <p:sp>
        <p:nvSpPr>
          <p:cNvPr id="188" name="Google Shape;188;p8"/>
          <p:cNvSpPr/>
          <p:nvPr/>
        </p:nvSpPr>
        <p:spPr>
          <a:xfrm>
            <a:off x="1474232" y="4155877"/>
            <a:ext cx="170021" cy="853321"/>
          </a:xfrm>
          <a:prstGeom prst="roundRect">
            <a:avLst>
              <a:gd fmla="val 56033"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8"/>
          <p:cNvSpPr/>
          <p:nvPr/>
        </p:nvSpPr>
        <p:spPr>
          <a:xfrm>
            <a:off x="1984415" y="4155877"/>
            <a:ext cx="3291364"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Interoperabilidad C/C++</a:t>
            </a:r>
            <a:endParaRPr b="0" i="0" sz="2200" u="none" cap="none" strike="noStrike">
              <a:solidFill>
                <a:srgbClr val="000000"/>
              </a:solidFill>
              <a:latin typeface="Arial"/>
              <a:ea typeface="Arial"/>
              <a:cs typeface="Arial"/>
              <a:sym typeface="Arial"/>
            </a:endParaRPr>
          </a:p>
        </p:txBody>
      </p:sp>
      <p:sp>
        <p:nvSpPr>
          <p:cNvPr id="190" name="Google Shape;190;p8"/>
          <p:cNvSpPr/>
          <p:nvPr/>
        </p:nvSpPr>
        <p:spPr>
          <a:xfrm>
            <a:off x="1984415" y="4646295"/>
            <a:ext cx="1185219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Facilitan la interacción con código de alto nivel.</a:t>
            </a:r>
            <a:endParaRPr b="0" i="0" sz="1750" u="none" cap="none" strike="noStrike">
              <a:solidFill>
                <a:srgbClr val="000000"/>
              </a:solidFill>
              <a:latin typeface="Arial"/>
              <a:ea typeface="Arial"/>
              <a:cs typeface="Arial"/>
              <a:sym typeface="Arial"/>
            </a:endParaRPr>
          </a:p>
        </p:txBody>
      </p:sp>
      <p:sp>
        <p:nvSpPr>
          <p:cNvPr id="191" name="Google Shape;191;p8"/>
          <p:cNvSpPr/>
          <p:nvPr/>
        </p:nvSpPr>
        <p:spPr>
          <a:xfrm>
            <a:off x="1814513" y="5236012"/>
            <a:ext cx="170021" cy="853321"/>
          </a:xfrm>
          <a:prstGeom prst="roundRect">
            <a:avLst>
              <a:gd fmla="val 56033"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8"/>
          <p:cNvSpPr/>
          <p:nvPr/>
        </p:nvSpPr>
        <p:spPr>
          <a:xfrm>
            <a:off x="2324695" y="523601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Control de Memoria</a:t>
            </a:r>
            <a:endParaRPr b="0" i="0" sz="2200" u="none" cap="none" strike="noStrike">
              <a:solidFill>
                <a:srgbClr val="000000"/>
              </a:solidFill>
              <a:latin typeface="Arial"/>
              <a:ea typeface="Arial"/>
              <a:cs typeface="Arial"/>
              <a:sym typeface="Arial"/>
            </a:endParaRPr>
          </a:p>
        </p:txBody>
      </p:sp>
      <p:sp>
        <p:nvSpPr>
          <p:cNvPr id="193" name="Google Shape;193;p8"/>
          <p:cNvSpPr/>
          <p:nvPr/>
        </p:nvSpPr>
        <p:spPr>
          <a:xfrm>
            <a:off x="2324695" y="5726430"/>
            <a:ext cx="1151191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Vitales para un layout preciso de memoria.</a:t>
            </a:r>
            <a:endParaRPr b="0" i="0" sz="1750" u="none" cap="none" strike="noStrike">
              <a:solidFill>
                <a:srgbClr val="000000"/>
              </a:solidFill>
              <a:latin typeface="Arial"/>
              <a:ea typeface="Arial"/>
              <a:cs typeface="Arial"/>
              <a:sym typeface="Arial"/>
            </a:endParaRPr>
          </a:p>
        </p:txBody>
      </p:sp>
      <p:sp>
        <p:nvSpPr>
          <p:cNvPr id="194" name="Google Shape;194;p8"/>
          <p:cNvSpPr/>
          <p:nvPr/>
        </p:nvSpPr>
        <p:spPr>
          <a:xfrm>
            <a:off x="1474232" y="6316147"/>
            <a:ext cx="170021" cy="853321"/>
          </a:xfrm>
          <a:prstGeom prst="roundRect">
            <a:avLst>
              <a:gd fmla="val 56033" name="adj"/>
            </a:avLst>
          </a:prstGeom>
          <a:solidFill>
            <a:srgbClr val="4040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8"/>
          <p:cNvSpPr/>
          <p:nvPr/>
        </p:nvSpPr>
        <p:spPr>
          <a:xfrm>
            <a:off x="1984415" y="631614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F8F8F"/>
              </a:buClr>
              <a:buSzPts val="2200"/>
              <a:buFont typeface="Mona Sans"/>
              <a:buNone/>
            </a:pPr>
            <a:r>
              <a:rPr b="0" i="0" lang="en-US" sz="2200" u="none" cap="none" strike="noStrike">
                <a:solidFill>
                  <a:srgbClr val="8F8F8F"/>
                </a:solidFill>
                <a:latin typeface="Mona Sans"/>
                <a:ea typeface="Mona Sans"/>
                <a:cs typeface="Mona Sans"/>
                <a:sym typeface="Mona Sans"/>
              </a:rPr>
              <a:t>Rendimiento Crítico</a:t>
            </a:r>
            <a:endParaRPr b="0" i="0" sz="2200" u="none" cap="none" strike="noStrike">
              <a:solidFill>
                <a:srgbClr val="000000"/>
              </a:solidFill>
              <a:latin typeface="Arial"/>
              <a:ea typeface="Arial"/>
              <a:cs typeface="Arial"/>
              <a:sym typeface="Arial"/>
            </a:endParaRPr>
          </a:p>
        </p:txBody>
      </p:sp>
      <p:sp>
        <p:nvSpPr>
          <p:cNvPr id="196" name="Google Shape;196;p8"/>
          <p:cNvSpPr/>
          <p:nvPr/>
        </p:nvSpPr>
        <p:spPr>
          <a:xfrm>
            <a:off x="1984415" y="6806565"/>
            <a:ext cx="1185219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8F8F8F"/>
              </a:buClr>
              <a:buSzPts val="1750"/>
              <a:buFont typeface="Funnel Sans"/>
              <a:buNone/>
            </a:pPr>
            <a:r>
              <a:rPr b="0" i="0" lang="en-US" sz="1750" u="none" cap="none" strike="noStrike">
                <a:solidFill>
                  <a:srgbClr val="8F8F8F"/>
                </a:solidFill>
                <a:latin typeface="Funnel Sans"/>
                <a:ea typeface="Funnel Sans"/>
                <a:cs typeface="Funnel Sans"/>
                <a:sym typeface="Funnel Sans"/>
              </a:rPr>
              <a:t>Claves en sistemas embebidos y de alto rendimiento.</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