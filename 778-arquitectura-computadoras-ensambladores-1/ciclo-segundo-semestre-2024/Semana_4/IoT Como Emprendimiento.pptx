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1430000" cy="8229600"/>
  <p:notesSz cx="114300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3B443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B443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7181850"/>
          </a:xfrm>
          <a:custGeom>
            <a:avLst/>
            <a:gdLst/>
            <a:ahLst/>
            <a:cxnLst/>
            <a:rect l="l" t="t" r="r" b="b"/>
            <a:pathLst>
              <a:path w="11430000" h="7181850">
                <a:moveTo>
                  <a:pt x="11430000" y="0"/>
                </a:moveTo>
                <a:lnTo>
                  <a:pt x="0" y="0"/>
                </a:lnTo>
                <a:lnTo>
                  <a:pt x="0" y="7181850"/>
                </a:lnTo>
                <a:lnTo>
                  <a:pt x="11430000" y="71818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F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71815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B443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3B443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F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3625" y="454024"/>
            <a:ext cx="4998720" cy="1606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3B443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672147"/>
            <a:ext cx="5600065" cy="295465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 marR="99695">
              <a:lnSpc>
                <a:spcPts val="5780"/>
              </a:lnSpc>
              <a:spcBef>
                <a:spcPts val="130"/>
              </a:spcBef>
            </a:pPr>
            <a:r>
              <a:rPr dirty="0" sz="4650" spc="430"/>
              <a:t>Có</a:t>
            </a:r>
            <a:r>
              <a:rPr dirty="0" sz="4650" spc="520"/>
              <a:t>   </a:t>
            </a:r>
            <a:r>
              <a:rPr dirty="0" sz="4650" spc="210"/>
              <a:t>o</a:t>
            </a:r>
            <a:r>
              <a:rPr dirty="0" sz="4650" spc="-70"/>
              <a:t> </a:t>
            </a:r>
            <a:r>
              <a:rPr dirty="0" sz="4650" spc="280"/>
              <a:t>sl</a:t>
            </a:r>
            <a:r>
              <a:rPr dirty="0" sz="4650" spc="-65"/>
              <a:t> </a:t>
            </a:r>
            <a:r>
              <a:rPr dirty="0" sz="4650" spc="280"/>
              <a:t>IoT</a:t>
            </a:r>
            <a:r>
              <a:rPr dirty="0" sz="4650" spc="-60"/>
              <a:t> </a:t>
            </a:r>
            <a:r>
              <a:rPr dirty="0" sz="4650" spc="790"/>
              <a:t>;”sds </a:t>
            </a:r>
            <a:r>
              <a:rPr dirty="0" sz="4650" spc="229"/>
              <a:t>hs"sCicinr</a:t>
            </a:r>
            <a:r>
              <a:rPr dirty="0" sz="4650" spc="-110"/>
              <a:t> </a:t>
            </a:r>
            <a:r>
              <a:rPr dirty="0" sz="4650"/>
              <a:t>n</a:t>
            </a:r>
            <a:r>
              <a:rPr dirty="0" sz="4650" spc="-105"/>
              <a:t> </a:t>
            </a:r>
            <a:r>
              <a:rPr dirty="0" sz="4650" spc="180"/>
              <a:t>los</a:t>
            </a:r>
            <a:endParaRPr sz="4650"/>
          </a:p>
          <a:p>
            <a:pPr marL="12700" marR="5080">
              <a:lnSpc>
                <a:spcPts val="5850"/>
              </a:lnSpc>
            </a:pPr>
            <a:r>
              <a:rPr dirty="0" sz="4650" spc="420"/>
              <a:t>s</a:t>
            </a:r>
            <a:r>
              <a:rPr dirty="0" sz="4650" spc="520"/>
              <a:t>   </a:t>
            </a:r>
            <a:r>
              <a:rPr dirty="0" sz="4650" spc="505"/>
              <a:t>;rs"dsdorss</a:t>
            </a:r>
            <a:r>
              <a:rPr dirty="0" sz="4650" spc="-70"/>
              <a:t> </a:t>
            </a:r>
            <a:r>
              <a:rPr dirty="0" sz="4650" spc="765"/>
              <a:t>s" </a:t>
            </a:r>
            <a:r>
              <a:rPr dirty="0" sz="4650" spc="400"/>
              <a:t>i"gs"isrín</a:t>
            </a:r>
            <a:r>
              <a:rPr dirty="0" sz="4650" spc="-45"/>
              <a:t> </a:t>
            </a:r>
            <a:r>
              <a:rPr dirty="0" sz="4650" spc="295"/>
              <a:t>ds</a:t>
            </a:r>
            <a:endParaRPr sz="4650"/>
          </a:p>
        </p:txBody>
      </p:sp>
      <p:sp>
        <p:nvSpPr>
          <p:cNvPr id="4" name="object 4" descr=""/>
          <p:cNvSpPr txBox="1"/>
          <p:nvPr/>
        </p:nvSpPr>
        <p:spPr>
          <a:xfrm>
            <a:off x="4873625" y="3624897"/>
            <a:ext cx="5942330" cy="20707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215" b="1">
                <a:solidFill>
                  <a:srgbClr val="3B443F"/>
                </a:solidFill>
                <a:latin typeface="Cambria"/>
                <a:cs typeface="Cambria"/>
              </a:rPr>
              <a:t>sis"s</a:t>
            </a:r>
            <a:r>
              <a:rPr dirty="0" sz="4650" spc="520" b="1">
                <a:solidFill>
                  <a:srgbClr val="3B443F"/>
                </a:solidFill>
                <a:latin typeface="Cambria"/>
                <a:cs typeface="Cambria"/>
              </a:rPr>
              <a:t>   </a:t>
            </a:r>
            <a:r>
              <a:rPr dirty="0" sz="4650" spc="65" b="1">
                <a:solidFill>
                  <a:srgbClr val="3B443F"/>
                </a:solidFill>
                <a:latin typeface="Cambria"/>
                <a:cs typeface="Cambria"/>
              </a:rPr>
              <a:t>ns</a:t>
            </a:r>
            <a:endParaRPr sz="4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1914"/>
              </a:spcBef>
            </a:pPr>
            <a:r>
              <a:rPr dirty="0" sz="1350" spc="-45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85">
                <a:solidFill>
                  <a:srgbClr val="3F5349"/>
                </a:solidFill>
                <a:latin typeface="Microsoft Sans Serif"/>
                <a:cs typeface="Microsoft Sans Serif"/>
              </a:rPr>
              <a:t>Internet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las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Cosas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(IoT)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ofrece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una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amplia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gama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oportunidades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emprendedores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ingeniería</a:t>
            </a:r>
            <a:r>
              <a:rPr dirty="0" sz="1350" spc="9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sistemas.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Desde</a:t>
            </a:r>
            <a:r>
              <a:rPr dirty="0" sz="1350" spc="9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monitorear</a:t>
            </a:r>
            <a:r>
              <a:rPr dirty="0" sz="1350" spc="50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activos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tiempo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real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hasta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automatizar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procesos,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IoT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puede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mejorar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9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eficiencia,</a:t>
            </a:r>
            <a:r>
              <a:rPr dirty="0" sz="1350" spc="10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reducir</a:t>
            </a:r>
            <a:r>
              <a:rPr dirty="0" sz="1350" spc="9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costos</a:t>
            </a:r>
            <a:r>
              <a:rPr dirty="0" sz="1350" spc="10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10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crear</a:t>
            </a:r>
            <a:r>
              <a:rPr dirty="0" sz="1350" spc="9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nuevos</a:t>
            </a:r>
            <a:r>
              <a:rPr dirty="0" sz="1350" spc="10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modelos</a:t>
            </a:r>
            <a:r>
              <a:rPr dirty="0" sz="1350" spc="9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10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negocio.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73250"/>
            <a:ext cx="93491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55"/>
              <a:t>O;or"”"idndss</a:t>
            </a:r>
            <a:r>
              <a:rPr dirty="0" spc="-25"/>
              <a:t> </a:t>
            </a:r>
            <a:r>
              <a:rPr dirty="0" spc="250"/>
              <a:t>ds</a:t>
            </a:r>
            <a:r>
              <a:rPr dirty="0" spc="-20"/>
              <a:t> </a:t>
            </a:r>
            <a:r>
              <a:rPr dirty="0" spc="295"/>
              <a:t>"sgocio</a:t>
            </a:r>
            <a:r>
              <a:rPr dirty="0" spc="-20"/>
              <a:t> </a:t>
            </a:r>
            <a:r>
              <a:rPr dirty="0" spc="525"/>
              <a:t>y”s</a:t>
            </a:r>
            <a:r>
              <a:rPr dirty="0" spc="-20"/>
              <a:t> </a:t>
            </a:r>
            <a:r>
              <a:rPr dirty="0" spc="130"/>
              <a:t>oCrscs</a:t>
            </a:r>
            <a:r>
              <a:rPr dirty="0" spc="-25"/>
              <a:t> </a:t>
            </a:r>
            <a:r>
              <a:rPr dirty="0" spc="215"/>
              <a:t>sl</a:t>
            </a:r>
            <a:r>
              <a:rPr dirty="0" spc="-20"/>
              <a:t> </a:t>
            </a:r>
            <a:r>
              <a:rPr dirty="0" spc="180"/>
              <a:t>IoT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2840037"/>
            <a:ext cx="2837815" cy="15030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54" b="1">
                <a:solidFill>
                  <a:srgbClr val="3B443F"/>
                </a:solidFill>
                <a:latin typeface="Cambria"/>
                <a:cs typeface="Cambria"/>
              </a:rPr>
              <a:t>O;"i</a:t>
            </a:r>
            <a:r>
              <a:rPr dirty="0" sz="1650" spc="190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260" b="1">
                <a:solidFill>
                  <a:srgbClr val="3B443F"/>
                </a:solidFill>
                <a:latin typeface="Cambria"/>
                <a:cs typeface="Cambria"/>
              </a:rPr>
              <a:t>iznció"</a:t>
            </a:r>
            <a:r>
              <a:rPr dirty="0" sz="1650" spc="-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130" b="1">
                <a:solidFill>
                  <a:srgbClr val="3B443F"/>
                </a:solidFill>
                <a:latin typeface="Cambria"/>
                <a:cs typeface="Cambria"/>
              </a:rPr>
              <a:t>ds</a:t>
            </a:r>
            <a:r>
              <a:rPr dirty="0" sz="1650" spc="-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145" b="1">
                <a:solidFill>
                  <a:srgbClr val="3B443F"/>
                </a:solidFill>
                <a:latin typeface="Cambria"/>
                <a:cs typeface="Cambria"/>
              </a:rPr>
              <a:t>rsc”rsos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1015"/>
              </a:spcBef>
            </a:pP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Sensores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IoT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pueden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monitorear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y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controlar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uso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recursos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 como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energía,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agua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materiales,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mejorando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sostenibilidad.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45851" y="2840037"/>
            <a:ext cx="2983865" cy="15030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 b="1">
                <a:solidFill>
                  <a:srgbClr val="3B443F"/>
                </a:solidFill>
                <a:latin typeface="Cambria"/>
                <a:cs typeface="Cambria"/>
              </a:rPr>
              <a:t>Ш”svos</a:t>
            </a:r>
            <a:r>
              <a:rPr dirty="0" sz="1650" spc="190" b="1">
                <a:solidFill>
                  <a:srgbClr val="3B443F"/>
                </a:solidFill>
                <a:latin typeface="Cambria"/>
                <a:cs typeface="Cambria"/>
              </a:rPr>
              <a:t>  </a:t>
            </a:r>
            <a:r>
              <a:rPr dirty="0" sz="1650" spc="254" b="1">
                <a:solidFill>
                  <a:srgbClr val="3B443F"/>
                </a:solidFill>
                <a:latin typeface="Cambria"/>
                <a:cs typeface="Cambria"/>
              </a:rPr>
              <a:t>odslos</a:t>
            </a:r>
            <a:r>
              <a:rPr dirty="0" sz="1650" spc="-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130" b="1">
                <a:solidFill>
                  <a:srgbClr val="3B443F"/>
                </a:solidFill>
                <a:latin typeface="Cambria"/>
                <a:cs typeface="Cambria"/>
              </a:rPr>
              <a:t>ds</a:t>
            </a:r>
            <a:r>
              <a:rPr dirty="0" sz="1650" spc="-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85" b="1">
                <a:solidFill>
                  <a:srgbClr val="3B443F"/>
                </a:solidFill>
                <a:latin typeface="Cambria"/>
                <a:cs typeface="Cambria"/>
              </a:rPr>
              <a:t>ssrvicio</a:t>
            </a:r>
            <a:endParaRPr sz="1650">
              <a:latin typeface="Cambria"/>
              <a:cs typeface="Cambria"/>
            </a:endParaRPr>
          </a:p>
          <a:p>
            <a:pPr marL="12700" marR="21590">
              <a:lnSpc>
                <a:spcPct val="132700"/>
              </a:lnSpc>
              <a:spcBef>
                <a:spcPts val="1015"/>
              </a:spcBef>
            </a:pP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Dispositivos</a:t>
            </a:r>
            <a:r>
              <a:rPr dirty="0" sz="1350" spc="1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conectados</a:t>
            </a:r>
            <a:r>
              <a:rPr dirty="0" sz="1350" spc="1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permiten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ofrecer</a:t>
            </a:r>
            <a:r>
              <a:rPr dirty="0" sz="1350" spc="1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servicios</a:t>
            </a:r>
            <a:r>
              <a:rPr dirty="0" sz="1350" spc="1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basados</a:t>
            </a:r>
            <a:r>
              <a:rPr dirty="0" sz="1350" spc="1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en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suscripción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o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pago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por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uso,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creando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flujos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8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ingresos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recurrentes.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704340" y="2840037"/>
            <a:ext cx="2940685" cy="15030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0" b="1">
                <a:solidFill>
                  <a:srgbClr val="3B443F"/>
                </a:solidFill>
                <a:latin typeface="Cambria"/>
                <a:cs typeface="Cambria"/>
              </a:rPr>
              <a:t>I""ovnció"</a:t>
            </a:r>
            <a:r>
              <a:rPr dirty="0" sz="1650" spc="-10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130" b="1">
                <a:solidFill>
                  <a:srgbClr val="3B443F"/>
                </a:solidFill>
                <a:latin typeface="Cambria"/>
                <a:cs typeface="Cambria"/>
              </a:rPr>
              <a:t>ds</a:t>
            </a:r>
            <a:r>
              <a:rPr dirty="0" sz="1650" spc="-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1650" spc="180" b="1">
                <a:solidFill>
                  <a:srgbClr val="3B443F"/>
                </a:solidFill>
                <a:latin typeface="Cambria"/>
                <a:cs typeface="Cambria"/>
              </a:rPr>
              <a:t>;rod”c"os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2700"/>
              </a:lnSpc>
              <a:spcBef>
                <a:spcPts val="1015"/>
              </a:spcBef>
            </a:pP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Agregar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conectividad</a:t>
            </a:r>
            <a:r>
              <a:rPr dirty="0" sz="1350" spc="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a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productos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tradicionales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los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convierte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en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"productos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inteligentes"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con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nuevas funcionalidades.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6" name="object 6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8229600"/>
          </a:xfrm>
          <a:custGeom>
            <a:avLst/>
            <a:gdLst/>
            <a:ahLst/>
            <a:cxnLst/>
            <a:rect l="l" t="t" r="r" b="b"/>
            <a:pathLst>
              <a:path w="11430000" h="8229600">
                <a:moveTo>
                  <a:pt x="11430000" y="0"/>
                </a:moveTo>
                <a:lnTo>
                  <a:pt x="0" y="0"/>
                </a:lnTo>
                <a:lnTo>
                  <a:pt x="0" y="8229600"/>
                </a:lnTo>
                <a:lnTo>
                  <a:pt x="11430000" y="8229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F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0"/>
            <a:ext cx="4286250" cy="8229600"/>
            <a:chOff x="7143750" y="0"/>
            <a:chExt cx="4286250" cy="82296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50" cy="8229599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77152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5253355" cy="10731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90"/>
              <a:t>Cnsos</a:t>
            </a:r>
            <a:r>
              <a:rPr dirty="0" spc="-30"/>
              <a:t> </a:t>
            </a:r>
            <a:r>
              <a:rPr dirty="0" spc="250"/>
              <a:t>ds</a:t>
            </a:r>
            <a:r>
              <a:rPr dirty="0" spc="-30"/>
              <a:t> </a:t>
            </a:r>
            <a:r>
              <a:rPr dirty="0" spc="110"/>
              <a:t>áxi"o</a:t>
            </a:r>
            <a:r>
              <a:rPr dirty="0" spc="-30"/>
              <a:t> </a:t>
            </a:r>
            <a:r>
              <a:rPr dirty="0" spc="225"/>
              <a:t>ds</a:t>
            </a: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pc="320"/>
              <a:t>s</a:t>
            </a:r>
            <a:r>
              <a:rPr dirty="0" spc="685"/>
              <a:t> </a:t>
            </a:r>
            <a:r>
              <a:rPr dirty="0" spc="555"/>
              <a:t>;rs"dsdorss</a:t>
            </a:r>
            <a:r>
              <a:rPr dirty="0" spc="-40"/>
              <a:t> </a:t>
            </a:r>
            <a:r>
              <a:rPr dirty="0" spc="525"/>
              <a:t>y”s</a:t>
            </a:r>
            <a:r>
              <a:rPr dirty="0" spc="-35"/>
              <a:t> </a:t>
            </a:r>
            <a:r>
              <a:rPr dirty="0" spc="335"/>
              <a:t>kn"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87375" y="1520825"/>
            <a:ext cx="5585460" cy="10731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z="3350" spc="1140" b="1">
                <a:solidFill>
                  <a:srgbClr val="3B443F"/>
                </a:solidFill>
                <a:latin typeface="Cambria"/>
                <a:cs typeface="Cambria"/>
              </a:rPr>
              <a:t>i</a:t>
            </a:r>
            <a:r>
              <a:rPr dirty="0" sz="3350" spc="80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3350" spc="825" b="1">
                <a:solidFill>
                  <a:srgbClr val="3B443F"/>
                </a:solidFill>
                <a:latin typeface="Cambria"/>
                <a:cs typeface="Cambria"/>
              </a:rPr>
              <a:t>;ls</a:t>
            </a:r>
            <a:r>
              <a:rPr dirty="0" sz="3350" spc="110" b="1">
                <a:solidFill>
                  <a:srgbClr val="3B443F"/>
                </a:solidFill>
                <a:latin typeface="Cambria"/>
                <a:cs typeface="Cambria"/>
              </a:rPr>
              <a:t>  </a:t>
            </a:r>
            <a:r>
              <a:rPr dirty="0" sz="3350" spc="520" b="1">
                <a:solidFill>
                  <a:srgbClr val="3B443F"/>
                </a:solidFill>
                <a:latin typeface="Cambria"/>
                <a:cs typeface="Cambria"/>
              </a:rPr>
              <a:t>s""ndo</a:t>
            </a:r>
            <a:r>
              <a:rPr dirty="0" sz="3350" spc="-35" b="1">
                <a:solidFill>
                  <a:srgbClr val="3B443F"/>
                </a:solidFill>
                <a:latin typeface="Cambria"/>
                <a:cs typeface="Cambria"/>
              </a:rPr>
              <a:t> </a:t>
            </a:r>
            <a:r>
              <a:rPr dirty="0" sz="3350" spc="310" b="1">
                <a:solidFill>
                  <a:srgbClr val="3B443F"/>
                </a:solidFill>
                <a:latin typeface="Cambria"/>
                <a:cs typeface="Cambria"/>
              </a:rPr>
              <a:t>sol”cio"ss </a:t>
            </a:r>
            <a:r>
              <a:rPr dirty="0" sz="3350" spc="180" b="1">
                <a:solidFill>
                  <a:srgbClr val="3B443F"/>
                </a:solidFill>
                <a:latin typeface="Cambria"/>
                <a:cs typeface="Cambria"/>
              </a:rPr>
              <a:t>IoT</a:t>
            </a:r>
            <a:endParaRPr sz="3350">
              <a:latin typeface="Cambria"/>
              <a:cs typeface="Cambri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00075" y="2876550"/>
            <a:ext cx="2886075" cy="2352675"/>
          </a:xfrm>
          <a:custGeom>
            <a:avLst/>
            <a:gdLst/>
            <a:ahLst/>
            <a:cxnLst/>
            <a:rect l="l" t="t" r="r" b="b"/>
            <a:pathLst>
              <a:path w="2886075" h="2352675">
                <a:moveTo>
                  <a:pt x="2765933" y="0"/>
                </a:moveTo>
                <a:lnTo>
                  <a:pt x="120144" y="0"/>
                </a:lnTo>
                <a:lnTo>
                  <a:pt x="111780" y="825"/>
                </a:lnTo>
                <a:lnTo>
                  <a:pt x="71575" y="13017"/>
                </a:lnTo>
                <a:lnTo>
                  <a:pt x="31690" y="43637"/>
                </a:lnTo>
                <a:lnTo>
                  <a:pt x="6558" y="87172"/>
                </a:lnTo>
                <a:lnTo>
                  <a:pt x="0" y="120142"/>
                </a:lnTo>
                <a:lnTo>
                  <a:pt x="0" y="2224087"/>
                </a:lnTo>
                <a:lnTo>
                  <a:pt x="0" y="2232533"/>
                </a:lnTo>
                <a:lnTo>
                  <a:pt x="13017" y="2281097"/>
                </a:lnTo>
                <a:lnTo>
                  <a:pt x="43630" y="2320988"/>
                </a:lnTo>
                <a:lnTo>
                  <a:pt x="87179" y="2346121"/>
                </a:lnTo>
                <a:lnTo>
                  <a:pt x="120144" y="2352675"/>
                </a:lnTo>
                <a:lnTo>
                  <a:pt x="2765933" y="2352675"/>
                </a:lnTo>
                <a:lnTo>
                  <a:pt x="2814497" y="2339657"/>
                </a:lnTo>
                <a:lnTo>
                  <a:pt x="2854388" y="2309037"/>
                </a:lnTo>
                <a:lnTo>
                  <a:pt x="2879521" y="2265489"/>
                </a:lnTo>
                <a:lnTo>
                  <a:pt x="2886075" y="2232533"/>
                </a:lnTo>
                <a:lnTo>
                  <a:pt x="2886075" y="120142"/>
                </a:lnTo>
                <a:lnTo>
                  <a:pt x="2873057" y="71577"/>
                </a:lnTo>
                <a:lnTo>
                  <a:pt x="2842437" y="31686"/>
                </a:lnTo>
                <a:lnTo>
                  <a:pt x="2798902" y="6553"/>
                </a:lnTo>
                <a:lnTo>
                  <a:pt x="2774289" y="825"/>
                </a:lnTo>
                <a:lnTo>
                  <a:pt x="2765933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58825" y="2881709"/>
            <a:ext cx="2433955" cy="21278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495"/>
              </a:spcBef>
            </a:pPr>
            <a:r>
              <a:rPr dirty="0" sz="1650" spc="180" b="1">
                <a:solidFill>
                  <a:srgbClr val="3F5349"/>
                </a:solidFill>
                <a:latin typeface="Cambria"/>
                <a:cs typeface="Cambria"/>
              </a:rPr>
              <a:t>Xo"i"orso</a:t>
            </a:r>
            <a:r>
              <a:rPr dirty="0" sz="1650" spc="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130" b="1">
                <a:solidFill>
                  <a:srgbClr val="3F5349"/>
                </a:solidFill>
                <a:latin typeface="Cambria"/>
                <a:cs typeface="Cambria"/>
              </a:rPr>
              <a:t>ds</a:t>
            </a:r>
            <a:r>
              <a:rPr dirty="0" sz="1650" spc="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114" b="1">
                <a:solidFill>
                  <a:srgbClr val="3F5349"/>
                </a:solidFill>
                <a:latin typeface="Cambria"/>
                <a:cs typeface="Cambria"/>
              </a:rPr>
              <a:t>c”l"ivos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Empresa</a:t>
            </a:r>
            <a:r>
              <a:rPr dirty="0" sz="1350" spc="1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agrícola</a:t>
            </a:r>
            <a:r>
              <a:rPr dirty="0" sz="1350" spc="1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que</a:t>
            </a:r>
            <a:r>
              <a:rPr dirty="0" sz="1350" spc="1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usa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sensores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IoT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monitorear</a:t>
            </a:r>
            <a:endParaRPr sz="1350">
              <a:latin typeface="Microsoft Sans Serif"/>
              <a:cs typeface="Microsoft Sans Serif"/>
            </a:endParaRPr>
          </a:p>
          <a:p>
            <a:pPr marL="12700" marR="52705">
              <a:lnSpc>
                <a:spcPct val="132700"/>
              </a:lnSpc>
              <a:spcBef>
                <a:spcPts val="25"/>
              </a:spcBef>
            </a:pP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humedad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del</a:t>
            </a:r>
            <a:r>
              <a:rPr dirty="0" sz="1350" spc="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suelo,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temperatura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otros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factores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clave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optimizar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riego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y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rendimiento.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657600" y="2876550"/>
            <a:ext cx="2886075" cy="2352675"/>
          </a:xfrm>
          <a:custGeom>
            <a:avLst/>
            <a:gdLst/>
            <a:ahLst/>
            <a:cxnLst/>
            <a:rect l="l" t="t" r="r" b="b"/>
            <a:pathLst>
              <a:path w="2886075" h="2352675">
                <a:moveTo>
                  <a:pt x="2765933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72"/>
                </a:lnTo>
                <a:lnTo>
                  <a:pt x="0" y="120142"/>
                </a:lnTo>
                <a:lnTo>
                  <a:pt x="0" y="2224087"/>
                </a:lnTo>
                <a:lnTo>
                  <a:pt x="0" y="2232533"/>
                </a:lnTo>
                <a:lnTo>
                  <a:pt x="13017" y="2281097"/>
                </a:lnTo>
                <a:lnTo>
                  <a:pt x="43637" y="2320988"/>
                </a:lnTo>
                <a:lnTo>
                  <a:pt x="87172" y="2346121"/>
                </a:lnTo>
                <a:lnTo>
                  <a:pt x="120142" y="2352675"/>
                </a:lnTo>
                <a:lnTo>
                  <a:pt x="2765933" y="2352675"/>
                </a:lnTo>
                <a:lnTo>
                  <a:pt x="2814497" y="2339657"/>
                </a:lnTo>
                <a:lnTo>
                  <a:pt x="2854388" y="2309037"/>
                </a:lnTo>
                <a:lnTo>
                  <a:pt x="2879521" y="2265489"/>
                </a:lnTo>
                <a:lnTo>
                  <a:pt x="2886075" y="2232533"/>
                </a:lnTo>
                <a:lnTo>
                  <a:pt x="2886075" y="120142"/>
                </a:lnTo>
                <a:lnTo>
                  <a:pt x="2873057" y="71577"/>
                </a:lnTo>
                <a:lnTo>
                  <a:pt x="2842437" y="31686"/>
                </a:lnTo>
                <a:lnTo>
                  <a:pt x="2798902" y="6553"/>
                </a:lnTo>
                <a:lnTo>
                  <a:pt x="2774289" y="825"/>
                </a:lnTo>
                <a:lnTo>
                  <a:pt x="2765933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816350" y="2881709"/>
            <a:ext cx="2406015" cy="21278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just" marL="12700" marR="38735">
              <a:lnSpc>
                <a:spcPct val="141000"/>
              </a:lnSpc>
              <a:spcBef>
                <a:spcPts val="495"/>
              </a:spcBef>
            </a:pPr>
            <a:r>
              <a:rPr dirty="0" sz="1650" spc="295" b="1">
                <a:solidFill>
                  <a:srgbClr val="3F5349"/>
                </a:solidFill>
                <a:latin typeface="Cambria"/>
                <a:cs typeface="Cambria"/>
              </a:rPr>
              <a:t>9sg”i</a:t>
            </a:r>
            <a:r>
              <a:rPr dirty="0" sz="1650" spc="220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254" b="1">
                <a:solidFill>
                  <a:srgbClr val="3F5349"/>
                </a:solidFill>
                <a:latin typeface="Cambria"/>
                <a:cs typeface="Cambria"/>
              </a:rPr>
              <a:t>is""o</a:t>
            </a:r>
            <a:r>
              <a:rPr dirty="0" sz="1650" spc="-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130" b="1">
                <a:solidFill>
                  <a:srgbClr val="3F5349"/>
                </a:solidFill>
                <a:latin typeface="Cambria"/>
                <a:cs typeface="Cambria"/>
              </a:rPr>
              <a:t>ds</a:t>
            </a:r>
            <a:r>
              <a:rPr dirty="0" sz="1650" spc="-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-10" b="1">
                <a:solidFill>
                  <a:srgbClr val="3F5349"/>
                </a:solidFill>
                <a:latin typeface="Cambria"/>
                <a:cs typeface="Cambria"/>
              </a:rPr>
              <a:t>Clo"ns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Emprendimiento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logística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que</a:t>
            </a:r>
            <a:r>
              <a:rPr dirty="0" sz="1350" spc="1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utiliza</a:t>
            </a:r>
            <a:r>
              <a:rPr dirty="0" sz="1350" spc="1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dispositivos</a:t>
            </a:r>
            <a:r>
              <a:rPr dirty="0" sz="1350" spc="1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IoT</a:t>
            </a:r>
            <a:endParaRPr sz="1350">
              <a:latin typeface="Microsoft Sans Serif"/>
              <a:cs typeface="Microsoft Sans Serif"/>
            </a:endParaRPr>
          </a:p>
          <a:p>
            <a:pPr marL="12700" marR="5080">
              <a:lnSpc>
                <a:spcPct val="132700"/>
              </a:lnSpc>
              <a:spcBef>
                <a:spcPts val="25"/>
              </a:spcBef>
            </a:pP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1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rastrear</a:t>
            </a:r>
            <a:r>
              <a:rPr dirty="0" sz="1350" spc="18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vehículos,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analizar</a:t>
            </a:r>
            <a:r>
              <a:rPr dirty="0" sz="1350" spc="1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patrones</a:t>
            </a:r>
            <a:r>
              <a:rPr dirty="0" sz="1350" spc="1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de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conducción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mejorar</a:t>
            </a:r>
            <a:r>
              <a:rPr dirty="0" sz="1350" spc="-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la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eficiencia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las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operaciones.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00075" y="5400675"/>
            <a:ext cx="2886075" cy="2362200"/>
          </a:xfrm>
          <a:custGeom>
            <a:avLst/>
            <a:gdLst/>
            <a:ahLst/>
            <a:cxnLst/>
            <a:rect l="l" t="t" r="r" b="b"/>
            <a:pathLst>
              <a:path w="2886075" h="2362200">
                <a:moveTo>
                  <a:pt x="2765933" y="0"/>
                </a:moveTo>
                <a:lnTo>
                  <a:pt x="120144" y="0"/>
                </a:lnTo>
                <a:lnTo>
                  <a:pt x="111780" y="825"/>
                </a:lnTo>
                <a:lnTo>
                  <a:pt x="71575" y="13017"/>
                </a:lnTo>
                <a:lnTo>
                  <a:pt x="31690" y="43637"/>
                </a:lnTo>
                <a:lnTo>
                  <a:pt x="6558" y="87172"/>
                </a:lnTo>
                <a:lnTo>
                  <a:pt x="0" y="120142"/>
                </a:lnTo>
                <a:lnTo>
                  <a:pt x="0" y="2233612"/>
                </a:lnTo>
                <a:lnTo>
                  <a:pt x="0" y="2242055"/>
                </a:lnTo>
                <a:lnTo>
                  <a:pt x="13017" y="2290619"/>
                </a:lnTo>
                <a:lnTo>
                  <a:pt x="43630" y="2330504"/>
                </a:lnTo>
                <a:lnTo>
                  <a:pt x="87179" y="2355641"/>
                </a:lnTo>
                <a:lnTo>
                  <a:pt x="120144" y="2362200"/>
                </a:lnTo>
                <a:lnTo>
                  <a:pt x="2765933" y="2362200"/>
                </a:lnTo>
                <a:lnTo>
                  <a:pt x="2814497" y="2349177"/>
                </a:lnTo>
                <a:lnTo>
                  <a:pt x="2854388" y="2318569"/>
                </a:lnTo>
                <a:lnTo>
                  <a:pt x="2879521" y="2275017"/>
                </a:lnTo>
                <a:lnTo>
                  <a:pt x="2886075" y="2242055"/>
                </a:lnTo>
                <a:lnTo>
                  <a:pt x="2886075" y="120142"/>
                </a:lnTo>
                <a:lnTo>
                  <a:pt x="2873057" y="71577"/>
                </a:lnTo>
                <a:lnTo>
                  <a:pt x="2842437" y="31686"/>
                </a:lnTo>
                <a:lnTo>
                  <a:pt x="2798902" y="6553"/>
                </a:lnTo>
                <a:lnTo>
                  <a:pt x="2774289" y="825"/>
                </a:lnTo>
                <a:lnTo>
                  <a:pt x="2765933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58825" y="5554662"/>
            <a:ext cx="2433320" cy="19888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5" b="1">
                <a:solidFill>
                  <a:srgbClr val="3F5349"/>
                </a:solidFill>
                <a:latin typeface="Cambria"/>
                <a:cs typeface="Cambria"/>
              </a:rPr>
              <a:t>9</a:t>
            </a:r>
            <a:r>
              <a:rPr dirty="0" sz="1650" spc="350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204" b="1">
                <a:solidFill>
                  <a:srgbClr val="3F5349"/>
                </a:solidFill>
                <a:latin typeface="Cambria"/>
                <a:cs typeface="Cambria"/>
              </a:rPr>
              <a:t>nr"h”ildi"gs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300"/>
              </a:lnSpc>
              <a:spcBef>
                <a:spcPts val="480"/>
              </a:spcBef>
            </a:pP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Empresa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construcción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que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implementa</a:t>
            </a:r>
            <a:r>
              <a:rPr dirty="0" sz="1350" spc="1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soluciones</a:t>
            </a:r>
            <a:r>
              <a:rPr dirty="0" sz="1350" spc="1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IoT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administrar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forma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inteligente</a:t>
            </a:r>
            <a:r>
              <a:rPr dirty="0" sz="1350" spc="-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consumo</a:t>
            </a:r>
            <a:r>
              <a:rPr dirty="0" sz="1350" spc="-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de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energía,</a:t>
            </a:r>
            <a:r>
              <a:rPr dirty="0" sz="1350" spc="1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seguridad</a:t>
            </a:r>
            <a:r>
              <a:rPr dirty="0" sz="1350" spc="1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1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otras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funciones</a:t>
            </a:r>
            <a:r>
              <a:rPr dirty="0" sz="1350" spc="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edificios.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657600" y="5400675"/>
            <a:ext cx="2886075" cy="2362200"/>
          </a:xfrm>
          <a:custGeom>
            <a:avLst/>
            <a:gdLst/>
            <a:ahLst/>
            <a:cxnLst/>
            <a:rect l="l" t="t" r="r" b="b"/>
            <a:pathLst>
              <a:path w="2886075" h="2362200">
                <a:moveTo>
                  <a:pt x="2765933" y="0"/>
                </a:moveTo>
                <a:lnTo>
                  <a:pt x="120142" y="0"/>
                </a:lnTo>
                <a:lnTo>
                  <a:pt x="111785" y="825"/>
                </a:lnTo>
                <a:lnTo>
                  <a:pt x="71577" y="13017"/>
                </a:lnTo>
                <a:lnTo>
                  <a:pt x="31686" y="43637"/>
                </a:lnTo>
                <a:lnTo>
                  <a:pt x="6553" y="87172"/>
                </a:lnTo>
                <a:lnTo>
                  <a:pt x="0" y="120142"/>
                </a:lnTo>
                <a:lnTo>
                  <a:pt x="0" y="2233612"/>
                </a:lnTo>
                <a:lnTo>
                  <a:pt x="0" y="2242055"/>
                </a:lnTo>
                <a:lnTo>
                  <a:pt x="13017" y="2290619"/>
                </a:lnTo>
                <a:lnTo>
                  <a:pt x="43637" y="2330504"/>
                </a:lnTo>
                <a:lnTo>
                  <a:pt x="87172" y="2355641"/>
                </a:lnTo>
                <a:lnTo>
                  <a:pt x="120142" y="2362200"/>
                </a:lnTo>
                <a:lnTo>
                  <a:pt x="2765933" y="2362200"/>
                </a:lnTo>
                <a:lnTo>
                  <a:pt x="2814497" y="2349177"/>
                </a:lnTo>
                <a:lnTo>
                  <a:pt x="2854388" y="2318569"/>
                </a:lnTo>
                <a:lnTo>
                  <a:pt x="2879521" y="2275017"/>
                </a:lnTo>
                <a:lnTo>
                  <a:pt x="2886075" y="2242055"/>
                </a:lnTo>
                <a:lnTo>
                  <a:pt x="2886075" y="120142"/>
                </a:lnTo>
                <a:lnTo>
                  <a:pt x="2873057" y="71577"/>
                </a:lnTo>
                <a:lnTo>
                  <a:pt x="2842437" y="31686"/>
                </a:lnTo>
                <a:lnTo>
                  <a:pt x="2798902" y="6553"/>
                </a:lnTo>
                <a:lnTo>
                  <a:pt x="2774289" y="825"/>
                </a:lnTo>
                <a:lnTo>
                  <a:pt x="2765933" y="0"/>
                </a:lnTo>
                <a:close/>
              </a:path>
            </a:pathLst>
          </a:custGeom>
          <a:solidFill>
            <a:srgbClr val="E8F3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816350" y="5554662"/>
            <a:ext cx="2506980" cy="17125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 b="1">
                <a:solidFill>
                  <a:srgbClr val="3F5349"/>
                </a:solidFill>
                <a:latin typeface="Cambria"/>
                <a:cs typeface="Cambria"/>
              </a:rPr>
              <a:t>9nl”d</a:t>
            </a:r>
            <a:r>
              <a:rPr dirty="0" sz="1650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120" b="1">
                <a:solidFill>
                  <a:srgbClr val="3F5349"/>
                </a:solidFill>
                <a:latin typeface="Cambria"/>
                <a:cs typeface="Cambria"/>
              </a:rPr>
              <a:t>Co"sc"ndn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100"/>
              </a:lnSpc>
              <a:spcBef>
                <a:spcPts val="484"/>
              </a:spcBef>
            </a:pP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Startup</a:t>
            </a:r>
            <a:r>
              <a:rPr dirty="0" sz="1350" spc="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tecnología</a:t>
            </a:r>
            <a:r>
              <a:rPr dirty="0" sz="1350" spc="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médica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que</a:t>
            </a:r>
            <a:r>
              <a:rPr dirty="0" sz="1350" spc="19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desarrolla</a:t>
            </a:r>
            <a:r>
              <a:rPr dirty="0" sz="1350" spc="19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dispositivos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portátiles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IoT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monitorear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0">
                <a:solidFill>
                  <a:srgbClr val="3F5349"/>
                </a:solidFill>
                <a:latin typeface="Microsoft Sans Serif"/>
                <a:cs typeface="Microsoft Sans Serif"/>
              </a:rPr>
              <a:t>forma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80">
                <a:solidFill>
                  <a:srgbClr val="3F5349"/>
                </a:solidFill>
                <a:latin typeface="Microsoft Sans Serif"/>
                <a:cs typeface="Microsoft Sans Serif"/>
              </a:rPr>
              <a:t>remota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salud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de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pacientes.</a:t>
            </a:r>
            <a:endParaRPr sz="1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7810500"/>
          </a:xfrm>
          <a:custGeom>
            <a:avLst/>
            <a:gdLst/>
            <a:ahLst/>
            <a:cxnLst/>
            <a:rect l="l" t="t" r="r" b="b"/>
            <a:pathLst>
              <a:path w="11430000" h="7810500">
                <a:moveTo>
                  <a:pt x="11430000" y="0"/>
                </a:moveTo>
                <a:lnTo>
                  <a:pt x="0" y="0"/>
                </a:lnTo>
                <a:lnTo>
                  <a:pt x="0" y="7810500"/>
                </a:lnTo>
                <a:lnTo>
                  <a:pt x="11430000" y="7810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F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5" y="2597150"/>
            <a:ext cx="1011682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220"/>
              <a:t>Retos</a:t>
            </a:r>
            <a:r>
              <a:rPr dirty="0" spc="-35"/>
              <a:t> </a:t>
            </a:r>
            <a:r>
              <a:rPr dirty="0" spc="229"/>
              <a:t>y</a:t>
            </a:r>
            <a:r>
              <a:rPr dirty="0" spc="-30"/>
              <a:t> </a:t>
            </a:r>
            <a:r>
              <a:rPr dirty="0" spc="254"/>
              <a:t>co"sideracio"es</a:t>
            </a:r>
            <a:r>
              <a:rPr dirty="0" spc="-35"/>
              <a:t> </a:t>
            </a:r>
            <a:r>
              <a:rPr dirty="0" spc="155"/>
              <a:t>al</a:t>
            </a:r>
            <a:r>
              <a:rPr dirty="0" spc="-30"/>
              <a:t> </a:t>
            </a:r>
            <a:r>
              <a:rPr dirty="0" spc="660"/>
              <a:t>i</a:t>
            </a:r>
            <a:r>
              <a:rPr dirty="0" spc="475"/>
              <a:t> </a:t>
            </a:r>
            <a:r>
              <a:rPr dirty="0" spc="660"/>
              <a:t>ple</a:t>
            </a:r>
            <a:r>
              <a:rPr dirty="0" spc="805"/>
              <a:t> </a:t>
            </a:r>
            <a:r>
              <a:rPr dirty="0" spc="665"/>
              <a:t>e"tar</a:t>
            </a:r>
            <a:r>
              <a:rPr dirty="0" spc="-35"/>
              <a:t> </a:t>
            </a:r>
            <a:r>
              <a:rPr dirty="0" spc="204"/>
              <a:t>IoT</a:t>
            </a:r>
            <a:r>
              <a:rPr dirty="0" spc="-35"/>
              <a:t> </a:t>
            </a:r>
            <a:r>
              <a:rPr dirty="0" spc="430"/>
              <a:t>e" </a:t>
            </a:r>
            <a:r>
              <a:rPr dirty="0" spc="525"/>
              <a:t>u"</a:t>
            </a:r>
            <a:r>
              <a:rPr dirty="0" spc="-35"/>
              <a:t> </a:t>
            </a:r>
            <a:r>
              <a:rPr dirty="0" spc="70"/>
              <a:t>e</a:t>
            </a:r>
            <a:r>
              <a:rPr dirty="0" spc="390"/>
              <a:t> </a:t>
            </a:r>
            <a:r>
              <a:rPr dirty="0" spc="730"/>
              <a:t>pre"di</a:t>
            </a:r>
            <a:r>
              <a:rPr dirty="0" spc="475"/>
              <a:t> </a:t>
            </a:r>
            <a:r>
              <a:rPr dirty="0" spc="575"/>
              <a:t>ie"to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600075" y="5041112"/>
            <a:ext cx="10229850" cy="790575"/>
            <a:chOff x="600075" y="5041112"/>
            <a:chExt cx="10229850" cy="790575"/>
          </a:xfrm>
        </p:grpSpPr>
        <p:sp>
          <p:nvSpPr>
            <p:cNvPr id="6" name="object 6" descr=""/>
            <p:cNvSpPr/>
            <p:nvPr/>
          </p:nvSpPr>
          <p:spPr>
            <a:xfrm>
              <a:off x="600075" y="5041112"/>
              <a:ext cx="10229850" cy="617220"/>
            </a:xfrm>
            <a:custGeom>
              <a:avLst/>
              <a:gdLst/>
              <a:ahLst/>
              <a:cxnLst/>
              <a:rect l="l" t="t" r="r" b="b"/>
              <a:pathLst>
                <a:path w="10229850" h="617220">
                  <a:moveTo>
                    <a:pt x="10229850" y="604583"/>
                  </a:moveTo>
                  <a:lnTo>
                    <a:pt x="10228923" y="602335"/>
                  </a:lnTo>
                  <a:lnTo>
                    <a:pt x="10225202" y="598614"/>
                  </a:lnTo>
                  <a:lnTo>
                    <a:pt x="10222954" y="597687"/>
                  </a:lnTo>
                  <a:lnTo>
                    <a:pt x="2520924" y="597687"/>
                  </a:lnTo>
                  <a:lnTo>
                    <a:pt x="2523198" y="595414"/>
                  </a:lnTo>
                  <a:lnTo>
                    <a:pt x="2524125" y="593178"/>
                  </a:lnTo>
                  <a:lnTo>
                    <a:pt x="2524125" y="6883"/>
                  </a:lnTo>
                  <a:lnTo>
                    <a:pt x="2523198" y="4648"/>
                  </a:lnTo>
                  <a:lnTo>
                    <a:pt x="2519476" y="927"/>
                  </a:lnTo>
                  <a:lnTo>
                    <a:pt x="2517229" y="0"/>
                  </a:lnTo>
                  <a:lnTo>
                    <a:pt x="2511958" y="0"/>
                  </a:lnTo>
                  <a:lnTo>
                    <a:pt x="2509723" y="927"/>
                  </a:lnTo>
                  <a:lnTo>
                    <a:pt x="2506002" y="4648"/>
                  </a:lnTo>
                  <a:lnTo>
                    <a:pt x="2505075" y="6883"/>
                  </a:lnTo>
                  <a:lnTo>
                    <a:pt x="2505075" y="590550"/>
                  </a:lnTo>
                  <a:lnTo>
                    <a:pt x="2505075" y="593178"/>
                  </a:lnTo>
                  <a:lnTo>
                    <a:pt x="2506002" y="595414"/>
                  </a:lnTo>
                  <a:lnTo>
                    <a:pt x="2508275" y="597687"/>
                  </a:lnTo>
                  <a:lnTo>
                    <a:pt x="6896" y="597687"/>
                  </a:lnTo>
                  <a:lnTo>
                    <a:pt x="4648" y="598614"/>
                  </a:lnTo>
                  <a:lnTo>
                    <a:pt x="927" y="602335"/>
                  </a:lnTo>
                  <a:lnTo>
                    <a:pt x="0" y="604583"/>
                  </a:lnTo>
                  <a:lnTo>
                    <a:pt x="0" y="607212"/>
                  </a:lnTo>
                  <a:lnTo>
                    <a:pt x="0" y="609841"/>
                  </a:lnTo>
                  <a:lnTo>
                    <a:pt x="927" y="612089"/>
                  </a:lnTo>
                  <a:lnTo>
                    <a:pt x="4648" y="615810"/>
                  </a:lnTo>
                  <a:lnTo>
                    <a:pt x="6896" y="616737"/>
                  </a:lnTo>
                  <a:lnTo>
                    <a:pt x="10222954" y="616737"/>
                  </a:lnTo>
                  <a:lnTo>
                    <a:pt x="10225202" y="615810"/>
                  </a:lnTo>
                  <a:lnTo>
                    <a:pt x="10228923" y="612089"/>
                  </a:lnTo>
                  <a:lnTo>
                    <a:pt x="10229850" y="609841"/>
                  </a:lnTo>
                  <a:lnTo>
                    <a:pt x="10229850" y="604583"/>
                  </a:lnTo>
                  <a:close/>
                </a:path>
              </a:pathLst>
            </a:custGeom>
            <a:solidFill>
              <a:srgbClr val="CED9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24175" y="54506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60858" y="0"/>
                  </a:moveTo>
                  <a:lnTo>
                    <a:pt x="120142" y="0"/>
                  </a:lnTo>
                  <a:lnTo>
                    <a:pt x="111785" y="812"/>
                  </a:lnTo>
                  <a:lnTo>
                    <a:pt x="71577" y="13017"/>
                  </a:lnTo>
                  <a:lnTo>
                    <a:pt x="31686" y="43624"/>
                  </a:lnTo>
                  <a:lnTo>
                    <a:pt x="6553" y="87172"/>
                  </a:lnTo>
                  <a:lnTo>
                    <a:pt x="0" y="120142"/>
                  </a:lnTo>
                  <a:lnTo>
                    <a:pt x="0" y="252412"/>
                  </a:lnTo>
                  <a:lnTo>
                    <a:pt x="0" y="260845"/>
                  </a:lnTo>
                  <a:lnTo>
                    <a:pt x="13017" y="309410"/>
                  </a:lnTo>
                  <a:lnTo>
                    <a:pt x="43637" y="349300"/>
                  </a:lnTo>
                  <a:lnTo>
                    <a:pt x="87172" y="374434"/>
                  </a:lnTo>
                  <a:lnTo>
                    <a:pt x="120142" y="381000"/>
                  </a:lnTo>
                  <a:lnTo>
                    <a:pt x="260858" y="381000"/>
                  </a:lnTo>
                  <a:lnTo>
                    <a:pt x="309422" y="367969"/>
                  </a:lnTo>
                  <a:lnTo>
                    <a:pt x="349313" y="337362"/>
                  </a:lnTo>
                  <a:lnTo>
                    <a:pt x="374446" y="293814"/>
                  </a:lnTo>
                  <a:lnTo>
                    <a:pt x="381000" y="260845"/>
                  </a:lnTo>
                  <a:lnTo>
                    <a:pt x="381000" y="120142"/>
                  </a:lnTo>
                  <a:lnTo>
                    <a:pt x="367982" y="71577"/>
                  </a:lnTo>
                  <a:lnTo>
                    <a:pt x="337362" y="31686"/>
                  </a:lnTo>
                  <a:lnTo>
                    <a:pt x="293827" y="6553"/>
                  </a:lnTo>
                  <a:lnTo>
                    <a:pt x="269214" y="812"/>
                  </a:lnTo>
                  <a:lnTo>
                    <a:pt x="260858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037687" y="5466562"/>
            <a:ext cx="1543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30" b="1">
                <a:solidFill>
                  <a:srgbClr val="3F5349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50968" y="3935412"/>
            <a:ext cx="4327525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35"/>
              </a:spcBef>
            </a:pPr>
            <a:r>
              <a:rPr dirty="0" sz="1650" spc="110" b="1">
                <a:solidFill>
                  <a:srgbClr val="3F5349"/>
                </a:solidFill>
                <a:latin typeface="Cambria"/>
                <a:cs typeface="Cambria"/>
              </a:rPr>
              <a:t>Seguridad</a:t>
            </a:r>
            <a:r>
              <a:rPr dirty="0" sz="1650" spc="-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120" b="1">
                <a:solidFill>
                  <a:srgbClr val="3F5349"/>
                </a:solidFill>
                <a:latin typeface="Cambria"/>
                <a:cs typeface="Cambria"/>
              </a:rPr>
              <a:t>y</a:t>
            </a:r>
            <a:r>
              <a:rPr dirty="0" sz="1650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100" b="1">
                <a:solidFill>
                  <a:srgbClr val="3F5349"/>
                </a:solidFill>
                <a:latin typeface="Cambria"/>
                <a:cs typeface="Cambria"/>
              </a:rPr>
              <a:t>Privacidad</a:t>
            </a:r>
            <a:endParaRPr sz="1650">
              <a:latin typeface="Cambria"/>
              <a:cs typeface="Cambria"/>
            </a:endParaRPr>
          </a:p>
          <a:p>
            <a:pPr algn="ctr" marL="12065" marR="5080">
              <a:lnSpc>
                <a:spcPct val="129600"/>
              </a:lnSpc>
              <a:spcBef>
                <a:spcPts val="540"/>
              </a:spcBef>
            </a:pP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Garantizar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protección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datos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evitar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brechas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de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seguridad</a:t>
            </a:r>
            <a:r>
              <a:rPr dirty="0" sz="1350" spc="8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8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dispositivos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conectados</a:t>
            </a:r>
            <a:r>
              <a:rPr dirty="0" sz="1350" spc="8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es</a:t>
            </a:r>
            <a:r>
              <a:rPr dirty="0" sz="1350" spc="9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crucial.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524500" y="5445924"/>
            <a:ext cx="381000" cy="800100"/>
            <a:chOff x="5524500" y="5445924"/>
            <a:chExt cx="381000" cy="800100"/>
          </a:xfrm>
        </p:grpSpPr>
        <p:sp>
          <p:nvSpPr>
            <p:cNvPr id="11" name="object 11" descr=""/>
            <p:cNvSpPr/>
            <p:nvPr/>
          </p:nvSpPr>
          <p:spPr>
            <a:xfrm>
              <a:off x="5705475" y="5645949"/>
              <a:ext cx="19050" cy="600075"/>
            </a:xfrm>
            <a:custGeom>
              <a:avLst/>
              <a:gdLst/>
              <a:ahLst/>
              <a:cxnLst/>
              <a:rect l="l" t="t" r="r" b="b"/>
              <a:pathLst>
                <a:path w="19050" h="6000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83"/>
                  </a:lnTo>
                  <a:lnTo>
                    <a:pt x="0" y="590550"/>
                  </a:lnTo>
                  <a:lnTo>
                    <a:pt x="0" y="593178"/>
                  </a:lnTo>
                  <a:lnTo>
                    <a:pt x="927" y="595414"/>
                  </a:lnTo>
                  <a:lnTo>
                    <a:pt x="4648" y="599135"/>
                  </a:lnTo>
                  <a:lnTo>
                    <a:pt x="6896" y="600075"/>
                  </a:lnTo>
                  <a:lnTo>
                    <a:pt x="12153" y="600075"/>
                  </a:lnTo>
                  <a:lnTo>
                    <a:pt x="14401" y="599135"/>
                  </a:lnTo>
                  <a:lnTo>
                    <a:pt x="18122" y="595414"/>
                  </a:lnTo>
                  <a:lnTo>
                    <a:pt x="19050" y="593178"/>
                  </a:lnTo>
                  <a:lnTo>
                    <a:pt x="19050" y="6883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CED9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524500" y="5445924"/>
              <a:ext cx="381000" cy="390525"/>
            </a:xfrm>
            <a:custGeom>
              <a:avLst/>
              <a:gdLst/>
              <a:ahLst/>
              <a:cxnLst/>
              <a:rect l="l" t="t" r="r" b="b"/>
              <a:pathLst>
                <a:path w="381000" h="390525">
                  <a:moveTo>
                    <a:pt x="260858" y="0"/>
                  </a:moveTo>
                  <a:lnTo>
                    <a:pt x="120142" y="0"/>
                  </a:lnTo>
                  <a:lnTo>
                    <a:pt x="111785" y="812"/>
                  </a:lnTo>
                  <a:lnTo>
                    <a:pt x="71577" y="13017"/>
                  </a:lnTo>
                  <a:lnTo>
                    <a:pt x="31686" y="43624"/>
                  </a:lnTo>
                  <a:lnTo>
                    <a:pt x="6553" y="87172"/>
                  </a:lnTo>
                  <a:lnTo>
                    <a:pt x="0" y="120142"/>
                  </a:lnTo>
                  <a:lnTo>
                    <a:pt x="0" y="261937"/>
                  </a:lnTo>
                  <a:lnTo>
                    <a:pt x="0" y="270370"/>
                  </a:lnTo>
                  <a:lnTo>
                    <a:pt x="13017" y="318935"/>
                  </a:lnTo>
                  <a:lnTo>
                    <a:pt x="43637" y="358825"/>
                  </a:lnTo>
                  <a:lnTo>
                    <a:pt x="87172" y="383959"/>
                  </a:lnTo>
                  <a:lnTo>
                    <a:pt x="120142" y="390525"/>
                  </a:lnTo>
                  <a:lnTo>
                    <a:pt x="260858" y="390525"/>
                  </a:lnTo>
                  <a:lnTo>
                    <a:pt x="309422" y="377494"/>
                  </a:lnTo>
                  <a:lnTo>
                    <a:pt x="349313" y="346887"/>
                  </a:lnTo>
                  <a:lnTo>
                    <a:pt x="374446" y="303339"/>
                  </a:lnTo>
                  <a:lnTo>
                    <a:pt x="381000" y="270370"/>
                  </a:lnTo>
                  <a:lnTo>
                    <a:pt x="381000" y="120142"/>
                  </a:lnTo>
                  <a:lnTo>
                    <a:pt x="367982" y="71577"/>
                  </a:lnTo>
                  <a:lnTo>
                    <a:pt x="337362" y="31686"/>
                  </a:lnTo>
                  <a:lnTo>
                    <a:pt x="293827" y="6553"/>
                  </a:lnTo>
                  <a:lnTo>
                    <a:pt x="269214" y="812"/>
                  </a:lnTo>
                  <a:lnTo>
                    <a:pt x="260858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618213" y="5461799"/>
            <a:ext cx="1936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80" b="1">
                <a:solidFill>
                  <a:srgbClr val="3F5349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467348" y="6392868"/>
            <a:ext cx="449326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3F5349"/>
                </a:solidFill>
                <a:latin typeface="Cambria"/>
                <a:cs typeface="Cambria"/>
              </a:rPr>
              <a:t>I"teroperabilidad</a:t>
            </a:r>
            <a:endParaRPr sz="1650">
              <a:latin typeface="Cambria"/>
              <a:cs typeface="Cambria"/>
            </a:endParaRPr>
          </a:p>
          <a:p>
            <a:pPr algn="ctr"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Asegurar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que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los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diferentes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sistemas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dispositivos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IoT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puedan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comunicarse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e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integrarse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es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clave.</a:t>
            </a:r>
            <a:endParaRPr sz="1350">
              <a:latin typeface="Microsoft Sans Serif"/>
              <a:cs typeface="Microsoft Sans Serif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124825" y="5041112"/>
            <a:ext cx="381000" cy="790575"/>
            <a:chOff x="8124825" y="5041112"/>
            <a:chExt cx="381000" cy="790575"/>
          </a:xfrm>
        </p:grpSpPr>
        <p:sp>
          <p:nvSpPr>
            <p:cNvPr id="16" name="object 16" descr=""/>
            <p:cNvSpPr/>
            <p:nvPr/>
          </p:nvSpPr>
          <p:spPr>
            <a:xfrm>
              <a:off x="8305800" y="5041112"/>
              <a:ext cx="19050" cy="600075"/>
            </a:xfrm>
            <a:custGeom>
              <a:avLst/>
              <a:gdLst/>
              <a:ahLst/>
              <a:cxnLst/>
              <a:rect l="l" t="t" r="r" b="b"/>
              <a:pathLst>
                <a:path w="19050" h="6000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83"/>
                  </a:lnTo>
                  <a:lnTo>
                    <a:pt x="0" y="590550"/>
                  </a:lnTo>
                  <a:lnTo>
                    <a:pt x="0" y="593178"/>
                  </a:lnTo>
                  <a:lnTo>
                    <a:pt x="927" y="595414"/>
                  </a:lnTo>
                  <a:lnTo>
                    <a:pt x="4648" y="599135"/>
                  </a:lnTo>
                  <a:lnTo>
                    <a:pt x="6896" y="600075"/>
                  </a:lnTo>
                  <a:lnTo>
                    <a:pt x="12153" y="600075"/>
                  </a:lnTo>
                  <a:lnTo>
                    <a:pt x="14401" y="599135"/>
                  </a:lnTo>
                  <a:lnTo>
                    <a:pt x="18122" y="595414"/>
                  </a:lnTo>
                  <a:lnTo>
                    <a:pt x="19050" y="593178"/>
                  </a:lnTo>
                  <a:lnTo>
                    <a:pt x="19050" y="6883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CED9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124825" y="54506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60858" y="0"/>
                  </a:moveTo>
                  <a:lnTo>
                    <a:pt x="120142" y="0"/>
                  </a:lnTo>
                  <a:lnTo>
                    <a:pt x="111785" y="812"/>
                  </a:lnTo>
                  <a:lnTo>
                    <a:pt x="71577" y="13017"/>
                  </a:lnTo>
                  <a:lnTo>
                    <a:pt x="31686" y="43624"/>
                  </a:lnTo>
                  <a:lnTo>
                    <a:pt x="6553" y="87172"/>
                  </a:lnTo>
                  <a:lnTo>
                    <a:pt x="0" y="120142"/>
                  </a:lnTo>
                  <a:lnTo>
                    <a:pt x="0" y="252412"/>
                  </a:lnTo>
                  <a:lnTo>
                    <a:pt x="0" y="260845"/>
                  </a:lnTo>
                  <a:lnTo>
                    <a:pt x="13017" y="309410"/>
                  </a:lnTo>
                  <a:lnTo>
                    <a:pt x="43637" y="349300"/>
                  </a:lnTo>
                  <a:lnTo>
                    <a:pt x="87172" y="374434"/>
                  </a:lnTo>
                  <a:lnTo>
                    <a:pt x="120142" y="381000"/>
                  </a:lnTo>
                  <a:lnTo>
                    <a:pt x="260858" y="381000"/>
                  </a:lnTo>
                  <a:lnTo>
                    <a:pt x="309422" y="367969"/>
                  </a:lnTo>
                  <a:lnTo>
                    <a:pt x="349313" y="337362"/>
                  </a:lnTo>
                  <a:lnTo>
                    <a:pt x="374446" y="293814"/>
                  </a:lnTo>
                  <a:lnTo>
                    <a:pt x="381000" y="260845"/>
                  </a:lnTo>
                  <a:lnTo>
                    <a:pt x="381000" y="120142"/>
                  </a:lnTo>
                  <a:lnTo>
                    <a:pt x="367982" y="71577"/>
                  </a:lnTo>
                  <a:lnTo>
                    <a:pt x="337362" y="31686"/>
                  </a:lnTo>
                  <a:lnTo>
                    <a:pt x="293827" y="6553"/>
                  </a:lnTo>
                  <a:lnTo>
                    <a:pt x="269214" y="812"/>
                  </a:lnTo>
                  <a:lnTo>
                    <a:pt x="260858" y="0"/>
                  </a:lnTo>
                  <a:close/>
                </a:path>
              </a:pathLst>
            </a:custGeom>
            <a:solidFill>
              <a:srgbClr val="E8F3E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224939" y="5466562"/>
            <a:ext cx="18097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3F5349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243143" y="3935412"/>
            <a:ext cx="4144645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35"/>
              </a:spcBef>
            </a:pPr>
            <a:r>
              <a:rPr dirty="0" sz="1650" spc="85" b="1">
                <a:solidFill>
                  <a:srgbClr val="3F5349"/>
                </a:solidFill>
                <a:latin typeface="Cambria"/>
                <a:cs typeface="Cambria"/>
              </a:rPr>
              <a:t>Escalabilidad</a:t>
            </a:r>
            <a:endParaRPr sz="1650">
              <a:latin typeface="Cambria"/>
              <a:cs typeface="Cambria"/>
            </a:endParaRPr>
          </a:p>
          <a:p>
            <a:pPr algn="ctr"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Diseñar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soluciones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IoT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que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puedan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adaptarse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al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crecimiento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cambios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en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la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demanda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del</a:t>
            </a:r>
            <a:r>
              <a:rPr dirty="0" sz="1350" spc="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negocio.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20" name="object 20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297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229"/>
              <a:t>Fnsos</a:t>
            </a:r>
            <a:r>
              <a:rPr dirty="0" spc="-50"/>
              <a:t> </a:t>
            </a:r>
            <a:r>
              <a:rPr dirty="0"/>
              <a:t>n</a:t>
            </a:r>
            <a:r>
              <a:rPr dirty="0" spc="-45"/>
              <a:t> </a:t>
            </a:r>
            <a:r>
              <a:rPr dirty="0" spc="330"/>
              <a:t>ssg”ir</a:t>
            </a:r>
            <a:r>
              <a:rPr dirty="0" spc="-45"/>
              <a:t> </a:t>
            </a:r>
            <a:r>
              <a:rPr dirty="0" spc="315"/>
              <a:t>;nrn </a:t>
            </a:r>
            <a:r>
              <a:rPr dirty="0" spc="270"/>
              <a:t>n;rovscknr</a:t>
            </a:r>
            <a:r>
              <a:rPr dirty="0" spc="-30"/>
              <a:t> </a:t>
            </a:r>
            <a:r>
              <a:rPr dirty="0" spc="215"/>
              <a:t>sl</a:t>
            </a:r>
            <a:r>
              <a:rPr dirty="0" spc="-30"/>
              <a:t> </a:t>
            </a:r>
            <a:r>
              <a:rPr dirty="0" spc="204"/>
              <a:t>IoT</a:t>
            </a:r>
            <a:r>
              <a:rPr dirty="0" spc="-30"/>
              <a:t> </a:t>
            </a:r>
            <a:r>
              <a:rPr dirty="0" spc="585"/>
              <a:t>s"</a:t>
            </a:r>
            <a:r>
              <a:rPr dirty="0" spc="-25"/>
              <a:t> </a:t>
            </a:r>
            <a:r>
              <a:rPr dirty="0" spc="425"/>
              <a:t>"” </a:t>
            </a:r>
            <a:r>
              <a:rPr dirty="0" spc="320"/>
              <a:t>s</a:t>
            </a:r>
            <a:r>
              <a:rPr dirty="0" spc="685"/>
              <a:t> </a:t>
            </a:r>
            <a:r>
              <a:rPr dirty="0" spc="910"/>
              <a:t>;rs"di</a:t>
            </a:r>
            <a:r>
              <a:rPr dirty="0" spc="535"/>
              <a:t> </a:t>
            </a:r>
            <a:r>
              <a:rPr dirty="0" spc="550"/>
              <a:t>is""o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886325" y="2374950"/>
            <a:ext cx="428625" cy="344805"/>
          </a:xfrm>
          <a:custGeom>
            <a:avLst/>
            <a:gdLst/>
            <a:ahLst/>
            <a:cxnLst/>
            <a:rect l="l" t="t" r="r" b="b"/>
            <a:pathLst>
              <a:path w="428625" h="344805">
                <a:moveTo>
                  <a:pt x="31673" y="0"/>
                </a:moveTo>
                <a:lnTo>
                  <a:pt x="25247" y="2209"/>
                </a:lnTo>
                <a:lnTo>
                  <a:pt x="19888" y="12788"/>
                </a:lnTo>
                <a:lnTo>
                  <a:pt x="22098" y="19215"/>
                </a:lnTo>
                <a:lnTo>
                  <a:pt x="75539" y="46012"/>
                </a:lnTo>
                <a:lnTo>
                  <a:pt x="81978" y="43789"/>
                </a:lnTo>
                <a:lnTo>
                  <a:pt x="87337" y="33210"/>
                </a:lnTo>
                <a:lnTo>
                  <a:pt x="85115" y="26784"/>
                </a:lnTo>
                <a:lnTo>
                  <a:pt x="31673" y="0"/>
                </a:lnTo>
                <a:close/>
              </a:path>
              <a:path w="428625" h="344805">
                <a:moveTo>
                  <a:pt x="397014" y="0"/>
                </a:moveTo>
                <a:lnTo>
                  <a:pt x="343573" y="26720"/>
                </a:lnTo>
                <a:lnTo>
                  <a:pt x="341426" y="33147"/>
                </a:lnTo>
                <a:lnTo>
                  <a:pt x="346646" y="43726"/>
                </a:lnTo>
                <a:lnTo>
                  <a:pt x="353148" y="45872"/>
                </a:lnTo>
                <a:lnTo>
                  <a:pt x="406590" y="19151"/>
                </a:lnTo>
                <a:lnTo>
                  <a:pt x="408736" y="12725"/>
                </a:lnTo>
                <a:lnTo>
                  <a:pt x="403517" y="2133"/>
                </a:lnTo>
                <a:lnTo>
                  <a:pt x="397014" y="0"/>
                </a:lnTo>
                <a:close/>
              </a:path>
              <a:path w="428625" h="344805">
                <a:moveTo>
                  <a:pt x="59474" y="108699"/>
                </a:moveTo>
                <a:lnTo>
                  <a:pt x="4826" y="108699"/>
                </a:lnTo>
                <a:lnTo>
                  <a:pt x="0" y="113512"/>
                </a:lnTo>
                <a:lnTo>
                  <a:pt x="0" y="125298"/>
                </a:lnTo>
                <a:lnTo>
                  <a:pt x="4826" y="130124"/>
                </a:lnTo>
                <a:lnTo>
                  <a:pt x="59474" y="130124"/>
                </a:lnTo>
                <a:lnTo>
                  <a:pt x="64300" y="125298"/>
                </a:lnTo>
                <a:lnTo>
                  <a:pt x="64300" y="113512"/>
                </a:lnTo>
                <a:lnTo>
                  <a:pt x="59474" y="108699"/>
                </a:lnTo>
                <a:close/>
              </a:path>
              <a:path w="428625" h="344805">
                <a:moveTo>
                  <a:pt x="423799" y="108699"/>
                </a:moveTo>
                <a:lnTo>
                  <a:pt x="369150" y="108699"/>
                </a:lnTo>
                <a:lnTo>
                  <a:pt x="364337" y="113512"/>
                </a:lnTo>
                <a:lnTo>
                  <a:pt x="364337" y="125298"/>
                </a:lnTo>
                <a:lnTo>
                  <a:pt x="369150" y="130124"/>
                </a:lnTo>
                <a:lnTo>
                  <a:pt x="423799" y="130124"/>
                </a:lnTo>
                <a:lnTo>
                  <a:pt x="428625" y="125298"/>
                </a:lnTo>
                <a:lnTo>
                  <a:pt x="428625" y="113512"/>
                </a:lnTo>
                <a:lnTo>
                  <a:pt x="423799" y="108699"/>
                </a:lnTo>
                <a:close/>
              </a:path>
              <a:path w="428625" h="344805">
                <a:moveTo>
                  <a:pt x="75539" y="192874"/>
                </a:moveTo>
                <a:lnTo>
                  <a:pt x="22098" y="219595"/>
                </a:lnTo>
                <a:lnTo>
                  <a:pt x="19951" y="226034"/>
                </a:lnTo>
                <a:lnTo>
                  <a:pt x="25184" y="236613"/>
                </a:lnTo>
                <a:lnTo>
                  <a:pt x="31673" y="238760"/>
                </a:lnTo>
                <a:lnTo>
                  <a:pt x="85115" y="212026"/>
                </a:lnTo>
                <a:lnTo>
                  <a:pt x="87261" y="205600"/>
                </a:lnTo>
                <a:lnTo>
                  <a:pt x="82042" y="195021"/>
                </a:lnTo>
                <a:lnTo>
                  <a:pt x="75539" y="192874"/>
                </a:lnTo>
                <a:close/>
              </a:path>
              <a:path w="428625" h="344805">
                <a:moveTo>
                  <a:pt x="353148" y="192874"/>
                </a:moveTo>
                <a:lnTo>
                  <a:pt x="346710" y="195084"/>
                </a:lnTo>
                <a:lnTo>
                  <a:pt x="341363" y="205676"/>
                </a:lnTo>
                <a:lnTo>
                  <a:pt x="343573" y="212102"/>
                </a:lnTo>
                <a:lnTo>
                  <a:pt x="397014" y="238887"/>
                </a:lnTo>
                <a:lnTo>
                  <a:pt x="403440" y="236677"/>
                </a:lnTo>
                <a:lnTo>
                  <a:pt x="408800" y="226098"/>
                </a:lnTo>
                <a:lnTo>
                  <a:pt x="406590" y="219659"/>
                </a:lnTo>
                <a:lnTo>
                  <a:pt x="353148" y="192874"/>
                </a:lnTo>
                <a:close/>
              </a:path>
              <a:path w="428625" h="344805">
                <a:moveTo>
                  <a:pt x="278245" y="22974"/>
                </a:moveTo>
                <a:lnTo>
                  <a:pt x="214312" y="22974"/>
                </a:lnTo>
                <a:lnTo>
                  <a:pt x="251841" y="30555"/>
                </a:lnTo>
                <a:lnTo>
                  <a:pt x="282498" y="51225"/>
                </a:lnTo>
                <a:lnTo>
                  <a:pt x="303173" y="81878"/>
                </a:lnTo>
                <a:lnTo>
                  <a:pt x="310756" y="119405"/>
                </a:lnTo>
                <a:lnTo>
                  <a:pt x="309592" y="134450"/>
                </a:lnTo>
                <a:lnTo>
                  <a:pt x="293535" y="174396"/>
                </a:lnTo>
                <a:lnTo>
                  <a:pt x="284429" y="187121"/>
                </a:lnTo>
                <a:lnTo>
                  <a:pt x="277895" y="196166"/>
                </a:lnTo>
                <a:lnTo>
                  <a:pt x="255006" y="233595"/>
                </a:lnTo>
                <a:lnTo>
                  <a:pt x="248132" y="258775"/>
                </a:lnTo>
                <a:lnTo>
                  <a:pt x="269900" y="258775"/>
                </a:lnTo>
                <a:lnTo>
                  <a:pt x="271373" y="250736"/>
                </a:lnTo>
                <a:lnTo>
                  <a:pt x="273850" y="242912"/>
                </a:lnTo>
                <a:lnTo>
                  <a:pt x="294824" y="209376"/>
                </a:lnTo>
                <a:lnTo>
                  <a:pt x="307926" y="191401"/>
                </a:lnTo>
                <a:lnTo>
                  <a:pt x="311258" y="186575"/>
                </a:lnTo>
                <a:lnTo>
                  <a:pt x="320116" y="171572"/>
                </a:lnTo>
                <a:lnTo>
                  <a:pt x="326716" y="155228"/>
                </a:lnTo>
                <a:lnTo>
                  <a:pt x="330829" y="137766"/>
                </a:lnTo>
                <a:lnTo>
                  <a:pt x="332244" y="119468"/>
                </a:lnTo>
                <a:lnTo>
                  <a:pt x="322927" y="73529"/>
                </a:lnTo>
                <a:lnTo>
                  <a:pt x="297655" y="36063"/>
                </a:lnTo>
                <a:lnTo>
                  <a:pt x="278245" y="22974"/>
                </a:lnTo>
                <a:close/>
              </a:path>
              <a:path w="428625" h="344805">
                <a:moveTo>
                  <a:pt x="214312" y="1536"/>
                </a:moveTo>
                <a:lnTo>
                  <a:pt x="168429" y="10801"/>
                </a:lnTo>
                <a:lnTo>
                  <a:pt x="130960" y="36071"/>
                </a:lnTo>
                <a:lnTo>
                  <a:pt x="105700" y="73556"/>
                </a:lnTo>
                <a:lnTo>
                  <a:pt x="96443" y="119405"/>
                </a:lnTo>
                <a:lnTo>
                  <a:pt x="97877" y="137826"/>
                </a:lnTo>
                <a:lnTo>
                  <a:pt x="117527" y="186651"/>
                </a:lnTo>
                <a:lnTo>
                  <a:pt x="127833" y="200977"/>
                </a:lnTo>
                <a:lnTo>
                  <a:pt x="134007" y="209477"/>
                </a:lnTo>
                <a:lnTo>
                  <a:pt x="154838" y="242836"/>
                </a:lnTo>
                <a:lnTo>
                  <a:pt x="158788" y="258711"/>
                </a:lnTo>
                <a:lnTo>
                  <a:pt x="180492" y="258711"/>
                </a:lnTo>
                <a:lnTo>
                  <a:pt x="163778" y="215302"/>
                </a:lnTo>
                <a:lnTo>
                  <a:pt x="137833" y="178346"/>
                </a:lnTo>
                <a:lnTo>
                  <a:pt x="135077" y="174332"/>
                </a:lnTo>
                <a:lnTo>
                  <a:pt x="127812" y="162075"/>
                </a:lnTo>
                <a:lnTo>
                  <a:pt x="122405" y="148726"/>
                </a:lnTo>
                <a:lnTo>
                  <a:pt x="119032" y="134449"/>
                </a:lnTo>
                <a:lnTo>
                  <a:pt x="117868" y="119405"/>
                </a:lnTo>
                <a:lnTo>
                  <a:pt x="125449" y="81878"/>
                </a:lnTo>
                <a:lnTo>
                  <a:pt x="146121" y="51225"/>
                </a:lnTo>
                <a:lnTo>
                  <a:pt x="176777" y="30555"/>
                </a:lnTo>
                <a:lnTo>
                  <a:pt x="214312" y="22974"/>
                </a:lnTo>
                <a:lnTo>
                  <a:pt x="278245" y="22974"/>
                </a:lnTo>
                <a:lnTo>
                  <a:pt x="260189" y="10800"/>
                </a:lnTo>
                <a:lnTo>
                  <a:pt x="214312" y="1536"/>
                </a:lnTo>
                <a:close/>
              </a:path>
              <a:path w="428625" h="344805">
                <a:moveTo>
                  <a:pt x="220205" y="44399"/>
                </a:moveTo>
                <a:lnTo>
                  <a:pt x="214312" y="44399"/>
                </a:lnTo>
                <a:lnTo>
                  <a:pt x="185104" y="50289"/>
                </a:lnTo>
                <a:lnTo>
                  <a:pt x="161264" y="66357"/>
                </a:lnTo>
                <a:lnTo>
                  <a:pt x="145196" y="90197"/>
                </a:lnTo>
                <a:lnTo>
                  <a:pt x="139306" y="119405"/>
                </a:lnTo>
                <a:lnTo>
                  <a:pt x="139306" y="125298"/>
                </a:lnTo>
                <a:lnTo>
                  <a:pt x="144119" y="130124"/>
                </a:lnTo>
                <a:lnTo>
                  <a:pt x="155917" y="130124"/>
                </a:lnTo>
                <a:lnTo>
                  <a:pt x="160731" y="125298"/>
                </a:lnTo>
                <a:lnTo>
                  <a:pt x="160731" y="119405"/>
                </a:lnTo>
                <a:lnTo>
                  <a:pt x="164940" y="98546"/>
                </a:lnTo>
                <a:lnTo>
                  <a:pt x="176420" y="81519"/>
                </a:lnTo>
                <a:lnTo>
                  <a:pt x="193451" y="70043"/>
                </a:lnTo>
                <a:lnTo>
                  <a:pt x="214312" y="65836"/>
                </a:lnTo>
                <a:lnTo>
                  <a:pt x="220205" y="65836"/>
                </a:lnTo>
                <a:lnTo>
                  <a:pt x="225031" y="61010"/>
                </a:lnTo>
                <a:lnTo>
                  <a:pt x="225031" y="49225"/>
                </a:lnTo>
                <a:lnTo>
                  <a:pt x="220205" y="44399"/>
                </a:lnTo>
                <a:close/>
              </a:path>
              <a:path w="428625" h="344805">
                <a:moveTo>
                  <a:pt x="264680" y="280149"/>
                </a:moveTo>
                <a:lnTo>
                  <a:pt x="163944" y="280149"/>
                </a:lnTo>
                <a:lnTo>
                  <a:pt x="160731" y="283362"/>
                </a:lnTo>
                <a:lnTo>
                  <a:pt x="160731" y="290855"/>
                </a:lnTo>
                <a:lnTo>
                  <a:pt x="164940" y="311716"/>
                </a:lnTo>
                <a:lnTo>
                  <a:pt x="176420" y="328747"/>
                </a:lnTo>
                <a:lnTo>
                  <a:pt x="193451" y="340227"/>
                </a:lnTo>
                <a:lnTo>
                  <a:pt x="214312" y="344436"/>
                </a:lnTo>
                <a:lnTo>
                  <a:pt x="235173" y="340227"/>
                </a:lnTo>
                <a:lnTo>
                  <a:pt x="252204" y="328747"/>
                </a:lnTo>
                <a:lnTo>
                  <a:pt x="256070" y="323011"/>
                </a:lnTo>
                <a:lnTo>
                  <a:pt x="214249" y="323011"/>
                </a:lnTo>
                <a:lnTo>
                  <a:pt x="204289" y="321414"/>
                </a:lnTo>
                <a:lnTo>
                  <a:pt x="195551" y="316965"/>
                </a:lnTo>
                <a:lnTo>
                  <a:pt x="188609" y="310179"/>
                </a:lnTo>
                <a:lnTo>
                  <a:pt x="183972" y="301574"/>
                </a:lnTo>
                <a:lnTo>
                  <a:pt x="265731" y="301574"/>
                </a:lnTo>
                <a:lnTo>
                  <a:pt x="267893" y="290855"/>
                </a:lnTo>
                <a:lnTo>
                  <a:pt x="267893" y="283362"/>
                </a:lnTo>
                <a:lnTo>
                  <a:pt x="264680" y="280149"/>
                </a:lnTo>
                <a:close/>
              </a:path>
              <a:path w="428625" h="344805">
                <a:moveTo>
                  <a:pt x="214280" y="323006"/>
                </a:moveTo>
                <a:close/>
              </a:path>
              <a:path w="428625" h="344805">
                <a:moveTo>
                  <a:pt x="265731" y="301574"/>
                </a:moveTo>
                <a:lnTo>
                  <a:pt x="244589" y="301574"/>
                </a:lnTo>
                <a:lnTo>
                  <a:pt x="239952" y="310179"/>
                </a:lnTo>
                <a:lnTo>
                  <a:pt x="233010" y="316965"/>
                </a:lnTo>
                <a:lnTo>
                  <a:pt x="224272" y="321414"/>
                </a:lnTo>
                <a:lnTo>
                  <a:pt x="214280" y="323006"/>
                </a:lnTo>
                <a:lnTo>
                  <a:pt x="256074" y="323006"/>
                </a:lnTo>
                <a:lnTo>
                  <a:pt x="263684" y="311716"/>
                </a:lnTo>
                <a:lnTo>
                  <a:pt x="265731" y="301574"/>
                </a:lnTo>
                <a:close/>
              </a:path>
            </a:pathLst>
          </a:custGeom>
          <a:solidFill>
            <a:srgbClr val="4288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873625" y="2916237"/>
            <a:ext cx="273113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90" b="1">
                <a:solidFill>
                  <a:srgbClr val="3F5349"/>
                </a:solidFill>
                <a:latin typeface="Cambria"/>
                <a:cs typeface="Cambria"/>
              </a:rPr>
              <a:t>Ids""iCicnr</a:t>
            </a:r>
            <a:r>
              <a:rPr dirty="0" sz="1650" spc="2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50" b="1">
                <a:solidFill>
                  <a:srgbClr val="3F5349"/>
                </a:solidFill>
                <a:latin typeface="Cambria"/>
                <a:cs typeface="Cambria"/>
              </a:rPr>
              <a:t>Шscssidndss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Analiza</a:t>
            </a:r>
            <a:r>
              <a:rPr dirty="0" sz="1350" spc="16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los</a:t>
            </a:r>
            <a:r>
              <a:rPr dirty="0" sz="1350" spc="1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principales</a:t>
            </a:r>
            <a:r>
              <a:rPr dirty="0" sz="1350" spc="1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desafíos</a:t>
            </a:r>
            <a:r>
              <a:rPr dirty="0" sz="1350" spc="16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y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oportunidades</a:t>
            </a:r>
            <a:r>
              <a:rPr dirty="0" sz="1350" spc="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20">
                <a:solidFill>
                  <a:srgbClr val="3F5349"/>
                </a:solidFill>
                <a:latin typeface="Microsoft Sans Serif"/>
                <a:cs typeface="Microsoft Sans Serif"/>
              </a:rPr>
              <a:t>tu</a:t>
            </a:r>
            <a:r>
              <a:rPr dirty="0" sz="1350" spc="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negocio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que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IoT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pueda</a:t>
            </a:r>
            <a:r>
              <a:rPr dirty="0" sz="1350" spc="-1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resolver.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991475" y="2397924"/>
            <a:ext cx="428625" cy="300355"/>
          </a:xfrm>
          <a:custGeom>
            <a:avLst/>
            <a:gdLst/>
            <a:ahLst/>
            <a:cxnLst/>
            <a:rect l="l" t="t" r="r" b="b"/>
            <a:pathLst>
              <a:path w="428625" h="300355">
                <a:moveTo>
                  <a:pt x="90690" y="0"/>
                </a:moveTo>
                <a:lnTo>
                  <a:pt x="80746" y="0"/>
                </a:lnTo>
                <a:lnTo>
                  <a:pt x="75971" y="952"/>
                </a:lnTo>
                <a:lnTo>
                  <a:pt x="48221" y="32524"/>
                </a:lnTo>
                <a:lnTo>
                  <a:pt x="48221" y="42468"/>
                </a:lnTo>
                <a:lnTo>
                  <a:pt x="75971" y="74053"/>
                </a:lnTo>
                <a:lnTo>
                  <a:pt x="80746" y="75006"/>
                </a:lnTo>
                <a:lnTo>
                  <a:pt x="90690" y="75006"/>
                </a:lnTo>
                <a:lnTo>
                  <a:pt x="119665" y="53568"/>
                </a:lnTo>
                <a:lnTo>
                  <a:pt x="83591" y="53568"/>
                </a:lnTo>
                <a:lnTo>
                  <a:pt x="81546" y="53162"/>
                </a:lnTo>
                <a:lnTo>
                  <a:pt x="69646" y="39624"/>
                </a:lnTo>
                <a:lnTo>
                  <a:pt x="69646" y="35369"/>
                </a:lnTo>
                <a:lnTo>
                  <a:pt x="83591" y="21424"/>
                </a:lnTo>
                <a:lnTo>
                  <a:pt x="119665" y="21424"/>
                </a:lnTo>
                <a:lnTo>
                  <a:pt x="118478" y="18554"/>
                </a:lnTo>
                <a:lnTo>
                  <a:pt x="115760" y="14490"/>
                </a:lnTo>
                <a:lnTo>
                  <a:pt x="108724" y="7454"/>
                </a:lnTo>
                <a:lnTo>
                  <a:pt x="104673" y="4749"/>
                </a:lnTo>
                <a:lnTo>
                  <a:pt x="95478" y="952"/>
                </a:lnTo>
                <a:lnTo>
                  <a:pt x="90690" y="0"/>
                </a:lnTo>
                <a:close/>
              </a:path>
              <a:path w="428625" h="300355">
                <a:moveTo>
                  <a:pt x="119665" y="21424"/>
                </a:moveTo>
                <a:lnTo>
                  <a:pt x="87858" y="21424"/>
                </a:lnTo>
                <a:lnTo>
                  <a:pt x="89903" y="21831"/>
                </a:lnTo>
                <a:lnTo>
                  <a:pt x="93840" y="23469"/>
                </a:lnTo>
                <a:lnTo>
                  <a:pt x="101803" y="35369"/>
                </a:lnTo>
                <a:lnTo>
                  <a:pt x="101803" y="39624"/>
                </a:lnTo>
                <a:lnTo>
                  <a:pt x="87858" y="53568"/>
                </a:lnTo>
                <a:lnTo>
                  <a:pt x="119665" y="53568"/>
                </a:lnTo>
                <a:lnTo>
                  <a:pt x="122275" y="47256"/>
                </a:lnTo>
                <a:lnTo>
                  <a:pt x="123228" y="42468"/>
                </a:lnTo>
                <a:lnTo>
                  <a:pt x="123228" y="32524"/>
                </a:lnTo>
                <a:lnTo>
                  <a:pt x="122275" y="27736"/>
                </a:lnTo>
                <a:lnTo>
                  <a:pt x="119665" y="21424"/>
                </a:lnTo>
                <a:close/>
              </a:path>
              <a:path w="428625" h="300355">
                <a:moveTo>
                  <a:pt x="225031" y="107149"/>
                </a:moveTo>
                <a:lnTo>
                  <a:pt x="203593" y="107149"/>
                </a:lnTo>
                <a:lnTo>
                  <a:pt x="176493" y="112626"/>
                </a:lnTo>
                <a:lnTo>
                  <a:pt x="154354" y="127557"/>
                </a:lnTo>
                <a:lnTo>
                  <a:pt x="139423" y="149696"/>
                </a:lnTo>
                <a:lnTo>
                  <a:pt x="133946" y="176796"/>
                </a:lnTo>
                <a:lnTo>
                  <a:pt x="136687" y="196186"/>
                </a:lnTo>
                <a:lnTo>
                  <a:pt x="144335" y="213409"/>
                </a:lnTo>
                <a:lnTo>
                  <a:pt x="156181" y="227819"/>
                </a:lnTo>
                <a:lnTo>
                  <a:pt x="171450" y="238620"/>
                </a:lnTo>
                <a:lnTo>
                  <a:pt x="171450" y="292862"/>
                </a:lnTo>
                <a:lnTo>
                  <a:pt x="178612" y="300037"/>
                </a:lnTo>
                <a:lnTo>
                  <a:pt x="250012" y="300037"/>
                </a:lnTo>
                <a:lnTo>
                  <a:pt x="257175" y="292862"/>
                </a:lnTo>
                <a:lnTo>
                  <a:pt x="257175" y="278599"/>
                </a:lnTo>
                <a:lnTo>
                  <a:pt x="192887" y="278599"/>
                </a:lnTo>
                <a:lnTo>
                  <a:pt x="192887" y="212763"/>
                </a:lnTo>
                <a:lnTo>
                  <a:pt x="171450" y="212763"/>
                </a:lnTo>
                <a:lnTo>
                  <a:pt x="164785" y="205419"/>
                </a:lnTo>
                <a:lnTo>
                  <a:pt x="159719" y="196813"/>
                </a:lnTo>
                <a:lnTo>
                  <a:pt x="156499" y="187190"/>
                </a:lnTo>
                <a:lnTo>
                  <a:pt x="155371" y="176796"/>
                </a:lnTo>
                <a:lnTo>
                  <a:pt x="156499" y="166404"/>
                </a:lnTo>
                <a:lnTo>
                  <a:pt x="159733" y="156760"/>
                </a:lnTo>
                <a:lnTo>
                  <a:pt x="164793" y="148169"/>
                </a:lnTo>
                <a:lnTo>
                  <a:pt x="171450" y="140830"/>
                </a:lnTo>
                <a:lnTo>
                  <a:pt x="192887" y="140830"/>
                </a:lnTo>
                <a:lnTo>
                  <a:pt x="192887" y="129781"/>
                </a:lnTo>
                <a:lnTo>
                  <a:pt x="196291" y="128981"/>
                </a:lnTo>
                <a:lnTo>
                  <a:pt x="199910" y="128587"/>
                </a:lnTo>
                <a:lnTo>
                  <a:pt x="274965" y="128587"/>
                </a:lnTo>
                <a:lnTo>
                  <a:pt x="274270" y="127557"/>
                </a:lnTo>
                <a:lnTo>
                  <a:pt x="252131" y="112626"/>
                </a:lnTo>
                <a:lnTo>
                  <a:pt x="225031" y="107149"/>
                </a:lnTo>
                <a:close/>
              </a:path>
              <a:path w="428625" h="300355">
                <a:moveTo>
                  <a:pt x="101803" y="96431"/>
                </a:moveTo>
                <a:lnTo>
                  <a:pt x="69646" y="96431"/>
                </a:lnTo>
                <a:lnTo>
                  <a:pt x="42546" y="101909"/>
                </a:lnTo>
                <a:lnTo>
                  <a:pt x="20407" y="116844"/>
                </a:lnTo>
                <a:lnTo>
                  <a:pt x="5476" y="138988"/>
                </a:lnTo>
                <a:lnTo>
                  <a:pt x="0" y="166090"/>
                </a:lnTo>
                <a:lnTo>
                  <a:pt x="3155" y="186899"/>
                </a:lnTo>
                <a:lnTo>
                  <a:pt x="11987" y="205192"/>
                </a:lnTo>
                <a:lnTo>
                  <a:pt x="25540" y="220006"/>
                </a:lnTo>
                <a:lnTo>
                  <a:pt x="42862" y="230378"/>
                </a:lnTo>
                <a:lnTo>
                  <a:pt x="42862" y="271437"/>
                </a:lnTo>
                <a:lnTo>
                  <a:pt x="50025" y="278599"/>
                </a:lnTo>
                <a:lnTo>
                  <a:pt x="121424" y="278599"/>
                </a:lnTo>
                <a:lnTo>
                  <a:pt x="128587" y="271437"/>
                </a:lnTo>
                <a:lnTo>
                  <a:pt x="128587" y="257175"/>
                </a:lnTo>
                <a:lnTo>
                  <a:pt x="64300" y="257175"/>
                </a:lnTo>
                <a:lnTo>
                  <a:pt x="64300" y="206197"/>
                </a:lnTo>
                <a:lnTo>
                  <a:pt x="42862" y="206197"/>
                </a:lnTo>
                <a:lnTo>
                  <a:pt x="34060" y="198632"/>
                </a:lnTo>
                <a:lnTo>
                  <a:pt x="27301" y="189158"/>
                </a:lnTo>
                <a:lnTo>
                  <a:pt x="22967" y="178177"/>
                </a:lnTo>
                <a:lnTo>
                  <a:pt x="21437" y="166090"/>
                </a:lnTo>
                <a:lnTo>
                  <a:pt x="22967" y="153969"/>
                </a:lnTo>
                <a:lnTo>
                  <a:pt x="27301" y="142987"/>
                </a:lnTo>
                <a:lnTo>
                  <a:pt x="34060" y="133527"/>
                </a:lnTo>
                <a:lnTo>
                  <a:pt x="42862" y="125971"/>
                </a:lnTo>
                <a:lnTo>
                  <a:pt x="64300" y="125971"/>
                </a:lnTo>
                <a:lnTo>
                  <a:pt x="64300" y="118135"/>
                </a:lnTo>
                <a:lnTo>
                  <a:pt x="66040" y="117932"/>
                </a:lnTo>
                <a:lnTo>
                  <a:pt x="67843" y="117868"/>
                </a:lnTo>
                <a:lnTo>
                  <a:pt x="132108" y="117868"/>
                </a:lnTo>
                <a:lnTo>
                  <a:pt x="135343" y="109562"/>
                </a:lnTo>
                <a:lnTo>
                  <a:pt x="108411" y="96741"/>
                </a:lnTo>
                <a:lnTo>
                  <a:pt x="101803" y="96431"/>
                </a:lnTo>
                <a:close/>
              </a:path>
              <a:path w="428625" h="300355">
                <a:moveTo>
                  <a:pt x="274965" y="128587"/>
                </a:moveTo>
                <a:lnTo>
                  <a:pt x="228714" y="128587"/>
                </a:lnTo>
                <a:lnTo>
                  <a:pt x="232321" y="128981"/>
                </a:lnTo>
                <a:lnTo>
                  <a:pt x="235750" y="129781"/>
                </a:lnTo>
                <a:lnTo>
                  <a:pt x="235750" y="278599"/>
                </a:lnTo>
                <a:lnTo>
                  <a:pt x="257175" y="278599"/>
                </a:lnTo>
                <a:lnTo>
                  <a:pt x="257175" y="238620"/>
                </a:lnTo>
                <a:lnTo>
                  <a:pt x="272443" y="227860"/>
                </a:lnTo>
                <a:lnTo>
                  <a:pt x="284289" y="213461"/>
                </a:lnTo>
                <a:lnTo>
                  <a:pt x="284599" y="212763"/>
                </a:lnTo>
                <a:lnTo>
                  <a:pt x="257175" y="212763"/>
                </a:lnTo>
                <a:lnTo>
                  <a:pt x="257175" y="140830"/>
                </a:lnTo>
                <a:lnTo>
                  <a:pt x="283222" y="140830"/>
                </a:lnTo>
                <a:lnTo>
                  <a:pt x="274965" y="128587"/>
                </a:lnTo>
                <a:close/>
              </a:path>
              <a:path w="428625" h="300355">
                <a:moveTo>
                  <a:pt x="316649" y="225018"/>
                </a:moveTo>
                <a:lnTo>
                  <a:pt x="304863" y="225018"/>
                </a:lnTo>
                <a:lnTo>
                  <a:pt x="300037" y="229844"/>
                </a:lnTo>
                <a:lnTo>
                  <a:pt x="300037" y="271437"/>
                </a:lnTo>
                <a:lnTo>
                  <a:pt x="307200" y="278599"/>
                </a:lnTo>
                <a:lnTo>
                  <a:pt x="378599" y="278599"/>
                </a:lnTo>
                <a:lnTo>
                  <a:pt x="385762" y="271437"/>
                </a:lnTo>
                <a:lnTo>
                  <a:pt x="385762" y="257175"/>
                </a:lnTo>
                <a:lnTo>
                  <a:pt x="321475" y="257175"/>
                </a:lnTo>
                <a:lnTo>
                  <a:pt x="321475" y="229844"/>
                </a:lnTo>
                <a:lnTo>
                  <a:pt x="316649" y="225018"/>
                </a:lnTo>
                <a:close/>
              </a:path>
              <a:path w="428625" h="300355">
                <a:moveTo>
                  <a:pt x="123761" y="225018"/>
                </a:moveTo>
                <a:lnTo>
                  <a:pt x="111975" y="225018"/>
                </a:lnTo>
                <a:lnTo>
                  <a:pt x="107162" y="229844"/>
                </a:lnTo>
                <a:lnTo>
                  <a:pt x="107162" y="257175"/>
                </a:lnTo>
                <a:lnTo>
                  <a:pt x="128587" y="257175"/>
                </a:lnTo>
                <a:lnTo>
                  <a:pt x="128587" y="229844"/>
                </a:lnTo>
                <a:lnTo>
                  <a:pt x="123761" y="225018"/>
                </a:lnTo>
                <a:close/>
              </a:path>
              <a:path w="428625" h="300355">
                <a:moveTo>
                  <a:pt x="408908" y="117868"/>
                </a:moveTo>
                <a:lnTo>
                  <a:pt x="360781" y="117868"/>
                </a:lnTo>
                <a:lnTo>
                  <a:pt x="362585" y="117932"/>
                </a:lnTo>
                <a:lnTo>
                  <a:pt x="364337" y="118135"/>
                </a:lnTo>
                <a:lnTo>
                  <a:pt x="364337" y="257175"/>
                </a:lnTo>
                <a:lnTo>
                  <a:pt x="385762" y="257175"/>
                </a:lnTo>
                <a:lnTo>
                  <a:pt x="385762" y="230378"/>
                </a:lnTo>
                <a:lnTo>
                  <a:pt x="403084" y="219974"/>
                </a:lnTo>
                <a:lnTo>
                  <a:pt x="415692" y="206197"/>
                </a:lnTo>
                <a:lnTo>
                  <a:pt x="385762" y="206197"/>
                </a:lnTo>
                <a:lnTo>
                  <a:pt x="385762" y="125971"/>
                </a:lnTo>
                <a:lnTo>
                  <a:pt x="414371" y="125971"/>
                </a:lnTo>
                <a:lnTo>
                  <a:pt x="408908" y="117868"/>
                </a:lnTo>
                <a:close/>
              </a:path>
              <a:path w="428625" h="300355">
                <a:moveTo>
                  <a:pt x="192887" y="140830"/>
                </a:moveTo>
                <a:lnTo>
                  <a:pt x="171450" y="140830"/>
                </a:lnTo>
                <a:lnTo>
                  <a:pt x="171450" y="212763"/>
                </a:lnTo>
                <a:lnTo>
                  <a:pt x="192887" y="212763"/>
                </a:lnTo>
                <a:lnTo>
                  <a:pt x="192887" y="140830"/>
                </a:lnTo>
                <a:close/>
              </a:path>
              <a:path w="428625" h="300355">
                <a:moveTo>
                  <a:pt x="283222" y="140830"/>
                </a:moveTo>
                <a:lnTo>
                  <a:pt x="257175" y="140830"/>
                </a:lnTo>
                <a:lnTo>
                  <a:pt x="263844" y="148178"/>
                </a:lnTo>
                <a:lnTo>
                  <a:pt x="268913" y="156784"/>
                </a:lnTo>
                <a:lnTo>
                  <a:pt x="272127" y="166404"/>
                </a:lnTo>
                <a:lnTo>
                  <a:pt x="273253" y="176796"/>
                </a:lnTo>
                <a:lnTo>
                  <a:pt x="272125" y="187190"/>
                </a:lnTo>
                <a:lnTo>
                  <a:pt x="268905" y="196813"/>
                </a:lnTo>
                <a:lnTo>
                  <a:pt x="263839" y="205419"/>
                </a:lnTo>
                <a:lnTo>
                  <a:pt x="257175" y="212763"/>
                </a:lnTo>
                <a:lnTo>
                  <a:pt x="284599" y="212763"/>
                </a:lnTo>
                <a:lnTo>
                  <a:pt x="291959" y="196148"/>
                </a:lnTo>
                <a:lnTo>
                  <a:pt x="294678" y="176796"/>
                </a:lnTo>
                <a:lnTo>
                  <a:pt x="289201" y="149696"/>
                </a:lnTo>
                <a:lnTo>
                  <a:pt x="283222" y="140830"/>
                </a:lnTo>
                <a:close/>
              </a:path>
              <a:path w="428625" h="300355">
                <a:moveTo>
                  <a:pt x="64300" y="125971"/>
                </a:moveTo>
                <a:lnTo>
                  <a:pt x="42862" y="125971"/>
                </a:lnTo>
                <a:lnTo>
                  <a:pt x="42862" y="206197"/>
                </a:lnTo>
                <a:lnTo>
                  <a:pt x="64300" y="206197"/>
                </a:lnTo>
                <a:lnTo>
                  <a:pt x="64300" y="125971"/>
                </a:lnTo>
                <a:close/>
              </a:path>
              <a:path w="428625" h="300355">
                <a:moveTo>
                  <a:pt x="414371" y="125971"/>
                </a:moveTo>
                <a:lnTo>
                  <a:pt x="385762" y="125971"/>
                </a:lnTo>
                <a:lnTo>
                  <a:pt x="394566" y="133527"/>
                </a:lnTo>
                <a:lnTo>
                  <a:pt x="401329" y="142987"/>
                </a:lnTo>
                <a:lnTo>
                  <a:pt x="405668" y="153969"/>
                </a:lnTo>
                <a:lnTo>
                  <a:pt x="407200" y="166090"/>
                </a:lnTo>
                <a:lnTo>
                  <a:pt x="405668" y="178177"/>
                </a:lnTo>
                <a:lnTo>
                  <a:pt x="401329" y="189158"/>
                </a:lnTo>
                <a:lnTo>
                  <a:pt x="394566" y="198632"/>
                </a:lnTo>
                <a:lnTo>
                  <a:pt x="385762" y="206197"/>
                </a:lnTo>
                <a:lnTo>
                  <a:pt x="415692" y="206197"/>
                </a:lnTo>
                <a:lnTo>
                  <a:pt x="416637" y="205163"/>
                </a:lnTo>
                <a:lnTo>
                  <a:pt x="425469" y="186888"/>
                </a:lnTo>
                <a:lnTo>
                  <a:pt x="428625" y="166090"/>
                </a:lnTo>
                <a:lnTo>
                  <a:pt x="423148" y="138988"/>
                </a:lnTo>
                <a:lnTo>
                  <a:pt x="414371" y="125971"/>
                </a:lnTo>
                <a:close/>
              </a:path>
              <a:path w="428625" h="300355">
                <a:moveTo>
                  <a:pt x="132108" y="117868"/>
                </a:moveTo>
                <a:lnTo>
                  <a:pt x="108026" y="117868"/>
                </a:lnTo>
                <a:lnTo>
                  <a:pt x="113919" y="118999"/>
                </a:lnTo>
                <a:lnTo>
                  <a:pt x="124841" y="123291"/>
                </a:lnTo>
                <a:lnTo>
                  <a:pt x="131064" y="120548"/>
                </a:lnTo>
                <a:lnTo>
                  <a:pt x="132108" y="117868"/>
                </a:lnTo>
                <a:close/>
              </a:path>
              <a:path w="428625" h="300355">
                <a:moveTo>
                  <a:pt x="358978" y="96431"/>
                </a:moveTo>
                <a:lnTo>
                  <a:pt x="326821" y="96431"/>
                </a:lnTo>
                <a:lnTo>
                  <a:pt x="320213" y="96741"/>
                </a:lnTo>
                <a:lnTo>
                  <a:pt x="293268" y="109562"/>
                </a:lnTo>
                <a:lnTo>
                  <a:pt x="297561" y="120548"/>
                </a:lnTo>
                <a:lnTo>
                  <a:pt x="303784" y="123291"/>
                </a:lnTo>
                <a:lnTo>
                  <a:pt x="314706" y="118999"/>
                </a:lnTo>
                <a:lnTo>
                  <a:pt x="320598" y="117868"/>
                </a:lnTo>
                <a:lnTo>
                  <a:pt x="408908" y="117868"/>
                </a:lnTo>
                <a:lnTo>
                  <a:pt x="408217" y="116844"/>
                </a:lnTo>
                <a:lnTo>
                  <a:pt x="386078" y="101909"/>
                </a:lnTo>
                <a:lnTo>
                  <a:pt x="358978" y="96431"/>
                </a:lnTo>
                <a:close/>
              </a:path>
              <a:path w="428625" h="300355">
                <a:moveTo>
                  <a:pt x="347865" y="0"/>
                </a:moveTo>
                <a:lnTo>
                  <a:pt x="337921" y="0"/>
                </a:lnTo>
                <a:lnTo>
                  <a:pt x="333146" y="952"/>
                </a:lnTo>
                <a:lnTo>
                  <a:pt x="305396" y="32524"/>
                </a:lnTo>
                <a:lnTo>
                  <a:pt x="305396" y="42468"/>
                </a:lnTo>
                <a:lnTo>
                  <a:pt x="333146" y="74053"/>
                </a:lnTo>
                <a:lnTo>
                  <a:pt x="337921" y="75006"/>
                </a:lnTo>
                <a:lnTo>
                  <a:pt x="347865" y="75006"/>
                </a:lnTo>
                <a:lnTo>
                  <a:pt x="376840" y="53568"/>
                </a:lnTo>
                <a:lnTo>
                  <a:pt x="340766" y="53568"/>
                </a:lnTo>
                <a:lnTo>
                  <a:pt x="338721" y="53162"/>
                </a:lnTo>
                <a:lnTo>
                  <a:pt x="326821" y="39624"/>
                </a:lnTo>
                <a:lnTo>
                  <a:pt x="326821" y="35369"/>
                </a:lnTo>
                <a:lnTo>
                  <a:pt x="340766" y="21424"/>
                </a:lnTo>
                <a:lnTo>
                  <a:pt x="376840" y="21424"/>
                </a:lnTo>
                <a:lnTo>
                  <a:pt x="375653" y="18554"/>
                </a:lnTo>
                <a:lnTo>
                  <a:pt x="372935" y="14490"/>
                </a:lnTo>
                <a:lnTo>
                  <a:pt x="365899" y="7454"/>
                </a:lnTo>
                <a:lnTo>
                  <a:pt x="361848" y="4749"/>
                </a:lnTo>
                <a:lnTo>
                  <a:pt x="352653" y="952"/>
                </a:lnTo>
                <a:lnTo>
                  <a:pt x="347865" y="0"/>
                </a:lnTo>
                <a:close/>
              </a:path>
              <a:path w="428625" h="300355">
                <a:moveTo>
                  <a:pt x="376840" y="21424"/>
                </a:moveTo>
                <a:lnTo>
                  <a:pt x="345033" y="21424"/>
                </a:lnTo>
                <a:lnTo>
                  <a:pt x="347078" y="21831"/>
                </a:lnTo>
                <a:lnTo>
                  <a:pt x="351015" y="23469"/>
                </a:lnTo>
                <a:lnTo>
                  <a:pt x="358978" y="35369"/>
                </a:lnTo>
                <a:lnTo>
                  <a:pt x="358978" y="39624"/>
                </a:lnTo>
                <a:lnTo>
                  <a:pt x="345033" y="53568"/>
                </a:lnTo>
                <a:lnTo>
                  <a:pt x="376840" y="53568"/>
                </a:lnTo>
                <a:lnTo>
                  <a:pt x="379450" y="47256"/>
                </a:lnTo>
                <a:lnTo>
                  <a:pt x="380403" y="42468"/>
                </a:lnTo>
                <a:lnTo>
                  <a:pt x="380403" y="32524"/>
                </a:lnTo>
                <a:lnTo>
                  <a:pt x="379450" y="27736"/>
                </a:lnTo>
                <a:lnTo>
                  <a:pt x="376840" y="21424"/>
                </a:lnTo>
                <a:close/>
              </a:path>
              <a:path w="428625" h="300355">
                <a:moveTo>
                  <a:pt x="220002" y="0"/>
                </a:moveTo>
                <a:lnTo>
                  <a:pt x="208622" y="0"/>
                </a:lnTo>
                <a:lnTo>
                  <a:pt x="203161" y="1079"/>
                </a:lnTo>
                <a:lnTo>
                  <a:pt x="172542" y="31699"/>
                </a:lnTo>
                <a:lnTo>
                  <a:pt x="171450" y="37172"/>
                </a:lnTo>
                <a:lnTo>
                  <a:pt x="171450" y="48539"/>
                </a:lnTo>
                <a:lnTo>
                  <a:pt x="192659" y="80276"/>
                </a:lnTo>
                <a:lnTo>
                  <a:pt x="208622" y="85725"/>
                </a:lnTo>
                <a:lnTo>
                  <a:pt x="220002" y="85725"/>
                </a:lnTo>
                <a:lnTo>
                  <a:pt x="251739" y="64516"/>
                </a:lnTo>
                <a:lnTo>
                  <a:pt x="251833" y="64287"/>
                </a:lnTo>
                <a:lnTo>
                  <a:pt x="211467" y="64287"/>
                </a:lnTo>
                <a:lnTo>
                  <a:pt x="208737" y="63741"/>
                </a:lnTo>
                <a:lnTo>
                  <a:pt x="192887" y="45694"/>
                </a:lnTo>
                <a:lnTo>
                  <a:pt x="192887" y="40017"/>
                </a:lnTo>
                <a:lnTo>
                  <a:pt x="211467" y="21424"/>
                </a:lnTo>
                <a:lnTo>
                  <a:pt x="251833" y="21424"/>
                </a:lnTo>
                <a:lnTo>
                  <a:pt x="251739" y="21196"/>
                </a:lnTo>
                <a:lnTo>
                  <a:pt x="248640" y="16573"/>
                </a:lnTo>
                <a:lnTo>
                  <a:pt x="240601" y="8521"/>
                </a:lnTo>
                <a:lnTo>
                  <a:pt x="235966" y="5435"/>
                </a:lnTo>
                <a:lnTo>
                  <a:pt x="225463" y="1079"/>
                </a:lnTo>
                <a:lnTo>
                  <a:pt x="220002" y="0"/>
                </a:lnTo>
                <a:close/>
              </a:path>
              <a:path w="428625" h="300355">
                <a:moveTo>
                  <a:pt x="251833" y="21424"/>
                </a:moveTo>
                <a:lnTo>
                  <a:pt x="217157" y="21424"/>
                </a:lnTo>
                <a:lnTo>
                  <a:pt x="219887" y="21971"/>
                </a:lnTo>
                <a:lnTo>
                  <a:pt x="225132" y="24142"/>
                </a:lnTo>
                <a:lnTo>
                  <a:pt x="235750" y="40017"/>
                </a:lnTo>
                <a:lnTo>
                  <a:pt x="235750" y="45694"/>
                </a:lnTo>
                <a:lnTo>
                  <a:pt x="217157" y="64287"/>
                </a:lnTo>
                <a:lnTo>
                  <a:pt x="251833" y="64287"/>
                </a:lnTo>
                <a:lnTo>
                  <a:pt x="256082" y="54013"/>
                </a:lnTo>
                <a:lnTo>
                  <a:pt x="257175" y="48539"/>
                </a:lnTo>
                <a:lnTo>
                  <a:pt x="257175" y="37172"/>
                </a:lnTo>
                <a:lnTo>
                  <a:pt x="256082" y="31699"/>
                </a:lnTo>
                <a:lnTo>
                  <a:pt x="251833" y="21424"/>
                </a:lnTo>
                <a:close/>
              </a:path>
            </a:pathLst>
          </a:custGeom>
          <a:solidFill>
            <a:srgbClr val="4288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974012" y="2916237"/>
            <a:ext cx="2756535" cy="144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 b="1">
                <a:solidFill>
                  <a:srgbClr val="3F5349"/>
                </a:solidFill>
                <a:latin typeface="Cambria"/>
                <a:cs typeface="Cambria"/>
              </a:rPr>
              <a:t>Co"s"r”ir</a:t>
            </a:r>
            <a:r>
              <a:rPr dirty="0" sz="1650" spc="10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300" b="1">
                <a:solidFill>
                  <a:srgbClr val="3F5349"/>
                </a:solidFill>
                <a:latin typeface="Cambria"/>
                <a:cs typeface="Cambria"/>
              </a:rPr>
              <a:t>)y”i;o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Reúne</a:t>
            </a:r>
            <a:r>
              <a:rPr dirty="0" sz="1350" spc="-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a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un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equipo</a:t>
            </a:r>
            <a:r>
              <a:rPr dirty="0" sz="1350" spc="-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5">
                <a:solidFill>
                  <a:srgbClr val="3F5349"/>
                </a:solidFill>
                <a:latin typeface="Microsoft Sans Serif"/>
                <a:cs typeface="Microsoft Sans Serif"/>
              </a:rPr>
              <a:t>con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las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habilidades</a:t>
            </a:r>
            <a:r>
              <a:rPr dirty="0" sz="1350" spc="1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técnicas</a:t>
            </a:r>
            <a:r>
              <a:rPr dirty="0" sz="1350" spc="1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13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1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10">
                <a:solidFill>
                  <a:srgbClr val="3F5349"/>
                </a:solidFill>
                <a:latin typeface="Microsoft Sans Serif"/>
                <a:cs typeface="Microsoft Sans Serif"/>
              </a:rPr>
              <a:t>negocio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para</a:t>
            </a:r>
            <a:r>
              <a:rPr dirty="0" sz="1350" spc="1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diseñar</a:t>
            </a:r>
            <a:r>
              <a:rPr dirty="0" sz="1350" spc="114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</a:t>
            </a:r>
            <a:r>
              <a:rPr dirty="0" sz="1350" spc="11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implementar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soluciones</a:t>
            </a:r>
            <a:r>
              <a:rPr dirty="0" sz="1350" spc="25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IoT.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6439" y="4915534"/>
            <a:ext cx="428510" cy="42799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873625" y="5497512"/>
            <a:ext cx="273113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 b="1">
                <a:solidFill>
                  <a:srgbClr val="3F5349"/>
                </a:solidFill>
                <a:latin typeface="Cambria"/>
                <a:cs typeface="Cambria"/>
              </a:rPr>
              <a:t>DsCi"ir</a:t>
            </a:r>
            <a:r>
              <a:rPr dirty="0" sz="1650" spc="1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95" b="1">
                <a:solidFill>
                  <a:srgbClr val="3F5349"/>
                </a:solidFill>
                <a:latin typeface="Cambria"/>
                <a:cs typeface="Cambria"/>
              </a:rPr>
              <a:t>)s"rn"sgin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Desarrolla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un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plan</a:t>
            </a:r>
            <a:r>
              <a:rPr dirty="0" sz="1350" spc="4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detallado</a:t>
            </a:r>
            <a:r>
              <a:rPr dirty="0" sz="1350" spc="4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para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implementar,</a:t>
            </a:r>
            <a:r>
              <a:rPr dirty="0" sz="1350" spc="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escalar</a:t>
            </a:r>
            <a:r>
              <a:rPr dirty="0" sz="1350" spc="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2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mantener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tus</a:t>
            </a:r>
            <a:r>
              <a:rPr dirty="0" sz="1350" spc="10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iniciativas</a:t>
            </a:r>
            <a:r>
              <a:rPr dirty="0" sz="1350" spc="114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35">
                <a:solidFill>
                  <a:srgbClr val="3F5349"/>
                </a:solidFill>
                <a:latin typeface="Microsoft Sans Serif"/>
                <a:cs typeface="Microsoft Sans Serif"/>
              </a:rPr>
              <a:t>IoT.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90358" y="4938712"/>
            <a:ext cx="429742" cy="3810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974012" y="5497512"/>
            <a:ext cx="272478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20" b="1">
                <a:solidFill>
                  <a:srgbClr val="3F5349"/>
                </a:solidFill>
                <a:latin typeface="Cambria"/>
                <a:cs typeface="Cambria"/>
              </a:rPr>
              <a:t>)scnlnr</a:t>
            </a:r>
            <a:r>
              <a:rPr dirty="0" sz="1650" spc="-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505" b="1">
                <a:solidFill>
                  <a:srgbClr val="3F5349"/>
                </a:solidFill>
                <a:latin typeface="Cambria"/>
                <a:cs typeface="Cambria"/>
              </a:rPr>
              <a:t>I</a:t>
            </a:r>
            <a:r>
              <a:rPr dirty="0" sz="1650" spc="335" b="1">
                <a:solidFill>
                  <a:srgbClr val="3F5349"/>
                </a:solidFill>
                <a:latin typeface="Cambria"/>
                <a:cs typeface="Cambria"/>
              </a:rPr>
              <a:t> </a:t>
            </a:r>
            <a:r>
              <a:rPr dirty="0" sz="1650" spc="295" b="1">
                <a:solidFill>
                  <a:srgbClr val="3F5349"/>
                </a:solidFill>
                <a:latin typeface="Cambria"/>
                <a:cs typeface="Cambria"/>
              </a:rPr>
              <a:t>;nc"o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Aprovecha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 el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poder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 del 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IoT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0">
                <a:solidFill>
                  <a:srgbClr val="3F5349"/>
                </a:solidFill>
                <a:latin typeface="Microsoft Sans Serif"/>
                <a:cs typeface="Microsoft Sans Serif"/>
              </a:rPr>
              <a:t>para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impulsar</a:t>
            </a:r>
            <a:r>
              <a:rPr dirty="0" sz="1350" spc="-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>
                <a:solidFill>
                  <a:srgbClr val="3F5349"/>
                </a:solidFill>
                <a:latin typeface="Microsoft Sans Serif"/>
                <a:cs typeface="Microsoft Sans Serif"/>
              </a:rPr>
              <a:t>el</a:t>
            </a:r>
            <a:r>
              <a:rPr dirty="0" sz="1350" spc="-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0">
                <a:solidFill>
                  <a:srgbClr val="3F5349"/>
                </a:solidFill>
                <a:latin typeface="Microsoft Sans Serif"/>
                <a:cs typeface="Microsoft Sans Serif"/>
              </a:rPr>
              <a:t>crecimiento</a:t>
            </a:r>
            <a:r>
              <a:rPr dirty="0" sz="1350" spc="-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60">
                <a:solidFill>
                  <a:srgbClr val="3F5349"/>
                </a:solidFill>
                <a:latin typeface="Microsoft Sans Serif"/>
                <a:cs typeface="Microsoft Sans Serif"/>
              </a:rPr>
              <a:t>y</a:t>
            </a:r>
            <a:r>
              <a:rPr dirty="0" sz="1350" spc="-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-25">
                <a:solidFill>
                  <a:srgbClr val="3F5349"/>
                </a:solidFill>
                <a:latin typeface="Microsoft Sans Serif"/>
                <a:cs typeface="Microsoft Sans Serif"/>
              </a:rPr>
              <a:t>la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eficiencia</a:t>
            </a:r>
            <a:r>
              <a:rPr dirty="0" sz="1350" spc="70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20">
                <a:solidFill>
                  <a:srgbClr val="3F5349"/>
                </a:solidFill>
                <a:latin typeface="Microsoft Sans Serif"/>
                <a:cs typeface="Microsoft Sans Serif"/>
              </a:rPr>
              <a:t>de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120">
                <a:solidFill>
                  <a:srgbClr val="3F5349"/>
                </a:solidFill>
                <a:latin typeface="Microsoft Sans Serif"/>
                <a:cs typeface="Microsoft Sans Serif"/>
              </a:rPr>
              <a:t>tu</a:t>
            </a:r>
            <a:r>
              <a:rPr dirty="0" sz="1350" spc="75">
                <a:solidFill>
                  <a:srgbClr val="3F5349"/>
                </a:solidFill>
                <a:latin typeface="Microsoft Sans Serif"/>
                <a:cs typeface="Microsoft Sans Serif"/>
              </a:rPr>
              <a:t> </a:t>
            </a:r>
            <a:r>
              <a:rPr dirty="0" sz="1350" spc="55">
                <a:solidFill>
                  <a:srgbClr val="3F5349"/>
                </a:solidFill>
                <a:latin typeface="Microsoft Sans Serif"/>
                <a:cs typeface="Microsoft Sans Serif"/>
              </a:rPr>
              <a:t>emprendimiento.</a:t>
            </a:r>
            <a:endParaRPr sz="1350">
              <a:latin typeface="Microsoft Sans Serif"/>
              <a:cs typeface="Microsoft Sans Serif"/>
            </a:endParaRPr>
          </a:p>
        </p:txBody>
      </p:sp>
      <p:pic>
        <p:nvPicPr>
          <p:cNvPr id="11" name="object 11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66728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2024-11-05T06:30:03Z</dcterms:created>
  <dcterms:modified xsi:type="dcterms:W3CDTF">2024-11-05T06:30:03Z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