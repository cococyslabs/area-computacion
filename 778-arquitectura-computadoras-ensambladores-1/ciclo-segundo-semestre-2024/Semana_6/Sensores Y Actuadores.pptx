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934200"/>
  <p:notesSz cx="11430000" cy="6934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EC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EC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4515" y="1262697"/>
            <a:ext cx="7760969" cy="221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4515" y="1262697"/>
            <a:ext cx="7760969" cy="221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151516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51175">
              <a:lnSpc>
                <a:spcPct val="100000"/>
              </a:lnSpc>
              <a:spcBef>
                <a:spcPts val="105"/>
              </a:spcBef>
            </a:pPr>
            <a:r>
              <a:rPr dirty="0" spc="220"/>
              <a:t>Sensores</a:t>
            </a:r>
            <a:r>
              <a:rPr dirty="0" spc="-5"/>
              <a:t> </a:t>
            </a:r>
            <a:r>
              <a:rPr dirty="0" spc="320"/>
              <a:t>y</a:t>
            </a:r>
          </a:p>
          <a:p>
            <a:pPr marL="3051175" marR="5080">
              <a:lnSpc>
                <a:spcPct val="103499"/>
              </a:lnSpc>
              <a:spcBef>
                <a:spcPts val="75"/>
              </a:spcBef>
            </a:pPr>
            <a:r>
              <a:rPr dirty="0" spc="290"/>
              <a:t>Actuadores</a:t>
            </a:r>
            <a:r>
              <a:rPr dirty="0" spc="-15"/>
              <a:t> </a:t>
            </a:r>
            <a:r>
              <a:rPr dirty="0" spc="280"/>
              <a:t>en </a:t>
            </a:r>
            <a:r>
              <a:rPr dirty="0" spc="-1350"/>
              <a:t> </a:t>
            </a:r>
            <a:r>
              <a:rPr dirty="0" spc="210"/>
              <a:t>Sistemas</a:t>
            </a:r>
            <a:r>
              <a:rPr dirty="0" spc="15"/>
              <a:t> </a:t>
            </a:r>
            <a:r>
              <a:rPr dirty="0" spc="-120"/>
              <a:t>IoT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707765"/>
            <a:ext cx="5940425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 sistemas IoT (Internet of Things) se basan en una integración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eficiente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sensores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actuadores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recopilar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datos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entorno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  controlar dispositivos de manera autónoma. Estos componentes son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fundamentales para el funcionamiento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 la inteligencia de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sistemas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IoT.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196975"/>
            <a:ext cx="554482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180"/>
              <a:t>Tipos</a:t>
            </a:r>
            <a:r>
              <a:rPr dirty="0" sz="3350" spc="5"/>
              <a:t> </a:t>
            </a:r>
            <a:r>
              <a:rPr dirty="0" sz="3350" spc="240"/>
              <a:t>de</a:t>
            </a:r>
            <a:r>
              <a:rPr dirty="0" sz="3350" spc="10"/>
              <a:t> </a:t>
            </a:r>
            <a:r>
              <a:rPr dirty="0" sz="3350" spc="175"/>
              <a:t>Sensores</a:t>
            </a:r>
            <a:r>
              <a:rPr dirty="0" sz="3350" spc="10"/>
              <a:t> </a:t>
            </a:r>
            <a:r>
              <a:rPr dirty="0" sz="3350" spc="245"/>
              <a:t>y</a:t>
            </a:r>
            <a:r>
              <a:rPr dirty="0" sz="3350" spc="10"/>
              <a:t> </a:t>
            </a:r>
            <a:r>
              <a:rPr dirty="0" sz="3350" spc="190"/>
              <a:t>sus </a:t>
            </a:r>
            <a:r>
              <a:rPr dirty="0" sz="3350" spc="-965"/>
              <a:t> </a:t>
            </a:r>
            <a:r>
              <a:rPr dirty="0" sz="3350" spc="204"/>
              <a:t>Especificaciones</a:t>
            </a:r>
            <a:endParaRPr sz="3350"/>
          </a:p>
        </p:txBody>
      </p:sp>
      <p:grpSp>
        <p:nvGrpSpPr>
          <p:cNvPr id="6" name="object 6"/>
          <p:cNvGrpSpPr/>
          <p:nvPr/>
        </p:nvGrpSpPr>
        <p:grpSpPr>
          <a:xfrm>
            <a:off x="600075" y="2743199"/>
            <a:ext cx="407034" cy="397510"/>
            <a:chOff x="600075" y="2743199"/>
            <a:chExt cx="407034" cy="397510"/>
          </a:xfrm>
        </p:grpSpPr>
        <p:sp>
          <p:nvSpPr>
            <p:cNvPr id="7" name="object 7"/>
            <p:cNvSpPr/>
            <p:nvPr/>
          </p:nvSpPr>
          <p:spPr>
            <a:xfrm>
              <a:off x="616148" y="2759277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83630" y="0"/>
                  </a:moveTo>
                  <a:lnTo>
                    <a:pt x="364926" y="0"/>
                  </a:lnTo>
                  <a:lnTo>
                    <a:pt x="364926" y="355397"/>
                  </a:lnTo>
                  <a:lnTo>
                    <a:pt x="0" y="355397"/>
                  </a:lnTo>
                  <a:lnTo>
                    <a:pt x="0" y="374103"/>
                  </a:lnTo>
                  <a:lnTo>
                    <a:pt x="928" y="376339"/>
                  </a:lnTo>
                  <a:lnTo>
                    <a:pt x="4648" y="380060"/>
                  </a:lnTo>
                  <a:lnTo>
                    <a:pt x="6896" y="381000"/>
                  </a:lnTo>
                  <a:lnTo>
                    <a:pt x="383630" y="381000"/>
                  </a:lnTo>
                  <a:lnTo>
                    <a:pt x="385876" y="380060"/>
                  </a:lnTo>
                  <a:lnTo>
                    <a:pt x="389597" y="376339"/>
                  </a:lnTo>
                  <a:lnTo>
                    <a:pt x="390525" y="374103"/>
                  </a:lnTo>
                  <a:lnTo>
                    <a:pt x="390525" y="6883"/>
                  </a:lnTo>
                  <a:lnTo>
                    <a:pt x="389597" y="4648"/>
                  </a:lnTo>
                  <a:lnTo>
                    <a:pt x="385876" y="927"/>
                  </a:lnTo>
                  <a:lnTo>
                    <a:pt x="383630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4837" y="27479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77551" y="0"/>
                  </a:moveTo>
                  <a:lnTo>
                    <a:pt x="3448" y="0"/>
                  </a:lnTo>
                  <a:lnTo>
                    <a:pt x="2326" y="457"/>
                  </a:lnTo>
                  <a:lnTo>
                    <a:pt x="466" y="2324"/>
                  </a:lnTo>
                  <a:lnTo>
                    <a:pt x="0" y="3454"/>
                  </a:lnTo>
                  <a:lnTo>
                    <a:pt x="0" y="366712"/>
                  </a:lnTo>
                  <a:lnTo>
                    <a:pt x="0" y="368033"/>
                  </a:lnTo>
                  <a:lnTo>
                    <a:pt x="466" y="369150"/>
                  </a:lnTo>
                  <a:lnTo>
                    <a:pt x="2326" y="371005"/>
                  </a:lnTo>
                  <a:lnTo>
                    <a:pt x="3448" y="371475"/>
                  </a:lnTo>
                  <a:lnTo>
                    <a:pt x="377551" y="371475"/>
                  </a:lnTo>
                  <a:lnTo>
                    <a:pt x="378673" y="371005"/>
                  </a:lnTo>
                  <a:lnTo>
                    <a:pt x="380533" y="369150"/>
                  </a:lnTo>
                  <a:lnTo>
                    <a:pt x="381000" y="368033"/>
                  </a:lnTo>
                  <a:lnTo>
                    <a:pt x="381000" y="3454"/>
                  </a:lnTo>
                  <a:lnTo>
                    <a:pt x="380533" y="2324"/>
                  </a:lnTo>
                  <a:lnTo>
                    <a:pt x="378673" y="457"/>
                  </a:lnTo>
                  <a:lnTo>
                    <a:pt x="377551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4837" y="27479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66712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57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1" y="0"/>
                  </a:lnTo>
                  <a:lnTo>
                    <a:pt x="378673" y="457"/>
                  </a:lnTo>
                  <a:lnTo>
                    <a:pt x="379605" y="1397"/>
                  </a:lnTo>
                  <a:lnTo>
                    <a:pt x="380533" y="2324"/>
                  </a:lnTo>
                  <a:lnTo>
                    <a:pt x="381000" y="3454"/>
                  </a:lnTo>
                  <a:lnTo>
                    <a:pt x="381000" y="4762"/>
                  </a:lnTo>
                  <a:lnTo>
                    <a:pt x="381000" y="366712"/>
                  </a:lnTo>
                  <a:lnTo>
                    <a:pt x="381000" y="368033"/>
                  </a:lnTo>
                  <a:lnTo>
                    <a:pt x="380533" y="369150"/>
                  </a:lnTo>
                  <a:lnTo>
                    <a:pt x="379605" y="370078"/>
                  </a:lnTo>
                  <a:lnTo>
                    <a:pt x="378673" y="371005"/>
                  </a:lnTo>
                  <a:lnTo>
                    <a:pt x="377551" y="371475"/>
                  </a:lnTo>
                  <a:lnTo>
                    <a:pt x="376237" y="371475"/>
                  </a:lnTo>
                  <a:lnTo>
                    <a:pt x="4762" y="371475"/>
                  </a:lnTo>
                  <a:lnTo>
                    <a:pt x="3448" y="371475"/>
                  </a:lnTo>
                  <a:lnTo>
                    <a:pt x="2326" y="371005"/>
                  </a:lnTo>
                  <a:lnTo>
                    <a:pt x="1394" y="370078"/>
                  </a:lnTo>
                  <a:lnTo>
                    <a:pt x="466" y="369150"/>
                  </a:lnTo>
                  <a:lnTo>
                    <a:pt x="0" y="368033"/>
                  </a:lnTo>
                  <a:lnTo>
                    <a:pt x="0" y="366712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26380" y="2759075"/>
            <a:ext cx="1333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30" b="1">
                <a:solidFill>
                  <a:srgbClr val="151516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587" y="2725737"/>
            <a:ext cx="225425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spc="-2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Físicos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Miden variables físicas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como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temperatura,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humedad,  presión,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luz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movimiento.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57600" y="2743199"/>
            <a:ext cx="407034" cy="397510"/>
            <a:chOff x="3657600" y="2743199"/>
            <a:chExt cx="407034" cy="397510"/>
          </a:xfrm>
        </p:grpSpPr>
        <p:sp>
          <p:nvSpPr>
            <p:cNvPr id="13" name="object 13"/>
            <p:cNvSpPr/>
            <p:nvPr/>
          </p:nvSpPr>
          <p:spPr>
            <a:xfrm>
              <a:off x="3673678" y="2759277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83628" y="0"/>
                  </a:moveTo>
                  <a:lnTo>
                    <a:pt x="364921" y="0"/>
                  </a:lnTo>
                  <a:lnTo>
                    <a:pt x="364921" y="355397"/>
                  </a:lnTo>
                  <a:lnTo>
                    <a:pt x="0" y="355397"/>
                  </a:lnTo>
                  <a:lnTo>
                    <a:pt x="0" y="374103"/>
                  </a:lnTo>
                  <a:lnTo>
                    <a:pt x="927" y="376339"/>
                  </a:lnTo>
                  <a:lnTo>
                    <a:pt x="4648" y="380060"/>
                  </a:lnTo>
                  <a:lnTo>
                    <a:pt x="6896" y="381000"/>
                  </a:lnTo>
                  <a:lnTo>
                    <a:pt x="383628" y="381000"/>
                  </a:lnTo>
                  <a:lnTo>
                    <a:pt x="385876" y="380060"/>
                  </a:lnTo>
                  <a:lnTo>
                    <a:pt x="389585" y="376339"/>
                  </a:lnTo>
                  <a:lnTo>
                    <a:pt x="390525" y="374103"/>
                  </a:lnTo>
                  <a:lnTo>
                    <a:pt x="390525" y="6883"/>
                  </a:lnTo>
                  <a:lnTo>
                    <a:pt x="389585" y="4648"/>
                  </a:lnTo>
                  <a:lnTo>
                    <a:pt x="385876" y="927"/>
                  </a:lnTo>
                  <a:lnTo>
                    <a:pt x="383628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62362" y="27479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77558" y="0"/>
                  </a:moveTo>
                  <a:lnTo>
                    <a:pt x="3441" y="0"/>
                  </a:lnTo>
                  <a:lnTo>
                    <a:pt x="2324" y="457"/>
                  </a:lnTo>
                  <a:lnTo>
                    <a:pt x="469" y="2324"/>
                  </a:lnTo>
                  <a:lnTo>
                    <a:pt x="0" y="3454"/>
                  </a:lnTo>
                  <a:lnTo>
                    <a:pt x="0" y="366712"/>
                  </a:lnTo>
                  <a:lnTo>
                    <a:pt x="0" y="368033"/>
                  </a:lnTo>
                  <a:lnTo>
                    <a:pt x="469" y="369150"/>
                  </a:lnTo>
                  <a:lnTo>
                    <a:pt x="2324" y="371005"/>
                  </a:lnTo>
                  <a:lnTo>
                    <a:pt x="3441" y="371475"/>
                  </a:lnTo>
                  <a:lnTo>
                    <a:pt x="377558" y="371475"/>
                  </a:lnTo>
                  <a:lnTo>
                    <a:pt x="378675" y="371005"/>
                  </a:lnTo>
                  <a:lnTo>
                    <a:pt x="380530" y="369150"/>
                  </a:lnTo>
                  <a:lnTo>
                    <a:pt x="381000" y="368033"/>
                  </a:lnTo>
                  <a:lnTo>
                    <a:pt x="381000" y="3454"/>
                  </a:lnTo>
                  <a:lnTo>
                    <a:pt x="380530" y="2324"/>
                  </a:lnTo>
                  <a:lnTo>
                    <a:pt x="378675" y="457"/>
                  </a:lnTo>
                  <a:lnTo>
                    <a:pt x="377558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662362" y="27479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66712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9" y="2324"/>
                  </a:lnTo>
                  <a:lnTo>
                    <a:pt x="1397" y="1397"/>
                  </a:lnTo>
                  <a:lnTo>
                    <a:pt x="2324" y="457"/>
                  </a:lnTo>
                  <a:lnTo>
                    <a:pt x="3441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8" y="0"/>
                  </a:lnTo>
                  <a:lnTo>
                    <a:pt x="378675" y="457"/>
                  </a:lnTo>
                  <a:lnTo>
                    <a:pt x="379603" y="1397"/>
                  </a:lnTo>
                  <a:lnTo>
                    <a:pt x="380530" y="2324"/>
                  </a:lnTo>
                  <a:lnTo>
                    <a:pt x="381000" y="3454"/>
                  </a:lnTo>
                  <a:lnTo>
                    <a:pt x="381000" y="4762"/>
                  </a:lnTo>
                  <a:lnTo>
                    <a:pt x="381000" y="366712"/>
                  </a:lnTo>
                  <a:lnTo>
                    <a:pt x="381000" y="368033"/>
                  </a:lnTo>
                  <a:lnTo>
                    <a:pt x="380530" y="369150"/>
                  </a:lnTo>
                  <a:lnTo>
                    <a:pt x="379603" y="370078"/>
                  </a:lnTo>
                  <a:lnTo>
                    <a:pt x="378675" y="371005"/>
                  </a:lnTo>
                  <a:lnTo>
                    <a:pt x="377558" y="371475"/>
                  </a:lnTo>
                  <a:lnTo>
                    <a:pt x="376237" y="371475"/>
                  </a:lnTo>
                  <a:lnTo>
                    <a:pt x="4762" y="371475"/>
                  </a:lnTo>
                  <a:lnTo>
                    <a:pt x="3441" y="371475"/>
                  </a:lnTo>
                  <a:lnTo>
                    <a:pt x="2324" y="371005"/>
                  </a:lnTo>
                  <a:lnTo>
                    <a:pt x="1397" y="370078"/>
                  </a:lnTo>
                  <a:lnTo>
                    <a:pt x="469" y="369150"/>
                  </a:lnTo>
                  <a:lnTo>
                    <a:pt x="0" y="368033"/>
                  </a:lnTo>
                  <a:lnTo>
                    <a:pt x="0" y="366712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759492" y="2759075"/>
            <a:ext cx="1822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5" b="1">
                <a:solidFill>
                  <a:srgbClr val="151516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02107" y="2725737"/>
            <a:ext cx="233997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spc="-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4" b="1">
                <a:solidFill>
                  <a:srgbClr val="151516"/>
                </a:solidFill>
                <a:latin typeface="Tahoma"/>
                <a:cs typeface="Tahoma"/>
              </a:rPr>
              <a:t>Químicos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Detectan la presencia y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concentración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sustancias  químicas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el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ambiente.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5" y="4295775"/>
            <a:ext cx="407034" cy="407034"/>
            <a:chOff x="600075" y="4295775"/>
            <a:chExt cx="407034" cy="407034"/>
          </a:xfrm>
        </p:grpSpPr>
        <p:sp>
          <p:nvSpPr>
            <p:cNvPr id="19" name="object 19"/>
            <p:cNvSpPr/>
            <p:nvPr/>
          </p:nvSpPr>
          <p:spPr>
            <a:xfrm>
              <a:off x="616148" y="431185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83630" y="0"/>
                  </a:moveTo>
                  <a:lnTo>
                    <a:pt x="364926" y="0"/>
                  </a:lnTo>
                  <a:lnTo>
                    <a:pt x="364926" y="364921"/>
                  </a:lnTo>
                  <a:lnTo>
                    <a:pt x="0" y="364921"/>
                  </a:lnTo>
                  <a:lnTo>
                    <a:pt x="0" y="383628"/>
                  </a:lnTo>
                  <a:lnTo>
                    <a:pt x="928" y="385864"/>
                  </a:lnTo>
                  <a:lnTo>
                    <a:pt x="4648" y="389585"/>
                  </a:lnTo>
                  <a:lnTo>
                    <a:pt x="6896" y="390525"/>
                  </a:lnTo>
                  <a:lnTo>
                    <a:pt x="383630" y="390525"/>
                  </a:lnTo>
                  <a:lnTo>
                    <a:pt x="385876" y="389585"/>
                  </a:lnTo>
                  <a:lnTo>
                    <a:pt x="389597" y="385864"/>
                  </a:lnTo>
                  <a:lnTo>
                    <a:pt x="390525" y="383628"/>
                  </a:lnTo>
                  <a:lnTo>
                    <a:pt x="390525" y="6883"/>
                  </a:lnTo>
                  <a:lnTo>
                    <a:pt x="389597" y="4648"/>
                  </a:lnTo>
                  <a:lnTo>
                    <a:pt x="385876" y="927"/>
                  </a:lnTo>
                  <a:lnTo>
                    <a:pt x="383630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77551" y="0"/>
                  </a:moveTo>
                  <a:lnTo>
                    <a:pt x="3448" y="0"/>
                  </a:lnTo>
                  <a:lnTo>
                    <a:pt x="2326" y="457"/>
                  </a:lnTo>
                  <a:lnTo>
                    <a:pt x="466" y="2324"/>
                  </a:lnTo>
                  <a:lnTo>
                    <a:pt x="0" y="3454"/>
                  </a:lnTo>
                  <a:lnTo>
                    <a:pt x="0" y="376237"/>
                  </a:lnTo>
                  <a:lnTo>
                    <a:pt x="0" y="377558"/>
                  </a:lnTo>
                  <a:lnTo>
                    <a:pt x="466" y="378675"/>
                  </a:lnTo>
                  <a:lnTo>
                    <a:pt x="2326" y="380530"/>
                  </a:lnTo>
                  <a:lnTo>
                    <a:pt x="3448" y="381000"/>
                  </a:lnTo>
                  <a:lnTo>
                    <a:pt x="377551" y="381000"/>
                  </a:lnTo>
                  <a:lnTo>
                    <a:pt x="378673" y="380530"/>
                  </a:lnTo>
                  <a:lnTo>
                    <a:pt x="380533" y="378675"/>
                  </a:lnTo>
                  <a:lnTo>
                    <a:pt x="381000" y="377558"/>
                  </a:lnTo>
                  <a:lnTo>
                    <a:pt x="381000" y="3454"/>
                  </a:lnTo>
                  <a:lnTo>
                    <a:pt x="380533" y="2324"/>
                  </a:lnTo>
                  <a:lnTo>
                    <a:pt x="378673" y="457"/>
                  </a:lnTo>
                  <a:lnTo>
                    <a:pt x="377551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76237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57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1" y="0"/>
                  </a:lnTo>
                  <a:lnTo>
                    <a:pt x="378673" y="457"/>
                  </a:lnTo>
                  <a:lnTo>
                    <a:pt x="379605" y="1397"/>
                  </a:lnTo>
                  <a:lnTo>
                    <a:pt x="380533" y="2324"/>
                  </a:lnTo>
                  <a:lnTo>
                    <a:pt x="381000" y="3454"/>
                  </a:lnTo>
                  <a:lnTo>
                    <a:pt x="381000" y="4762"/>
                  </a:lnTo>
                  <a:lnTo>
                    <a:pt x="381000" y="376237"/>
                  </a:lnTo>
                  <a:lnTo>
                    <a:pt x="381000" y="377558"/>
                  </a:lnTo>
                  <a:lnTo>
                    <a:pt x="380533" y="378675"/>
                  </a:lnTo>
                  <a:lnTo>
                    <a:pt x="379605" y="379603"/>
                  </a:lnTo>
                  <a:lnTo>
                    <a:pt x="378673" y="380530"/>
                  </a:lnTo>
                  <a:lnTo>
                    <a:pt x="377551" y="381000"/>
                  </a:lnTo>
                  <a:lnTo>
                    <a:pt x="376237" y="381000"/>
                  </a:lnTo>
                  <a:lnTo>
                    <a:pt x="4762" y="381000"/>
                  </a:lnTo>
                  <a:lnTo>
                    <a:pt x="3448" y="381000"/>
                  </a:lnTo>
                  <a:lnTo>
                    <a:pt x="2326" y="380530"/>
                  </a:lnTo>
                  <a:lnTo>
                    <a:pt x="1394" y="379603"/>
                  </a:lnTo>
                  <a:lnTo>
                    <a:pt x="466" y="378675"/>
                  </a:lnTo>
                  <a:lnTo>
                    <a:pt x="0" y="377558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01227" y="4311650"/>
            <a:ext cx="18351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151516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4587" y="4278312"/>
            <a:ext cx="482600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0" b="1">
                <a:solidFill>
                  <a:srgbClr val="151516"/>
                </a:solidFill>
                <a:latin typeface="Tahoma"/>
                <a:cs typeface="Tahoma"/>
              </a:rPr>
              <a:t>Biológicos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Reconocen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cuantifican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moléculas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biológicas,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como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ADN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o  proteínas.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73250"/>
            <a:ext cx="87141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70"/>
              <a:t>Ejemplos</a:t>
            </a:r>
            <a:r>
              <a:rPr dirty="0" sz="3350" spc="25"/>
              <a:t> </a:t>
            </a:r>
            <a:r>
              <a:rPr dirty="0" sz="3350" spc="240"/>
              <a:t>de</a:t>
            </a:r>
            <a:r>
              <a:rPr dirty="0" sz="3350" spc="25"/>
              <a:t> </a:t>
            </a:r>
            <a:r>
              <a:rPr dirty="0" sz="3350" spc="175"/>
              <a:t>Sensores</a:t>
            </a:r>
            <a:r>
              <a:rPr dirty="0" sz="3350" spc="25"/>
              <a:t> </a:t>
            </a:r>
            <a:r>
              <a:rPr dirty="0" sz="3350" spc="245"/>
              <a:t>y</a:t>
            </a:r>
            <a:r>
              <a:rPr dirty="0" sz="3350" spc="25"/>
              <a:t> </a:t>
            </a:r>
            <a:r>
              <a:rPr dirty="0" sz="3350" spc="200"/>
              <a:t>Casos</a:t>
            </a:r>
            <a:r>
              <a:rPr dirty="0" sz="3350" spc="25"/>
              <a:t> </a:t>
            </a:r>
            <a:r>
              <a:rPr dirty="0" sz="3350" spc="240"/>
              <a:t>de</a:t>
            </a:r>
            <a:r>
              <a:rPr dirty="0" sz="3350" spc="25"/>
              <a:t> </a:t>
            </a:r>
            <a:r>
              <a:rPr dirty="0" sz="3350" spc="190"/>
              <a:t>Uso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587375" y="2840037"/>
            <a:ext cx="298640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spc="-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85" b="1">
                <a:solidFill>
                  <a:srgbClr val="151516"/>
                </a:solidFill>
                <a:latin typeface="Tahoma"/>
                <a:cs typeface="Tahoma"/>
              </a:rPr>
              <a:t>Temperatura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375" y="3231514"/>
            <a:ext cx="294005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Monitorean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temperatura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ambiente  para el control de aire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acondicionado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calefacción.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5851" y="2840037"/>
            <a:ext cx="287909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Movimiento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5851" y="3231514"/>
            <a:ext cx="311150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Detectan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presencia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movimiento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 activar sistemas de seguridad y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alarmas.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4328" y="2840037"/>
            <a:ext cx="2802890" cy="5492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Sensores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Calidad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del </a:t>
            </a:r>
            <a:r>
              <a:rPr dirty="0" sz="1650" spc="-47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0" b="1">
                <a:solidFill>
                  <a:srgbClr val="151516"/>
                </a:solidFill>
                <a:latin typeface="Tahoma"/>
                <a:cs typeface="Tahoma"/>
              </a:rPr>
              <a:t>Aire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4328" y="3498215"/>
            <a:ext cx="302577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Miden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niveles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contaminantes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 optimizar la ventilación y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purificación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aire.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EC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587375"/>
            <a:ext cx="521652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z="3350" spc="180"/>
              <a:t>Tipos</a:t>
            </a:r>
            <a:r>
              <a:rPr dirty="0" sz="3350"/>
              <a:t> </a:t>
            </a:r>
            <a:r>
              <a:rPr dirty="0" sz="3350" spc="240"/>
              <a:t>de</a:t>
            </a:r>
            <a:r>
              <a:rPr dirty="0" sz="3350"/>
              <a:t> </a:t>
            </a:r>
            <a:r>
              <a:rPr dirty="0" sz="3350" spc="225"/>
              <a:t>Actuadores</a:t>
            </a:r>
            <a:r>
              <a:rPr dirty="0" sz="3350"/>
              <a:t> </a:t>
            </a:r>
            <a:r>
              <a:rPr dirty="0" sz="3350" spc="245"/>
              <a:t>y </a:t>
            </a:r>
            <a:r>
              <a:rPr dirty="0" sz="3350" spc="-965"/>
              <a:t> </a:t>
            </a:r>
            <a:r>
              <a:rPr dirty="0" sz="3350" spc="190"/>
              <a:t>sus</a:t>
            </a:r>
            <a:r>
              <a:rPr dirty="0" sz="3350" spc="20"/>
              <a:t> </a:t>
            </a:r>
            <a:r>
              <a:rPr dirty="0" sz="3350" spc="204"/>
              <a:t>Especificaciones</a:t>
            </a:r>
            <a:endParaRPr sz="3350"/>
          </a:p>
        </p:txBody>
      </p:sp>
      <p:grpSp>
        <p:nvGrpSpPr>
          <p:cNvPr id="7" name="object 7"/>
          <p:cNvGrpSpPr/>
          <p:nvPr/>
        </p:nvGrpSpPr>
        <p:grpSpPr>
          <a:xfrm>
            <a:off x="600075" y="1971674"/>
            <a:ext cx="2902585" cy="1835785"/>
            <a:chOff x="600075" y="1971674"/>
            <a:chExt cx="2902585" cy="1835785"/>
          </a:xfrm>
        </p:grpSpPr>
        <p:sp>
          <p:nvSpPr>
            <p:cNvPr id="8" name="object 8"/>
            <p:cNvSpPr/>
            <p:nvPr/>
          </p:nvSpPr>
          <p:spPr>
            <a:xfrm>
              <a:off x="616148" y="1987752"/>
              <a:ext cx="2886075" cy="1819275"/>
            </a:xfrm>
            <a:custGeom>
              <a:avLst/>
              <a:gdLst/>
              <a:ahLst/>
              <a:cxnLst/>
              <a:rect l="l" t="t" r="r" b="b"/>
              <a:pathLst>
                <a:path w="2886075" h="1819275">
                  <a:moveTo>
                    <a:pt x="2879184" y="0"/>
                  </a:moveTo>
                  <a:lnTo>
                    <a:pt x="2860476" y="0"/>
                  </a:lnTo>
                  <a:lnTo>
                    <a:pt x="2860476" y="1793672"/>
                  </a:lnTo>
                  <a:lnTo>
                    <a:pt x="0" y="1793672"/>
                  </a:lnTo>
                  <a:lnTo>
                    <a:pt x="0" y="1812378"/>
                  </a:lnTo>
                  <a:lnTo>
                    <a:pt x="928" y="1814614"/>
                  </a:lnTo>
                  <a:lnTo>
                    <a:pt x="4648" y="1818335"/>
                  </a:lnTo>
                  <a:lnTo>
                    <a:pt x="6896" y="1819275"/>
                  </a:lnTo>
                  <a:lnTo>
                    <a:pt x="2879184" y="1819275"/>
                  </a:lnTo>
                  <a:lnTo>
                    <a:pt x="2881431" y="1818335"/>
                  </a:lnTo>
                  <a:lnTo>
                    <a:pt x="2885140" y="1814614"/>
                  </a:lnTo>
                  <a:lnTo>
                    <a:pt x="2886080" y="1812378"/>
                  </a:lnTo>
                  <a:lnTo>
                    <a:pt x="2886080" y="6883"/>
                  </a:lnTo>
                  <a:lnTo>
                    <a:pt x="2885140" y="4648"/>
                  </a:lnTo>
                  <a:lnTo>
                    <a:pt x="2881431" y="927"/>
                  </a:lnTo>
                  <a:lnTo>
                    <a:pt x="2879184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4837" y="1976437"/>
              <a:ext cx="2876550" cy="1809750"/>
            </a:xfrm>
            <a:custGeom>
              <a:avLst/>
              <a:gdLst/>
              <a:ahLst/>
              <a:cxnLst/>
              <a:rect l="l" t="t" r="r" b="b"/>
              <a:pathLst>
                <a:path w="2876550" h="1809750">
                  <a:moveTo>
                    <a:pt x="2873108" y="0"/>
                  </a:moveTo>
                  <a:lnTo>
                    <a:pt x="3448" y="0"/>
                  </a:lnTo>
                  <a:lnTo>
                    <a:pt x="2326" y="457"/>
                  </a:lnTo>
                  <a:lnTo>
                    <a:pt x="466" y="2324"/>
                  </a:lnTo>
                  <a:lnTo>
                    <a:pt x="0" y="3454"/>
                  </a:lnTo>
                  <a:lnTo>
                    <a:pt x="0" y="1804987"/>
                  </a:lnTo>
                  <a:lnTo>
                    <a:pt x="0" y="1806308"/>
                  </a:lnTo>
                  <a:lnTo>
                    <a:pt x="466" y="1807425"/>
                  </a:lnTo>
                  <a:lnTo>
                    <a:pt x="2326" y="1809280"/>
                  </a:lnTo>
                  <a:lnTo>
                    <a:pt x="3448" y="1809750"/>
                  </a:lnTo>
                  <a:lnTo>
                    <a:pt x="2873108" y="1809750"/>
                  </a:lnTo>
                  <a:lnTo>
                    <a:pt x="2874225" y="1809280"/>
                  </a:lnTo>
                  <a:lnTo>
                    <a:pt x="2876080" y="1807425"/>
                  </a:lnTo>
                  <a:lnTo>
                    <a:pt x="2876550" y="1806308"/>
                  </a:lnTo>
                  <a:lnTo>
                    <a:pt x="2876550" y="3454"/>
                  </a:lnTo>
                  <a:lnTo>
                    <a:pt x="2876080" y="2324"/>
                  </a:lnTo>
                  <a:lnTo>
                    <a:pt x="2874225" y="457"/>
                  </a:lnTo>
                  <a:lnTo>
                    <a:pt x="2873108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4837" y="1976437"/>
              <a:ext cx="2876550" cy="1809750"/>
            </a:xfrm>
            <a:custGeom>
              <a:avLst/>
              <a:gdLst/>
              <a:ahLst/>
              <a:cxnLst/>
              <a:rect l="l" t="t" r="r" b="b"/>
              <a:pathLst>
                <a:path w="2876550" h="1809750">
                  <a:moveTo>
                    <a:pt x="0" y="1804987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57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2871787" y="0"/>
                  </a:lnTo>
                  <a:lnTo>
                    <a:pt x="2873108" y="0"/>
                  </a:lnTo>
                  <a:lnTo>
                    <a:pt x="2874225" y="457"/>
                  </a:lnTo>
                  <a:lnTo>
                    <a:pt x="2875153" y="1397"/>
                  </a:lnTo>
                  <a:lnTo>
                    <a:pt x="2876080" y="2324"/>
                  </a:lnTo>
                  <a:lnTo>
                    <a:pt x="2876550" y="3454"/>
                  </a:lnTo>
                  <a:lnTo>
                    <a:pt x="2876550" y="4762"/>
                  </a:lnTo>
                  <a:lnTo>
                    <a:pt x="2876550" y="1804987"/>
                  </a:lnTo>
                  <a:lnTo>
                    <a:pt x="2876550" y="1806308"/>
                  </a:lnTo>
                  <a:lnTo>
                    <a:pt x="2876080" y="1807425"/>
                  </a:lnTo>
                  <a:lnTo>
                    <a:pt x="2875153" y="1808353"/>
                  </a:lnTo>
                  <a:lnTo>
                    <a:pt x="2874225" y="1809280"/>
                  </a:lnTo>
                  <a:lnTo>
                    <a:pt x="2873108" y="1809750"/>
                  </a:lnTo>
                  <a:lnTo>
                    <a:pt x="2871787" y="1809750"/>
                  </a:lnTo>
                  <a:lnTo>
                    <a:pt x="4762" y="1809750"/>
                  </a:lnTo>
                  <a:lnTo>
                    <a:pt x="3448" y="1809750"/>
                  </a:lnTo>
                  <a:lnTo>
                    <a:pt x="2326" y="1809280"/>
                  </a:lnTo>
                  <a:lnTo>
                    <a:pt x="1394" y="1808353"/>
                  </a:lnTo>
                  <a:lnTo>
                    <a:pt x="466" y="1807425"/>
                  </a:lnTo>
                  <a:lnTo>
                    <a:pt x="0" y="1806308"/>
                  </a:lnTo>
                  <a:lnTo>
                    <a:pt x="0" y="1804987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11324" y="2135187"/>
            <a:ext cx="2863850" cy="14458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69545" marR="1339215">
              <a:lnSpc>
                <a:spcPct val="106100"/>
              </a:lnSpc>
              <a:spcBef>
                <a:spcPts val="15"/>
              </a:spcBef>
            </a:pPr>
            <a:r>
              <a:rPr dirty="0" sz="1650" spc="220" b="1">
                <a:solidFill>
                  <a:srgbClr val="151516"/>
                </a:solidFill>
                <a:latin typeface="Tahoma"/>
                <a:cs typeface="Tahoma"/>
              </a:rPr>
              <a:t>A</a:t>
            </a:r>
            <a:r>
              <a:rPr dirty="0" sz="1650" spc="180" b="1">
                <a:solidFill>
                  <a:srgbClr val="151516"/>
                </a:solidFill>
                <a:latin typeface="Tahoma"/>
                <a:cs typeface="Tahoma"/>
              </a:rPr>
              <a:t>c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tu</a:t>
            </a:r>
            <a:r>
              <a:rPr dirty="0" sz="1650" spc="120" b="1">
                <a:solidFill>
                  <a:srgbClr val="151516"/>
                </a:solidFill>
                <a:latin typeface="Tahoma"/>
                <a:cs typeface="Tahoma"/>
              </a:rPr>
              <a:t>a</a:t>
            </a:r>
            <a:r>
              <a:rPr dirty="0" sz="1650" spc="120" b="1">
                <a:solidFill>
                  <a:srgbClr val="151516"/>
                </a:solidFill>
                <a:latin typeface="Tahoma"/>
                <a:cs typeface="Tahoma"/>
              </a:rPr>
              <a:t>do</a:t>
            </a:r>
            <a:r>
              <a:rPr dirty="0" sz="1650" spc="75" b="1">
                <a:solidFill>
                  <a:srgbClr val="151516"/>
                </a:solidFill>
                <a:latin typeface="Tahoma"/>
                <a:cs typeface="Tahoma"/>
              </a:rPr>
              <a:t>r</a:t>
            </a:r>
            <a:r>
              <a:rPr dirty="0" sz="1650" spc="85" b="1">
                <a:solidFill>
                  <a:srgbClr val="151516"/>
                </a:solidFill>
                <a:latin typeface="Tahoma"/>
                <a:cs typeface="Tahoma"/>
              </a:rPr>
              <a:t>es  </a:t>
            </a: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Eléctricos</a:t>
            </a:r>
            <a:endParaRPr sz="1650">
              <a:latin typeface="Tahoma"/>
              <a:cs typeface="Tahoma"/>
            </a:endParaRPr>
          </a:p>
          <a:p>
            <a:pPr marL="169545" marR="200025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Convierten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señales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eléctricas </a:t>
            </a:r>
            <a:r>
              <a:rPr dirty="0" sz="1350" spc="-66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 movimiento mecánico, como </a:t>
            </a:r>
            <a:r>
              <a:rPr dirty="0" sz="1350" spc="-66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motores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servomotores.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57600" y="1971674"/>
            <a:ext cx="2902585" cy="1835785"/>
            <a:chOff x="3657600" y="1971674"/>
            <a:chExt cx="2902585" cy="1835785"/>
          </a:xfrm>
        </p:grpSpPr>
        <p:sp>
          <p:nvSpPr>
            <p:cNvPr id="13" name="object 13"/>
            <p:cNvSpPr/>
            <p:nvPr/>
          </p:nvSpPr>
          <p:spPr>
            <a:xfrm>
              <a:off x="3673678" y="1987752"/>
              <a:ext cx="2886075" cy="1819275"/>
            </a:xfrm>
            <a:custGeom>
              <a:avLst/>
              <a:gdLst/>
              <a:ahLst/>
              <a:cxnLst/>
              <a:rect l="l" t="t" r="r" b="b"/>
              <a:pathLst>
                <a:path w="2886075" h="1819275">
                  <a:moveTo>
                    <a:pt x="2879178" y="0"/>
                  </a:moveTo>
                  <a:lnTo>
                    <a:pt x="2860471" y="0"/>
                  </a:lnTo>
                  <a:lnTo>
                    <a:pt x="2860471" y="1793672"/>
                  </a:lnTo>
                  <a:lnTo>
                    <a:pt x="0" y="1793672"/>
                  </a:lnTo>
                  <a:lnTo>
                    <a:pt x="0" y="1812378"/>
                  </a:lnTo>
                  <a:lnTo>
                    <a:pt x="927" y="1814614"/>
                  </a:lnTo>
                  <a:lnTo>
                    <a:pt x="4648" y="1818335"/>
                  </a:lnTo>
                  <a:lnTo>
                    <a:pt x="6896" y="1819275"/>
                  </a:lnTo>
                  <a:lnTo>
                    <a:pt x="2879178" y="1819275"/>
                  </a:lnTo>
                  <a:lnTo>
                    <a:pt x="2881426" y="1818335"/>
                  </a:lnTo>
                  <a:lnTo>
                    <a:pt x="2885135" y="1814614"/>
                  </a:lnTo>
                  <a:lnTo>
                    <a:pt x="2886075" y="1812378"/>
                  </a:lnTo>
                  <a:lnTo>
                    <a:pt x="2886075" y="6883"/>
                  </a:lnTo>
                  <a:lnTo>
                    <a:pt x="2885135" y="4648"/>
                  </a:lnTo>
                  <a:lnTo>
                    <a:pt x="2881426" y="927"/>
                  </a:lnTo>
                  <a:lnTo>
                    <a:pt x="2879178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62362" y="1976437"/>
              <a:ext cx="2876550" cy="1809750"/>
            </a:xfrm>
            <a:custGeom>
              <a:avLst/>
              <a:gdLst/>
              <a:ahLst/>
              <a:cxnLst/>
              <a:rect l="l" t="t" r="r" b="b"/>
              <a:pathLst>
                <a:path w="2876550" h="1809750">
                  <a:moveTo>
                    <a:pt x="2873108" y="0"/>
                  </a:moveTo>
                  <a:lnTo>
                    <a:pt x="3441" y="0"/>
                  </a:lnTo>
                  <a:lnTo>
                    <a:pt x="2324" y="457"/>
                  </a:lnTo>
                  <a:lnTo>
                    <a:pt x="469" y="2324"/>
                  </a:lnTo>
                  <a:lnTo>
                    <a:pt x="0" y="3454"/>
                  </a:lnTo>
                  <a:lnTo>
                    <a:pt x="0" y="1804987"/>
                  </a:lnTo>
                  <a:lnTo>
                    <a:pt x="0" y="1806308"/>
                  </a:lnTo>
                  <a:lnTo>
                    <a:pt x="469" y="1807425"/>
                  </a:lnTo>
                  <a:lnTo>
                    <a:pt x="2324" y="1809280"/>
                  </a:lnTo>
                  <a:lnTo>
                    <a:pt x="3441" y="1809750"/>
                  </a:lnTo>
                  <a:lnTo>
                    <a:pt x="2873108" y="1809750"/>
                  </a:lnTo>
                  <a:lnTo>
                    <a:pt x="2874225" y="1809280"/>
                  </a:lnTo>
                  <a:lnTo>
                    <a:pt x="2876080" y="1807425"/>
                  </a:lnTo>
                  <a:lnTo>
                    <a:pt x="2876550" y="1806308"/>
                  </a:lnTo>
                  <a:lnTo>
                    <a:pt x="2876550" y="3454"/>
                  </a:lnTo>
                  <a:lnTo>
                    <a:pt x="2876080" y="2324"/>
                  </a:lnTo>
                  <a:lnTo>
                    <a:pt x="2874225" y="457"/>
                  </a:lnTo>
                  <a:lnTo>
                    <a:pt x="2873108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662362" y="1976437"/>
              <a:ext cx="2876550" cy="1809750"/>
            </a:xfrm>
            <a:custGeom>
              <a:avLst/>
              <a:gdLst/>
              <a:ahLst/>
              <a:cxnLst/>
              <a:rect l="l" t="t" r="r" b="b"/>
              <a:pathLst>
                <a:path w="2876550" h="1809750">
                  <a:moveTo>
                    <a:pt x="0" y="1804987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9" y="2324"/>
                  </a:lnTo>
                  <a:lnTo>
                    <a:pt x="1397" y="1397"/>
                  </a:lnTo>
                  <a:lnTo>
                    <a:pt x="2324" y="457"/>
                  </a:lnTo>
                  <a:lnTo>
                    <a:pt x="3441" y="0"/>
                  </a:lnTo>
                  <a:lnTo>
                    <a:pt x="4762" y="0"/>
                  </a:lnTo>
                  <a:lnTo>
                    <a:pt x="2871787" y="0"/>
                  </a:lnTo>
                  <a:lnTo>
                    <a:pt x="2873108" y="0"/>
                  </a:lnTo>
                  <a:lnTo>
                    <a:pt x="2874225" y="457"/>
                  </a:lnTo>
                  <a:lnTo>
                    <a:pt x="2875153" y="1397"/>
                  </a:lnTo>
                  <a:lnTo>
                    <a:pt x="2876080" y="2324"/>
                  </a:lnTo>
                  <a:lnTo>
                    <a:pt x="2876550" y="3454"/>
                  </a:lnTo>
                  <a:lnTo>
                    <a:pt x="2876550" y="4762"/>
                  </a:lnTo>
                  <a:lnTo>
                    <a:pt x="2876550" y="1804987"/>
                  </a:lnTo>
                  <a:lnTo>
                    <a:pt x="2876550" y="1806308"/>
                  </a:lnTo>
                  <a:lnTo>
                    <a:pt x="2876080" y="1807425"/>
                  </a:lnTo>
                  <a:lnTo>
                    <a:pt x="2875153" y="1808353"/>
                  </a:lnTo>
                  <a:lnTo>
                    <a:pt x="2874225" y="1809280"/>
                  </a:lnTo>
                  <a:lnTo>
                    <a:pt x="2873108" y="1809750"/>
                  </a:lnTo>
                  <a:lnTo>
                    <a:pt x="2871787" y="1809750"/>
                  </a:lnTo>
                  <a:lnTo>
                    <a:pt x="4762" y="1809750"/>
                  </a:lnTo>
                  <a:lnTo>
                    <a:pt x="3441" y="1809750"/>
                  </a:lnTo>
                  <a:lnTo>
                    <a:pt x="2324" y="1809280"/>
                  </a:lnTo>
                  <a:lnTo>
                    <a:pt x="1397" y="1808353"/>
                  </a:lnTo>
                  <a:lnTo>
                    <a:pt x="469" y="1807425"/>
                  </a:lnTo>
                  <a:lnTo>
                    <a:pt x="0" y="1806308"/>
                  </a:lnTo>
                  <a:lnTo>
                    <a:pt x="0" y="1804987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68845" y="2135187"/>
            <a:ext cx="2863850" cy="14458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69545" marR="1339215">
              <a:lnSpc>
                <a:spcPct val="106100"/>
              </a:lnSpc>
              <a:spcBef>
                <a:spcPts val="15"/>
              </a:spcBef>
            </a:pPr>
            <a:r>
              <a:rPr dirty="0" sz="1650" spc="220" b="1">
                <a:solidFill>
                  <a:srgbClr val="151516"/>
                </a:solidFill>
                <a:latin typeface="Tahoma"/>
                <a:cs typeface="Tahoma"/>
              </a:rPr>
              <a:t>A</a:t>
            </a:r>
            <a:r>
              <a:rPr dirty="0" sz="1650" spc="180" b="1">
                <a:solidFill>
                  <a:srgbClr val="151516"/>
                </a:solidFill>
                <a:latin typeface="Tahoma"/>
                <a:cs typeface="Tahoma"/>
              </a:rPr>
              <a:t>c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tu</a:t>
            </a:r>
            <a:r>
              <a:rPr dirty="0" sz="1650" spc="120" b="1">
                <a:solidFill>
                  <a:srgbClr val="151516"/>
                </a:solidFill>
                <a:latin typeface="Tahoma"/>
                <a:cs typeface="Tahoma"/>
              </a:rPr>
              <a:t>a</a:t>
            </a:r>
            <a:r>
              <a:rPr dirty="0" sz="1650" spc="120" b="1">
                <a:solidFill>
                  <a:srgbClr val="151516"/>
                </a:solidFill>
                <a:latin typeface="Tahoma"/>
                <a:cs typeface="Tahoma"/>
              </a:rPr>
              <a:t>do</a:t>
            </a:r>
            <a:r>
              <a:rPr dirty="0" sz="1650" spc="75" b="1">
                <a:solidFill>
                  <a:srgbClr val="151516"/>
                </a:solidFill>
                <a:latin typeface="Tahoma"/>
                <a:cs typeface="Tahoma"/>
              </a:rPr>
              <a:t>r</a:t>
            </a:r>
            <a:r>
              <a:rPr dirty="0" sz="1650" spc="85" b="1">
                <a:solidFill>
                  <a:srgbClr val="151516"/>
                </a:solidFill>
                <a:latin typeface="Tahoma"/>
                <a:cs typeface="Tahoma"/>
              </a:rPr>
              <a:t>es  </a:t>
            </a:r>
            <a:r>
              <a:rPr dirty="0" sz="1650" spc="90" b="1">
                <a:solidFill>
                  <a:srgbClr val="151516"/>
                </a:solidFill>
                <a:latin typeface="Tahoma"/>
                <a:cs typeface="Tahoma"/>
              </a:rPr>
              <a:t>Hidráulicos</a:t>
            </a:r>
            <a:endParaRPr sz="1650">
              <a:latin typeface="Tahoma"/>
              <a:cs typeface="Tahoma"/>
            </a:endParaRPr>
          </a:p>
          <a:p>
            <a:pPr marL="169545" marR="200025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Utilizan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fluidos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presurizados </a:t>
            </a:r>
            <a:r>
              <a:rPr dirty="0" sz="1350" spc="-66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generar fuerzas y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movimientos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gran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potencia.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0075" y="3962400"/>
            <a:ext cx="2902585" cy="1854835"/>
            <a:chOff x="600075" y="3962400"/>
            <a:chExt cx="2902585" cy="1854835"/>
          </a:xfrm>
        </p:grpSpPr>
        <p:sp>
          <p:nvSpPr>
            <p:cNvPr id="18" name="object 18"/>
            <p:cNvSpPr/>
            <p:nvPr/>
          </p:nvSpPr>
          <p:spPr>
            <a:xfrm>
              <a:off x="616148" y="3978478"/>
              <a:ext cx="2886075" cy="1838325"/>
            </a:xfrm>
            <a:custGeom>
              <a:avLst/>
              <a:gdLst/>
              <a:ahLst/>
              <a:cxnLst/>
              <a:rect l="l" t="t" r="r" b="b"/>
              <a:pathLst>
                <a:path w="2886075" h="1838325">
                  <a:moveTo>
                    <a:pt x="2879184" y="0"/>
                  </a:moveTo>
                  <a:lnTo>
                    <a:pt x="2860476" y="0"/>
                  </a:lnTo>
                  <a:lnTo>
                    <a:pt x="2860476" y="1812723"/>
                  </a:lnTo>
                  <a:lnTo>
                    <a:pt x="0" y="1812723"/>
                  </a:lnTo>
                  <a:lnTo>
                    <a:pt x="0" y="1831425"/>
                  </a:lnTo>
                  <a:lnTo>
                    <a:pt x="928" y="1833667"/>
                  </a:lnTo>
                  <a:lnTo>
                    <a:pt x="4648" y="1837389"/>
                  </a:lnTo>
                  <a:lnTo>
                    <a:pt x="6896" y="1838321"/>
                  </a:lnTo>
                  <a:lnTo>
                    <a:pt x="2879184" y="1838321"/>
                  </a:lnTo>
                  <a:lnTo>
                    <a:pt x="2881431" y="1837389"/>
                  </a:lnTo>
                  <a:lnTo>
                    <a:pt x="2885140" y="1833667"/>
                  </a:lnTo>
                  <a:lnTo>
                    <a:pt x="2886080" y="1831425"/>
                  </a:lnTo>
                  <a:lnTo>
                    <a:pt x="2886080" y="6883"/>
                  </a:lnTo>
                  <a:lnTo>
                    <a:pt x="2885140" y="4648"/>
                  </a:lnTo>
                  <a:lnTo>
                    <a:pt x="2881431" y="927"/>
                  </a:lnTo>
                  <a:lnTo>
                    <a:pt x="2879184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4837" y="3967162"/>
              <a:ext cx="2876550" cy="1828800"/>
            </a:xfrm>
            <a:custGeom>
              <a:avLst/>
              <a:gdLst/>
              <a:ahLst/>
              <a:cxnLst/>
              <a:rect l="l" t="t" r="r" b="b"/>
              <a:pathLst>
                <a:path w="2876550" h="1828800">
                  <a:moveTo>
                    <a:pt x="2873108" y="0"/>
                  </a:moveTo>
                  <a:lnTo>
                    <a:pt x="3448" y="0"/>
                  </a:lnTo>
                  <a:lnTo>
                    <a:pt x="2326" y="457"/>
                  </a:lnTo>
                  <a:lnTo>
                    <a:pt x="466" y="2324"/>
                  </a:lnTo>
                  <a:lnTo>
                    <a:pt x="0" y="3454"/>
                  </a:lnTo>
                  <a:lnTo>
                    <a:pt x="0" y="1824038"/>
                  </a:lnTo>
                  <a:lnTo>
                    <a:pt x="0" y="1825353"/>
                  </a:lnTo>
                  <a:lnTo>
                    <a:pt x="466" y="1826474"/>
                  </a:lnTo>
                  <a:lnTo>
                    <a:pt x="2326" y="1828335"/>
                  </a:lnTo>
                  <a:lnTo>
                    <a:pt x="3448" y="1828796"/>
                  </a:lnTo>
                  <a:lnTo>
                    <a:pt x="2873108" y="1828796"/>
                  </a:lnTo>
                  <a:lnTo>
                    <a:pt x="2874225" y="1828335"/>
                  </a:lnTo>
                  <a:lnTo>
                    <a:pt x="2876080" y="1826474"/>
                  </a:lnTo>
                  <a:lnTo>
                    <a:pt x="2876550" y="1825353"/>
                  </a:lnTo>
                  <a:lnTo>
                    <a:pt x="2876550" y="3454"/>
                  </a:lnTo>
                  <a:lnTo>
                    <a:pt x="2876080" y="2324"/>
                  </a:lnTo>
                  <a:lnTo>
                    <a:pt x="2874225" y="457"/>
                  </a:lnTo>
                  <a:lnTo>
                    <a:pt x="2873108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4837" y="3967162"/>
              <a:ext cx="2876550" cy="1828800"/>
            </a:xfrm>
            <a:custGeom>
              <a:avLst/>
              <a:gdLst/>
              <a:ahLst/>
              <a:cxnLst/>
              <a:rect l="l" t="t" r="r" b="b"/>
              <a:pathLst>
                <a:path w="2876550" h="1828800">
                  <a:moveTo>
                    <a:pt x="0" y="1824038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57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2871787" y="0"/>
                  </a:lnTo>
                  <a:lnTo>
                    <a:pt x="2873108" y="0"/>
                  </a:lnTo>
                  <a:lnTo>
                    <a:pt x="2874225" y="457"/>
                  </a:lnTo>
                  <a:lnTo>
                    <a:pt x="2875153" y="1397"/>
                  </a:lnTo>
                  <a:lnTo>
                    <a:pt x="2876080" y="2324"/>
                  </a:lnTo>
                  <a:lnTo>
                    <a:pt x="2876550" y="3454"/>
                  </a:lnTo>
                  <a:lnTo>
                    <a:pt x="2876550" y="4762"/>
                  </a:lnTo>
                  <a:lnTo>
                    <a:pt x="2876550" y="1824038"/>
                  </a:lnTo>
                  <a:lnTo>
                    <a:pt x="2876550" y="1825353"/>
                  </a:lnTo>
                  <a:lnTo>
                    <a:pt x="2876080" y="1826474"/>
                  </a:lnTo>
                  <a:lnTo>
                    <a:pt x="2875153" y="1827401"/>
                  </a:lnTo>
                  <a:lnTo>
                    <a:pt x="2874225" y="1828335"/>
                  </a:lnTo>
                  <a:lnTo>
                    <a:pt x="2873108" y="1828796"/>
                  </a:lnTo>
                  <a:lnTo>
                    <a:pt x="2871787" y="1828801"/>
                  </a:lnTo>
                  <a:lnTo>
                    <a:pt x="4762" y="1828801"/>
                  </a:lnTo>
                  <a:lnTo>
                    <a:pt x="3448" y="1828796"/>
                  </a:lnTo>
                  <a:lnTo>
                    <a:pt x="2326" y="1828335"/>
                  </a:lnTo>
                  <a:lnTo>
                    <a:pt x="1394" y="1827401"/>
                  </a:lnTo>
                  <a:lnTo>
                    <a:pt x="466" y="1826474"/>
                  </a:lnTo>
                  <a:lnTo>
                    <a:pt x="0" y="1825353"/>
                  </a:lnTo>
                  <a:lnTo>
                    <a:pt x="0" y="1824038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1324" y="4106862"/>
            <a:ext cx="2863850" cy="1464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9545" marR="1298575">
              <a:lnSpc>
                <a:spcPct val="109800"/>
              </a:lnSpc>
              <a:spcBef>
                <a:spcPts val="90"/>
              </a:spcBef>
            </a:pPr>
            <a:r>
              <a:rPr dirty="0" sz="1650" spc="125" b="1">
                <a:solidFill>
                  <a:srgbClr val="151516"/>
                </a:solidFill>
                <a:latin typeface="Tahoma"/>
                <a:cs typeface="Tahoma"/>
              </a:rPr>
              <a:t>Actuadores </a:t>
            </a:r>
            <a:r>
              <a:rPr dirty="0" sz="1650" spc="-47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4" b="1">
                <a:solidFill>
                  <a:srgbClr val="151516"/>
                </a:solidFill>
                <a:latin typeface="Tahoma"/>
                <a:cs typeface="Tahoma"/>
              </a:rPr>
              <a:t>Neumáti</a:t>
            </a:r>
            <a:r>
              <a:rPr dirty="0" sz="1650" spc="90" b="1">
                <a:solidFill>
                  <a:srgbClr val="151516"/>
                </a:solidFill>
                <a:latin typeface="Tahoma"/>
                <a:cs typeface="Tahoma"/>
              </a:rPr>
              <a:t>c</a:t>
            </a:r>
            <a:r>
              <a:rPr dirty="0" sz="1650" spc="114" b="1">
                <a:solidFill>
                  <a:srgbClr val="151516"/>
                </a:solidFill>
                <a:latin typeface="Tahoma"/>
                <a:cs typeface="Tahoma"/>
              </a:rPr>
              <a:t>os</a:t>
            </a:r>
            <a:endParaRPr sz="1650">
              <a:latin typeface="Tahoma"/>
              <a:cs typeface="Tahoma"/>
            </a:endParaRPr>
          </a:p>
          <a:p>
            <a:pPr marL="169545" marR="28575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Emplean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aire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comprimido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</a:t>
            </a:r>
            <a:r>
              <a:rPr dirty="0" sz="1350" spc="-66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impulsar el movimiento de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válvulas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compuertas.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57600" y="3962400"/>
            <a:ext cx="2902585" cy="1854835"/>
            <a:chOff x="3657600" y="3962400"/>
            <a:chExt cx="2902585" cy="1854835"/>
          </a:xfrm>
        </p:grpSpPr>
        <p:sp>
          <p:nvSpPr>
            <p:cNvPr id="23" name="object 23"/>
            <p:cNvSpPr/>
            <p:nvPr/>
          </p:nvSpPr>
          <p:spPr>
            <a:xfrm>
              <a:off x="3673678" y="3978478"/>
              <a:ext cx="2886075" cy="1838325"/>
            </a:xfrm>
            <a:custGeom>
              <a:avLst/>
              <a:gdLst/>
              <a:ahLst/>
              <a:cxnLst/>
              <a:rect l="l" t="t" r="r" b="b"/>
              <a:pathLst>
                <a:path w="2886075" h="1838325">
                  <a:moveTo>
                    <a:pt x="2879178" y="0"/>
                  </a:moveTo>
                  <a:lnTo>
                    <a:pt x="2860471" y="0"/>
                  </a:lnTo>
                  <a:lnTo>
                    <a:pt x="2860471" y="1812723"/>
                  </a:lnTo>
                  <a:lnTo>
                    <a:pt x="0" y="1812723"/>
                  </a:lnTo>
                  <a:lnTo>
                    <a:pt x="0" y="1831425"/>
                  </a:lnTo>
                  <a:lnTo>
                    <a:pt x="927" y="1833667"/>
                  </a:lnTo>
                  <a:lnTo>
                    <a:pt x="4648" y="1837389"/>
                  </a:lnTo>
                  <a:lnTo>
                    <a:pt x="6896" y="1838321"/>
                  </a:lnTo>
                  <a:lnTo>
                    <a:pt x="2879178" y="1838321"/>
                  </a:lnTo>
                  <a:lnTo>
                    <a:pt x="2881426" y="1837389"/>
                  </a:lnTo>
                  <a:lnTo>
                    <a:pt x="2885135" y="1833667"/>
                  </a:lnTo>
                  <a:lnTo>
                    <a:pt x="2886075" y="1831425"/>
                  </a:lnTo>
                  <a:lnTo>
                    <a:pt x="2886075" y="6883"/>
                  </a:lnTo>
                  <a:lnTo>
                    <a:pt x="2885135" y="4648"/>
                  </a:lnTo>
                  <a:lnTo>
                    <a:pt x="2881426" y="927"/>
                  </a:lnTo>
                  <a:lnTo>
                    <a:pt x="2879178" y="0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62362" y="3967162"/>
              <a:ext cx="2876550" cy="1828800"/>
            </a:xfrm>
            <a:custGeom>
              <a:avLst/>
              <a:gdLst/>
              <a:ahLst/>
              <a:cxnLst/>
              <a:rect l="l" t="t" r="r" b="b"/>
              <a:pathLst>
                <a:path w="2876550" h="1828800">
                  <a:moveTo>
                    <a:pt x="2873108" y="0"/>
                  </a:moveTo>
                  <a:lnTo>
                    <a:pt x="3441" y="0"/>
                  </a:lnTo>
                  <a:lnTo>
                    <a:pt x="2324" y="457"/>
                  </a:lnTo>
                  <a:lnTo>
                    <a:pt x="469" y="2324"/>
                  </a:lnTo>
                  <a:lnTo>
                    <a:pt x="0" y="3454"/>
                  </a:lnTo>
                  <a:lnTo>
                    <a:pt x="0" y="1824038"/>
                  </a:lnTo>
                  <a:lnTo>
                    <a:pt x="0" y="1825353"/>
                  </a:lnTo>
                  <a:lnTo>
                    <a:pt x="469" y="1826474"/>
                  </a:lnTo>
                  <a:lnTo>
                    <a:pt x="2324" y="1828335"/>
                  </a:lnTo>
                  <a:lnTo>
                    <a:pt x="3441" y="1828796"/>
                  </a:lnTo>
                  <a:lnTo>
                    <a:pt x="2873108" y="1828796"/>
                  </a:lnTo>
                  <a:lnTo>
                    <a:pt x="2874225" y="1828335"/>
                  </a:lnTo>
                  <a:lnTo>
                    <a:pt x="2876080" y="1826474"/>
                  </a:lnTo>
                  <a:lnTo>
                    <a:pt x="2876550" y="1825353"/>
                  </a:lnTo>
                  <a:lnTo>
                    <a:pt x="2876550" y="3454"/>
                  </a:lnTo>
                  <a:lnTo>
                    <a:pt x="2876080" y="2324"/>
                  </a:lnTo>
                  <a:lnTo>
                    <a:pt x="2874225" y="457"/>
                  </a:lnTo>
                  <a:lnTo>
                    <a:pt x="2873108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62362" y="3967162"/>
              <a:ext cx="2876550" cy="1828800"/>
            </a:xfrm>
            <a:custGeom>
              <a:avLst/>
              <a:gdLst/>
              <a:ahLst/>
              <a:cxnLst/>
              <a:rect l="l" t="t" r="r" b="b"/>
              <a:pathLst>
                <a:path w="2876550" h="1828800">
                  <a:moveTo>
                    <a:pt x="0" y="1824038"/>
                  </a:moveTo>
                  <a:lnTo>
                    <a:pt x="0" y="4762"/>
                  </a:lnTo>
                  <a:lnTo>
                    <a:pt x="0" y="3454"/>
                  </a:lnTo>
                  <a:lnTo>
                    <a:pt x="469" y="2324"/>
                  </a:lnTo>
                  <a:lnTo>
                    <a:pt x="1397" y="1397"/>
                  </a:lnTo>
                  <a:lnTo>
                    <a:pt x="2324" y="457"/>
                  </a:lnTo>
                  <a:lnTo>
                    <a:pt x="3441" y="0"/>
                  </a:lnTo>
                  <a:lnTo>
                    <a:pt x="4762" y="0"/>
                  </a:lnTo>
                  <a:lnTo>
                    <a:pt x="2871787" y="0"/>
                  </a:lnTo>
                  <a:lnTo>
                    <a:pt x="2873108" y="0"/>
                  </a:lnTo>
                  <a:lnTo>
                    <a:pt x="2874225" y="457"/>
                  </a:lnTo>
                  <a:lnTo>
                    <a:pt x="2875153" y="1397"/>
                  </a:lnTo>
                  <a:lnTo>
                    <a:pt x="2876080" y="2324"/>
                  </a:lnTo>
                  <a:lnTo>
                    <a:pt x="2876550" y="3454"/>
                  </a:lnTo>
                  <a:lnTo>
                    <a:pt x="2876550" y="4762"/>
                  </a:lnTo>
                  <a:lnTo>
                    <a:pt x="2876550" y="1824038"/>
                  </a:lnTo>
                  <a:lnTo>
                    <a:pt x="2876550" y="1825353"/>
                  </a:lnTo>
                  <a:lnTo>
                    <a:pt x="2876080" y="1826474"/>
                  </a:lnTo>
                  <a:lnTo>
                    <a:pt x="2875153" y="1827401"/>
                  </a:lnTo>
                  <a:lnTo>
                    <a:pt x="2874225" y="1828335"/>
                  </a:lnTo>
                  <a:lnTo>
                    <a:pt x="2873108" y="1828796"/>
                  </a:lnTo>
                  <a:lnTo>
                    <a:pt x="2871787" y="1828801"/>
                  </a:lnTo>
                  <a:lnTo>
                    <a:pt x="4762" y="1828801"/>
                  </a:lnTo>
                  <a:lnTo>
                    <a:pt x="3441" y="1828796"/>
                  </a:lnTo>
                  <a:lnTo>
                    <a:pt x="2324" y="1828335"/>
                  </a:lnTo>
                  <a:lnTo>
                    <a:pt x="1397" y="1827401"/>
                  </a:lnTo>
                  <a:lnTo>
                    <a:pt x="469" y="1826474"/>
                  </a:lnTo>
                  <a:lnTo>
                    <a:pt x="0" y="1825353"/>
                  </a:lnTo>
                  <a:lnTo>
                    <a:pt x="0" y="1824038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668845" y="4125912"/>
            <a:ext cx="286385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151516"/>
                </a:solidFill>
                <a:latin typeface="Tahoma"/>
                <a:cs typeface="Tahoma"/>
              </a:rPr>
              <a:t>Actuadores</a:t>
            </a:r>
            <a:r>
              <a:rPr dirty="0" sz="1650" spc="-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Térmicos</a:t>
            </a:r>
            <a:endParaRPr sz="1650">
              <a:latin typeface="Tahoma"/>
              <a:cs typeface="Tahoma"/>
            </a:endParaRPr>
          </a:p>
          <a:p>
            <a:pPr marL="169545" marR="62865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Responden a cambios de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temperatura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5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activar </a:t>
            </a:r>
            <a:r>
              <a:rPr dirty="0" sz="1350" spc="-66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mecanismos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apertura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 </a:t>
            </a:r>
            <a:r>
              <a:rPr dirty="0" sz="1350" spc="-66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cierre.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05625"/>
          </a:xfrm>
          <a:custGeom>
            <a:avLst/>
            <a:gdLst/>
            <a:ahLst/>
            <a:cxnLst/>
            <a:rect l="l" t="t" r="r" b="b"/>
            <a:pathLst>
              <a:path w="11430000" h="6905625">
                <a:moveTo>
                  <a:pt x="11430000" y="0"/>
                </a:moveTo>
                <a:lnTo>
                  <a:pt x="0" y="0"/>
                </a:lnTo>
                <a:lnTo>
                  <a:pt x="0" y="6905625"/>
                </a:lnTo>
                <a:lnTo>
                  <a:pt x="11430000" y="6905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EC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905625"/>
            <a:chOff x="7143750" y="0"/>
            <a:chExt cx="4286250" cy="6905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905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395466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6889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170"/>
              <a:t>Ejemplos</a:t>
            </a:r>
            <a:r>
              <a:rPr dirty="0" sz="3350" spc="5"/>
              <a:t> </a:t>
            </a:r>
            <a:r>
              <a:rPr dirty="0" sz="3350" spc="240"/>
              <a:t>de</a:t>
            </a:r>
            <a:r>
              <a:rPr dirty="0" sz="3350" spc="5"/>
              <a:t> </a:t>
            </a:r>
            <a:r>
              <a:rPr dirty="0" sz="3350" spc="225"/>
              <a:t>Actuadores </a:t>
            </a:r>
            <a:r>
              <a:rPr dirty="0" sz="3350" spc="-969"/>
              <a:t> </a:t>
            </a:r>
            <a:r>
              <a:rPr dirty="0" sz="3350" spc="245"/>
              <a:t>y</a:t>
            </a:r>
            <a:r>
              <a:rPr dirty="0" sz="3350" spc="25"/>
              <a:t> </a:t>
            </a:r>
            <a:r>
              <a:rPr dirty="0" sz="3350" spc="200"/>
              <a:t>Casos</a:t>
            </a:r>
            <a:r>
              <a:rPr dirty="0" sz="3350" spc="25"/>
              <a:t> </a:t>
            </a:r>
            <a:r>
              <a:rPr dirty="0" sz="3350" spc="240"/>
              <a:t>de</a:t>
            </a:r>
            <a:r>
              <a:rPr dirty="0" sz="3350" spc="25"/>
              <a:t> </a:t>
            </a:r>
            <a:r>
              <a:rPr dirty="0" sz="3350" spc="190"/>
              <a:t>Uso</a:t>
            </a:r>
            <a:endParaRPr sz="3350"/>
          </a:p>
        </p:txBody>
      </p:sp>
      <p:sp>
        <p:nvSpPr>
          <p:cNvPr id="7" name="object 7"/>
          <p:cNvSpPr/>
          <p:nvPr/>
        </p:nvSpPr>
        <p:spPr>
          <a:xfrm>
            <a:off x="598666" y="1841741"/>
            <a:ext cx="431800" cy="346075"/>
          </a:xfrm>
          <a:custGeom>
            <a:avLst/>
            <a:gdLst/>
            <a:ahLst/>
            <a:cxnLst/>
            <a:rect l="l" t="t" r="r" b="b"/>
            <a:pathLst>
              <a:path w="431800" h="346075">
                <a:moveTo>
                  <a:pt x="14133" y="0"/>
                </a:moveTo>
                <a:lnTo>
                  <a:pt x="7366" y="812"/>
                </a:lnTo>
                <a:lnTo>
                  <a:pt x="0" y="10045"/>
                </a:lnTo>
                <a:lnTo>
                  <a:pt x="872" y="16814"/>
                </a:lnTo>
                <a:lnTo>
                  <a:pt x="417308" y="345655"/>
                </a:lnTo>
                <a:lnTo>
                  <a:pt x="424070" y="344855"/>
                </a:lnTo>
                <a:lnTo>
                  <a:pt x="431436" y="335610"/>
                </a:lnTo>
                <a:lnTo>
                  <a:pt x="430634" y="328841"/>
                </a:lnTo>
                <a:lnTo>
                  <a:pt x="165165" y="119214"/>
                </a:lnTo>
                <a:lnTo>
                  <a:pt x="14133" y="0"/>
                </a:lnTo>
                <a:close/>
              </a:path>
              <a:path w="431800" h="346075">
                <a:moveTo>
                  <a:pt x="266084" y="279946"/>
                </a:moveTo>
                <a:lnTo>
                  <a:pt x="165357" y="279946"/>
                </a:lnTo>
                <a:lnTo>
                  <a:pt x="162143" y="283171"/>
                </a:lnTo>
                <a:lnTo>
                  <a:pt x="162143" y="290664"/>
                </a:lnTo>
                <a:lnTo>
                  <a:pt x="166352" y="311526"/>
                </a:lnTo>
                <a:lnTo>
                  <a:pt x="177831" y="328556"/>
                </a:lnTo>
                <a:lnTo>
                  <a:pt x="194860" y="340037"/>
                </a:lnTo>
                <a:lnTo>
                  <a:pt x="215720" y="344246"/>
                </a:lnTo>
                <a:lnTo>
                  <a:pt x="236581" y="340037"/>
                </a:lnTo>
                <a:lnTo>
                  <a:pt x="253611" y="328556"/>
                </a:lnTo>
                <a:lnTo>
                  <a:pt x="257485" y="322808"/>
                </a:lnTo>
                <a:lnTo>
                  <a:pt x="215656" y="322808"/>
                </a:lnTo>
                <a:lnTo>
                  <a:pt x="205631" y="321212"/>
                </a:lnTo>
                <a:lnTo>
                  <a:pt x="196893" y="316768"/>
                </a:lnTo>
                <a:lnTo>
                  <a:pt x="189952" y="309987"/>
                </a:lnTo>
                <a:lnTo>
                  <a:pt x="185315" y="301383"/>
                </a:lnTo>
                <a:lnTo>
                  <a:pt x="267137" y="301383"/>
                </a:lnTo>
                <a:lnTo>
                  <a:pt x="269299" y="290664"/>
                </a:lnTo>
                <a:lnTo>
                  <a:pt x="269299" y="283171"/>
                </a:lnTo>
                <a:lnTo>
                  <a:pt x="266084" y="279946"/>
                </a:lnTo>
                <a:close/>
              </a:path>
              <a:path w="431800" h="346075">
                <a:moveTo>
                  <a:pt x="267137" y="301383"/>
                </a:moveTo>
                <a:lnTo>
                  <a:pt x="245992" y="301383"/>
                </a:lnTo>
                <a:lnTo>
                  <a:pt x="241355" y="309987"/>
                </a:lnTo>
                <a:lnTo>
                  <a:pt x="234414" y="316768"/>
                </a:lnTo>
                <a:lnTo>
                  <a:pt x="225678" y="321212"/>
                </a:lnTo>
                <a:lnTo>
                  <a:pt x="215656" y="322808"/>
                </a:lnTo>
                <a:lnTo>
                  <a:pt x="257485" y="322808"/>
                </a:lnTo>
                <a:lnTo>
                  <a:pt x="265090" y="311526"/>
                </a:lnTo>
                <a:lnTo>
                  <a:pt x="267137" y="301383"/>
                </a:lnTo>
                <a:close/>
              </a:path>
              <a:path w="431800" h="346075">
                <a:moveTo>
                  <a:pt x="100860" y="145808"/>
                </a:moveTo>
                <a:lnTo>
                  <a:pt x="118975" y="186461"/>
                </a:lnTo>
                <a:lnTo>
                  <a:pt x="135344" y="209122"/>
                </a:lnTo>
                <a:lnTo>
                  <a:pt x="141346" y="217678"/>
                </a:lnTo>
                <a:lnTo>
                  <a:pt x="160197" y="258457"/>
                </a:lnTo>
                <a:lnTo>
                  <a:pt x="181897" y="258457"/>
                </a:lnTo>
                <a:lnTo>
                  <a:pt x="165188" y="215048"/>
                </a:lnTo>
                <a:lnTo>
                  <a:pt x="139237" y="178092"/>
                </a:lnTo>
                <a:lnTo>
                  <a:pt x="136210" y="173672"/>
                </a:lnTo>
                <a:lnTo>
                  <a:pt x="100860" y="145808"/>
                </a:lnTo>
                <a:close/>
              </a:path>
              <a:path w="431800" h="346075">
                <a:moveTo>
                  <a:pt x="279634" y="22771"/>
                </a:moveTo>
                <a:lnTo>
                  <a:pt x="215720" y="22771"/>
                </a:lnTo>
                <a:lnTo>
                  <a:pt x="253250" y="30353"/>
                </a:lnTo>
                <a:lnTo>
                  <a:pt x="283906" y="51028"/>
                </a:lnTo>
                <a:lnTo>
                  <a:pt x="304580" y="81685"/>
                </a:lnTo>
                <a:lnTo>
                  <a:pt x="312162" y="119214"/>
                </a:lnTo>
                <a:lnTo>
                  <a:pt x="310998" y="134259"/>
                </a:lnTo>
                <a:lnTo>
                  <a:pt x="294947" y="174205"/>
                </a:lnTo>
                <a:lnTo>
                  <a:pt x="287783" y="184251"/>
                </a:lnTo>
                <a:lnTo>
                  <a:pt x="304660" y="197573"/>
                </a:lnTo>
                <a:lnTo>
                  <a:pt x="328051" y="155081"/>
                </a:lnTo>
                <a:lnTo>
                  <a:pt x="333593" y="119291"/>
                </a:lnTo>
                <a:lnTo>
                  <a:pt x="324330" y="73365"/>
                </a:lnTo>
                <a:lnTo>
                  <a:pt x="299068" y="35877"/>
                </a:lnTo>
                <a:lnTo>
                  <a:pt x="279634" y="22771"/>
                </a:lnTo>
                <a:close/>
              </a:path>
              <a:path w="431800" h="346075">
                <a:moveTo>
                  <a:pt x="136157" y="173596"/>
                </a:moveTo>
                <a:close/>
              </a:path>
              <a:path w="431800" h="346075">
                <a:moveTo>
                  <a:pt x="221615" y="44208"/>
                </a:moveTo>
                <a:lnTo>
                  <a:pt x="215720" y="44208"/>
                </a:lnTo>
                <a:lnTo>
                  <a:pt x="196810" y="46619"/>
                </a:lnTo>
                <a:lnTo>
                  <a:pt x="179664" y="53444"/>
                </a:lnTo>
                <a:lnTo>
                  <a:pt x="164890" y="64075"/>
                </a:lnTo>
                <a:lnTo>
                  <a:pt x="153098" y="77901"/>
                </a:lnTo>
                <a:lnTo>
                  <a:pt x="169975" y="91224"/>
                </a:lnTo>
                <a:lnTo>
                  <a:pt x="178386" y="80753"/>
                </a:lnTo>
                <a:lnTo>
                  <a:pt x="189131" y="72675"/>
                </a:lnTo>
                <a:lnTo>
                  <a:pt x="201735" y="67474"/>
                </a:lnTo>
                <a:lnTo>
                  <a:pt x="215720" y="65633"/>
                </a:lnTo>
                <a:lnTo>
                  <a:pt x="221615" y="65633"/>
                </a:lnTo>
                <a:lnTo>
                  <a:pt x="226437" y="60820"/>
                </a:lnTo>
                <a:lnTo>
                  <a:pt x="226437" y="49034"/>
                </a:lnTo>
                <a:lnTo>
                  <a:pt x="221615" y="44208"/>
                </a:lnTo>
                <a:close/>
              </a:path>
              <a:path w="431800" h="346075">
                <a:moveTo>
                  <a:pt x="215720" y="1346"/>
                </a:moveTo>
                <a:lnTo>
                  <a:pt x="186885" y="4894"/>
                </a:lnTo>
                <a:lnTo>
                  <a:pt x="160636" y="14965"/>
                </a:lnTo>
                <a:lnTo>
                  <a:pt x="137852" y="30701"/>
                </a:lnTo>
                <a:lnTo>
                  <a:pt x="119414" y="51244"/>
                </a:lnTo>
                <a:lnTo>
                  <a:pt x="136291" y="64566"/>
                </a:lnTo>
                <a:lnTo>
                  <a:pt x="151385" y="47384"/>
                </a:lnTo>
                <a:lnTo>
                  <a:pt x="170153" y="34201"/>
                </a:lnTo>
                <a:lnTo>
                  <a:pt x="191848" y="25751"/>
                </a:lnTo>
                <a:lnTo>
                  <a:pt x="215720" y="22771"/>
                </a:lnTo>
                <a:lnTo>
                  <a:pt x="279634" y="22771"/>
                </a:lnTo>
                <a:lnTo>
                  <a:pt x="261601" y="10609"/>
                </a:lnTo>
                <a:lnTo>
                  <a:pt x="215720" y="1346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7375" y="2382837"/>
            <a:ext cx="26828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Control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80" b="1">
                <a:solidFill>
                  <a:srgbClr val="151516"/>
                </a:solidFill>
                <a:latin typeface="Tahoma"/>
                <a:cs typeface="Tahoma"/>
              </a:rPr>
              <a:t>Iluminación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Encendido,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apagado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regulación  de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intensidad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luces.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05225" y="1827009"/>
            <a:ext cx="428625" cy="375285"/>
          </a:xfrm>
          <a:custGeom>
            <a:avLst/>
            <a:gdLst/>
            <a:ahLst/>
            <a:cxnLst/>
            <a:rect l="l" t="t" r="r" b="b"/>
            <a:pathLst>
              <a:path w="428625" h="375285">
                <a:moveTo>
                  <a:pt x="375043" y="0"/>
                </a:moveTo>
                <a:lnTo>
                  <a:pt x="53581" y="0"/>
                </a:lnTo>
                <a:lnTo>
                  <a:pt x="32741" y="4216"/>
                </a:lnTo>
                <a:lnTo>
                  <a:pt x="15708" y="15708"/>
                </a:lnTo>
                <a:lnTo>
                  <a:pt x="4216" y="32741"/>
                </a:lnTo>
                <a:lnTo>
                  <a:pt x="0" y="53581"/>
                </a:lnTo>
                <a:lnTo>
                  <a:pt x="0" y="321475"/>
                </a:lnTo>
                <a:lnTo>
                  <a:pt x="4216" y="342314"/>
                </a:lnTo>
                <a:lnTo>
                  <a:pt x="15708" y="359348"/>
                </a:lnTo>
                <a:lnTo>
                  <a:pt x="32741" y="370840"/>
                </a:lnTo>
                <a:lnTo>
                  <a:pt x="53581" y="375056"/>
                </a:lnTo>
                <a:lnTo>
                  <a:pt x="375043" y="375056"/>
                </a:lnTo>
                <a:lnTo>
                  <a:pt x="395883" y="370840"/>
                </a:lnTo>
                <a:lnTo>
                  <a:pt x="412916" y="359348"/>
                </a:lnTo>
                <a:lnTo>
                  <a:pt x="420398" y="348259"/>
                </a:lnTo>
                <a:lnTo>
                  <a:pt x="53581" y="348259"/>
                </a:lnTo>
                <a:lnTo>
                  <a:pt x="43141" y="346158"/>
                </a:lnTo>
                <a:lnTo>
                  <a:pt x="34624" y="340425"/>
                </a:lnTo>
                <a:lnTo>
                  <a:pt x="28887" y="331912"/>
                </a:lnTo>
                <a:lnTo>
                  <a:pt x="26784" y="321475"/>
                </a:lnTo>
                <a:lnTo>
                  <a:pt x="26784" y="53581"/>
                </a:lnTo>
                <a:lnTo>
                  <a:pt x="28887" y="43143"/>
                </a:lnTo>
                <a:lnTo>
                  <a:pt x="34624" y="34631"/>
                </a:lnTo>
                <a:lnTo>
                  <a:pt x="43141" y="28897"/>
                </a:lnTo>
                <a:lnTo>
                  <a:pt x="53581" y="26797"/>
                </a:lnTo>
                <a:lnTo>
                  <a:pt x="420398" y="26797"/>
                </a:lnTo>
                <a:lnTo>
                  <a:pt x="412916" y="15708"/>
                </a:lnTo>
                <a:lnTo>
                  <a:pt x="395883" y="4216"/>
                </a:lnTo>
                <a:lnTo>
                  <a:pt x="375043" y="0"/>
                </a:lnTo>
                <a:close/>
              </a:path>
              <a:path w="428625" h="375285">
                <a:moveTo>
                  <a:pt x="420398" y="26797"/>
                </a:moveTo>
                <a:lnTo>
                  <a:pt x="375043" y="26797"/>
                </a:lnTo>
                <a:lnTo>
                  <a:pt x="385483" y="28897"/>
                </a:lnTo>
                <a:lnTo>
                  <a:pt x="394000" y="34631"/>
                </a:lnTo>
                <a:lnTo>
                  <a:pt x="399737" y="43143"/>
                </a:lnTo>
                <a:lnTo>
                  <a:pt x="401840" y="53581"/>
                </a:lnTo>
                <a:lnTo>
                  <a:pt x="401840" y="321475"/>
                </a:lnTo>
                <a:lnTo>
                  <a:pt x="399737" y="331912"/>
                </a:lnTo>
                <a:lnTo>
                  <a:pt x="394000" y="340425"/>
                </a:lnTo>
                <a:lnTo>
                  <a:pt x="385483" y="346158"/>
                </a:lnTo>
                <a:lnTo>
                  <a:pt x="375043" y="348259"/>
                </a:lnTo>
                <a:lnTo>
                  <a:pt x="420398" y="348259"/>
                </a:lnTo>
                <a:lnTo>
                  <a:pt x="424408" y="342314"/>
                </a:lnTo>
                <a:lnTo>
                  <a:pt x="428625" y="321475"/>
                </a:lnTo>
                <a:lnTo>
                  <a:pt x="428625" y="53581"/>
                </a:lnTo>
                <a:lnTo>
                  <a:pt x="424408" y="32741"/>
                </a:lnTo>
                <a:lnTo>
                  <a:pt x="420398" y="26797"/>
                </a:lnTo>
                <a:close/>
              </a:path>
              <a:path w="428625" h="375285">
                <a:moveTo>
                  <a:pt x="83032" y="60274"/>
                </a:moveTo>
                <a:lnTo>
                  <a:pt x="77698" y="60274"/>
                </a:lnTo>
                <a:lnTo>
                  <a:pt x="75133" y="60794"/>
                </a:lnTo>
                <a:lnTo>
                  <a:pt x="60274" y="77711"/>
                </a:lnTo>
                <a:lnTo>
                  <a:pt x="60274" y="83032"/>
                </a:lnTo>
                <a:lnTo>
                  <a:pt x="77698" y="100457"/>
                </a:lnTo>
                <a:lnTo>
                  <a:pt x="83032" y="100457"/>
                </a:lnTo>
                <a:lnTo>
                  <a:pt x="100457" y="83032"/>
                </a:lnTo>
                <a:lnTo>
                  <a:pt x="100457" y="77711"/>
                </a:lnTo>
                <a:lnTo>
                  <a:pt x="83032" y="60274"/>
                </a:lnTo>
                <a:close/>
              </a:path>
              <a:path w="428625" h="375285">
                <a:moveTo>
                  <a:pt x="163398" y="60274"/>
                </a:moveTo>
                <a:lnTo>
                  <a:pt x="158064" y="60274"/>
                </a:lnTo>
                <a:lnTo>
                  <a:pt x="155511" y="60794"/>
                </a:lnTo>
                <a:lnTo>
                  <a:pt x="140639" y="77711"/>
                </a:lnTo>
                <a:lnTo>
                  <a:pt x="140639" y="83032"/>
                </a:lnTo>
                <a:lnTo>
                  <a:pt x="158064" y="100457"/>
                </a:lnTo>
                <a:lnTo>
                  <a:pt x="163398" y="100457"/>
                </a:lnTo>
                <a:lnTo>
                  <a:pt x="180822" y="83032"/>
                </a:lnTo>
                <a:lnTo>
                  <a:pt x="180822" y="77711"/>
                </a:lnTo>
                <a:lnTo>
                  <a:pt x="163398" y="60274"/>
                </a:lnTo>
                <a:close/>
              </a:path>
              <a:path w="428625" h="375285">
                <a:moveTo>
                  <a:pt x="243763" y="60274"/>
                </a:moveTo>
                <a:lnTo>
                  <a:pt x="238442" y="60274"/>
                </a:lnTo>
                <a:lnTo>
                  <a:pt x="235877" y="60794"/>
                </a:lnTo>
                <a:lnTo>
                  <a:pt x="221005" y="77711"/>
                </a:lnTo>
                <a:lnTo>
                  <a:pt x="221005" y="83032"/>
                </a:lnTo>
                <a:lnTo>
                  <a:pt x="238442" y="100457"/>
                </a:lnTo>
                <a:lnTo>
                  <a:pt x="243763" y="100457"/>
                </a:lnTo>
                <a:lnTo>
                  <a:pt x="261188" y="83032"/>
                </a:lnTo>
                <a:lnTo>
                  <a:pt x="261188" y="77711"/>
                </a:lnTo>
                <a:lnTo>
                  <a:pt x="243763" y="6027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87762" y="2382837"/>
            <a:ext cx="2854325" cy="14458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467995">
              <a:lnSpc>
                <a:spcPct val="106100"/>
              </a:lnSpc>
              <a:spcBef>
                <a:spcPts val="15"/>
              </a:spcBef>
            </a:pP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Apertura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y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0" b="1">
                <a:solidFill>
                  <a:srgbClr val="151516"/>
                </a:solidFill>
                <a:latin typeface="Tahoma"/>
                <a:cs typeface="Tahoma"/>
              </a:rPr>
              <a:t>Cierre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 </a:t>
            </a:r>
            <a:r>
              <a:rPr dirty="0" sz="1650" spc="-47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Persianas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Automatización de sistemas de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sombreado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control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2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entrada  de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luz.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5" y="4395787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6457" y="23812"/>
                </a:moveTo>
                <a:lnTo>
                  <a:pt x="210591" y="23812"/>
                </a:lnTo>
                <a:lnTo>
                  <a:pt x="214312" y="27533"/>
                </a:lnTo>
                <a:lnTo>
                  <a:pt x="214312" y="357187"/>
                </a:lnTo>
                <a:lnTo>
                  <a:pt x="5358" y="357187"/>
                </a:lnTo>
                <a:lnTo>
                  <a:pt x="0" y="362546"/>
                </a:lnTo>
                <a:lnTo>
                  <a:pt x="0" y="375640"/>
                </a:lnTo>
                <a:lnTo>
                  <a:pt x="5358" y="381000"/>
                </a:lnTo>
                <a:lnTo>
                  <a:pt x="238125" y="381000"/>
                </a:lnTo>
                <a:lnTo>
                  <a:pt x="238125" y="32067"/>
                </a:lnTo>
                <a:lnTo>
                  <a:pt x="236457" y="23812"/>
                </a:lnTo>
                <a:close/>
              </a:path>
              <a:path w="428625" h="381000">
                <a:moveTo>
                  <a:pt x="206052" y="0"/>
                </a:moveTo>
                <a:lnTo>
                  <a:pt x="203597" y="0"/>
                </a:lnTo>
                <a:lnTo>
                  <a:pt x="201216" y="292"/>
                </a:lnTo>
                <a:lnTo>
                  <a:pt x="75307" y="29324"/>
                </a:lnTo>
                <a:lnTo>
                  <a:pt x="47625" y="64147"/>
                </a:lnTo>
                <a:lnTo>
                  <a:pt x="47625" y="357187"/>
                </a:lnTo>
                <a:lnTo>
                  <a:pt x="71437" y="357187"/>
                </a:lnTo>
                <a:lnTo>
                  <a:pt x="71437" y="58559"/>
                </a:lnTo>
                <a:lnTo>
                  <a:pt x="75232" y="53797"/>
                </a:lnTo>
                <a:lnTo>
                  <a:pt x="204787" y="23888"/>
                </a:lnTo>
                <a:lnTo>
                  <a:pt x="205456" y="23812"/>
                </a:lnTo>
                <a:lnTo>
                  <a:pt x="236457" y="23812"/>
                </a:lnTo>
                <a:lnTo>
                  <a:pt x="235604" y="19588"/>
                </a:lnTo>
                <a:lnTo>
                  <a:pt x="228730" y="9394"/>
                </a:lnTo>
                <a:lnTo>
                  <a:pt x="218535" y="2520"/>
                </a:lnTo>
                <a:lnTo>
                  <a:pt x="206052" y="0"/>
                </a:lnTo>
                <a:close/>
              </a:path>
              <a:path w="428625" h="381000">
                <a:moveTo>
                  <a:pt x="172641" y="166687"/>
                </a:moveTo>
                <a:lnTo>
                  <a:pt x="165706" y="168566"/>
                </a:lnTo>
                <a:lnTo>
                  <a:pt x="160027" y="173683"/>
                </a:lnTo>
                <a:lnTo>
                  <a:pt x="156190" y="181255"/>
                </a:lnTo>
                <a:lnTo>
                  <a:pt x="154781" y="190500"/>
                </a:lnTo>
                <a:lnTo>
                  <a:pt x="156180" y="199744"/>
                </a:lnTo>
                <a:lnTo>
                  <a:pt x="159999" y="207316"/>
                </a:lnTo>
                <a:lnTo>
                  <a:pt x="165675" y="212433"/>
                </a:lnTo>
                <a:lnTo>
                  <a:pt x="172641" y="214312"/>
                </a:lnTo>
                <a:lnTo>
                  <a:pt x="179575" y="212433"/>
                </a:lnTo>
                <a:lnTo>
                  <a:pt x="185253" y="207316"/>
                </a:lnTo>
                <a:lnTo>
                  <a:pt x="189090" y="199744"/>
                </a:lnTo>
                <a:lnTo>
                  <a:pt x="190500" y="190500"/>
                </a:lnTo>
                <a:lnTo>
                  <a:pt x="189090" y="181255"/>
                </a:lnTo>
                <a:lnTo>
                  <a:pt x="185253" y="173683"/>
                </a:lnTo>
                <a:lnTo>
                  <a:pt x="179575" y="168566"/>
                </a:lnTo>
                <a:lnTo>
                  <a:pt x="172641" y="166687"/>
                </a:lnTo>
                <a:close/>
              </a:path>
              <a:path w="428625" h="381000">
                <a:moveTo>
                  <a:pt x="345281" y="47625"/>
                </a:moveTo>
                <a:lnTo>
                  <a:pt x="261937" y="47625"/>
                </a:lnTo>
                <a:lnTo>
                  <a:pt x="261937" y="71437"/>
                </a:lnTo>
                <a:lnTo>
                  <a:pt x="351829" y="71437"/>
                </a:lnTo>
                <a:lnTo>
                  <a:pt x="357187" y="76796"/>
                </a:lnTo>
                <a:lnTo>
                  <a:pt x="357187" y="375640"/>
                </a:lnTo>
                <a:lnTo>
                  <a:pt x="362545" y="381000"/>
                </a:lnTo>
                <a:lnTo>
                  <a:pt x="423266" y="381000"/>
                </a:lnTo>
                <a:lnTo>
                  <a:pt x="428625" y="375640"/>
                </a:lnTo>
                <a:lnTo>
                  <a:pt x="428625" y="362546"/>
                </a:lnTo>
                <a:lnTo>
                  <a:pt x="423266" y="357187"/>
                </a:lnTo>
                <a:lnTo>
                  <a:pt x="381000" y="357187"/>
                </a:lnTo>
                <a:lnTo>
                  <a:pt x="381000" y="83337"/>
                </a:lnTo>
                <a:lnTo>
                  <a:pt x="378191" y="69442"/>
                </a:lnTo>
                <a:lnTo>
                  <a:pt x="370535" y="58089"/>
                </a:lnTo>
                <a:lnTo>
                  <a:pt x="359181" y="50433"/>
                </a:lnTo>
                <a:lnTo>
                  <a:pt x="345281" y="47625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7375" y="4935537"/>
            <a:ext cx="2597150" cy="1464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10820">
              <a:lnSpc>
                <a:spcPct val="109800"/>
              </a:lnSpc>
              <a:spcBef>
                <a:spcPts val="90"/>
              </a:spcBef>
            </a:pP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Apertura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y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0" b="1">
                <a:solidFill>
                  <a:srgbClr val="151516"/>
                </a:solidFill>
                <a:latin typeface="Tahoma"/>
                <a:cs typeface="Tahoma"/>
              </a:rPr>
              <a:t>Cierre</a:t>
            </a:r>
            <a:r>
              <a:rPr dirty="0" sz="1650" spc="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 </a:t>
            </a:r>
            <a:r>
              <a:rPr dirty="0" sz="1650" spc="-47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0" b="1">
                <a:solidFill>
                  <a:srgbClr val="151516"/>
                </a:solidFill>
                <a:latin typeface="Tahoma"/>
                <a:cs typeface="Tahoma"/>
              </a:rPr>
              <a:t>Puertas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Automatización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3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accesos</a:t>
            </a:r>
            <a:r>
              <a:rPr dirty="0" sz="1350" spc="-3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 control de seguridad y </a:t>
            </a:r>
            <a:r>
              <a:rPr dirty="0" sz="1350" spc="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conveniencia.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05225" y="4385373"/>
            <a:ext cx="428625" cy="388620"/>
          </a:xfrm>
          <a:custGeom>
            <a:avLst/>
            <a:gdLst/>
            <a:ahLst/>
            <a:cxnLst/>
            <a:rect l="l" t="t" r="r" b="b"/>
            <a:pathLst>
              <a:path w="428625" h="388620">
                <a:moveTo>
                  <a:pt x="20764" y="120548"/>
                </a:moveTo>
                <a:lnTo>
                  <a:pt x="6032" y="120548"/>
                </a:lnTo>
                <a:lnTo>
                  <a:pt x="0" y="126568"/>
                </a:lnTo>
                <a:lnTo>
                  <a:pt x="0" y="382409"/>
                </a:lnTo>
                <a:lnTo>
                  <a:pt x="6032" y="388442"/>
                </a:lnTo>
                <a:lnTo>
                  <a:pt x="20764" y="388442"/>
                </a:lnTo>
                <a:lnTo>
                  <a:pt x="26784" y="382409"/>
                </a:lnTo>
                <a:lnTo>
                  <a:pt x="26784" y="361645"/>
                </a:lnTo>
                <a:lnTo>
                  <a:pt x="428625" y="361645"/>
                </a:lnTo>
                <a:lnTo>
                  <a:pt x="428625" y="334860"/>
                </a:lnTo>
                <a:lnTo>
                  <a:pt x="26784" y="334860"/>
                </a:lnTo>
                <a:lnTo>
                  <a:pt x="26784" y="174129"/>
                </a:lnTo>
                <a:lnTo>
                  <a:pt x="428625" y="174129"/>
                </a:lnTo>
                <a:lnTo>
                  <a:pt x="428625" y="147332"/>
                </a:lnTo>
                <a:lnTo>
                  <a:pt x="26784" y="147332"/>
                </a:lnTo>
                <a:lnTo>
                  <a:pt x="26784" y="126568"/>
                </a:lnTo>
                <a:lnTo>
                  <a:pt x="20764" y="120548"/>
                </a:lnTo>
                <a:close/>
              </a:path>
              <a:path w="428625" h="388620">
                <a:moveTo>
                  <a:pt x="428625" y="361645"/>
                </a:moveTo>
                <a:lnTo>
                  <a:pt x="401840" y="361645"/>
                </a:lnTo>
                <a:lnTo>
                  <a:pt x="401840" y="382409"/>
                </a:lnTo>
                <a:lnTo>
                  <a:pt x="407860" y="388442"/>
                </a:lnTo>
                <a:lnTo>
                  <a:pt x="422592" y="388442"/>
                </a:lnTo>
                <a:lnTo>
                  <a:pt x="428625" y="382409"/>
                </a:lnTo>
                <a:lnTo>
                  <a:pt x="428625" y="361645"/>
                </a:lnTo>
                <a:close/>
              </a:path>
              <a:path w="428625" h="388620">
                <a:moveTo>
                  <a:pt x="428625" y="174129"/>
                </a:moveTo>
                <a:lnTo>
                  <a:pt x="401840" y="174129"/>
                </a:lnTo>
                <a:lnTo>
                  <a:pt x="401840" y="334860"/>
                </a:lnTo>
                <a:lnTo>
                  <a:pt x="428625" y="334860"/>
                </a:lnTo>
                <a:lnTo>
                  <a:pt x="428625" y="174129"/>
                </a:lnTo>
                <a:close/>
              </a:path>
              <a:path w="428625" h="388620">
                <a:moveTo>
                  <a:pt x="227711" y="80365"/>
                </a:moveTo>
                <a:lnTo>
                  <a:pt x="200914" y="80365"/>
                </a:lnTo>
                <a:lnTo>
                  <a:pt x="200914" y="147332"/>
                </a:lnTo>
                <a:lnTo>
                  <a:pt x="227711" y="147332"/>
                </a:lnTo>
                <a:lnTo>
                  <a:pt x="227711" y="80365"/>
                </a:lnTo>
                <a:close/>
              </a:path>
              <a:path w="428625" h="388620">
                <a:moveTo>
                  <a:pt x="422592" y="120548"/>
                </a:moveTo>
                <a:lnTo>
                  <a:pt x="407860" y="120548"/>
                </a:lnTo>
                <a:lnTo>
                  <a:pt x="401840" y="126568"/>
                </a:lnTo>
                <a:lnTo>
                  <a:pt x="401840" y="147332"/>
                </a:lnTo>
                <a:lnTo>
                  <a:pt x="428625" y="147332"/>
                </a:lnTo>
                <a:lnTo>
                  <a:pt x="428625" y="126568"/>
                </a:lnTo>
                <a:lnTo>
                  <a:pt x="422592" y="120548"/>
                </a:lnTo>
                <a:close/>
              </a:path>
              <a:path w="428625" h="388620">
                <a:moveTo>
                  <a:pt x="315442" y="53568"/>
                </a:moveTo>
                <a:lnTo>
                  <a:pt x="113182" y="53568"/>
                </a:lnTo>
                <a:lnTo>
                  <a:pt x="107162" y="59601"/>
                </a:lnTo>
                <a:lnTo>
                  <a:pt x="107162" y="74333"/>
                </a:lnTo>
                <a:lnTo>
                  <a:pt x="113182" y="80365"/>
                </a:lnTo>
                <a:lnTo>
                  <a:pt x="315442" y="80365"/>
                </a:lnTo>
                <a:lnTo>
                  <a:pt x="321475" y="74333"/>
                </a:lnTo>
                <a:lnTo>
                  <a:pt x="321475" y="59601"/>
                </a:lnTo>
                <a:lnTo>
                  <a:pt x="315442" y="53568"/>
                </a:lnTo>
                <a:close/>
              </a:path>
              <a:path w="428625" h="388620">
                <a:moveTo>
                  <a:pt x="221678" y="0"/>
                </a:moveTo>
                <a:lnTo>
                  <a:pt x="206946" y="0"/>
                </a:lnTo>
                <a:lnTo>
                  <a:pt x="200914" y="6019"/>
                </a:lnTo>
                <a:lnTo>
                  <a:pt x="200914" y="53568"/>
                </a:lnTo>
                <a:lnTo>
                  <a:pt x="227711" y="53568"/>
                </a:lnTo>
                <a:lnTo>
                  <a:pt x="227711" y="6019"/>
                </a:lnTo>
                <a:lnTo>
                  <a:pt x="221678" y="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87762" y="4954587"/>
            <a:ext cx="276860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Control</a:t>
            </a:r>
            <a:r>
              <a:rPr dirty="0" sz="1650" spc="-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Válvulas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Regulación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flujo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agua,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gas  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otros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líquidos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gases.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565721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z="3350" spc="125"/>
              <a:t>Integración</a:t>
            </a:r>
            <a:r>
              <a:rPr dirty="0" sz="3350" spc="-5"/>
              <a:t> </a:t>
            </a:r>
            <a:r>
              <a:rPr dirty="0" sz="3350" spc="240"/>
              <a:t>de</a:t>
            </a:r>
            <a:r>
              <a:rPr dirty="0" sz="3350"/>
              <a:t> </a:t>
            </a:r>
            <a:r>
              <a:rPr dirty="0" sz="3350" spc="175"/>
              <a:t>Sensores </a:t>
            </a:r>
            <a:r>
              <a:rPr dirty="0" sz="3350" spc="-965"/>
              <a:t> </a:t>
            </a:r>
            <a:r>
              <a:rPr dirty="0" sz="3350" spc="245"/>
              <a:t>y</a:t>
            </a:r>
            <a:r>
              <a:rPr dirty="0" sz="3350" spc="20"/>
              <a:t> </a:t>
            </a:r>
            <a:r>
              <a:rPr dirty="0" sz="3350" spc="225"/>
              <a:t>Actuadores</a:t>
            </a:r>
            <a:r>
              <a:rPr dirty="0" sz="3350" spc="25"/>
              <a:t> </a:t>
            </a:r>
            <a:r>
              <a:rPr dirty="0" sz="3350" spc="215"/>
              <a:t>en</a:t>
            </a:r>
            <a:r>
              <a:rPr dirty="0" sz="3350" spc="20"/>
              <a:t> </a:t>
            </a:r>
            <a:r>
              <a:rPr dirty="0" sz="3350" spc="-75"/>
              <a:t>IoT</a:t>
            </a:r>
            <a:endParaRPr sz="33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263" y="1816607"/>
            <a:ext cx="893064" cy="14081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62124" y="2330450"/>
            <a:ext cx="1333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30" b="1">
                <a:solidFill>
                  <a:srgbClr val="151516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800" y="1982787"/>
            <a:ext cx="474027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 b="1">
                <a:solidFill>
                  <a:srgbClr val="151516"/>
                </a:solidFill>
                <a:latin typeface="Tahoma"/>
                <a:cs typeface="Tahoma"/>
              </a:rPr>
              <a:t>Recolección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05" b="1">
                <a:solidFill>
                  <a:srgbClr val="151516"/>
                </a:solidFill>
                <a:latin typeface="Tahoma"/>
                <a:cs typeface="Tahoma"/>
              </a:rPr>
              <a:t>Datos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sensores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capturan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información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entorno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manera  continua.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263" y="3188207"/>
            <a:ext cx="893064" cy="14081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7715" y="3702050"/>
            <a:ext cx="1822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5" b="1">
                <a:solidFill>
                  <a:srgbClr val="151516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3354387"/>
            <a:ext cx="465455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151516"/>
                </a:solidFill>
                <a:latin typeface="Tahoma"/>
                <a:cs typeface="Tahoma"/>
              </a:rPr>
              <a:t>Análisis</a:t>
            </a:r>
            <a:r>
              <a:rPr dirty="0" sz="1650" spc="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y</a:t>
            </a:r>
            <a:r>
              <a:rPr dirty="0" sz="1650" spc="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10" b="1">
                <a:solidFill>
                  <a:srgbClr val="151516"/>
                </a:solidFill>
                <a:latin typeface="Tahoma"/>
                <a:cs typeface="Tahoma"/>
              </a:rPr>
              <a:t>Procesamiento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datos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procesan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nube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tomar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decisiones  inteligentes.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263" y="4559808"/>
            <a:ext cx="893064" cy="14081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36971" y="5073651"/>
            <a:ext cx="18351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151516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1800" y="4725988"/>
            <a:ext cx="448310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0" b="1">
                <a:solidFill>
                  <a:srgbClr val="151516"/>
                </a:solidFill>
                <a:latin typeface="Tahoma"/>
                <a:cs typeface="Tahoma"/>
              </a:rPr>
              <a:t>Acción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y</a:t>
            </a:r>
            <a:r>
              <a:rPr dirty="0" sz="165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Control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actuadores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ejecutan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las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acciones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necesarias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 responder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 datos.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34200"/>
          </a:xfrm>
          <a:custGeom>
            <a:avLst/>
            <a:gdLst/>
            <a:ahLst/>
            <a:cxnLst/>
            <a:rect l="l" t="t" r="r" b="b"/>
            <a:pathLst>
              <a:path w="11430000" h="6934200">
                <a:moveTo>
                  <a:pt x="11430000" y="0"/>
                </a:moveTo>
                <a:lnTo>
                  <a:pt x="0" y="0"/>
                </a:lnTo>
                <a:lnTo>
                  <a:pt x="0" y="6934200"/>
                </a:lnTo>
                <a:lnTo>
                  <a:pt x="11430000" y="6934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EC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934200"/>
            <a:chOff x="7143750" y="0"/>
            <a:chExt cx="4286250" cy="693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934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4198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58597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190"/>
              <a:t>Consideraciones</a:t>
            </a:r>
            <a:r>
              <a:rPr dirty="0" sz="3350" spc="-55"/>
              <a:t> </a:t>
            </a:r>
            <a:r>
              <a:rPr dirty="0" sz="3350" spc="240"/>
              <a:t>de </a:t>
            </a:r>
            <a:r>
              <a:rPr dirty="0" sz="3350" spc="-969"/>
              <a:t> </a:t>
            </a:r>
            <a:r>
              <a:rPr dirty="0" sz="3350" spc="200"/>
              <a:t>Diseño </a:t>
            </a:r>
            <a:r>
              <a:rPr dirty="0" sz="3350" spc="210"/>
              <a:t>e </a:t>
            </a:r>
            <a:r>
              <a:rPr dirty="0" sz="3350" spc="215"/>
              <a:t> </a:t>
            </a:r>
            <a:r>
              <a:rPr dirty="0" sz="3350" spc="170"/>
              <a:t>Implementación</a:t>
            </a:r>
            <a:endParaRPr sz="3350"/>
          </a:p>
        </p:txBody>
      </p:sp>
      <p:grpSp>
        <p:nvGrpSpPr>
          <p:cNvPr id="7" name="object 7"/>
          <p:cNvGrpSpPr/>
          <p:nvPr/>
        </p:nvGrpSpPr>
        <p:grpSpPr>
          <a:xfrm>
            <a:off x="664368" y="2333625"/>
            <a:ext cx="972185" cy="4133850"/>
            <a:chOff x="664368" y="2333625"/>
            <a:chExt cx="972185" cy="4133850"/>
          </a:xfrm>
        </p:grpSpPr>
        <p:sp>
          <p:nvSpPr>
            <p:cNvPr id="8" name="object 8"/>
            <p:cNvSpPr/>
            <p:nvPr/>
          </p:nvSpPr>
          <p:spPr>
            <a:xfrm>
              <a:off x="847725" y="2333625"/>
              <a:ext cx="19050" cy="4133850"/>
            </a:xfrm>
            <a:custGeom>
              <a:avLst/>
              <a:gdLst/>
              <a:ahLst/>
              <a:cxnLst/>
              <a:rect l="l" t="t" r="r" b="b"/>
              <a:pathLst>
                <a:path w="19050" h="4133850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24325"/>
                  </a:lnTo>
                  <a:lnTo>
                    <a:pt x="0" y="4126953"/>
                  </a:lnTo>
                  <a:lnTo>
                    <a:pt x="927" y="4129196"/>
                  </a:lnTo>
                  <a:lnTo>
                    <a:pt x="4648" y="4132917"/>
                  </a:lnTo>
                  <a:lnTo>
                    <a:pt x="6896" y="4133850"/>
                  </a:lnTo>
                  <a:lnTo>
                    <a:pt x="12153" y="4133850"/>
                  </a:lnTo>
                  <a:lnTo>
                    <a:pt x="14401" y="4132917"/>
                  </a:lnTo>
                  <a:lnTo>
                    <a:pt x="18122" y="4129196"/>
                  </a:lnTo>
                  <a:lnTo>
                    <a:pt x="19050" y="4126953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0440" y="2549728"/>
              <a:ext cx="955675" cy="381000"/>
            </a:xfrm>
            <a:custGeom>
              <a:avLst/>
              <a:gdLst/>
              <a:ahLst/>
              <a:cxnLst/>
              <a:rect l="l" t="t" r="r" b="b"/>
              <a:pathLst>
                <a:path w="955675" h="381000">
                  <a:moveTo>
                    <a:pt x="955484" y="171792"/>
                  </a:moveTo>
                  <a:lnTo>
                    <a:pt x="954544" y="169545"/>
                  </a:lnTo>
                  <a:lnTo>
                    <a:pt x="950823" y="165823"/>
                  </a:lnTo>
                  <a:lnTo>
                    <a:pt x="948588" y="164896"/>
                  </a:lnTo>
                  <a:lnTo>
                    <a:pt x="390525" y="164896"/>
                  </a:lnTo>
                  <a:lnTo>
                    <a:pt x="390525" y="6896"/>
                  </a:lnTo>
                  <a:lnTo>
                    <a:pt x="389597" y="4648"/>
                  </a:lnTo>
                  <a:lnTo>
                    <a:pt x="385876" y="927"/>
                  </a:lnTo>
                  <a:lnTo>
                    <a:pt x="383628" y="0"/>
                  </a:lnTo>
                  <a:lnTo>
                    <a:pt x="364921" y="0"/>
                  </a:lnTo>
                  <a:lnTo>
                    <a:pt x="364921" y="164896"/>
                  </a:lnTo>
                  <a:lnTo>
                    <a:pt x="362292" y="164896"/>
                  </a:lnTo>
                  <a:lnTo>
                    <a:pt x="360045" y="165823"/>
                  </a:lnTo>
                  <a:lnTo>
                    <a:pt x="356323" y="169545"/>
                  </a:lnTo>
                  <a:lnTo>
                    <a:pt x="355396" y="171792"/>
                  </a:lnTo>
                  <a:lnTo>
                    <a:pt x="355396" y="174421"/>
                  </a:lnTo>
                  <a:lnTo>
                    <a:pt x="355396" y="177050"/>
                  </a:lnTo>
                  <a:lnTo>
                    <a:pt x="356323" y="179298"/>
                  </a:lnTo>
                  <a:lnTo>
                    <a:pt x="360045" y="183019"/>
                  </a:lnTo>
                  <a:lnTo>
                    <a:pt x="362292" y="183946"/>
                  </a:lnTo>
                  <a:lnTo>
                    <a:pt x="364921" y="183946"/>
                  </a:lnTo>
                  <a:lnTo>
                    <a:pt x="364921" y="355409"/>
                  </a:lnTo>
                  <a:lnTo>
                    <a:pt x="0" y="355409"/>
                  </a:lnTo>
                  <a:lnTo>
                    <a:pt x="0" y="374103"/>
                  </a:lnTo>
                  <a:lnTo>
                    <a:pt x="927" y="376351"/>
                  </a:lnTo>
                  <a:lnTo>
                    <a:pt x="4648" y="380072"/>
                  </a:lnTo>
                  <a:lnTo>
                    <a:pt x="6896" y="381000"/>
                  </a:lnTo>
                  <a:lnTo>
                    <a:pt x="383628" y="381000"/>
                  </a:lnTo>
                  <a:lnTo>
                    <a:pt x="385876" y="380072"/>
                  </a:lnTo>
                  <a:lnTo>
                    <a:pt x="389597" y="376351"/>
                  </a:lnTo>
                  <a:lnTo>
                    <a:pt x="390525" y="374103"/>
                  </a:lnTo>
                  <a:lnTo>
                    <a:pt x="390525" y="183946"/>
                  </a:lnTo>
                  <a:lnTo>
                    <a:pt x="948588" y="183946"/>
                  </a:lnTo>
                  <a:lnTo>
                    <a:pt x="950823" y="183019"/>
                  </a:lnTo>
                  <a:lnTo>
                    <a:pt x="954544" y="179298"/>
                  </a:lnTo>
                  <a:lnTo>
                    <a:pt x="955484" y="177050"/>
                  </a:lnTo>
                  <a:lnTo>
                    <a:pt x="955484" y="171792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9131" y="25384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77551" y="0"/>
                  </a:moveTo>
                  <a:lnTo>
                    <a:pt x="3448" y="0"/>
                  </a:lnTo>
                  <a:lnTo>
                    <a:pt x="2326" y="469"/>
                  </a:lnTo>
                  <a:lnTo>
                    <a:pt x="466" y="2324"/>
                  </a:lnTo>
                  <a:lnTo>
                    <a:pt x="0" y="3441"/>
                  </a:lnTo>
                  <a:lnTo>
                    <a:pt x="0" y="366712"/>
                  </a:lnTo>
                  <a:lnTo>
                    <a:pt x="0" y="368033"/>
                  </a:lnTo>
                  <a:lnTo>
                    <a:pt x="466" y="369150"/>
                  </a:lnTo>
                  <a:lnTo>
                    <a:pt x="2326" y="371005"/>
                  </a:lnTo>
                  <a:lnTo>
                    <a:pt x="3448" y="371475"/>
                  </a:lnTo>
                  <a:lnTo>
                    <a:pt x="377551" y="371475"/>
                  </a:lnTo>
                  <a:lnTo>
                    <a:pt x="378673" y="371005"/>
                  </a:lnTo>
                  <a:lnTo>
                    <a:pt x="380533" y="369150"/>
                  </a:lnTo>
                  <a:lnTo>
                    <a:pt x="381000" y="368033"/>
                  </a:lnTo>
                  <a:lnTo>
                    <a:pt x="381000" y="3441"/>
                  </a:lnTo>
                  <a:lnTo>
                    <a:pt x="380533" y="2324"/>
                  </a:lnTo>
                  <a:lnTo>
                    <a:pt x="378673" y="469"/>
                  </a:lnTo>
                  <a:lnTo>
                    <a:pt x="377551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9131" y="25384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66712"/>
                  </a:moveTo>
                  <a:lnTo>
                    <a:pt x="0" y="4762"/>
                  </a:lnTo>
                  <a:lnTo>
                    <a:pt x="0" y="3441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69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1" y="0"/>
                  </a:lnTo>
                  <a:lnTo>
                    <a:pt x="378673" y="469"/>
                  </a:lnTo>
                  <a:lnTo>
                    <a:pt x="379605" y="1397"/>
                  </a:lnTo>
                  <a:lnTo>
                    <a:pt x="380533" y="2324"/>
                  </a:lnTo>
                  <a:lnTo>
                    <a:pt x="381000" y="3441"/>
                  </a:lnTo>
                  <a:lnTo>
                    <a:pt x="381000" y="4762"/>
                  </a:lnTo>
                  <a:lnTo>
                    <a:pt x="381000" y="366712"/>
                  </a:lnTo>
                  <a:lnTo>
                    <a:pt x="381000" y="368033"/>
                  </a:lnTo>
                  <a:lnTo>
                    <a:pt x="380533" y="369150"/>
                  </a:lnTo>
                  <a:lnTo>
                    <a:pt x="379605" y="370078"/>
                  </a:lnTo>
                  <a:lnTo>
                    <a:pt x="378673" y="371005"/>
                  </a:lnTo>
                  <a:lnTo>
                    <a:pt x="377551" y="371475"/>
                  </a:lnTo>
                  <a:lnTo>
                    <a:pt x="376237" y="371475"/>
                  </a:lnTo>
                  <a:lnTo>
                    <a:pt x="4762" y="371475"/>
                  </a:lnTo>
                  <a:lnTo>
                    <a:pt x="3448" y="371475"/>
                  </a:lnTo>
                  <a:lnTo>
                    <a:pt x="2326" y="371005"/>
                  </a:lnTo>
                  <a:lnTo>
                    <a:pt x="1394" y="370078"/>
                  </a:lnTo>
                  <a:lnTo>
                    <a:pt x="466" y="369150"/>
                  </a:lnTo>
                  <a:lnTo>
                    <a:pt x="0" y="368033"/>
                  </a:lnTo>
                  <a:lnTo>
                    <a:pt x="0" y="366712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0674" y="2540000"/>
            <a:ext cx="1333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30" b="1">
                <a:solidFill>
                  <a:srgbClr val="151516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7525" y="2487612"/>
            <a:ext cx="43973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151516"/>
                </a:solidFill>
                <a:latin typeface="Tahoma"/>
                <a:cs typeface="Tahoma"/>
              </a:rPr>
              <a:t>Selección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25" b="1">
                <a:solidFill>
                  <a:srgbClr val="151516"/>
                </a:solidFill>
                <a:latin typeface="Tahoma"/>
                <a:cs typeface="Tahoma"/>
              </a:rPr>
              <a:t>Componentes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Elegir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sensores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actuadores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adecuados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  requisitos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sistema.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4368" y="3962400"/>
            <a:ext cx="972185" cy="407034"/>
            <a:chOff x="664368" y="3962400"/>
            <a:chExt cx="972185" cy="407034"/>
          </a:xfrm>
        </p:grpSpPr>
        <p:sp>
          <p:nvSpPr>
            <p:cNvPr id="15" name="object 15"/>
            <p:cNvSpPr/>
            <p:nvPr/>
          </p:nvSpPr>
          <p:spPr>
            <a:xfrm>
              <a:off x="680440" y="3978478"/>
              <a:ext cx="955675" cy="390525"/>
            </a:xfrm>
            <a:custGeom>
              <a:avLst/>
              <a:gdLst/>
              <a:ahLst/>
              <a:cxnLst/>
              <a:rect l="l" t="t" r="r" b="b"/>
              <a:pathLst>
                <a:path w="955675" h="390525">
                  <a:moveTo>
                    <a:pt x="955484" y="171792"/>
                  </a:moveTo>
                  <a:lnTo>
                    <a:pt x="954544" y="169545"/>
                  </a:lnTo>
                  <a:lnTo>
                    <a:pt x="950823" y="165823"/>
                  </a:lnTo>
                  <a:lnTo>
                    <a:pt x="948588" y="164896"/>
                  </a:lnTo>
                  <a:lnTo>
                    <a:pt x="390525" y="164896"/>
                  </a:lnTo>
                  <a:lnTo>
                    <a:pt x="390525" y="6896"/>
                  </a:lnTo>
                  <a:lnTo>
                    <a:pt x="389597" y="4648"/>
                  </a:lnTo>
                  <a:lnTo>
                    <a:pt x="385876" y="927"/>
                  </a:lnTo>
                  <a:lnTo>
                    <a:pt x="383628" y="0"/>
                  </a:lnTo>
                  <a:lnTo>
                    <a:pt x="364921" y="0"/>
                  </a:lnTo>
                  <a:lnTo>
                    <a:pt x="364921" y="164896"/>
                  </a:lnTo>
                  <a:lnTo>
                    <a:pt x="362292" y="164896"/>
                  </a:lnTo>
                  <a:lnTo>
                    <a:pt x="360045" y="165823"/>
                  </a:lnTo>
                  <a:lnTo>
                    <a:pt x="356323" y="169545"/>
                  </a:lnTo>
                  <a:lnTo>
                    <a:pt x="355396" y="171792"/>
                  </a:lnTo>
                  <a:lnTo>
                    <a:pt x="355396" y="174421"/>
                  </a:lnTo>
                  <a:lnTo>
                    <a:pt x="355396" y="177063"/>
                  </a:lnTo>
                  <a:lnTo>
                    <a:pt x="356323" y="179298"/>
                  </a:lnTo>
                  <a:lnTo>
                    <a:pt x="360045" y="183019"/>
                  </a:lnTo>
                  <a:lnTo>
                    <a:pt x="362292" y="183946"/>
                  </a:lnTo>
                  <a:lnTo>
                    <a:pt x="364921" y="183946"/>
                  </a:lnTo>
                  <a:lnTo>
                    <a:pt x="364921" y="364934"/>
                  </a:lnTo>
                  <a:lnTo>
                    <a:pt x="0" y="364934"/>
                  </a:lnTo>
                  <a:lnTo>
                    <a:pt x="0" y="383628"/>
                  </a:lnTo>
                  <a:lnTo>
                    <a:pt x="927" y="385876"/>
                  </a:lnTo>
                  <a:lnTo>
                    <a:pt x="4648" y="389585"/>
                  </a:lnTo>
                  <a:lnTo>
                    <a:pt x="6896" y="390525"/>
                  </a:lnTo>
                  <a:lnTo>
                    <a:pt x="383628" y="390525"/>
                  </a:lnTo>
                  <a:lnTo>
                    <a:pt x="385876" y="389585"/>
                  </a:lnTo>
                  <a:lnTo>
                    <a:pt x="389597" y="385876"/>
                  </a:lnTo>
                  <a:lnTo>
                    <a:pt x="390525" y="383628"/>
                  </a:lnTo>
                  <a:lnTo>
                    <a:pt x="390525" y="183946"/>
                  </a:lnTo>
                  <a:lnTo>
                    <a:pt x="948588" y="183946"/>
                  </a:lnTo>
                  <a:lnTo>
                    <a:pt x="950823" y="183019"/>
                  </a:lnTo>
                  <a:lnTo>
                    <a:pt x="954544" y="179298"/>
                  </a:lnTo>
                  <a:lnTo>
                    <a:pt x="955484" y="177063"/>
                  </a:lnTo>
                  <a:lnTo>
                    <a:pt x="955484" y="171792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9131" y="39671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77551" y="0"/>
                  </a:moveTo>
                  <a:lnTo>
                    <a:pt x="3448" y="0"/>
                  </a:lnTo>
                  <a:lnTo>
                    <a:pt x="2326" y="469"/>
                  </a:lnTo>
                  <a:lnTo>
                    <a:pt x="466" y="2324"/>
                  </a:lnTo>
                  <a:lnTo>
                    <a:pt x="0" y="3441"/>
                  </a:lnTo>
                  <a:lnTo>
                    <a:pt x="0" y="376237"/>
                  </a:lnTo>
                  <a:lnTo>
                    <a:pt x="0" y="377558"/>
                  </a:lnTo>
                  <a:lnTo>
                    <a:pt x="466" y="378675"/>
                  </a:lnTo>
                  <a:lnTo>
                    <a:pt x="2326" y="380530"/>
                  </a:lnTo>
                  <a:lnTo>
                    <a:pt x="3448" y="381000"/>
                  </a:lnTo>
                  <a:lnTo>
                    <a:pt x="377551" y="381000"/>
                  </a:lnTo>
                  <a:lnTo>
                    <a:pt x="378673" y="380530"/>
                  </a:lnTo>
                  <a:lnTo>
                    <a:pt x="380533" y="378675"/>
                  </a:lnTo>
                  <a:lnTo>
                    <a:pt x="381000" y="377558"/>
                  </a:lnTo>
                  <a:lnTo>
                    <a:pt x="381000" y="3441"/>
                  </a:lnTo>
                  <a:lnTo>
                    <a:pt x="380533" y="2324"/>
                  </a:lnTo>
                  <a:lnTo>
                    <a:pt x="378673" y="469"/>
                  </a:lnTo>
                  <a:lnTo>
                    <a:pt x="377551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9131" y="39671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76237"/>
                  </a:moveTo>
                  <a:lnTo>
                    <a:pt x="0" y="4762"/>
                  </a:lnTo>
                  <a:lnTo>
                    <a:pt x="0" y="3441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69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1" y="0"/>
                  </a:lnTo>
                  <a:lnTo>
                    <a:pt x="378673" y="469"/>
                  </a:lnTo>
                  <a:lnTo>
                    <a:pt x="379605" y="1397"/>
                  </a:lnTo>
                  <a:lnTo>
                    <a:pt x="380533" y="2324"/>
                  </a:lnTo>
                  <a:lnTo>
                    <a:pt x="381000" y="3441"/>
                  </a:lnTo>
                  <a:lnTo>
                    <a:pt x="381000" y="4762"/>
                  </a:lnTo>
                  <a:lnTo>
                    <a:pt x="381000" y="376237"/>
                  </a:lnTo>
                  <a:lnTo>
                    <a:pt x="381000" y="377558"/>
                  </a:lnTo>
                  <a:lnTo>
                    <a:pt x="380533" y="378675"/>
                  </a:lnTo>
                  <a:lnTo>
                    <a:pt x="379605" y="379603"/>
                  </a:lnTo>
                  <a:lnTo>
                    <a:pt x="378673" y="380530"/>
                  </a:lnTo>
                  <a:lnTo>
                    <a:pt x="377551" y="381000"/>
                  </a:lnTo>
                  <a:lnTo>
                    <a:pt x="376237" y="381000"/>
                  </a:lnTo>
                  <a:lnTo>
                    <a:pt x="4762" y="381000"/>
                  </a:lnTo>
                  <a:lnTo>
                    <a:pt x="3448" y="381000"/>
                  </a:lnTo>
                  <a:lnTo>
                    <a:pt x="2326" y="380530"/>
                  </a:lnTo>
                  <a:lnTo>
                    <a:pt x="1394" y="379603"/>
                  </a:lnTo>
                  <a:lnTo>
                    <a:pt x="466" y="378675"/>
                  </a:lnTo>
                  <a:lnTo>
                    <a:pt x="0" y="377558"/>
                  </a:lnTo>
                  <a:lnTo>
                    <a:pt x="0" y="376237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66265" y="3978275"/>
            <a:ext cx="1822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5" b="1">
                <a:solidFill>
                  <a:srgbClr val="151516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7525" y="3925887"/>
            <a:ext cx="456882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151516"/>
                </a:solidFill>
                <a:latin typeface="Tahoma"/>
                <a:cs typeface="Tahoma"/>
              </a:rPr>
              <a:t>Interconectividad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Asegurar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comunicación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eficiente</a:t>
            </a:r>
            <a:r>
              <a:rPr dirty="0" sz="1350" spc="-2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entre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diversos  elementos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sistema.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4368" y="5400675"/>
            <a:ext cx="972185" cy="397510"/>
            <a:chOff x="664368" y="5400675"/>
            <a:chExt cx="972185" cy="397510"/>
          </a:xfrm>
        </p:grpSpPr>
        <p:sp>
          <p:nvSpPr>
            <p:cNvPr id="21" name="object 21"/>
            <p:cNvSpPr/>
            <p:nvPr/>
          </p:nvSpPr>
          <p:spPr>
            <a:xfrm>
              <a:off x="680440" y="5416753"/>
              <a:ext cx="955675" cy="381000"/>
            </a:xfrm>
            <a:custGeom>
              <a:avLst/>
              <a:gdLst/>
              <a:ahLst/>
              <a:cxnLst/>
              <a:rect l="l" t="t" r="r" b="b"/>
              <a:pathLst>
                <a:path w="955675" h="381000">
                  <a:moveTo>
                    <a:pt x="955484" y="171792"/>
                  </a:moveTo>
                  <a:lnTo>
                    <a:pt x="954544" y="169557"/>
                  </a:lnTo>
                  <a:lnTo>
                    <a:pt x="950823" y="165823"/>
                  </a:lnTo>
                  <a:lnTo>
                    <a:pt x="948588" y="164896"/>
                  </a:lnTo>
                  <a:lnTo>
                    <a:pt x="390525" y="164896"/>
                  </a:lnTo>
                  <a:lnTo>
                    <a:pt x="390525" y="6896"/>
                  </a:lnTo>
                  <a:lnTo>
                    <a:pt x="389597" y="4648"/>
                  </a:lnTo>
                  <a:lnTo>
                    <a:pt x="385876" y="927"/>
                  </a:lnTo>
                  <a:lnTo>
                    <a:pt x="383628" y="0"/>
                  </a:lnTo>
                  <a:lnTo>
                    <a:pt x="364921" y="0"/>
                  </a:lnTo>
                  <a:lnTo>
                    <a:pt x="364921" y="164896"/>
                  </a:lnTo>
                  <a:lnTo>
                    <a:pt x="362292" y="164896"/>
                  </a:lnTo>
                  <a:lnTo>
                    <a:pt x="360045" y="165823"/>
                  </a:lnTo>
                  <a:lnTo>
                    <a:pt x="356323" y="169557"/>
                  </a:lnTo>
                  <a:lnTo>
                    <a:pt x="355396" y="171792"/>
                  </a:lnTo>
                  <a:lnTo>
                    <a:pt x="355396" y="174421"/>
                  </a:lnTo>
                  <a:lnTo>
                    <a:pt x="355396" y="177050"/>
                  </a:lnTo>
                  <a:lnTo>
                    <a:pt x="356323" y="179298"/>
                  </a:lnTo>
                  <a:lnTo>
                    <a:pt x="360045" y="183019"/>
                  </a:lnTo>
                  <a:lnTo>
                    <a:pt x="362292" y="183946"/>
                  </a:lnTo>
                  <a:lnTo>
                    <a:pt x="364921" y="183946"/>
                  </a:lnTo>
                  <a:lnTo>
                    <a:pt x="364921" y="355409"/>
                  </a:lnTo>
                  <a:lnTo>
                    <a:pt x="0" y="355409"/>
                  </a:lnTo>
                  <a:lnTo>
                    <a:pt x="0" y="374103"/>
                  </a:lnTo>
                  <a:lnTo>
                    <a:pt x="927" y="376351"/>
                  </a:lnTo>
                  <a:lnTo>
                    <a:pt x="4648" y="380072"/>
                  </a:lnTo>
                  <a:lnTo>
                    <a:pt x="6896" y="381000"/>
                  </a:lnTo>
                  <a:lnTo>
                    <a:pt x="383628" y="381000"/>
                  </a:lnTo>
                  <a:lnTo>
                    <a:pt x="385876" y="380072"/>
                  </a:lnTo>
                  <a:lnTo>
                    <a:pt x="389597" y="376351"/>
                  </a:lnTo>
                  <a:lnTo>
                    <a:pt x="390525" y="374103"/>
                  </a:lnTo>
                  <a:lnTo>
                    <a:pt x="390525" y="183946"/>
                  </a:lnTo>
                  <a:lnTo>
                    <a:pt x="948588" y="183946"/>
                  </a:lnTo>
                  <a:lnTo>
                    <a:pt x="950823" y="183019"/>
                  </a:lnTo>
                  <a:lnTo>
                    <a:pt x="954544" y="179298"/>
                  </a:lnTo>
                  <a:lnTo>
                    <a:pt x="955484" y="177050"/>
                  </a:lnTo>
                  <a:lnTo>
                    <a:pt x="955484" y="171792"/>
                  </a:lnTo>
                  <a:close/>
                </a:path>
              </a:pathLst>
            </a:custGeom>
            <a:solidFill>
              <a:srgbClr val="151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9131" y="54054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77551" y="0"/>
                  </a:moveTo>
                  <a:lnTo>
                    <a:pt x="3448" y="0"/>
                  </a:lnTo>
                  <a:lnTo>
                    <a:pt x="2326" y="469"/>
                  </a:lnTo>
                  <a:lnTo>
                    <a:pt x="466" y="2324"/>
                  </a:lnTo>
                  <a:lnTo>
                    <a:pt x="0" y="3441"/>
                  </a:lnTo>
                  <a:lnTo>
                    <a:pt x="0" y="366712"/>
                  </a:lnTo>
                  <a:lnTo>
                    <a:pt x="0" y="368026"/>
                  </a:lnTo>
                  <a:lnTo>
                    <a:pt x="466" y="369148"/>
                  </a:lnTo>
                  <a:lnTo>
                    <a:pt x="2326" y="371008"/>
                  </a:lnTo>
                  <a:lnTo>
                    <a:pt x="3448" y="371475"/>
                  </a:lnTo>
                  <a:lnTo>
                    <a:pt x="377551" y="371475"/>
                  </a:lnTo>
                  <a:lnTo>
                    <a:pt x="378673" y="371008"/>
                  </a:lnTo>
                  <a:lnTo>
                    <a:pt x="380533" y="369148"/>
                  </a:lnTo>
                  <a:lnTo>
                    <a:pt x="381000" y="368026"/>
                  </a:lnTo>
                  <a:lnTo>
                    <a:pt x="381000" y="3441"/>
                  </a:lnTo>
                  <a:lnTo>
                    <a:pt x="380533" y="2324"/>
                  </a:lnTo>
                  <a:lnTo>
                    <a:pt x="378673" y="469"/>
                  </a:lnTo>
                  <a:lnTo>
                    <a:pt x="377551" y="0"/>
                  </a:lnTo>
                  <a:close/>
                </a:path>
              </a:pathLst>
            </a:custGeom>
            <a:solidFill>
              <a:srgbClr val="F8EC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9131" y="54054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66712"/>
                  </a:moveTo>
                  <a:lnTo>
                    <a:pt x="0" y="4762"/>
                  </a:lnTo>
                  <a:lnTo>
                    <a:pt x="0" y="3441"/>
                  </a:lnTo>
                  <a:lnTo>
                    <a:pt x="466" y="2324"/>
                  </a:lnTo>
                  <a:lnTo>
                    <a:pt x="1394" y="1397"/>
                  </a:lnTo>
                  <a:lnTo>
                    <a:pt x="2326" y="469"/>
                  </a:lnTo>
                  <a:lnTo>
                    <a:pt x="3448" y="0"/>
                  </a:lnTo>
                  <a:lnTo>
                    <a:pt x="4762" y="0"/>
                  </a:lnTo>
                  <a:lnTo>
                    <a:pt x="376237" y="0"/>
                  </a:lnTo>
                  <a:lnTo>
                    <a:pt x="377551" y="0"/>
                  </a:lnTo>
                  <a:lnTo>
                    <a:pt x="378673" y="469"/>
                  </a:lnTo>
                  <a:lnTo>
                    <a:pt x="379605" y="1397"/>
                  </a:lnTo>
                  <a:lnTo>
                    <a:pt x="380533" y="2324"/>
                  </a:lnTo>
                  <a:lnTo>
                    <a:pt x="381000" y="3441"/>
                  </a:lnTo>
                  <a:lnTo>
                    <a:pt x="381000" y="4762"/>
                  </a:lnTo>
                  <a:lnTo>
                    <a:pt x="381000" y="366712"/>
                  </a:lnTo>
                  <a:lnTo>
                    <a:pt x="381000" y="368026"/>
                  </a:lnTo>
                  <a:lnTo>
                    <a:pt x="380533" y="369148"/>
                  </a:lnTo>
                  <a:lnTo>
                    <a:pt x="379605" y="370080"/>
                  </a:lnTo>
                  <a:lnTo>
                    <a:pt x="378673" y="371008"/>
                  </a:lnTo>
                  <a:lnTo>
                    <a:pt x="377551" y="371475"/>
                  </a:lnTo>
                  <a:lnTo>
                    <a:pt x="376237" y="371475"/>
                  </a:lnTo>
                  <a:lnTo>
                    <a:pt x="4762" y="371475"/>
                  </a:lnTo>
                  <a:lnTo>
                    <a:pt x="3448" y="371475"/>
                  </a:lnTo>
                  <a:lnTo>
                    <a:pt x="2326" y="371008"/>
                  </a:lnTo>
                  <a:lnTo>
                    <a:pt x="1394" y="370080"/>
                  </a:lnTo>
                  <a:lnTo>
                    <a:pt x="466" y="369148"/>
                  </a:lnTo>
                  <a:lnTo>
                    <a:pt x="0" y="368026"/>
                  </a:lnTo>
                  <a:lnTo>
                    <a:pt x="0" y="366712"/>
                  </a:lnTo>
                  <a:close/>
                </a:path>
              </a:pathLst>
            </a:custGeom>
            <a:ln w="9525">
              <a:solidFill>
                <a:srgbClr val="1515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65521" y="5407025"/>
            <a:ext cx="18351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151516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87525" y="5354637"/>
            <a:ext cx="40544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 b="1">
                <a:solidFill>
                  <a:srgbClr val="151516"/>
                </a:solidFill>
                <a:latin typeface="Tahoma"/>
                <a:cs typeface="Tahoma"/>
              </a:rPr>
              <a:t>Diseño</a:t>
            </a:r>
            <a:r>
              <a:rPr dirty="0" sz="1650" spc="-1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135" b="1">
                <a:solidFill>
                  <a:srgbClr val="151516"/>
                </a:solidFill>
                <a:latin typeface="Tahoma"/>
                <a:cs typeface="Tahoma"/>
              </a:rPr>
              <a:t>de</a:t>
            </a:r>
            <a:r>
              <a:rPr dirty="0" sz="1650" spc="-5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1650" spc="50" b="1">
                <a:solidFill>
                  <a:srgbClr val="151516"/>
                </a:solidFill>
                <a:latin typeface="Tahoma"/>
                <a:cs typeface="Tahoma"/>
              </a:rPr>
              <a:t>Interfaz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Crear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una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interfaz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intuitiva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amigable</a:t>
            </a:r>
            <a:r>
              <a:rPr dirty="0" sz="1350" spc="-1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el  monitoreo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control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sistema.</a:t>
            </a:r>
            <a:endParaRPr sz="13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3463925"/>
            <a:ext cx="735393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0" b="1">
                <a:solidFill>
                  <a:srgbClr val="151516"/>
                </a:solidFill>
                <a:latin typeface="Tahoma"/>
                <a:cs typeface="Tahoma"/>
              </a:rPr>
              <a:t>Conclusiones</a:t>
            </a:r>
            <a:r>
              <a:rPr dirty="0" sz="3350" spc="2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3350" spc="245" b="1">
                <a:solidFill>
                  <a:srgbClr val="151516"/>
                </a:solidFill>
                <a:latin typeface="Tahoma"/>
                <a:cs typeface="Tahoma"/>
              </a:rPr>
              <a:t>y</a:t>
            </a:r>
            <a:r>
              <a:rPr dirty="0" sz="3350" spc="2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3350" spc="190" b="1">
                <a:solidFill>
                  <a:srgbClr val="151516"/>
                </a:solidFill>
                <a:latin typeface="Tahoma"/>
                <a:cs typeface="Tahoma"/>
              </a:rPr>
              <a:t>Próximos</a:t>
            </a:r>
            <a:r>
              <a:rPr dirty="0" sz="3350" spc="20" b="1">
                <a:solidFill>
                  <a:srgbClr val="151516"/>
                </a:solidFill>
                <a:latin typeface="Tahoma"/>
                <a:cs typeface="Tahoma"/>
              </a:rPr>
              <a:t> </a:t>
            </a:r>
            <a:r>
              <a:rPr dirty="0" sz="3350" spc="195" b="1">
                <a:solidFill>
                  <a:srgbClr val="151516"/>
                </a:solidFill>
                <a:latin typeface="Tahoma"/>
                <a:cs typeface="Tahoma"/>
              </a:rPr>
              <a:t>Pasos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4212590"/>
            <a:ext cx="1022667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1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sensores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actuadores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son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el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núcleo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los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sistemas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IoT,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permitiendo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recopilación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de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datos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y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la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acción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autónoma.  A medida que esta tecnología evoluciona, la integración con inteligencia artificial y analítica avanzada abrirá nuevas </a:t>
            </a:r>
            <a:r>
              <a:rPr dirty="0" sz="1350" spc="-660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posibilidades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para la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automatización y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optimización de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procesos en</a:t>
            </a:r>
            <a:r>
              <a:rPr dirty="0" sz="1350" spc="-5">
                <a:solidFill>
                  <a:srgbClr val="151516"/>
                </a:solidFill>
                <a:latin typeface="SimSun"/>
                <a:cs typeface="SimSun"/>
              </a:rPr>
              <a:t> </a:t>
            </a:r>
            <a:r>
              <a:rPr dirty="0" sz="1350">
                <a:solidFill>
                  <a:srgbClr val="151516"/>
                </a:solidFill>
                <a:latin typeface="SimSun"/>
                <a:cs typeface="SimSun"/>
              </a:rPr>
              <a:t>diversos sectores.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2024-11-05T06:34:24Z</dcterms:created>
  <dcterms:modified xsi:type="dcterms:W3CDTF">2024-11-05T06:34:24Z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