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1430000" cy="7359650"/>
  <p:notesSz cx="11430000" cy="73596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FB292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7124700"/>
          </a:xfrm>
          <a:custGeom>
            <a:avLst/>
            <a:gdLst/>
            <a:ahLst/>
            <a:cxnLst/>
            <a:rect l="l" t="t" r="r" b="b"/>
            <a:pathLst>
              <a:path w="11430000" h="7124700">
                <a:moveTo>
                  <a:pt x="11430000" y="0"/>
                </a:moveTo>
                <a:lnTo>
                  <a:pt x="0" y="0"/>
                </a:lnTo>
                <a:lnTo>
                  <a:pt x="0" y="7124700"/>
                </a:lnTo>
                <a:lnTo>
                  <a:pt x="11430000" y="71247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5C233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49" cy="712444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6611874"/>
            <a:ext cx="1754504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FB292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5C233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49" cy="643864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FB292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5C23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5998" y="568325"/>
            <a:ext cx="10038003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FFB292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9870" y="1672272"/>
            <a:ext cx="5161915" cy="147828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850"/>
              </a:lnSpc>
            </a:pPr>
            <a:r>
              <a:rPr dirty="0" sz="4650" spc="200"/>
              <a:t>Intíoducción</a:t>
            </a:r>
            <a:r>
              <a:rPr dirty="0" sz="4650" spc="-120"/>
              <a:t> </a:t>
            </a:r>
            <a:r>
              <a:rPr dirty="0" sz="4650" spc="165"/>
              <a:t>a</a:t>
            </a:r>
            <a:r>
              <a:rPr dirty="0" sz="4650" spc="-120"/>
              <a:t> </a:t>
            </a:r>
            <a:r>
              <a:rPr dirty="0" sz="4650" spc="45"/>
              <a:t>los </a:t>
            </a:r>
            <a:r>
              <a:rPr dirty="0" sz="4650" spc="-1010"/>
              <a:t> </a:t>
            </a:r>
            <a:r>
              <a:rPr dirty="0" sz="4650" spc="175"/>
              <a:t>Sistemas</a:t>
            </a:r>
            <a:r>
              <a:rPr dirty="0" sz="4650" spc="-100"/>
              <a:t> </a:t>
            </a:r>
            <a:r>
              <a:rPr dirty="0" sz="4650" spc="-40"/>
              <a:t>IoT</a:t>
            </a:r>
            <a:endParaRPr sz="4650"/>
          </a:p>
        </p:txBody>
      </p:sp>
      <p:sp>
        <p:nvSpPr>
          <p:cNvPr id="3" name="object 3"/>
          <p:cNvSpPr txBox="1"/>
          <p:nvPr/>
        </p:nvSpPr>
        <p:spPr>
          <a:xfrm>
            <a:off x="549870" y="3381762"/>
            <a:ext cx="5622290" cy="1311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95"/>
              </a:spcBef>
            </a:pP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Los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sistemas </a:t>
            </a:r>
            <a:r>
              <a:rPr dirty="0" sz="1250" spc="-80">
                <a:solidFill>
                  <a:srgbClr val="F4CAB7"/>
                </a:solidFill>
                <a:latin typeface="Verdana"/>
                <a:cs typeface="Verdana"/>
              </a:rPr>
              <a:t>IoT </a:t>
            </a:r>
            <a:r>
              <a:rPr dirty="0" sz="1250" spc="-15">
                <a:solidFill>
                  <a:srgbClr val="F4CAB7"/>
                </a:solidFill>
                <a:latin typeface="Verdana"/>
                <a:cs typeface="Verdana"/>
              </a:rPr>
              <a:t>(Internet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of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Things)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revolucionan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la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forma 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en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que 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interactuamos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con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el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mundo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nuestro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alrededor.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Desde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dispositivos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domésticos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inteligentes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hasta redes industriales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complejas, estos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 sistemas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integran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manera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seamless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el </a:t>
            </a:r>
            <a:r>
              <a:rPr dirty="0" sz="1250" spc="-10">
                <a:solidFill>
                  <a:srgbClr val="F4CAB7"/>
                </a:solidFill>
                <a:latin typeface="Verdana"/>
                <a:cs typeface="Verdana"/>
              </a:rPr>
              <a:t>software,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hardware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la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conectividad,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abriendo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un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mundo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posibilidades.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9870" y="1920875"/>
            <a:ext cx="91014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45"/>
              <a:t>Consideíaciones</a:t>
            </a:r>
            <a:r>
              <a:rPr dirty="0" spc="-75"/>
              <a:t> </a:t>
            </a:r>
            <a:r>
              <a:rPr dirty="0" spc="95"/>
              <a:t>de</a:t>
            </a:r>
            <a:r>
              <a:rPr dirty="0" spc="-70"/>
              <a:t> </a:t>
            </a:r>
            <a:r>
              <a:rPr dirty="0" spc="160"/>
              <a:t>Softwaíe</a:t>
            </a:r>
            <a:r>
              <a:rPr dirty="0" spc="-70"/>
              <a:t> </a:t>
            </a:r>
            <a:r>
              <a:rPr dirty="0" spc="35"/>
              <a:t>y</a:t>
            </a:r>
            <a:r>
              <a:rPr dirty="0" spc="-70"/>
              <a:t> </a:t>
            </a:r>
            <a:r>
              <a:rPr dirty="0" spc="195"/>
              <a:t>Aíquitectuía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252" y="2981325"/>
            <a:ext cx="123825" cy="1047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9870" y="2859087"/>
            <a:ext cx="3018155" cy="145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30" b="1">
                <a:solidFill>
                  <a:srgbClr val="FFB292"/>
                </a:solidFill>
                <a:latin typeface="Cambria"/>
                <a:cs typeface="Cambria"/>
              </a:rPr>
              <a:t>Fle</a:t>
            </a:r>
            <a:r>
              <a:rPr dirty="0" sz="1650" spc="155" b="1">
                <a:solidFill>
                  <a:srgbClr val="FFB292"/>
                </a:solidFill>
                <a:latin typeface="Cambria"/>
                <a:cs typeface="Cambria"/>
              </a:rPr>
              <a:t> </a:t>
            </a:r>
            <a:r>
              <a:rPr dirty="0" sz="1650" spc="50" b="1">
                <a:solidFill>
                  <a:srgbClr val="FFB292"/>
                </a:solidFill>
                <a:latin typeface="Cambria"/>
                <a:cs typeface="Cambria"/>
              </a:rPr>
              <a:t>ibilidad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1120"/>
              </a:spcBef>
            </a:pP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140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6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30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q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 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arquitectura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software 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modular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 </a:t>
            </a:r>
            <a:r>
              <a:rPr dirty="0" sz="1250" spc="-3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escalable,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que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pueda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adaptarse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los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b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b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4578" y="2859087"/>
            <a:ext cx="3152775" cy="11963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5" b="1">
                <a:solidFill>
                  <a:srgbClr val="FFB292"/>
                </a:solidFill>
                <a:latin typeface="Cambria"/>
                <a:cs typeface="Cambria"/>
              </a:rPr>
              <a:t>Seguíidad</a:t>
            </a:r>
            <a:endParaRPr sz="1650">
              <a:latin typeface="Cambria"/>
              <a:cs typeface="Cambria"/>
            </a:endParaRPr>
          </a:p>
          <a:p>
            <a:pPr algn="just" marL="12700" marR="5080">
              <a:lnSpc>
                <a:spcPct val="135000"/>
              </a:lnSpc>
              <a:spcBef>
                <a:spcPts val="1120"/>
              </a:spcBef>
            </a:pP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ó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55">
                <a:solidFill>
                  <a:srgbClr val="F4CAB7"/>
                </a:solidFill>
                <a:latin typeface="Verdana"/>
                <a:cs typeface="Verdana"/>
              </a:rPr>
              <a:t>v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ó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n 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brechas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seguridad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son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aspectos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críticos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en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el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diseño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sistemas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IoT.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99273" y="2859087"/>
            <a:ext cx="2896870" cy="1453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 b="1">
                <a:solidFill>
                  <a:srgbClr val="FFB292"/>
                </a:solidFill>
                <a:latin typeface="Cambria"/>
                <a:cs typeface="Cambria"/>
              </a:rPr>
              <a:t>Inteíopeíabilidad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1120"/>
              </a:spcBef>
            </a:pP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La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capacidad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los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dispositivos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80">
                <a:solidFill>
                  <a:srgbClr val="F4CAB7"/>
                </a:solidFill>
                <a:latin typeface="Verdana"/>
                <a:cs typeface="Verdana"/>
              </a:rPr>
              <a:t>IoT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para 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comunicarse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 intercambiar 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datos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manera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fluida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es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fundamental.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4152265" marR="5080">
              <a:lnSpc>
                <a:spcPts val="4200"/>
              </a:lnSpc>
              <a:spcBef>
                <a:spcPts val="50"/>
              </a:spcBef>
            </a:pPr>
            <a:r>
              <a:rPr dirty="0" spc="105"/>
              <a:t>Especificaciones </a:t>
            </a:r>
            <a:r>
              <a:rPr dirty="0" spc="35"/>
              <a:t>y </a:t>
            </a:r>
            <a:r>
              <a:rPr dirty="0" spc="40"/>
              <a:t> </a:t>
            </a:r>
            <a:r>
              <a:rPr dirty="0" spc="120"/>
              <a:t>Píotocolos</a:t>
            </a:r>
            <a:r>
              <a:rPr dirty="0" spc="-80"/>
              <a:t> </a:t>
            </a:r>
            <a:r>
              <a:rPr dirty="0" spc="95"/>
              <a:t>de</a:t>
            </a:r>
            <a:r>
              <a:rPr dirty="0" spc="-80"/>
              <a:t> </a:t>
            </a:r>
            <a:r>
              <a:rPr dirty="0" spc="145"/>
              <a:t>Comunicación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905527" y="1914524"/>
            <a:ext cx="904875" cy="3924300"/>
            <a:chOff x="4905527" y="1914524"/>
            <a:chExt cx="904875" cy="3924300"/>
          </a:xfrm>
        </p:grpSpPr>
        <p:sp>
          <p:nvSpPr>
            <p:cNvPr id="5" name="object 5"/>
            <p:cNvSpPr/>
            <p:nvPr/>
          </p:nvSpPr>
          <p:spPr>
            <a:xfrm>
              <a:off x="5076825" y="1914524"/>
              <a:ext cx="734060" cy="3924300"/>
            </a:xfrm>
            <a:custGeom>
              <a:avLst/>
              <a:gdLst/>
              <a:ahLst/>
              <a:cxnLst/>
              <a:rect l="l" t="t" r="r" b="b"/>
              <a:pathLst>
                <a:path w="734060" h="3924300">
                  <a:moveTo>
                    <a:pt x="19050" y="6896"/>
                  </a:move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3914787"/>
                  </a:lnTo>
                  <a:lnTo>
                    <a:pt x="0" y="3917416"/>
                  </a:lnTo>
                  <a:lnTo>
                    <a:pt x="927" y="3919651"/>
                  </a:lnTo>
                  <a:lnTo>
                    <a:pt x="4648" y="3923373"/>
                  </a:lnTo>
                  <a:lnTo>
                    <a:pt x="6896" y="3924300"/>
                  </a:lnTo>
                  <a:lnTo>
                    <a:pt x="12153" y="3924300"/>
                  </a:lnTo>
                  <a:lnTo>
                    <a:pt x="14401" y="3923373"/>
                  </a:lnTo>
                  <a:lnTo>
                    <a:pt x="18122" y="3919651"/>
                  </a:lnTo>
                  <a:lnTo>
                    <a:pt x="19050" y="3917416"/>
                  </a:lnTo>
                  <a:lnTo>
                    <a:pt x="19050" y="6896"/>
                  </a:lnTo>
                  <a:close/>
                </a:path>
                <a:path w="734060" h="3924300">
                  <a:moveTo>
                    <a:pt x="733577" y="359321"/>
                  </a:moveTo>
                  <a:lnTo>
                    <a:pt x="732637" y="357073"/>
                  </a:lnTo>
                  <a:lnTo>
                    <a:pt x="728929" y="353352"/>
                  </a:lnTo>
                  <a:lnTo>
                    <a:pt x="726668" y="352425"/>
                  </a:lnTo>
                  <a:lnTo>
                    <a:pt x="178498" y="352425"/>
                  </a:lnTo>
                  <a:lnTo>
                    <a:pt x="176250" y="353352"/>
                  </a:lnTo>
                  <a:lnTo>
                    <a:pt x="172529" y="357073"/>
                  </a:lnTo>
                  <a:lnTo>
                    <a:pt x="171602" y="359321"/>
                  </a:lnTo>
                  <a:lnTo>
                    <a:pt x="171602" y="361950"/>
                  </a:lnTo>
                  <a:lnTo>
                    <a:pt x="171602" y="364578"/>
                  </a:lnTo>
                  <a:lnTo>
                    <a:pt x="172529" y="366826"/>
                  </a:lnTo>
                  <a:lnTo>
                    <a:pt x="176250" y="370547"/>
                  </a:lnTo>
                  <a:lnTo>
                    <a:pt x="178498" y="371475"/>
                  </a:lnTo>
                  <a:lnTo>
                    <a:pt x="726668" y="371475"/>
                  </a:lnTo>
                  <a:lnTo>
                    <a:pt x="728929" y="370547"/>
                  </a:lnTo>
                  <a:lnTo>
                    <a:pt x="732637" y="366826"/>
                  </a:lnTo>
                  <a:lnTo>
                    <a:pt x="733577" y="364578"/>
                  </a:lnTo>
                  <a:lnTo>
                    <a:pt x="733577" y="359321"/>
                  </a:lnTo>
                  <a:close/>
                </a:path>
              </a:pathLst>
            </a:custGeom>
            <a:solidFill>
              <a:srgbClr val="652E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905527" y="2095499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44512" y="0"/>
                  </a:moveTo>
                  <a:lnTo>
                    <a:pt x="17424" y="0"/>
                  </a:lnTo>
                  <a:lnTo>
                    <a:pt x="14859" y="508"/>
                  </a:lnTo>
                  <a:lnTo>
                    <a:pt x="0" y="17424"/>
                  </a:lnTo>
                  <a:lnTo>
                    <a:pt x="0" y="341858"/>
                  </a:lnTo>
                  <a:lnTo>
                    <a:pt x="0" y="344525"/>
                  </a:lnTo>
                  <a:lnTo>
                    <a:pt x="17424" y="361950"/>
                  </a:lnTo>
                  <a:lnTo>
                    <a:pt x="344512" y="361950"/>
                  </a:lnTo>
                  <a:lnTo>
                    <a:pt x="361950" y="344525"/>
                  </a:lnTo>
                  <a:lnTo>
                    <a:pt x="361950" y="17424"/>
                  </a:lnTo>
                  <a:lnTo>
                    <a:pt x="347078" y="508"/>
                  </a:lnTo>
                  <a:lnTo>
                    <a:pt x="344512" y="0"/>
                  </a:lnTo>
                  <a:close/>
                </a:path>
              </a:pathLst>
            </a:custGeom>
            <a:solidFill>
              <a:srgbClr val="4D152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012931" y="2092325"/>
            <a:ext cx="15430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75" b="1">
                <a:solidFill>
                  <a:srgbClr val="F4CAB7"/>
                </a:solidFill>
                <a:latin typeface="Cambria"/>
                <a:cs typeface="Cambria"/>
              </a:rPr>
              <a:t>1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61264" y="2049462"/>
            <a:ext cx="4265295" cy="872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" b="1">
                <a:solidFill>
                  <a:srgbClr val="F4CAB7"/>
                </a:solidFill>
                <a:latin typeface="Cambria"/>
                <a:cs typeface="Cambria"/>
              </a:rPr>
              <a:t>Conectividad</a:t>
            </a:r>
            <a:r>
              <a:rPr dirty="0" sz="1650" spc="-35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90" b="1">
                <a:solidFill>
                  <a:srgbClr val="F4CAB7"/>
                </a:solidFill>
                <a:latin typeface="Cambria"/>
                <a:cs typeface="Cambria"/>
              </a:rPr>
              <a:t>inalámbíica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85">
                <a:solidFill>
                  <a:srgbClr val="F4CAB7"/>
                </a:solidFill>
                <a:latin typeface="Verdana"/>
                <a:cs typeface="Verdana"/>
              </a:rPr>
              <a:t>g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í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65">
                <a:solidFill>
                  <a:srgbClr val="F4CAB7"/>
                </a:solidFill>
                <a:latin typeface="Verdana"/>
                <a:cs typeface="Verdana"/>
              </a:rPr>
              <a:t>W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90">
                <a:solidFill>
                  <a:srgbClr val="F4CAB7"/>
                </a:solidFill>
                <a:latin typeface="Verdana"/>
                <a:cs typeface="Verdana"/>
              </a:rPr>
              <a:t>-</a:t>
            </a:r>
            <a:r>
              <a:rPr dirty="0" sz="1250" spc="80">
                <a:solidFill>
                  <a:srgbClr val="F4CAB7"/>
                </a:solidFill>
                <a:latin typeface="Verdana"/>
                <a:cs typeface="Verdana"/>
              </a:rPr>
              <a:t>F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,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95">
                <a:solidFill>
                  <a:srgbClr val="F4CAB7"/>
                </a:solidFill>
                <a:latin typeface="Verdana"/>
                <a:cs typeface="Verdana"/>
              </a:rPr>
              <a:t>B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oo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h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15">
                <a:solidFill>
                  <a:srgbClr val="F4CAB7"/>
                </a:solidFill>
                <a:latin typeface="Verdana"/>
                <a:cs typeface="Verdana"/>
              </a:rPr>
              <a:t>s  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permiten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comunicación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entre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dispositivos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IoT.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905527" y="3457575"/>
            <a:ext cx="904875" cy="361950"/>
            <a:chOff x="4905527" y="3457575"/>
            <a:chExt cx="904875" cy="361950"/>
          </a:xfrm>
        </p:grpSpPr>
        <p:sp>
          <p:nvSpPr>
            <p:cNvPr id="10" name="object 10"/>
            <p:cNvSpPr/>
            <p:nvPr/>
          </p:nvSpPr>
          <p:spPr>
            <a:xfrm>
              <a:off x="5248427" y="3629025"/>
              <a:ext cx="561975" cy="19050"/>
            </a:xfrm>
            <a:custGeom>
              <a:avLst/>
              <a:gdLst/>
              <a:ahLst/>
              <a:cxnLst/>
              <a:rect l="l" t="t" r="r" b="b"/>
              <a:pathLst>
                <a:path w="561975" h="19050">
                  <a:moveTo>
                    <a:pt x="55507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55078" y="19050"/>
                  </a:lnTo>
                  <a:lnTo>
                    <a:pt x="557326" y="18122"/>
                  </a:lnTo>
                  <a:lnTo>
                    <a:pt x="561035" y="14401"/>
                  </a:lnTo>
                  <a:lnTo>
                    <a:pt x="561975" y="12153"/>
                  </a:lnTo>
                  <a:lnTo>
                    <a:pt x="561975" y="6896"/>
                  </a:lnTo>
                  <a:lnTo>
                    <a:pt x="561035" y="4648"/>
                  </a:lnTo>
                  <a:lnTo>
                    <a:pt x="557326" y="927"/>
                  </a:lnTo>
                  <a:lnTo>
                    <a:pt x="555078" y="0"/>
                  </a:lnTo>
                  <a:close/>
                </a:path>
              </a:pathLst>
            </a:custGeom>
            <a:solidFill>
              <a:srgbClr val="652E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905527" y="3457575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44512" y="0"/>
                  </a:moveTo>
                  <a:lnTo>
                    <a:pt x="17424" y="0"/>
                  </a:lnTo>
                  <a:lnTo>
                    <a:pt x="14859" y="508"/>
                  </a:lnTo>
                  <a:lnTo>
                    <a:pt x="0" y="17424"/>
                  </a:lnTo>
                  <a:lnTo>
                    <a:pt x="0" y="341858"/>
                  </a:lnTo>
                  <a:lnTo>
                    <a:pt x="0" y="344525"/>
                  </a:lnTo>
                  <a:lnTo>
                    <a:pt x="17424" y="361950"/>
                  </a:lnTo>
                  <a:lnTo>
                    <a:pt x="344512" y="361950"/>
                  </a:lnTo>
                  <a:lnTo>
                    <a:pt x="361950" y="344525"/>
                  </a:lnTo>
                  <a:lnTo>
                    <a:pt x="361950" y="17424"/>
                  </a:lnTo>
                  <a:lnTo>
                    <a:pt x="347078" y="508"/>
                  </a:lnTo>
                  <a:lnTo>
                    <a:pt x="344512" y="0"/>
                  </a:lnTo>
                  <a:close/>
                </a:path>
              </a:pathLst>
            </a:custGeom>
            <a:solidFill>
              <a:srgbClr val="4D152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003850" y="3444875"/>
            <a:ext cx="17208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5" b="1">
                <a:solidFill>
                  <a:srgbClr val="F4CAB7"/>
                </a:solidFill>
                <a:latin typeface="Cambria"/>
                <a:cs typeface="Cambria"/>
              </a:rPr>
              <a:t>2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61261" y="3411537"/>
            <a:ext cx="3971290" cy="872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" b="1">
                <a:solidFill>
                  <a:srgbClr val="F4CAB7"/>
                </a:solidFill>
                <a:latin typeface="Cambria"/>
                <a:cs typeface="Cambria"/>
              </a:rPr>
              <a:t>Píotocolos</a:t>
            </a:r>
            <a:r>
              <a:rPr dirty="0" sz="1650" spc="-45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60" b="1">
                <a:solidFill>
                  <a:srgbClr val="F4CAB7"/>
                </a:solidFill>
                <a:latin typeface="Cambria"/>
                <a:cs typeface="Cambria"/>
              </a:rPr>
              <a:t>de</a:t>
            </a:r>
            <a:r>
              <a:rPr dirty="0" sz="1650" spc="-45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65" b="1">
                <a:solidFill>
                  <a:srgbClr val="F4CAB7"/>
                </a:solidFill>
                <a:latin typeface="Cambria"/>
                <a:cs typeface="Cambria"/>
              </a:rPr>
              <a:t>Aplicación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Estándares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como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5">
                <a:solidFill>
                  <a:srgbClr val="F4CAB7"/>
                </a:solidFill>
                <a:latin typeface="Verdana"/>
                <a:cs typeface="Verdana"/>
              </a:rPr>
              <a:t>HTTP,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MQTT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CoAP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facilitan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el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intercambio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datos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en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tiempo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40">
                <a:solidFill>
                  <a:srgbClr val="F4CAB7"/>
                </a:solidFill>
                <a:latin typeface="Verdana"/>
                <a:cs typeface="Verdana"/>
              </a:rPr>
              <a:t>real.</a:t>
            </a:r>
            <a:endParaRPr sz="125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905527" y="4819650"/>
            <a:ext cx="904875" cy="361950"/>
            <a:chOff x="4905527" y="4819650"/>
            <a:chExt cx="904875" cy="361950"/>
          </a:xfrm>
        </p:grpSpPr>
        <p:sp>
          <p:nvSpPr>
            <p:cNvPr id="15" name="object 15"/>
            <p:cNvSpPr/>
            <p:nvPr/>
          </p:nvSpPr>
          <p:spPr>
            <a:xfrm>
              <a:off x="5248427" y="4991100"/>
              <a:ext cx="561975" cy="19050"/>
            </a:xfrm>
            <a:custGeom>
              <a:avLst/>
              <a:gdLst/>
              <a:ahLst/>
              <a:cxnLst/>
              <a:rect l="l" t="t" r="r" b="b"/>
              <a:pathLst>
                <a:path w="561975" h="19050">
                  <a:moveTo>
                    <a:pt x="55507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55078" y="19050"/>
                  </a:lnTo>
                  <a:lnTo>
                    <a:pt x="557326" y="18122"/>
                  </a:lnTo>
                  <a:lnTo>
                    <a:pt x="561035" y="14401"/>
                  </a:lnTo>
                  <a:lnTo>
                    <a:pt x="561975" y="12153"/>
                  </a:lnTo>
                  <a:lnTo>
                    <a:pt x="561975" y="6896"/>
                  </a:lnTo>
                  <a:lnTo>
                    <a:pt x="561035" y="4648"/>
                  </a:lnTo>
                  <a:lnTo>
                    <a:pt x="557326" y="927"/>
                  </a:lnTo>
                  <a:lnTo>
                    <a:pt x="555078" y="0"/>
                  </a:lnTo>
                  <a:close/>
                </a:path>
              </a:pathLst>
            </a:custGeom>
            <a:solidFill>
              <a:srgbClr val="652E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905527" y="4819650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361950" h="361950">
                  <a:moveTo>
                    <a:pt x="344512" y="0"/>
                  </a:moveTo>
                  <a:lnTo>
                    <a:pt x="17424" y="0"/>
                  </a:lnTo>
                  <a:lnTo>
                    <a:pt x="14859" y="508"/>
                  </a:lnTo>
                  <a:lnTo>
                    <a:pt x="0" y="17424"/>
                  </a:lnTo>
                  <a:lnTo>
                    <a:pt x="0" y="341858"/>
                  </a:lnTo>
                  <a:lnTo>
                    <a:pt x="0" y="344525"/>
                  </a:lnTo>
                  <a:lnTo>
                    <a:pt x="17424" y="361951"/>
                  </a:lnTo>
                  <a:lnTo>
                    <a:pt x="344512" y="361951"/>
                  </a:lnTo>
                  <a:lnTo>
                    <a:pt x="361950" y="344525"/>
                  </a:lnTo>
                  <a:lnTo>
                    <a:pt x="361950" y="17424"/>
                  </a:lnTo>
                  <a:lnTo>
                    <a:pt x="347078" y="508"/>
                  </a:lnTo>
                  <a:lnTo>
                    <a:pt x="344512" y="0"/>
                  </a:lnTo>
                  <a:close/>
                </a:path>
              </a:pathLst>
            </a:custGeom>
            <a:solidFill>
              <a:srgbClr val="4D152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998643" y="4806950"/>
            <a:ext cx="18288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50" b="1">
                <a:solidFill>
                  <a:srgbClr val="F4CAB7"/>
                </a:solidFill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61264" y="4773612"/>
            <a:ext cx="4287520" cy="872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5" b="1">
                <a:solidFill>
                  <a:srgbClr val="F4CAB7"/>
                </a:solidFill>
                <a:latin typeface="Cambria"/>
                <a:cs typeface="Cambria"/>
              </a:rPr>
              <a:t>Gestión</a:t>
            </a:r>
            <a:r>
              <a:rPr dirty="0" sz="1650" spc="-55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60" b="1">
                <a:solidFill>
                  <a:srgbClr val="F4CAB7"/>
                </a:solidFill>
                <a:latin typeface="Cambria"/>
                <a:cs typeface="Cambria"/>
              </a:rPr>
              <a:t>de</a:t>
            </a:r>
            <a:r>
              <a:rPr dirty="0" sz="1650" spc="-50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75" b="1">
                <a:solidFill>
                  <a:srgbClr val="F4CAB7"/>
                </a:solidFill>
                <a:latin typeface="Cambria"/>
                <a:cs typeface="Cambria"/>
              </a:rPr>
              <a:t>Datos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Protocolos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como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10">
                <a:solidFill>
                  <a:srgbClr val="F4CAB7"/>
                </a:solidFill>
                <a:latin typeface="Verdana"/>
                <a:cs typeface="Verdana"/>
              </a:rPr>
              <a:t>AMQP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DDS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garantizan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entrega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confiable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datos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entre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los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componentes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IoT.</a:t>
            </a:r>
            <a:endParaRPr sz="1250">
              <a:latin typeface="Verdana"/>
              <a:cs typeface="Verdan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9870" y="415925"/>
            <a:ext cx="3484879" cy="16065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algn="just" marL="12700" marR="5080">
              <a:lnSpc>
                <a:spcPts val="4200"/>
              </a:lnSpc>
              <a:spcBef>
                <a:spcPts val="50"/>
              </a:spcBef>
            </a:pPr>
            <a:r>
              <a:rPr dirty="0" spc="155"/>
              <a:t>Ceítificaciones</a:t>
            </a:r>
            <a:r>
              <a:rPr dirty="0" spc="-150"/>
              <a:t> </a:t>
            </a:r>
            <a:r>
              <a:rPr dirty="0" spc="35"/>
              <a:t>y </a:t>
            </a:r>
            <a:r>
              <a:rPr dirty="0" spc="-725"/>
              <a:t> </a:t>
            </a:r>
            <a:r>
              <a:rPr dirty="0" spc="135"/>
              <a:t>Requeíimientos </a:t>
            </a:r>
            <a:r>
              <a:rPr dirty="0" spc="140"/>
              <a:t> </a:t>
            </a:r>
            <a:r>
              <a:rPr dirty="0" spc="130"/>
              <a:t>Regulatoíios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1975" y="2295524"/>
            <a:ext cx="2933700" cy="1981200"/>
            <a:chOff x="561975" y="2295524"/>
            <a:chExt cx="2933700" cy="1981200"/>
          </a:xfrm>
        </p:grpSpPr>
        <p:sp>
          <p:nvSpPr>
            <p:cNvPr id="4" name="object 4"/>
            <p:cNvSpPr/>
            <p:nvPr/>
          </p:nvSpPr>
          <p:spPr>
            <a:xfrm>
              <a:off x="561975" y="2295524"/>
              <a:ext cx="2933700" cy="1981200"/>
            </a:xfrm>
            <a:custGeom>
              <a:avLst/>
              <a:gdLst/>
              <a:ahLst/>
              <a:cxnLst/>
              <a:rect l="l" t="t" r="r" b="b"/>
              <a:pathLst>
                <a:path w="2933700" h="1981200">
                  <a:moveTo>
                    <a:pt x="2916275" y="0"/>
                  </a:moveTo>
                  <a:lnTo>
                    <a:pt x="17428" y="0"/>
                  </a:lnTo>
                  <a:lnTo>
                    <a:pt x="14862" y="508"/>
                  </a:lnTo>
                  <a:lnTo>
                    <a:pt x="0" y="17424"/>
                  </a:lnTo>
                  <a:lnTo>
                    <a:pt x="0" y="1961108"/>
                  </a:lnTo>
                  <a:lnTo>
                    <a:pt x="0" y="1963775"/>
                  </a:lnTo>
                  <a:lnTo>
                    <a:pt x="17428" y="1981200"/>
                  </a:lnTo>
                  <a:lnTo>
                    <a:pt x="2916275" y="1981200"/>
                  </a:lnTo>
                  <a:lnTo>
                    <a:pt x="2933700" y="1963775"/>
                  </a:lnTo>
                  <a:lnTo>
                    <a:pt x="2933700" y="17424"/>
                  </a:lnTo>
                  <a:lnTo>
                    <a:pt x="2918841" y="508"/>
                  </a:lnTo>
                  <a:lnTo>
                    <a:pt x="2916275" y="0"/>
                  </a:lnTo>
                  <a:close/>
                </a:path>
              </a:pathLst>
            </a:custGeom>
            <a:solidFill>
              <a:srgbClr val="4D15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654" y="2511424"/>
              <a:ext cx="146050" cy="14605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10604" y="2430462"/>
            <a:ext cx="2585085" cy="1653539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1068070" indent="155575">
              <a:lnSpc>
                <a:spcPct val="106100"/>
              </a:lnSpc>
              <a:spcBef>
                <a:spcPts val="15"/>
              </a:spcBef>
            </a:pPr>
            <a:r>
              <a:rPr dirty="0" sz="1650" spc="225" b="1">
                <a:solidFill>
                  <a:srgbClr val="F4CAB7"/>
                </a:solidFill>
                <a:latin typeface="Cambria"/>
                <a:cs typeface="Cambria"/>
              </a:rPr>
              <a:t>o</a:t>
            </a:r>
            <a:r>
              <a:rPr dirty="0" sz="1650" spc="105" b="1">
                <a:solidFill>
                  <a:srgbClr val="F4CAB7"/>
                </a:solidFill>
                <a:latin typeface="Cambria"/>
                <a:cs typeface="Cambria"/>
              </a:rPr>
              <a:t>í</a:t>
            </a:r>
            <a:r>
              <a:rPr dirty="0" sz="1650" spc="100" b="1">
                <a:solidFill>
                  <a:srgbClr val="F4CAB7"/>
                </a:solidFill>
                <a:latin typeface="Cambria"/>
                <a:cs typeface="Cambria"/>
              </a:rPr>
              <a:t>mat</a:t>
            </a:r>
            <a:r>
              <a:rPr dirty="0" sz="1650" spc="15" b="1">
                <a:solidFill>
                  <a:srgbClr val="F4CAB7"/>
                </a:solidFill>
                <a:latin typeface="Cambria"/>
                <a:cs typeface="Cambria"/>
              </a:rPr>
              <a:t>i</a:t>
            </a:r>
            <a:r>
              <a:rPr dirty="0" sz="1650" spc="-5" b="1">
                <a:solidFill>
                  <a:srgbClr val="F4CAB7"/>
                </a:solidFill>
                <a:latin typeface="Cambria"/>
                <a:cs typeface="Cambria"/>
              </a:rPr>
              <a:t>v</a:t>
            </a:r>
            <a:r>
              <a:rPr dirty="0" sz="1650" spc="60" b="1">
                <a:solidFill>
                  <a:srgbClr val="F4CAB7"/>
                </a:solidFill>
                <a:latin typeface="Cambria"/>
                <a:cs typeface="Cambria"/>
              </a:rPr>
              <a:t>as</a:t>
            </a:r>
            <a:r>
              <a:rPr dirty="0" sz="1650" spc="-30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40" b="1">
                <a:solidFill>
                  <a:srgbClr val="F4CAB7"/>
                </a:solidFill>
                <a:latin typeface="Cambria"/>
                <a:cs typeface="Cambria"/>
              </a:rPr>
              <a:t>de  </a:t>
            </a:r>
            <a:r>
              <a:rPr dirty="0" sz="1650" spc="105" b="1">
                <a:solidFill>
                  <a:srgbClr val="F4CAB7"/>
                </a:solidFill>
                <a:latin typeface="Cambria"/>
                <a:cs typeface="Cambria"/>
              </a:rPr>
              <a:t>Seguíidad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55">
                <a:solidFill>
                  <a:srgbClr val="F4CAB7"/>
                </a:solidFill>
                <a:latin typeface="Verdana"/>
                <a:cs typeface="Verdana"/>
              </a:rPr>
              <a:t>v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140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6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30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b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n  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cumplir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con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regulaciones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 </a:t>
            </a:r>
            <a:r>
              <a:rPr dirty="0" sz="1250" spc="-3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estándares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seguridad,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como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140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6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2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4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4</a:t>
            </a:r>
            <a:r>
              <a:rPr dirty="0" sz="1250" spc="-75">
                <a:solidFill>
                  <a:srgbClr val="F4CAB7"/>
                </a:solidFill>
                <a:latin typeface="Verdana"/>
                <a:cs typeface="Verdana"/>
              </a:rPr>
              <a:t>3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8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40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8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30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7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15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8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0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0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-</a:t>
            </a:r>
            <a:r>
              <a:rPr dirty="0" sz="1250" spc="-335">
                <a:solidFill>
                  <a:srgbClr val="F4CAB7"/>
                </a:solidFill>
                <a:latin typeface="Verdana"/>
                <a:cs typeface="Verdana"/>
              </a:rPr>
              <a:t>1</a:t>
            </a:r>
            <a:r>
              <a:rPr dirty="0" sz="1250" spc="-30">
                <a:solidFill>
                  <a:srgbClr val="F4CAB7"/>
                </a:solidFill>
                <a:latin typeface="Verdana"/>
                <a:cs typeface="Verdana"/>
              </a:rPr>
              <a:t>7</a:t>
            </a:r>
            <a:r>
              <a:rPr dirty="0" sz="1250" spc="-335">
                <a:solidFill>
                  <a:srgbClr val="F4CAB7"/>
                </a:solidFill>
                <a:latin typeface="Verdana"/>
                <a:cs typeface="Verdana"/>
              </a:rPr>
              <a:t>1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48075" y="2295524"/>
            <a:ext cx="2933700" cy="1981200"/>
          </a:xfrm>
          <a:custGeom>
            <a:avLst/>
            <a:gdLst/>
            <a:ahLst/>
            <a:cxnLst/>
            <a:rect l="l" t="t" r="r" b="b"/>
            <a:pathLst>
              <a:path w="2933700" h="1981200">
                <a:moveTo>
                  <a:pt x="2916275" y="0"/>
                </a:moveTo>
                <a:lnTo>
                  <a:pt x="17424" y="0"/>
                </a:lnTo>
                <a:lnTo>
                  <a:pt x="14859" y="508"/>
                </a:lnTo>
                <a:lnTo>
                  <a:pt x="0" y="17424"/>
                </a:lnTo>
                <a:lnTo>
                  <a:pt x="0" y="1961108"/>
                </a:lnTo>
                <a:lnTo>
                  <a:pt x="0" y="1963775"/>
                </a:lnTo>
                <a:lnTo>
                  <a:pt x="17424" y="1981200"/>
                </a:lnTo>
                <a:lnTo>
                  <a:pt x="2916275" y="1981200"/>
                </a:lnTo>
                <a:lnTo>
                  <a:pt x="2933700" y="1963775"/>
                </a:lnTo>
                <a:lnTo>
                  <a:pt x="2933700" y="17424"/>
                </a:lnTo>
                <a:lnTo>
                  <a:pt x="2918828" y="508"/>
                </a:lnTo>
                <a:lnTo>
                  <a:pt x="2916275" y="0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800271" y="2430462"/>
            <a:ext cx="2489200" cy="1653539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601345">
              <a:lnSpc>
                <a:spcPct val="106100"/>
              </a:lnSpc>
              <a:spcBef>
                <a:spcPts val="15"/>
              </a:spcBef>
            </a:pPr>
            <a:r>
              <a:rPr dirty="0" sz="1650" spc="85" b="1">
                <a:solidFill>
                  <a:srgbClr val="F4CAB7"/>
                </a:solidFill>
                <a:latin typeface="Cambria"/>
                <a:cs typeface="Cambria"/>
              </a:rPr>
              <a:t>Ceítificaciones</a:t>
            </a:r>
            <a:r>
              <a:rPr dirty="0" sz="1650" spc="-65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60" b="1">
                <a:solidFill>
                  <a:srgbClr val="F4CAB7"/>
                </a:solidFill>
                <a:latin typeface="Cambria"/>
                <a:cs typeface="Cambria"/>
              </a:rPr>
              <a:t>de </a:t>
            </a:r>
            <a:r>
              <a:rPr dirty="0" sz="1650" spc="-350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80" b="1">
                <a:solidFill>
                  <a:srgbClr val="F4CAB7"/>
                </a:solidFill>
                <a:latin typeface="Cambria"/>
                <a:cs typeface="Cambria"/>
              </a:rPr>
              <a:t>Calidad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-7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ll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,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F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8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L 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garantizan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que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los 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productos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140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6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30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q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5">
                <a:solidFill>
                  <a:srgbClr val="F4CAB7"/>
                </a:solidFill>
                <a:latin typeface="Verdana"/>
                <a:cs typeface="Verdana"/>
              </a:rPr>
              <a:t>s 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li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80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1975" y="4438650"/>
            <a:ext cx="2933700" cy="2238375"/>
          </a:xfrm>
          <a:custGeom>
            <a:avLst/>
            <a:gdLst/>
            <a:ahLst/>
            <a:cxnLst/>
            <a:rect l="l" t="t" r="r" b="b"/>
            <a:pathLst>
              <a:path w="2933700" h="2238375">
                <a:moveTo>
                  <a:pt x="2916275" y="0"/>
                </a:moveTo>
                <a:lnTo>
                  <a:pt x="17428" y="0"/>
                </a:lnTo>
                <a:lnTo>
                  <a:pt x="14862" y="508"/>
                </a:lnTo>
                <a:lnTo>
                  <a:pt x="0" y="17424"/>
                </a:lnTo>
                <a:lnTo>
                  <a:pt x="0" y="2218283"/>
                </a:lnTo>
                <a:lnTo>
                  <a:pt x="0" y="2220948"/>
                </a:lnTo>
                <a:lnTo>
                  <a:pt x="17428" y="2238376"/>
                </a:lnTo>
                <a:lnTo>
                  <a:pt x="2916275" y="2238376"/>
                </a:lnTo>
                <a:lnTo>
                  <a:pt x="2933700" y="2220948"/>
                </a:lnTo>
                <a:lnTo>
                  <a:pt x="2933700" y="17424"/>
                </a:lnTo>
                <a:lnTo>
                  <a:pt x="2918841" y="508"/>
                </a:lnTo>
                <a:lnTo>
                  <a:pt x="2916275" y="0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10604" y="4573587"/>
            <a:ext cx="2414905" cy="1910714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53720">
              <a:lnSpc>
                <a:spcPct val="106100"/>
              </a:lnSpc>
              <a:spcBef>
                <a:spcPts val="15"/>
              </a:spcBef>
            </a:pPr>
            <a:r>
              <a:rPr dirty="0" sz="1650" spc="75" b="1">
                <a:solidFill>
                  <a:srgbClr val="F4CAB7"/>
                </a:solidFill>
                <a:latin typeface="Cambria"/>
                <a:cs typeface="Cambria"/>
              </a:rPr>
              <a:t>Compatibilidad </a:t>
            </a:r>
            <a:r>
              <a:rPr dirty="0" sz="1650" spc="80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114" b="1">
                <a:solidFill>
                  <a:srgbClr val="F4CAB7"/>
                </a:solidFill>
                <a:latin typeface="Cambria"/>
                <a:cs typeface="Cambria"/>
              </a:rPr>
              <a:t>Elect</a:t>
            </a:r>
            <a:r>
              <a:rPr dirty="0" sz="1650" spc="45" b="1">
                <a:solidFill>
                  <a:srgbClr val="F4CAB7"/>
                </a:solidFill>
                <a:latin typeface="Cambria"/>
                <a:cs typeface="Cambria"/>
              </a:rPr>
              <a:t>í</a:t>
            </a:r>
            <a:r>
              <a:rPr dirty="0" sz="1650" spc="80" b="1">
                <a:solidFill>
                  <a:srgbClr val="F4CAB7"/>
                </a:solidFill>
                <a:latin typeface="Cambria"/>
                <a:cs typeface="Cambria"/>
              </a:rPr>
              <a:t>omagnética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Las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certificaciones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 </a:t>
            </a:r>
            <a:r>
              <a:rPr dirty="0" sz="1250" spc="80">
                <a:solidFill>
                  <a:srgbClr val="F4CAB7"/>
                </a:solidFill>
                <a:latin typeface="Verdana"/>
                <a:cs typeface="Verdana"/>
              </a:rPr>
              <a:t>EMC </a:t>
            </a:r>
            <a:r>
              <a:rPr dirty="0" sz="1250" spc="8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(Compatibilidad 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114">
                <a:solidFill>
                  <a:srgbClr val="F4CAB7"/>
                </a:solidFill>
                <a:latin typeface="Verdana"/>
                <a:cs typeface="Verdana"/>
              </a:rPr>
              <a:t>m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85">
                <a:solidFill>
                  <a:srgbClr val="F4CAB7"/>
                </a:solidFill>
                <a:latin typeface="Verdana"/>
                <a:cs typeface="Verdana"/>
              </a:rPr>
              <a:t>g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é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40">
                <a:solidFill>
                  <a:srgbClr val="F4CAB7"/>
                </a:solidFill>
                <a:latin typeface="Verdana"/>
                <a:cs typeface="Verdana"/>
              </a:rPr>
              <a:t>)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85">
                <a:solidFill>
                  <a:srgbClr val="F4CAB7"/>
                </a:solidFill>
                <a:latin typeface="Verdana"/>
                <a:cs typeface="Verdana"/>
              </a:rPr>
              <a:t>g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-7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n 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q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55">
                <a:solidFill>
                  <a:srgbClr val="F4CAB7"/>
                </a:solidFill>
                <a:latin typeface="Verdana"/>
                <a:cs typeface="Verdana"/>
              </a:rPr>
              <a:t>v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140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-6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30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o 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f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q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u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48075" y="4438650"/>
            <a:ext cx="2933700" cy="2238375"/>
          </a:xfrm>
          <a:custGeom>
            <a:avLst/>
            <a:gdLst/>
            <a:ahLst/>
            <a:cxnLst/>
            <a:rect l="l" t="t" r="r" b="b"/>
            <a:pathLst>
              <a:path w="2933700" h="2238375">
                <a:moveTo>
                  <a:pt x="2916275" y="0"/>
                </a:moveTo>
                <a:lnTo>
                  <a:pt x="17424" y="0"/>
                </a:lnTo>
                <a:lnTo>
                  <a:pt x="14859" y="508"/>
                </a:lnTo>
                <a:lnTo>
                  <a:pt x="0" y="17424"/>
                </a:lnTo>
                <a:lnTo>
                  <a:pt x="0" y="2218283"/>
                </a:lnTo>
                <a:lnTo>
                  <a:pt x="0" y="2220948"/>
                </a:lnTo>
                <a:lnTo>
                  <a:pt x="17424" y="2238376"/>
                </a:lnTo>
                <a:lnTo>
                  <a:pt x="2916275" y="2238376"/>
                </a:lnTo>
                <a:lnTo>
                  <a:pt x="2933700" y="2220948"/>
                </a:lnTo>
                <a:lnTo>
                  <a:pt x="2933700" y="17424"/>
                </a:lnTo>
                <a:lnTo>
                  <a:pt x="2918828" y="508"/>
                </a:lnTo>
                <a:lnTo>
                  <a:pt x="2916275" y="0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800271" y="4573587"/>
            <a:ext cx="2369820" cy="13868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5" b="1">
                <a:solidFill>
                  <a:srgbClr val="F4CAB7"/>
                </a:solidFill>
                <a:latin typeface="Cambria"/>
                <a:cs typeface="Cambria"/>
              </a:rPr>
              <a:t>Píivacidad</a:t>
            </a:r>
            <a:r>
              <a:rPr dirty="0" sz="1650" spc="-50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60" b="1">
                <a:solidFill>
                  <a:srgbClr val="F4CAB7"/>
                </a:solidFill>
                <a:latin typeface="Cambria"/>
                <a:cs typeface="Cambria"/>
              </a:rPr>
              <a:t>de</a:t>
            </a:r>
            <a:r>
              <a:rPr dirty="0" sz="1650" spc="-50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75" b="1">
                <a:solidFill>
                  <a:srgbClr val="F4CAB7"/>
                </a:solidFill>
                <a:latin typeface="Cambria"/>
                <a:cs typeface="Cambria"/>
              </a:rPr>
              <a:t>Datos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El 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cumplimiento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regulaciones 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como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el </a:t>
            </a:r>
            <a:r>
              <a:rPr dirty="0" sz="1250" spc="65">
                <a:solidFill>
                  <a:srgbClr val="F4CAB7"/>
                </a:solidFill>
                <a:latin typeface="Verdana"/>
                <a:cs typeface="Verdana"/>
              </a:rPr>
              <a:t>RGPD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(Reglamento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General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30">
                <a:solidFill>
                  <a:srgbClr val="F4CAB7"/>
                </a:solidFill>
                <a:latin typeface="Verdana"/>
                <a:cs typeface="Verdana"/>
              </a:rPr>
              <a:t>P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r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60">
                <a:solidFill>
                  <a:srgbClr val="F4CAB7"/>
                </a:solidFill>
                <a:latin typeface="Verdana"/>
                <a:cs typeface="Verdana"/>
              </a:rPr>
              <a:t>c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ó</a:t>
            </a:r>
            <a:r>
              <a:rPr dirty="0" sz="1250" spc="70">
                <a:solidFill>
                  <a:srgbClr val="F4CAB7"/>
                </a:solidFill>
                <a:latin typeface="Verdana"/>
                <a:cs typeface="Verdana"/>
              </a:rPr>
              <a:t>n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75">
                <a:solidFill>
                  <a:srgbClr val="F4CAB7"/>
                </a:solidFill>
                <a:latin typeface="Verdana"/>
                <a:cs typeface="Verdana"/>
              </a:rPr>
              <a:t>D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o</a:t>
            </a:r>
            <a:r>
              <a:rPr dirty="0" sz="1250" spc="-25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40">
                <a:solidFill>
                  <a:srgbClr val="F4CAB7"/>
                </a:solidFill>
                <a:latin typeface="Verdana"/>
                <a:cs typeface="Verdana"/>
              </a:rPr>
              <a:t>)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40">
                <a:solidFill>
                  <a:srgbClr val="F4CAB7"/>
                </a:solidFill>
                <a:latin typeface="Verdana"/>
                <a:cs typeface="Verdana"/>
              </a:rPr>
              <a:t>v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i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</a:t>
            </a:r>
            <a:r>
              <a:rPr dirty="0" sz="1250" spc="-170">
                <a:solidFill>
                  <a:srgbClr val="F4CAB7"/>
                </a:solidFill>
                <a:latin typeface="Verdana"/>
                <a:cs typeface="Verdana"/>
              </a:rPr>
              <a:t>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353300"/>
          </a:xfrm>
          <a:custGeom>
            <a:avLst/>
            <a:gdLst/>
            <a:ahLst/>
            <a:cxnLst/>
            <a:rect l="l" t="t" r="r" b="b"/>
            <a:pathLst>
              <a:path w="11430000" h="7353300">
                <a:moveTo>
                  <a:pt x="11430000" y="0"/>
                </a:moveTo>
                <a:lnTo>
                  <a:pt x="0" y="0"/>
                </a:lnTo>
                <a:lnTo>
                  <a:pt x="0" y="7353300"/>
                </a:lnTo>
                <a:lnTo>
                  <a:pt x="11430000" y="73533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5C233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253"/>
            <a:ext cx="4286250" cy="7353300"/>
            <a:chOff x="7143750" y="253"/>
            <a:chExt cx="4286250" cy="7353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735304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6840474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49870" y="415925"/>
            <a:ext cx="541464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95"/>
              <a:t>Diseño de </a:t>
            </a:r>
            <a:r>
              <a:rPr dirty="0" spc="120"/>
              <a:t>Píoyecto </a:t>
            </a:r>
            <a:r>
              <a:rPr dirty="0" spc="-140"/>
              <a:t>IoT: </a:t>
            </a:r>
            <a:r>
              <a:rPr dirty="0" spc="-135"/>
              <a:t> </a:t>
            </a:r>
            <a:r>
              <a:rPr dirty="0" spc="95"/>
              <a:t>Puntos</a:t>
            </a:r>
            <a:r>
              <a:rPr dirty="0" spc="-80"/>
              <a:t> </a:t>
            </a:r>
            <a:r>
              <a:rPr dirty="0" spc="95"/>
              <a:t>Clave</a:t>
            </a:r>
            <a:r>
              <a:rPr dirty="0" spc="-80"/>
              <a:t> </a:t>
            </a:r>
            <a:r>
              <a:rPr dirty="0" spc="130"/>
              <a:t>a</a:t>
            </a:r>
            <a:r>
              <a:rPr dirty="0" spc="-75"/>
              <a:t> </a:t>
            </a:r>
            <a:r>
              <a:rPr dirty="0" spc="220"/>
              <a:t>Consideíaí</a:t>
            </a:r>
          </a:p>
        </p:txBody>
      </p:sp>
      <p:sp>
        <p:nvSpPr>
          <p:cNvPr id="7" name="object 7"/>
          <p:cNvSpPr/>
          <p:nvPr/>
        </p:nvSpPr>
        <p:spPr>
          <a:xfrm>
            <a:off x="561975" y="1762124"/>
            <a:ext cx="803910" cy="1285875"/>
          </a:xfrm>
          <a:custGeom>
            <a:avLst/>
            <a:gdLst/>
            <a:ahLst/>
            <a:cxnLst/>
            <a:rect l="l" t="t" r="r" b="b"/>
            <a:pathLst>
              <a:path w="803910" h="1285875">
                <a:moveTo>
                  <a:pt x="803668" y="0"/>
                </a:moveTo>
                <a:lnTo>
                  <a:pt x="401835" y="160731"/>
                </a:lnTo>
                <a:lnTo>
                  <a:pt x="0" y="0"/>
                </a:lnTo>
                <a:lnTo>
                  <a:pt x="0" y="1125143"/>
                </a:lnTo>
                <a:lnTo>
                  <a:pt x="401835" y="1285875"/>
                </a:lnTo>
                <a:lnTo>
                  <a:pt x="803668" y="1125143"/>
                </a:lnTo>
                <a:lnTo>
                  <a:pt x="803668" y="0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91430" y="2232247"/>
            <a:ext cx="14605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80" b="1">
                <a:solidFill>
                  <a:srgbClr val="F4CAB7"/>
                </a:solidFill>
                <a:latin typeface="Cambria"/>
                <a:cs typeface="Cambria"/>
              </a:rPr>
              <a:t>1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94643" y="1897062"/>
            <a:ext cx="4391025" cy="872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65" b="1">
                <a:solidFill>
                  <a:srgbClr val="F4CAB7"/>
                </a:solidFill>
                <a:latin typeface="Cambria"/>
                <a:cs typeface="Cambria"/>
              </a:rPr>
              <a:t>Definición</a:t>
            </a:r>
            <a:r>
              <a:rPr dirty="0" sz="1650" spc="-50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60" b="1">
                <a:solidFill>
                  <a:srgbClr val="F4CAB7"/>
                </a:solidFill>
                <a:latin typeface="Cambria"/>
                <a:cs typeface="Cambria"/>
              </a:rPr>
              <a:t>de</a:t>
            </a:r>
            <a:r>
              <a:rPr dirty="0" sz="1650" spc="-45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55" b="1">
                <a:solidFill>
                  <a:srgbClr val="F4CAB7"/>
                </a:solidFill>
                <a:latin typeface="Cambria"/>
                <a:cs typeface="Cambria"/>
              </a:rPr>
              <a:t>Requisitos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Identificar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claramente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los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15">
                <a:solidFill>
                  <a:srgbClr val="F4CAB7"/>
                </a:solidFill>
                <a:latin typeface="Verdana"/>
                <a:cs typeface="Verdana"/>
              </a:rPr>
              <a:t>objetivos,</a:t>
            </a:r>
            <a:r>
              <a:rPr dirty="0" sz="1250" spc="-9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funcionalidades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restricciones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5">
                <a:solidFill>
                  <a:srgbClr val="F4CAB7"/>
                </a:solidFill>
                <a:latin typeface="Verdana"/>
                <a:cs typeface="Verdana"/>
              </a:rPr>
              <a:t>del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proyecto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110">
                <a:solidFill>
                  <a:srgbClr val="F4CAB7"/>
                </a:solidFill>
                <a:latin typeface="Verdana"/>
                <a:cs typeface="Verdana"/>
              </a:rPr>
              <a:t>IoT.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1975" y="3047999"/>
            <a:ext cx="803910" cy="1285875"/>
          </a:xfrm>
          <a:custGeom>
            <a:avLst/>
            <a:gdLst/>
            <a:ahLst/>
            <a:cxnLst/>
            <a:rect l="l" t="t" r="r" b="b"/>
            <a:pathLst>
              <a:path w="803910" h="1285875">
                <a:moveTo>
                  <a:pt x="803668" y="0"/>
                </a:moveTo>
                <a:lnTo>
                  <a:pt x="401835" y="160731"/>
                </a:lnTo>
                <a:lnTo>
                  <a:pt x="0" y="0"/>
                </a:lnTo>
                <a:lnTo>
                  <a:pt x="0" y="1125143"/>
                </a:lnTo>
                <a:lnTo>
                  <a:pt x="401835" y="1285875"/>
                </a:lnTo>
                <a:lnTo>
                  <a:pt x="803668" y="1125143"/>
                </a:lnTo>
                <a:lnTo>
                  <a:pt x="803668" y="0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82947" y="3518122"/>
            <a:ext cx="163195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45" b="1">
                <a:solidFill>
                  <a:srgbClr val="F4CAB7"/>
                </a:solidFill>
                <a:latin typeface="Cambria"/>
                <a:cs typeface="Cambria"/>
              </a:rPr>
              <a:t>2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94643" y="3182937"/>
            <a:ext cx="4728845" cy="872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10" b="1">
                <a:solidFill>
                  <a:srgbClr val="F4CAB7"/>
                </a:solidFill>
                <a:latin typeface="Cambria"/>
                <a:cs typeface="Cambria"/>
              </a:rPr>
              <a:t>Aíquitectuía</a:t>
            </a:r>
            <a:r>
              <a:rPr dirty="0" sz="1650" spc="-45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45" b="1">
                <a:solidFill>
                  <a:srgbClr val="F4CAB7"/>
                </a:solidFill>
                <a:latin typeface="Cambria"/>
                <a:cs typeface="Cambria"/>
              </a:rPr>
              <a:t>del</a:t>
            </a:r>
            <a:r>
              <a:rPr dirty="0" sz="1650" spc="-45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85" b="1">
                <a:solidFill>
                  <a:srgbClr val="F4CAB7"/>
                </a:solidFill>
                <a:latin typeface="Cambria"/>
                <a:cs typeface="Cambria"/>
              </a:rPr>
              <a:t>Sistema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Diseñar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una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arquitectura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modular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escalable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F4CAB7"/>
                </a:solidFill>
                <a:latin typeface="Verdana"/>
                <a:cs typeface="Verdana"/>
              </a:rPr>
              <a:t>que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integre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todos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los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componentes.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1975" y="4333875"/>
            <a:ext cx="803910" cy="1285875"/>
          </a:xfrm>
          <a:custGeom>
            <a:avLst/>
            <a:gdLst/>
            <a:ahLst/>
            <a:cxnLst/>
            <a:rect l="l" t="t" r="r" b="b"/>
            <a:pathLst>
              <a:path w="803910" h="1285875">
                <a:moveTo>
                  <a:pt x="803668" y="0"/>
                </a:moveTo>
                <a:lnTo>
                  <a:pt x="401835" y="160731"/>
                </a:lnTo>
                <a:lnTo>
                  <a:pt x="0" y="0"/>
                </a:lnTo>
                <a:lnTo>
                  <a:pt x="0" y="1125143"/>
                </a:lnTo>
                <a:lnTo>
                  <a:pt x="401835" y="1285875"/>
                </a:lnTo>
                <a:lnTo>
                  <a:pt x="803668" y="1125143"/>
                </a:lnTo>
                <a:lnTo>
                  <a:pt x="803668" y="0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78184" y="4803997"/>
            <a:ext cx="17272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30" b="1">
                <a:solidFill>
                  <a:srgbClr val="F4CAB7"/>
                </a:solidFill>
                <a:latin typeface="Cambria"/>
                <a:cs typeface="Cambria"/>
              </a:rPr>
              <a:t>3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94643" y="4468812"/>
            <a:ext cx="4251325" cy="872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70" b="1">
                <a:solidFill>
                  <a:srgbClr val="F4CAB7"/>
                </a:solidFill>
                <a:latin typeface="Cambria"/>
                <a:cs typeface="Cambria"/>
              </a:rPr>
              <a:t>Selección</a:t>
            </a:r>
            <a:r>
              <a:rPr dirty="0" sz="1650" spc="-35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60" b="1">
                <a:solidFill>
                  <a:srgbClr val="F4CAB7"/>
                </a:solidFill>
                <a:latin typeface="Cambria"/>
                <a:cs typeface="Cambria"/>
              </a:rPr>
              <a:t>de</a:t>
            </a:r>
            <a:r>
              <a:rPr dirty="0" sz="1650" spc="-35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45" b="1">
                <a:solidFill>
                  <a:srgbClr val="F4CAB7"/>
                </a:solidFill>
                <a:latin typeface="Cambria"/>
                <a:cs typeface="Cambria"/>
              </a:rPr>
              <a:t>Tecnologías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Elegir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los</a:t>
            </a:r>
            <a:r>
              <a:rPr dirty="0" sz="1250" spc="-9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protocolos,</a:t>
            </a:r>
            <a:r>
              <a:rPr dirty="0" sz="1250" spc="-9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plataformas</a:t>
            </a:r>
            <a:r>
              <a:rPr dirty="0" sz="1250" spc="-9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9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dispositivos</a:t>
            </a:r>
            <a:r>
              <a:rPr dirty="0" sz="1250" spc="-9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30">
                <a:solidFill>
                  <a:srgbClr val="F4CAB7"/>
                </a:solidFill>
                <a:latin typeface="Verdana"/>
                <a:cs typeface="Verdana"/>
              </a:rPr>
              <a:t>más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5">
                <a:solidFill>
                  <a:srgbClr val="F4CAB7"/>
                </a:solidFill>
                <a:latin typeface="Verdana"/>
                <a:cs typeface="Verdana"/>
              </a:rPr>
              <a:t>apropiados</a:t>
            </a:r>
            <a:r>
              <a:rPr dirty="0" sz="1250" spc="-10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para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el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5">
                <a:solidFill>
                  <a:srgbClr val="F4CAB7"/>
                </a:solidFill>
                <a:latin typeface="Verdana"/>
                <a:cs typeface="Verdana"/>
              </a:rPr>
              <a:t>proyecto.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61975" y="5619750"/>
            <a:ext cx="803910" cy="1285875"/>
          </a:xfrm>
          <a:custGeom>
            <a:avLst/>
            <a:gdLst/>
            <a:ahLst/>
            <a:cxnLst/>
            <a:rect l="l" t="t" r="r" b="b"/>
            <a:pathLst>
              <a:path w="803910" h="1285875">
                <a:moveTo>
                  <a:pt x="803668" y="0"/>
                </a:moveTo>
                <a:lnTo>
                  <a:pt x="401835" y="160731"/>
                </a:lnTo>
                <a:lnTo>
                  <a:pt x="0" y="0"/>
                </a:lnTo>
                <a:lnTo>
                  <a:pt x="0" y="1125141"/>
                </a:lnTo>
                <a:lnTo>
                  <a:pt x="401835" y="1285876"/>
                </a:lnTo>
                <a:lnTo>
                  <a:pt x="803668" y="1125141"/>
                </a:lnTo>
                <a:lnTo>
                  <a:pt x="803668" y="0"/>
                </a:lnTo>
                <a:close/>
              </a:path>
            </a:pathLst>
          </a:custGeom>
          <a:solidFill>
            <a:srgbClr val="4D152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75803" y="6089873"/>
            <a:ext cx="17780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70" b="1">
                <a:solidFill>
                  <a:srgbClr val="F4CAB7"/>
                </a:solidFill>
                <a:latin typeface="Cambria"/>
                <a:cs typeface="Cambria"/>
              </a:rPr>
              <a:t>4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94643" y="5754688"/>
            <a:ext cx="4600575" cy="872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85" b="1">
                <a:solidFill>
                  <a:srgbClr val="F4CAB7"/>
                </a:solidFill>
                <a:latin typeface="Cambria"/>
                <a:cs typeface="Cambria"/>
              </a:rPr>
              <a:t>Píuebas</a:t>
            </a:r>
            <a:r>
              <a:rPr dirty="0" sz="1650" spc="-50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30" b="1">
                <a:solidFill>
                  <a:srgbClr val="F4CAB7"/>
                </a:solidFill>
                <a:latin typeface="Cambria"/>
                <a:cs typeface="Cambria"/>
              </a:rPr>
              <a:t>y</a:t>
            </a:r>
            <a:r>
              <a:rPr dirty="0" sz="1650" spc="-45" b="1">
                <a:solidFill>
                  <a:srgbClr val="F4CAB7"/>
                </a:solidFill>
                <a:latin typeface="Cambria"/>
                <a:cs typeface="Cambria"/>
              </a:rPr>
              <a:t> </a:t>
            </a:r>
            <a:r>
              <a:rPr dirty="0" sz="1650" spc="60" b="1">
                <a:solidFill>
                  <a:srgbClr val="F4CAB7"/>
                </a:solidFill>
                <a:latin typeface="Cambria"/>
                <a:cs typeface="Cambria"/>
              </a:rPr>
              <a:t>Validación</a:t>
            </a:r>
            <a:endParaRPr sz="1650">
              <a:latin typeface="Cambria"/>
              <a:cs typeface="Cambria"/>
            </a:endParaRPr>
          </a:p>
          <a:p>
            <a:pPr marL="12700" marR="5080">
              <a:lnSpc>
                <a:spcPct val="135000"/>
              </a:lnSpc>
              <a:spcBef>
                <a:spcPts val="595"/>
              </a:spcBef>
            </a:pP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Asegurar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5">
                <a:solidFill>
                  <a:srgbClr val="F4CAB7"/>
                </a:solidFill>
                <a:latin typeface="Verdana"/>
                <a:cs typeface="Verdana"/>
              </a:rPr>
              <a:t>el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4CAB7"/>
                </a:solidFill>
                <a:latin typeface="Verdana"/>
                <a:cs typeface="Verdana"/>
              </a:rPr>
              <a:t>correcto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F4CAB7"/>
                </a:solidFill>
                <a:latin typeface="Verdana"/>
                <a:cs typeface="Verdana"/>
              </a:rPr>
              <a:t>funcionamiento</a:t>
            </a:r>
            <a:r>
              <a:rPr dirty="0" sz="1250" spc="-9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F4CAB7"/>
                </a:solidFill>
                <a:latin typeface="Verdana"/>
                <a:cs typeface="Verdana"/>
              </a:rPr>
              <a:t>y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45">
                <a:solidFill>
                  <a:srgbClr val="F4CAB7"/>
                </a:solidFill>
                <a:latin typeface="Verdana"/>
                <a:cs typeface="Verdana"/>
              </a:rPr>
              <a:t>cumplimiento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 </a:t>
            </a:r>
            <a:r>
              <a:rPr dirty="0" sz="1250" spc="-425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10">
                <a:solidFill>
                  <a:srgbClr val="F4CAB7"/>
                </a:solidFill>
                <a:latin typeface="Verdana"/>
                <a:cs typeface="Verdana"/>
              </a:rPr>
              <a:t>requisitos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">
                <a:solidFill>
                  <a:srgbClr val="F4CAB7"/>
                </a:solidFill>
                <a:latin typeface="Verdana"/>
                <a:cs typeface="Verdana"/>
              </a:rPr>
              <a:t>a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-20">
                <a:solidFill>
                  <a:srgbClr val="F4CAB7"/>
                </a:solidFill>
                <a:latin typeface="Verdana"/>
                <a:cs typeface="Verdana"/>
              </a:rPr>
              <a:t>través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4CAB7"/>
                </a:solidFill>
                <a:latin typeface="Verdana"/>
                <a:cs typeface="Verdana"/>
              </a:rPr>
              <a:t>de</a:t>
            </a:r>
            <a:r>
              <a:rPr dirty="0" sz="1250" spc="-100">
                <a:solidFill>
                  <a:srgbClr val="F4CAB7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4CAB7"/>
                </a:solidFill>
                <a:latin typeface="Verdana"/>
                <a:cs typeface="Verdana"/>
              </a:rPr>
              <a:t>pruebas.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2024-11-05T06:33:01Z</dcterms:created>
  <dcterms:modified xsi:type="dcterms:W3CDTF">2024-11-05T06:33:01Z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