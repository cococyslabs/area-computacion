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lacial Indifference Bold" charset="1" panose="00000800000000000000"/>
      <p:regular r:id="rId16"/>
    </p:embeddedFont>
    <p:embeddedFont>
      <p:font typeface="Tenor Sans" charset="1" panose="02000000000000000000"/>
      <p:regular r:id="rId17"/>
    </p:embeddedFont>
    <p:embeddedFont>
      <p:font typeface="Glacial Indifference"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5670" y="3666165"/>
            <a:ext cx="17836661" cy="3861785"/>
          </a:xfrm>
          <a:prstGeom prst="rect">
            <a:avLst/>
          </a:prstGeom>
        </p:spPr>
        <p:txBody>
          <a:bodyPr anchor="t" rtlCol="false" tIns="0" lIns="0" bIns="0" rIns="0">
            <a:spAutoFit/>
          </a:bodyPr>
          <a:lstStyle/>
          <a:p>
            <a:pPr algn="ctr">
              <a:lnSpc>
                <a:spcPts val="14646"/>
              </a:lnSpc>
            </a:pPr>
            <a:r>
              <a:rPr lang="en-US" b="true" sz="15920" spc="-509">
                <a:solidFill>
                  <a:srgbClr val="022033"/>
                </a:solidFill>
                <a:latin typeface="Glacial Indifference Bold"/>
                <a:ea typeface="Glacial Indifference Bold"/>
                <a:cs typeface="Glacial Indifference Bold"/>
                <a:sym typeface="Glacial Indifference Bold"/>
              </a:rPr>
              <a:t>ARQUITECTURA HARVARD</a:t>
            </a:r>
          </a:p>
        </p:txBody>
      </p:sp>
      <p:grpSp>
        <p:nvGrpSpPr>
          <p:cNvPr name="Group 3" id="3"/>
          <p:cNvGrpSpPr/>
          <p:nvPr/>
        </p:nvGrpSpPr>
        <p:grpSpPr>
          <a:xfrm rot="0">
            <a:off x="-609474" y="6630732"/>
            <a:ext cx="4378481" cy="437848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5400000">
            <a:off x="362774" y="-30820"/>
            <a:ext cx="3688357" cy="4114800"/>
          </a:xfrm>
          <a:custGeom>
            <a:avLst/>
            <a:gdLst/>
            <a:ahLst/>
            <a:cxnLst/>
            <a:rect r="r" b="b" t="t" l="l"/>
            <a:pathLst>
              <a:path h="4114800" w="3688357">
                <a:moveTo>
                  <a:pt x="0" y="0"/>
                </a:moveTo>
                <a:lnTo>
                  <a:pt x="3688357" y="0"/>
                </a:lnTo>
                <a:lnTo>
                  <a:pt x="36883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531874" y="7031606"/>
            <a:ext cx="1237134" cy="1200949"/>
            <a:chOff x="0" y="0"/>
            <a:chExt cx="325830" cy="316299"/>
          </a:xfrm>
        </p:grpSpPr>
        <p:sp>
          <p:nvSpPr>
            <p:cNvPr name="Freeform 8" id="8"/>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BFD1E1"/>
            </a:solidFill>
          </p:spPr>
        </p:sp>
        <p:sp>
          <p:nvSpPr>
            <p:cNvPr name="TextBox 9" id="9"/>
            <p:cNvSpPr txBox="true"/>
            <p:nvPr/>
          </p:nvSpPr>
          <p:spPr>
            <a:xfrm>
              <a:off x="0" y="-38100"/>
              <a:ext cx="325830" cy="354399"/>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728559" y="1153041"/>
            <a:ext cx="1237134" cy="1200949"/>
            <a:chOff x="0" y="0"/>
            <a:chExt cx="325830" cy="316299"/>
          </a:xfrm>
        </p:grpSpPr>
        <p:sp>
          <p:nvSpPr>
            <p:cNvPr name="Freeform 11" id="11"/>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68AB9"/>
            </a:solidFill>
          </p:spPr>
        </p:sp>
        <p:sp>
          <p:nvSpPr>
            <p:cNvPr name="TextBox 12" id="12"/>
            <p:cNvSpPr txBox="true"/>
            <p:nvPr/>
          </p:nvSpPr>
          <p:spPr>
            <a:xfrm>
              <a:off x="0" y="-38100"/>
              <a:ext cx="325830" cy="354399"/>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4289726" y="639307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3017520" y="7527306"/>
            <a:ext cx="12252960" cy="1526691"/>
          </a:xfrm>
          <a:prstGeom prst="rect">
            <a:avLst/>
          </a:prstGeom>
        </p:spPr>
        <p:txBody>
          <a:bodyPr anchor="t" rtlCol="false" tIns="0" lIns="0" bIns="0" rIns="0">
            <a:spAutoFit/>
          </a:bodyPr>
          <a:lstStyle/>
          <a:p>
            <a:pPr algn="ctr">
              <a:lnSpc>
                <a:spcPts val="6198"/>
              </a:lnSpc>
            </a:pPr>
            <a:r>
              <a:rPr lang="en-US" sz="4245" spc="437">
                <a:solidFill>
                  <a:srgbClr val="022033"/>
                </a:solidFill>
                <a:latin typeface="Tenor Sans"/>
                <a:ea typeface="Tenor Sans"/>
                <a:cs typeface="Tenor Sans"/>
                <a:sym typeface="Tenor Sans"/>
              </a:rPr>
              <a:t>ARQUITECTURA DE COMPUTADORES Y ENSAMBLADORES 1</a:t>
            </a:r>
          </a:p>
        </p:txBody>
      </p:sp>
      <p:grpSp>
        <p:nvGrpSpPr>
          <p:cNvPr name="Group 15" id="15"/>
          <p:cNvGrpSpPr/>
          <p:nvPr/>
        </p:nvGrpSpPr>
        <p:grpSpPr>
          <a:xfrm rot="0">
            <a:off x="13804199" y="8450476"/>
            <a:ext cx="971055" cy="934870"/>
            <a:chOff x="0" y="0"/>
            <a:chExt cx="255751" cy="246221"/>
          </a:xfrm>
        </p:grpSpPr>
        <p:sp>
          <p:nvSpPr>
            <p:cNvPr name="Freeform 16" id="16"/>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96B5D3"/>
            </a:solidFill>
          </p:spPr>
        </p:sp>
        <p:sp>
          <p:nvSpPr>
            <p:cNvPr name="TextBox 17" id="17"/>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97987" y="3034120"/>
            <a:ext cx="2949122" cy="5898243"/>
            <a:chOff x="0" y="0"/>
            <a:chExt cx="3175000" cy="6350000"/>
          </a:xfrm>
        </p:grpSpPr>
        <p:sp>
          <p:nvSpPr>
            <p:cNvPr name="Freeform 3" id="3"/>
            <p:cNvSpPr/>
            <p:nvPr/>
          </p:nvSpPr>
          <p:spPr>
            <a:xfrm flipH="false" flipV="false" rot="0">
              <a:off x="0" y="0"/>
              <a:ext cx="3175000" cy="6350000"/>
            </a:xfrm>
            <a:custGeom>
              <a:avLst/>
              <a:gdLst/>
              <a:ahLst/>
              <a:cxnLst/>
              <a:rect r="r" b="b" t="t" l="l"/>
              <a:pathLst>
                <a:path h="6350000" w="3175000">
                  <a:moveTo>
                    <a:pt x="3175000" y="0"/>
                  </a:moveTo>
                  <a:lnTo>
                    <a:pt x="3175000" y="6350000"/>
                  </a:lnTo>
                  <a:cubicBezTo>
                    <a:pt x="1421498" y="6350000"/>
                    <a:pt x="0" y="4928502"/>
                    <a:pt x="0" y="3175000"/>
                  </a:cubicBezTo>
                  <a:cubicBezTo>
                    <a:pt x="0" y="1421498"/>
                    <a:pt x="1421498" y="0"/>
                    <a:pt x="3175000" y="0"/>
                  </a:cubicBezTo>
                  <a:close/>
                </a:path>
              </a:pathLst>
            </a:custGeom>
            <a:blipFill>
              <a:blip r:embed="rId2"/>
              <a:stretch>
                <a:fillRect l="-110451" t="0" r="-110451" b="0"/>
              </a:stretch>
            </a:blipFill>
          </p:spPr>
        </p:sp>
      </p:grpSp>
      <p:sp>
        <p:nvSpPr>
          <p:cNvPr name="TextBox 4" id="4"/>
          <p:cNvSpPr txBox="true"/>
          <p:nvPr/>
        </p:nvSpPr>
        <p:spPr>
          <a:xfrm rot="0">
            <a:off x="1711560" y="1343025"/>
            <a:ext cx="14864881" cy="1451010"/>
          </a:xfrm>
          <a:prstGeom prst="rect">
            <a:avLst/>
          </a:prstGeom>
        </p:spPr>
        <p:txBody>
          <a:bodyPr anchor="t" rtlCol="false" tIns="0" lIns="0" bIns="0" rIns="0">
            <a:spAutoFit/>
          </a:bodyPr>
          <a:lstStyle/>
          <a:p>
            <a:pPr algn="ctr">
              <a:lnSpc>
                <a:spcPts val="10679"/>
              </a:lnSpc>
            </a:pPr>
            <a:r>
              <a:rPr lang="en-US" sz="11608">
                <a:solidFill>
                  <a:srgbClr val="022033"/>
                </a:solidFill>
                <a:latin typeface="Glacial Indifference"/>
                <a:ea typeface="Glacial Indifference"/>
                <a:cs typeface="Glacial Indifference"/>
                <a:sym typeface="Glacial Indifference"/>
              </a:rPr>
              <a:t>INTRODUCCIÓN</a:t>
            </a:r>
          </a:p>
        </p:txBody>
      </p:sp>
      <p:grpSp>
        <p:nvGrpSpPr>
          <p:cNvPr name="Group 5" id="5"/>
          <p:cNvGrpSpPr/>
          <p:nvPr/>
        </p:nvGrpSpPr>
        <p:grpSpPr>
          <a:xfrm rot="0">
            <a:off x="16098759" y="604794"/>
            <a:ext cx="4378481" cy="43784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288245" y="5780212"/>
            <a:ext cx="971055" cy="934870"/>
            <a:chOff x="0" y="0"/>
            <a:chExt cx="255751" cy="246221"/>
          </a:xfrm>
        </p:grpSpPr>
        <p:sp>
          <p:nvSpPr>
            <p:cNvPr name="Freeform 9" id="9"/>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10" id="10"/>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6174282" y="3393592"/>
            <a:ext cx="9041483" cy="5103099"/>
          </a:xfrm>
          <a:prstGeom prst="rect">
            <a:avLst/>
          </a:prstGeom>
        </p:spPr>
        <p:txBody>
          <a:bodyPr anchor="t" rtlCol="false" tIns="0" lIns="0" bIns="0" rIns="0">
            <a:spAutoFit/>
          </a:bodyPr>
          <a:lstStyle/>
          <a:p>
            <a:pPr algn="l">
              <a:lnSpc>
                <a:spcPts val="5126"/>
              </a:lnSpc>
              <a:spcBef>
                <a:spcPct val="0"/>
              </a:spcBef>
            </a:pPr>
            <a:r>
              <a:rPr lang="en-US" sz="3661" spc="205">
                <a:solidFill>
                  <a:srgbClr val="022033"/>
                </a:solidFill>
                <a:latin typeface="Tenor Sans"/>
                <a:ea typeface="Tenor Sans"/>
                <a:cs typeface="Tenor Sans"/>
                <a:sym typeface="Tenor Sans"/>
              </a:rPr>
              <a:t>La arquitectura se diseñó con el objetivo de mejorar la velocidad de procesamiento y superar algunas limitaciones de la arquitectura Von Neumann, principalmente mediante la separación de la memoria de datos y la memoria de instrucciones.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164459" y="684569"/>
            <a:ext cx="11542024" cy="4174365"/>
          </a:xfrm>
          <a:custGeom>
            <a:avLst/>
            <a:gdLst/>
            <a:ahLst/>
            <a:cxnLst/>
            <a:rect r="r" b="b" t="t" l="l"/>
            <a:pathLst>
              <a:path h="4174365" w="11542024">
                <a:moveTo>
                  <a:pt x="0" y="0"/>
                </a:moveTo>
                <a:lnTo>
                  <a:pt x="11542023" y="0"/>
                </a:lnTo>
                <a:lnTo>
                  <a:pt x="11542023" y="4174365"/>
                </a:lnTo>
                <a:lnTo>
                  <a:pt x="0" y="4174365"/>
                </a:lnTo>
                <a:lnTo>
                  <a:pt x="0" y="0"/>
                </a:lnTo>
                <a:close/>
              </a:path>
            </a:pathLst>
          </a:custGeom>
          <a:blipFill>
            <a:blip r:embed="rId4"/>
            <a:stretch>
              <a:fillRect l="0" t="0" r="0" b="0"/>
            </a:stretch>
          </a:blipFill>
        </p:spPr>
      </p:sp>
      <p:sp>
        <p:nvSpPr>
          <p:cNvPr name="TextBox 4" id="4"/>
          <p:cNvSpPr txBox="true"/>
          <p:nvPr/>
        </p:nvSpPr>
        <p:spPr>
          <a:xfrm rot="0">
            <a:off x="1028700" y="5727132"/>
            <a:ext cx="7523206" cy="2651884"/>
          </a:xfrm>
          <a:prstGeom prst="rect">
            <a:avLst/>
          </a:prstGeom>
        </p:spPr>
        <p:txBody>
          <a:bodyPr anchor="t" rtlCol="false" tIns="0" lIns="0" bIns="0" rIns="0">
            <a:spAutoFit/>
          </a:bodyPr>
          <a:lstStyle/>
          <a:p>
            <a:pPr algn="l">
              <a:lnSpc>
                <a:spcPts val="4265"/>
              </a:lnSpc>
              <a:spcBef>
                <a:spcPct val="0"/>
              </a:spcBef>
            </a:pPr>
            <a:r>
              <a:rPr lang="en-US" sz="3046" spc="170">
                <a:solidFill>
                  <a:srgbClr val="022033"/>
                </a:solidFill>
                <a:latin typeface="Tenor Sans"/>
                <a:ea typeface="Tenor Sans"/>
                <a:cs typeface="Tenor Sans"/>
                <a:sym typeface="Tenor Sans"/>
              </a:rPr>
              <a:t>La arquitectura de Harvard es una arquitectura de computadora con pistas de almacenamiento y de señal físicamente separadas para las instrucciones y para los datos</a:t>
            </a:r>
          </a:p>
        </p:txBody>
      </p:sp>
      <p:sp>
        <p:nvSpPr>
          <p:cNvPr name="TextBox 5" id="5"/>
          <p:cNvSpPr txBox="true"/>
          <p:nvPr/>
        </p:nvSpPr>
        <p:spPr>
          <a:xfrm rot="0">
            <a:off x="8935470" y="5460873"/>
            <a:ext cx="8922238" cy="3184403"/>
          </a:xfrm>
          <a:prstGeom prst="rect">
            <a:avLst/>
          </a:prstGeom>
        </p:spPr>
        <p:txBody>
          <a:bodyPr anchor="t" rtlCol="false" tIns="0" lIns="0" bIns="0" rIns="0">
            <a:spAutoFit/>
          </a:bodyPr>
          <a:lstStyle/>
          <a:p>
            <a:pPr algn="l">
              <a:lnSpc>
                <a:spcPts val="4265"/>
              </a:lnSpc>
              <a:spcBef>
                <a:spcPct val="0"/>
              </a:spcBef>
            </a:pPr>
            <a:r>
              <a:rPr lang="en-US" sz="3046" spc="170">
                <a:solidFill>
                  <a:srgbClr val="022033"/>
                </a:solidFill>
                <a:latin typeface="Tenor Sans"/>
                <a:ea typeface="Tenor Sans"/>
                <a:cs typeface="Tenor Sans"/>
                <a:sym typeface="Tenor Sans"/>
              </a:rPr>
              <a:t>En la arquitectura Harvard, no hay necesidad de hacer que las dos memorias compartan características. En particular, pueden diferir la anchura de palabra, el momento, la tecnología de implementación y la estructura de dirección de memoria.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86400" y="3247530"/>
            <a:ext cx="7315200" cy="824623"/>
          </a:xfrm>
          <a:custGeom>
            <a:avLst/>
            <a:gdLst/>
            <a:ahLst/>
            <a:cxnLst/>
            <a:rect r="r" b="b" t="t" l="l"/>
            <a:pathLst>
              <a:path h="824623" w="7315200">
                <a:moveTo>
                  <a:pt x="0" y="0"/>
                </a:moveTo>
                <a:lnTo>
                  <a:pt x="7315200" y="0"/>
                </a:lnTo>
                <a:lnTo>
                  <a:pt x="7315200" y="824623"/>
                </a:lnTo>
                <a:lnTo>
                  <a:pt x="0" y="824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86400" y="4459579"/>
            <a:ext cx="7315200" cy="824623"/>
          </a:xfrm>
          <a:custGeom>
            <a:avLst/>
            <a:gdLst/>
            <a:ahLst/>
            <a:cxnLst/>
            <a:rect r="r" b="b" t="t" l="l"/>
            <a:pathLst>
              <a:path h="824623" w="7315200">
                <a:moveTo>
                  <a:pt x="0" y="0"/>
                </a:moveTo>
                <a:lnTo>
                  <a:pt x="7315200" y="0"/>
                </a:lnTo>
                <a:lnTo>
                  <a:pt x="7315200" y="824622"/>
                </a:lnTo>
                <a:lnTo>
                  <a:pt x="0" y="824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86400" y="5674726"/>
            <a:ext cx="7315200" cy="824623"/>
          </a:xfrm>
          <a:custGeom>
            <a:avLst/>
            <a:gdLst/>
            <a:ahLst/>
            <a:cxnLst/>
            <a:rect r="r" b="b" t="t" l="l"/>
            <a:pathLst>
              <a:path h="824623" w="7315200">
                <a:moveTo>
                  <a:pt x="0" y="0"/>
                </a:moveTo>
                <a:lnTo>
                  <a:pt x="7315200" y="0"/>
                </a:lnTo>
                <a:lnTo>
                  <a:pt x="7315200" y="824623"/>
                </a:lnTo>
                <a:lnTo>
                  <a:pt x="0" y="8246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486400" y="6889874"/>
            <a:ext cx="7315200" cy="824623"/>
          </a:xfrm>
          <a:custGeom>
            <a:avLst/>
            <a:gdLst/>
            <a:ahLst/>
            <a:cxnLst/>
            <a:rect r="r" b="b" t="t" l="l"/>
            <a:pathLst>
              <a:path h="824623" w="7315200">
                <a:moveTo>
                  <a:pt x="0" y="0"/>
                </a:moveTo>
                <a:lnTo>
                  <a:pt x="7315200" y="0"/>
                </a:lnTo>
                <a:lnTo>
                  <a:pt x="7315200" y="824622"/>
                </a:lnTo>
                <a:lnTo>
                  <a:pt x="0" y="8246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486400" y="8105021"/>
            <a:ext cx="7315200" cy="824623"/>
          </a:xfrm>
          <a:custGeom>
            <a:avLst/>
            <a:gdLst/>
            <a:ahLst/>
            <a:cxnLst/>
            <a:rect r="r" b="b" t="t" l="l"/>
            <a:pathLst>
              <a:path h="824623" w="7315200">
                <a:moveTo>
                  <a:pt x="0" y="0"/>
                </a:moveTo>
                <a:lnTo>
                  <a:pt x="7315200" y="0"/>
                </a:lnTo>
                <a:lnTo>
                  <a:pt x="7315200" y="824623"/>
                </a:lnTo>
                <a:lnTo>
                  <a:pt x="0" y="8246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800000">
            <a:off x="134706" y="5284201"/>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711560" y="1285875"/>
            <a:ext cx="14864881" cy="1221538"/>
          </a:xfrm>
          <a:prstGeom prst="rect">
            <a:avLst/>
          </a:prstGeom>
        </p:spPr>
        <p:txBody>
          <a:bodyPr anchor="t" rtlCol="false" tIns="0" lIns="0" bIns="0" rIns="0">
            <a:spAutoFit/>
          </a:bodyPr>
          <a:lstStyle/>
          <a:p>
            <a:pPr algn="ctr">
              <a:lnSpc>
                <a:spcPts val="8931"/>
              </a:lnSpc>
            </a:pPr>
            <a:r>
              <a:rPr lang="en-US" sz="9708">
                <a:solidFill>
                  <a:srgbClr val="022033"/>
                </a:solidFill>
                <a:latin typeface="Glacial Indifference"/>
                <a:ea typeface="Glacial Indifference"/>
                <a:cs typeface="Glacial Indifference"/>
                <a:sym typeface="Glacial Indifference"/>
              </a:rPr>
              <a:t>ELEMENTOS PRINCIPALES</a:t>
            </a:r>
          </a:p>
        </p:txBody>
      </p:sp>
      <p:sp>
        <p:nvSpPr>
          <p:cNvPr name="TextBox 9" id="9"/>
          <p:cNvSpPr txBox="true"/>
          <p:nvPr/>
        </p:nvSpPr>
        <p:spPr>
          <a:xfrm rot="0">
            <a:off x="5978533" y="3505233"/>
            <a:ext cx="6330933"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MEMORIA DE INSTRUCCIONES</a:t>
            </a:r>
          </a:p>
        </p:txBody>
      </p:sp>
      <p:sp>
        <p:nvSpPr>
          <p:cNvPr name="TextBox 10" id="10"/>
          <p:cNvSpPr txBox="true"/>
          <p:nvPr/>
        </p:nvSpPr>
        <p:spPr>
          <a:xfrm rot="0">
            <a:off x="6993517" y="4723330"/>
            <a:ext cx="430096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MEMORIA DE DATOS</a:t>
            </a:r>
          </a:p>
        </p:txBody>
      </p:sp>
      <p:sp>
        <p:nvSpPr>
          <p:cNvPr name="TextBox 11" id="11"/>
          <p:cNvSpPr txBox="true"/>
          <p:nvPr/>
        </p:nvSpPr>
        <p:spPr>
          <a:xfrm rot="0">
            <a:off x="7404997" y="5941426"/>
            <a:ext cx="347800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BUS DE DATOS</a:t>
            </a:r>
          </a:p>
        </p:txBody>
      </p:sp>
      <p:sp>
        <p:nvSpPr>
          <p:cNvPr name="TextBox 12" id="12"/>
          <p:cNvSpPr txBox="true"/>
          <p:nvPr/>
        </p:nvSpPr>
        <p:spPr>
          <a:xfrm rot="0">
            <a:off x="6691765" y="7156574"/>
            <a:ext cx="4904469"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BUS DE INSTRUCCIONES</a:t>
            </a:r>
          </a:p>
        </p:txBody>
      </p:sp>
      <p:sp>
        <p:nvSpPr>
          <p:cNvPr name="TextBox 13" id="13"/>
          <p:cNvSpPr txBox="true"/>
          <p:nvPr/>
        </p:nvSpPr>
        <p:spPr>
          <a:xfrm rot="0">
            <a:off x="7404997" y="8362196"/>
            <a:ext cx="347800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CPU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514102" y="1154049"/>
            <a:ext cx="9745198" cy="3716922"/>
          </a:xfrm>
          <a:prstGeom prst="rect">
            <a:avLst/>
          </a:prstGeom>
        </p:spPr>
        <p:txBody>
          <a:bodyPr anchor="t" rtlCol="false" tIns="0" lIns="0" bIns="0" rIns="0">
            <a:spAutoFit/>
          </a:bodyPr>
          <a:lstStyle/>
          <a:p>
            <a:pPr algn="l">
              <a:lnSpc>
                <a:spcPts val="4265"/>
              </a:lnSpc>
              <a:spcBef>
                <a:spcPct val="0"/>
              </a:spcBef>
            </a:pPr>
            <a:r>
              <a:rPr lang="en-US" sz="3046" spc="170">
                <a:solidFill>
                  <a:srgbClr val="022033"/>
                </a:solidFill>
                <a:latin typeface="Tenor Sans"/>
                <a:ea typeface="Tenor Sans"/>
                <a:cs typeface="Tenor Sans"/>
                <a:sym typeface="Tenor Sans"/>
              </a:rPr>
              <a:t>La arquitectura Harvard sigue siendo relevante, especialmente en sistemas embebidos y microcontroladores. Muchos dispositivos como los controladores de electrodomésticos, dispositivos de Internet de las Cosas (IoT), y sistemas de control industrial usan esta arquitectura</a:t>
            </a:r>
          </a:p>
        </p:txBody>
      </p:sp>
      <p:sp>
        <p:nvSpPr>
          <p:cNvPr name="TextBox 4" id="4"/>
          <p:cNvSpPr txBox="true"/>
          <p:nvPr/>
        </p:nvSpPr>
        <p:spPr>
          <a:xfrm rot="0">
            <a:off x="1443143" y="5707761"/>
            <a:ext cx="9525742" cy="3184403"/>
          </a:xfrm>
          <a:prstGeom prst="rect">
            <a:avLst/>
          </a:prstGeom>
        </p:spPr>
        <p:txBody>
          <a:bodyPr anchor="t" rtlCol="false" tIns="0" lIns="0" bIns="0" rIns="0">
            <a:spAutoFit/>
          </a:bodyPr>
          <a:lstStyle/>
          <a:p>
            <a:pPr algn="l">
              <a:lnSpc>
                <a:spcPts val="4265"/>
              </a:lnSpc>
              <a:spcBef>
                <a:spcPct val="0"/>
              </a:spcBef>
            </a:pPr>
            <a:r>
              <a:rPr lang="en-US" sz="3046" spc="170">
                <a:solidFill>
                  <a:srgbClr val="022033"/>
                </a:solidFill>
                <a:latin typeface="Tenor Sans"/>
                <a:ea typeface="Tenor Sans"/>
                <a:cs typeface="Tenor Sans"/>
                <a:sym typeface="Tenor Sans"/>
              </a:rPr>
              <a:t>Además, los procesadores modernos a menudo implementan una arquitectura Harvard modificada: combinan memorias de datos e instrucciones separadas en niveles de caché, lo que permite mayor rendimiento sin duplicar completamente la memoria.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62466" y="802023"/>
            <a:ext cx="7696834" cy="8682954"/>
            <a:chOff x="0" y="0"/>
            <a:chExt cx="2027150" cy="2286868"/>
          </a:xfrm>
        </p:grpSpPr>
        <p:sp>
          <p:nvSpPr>
            <p:cNvPr name="Freeform 3" id="3"/>
            <p:cNvSpPr/>
            <p:nvPr/>
          </p:nvSpPr>
          <p:spPr>
            <a:xfrm flipH="false" flipV="false" rot="0">
              <a:off x="0" y="0"/>
              <a:ext cx="2027150" cy="2286869"/>
            </a:xfrm>
            <a:custGeom>
              <a:avLst/>
              <a:gdLst/>
              <a:ahLst/>
              <a:cxnLst/>
              <a:rect r="r" b="b" t="t" l="l"/>
              <a:pathLst>
                <a:path h="2286869" w="2027150">
                  <a:moveTo>
                    <a:pt x="35205" y="0"/>
                  </a:moveTo>
                  <a:lnTo>
                    <a:pt x="1991945" y="0"/>
                  </a:lnTo>
                  <a:cubicBezTo>
                    <a:pt x="2001282" y="0"/>
                    <a:pt x="2010236" y="3709"/>
                    <a:pt x="2016838" y="10311"/>
                  </a:cubicBezTo>
                  <a:cubicBezTo>
                    <a:pt x="2023441" y="16914"/>
                    <a:pt x="2027150" y="25868"/>
                    <a:pt x="2027150" y="35205"/>
                  </a:cubicBezTo>
                  <a:lnTo>
                    <a:pt x="2027150" y="2251664"/>
                  </a:lnTo>
                  <a:cubicBezTo>
                    <a:pt x="2027150" y="2271107"/>
                    <a:pt x="2011388" y="2286869"/>
                    <a:pt x="1991945" y="2286869"/>
                  </a:cubicBezTo>
                  <a:lnTo>
                    <a:pt x="35205" y="2286869"/>
                  </a:lnTo>
                  <a:cubicBezTo>
                    <a:pt x="25868" y="2286869"/>
                    <a:pt x="16914" y="2283159"/>
                    <a:pt x="10311" y="2276557"/>
                  </a:cubicBezTo>
                  <a:cubicBezTo>
                    <a:pt x="3709" y="2269955"/>
                    <a:pt x="0" y="2261001"/>
                    <a:pt x="0" y="2251664"/>
                  </a:cubicBezTo>
                  <a:lnTo>
                    <a:pt x="0" y="35205"/>
                  </a:lnTo>
                  <a:cubicBezTo>
                    <a:pt x="0" y="15762"/>
                    <a:pt x="15762" y="0"/>
                    <a:pt x="35205" y="0"/>
                  </a:cubicBezTo>
                  <a:close/>
                </a:path>
              </a:pathLst>
            </a:custGeom>
            <a:solidFill>
              <a:srgbClr val="F3E780"/>
            </a:solidFill>
          </p:spPr>
        </p:sp>
        <p:sp>
          <p:nvSpPr>
            <p:cNvPr name="TextBox 4" id="4"/>
            <p:cNvSpPr txBox="true"/>
            <p:nvPr/>
          </p:nvSpPr>
          <p:spPr>
            <a:xfrm>
              <a:off x="0" y="-38100"/>
              <a:ext cx="2027150" cy="23249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2271" y="3633315"/>
            <a:ext cx="8351254" cy="3020370"/>
          </a:xfrm>
          <a:custGeom>
            <a:avLst/>
            <a:gdLst/>
            <a:ahLst/>
            <a:cxnLst/>
            <a:rect r="r" b="b" t="t" l="l"/>
            <a:pathLst>
              <a:path h="3020370" w="8351254">
                <a:moveTo>
                  <a:pt x="0" y="0"/>
                </a:moveTo>
                <a:lnTo>
                  <a:pt x="8351254" y="0"/>
                </a:lnTo>
                <a:lnTo>
                  <a:pt x="8351254" y="3020370"/>
                </a:lnTo>
                <a:lnTo>
                  <a:pt x="0" y="3020370"/>
                </a:lnTo>
                <a:lnTo>
                  <a:pt x="0" y="0"/>
                </a:lnTo>
                <a:close/>
              </a:path>
            </a:pathLst>
          </a:custGeom>
          <a:blipFill>
            <a:blip r:embed="rId2"/>
            <a:stretch>
              <a:fillRect l="0" t="0" r="0" b="0"/>
            </a:stretch>
          </a:blipFill>
        </p:spPr>
      </p:sp>
      <p:sp>
        <p:nvSpPr>
          <p:cNvPr name="Freeform 6" id="6"/>
          <p:cNvSpPr/>
          <p:nvPr/>
        </p:nvSpPr>
        <p:spPr>
          <a:xfrm flipH="false" flipV="false" rot="0">
            <a:off x="672496" y="3916656"/>
            <a:ext cx="1939690" cy="2698930"/>
          </a:xfrm>
          <a:custGeom>
            <a:avLst/>
            <a:gdLst/>
            <a:ahLst/>
            <a:cxnLst/>
            <a:rect r="r" b="b" t="t" l="l"/>
            <a:pathLst>
              <a:path h="2698930" w="1939690">
                <a:moveTo>
                  <a:pt x="0" y="0"/>
                </a:moveTo>
                <a:lnTo>
                  <a:pt x="1939690" y="0"/>
                </a:lnTo>
                <a:lnTo>
                  <a:pt x="1939690" y="2698929"/>
                </a:lnTo>
                <a:lnTo>
                  <a:pt x="0" y="26989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w="66675" cap="sq">
            <a:solidFill>
              <a:srgbClr val="FF3131"/>
            </a:solidFill>
            <a:prstDash val="solid"/>
            <a:miter/>
          </a:ln>
        </p:spPr>
      </p:sp>
      <p:sp>
        <p:nvSpPr>
          <p:cNvPr name="TextBox 7" id="7"/>
          <p:cNvSpPr txBox="true"/>
          <p:nvPr/>
        </p:nvSpPr>
        <p:spPr>
          <a:xfrm rot="0">
            <a:off x="9852091" y="1266825"/>
            <a:ext cx="6752144" cy="2200031"/>
          </a:xfrm>
          <a:prstGeom prst="rect">
            <a:avLst/>
          </a:prstGeom>
        </p:spPr>
        <p:txBody>
          <a:bodyPr anchor="t" rtlCol="false" tIns="0" lIns="0" bIns="0" rIns="0">
            <a:spAutoFit/>
          </a:bodyPr>
          <a:lstStyle/>
          <a:p>
            <a:pPr algn="ctr">
              <a:lnSpc>
                <a:spcPts val="8372"/>
              </a:lnSpc>
            </a:pPr>
            <a:r>
              <a:rPr lang="en-US" sz="9100">
                <a:solidFill>
                  <a:srgbClr val="022033"/>
                </a:solidFill>
                <a:latin typeface="Glacial Indifference"/>
                <a:ea typeface="Glacial Indifference"/>
                <a:cs typeface="Glacial Indifference"/>
                <a:sym typeface="Glacial Indifference"/>
              </a:rPr>
              <a:t>MEMORIA SEPARADA</a:t>
            </a:r>
          </a:p>
        </p:txBody>
      </p:sp>
      <p:sp>
        <p:nvSpPr>
          <p:cNvPr name="TextBox 8" id="8"/>
          <p:cNvSpPr txBox="true"/>
          <p:nvPr/>
        </p:nvSpPr>
        <p:spPr>
          <a:xfrm rot="0">
            <a:off x="10034811" y="3897606"/>
            <a:ext cx="6752144" cy="4108152"/>
          </a:xfrm>
          <a:prstGeom prst="rect">
            <a:avLst/>
          </a:prstGeom>
        </p:spPr>
        <p:txBody>
          <a:bodyPr anchor="t" rtlCol="false" tIns="0" lIns="0" bIns="0" rIns="0">
            <a:spAutoFit/>
          </a:bodyPr>
          <a:lstStyle/>
          <a:p>
            <a:pPr algn="just">
              <a:lnSpc>
                <a:spcPts val="3664"/>
              </a:lnSpc>
            </a:pPr>
            <a:r>
              <a:rPr lang="en-US" sz="2617" spc="146">
                <a:solidFill>
                  <a:srgbClr val="022033"/>
                </a:solidFill>
                <a:latin typeface="Tenor Sans"/>
                <a:ea typeface="Tenor Sans"/>
                <a:cs typeface="Tenor Sans"/>
                <a:sym typeface="Tenor Sans"/>
              </a:rPr>
              <a:t>A diferencia de la arquitectura Von Neumann, la arquitectura Harvard tiene dos memorias físicas separadas: una para las instrucciones del programa y otra para los datos. Esto permite que el procesador acceda simultáneamente a ambas, incrementando la velocidad de procesamiento.</a:t>
            </a:r>
          </a:p>
        </p:txBody>
      </p:sp>
      <p:sp>
        <p:nvSpPr>
          <p:cNvPr name="Freeform 9" id="9"/>
          <p:cNvSpPr/>
          <p:nvPr/>
        </p:nvSpPr>
        <p:spPr>
          <a:xfrm flipH="false" flipV="false" rot="0">
            <a:off x="7381144" y="3954756"/>
            <a:ext cx="1939690" cy="2698930"/>
          </a:xfrm>
          <a:custGeom>
            <a:avLst/>
            <a:gdLst/>
            <a:ahLst/>
            <a:cxnLst/>
            <a:rect r="r" b="b" t="t" l="l"/>
            <a:pathLst>
              <a:path h="2698930" w="1939690">
                <a:moveTo>
                  <a:pt x="0" y="0"/>
                </a:moveTo>
                <a:lnTo>
                  <a:pt x="1939690" y="0"/>
                </a:lnTo>
                <a:lnTo>
                  <a:pt x="1939690" y="2698929"/>
                </a:lnTo>
                <a:lnTo>
                  <a:pt x="0" y="26989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w="66675" cap="sq">
            <a:solidFill>
              <a:srgbClr val="FF3131"/>
            </a:solid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7166801" cy="8229600"/>
            <a:chOff x="0" y="0"/>
            <a:chExt cx="1887553" cy="2167467"/>
          </a:xfrm>
        </p:grpSpPr>
        <p:sp>
          <p:nvSpPr>
            <p:cNvPr name="Freeform 3" id="3"/>
            <p:cNvSpPr/>
            <p:nvPr/>
          </p:nvSpPr>
          <p:spPr>
            <a:xfrm flipH="false" flipV="false" rot="0">
              <a:off x="0" y="0"/>
              <a:ext cx="1887553" cy="2167467"/>
            </a:xfrm>
            <a:custGeom>
              <a:avLst/>
              <a:gdLst/>
              <a:ahLst/>
              <a:cxnLst/>
              <a:rect r="r" b="b" t="t" l="l"/>
              <a:pathLst>
                <a:path h="2167467" w="1887553">
                  <a:moveTo>
                    <a:pt x="37809" y="0"/>
                  </a:moveTo>
                  <a:lnTo>
                    <a:pt x="1849744" y="0"/>
                  </a:lnTo>
                  <a:cubicBezTo>
                    <a:pt x="1859771" y="0"/>
                    <a:pt x="1869388" y="3983"/>
                    <a:pt x="1876479" y="11074"/>
                  </a:cubicBezTo>
                  <a:cubicBezTo>
                    <a:pt x="1883569" y="18164"/>
                    <a:pt x="1887553" y="27781"/>
                    <a:pt x="1887553" y="37809"/>
                  </a:cubicBezTo>
                  <a:lnTo>
                    <a:pt x="1887553" y="2129658"/>
                  </a:lnTo>
                  <a:cubicBezTo>
                    <a:pt x="1887553" y="2139685"/>
                    <a:pt x="1883569" y="2149302"/>
                    <a:pt x="1876479" y="2156393"/>
                  </a:cubicBezTo>
                  <a:cubicBezTo>
                    <a:pt x="1869388" y="2163483"/>
                    <a:pt x="1859771" y="2167467"/>
                    <a:pt x="1849744" y="2167467"/>
                  </a:cubicBezTo>
                  <a:lnTo>
                    <a:pt x="37809" y="2167467"/>
                  </a:lnTo>
                  <a:cubicBezTo>
                    <a:pt x="27781" y="2167467"/>
                    <a:pt x="18164" y="2163483"/>
                    <a:pt x="11074" y="2156393"/>
                  </a:cubicBezTo>
                  <a:cubicBezTo>
                    <a:pt x="3983" y="2149302"/>
                    <a:pt x="0" y="2139685"/>
                    <a:pt x="0" y="2129658"/>
                  </a:cubicBezTo>
                  <a:lnTo>
                    <a:pt x="0" y="37809"/>
                  </a:lnTo>
                  <a:cubicBezTo>
                    <a:pt x="0" y="27781"/>
                    <a:pt x="3983" y="18164"/>
                    <a:pt x="11074" y="11074"/>
                  </a:cubicBezTo>
                  <a:cubicBezTo>
                    <a:pt x="18164" y="3983"/>
                    <a:pt x="27781" y="0"/>
                    <a:pt x="37809" y="0"/>
                  </a:cubicBezTo>
                  <a:close/>
                </a:path>
              </a:pathLst>
            </a:custGeom>
            <a:solidFill>
              <a:srgbClr val="96B5D3"/>
            </a:solidFill>
          </p:spPr>
        </p:sp>
        <p:sp>
          <p:nvSpPr>
            <p:cNvPr name="TextBox 4" id="4"/>
            <p:cNvSpPr txBox="true"/>
            <p:nvPr/>
          </p:nvSpPr>
          <p:spPr>
            <a:xfrm>
              <a:off x="0" y="-38100"/>
              <a:ext cx="1887553"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301906" y="1266825"/>
            <a:ext cx="6499499" cy="2200020"/>
          </a:xfrm>
          <a:prstGeom prst="rect">
            <a:avLst/>
          </a:prstGeom>
        </p:spPr>
        <p:txBody>
          <a:bodyPr anchor="t" rtlCol="false" tIns="0" lIns="0" bIns="0" rIns="0">
            <a:spAutoFit/>
          </a:bodyPr>
          <a:lstStyle/>
          <a:p>
            <a:pPr algn="ctr">
              <a:lnSpc>
                <a:spcPts val="8371"/>
              </a:lnSpc>
            </a:pPr>
            <a:r>
              <a:rPr lang="en-US" sz="9099">
                <a:solidFill>
                  <a:srgbClr val="022033"/>
                </a:solidFill>
                <a:latin typeface="Glacial Indifference"/>
                <a:ea typeface="Glacial Indifference"/>
                <a:cs typeface="Glacial Indifference"/>
                <a:sym typeface="Glacial Indifference"/>
              </a:rPr>
              <a:t>BUSES SEPARADOS</a:t>
            </a:r>
          </a:p>
        </p:txBody>
      </p:sp>
      <p:sp>
        <p:nvSpPr>
          <p:cNvPr name="TextBox 6" id="6"/>
          <p:cNvSpPr txBox="true"/>
          <p:nvPr/>
        </p:nvSpPr>
        <p:spPr>
          <a:xfrm rot="0">
            <a:off x="1225748" y="4422867"/>
            <a:ext cx="6772705" cy="2230818"/>
          </a:xfrm>
          <a:prstGeom prst="rect">
            <a:avLst/>
          </a:prstGeom>
        </p:spPr>
        <p:txBody>
          <a:bodyPr anchor="t" rtlCol="false" tIns="0" lIns="0" bIns="0" rIns="0">
            <a:spAutoFit/>
          </a:bodyPr>
          <a:lstStyle/>
          <a:p>
            <a:pPr algn="just">
              <a:lnSpc>
                <a:spcPts val="3566"/>
              </a:lnSpc>
            </a:pPr>
            <a:r>
              <a:rPr lang="en-US" sz="2547" spc="142">
                <a:solidFill>
                  <a:srgbClr val="022033"/>
                </a:solidFill>
                <a:latin typeface="Tenor Sans"/>
                <a:ea typeface="Tenor Sans"/>
                <a:cs typeface="Tenor Sans"/>
                <a:sym typeface="Tenor Sans"/>
              </a:rPr>
              <a:t>Los buses de datos e instrucciones están separados, lo que permite al procesador leer datos e instrucciones en paralelo, eliminando el cuello de botella típico de Von Neumann.</a:t>
            </a:r>
          </a:p>
        </p:txBody>
      </p:sp>
      <p:sp>
        <p:nvSpPr>
          <p:cNvPr name="Freeform 7" id="7"/>
          <p:cNvSpPr/>
          <p:nvPr/>
        </p:nvSpPr>
        <p:spPr>
          <a:xfrm flipH="false" flipV="false" rot="0">
            <a:off x="8685873" y="3633315"/>
            <a:ext cx="8351254" cy="3020370"/>
          </a:xfrm>
          <a:custGeom>
            <a:avLst/>
            <a:gdLst/>
            <a:ahLst/>
            <a:cxnLst/>
            <a:rect r="r" b="b" t="t" l="l"/>
            <a:pathLst>
              <a:path h="3020370" w="8351254">
                <a:moveTo>
                  <a:pt x="0" y="0"/>
                </a:moveTo>
                <a:lnTo>
                  <a:pt x="8351254" y="0"/>
                </a:lnTo>
                <a:lnTo>
                  <a:pt x="8351254" y="3020370"/>
                </a:lnTo>
                <a:lnTo>
                  <a:pt x="0" y="3020370"/>
                </a:lnTo>
                <a:lnTo>
                  <a:pt x="0" y="0"/>
                </a:lnTo>
                <a:close/>
              </a:path>
            </a:pathLst>
          </a:custGeom>
          <a:blipFill>
            <a:blip r:embed="rId2"/>
            <a:stretch>
              <a:fillRect l="0" t="0" r="0" b="0"/>
            </a:stretch>
          </a:blipFill>
        </p:spPr>
      </p:sp>
      <p:sp>
        <p:nvSpPr>
          <p:cNvPr name="Freeform 8" id="8"/>
          <p:cNvSpPr/>
          <p:nvPr/>
        </p:nvSpPr>
        <p:spPr>
          <a:xfrm flipH="false" flipV="false" rot="0">
            <a:off x="10119722" y="3794035"/>
            <a:ext cx="1939690" cy="2698930"/>
          </a:xfrm>
          <a:custGeom>
            <a:avLst/>
            <a:gdLst/>
            <a:ahLst/>
            <a:cxnLst/>
            <a:rect r="r" b="b" t="t" l="l"/>
            <a:pathLst>
              <a:path h="2698930" w="1939690">
                <a:moveTo>
                  <a:pt x="0" y="0"/>
                </a:moveTo>
                <a:lnTo>
                  <a:pt x="1939690" y="0"/>
                </a:lnTo>
                <a:lnTo>
                  <a:pt x="1939690" y="2698930"/>
                </a:lnTo>
                <a:lnTo>
                  <a:pt x="0" y="2698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w="66675" cap="sq">
            <a:solidFill>
              <a:srgbClr val="FF3131"/>
            </a:solidFill>
            <a:prstDash val="solid"/>
            <a:miter/>
          </a:ln>
        </p:spPr>
      </p:sp>
      <p:sp>
        <p:nvSpPr>
          <p:cNvPr name="Freeform 9" id="9"/>
          <p:cNvSpPr/>
          <p:nvPr/>
        </p:nvSpPr>
        <p:spPr>
          <a:xfrm flipH="false" flipV="false" rot="0">
            <a:off x="13646258" y="3794035"/>
            <a:ext cx="1939690" cy="2698930"/>
          </a:xfrm>
          <a:custGeom>
            <a:avLst/>
            <a:gdLst/>
            <a:ahLst/>
            <a:cxnLst/>
            <a:rect r="r" b="b" t="t" l="l"/>
            <a:pathLst>
              <a:path h="2698930" w="1939690">
                <a:moveTo>
                  <a:pt x="0" y="0"/>
                </a:moveTo>
                <a:lnTo>
                  <a:pt x="1939690" y="0"/>
                </a:lnTo>
                <a:lnTo>
                  <a:pt x="1939690" y="2698930"/>
                </a:lnTo>
                <a:lnTo>
                  <a:pt x="0" y="2698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w="66675" cap="sq">
            <a:solidFill>
              <a:srgbClr val="FF3131"/>
            </a:solid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62466" y="802023"/>
            <a:ext cx="7166801" cy="8682954"/>
            <a:chOff x="0" y="0"/>
            <a:chExt cx="1887553" cy="2286868"/>
          </a:xfrm>
        </p:grpSpPr>
        <p:sp>
          <p:nvSpPr>
            <p:cNvPr name="Freeform 3" id="3"/>
            <p:cNvSpPr/>
            <p:nvPr/>
          </p:nvSpPr>
          <p:spPr>
            <a:xfrm flipH="false" flipV="false" rot="0">
              <a:off x="0" y="0"/>
              <a:ext cx="1887553" cy="2286869"/>
            </a:xfrm>
            <a:custGeom>
              <a:avLst/>
              <a:gdLst/>
              <a:ahLst/>
              <a:cxnLst/>
              <a:rect r="r" b="b" t="t" l="l"/>
              <a:pathLst>
                <a:path h="2286869" w="1887553">
                  <a:moveTo>
                    <a:pt x="37809" y="0"/>
                  </a:moveTo>
                  <a:lnTo>
                    <a:pt x="1849744" y="0"/>
                  </a:lnTo>
                  <a:cubicBezTo>
                    <a:pt x="1859771" y="0"/>
                    <a:pt x="1869388" y="3983"/>
                    <a:pt x="1876479" y="11074"/>
                  </a:cubicBezTo>
                  <a:cubicBezTo>
                    <a:pt x="1883569" y="18164"/>
                    <a:pt x="1887553" y="27781"/>
                    <a:pt x="1887553" y="37809"/>
                  </a:cubicBezTo>
                  <a:lnTo>
                    <a:pt x="1887553" y="2249060"/>
                  </a:lnTo>
                  <a:cubicBezTo>
                    <a:pt x="1887553" y="2259087"/>
                    <a:pt x="1883569" y="2268704"/>
                    <a:pt x="1876479" y="2275795"/>
                  </a:cubicBezTo>
                  <a:cubicBezTo>
                    <a:pt x="1869388" y="2282885"/>
                    <a:pt x="1859771" y="2286869"/>
                    <a:pt x="1849744" y="2286869"/>
                  </a:cubicBezTo>
                  <a:lnTo>
                    <a:pt x="37809" y="2286869"/>
                  </a:lnTo>
                  <a:cubicBezTo>
                    <a:pt x="27781" y="2286869"/>
                    <a:pt x="18164" y="2282885"/>
                    <a:pt x="11074" y="2275795"/>
                  </a:cubicBezTo>
                  <a:cubicBezTo>
                    <a:pt x="3983" y="2268704"/>
                    <a:pt x="0" y="2259087"/>
                    <a:pt x="0" y="2249060"/>
                  </a:cubicBezTo>
                  <a:lnTo>
                    <a:pt x="0" y="37809"/>
                  </a:lnTo>
                  <a:cubicBezTo>
                    <a:pt x="0" y="27781"/>
                    <a:pt x="3983" y="18164"/>
                    <a:pt x="11074" y="11074"/>
                  </a:cubicBezTo>
                  <a:cubicBezTo>
                    <a:pt x="18164" y="3983"/>
                    <a:pt x="27781" y="0"/>
                    <a:pt x="37809" y="0"/>
                  </a:cubicBezTo>
                  <a:close/>
                </a:path>
              </a:pathLst>
            </a:custGeom>
            <a:solidFill>
              <a:srgbClr val="F3E780"/>
            </a:solidFill>
          </p:spPr>
        </p:sp>
        <p:sp>
          <p:nvSpPr>
            <p:cNvPr name="TextBox 4" id="4"/>
            <p:cNvSpPr txBox="true"/>
            <p:nvPr/>
          </p:nvSpPr>
          <p:spPr>
            <a:xfrm>
              <a:off x="0" y="-38100"/>
              <a:ext cx="1887553" cy="23249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46981" y="1455017"/>
            <a:ext cx="6703818" cy="7376967"/>
          </a:xfrm>
          <a:custGeom>
            <a:avLst/>
            <a:gdLst/>
            <a:ahLst/>
            <a:cxnLst/>
            <a:rect r="r" b="b" t="t" l="l"/>
            <a:pathLst>
              <a:path h="7376967" w="6703818">
                <a:moveTo>
                  <a:pt x="0" y="0"/>
                </a:moveTo>
                <a:lnTo>
                  <a:pt x="6703819" y="0"/>
                </a:lnTo>
                <a:lnTo>
                  <a:pt x="6703819" y="7376966"/>
                </a:lnTo>
                <a:lnTo>
                  <a:pt x="0" y="7376966"/>
                </a:lnTo>
                <a:lnTo>
                  <a:pt x="0" y="0"/>
                </a:lnTo>
                <a:close/>
              </a:path>
            </a:pathLst>
          </a:custGeom>
          <a:blipFill>
            <a:blip r:embed="rId2"/>
            <a:stretch>
              <a:fillRect l="0" t="0" r="0" b="0"/>
            </a:stretch>
          </a:blipFill>
        </p:spPr>
      </p:sp>
      <p:sp>
        <p:nvSpPr>
          <p:cNvPr name="TextBox 6" id="6"/>
          <p:cNvSpPr txBox="true"/>
          <p:nvPr/>
        </p:nvSpPr>
        <p:spPr>
          <a:xfrm rot="0">
            <a:off x="9666130" y="1266825"/>
            <a:ext cx="6959473" cy="2200031"/>
          </a:xfrm>
          <a:prstGeom prst="rect">
            <a:avLst/>
          </a:prstGeom>
        </p:spPr>
        <p:txBody>
          <a:bodyPr anchor="t" rtlCol="false" tIns="0" lIns="0" bIns="0" rIns="0">
            <a:spAutoFit/>
          </a:bodyPr>
          <a:lstStyle/>
          <a:p>
            <a:pPr algn="ctr">
              <a:lnSpc>
                <a:spcPts val="8372"/>
              </a:lnSpc>
            </a:pPr>
            <a:r>
              <a:rPr lang="en-US" sz="9100">
                <a:solidFill>
                  <a:srgbClr val="022033"/>
                </a:solidFill>
                <a:latin typeface="Glacial Indifference"/>
                <a:ea typeface="Glacial Indifference"/>
                <a:cs typeface="Glacial Indifference"/>
                <a:sym typeface="Glacial Indifference"/>
              </a:rPr>
              <a:t>EJECUCION EN PARALELO</a:t>
            </a:r>
          </a:p>
        </p:txBody>
      </p:sp>
      <p:sp>
        <p:nvSpPr>
          <p:cNvPr name="TextBox 7" id="7"/>
          <p:cNvSpPr txBox="true"/>
          <p:nvPr/>
        </p:nvSpPr>
        <p:spPr>
          <a:xfrm rot="0">
            <a:off x="9858795" y="4117062"/>
            <a:ext cx="6574144" cy="2663578"/>
          </a:xfrm>
          <a:prstGeom prst="rect">
            <a:avLst/>
          </a:prstGeom>
        </p:spPr>
        <p:txBody>
          <a:bodyPr anchor="t" rtlCol="false" tIns="0" lIns="0" bIns="0" rIns="0">
            <a:spAutoFit/>
          </a:bodyPr>
          <a:lstStyle/>
          <a:p>
            <a:pPr algn="just">
              <a:lnSpc>
                <a:spcPts val="3568"/>
              </a:lnSpc>
            </a:pPr>
            <a:r>
              <a:rPr lang="en-US" sz="2548" spc="142">
                <a:solidFill>
                  <a:srgbClr val="022033"/>
                </a:solidFill>
                <a:latin typeface="Tenor Sans"/>
                <a:ea typeface="Tenor Sans"/>
                <a:cs typeface="Tenor Sans"/>
                <a:sym typeface="Tenor Sans"/>
              </a:rPr>
              <a:t>Debido a la separación de memoria, es posible que el procesador ejecute instrucciones y acceda a datos al mismo tiempo, mejorando la eficiencia y rendimiento en operaciones críticas.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49484" y="4602915"/>
            <a:ext cx="13789032" cy="4655385"/>
            <a:chOff x="0" y="0"/>
            <a:chExt cx="3631679" cy="1226110"/>
          </a:xfrm>
        </p:grpSpPr>
        <p:sp>
          <p:nvSpPr>
            <p:cNvPr name="Freeform 3" id="3"/>
            <p:cNvSpPr/>
            <p:nvPr/>
          </p:nvSpPr>
          <p:spPr>
            <a:xfrm flipH="false" flipV="false" rot="0">
              <a:off x="0" y="0"/>
              <a:ext cx="3631679" cy="1226110"/>
            </a:xfrm>
            <a:custGeom>
              <a:avLst/>
              <a:gdLst/>
              <a:ahLst/>
              <a:cxnLst/>
              <a:rect r="r" b="b" t="t" l="l"/>
              <a:pathLst>
                <a:path h="1226110" w="3631679">
                  <a:moveTo>
                    <a:pt x="19651" y="0"/>
                  </a:moveTo>
                  <a:lnTo>
                    <a:pt x="3612028" y="0"/>
                  </a:lnTo>
                  <a:cubicBezTo>
                    <a:pt x="3617240" y="0"/>
                    <a:pt x="3622238" y="2070"/>
                    <a:pt x="3625924" y="5756"/>
                  </a:cubicBezTo>
                  <a:cubicBezTo>
                    <a:pt x="3629609" y="9441"/>
                    <a:pt x="3631679" y="14439"/>
                    <a:pt x="3631679" y="19651"/>
                  </a:cubicBezTo>
                  <a:lnTo>
                    <a:pt x="3631679" y="1206459"/>
                  </a:lnTo>
                  <a:cubicBezTo>
                    <a:pt x="3631679" y="1217312"/>
                    <a:pt x="3622881" y="1226110"/>
                    <a:pt x="3612028" y="1226110"/>
                  </a:cubicBezTo>
                  <a:lnTo>
                    <a:pt x="19651" y="1226110"/>
                  </a:lnTo>
                  <a:cubicBezTo>
                    <a:pt x="14439" y="1226110"/>
                    <a:pt x="9441" y="1224039"/>
                    <a:pt x="5756" y="1220354"/>
                  </a:cubicBezTo>
                  <a:cubicBezTo>
                    <a:pt x="2070" y="1216669"/>
                    <a:pt x="0" y="1211671"/>
                    <a:pt x="0" y="1206459"/>
                  </a:cubicBezTo>
                  <a:lnTo>
                    <a:pt x="0" y="19651"/>
                  </a:lnTo>
                  <a:cubicBezTo>
                    <a:pt x="0" y="8798"/>
                    <a:pt x="8798" y="0"/>
                    <a:pt x="19651" y="0"/>
                  </a:cubicBezTo>
                  <a:close/>
                </a:path>
              </a:pathLst>
            </a:custGeom>
            <a:solidFill>
              <a:srgbClr val="BFD1E1"/>
            </a:solidFill>
          </p:spPr>
        </p:sp>
        <p:sp>
          <p:nvSpPr>
            <p:cNvPr name="TextBox 4" id="4"/>
            <p:cNvSpPr txBox="true"/>
            <p:nvPr/>
          </p:nvSpPr>
          <p:spPr>
            <a:xfrm>
              <a:off x="0" y="-38100"/>
              <a:ext cx="3631679" cy="126421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1309982"/>
            <a:ext cx="4060780" cy="406078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7479" t="0" r="-27479" b="0"/>
              </a:stretch>
            </a:blipFill>
          </p:spPr>
        </p:sp>
      </p:grpSp>
      <p:sp>
        <p:nvSpPr>
          <p:cNvPr name="Freeform 7" id="7"/>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5456869" y="1340835"/>
            <a:ext cx="7374262" cy="1451010"/>
          </a:xfrm>
          <a:prstGeom prst="rect">
            <a:avLst/>
          </a:prstGeom>
        </p:spPr>
        <p:txBody>
          <a:bodyPr anchor="t" rtlCol="false" tIns="0" lIns="0" bIns="0" rIns="0">
            <a:spAutoFit/>
          </a:bodyPr>
          <a:lstStyle/>
          <a:p>
            <a:pPr algn="ctr">
              <a:lnSpc>
                <a:spcPts val="10679"/>
              </a:lnSpc>
            </a:pPr>
            <a:r>
              <a:rPr lang="en-US" sz="11608" spc="-963">
                <a:solidFill>
                  <a:srgbClr val="022033"/>
                </a:solidFill>
                <a:latin typeface="Glacial Indifference"/>
                <a:ea typeface="Glacial Indifference"/>
                <a:cs typeface="Glacial Indifference"/>
                <a:sym typeface="Glacial Indifference"/>
              </a:rPr>
              <a:t>EVOLUCION</a:t>
            </a:r>
          </a:p>
        </p:txBody>
      </p:sp>
      <p:sp>
        <p:nvSpPr>
          <p:cNvPr name="TextBox 9" id="9"/>
          <p:cNvSpPr txBox="true"/>
          <p:nvPr/>
        </p:nvSpPr>
        <p:spPr>
          <a:xfrm rot="0">
            <a:off x="3937287" y="5214746"/>
            <a:ext cx="11839890" cy="3658236"/>
          </a:xfrm>
          <a:prstGeom prst="rect">
            <a:avLst/>
          </a:prstGeom>
        </p:spPr>
        <p:txBody>
          <a:bodyPr anchor="t" rtlCol="false" tIns="0" lIns="0" bIns="0" rIns="0">
            <a:spAutoFit/>
          </a:bodyPr>
          <a:lstStyle/>
          <a:p>
            <a:pPr algn="ctr">
              <a:lnSpc>
                <a:spcPts val="3639"/>
              </a:lnSpc>
              <a:spcBef>
                <a:spcPct val="0"/>
              </a:spcBef>
            </a:pPr>
            <a:r>
              <a:rPr lang="en-US" sz="2599" spc="145">
                <a:solidFill>
                  <a:srgbClr val="022033"/>
                </a:solidFill>
                <a:latin typeface="Tenor Sans"/>
                <a:ea typeface="Tenor Sans"/>
                <a:cs typeface="Tenor Sans"/>
                <a:sym typeface="Tenor Sans"/>
              </a:rPr>
              <a:t>La arquitectura Harvard ha evolucionado considerablemente, principalmente con el desarrollo de variantes híbridas, como la arquitectura Harvard modificada, que se encuentra en procesadores modernos. En este modelo, la CPU tiene memoria caché separada para datos e instrucciones, mientras que la memoria principal sigue siendo compartida. Esto permite mantener la velocidad de acceso paralelo mientras se reduce el costo de la implementación de memoria.</a:t>
            </a:r>
          </a:p>
        </p:txBody>
      </p:sp>
      <p:sp>
        <p:nvSpPr>
          <p:cNvPr name="TextBox 10" id="10"/>
          <p:cNvSpPr txBox="true"/>
          <p:nvPr/>
        </p:nvSpPr>
        <p:spPr>
          <a:xfrm rot="0">
            <a:off x="6082133" y="3055192"/>
            <a:ext cx="6123734" cy="1208176"/>
          </a:xfrm>
          <a:prstGeom prst="rect">
            <a:avLst/>
          </a:prstGeom>
        </p:spPr>
        <p:txBody>
          <a:bodyPr anchor="t" rtlCol="false" tIns="0" lIns="0" bIns="0" rIns="0">
            <a:spAutoFit/>
          </a:bodyPr>
          <a:lstStyle/>
          <a:p>
            <a:pPr algn="ctr">
              <a:lnSpc>
                <a:spcPts val="4840"/>
              </a:lnSpc>
              <a:spcBef>
                <a:spcPct val="0"/>
              </a:spcBef>
            </a:pPr>
            <a:r>
              <a:rPr lang="en-US" sz="3457" spc="193">
                <a:solidFill>
                  <a:srgbClr val="022033"/>
                </a:solidFill>
                <a:latin typeface="Tenor Sans"/>
                <a:ea typeface="Tenor Sans"/>
                <a:cs typeface="Tenor Sans"/>
                <a:sym typeface="Tenor Sans"/>
              </a:rPr>
              <a:t>ARQUITECTURA HARVARD MODIFICADA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30356" y="3051949"/>
            <a:ext cx="14427288" cy="4697452"/>
          </a:xfrm>
          <a:prstGeom prst="rect">
            <a:avLst/>
          </a:prstGeom>
        </p:spPr>
        <p:txBody>
          <a:bodyPr anchor="t" rtlCol="false" tIns="0" lIns="0" bIns="0" rIns="0">
            <a:spAutoFit/>
          </a:bodyPr>
          <a:lstStyle/>
          <a:p>
            <a:pPr algn="ctr">
              <a:lnSpc>
                <a:spcPts val="17842"/>
              </a:lnSpc>
            </a:pPr>
            <a:r>
              <a:rPr lang="en-US" sz="19394">
                <a:solidFill>
                  <a:srgbClr val="022033"/>
                </a:solidFill>
                <a:latin typeface="Glacial Indifference"/>
                <a:ea typeface="Glacial Indifference"/>
                <a:cs typeface="Glacial Indifference"/>
                <a:sym typeface="Glacial Indifference"/>
              </a:rPr>
              <a:t>¡MUCHAS GRACIAS!</a:t>
            </a:r>
          </a:p>
        </p:txBody>
      </p:sp>
      <p:sp>
        <p:nvSpPr>
          <p:cNvPr name="Freeform 3" id="3"/>
          <p:cNvSpPr/>
          <p:nvPr/>
        </p:nvSpPr>
        <p:spPr>
          <a:xfrm flipH="false" flipV="false" rot="-10800000">
            <a:off x="-354670" y="-390474"/>
            <a:ext cx="4009030" cy="4009030"/>
          </a:xfrm>
          <a:custGeom>
            <a:avLst/>
            <a:gdLst/>
            <a:ahLst/>
            <a:cxnLst/>
            <a:rect r="r" b="b" t="t" l="l"/>
            <a:pathLst>
              <a:path h="4009030" w="4009030">
                <a:moveTo>
                  <a:pt x="0" y="0"/>
                </a:moveTo>
                <a:lnTo>
                  <a:pt x="4009029" y="0"/>
                </a:lnTo>
                <a:lnTo>
                  <a:pt x="4009029" y="4009030"/>
                </a:lnTo>
                <a:lnTo>
                  <a:pt x="0" y="4009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386589" y="7759322"/>
            <a:ext cx="971055" cy="934870"/>
            <a:chOff x="0" y="0"/>
            <a:chExt cx="255751" cy="246221"/>
          </a:xfrm>
        </p:grpSpPr>
        <p:sp>
          <p:nvSpPr>
            <p:cNvPr name="Freeform 5" id="5"/>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6" id="6"/>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87905" y="5982697"/>
            <a:ext cx="3688357" cy="4114800"/>
          </a:xfrm>
          <a:custGeom>
            <a:avLst/>
            <a:gdLst/>
            <a:ahLst/>
            <a:cxnLst/>
            <a:rect r="r" b="b" t="t" l="l"/>
            <a:pathLst>
              <a:path h="4114800" w="3688357">
                <a:moveTo>
                  <a:pt x="0" y="0"/>
                </a:moveTo>
                <a:lnTo>
                  <a:pt x="3688357" y="0"/>
                </a:lnTo>
                <a:lnTo>
                  <a:pt x="36883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DAGVdkb0OJQ</dc:identifier>
  <dcterms:modified xsi:type="dcterms:W3CDTF">2011-08-01T06:04:30Z</dcterms:modified>
  <cp:revision>1</cp:revision>
  <dc:title>Arquitectura Harvard</dc:title>
</cp:coreProperties>
</file>