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620000" cy="19050000"/>
  <p:notesSz cx="7620000" cy="19050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1500" y="5905500"/>
            <a:ext cx="6477000" cy="4000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43000" y="10668000"/>
            <a:ext cx="5334000" cy="4762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1000" y="4381500"/>
            <a:ext cx="3314700" cy="1257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924300" y="4381500"/>
            <a:ext cx="3314700" cy="1257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7620000" cy="19050000"/>
          </a:xfrm>
          <a:custGeom>
            <a:avLst/>
            <a:gdLst/>
            <a:ahLst/>
            <a:cxnLst/>
            <a:rect l="l" t="t" r="r" b="b"/>
            <a:pathLst>
              <a:path w="7620000" h="19050000">
                <a:moveTo>
                  <a:pt x="7619999" y="19049998"/>
                </a:moveTo>
                <a:lnTo>
                  <a:pt x="0" y="19049998"/>
                </a:lnTo>
                <a:lnTo>
                  <a:pt x="0" y="0"/>
                </a:lnTo>
                <a:lnTo>
                  <a:pt x="7619999" y="0"/>
                </a:lnTo>
                <a:lnTo>
                  <a:pt x="7619999" y="19049998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9920" y="2557983"/>
            <a:ext cx="7395625" cy="339559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43611" y="469105"/>
            <a:ext cx="5132777" cy="139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1000" y="4381500"/>
            <a:ext cx="6858000" cy="1257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90800" y="17716500"/>
            <a:ext cx="2438400" cy="952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1000" y="17716500"/>
            <a:ext cx="1752600" cy="952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86400" y="17716500"/>
            <a:ext cx="1752600" cy="952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38171" y="3267715"/>
            <a:ext cx="17970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700" b="1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30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8191" y="5819714"/>
            <a:ext cx="1144422" cy="305007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10042" y="6378642"/>
            <a:ext cx="25527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5" b="1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3006" y="4787273"/>
            <a:ext cx="2540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14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93807" y="7898775"/>
            <a:ext cx="2921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185" b="1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30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681" y="8918040"/>
            <a:ext cx="4296932" cy="460751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653108" y="4500805"/>
            <a:ext cx="2574925" cy="1282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dirty="0" sz="1100" spc="55">
                <a:latin typeface="Verdana"/>
                <a:cs typeface="Verdana"/>
              </a:rPr>
              <a:t>Acorn </a:t>
            </a:r>
            <a:r>
              <a:rPr dirty="0" sz="1100" spc="30">
                <a:latin typeface="Verdana"/>
                <a:cs typeface="Verdana"/>
              </a:rPr>
              <a:t>desarrolla </a:t>
            </a:r>
            <a:r>
              <a:rPr dirty="0" sz="1100" spc="25">
                <a:latin typeface="Verdana"/>
                <a:cs typeface="Verdana"/>
              </a:rPr>
              <a:t>el </a:t>
            </a:r>
            <a:r>
              <a:rPr dirty="0" sz="1100" spc="-25">
                <a:latin typeface="Verdana"/>
                <a:cs typeface="Verdana"/>
              </a:rPr>
              <a:t>ARM1, </a:t>
            </a:r>
            <a:r>
              <a:rPr dirty="0" sz="1100" spc="25">
                <a:latin typeface="Verdana"/>
                <a:cs typeface="Verdana"/>
              </a:rPr>
              <a:t>el </a:t>
            </a:r>
            <a:r>
              <a:rPr dirty="0" sz="1100" spc="30">
                <a:latin typeface="Verdana"/>
                <a:cs typeface="Verdana"/>
              </a:rPr>
              <a:t> </a:t>
            </a:r>
            <a:r>
              <a:rPr dirty="0" sz="1100" spc="45">
                <a:latin typeface="Verdana"/>
                <a:cs typeface="Verdana"/>
              </a:rPr>
              <a:t>primer</a:t>
            </a:r>
            <a:r>
              <a:rPr dirty="0" sz="1100" spc="-60">
                <a:latin typeface="Verdana"/>
                <a:cs typeface="Verdana"/>
              </a:rPr>
              <a:t> </a:t>
            </a:r>
            <a:r>
              <a:rPr dirty="0" sz="1100" spc="45">
                <a:latin typeface="Verdana"/>
                <a:cs typeface="Verdana"/>
              </a:rPr>
              <a:t>procesador</a:t>
            </a:r>
            <a:r>
              <a:rPr dirty="0" sz="1100" spc="-55">
                <a:latin typeface="Verdana"/>
                <a:cs typeface="Verdana"/>
              </a:rPr>
              <a:t> </a:t>
            </a:r>
            <a:r>
              <a:rPr dirty="0" sz="1100" spc="90">
                <a:latin typeface="Verdana"/>
                <a:cs typeface="Verdana"/>
              </a:rPr>
              <a:t>ARM</a:t>
            </a:r>
            <a:r>
              <a:rPr dirty="0" sz="1100" spc="-55">
                <a:latin typeface="Verdana"/>
                <a:cs typeface="Verdana"/>
              </a:rPr>
              <a:t> </a:t>
            </a:r>
            <a:r>
              <a:rPr dirty="0" sz="1100" spc="35">
                <a:latin typeface="Verdana"/>
                <a:cs typeface="Verdana"/>
              </a:rPr>
              <a:t>funcional, </a:t>
            </a:r>
            <a:r>
              <a:rPr dirty="0" sz="1100" spc="-370">
                <a:latin typeface="Verdana"/>
                <a:cs typeface="Verdana"/>
              </a:rPr>
              <a:t> </a:t>
            </a:r>
            <a:r>
              <a:rPr dirty="0" sz="1100" spc="55">
                <a:latin typeface="Verdana"/>
                <a:cs typeface="Verdana"/>
              </a:rPr>
              <a:t>principalmente </a:t>
            </a:r>
            <a:r>
              <a:rPr dirty="0" sz="1100" spc="75">
                <a:latin typeface="Verdana"/>
                <a:cs typeface="Verdana"/>
              </a:rPr>
              <a:t>como </a:t>
            </a:r>
            <a:r>
              <a:rPr dirty="0" sz="1100" spc="65">
                <a:latin typeface="Verdana"/>
                <a:cs typeface="Verdana"/>
              </a:rPr>
              <a:t>un </a:t>
            </a:r>
            <a:r>
              <a:rPr dirty="0" sz="1100" spc="70">
                <a:latin typeface="Verdana"/>
                <a:cs typeface="Verdana"/>
              </a:rPr>
              <a:t> </a:t>
            </a:r>
            <a:r>
              <a:rPr dirty="0" sz="1100" spc="50">
                <a:latin typeface="Verdana"/>
                <a:cs typeface="Verdana"/>
              </a:rPr>
              <a:t>prototipo </a:t>
            </a:r>
            <a:r>
              <a:rPr dirty="0" sz="1100" spc="55">
                <a:latin typeface="Verdana"/>
                <a:cs typeface="Verdana"/>
              </a:rPr>
              <a:t>de </a:t>
            </a:r>
            <a:r>
              <a:rPr dirty="0" sz="1100" spc="25">
                <a:latin typeface="Verdana"/>
                <a:cs typeface="Verdana"/>
              </a:rPr>
              <a:t>prueba, </a:t>
            </a:r>
            <a:r>
              <a:rPr dirty="0" sz="1100" spc="50">
                <a:latin typeface="Verdana"/>
                <a:cs typeface="Verdana"/>
              </a:rPr>
              <a:t>desde </a:t>
            </a:r>
            <a:r>
              <a:rPr dirty="0" sz="1100" spc="25">
                <a:latin typeface="Verdana"/>
                <a:cs typeface="Verdana"/>
              </a:rPr>
              <a:t>el </a:t>
            </a:r>
            <a:r>
              <a:rPr dirty="0" sz="1100" spc="30">
                <a:latin typeface="Verdana"/>
                <a:cs typeface="Verdana"/>
              </a:rPr>
              <a:t> </a:t>
            </a:r>
            <a:r>
              <a:rPr dirty="0" sz="1100" spc="20">
                <a:latin typeface="Verdana"/>
                <a:cs typeface="Verdana"/>
              </a:rPr>
              <a:t>inicio, </a:t>
            </a:r>
            <a:r>
              <a:rPr dirty="0" sz="1100" spc="90">
                <a:latin typeface="Verdana"/>
                <a:cs typeface="Verdana"/>
              </a:rPr>
              <a:t>ARM </a:t>
            </a:r>
            <a:r>
              <a:rPr dirty="0" sz="1100" spc="10">
                <a:latin typeface="Verdana"/>
                <a:cs typeface="Verdana"/>
              </a:rPr>
              <a:t>se </a:t>
            </a:r>
            <a:r>
              <a:rPr dirty="0" sz="1100" spc="45">
                <a:latin typeface="Verdana"/>
                <a:cs typeface="Verdana"/>
              </a:rPr>
              <a:t>diseñó </a:t>
            </a:r>
            <a:r>
              <a:rPr dirty="0" sz="1100" spc="75">
                <a:latin typeface="Verdana"/>
                <a:cs typeface="Verdana"/>
              </a:rPr>
              <a:t>como </a:t>
            </a:r>
            <a:r>
              <a:rPr dirty="0" sz="1100" spc="50">
                <a:latin typeface="Verdana"/>
                <a:cs typeface="Verdana"/>
              </a:rPr>
              <a:t>una </a:t>
            </a:r>
            <a:r>
              <a:rPr dirty="0" sz="1100" spc="55">
                <a:latin typeface="Verdana"/>
                <a:cs typeface="Verdana"/>
              </a:rPr>
              <a:t> </a:t>
            </a:r>
            <a:r>
              <a:rPr dirty="0" sz="1100" spc="45">
                <a:latin typeface="Verdana"/>
                <a:cs typeface="Verdana"/>
              </a:rPr>
              <a:t>arquitectura</a:t>
            </a:r>
            <a:r>
              <a:rPr dirty="0" sz="1100" spc="-40">
                <a:latin typeface="Verdana"/>
                <a:cs typeface="Verdana"/>
              </a:rPr>
              <a:t> </a:t>
            </a:r>
            <a:r>
              <a:rPr dirty="0" sz="1100" spc="55">
                <a:latin typeface="Verdana"/>
                <a:cs typeface="Verdana"/>
              </a:rPr>
              <a:t>de</a:t>
            </a:r>
            <a:r>
              <a:rPr dirty="0" sz="1100" spc="-40">
                <a:latin typeface="Verdana"/>
                <a:cs typeface="Verdana"/>
              </a:rPr>
              <a:t> </a:t>
            </a:r>
            <a:r>
              <a:rPr dirty="0" sz="1100" spc="-55">
                <a:latin typeface="Verdana"/>
                <a:cs typeface="Verdana"/>
              </a:rPr>
              <a:t>32</a:t>
            </a:r>
            <a:r>
              <a:rPr dirty="0" sz="1100" spc="-40">
                <a:latin typeface="Verdana"/>
                <a:cs typeface="Verdana"/>
              </a:rPr>
              <a:t> </a:t>
            </a:r>
            <a:r>
              <a:rPr dirty="0" sz="1100" spc="5">
                <a:latin typeface="Verdana"/>
                <a:cs typeface="Verdana"/>
              </a:rPr>
              <a:t>bits.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9622" y="7648342"/>
            <a:ext cx="2480310" cy="1282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dirty="0" sz="1100" spc="30">
                <a:latin typeface="Verdana"/>
                <a:cs typeface="Verdana"/>
              </a:rPr>
              <a:t>La</a:t>
            </a:r>
            <a:r>
              <a:rPr dirty="0" sz="1100" spc="-45">
                <a:latin typeface="Verdana"/>
                <a:cs typeface="Verdana"/>
              </a:rPr>
              <a:t> </a:t>
            </a:r>
            <a:r>
              <a:rPr dirty="0" sz="1100" spc="55">
                <a:latin typeface="Verdana"/>
                <a:cs typeface="Verdana"/>
              </a:rPr>
              <a:t>fundación</a:t>
            </a:r>
            <a:r>
              <a:rPr dirty="0" sz="1100" spc="-40">
                <a:latin typeface="Verdana"/>
                <a:cs typeface="Verdana"/>
              </a:rPr>
              <a:t> </a:t>
            </a:r>
            <a:r>
              <a:rPr dirty="0" sz="1100" spc="55">
                <a:latin typeface="Verdana"/>
                <a:cs typeface="Verdana"/>
              </a:rPr>
              <a:t>de</a:t>
            </a:r>
            <a:r>
              <a:rPr dirty="0" sz="1100" spc="-40">
                <a:latin typeface="Verdana"/>
                <a:cs typeface="Verdana"/>
              </a:rPr>
              <a:t> </a:t>
            </a:r>
            <a:r>
              <a:rPr dirty="0" sz="1100" spc="90">
                <a:latin typeface="Verdana"/>
                <a:cs typeface="Verdana"/>
              </a:rPr>
              <a:t>ARM</a:t>
            </a:r>
            <a:r>
              <a:rPr dirty="0" sz="1100" spc="-45">
                <a:latin typeface="Verdana"/>
                <a:cs typeface="Verdana"/>
              </a:rPr>
              <a:t> </a:t>
            </a:r>
            <a:r>
              <a:rPr dirty="0" sz="1100" spc="15">
                <a:latin typeface="Verdana"/>
                <a:cs typeface="Verdana"/>
              </a:rPr>
              <a:t>Ltd.</a:t>
            </a:r>
            <a:r>
              <a:rPr dirty="0" sz="1100" spc="-40">
                <a:latin typeface="Verdana"/>
                <a:cs typeface="Verdana"/>
              </a:rPr>
              <a:t> </a:t>
            </a:r>
            <a:r>
              <a:rPr dirty="0" sz="1100" spc="35">
                <a:latin typeface="Verdana"/>
                <a:cs typeface="Verdana"/>
              </a:rPr>
              <a:t>facilita </a:t>
            </a:r>
            <a:r>
              <a:rPr dirty="0" sz="1100" spc="-370">
                <a:latin typeface="Verdana"/>
                <a:cs typeface="Verdana"/>
              </a:rPr>
              <a:t> </a:t>
            </a:r>
            <a:r>
              <a:rPr dirty="0" sz="1100" spc="15">
                <a:latin typeface="Verdana"/>
                <a:cs typeface="Verdana"/>
              </a:rPr>
              <a:t>la </a:t>
            </a:r>
            <a:r>
              <a:rPr dirty="0" sz="1100" spc="40">
                <a:latin typeface="Verdana"/>
                <a:cs typeface="Verdana"/>
              </a:rPr>
              <a:t>expansión </a:t>
            </a:r>
            <a:r>
              <a:rPr dirty="0" sz="1100" spc="55">
                <a:latin typeface="Verdana"/>
                <a:cs typeface="Verdana"/>
              </a:rPr>
              <a:t>de </a:t>
            </a:r>
            <a:r>
              <a:rPr dirty="0" sz="1100" spc="15">
                <a:latin typeface="Verdana"/>
                <a:cs typeface="Verdana"/>
              </a:rPr>
              <a:t>la </a:t>
            </a:r>
            <a:r>
              <a:rPr dirty="0" sz="1100" spc="45">
                <a:latin typeface="Verdana"/>
                <a:cs typeface="Verdana"/>
              </a:rPr>
              <a:t>arquitectura </a:t>
            </a:r>
            <a:r>
              <a:rPr dirty="0" sz="1100" spc="50">
                <a:latin typeface="Verdana"/>
                <a:cs typeface="Verdana"/>
              </a:rPr>
              <a:t> </a:t>
            </a:r>
            <a:r>
              <a:rPr dirty="0" sz="1100" spc="90">
                <a:latin typeface="Verdana"/>
                <a:cs typeface="Verdana"/>
              </a:rPr>
              <a:t>ARM </a:t>
            </a:r>
            <a:r>
              <a:rPr dirty="0" sz="1100">
                <a:latin typeface="Verdana"/>
                <a:cs typeface="Verdana"/>
              </a:rPr>
              <a:t>a </a:t>
            </a:r>
            <a:r>
              <a:rPr dirty="0" sz="1100" spc="30">
                <a:latin typeface="Verdana"/>
                <a:cs typeface="Verdana"/>
              </a:rPr>
              <a:t>otros </a:t>
            </a:r>
            <a:r>
              <a:rPr dirty="0" sz="1100" spc="40">
                <a:latin typeface="Verdana"/>
                <a:cs typeface="Verdana"/>
              </a:rPr>
              <a:t>fabricantes </a:t>
            </a:r>
            <a:r>
              <a:rPr dirty="0" sz="1100" spc="-35">
                <a:latin typeface="Verdana"/>
                <a:cs typeface="Verdana"/>
              </a:rPr>
              <a:t>y </a:t>
            </a:r>
            <a:r>
              <a:rPr dirty="0" sz="1100" spc="-30">
                <a:latin typeface="Verdana"/>
                <a:cs typeface="Verdana"/>
              </a:rPr>
              <a:t> </a:t>
            </a:r>
            <a:r>
              <a:rPr dirty="0" sz="1100" spc="35">
                <a:latin typeface="Verdana"/>
                <a:cs typeface="Verdana"/>
              </a:rPr>
              <a:t>dispositivos</a:t>
            </a:r>
            <a:r>
              <a:rPr dirty="0" sz="1100" spc="-45">
                <a:latin typeface="Verdana"/>
                <a:cs typeface="Verdana"/>
              </a:rPr>
              <a:t> </a:t>
            </a:r>
            <a:r>
              <a:rPr dirty="0" sz="1100" spc="40">
                <a:latin typeface="Verdana"/>
                <a:cs typeface="Verdana"/>
              </a:rPr>
              <a:t>más</a:t>
            </a:r>
            <a:r>
              <a:rPr dirty="0" sz="1100" spc="-45">
                <a:latin typeface="Verdana"/>
                <a:cs typeface="Verdana"/>
              </a:rPr>
              <a:t> </a:t>
            </a:r>
            <a:r>
              <a:rPr dirty="0" sz="1100" spc="20">
                <a:latin typeface="Verdana"/>
                <a:cs typeface="Verdana"/>
              </a:rPr>
              <a:t>allá</a:t>
            </a:r>
            <a:r>
              <a:rPr dirty="0" sz="1100" spc="-40">
                <a:latin typeface="Verdana"/>
                <a:cs typeface="Verdana"/>
              </a:rPr>
              <a:t> </a:t>
            </a:r>
            <a:r>
              <a:rPr dirty="0" sz="1100" spc="55">
                <a:latin typeface="Verdana"/>
                <a:cs typeface="Verdana"/>
              </a:rPr>
              <a:t>de</a:t>
            </a:r>
            <a:r>
              <a:rPr dirty="0" sz="1100" spc="-45">
                <a:latin typeface="Verdana"/>
                <a:cs typeface="Verdana"/>
              </a:rPr>
              <a:t> </a:t>
            </a:r>
            <a:r>
              <a:rPr dirty="0" sz="1100" spc="25">
                <a:latin typeface="Verdana"/>
                <a:cs typeface="Verdana"/>
              </a:rPr>
              <a:t>Acorn,</a:t>
            </a:r>
            <a:r>
              <a:rPr dirty="0" sz="1100" spc="-40">
                <a:latin typeface="Verdana"/>
                <a:cs typeface="Verdana"/>
              </a:rPr>
              <a:t> </a:t>
            </a:r>
            <a:r>
              <a:rPr dirty="0" sz="1100" spc="30">
                <a:latin typeface="Verdana"/>
                <a:cs typeface="Verdana"/>
              </a:rPr>
              <a:t>lo </a:t>
            </a:r>
            <a:r>
              <a:rPr dirty="0" sz="1100" spc="-375">
                <a:latin typeface="Verdana"/>
                <a:cs typeface="Verdana"/>
              </a:rPr>
              <a:t> </a:t>
            </a:r>
            <a:r>
              <a:rPr dirty="0" sz="1100" spc="60">
                <a:latin typeface="Verdana"/>
                <a:cs typeface="Verdana"/>
              </a:rPr>
              <a:t>que </a:t>
            </a:r>
            <a:r>
              <a:rPr dirty="0" sz="1100" spc="40">
                <a:latin typeface="Verdana"/>
                <a:cs typeface="Verdana"/>
              </a:rPr>
              <a:t>establece </a:t>
            </a:r>
            <a:r>
              <a:rPr dirty="0" sz="1100" spc="25">
                <a:latin typeface="Verdana"/>
                <a:cs typeface="Verdana"/>
              </a:rPr>
              <a:t>su </a:t>
            </a:r>
            <a:r>
              <a:rPr dirty="0" sz="1100" spc="60">
                <a:latin typeface="Verdana"/>
                <a:cs typeface="Verdana"/>
              </a:rPr>
              <a:t>modelo </a:t>
            </a:r>
            <a:r>
              <a:rPr dirty="0" sz="1100" spc="55">
                <a:latin typeface="Verdana"/>
                <a:cs typeface="Verdana"/>
              </a:rPr>
              <a:t>de </a:t>
            </a:r>
            <a:r>
              <a:rPr dirty="0" sz="1100" spc="60">
                <a:latin typeface="Verdana"/>
                <a:cs typeface="Verdana"/>
              </a:rPr>
              <a:t> negocio</a:t>
            </a:r>
            <a:r>
              <a:rPr dirty="0" sz="1100" spc="-40">
                <a:latin typeface="Verdana"/>
                <a:cs typeface="Verdana"/>
              </a:rPr>
              <a:t> </a:t>
            </a:r>
            <a:r>
              <a:rPr dirty="0" sz="1100" spc="45">
                <a:latin typeface="Verdana"/>
                <a:cs typeface="Verdana"/>
              </a:rPr>
              <a:t>basado</a:t>
            </a:r>
            <a:r>
              <a:rPr dirty="0" sz="1100" spc="-40">
                <a:latin typeface="Verdana"/>
                <a:cs typeface="Verdana"/>
              </a:rPr>
              <a:t> </a:t>
            </a:r>
            <a:r>
              <a:rPr dirty="0" sz="1100" spc="50">
                <a:latin typeface="Verdana"/>
                <a:cs typeface="Verdana"/>
              </a:rPr>
              <a:t>en</a:t>
            </a:r>
            <a:r>
              <a:rPr dirty="0" sz="1100" spc="-35">
                <a:latin typeface="Verdana"/>
                <a:cs typeface="Verdana"/>
              </a:rPr>
              <a:t> </a:t>
            </a:r>
            <a:r>
              <a:rPr dirty="0" sz="1100" spc="40">
                <a:latin typeface="Verdana"/>
                <a:cs typeface="Verdana"/>
              </a:rPr>
              <a:t>licencias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99773" y="9482623"/>
            <a:ext cx="25717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90" b="1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09519" y="11016843"/>
            <a:ext cx="27305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35" b="1">
                <a:solidFill>
                  <a:srgbClr val="FFFFFF"/>
                </a:solidFill>
                <a:latin typeface="Tahoma"/>
                <a:cs typeface="Tahoma"/>
              </a:rPr>
              <a:t>6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95011" y="12621268"/>
            <a:ext cx="2667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5" b="1">
                <a:solidFill>
                  <a:srgbClr val="FFFFFF"/>
                </a:solidFill>
                <a:latin typeface="Tahoma"/>
                <a:cs typeface="Tahoma"/>
              </a:rPr>
              <a:t>7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8341" y="2574556"/>
            <a:ext cx="3062605" cy="2331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55" b="1">
                <a:latin typeface="Verdana"/>
                <a:cs typeface="Verdana"/>
              </a:rPr>
              <a:t>1</a:t>
            </a:r>
            <a:r>
              <a:rPr dirty="0" sz="1400" spc="-110" b="1">
                <a:latin typeface="Verdana"/>
                <a:cs typeface="Verdana"/>
              </a:rPr>
              <a:t>9</a:t>
            </a:r>
            <a:r>
              <a:rPr dirty="0" sz="1400" spc="-80" b="1">
                <a:latin typeface="Verdana"/>
                <a:cs typeface="Verdana"/>
              </a:rPr>
              <a:t>8</a:t>
            </a:r>
            <a:r>
              <a:rPr dirty="0" sz="1400" spc="-175" b="1">
                <a:latin typeface="Verdana"/>
                <a:cs typeface="Verdana"/>
              </a:rPr>
              <a:t>3</a:t>
            </a:r>
            <a:r>
              <a:rPr dirty="0" sz="1400" spc="-200" b="1">
                <a:latin typeface="Verdana"/>
                <a:cs typeface="Verdana"/>
              </a:rPr>
              <a:t>:</a:t>
            </a:r>
            <a:r>
              <a:rPr dirty="0" sz="1400" spc="-85" b="1">
                <a:latin typeface="Verdana"/>
                <a:cs typeface="Verdana"/>
              </a:rPr>
              <a:t> </a:t>
            </a:r>
            <a:r>
              <a:rPr dirty="0" sz="1400" spc="5" b="1">
                <a:latin typeface="Verdana"/>
                <a:cs typeface="Verdana"/>
              </a:rPr>
              <a:t>C</a:t>
            </a:r>
            <a:r>
              <a:rPr dirty="0" sz="1400" spc="-100" b="1">
                <a:latin typeface="Verdana"/>
                <a:cs typeface="Verdana"/>
              </a:rPr>
              <a:t>r</a:t>
            </a:r>
            <a:r>
              <a:rPr dirty="0" sz="1400" spc="-55" b="1">
                <a:latin typeface="Verdana"/>
                <a:cs typeface="Verdana"/>
              </a:rPr>
              <a:t>e</a:t>
            </a:r>
            <a:r>
              <a:rPr dirty="0" sz="1400" spc="-80" b="1">
                <a:latin typeface="Verdana"/>
                <a:cs typeface="Verdana"/>
              </a:rPr>
              <a:t>a</a:t>
            </a:r>
            <a:r>
              <a:rPr dirty="0" sz="1400" spc="-5" b="1">
                <a:latin typeface="Verdana"/>
                <a:cs typeface="Verdana"/>
              </a:rPr>
              <a:t>c</a:t>
            </a:r>
            <a:r>
              <a:rPr dirty="0" sz="1400" spc="-65" b="1">
                <a:latin typeface="Verdana"/>
                <a:cs typeface="Verdana"/>
              </a:rPr>
              <a:t>i</a:t>
            </a:r>
            <a:r>
              <a:rPr dirty="0" sz="1400" spc="-50" b="1">
                <a:latin typeface="Verdana"/>
                <a:cs typeface="Verdana"/>
              </a:rPr>
              <a:t>ó</a:t>
            </a:r>
            <a:r>
              <a:rPr dirty="0" sz="1400" spc="-30" b="1">
                <a:latin typeface="Verdana"/>
                <a:cs typeface="Verdana"/>
              </a:rPr>
              <a:t>n</a:t>
            </a:r>
            <a:r>
              <a:rPr dirty="0" sz="1400" spc="-85" b="1">
                <a:latin typeface="Verdana"/>
                <a:cs typeface="Verdana"/>
              </a:rPr>
              <a:t> </a:t>
            </a:r>
            <a:r>
              <a:rPr dirty="0" sz="1400" spc="-20" b="1">
                <a:latin typeface="Verdana"/>
                <a:cs typeface="Verdana"/>
              </a:rPr>
              <a:t>d</a:t>
            </a:r>
            <a:r>
              <a:rPr dirty="0" sz="1400" spc="-55" b="1">
                <a:latin typeface="Verdana"/>
                <a:cs typeface="Verdana"/>
              </a:rPr>
              <a:t>e</a:t>
            </a:r>
            <a:r>
              <a:rPr dirty="0" sz="1400" spc="-60" b="1">
                <a:latin typeface="Verdana"/>
                <a:cs typeface="Verdana"/>
              </a:rPr>
              <a:t>l</a:t>
            </a:r>
            <a:r>
              <a:rPr dirty="0" sz="1400" spc="-85" b="1">
                <a:latin typeface="Verdana"/>
                <a:cs typeface="Verdana"/>
              </a:rPr>
              <a:t> </a:t>
            </a:r>
            <a:r>
              <a:rPr dirty="0" sz="1400" spc="-20" b="1">
                <a:latin typeface="Verdana"/>
                <a:cs typeface="Verdana"/>
              </a:rPr>
              <a:t>p</a:t>
            </a:r>
            <a:r>
              <a:rPr dirty="0" sz="1400" spc="-100" b="1">
                <a:latin typeface="Verdana"/>
                <a:cs typeface="Verdana"/>
              </a:rPr>
              <a:t>r</a:t>
            </a:r>
            <a:r>
              <a:rPr dirty="0" sz="1400" spc="-50" b="1">
                <a:latin typeface="Verdana"/>
                <a:cs typeface="Verdana"/>
              </a:rPr>
              <a:t>o</a:t>
            </a:r>
            <a:r>
              <a:rPr dirty="0" sz="1400" spc="-80" b="1">
                <a:latin typeface="Verdana"/>
                <a:cs typeface="Verdana"/>
              </a:rPr>
              <a:t>y</a:t>
            </a:r>
            <a:r>
              <a:rPr dirty="0" sz="1400" spc="-55" b="1">
                <a:latin typeface="Verdana"/>
                <a:cs typeface="Verdana"/>
              </a:rPr>
              <a:t>e</a:t>
            </a:r>
            <a:r>
              <a:rPr dirty="0" sz="1400" spc="-5" b="1">
                <a:latin typeface="Verdana"/>
                <a:cs typeface="Verdana"/>
              </a:rPr>
              <a:t>c</a:t>
            </a:r>
            <a:r>
              <a:rPr dirty="0" sz="1400" spc="-35" b="1">
                <a:latin typeface="Verdana"/>
                <a:cs typeface="Verdana"/>
              </a:rPr>
              <a:t>t</a:t>
            </a:r>
            <a:r>
              <a:rPr dirty="0" sz="1400" spc="-45" b="1">
                <a:latin typeface="Verdana"/>
                <a:cs typeface="Verdana"/>
              </a:rPr>
              <a:t>o</a:t>
            </a:r>
            <a:r>
              <a:rPr dirty="0" sz="1400" spc="-85" b="1">
                <a:latin typeface="Verdana"/>
                <a:cs typeface="Verdana"/>
              </a:rPr>
              <a:t> </a:t>
            </a:r>
            <a:r>
              <a:rPr dirty="0" sz="1400" spc="-20" b="1">
                <a:latin typeface="Verdana"/>
                <a:cs typeface="Verdana"/>
              </a:rPr>
              <a:t>A</a:t>
            </a:r>
            <a:r>
              <a:rPr dirty="0" sz="1400" spc="-75" b="1">
                <a:latin typeface="Verdana"/>
                <a:cs typeface="Verdana"/>
              </a:rPr>
              <a:t>R</a:t>
            </a:r>
            <a:r>
              <a:rPr dirty="0" sz="1400" spc="10" b="1">
                <a:latin typeface="Verdana"/>
                <a:cs typeface="Verdana"/>
              </a:rPr>
              <a:t>M</a:t>
            </a:r>
            <a:endParaRPr sz="1400">
              <a:latin typeface="Verdana"/>
              <a:cs typeface="Verdana"/>
            </a:endParaRPr>
          </a:p>
          <a:p>
            <a:pPr marL="101600" marR="227329">
              <a:lnSpc>
                <a:spcPct val="124300"/>
              </a:lnSpc>
              <a:spcBef>
                <a:spcPts val="1040"/>
              </a:spcBef>
            </a:pPr>
            <a:r>
              <a:rPr dirty="0" sz="1150" spc="25">
                <a:latin typeface="Verdana"/>
                <a:cs typeface="Verdana"/>
              </a:rPr>
              <a:t>La </a:t>
            </a:r>
            <a:r>
              <a:rPr dirty="0" sz="1150" spc="35">
                <a:latin typeface="Verdana"/>
                <a:cs typeface="Verdana"/>
              </a:rPr>
              <a:t>empresa británica </a:t>
            </a:r>
            <a:r>
              <a:rPr dirty="0" sz="1150" spc="50">
                <a:latin typeface="Verdana"/>
                <a:cs typeface="Verdana"/>
              </a:rPr>
              <a:t>Acorn </a:t>
            </a:r>
            <a:r>
              <a:rPr dirty="0" sz="1150" spc="55">
                <a:latin typeface="Verdana"/>
                <a:cs typeface="Verdana"/>
              </a:rPr>
              <a:t> </a:t>
            </a:r>
            <a:r>
              <a:rPr dirty="0" sz="1150" spc="45">
                <a:latin typeface="Verdana"/>
                <a:cs typeface="Verdana"/>
              </a:rPr>
              <a:t>Computers </a:t>
            </a:r>
            <a:r>
              <a:rPr dirty="0" sz="1150" spc="35">
                <a:latin typeface="Verdana"/>
                <a:cs typeface="Verdana"/>
              </a:rPr>
              <a:t>inicia </a:t>
            </a:r>
            <a:r>
              <a:rPr dirty="0" sz="1150" spc="20">
                <a:latin typeface="Verdana"/>
                <a:cs typeface="Verdana"/>
              </a:rPr>
              <a:t>el </a:t>
            </a:r>
            <a:r>
              <a:rPr dirty="0" sz="1150" spc="35">
                <a:latin typeface="Verdana"/>
                <a:cs typeface="Verdana"/>
              </a:rPr>
              <a:t>proyecto </a:t>
            </a:r>
            <a:r>
              <a:rPr dirty="0" sz="1150" spc="25">
                <a:latin typeface="Verdana"/>
                <a:cs typeface="Verdana"/>
              </a:rPr>
              <a:t>para </a:t>
            </a:r>
            <a:r>
              <a:rPr dirty="0" sz="1150" spc="30">
                <a:latin typeface="Verdana"/>
                <a:cs typeface="Verdana"/>
              </a:rPr>
              <a:t> </a:t>
            </a:r>
            <a:r>
              <a:rPr dirty="0" sz="1150" spc="20">
                <a:latin typeface="Verdana"/>
                <a:cs typeface="Verdana"/>
              </a:rPr>
              <a:t>desarrollar </a:t>
            </a:r>
            <a:r>
              <a:rPr dirty="0" sz="1150" spc="60">
                <a:latin typeface="Verdana"/>
                <a:cs typeface="Verdana"/>
              </a:rPr>
              <a:t>un </a:t>
            </a:r>
            <a:r>
              <a:rPr dirty="0" sz="1150" spc="35">
                <a:latin typeface="Verdana"/>
                <a:cs typeface="Verdana"/>
              </a:rPr>
              <a:t>procesador </a:t>
            </a:r>
            <a:r>
              <a:rPr dirty="0" sz="1150" spc="40">
                <a:latin typeface="Verdana"/>
                <a:cs typeface="Verdana"/>
              </a:rPr>
              <a:t>eficiente </a:t>
            </a:r>
            <a:r>
              <a:rPr dirty="0" sz="1150" spc="-390">
                <a:latin typeface="Verdana"/>
                <a:cs typeface="Verdana"/>
              </a:rPr>
              <a:t> </a:t>
            </a:r>
            <a:r>
              <a:rPr dirty="0" sz="1150" spc="25">
                <a:latin typeface="Verdana"/>
                <a:cs typeface="Verdana"/>
              </a:rPr>
              <a:t>para</a:t>
            </a:r>
            <a:r>
              <a:rPr dirty="0" sz="1150" spc="-60">
                <a:latin typeface="Verdana"/>
                <a:cs typeface="Verdana"/>
              </a:rPr>
              <a:t> </a:t>
            </a:r>
            <a:r>
              <a:rPr dirty="0" sz="1150" spc="10">
                <a:latin typeface="Verdana"/>
                <a:cs typeface="Verdana"/>
              </a:rPr>
              <a:t>sus</a:t>
            </a:r>
            <a:r>
              <a:rPr dirty="0" sz="1150" spc="-60">
                <a:latin typeface="Verdana"/>
                <a:cs typeface="Verdana"/>
              </a:rPr>
              <a:t> </a:t>
            </a:r>
            <a:r>
              <a:rPr dirty="0" sz="1150" spc="50">
                <a:latin typeface="Verdana"/>
                <a:cs typeface="Verdana"/>
              </a:rPr>
              <a:t>computadoras</a:t>
            </a:r>
            <a:r>
              <a:rPr dirty="0" sz="1150" spc="-60">
                <a:latin typeface="Verdana"/>
                <a:cs typeface="Verdana"/>
              </a:rPr>
              <a:t> </a:t>
            </a:r>
            <a:r>
              <a:rPr dirty="0" sz="1150" spc="15">
                <a:latin typeface="Verdana"/>
                <a:cs typeface="Verdana"/>
              </a:rPr>
              <a:t>personales. </a:t>
            </a:r>
            <a:r>
              <a:rPr dirty="0" sz="1150" spc="-390">
                <a:latin typeface="Verdana"/>
                <a:cs typeface="Verdana"/>
              </a:rPr>
              <a:t> </a:t>
            </a:r>
            <a:r>
              <a:rPr dirty="0" sz="1150" spc="30">
                <a:latin typeface="Verdana"/>
                <a:cs typeface="Verdana"/>
              </a:rPr>
              <a:t>El </a:t>
            </a:r>
            <a:r>
              <a:rPr dirty="0" sz="1150" spc="35">
                <a:latin typeface="Verdana"/>
                <a:cs typeface="Verdana"/>
              </a:rPr>
              <a:t>proyecto </a:t>
            </a:r>
            <a:r>
              <a:rPr dirty="0" sz="1150" spc="5">
                <a:latin typeface="Verdana"/>
                <a:cs typeface="Verdana"/>
              </a:rPr>
              <a:t>se </a:t>
            </a:r>
            <a:r>
              <a:rPr dirty="0" sz="1150" spc="20">
                <a:latin typeface="Verdana"/>
                <a:cs typeface="Verdana"/>
              </a:rPr>
              <a:t>basa </a:t>
            </a:r>
            <a:r>
              <a:rPr dirty="0" sz="1150" spc="45">
                <a:latin typeface="Verdana"/>
                <a:cs typeface="Verdana"/>
              </a:rPr>
              <a:t>en </a:t>
            </a:r>
            <a:r>
              <a:rPr dirty="0" sz="1150" spc="10">
                <a:latin typeface="Verdana"/>
                <a:cs typeface="Verdana"/>
              </a:rPr>
              <a:t>la </a:t>
            </a:r>
            <a:r>
              <a:rPr dirty="0" sz="1150" spc="15">
                <a:latin typeface="Verdana"/>
                <a:cs typeface="Verdana"/>
              </a:rPr>
              <a:t> </a:t>
            </a:r>
            <a:r>
              <a:rPr dirty="0" sz="1150" spc="40">
                <a:latin typeface="Verdana"/>
                <a:cs typeface="Verdana"/>
              </a:rPr>
              <a:t>arquitectura </a:t>
            </a:r>
            <a:r>
              <a:rPr dirty="0" sz="1150" spc="-45">
                <a:latin typeface="Verdana"/>
                <a:cs typeface="Verdana"/>
              </a:rPr>
              <a:t>RISC, </a:t>
            </a:r>
            <a:r>
              <a:rPr dirty="0" sz="1150" spc="55">
                <a:latin typeface="Verdana"/>
                <a:cs typeface="Verdana"/>
              </a:rPr>
              <a:t>buscando </a:t>
            </a:r>
            <a:r>
              <a:rPr dirty="0" sz="1150" spc="60">
                <a:latin typeface="Verdana"/>
                <a:cs typeface="Verdana"/>
              </a:rPr>
              <a:t> </a:t>
            </a:r>
            <a:r>
              <a:rPr dirty="0" sz="1150" spc="50">
                <a:latin typeface="Verdana"/>
                <a:cs typeface="Verdana"/>
              </a:rPr>
              <a:t>simplicidad </a:t>
            </a:r>
            <a:r>
              <a:rPr dirty="0" sz="1150" spc="-45">
                <a:latin typeface="Verdana"/>
                <a:cs typeface="Verdana"/>
              </a:rPr>
              <a:t>y </a:t>
            </a:r>
            <a:r>
              <a:rPr dirty="0" sz="1150" spc="40">
                <a:latin typeface="Verdana"/>
                <a:cs typeface="Verdana"/>
              </a:rPr>
              <a:t>eficiencia </a:t>
            </a:r>
            <a:r>
              <a:rPr dirty="0" sz="1150" spc="25">
                <a:latin typeface="Verdana"/>
                <a:cs typeface="Verdana"/>
              </a:rPr>
              <a:t>energética, </a:t>
            </a:r>
            <a:r>
              <a:rPr dirty="0" sz="1150" spc="-390">
                <a:latin typeface="Verdana"/>
                <a:cs typeface="Verdana"/>
              </a:rPr>
              <a:t> </a:t>
            </a:r>
            <a:r>
              <a:rPr dirty="0" sz="1150" spc="30">
                <a:latin typeface="Verdana"/>
                <a:cs typeface="Verdana"/>
              </a:rPr>
              <a:t>características</a:t>
            </a:r>
            <a:r>
              <a:rPr dirty="0" sz="1150" spc="-55">
                <a:latin typeface="Verdana"/>
                <a:cs typeface="Verdana"/>
              </a:rPr>
              <a:t> </a:t>
            </a:r>
            <a:r>
              <a:rPr dirty="0" sz="1150" spc="55">
                <a:latin typeface="Verdana"/>
                <a:cs typeface="Verdana"/>
              </a:rPr>
              <a:t>que</a:t>
            </a:r>
            <a:r>
              <a:rPr dirty="0" sz="1150" spc="-50">
                <a:latin typeface="Verdana"/>
                <a:cs typeface="Verdana"/>
              </a:rPr>
              <a:t> </a:t>
            </a:r>
            <a:r>
              <a:rPr dirty="0" sz="1150" spc="50">
                <a:latin typeface="Verdana"/>
                <a:cs typeface="Verdana"/>
              </a:rPr>
              <a:t>luego</a:t>
            </a:r>
            <a:r>
              <a:rPr dirty="0" sz="1150" spc="-50">
                <a:latin typeface="Verdana"/>
                <a:cs typeface="Verdana"/>
              </a:rPr>
              <a:t> </a:t>
            </a:r>
            <a:r>
              <a:rPr dirty="0" sz="1150" spc="35">
                <a:latin typeface="Verdana"/>
                <a:cs typeface="Verdana"/>
              </a:rPr>
              <a:t>definirían </a:t>
            </a:r>
            <a:r>
              <a:rPr dirty="0" sz="1150" spc="-390">
                <a:latin typeface="Verdana"/>
                <a:cs typeface="Verdana"/>
              </a:rPr>
              <a:t> </a:t>
            </a:r>
            <a:r>
              <a:rPr dirty="0" sz="1150" spc="10">
                <a:latin typeface="Verdana"/>
                <a:cs typeface="Verdana"/>
              </a:rPr>
              <a:t>la</a:t>
            </a:r>
            <a:r>
              <a:rPr dirty="0" sz="1150" spc="-45">
                <a:latin typeface="Verdana"/>
                <a:cs typeface="Verdana"/>
              </a:rPr>
              <a:t> </a:t>
            </a:r>
            <a:r>
              <a:rPr dirty="0" sz="1150" spc="30">
                <a:latin typeface="Verdana"/>
                <a:cs typeface="Verdana"/>
              </a:rPr>
              <a:t>familia</a:t>
            </a:r>
            <a:r>
              <a:rPr dirty="0" sz="1150" spc="-40">
                <a:latin typeface="Verdana"/>
                <a:cs typeface="Verdana"/>
              </a:rPr>
              <a:t> </a:t>
            </a:r>
            <a:r>
              <a:rPr dirty="0" sz="1150" spc="30">
                <a:latin typeface="Verdana"/>
                <a:cs typeface="Verdana"/>
              </a:rPr>
              <a:t>ARM.</a:t>
            </a:r>
            <a:endParaRPr sz="11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2269" y="5679955"/>
            <a:ext cx="2894965" cy="2440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36625">
              <a:lnSpc>
                <a:spcPct val="100000"/>
              </a:lnSpc>
              <a:spcBef>
                <a:spcPts val="100"/>
              </a:spcBef>
            </a:pPr>
            <a:r>
              <a:rPr dirty="0" sz="1400" spc="-455" b="1">
                <a:latin typeface="Verdana"/>
                <a:cs typeface="Verdana"/>
              </a:rPr>
              <a:t>1</a:t>
            </a:r>
            <a:r>
              <a:rPr dirty="0" sz="1400" spc="-110" b="1">
                <a:latin typeface="Verdana"/>
                <a:cs typeface="Verdana"/>
              </a:rPr>
              <a:t>9</a:t>
            </a:r>
            <a:r>
              <a:rPr dirty="0" sz="1400" spc="-80" b="1">
                <a:latin typeface="Verdana"/>
                <a:cs typeface="Verdana"/>
              </a:rPr>
              <a:t>8</a:t>
            </a:r>
            <a:r>
              <a:rPr dirty="0" sz="1400" spc="-135" b="1">
                <a:latin typeface="Verdana"/>
                <a:cs typeface="Verdana"/>
              </a:rPr>
              <a:t>7</a:t>
            </a:r>
            <a:r>
              <a:rPr dirty="0" sz="1400" spc="-200" b="1">
                <a:latin typeface="Verdana"/>
                <a:cs typeface="Verdana"/>
              </a:rPr>
              <a:t>:</a:t>
            </a:r>
            <a:r>
              <a:rPr dirty="0" sz="1400" spc="-85" b="1">
                <a:latin typeface="Verdana"/>
                <a:cs typeface="Verdana"/>
              </a:rPr>
              <a:t> </a:t>
            </a:r>
            <a:r>
              <a:rPr dirty="0" sz="1400" spc="-20" b="1">
                <a:latin typeface="Verdana"/>
                <a:cs typeface="Verdana"/>
              </a:rPr>
              <a:t>A</a:t>
            </a:r>
            <a:r>
              <a:rPr dirty="0" sz="1400" spc="-75" b="1">
                <a:latin typeface="Verdana"/>
                <a:cs typeface="Verdana"/>
              </a:rPr>
              <a:t>R</a:t>
            </a:r>
            <a:r>
              <a:rPr dirty="0" sz="1400" spc="5" b="1">
                <a:latin typeface="Verdana"/>
                <a:cs typeface="Verdana"/>
              </a:rPr>
              <a:t>M</a:t>
            </a:r>
            <a:r>
              <a:rPr dirty="0" sz="1400" spc="-170" b="1">
                <a:latin typeface="Verdana"/>
                <a:cs typeface="Verdana"/>
              </a:rPr>
              <a:t>2</a:t>
            </a:r>
            <a:endParaRPr sz="1400">
              <a:latin typeface="Verdana"/>
              <a:cs typeface="Verdana"/>
            </a:endParaRPr>
          </a:p>
          <a:p>
            <a:pPr marL="12700" marR="5080">
              <a:lnSpc>
                <a:spcPct val="125000"/>
              </a:lnSpc>
              <a:spcBef>
                <a:spcPts val="1130"/>
              </a:spcBef>
            </a:pPr>
            <a:r>
              <a:rPr dirty="0" sz="1200" spc="40">
                <a:latin typeface="Verdana"/>
                <a:cs typeface="Verdana"/>
              </a:rPr>
              <a:t>El </a:t>
            </a:r>
            <a:r>
              <a:rPr dirty="0" sz="1200" spc="60">
                <a:latin typeface="Verdana"/>
                <a:cs typeface="Verdana"/>
              </a:rPr>
              <a:t>ARM2 </a:t>
            </a:r>
            <a:r>
              <a:rPr dirty="0" sz="1200" spc="10">
                <a:latin typeface="Verdana"/>
                <a:cs typeface="Verdana"/>
              </a:rPr>
              <a:t>es </a:t>
            </a:r>
            <a:r>
              <a:rPr dirty="0" sz="1200" spc="25">
                <a:latin typeface="Verdana"/>
                <a:cs typeface="Verdana"/>
              </a:rPr>
              <a:t>el </a:t>
            </a:r>
            <a:r>
              <a:rPr dirty="0" sz="1200" spc="50">
                <a:latin typeface="Verdana"/>
                <a:cs typeface="Verdana"/>
              </a:rPr>
              <a:t>primer </a:t>
            </a:r>
            <a:r>
              <a:rPr dirty="0" sz="1200" spc="45">
                <a:latin typeface="Verdana"/>
                <a:cs typeface="Verdana"/>
              </a:rPr>
              <a:t>procesador </a:t>
            </a:r>
            <a:r>
              <a:rPr dirty="0" sz="1200" spc="50">
                <a:latin typeface="Verdana"/>
                <a:cs typeface="Verdana"/>
              </a:rPr>
              <a:t> </a:t>
            </a:r>
            <a:r>
              <a:rPr dirty="0" sz="1200" spc="95">
                <a:latin typeface="Verdana"/>
                <a:cs typeface="Verdana"/>
              </a:rPr>
              <a:t>ARM</a:t>
            </a:r>
            <a:r>
              <a:rPr dirty="0" sz="1200" spc="-50">
                <a:latin typeface="Verdana"/>
                <a:cs typeface="Verdana"/>
              </a:rPr>
              <a:t> </a:t>
            </a:r>
            <a:r>
              <a:rPr dirty="0" sz="1200" spc="40">
                <a:latin typeface="Verdana"/>
                <a:cs typeface="Verdana"/>
              </a:rPr>
              <a:t>comercializado,</a:t>
            </a:r>
            <a:r>
              <a:rPr dirty="0" sz="1200" spc="-50">
                <a:latin typeface="Verdana"/>
                <a:cs typeface="Verdana"/>
              </a:rPr>
              <a:t> </a:t>
            </a:r>
            <a:r>
              <a:rPr dirty="0" sz="1200" spc="45">
                <a:latin typeface="Verdana"/>
                <a:cs typeface="Verdana"/>
              </a:rPr>
              <a:t>utilizado</a:t>
            </a:r>
            <a:r>
              <a:rPr dirty="0" sz="1200" spc="-50">
                <a:latin typeface="Verdana"/>
                <a:cs typeface="Verdana"/>
              </a:rPr>
              <a:t> </a:t>
            </a:r>
            <a:r>
              <a:rPr dirty="0" sz="1200" spc="50">
                <a:latin typeface="Verdana"/>
                <a:cs typeface="Verdana"/>
              </a:rPr>
              <a:t>en</a:t>
            </a:r>
            <a:r>
              <a:rPr dirty="0" sz="1200" spc="-50">
                <a:latin typeface="Verdana"/>
                <a:cs typeface="Verdana"/>
              </a:rPr>
              <a:t> </a:t>
            </a:r>
            <a:r>
              <a:rPr dirty="0" sz="1200" spc="15">
                <a:latin typeface="Verdana"/>
                <a:cs typeface="Verdana"/>
              </a:rPr>
              <a:t>la </a:t>
            </a:r>
            <a:r>
              <a:rPr dirty="0" sz="1200" spc="-415">
                <a:latin typeface="Verdana"/>
                <a:cs typeface="Verdana"/>
              </a:rPr>
              <a:t> </a:t>
            </a:r>
            <a:r>
              <a:rPr dirty="0" sz="1200" spc="65">
                <a:latin typeface="Verdana"/>
                <a:cs typeface="Verdana"/>
              </a:rPr>
              <a:t>computadora </a:t>
            </a:r>
            <a:r>
              <a:rPr dirty="0" sz="1200" spc="60">
                <a:latin typeface="Verdana"/>
                <a:cs typeface="Verdana"/>
              </a:rPr>
              <a:t>Acorn </a:t>
            </a:r>
            <a:r>
              <a:rPr dirty="0" sz="1200" spc="40">
                <a:latin typeface="Verdana"/>
                <a:cs typeface="Verdana"/>
              </a:rPr>
              <a:t>Archimedes, </a:t>
            </a:r>
            <a:r>
              <a:rPr dirty="0" sz="1200" spc="45">
                <a:latin typeface="Verdana"/>
                <a:cs typeface="Verdana"/>
              </a:rPr>
              <a:t> </a:t>
            </a:r>
            <a:r>
              <a:rPr dirty="0" sz="1200" spc="50">
                <a:latin typeface="Verdana"/>
                <a:cs typeface="Verdana"/>
              </a:rPr>
              <a:t>Opera </a:t>
            </a:r>
            <a:r>
              <a:rPr dirty="0" sz="1200" spc="-5">
                <a:latin typeface="Verdana"/>
                <a:cs typeface="Verdana"/>
              </a:rPr>
              <a:t>a </a:t>
            </a:r>
            <a:r>
              <a:rPr dirty="0" sz="1200" spc="55">
                <a:latin typeface="Verdana"/>
                <a:cs typeface="Verdana"/>
              </a:rPr>
              <a:t>una </a:t>
            </a:r>
            <a:r>
              <a:rPr dirty="0" sz="1200" spc="50">
                <a:latin typeface="Verdana"/>
                <a:cs typeface="Verdana"/>
              </a:rPr>
              <a:t>velocidad </a:t>
            </a:r>
            <a:r>
              <a:rPr dirty="0" sz="1200" spc="60">
                <a:latin typeface="Verdana"/>
                <a:cs typeface="Verdana"/>
              </a:rPr>
              <a:t>de </a:t>
            </a:r>
            <a:r>
              <a:rPr dirty="0" sz="1200" spc="5">
                <a:latin typeface="Verdana"/>
                <a:cs typeface="Verdana"/>
              </a:rPr>
              <a:t>8 </a:t>
            </a:r>
            <a:r>
              <a:rPr dirty="0" sz="1200" spc="30">
                <a:latin typeface="Verdana"/>
                <a:cs typeface="Verdana"/>
              </a:rPr>
              <a:t>MHz, </a:t>
            </a:r>
            <a:r>
              <a:rPr dirty="0" sz="1200" spc="35">
                <a:latin typeface="Verdana"/>
                <a:cs typeface="Verdana"/>
              </a:rPr>
              <a:t> </a:t>
            </a:r>
            <a:r>
              <a:rPr dirty="0" sz="1200" spc="55">
                <a:latin typeface="Verdana"/>
                <a:cs typeface="Verdana"/>
              </a:rPr>
              <a:t>logrando </a:t>
            </a:r>
            <a:r>
              <a:rPr dirty="0" sz="1200" spc="70">
                <a:latin typeface="Verdana"/>
                <a:cs typeface="Verdana"/>
              </a:rPr>
              <a:t>un </a:t>
            </a:r>
            <a:r>
              <a:rPr dirty="0" sz="1200" spc="60">
                <a:latin typeface="Verdana"/>
                <a:cs typeface="Verdana"/>
              </a:rPr>
              <a:t>rendimiento </a:t>
            </a:r>
            <a:r>
              <a:rPr dirty="0" sz="1200" spc="55">
                <a:latin typeface="Verdana"/>
                <a:cs typeface="Verdana"/>
              </a:rPr>
              <a:t>notable </a:t>
            </a:r>
            <a:r>
              <a:rPr dirty="0" sz="1200" spc="60">
                <a:latin typeface="Verdana"/>
                <a:cs typeface="Verdana"/>
              </a:rPr>
              <a:t> </a:t>
            </a:r>
            <a:r>
              <a:rPr dirty="0" sz="1200" spc="30">
                <a:latin typeface="Verdana"/>
                <a:cs typeface="Verdana"/>
              </a:rPr>
              <a:t>para </a:t>
            </a:r>
            <a:r>
              <a:rPr dirty="0" sz="1200" spc="15">
                <a:latin typeface="Verdana"/>
                <a:cs typeface="Verdana"/>
              </a:rPr>
              <a:t>la </a:t>
            </a:r>
            <a:r>
              <a:rPr dirty="0" sz="1200" spc="60">
                <a:latin typeface="Verdana"/>
                <a:cs typeface="Verdana"/>
              </a:rPr>
              <a:t>época </a:t>
            </a:r>
            <a:r>
              <a:rPr dirty="0" sz="1200" spc="70">
                <a:latin typeface="Verdana"/>
                <a:cs typeface="Verdana"/>
              </a:rPr>
              <a:t>con un consumo </a:t>
            </a:r>
            <a:r>
              <a:rPr dirty="0" sz="1200" spc="75">
                <a:latin typeface="Verdana"/>
                <a:cs typeface="Verdana"/>
              </a:rPr>
              <a:t> </a:t>
            </a:r>
            <a:r>
              <a:rPr dirty="0" sz="1200" spc="55">
                <a:latin typeface="Verdana"/>
                <a:cs typeface="Verdana"/>
              </a:rPr>
              <a:t>energético muy </a:t>
            </a:r>
            <a:r>
              <a:rPr dirty="0" sz="1200" spc="25">
                <a:latin typeface="Verdana"/>
                <a:cs typeface="Verdana"/>
              </a:rPr>
              <a:t>bajo </a:t>
            </a:r>
            <a:r>
              <a:rPr dirty="0" sz="1200" spc="50">
                <a:latin typeface="Verdana"/>
                <a:cs typeface="Verdana"/>
              </a:rPr>
              <a:t>en </a:t>
            </a:r>
            <a:r>
              <a:rPr dirty="0" sz="1200" spc="55">
                <a:latin typeface="Verdana"/>
                <a:cs typeface="Verdana"/>
              </a:rPr>
              <a:t> </a:t>
            </a:r>
            <a:r>
              <a:rPr dirty="0" sz="1200" spc="60">
                <a:latin typeface="Verdana"/>
                <a:cs typeface="Verdana"/>
              </a:rPr>
              <a:t>comparación </a:t>
            </a:r>
            <a:r>
              <a:rPr dirty="0" sz="1200" spc="70">
                <a:latin typeface="Verdana"/>
                <a:cs typeface="Verdana"/>
              </a:rPr>
              <a:t>con </a:t>
            </a:r>
            <a:r>
              <a:rPr dirty="0" sz="1200" spc="30">
                <a:latin typeface="Verdana"/>
                <a:cs typeface="Verdana"/>
              </a:rPr>
              <a:t>otros </a:t>
            </a:r>
            <a:r>
              <a:rPr dirty="0" sz="1200" spc="35">
                <a:latin typeface="Verdana"/>
                <a:cs typeface="Verdana"/>
              </a:rPr>
              <a:t> </a:t>
            </a:r>
            <a:r>
              <a:rPr dirty="0" sz="1200" spc="30">
                <a:latin typeface="Verdana"/>
                <a:cs typeface="Verdana"/>
              </a:rPr>
              <a:t>procesadores.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94463" y="8775789"/>
            <a:ext cx="1155065" cy="290195"/>
          </a:xfrm>
          <a:custGeom>
            <a:avLst/>
            <a:gdLst/>
            <a:ahLst/>
            <a:cxnLst/>
            <a:rect l="l" t="t" r="r" b="b"/>
            <a:pathLst>
              <a:path w="1155064" h="290195">
                <a:moveTo>
                  <a:pt x="1082020" y="290195"/>
                </a:moveTo>
                <a:lnTo>
                  <a:pt x="72548" y="290195"/>
                </a:lnTo>
                <a:lnTo>
                  <a:pt x="44309" y="284493"/>
                </a:lnTo>
                <a:lnTo>
                  <a:pt x="21249" y="268946"/>
                </a:lnTo>
                <a:lnTo>
                  <a:pt x="5701" y="245885"/>
                </a:lnTo>
                <a:lnTo>
                  <a:pt x="0" y="217646"/>
                </a:lnTo>
                <a:lnTo>
                  <a:pt x="0" y="72548"/>
                </a:lnTo>
                <a:lnTo>
                  <a:pt x="5701" y="44309"/>
                </a:lnTo>
                <a:lnTo>
                  <a:pt x="21249" y="21249"/>
                </a:lnTo>
                <a:lnTo>
                  <a:pt x="44309" y="5701"/>
                </a:lnTo>
                <a:lnTo>
                  <a:pt x="72548" y="0"/>
                </a:lnTo>
                <a:lnTo>
                  <a:pt x="1082020" y="0"/>
                </a:lnTo>
                <a:lnTo>
                  <a:pt x="1122270" y="12189"/>
                </a:lnTo>
                <a:lnTo>
                  <a:pt x="1149046" y="44785"/>
                </a:lnTo>
                <a:lnTo>
                  <a:pt x="1154568" y="72548"/>
                </a:lnTo>
                <a:lnTo>
                  <a:pt x="1154568" y="217646"/>
                </a:lnTo>
                <a:lnTo>
                  <a:pt x="1148867" y="245885"/>
                </a:lnTo>
                <a:lnTo>
                  <a:pt x="1133319" y="268946"/>
                </a:lnTo>
                <a:lnTo>
                  <a:pt x="1110259" y="284493"/>
                </a:lnTo>
                <a:lnTo>
                  <a:pt x="1082020" y="290195"/>
                </a:lnTo>
                <a:close/>
              </a:path>
            </a:pathLst>
          </a:custGeom>
          <a:solidFill>
            <a:srgbClr val="EFC4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38848" y="8792361"/>
            <a:ext cx="2456815" cy="2211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6110">
              <a:lnSpc>
                <a:spcPct val="100000"/>
              </a:lnSpc>
              <a:spcBef>
                <a:spcPts val="100"/>
              </a:spcBef>
            </a:pPr>
            <a:r>
              <a:rPr dirty="0" sz="1400" spc="-455" b="1">
                <a:latin typeface="Verdana"/>
                <a:cs typeface="Verdana"/>
              </a:rPr>
              <a:t>1</a:t>
            </a:r>
            <a:r>
              <a:rPr dirty="0" sz="1400" spc="-110" b="1">
                <a:latin typeface="Verdana"/>
                <a:cs typeface="Verdana"/>
              </a:rPr>
              <a:t>99</a:t>
            </a:r>
            <a:r>
              <a:rPr dirty="0" sz="1400" spc="-455" b="1">
                <a:latin typeface="Verdana"/>
                <a:cs typeface="Verdana"/>
              </a:rPr>
              <a:t>1</a:t>
            </a:r>
            <a:r>
              <a:rPr dirty="0" sz="1400" spc="-200" b="1">
                <a:latin typeface="Verdana"/>
                <a:cs typeface="Verdana"/>
              </a:rPr>
              <a:t>:</a:t>
            </a:r>
            <a:r>
              <a:rPr dirty="0" sz="1400" spc="-85" b="1">
                <a:latin typeface="Verdana"/>
                <a:cs typeface="Verdana"/>
              </a:rPr>
              <a:t> </a:t>
            </a:r>
            <a:r>
              <a:rPr dirty="0" sz="1400" spc="-20" b="1">
                <a:latin typeface="Verdana"/>
                <a:cs typeface="Verdana"/>
              </a:rPr>
              <a:t>A</a:t>
            </a:r>
            <a:r>
              <a:rPr dirty="0" sz="1400" spc="-75" b="1">
                <a:latin typeface="Verdana"/>
                <a:cs typeface="Verdana"/>
              </a:rPr>
              <a:t>R</a:t>
            </a:r>
            <a:r>
              <a:rPr dirty="0" sz="1400" spc="5" b="1">
                <a:latin typeface="Verdana"/>
                <a:cs typeface="Verdana"/>
              </a:rPr>
              <a:t>M</a:t>
            </a:r>
            <a:r>
              <a:rPr dirty="0" sz="1400" spc="-105" b="1">
                <a:latin typeface="Verdana"/>
                <a:cs typeface="Verdana"/>
              </a:rPr>
              <a:t>6</a:t>
            </a:r>
            <a:endParaRPr sz="1400">
              <a:latin typeface="Verdana"/>
              <a:cs typeface="Verdana"/>
            </a:endParaRPr>
          </a:p>
          <a:p>
            <a:pPr marL="12700" marR="5080">
              <a:lnSpc>
                <a:spcPct val="125000"/>
              </a:lnSpc>
              <a:spcBef>
                <a:spcPts val="1125"/>
              </a:spcBef>
            </a:pPr>
            <a:r>
              <a:rPr dirty="0" sz="1200" spc="40">
                <a:latin typeface="Verdana"/>
                <a:cs typeface="Verdana"/>
              </a:rPr>
              <a:t>El </a:t>
            </a:r>
            <a:r>
              <a:rPr dirty="0" sz="1200" spc="70">
                <a:latin typeface="Verdana"/>
                <a:cs typeface="Verdana"/>
              </a:rPr>
              <a:t>ARM6 </a:t>
            </a:r>
            <a:r>
              <a:rPr dirty="0" sz="1200" spc="10">
                <a:latin typeface="Verdana"/>
                <a:cs typeface="Verdana"/>
              </a:rPr>
              <a:t>es </a:t>
            </a:r>
            <a:r>
              <a:rPr dirty="0" sz="1200" spc="40">
                <a:latin typeface="Verdana"/>
                <a:cs typeface="Verdana"/>
              </a:rPr>
              <a:t>desarrollado </a:t>
            </a:r>
            <a:r>
              <a:rPr dirty="0" sz="1200" spc="50">
                <a:latin typeface="Verdana"/>
                <a:cs typeface="Verdana"/>
              </a:rPr>
              <a:t>en </a:t>
            </a:r>
            <a:r>
              <a:rPr dirty="0" sz="1200" spc="55">
                <a:latin typeface="Verdana"/>
                <a:cs typeface="Verdana"/>
              </a:rPr>
              <a:t> colaboración </a:t>
            </a:r>
            <a:r>
              <a:rPr dirty="0" sz="1200" spc="70">
                <a:latin typeface="Verdana"/>
                <a:cs typeface="Verdana"/>
              </a:rPr>
              <a:t>con </a:t>
            </a:r>
            <a:r>
              <a:rPr dirty="0" sz="1200" spc="65">
                <a:latin typeface="Verdana"/>
                <a:cs typeface="Verdana"/>
              </a:rPr>
              <a:t>Apple </a:t>
            </a:r>
            <a:r>
              <a:rPr dirty="0" sz="1200" spc="30">
                <a:latin typeface="Verdana"/>
                <a:cs typeface="Verdana"/>
              </a:rPr>
              <a:t>para </a:t>
            </a:r>
            <a:r>
              <a:rPr dirty="0" sz="1200" spc="35">
                <a:latin typeface="Verdana"/>
                <a:cs typeface="Verdana"/>
              </a:rPr>
              <a:t> </a:t>
            </a:r>
            <a:r>
              <a:rPr dirty="0" sz="1200" spc="25">
                <a:latin typeface="Verdana"/>
                <a:cs typeface="Verdana"/>
              </a:rPr>
              <a:t>su </a:t>
            </a:r>
            <a:r>
              <a:rPr dirty="0" sz="1200" spc="45">
                <a:latin typeface="Verdana"/>
                <a:cs typeface="Verdana"/>
              </a:rPr>
              <a:t>proyecto Newton, </a:t>
            </a:r>
            <a:r>
              <a:rPr dirty="0" sz="1200" spc="70">
                <a:latin typeface="Verdana"/>
                <a:cs typeface="Verdana"/>
              </a:rPr>
              <a:t>un </a:t>
            </a:r>
            <a:r>
              <a:rPr dirty="0" sz="1200" spc="75">
                <a:latin typeface="Verdana"/>
                <a:cs typeface="Verdana"/>
              </a:rPr>
              <a:t> </a:t>
            </a:r>
            <a:r>
              <a:rPr dirty="0" sz="1200" spc="35">
                <a:latin typeface="Verdana"/>
                <a:cs typeface="Verdana"/>
              </a:rPr>
              <a:t>asistente </a:t>
            </a:r>
            <a:r>
              <a:rPr dirty="0" sz="1200" spc="50">
                <a:latin typeface="Verdana"/>
                <a:cs typeface="Verdana"/>
              </a:rPr>
              <a:t>digital </a:t>
            </a:r>
            <a:r>
              <a:rPr dirty="0" sz="1200" spc="40">
                <a:latin typeface="Verdana"/>
                <a:cs typeface="Verdana"/>
              </a:rPr>
              <a:t>personal </a:t>
            </a:r>
            <a:r>
              <a:rPr dirty="0" sz="1200" spc="45">
                <a:latin typeface="Verdana"/>
                <a:cs typeface="Verdana"/>
              </a:rPr>
              <a:t> </a:t>
            </a:r>
            <a:r>
              <a:rPr dirty="0" sz="1200" spc="-25">
                <a:latin typeface="Verdana"/>
                <a:cs typeface="Verdana"/>
              </a:rPr>
              <a:t>(PDA)., </a:t>
            </a:r>
            <a:r>
              <a:rPr dirty="0" sz="1200" spc="95">
                <a:latin typeface="Verdana"/>
                <a:cs typeface="Verdana"/>
              </a:rPr>
              <a:t>ARM </a:t>
            </a:r>
            <a:r>
              <a:rPr dirty="0" sz="1200" spc="55">
                <a:latin typeface="Verdana"/>
                <a:cs typeface="Verdana"/>
              </a:rPr>
              <a:t>comienza </a:t>
            </a:r>
            <a:r>
              <a:rPr dirty="0" sz="1200" spc="-5">
                <a:latin typeface="Verdana"/>
                <a:cs typeface="Verdana"/>
              </a:rPr>
              <a:t>a </a:t>
            </a:r>
            <a:r>
              <a:rPr dirty="0" sz="1200">
                <a:latin typeface="Verdana"/>
                <a:cs typeface="Verdana"/>
              </a:rPr>
              <a:t> </a:t>
            </a:r>
            <a:r>
              <a:rPr dirty="0" sz="1200" spc="45">
                <a:latin typeface="Verdana"/>
                <a:cs typeface="Verdana"/>
              </a:rPr>
              <a:t>licenciar </a:t>
            </a:r>
            <a:r>
              <a:rPr dirty="0" sz="1200" spc="25">
                <a:latin typeface="Verdana"/>
                <a:cs typeface="Verdana"/>
              </a:rPr>
              <a:t>su </a:t>
            </a:r>
            <a:r>
              <a:rPr dirty="0" sz="1200" spc="35">
                <a:latin typeface="Verdana"/>
                <a:cs typeface="Verdana"/>
              </a:rPr>
              <a:t>arquitectura, </a:t>
            </a:r>
            <a:r>
              <a:rPr dirty="0" sz="1200" spc="40">
                <a:latin typeface="Verdana"/>
                <a:cs typeface="Verdana"/>
              </a:rPr>
              <a:t> </a:t>
            </a:r>
            <a:r>
              <a:rPr dirty="0" sz="1200" spc="60">
                <a:latin typeface="Verdana"/>
                <a:cs typeface="Verdana"/>
              </a:rPr>
              <a:t>permitiendo</a:t>
            </a:r>
            <a:r>
              <a:rPr dirty="0" sz="1200" spc="-55">
                <a:latin typeface="Verdana"/>
                <a:cs typeface="Verdana"/>
              </a:rPr>
              <a:t> </a:t>
            </a:r>
            <a:r>
              <a:rPr dirty="0" sz="1200" spc="-5">
                <a:latin typeface="Verdana"/>
                <a:cs typeface="Verdana"/>
              </a:rPr>
              <a:t>a</a:t>
            </a:r>
            <a:r>
              <a:rPr dirty="0" sz="1200" spc="-50">
                <a:latin typeface="Verdana"/>
                <a:cs typeface="Verdana"/>
              </a:rPr>
              <a:t> </a:t>
            </a:r>
            <a:r>
              <a:rPr dirty="0" sz="1200" spc="25">
                <a:latin typeface="Verdana"/>
                <a:cs typeface="Verdana"/>
              </a:rPr>
              <a:t>otras</a:t>
            </a:r>
            <a:r>
              <a:rPr dirty="0" sz="1200" spc="-50">
                <a:latin typeface="Verdana"/>
                <a:cs typeface="Verdana"/>
              </a:rPr>
              <a:t> </a:t>
            </a:r>
            <a:r>
              <a:rPr dirty="0" sz="1200" spc="40">
                <a:latin typeface="Verdana"/>
                <a:cs typeface="Verdana"/>
              </a:rPr>
              <a:t>empresas </a:t>
            </a:r>
            <a:r>
              <a:rPr dirty="0" sz="1200" spc="-415">
                <a:latin typeface="Verdana"/>
                <a:cs typeface="Verdana"/>
              </a:rPr>
              <a:t> </a:t>
            </a:r>
            <a:r>
              <a:rPr dirty="0" sz="1200" spc="35">
                <a:latin typeface="Verdana"/>
                <a:cs typeface="Verdana"/>
              </a:rPr>
              <a:t>fabricar</a:t>
            </a:r>
            <a:r>
              <a:rPr dirty="0" sz="1200" spc="-50">
                <a:latin typeface="Verdana"/>
                <a:cs typeface="Verdana"/>
              </a:rPr>
              <a:t> </a:t>
            </a:r>
            <a:r>
              <a:rPr dirty="0" sz="1200" spc="45">
                <a:latin typeface="Verdana"/>
                <a:cs typeface="Verdana"/>
              </a:rPr>
              <a:t>procesadores</a:t>
            </a:r>
            <a:r>
              <a:rPr dirty="0" sz="1200" spc="-50">
                <a:latin typeface="Verdana"/>
                <a:cs typeface="Verdana"/>
              </a:rPr>
              <a:t> </a:t>
            </a:r>
            <a:r>
              <a:rPr dirty="0" sz="1200" spc="95">
                <a:latin typeface="Verdana"/>
                <a:cs typeface="Verdana"/>
              </a:rPr>
              <a:t>ARM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69914" y="4124864"/>
            <a:ext cx="30975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55" b="1">
                <a:latin typeface="Verdana"/>
                <a:cs typeface="Verdana"/>
              </a:rPr>
              <a:t>1</a:t>
            </a:r>
            <a:r>
              <a:rPr dirty="0" sz="1400" spc="-110" b="1">
                <a:latin typeface="Verdana"/>
                <a:cs typeface="Verdana"/>
              </a:rPr>
              <a:t>9</a:t>
            </a:r>
            <a:r>
              <a:rPr dirty="0" sz="1400" spc="-80" b="1">
                <a:latin typeface="Verdana"/>
                <a:cs typeface="Verdana"/>
              </a:rPr>
              <a:t>8</a:t>
            </a:r>
            <a:r>
              <a:rPr dirty="0" sz="1400" spc="-170" b="1">
                <a:latin typeface="Verdana"/>
                <a:cs typeface="Verdana"/>
              </a:rPr>
              <a:t>5</a:t>
            </a:r>
            <a:r>
              <a:rPr dirty="0" sz="1400" spc="-200" b="1">
                <a:latin typeface="Verdana"/>
                <a:cs typeface="Verdana"/>
              </a:rPr>
              <a:t>:</a:t>
            </a:r>
            <a:r>
              <a:rPr dirty="0" sz="1400" spc="-85" b="1">
                <a:latin typeface="Verdana"/>
                <a:cs typeface="Verdana"/>
              </a:rPr>
              <a:t> </a:t>
            </a:r>
            <a:r>
              <a:rPr dirty="0" sz="1400" spc="-20" b="1">
                <a:latin typeface="Verdana"/>
                <a:cs typeface="Verdana"/>
              </a:rPr>
              <a:t>A</a:t>
            </a:r>
            <a:r>
              <a:rPr dirty="0" sz="1400" spc="-5" b="1">
                <a:latin typeface="Verdana"/>
                <a:cs typeface="Verdana"/>
              </a:rPr>
              <a:t>c</a:t>
            </a:r>
            <a:r>
              <a:rPr dirty="0" sz="1400" spc="-50" b="1">
                <a:latin typeface="Verdana"/>
                <a:cs typeface="Verdana"/>
              </a:rPr>
              <a:t>o</a:t>
            </a:r>
            <a:r>
              <a:rPr dirty="0" sz="1400" spc="-100" b="1">
                <a:latin typeface="Verdana"/>
                <a:cs typeface="Verdana"/>
              </a:rPr>
              <a:t>r</a:t>
            </a:r>
            <a:r>
              <a:rPr dirty="0" sz="1400" spc="-30" b="1">
                <a:latin typeface="Verdana"/>
                <a:cs typeface="Verdana"/>
              </a:rPr>
              <a:t>n</a:t>
            </a:r>
            <a:r>
              <a:rPr dirty="0" sz="1400" spc="-85" b="1">
                <a:latin typeface="Verdana"/>
                <a:cs typeface="Verdana"/>
              </a:rPr>
              <a:t> </a:t>
            </a:r>
            <a:r>
              <a:rPr dirty="0" sz="1400" spc="-75" b="1">
                <a:latin typeface="Verdana"/>
                <a:cs typeface="Verdana"/>
              </a:rPr>
              <a:t>R</a:t>
            </a:r>
            <a:r>
              <a:rPr dirty="0" sz="1400" spc="-315" b="1">
                <a:latin typeface="Verdana"/>
                <a:cs typeface="Verdana"/>
              </a:rPr>
              <a:t>I</a:t>
            </a:r>
            <a:r>
              <a:rPr dirty="0" sz="1400" spc="-110" b="1">
                <a:latin typeface="Verdana"/>
                <a:cs typeface="Verdana"/>
              </a:rPr>
              <a:t>S</a:t>
            </a:r>
            <a:r>
              <a:rPr dirty="0" sz="1400" spc="10" b="1">
                <a:latin typeface="Verdana"/>
                <a:cs typeface="Verdana"/>
              </a:rPr>
              <a:t>C</a:t>
            </a:r>
            <a:r>
              <a:rPr dirty="0" sz="1400" spc="-85" b="1">
                <a:latin typeface="Verdana"/>
                <a:cs typeface="Verdana"/>
              </a:rPr>
              <a:t> </a:t>
            </a:r>
            <a:r>
              <a:rPr dirty="0" sz="1400" spc="5" b="1">
                <a:latin typeface="Verdana"/>
                <a:cs typeface="Verdana"/>
              </a:rPr>
              <a:t>M</a:t>
            </a:r>
            <a:r>
              <a:rPr dirty="0" sz="1400" spc="-80" b="1">
                <a:latin typeface="Verdana"/>
                <a:cs typeface="Verdana"/>
              </a:rPr>
              <a:t>a</a:t>
            </a:r>
            <a:r>
              <a:rPr dirty="0" sz="1400" spc="-5" b="1">
                <a:latin typeface="Verdana"/>
                <a:cs typeface="Verdana"/>
              </a:rPr>
              <a:t>c</a:t>
            </a:r>
            <a:r>
              <a:rPr dirty="0" sz="1400" spc="-35" b="1">
                <a:latin typeface="Verdana"/>
                <a:cs typeface="Verdana"/>
              </a:rPr>
              <a:t>h</a:t>
            </a:r>
            <a:r>
              <a:rPr dirty="0" sz="1400" spc="-65" b="1">
                <a:latin typeface="Verdana"/>
                <a:cs typeface="Verdana"/>
              </a:rPr>
              <a:t>i</a:t>
            </a:r>
            <a:r>
              <a:rPr dirty="0" sz="1400" spc="-35" b="1">
                <a:latin typeface="Verdana"/>
                <a:cs typeface="Verdana"/>
              </a:rPr>
              <a:t>n</a:t>
            </a:r>
            <a:r>
              <a:rPr dirty="0" sz="1400" spc="-50" b="1">
                <a:latin typeface="Verdana"/>
                <a:cs typeface="Verdana"/>
              </a:rPr>
              <a:t>e</a:t>
            </a:r>
            <a:r>
              <a:rPr dirty="0" sz="1400" spc="-85" b="1">
                <a:latin typeface="Verdana"/>
                <a:cs typeface="Verdana"/>
              </a:rPr>
              <a:t> </a:t>
            </a:r>
            <a:r>
              <a:rPr dirty="0" sz="1400" spc="-270" b="1">
                <a:latin typeface="Verdana"/>
                <a:cs typeface="Verdana"/>
              </a:rPr>
              <a:t>(</a:t>
            </a:r>
            <a:r>
              <a:rPr dirty="0" sz="1400" spc="-20" b="1">
                <a:latin typeface="Verdana"/>
                <a:cs typeface="Verdana"/>
              </a:rPr>
              <a:t>A</a:t>
            </a:r>
            <a:r>
              <a:rPr dirty="0" sz="1400" spc="-75" b="1">
                <a:latin typeface="Verdana"/>
                <a:cs typeface="Verdana"/>
              </a:rPr>
              <a:t>R</a:t>
            </a:r>
            <a:r>
              <a:rPr dirty="0" sz="1400" spc="5" b="1">
                <a:latin typeface="Verdana"/>
                <a:cs typeface="Verdana"/>
              </a:rPr>
              <a:t>M</a:t>
            </a:r>
            <a:r>
              <a:rPr dirty="0" sz="1400" spc="-455" b="1">
                <a:latin typeface="Verdana"/>
                <a:cs typeface="Verdana"/>
              </a:rPr>
              <a:t>1</a:t>
            </a:r>
            <a:r>
              <a:rPr dirty="0" sz="1400" spc="-260" b="1">
                <a:latin typeface="Verdana"/>
                <a:cs typeface="Verdana"/>
              </a:rPr>
              <a:t>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665289" y="7220841"/>
            <a:ext cx="2821305" cy="290195"/>
          </a:xfrm>
          <a:custGeom>
            <a:avLst/>
            <a:gdLst/>
            <a:ahLst/>
            <a:cxnLst/>
            <a:rect l="l" t="t" r="r" b="b"/>
            <a:pathLst>
              <a:path w="2821304" h="290195">
                <a:moveTo>
                  <a:pt x="2748597" y="290195"/>
                </a:moveTo>
                <a:lnTo>
                  <a:pt x="72548" y="290195"/>
                </a:lnTo>
                <a:lnTo>
                  <a:pt x="58329" y="288788"/>
                </a:lnTo>
                <a:lnTo>
                  <a:pt x="21249" y="268946"/>
                </a:lnTo>
                <a:lnTo>
                  <a:pt x="1406" y="231865"/>
                </a:lnTo>
                <a:lnTo>
                  <a:pt x="0" y="217646"/>
                </a:lnTo>
                <a:lnTo>
                  <a:pt x="0" y="72548"/>
                </a:lnTo>
                <a:lnTo>
                  <a:pt x="5701" y="44309"/>
                </a:lnTo>
                <a:lnTo>
                  <a:pt x="21249" y="21249"/>
                </a:lnTo>
                <a:lnTo>
                  <a:pt x="44309" y="5701"/>
                </a:lnTo>
                <a:lnTo>
                  <a:pt x="72548" y="0"/>
                </a:lnTo>
                <a:lnTo>
                  <a:pt x="2748597" y="0"/>
                </a:lnTo>
                <a:lnTo>
                  <a:pt x="2788847" y="12189"/>
                </a:lnTo>
                <a:lnTo>
                  <a:pt x="2815623" y="44785"/>
                </a:lnTo>
                <a:lnTo>
                  <a:pt x="2821146" y="72548"/>
                </a:lnTo>
                <a:lnTo>
                  <a:pt x="2821146" y="217646"/>
                </a:lnTo>
                <a:lnTo>
                  <a:pt x="2815444" y="245885"/>
                </a:lnTo>
                <a:lnTo>
                  <a:pt x="2799897" y="268946"/>
                </a:lnTo>
                <a:lnTo>
                  <a:pt x="2776836" y="284493"/>
                </a:lnTo>
                <a:lnTo>
                  <a:pt x="2748597" y="290195"/>
                </a:lnTo>
                <a:close/>
              </a:path>
            </a:pathLst>
          </a:custGeom>
          <a:solidFill>
            <a:srgbClr val="F7BD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723709" y="7237414"/>
            <a:ext cx="27044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55" b="1">
                <a:latin typeface="Verdana"/>
                <a:cs typeface="Verdana"/>
              </a:rPr>
              <a:t>1</a:t>
            </a:r>
            <a:r>
              <a:rPr dirty="0" sz="1400" spc="-110" b="1">
                <a:latin typeface="Verdana"/>
                <a:cs typeface="Verdana"/>
              </a:rPr>
              <a:t>99</a:t>
            </a:r>
            <a:r>
              <a:rPr dirty="0" sz="1400" spc="-50" b="1">
                <a:latin typeface="Verdana"/>
                <a:cs typeface="Verdana"/>
              </a:rPr>
              <a:t>0</a:t>
            </a:r>
            <a:r>
              <a:rPr dirty="0" sz="1400" spc="-200" b="1">
                <a:latin typeface="Verdana"/>
                <a:cs typeface="Verdana"/>
              </a:rPr>
              <a:t>:</a:t>
            </a:r>
            <a:r>
              <a:rPr dirty="0" sz="1400" spc="-85" b="1">
                <a:latin typeface="Verdana"/>
                <a:cs typeface="Verdana"/>
              </a:rPr>
              <a:t> </a:t>
            </a:r>
            <a:r>
              <a:rPr dirty="0" sz="1400" spc="-25" b="1">
                <a:latin typeface="Verdana"/>
                <a:cs typeface="Verdana"/>
              </a:rPr>
              <a:t>F</a:t>
            </a:r>
            <a:r>
              <a:rPr dirty="0" sz="1400" spc="-45" b="1">
                <a:latin typeface="Verdana"/>
                <a:cs typeface="Verdana"/>
              </a:rPr>
              <a:t>u</a:t>
            </a:r>
            <a:r>
              <a:rPr dirty="0" sz="1400" spc="-35" b="1">
                <a:latin typeface="Verdana"/>
                <a:cs typeface="Verdana"/>
              </a:rPr>
              <a:t>n</a:t>
            </a:r>
            <a:r>
              <a:rPr dirty="0" sz="1400" spc="-20" b="1">
                <a:latin typeface="Verdana"/>
                <a:cs typeface="Verdana"/>
              </a:rPr>
              <a:t>d</a:t>
            </a:r>
            <a:r>
              <a:rPr dirty="0" sz="1400" spc="-80" b="1">
                <a:latin typeface="Verdana"/>
                <a:cs typeface="Verdana"/>
              </a:rPr>
              <a:t>a</a:t>
            </a:r>
            <a:r>
              <a:rPr dirty="0" sz="1400" spc="-5" b="1">
                <a:latin typeface="Verdana"/>
                <a:cs typeface="Verdana"/>
              </a:rPr>
              <a:t>c</a:t>
            </a:r>
            <a:r>
              <a:rPr dirty="0" sz="1400" spc="-65" b="1">
                <a:latin typeface="Verdana"/>
                <a:cs typeface="Verdana"/>
              </a:rPr>
              <a:t>i</a:t>
            </a:r>
            <a:r>
              <a:rPr dirty="0" sz="1400" spc="-50" b="1">
                <a:latin typeface="Verdana"/>
                <a:cs typeface="Verdana"/>
              </a:rPr>
              <a:t>ó</a:t>
            </a:r>
            <a:r>
              <a:rPr dirty="0" sz="1400" spc="-30" b="1">
                <a:latin typeface="Verdana"/>
                <a:cs typeface="Verdana"/>
              </a:rPr>
              <a:t>n</a:t>
            </a:r>
            <a:r>
              <a:rPr dirty="0" sz="1400" spc="-85" b="1">
                <a:latin typeface="Verdana"/>
                <a:cs typeface="Verdana"/>
              </a:rPr>
              <a:t> </a:t>
            </a:r>
            <a:r>
              <a:rPr dirty="0" sz="1400" spc="-20" b="1">
                <a:latin typeface="Verdana"/>
                <a:cs typeface="Verdana"/>
              </a:rPr>
              <a:t>d</a:t>
            </a:r>
            <a:r>
              <a:rPr dirty="0" sz="1400" spc="-50" b="1">
                <a:latin typeface="Verdana"/>
                <a:cs typeface="Verdana"/>
              </a:rPr>
              <a:t>e</a:t>
            </a:r>
            <a:r>
              <a:rPr dirty="0" sz="1400" spc="-85" b="1">
                <a:latin typeface="Verdana"/>
                <a:cs typeface="Verdana"/>
              </a:rPr>
              <a:t> </a:t>
            </a:r>
            <a:r>
              <a:rPr dirty="0" sz="1400" spc="-20" b="1">
                <a:latin typeface="Verdana"/>
                <a:cs typeface="Verdana"/>
              </a:rPr>
              <a:t>A</a:t>
            </a:r>
            <a:r>
              <a:rPr dirty="0" sz="1400" spc="-75" b="1">
                <a:latin typeface="Verdana"/>
                <a:cs typeface="Verdana"/>
              </a:rPr>
              <a:t>R</a:t>
            </a:r>
            <a:r>
              <a:rPr dirty="0" sz="1400" spc="10" b="1">
                <a:latin typeface="Verdana"/>
                <a:cs typeface="Verdana"/>
              </a:rPr>
              <a:t>M</a:t>
            </a:r>
            <a:r>
              <a:rPr dirty="0" sz="1400" spc="-85" b="1">
                <a:latin typeface="Verdana"/>
                <a:cs typeface="Verdana"/>
              </a:rPr>
              <a:t> </a:t>
            </a:r>
            <a:r>
              <a:rPr dirty="0" sz="1400" spc="-55" b="1">
                <a:latin typeface="Verdana"/>
                <a:cs typeface="Verdana"/>
              </a:rPr>
              <a:t>L</a:t>
            </a:r>
            <a:r>
              <a:rPr dirty="0" sz="1400" spc="-35" b="1">
                <a:latin typeface="Verdana"/>
                <a:cs typeface="Verdana"/>
              </a:rPr>
              <a:t>t</a:t>
            </a:r>
            <a:r>
              <a:rPr dirty="0" sz="1400" spc="-20" b="1">
                <a:latin typeface="Verdana"/>
                <a:cs typeface="Verdana"/>
              </a:rPr>
              <a:t>d</a:t>
            </a:r>
            <a:r>
              <a:rPr dirty="0" sz="1400" spc="-140" b="1">
                <a:latin typeface="Verdana"/>
                <a:cs typeface="Verdana"/>
              </a:rPr>
              <a:t>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69622" y="10756850"/>
            <a:ext cx="2854325" cy="1701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dirty="0" sz="1100" spc="35">
                <a:latin typeface="Verdana"/>
                <a:cs typeface="Verdana"/>
              </a:rPr>
              <a:t>El </a:t>
            </a:r>
            <a:r>
              <a:rPr dirty="0" sz="1100" spc="65">
                <a:latin typeface="Verdana"/>
                <a:cs typeface="Verdana"/>
              </a:rPr>
              <a:t>ARM7 </a:t>
            </a:r>
            <a:r>
              <a:rPr dirty="0" sz="1100" spc="10">
                <a:latin typeface="Verdana"/>
                <a:cs typeface="Verdana"/>
              </a:rPr>
              <a:t>se </a:t>
            </a:r>
            <a:r>
              <a:rPr dirty="0" sz="1100" spc="40">
                <a:latin typeface="Verdana"/>
                <a:cs typeface="Verdana"/>
              </a:rPr>
              <a:t>convierte </a:t>
            </a:r>
            <a:r>
              <a:rPr dirty="0" sz="1100" spc="50">
                <a:latin typeface="Verdana"/>
                <a:cs typeface="Verdana"/>
              </a:rPr>
              <a:t>en </a:t>
            </a:r>
            <a:r>
              <a:rPr dirty="0" sz="1100" spc="60">
                <a:latin typeface="Verdana"/>
                <a:cs typeface="Verdana"/>
              </a:rPr>
              <a:t>uno </a:t>
            </a:r>
            <a:r>
              <a:rPr dirty="0" sz="1100" spc="55">
                <a:latin typeface="Verdana"/>
                <a:cs typeface="Verdana"/>
              </a:rPr>
              <a:t>de </a:t>
            </a:r>
            <a:r>
              <a:rPr dirty="0" sz="1100" spc="20">
                <a:latin typeface="Verdana"/>
                <a:cs typeface="Verdana"/>
              </a:rPr>
              <a:t>los </a:t>
            </a:r>
            <a:r>
              <a:rPr dirty="0" sz="1100" spc="25">
                <a:latin typeface="Verdana"/>
                <a:cs typeface="Verdana"/>
              </a:rPr>
              <a:t> </a:t>
            </a:r>
            <a:r>
              <a:rPr dirty="0" sz="1100" spc="40">
                <a:latin typeface="Verdana"/>
                <a:cs typeface="Verdana"/>
              </a:rPr>
              <a:t>procesadores </a:t>
            </a:r>
            <a:r>
              <a:rPr dirty="0" sz="1100" spc="90">
                <a:latin typeface="Verdana"/>
                <a:cs typeface="Verdana"/>
              </a:rPr>
              <a:t>ARM </a:t>
            </a:r>
            <a:r>
              <a:rPr dirty="0" sz="1100" spc="40">
                <a:latin typeface="Verdana"/>
                <a:cs typeface="Verdana"/>
              </a:rPr>
              <a:t>más </a:t>
            </a:r>
            <a:r>
              <a:rPr dirty="0" sz="1100" spc="10">
                <a:latin typeface="Verdana"/>
                <a:cs typeface="Verdana"/>
              </a:rPr>
              <a:t>exitosos, </a:t>
            </a:r>
            <a:r>
              <a:rPr dirty="0" sz="1100" spc="15">
                <a:latin typeface="Verdana"/>
                <a:cs typeface="Verdana"/>
              </a:rPr>
              <a:t> </a:t>
            </a:r>
            <a:r>
              <a:rPr dirty="0" sz="1100" spc="40">
                <a:latin typeface="Verdana"/>
                <a:cs typeface="Verdana"/>
              </a:rPr>
              <a:t>utilizado </a:t>
            </a:r>
            <a:r>
              <a:rPr dirty="0" sz="1100" spc="50">
                <a:latin typeface="Verdana"/>
                <a:cs typeface="Verdana"/>
              </a:rPr>
              <a:t>en una amplia </a:t>
            </a:r>
            <a:r>
              <a:rPr dirty="0" sz="1100" spc="60">
                <a:latin typeface="Verdana"/>
                <a:cs typeface="Verdana"/>
              </a:rPr>
              <a:t>gama </a:t>
            </a:r>
            <a:r>
              <a:rPr dirty="0" sz="1100" spc="55">
                <a:latin typeface="Verdana"/>
                <a:cs typeface="Verdana"/>
              </a:rPr>
              <a:t>de </a:t>
            </a:r>
            <a:r>
              <a:rPr dirty="0" sz="1100" spc="60">
                <a:latin typeface="Verdana"/>
                <a:cs typeface="Verdana"/>
              </a:rPr>
              <a:t> </a:t>
            </a:r>
            <a:r>
              <a:rPr dirty="0" sz="1100" spc="35">
                <a:latin typeface="Verdana"/>
                <a:cs typeface="Verdana"/>
              </a:rPr>
              <a:t>dispositivos</a:t>
            </a:r>
            <a:r>
              <a:rPr dirty="0" sz="1100" spc="-50">
                <a:latin typeface="Verdana"/>
                <a:cs typeface="Verdana"/>
              </a:rPr>
              <a:t> </a:t>
            </a:r>
            <a:r>
              <a:rPr dirty="0" sz="1100" spc="60">
                <a:latin typeface="Verdana"/>
                <a:cs typeface="Verdana"/>
              </a:rPr>
              <a:t>embebidos</a:t>
            </a:r>
            <a:r>
              <a:rPr dirty="0" sz="1100" spc="-45">
                <a:latin typeface="Verdana"/>
                <a:cs typeface="Verdana"/>
              </a:rPr>
              <a:t> </a:t>
            </a:r>
            <a:r>
              <a:rPr dirty="0" sz="1100" spc="-35">
                <a:latin typeface="Verdana"/>
                <a:cs typeface="Verdana"/>
              </a:rPr>
              <a:t>y</a:t>
            </a:r>
            <a:r>
              <a:rPr dirty="0" sz="1100" spc="-45">
                <a:latin typeface="Verdana"/>
                <a:cs typeface="Verdana"/>
              </a:rPr>
              <a:t> </a:t>
            </a:r>
            <a:r>
              <a:rPr dirty="0" sz="1100" spc="45">
                <a:latin typeface="Verdana"/>
                <a:cs typeface="Verdana"/>
              </a:rPr>
              <a:t>electrónicos </a:t>
            </a:r>
            <a:r>
              <a:rPr dirty="0" sz="1100" spc="-370">
                <a:latin typeface="Verdana"/>
                <a:cs typeface="Verdana"/>
              </a:rPr>
              <a:t> </a:t>
            </a:r>
            <a:r>
              <a:rPr dirty="0" sz="1100" spc="55">
                <a:latin typeface="Verdana"/>
                <a:cs typeface="Verdana"/>
              </a:rPr>
              <a:t>de </a:t>
            </a:r>
            <a:r>
              <a:rPr dirty="0" sz="1100" spc="40">
                <a:latin typeface="Verdana"/>
                <a:cs typeface="Verdana"/>
              </a:rPr>
              <a:t>consumo. </a:t>
            </a:r>
            <a:r>
              <a:rPr dirty="0" sz="1100" spc="50">
                <a:latin typeface="Verdana"/>
                <a:cs typeface="Verdana"/>
              </a:rPr>
              <a:t>Continúa </a:t>
            </a:r>
            <a:r>
              <a:rPr dirty="0" sz="1100" spc="15">
                <a:latin typeface="Verdana"/>
                <a:cs typeface="Verdana"/>
              </a:rPr>
              <a:t>la </a:t>
            </a:r>
            <a:r>
              <a:rPr dirty="0" sz="1100" spc="55">
                <a:latin typeface="Verdana"/>
                <a:cs typeface="Verdana"/>
              </a:rPr>
              <a:t>tendencia </a:t>
            </a:r>
            <a:r>
              <a:rPr dirty="0" sz="1100" spc="60">
                <a:latin typeface="Verdana"/>
                <a:cs typeface="Verdana"/>
              </a:rPr>
              <a:t> </a:t>
            </a:r>
            <a:r>
              <a:rPr dirty="0" sz="1100" spc="55">
                <a:latin typeface="Verdana"/>
                <a:cs typeface="Verdana"/>
              </a:rPr>
              <a:t>de </a:t>
            </a:r>
            <a:r>
              <a:rPr dirty="0" sz="1100" spc="45">
                <a:latin typeface="Verdana"/>
                <a:cs typeface="Verdana"/>
              </a:rPr>
              <a:t>eficiencia </a:t>
            </a:r>
            <a:r>
              <a:rPr dirty="0" sz="1100" spc="30">
                <a:latin typeface="Verdana"/>
                <a:cs typeface="Verdana"/>
              </a:rPr>
              <a:t>energética, lo </a:t>
            </a:r>
            <a:r>
              <a:rPr dirty="0" sz="1100" spc="60">
                <a:latin typeface="Verdana"/>
                <a:cs typeface="Verdana"/>
              </a:rPr>
              <a:t>que </a:t>
            </a:r>
            <a:r>
              <a:rPr dirty="0" sz="1100" spc="30">
                <a:latin typeface="Verdana"/>
                <a:cs typeface="Verdana"/>
              </a:rPr>
              <a:t>lo </a:t>
            </a:r>
            <a:r>
              <a:rPr dirty="0" sz="1100" spc="35">
                <a:latin typeface="Verdana"/>
                <a:cs typeface="Verdana"/>
              </a:rPr>
              <a:t> </a:t>
            </a:r>
            <a:r>
              <a:rPr dirty="0" sz="1100" spc="50">
                <a:latin typeface="Verdana"/>
                <a:cs typeface="Verdana"/>
              </a:rPr>
              <a:t>hace</a:t>
            </a:r>
            <a:r>
              <a:rPr dirty="0" sz="1100" spc="-45">
                <a:latin typeface="Verdana"/>
                <a:cs typeface="Verdana"/>
              </a:rPr>
              <a:t> </a:t>
            </a:r>
            <a:r>
              <a:rPr dirty="0" sz="1100" spc="40">
                <a:latin typeface="Verdana"/>
                <a:cs typeface="Verdana"/>
              </a:rPr>
              <a:t>ideal</a:t>
            </a:r>
            <a:r>
              <a:rPr dirty="0" sz="1100" spc="-40">
                <a:latin typeface="Verdana"/>
                <a:cs typeface="Verdana"/>
              </a:rPr>
              <a:t> </a:t>
            </a:r>
            <a:r>
              <a:rPr dirty="0" sz="1100" spc="30">
                <a:latin typeface="Verdana"/>
                <a:cs typeface="Verdana"/>
              </a:rPr>
              <a:t>para</a:t>
            </a:r>
            <a:r>
              <a:rPr dirty="0" sz="1100" spc="-40">
                <a:latin typeface="Verdana"/>
                <a:cs typeface="Verdana"/>
              </a:rPr>
              <a:t> </a:t>
            </a:r>
            <a:r>
              <a:rPr dirty="0" sz="1100" spc="35">
                <a:latin typeface="Verdana"/>
                <a:cs typeface="Verdana"/>
              </a:rPr>
              <a:t>dispositivos</a:t>
            </a:r>
            <a:r>
              <a:rPr dirty="0" sz="1100" spc="-45">
                <a:latin typeface="Verdana"/>
                <a:cs typeface="Verdana"/>
              </a:rPr>
              <a:t> </a:t>
            </a:r>
            <a:r>
              <a:rPr dirty="0" sz="1100" spc="35">
                <a:latin typeface="Verdana"/>
                <a:cs typeface="Verdana"/>
              </a:rPr>
              <a:t>móviles</a:t>
            </a:r>
            <a:r>
              <a:rPr dirty="0" sz="1100" spc="-40">
                <a:latin typeface="Verdana"/>
                <a:cs typeface="Verdana"/>
              </a:rPr>
              <a:t> </a:t>
            </a:r>
            <a:r>
              <a:rPr dirty="0" sz="1100" spc="-35">
                <a:latin typeface="Verdana"/>
                <a:cs typeface="Verdana"/>
              </a:rPr>
              <a:t>y </a:t>
            </a:r>
            <a:r>
              <a:rPr dirty="0" sz="1100" spc="-30">
                <a:latin typeface="Verdana"/>
                <a:cs typeface="Verdana"/>
              </a:rPr>
              <a:t> </a:t>
            </a:r>
            <a:r>
              <a:rPr dirty="0" sz="1100" spc="20">
                <a:latin typeface="Verdana"/>
                <a:cs typeface="Verdana"/>
              </a:rPr>
              <a:t>portátiles.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665289" y="10329350"/>
            <a:ext cx="1187450" cy="290195"/>
          </a:xfrm>
          <a:custGeom>
            <a:avLst/>
            <a:gdLst/>
            <a:ahLst/>
            <a:cxnLst/>
            <a:rect l="l" t="t" r="r" b="b"/>
            <a:pathLst>
              <a:path w="1187450" h="290195">
                <a:moveTo>
                  <a:pt x="1114464" y="290195"/>
                </a:moveTo>
                <a:lnTo>
                  <a:pt x="72548" y="290195"/>
                </a:lnTo>
                <a:lnTo>
                  <a:pt x="44309" y="284493"/>
                </a:lnTo>
                <a:lnTo>
                  <a:pt x="21249" y="268946"/>
                </a:lnTo>
                <a:lnTo>
                  <a:pt x="5701" y="245885"/>
                </a:lnTo>
                <a:lnTo>
                  <a:pt x="0" y="217646"/>
                </a:lnTo>
                <a:lnTo>
                  <a:pt x="0" y="72548"/>
                </a:lnTo>
                <a:lnTo>
                  <a:pt x="5701" y="44309"/>
                </a:lnTo>
                <a:lnTo>
                  <a:pt x="21249" y="21249"/>
                </a:lnTo>
                <a:lnTo>
                  <a:pt x="44309" y="5701"/>
                </a:lnTo>
                <a:lnTo>
                  <a:pt x="72548" y="0"/>
                </a:lnTo>
                <a:lnTo>
                  <a:pt x="1114464" y="0"/>
                </a:lnTo>
                <a:lnTo>
                  <a:pt x="1154714" y="12189"/>
                </a:lnTo>
                <a:lnTo>
                  <a:pt x="1181491" y="44785"/>
                </a:lnTo>
                <a:lnTo>
                  <a:pt x="1187013" y="72548"/>
                </a:lnTo>
                <a:lnTo>
                  <a:pt x="1187013" y="217646"/>
                </a:lnTo>
                <a:lnTo>
                  <a:pt x="1181312" y="245885"/>
                </a:lnTo>
                <a:lnTo>
                  <a:pt x="1165764" y="268946"/>
                </a:lnTo>
                <a:lnTo>
                  <a:pt x="1142704" y="284493"/>
                </a:lnTo>
                <a:lnTo>
                  <a:pt x="1114464" y="290195"/>
                </a:lnTo>
                <a:close/>
              </a:path>
            </a:pathLst>
          </a:custGeom>
          <a:solidFill>
            <a:srgbClr val="FDDA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723709" y="10345922"/>
            <a:ext cx="10706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55" b="1">
                <a:latin typeface="Verdana"/>
                <a:cs typeface="Verdana"/>
              </a:rPr>
              <a:t>1</a:t>
            </a:r>
            <a:r>
              <a:rPr dirty="0" sz="1400" spc="-110" b="1">
                <a:latin typeface="Verdana"/>
                <a:cs typeface="Verdana"/>
              </a:rPr>
              <a:t>99</a:t>
            </a:r>
            <a:r>
              <a:rPr dirty="0" sz="1400" spc="-175" b="1">
                <a:latin typeface="Verdana"/>
                <a:cs typeface="Verdana"/>
              </a:rPr>
              <a:t>3</a:t>
            </a:r>
            <a:r>
              <a:rPr dirty="0" sz="1400" spc="-200" b="1">
                <a:latin typeface="Verdana"/>
                <a:cs typeface="Verdana"/>
              </a:rPr>
              <a:t>:</a:t>
            </a:r>
            <a:r>
              <a:rPr dirty="0" sz="1400" spc="-85" b="1">
                <a:latin typeface="Verdana"/>
                <a:cs typeface="Verdana"/>
              </a:rPr>
              <a:t> </a:t>
            </a:r>
            <a:r>
              <a:rPr dirty="0" sz="1400" spc="-20" b="1">
                <a:latin typeface="Verdana"/>
                <a:cs typeface="Verdana"/>
              </a:rPr>
              <a:t>A</a:t>
            </a:r>
            <a:r>
              <a:rPr dirty="0" sz="1400" spc="-75" b="1">
                <a:latin typeface="Verdana"/>
                <a:cs typeface="Verdana"/>
              </a:rPr>
              <a:t>R</a:t>
            </a:r>
            <a:r>
              <a:rPr dirty="0" sz="1400" spc="5" b="1">
                <a:latin typeface="Verdana"/>
                <a:cs typeface="Verdana"/>
              </a:rPr>
              <a:t>M</a:t>
            </a:r>
            <a:r>
              <a:rPr dirty="0" sz="1400" spc="-130" b="1">
                <a:latin typeface="Verdana"/>
                <a:cs typeface="Verdana"/>
              </a:rPr>
              <a:t>7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6293" y="12265263"/>
            <a:ext cx="276860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200" spc="40">
                <a:latin typeface="Verdana"/>
                <a:cs typeface="Verdana"/>
              </a:rPr>
              <a:t>El </a:t>
            </a:r>
            <a:r>
              <a:rPr dirty="0" sz="1200" spc="50">
                <a:latin typeface="Verdana"/>
                <a:cs typeface="Verdana"/>
              </a:rPr>
              <a:t>ARM7TDMI </a:t>
            </a:r>
            <a:r>
              <a:rPr dirty="0" sz="1200" spc="45">
                <a:latin typeface="Verdana"/>
                <a:cs typeface="Verdana"/>
              </a:rPr>
              <a:t>incluye </a:t>
            </a:r>
            <a:r>
              <a:rPr dirty="0" sz="1200" spc="25">
                <a:latin typeface="Verdana"/>
                <a:cs typeface="Verdana"/>
              </a:rPr>
              <a:t>el </a:t>
            </a:r>
            <a:r>
              <a:rPr dirty="0" sz="1200" spc="55">
                <a:latin typeface="Verdana"/>
                <a:cs typeface="Verdana"/>
              </a:rPr>
              <a:t>conjunto </a:t>
            </a:r>
            <a:r>
              <a:rPr dirty="0" sz="1200" spc="-409">
                <a:latin typeface="Verdana"/>
                <a:cs typeface="Verdana"/>
              </a:rPr>
              <a:t> </a:t>
            </a:r>
            <a:r>
              <a:rPr dirty="0" sz="1200" spc="60">
                <a:latin typeface="Verdana"/>
                <a:cs typeface="Verdana"/>
              </a:rPr>
              <a:t>de </a:t>
            </a:r>
            <a:r>
              <a:rPr dirty="0" sz="1200" spc="50">
                <a:latin typeface="Verdana"/>
                <a:cs typeface="Verdana"/>
              </a:rPr>
              <a:t>instrucciones </a:t>
            </a:r>
            <a:r>
              <a:rPr dirty="0" sz="1200" spc="35">
                <a:latin typeface="Verdana"/>
                <a:cs typeface="Verdana"/>
              </a:rPr>
              <a:t>Thumb, </a:t>
            </a:r>
            <a:r>
              <a:rPr dirty="0" sz="1200" spc="65">
                <a:latin typeface="Verdana"/>
                <a:cs typeface="Verdana"/>
              </a:rPr>
              <a:t>que </a:t>
            </a:r>
            <a:r>
              <a:rPr dirty="0" sz="1200" spc="70">
                <a:latin typeface="Verdana"/>
                <a:cs typeface="Verdana"/>
              </a:rPr>
              <a:t> </a:t>
            </a:r>
            <a:r>
              <a:rPr dirty="0" sz="1200" spc="55">
                <a:latin typeface="Verdana"/>
                <a:cs typeface="Verdana"/>
              </a:rPr>
              <a:t>reduce </a:t>
            </a:r>
            <a:r>
              <a:rPr dirty="0" sz="1200" spc="25">
                <a:latin typeface="Verdana"/>
                <a:cs typeface="Verdana"/>
              </a:rPr>
              <a:t>el </a:t>
            </a:r>
            <a:r>
              <a:rPr dirty="0" sz="1200" spc="60">
                <a:latin typeface="Verdana"/>
                <a:cs typeface="Verdana"/>
              </a:rPr>
              <a:t>tamaño de </a:t>
            </a:r>
            <a:r>
              <a:rPr dirty="0" sz="1200" spc="10">
                <a:latin typeface="Verdana"/>
                <a:cs typeface="Verdana"/>
              </a:rPr>
              <a:t>las </a:t>
            </a:r>
            <a:r>
              <a:rPr dirty="0" sz="1200" spc="15">
                <a:latin typeface="Verdana"/>
                <a:cs typeface="Verdana"/>
              </a:rPr>
              <a:t> </a:t>
            </a:r>
            <a:r>
              <a:rPr dirty="0" sz="1200" spc="35">
                <a:latin typeface="Verdana"/>
                <a:cs typeface="Verdana"/>
              </a:rPr>
              <a:t>i</a:t>
            </a:r>
            <a:r>
              <a:rPr dirty="0" sz="1200" spc="85">
                <a:latin typeface="Verdana"/>
                <a:cs typeface="Verdana"/>
              </a:rPr>
              <a:t>n</a:t>
            </a:r>
            <a:r>
              <a:rPr dirty="0" sz="1200" spc="5">
                <a:latin typeface="Verdana"/>
                <a:cs typeface="Verdana"/>
              </a:rPr>
              <a:t>s</a:t>
            </a:r>
            <a:r>
              <a:rPr dirty="0" sz="1200" spc="50">
                <a:latin typeface="Verdana"/>
                <a:cs typeface="Verdana"/>
              </a:rPr>
              <a:t>t</a:t>
            </a:r>
            <a:r>
              <a:rPr dirty="0" sz="1200" spc="5">
                <a:latin typeface="Verdana"/>
                <a:cs typeface="Verdana"/>
              </a:rPr>
              <a:t>r</a:t>
            </a:r>
            <a:r>
              <a:rPr dirty="0" sz="1200" spc="80">
                <a:latin typeface="Verdana"/>
                <a:cs typeface="Verdana"/>
              </a:rPr>
              <a:t>u</a:t>
            </a:r>
            <a:r>
              <a:rPr dirty="0" sz="1200" spc="90">
                <a:latin typeface="Verdana"/>
                <a:cs typeface="Verdana"/>
              </a:rPr>
              <a:t>cc</a:t>
            </a:r>
            <a:r>
              <a:rPr dirty="0" sz="1200" spc="35">
                <a:latin typeface="Verdana"/>
                <a:cs typeface="Verdana"/>
              </a:rPr>
              <a:t>i</a:t>
            </a:r>
            <a:r>
              <a:rPr dirty="0" sz="1200" spc="60">
                <a:latin typeface="Verdana"/>
                <a:cs typeface="Verdana"/>
              </a:rPr>
              <a:t>o</a:t>
            </a:r>
            <a:r>
              <a:rPr dirty="0" sz="1200" spc="85">
                <a:latin typeface="Verdana"/>
                <a:cs typeface="Verdana"/>
              </a:rPr>
              <a:t>n</a:t>
            </a:r>
            <a:r>
              <a:rPr dirty="0" sz="1200" spc="45">
                <a:latin typeface="Verdana"/>
                <a:cs typeface="Verdana"/>
              </a:rPr>
              <a:t>e</a:t>
            </a:r>
            <a:r>
              <a:rPr dirty="0" sz="1200" spc="-25">
                <a:latin typeface="Verdana"/>
                <a:cs typeface="Verdana"/>
              </a:rPr>
              <a:t>s</a:t>
            </a:r>
            <a:r>
              <a:rPr dirty="0" sz="1200" spc="-40">
                <a:latin typeface="Verdana"/>
                <a:cs typeface="Verdana"/>
              </a:rPr>
              <a:t> </a:t>
            </a:r>
            <a:r>
              <a:rPr dirty="0" sz="1200" spc="-5">
                <a:latin typeface="Verdana"/>
                <a:cs typeface="Verdana"/>
              </a:rPr>
              <a:t>a</a:t>
            </a:r>
            <a:r>
              <a:rPr dirty="0" sz="1200" spc="-40">
                <a:latin typeface="Verdana"/>
                <a:cs typeface="Verdana"/>
              </a:rPr>
              <a:t> </a:t>
            </a:r>
            <a:r>
              <a:rPr dirty="0" sz="1200" spc="-290">
                <a:latin typeface="Verdana"/>
                <a:cs typeface="Verdana"/>
              </a:rPr>
              <a:t>1</a:t>
            </a:r>
            <a:r>
              <a:rPr dirty="0" sz="1200" spc="-25">
                <a:latin typeface="Verdana"/>
                <a:cs typeface="Verdana"/>
              </a:rPr>
              <a:t>6</a:t>
            </a:r>
            <a:r>
              <a:rPr dirty="0" sz="1200" spc="-40">
                <a:latin typeface="Verdana"/>
                <a:cs typeface="Verdana"/>
              </a:rPr>
              <a:t> </a:t>
            </a:r>
            <a:r>
              <a:rPr dirty="0" sz="1200" spc="100">
                <a:latin typeface="Verdana"/>
                <a:cs typeface="Verdana"/>
              </a:rPr>
              <a:t>b</a:t>
            </a:r>
            <a:r>
              <a:rPr dirty="0" sz="1200" spc="35">
                <a:latin typeface="Verdana"/>
                <a:cs typeface="Verdana"/>
              </a:rPr>
              <a:t>i</a:t>
            </a:r>
            <a:r>
              <a:rPr dirty="0" sz="1200" spc="50">
                <a:latin typeface="Verdana"/>
                <a:cs typeface="Verdana"/>
              </a:rPr>
              <a:t>t</a:t>
            </a:r>
            <a:r>
              <a:rPr dirty="0" sz="1200" spc="5">
                <a:latin typeface="Verdana"/>
                <a:cs typeface="Verdana"/>
              </a:rPr>
              <a:t>s</a:t>
            </a:r>
            <a:r>
              <a:rPr dirty="0" sz="1200" spc="-165">
                <a:latin typeface="Verdana"/>
                <a:cs typeface="Verdana"/>
              </a:rPr>
              <a:t>,  </a:t>
            </a:r>
            <a:r>
              <a:rPr dirty="0" sz="1200" spc="65">
                <a:latin typeface="Verdana"/>
                <a:cs typeface="Verdana"/>
              </a:rPr>
              <a:t>aumentando </a:t>
            </a:r>
            <a:r>
              <a:rPr dirty="0" sz="1200" spc="15">
                <a:latin typeface="Verdana"/>
                <a:cs typeface="Verdana"/>
              </a:rPr>
              <a:t>la </a:t>
            </a:r>
            <a:r>
              <a:rPr dirty="0" sz="1200" spc="50">
                <a:latin typeface="Verdana"/>
                <a:cs typeface="Verdana"/>
              </a:rPr>
              <a:t>eficiencia en </a:t>
            </a:r>
            <a:r>
              <a:rPr dirty="0" sz="1200" spc="55">
                <a:latin typeface="Verdana"/>
                <a:cs typeface="Verdana"/>
              </a:rPr>
              <a:t> </a:t>
            </a:r>
            <a:r>
              <a:rPr dirty="0" sz="1200" spc="50">
                <a:latin typeface="Verdana"/>
                <a:cs typeface="Verdana"/>
              </a:rPr>
              <a:t>aplicaciones</a:t>
            </a:r>
            <a:r>
              <a:rPr dirty="0" sz="1200" spc="-55">
                <a:latin typeface="Verdana"/>
                <a:cs typeface="Verdana"/>
              </a:rPr>
              <a:t> </a:t>
            </a:r>
            <a:r>
              <a:rPr dirty="0" sz="1200" spc="60">
                <a:latin typeface="Verdana"/>
                <a:cs typeface="Verdana"/>
              </a:rPr>
              <a:t>de</a:t>
            </a:r>
            <a:r>
              <a:rPr dirty="0" sz="1200" spc="-50">
                <a:latin typeface="Verdana"/>
                <a:cs typeface="Verdana"/>
              </a:rPr>
              <a:t> </a:t>
            </a:r>
            <a:r>
              <a:rPr dirty="0" sz="1200" spc="55">
                <a:latin typeface="Verdana"/>
                <a:cs typeface="Verdana"/>
              </a:rPr>
              <a:t>memoria</a:t>
            </a:r>
            <a:r>
              <a:rPr dirty="0" sz="1200" spc="-50">
                <a:latin typeface="Verdana"/>
                <a:cs typeface="Verdana"/>
              </a:rPr>
              <a:t> </a:t>
            </a:r>
            <a:r>
              <a:rPr dirty="0" sz="1200" spc="50">
                <a:latin typeface="Verdana"/>
                <a:cs typeface="Verdana"/>
              </a:rPr>
              <a:t>limitada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26340" y="15068629"/>
            <a:ext cx="4340225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dirty="0" sz="1100" spc="60">
                <a:latin typeface="Verdana"/>
                <a:cs typeface="Verdana"/>
              </a:rPr>
              <a:t>En</a:t>
            </a:r>
            <a:r>
              <a:rPr dirty="0" sz="1100" spc="500">
                <a:latin typeface="Verdana"/>
                <a:cs typeface="Verdana"/>
              </a:rPr>
              <a:t> </a:t>
            </a:r>
            <a:r>
              <a:rPr dirty="0" sz="1100" spc="20">
                <a:latin typeface="Verdana"/>
                <a:cs typeface="Verdana"/>
              </a:rPr>
              <a:t>sus</a:t>
            </a:r>
            <a:r>
              <a:rPr dirty="0" sz="1100" spc="100">
                <a:latin typeface="Verdana"/>
                <a:cs typeface="Verdana"/>
              </a:rPr>
              <a:t> </a:t>
            </a:r>
            <a:r>
              <a:rPr dirty="0" sz="1100" spc="40">
                <a:latin typeface="Verdana"/>
                <a:cs typeface="Verdana"/>
              </a:rPr>
              <a:t>primeros</a:t>
            </a:r>
            <a:r>
              <a:rPr dirty="0" sz="1100" spc="80">
                <a:latin typeface="Verdana"/>
                <a:cs typeface="Verdana"/>
              </a:rPr>
              <a:t> </a:t>
            </a:r>
            <a:r>
              <a:rPr dirty="0" sz="1100">
                <a:latin typeface="Verdana"/>
                <a:cs typeface="Verdana"/>
              </a:rPr>
              <a:t>años,</a:t>
            </a:r>
            <a:r>
              <a:rPr dirty="0" sz="1100" spc="120">
                <a:latin typeface="Verdana"/>
                <a:cs typeface="Verdana"/>
              </a:rPr>
              <a:t> </a:t>
            </a:r>
            <a:r>
              <a:rPr dirty="0" sz="1100" spc="90">
                <a:latin typeface="Verdana"/>
                <a:cs typeface="Verdana"/>
              </a:rPr>
              <a:t>ARM</a:t>
            </a:r>
            <a:r>
              <a:rPr dirty="0" sz="1100" spc="505">
                <a:latin typeface="Verdana"/>
                <a:cs typeface="Verdana"/>
              </a:rPr>
              <a:t> </a:t>
            </a:r>
            <a:r>
              <a:rPr dirty="0" sz="1100" spc="10">
                <a:latin typeface="Verdana"/>
                <a:cs typeface="Verdana"/>
              </a:rPr>
              <a:t>se</a:t>
            </a:r>
            <a:r>
              <a:rPr dirty="0" sz="1100" spc="110">
                <a:latin typeface="Verdana"/>
                <a:cs typeface="Verdana"/>
              </a:rPr>
              <a:t> </a:t>
            </a:r>
            <a:r>
              <a:rPr dirty="0" sz="1100" spc="50">
                <a:latin typeface="Verdana"/>
                <a:cs typeface="Verdana"/>
              </a:rPr>
              <a:t>posicionó</a:t>
            </a:r>
            <a:r>
              <a:rPr dirty="0" sz="1100" spc="70">
                <a:latin typeface="Verdana"/>
                <a:cs typeface="Verdana"/>
              </a:rPr>
              <a:t> </a:t>
            </a:r>
            <a:r>
              <a:rPr dirty="0" sz="1100" spc="75">
                <a:latin typeface="Verdana"/>
                <a:cs typeface="Verdana"/>
              </a:rPr>
              <a:t>como</a:t>
            </a:r>
            <a:r>
              <a:rPr dirty="0" sz="1100" spc="505">
                <a:latin typeface="Verdana"/>
                <a:cs typeface="Verdana"/>
              </a:rPr>
              <a:t> </a:t>
            </a:r>
            <a:r>
              <a:rPr dirty="0" sz="1100" spc="50">
                <a:latin typeface="Verdana"/>
                <a:cs typeface="Verdana"/>
              </a:rPr>
              <a:t>una </a:t>
            </a:r>
            <a:r>
              <a:rPr dirty="0" sz="1100" spc="-375">
                <a:latin typeface="Verdana"/>
                <a:cs typeface="Verdana"/>
              </a:rPr>
              <a:t> </a:t>
            </a:r>
            <a:r>
              <a:rPr dirty="0" sz="1100" spc="45">
                <a:latin typeface="Verdana"/>
                <a:cs typeface="Verdana"/>
              </a:rPr>
              <a:t>arquitectura</a:t>
            </a:r>
            <a:r>
              <a:rPr dirty="0" sz="1100" spc="-40">
                <a:latin typeface="Verdana"/>
                <a:cs typeface="Verdana"/>
              </a:rPr>
              <a:t> </a:t>
            </a:r>
            <a:r>
              <a:rPr dirty="0" sz="1100" spc="55">
                <a:latin typeface="Verdana"/>
                <a:cs typeface="Verdana"/>
              </a:rPr>
              <a:t>de</a:t>
            </a:r>
            <a:r>
              <a:rPr dirty="0" sz="1100" spc="-35">
                <a:latin typeface="Verdana"/>
                <a:cs typeface="Verdana"/>
              </a:rPr>
              <a:t> </a:t>
            </a:r>
            <a:r>
              <a:rPr dirty="0" sz="1100" spc="25">
                <a:latin typeface="Verdana"/>
                <a:cs typeface="Verdana"/>
              </a:rPr>
              <a:t>bajo</a:t>
            </a:r>
            <a:r>
              <a:rPr dirty="0" sz="1100" spc="-35">
                <a:latin typeface="Verdana"/>
                <a:cs typeface="Verdana"/>
              </a:rPr>
              <a:t> </a:t>
            </a:r>
            <a:r>
              <a:rPr dirty="0" sz="1100" spc="65">
                <a:latin typeface="Verdana"/>
                <a:cs typeface="Verdana"/>
              </a:rPr>
              <a:t>consumo</a:t>
            </a:r>
            <a:r>
              <a:rPr dirty="0" sz="1100" spc="-35">
                <a:latin typeface="Verdana"/>
                <a:cs typeface="Verdana"/>
              </a:rPr>
              <a:t> y</a:t>
            </a:r>
            <a:r>
              <a:rPr dirty="0" sz="1100" spc="-40">
                <a:latin typeface="Verdana"/>
                <a:cs typeface="Verdana"/>
              </a:rPr>
              <a:t> </a:t>
            </a:r>
            <a:r>
              <a:rPr dirty="0" sz="1100" spc="25">
                <a:latin typeface="Verdana"/>
                <a:cs typeface="Verdana"/>
              </a:rPr>
              <a:t>alta</a:t>
            </a:r>
            <a:r>
              <a:rPr dirty="0" sz="1100" spc="-35">
                <a:latin typeface="Verdana"/>
                <a:cs typeface="Verdana"/>
              </a:rPr>
              <a:t> </a:t>
            </a:r>
            <a:r>
              <a:rPr dirty="0" sz="1100" spc="30">
                <a:latin typeface="Verdana"/>
                <a:cs typeface="Verdana"/>
              </a:rPr>
              <a:t>eficiencia,</a:t>
            </a:r>
            <a:r>
              <a:rPr dirty="0" sz="1100" spc="-35">
                <a:latin typeface="Verdana"/>
                <a:cs typeface="Verdana"/>
              </a:rPr>
              <a:t> </a:t>
            </a:r>
            <a:r>
              <a:rPr dirty="0" sz="1100" spc="50">
                <a:latin typeface="Verdana"/>
                <a:cs typeface="Verdana"/>
              </a:rPr>
              <a:t>impulsada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51922" y="15487729"/>
            <a:ext cx="3014345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5400">
              <a:lnSpc>
                <a:spcPct val="125000"/>
              </a:lnSpc>
              <a:spcBef>
                <a:spcPts val="95"/>
              </a:spcBef>
              <a:tabLst>
                <a:tab pos="528955" algn="l"/>
                <a:tab pos="665480" algn="l"/>
                <a:tab pos="754380" algn="l"/>
                <a:tab pos="979169" algn="l"/>
                <a:tab pos="1029335" algn="l"/>
                <a:tab pos="1565910" algn="l"/>
                <a:tab pos="1740535" algn="l"/>
                <a:tab pos="2072639" algn="l"/>
                <a:tab pos="2157095" algn="l"/>
                <a:tab pos="2470785" algn="l"/>
                <a:tab pos="2815590" algn="l"/>
              </a:tabLst>
            </a:pPr>
            <a:r>
              <a:rPr dirty="0" sz="1100" spc="60">
                <a:latin typeface="Verdana"/>
                <a:cs typeface="Verdana"/>
              </a:rPr>
              <a:t>R</a:t>
            </a:r>
            <a:r>
              <a:rPr dirty="0" sz="1100" spc="-100">
                <a:latin typeface="Verdana"/>
                <a:cs typeface="Verdana"/>
              </a:rPr>
              <a:t>I</a:t>
            </a:r>
            <a:r>
              <a:rPr dirty="0" sz="1100" spc="-45">
                <a:latin typeface="Verdana"/>
                <a:cs typeface="Verdana"/>
              </a:rPr>
              <a:t>S</a:t>
            </a:r>
            <a:r>
              <a:rPr dirty="0" sz="1100" spc="30">
                <a:latin typeface="Verdana"/>
                <a:cs typeface="Verdana"/>
              </a:rPr>
              <a:t>C</a:t>
            </a:r>
            <a:r>
              <a:rPr dirty="0" sz="1100">
                <a:latin typeface="Verdana"/>
                <a:cs typeface="Verdana"/>
              </a:rPr>
              <a:t>	</a:t>
            </a:r>
            <a:r>
              <a:rPr dirty="0" sz="1100" spc="-35">
                <a:latin typeface="Verdana"/>
                <a:cs typeface="Verdana"/>
              </a:rPr>
              <a:t>y</a:t>
            </a:r>
            <a:r>
              <a:rPr dirty="0" sz="1100">
                <a:latin typeface="Verdana"/>
                <a:cs typeface="Verdana"/>
              </a:rPr>
              <a:t>		</a:t>
            </a:r>
            <a:r>
              <a:rPr dirty="0" sz="1100" spc="45">
                <a:latin typeface="Verdana"/>
                <a:cs typeface="Verdana"/>
              </a:rPr>
              <a:t>e</a:t>
            </a:r>
            <a:r>
              <a:rPr dirty="0" sz="1100" spc="5">
                <a:latin typeface="Verdana"/>
                <a:cs typeface="Verdana"/>
              </a:rPr>
              <a:t>l</a:t>
            </a:r>
            <a:r>
              <a:rPr dirty="0" sz="1100">
                <a:latin typeface="Verdana"/>
                <a:cs typeface="Verdana"/>
              </a:rPr>
              <a:t>		</a:t>
            </a:r>
            <a:r>
              <a:rPr dirty="0" sz="1100" spc="120">
                <a:latin typeface="Verdana"/>
                <a:cs typeface="Verdana"/>
              </a:rPr>
              <a:t>m</a:t>
            </a:r>
            <a:r>
              <a:rPr dirty="0" sz="1100" spc="55">
                <a:latin typeface="Verdana"/>
                <a:cs typeface="Verdana"/>
              </a:rPr>
              <a:t>o</a:t>
            </a:r>
            <a:r>
              <a:rPr dirty="0" sz="1100" spc="90">
                <a:latin typeface="Verdana"/>
                <a:cs typeface="Verdana"/>
              </a:rPr>
              <a:t>d</a:t>
            </a:r>
            <a:r>
              <a:rPr dirty="0" sz="1100" spc="45">
                <a:latin typeface="Verdana"/>
                <a:cs typeface="Verdana"/>
              </a:rPr>
              <a:t>e</a:t>
            </a:r>
            <a:r>
              <a:rPr dirty="0" sz="1100" spc="30">
                <a:latin typeface="Verdana"/>
                <a:cs typeface="Verdana"/>
              </a:rPr>
              <a:t>l</a:t>
            </a:r>
            <a:r>
              <a:rPr dirty="0" sz="1100" spc="30">
                <a:latin typeface="Verdana"/>
                <a:cs typeface="Verdana"/>
              </a:rPr>
              <a:t>o</a:t>
            </a:r>
            <a:r>
              <a:rPr dirty="0" sz="1100">
                <a:latin typeface="Verdana"/>
                <a:cs typeface="Verdana"/>
              </a:rPr>
              <a:t>	</a:t>
            </a:r>
            <a:r>
              <a:rPr dirty="0" sz="1100" spc="90">
                <a:latin typeface="Verdana"/>
                <a:cs typeface="Verdana"/>
              </a:rPr>
              <a:t>d</a:t>
            </a:r>
            <a:r>
              <a:rPr dirty="0" sz="1100" spc="20">
                <a:latin typeface="Verdana"/>
                <a:cs typeface="Verdana"/>
              </a:rPr>
              <a:t>e</a:t>
            </a:r>
            <a:r>
              <a:rPr dirty="0" sz="1100">
                <a:latin typeface="Verdana"/>
                <a:cs typeface="Verdana"/>
              </a:rPr>
              <a:t>	</a:t>
            </a:r>
            <a:r>
              <a:rPr dirty="0" sz="1100" spc="80">
                <a:latin typeface="Verdana"/>
                <a:cs typeface="Verdana"/>
              </a:rPr>
              <a:t>n</a:t>
            </a:r>
            <a:r>
              <a:rPr dirty="0" sz="1100" spc="45">
                <a:latin typeface="Verdana"/>
                <a:cs typeface="Verdana"/>
              </a:rPr>
              <a:t>e</a:t>
            </a:r>
            <a:r>
              <a:rPr dirty="0" sz="1100" spc="100">
                <a:latin typeface="Verdana"/>
                <a:cs typeface="Verdana"/>
              </a:rPr>
              <a:t>g</a:t>
            </a:r>
            <a:r>
              <a:rPr dirty="0" sz="1100" spc="55">
                <a:latin typeface="Verdana"/>
                <a:cs typeface="Verdana"/>
              </a:rPr>
              <a:t>o</a:t>
            </a:r>
            <a:r>
              <a:rPr dirty="0" sz="1100" spc="80">
                <a:latin typeface="Verdana"/>
                <a:cs typeface="Verdana"/>
              </a:rPr>
              <a:t>c</a:t>
            </a:r>
            <a:r>
              <a:rPr dirty="0" sz="1100" spc="30">
                <a:latin typeface="Verdana"/>
                <a:cs typeface="Verdana"/>
              </a:rPr>
              <a:t>i</a:t>
            </a:r>
            <a:r>
              <a:rPr dirty="0" sz="1100" spc="30">
                <a:latin typeface="Verdana"/>
                <a:cs typeface="Verdana"/>
              </a:rPr>
              <a:t>o</a:t>
            </a:r>
            <a:r>
              <a:rPr dirty="0" sz="1100">
                <a:latin typeface="Verdana"/>
                <a:cs typeface="Verdana"/>
              </a:rPr>
              <a:t>	</a:t>
            </a:r>
            <a:r>
              <a:rPr dirty="0" sz="1100" spc="90">
                <a:latin typeface="Verdana"/>
                <a:cs typeface="Verdana"/>
              </a:rPr>
              <a:t>d</a:t>
            </a:r>
            <a:r>
              <a:rPr dirty="0" sz="1100" spc="15">
                <a:latin typeface="Verdana"/>
                <a:cs typeface="Verdana"/>
              </a:rPr>
              <a:t>e  </a:t>
            </a:r>
            <a:r>
              <a:rPr dirty="0" sz="1100" spc="90">
                <a:latin typeface="Verdana"/>
                <a:cs typeface="Verdana"/>
              </a:rPr>
              <a:t>D</a:t>
            </a:r>
            <a:r>
              <a:rPr dirty="0" sz="1100" spc="45">
                <a:latin typeface="Verdana"/>
                <a:cs typeface="Verdana"/>
              </a:rPr>
              <a:t>e</a:t>
            </a:r>
            <a:r>
              <a:rPr dirty="0" sz="1100" spc="5">
                <a:latin typeface="Verdana"/>
                <a:cs typeface="Verdana"/>
              </a:rPr>
              <a:t>s</a:t>
            </a:r>
            <a:r>
              <a:rPr dirty="0" sz="1100" spc="90">
                <a:latin typeface="Verdana"/>
                <a:cs typeface="Verdana"/>
              </a:rPr>
              <a:t>d</a:t>
            </a:r>
            <a:r>
              <a:rPr dirty="0" sz="1100" spc="20">
                <a:latin typeface="Verdana"/>
                <a:cs typeface="Verdana"/>
              </a:rPr>
              <a:t>e</a:t>
            </a:r>
            <a:r>
              <a:rPr dirty="0" sz="1100">
                <a:latin typeface="Verdana"/>
                <a:cs typeface="Verdana"/>
              </a:rPr>
              <a:t>		</a:t>
            </a:r>
            <a:r>
              <a:rPr dirty="0" sz="1100" spc="45">
                <a:latin typeface="Verdana"/>
                <a:cs typeface="Verdana"/>
              </a:rPr>
              <a:t>e</a:t>
            </a:r>
            <a:r>
              <a:rPr dirty="0" sz="1100" spc="5">
                <a:latin typeface="Verdana"/>
                <a:cs typeface="Verdana"/>
              </a:rPr>
              <a:t>l</a:t>
            </a:r>
            <a:r>
              <a:rPr dirty="0" sz="1100">
                <a:latin typeface="Verdana"/>
                <a:cs typeface="Verdana"/>
              </a:rPr>
              <a:t>	</a:t>
            </a:r>
            <a:r>
              <a:rPr dirty="0" sz="1100" spc="80">
                <a:latin typeface="Verdana"/>
                <a:cs typeface="Verdana"/>
              </a:rPr>
              <a:t>A</a:t>
            </a:r>
            <a:r>
              <a:rPr dirty="0" sz="1100" spc="60">
                <a:latin typeface="Verdana"/>
                <a:cs typeface="Verdana"/>
              </a:rPr>
              <a:t>R</a:t>
            </a:r>
            <a:r>
              <a:rPr dirty="0" sz="1100" spc="150">
                <a:latin typeface="Verdana"/>
                <a:cs typeface="Verdana"/>
              </a:rPr>
              <a:t>M</a:t>
            </a:r>
            <a:r>
              <a:rPr dirty="0" sz="1100" spc="-295">
                <a:latin typeface="Verdana"/>
                <a:cs typeface="Verdana"/>
              </a:rPr>
              <a:t>1</a:t>
            </a:r>
            <a:r>
              <a:rPr dirty="0" sz="1100">
                <a:latin typeface="Verdana"/>
                <a:cs typeface="Verdana"/>
              </a:rPr>
              <a:t>	</a:t>
            </a:r>
            <a:r>
              <a:rPr dirty="0" sz="1100" spc="80">
                <a:latin typeface="Verdana"/>
                <a:cs typeface="Verdana"/>
              </a:rPr>
              <a:t>h</a:t>
            </a:r>
            <a:r>
              <a:rPr dirty="0" sz="1100" spc="25">
                <a:latin typeface="Verdana"/>
                <a:cs typeface="Verdana"/>
              </a:rPr>
              <a:t>a</a:t>
            </a:r>
            <a:r>
              <a:rPr dirty="0" sz="1100" spc="5">
                <a:latin typeface="Verdana"/>
                <a:cs typeface="Verdana"/>
              </a:rPr>
              <a:t>s</a:t>
            </a:r>
            <a:r>
              <a:rPr dirty="0" sz="1100" spc="45">
                <a:latin typeface="Verdana"/>
                <a:cs typeface="Verdana"/>
              </a:rPr>
              <a:t>t</a:t>
            </a:r>
            <a:r>
              <a:rPr dirty="0" sz="1100">
                <a:latin typeface="Verdana"/>
                <a:cs typeface="Verdana"/>
              </a:rPr>
              <a:t>a</a:t>
            </a:r>
            <a:r>
              <a:rPr dirty="0" sz="1100">
                <a:latin typeface="Verdana"/>
                <a:cs typeface="Verdana"/>
              </a:rPr>
              <a:t>		</a:t>
            </a:r>
            <a:r>
              <a:rPr dirty="0" sz="1100" spc="45">
                <a:latin typeface="Verdana"/>
                <a:cs typeface="Verdana"/>
              </a:rPr>
              <a:t>e</a:t>
            </a:r>
            <a:r>
              <a:rPr dirty="0" sz="1100" spc="5">
                <a:latin typeface="Verdana"/>
                <a:cs typeface="Verdana"/>
              </a:rPr>
              <a:t>l</a:t>
            </a:r>
            <a:r>
              <a:rPr dirty="0" sz="1100">
                <a:latin typeface="Verdana"/>
                <a:cs typeface="Verdana"/>
              </a:rPr>
              <a:t>	</a:t>
            </a:r>
            <a:r>
              <a:rPr dirty="0" sz="1100" spc="45">
                <a:latin typeface="Verdana"/>
                <a:cs typeface="Verdana"/>
              </a:rPr>
              <a:t>e</a:t>
            </a:r>
            <a:r>
              <a:rPr dirty="0" sz="1100" spc="-20">
                <a:latin typeface="Verdana"/>
                <a:cs typeface="Verdana"/>
              </a:rPr>
              <a:t>x</a:t>
            </a:r>
            <a:r>
              <a:rPr dirty="0" sz="1100" spc="30">
                <a:latin typeface="Verdana"/>
                <a:cs typeface="Verdana"/>
              </a:rPr>
              <a:t>i</a:t>
            </a:r>
            <a:r>
              <a:rPr dirty="0" sz="1100" spc="45">
                <a:latin typeface="Verdana"/>
                <a:cs typeface="Verdana"/>
              </a:rPr>
              <a:t>t</a:t>
            </a:r>
            <a:r>
              <a:rPr dirty="0" sz="1100" spc="55">
                <a:latin typeface="Verdana"/>
                <a:cs typeface="Verdana"/>
              </a:rPr>
              <a:t>o</a:t>
            </a:r>
            <a:r>
              <a:rPr dirty="0" sz="1100" spc="5">
                <a:latin typeface="Verdana"/>
                <a:cs typeface="Verdana"/>
              </a:rPr>
              <a:t>s</a:t>
            </a:r>
            <a:r>
              <a:rPr dirty="0" sz="1100" spc="30">
                <a:latin typeface="Verdana"/>
                <a:cs typeface="Verdana"/>
              </a:rPr>
              <a:t>o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26340" y="15487729"/>
            <a:ext cx="1233170" cy="654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  <a:tabLst>
                <a:tab pos="408305" algn="l"/>
                <a:tab pos="723900" algn="l"/>
                <a:tab pos="1014094" algn="l"/>
              </a:tabLst>
            </a:pPr>
            <a:r>
              <a:rPr dirty="0" sz="1100" spc="90">
                <a:latin typeface="Verdana"/>
                <a:cs typeface="Verdana"/>
              </a:rPr>
              <a:t>p</a:t>
            </a:r>
            <a:r>
              <a:rPr dirty="0" sz="1100" spc="55">
                <a:latin typeface="Verdana"/>
                <a:cs typeface="Verdana"/>
              </a:rPr>
              <a:t>o</a:t>
            </a:r>
            <a:r>
              <a:rPr dirty="0" sz="1100" spc="-20">
                <a:latin typeface="Verdana"/>
                <a:cs typeface="Verdana"/>
              </a:rPr>
              <a:t>r</a:t>
            </a:r>
            <a:r>
              <a:rPr dirty="0" sz="1100">
                <a:latin typeface="Verdana"/>
                <a:cs typeface="Verdana"/>
              </a:rPr>
              <a:t>	</a:t>
            </a:r>
            <a:r>
              <a:rPr dirty="0" sz="1100" spc="5">
                <a:latin typeface="Verdana"/>
                <a:cs typeface="Verdana"/>
              </a:rPr>
              <a:t>s</a:t>
            </a:r>
            <a:r>
              <a:rPr dirty="0" sz="1100" spc="50">
                <a:latin typeface="Verdana"/>
                <a:cs typeface="Verdana"/>
              </a:rPr>
              <a:t>u</a:t>
            </a:r>
            <a:r>
              <a:rPr dirty="0" sz="1100">
                <a:latin typeface="Verdana"/>
                <a:cs typeface="Verdana"/>
              </a:rPr>
              <a:t>	</a:t>
            </a:r>
            <a:r>
              <a:rPr dirty="0" sz="1100" spc="90">
                <a:latin typeface="Verdana"/>
                <a:cs typeface="Verdana"/>
              </a:rPr>
              <a:t>d</a:t>
            </a:r>
            <a:r>
              <a:rPr dirty="0" sz="1100" spc="30">
                <a:latin typeface="Verdana"/>
                <a:cs typeface="Verdana"/>
              </a:rPr>
              <a:t>i</a:t>
            </a:r>
            <a:r>
              <a:rPr dirty="0" sz="1100" spc="5">
                <a:latin typeface="Verdana"/>
                <a:cs typeface="Verdana"/>
              </a:rPr>
              <a:t>s</a:t>
            </a:r>
            <a:r>
              <a:rPr dirty="0" sz="1100" spc="45">
                <a:latin typeface="Verdana"/>
                <a:cs typeface="Verdana"/>
              </a:rPr>
              <a:t>e</a:t>
            </a:r>
            <a:r>
              <a:rPr dirty="0" sz="1100" spc="80">
                <a:latin typeface="Verdana"/>
                <a:cs typeface="Verdana"/>
              </a:rPr>
              <a:t>ñ</a:t>
            </a:r>
            <a:r>
              <a:rPr dirty="0" sz="1100" spc="20">
                <a:latin typeface="Verdana"/>
                <a:cs typeface="Verdana"/>
              </a:rPr>
              <a:t>o  </a:t>
            </a:r>
            <a:r>
              <a:rPr dirty="0" sz="1100" spc="40">
                <a:latin typeface="Verdana"/>
                <a:cs typeface="Verdana"/>
              </a:rPr>
              <a:t>licenciamiento. </a:t>
            </a:r>
            <a:r>
              <a:rPr dirty="0" sz="1100" spc="45">
                <a:latin typeface="Verdana"/>
                <a:cs typeface="Verdana"/>
              </a:rPr>
              <a:t> </a:t>
            </a:r>
            <a:r>
              <a:rPr dirty="0" sz="1100" spc="80">
                <a:latin typeface="Verdana"/>
                <a:cs typeface="Verdana"/>
              </a:rPr>
              <a:t>A</a:t>
            </a:r>
            <a:r>
              <a:rPr dirty="0" sz="1100" spc="60">
                <a:latin typeface="Verdana"/>
                <a:cs typeface="Verdana"/>
              </a:rPr>
              <a:t>R</a:t>
            </a:r>
            <a:r>
              <a:rPr dirty="0" sz="1100" spc="150">
                <a:latin typeface="Verdana"/>
                <a:cs typeface="Verdana"/>
              </a:rPr>
              <a:t>M</a:t>
            </a:r>
            <a:r>
              <a:rPr dirty="0" sz="1100" spc="-15">
                <a:latin typeface="Verdana"/>
                <a:cs typeface="Verdana"/>
              </a:rPr>
              <a:t>7</a:t>
            </a:r>
            <a:r>
              <a:rPr dirty="0" sz="1100" spc="-5">
                <a:latin typeface="Verdana"/>
                <a:cs typeface="Verdana"/>
              </a:rPr>
              <a:t>T</a:t>
            </a:r>
            <a:r>
              <a:rPr dirty="0" sz="1100" spc="90">
                <a:latin typeface="Verdana"/>
                <a:cs typeface="Verdana"/>
              </a:rPr>
              <a:t>D</a:t>
            </a:r>
            <a:r>
              <a:rPr dirty="0" sz="1100" spc="150">
                <a:latin typeface="Verdana"/>
                <a:cs typeface="Verdana"/>
              </a:rPr>
              <a:t>M</a:t>
            </a:r>
            <a:r>
              <a:rPr dirty="0" sz="1100" spc="-100">
                <a:latin typeface="Verdana"/>
                <a:cs typeface="Verdana"/>
              </a:rPr>
              <a:t>I</a:t>
            </a:r>
            <a:r>
              <a:rPr dirty="0" sz="1100" spc="-150">
                <a:latin typeface="Verdana"/>
                <a:cs typeface="Verdana"/>
              </a:rPr>
              <a:t>,</a:t>
            </a:r>
            <a:r>
              <a:rPr dirty="0" sz="1100">
                <a:latin typeface="Verdana"/>
                <a:cs typeface="Verdana"/>
              </a:rPr>
              <a:t>	</a:t>
            </a:r>
            <a:r>
              <a:rPr dirty="0" sz="1100" spc="30">
                <a:latin typeface="Verdana"/>
                <a:cs typeface="Verdana"/>
              </a:rPr>
              <a:t>l</a:t>
            </a:r>
            <a:r>
              <a:rPr dirty="0" sz="1100" spc="55">
                <a:latin typeface="Verdana"/>
                <a:cs typeface="Verdana"/>
              </a:rPr>
              <a:t>o</a:t>
            </a:r>
            <a:r>
              <a:rPr dirty="0" sz="1100" spc="-20">
                <a:latin typeface="Verdana"/>
                <a:cs typeface="Verdana"/>
              </a:rPr>
              <a:t>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77394" y="15947900"/>
            <a:ext cx="298894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55700" algn="l"/>
                <a:tab pos="1644650" algn="l"/>
                <a:tab pos="2754630" algn="l"/>
              </a:tabLst>
            </a:pPr>
            <a:r>
              <a:rPr dirty="0" sz="1100" spc="90">
                <a:latin typeface="Verdana"/>
                <a:cs typeface="Verdana"/>
              </a:rPr>
              <a:t>p</a:t>
            </a:r>
            <a:r>
              <a:rPr dirty="0" sz="1100" spc="5">
                <a:latin typeface="Verdana"/>
                <a:cs typeface="Verdana"/>
              </a:rPr>
              <a:t>r</a:t>
            </a:r>
            <a:r>
              <a:rPr dirty="0" sz="1100" spc="55">
                <a:latin typeface="Verdana"/>
                <a:cs typeface="Verdana"/>
              </a:rPr>
              <a:t>o</a:t>
            </a:r>
            <a:r>
              <a:rPr dirty="0" sz="1100" spc="80">
                <a:latin typeface="Verdana"/>
                <a:cs typeface="Verdana"/>
              </a:rPr>
              <a:t>c</a:t>
            </a:r>
            <a:r>
              <a:rPr dirty="0" sz="1100" spc="45">
                <a:latin typeface="Verdana"/>
                <a:cs typeface="Verdana"/>
              </a:rPr>
              <a:t>e</a:t>
            </a:r>
            <a:r>
              <a:rPr dirty="0" sz="1100" spc="5">
                <a:latin typeface="Verdana"/>
                <a:cs typeface="Verdana"/>
              </a:rPr>
              <a:t>s</a:t>
            </a:r>
            <a:r>
              <a:rPr dirty="0" sz="1100" spc="25">
                <a:latin typeface="Verdana"/>
                <a:cs typeface="Verdana"/>
              </a:rPr>
              <a:t>a</a:t>
            </a:r>
            <a:r>
              <a:rPr dirty="0" sz="1100" spc="90">
                <a:latin typeface="Verdana"/>
                <a:cs typeface="Verdana"/>
              </a:rPr>
              <a:t>d</a:t>
            </a:r>
            <a:r>
              <a:rPr dirty="0" sz="1100" spc="55">
                <a:latin typeface="Verdana"/>
                <a:cs typeface="Verdana"/>
              </a:rPr>
              <a:t>o</a:t>
            </a:r>
            <a:r>
              <a:rPr dirty="0" sz="1100" spc="5">
                <a:latin typeface="Verdana"/>
                <a:cs typeface="Verdana"/>
              </a:rPr>
              <a:t>r</a:t>
            </a:r>
            <a:r>
              <a:rPr dirty="0" sz="1100" spc="45">
                <a:latin typeface="Verdana"/>
                <a:cs typeface="Verdana"/>
              </a:rPr>
              <a:t>e</a:t>
            </a:r>
            <a:r>
              <a:rPr dirty="0" sz="1100" spc="-20">
                <a:latin typeface="Verdana"/>
                <a:cs typeface="Verdana"/>
              </a:rPr>
              <a:t>s</a:t>
            </a:r>
            <a:r>
              <a:rPr dirty="0" sz="1100">
                <a:latin typeface="Verdana"/>
                <a:cs typeface="Verdana"/>
              </a:rPr>
              <a:t>	</a:t>
            </a:r>
            <a:r>
              <a:rPr dirty="0" sz="1100" spc="80">
                <a:latin typeface="Verdana"/>
                <a:cs typeface="Verdana"/>
              </a:rPr>
              <a:t>A</a:t>
            </a:r>
            <a:r>
              <a:rPr dirty="0" sz="1100" spc="60">
                <a:latin typeface="Verdana"/>
                <a:cs typeface="Verdana"/>
              </a:rPr>
              <a:t>R</a:t>
            </a:r>
            <a:r>
              <a:rPr dirty="0" sz="1100" spc="125">
                <a:latin typeface="Verdana"/>
                <a:cs typeface="Verdana"/>
              </a:rPr>
              <a:t>M</a:t>
            </a:r>
            <a:r>
              <a:rPr dirty="0" sz="1100">
                <a:latin typeface="Verdana"/>
                <a:cs typeface="Verdana"/>
              </a:rPr>
              <a:t>	</a:t>
            </a:r>
            <a:r>
              <a:rPr dirty="0" sz="1100" spc="90">
                <a:latin typeface="Verdana"/>
                <a:cs typeface="Verdana"/>
              </a:rPr>
              <a:t>d</a:t>
            </a:r>
            <a:r>
              <a:rPr dirty="0" sz="1100" spc="45">
                <a:latin typeface="Verdana"/>
                <a:cs typeface="Verdana"/>
              </a:rPr>
              <a:t>e</a:t>
            </a:r>
            <a:r>
              <a:rPr dirty="0" sz="1100" spc="120">
                <a:latin typeface="Verdana"/>
                <a:cs typeface="Verdana"/>
              </a:rPr>
              <a:t>m</a:t>
            </a:r>
            <a:r>
              <a:rPr dirty="0" sz="1100" spc="55">
                <a:latin typeface="Verdana"/>
                <a:cs typeface="Verdana"/>
              </a:rPr>
              <a:t>o</a:t>
            </a:r>
            <a:r>
              <a:rPr dirty="0" sz="1100" spc="5">
                <a:latin typeface="Verdana"/>
                <a:cs typeface="Verdana"/>
              </a:rPr>
              <a:t>s</a:t>
            </a:r>
            <a:r>
              <a:rPr dirty="0" sz="1100" spc="45">
                <a:latin typeface="Verdana"/>
                <a:cs typeface="Verdana"/>
              </a:rPr>
              <a:t>t</a:t>
            </a:r>
            <a:r>
              <a:rPr dirty="0" sz="1100" spc="5">
                <a:latin typeface="Verdana"/>
                <a:cs typeface="Verdana"/>
              </a:rPr>
              <a:t>r</a:t>
            </a:r>
            <a:r>
              <a:rPr dirty="0" sz="1100" spc="25">
                <a:latin typeface="Verdana"/>
                <a:cs typeface="Verdana"/>
              </a:rPr>
              <a:t>a</a:t>
            </a:r>
            <a:r>
              <a:rPr dirty="0" sz="1100" spc="5">
                <a:latin typeface="Verdana"/>
                <a:cs typeface="Verdana"/>
              </a:rPr>
              <a:t>r</a:t>
            </a:r>
            <a:r>
              <a:rPr dirty="0" sz="1100" spc="55">
                <a:latin typeface="Verdana"/>
                <a:cs typeface="Verdana"/>
              </a:rPr>
              <a:t>o</a:t>
            </a:r>
            <a:r>
              <a:rPr dirty="0" sz="1100" spc="55">
                <a:latin typeface="Verdana"/>
                <a:cs typeface="Verdana"/>
              </a:rPr>
              <a:t>n</a:t>
            </a:r>
            <a:r>
              <a:rPr dirty="0" sz="1100">
                <a:latin typeface="Verdana"/>
                <a:cs typeface="Verdana"/>
              </a:rPr>
              <a:t>	</a:t>
            </a:r>
            <a:r>
              <a:rPr dirty="0" sz="1100" spc="5">
                <a:latin typeface="Verdana"/>
                <a:cs typeface="Verdana"/>
              </a:rPr>
              <a:t>s</a:t>
            </a:r>
            <a:r>
              <a:rPr dirty="0" sz="1100" spc="45">
                <a:latin typeface="Verdana"/>
                <a:cs typeface="Verdana"/>
              </a:rPr>
              <a:t>e</a:t>
            </a:r>
            <a:r>
              <a:rPr dirty="0" sz="1100" spc="-20">
                <a:latin typeface="Verdana"/>
                <a:cs typeface="Verdana"/>
              </a:rPr>
              <a:t>r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26340" y="16116379"/>
            <a:ext cx="4340225" cy="654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25000"/>
              </a:lnSpc>
              <a:spcBef>
                <a:spcPts val="95"/>
              </a:spcBef>
            </a:pPr>
            <a:r>
              <a:rPr dirty="0" sz="1100" spc="35">
                <a:latin typeface="Verdana"/>
                <a:cs typeface="Verdana"/>
              </a:rPr>
              <a:t>ideales </a:t>
            </a:r>
            <a:r>
              <a:rPr dirty="0" sz="1100" spc="30">
                <a:latin typeface="Verdana"/>
                <a:cs typeface="Verdana"/>
              </a:rPr>
              <a:t>para </a:t>
            </a:r>
            <a:r>
              <a:rPr dirty="0" sz="1100" spc="35">
                <a:latin typeface="Verdana"/>
                <a:cs typeface="Verdana"/>
              </a:rPr>
              <a:t>dispositivos móviles </a:t>
            </a:r>
            <a:r>
              <a:rPr dirty="0" sz="1100" spc="-35">
                <a:latin typeface="Verdana"/>
                <a:cs typeface="Verdana"/>
              </a:rPr>
              <a:t>y </a:t>
            </a:r>
            <a:r>
              <a:rPr dirty="0" sz="1100" spc="30">
                <a:latin typeface="Verdana"/>
                <a:cs typeface="Verdana"/>
              </a:rPr>
              <a:t>sistemas </a:t>
            </a:r>
            <a:r>
              <a:rPr dirty="0" sz="1100" spc="40">
                <a:latin typeface="Verdana"/>
                <a:cs typeface="Verdana"/>
              </a:rPr>
              <a:t>embebidos, </a:t>
            </a:r>
            <a:r>
              <a:rPr dirty="0" sz="1100" spc="45">
                <a:latin typeface="Verdana"/>
                <a:cs typeface="Verdana"/>
              </a:rPr>
              <a:t> </a:t>
            </a:r>
            <a:r>
              <a:rPr dirty="0" sz="1100" spc="50">
                <a:latin typeface="Verdana"/>
                <a:cs typeface="Verdana"/>
              </a:rPr>
              <a:t>estableciendo</a:t>
            </a:r>
            <a:r>
              <a:rPr dirty="0" sz="1100" spc="-35">
                <a:latin typeface="Verdana"/>
                <a:cs typeface="Verdana"/>
              </a:rPr>
              <a:t> </a:t>
            </a:r>
            <a:r>
              <a:rPr dirty="0" sz="1100" spc="50">
                <a:latin typeface="Verdana"/>
                <a:cs typeface="Verdana"/>
              </a:rPr>
              <a:t>una</a:t>
            </a:r>
            <a:r>
              <a:rPr dirty="0" sz="1100" spc="-35">
                <a:latin typeface="Verdana"/>
                <a:cs typeface="Verdana"/>
              </a:rPr>
              <a:t> </a:t>
            </a:r>
            <a:r>
              <a:rPr dirty="0" sz="1100" spc="35">
                <a:latin typeface="Verdana"/>
                <a:cs typeface="Verdana"/>
              </a:rPr>
              <a:t>base</a:t>
            </a:r>
            <a:r>
              <a:rPr dirty="0" sz="1100" spc="-30">
                <a:latin typeface="Verdana"/>
                <a:cs typeface="Verdana"/>
              </a:rPr>
              <a:t> </a:t>
            </a:r>
            <a:r>
              <a:rPr dirty="0" sz="1100" spc="35">
                <a:latin typeface="Verdana"/>
                <a:cs typeface="Verdana"/>
              </a:rPr>
              <a:t>sólida</a:t>
            </a:r>
            <a:r>
              <a:rPr dirty="0" sz="1100" spc="-35">
                <a:latin typeface="Verdana"/>
                <a:cs typeface="Verdana"/>
              </a:rPr>
              <a:t> </a:t>
            </a:r>
            <a:r>
              <a:rPr dirty="0" sz="1100" spc="30">
                <a:latin typeface="Verdana"/>
                <a:cs typeface="Verdana"/>
              </a:rPr>
              <a:t>para</a:t>
            </a:r>
            <a:r>
              <a:rPr dirty="0" sz="1100" spc="-35">
                <a:latin typeface="Verdana"/>
                <a:cs typeface="Verdana"/>
              </a:rPr>
              <a:t> </a:t>
            </a:r>
            <a:r>
              <a:rPr dirty="0" sz="1100" spc="25">
                <a:latin typeface="Verdana"/>
                <a:cs typeface="Verdana"/>
              </a:rPr>
              <a:t>el</a:t>
            </a:r>
            <a:r>
              <a:rPr dirty="0" sz="1100" spc="-30">
                <a:latin typeface="Verdana"/>
                <a:cs typeface="Verdana"/>
              </a:rPr>
              <a:t> </a:t>
            </a:r>
            <a:r>
              <a:rPr dirty="0" sz="1100" spc="65">
                <a:latin typeface="Verdana"/>
                <a:cs typeface="Verdana"/>
              </a:rPr>
              <a:t>dominio</a:t>
            </a:r>
            <a:r>
              <a:rPr dirty="0" sz="1100" spc="-35">
                <a:latin typeface="Verdana"/>
                <a:cs typeface="Verdana"/>
              </a:rPr>
              <a:t> </a:t>
            </a:r>
            <a:r>
              <a:rPr dirty="0" sz="1100" spc="55">
                <a:latin typeface="Verdana"/>
                <a:cs typeface="Verdana"/>
              </a:rPr>
              <a:t>de</a:t>
            </a:r>
            <a:r>
              <a:rPr dirty="0" sz="1100" spc="-30">
                <a:latin typeface="Verdana"/>
                <a:cs typeface="Verdana"/>
              </a:rPr>
              <a:t> </a:t>
            </a:r>
            <a:r>
              <a:rPr dirty="0" sz="1100" spc="90">
                <a:latin typeface="Verdana"/>
                <a:cs typeface="Verdana"/>
              </a:rPr>
              <a:t>ARM</a:t>
            </a:r>
            <a:r>
              <a:rPr dirty="0" sz="1100" spc="-35">
                <a:latin typeface="Verdana"/>
                <a:cs typeface="Verdana"/>
              </a:rPr>
              <a:t> </a:t>
            </a:r>
            <a:r>
              <a:rPr dirty="0" sz="1100" spc="50">
                <a:latin typeface="Verdana"/>
                <a:cs typeface="Verdana"/>
              </a:rPr>
              <a:t>en </a:t>
            </a:r>
            <a:r>
              <a:rPr dirty="0" sz="1100" spc="-375">
                <a:latin typeface="Verdana"/>
                <a:cs typeface="Verdana"/>
              </a:rPr>
              <a:t> </a:t>
            </a:r>
            <a:r>
              <a:rPr dirty="0" sz="1100" spc="25">
                <a:latin typeface="Verdana"/>
                <a:cs typeface="Verdana"/>
              </a:rPr>
              <a:t>el</a:t>
            </a:r>
            <a:r>
              <a:rPr dirty="0" sz="1100" spc="-35">
                <a:latin typeface="Verdana"/>
                <a:cs typeface="Verdana"/>
              </a:rPr>
              <a:t> </a:t>
            </a:r>
            <a:r>
              <a:rPr dirty="0" sz="1100" spc="55">
                <a:latin typeface="Verdana"/>
                <a:cs typeface="Verdana"/>
              </a:rPr>
              <a:t>mercado</a:t>
            </a:r>
            <a:r>
              <a:rPr dirty="0" sz="1100" spc="-35">
                <a:latin typeface="Verdana"/>
                <a:cs typeface="Verdana"/>
              </a:rPr>
              <a:t> </a:t>
            </a:r>
            <a:r>
              <a:rPr dirty="0" sz="1100" spc="55">
                <a:latin typeface="Verdana"/>
                <a:cs typeface="Verdana"/>
              </a:rPr>
              <a:t>de</a:t>
            </a:r>
            <a:r>
              <a:rPr dirty="0" sz="1100" spc="-35">
                <a:latin typeface="Verdana"/>
                <a:cs typeface="Verdana"/>
              </a:rPr>
              <a:t> </a:t>
            </a:r>
            <a:r>
              <a:rPr dirty="0" sz="1100" spc="35">
                <a:latin typeface="Verdana"/>
                <a:cs typeface="Verdana"/>
              </a:rPr>
              <a:t>dispositivos</a:t>
            </a:r>
            <a:r>
              <a:rPr dirty="0" sz="1100" spc="-35">
                <a:latin typeface="Verdana"/>
                <a:cs typeface="Verdana"/>
              </a:rPr>
              <a:t> </a:t>
            </a:r>
            <a:r>
              <a:rPr dirty="0" sz="1100" spc="55">
                <a:latin typeface="Verdana"/>
                <a:cs typeface="Verdana"/>
              </a:rPr>
              <a:t>de</a:t>
            </a:r>
            <a:r>
              <a:rPr dirty="0" sz="1100" spc="-35">
                <a:latin typeface="Verdana"/>
                <a:cs typeface="Verdana"/>
              </a:rPr>
              <a:t> </a:t>
            </a:r>
            <a:r>
              <a:rPr dirty="0" sz="1100" spc="25">
                <a:latin typeface="Verdana"/>
                <a:cs typeface="Verdana"/>
              </a:rPr>
              <a:t>bajo</a:t>
            </a:r>
            <a:r>
              <a:rPr dirty="0" sz="1100" spc="-35">
                <a:latin typeface="Verdana"/>
                <a:cs typeface="Verdana"/>
              </a:rPr>
              <a:t> </a:t>
            </a:r>
            <a:r>
              <a:rPr dirty="0" sz="1100" spc="65">
                <a:latin typeface="Verdana"/>
                <a:cs typeface="Verdana"/>
              </a:rPr>
              <a:t>consumo</a:t>
            </a:r>
            <a:r>
              <a:rPr dirty="0" sz="1100" spc="-30">
                <a:latin typeface="Verdana"/>
                <a:cs typeface="Verdana"/>
              </a:rPr>
              <a:t> </a:t>
            </a:r>
            <a:r>
              <a:rPr dirty="0" sz="1100" spc="-35">
                <a:latin typeface="Verdana"/>
                <a:cs typeface="Verdana"/>
              </a:rPr>
              <a:t>y </a:t>
            </a:r>
            <a:r>
              <a:rPr dirty="0" sz="1100" spc="35">
                <a:latin typeface="Verdana"/>
                <a:cs typeface="Verdana"/>
              </a:rPr>
              <a:t>portátiles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4101" y="11885858"/>
            <a:ext cx="31070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85" b="1">
                <a:latin typeface="Verdana"/>
                <a:cs typeface="Verdana"/>
              </a:rPr>
              <a:t>1994:</a:t>
            </a:r>
            <a:r>
              <a:rPr dirty="0" sz="1400" spc="-85" b="1">
                <a:latin typeface="Verdana"/>
                <a:cs typeface="Verdana"/>
              </a:rPr>
              <a:t> </a:t>
            </a:r>
            <a:r>
              <a:rPr dirty="0" sz="1400" spc="-65" b="1">
                <a:latin typeface="Verdana"/>
                <a:cs typeface="Verdana"/>
              </a:rPr>
              <a:t>Introducción</a:t>
            </a:r>
            <a:r>
              <a:rPr dirty="0" sz="1400" spc="-85" b="1">
                <a:latin typeface="Verdana"/>
                <a:cs typeface="Verdana"/>
              </a:rPr>
              <a:t> </a:t>
            </a:r>
            <a:r>
              <a:rPr dirty="0" sz="1400" spc="-35" b="1">
                <a:latin typeface="Verdana"/>
                <a:cs typeface="Verdana"/>
              </a:rPr>
              <a:t>de</a:t>
            </a:r>
            <a:r>
              <a:rPr dirty="0" sz="1400" spc="-85" b="1">
                <a:latin typeface="Verdana"/>
                <a:cs typeface="Verdana"/>
              </a:rPr>
              <a:t> </a:t>
            </a:r>
            <a:r>
              <a:rPr dirty="0" sz="1400" spc="-80" b="1">
                <a:latin typeface="Verdana"/>
                <a:cs typeface="Verdana"/>
              </a:rPr>
              <a:t>ARM7TDMI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925631" y="14243163"/>
            <a:ext cx="1925955" cy="508000"/>
          </a:xfrm>
          <a:custGeom>
            <a:avLst/>
            <a:gdLst/>
            <a:ahLst/>
            <a:cxnLst/>
            <a:rect l="l" t="t" r="r" b="b"/>
            <a:pathLst>
              <a:path w="1925954" h="508000">
                <a:moveTo>
                  <a:pt x="1798783" y="507998"/>
                </a:moveTo>
                <a:lnTo>
                  <a:pt x="126999" y="507998"/>
                </a:lnTo>
                <a:lnTo>
                  <a:pt x="77565" y="498018"/>
                </a:lnTo>
                <a:lnTo>
                  <a:pt x="37197" y="470801"/>
                </a:lnTo>
                <a:lnTo>
                  <a:pt x="9980" y="430433"/>
                </a:lnTo>
                <a:lnTo>
                  <a:pt x="0" y="380999"/>
                </a:lnTo>
                <a:lnTo>
                  <a:pt x="0" y="126999"/>
                </a:lnTo>
                <a:lnTo>
                  <a:pt x="9980" y="77565"/>
                </a:lnTo>
                <a:lnTo>
                  <a:pt x="37197" y="37197"/>
                </a:lnTo>
                <a:lnTo>
                  <a:pt x="77565" y="9980"/>
                </a:lnTo>
                <a:lnTo>
                  <a:pt x="126999" y="0"/>
                </a:lnTo>
                <a:lnTo>
                  <a:pt x="1798783" y="0"/>
                </a:lnTo>
                <a:lnTo>
                  <a:pt x="1847384" y="9667"/>
                </a:lnTo>
                <a:lnTo>
                  <a:pt x="1888586" y="37197"/>
                </a:lnTo>
                <a:lnTo>
                  <a:pt x="1916116" y="78399"/>
                </a:lnTo>
                <a:lnTo>
                  <a:pt x="1925783" y="126999"/>
                </a:lnTo>
                <a:lnTo>
                  <a:pt x="1925783" y="380999"/>
                </a:lnTo>
                <a:lnTo>
                  <a:pt x="1916116" y="429599"/>
                </a:lnTo>
                <a:lnTo>
                  <a:pt x="1888586" y="470801"/>
                </a:lnTo>
                <a:lnTo>
                  <a:pt x="1847384" y="498331"/>
                </a:lnTo>
                <a:lnTo>
                  <a:pt x="1798783" y="507998"/>
                </a:lnTo>
                <a:close/>
              </a:path>
            </a:pathLst>
          </a:custGeom>
          <a:solidFill>
            <a:srgbClr val="85DA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3039930" y="14271769"/>
            <a:ext cx="169735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80" b="1">
                <a:latin typeface="Verdana"/>
                <a:cs typeface="Verdana"/>
              </a:rPr>
              <a:t>RESUMEN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58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70"/>
              </a:spcBef>
            </a:pPr>
            <a:r>
              <a:rPr dirty="0" spc="-100"/>
              <a:t>Primeros</a:t>
            </a:r>
            <a:r>
              <a:rPr dirty="0" spc="-300"/>
              <a:t> </a:t>
            </a:r>
            <a:r>
              <a:rPr dirty="0"/>
              <a:t>ARM</a:t>
            </a:r>
          </a:p>
          <a:p>
            <a:pPr algn="ctr">
              <a:lnSpc>
                <a:spcPct val="100000"/>
              </a:lnSpc>
              <a:spcBef>
                <a:spcPts val="520"/>
              </a:spcBef>
            </a:pPr>
            <a:r>
              <a:rPr dirty="0" sz="2550" spc="85" b="0">
                <a:latin typeface="Verdana"/>
                <a:cs typeface="Verdana"/>
              </a:rPr>
              <a:t>Avances</a:t>
            </a:r>
            <a:r>
              <a:rPr dirty="0" sz="2550" spc="-130" b="0">
                <a:latin typeface="Verdana"/>
                <a:cs typeface="Verdana"/>
              </a:rPr>
              <a:t> </a:t>
            </a:r>
            <a:r>
              <a:rPr dirty="0" sz="2550" spc="110" b="0">
                <a:latin typeface="Verdana"/>
                <a:cs typeface="Verdana"/>
              </a:rPr>
              <a:t>Tecnologicos</a:t>
            </a:r>
            <a:endParaRPr sz="2550">
              <a:latin typeface="Verdana"/>
              <a:cs typeface="Verdan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29080" y="387159"/>
            <a:ext cx="135625" cy="135624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00116" y="387159"/>
            <a:ext cx="135625" cy="135625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71151" y="387159"/>
            <a:ext cx="135625" cy="135624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13222" y="387159"/>
            <a:ext cx="135625" cy="135624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42187" y="387159"/>
            <a:ext cx="135625" cy="135625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555294" y="387159"/>
            <a:ext cx="135625" cy="135625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284258" y="387159"/>
            <a:ext cx="135625" cy="1356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Jorge Mario Castañeda Cragua</dc:creator>
  <cp:keywords>DAGVdwwFylE,BAFIsfGH4r8</cp:keywords>
  <dc:title>Primeros ARM</dc:title>
  <dcterms:created xsi:type="dcterms:W3CDTF">2024-11-05T06:25:16Z</dcterms:created>
  <dcterms:modified xsi:type="dcterms:W3CDTF">2024-11-05T06:25:16Z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2024-11-04T00:00:00Z</vt:filetime>
  </property>
  <property fmtid="{D5CDD505-2E9C-101B-9397-08002B2CF9AE}" pid="3" name="Creator">
    <vt:lpwstr>Canva</vt:lpwstr>
  </property>
  <property fmtid="{D5CDD505-2E9C-101B-9397-08002B2CF9AE}" pid="4" name="LastSaved">
    <vt:filetime>2024-11-05T00:00:00Z</vt:filetime>
  </property>
</Properties>
</file>