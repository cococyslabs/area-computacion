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hl1yfuGNwSqS/pficHOK1h2CORI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6358F11-F662-4BE5-8827-DC92474ACF7B}">
  <a:tblStyle styleId="{16358F11-F662-4BE5-8827-DC92474ACF7B}"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3" d="100"/>
          <a:sy n="143" d="100"/>
        </p:scale>
        <p:origin x="68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bcfd998e5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2bcfd998e5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d2d4a7724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2d2d4a7724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d2d4a77240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g2d2d4a77240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d2d4a77240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g2d2d4a77240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d2d4a77240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g2d2d4a77240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d2d4a77240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g2d2d4a77240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d2d4a77240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2d2d4a77240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d2d4a77240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g2d2d4a77240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d2d4a77240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g2d2d4a77240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d2d4a77240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2d2d4a77240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d2d4a77240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g2d2d4a77240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2d2d4a77240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2d2d4a77240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d2d4a77240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g2d2d4a77240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 name="Google Shape;11;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 name="Google Shape;15;p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www.youtube.com/watch?v=L-DebhVbYyI&amp;t=82s&amp;ab_channel=HannsPerez"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www.youtube.com/watch?v=SpKVPr-VYiI&amp;ab_channel=HannsPerez"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www.youtube.com/watch?v=UVw_sX7AMG0&amp;ab_channel=martino"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www.youtube.com/watch?v=QJjM7EKDRuc&amp;ab_channel=BitBoss"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www.youtube.com/watch?v=MxtRSQ46P-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a:stretch/>
        </p:blipFill>
        <p:spPr>
          <a:xfrm>
            <a:off x="8451" y="0"/>
            <a:ext cx="9127099" cy="5143501"/>
          </a:xfrm>
          <a:prstGeom prst="rect">
            <a:avLst/>
          </a:prstGeom>
          <a:noFill/>
          <a:ln>
            <a:noFill/>
          </a:ln>
        </p:spPr>
      </p:pic>
      <p:graphicFrame>
        <p:nvGraphicFramePr>
          <p:cNvPr id="55" name="Google Shape;55;p1"/>
          <p:cNvGraphicFramePr/>
          <p:nvPr/>
        </p:nvGraphicFramePr>
        <p:xfrm>
          <a:off x="5328200" y="970025"/>
          <a:ext cx="3690575" cy="798516"/>
        </p:xfrm>
        <a:graphic>
          <a:graphicData uri="http://schemas.openxmlformats.org/drawingml/2006/table">
            <a:tbl>
              <a:tblPr>
                <a:noFill/>
                <a:tableStyleId>{16358F11-F662-4BE5-8827-DC92474ACF7B}</a:tableStyleId>
              </a:tblPr>
              <a:tblGrid>
                <a:gridCol w="1518200">
                  <a:extLst>
                    <a:ext uri="{9D8B030D-6E8A-4147-A177-3AD203B41FA5}">
                      <a16:colId xmlns:a16="http://schemas.microsoft.com/office/drawing/2014/main" val="20000"/>
                    </a:ext>
                  </a:extLst>
                </a:gridCol>
                <a:gridCol w="2172375">
                  <a:extLst>
                    <a:ext uri="{9D8B030D-6E8A-4147-A177-3AD203B41FA5}">
                      <a16:colId xmlns:a16="http://schemas.microsoft.com/office/drawing/2014/main" val="20001"/>
                    </a:ext>
                  </a:extLst>
                </a:gridCol>
              </a:tblGrid>
              <a:tr h="32245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Día, Fecha:</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a:t>Martes</a:t>
                      </a:r>
                      <a:r>
                        <a:rPr lang="es" sz="1400" u="none" strike="noStrike" cap="none"/>
                        <a:t>, </a:t>
                      </a:r>
                      <a:r>
                        <a:rPr lang="es"/>
                        <a:t>10</a:t>
                      </a:r>
                      <a:r>
                        <a:rPr lang="es" sz="1400" u="none" strike="noStrike" cap="none"/>
                        <a:t>/0</a:t>
                      </a:r>
                      <a:r>
                        <a:rPr lang="es"/>
                        <a:t>9</a:t>
                      </a:r>
                      <a:r>
                        <a:rPr lang="es" sz="1400" u="none" strike="noStrike" cap="none"/>
                        <a:t>/2024</a:t>
                      </a:r>
                      <a:endParaRPr sz="1400" u="none" strike="noStrike" cap="none"/>
                    </a:p>
                  </a:txBody>
                  <a:tcPr marL="91425" marR="91425" marT="91425" marB="91425"/>
                </a:tc>
                <a:extLst>
                  <a:ext uri="{0D108BD9-81ED-4DB2-BD59-A6C34878D82A}">
                    <a16:rowId xmlns:a16="http://schemas.microsoft.com/office/drawing/2014/main" val="10000"/>
                  </a:ext>
                </a:extLst>
              </a:tr>
              <a:tr h="36310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Hora de inicio:</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17:20</a:t>
                      </a:r>
                      <a:endParaRPr sz="1400" u="none" strike="noStrike" cap="none"/>
                    </a:p>
                  </a:txBody>
                  <a:tcPr marL="91425" marR="91425" marT="91425" marB="91425"/>
                </a:tc>
                <a:extLst>
                  <a:ext uri="{0D108BD9-81ED-4DB2-BD59-A6C34878D82A}">
                    <a16:rowId xmlns:a16="http://schemas.microsoft.com/office/drawing/2014/main" val="10001"/>
                  </a:ext>
                </a:extLst>
              </a:tr>
            </a:tbl>
          </a:graphicData>
        </a:graphic>
      </p:graphicFrame>
      <p:sp>
        <p:nvSpPr>
          <p:cNvPr id="56" name="Google Shape;56;p1"/>
          <p:cNvSpPr txBox="1"/>
          <p:nvPr/>
        </p:nvSpPr>
        <p:spPr>
          <a:xfrm>
            <a:off x="43875" y="2443525"/>
            <a:ext cx="55866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a:solidFill>
                  <a:srgbClr val="000000"/>
                </a:solidFill>
                <a:latin typeface="Arial"/>
                <a:ea typeface="Arial"/>
                <a:cs typeface="Arial"/>
                <a:sym typeface="Arial"/>
              </a:rPr>
              <a:t>Inteligencia </a:t>
            </a:r>
            <a:r>
              <a:rPr lang="es" sz="2500"/>
              <a:t>A</a:t>
            </a:r>
            <a:r>
              <a:rPr lang="es" sz="2500" b="0" i="0" u="none" strike="noStrike" cap="none">
                <a:solidFill>
                  <a:srgbClr val="000000"/>
                </a:solidFill>
                <a:latin typeface="Arial"/>
                <a:ea typeface="Arial"/>
                <a:cs typeface="Arial"/>
                <a:sym typeface="Arial"/>
              </a:rPr>
              <a:t>rtificial 1 Sección A</a:t>
            </a:r>
            <a:endParaRPr sz="2500" b="0" i="0" u="none" strike="noStrike" cap="none">
              <a:solidFill>
                <a:srgbClr val="000000"/>
              </a:solidFill>
              <a:latin typeface="Arial"/>
              <a:ea typeface="Arial"/>
              <a:cs typeface="Arial"/>
              <a:sym typeface="Arial"/>
            </a:endParaRPr>
          </a:p>
        </p:txBody>
      </p:sp>
      <p:sp>
        <p:nvSpPr>
          <p:cNvPr id="57" name="Google Shape;57;p1"/>
          <p:cNvSpPr txBox="1"/>
          <p:nvPr/>
        </p:nvSpPr>
        <p:spPr>
          <a:xfrm>
            <a:off x="5048600" y="4416550"/>
            <a:ext cx="36213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 sz="2000" b="0" i="0" u="none" strike="noStrike" cap="none">
                <a:solidFill>
                  <a:srgbClr val="000000"/>
                </a:solidFill>
                <a:latin typeface="Arial"/>
                <a:ea typeface="Arial"/>
                <a:cs typeface="Arial"/>
                <a:sym typeface="Arial"/>
              </a:rPr>
              <a:t>Erick Eden Sandoval Ramirez</a:t>
            </a: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g2bcfd998e5f_0_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2bcfd998e5f_0_0"/>
          <p:cNvSpPr txBox="1"/>
          <p:nvPr/>
        </p:nvSpPr>
        <p:spPr>
          <a:xfrm>
            <a:off x="2286825" y="284950"/>
            <a:ext cx="4082100" cy="34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2"/>
                </a:solidFill>
              </a:rPr>
              <a:t>BÚSQUEDA DE COSTO UNIFORME</a:t>
            </a:r>
            <a:endParaRPr sz="1800" b="1">
              <a:solidFill>
                <a:schemeClr val="dk2"/>
              </a:solidFill>
            </a:endParaRPr>
          </a:p>
        </p:txBody>
      </p:sp>
      <p:sp>
        <p:nvSpPr>
          <p:cNvPr id="64" name="Google Shape;64;g2bcfd998e5f_0_0"/>
          <p:cNvSpPr txBox="1"/>
          <p:nvPr/>
        </p:nvSpPr>
        <p:spPr>
          <a:xfrm>
            <a:off x="128225" y="954600"/>
            <a:ext cx="8933400" cy="38613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dirty="0">
                <a:solidFill>
                  <a:schemeClr val="dk1"/>
                </a:solidFill>
              </a:rPr>
              <a:t>Es un algoritmo de búsqueda no informado, las búsquedas UCS o búsquedas de costo uniforme trabaja con árboles y grafos binarios, su principal características es asignarle un costo a su recorrido expandiendo los nodos que son visitados. Este algoritmo está estrechamente relacionado a la búsqueda primero por anchura pero se diferencia porque este tiene un coste total que basa y traza sus decisiones.</a:t>
            </a:r>
            <a:endParaRPr sz="1800" dirty="0">
              <a:solidFill>
                <a:schemeClr val="dk1"/>
              </a:solidFill>
            </a:endParaRPr>
          </a:p>
          <a:p>
            <a:pPr marL="457200" lvl="0" indent="0" algn="just" rtl="0">
              <a:spcBef>
                <a:spcPts val="0"/>
              </a:spcBef>
              <a:spcAft>
                <a:spcPts val="0"/>
              </a:spcAft>
              <a:buNone/>
            </a:pPr>
            <a:endParaRPr sz="1800" dirty="0">
              <a:solidFill>
                <a:schemeClr val="dk1"/>
              </a:solidFill>
            </a:endParaRPr>
          </a:p>
          <a:p>
            <a:pPr marL="457200" lvl="0" indent="-342900" algn="just" rtl="0">
              <a:spcBef>
                <a:spcPts val="0"/>
              </a:spcBef>
              <a:spcAft>
                <a:spcPts val="0"/>
              </a:spcAft>
              <a:buClr>
                <a:schemeClr val="dk1"/>
              </a:buClr>
              <a:buSzPts val="1800"/>
              <a:buChar char="●"/>
            </a:pPr>
            <a:r>
              <a:rPr lang="es" sz="1800" dirty="0">
                <a:solidFill>
                  <a:schemeClr val="dk1"/>
                </a:solidFill>
              </a:rPr>
              <a:t>Se caracteriza por buscar el camino con el costo más pequeño.</a:t>
            </a:r>
            <a:endParaRPr sz="1800" dirty="0">
              <a:solidFill>
                <a:schemeClr val="dk1"/>
              </a:solidFill>
            </a:endParaRPr>
          </a:p>
          <a:p>
            <a:pPr marL="457200" lvl="0" indent="-342900" algn="just" rtl="0">
              <a:spcBef>
                <a:spcPts val="0"/>
              </a:spcBef>
              <a:spcAft>
                <a:spcPts val="0"/>
              </a:spcAft>
              <a:buClr>
                <a:schemeClr val="dk1"/>
              </a:buClr>
              <a:buSzPts val="1800"/>
              <a:buChar char="●"/>
            </a:pPr>
            <a:r>
              <a:rPr lang="es" sz="1800" dirty="0">
                <a:solidFill>
                  <a:schemeClr val="dk1"/>
                </a:solidFill>
              </a:rPr>
              <a:t>Debido a su forma de trabajo, no se preocupa por el número de pasos, si no por el costo final.</a:t>
            </a:r>
            <a:endParaRPr sz="1800" dirty="0">
              <a:solidFill>
                <a:schemeClr val="dk1"/>
              </a:solidFill>
            </a:endParaRPr>
          </a:p>
          <a:p>
            <a:pPr marL="0" lvl="0" indent="0" algn="just" rtl="0">
              <a:spcBef>
                <a:spcPts val="0"/>
              </a:spcBef>
              <a:spcAft>
                <a:spcPts val="0"/>
              </a:spcAft>
              <a:buNone/>
            </a:pPr>
            <a:endParaRPr sz="1800" dirty="0">
              <a:solidFill>
                <a:schemeClr val="dk1"/>
              </a:solidFill>
            </a:endParaRPr>
          </a:p>
          <a:p>
            <a:pPr marL="0" lvl="0" indent="0" algn="just" rtl="0">
              <a:spcBef>
                <a:spcPts val="0"/>
              </a:spcBef>
              <a:spcAft>
                <a:spcPts val="0"/>
              </a:spcAft>
              <a:buNone/>
            </a:pPr>
            <a:r>
              <a:rPr lang="es" sz="1800" dirty="0">
                <a:solidFill>
                  <a:schemeClr val="dk1"/>
                </a:solidFill>
              </a:rPr>
              <a:t>Las aplicaciones en la vida real de este algoritmo se realizan en problemas pequeños debido a que existen mejores algoritmos para problemas complejos que tienen el mismo concepto de la búsqueda de costo uniforme pero con una característica adicional que lo hace mejor.</a:t>
            </a:r>
            <a:endParaRPr sz="1800" dirty="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g2d2d4a77240_0_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0" name="Google Shape;70;g2d2d4a77240_0_0"/>
          <p:cNvSpPr txBox="1"/>
          <p:nvPr/>
        </p:nvSpPr>
        <p:spPr>
          <a:xfrm>
            <a:off x="2828225" y="242200"/>
            <a:ext cx="2464800" cy="42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dirty="0">
                <a:solidFill>
                  <a:schemeClr val="dk2"/>
                </a:solidFill>
              </a:rPr>
              <a:t>Búsqueda informada</a:t>
            </a:r>
            <a:endParaRPr sz="1800" b="1" dirty="0">
              <a:solidFill>
                <a:schemeClr val="dk2"/>
              </a:solidFill>
            </a:endParaRPr>
          </a:p>
        </p:txBody>
      </p:sp>
      <p:sp>
        <p:nvSpPr>
          <p:cNvPr id="71" name="Google Shape;71;g2d2d4a77240_0_0"/>
          <p:cNvSpPr txBox="1"/>
          <p:nvPr/>
        </p:nvSpPr>
        <p:spPr>
          <a:xfrm>
            <a:off x="142475" y="854875"/>
            <a:ext cx="8869200" cy="37758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dirty="0">
                <a:solidFill>
                  <a:schemeClr val="dk1"/>
                </a:solidFill>
              </a:rPr>
              <a:t>Los algoritmos de búsqueda informada (también conocidos como algoritmos de búsqueda heurística) son un tipo de búsqueda que utiliza información adicional y conocimiento de un dominio específico para guiar sus búsquedas. A diferencia de las búsquedas no informadas, utilizan </a:t>
            </a:r>
            <a:r>
              <a:rPr lang="es" sz="1800" b="1" dirty="0">
                <a:solidFill>
                  <a:schemeClr val="dk1"/>
                </a:solidFill>
              </a:rPr>
              <a:t>heurísticas</a:t>
            </a:r>
            <a:r>
              <a:rPr lang="es" sz="1800" dirty="0">
                <a:solidFill>
                  <a:schemeClr val="dk1"/>
                </a:solidFill>
              </a:rPr>
              <a:t>, que son reglas generales y estimaciones que les ayudan a priorizar rutas y evitar exploraciones innecesarias.</a:t>
            </a:r>
            <a:endParaRPr sz="1800" dirty="0">
              <a:solidFill>
                <a:schemeClr val="dk1"/>
              </a:solidFill>
            </a:endParaRPr>
          </a:p>
          <a:p>
            <a:pPr marL="0" lvl="0" indent="0" algn="just" rtl="0">
              <a:spcBef>
                <a:spcPts val="0"/>
              </a:spcBef>
              <a:spcAft>
                <a:spcPts val="0"/>
              </a:spcAft>
              <a:buNone/>
            </a:pPr>
            <a:endParaRPr sz="1800" dirty="0">
              <a:solidFill>
                <a:schemeClr val="dk1"/>
              </a:solidFill>
            </a:endParaRPr>
          </a:p>
          <a:p>
            <a:pPr marL="457200" lvl="0" indent="-342900" algn="just" rtl="0">
              <a:spcBef>
                <a:spcPts val="0"/>
              </a:spcBef>
              <a:spcAft>
                <a:spcPts val="0"/>
              </a:spcAft>
              <a:buClr>
                <a:schemeClr val="dk1"/>
              </a:buClr>
              <a:buSzPts val="1800"/>
              <a:buChar char="●"/>
            </a:pPr>
            <a:r>
              <a:rPr lang="es" sz="1800" dirty="0">
                <a:solidFill>
                  <a:schemeClr val="dk1"/>
                </a:solidFill>
              </a:rPr>
              <a:t>El propósito de la búsqueda informada es utilizar conocimiento específico del problema para alcanzar el objetivo de manera más eficiente.</a:t>
            </a:r>
            <a:endParaRPr sz="1800" dirty="0">
              <a:solidFill>
                <a:schemeClr val="dk1"/>
              </a:solidFill>
            </a:endParaRPr>
          </a:p>
          <a:p>
            <a:pPr marL="457200" lvl="0" indent="-342900" algn="just" rtl="0">
              <a:spcBef>
                <a:spcPts val="0"/>
              </a:spcBef>
              <a:spcAft>
                <a:spcPts val="0"/>
              </a:spcAft>
              <a:buClr>
                <a:schemeClr val="dk1"/>
              </a:buClr>
              <a:buSzPts val="1800"/>
              <a:buChar char="●"/>
            </a:pPr>
            <a:r>
              <a:rPr lang="es" sz="1800" dirty="0">
                <a:solidFill>
                  <a:schemeClr val="dk1"/>
                </a:solidFill>
              </a:rPr>
              <a:t>Las estrategias de búsqueda informada son mucho más eficientes que las no informadas.</a:t>
            </a:r>
            <a:endParaRPr sz="1800" dirty="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g2d2d4a77240_0_4"/>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7" name="Google Shape;77;g2d2d4a77240_0_4"/>
          <p:cNvSpPr txBox="1"/>
          <p:nvPr/>
        </p:nvSpPr>
        <p:spPr>
          <a:xfrm>
            <a:off x="2742725" y="277825"/>
            <a:ext cx="2764200" cy="52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dirty="0">
                <a:solidFill>
                  <a:schemeClr val="dk1"/>
                </a:solidFill>
              </a:rPr>
              <a:t>Qué es una heurística</a:t>
            </a:r>
            <a:endParaRPr sz="1800" b="1" dirty="0">
              <a:solidFill>
                <a:schemeClr val="dk1"/>
              </a:solidFill>
            </a:endParaRPr>
          </a:p>
        </p:txBody>
      </p:sp>
      <p:sp>
        <p:nvSpPr>
          <p:cNvPr id="78" name="Google Shape;78;g2d2d4a77240_0_4"/>
          <p:cNvSpPr txBox="1"/>
          <p:nvPr/>
        </p:nvSpPr>
        <p:spPr>
          <a:xfrm>
            <a:off x="64125" y="1089975"/>
            <a:ext cx="9040200" cy="31845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dirty="0">
                <a:solidFill>
                  <a:schemeClr val="dk1"/>
                </a:solidFill>
              </a:rPr>
              <a:t>Las heurísticas son la representación del conocimiento obtenido a través de la experiencia. Dicho conocimiento usualmente consiste en reglas extraídas de múltiples ejemplos de solución en diferentes escenarios.</a:t>
            </a:r>
            <a:endParaRPr sz="1800" dirty="0">
              <a:solidFill>
                <a:schemeClr val="dk1"/>
              </a:solidFill>
            </a:endParaRPr>
          </a:p>
          <a:p>
            <a:pPr marL="0" lvl="0" indent="0" algn="just" rtl="0">
              <a:spcBef>
                <a:spcPts val="0"/>
              </a:spcBef>
              <a:spcAft>
                <a:spcPts val="0"/>
              </a:spcAft>
              <a:buNone/>
            </a:pPr>
            <a:endParaRPr sz="1800" dirty="0">
              <a:solidFill>
                <a:schemeClr val="dk1"/>
              </a:solidFill>
            </a:endParaRPr>
          </a:p>
          <a:p>
            <a:pPr marL="457200" lvl="0" indent="-342900" algn="just" rtl="0">
              <a:spcBef>
                <a:spcPts val="0"/>
              </a:spcBef>
              <a:spcAft>
                <a:spcPts val="0"/>
              </a:spcAft>
              <a:buClr>
                <a:schemeClr val="dk1"/>
              </a:buClr>
              <a:buSzPts val="1800"/>
              <a:buChar char="●"/>
            </a:pPr>
            <a:r>
              <a:rPr lang="es" sz="1800" dirty="0">
                <a:solidFill>
                  <a:schemeClr val="dk1"/>
                </a:solidFill>
              </a:rPr>
              <a:t>Una heurística permite tomar decisiones rápidas sin detenerse en las causas (razones) de cada decisión.</a:t>
            </a:r>
            <a:endParaRPr sz="1800" dirty="0">
              <a:solidFill>
                <a:schemeClr val="dk1"/>
              </a:solidFill>
            </a:endParaRPr>
          </a:p>
          <a:p>
            <a:pPr marL="457200" lvl="0" indent="-342900" algn="just" rtl="0">
              <a:spcBef>
                <a:spcPts val="0"/>
              </a:spcBef>
              <a:spcAft>
                <a:spcPts val="0"/>
              </a:spcAft>
              <a:buClr>
                <a:schemeClr val="dk1"/>
              </a:buClr>
              <a:buSzPts val="1800"/>
              <a:buChar char="●"/>
            </a:pPr>
            <a:r>
              <a:rPr lang="es" sz="1800" dirty="0">
                <a:solidFill>
                  <a:schemeClr val="dk1"/>
                </a:solidFill>
              </a:rPr>
              <a:t>Cuantas más instancias (ejemplos) de solución sean tenidos en consideración para crear la base de reglas, mejor será la heurística.</a:t>
            </a:r>
            <a:endParaRPr sz="1800" dirty="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pic>
        <p:nvPicPr>
          <p:cNvPr id="83" name="Google Shape;83;g2d2d4a77240_0_8"/>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84" name="Google Shape;84;g2d2d4a77240_0_8"/>
          <p:cNvSpPr txBox="1"/>
          <p:nvPr/>
        </p:nvSpPr>
        <p:spPr>
          <a:xfrm>
            <a:off x="2828200" y="199475"/>
            <a:ext cx="2885100" cy="44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a:solidFill>
                  <a:schemeClr val="dk1"/>
                </a:solidFill>
              </a:rPr>
              <a:t>Utilidad de las heurísticas.</a:t>
            </a:r>
            <a:endParaRPr sz="1800">
              <a:solidFill>
                <a:schemeClr val="dk1"/>
              </a:solidFill>
            </a:endParaRPr>
          </a:p>
        </p:txBody>
      </p:sp>
      <p:sp>
        <p:nvSpPr>
          <p:cNvPr id="85" name="Google Shape;85;g2d2d4a77240_0_8"/>
          <p:cNvSpPr txBox="1"/>
          <p:nvPr/>
        </p:nvSpPr>
        <p:spPr>
          <a:xfrm>
            <a:off x="220850" y="897625"/>
            <a:ext cx="8684100" cy="372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a:solidFill>
                  <a:schemeClr val="dk1"/>
                </a:solidFill>
              </a:rPr>
              <a:t>Con base en heurísticas, es posible obtener soluciones válidas sin explorar todos los estados posibles del problema.</a:t>
            </a:r>
            <a:endParaRPr sz="1800">
              <a:solidFill>
                <a:schemeClr val="dk1"/>
              </a:solidFill>
            </a:endParaRPr>
          </a:p>
          <a:p>
            <a:pPr marL="0" lvl="0" indent="0" algn="l" rtl="0">
              <a:spcBef>
                <a:spcPts val="0"/>
              </a:spcBef>
              <a:spcAft>
                <a:spcPts val="0"/>
              </a:spcAft>
              <a:buNone/>
            </a:pP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Las heurísticas permiten traducir el conocimiento experto en mecanismos para hacer más eficiente el proceso de encontrar una solución (reglas, criterios de limitación de la expansión de vértices).</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r>
              <a:rPr lang="es" sz="1800">
                <a:solidFill>
                  <a:schemeClr val="dk1"/>
                </a:solidFill>
              </a:rPr>
              <a:t>Sin el uso de heurísticas, muchos problemas de búsqueda no serían tratables (complejidad en instrucciones y memoria).</a:t>
            </a:r>
            <a:endParaRPr sz="1800">
              <a:solidFill>
                <a:schemeClr val="dk1"/>
              </a:solidFill>
            </a:endParaRPr>
          </a:p>
          <a:p>
            <a:pPr marL="0" lvl="0" indent="0" algn="l" rtl="0">
              <a:spcBef>
                <a:spcPts val="0"/>
              </a:spcBef>
              <a:spcAft>
                <a:spcPts val="0"/>
              </a:spcAft>
              <a:buNone/>
            </a:pP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Las heurísticas pueden establecerse a partir de una base de reglas preestablecidas, si bien en trabajos recientes, pueden aprenderse mediante técnicas modernas de aprendizaje de máquina (Deep Learning).</a:t>
            </a:r>
            <a:endParaRPr sz="1800">
              <a:solidFill>
                <a:schemeClr val="dk1"/>
              </a:solidFill>
            </a:endParaRPr>
          </a:p>
        </p:txBody>
      </p:sp>
      <p:sp>
        <p:nvSpPr>
          <p:cNvPr id="86" name="Google Shape;86;g2d2d4a77240_0_8"/>
          <p:cNvSpPr txBox="1"/>
          <p:nvPr/>
        </p:nvSpPr>
        <p:spPr>
          <a:xfrm>
            <a:off x="78375" y="4630575"/>
            <a:ext cx="8798100" cy="44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u="sng">
                <a:solidFill>
                  <a:schemeClr val="hlink"/>
                </a:solidFill>
                <a:hlinkClick r:id="rId4"/>
              </a:rPr>
              <a:t>https://www.youtube.com/watch?v=L-DebhVbYyI&amp;t=82s&amp;ab_channel=HannsPerez</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g2d2d4a77240_0_12"/>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92" name="Google Shape;92;g2d2d4a77240_0_12"/>
          <p:cNvSpPr txBox="1"/>
          <p:nvPr/>
        </p:nvSpPr>
        <p:spPr>
          <a:xfrm>
            <a:off x="2550375" y="170975"/>
            <a:ext cx="3291300" cy="53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Búsqueda primero el mejor.</a:t>
            </a:r>
            <a:endParaRPr sz="1800" b="1">
              <a:solidFill>
                <a:schemeClr val="dk1"/>
              </a:solidFill>
            </a:endParaRPr>
          </a:p>
        </p:txBody>
      </p:sp>
      <p:sp>
        <p:nvSpPr>
          <p:cNvPr id="93" name="Google Shape;93;g2d2d4a77240_0_12"/>
          <p:cNvSpPr txBox="1"/>
          <p:nvPr/>
        </p:nvSpPr>
        <p:spPr>
          <a:xfrm>
            <a:off x="8450" y="897625"/>
            <a:ext cx="8996100" cy="36405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dirty="0">
                <a:solidFill>
                  <a:schemeClr val="dk1"/>
                </a:solidFill>
              </a:rPr>
              <a:t>El algoritmo de búsqueda primero lo mejor es una técnica de búsqueda heurística utilizada en inteligencia artificial para encontrar un camino óptimo desde un nodo fuente hasta un nodo objetivo. Este algoritmo se basa en evaluar los nodos en función de una función heurística que estima la distancia desde cada nodo hasta el objetivo.</a:t>
            </a:r>
            <a:endParaRPr sz="1800" dirty="0">
              <a:solidFill>
                <a:schemeClr val="dk1"/>
              </a:solidFill>
            </a:endParaRPr>
          </a:p>
          <a:p>
            <a:pPr marL="0" lvl="0" indent="0" algn="just" rtl="0">
              <a:spcBef>
                <a:spcPts val="0"/>
              </a:spcBef>
              <a:spcAft>
                <a:spcPts val="0"/>
              </a:spcAft>
              <a:buClr>
                <a:schemeClr val="dk1"/>
              </a:buClr>
              <a:buSzPts val="1100"/>
              <a:buFont typeface="Arial"/>
              <a:buNone/>
            </a:pPr>
            <a:r>
              <a:rPr lang="es" sz="1800" dirty="0">
                <a:solidFill>
                  <a:schemeClr val="dk1"/>
                </a:solidFill>
              </a:rPr>
              <a:t>Pros:</a:t>
            </a:r>
            <a:endParaRPr sz="1800" dirty="0">
              <a:solidFill>
                <a:schemeClr val="dk1"/>
              </a:solidFill>
            </a:endParaRPr>
          </a:p>
          <a:p>
            <a:pPr marL="457200" lvl="0" indent="-342900" algn="just" rtl="0">
              <a:spcBef>
                <a:spcPts val="0"/>
              </a:spcBef>
              <a:spcAft>
                <a:spcPts val="0"/>
              </a:spcAft>
              <a:buClr>
                <a:schemeClr val="dk1"/>
              </a:buClr>
              <a:buSzPts val="1800"/>
              <a:buChar char="●"/>
            </a:pPr>
            <a:r>
              <a:rPr lang="es" sz="1800" dirty="0">
                <a:solidFill>
                  <a:schemeClr val="dk1"/>
                </a:solidFill>
              </a:rPr>
              <a:t>Eficiente para encontrar soluciones óptimas en problemas de búsqueda.</a:t>
            </a:r>
            <a:endParaRPr sz="1800" dirty="0">
              <a:solidFill>
                <a:schemeClr val="dk1"/>
              </a:solidFill>
            </a:endParaRPr>
          </a:p>
          <a:p>
            <a:pPr marL="457200" lvl="0" indent="-342900" algn="just" rtl="0">
              <a:spcBef>
                <a:spcPts val="0"/>
              </a:spcBef>
              <a:spcAft>
                <a:spcPts val="0"/>
              </a:spcAft>
              <a:buClr>
                <a:schemeClr val="dk1"/>
              </a:buClr>
              <a:buSzPts val="1800"/>
              <a:buChar char="●"/>
            </a:pPr>
            <a:r>
              <a:rPr lang="es" sz="1800" dirty="0">
                <a:solidFill>
                  <a:schemeClr val="dk1"/>
                </a:solidFill>
              </a:rPr>
              <a:t>Utiliza una función heurística para evaluar los nodos, lo que puede ser útil en casos donde la información sobre el objetivo es limitada.</a:t>
            </a:r>
            <a:endParaRPr sz="1800" dirty="0">
              <a:solidFill>
                <a:schemeClr val="dk1"/>
              </a:solidFill>
            </a:endParaRPr>
          </a:p>
          <a:p>
            <a:pPr marL="0" lvl="0" indent="0" algn="just" rtl="0">
              <a:spcBef>
                <a:spcPts val="0"/>
              </a:spcBef>
              <a:spcAft>
                <a:spcPts val="0"/>
              </a:spcAft>
              <a:buNone/>
            </a:pPr>
            <a:r>
              <a:rPr lang="es" sz="1800" dirty="0">
                <a:solidFill>
                  <a:schemeClr val="dk1"/>
                </a:solidFill>
              </a:rPr>
              <a:t>Contras:</a:t>
            </a:r>
            <a:endParaRPr sz="1800" dirty="0">
              <a:solidFill>
                <a:schemeClr val="dk1"/>
              </a:solidFill>
            </a:endParaRPr>
          </a:p>
          <a:p>
            <a:pPr marL="457200" lvl="0" indent="-342900" algn="just" rtl="0">
              <a:spcBef>
                <a:spcPts val="0"/>
              </a:spcBef>
              <a:spcAft>
                <a:spcPts val="0"/>
              </a:spcAft>
              <a:buClr>
                <a:schemeClr val="dk1"/>
              </a:buClr>
              <a:buSzPts val="1800"/>
              <a:buChar char="●"/>
            </a:pPr>
            <a:r>
              <a:rPr lang="es" sz="1800" dirty="0">
                <a:solidFill>
                  <a:schemeClr val="dk1"/>
                </a:solidFill>
              </a:rPr>
              <a:t>Puede ser computacionalmente costoso si el espacio de búsqueda es muy grande.</a:t>
            </a:r>
            <a:endParaRPr sz="1800" dirty="0">
              <a:solidFill>
                <a:schemeClr val="dk1"/>
              </a:solidFill>
            </a:endParaRPr>
          </a:p>
          <a:p>
            <a:pPr marL="457200" lvl="0" indent="-342900" algn="just" rtl="0">
              <a:spcBef>
                <a:spcPts val="0"/>
              </a:spcBef>
              <a:spcAft>
                <a:spcPts val="0"/>
              </a:spcAft>
              <a:buClr>
                <a:schemeClr val="dk1"/>
              </a:buClr>
              <a:buSzPts val="1800"/>
              <a:buChar char="●"/>
            </a:pPr>
            <a:r>
              <a:rPr lang="es" sz="1800" dirty="0">
                <a:solidFill>
                  <a:schemeClr val="dk1"/>
                </a:solidFill>
              </a:rPr>
              <a:t>Se basa en la calidad de la función heurística utilizada, por lo que si la función no es precisa, el algoritmo puede no encontrar la solución óptima.</a:t>
            </a:r>
            <a:endParaRPr sz="1800" dirty="0">
              <a:solidFill>
                <a:schemeClr val="dk1"/>
              </a:solidFill>
            </a:endParaRPr>
          </a:p>
          <a:p>
            <a:pPr marL="0" lvl="0" indent="0" algn="just" rtl="0">
              <a:spcBef>
                <a:spcPts val="0"/>
              </a:spcBef>
              <a:spcAft>
                <a:spcPts val="0"/>
              </a:spcAft>
              <a:buNone/>
            </a:pPr>
            <a:endParaRPr sz="1800" dirty="0">
              <a:solidFill>
                <a:schemeClr val="dk1"/>
              </a:solidFill>
            </a:endParaRPr>
          </a:p>
          <a:p>
            <a:pPr marL="0" lvl="0" indent="0" algn="just" rtl="0">
              <a:spcBef>
                <a:spcPts val="0"/>
              </a:spcBef>
              <a:spcAft>
                <a:spcPts val="0"/>
              </a:spcAft>
              <a:buNone/>
            </a:pPr>
            <a:endParaRPr sz="1800" dirty="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g2d2d4a77240_0_16"/>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00" name="Google Shape;100;g2d2d4a77240_0_16"/>
          <p:cNvSpPr txBox="1"/>
          <p:nvPr/>
        </p:nvSpPr>
        <p:spPr>
          <a:xfrm>
            <a:off x="2244050" y="163850"/>
            <a:ext cx="4046400" cy="43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Búsqueda de ascenso a las colinas</a:t>
            </a:r>
            <a:endParaRPr sz="1800" b="1">
              <a:solidFill>
                <a:schemeClr val="dk1"/>
              </a:solidFill>
            </a:endParaRPr>
          </a:p>
        </p:txBody>
      </p:sp>
      <p:sp>
        <p:nvSpPr>
          <p:cNvPr id="101" name="Google Shape;101;g2d2d4a77240_0_16"/>
          <p:cNvSpPr txBox="1"/>
          <p:nvPr/>
        </p:nvSpPr>
        <p:spPr>
          <a:xfrm>
            <a:off x="163850" y="783625"/>
            <a:ext cx="8527500" cy="14106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a:solidFill>
                  <a:schemeClr val="dk1"/>
                </a:solidFill>
              </a:rPr>
              <a:t>Es una técnica de optimización matemática que pertenece a la familia de los algoritmos de búsqueda local, suele llamarse a esta búsqueda algoritmo voraz local, porque toma un estado vecino "bueno" sin pensar en la próxima acción.</a:t>
            </a:r>
            <a:endParaRPr sz="1800">
              <a:solidFill>
                <a:schemeClr val="dk1"/>
              </a:solidFill>
            </a:endParaRPr>
          </a:p>
        </p:txBody>
      </p:sp>
      <p:pic>
        <p:nvPicPr>
          <p:cNvPr id="102" name="Google Shape;102;g2d2d4a77240_0_16"/>
          <p:cNvPicPr preferRelativeResize="0"/>
          <p:nvPr/>
        </p:nvPicPr>
        <p:blipFill>
          <a:blip r:embed="rId4">
            <a:alphaModFix/>
          </a:blip>
          <a:stretch>
            <a:fillRect/>
          </a:stretch>
        </p:blipFill>
        <p:spPr>
          <a:xfrm>
            <a:off x="1548400" y="1738250"/>
            <a:ext cx="5119600" cy="3010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g2d2d4a77240_0_2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08" name="Google Shape;108;g2d2d4a77240_0_20"/>
          <p:cNvSpPr txBox="1"/>
          <p:nvPr/>
        </p:nvSpPr>
        <p:spPr>
          <a:xfrm>
            <a:off x="64125" y="954600"/>
            <a:ext cx="9026100" cy="356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a:solidFill>
                  <a:schemeClr val="dk1"/>
                </a:solidFill>
              </a:rPr>
              <a:t>Ventajas.</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Reduce el número de nodos a analizar.</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Es bueno para encontrar un óptimo local (una solución que no se puede mejorar teniendo en cuenta una configuración de vecino) pero no es necesariamente garantía de encontrar la mejor solución posible (el óptimo global) de todas las posibles soluciones (el espacio de búsqueda)</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r>
              <a:rPr lang="es" sz="1800">
                <a:solidFill>
                  <a:schemeClr val="dk1"/>
                </a:solidFill>
              </a:rPr>
              <a:t>Desventajas.</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Puede ser que encuentre una solución, pero no es la más óptima.</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Puede que nunca lleguen a encontrar una solución, si son atrapados en estados que no son el objetivo, desde donde no se puede hallar mejores estados.</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g2d2d4a77240_0_24"/>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15" name="Google Shape;115;g2d2d4a77240_0_24"/>
          <p:cNvSpPr txBox="1"/>
          <p:nvPr/>
        </p:nvSpPr>
        <p:spPr>
          <a:xfrm>
            <a:off x="3348275" y="163850"/>
            <a:ext cx="1659900" cy="49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Beam Search</a:t>
            </a:r>
            <a:endParaRPr sz="1800" b="1">
              <a:solidFill>
                <a:schemeClr val="dk1"/>
              </a:solidFill>
            </a:endParaRPr>
          </a:p>
        </p:txBody>
      </p:sp>
      <p:sp>
        <p:nvSpPr>
          <p:cNvPr id="116" name="Google Shape;116;g2d2d4a77240_0_24"/>
          <p:cNvSpPr txBox="1"/>
          <p:nvPr/>
        </p:nvSpPr>
        <p:spPr>
          <a:xfrm>
            <a:off x="35625" y="904750"/>
            <a:ext cx="9061800" cy="28281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a:solidFill>
                  <a:schemeClr val="dk1"/>
                </a:solidFill>
              </a:rPr>
              <a:t>Beam Search es un algoritmo de búsqueda heurística que tiene como objetivo buscar de manera eficiente la mejor secuencia en un espacio de secuencias discreto. El algoritmo utiliza una búsqueda en amplitud y limita el espacio de búsqueda seleccionando un número limitado de candidatos prometedores (el llamado “haz”).</a:t>
            </a:r>
            <a:endParaRPr sz="1800">
              <a:solidFill>
                <a:schemeClr val="dk1"/>
              </a:solidFill>
            </a:endParaRPr>
          </a:p>
          <a:p>
            <a:pPr marL="0" lvl="0" indent="0" algn="just" rtl="0">
              <a:spcBef>
                <a:spcPts val="0"/>
              </a:spcBef>
              <a:spcAft>
                <a:spcPts val="0"/>
              </a:spcAft>
              <a:buNone/>
            </a:pPr>
            <a:endParaRPr sz="1800">
              <a:solidFill>
                <a:schemeClr val="dk1"/>
              </a:solidFill>
            </a:endParaRPr>
          </a:p>
          <a:p>
            <a:pPr marL="0" lvl="0" indent="0" algn="just" rtl="0">
              <a:spcBef>
                <a:spcPts val="0"/>
              </a:spcBef>
              <a:spcAft>
                <a:spcPts val="0"/>
              </a:spcAft>
              <a:buNone/>
            </a:pPr>
            <a:r>
              <a:rPr lang="es" sz="1800">
                <a:solidFill>
                  <a:schemeClr val="dk1"/>
                </a:solidFill>
              </a:rPr>
              <a:t>La ide básica es podar o recortar esos caminos hacia el haz. El algoritmo de búsqueda por haz local guarda la pista de k estados (no sólo uno). Comienza con estados generados aleatoriamente. En cada paso, se generan todos los sucesores de los k estados. Si alguno es un objetivo, se para el algoritmo. Por otra parte, se seleccionan los k mejores sucesores de la lista completa y repite.</a:t>
            </a:r>
            <a:endParaRPr sz="1800">
              <a:solidFill>
                <a:schemeClr val="dk1"/>
              </a:solidFill>
            </a:endParaRPr>
          </a:p>
        </p:txBody>
      </p:sp>
      <p:sp>
        <p:nvSpPr>
          <p:cNvPr id="117" name="Google Shape;117;g2d2d4a77240_0_24"/>
          <p:cNvSpPr txBox="1"/>
          <p:nvPr/>
        </p:nvSpPr>
        <p:spPr>
          <a:xfrm>
            <a:off x="49875" y="4566450"/>
            <a:ext cx="8057100" cy="49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u="sng">
                <a:solidFill>
                  <a:schemeClr val="hlink"/>
                </a:solidFill>
                <a:hlinkClick r:id="rId4"/>
              </a:rPr>
              <a:t>https://www.youtube.com/watch?v=SpKVPr-VYiI&amp;ab_channel=HannsPerez</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g2d2d4a77240_0_28"/>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23" name="Google Shape;123;g2d2d4a77240_0_28"/>
          <p:cNvSpPr txBox="1"/>
          <p:nvPr/>
        </p:nvSpPr>
        <p:spPr>
          <a:xfrm>
            <a:off x="3163025" y="156725"/>
            <a:ext cx="1652700" cy="49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Algoritmo A*</a:t>
            </a:r>
            <a:endParaRPr sz="1800" b="1">
              <a:solidFill>
                <a:schemeClr val="dk1"/>
              </a:solidFill>
            </a:endParaRPr>
          </a:p>
        </p:txBody>
      </p:sp>
      <p:sp>
        <p:nvSpPr>
          <p:cNvPr id="124" name="Google Shape;124;g2d2d4a77240_0_28"/>
          <p:cNvSpPr txBox="1"/>
          <p:nvPr/>
        </p:nvSpPr>
        <p:spPr>
          <a:xfrm>
            <a:off x="35625" y="819250"/>
            <a:ext cx="9108300" cy="25005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a:solidFill>
                  <a:schemeClr val="dk1"/>
                </a:solidFill>
              </a:rPr>
              <a:t>El algoritmo A  * conocido como «A-Star» es una variación optimizada del algoritmo Dijkstra. Este algoritmo posee unas características especiales que permiten estudiar los grafos de forma excepcional y tiene un rango de aplicación especial.</a:t>
            </a:r>
            <a:endParaRPr sz="1800">
              <a:solidFill>
                <a:schemeClr val="dk1"/>
              </a:solidFill>
            </a:endParaRPr>
          </a:p>
          <a:p>
            <a:pPr marL="0" lvl="0" indent="0" algn="just" rtl="0">
              <a:spcBef>
                <a:spcPts val="0"/>
              </a:spcBef>
              <a:spcAft>
                <a:spcPts val="0"/>
              </a:spcAft>
              <a:buNone/>
            </a:pPr>
            <a:endParaRPr sz="1800">
              <a:solidFill>
                <a:schemeClr val="dk1"/>
              </a:solidFill>
            </a:endParaRPr>
          </a:p>
          <a:p>
            <a:pPr marL="0" lvl="0" indent="0" algn="just" rtl="0">
              <a:spcBef>
                <a:spcPts val="0"/>
              </a:spcBef>
              <a:spcAft>
                <a:spcPts val="0"/>
              </a:spcAft>
              <a:buNone/>
            </a:pPr>
            <a:r>
              <a:rPr lang="es" sz="1800">
                <a:solidFill>
                  <a:schemeClr val="dk1"/>
                </a:solidFill>
              </a:rPr>
              <a:t>Este algoritmo es una mejora desarrollada a los postulados del algoritmo Dijsktra que se encarga de encontrar rutas más cortas dentro de un grafo. En esta modificación se toma como punto central la observación búsquedas informadas dentro del grafo que nos permitan tomar decisiones óptimas sobre los caminos que deben tomarse para recorrer de forma eficiente el grafo.</a:t>
            </a:r>
            <a:endParaRPr sz="1800">
              <a:solidFill>
                <a:schemeClr val="dk1"/>
              </a:solidFill>
            </a:endParaRPr>
          </a:p>
        </p:txBody>
      </p:sp>
      <p:sp>
        <p:nvSpPr>
          <p:cNvPr id="125" name="Google Shape;125;g2d2d4a77240_0_28"/>
          <p:cNvSpPr txBox="1"/>
          <p:nvPr/>
        </p:nvSpPr>
        <p:spPr>
          <a:xfrm>
            <a:off x="135350" y="4609200"/>
            <a:ext cx="8819400" cy="34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u="sng">
                <a:solidFill>
                  <a:schemeClr val="hlink"/>
                </a:solidFill>
                <a:hlinkClick r:id="rId4"/>
              </a:rPr>
              <a:t>https://www.youtube.com/watch?v=UVw_sX7AMG0&amp;ab_channel=martino</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g2d2d4a77240_0_32"/>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31" name="Google Shape;131;g2d2d4a77240_0_32"/>
          <p:cNvSpPr txBox="1"/>
          <p:nvPr/>
        </p:nvSpPr>
        <p:spPr>
          <a:xfrm>
            <a:off x="2614500" y="220850"/>
            <a:ext cx="3163200" cy="44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Búsquedas por adversario</a:t>
            </a:r>
            <a:endParaRPr sz="1800" b="1">
              <a:solidFill>
                <a:schemeClr val="dk1"/>
              </a:solidFill>
            </a:endParaRPr>
          </a:p>
        </p:txBody>
      </p:sp>
      <p:sp>
        <p:nvSpPr>
          <p:cNvPr id="132" name="Google Shape;132;g2d2d4a77240_0_32"/>
          <p:cNvSpPr txBox="1"/>
          <p:nvPr/>
        </p:nvSpPr>
        <p:spPr>
          <a:xfrm>
            <a:off x="8450" y="730150"/>
            <a:ext cx="9011700" cy="17811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a:solidFill>
                  <a:schemeClr val="dk1"/>
                </a:solidFill>
              </a:rPr>
              <a:t>Un juego es una situación conflictiva en la que uno debe tomar una decisión sabiendo que los demás también toman decisiones, y que el resultado del conflicto se determina, de algún modo, a partir de todas las decisiones realizadas.</a:t>
            </a:r>
            <a:endParaRPr sz="1800">
              <a:solidFill>
                <a:schemeClr val="dk1"/>
              </a:solidFill>
            </a:endParaRPr>
          </a:p>
          <a:p>
            <a:pPr marL="0" lvl="0" indent="0" algn="just" rtl="0">
              <a:spcBef>
                <a:spcPts val="0"/>
              </a:spcBef>
              <a:spcAft>
                <a:spcPts val="0"/>
              </a:spcAft>
              <a:buNone/>
            </a:pPr>
            <a:endParaRPr sz="1800">
              <a:solidFill>
                <a:schemeClr val="dk1"/>
              </a:solidFill>
            </a:endParaRPr>
          </a:p>
          <a:p>
            <a:pPr marL="0" lvl="0" indent="0" algn="just" rtl="0">
              <a:spcBef>
                <a:spcPts val="0"/>
              </a:spcBef>
              <a:spcAft>
                <a:spcPts val="0"/>
              </a:spcAft>
              <a:buNone/>
            </a:pPr>
            <a:r>
              <a:rPr lang="es" sz="1800">
                <a:solidFill>
                  <a:schemeClr val="dk1"/>
                </a:solidFill>
              </a:rPr>
              <a:t>Siempre existe una forma racional de actuar en juegos de dos participantes, si los intereses que los gobiernan son completamente opuestos.</a:t>
            </a:r>
            <a:endParaRPr sz="1800">
              <a:solidFill>
                <a:schemeClr val="dk1"/>
              </a:solidFill>
            </a:endParaRPr>
          </a:p>
        </p:txBody>
      </p:sp>
      <p:pic>
        <p:nvPicPr>
          <p:cNvPr id="133" name="Google Shape;133;g2d2d4a77240_0_32"/>
          <p:cNvPicPr preferRelativeResize="0"/>
          <p:nvPr/>
        </p:nvPicPr>
        <p:blipFill>
          <a:blip r:embed="rId4">
            <a:alphaModFix/>
          </a:blip>
          <a:stretch>
            <a:fillRect/>
          </a:stretch>
        </p:blipFill>
        <p:spPr>
          <a:xfrm>
            <a:off x="1936350" y="2571750"/>
            <a:ext cx="4462499" cy="2412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pic>
        <p:nvPicPr>
          <p:cNvPr id="138" name="Google Shape;138;g2d2d4a77240_0_36"/>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39" name="Google Shape;139;g2d2d4a77240_0_36"/>
          <p:cNvSpPr txBox="1"/>
          <p:nvPr/>
        </p:nvSpPr>
        <p:spPr>
          <a:xfrm>
            <a:off x="2920825" y="156725"/>
            <a:ext cx="2329500" cy="42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dirty="0">
                <a:solidFill>
                  <a:schemeClr val="dk1"/>
                </a:solidFill>
              </a:rPr>
              <a:t>Algoritmo minimax</a:t>
            </a:r>
            <a:endParaRPr sz="1800" b="1" dirty="0">
              <a:solidFill>
                <a:schemeClr val="dk1"/>
              </a:solidFill>
            </a:endParaRPr>
          </a:p>
        </p:txBody>
      </p:sp>
      <p:sp>
        <p:nvSpPr>
          <p:cNvPr id="140" name="Google Shape;140;g2d2d4a77240_0_36"/>
          <p:cNvSpPr txBox="1"/>
          <p:nvPr/>
        </p:nvSpPr>
        <p:spPr>
          <a:xfrm>
            <a:off x="48300" y="641150"/>
            <a:ext cx="9047400" cy="39324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 sz="1800">
                <a:solidFill>
                  <a:schemeClr val="dk1"/>
                </a:solidFill>
              </a:rPr>
              <a:t>El algoritmo minimax es un algoritmo cuyo principal objetivo es que la máquina pueda realizar el mejor movimiento. Este algoritmo se basa en la utilización de un árbol de búsqueda cuyos nodos contienen todos los posibles movimientos en el juego y su recorrido lo realiza a partir del estado dado por la jugada anterior.</a:t>
            </a:r>
            <a:endParaRPr sz="1800">
              <a:solidFill>
                <a:schemeClr val="dk1"/>
              </a:solidFill>
            </a:endParaRPr>
          </a:p>
          <a:p>
            <a:pPr marL="0" lvl="0" indent="0" algn="just" rtl="0">
              <a:spcBef>
                <a:spcPts val="0"/>
              </a:spcBef>
              <a:spcAft>
                <a:spcPts val="0"/>
              </a:spcAft>
              <a:buClr>
                <a:schemeClr val="dk1"/>
              </a:buClr>
              <a:buSzPts val="1100"/>
              <a:buFont typeface="Arial"/>
              <a:buNone/>
            </a:pPr>
            <a:endParaRPr sz="1800">
              <a:solidFill>
                <a:schemeClr val="dk1"/>
              </a:solidFill>
            </a:endParaRPr>
          </a:p>
          <a:p>
            <a:pPr marL="0" lvl="0" indent="0" algn="just" rtl="0">
              <a:spcBef>
                <a:spcPts val="0"/>
              </a:spcBef>
              <a:spcAft>
                <a:spcPts val="0"/>
              </a:spcAft>
              <a:buClr>
                <a:schemeClr val="dk1"/>
              </a:buClr>
              <a:buSzPts val="1100"/>
              <a:buFont typeface="Arial"/>
              <a:buNone/>
            </a:pPr>
            <a:r>
              <a:rPr lang="es" sz="1800">
                <a:solidFill>
                  <a:schemeClr val="dk1"/>
                </a:solidFill>
              </a:rPr>
              <a:t>En minimax, los dos jugadores son llamados minimizador y maximizador. El maximizador intenta obtener el puntaje más alto posible mientras el minimizador intenta obtener el puntaje más bajo posible .</a:t>
            </a:r>
            <a:endParaRPr sz="1800">
              <a:solidFill>
                <a:schemeClr val="dk1"/>
              </a:solidFill>
            </a:endParaRPr>
          </a:p>
          <a:p>
            <a:pPr marL="0" lvl="0" indent="0" algn="just" rtl="0">
              <a:spcBef>
                <a:spcPts val="0"/>
              </a:spcBef>
              <a:spcAft>
                <a:spcPts val="0"/>
              </a:spcAft>
              <a:buClr>
                <a:schemeClr val="dk1"/>
              </a:buClr>
              <a:buSzPts val="1100"/>
              <a:buFont typeface="Arial"/>
              <a:buNone/>
            </a:pPr>
            <a:endParaRPr sz="1800">
              <a:solidFill>
                <a:schemeClr val="dk1"/>
              </a:solidFill>
            </a:endParaRPr>
          </a:p>
          <a:p>
            <a:pPr marL="0" lvl="0" indent="0" algn="just" rtl="0">
              <a:spcBef>
                <a:spcPts val="0"/>
              </a:spcBef>
              <a:spcAft>
                <a:spcPts val="0"/>
              </a:spcAft>
              <a:buNone/>
            </a:pPr>
            <a:r>
              <a:rPr lang="es" sz="1800">
                <a:solidFill>
                  <a:schemeClr val="dk1"/>
                </a:solidFill>
              </a:rPr>
              <a:t>Cada estado del tablero tiene un valor asociado a este. En cada estado dado si el maximizador tiene una mano superior, el puntaje del tablero tenderá a ser algún valor positivo. Si el minimizador tiene la mano alta en ese estado del tablero, entonces tenderá a ser algún valor negativo. El valor del tablero es calculado a partir de cierta heurística que es única para cada tipo de juego.</a:t>
            </a:r>
            <a:endParaRPr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pic>
        <p:nvPicPr>
          <p:cNvPr id="145" name="Google Shape;145;g2d2d4a77240_0_4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46" name="Google Shape;146;g2d2d4a77240_0_40"/>
          <p:cNvSpPr txBox="1"/>
          <p:nvPr/>
        </p:nvSpPr>
        <p:spPr>
          <a:xfrm>
            <a:off x="2578875" y="106850"/>
            <a:ext cx="3227100" cy="49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Componentes del algoritmo</a:t>
            </a:r>
            <a:endParaRPr sz="1800" b="1">
              <a:solidFill>
                <a:schemeClr val="dk1"/>
              </a:solidFill>
            </a:endParaRPr>
          </a:p>
        </p:txBody>
      </p:sp>
      <p:sp>
        <p:nvSpPr>
          <p:cNvPr id="147" name="Google Shape;147;g2d2d4a77240_0_40"/>
          <p:cNvSpPr txBox="1"/>
          <p:nvPr/>
        </p:nvSpPr>
        <p:spPr>
          <a:xfrm>
            <a:off x="92600" y="1004475"/>
            <a:ext cx="8976300" cy="21372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es" sz="1800" b="1">
                <a:solidFill>
                  <a:schemeClr val="dk1"/>
                </a:solidFill>
              </a:rPr>
              <a:t>Estado inicial:</a:t>
            </a:r>
            <a:r>
              <a:rPr lang="es" sz="1800">
                <a:solidFill>
                  <a:schemeClr val="dk1"/>
                </a:solidFill>
              </a:rPr>
              <a:t> configuración inicial del juego.</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Operadores:</a:t>
            </a:r>
            <a:r>
              <a:rPr lang="es" sz="1800">
                <a:solidFill>
                  <a:schemeClr val="dk1"/>
                </a:solidFill>
              </a:rPr>
              <a:t> corresponden a los movimientos válidos que se pueden ejecutar en el juego.</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Condición terminal:</a:t>
            </a:r>
            <a:r>
              <a:rPr lang="es" sz="1800">
                <a:solidFill>
                  <a:schemeClr val="dk1"/>
                </a:solidFill>
              </a:rPr>
              <a:t> es determinada por el estado en el cuál se indica la finalización del juego.</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Función de utilidad: </a:t>
            </a:r>
            <a:r>
              <a:rPr lang="es" sz="1800">
                <a:solidFill>
                  <a:schemeClr val="dk1"/>
                </a:solidFill>
              </a:rPr>
              <a:t>indica el valor numérico a la configuración final del juego. Los valores para ganar, empatar o perder son 1, 0 o -1 respectivamente.</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2"/>
              </a:solidFill>
            </a:endParaRPr>
          </a:p>
          <a:p>
            <a:pPr marL="0" lvl="0" indent="0" algn="l" rtl="0">
              <a:spcBef>
                <a:spcPts val="0"/>
              </a:spcBef>
              <a:spcAft>
                <a:spcPts val="0"/>
              </a:spcAft>
              <a:buNone/>
            </a:pPr>
            <a:endParaRPr sz="1800">
              <a:solidFill>
                <a:schemeClr val="dk2"/>
              </a:solidFill>
            </a:endParaRPr>
          </a:p>
        </p:txBody>
      </p:sp>
      <p:sp>
        <p:nvSpPr>
          <p:cNvPr id="148" name="Google Shape;148;g2d2d4a77240_0_40"/>
          <p:cNvSpPr txBox="1"/>
          <p:nvPr/>
        </p:nvSpPr>
        <p:spPr>
          <a:xfrm>
            <a:off x="85500" y="4630575"/>
            <a:ext cx="8505900" cy="32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u="sng">
                <a:solidFill>
                  <a:schemeClr val="hlink"/>
                </a:solidFill>
                <a:hlinkClick r:id="rId4"/>
              </a:rPr>
              <a:t>https://www.youtube.com/watch?v=QJjM7EKDRuc&amp;ab_channel=BitBoss</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pic>
        <p:nvPicPr>
          <p:cNvPr id="153" name="Google Shape;153;g2d2d4a77240_0_44"/>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54" name="Google Shape;154;g2d2d4a77240_0_44"/>
          <p:cNvSpPr txBox="1"/>
          <p:nvPr/>
        </p:nvSpPr>
        <p:spPr>
          <a:xfrm>
            <a:off x="2921375" y="209775"/>
            <a:ext cx="1903500" cy="31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Poda alfa beta.</a:t>
            </a:r>
            <a:endParaRPr sz="1800" b="1">
              <a:solidFill>
                <a:schemeClr val="dk1"/>
              </a:solidFill>
            </a:endParaRPr>
          </a:p>
        </p:txBody>
      </p:sp>
      <p:sp>
        <p:nvSpPr>
          <p:cNvPr id="155" name="Google Shape;155;g2d2d4a77240_0_44"/>
          <p:cNvSpPr txBox="1"/>
          <p:nvPr/>
        </p:nvSpPr>
        <p:spPr>
          <a:xfrm>
            <a:off x="62150" y="885750"/>
            <a:ext cx="9036000" cy="37140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a:solidFill>
                  <a:schemeClr val="dk1"/>
                </a:solidFill>
              </a:rPr>
              <a:t>Poda alfa-beta o Alpha-Beta Pruning utiliza dos parámetros: alpha (α) y beta (β) para realizar la búsqueda. Estos dos parámetros nos permite hacer seguimiento de la mejor puntación de ambos jugados mientras se recorre el árbol. Alpha es el mejor resultado del jugador Max, por lo que queremos obtener el mayor valor posible de este. Por otro lado, beta es el mejor resultado al que puede aspirar, por el momento, nuestro contrincante (el jugador Min) y por lo tanto queremos el menor valor posible de este. Estos valores se mantienen y actualizan durante toda la búsqueda y es lo que nos va a permitir decidir si se justifica explorar una rama o la podemos “podar’’.</a:t>
            </a:r>
            <a:endParaRPr sz="1800">
              <a:solidFill>
                <a:schemeClr val="dk1"/>
              </a:solidFill>
            </a:endParaRPr>
          </a:p>
        </p:txBody>
      </p:sp>
      <p:sp>
        <p:nvSpPr>
          <p:cNvPr id="156" name="Google Shape;156;g2d2d4a77240_0_44"/>
          <p:cNvSpPr txBox="1"/>
          <p:nvPr/>
        </p:nvSpPr>
        <p:spPr>
          <a:xfrm>
            <a:off x="139850" y="4731700"/>
            <a:ext cx="5741700" cy="31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u="sng">
                <a:solidFill>
                  <a:schemeClr val="hlink"/>
                </a:solidFill>
                <a:hlinkClick r:id="rId4"/>
              </a:rPr>
              <a:t>https://www.youtube.com/watch?v=MxtRSQ46P-0</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1525</Words>
  <Application>Microsoft Office PowerPoint</Application>
  <PresentationFormat>Presentación en pantalla (16:9)</PresentationFormat>
  <Paragraphs>78</Paragraphs>
  <Slides>14</Slides>
  <Notes>14</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14</vt:i4>
      </vt:variant>
    </vt:vector>
  </HeadingPairs>
  <TitlesOfParts>
    <vt:vector size="16" baseType="lpstr">
      <vt:lpstr>Arial</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erik sandoval</cp:lastModifiedBy>
  <cp:revision>2</cp:revision>
  <dcterms:modified xsi:type="dcterms:W3CDTF">2024-11-07T05:40:32Z</dcterms:modified>
</cp:coreProperties>
</file>