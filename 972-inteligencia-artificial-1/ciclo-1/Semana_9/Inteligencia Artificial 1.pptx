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embeddedFontLst>
    <p:embeddedFont>
      <p:font typeface="Ubuntu"/>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5" roundtripDataSignature="AMtx7mj0muPvwvjxRxZ+ZlKG6duKCnu5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6D9D13E-BA3A-4070-8453-DC71A36DBC79}">
  <a:tblStyle styleId="{86D9D13E-BA3A-4070-8453-DC71A36DBC79}"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Ubuntu-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Ubuntu-italic.fntdata"/><Relationship Id="rId10" Type="http://schemas.openxmlformats.org/officeDocument/2006/relationships/slide" Target="slides/slide4.xml"/><Relationship Id="rId32" Type="http://schemas.openxmlformats.org/officeDocument/2006/relationships/font" Target="fonts/Ubuntu-bold.fntdata"/><Relationship Id="rId13" Type="http://schemas.openxmlformats.org/officeDocument/2006/relationships/slide" Target="slides/slide7.xml"/><Relationship Id="rId35" Type="http://customschemas.google.com/relationships/presentationmetadata" Target="metadata"/><Relationship Id="rId12" Type="http://schemas.openxmlformats.org/officeDocument/2006/relationships/slide" Target="slides/slide6.xml"/><Relationship Id="rId34" Type="http://schemas.openxmlformats.org/officeDocument/2006/relationships/font" Target="fonts/Ubuntu-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d2d4a7724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2d2d4a77240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01c3c48f2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g301c3c48f2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01c3c48f2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g301c3c48f2b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01c3c48f2b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g301c3c48f2b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01c3c48f2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g301c3c48f2b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01c3c48f2b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301c3c48f2b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01c3c48f2b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g301c3c48f2b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01c3c48f2b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g301c3c48f2b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01c3c48f2b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301c3c48f2b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01c3c48f2b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301c3c48f2b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01c3c48f2b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301c3c48f2b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01c3c48f2b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301c3c48f2b_0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01c3c48f2b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301c3c48f2b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01c3c48f2b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301c3c48f2b_0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01c3c48f2b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301c3c48f2b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01c3c48f2b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g301c3c48f2b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01c3c48f2b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g301c3c48f2b_0_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01c3c48f2b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g301c3c48f2b_0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01c3c48f2b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g301c3c48f2b_0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01c3c48f2b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g301c3c48f2b_0_1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01c3c48f2b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g301c3c48f2b_0_2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01c3c48f2b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g301c3c48f2b_0_2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01c3c48f2b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g301c3c48f2b_0_2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hyperlink" Target="https://www.youtube.com/watch?v=oT3arRRB2Cw"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graphicFrame>
        <p:nvGraphicFramePr>
          <p:cNvPr id="55" name="Google Shape;55;p1"/>
          <p:cNvGraphicFramePr/>
          <p:nvPr/>
        </p:nvGraphicFramePr>
        <p:xfrm>
          <a:off x="5328200" y="970025"/>
          <a:ext cx="3000000" cy="3000000"/>
        </p:xfrm>
        <a:graphic>
          <a:graphicData uri="http://schemas.openxmlformats.org/drawingml/2006/table">
            <a:tbl>
              <a:tblPr>
                <a:noFill/>
                <a:tableStyleId>{86D9D13E-BA3A-4070-8453-DC71A36DBC79}</a:tableStyleId>
              </a:tblPr>
              <a:tblGrid>
                <a:gridCol w="1518200"/>
                <a:gridCol w="2172375"/>
              </a:tblGrid>
              <a:tr h="32245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Día, Fecha:</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Martes, 01/10/2024</a:t>
                      </a:r>
                      <a:endParaRPr sz="1400" u="none" cap="none" strike="noStrike"/>
                    </a:p>
                  </a:txBody>
                  <a:tcPr marT="91425" marB="91425" marR="91425" marL="91425"/>
                </a:tc>
              </a:tr>
              <a:tr h="36310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Hora de inicio:</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17:20</a:t>
                      </a:r>
                      <a:endParaRPr sz="1400" u="none" cap="none" strike="noStrike"/>
                    </a:p>
                  </a:txBody>
                  <a:tcPr marT="91425" marB="91425" marR="91425" marL="91425"/>
                </a:tc>
              </a:tr>
            </a:tbl>
          </a:graphicData>
        </a:graphic>
      </p:graphicFrame>
      <p:sp>
        <p:nvSpPr>
          <p:cNvPr id="56" name="Google Shape;56;p1"/>
          <p:cNvSpPr txBox="1"/>
          <p:nvPr/>
        </p:nvSpPr>
        <p:spPr>
          <a:xfrm>
            <a:off x="43875" y="2443525"/>
            <a:ext cx="55866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000000"/>
                </a:solidFill>
                <a:latin typeface="Arial"/>
                <a:ea typeface="Arial"/>
                <a:cs typeface="Arial"/>
                <a:sym typeface="Arial"/>
              </a:rPr>
              <a:t>Inteligencia Artificial 1 Sección A</a:t>
            </a:r>
            <a:endParaRPr b="0" i="0" sz="2500" u="none" cap="none" strike="noStrike">
              <a:solidFill>
                <a:srgbClr val="000000"/>
              </a:solidFill>
              <a:latin typeface="Arial"/>
              <a:ea typeface="Arial"/>
              <a:cs typeface="Arial"/>
              <a:sym typeface="Arial"/>
            </a:endParaRPr>
          </a:p>
        </p:txBody>
      </p:sp>
      <p:sp>
        <p:nvSpPr>
          <p:cNvPr id="57" name="Google Shape;57;p1"/>
          <p:cNvSpPr txBox="1"/>
          <p:nvPr/>
        </p:nvSpPr>
        <p:spPr>
          <a:xfrm>
            <a:off x="5048600" y="4416550"/>
            <a:ext cx="36213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000000"/>
                </a:solidFill>
                <a:latin typeface="Arial"/>
                <a:ea typeface="Arial"/>
                <a:cs typeface="Arial"/>
                <a:sym typeface="Arial"/>
              </a:rPr>
              <a:t>Erick Eden Sandoval Ramirez</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g2d2d4a77240_0_44"/>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63" name="Google Shape;63;g2d2d4a77240_0_44"/>
          <p:cNvSpPr txBox="1"/>
          <p:nvPr/>
        </p:nvSpPr>
        <p:spPr>
          <a:xfrm>
            <a:off x="2905825" y="419550"/>
            <a:ext cx="2890200" cy="46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s" sz="1800">
                <a:solidFill>
                  <a:schemeClr val="dk1"/>
                </a:solidFill>
              </a:rPr>
              <a:t>Aprendizaje Automático.</a:t>
            </a:r>
            <a:endParaRPr b="1" i="0" sz="1800" u="none" cap="none" strike="noStrike">
              <a:solidFill>
                <a:schemeClr val="dk1"/>
              </a:solidFill>
              <a:latin typeface="Arial"/>
              <a:ea typeface="Arial"/>
              <a:cs typeface="Arial"/>
              <a:sym typeface="Arial"/>
            </a:endParaRPr>
          </a:p>
        </p:txBody>
      </p:sp>
      <p:sp>
        <p:nvSpPr>
          <p:cNvPr id="64" name="Google Shape;64;g2d2d4a77240_0_44"/>
          <p:cNvSpPr txBox="1"/>
          <p:nvPr/>
        </p:nvSpPr>
        <p:spPr>
          <a:xfrm>
            <a:off x="54000" y="1196525"/>
            <a:ext cx="9036000" cy="2128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s" sz="1800">
                <a:solidFill>
                  <a:schemeClr val="dk1"/>
                </a:solidFill>
              </a:rPr>
              <a:t>El aprendizaje automático es una subcategoría de la inteligencia artificial, que es el proceso por el que los ordenadores aprovechan las redes neuronales para reconocer patrones y mejorar su capacidad para identificarlos, sin necesidad de una programación explícita, a través del análisis de grandes cantidades de datos. Con los suficientes ajustes, un algoritmo de aprendizaje automático puede predecir nuevos patrones e información.</a:t>
            </a:r>
            <a:endParaRPr sz="1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g301c3c48f2b_0_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70" name="Google Shape;70;g301c3c48f2b_0_0"/>
          <p:cNvSpPr txBox="1"/>
          <p:nvPr/>
        </p:nvSpPr>
        <p:spPr>
          <a:xfrm>
            <a:off x="1802575" y="707050"/>
            <a:ext cx="5407800" cy="4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s" sz="1800">
                <a:solidFill>
                  <a:schemeClr val="dk1"/>
                </a:solidFill>
              </a:rPr>
              <a:t>¿Cómo funciona el aprendizaje automático?</a:t>
            </a:r>
            <a:endParaRPr b="1" i="0" sz="1800" u="none" cap="none" strike="noStrike">
              <a:solidFill>
                <a:schemeClr val="dk1"/>
              </a:solidFill>
              <a:latin typeface="Arial"/>
              <a:ea typeface="Arial"/>
              <a:cs typeface="Arial"/>
              <a:sym typeface="Arial"/>
            </a:endParaRPr>
          </a:p>
        </p:txBody>
      </p:sp>
      <p:sp>
        <p:nvSpPr>
          <p:cNvPr id="71" name="Google Shape;71;g301c3c48f2b_0_0"/>
          <p:cNvSpPr txBox="1"/>
          <p:nvPr/>
        </p:nvSpPr>
        <p:spPr>
          <a:xfrm>
            <a:off x="69450" y="1196525"/>
            <a:ext cx="9005100" cy="65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es" sz="1800">
                <a:solidFill>
                  <a:schemeClr val="dk1"/>
                </a:solidFill>
              </a:rPr>
              <a:t>El aprendizaje automático en grandes conjuntos de datos se realizan con los siguientes 5 pasos:</a:t>
            </a:r>
            <a:endParaRPr b="0" i="0" sz="1800" u="none" cap="none" strike="noStrike">
              <a:solidFill>
                <a:schemeClr val="dk2"/>
              </a:solidFill>
              <a:latin typeface="Arial"/>
              <a:ea typeface="Arial"/>
              <a:cs typeface="Arial"/>
              <a:sym typeface="Arial"/>
            </a:endParaRPr>
          </a:p>
        </p:txBody>
      </p:sp>
      <p:sp>
        <p:nvSpPr>
          <p:cNvPr id="72" name="Google Shape;72;g301c3c48f2b_0_0"/>
          <p:cNvSpPr txBox="1"/>
          <p:nvPr/>
        </p:nvSpPr>
        <p:spPr>
          <a:xfrm>
            <a:off x="7775" y="1919100"/>
            <a:ext cx="9066900" cy="2167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s" sz="1800">
                <a:solidFill>
                  <a:schemeClr val="dk1"/>
                </a:solidFill>
              </a:rPr>
              <a:t>1. Recopilación y preparación de datos:</a:t>
            </a:r>
            <a:r>
              <a:rPr lang="es" sz="1800">
                <a:solidFill>
                  <a:schemeClr val="dk1"/>
                </a:solidFill>
              </a:rPr>
              <a:t> el primer paso consiste en recopilar los datos relevantes para el problema en cuestión. Puede incluir orígenes como registros del cliente, datos de ventas, registros del sitio web, eventos del sitio web, comentarios de clientes o cualquier otro dato que pueda encontrarse disponible en la empresa. Para ello, se realizan tareas como limpiar los datos erróneos o que faltan, gestionar los datos atípicos, y transformarlos todos en un formato adecuado para el análisis.</a:t>
            </a:r>
            <a:endParaRPr sz="18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id="77" name="Google Shape;77;g301c3c48f2b_0_7"/>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78" name="Google Shape;78;g301c3c48f2b_0_7"/>
          <p:cNvSpPr txBox="1"/>
          <p:nvPr/>
        </p:nvSpPr>
        <p:spPr>
          <a:xfrm>
            <a:off x="0" y="660425"/>
            <a:ext cx="9144000" cy="4483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b="1" lang="es" sz="1800">
                <a:solidFill>
                  <a:schemeClr val="dk1"/>
                </a:solidFill>
              </a:rPr>
              <a:t>2. Diseño de características:</a:t>
            </a:r>
            <a:r>
              <a:rPr lang="es" sz="1800">
                <a:solidFill>
                  <a:schemeClr val="dk1"/>
                </a:solidFill>
              </a:rPr>
              <a:t> una vez preparados los datos, el siguiente paso consiste en extraer características significativas del conjunto de datos. Ello a menudo conlleva la transformación de datos sin procesar en características más representativas, que capturen patrones y relaciones. En un caso de uso empresarial, esto podría incluir la creación de características como demografías de clientes, historiales de compras, estacionalidad, puntos de acceso en productos, errores detectados por clientes o cualquier otro atributo relevante que pueda afectar al problema con el que se está trabajando.</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rPr b="1" lang="es" sz="1800">
                <a:solidFill>
                  <a:schemeClr val="dk1"/>
                </a:solidFill>
              </a:rPr>
              <a:t>3. Selección de modelo y entrenamiento:</a:t>
            </a:r>
            <a:r>
              <a:rPr lang="es" sz="1800">
                <a:solidFill>
                  <a:schemeClr val="dk1"/>
                </a:solidFill>
              </a:rPr>
              <a:t> tras el diseño de características, se elige un modelo de aprendizaje automático adecuado en función del problema y los datos disponibles. Existen varios tipos de modelos, como los árboles de decisión, los bosques aleatorios, las máquinas de vectores de soporte o las redes neuronales. Segun el modelo seleccionado se entrena con los datos preprocesados, empleando técnicas como el aprendizaje supervisado y no supervisado, en función de la naturaleza del problema.</a:t>
            </a:r>
            <a:endParaRPr sz="1800">
              <a:solidFill>
                <a:schemeClr val="dk1"/>
              </a:solidFill>
            </a:endParaRPr>
          </a:p>
          <a:p>
            <a:pPr indent="0" lvl="0" marL="0" marR="0" rtl="0" algn="just">
              <a:lnSpc>
                <a:spcPct val="100000"/>
              </a:lnSpc>
              <a:spcBef>
                <a:spcPts val="0"/>
              </a:spcBef>
              <a:spcAft>
                <a:spcPts val="0"/>
              </a:spcAft>
              <a:buClr>
                <a:srgbClr val="000000"/>
              </a:buClr>
              <a:buSzPts val="1800"/>
              <a:buFont typeface="Arial"/>
              <a:buNone/>
            </a:pPr>
            <a:r>
              <a:t/>
            </a: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g301c3c48f2b_0_14"/>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84" name="Google Shape;84;g301c3c48f2b_0_14"/>
          <p:cNvSpPr txBox="1"/>
          <p:nvPr/>
        </p:nvSpPr>
        <p:spPr>
          <a:xfrm>
            <a:off x="8450" y="738125"/>
            <a:ext cx="9144000" cy="4405500"/>
          </a:xfrm>
          <a:prstGeom prst="rect">
            <a:avLst/>
          </a:prstGeom>
          <a:noFill/>
          <a:ln>
            <a:noFill/>
          </a:ln>
        </p:spPr>
        <p:txBody>
          <a:bodyPr anchorCtr="0" anchor="t" bIns="91425" lIns="91425" spcFirstLastPara="1" rIns="91425" wrap="square" tIns="91425">
            <a:noAutofit/>
          </a:bodyPr>
          <a:lstStyle/>
          <a:p>
            <a:pPr indent="0" lvl="0" marL="0" rtl="0" algn="just">
              <a:spcBef>
                <a:spcPts val="900"/>
              </a:spcBef>
              <a:spcAft>
                <a:spcPts val="0"/>
              </a:spcAft>
              <a:buClr>
                <a:schemeClr val="dk1"/>
              </a:buClr>
              <a:buSzPts val="1100"/>
              <a:buFont typeface="Arial"/>
              <a:buNone/>
            </a:pPr>
            <a:r>
              <a:rPr b="1" lang="es" sz="1800">
                <a:solidFill>
                  <a:schemeClr val="dk1"/>
                </a:solidFill>
                <a:latin typeface="Ubuntu"/>
                <a:ea typeface="Ubuntu"/>
                <a:cs typeface="Ubuntu"/>
                <a:sym typeface="Ubuntu"/>
              </a:rPr>
              <a:t>4. Evaluación y validación del modelo:</a:t>
            </a:r>
            <a:r>
              <a:rPr lang="es" sz="1800">
                <a:solidFill>
                  <a:schemeClr val="dk1"/>
                </a:solidFill>
                <a:latin typeface="Ubuntu"/>
                <a:ea typeface="Ubuntu"/>
                <a:cs typeface="Ubuntu"/>
                <a:sym typeface="Ubuntu"/>
              </a:rPr>
              <a:t> en este paso, el modelo entrenado se evalúa utilizando técnicas de validación, como la validación cruzada o validación de retención (hold-out). Se analizan las métricas de rendimiento del modelo, como precisión, exactitud, «recall» o puntuación F1, para evaluar su efectividad para el problema estudiado. Resulta crucial validar el rendimiento del modelo para garantizar su fiabilidad y generalizabilidad a través de los datos de la empresa.</a:t>
            </a:r>
            <a:endParaRPr sz="1800">
              <a:solidFill>
                <a:schemeClr val="dk1"/>
              </a:solidFill>
              <a:latin typeface="Ubuntu"/>
              <a:ea typeface="Ubuntu"/>
              <a:cs typeface="Ubuntu"/>
              <a:sym typeface="Ubuntu"/>
            </a:endParaRPr>
          </a:p>
          <a:p>
            <a:pPr indent="0" lvl="0" marL="0" rtl="0" algn="just">
              <a:spcBef>
                <a:spcPts val="900"/>
              </a:spcBef>
              <a:spcAft>
                <a:spcPts val="0"/>
              </a:spcAft>
              <a:buClr>
                <a:schemeClr val="dk1"/>
              </a:buClr>
              <a:buSzPts val="1100"/>
              <a:buFont typeface="Arial"/>
              <a:buNone/>
            </a:pPr>
            <a:r>
              <a:t/>
            </a:r>
            <a:endParaRPr sz="1800">
              <a:solidFill>
                <a:schemeClr val="dk1"/>
              </a:solidFill>
              <a:latin typeface="Ubuntu"/>
              <a:ea typeface="Ubuntu"/>
              <a:cs typeface="Ubuntu"/>
              <a:sym typeface="Ubuntu"/>
            </a:endParaRPr>
          </a:p>
          <a:p>
            <a:pPr indent="0" lvl="0" marL="0" rtl="0" algn="just">
              <a:spcBef>
                <a:spcPts val="900"/>
              </a:spcBef>
              <a:spcAft>
                <a:spcPts val="0"/>
              </a:spcAft>
              <a:buClr>
                <a:schemeClr val="dk1"/>
              </a:buClr>
              <a:buSzPts val="1100"/>
              <a:buFont typeface="Arial"/>
              <a:buNone/>
            </a:pPr>
            <a:r>
              <a:rPr b="1" lang="es" sz="1800">
                <a:solidFill>
                  <a:schemeClr val="dk1"/>
                </a:solidFill>
                <a:latin typeface="Ubuntu"/>
                <a:ea typeface="Ubuntu"/>
                <a:cs typeface="Ubuntu"/>
                <a:sym typeface="Ubuntu"/>
              </a:rPr>
              <a:t>5. Implementación y supervisión:</a:t>
            </a:r>
            <a:r>
              <a:rPr lang="es" sz="1800">
                <a:solidFill>
                  <a:schemeClr val="dk1"/>
                </a:solidFill>
                <a:latin typeface="Ubuntu"/>
                <a:ea typeface="Ubuntu"/>
                <a:cs typeface="Ubuntu"/>
                <a:sym typeface="Ubuntu"/>
              </a:rPr>
              <a:t> una vez que se obtiene un modelo satisfactorio, se implementa en el entorno de producción de la empresa. Para ello, se integra el modelo en los procesos empresariales, sistemas o aplicaciones existentes. Una vez implementado, resulta importante supervisar continuamente su rendimiento, detectar cualquier desviación, actualizarlo periódicamente a medida que se dispone de nuevos datos, y asegurarse de que sigue entregando información precisa y de valor.</a:t>
            </a:r>
            <a:endParaRPr sz="1800">
              <a:solidFill>
                <a:schemeClr val="dk1"/>
              </a:solidFill>
              <a:latin typeface="Ubuntu"/>
              <a:ea typeface="Ubuntu"/>
              <a:cs typeface="Ubuntu"/>
              <a:sym typeface="Ubuntu"/>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g301c3c48f2b_0_2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90" name="Google Shape;90;g301c3c48f2b_0_21"/>
          <p:cNvSpPr txBox="1"/>
          <p:nvPr/>
        </p:nvSpPr>
        <p:spPr>
          <a:xfrm>
            <a:off x="31075" y="1794775"/>
            <a:ext cx="8989500" cy="13521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lang="es" sz="1800">
                <a:solidFill>
                  <a:schemeClr val="dk1"/>
                </a:solidFill>
              </a:rPr>
              <a:t>Estos pasos proporcionan una descripción general del máximo nivel del proceso de aprendizaje automático en grandes conjuntos de datos. No obstante, resulta esencial tener en cuenta que cada paso requiere una cuidadosa consideración, iteración y el máximo perfeccionamiento para lograr los mejores resultados.</a:t>
            </a:r>
            <a:endParaRPr i="0" sz="1800" u="none" cap="none" strike="noStrike">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g301c3c48f2b_0_28"/>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96" name="Google Shape;96;g301c3c48f2b_0_28"/>
          <p:cNvSpPr txBox="1"/>
          <p:nvPr/>
        </p:nvSpPr>
        <p:spPr>
          <a:xfrm>
            <a:off x="1903525" y="800275"/>
            <a:ext cx="5252400" cy="41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s" sz="1800">
                <a:solidFill>
                  <a:schemeClr val="dk1"/>
                </a:solidFill>
              </a:rPr>
              <a:t>Partes del proceso de aprendizaje automático</a:t>
            </a:r>
            <a:endParaRPr b="1" i="0" sz="1800" u="none" cap="none" strike="noStrike">
              <a:solidFill>
                <a:schemeClr val="dk1"/>
              </a:solidFill>
              <a:latin typeface="Arial"/>
              <a:ea typeface="Arial"/>
              <a:cs typeface="Arial"/>
              <a:sym typeface="Arial"/>
            </a:endParaRPr>
          </a:p>
        </p:txBody>
      </p:sp>
      <p:sp>
        <p:nvSpPr>
          <p:cNvPr id="97" name="Google Shape;97;g301c3c48f2b_0_28"/>
          <p:cNvSpPr txBox="1"/>
          <p:nvPr/>
        </p:nvSpPr>
        <p:spPr>
          <a:xfrm>
            <a:off x="108775" y="1359675"/>
            <a:ext cx="8841900" cy="3177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b="1" lang="es" sz="1800">
                <a:solidFill>
                  <a:schemeClr val="dk1"/>
                </a:solidFill>
              </a:rPr>
              <a:t>Redes neuronales</a:t>
            </a:r>
            <a:endParaRPr b="1"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Las redes neuronales son un tipo de modelo de computación inspirado en la estructura y el funcionamiento del cerebro humano. Se componen de neuronas artificiales interconectadas (también conocidas como nodos o unidades) que se organizan en capas. Cada neurona toma entradas, realiza una computación y produce un resultado, que se pasa a otras neuronas en las siguientes capas. Las redes neuronales se han diseñado para aprender y adaptarse a partir de datos, lo que las convierte en un componente fundamental tanto del aprendizaje automático como del aprendizaje profundo.</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marR="0" rtl="0" algn="just">
              <a:lnSpc>
                <a:spcPct val="100000"/>
              </a:lnSpc>
              <a:spcBef>
                <a:spcPts val="0"/>
              </a:spcBef>
              <a:spcAft>
                <a:spcPts val="0"/>
              </a:spcAft>
              <a:buClr>
                <a:srgbClr val="000000"/>
              </a:buClr>
              <a:buSzPts val="1800"/>
              <a:buFont typeface="Arial"/>
              <a:buNone/>
            </a:pPr>
            <a:r>
              <a:t/>
            </a:r>
            <a:endParaRPr sz="1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g301c3c48f2b_0_3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03" name="Google Shape;103;g301c3c48f2b_0_35"/>
          <p:cNvSpPr txBox="1"/>
          <p:nvPr/>
        </p:nvSpPr>
        <p:spPr>
          <a:xfrm>
            <a:off x="77700" y="885750"/>
            <a:ext cx="9066300" cy="4180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s" sz="1800">
                <a:solidFill>
                  <a:schemeClr val="dk1"/>
                </a:solidFill>
              </a:rPr>
              <a:t>En el aprendizaje automático, las redes neuronales se utilizan para analizar y reconocer patrones en los datos. Se pueden entrenar sobre conjuntos de datos etiquetados para realizar tareas como la clasificación, la regresión o la agrupación en clústeres. Al ajustar los pesos y sesgos de las conexiones entre las neuronas, las redes neuronales aprenden a generalizar a partir de los datos de entrenamiento y a hacer predicciones o tomar decisiones sobre datos inéditos.</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El aprendizaje profundo es un subconjunto específico del aprendizaje automático que utiliza redes neuronales profundas con multitud de capas ocultas. Las redes neuronales profundas son capaces de aprender automáticamente representaciones jerárquicas de datos, extrayendo características cada vez más abstractas en cada capa. Esta capacidad permite a los modelos de aprendizaje profundo gestionar tareas complejas, como el reconocimiento de imágenes y del habla, el procesamiento de lenguaje natural e incluso la capacidad de jugar a juegos.</a:t>
            </a:r>
            <a:endParaRPr sz="1800">
              <a:solidFill>
                <a:schemeClr val="dk1"/>
              </a:solidFill>
            </a:endParaRPr>
          </a:p>
          <a:p>
            <a:pPr indent="0" lvl="0" marL="0" marR="0" rtl="0" algn="just">
              <a:lnSpc>
                <a:spcPct val="100000"/>
              </a:lnSpc>
              <a:spcBef>
                <a:spcPts val="0"/>
              </a:spcBef>
              <a:spcAft>
                <a:spcPts val="0"/>
              </a:spcAft>
              <a:buClr>
                <a:srgbClr val="000000"/>
              </a:buClr>
              <a:buSzPts val="1800"/>
              <a:buFont typeface="Arial"/>
              <a:buNone/>
            </a:pPr>
            <a:r>
              <a:t/>
            </a:r>
            <a:endParaRPr sz="1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g301c3c48f2b_0_42"/>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09" name="Google Shape;109;g301c3c48f2b_0_42"/>
          <p:cNvSpPr txBox="1"/>
          <p:nvPr/>
        </p:nvSpPr>
        <p:spPr>
          <a:xfrm>
            <a:off x="8450" y="815800"/>
            <a:ext cx="9144000" cy="43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sz="1800">
                <a:solidFill>
                  <a:schemeClr val="dk1"/>
                </a:solidFill>
              </a:rPr>
              <a:t>Aprendizaje profundo</a:t>
            </a:r>
            <a:endParaRPr b="1" sz="1800">
              <a:solidFill>
                <a:schemeClr val="dk1"/>
              </a:solidFill>
            </a:endParaRPr>
          </a:p>
          <a:p>
            <a:pPr indent="0" lvl="0" marL="0" rtl="0" algn="l">
              <a:spcBef>
                <a:spcPts val="0"/>
              </a:spcBef>
              <a:spcAft>
                <a:spcPts val="0"/>
              </a:spcAft>
              <a:buClr>
                <a:schemeClr val="dk1"/>
              </a:buClr>
              <a:buSzPts val="1100"/>
              <a:buFont typeface="Arial"/>
              <a:buNone/>
            </a:pPr>
            <a:r>
              <a:t/>
            </a:r>
            <a:endParaRPr b="1"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El aprendizaje profundo es una rama particular del aprendizaje automático que toma la funcionalidad del ML y la lleva más allá de sus capacidades.</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Con el aprendizaje automático en general, se produce un cierto grado de participación humana, dado que los ingenieros pueden revisar los resultados de un algoritmo y ajustarlos según su precisión. El aprendizaje profundo no se basa en esta revisión. En cambio, un algoritmo de aprendizaje profundo usa su propia red neuronal para verificar la precisión de sus resultados y luego aprender de ellos.</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g301c3c48f2b_0_49"/>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15" name="Google Shape;115;g301c3c48f2b_0_49"/>
          <p:cNvSpPr txBox="1"/>
          <p:nvPr/>
        </p:nvSpPr>
        <p:spPr>
          <a:xfrm>
            <a:off x="124325" y="916825"/>
            <a:ext cx="8810700" cy="3589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s" sz="1500">
                <a:solidFill>
                  <a:schemeClr val="dk1"/>
                </a:solidFill>
              </a:rPr>
              <a:t>La red neuronal de un algoritmo de aprendizaje profundo es una estructura de algoritmos que se establece en capas para replicar la estructura del cerebro humano. En consecuencia, la red neuronal aprende a mejorar en la tarea con el tiempo sin ingenieros que le brinden comentarios al respecto.</a:t>
            </a:r>
            <a:endParaRPr sz="1500">
              <a:solidFill>
                <a:schemeClr val="dk1"/>
              </a:solidFill>
            </a:endParaRPr>
          </a:p>
          <a:p>
            <a:pPr indent="0" lvl="0" marL="0" rtl="0" algn="just">
              <a:spcBef>
                <a:spcPts val="0"/>
              </a:spcBef>
              <a:spcAft>
                <a:spcPts val="0"/>
              </a:spcAft>
              <a:buClr>
                <a:schemeClr val="dk1"/>
              </a:buClr>
              <a:buSzPts val="1100"/>
              <a:buFont typeface="Arial"/>
              <a:buNone/>
            </a:pPr>
            <a:r>
              <a:t/>
            </a:r>
            <a:endParaRPr sz="1500">
              <a:solidFill>
                <a:schemeClr val="dk1"/>
              </a:solidFill>
            </a:endParaRPr>
          </a:p>
          <a:p>
            <a:pPr indent="0" lvl="0" marL="0" rtl="0" algn="just">
              <a:spcBef>
                <a:spcPts val="0"/>
              </a:spcBef>
              <a:spcAft>
                <a:spcPts val="0"/>
              </a:spcAft>
              <a:buClr>
                <a:schemeClr val="dk1"/>
              </a:buClr>
              <a:buSzPts val="1100"/>
              <a:buFont typeface="Arial"/>
              <a:buNone/>
            </a:pPr>
            <a:r>
              <a:t/>
            </a:r>
            <a:endParaRPr sz="1500">
              <a:solidFill>
                <a:schemeClr val="dk1"/>
              </a:solidFill>
            </a:endParaRPr>
          </a:p>
          <a:p>
            <a:pPr indent="0" lvl="0" marL="0" rtl="0" algn="just">
              <a:spcBef>
                <a:spcPts val="0"/>
              </a:spcBef>
              <a:spcAft>
                <a:spcPts val="0"/>
              </a:spcAft>
              <a:buClr>
                <a:schemeClr val="dk1"/>
              </a:buClr>
              <a:buSzPts val="1100"/>
              <a:buFont typeface="Arial"/>
              <a:buNone/>
            </a:pPr>
            <a:r>
              <a:t/>
            </a:r>
            <a:endParaRPr sz="1500">
              <a:solidFill>
                <a:schemeClr val="dk1"/>
              </a:solidFill>
            </a:endParaRPr>
          </a:p>
          <a:p>
            <a:pPr indent="0" lvl="0" marL="0" rtl="0" algn="just">
              <a:spcBef>
                <a:spcPts val="0"/>
              </a:spcBef>
              <a:spcAft>
                <a:spcPts val="0"/>
              </a:spcAft>
              <a:buClr>
                <a:schemeClr val="dk1"/>
              </a:buClr>
              <a:buSzPts val="1100"/>
              <a:buFont typeface="Arial"/>
              <a:buNone/>
            </a:pPr>
            <a:r>
              <a:rPr lang="es" sz="1500">
                <a:solidFill>
                  <a:schemeClr val="dk1"/>
                </a:solidFill>
              </a:rPr>
              <a:t>Las dos principales etapas de desarrollo de una red neuronal son formación e inferencia. La formación es la etapa inicial donde el algoritmo de aprendizaje profundo se brinda con un grupo de datos y hay que interpretar lo que representa ese grupo de datos. Los ingenieros entonces brindan la red neuronal con comentarios sobre la precisión de su interpretación, y se ajusta en consecuencia. Puede haber muchas iteraciones de este proceso. La inferencia se produce cuando la red neuronal se implementa y puede tomar un conjunto de datos que nunca había visto antes para hacer predicciones precisas sobre lo que representan.</a:t>
            </a:r>
            <a:endParaRPr sz="1500">
              <a:solidFill>
                <a:schemeClr val="dk1"/>
              </a:solidFill>
            </a:endParaRPr>
          </a:p>
          <a:p>
            <a:pPr indent="0" lvl="0" marL="0" marR="0" rtl="0" algn="just">
              <a:lnSpc>
                <a:spcPct val="100000"/>
              </a:lnSpc>
              <a:spcBef>
                <a:spcPts val="0"/>
              </a:spcBef>
              <a:spcAft>
                <a:spcPts val="0"/>
              </a:spcAft>
              <a:buClr>
                <a:srgbClr val="000000"/>
              </a:buClr>
              <a:buSzPts val="1800"/>
              <a:buFont typeface="Arial"/>
              <a:buNone/>
            </a:pPr>
            <a:r>
              <a:t/>
            </a:r>
            <a:endParaRPr sz="15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g301c3c48f2b_0_56"/>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21" name="Google Shape;121;g301c3c48f2b_0_56"/>
          <p:cNvSpPr txBox="1"/>
          <p:nvPr/>
        </p:nvSpPr>
        <p:spPr>
          <a:xfrm>
            <a:off x="0" y="1631625"/>
            <a:ext cx="8927400" cy="2734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s" sz="1500">
                <a:solidFill>
                  <a:schemeClr val="dk1"/>
                </a:solidFill>
              </a:rPr>
              <a:t>Según la situación, los algoritmos del aprendizaje automático funcionan con más o menos intervención/refuerzo humano. Los cuatro modelos principales de aprendizaje automático son el </a:t>
            </a:r>
            <a:r>
              <a:rPr b="1" lang="es" sz="1500">
                <a:solidFill>
                  <a:schemeClr val="dk1"/>
                </a:solidFill>
              </a:rPr>
              <a:t>aprendizaje supervisado, el aprendizaje no supervisado, el aprendizaje </a:t>
            </a:r>
            <a:r>
              <a:rPr b="1" lang="es" sz="1500">
                <a:solidFill>
                  <a:schemeClr val="dk1"/>
                </a:solidFill>
              </a:rPr>
              <a:t>semi supervisado</a:t>
            </a:r>
            <a:r>
              <a:rPr b="1" lang="es" sz="1500">
                <a:solidFill>
                  <a:schemeClr val="dk1"/>
                </a:solidFill>
              </a:rPr>
              <a:t> y el aprendizaje de refuerzo</a:t>
            </a:r>
            <a:r>
              <a:rPr lang="es" sz="1500">
                <a:solidFill>
                  <a:schemeClr val="dk1"/>
                </a:solidFill>
              </a:rPr>
              <a:t>.</a:t>
            </a:r>
            <a:endParaRPr sz="1500">
              <a:solidFill>
                <a:schemeClr val="dk1"/>
              </a:solidFill>
            </a:endParaRPr>
          </a:p>
          <a:p>
            <a:pPr indent="0" lvl="0" marL="0" rtl="0" algn="just">
              <a:spcBef>
                <a:spcPts val="0"/>
              </a:spcBef>
              <a:spcAft>
                <a:spcPts val="0"/>
              </a:spcAft>
              <a:buClr>
                <a:schemeClr val="dk1"/>
              </a:buClr>
              <a:buSzPts val="1100"/>
              <a:buFont typeface="Arial"/>
              <a:buNone/>
            </a:pPr>
            <a:r>
              <a:t/>
            </a:r>
            <a:endParaRPr sz="1500">
              <a:solidFill>
                <a:schemeClr val="dk1"/>
              </a:solidFill>
            </a:endParaRPr>
          </a:p>
          <a:p>
            <a:pPr indent="0" lvl="0" marL="0" rtl="0" algn="just">
              <a:spcBef>
                <a:spcPts val="0"/>
              </a:spcBef>
              <a:spcAft>
                <a:spcPts val="0"/>
              </a:spcAft>
              <a:buClr>
                <a:schemeClr val="dk1"/>
              </a:buClr>
              <a:buSzPts val="1100"/>
              <a:buFont typeface="Arial"/>
              <a:buNone/>
            </a:pPr>
            <a:r>
              <a:rPr b="1" lang="es" sz="1500">
                <a:solidFill>
                  <a:schemeClr val="dk1"/>
                </a:solidFill>
              </a:rPr>
              <a:t>Con el aprendizaje supervisado</a:t>
            </a:r>
            <a:r>
              <a:rPr lang="es" sz="1500">
                <a:solidFill>
                  <a:schemeClr val="dk1"/>
                </a:solidFill>
              </a:rPr>
              <a:t>, el PC tiene un grupo etiquetado de datos que le permiten aprender a hacer una tarea humana. Este es el modelo menos complejo, ya que intenta replicar el aprendizaje humano.</a:t>
            </a:r>
            <a:endParaRPr sz="1500">
              <a:solidFill>
                <a:schemeClr val="dk1"/>
              </a:solidFill>
            </a:endParaRPr>
          </a:p>
          <a:p>
            <a:pPr indent="0" lvl="0" marL="0" marR="0" rtl="0" algn="just">
              <a:lnSpc>
                <a:spcPct val="100000"/>
              </a:lnSpc>
              <a:spcBef>
                <a:spcPts val="0"/>
              </a:spcBef>
              <a:spcAft>
                <a:spcPts val="0"/>
              </a:spcAft>
              <a:buClr>
                <a:srgbClr val="000000"/>
              </a:buClr>
              <a:buSzPts val="1800"/>
              <a:buFont typeface="Arial"/>
              <a:buNone/>
            </a:pPr>
            <a:r>
              <a:t/>
            </a:r>
            <a:endParaRPr b="1" sz="1500">
              <a:solidFill>
                <a:schemeClr val="dk1"/>
              </a:solidFill>
            </a:endParaRPr>
          </a:p>
        </p:txBody>
      </p:sp>
      <p:sp>
        <p:nvSpPr>
          <p:cNvPr id="122" name="Google Shape;122;g301c3c48f2b_0_56"/>
          <p:cNvSpPr txBox="1"/>
          <p:nvPr/>
        </p:nvSpPr>
        <p:spPr>
          <a:xfrm>
            <a:off x="1802550" y="745875"/>
            <a:ext cx="5135700" cy="5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Tipos de modelos de aprendizaje automático</a:t>
            </a:r>
            <a:endParaRPr b="1" sz="18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g301c3c48f2b_0_63"/>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28" name="Google Shape;128;g301c3c48f2b_0_63"/>
          <p:cNvSpPr txBox="1"/>
          <p:nvPr/>
        </p:nvSpPr>
        <p:spPr>
          <a:xfrm>
            <a:off x="8400" y="1033350"/>
            <a:ext cx="9127200" cy="3869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b="1" lang="es" sz="1800">
                <a:solidFill>
                  <a:schemeClr val="dk1"/>
                </a:solidFill>
              </a:rPr>
              <a:t>Con el aprendizaje no supervisado</a:t>
            </a:r>
            <a:r>
              <a:rPr lang="es" sz="1800">
                <a:solidFill>
                  <a:schemeClr val="dk1"/>
                </a:solidFill>
              </a:rPr>
              <a:t>, el PC tiene datos sin etiquetar y extrae de ellos información o patrones previamente desconocidos. Existen muchas maneras diferentes en que los algoritmos de aprendizaje automático hacen esto, incluidas:</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342900" lvl="0" marL="457200" rtl="0" algn="just">
              <a:spcBef>
                <a:spcPts val="0"/>
              </a:spcBef>
              <a:spcAft>
                <a:spcPts val="0"/>
              </a:spcAft>
              <a:buClr>
                <a:schemeClr val="dk1"/>
              </a:buClr>
              <a:buSzPts val="1800"/>
              <a:buChar char="●"/>
            </a:pPr>
            <a:r>
              <a:rPr lang="es" sz="1800">
                <a:solidFill>
                  <a:schemeClr val="dk1"/>
                </a:solidFill>
              </a:rPr>
              <a:t>Agrupación en clúster, en donde el PC encuentra puntos de datos similares dentro de un grupo de datos y los agrupa en consecuencia (creando «clústeres»).</a:t>
            </a:r>
            <a:endParaRPr sz="1800">
              <a:solidFill>
                <a:schemeClr val="dk1"/>
              </a:solidFill>
            </a:endParaRPr>
          </a:p>
          <a:p>
            <a:pPr indent="-342900" lvl="0" marL="457200" rtl="0" algn="just">
              <a:spcBef>
                <a:spcPts val="0"/>
              </a:spcBef>
              <a:spcAft>
                <a:spcPts val="0"/>
              </a:spcAft>
              <a:buClr>
                <a:schemeClr val="dk1"/>
              </a:buClr>
              <a:buSzPts val="1800"/>
              <a:buChar char="●"/>
            </a:pPr>
            <a:r>
              <a:rPr lang="es" sz="1800">
                <a:solidFill>
                  <a:schemeClr val="dk1"/>
                </a:solidFill>
              </a:rPr>
              <a:t>Estimación de densidad, donde el PC descubre conocimientos al ver cómo se distribuye el grupo de datos.</a:t>
            </a:r>
            <a:endParaRPr sz="1800">
              <a:solidFill>
                <a:schemeClr val="dk1"/>
              </a:solidFill>
            </a:endParaRPr>
          </a:p>
          <a:p>
            <a:pPr indent="-342900" lvl="0" marL="457200" rtl="0" algn="just">
              <a:spcBef>
                <a:spcPts val="0"/>
              </a:spcBef>
              <a:spcAft>
                <a:spcPts val="0"/>
              </a:spcAft>
              <a:buClr>
                <a:schemeClr val="dk1"/>
              </a:buClr>
              <a:buSzPts val="1800"/>
              <a:buChar char="●"/>
            </a:pPr>
            <a:r>
              <a:rPr lang="es" sz="1800">
                <a:solidFill>
                  <a:schemeClr val="dk1"/>
                </a:solidFill>
              </a:rPr>
              <a:t>Detección de anomalías, donde el PC identifica puntos de datos dentro de un grupo de datos que son significativamente diferentes del resto.</a:t>
            </a:r>
            <a:endParaRPr sz="1800">
              <a:solidFill>
                <a:schemeClr val="dk1"/>
              </a:solidFill>
            </a:endParaRPr>
          </a:p>
          <a:p>
            <a:pPr indent="-342900" lvl="0" marL="457200" rtl="0" algn="just">
              <a:spcBef>
                <a:spcPts val="0"/>
              </a:spcBef>
              <a:spcAft>
                <a:spcPts val="0"/>
              </a:spcAft>
              <a:buClr>
                <a:schemeClr val="dk1"/>
              </a:buClr>
              <a:buSzPts val="1800"/>
              <a:buChar char="●"/>
            </a:pPr>
            <a:r>
              <a:rPr lang="es" sz="1800">
                <a:solidFill>
                  <a:schemeClr val="dk1"/>
                </a:solidFill>
              </a:rPr>
              <a:t>Análisis de componente principal (PCA), donde el PC analiza un grupo de datos y los resume para poder usarlos para hacer predicciones precisas.</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marR="0" rtl="0" algn="just">
              <a:lnSpc>
                <a:spcPct val="100000"/>
              </a:lnSpc>
              <a:spcBef>
                <a:spcPts val="0"/>
              </a:spcBef>
              <a:spcAft>
                <a:spcPts val="0"/>
              </a:spcAft>
              <a:buClr>
                <a:srgbClr val="000000"/>
              </a:buClr>
              <a:buSzPts val="1800"/>
              <a:buFont typeface="Arial"/>
              <a:buNone/>
            </a:pPr>
            <a:r>
              <a:t/>
            </a:r>
            <a:endParaRPr sz="18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id="133" name="Google Shape;133;g301c3c48f2b_0_7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34" name="Google Shape;134;g301c3c48f2b_0_70"/>
          <p:cNvSpPr txBox="1"/>
          <p:nvPr/>
        </p:nvSpPr>
        <p:spPr>
          <a:xfrm>
            <a:off x="8450" y="687575"/>
            <a:ext cx="9035100" cy="36711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b="1" lang="es" sz="1800">
                <a:solidFill>
                  <a:schemeClr val="dk1"/>
                </a:solidFill>
              </a:rPr>
              <a:t>Con el aprendizaje </a:t>
            </a:r>
            <a:r>
              <a:rPr b="1" lang="es" sz="1800">
                <a:solidFill>
                  <a:schemeClr val="dk1"/>
                </a:solidFill>
              </a:rPr>
              <a:t>semi supervisado</a:t>
            </a:r>
            <a:r>
              <a:rPr lang="es" sz="1800">
                <a:solidFill>
                  <a:schemeClr val="dk1"/>
                </a:solidFill>
              </a:rPr>
              <a:t>, el PC tiene una serie de datos parcialmente etiquetados y realiza su tarea usando los datos etiquetados para entender los parámetros e interpretar los datos no etiquetados.</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rPr b="1" lang="es" sz="1800">
                <a:solidFill>
                  <a:schemeClr val="dk1"/>
                </a:solidFill>
              </a:rPr>
              <a:t>Con el aprendizaje de refuerzo</a:t>
            </a:r>
            <a:r>
              <a:rPr lang="es" sz="1800">
                <a:solidFill>
                  <a:schemeClr val="dk1"/>
                </a:solidFill>
              </a:rPr>
              <a:t>, el PC observa su entorno y usa esos datos para identificar la conducta ideal que minimizará el riesgo o maximizará la recompensa. Esto es un enfoque iterativo que requiere un tipo de señal de refuerzo para ayudar al PC a identificar mejor la acción adecuada.</a:t>
            </a:r>
            <a:endParaRPr sz="1800">
              <a:solidFill>
                <a:schemeClr val="dk1"/>
              </a:solidFill>
            </a:endParaRPr>
          </a:p>
          <a:p>
            <a:pPr indent="0" lvl="0" marL="0" marR="0" rtl="0" algn="just">
              <a:lnSpc>
                <a:spcPct val="100000"/>
              </a:lnSpc>
              <a:spcBef>
                <a:spcPts val="0"/>
              </a:spcBef>
              <a:spcAft>
                <a:spcPts val="0"/>
              </a:spcAft>
              <a:buClr>
                <a:srgbClr val="000000"/>
              </a:buClr>
              <a:buSzPts val="1800"/>
              <a:buFont typeface="Arial"/>
              <a:buNone/>
            </a:pPr>
            <a:r>
              <a:t/>
            </a:r>
            <a:endParaRPr sz="18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g301c3c48f2b_0_77"/>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40" name="Google Shape;140;g301c3c48f2b_0_77"/>
          <p:cNvSpPr txBox="1"/>
          <p:nvPr/>
        </p:nvSpPr>
        <p:spPr>
          <a:xfrm>
            <a:off x="69925" y="1530600"/>
            <a:ext cx="8911800" cy="2983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s" sz="1800">
                <a:solidFill>
                  <a:schemeClr val="dk1"/>
                </a:solidFill>
              </a:rPr>
              <a:t>El aprendizaje automático es la categoría más amplia de algoritmos que puede tomar un grupo de datos y usarlo para identificar patrones, descubrir información o hacer predicciones. El aprendizaje profundo es una rama particular del aprendizaje automático que toma la funcionalidad del ML y la lleva más allá de sus capacidades.</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Con el aprendizaje automático en general, hay algo de participación humana porque los ingenieros pueden revisar los resultados de un algoritmo y hacer ajustes según la precisión. El aprendizaje profundo no se basa en esta revisión. En cambio, un algoritmo de aprendizaje profundo usa su propia red neuronal para verificar la precisión de sus resultados y, luego, aprender de ellos.</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b="1" sz="1800">
              <a:solidFill>
                <a:schemeClr val="dk1"/>
              </a:solidFill>
            </a:endParaRPr>
          </a:p>
          <a:p>
            <a:pPr indent="0" lvl="0" marL="0" marR="0" rtl="0" algn="just">
              <a:lnSpc>
                <a:spcPct val="100000"/>
              </a:lnSpc>
              <a:spcBef>
                <a:spcPts val="0"/>
              </a:spcBef>
              <a:spcAft>
                <a:spcPts val="0"/>
              </a:spcAft>
              <a:buNone/>
            </a:pPr>
            <a:r>
              <a:t/>
            </a:r>
            <a:endParaRPr b="1" sz="1800">
              <a:solidFill>
                <a:schemeClr val="dk1"/>
              </a:solidFill>
            </a:endParaRPr>
          </a:p>
        </p:txBody>
      </p:sp>
      <p:sp>
        <p:nvSpPr>
          <p:cNvPr id="141" name="Google Shape;141;g301c3c48f2b_0_77"/>
          <p:cNvSpPr txBox="1"/>
          <p:nvPr/>
        </p:nvSpPr>
        <p:spPr>
          <a:xfrm>
            <a:off x="668200" y="738125"/>
            <a:ext cx="7956300" cy="411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s" sz="1800">
                <a:solidFill>
                  <a:schemeClr val="dk1"/>
                </a:solidFill>
              </a:rPr>
              <a:t>¿Cómo se relacionan aprendizaje profundo y aprendizaje automático?</a:t>
            </a:r>
            <a:endParaRPr b="1" sz="1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g301c3c48f2b_0_84"/>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47" name="Google Shape;147;g301c3c48f2b_0_84"/>
          <p:cNvSpPr txBox="1"/>
          <p:nvPr/>
        </p:nvSpPr>
        <p:spPr>
          <a:xfrm>
            <a:off x="8450" y="901275"/>
            <a:ext cx="9127200" cy="3675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s" sz="1800">
                <a:solidFill>
                  <a:schemeClr val="dk1"/>
                </a:solidFill>
              </a:rPr>
              <a:t>La red neuronal de un algoritmo de aprendizaje profundo es una estructura de algoritmos que se establece en capas para replicar la estructura del cerebro humano. En consecuencia, la red neuronal aprende a mejorar en la tarea con el tiempo sin ingenieros que le brinden comentarios al respecto.</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Las dos principales etapas de desarrollo de una red neuronal son la formación y la inferencia. La formación es la etapa inicial, donde al algoritmo de aprendizaje profundo se le proporciona un conjunto de datos y debe interpretar lo que representan. Los ingenieros entonces brindan la red neuronal con comentarios sobre la precisión de su interpretación, y se ajusta en consecuencia. Puede haber muchas iteraciones en este proceso. La inferencia es cuando la red neuronal se implementa y puede tomar un grupo de datos que nunca antes había visto y hacer predicciones correctas sobre lo que representan.</a:t>
            </a:r>
            <a:endParaRPr sz="1800">
              <a:solidFill>
                <a:schemeClr val="dk1"/>
              </a:solidFill>
            </a:endParaRPr>
          </a:p>
          <a:p>
            <a:pPr indent="0" lvl="0" marL="0" marR="0" rtl="0" algn="just">
              <a:lnSpc>
                <a:spcPct val="100000"/>
              </a:lnSpc>
              <a:spcBef>
                <a:spcPts val="0"/>
              </a:spcBef>
              <a:spcAft>
                <a:spcPts val="0"/>
              </a:spcAft>
              <a:buClr>
                <a:srgbClr val="000000"/>
              </a:buClr>
              <a:buSzPts val="1800"/>
              <a:buFont typeface="Arial"/>
              <a:buNone/>
            </a:pPr>
            <a:r>
              <a:t/>
            </a:r>
            <a:endParaRPr sz="18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g301c3c48f2b_0_9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53" name="Google Shape;153;g301c3c48f2b_0_91"/>
          <p:cNvSpPr txBox="1"/>
          <p:nvPr/>
        </p:nvSpPr>
        <p:spPr>
          <a:xfrm>
            <a:off x="69450" y="1460675"/>
            <a:ext cx="9005100" cy="2898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s" sz="1800">
                <a:solidFill>
                  <a:schemeClr val="dk1"/>
                </a:solidFill>
              </a:rPr>
              <a:t>El aprendizaje automático es elemento que hace que una empresa sea fuerte, flexible y resiliente. Las organizaciones inteligentes eligen el ML para generar crecimiento de arriba abajo, productividad del empleado y satisfacción del cliente.</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Muchas empresas logran el éxito con pocos casos de uso del ML, pero ese en realidad es solo el comienzo del proceso. Experimentar con el aprendizaje automático puede ser lo primero, pero justo después se debe proceder a la integración de modelos de aprendizaje automático en procesos y aplicaciones empresariales para poder escalarlos en la empresa.</a:t>
            </a:r>
            <a:endParaRPr sz="1800">
              <a:solidFill>
                <a:schemeClr val="dk1"/>
              </a:solidFill>
            </a:endParaRPr>
          </a:p>
          <a:p>
            <a:pPr indent="0" lvl="0" marL="0" marR="0" rtl="0" algn="just">
              <a:lnSpc>
                <a:spcPct val="100000"/>
              </a:lnSpc>
              <a:spcBef>
                <a:spcPts val="0"/>
              </a:spcBef>
              <a:spcAft>
                <a:spcPts val="0"/>
              </a:spcAft>
              <a:buClr>
                <a:srgbClr val="000000"/>
              </a:buClr>
              <a:buSzPts val="1800"/>
              <a:buFont typeface="Arial"/>
              <a:buNone/>
            </a:pPr>
            <a:r>
              <a:t/>
            </a:r>
            <a:endParaRPr sz="1800">
              <a:solidFill>
                <a:schemeClr val="dk1"/>
              </a:solidFill>
            </a:endParaRPr>
          </a:p>
        </p:txBody>
      </p:sp>
      <p:sp>
        <p:nvSpPr>
          <p:cNvPr id="154" name="Google Shape;154;g301c3c48f2b_0_91"/>
          <p:cNvSpPr txBox="1"/>
          <p:nvPr/>
        </p:nvSpPr>
        <p:spPr>
          <a:xfrm>
            <a:off x="2113350" y="707025"/>
            <a:ext cx="43587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Beneficios del aprendizaje automático</a:t>
            </a:r>
            <a:endParaRPr b="1" sz="1800">
              <a:solidFill>
                <a:schemeClr val="dk1"/>
              </a:solidFill>
            </a:endParaRPr>
          </a:p>
        </p:txBody>
      </p:sp>
      <p:sp>
        <p:nvSpPr>
          <p:cNvPr id="155" name="Google Shape;155;g301c3c48f2b_0_91"/>
          <p:cNvSpPr txBox="1"/>
          <p:nvPr/>
        </p:nvSpPr>
        <p:spPr>
          <a:xfrm>
            <a:off x="209775" y="4638475"/>
            <a:ext cx="4358700" cy="50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56" name="Google Shape;156;g301c3c48f2b_0_91"/>
          <p:cNvSpPr txBox="1"/>
          <p:nvPr/>
        </p:nvSpPr>
        <p:spPr>
          <a:xfrm>
            <a:off x="147625" y="4599625"/>
            <a:ext cx="55164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u="sng">
                <a:solidFill>
                  <a:schemeClr val="hlink"/>
                </a:solidFill>
                <a:hlinkClick r:id="rId4"/>
              </a:rPr>
              <a:t>https://www.youtube.com/watch?v=oT3arRRB2Cw</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g301c3c48f2b_0_98"/>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62" name="Google Shape;162;g301c3c48f2b_0_98"/>
          <p:cNvSpPr txBox="1"/>
          <p:nvPr/>
        </p:nvSpPr>
        <p:spPr>
          <a:xfrm>
            <a:off x="2587275" y="248625"/>
            <a:ext cx="3193200" cy="41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Modelos de </a:t>
            </a:r>
            <a:r>
              <a:rPr b="1" lang="es" sz="1800">
                <a:solidFill>
                  <a:schemeClr val="dk1"/>
                </a:solidFill>
              </a:rPr>
              <a:t>regresión en IA</a:t>
            </a:r>
            <a:endParaRPr b="1" sz="1800">
              <a:solidFill>
                <a:schemeClr val="dk1"/>
              </a:solidFill>
            </a:endParaRPr>
          </a:p>
        </p:txBody>
      </p:sp>
      <p:sp>
        <p:nvSpPr>
          <p:cNvPr id="163" name="Google Shape;163;g301c3c48f2b_0_98"/>
          <p:cNvSpPr txBox="1"/>
          <p:nvPr/>
        </p:nvSpPr>
        <p:spPr>
          <a:xfrm>
            <a:off x="0" y="1025600"/>
            <a:ext cx="9144000" cy="3543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s" sz="1800">
                <a:solidFill>
                  <a:schemeClr val="dk1"/>
                </a:solidFill>
              </a:rPr>
              <a:t>Los modelos de regresión en IA</a:t>
            </a:r>
            <a:r>
              <a:rPr lang="es" sz="1800">
                <a:solidFill>
                  <a:schemeClr val="dk1"/>
                </a:solidFill>
              </a:rPr>
              <a:t> son un tipo de modelo de aprendizaje automático que se utilizan para analizar y predecir relaciones entre variables. Estos modelos se basan en el concepto de regresión, que se refiere a la capacidad de un modelo para encontrar la relación entre dos o más variables y usar esa información para hacer predicciones precisas sobre una variable en particular.</a:t>
            </a:r>
            <a:endParaRPr sz="1800">
              <a:solidFill>
                <a:schemeClr val="dk1"/>
              </a:solidFill>
            </a:endParaRPr>
          </a:p>
          <a:p>
            <a:pPr indent="0" lvl="0" marL="0" rtl="0" algn="just">
              <a:spcBef>
                <a:spcPts val="0"/>
              </a:spcBef>
              <a:spcAft>
                <a:spcPts val="0"/>
              </a:spcAft>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La regresión es una técnica estadística utilizada para analizar la relación entre una variable dependiente (la que se desea predecir) y una o más variables independientes (las que se utilizan como input). Los modelos de regresión en IA utilizan técnicas de aprendizaje automático para encontrar la relación entre las variables y usar esa información para hacer predicciones precisas sobre la variable dependiente.</a:t>
            </a:r>
            <a:endParaRPr sz="1800">
              <a:solidFill>
                <a:schemeClr val="dk1"/>
              </a:solidFill>
            </a:endParaRPr>
          </a:p>
          <a:p>
            <a:pPr indent="0" lvl="0" marL="0" rtl="0" algn="just">
              <a:spcBef>
                <a:spcPts val="0"/>
              </a:spcBef>
              <a:spcAft>
                <a:spcPts val="0"/>
              </a:spcAft>
              <a:buNone/>
            </a:pPr>
            <a:r>
              <a:t/>
            </a:r>
            <a:endParaRPr sz="18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g301c3c48f2b_0_10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69" name="Google Shape;169;g301c3c48f2b_0_105"/>
          <p:cNvSpPr txBox="1"/>
          <p:nvPr/>
        </p:nvSpPr>
        <p:spPr>
          <a:xfrm>
            <a:off x="8450" y="1087750"/>
            <a:ext cx="9051000" cy="2750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s" sz="1800">
                <a:solidFill>
                  <a:schemeClr val="dk1"/>
                </a:solidFill>
              </a:rPr>
              <a:t>Regresión lineal</a:t>
            </a:r>
            <a:endParaRPr b="1" sz="1800">
              <a:solidFill>
                <a:schemeClr val="dk1"/>
              </a:solidFill>
            </a:endParaRPr>
          </a:p>
          <a:p>
            <a:pPr indent="0" lvl="0" marL="0" rtl="0" algn="just">
              <a:spcBef>
                <a:spcPts val="0"/>
              </a:spcBef>
              <a:spcAft>
                <a:spcPts val="0"/>
              </a:spcAft>
              <a:buClr>
                <a:schemeClr val="dk1"/>
              </a:buClr>
              <a:buSzPts val="1100"/>
              <a:buFont typeface="Arial"/>
              <a:buNone/>
            </a:pPr>
            <a:r>
              <a:t/>
            </a:r>
            <a:endParaRPr b="1"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La regresión lineal es uno de los tipos más simples de modelos de regresión en IA. Este modelo asume que existe una relación lineal entre la variable dependiente y las variables independientes. Es decir, que la variable dependiente puede ser modelada como una combinación lineal de las variables independientes. La regresión lineal es útil para analizar relaciones simples y predecir valores continuos, como el precio de una casa en función de su tamaño y ubicación.</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None/>
            </a:pPr>
            <a:r>
              <a:t/>
            </a:r>
            <a:endParaRPr sz="18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g301c3c48f2b_0_112"/>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75" name="Google Shape;175;g301c3c48f2b_0_112"/>
          <p:cNvSpPr txBox="1"/>
          <p:nvPr/>
        </p:nvSpPr>
        <p:spPr>
          <a:xfrm>
            <a:off x="3900" y="1313050"/>
            <a:ext cx="9136200" cy="2766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s" sz="1800">
                <a:solidFill>
                  <a:schemeClr val="dk1"/>
                </a:solidFill>
              </a:rPr>
              <a:t>Regresión logística.</a:t>
            </a:r>
            <a:endParaRPr b="1" sz="1800">
              <a:solidFill>
                <a:schemeClr val="dk1"/>
              </a:solidFill>
            </a:endParaRPr>
          </a:p>
          <a:p>
            <a:pPr indent="0" lvl="0" marL="0" rtl="0" algn="just">
              <a:spcBef>
                <a:spcPts val="0"/>
              </a:spcBef>
              <a:spcAft>
                <a:spcPts val="0"/>
              </a:spcAft>
              <a:buClr>
                <a:schemeClr val="dk1"/>
              </a:buClr>
              <a:buSzPts val="1100"/>
              <a:buFont typeface="Arial"/>
              <a:buNone/>
            </a:pPr>
            <a:r>
              <a:t/>
            </a:r>
            <a:endParaRPr b="1"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La regresión logística es un tipo de modelo de regresión en IA que se utiliza para predecir valores discretos, en lugar de valores continuos. En lugar de encontrar una relación lineal entre la variable dependiente y las variables independientes, la regresión logística encuentra una relación no lineal que se puede modelar mediante una función logística. Este tipo de modelo es útil para problemas de clasificación, como determinar si un correo electrónico es spam o no.</a:t>
            </a:r>
            <a:endParaRPr sz="1800">
              <a:solidFill>
                <a:schemeClr val="dk1"/>
              </a:solidFill>
            </a:endParaRPr>
          </a:p>
          <a:p>
            <a:pPr indent="0" lvl="0" marL="0" rtl="0" algn="just">
              <a:spcBef>
                <a:spcPts val="0"/>
              </a:spcBef>
              <a:spcAft>
                <a:spcPts val="0"/>
              </a:spcAft>
              <a:buNone/>
            </a:pPr>
            <a:r>
              <a:t/>
            </a:r>
            <a:endParaRPr sz="18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g301c3c48f2b_0_119"/>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81" name="Google Shape;181;g301c3c48f2b_0_119"/>
          <p:cNvSpPr txBox="1"/>
          <p:nvPr/>
        </p:nvSpPr>
        <p:spPr>
          <a:xfrm>
            <a:off x="50100" y="1087750"/>
            <a:ext cx="9043800" cy="2843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s" sz="1800">
                <a:solidFill>
                  <a:schemeClr val="dk1"/>
                </a:solidFill>
              </a:rPr>
              <a:t>Árboles de decisión.</a:t>
            </a:r>
            <a:endParaRPr b="1"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Los árboles de decisión son un tipo de modelo de regresión en IA que se utilizan para tomar decisiones en base a un conjunto de condiciones. Un árbol de decisión es un diagrama que muestra las posibles decisiones a tomar y las consecuencias de cada una de esas decisiones. Los árboles de decisión se construyen a partir de un conjunto de datos de entrenamiento y se utilizan para tomar decisiones en situaciones en las que se tienen que evaluar varias opciones y elegir la mejor en función de un conjunto de criterios.</a:t>
            </a:r>
            <a:endParaRPr sz="1800">
              <a:solidFill>
                <a:schemeClr val="dk1"/>
              </a:solidFill>
            </a:endParaRPr>
          </a:p>
          <a:p>
            <a:pPr indent="0" lvl="0" marL="0" rtl="0" algn="just">
              <a:spcBef>
                <a:spcPts val="0"/>
              </a:spcBef>
              <a:spcAft>
                <a:spcPts val="0"/>
              </a:spcAft>
              <a:buNone/>
            </a:pPr>
            <a:r>
              <a:t/>
            </a:r>
            <a:endParaRPr sz="18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g301c3c48f2b_0_196"/>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87" name="Google Shape;187;g301c3c48f2b_0_196"/>
          <p:cNvSpPr txBox="1"/>
          <p:nvPr/>
        </p:nvSpPr>
        <p:spPr>
          <a:xfrm>
            <a:off x="1825875" y="652625"/>
            <a:ext cx="4956900" cy="4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Ventajas de los modelos de regresión en IA</a:t>
            </a:r>
            <a:endParaRPr b="1" sz="1800">
              <a:solidFill>
                <a:schemeClr val="dk1"/>
              </a:solidFill>
            </a:endParaRPr>
          </a:p>
        </p:txBody>
      </p:sp>
      <p:sp>
        <p:nvSpPr>
          <p:cNvPr id="188" name="Google Shape;188;g301c3c48f2b_0_196"/>
          <p:cNvSpPr txBox="1"/>
          <p:nvPr/>
        </p:nvSpPr>
        <p:spPr>
          <a:xfrm>
            <a:off x="31075" y="1173225"/>
            <a:ext cx="9112800" cy="3924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s" sz="1800">
                <a:solidFill>
                  <a:schemeClr val="dk1"/>
                </a:solidFill>
              </a:rPr>
              <a:t>Hay varias ventajas de utilizar modelos de regresión en IA para analizar y predecir relaciones entre variables. Algunas de las principales ventajas incluyen:</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342900" lvl="0" marL="457200" rtl="0" algn="just">
              <a:spcBef>
                <a:spcPts val="0"/>
              </a:spcBef>
              <a:spcAft>
                <a:spcPts val="0"/>
              </a:spcAft>
              <a:buClr>
                <a:schemeClr val="dk1"/>
              </a:buClr>
              <a:buSzPts val="1800"/>
              <a:buChar char="●"/>
            </a:pPr>
            <a:r>
              <a:rPr b="1" lang="es" sz="1800">
                <a:solidFill>
                  <a:schemeClr val="dk1"/>
                </a:solidFill>
              </a:rPr>
              <a:t>Precisión:</a:t>
            </a:r>
            <a:r>
              <a:rPr lang="es" sz="1800">
                <a:solidFill>
                  <a:schemeClr val="dk1"/>
                </a:solidFill>
              </a:rPr>
              <a:t> Los modelos de regresión en IA pueden hacer predicciones muy precisas, ya que utilizan técnicas de aprendizaje automático para encontrar la relación entre las variables. Esto permite a los modelos de regresión en IA tomar decisiones de manera más precisa que los modelos estadísticos tradicionales.</a:t>
            </a:r>
            <a:endParaRPr sz="1800">
              <a:solidFill>
                <a:schemeClr val="dk1"/>
              </a:solidFill>
            </a:endParaRPr>
          </a:p>
          <a:p>
            <a:pPr indent="-342900" lvl="0" marL="457200" rtl="0" algn="just">
              <a:spcBef>
                <a:spcPts val="0"/>
              </a:spcBef>
              <a:spcAft>
                <a:spcPts val="0"/>
              </a:spcAft>
              <a:buClr>
                <a:schemeClr val="dk1"/>
              </a:buClr>
              <a:buSzPts val="1800"/>
              <a:buChar char="●"/>
            </a:pPr>
            <a:r>
              <a:rPr b="1" lang="es" sz="1800">
                <a:solidFill>
                  <a:schemeClr val="dk1"/>
                </a:solidFill>
              </a:rPr>
              <a:t>Rapidez:</a:t>
            </a:r>
            <a:r>
              <a:rPr lang="es" sz="1800">
                <a:solidFill>
                  <a:schemeClr val="dk1"/>
                </a:solidFill>
              </a:rPr>
              <a:t> Los modelos de regresión en IA pueden procesar grandes cantidades de datos en muy poco tiempo, lo que permite tomar decisiones en tiempo real en situaciones en las que se requiere una respuesta rápida.</a:t>
            </a:r>
            <a:endParaRPr sz="1800">
              <a:solidFill>
                <a:schemeClr val="dk1"/>
              </a:solidFill>
            </a:endParaRPr>
          </a:p>
          <a:p>
            <a:pPr indent="-342900" lvl="0" marL="457200" rtl="0" algn="just">
              <a:spcBef>
                <a:spcPts val="0"/>
              </a:spcBef>
              <a:spcAft>
                <a:spcPts val="0"/>
              </a:spcAft>
              <a:buClr>
                <a:schemeClr val="dk1"/>
              </a:buClr>
              <a:buSzPts val="1800"/>
              <a:buChar char="●"/>
            </a:pPr>
            <a:r>
              <a:rPr b="1" lang="es" sz="1800">
                <a:solidFill>
                  <a:schemeClr val="dk1"/>
                </a:solidFill>
              </a:rPr>
              <a:t>Flexibilidad:</a:t>
            </a:r>
            <a:r>
              <a:rPr lang="es" sz="1800">
                <a:solidFill>
                  <a:schemeClr val="dk1"/>
                </a:solidFill>
              </a:rPr>
              <a:t> Los modelos de regresión en IA se pueden entrenar y ajustar fácilmente, lo que permite adaptarlos a diferentes situaciones y utilizarlos para resolver una amplia variedad de problemas.</a:t>
            </a:r>
            <a:endParaRPr sz="1800">
              <a:solidFill>
                <a:schemeClr val="dk1"/>
              </a:solidFill>
            </a:endParaRPr>
          </a:p>
          <a:p>
            <a:pPr indent="0" lvl="0" marL="0" rtl="0" algn="just">
              <a:spcBef>
                <a:spcPts val="0"/>
              </a:spcBef>
              <a:spcAft>
                <a:spcPts val="0"/>
              </a:spcAft>
              <a:buNone/>
            </a:pPr>
            <a:r>
              <a:t/>
            </a:r>
            <a:endParaRPr sz="18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g301c3c48f2b_0_202"/>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94" name="Google Shape;194;g301c3c48f2b_0_202"/>
          <p:cNvSpPr txBox="1"/>
          <p:nvPr/>
        </p:nvSpPr>
        <p:spPr>
          <a:xfrm>
            <a:off x="1585025" y="683725"/>
            <a:ext cx="5306700" cy="40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Desventajas de los modelos de regresión en IA</a:t>
            </a:r>
            <a:endParaRPr b="1" sz="1800">
              <a:solidFill>
                <a:schemeClr val="dk1"/>
              </a:solidFill>
            </a:endParaRPr>
          </a:p>
        </p:txBody>
      </p:sp>
      <p:sp>
        <p:nvSpPr>
          <p:cNvPr id="195" name="Google Shape;195;g301c3c48f2b_0_202"/>
          <p:cNvSpPr txBox="1"/>
          <p:nvPr/>
        </p:nvSpPr>
        <p:spPr>
          <a:xfrm>
            <a:off x="11700" y="1134375"/>
            <a:ext cx="9120600" cy="3861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s" sz="1700">
                <a:solidFill>
                  <a:schemeClr val="dk1"/>
                </a:solidFill>
              </a:rPr>
              <a:t>A pesar de sus numerosas ventajas, los modelos de regresión en IA también tienen algunas desventajas. Algunas de las principales desventajas incluyen:</a:t>
            </a:r>
            <a:endParaRPr sz="1700">
              <a:solidFill>
                <a:schemeClr val="dk1"/>
              </a:solidFill>
            </a:endParaRPr>
          </a:p>
          <a:p>
            <a:pPr indent="0" lvl="0" marL="0" rtl="0" algn="just">
              <a:spcBef>
                <a:spcPts val="0"/>
              </a:spcBef>
              <a:spcAft>
                <a:spcPts val="0"/>
              </a:spcAft>
              <a:buClr>
                <a:schemeClr val="dk1"/>
              </a:buClr>
              <a:buSzPts val="1100"/>
              <a:buFont typeface="Arial"/>
              <a:buNone/>
            </a:pPr>
            <a:r>
              <a:t/>
            </a:r>
            <a:endParaRPr sz="1700">
              <a:solidFill>
                <a:schemeClr val="dk1"/>
              </a:solidFill>
            </a:endParaRPr>
          </a:p>
          <a:p>
            <a:pPr indent="-336550" lvl="0" marL="457200" rtl="0" algn="just">
              <a:spcBef>
                <a:spcPts val="0"/>
              </a:spcBef>
              <a:spcAft>
                <a:spcPts val="0"/>
              </a:spcAft>
              <a:buClr>
                <a:schemeClr val="dk1"/>
              </a:buClr>
              <a:buSzPts val="1700"/>
              <a:buChar char="●"/>
            </a:pPr>
            <a:r>
              <a:rPr b="1" lang="es" sz="1700">
                <a:solidFill>
                  <a:schemeClr val="dk1"/>
                </a:solidFill>
              </a:rPr>
              <a:t>Complejidad:</a:t>
            </a:r>
            <a:r>
              <a:rPr lang="es" sz="1700">
                <a:solidFill>
                  <a:schemeClr val="dk1"/>
                </a:solidFill>
              </a:rPr>
              <a:t> Los modelos de regresión en IA pueden ser muy complejos y difíciles de entender para personas no familiarizadas con el aprendizaje automático. Esto puede dificultar el uso y la interpretación de estos modelos por parte de personas que no tienen una formación técnica.</a:t>
            </a:r>
            <a:endParaRPr sz="1700">
              <a:solidFill>
                <a:schemeClr val="dk1"/>
              </a:solidFill>
            </a:endParaRPr>
          </a:p>
          <a:p>
            <a:pPr indent="-336550" lvl="0" marL="457200" rtl="0" algn="just">
              <a:spcBef>
                <a:spcPts val="0"/>
              </a:spcBef>
              <a:spcAft>
                <a:spcPts val="0"/>
              </a:spcAft>
              <a:buClr>
                <a:schemeClr val="dk1"/>
              </a:buClr>
              <a:buSzPts val="1700"/>
              <a:buChar char="●"/>
            </a:pPr>
            <a:r>
              <a:rPr b="1" lang="es" sz="1700">
                <a:solidFill>
                  <a:schemeClr val="dk1"/>
                </a:solidFill>
              </a:rPr>
              <a:t>Dependencia de datos:</a:t>
            </a:r>
            <a:r>
              <a:rPr lang="es" sz="1700">
                <a:solidFill>
                  <a:schemeClr val="dk1"/>
                </a:solidFill>
              </a:rPr>
              <a:t> Los modelos de regresión en IA dependen de un conjunto de datos de entrenamiento para poder funcionar. Si el conjunto de datos es insuficiente o de mala calidad, los modelos de regresión en IA pueden no funcionar de manera óptima o incluso pueden fallar.</a:t>
            </a:r>
            <a:endParaRPr sz="1700">
              <a:solidFill>
                <a:schemeClr val="dk1"/>
              </a:solidFill>
            </a:endParaRPr>
          </a:p>
          <a:p>
            <a:pPr indent="-336550" lvl="0" marL="457200" rtl="0" algn="just">
              <a:spcBef>
                <a:spcPts val="0"/>
              </a:spcBef>
              <a:spcAft>
                <a:spcPts val="0"/>
              </a:spcAft>
              <a:buClr>
                <a:schemeClr val="dk1"/>
              </a:buClr>
              <a:buSzPts val="1700"/>
              <a:buChar char="●"/>
            </a:pPr>
            <a:r>
              <a:rPr b="1" lang="es" sz="1700">
                <a:solidFill>
                  <a:schemeClr val="dk1"/>
                </a:solidFill>
              </a:rPr>
              <a:t>Vulnerabilidad a los errores:</a:t>
            </a:r>
            <a:r>
              <a:rPr lang="es" sz="1700">
                <a:solidFill>
                  <a:schemeClr val="dk1"/>
                </a:solidFill>
              </a:rPr>
              <a:t> Los modelos de regresión en IA son sistemas complejos que pueden ser vulnerables a errores. Si se producen errores en el proceso de entrenamiento o en la utilización del modelo, esto puede afectar a la precisión de las predicciones y a la toma de decisiones.</a:t>
            </a:r>
            <a:endParaRPr sz="1700">
              <a:solidFill>
                <a:schemeClr val="dk1"/>
              </a:solidFill>
            </a:endParaRPr>
          </a:p>
          <a:p>
            <a:pPr indent="0" lvl="0" marL="0" rtl="0" algn="just">
              <a:spcBef>
                <a:spcPts val="0"/>
              </a:spcBef>
              <a:spcAft>
                <a:spcPts val="0"/>
              </a:spcAft>
              <a:buNone/>
            </a:pPr>
            <a:r>
              <a:t/>
            </a:r>
            <a:endParaRPr sz="170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g301c3c48f2b_0_208"/>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201" name="Google Shape;201;g301c3c48f2b_0_208"/>
          <p:cNvSpPr txBox="1"/>
          <p:nvPr/>
        </p:nvSpPr>
        <p:spPr>
          <a:xfrm>
            <a:off x="1452900" y="784725"/>
            <a:ext cx="5430900" cy="38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Aplicaciones de los modelos de regresión en IA</a:t>
            </a:r>
            <a:endParaRPr b="1" sz="1800">
              <a:solidFill>
                <a:schemeClr val="dk1"/>
              </a:solidFill>
            </a:endParaRPr>
          </a:p>
        </p:txBody>
      </p:sp>
      <p:sp>
        <p:nvSpPr>
          <p:cNvPr id="202" name="Google Shape;202;g301c3c48f2b_0_208"/>
          <p:cNvSpPr txBox="1"/>
          <p:nvPr/>
        </p:nvSpPr>
        <p:spPr>
          <a:xfrm>
            <a:off x="15550" y="1274225"/>
            <a:ext cx="9120000" cy="3869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s" sz="1800">
                <a:solidFill>
                  <a:schemeClr val="dk1"/>
                </a:solidFill>
              </a:rPr>
              <a:t>Los modelos de regresión en IA se utilizan en una amplia variedad de aplicaciones, desde el análisis financiero hasta la medicina. Algunas de las principales aplicaciones de los modelos de regresión en IA incluyen:</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342900" lvl="0" marL="457200" rtl="0" algn="just">
              <a:spcBef>
                <a:spcPts val="0"/>
              </a:spcBef>
              <a:spcAft>
                <a:spcPts val="0"/>
              </a:spcAft>
              <a:buClr>
                <a:schemeClr val="dk1"/>
              </a:buClr>
              <a:buSzPts val="1800"/>
              <a:buChar char="●"/>
            </a:pPr>
            <a:r>
              <a:rPr b="1" lang="es" sz="1800">
                <a:solidFill>
                  <a:schemeClr val="dk1"/>
                </a:solidFill>
              </a:rPr>
              <a:t>Análisis financiero:</a:t>
            </a:r>
            <a:r>
              <a:rPr lang="es" sz="1800">
                <a:solidFill>
                  <a:schemeClr val="dk1"/>
                </a:solidFill>
              </a:rPr>
              <a:t> Los modelos de regresión en IA se utilizan en el análisis financiero para predecir el precio de las acciones, la rentabilidad de los fondos de inversión, y otras variables financieras.</a:t>
            </a:r>
            <a:endParaRPr sz="1800">
              <a:solidFill>
                <a:schemeClr val="dk1"/>
              </a:solidFill>
            </a:endParaRPr>
          </a:p>
          <a:p>
            <a:pPr indent="0" lvl="0" marL="457200" rtl="0" algn="just">
              <a:spcBef>
                <a:spcPts val="0"/>
              </a:spcBef>
              <a:spcAft>
                <a:spcPts val="0"/>
              </a:spcAft>
              <a:buNone/>
            </a:pPr>
            <a:r>
              <a:t/>
            </a:r>
            <a:endParaRPr sz="1800">
              <a:solidFill>
                <a:schemeClr val="dk1"/>
              </a:solidFill>
            </a:endParaRPr>
          </a:p>
          <a:p>
            <a:pPr indent="-342900" lvl="0" marL="457200" rtl="0" algn="just">
              <a:spcBef>
                <a:spcPts val="0"/>
              </a:spcBef>
              <a:spcAft>
                <a:spcPts val="0"/>
              </a:spcAft>
              <a:buClr>
                <a:schemeClr val="dk1"/>
              </a:buClr>
              <a:buSzPts val="1800"/>
              <a:buChar char="●"/>
            </a:pPr>
            <a:r>
              <a:rPr b="1" lang="es" sz="1800">
                <a:solidFill>
                  <a:schemeClr val="dk1"/>
                </a:solidFill>
              </a:rPr>
              <a:t>Medicina:</a:t>
            </a:r>
            <a:r>
              <a:rPr lang="es" sz="1800">
                <a:solidFill>
                  <a:schemeClr val="dk1"/>
                </a:solidFill>
              </a:rPr>
              <a:t> Los modelos de regresión en IA se utilizan en la medicina para analizar grandes cantidades de datos médicos y predecir el pronóstico de enfermedades, el resultado de tratamientos, y otros aspectos relacionados con la salud.</a:t>
            </a:r>
            <a:endParaRPr sz="1800">
              <a:solidFill>
                <a:schemeClr val="dk1"/>
              </a:solidFill>
            </a:endParaRPr>
          </a:p>
          <a:p>
            <a:pPr indent="0" lvl="0" marL="0" rtl="0" algn="just">
              <a:spcBef>
                <a:spcPts val="0"/>
              </a:spcBef>
              <a:spcAft>
                <a:spcPts val="0"/>
              </a:spcAft>
              <a:buNone/>
            </a:pPr>
            <a:r>
              <a:t/>
            </a:r>
            <a:endParaRPr sz="18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id="207" name="Google Shape;207;g301c3c48f2b_0_226"/>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208" name="Google Shape;208;g301c3c48f2b_0_226"/>
          <p:cNvSpPr txBox="1"/>
          <p:nvPr/>
        </p:nvSpPr>
        <p:spPr>
          <a:xfrm>
            <a:off x="7775" y="823575"/>
            <a:ext cx="9136200" cy="4257900"/>
          </a:xfrm>
          <a:prstGeom prst="rect">
            <a:avLst/>
          </a:prstGeom>
          <a:noFill/>
          <a:ln>
            <a:noFill/>
          </a:ln>
        </p:spPr>
        <p:txBody>
          <a:bodyPr anchorCtr="0" anchor="t" bIns="91425" lIns="91425" spcFirstLastPara="1" rIns="91425" wrap="square" tIns="91425">
            <a:noAutofit/>
          </a:bodyPr>
          <a:lstStyle/>
          <a:p>
            <a:pPr indent="-342900" lvl="0" marL="457200" rtl="0" algn="just">
              <a:spcBef>
                <a:spcPts val="0"/>
              </a:spcBef>
              <a:spcAft>
                <a:spcPts val="0"/>
              </a:spcAft>
              <a:buClr>
                <a:schemeClr val="dk1"/>
              </a:buClr>
              <a:buSzPts val="1800"/>
              <a:buChar char="●"/>
            </a:pPr>
            <a:r>
              <a:rPr b="1" lang="es" sz="1800">
                <a:solidFill>
                  <a:schemeClr val="dk1"/>
                </a:solidFill>
              </a:rPr>
              <a:t>Reconocimiento de patrones:</a:t>
            </a:r>
            <a:r>
              <a:rPr lang="es" sz="1800">
                <a:solidFill>
                  <a:schemeClr val="dk1"/>
                </a:solidFill>
              </a:rPr>
              <a:t> Los modelos de regresión en IA se utilizan en el reconocimiento de patrones para identificar patrones en conjuntos de datos y utilizarlos para tomar decisiones o realizar acciones.</a:t>
            </a:r>
            <a:endParaRPr sz="1800">
              <a:solidFill>
                <a:schemeClr val="dk1"/>
              </a:solidFill>
            </a:endParaRPr>
          </a:p>
          <a:p>
            <a:pPr indent="0" lvl="0" marL="457200" rtl="0" algn="just">
              <a:spcBef>
                <a:spcPts val="0"/>
              </a:spcBef>
              <a:spcAft>
                <a:spcPts val="0"/>
              </a:spcAft>
              <a:buNone/>
            </a:pPr>
            <a:r>
              <a:t/>
            </a:r>
            <a:endParaRPr sz="1800">
              <a:solidFill>
                <a:schemeClr val="dk1"/>
              </a:solidFill>
            </a:endParaRPr>
          </a:p>
          <a:p>
            <a:pPr indent="-342900" lvl="0" marL="457200" rtl="0" algn="just">
              <a:spcBef>
                <a:spcPts val="0"/>
              </a:spcBef>
              <a:spcAft>
                <a:spcPts val="0"/>
              </a:spcAft>
              <a:buClr>
                <a:schemeClr val="dk1"/>
              </a:buClr>
              <a:buSzPts val="1800"/>
              <a:buChar char="●"/>
            </a:pPr>
            <a:r>
              <a:rPr b="1" lang="es" sz="1800">
                <a:solidFill>
                  <a:schemeClr val="dk1"/>
                </a:solidFill>
              </a:rPr>
              <a:t>Sistemas de recomendación:</a:t>
            </a:r>
            <a:r>
              <a:rPr lang="es" sz="1800">
                <a:solidFill>
                  <a:schemeClr val="dk1"/>
                </a:solidFill>
              </a:rPr>
              <a:t> Los modelos de regresión en IA se utilizan en los sistemas de recomendación para analizar las preferencias y comportamientos de los usuarios y recomendar contenido, productos, o servicios que puedan interesarles.</a:t>
            </a:r>
            <a:endParaRPr sz="1800">
              <a:solidFill>
                <a:schemeClr val="dk1"/>
              </a:solidFill>
            </a:endParaRPr>
          </a:p>
          <a:p>
            <a:pPr indent="0" lvl="0" marL="457200" rtl="0" algn="just">
              <a:spcBef>
                <a:spcPts val="0"/>
              </a:spcBef>
              <a:spcAft>
                <a:spcPts val="0"/>
              </a:spcAft>
              <a:buNone/>
            </a:pPr>
            <a:r>
              <a:t/>
            </a:r>
            <a:endParaRPr sz="1800">
              <a:solidFill>
                <a:schemeClr val="dk1"/>
              </a:solidFill>
            </a:endParaRPr>
          </a:p>
          <a:p>
            <a:pPr indent="-342900" lvl="0" marL="457200" rtl="0" algn="just">
              <a:spcBef>
                <a:spcPts val="0"/>
              </a:spcBef>
              <a:spcAft>
                <a:spcPts val="0"/>
              </a:spcAft>
              <a:buClr>
                <a:schemeClr val="dk1"/>
              </a:buClr>
              <a:buSzPts val="1800"/>
              <a:buChar char="●"/>
            </a:pPr>
            <a:r>
              <a:rPr b="1" lang="es" sz="1800">
                <a:solidFill>
                  <a:schemeClr val="dk1"/>
                </a:solidFill>
              </a:rPr>
              <a:t>Análisis de datos:</a:t>
            </a:r>
            <a:r>
              <a:rPr lang="es" sz="1800">
                <a:solidFill>
                  <a:schemeClr val="dk1"/>
                </a:solidFill>
              </a:rPr>
              <a:t> Los modelos de regresión en IA se utilizan en el análisis de datos para extraer información valiosa de grandes conjuntos de datos y utilizarla para tomar decisiones informadas.</a:t>
            </a:r>
            <a:endParaRPr sz="1800">
              <a:solidFill>
                <a:schemeClr val="dk1"/>
              </a:solidFill>
            </a:endParaRPr>
          </a:p>
          <a:p>
            <a:pPr indent="0" lvl="0" marL="457200" rtl="0" algn="just">
              <a:spcBef>
                <a:spcPts val="0"/>
              </a:spcBef>
              <a:spcAft>
                <a:spcPts val="0"/>
              </a:spcAft>
              <a:buNone/>
            </a:pPr>
            <a:r>
              <a:t/>
            </a:r>
            <a:endParaRPr sz="18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