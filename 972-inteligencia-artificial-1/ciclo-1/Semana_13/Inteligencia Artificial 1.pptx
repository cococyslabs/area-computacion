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7" roundtripDataSignature="AMtx7mhVhg01sMBMnrVT9C7QnaXEtm1FC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63FA3CC-70C8-4C86-BE38-095C46D7B5F5}">
  <a:tblStyle styleId="{863FA3CC-70C8-4C86-BE38-095C46D7B5F5}"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7"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1f513d268b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g1f513d268b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1f7d42c1871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g1f7d42c1871_1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1f7d42c1871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g1f7d42c1871_1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1f7d42c1871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g1f7d42c1871_1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f7d42c1871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g1f7d42c1871_1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f7d42c1871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g1f7d42c1871_1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f7d42c1871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g1f7d42c1871_1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1f7d42c1871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g1f7d42c1871_1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f7d42c1871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g1f7d42c1871_1_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ff22a25f1c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g1ff22a25f1c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ff22a25f1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g1ff22a25f1c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ff22a25f1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g1ff22a25f1c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1ff22a25f1c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g1ff22a25f1c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1ff22a25f1c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g1ff22a25f1c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ff22a25f1c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g1ff22a25f1c_0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d4f6b5dbe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g2d4f6b5dbe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d4f6b5dbe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g2d4f6b5dbef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d4f6b5dbe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g2d4f6b5dbef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d4f6b5dbef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g2d4f6b5dbef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 name="Google Shape;11;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 name="Google Shape;12;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graphicFrame>
        <p:nvGraphicFramePr>
          <p:cNvPr id="55" name="Google Shape;55;p1"/>
          <p:cNvGraphicFramePr/>
          <p:nvPr/>
        </p:nvGraphicFramePr>
        <p:xfrm>
          <a:off x="5328200" y="970025"/>
          <a:ext cx="3000000" cy="3000000"/>
        </p:xfrm>
        <a:graphic>
          <a:graphicData uri="http://schemas.openxmlformats.org/drawingml/2006/table">
            <a:tbl>
              <a:tblPr>
                <a:noFill/>
                <a:tableStyleId>{863FA3CC-70C8-4C86-BE38-095C46D7B5F5}</a:tableStyleId>
              </a:tblPr>
              <a:tblGrid>
                <a:gridCol w="1518200"/>
                <a:gridCol w="2172375"/>
              </a:tblGrid>
              <a:tr h="32245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Día, Fecha:</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a:t>Martes</a:t>
                      </a:r>
                      <a:r>
                        <a:rPr lang="es" sz="1400" u="none" cap="none" strike="noStrike"/>
                        <a:t>, 29/10/2024</a:t>
                      </a:r>
                      <a:endParaRPr sz="1400" u="none" cap="none" strike="noStrike"/>
                    </a:p>
                  </a:txBody>
                  <a:tcPr marT="91425" marB="91425" marR="91425" marL="91425"/>
                </a:tc>
              </a:tr>
              <a:tr h="36310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Hora de inicio:</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17:20</a:t>
                      </a:r>
                      <a:endParaRPr sz="1400" u="none" cap="none" strike="noStrike"/>
                    </a:p>
                  </a:txBody>
                  <a:tcPr marT="91425" marB="91425" marR="91425" marL="91425"/>
                </a:tc>
              </a:tr>
            </a:tbl>
          </a:graphicData>
        </a:graphic>
      </p:graphicFrame>
      <p:sp>
        <p:nvSpPr>
          <p:cNvPr id="56" name="Google Shape;56;p1"/>
          <p:cNvSpPr txBox="1"/>
          <p:nvPr/>
        </p:nvSpPr>
        <p:spPr>
          <a:xfrm>
            <a:off x="3814900" y="2118425"/>
            <a:ext cx="52038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i="0" lang="es" sz="2500" u="none" cap="none" strike="noStrike">
                <a:solidFill>
                  <a:srgbClr val="000000"/>
                </a:solidFill>
              </a:rPr>
              <a:t>Inteligencia </a:t>
            </a:r>
            <a:r>
              <a:rPr b="1" lang="es" sz="2500"/>
              <a:t>A</a:t>
            </a:r>
            <a:r>
              <a:rPr b="1" i="0" lang="es" sz="2500" u="none" cap="none" strike="noStrike">
                <a:solidFill>
                  <a:srgbClr val="000000"/>
                </a:solidFill>
              </a:rPr>
              <a:t>rtificial 1 Sección A</a:t>
            </a:r>
            <a:endParaRPr b="1" i="0" sz="2500" u="none" cap="none" strike="noStrike">
              <a:solidFill>
                <a:srgbClr val="000000"/>
              </a:solidFill>
            </a:endParaRPr>
          </a:p>
        </p:txBody>
      </p:sp>
      <p:sp>
        <p:nvSpPr>
          <p:cNvPr id="57" name="Google Shape;57;p1"/>
          <p:cNvSpPr txBox="1"/>
          <p:nvPr/>
        </p:nvSpPr>
        <p:spPr>
          <a:xfrm>
            <a:off x="53850" y="4587825"/>
            <a:ext cx="37998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s" sz="2000" u="none" cap="none" strike="noStrike">
                <a:solidFill>
                  <a:srgbClr val="000000"/>
                </a:solidFill>
              </a:rPr>
              <a:t>Erick Eden Sandoval Ramirez</a:t>
            </a:r>
            <a:endParaRPr b="1" i="0" sz="2000" u="none" cap="none" strike="noStrike">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pic>
        <p:nvPicPr>
          <p:cNvPr id="62" name="Google Shape;62;g1f513d268b4_0_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63" name="Google Shape;63;g1f513d268b4_0_0"/>
          <p:cNvSpPr txBox="1"/>
          <p:nvPr/>
        </p:nvSpPr>
        <p:spPr>
          <a:xfrm>
            <a:off x="2489775" y="730550"/>
            <a:ext cx="4025400" cy="52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Representación del conocimiento</a:t>
            </a:r>
            <a:endParaRPr b="1" i="0" sz="1800" u="none" cap="none" strike="noStrike">
              <a:solidFill>
                <a:schemeClr val="dk1"/>
              </a:solidFill>
              <a:latin typeface="Arial"/>
              <a:ea typeface="Arial"/>
              <a:cs typeface="Arial"/>
              <a:sym typeface="Arial"/>
            </a:endParaRPr>
          </a:p>
        </p:txBody>
      </p:sp>
      <p:sp>
        <p:nvSpPr>
          <p:cNvPr id="64" name="Google Shape;64;g1f513d268b4_0_0"/>
          <p:cNvSpPr txBox="1"/>
          <p:nvPr/>
        </p:nvSpPr>
        <p:spPr>
          <a:xfrm>
            <a:off x="424900" y="1379050"/>
            <a:ext cx="8251800" cy="26166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Arial"/>
                <a:ea typeface="Arial"/>
                <a:cs typeface="Arial"/>
                <a:sym typeface="Arial"/>
              </a:rPr>
              <a:t>Los seres humanos reciben pensamiento, razonamiento,ideas, interpretación y comprensión de alto nivel de conocimiento. El conocimiento que adquirimos nos ayuda a realizar diferentes actividades en el mundo real. </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0" i="0" lang="es" sz="1400" u="none" cap="none" strike="noStrike">
                <a:solidFill>
                  <a:schemeClr val="dk1"/>
                </a:solidFill>
                <a:latin typeface="Arial"/>
                <a:ea typeface="Arial"/>
                <a:cs typeface="Arial"/>
                <a:sym typeface="Arial"/>
              </a:rPr>
              <a:t>Recientemente, el uso de sistemas y dispositivos impulsados ​​por IA está aumentando debido a su eficiencia y precisión en la realización de tareas complejas, ahora, el problema es que, si bien los humanos han adquirido muchos niveles y tipos de conocimiento en sus vidas, las máquinas enfrentan dificultades para interpretar el mismo conocimiento.Por lo tanto, se utiliza la representación del conocimiento, esto resolverá problemas complejos en nuestro mundo que son difíciles y requieren mucho tiempo para que los humanos los aborden.</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g1f7d42c1871_1_4"/>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70" name="Google Shape;70;g1f7d42c1871_1_4"/>
          <p:cNvSpPr txBox="1"/>
          <p:nvPr/>
        </p:nvSpPr>
        <p:spPr>
          <a:xfrm>
            <a:off x="949200" y="723100"/>
            <a:ext cx="7245600" cy="52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¿Qué es la representación del conocimiento y el razonamiento?</a:t>
            </a:r>
            <a:endParaRPr b="1" i="0" sz="1800" u="none" cap="none" strike="noStrike">
              <a:solidFill>
                <a:schemeClr val="dk1"/>
              </a:solidFill>
              <a:latin typeface="Arial"/>
              <a:ea typeface="Arial"/>
              <a:cs typeface="Arial"/>
              <a:sym typeface="Arial"/>
            </a:endParaRPr>
          </a:p>
        </p:txBody>
      </p:sp>
      <p:sp>
        <p:nvSpPr>
          <p:cNvPr id="71" name="Google Shape;71;g1f7d42c1871_1_4"/>
          <p:cNvSpPr txBox="1"/>
          <p:nvPr/>
        </p:nvSpPr>
        <p:spPr>
          <a:xfrm>
            <a:off x="424900" y="1379050"/>
            <a:ext cx="8251800" cy="35706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chemeClr val="dk1"/>
              </a:buClr>
              <a:buSzPts val="1100"/>
              <a:buFont typeface="Arial"/>
              <a:buNone/>
            </a:pPr>
            <a:r>
              <a:rPr b="0" i="0" lang="es" sz="1400" u="none" cap="none" strike="noStrike">
                <a:solidFill>
                  <a:schemeClr val="dk1"/>
                </a:solidFill>
                <a:latin typeface="Arial"/>
                <a:ea typeface="Arial"/>
                <a:cs typeface="Arial"/>
                <a:sym typeface="Arial"/>
              </a:rPr>
              <a:t>La representación del conocimiento y el razonamiento (KR&amp;R) es una parte de inteligencia artificial eso es únicamente dedicado a representar información sobre el mundo real de tal forma que una computadora pueda comprenderla y actuar en consecuencia. Esto lleva a resolver problemas complejos, como mantener un diálogo en lenguaje natural,diagnosticar una condición médica crítica, etc. </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0" i="0" lang="es" sz="1400" u="none" cap="none" strike="noStrike">
                <a:solidFill>
                  <a:schemeClr val="dk1"/>
                </a:solidFill>
                <a:latin typeface="Arial"/>
                <a:ea typeface="Arial"/>
                <a:cs typeface="Arial"/>
                <a:sym typeface="Arial"/>
              </a:rPr>
              <a:t>La representación del conocimiento encuentra su camino desde la psicología sobre cómo un ser humano es capaz de resolver problemas y representar el conocimiento para diseñar formalismos,esto permitirá que la IA comprenda cómo un ser humano simplifica los sistemas complejos mientras construye y diseña.</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g1f7d42c1871_1_1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77" name="Google Shape;77;g1f7d42c1871_1_10"/>
          <p:cNvSpPr txBox="1"/>
          <p:nvPr/>
        </p:nvSpPr>
        <p:spPr>
          <a:xfrm>
            <a:off x="424900" y="1379050"/>
            <a:ext cx="8251800" cy="35706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chemeClr val="dk1"/>
              </a:buClr>
              <a:buSzPts val="1100"/>
              <a:buFont typeface="Arial"/>
              <a:buNone/>
            </a:pPr>
            <a:r>
              <a:rPr b="0" i="0" lang="es" sz="1400" u="none" cap="none" strike="noStrike">
                <a:solidFill>
                  <a:schemeClr val="dk1"/>
                </a:solidFill>
                <a:latin typeface="Arial"/>
                <a:ea typeface="Arial"/>
                <a:cs typeface="Arial"/>
                <a:sym typeface="Arial"/>
              </a:rPr>
              <a:t>El primer trabajo se centró en solucionadores de problemas generales, desarrollado por Herbert A. Simon y Allen Newell en 1959. Estos sistemas utilizaban estructura de datos para la descomposición. El sistema primero comienza con una meta y luego la descompone en submetas. Luego, el sistema establece algunas líneas de construcción y estrategias que pueden atender a cada submeta. </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0" i="0" lang="es" sz="1400" u="none" cap="none" strike="noStrike">
                <a:solidFill>
                  <a:schemeClr val="dk1"/>
                </a:solidFill>
                <a:latin typeface="Arial"/>
                <a:ea typeface="Arial"/>
                <a:cs typeface="Arial"/>
                <a:sym typeface="Arial"/>
              </a:rPr>
              <a:t>Estas se condujo a un proceso cognitivo. revsolución en psicología humana y una fase de la IA que se centró en la representación del conocimiento. Esto dio lugar a sistemas expertos en las décadas de 1970 y 1980,  lenguajes marco, sistemas de producción y más, la IA cambió su enfoque principal hacia sistemas expertos que posiblemente podrían igualar la competencia humana, como el diagnóstico médico. </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0" i="0" lang="es" sz="1400" u="none" cap="none" strike="noStrike">
                <a:solidFill>
                  <a:schemeClr val="dk1"/>
                </a:solidFill>
                <a:latin typeface="Arial"/>
                <a:ea typeface="Arial"/>
                <a:cs typeface="Arial"/>
                <a:sym typeface="Arial"/>
              </a:rPr>
              <a:t>Además, la representación del conocimiento permite que los sistemas informáticos comprendan y utilicen el conocimiento para resolver problemas del mundo real. También define una forma a través de la cual puede representar el conocimiento y el razonamiento en IA.</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pic>
        <p:nvPicPr>
          <p:cNvPr id="82" name="Google Shape;82;g1f7d42c1871_1_16"/>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83" name="Google Shape;83;g1f7d42c1871_1_16"/>
          <p:cNvSpPr txBox="1"/>
          <p:nvPr/>
        </p:nvSpPr>
        <p:spPr>
          <a:xfrm>
            <a:off x="827425" y="767800"/>
            <a:ext cx="7402200" cy="55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¿Qué conocimiento debe representarse en los sistemas de IA?</a:t>
            </a:r>
            <a:endParaRPr b="1" i="0" sz="1800" u="none" cap="none" strike="noStrike">
              <a:solidFill>
                <a:schemeClr val="dk1"/>
              </a:solidFill>
              <a:latin typeface="Arial"/>
              <a:ea typeface="Arial"/>
              <a:cs typeface="Arial"/>
              <a:sym typeface="Arial"/>
            </a:endParaRPr>
          </a:p>
        </p:txBody>
      </p:sp>
      <p:sp>
        <p:nvSpPr>
          <p:cNvPr id="84" name="Google Shape;84;g1f7d42c1871_1_16"/>
          <p:cNvSpPr txBox="1"/>
          <p:nvPr/>
        </p:nvSpPr>
        <p:spPr>
          <a:xfrm>
            <a:off x="67100" y="1326875"/>
            <a:ext cx="9034800" cy="37719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Objeto:</a:t>
            </a:r>
            <a:r>
              <a:rPr b="0" i="0" lang="es" sz="1400" u="none" cap="none" strike="noStrike">
                <a:solidFill>
                  <a:schemeClr val="dk1"/>
                </a:solidFill>
                <a:latin typeface="Arial"/>
                <a:ea typeface="Arial"/>
                <a:cs typeface="Arial"/>
                <a:sym typeface="Arial"/>
              </a:rPr>
              <a:t> Los objetos rodean a los humanos constantemente. Por lo tanto, la información sobre esos objetos es esencial y debe ser considerada como un tipo de conocimiento. Por ejemplo, los pianos tienen teclas blancas y negras, los autos tienen ruedas, los autobuses necesitan choferes, los aviones necesitan pilotos, etc. </a:t>
            </a:r>
            <a:endParaRPr b="0" i="0" sz="14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Eventos:</a:t>
            </a:r>
            <a:r>
              <a:rPr b="0" i="0" lang="es" sz="1400" u="none" cap="none" strike="noStrike">
                <a:solidFill>
                  <a:schemeClr val="dk1"/>
                </a:solidFill>
                <a:latin typeface="Arial"/>
                <a:ea typeface="Arial"/>
                <a:cs typeface="Arial"/>
                <a:sym typeface="Arial"/>
              </a:rPr>
              <a:t> Numerosos eventos están teniendo lugar constantemente en el mundo real. Y la percepción humana se basa en los acontecimientos. La IA necesita tener conocimiento de los eventos para actuar. Algunos eventos son hambrunas, el avance de las sociedades, guerras, desastres, logros y más. </a:t>
            </a:r>
            <a:endParaRPr b="0" i="0" sz="14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Actuación:</a:t>
            </a:r>
            <a:r>
              <a:rPr b="0" i="0" lang="es" sz="1400" u="none" cap="none" strike="noStrike">
                <a:solidFill>
                  <a:schemeClr val="dk1"/>
                </a:solidFill>
                <a:latin typeface="Arial"/>
                <a:ea typeface="Arial"/>
                <a:cs typeface="Arial"/>
                <a:sym typeface="Arial"/>
              </a:rPr>
              <a:t> Este conocimiento se ocupa de ciertas acciones de los seres humanos en diversas situaciones. Representa el lado del comportamiento del conocimiento que es bastante esencial para que la IA lo entienda. </a:t>
            </a:r>
            <a:endParaRPr b="0" i="0" sz="14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g1f7d42c1871_1_22"/>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90" name="Google Shape;90;g1f7d42c1871_1_22"/>
          <p:cNvSpPr txBox="1"/>
          <p:nvPr/>
        </p:nvSpPr>
        <p:spPr>
          <a:xfrm>
            <a:off x="22375" y="857250"/>
            <a:ext cx="9079500" cy="42042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Metaconocimiento:</a:t>
            </a:r>
            <a:r>
              <a:rPr b="0" i="0" lang="es" sz="1400" u="none" cap="none" strike="noStrike">
                <a:solidFill>
                  <a:schemeClr val="dk1"/>
                </a:solidFill>
                <a:latin typeface="Arial"/>
                <a:ea typeface="Arial"/>
                <a:cs typeface="Arial"/>
                <a:sym typeface="Arial"/>
              </a:rPr>
              <a:t> Por ejemplo, si miramos alrededor del mundo y resumimos todo el conocimiento que existe, vemos que está dividido principalmente en tres categorías:</a:t>
            </a:r>
            <a:endParaRPr b="0" i="0" sz="1400" u="none" cap="none" strike="noStrike">
              <a:solidFill>
                <a:schemeClr val="dk1"/>
              </a:solidFill>
              <a:latin typeface="Arial"/>
              <a:ea typeface="Arial"/>
              <a:cs typeface="Arial"/>
              <a:sym typeface="Arial"/>
            </a:endParaRPr>
          </a:p>
          <a:p>
            <a:pPr indent="-317500" lvl="0" marL="1371600" marR="0" rtl="0" algn="l">
              <a:lnSpc>
                <a:spcPct val="100000"/>
              </a:lnSpc>
              <a:spcBef>
                <a:spcPts val="0"/>
              </a:spcBef>
              <a:spcAft>
                <a:spcPts val="0"/>
              </a:spcAft>
              <a:buClr>
                <a:schemeClr val="dk1"/>
              </a:buClr>
              <a:buSzPts val="1400"/>
              <a:buFont typeface="Arial"/>
              <a:buAutoNum type="arabicPeriod"/>
            </a:pPr>
            <a:r>
              <a:rPr b="0" i="0" lang="es" sz="1400" u="none" cap="none" strike="noStrike">
                <a:solidFill>
                  <a:schemeClr val="dk1"/>
                </a:solidFill>
                <a:latin typeface="Arial"/>
                <a:ea typeface="Arial"/>
                <a:cs typeface="Arial"/>
                <a:sym typeface="Arial"/>
              </a:rPr>
              <a:t>Lo que ya sabemos</a:t>
            </a:r>
            <a:endParaRPr b="0" i="0" sz="1400" u="none" cap="none" strike="noStrike">
              <a:solidFill>
                <a:schemeClr val="dk1"/>
              </a:solidFill>
              <a:latin typeface="Arial"/>
              <a:ea typeface="Arial"/>
              <a:cs typeface="Arial"/>
              <a:sym typeface="Arial"/>
            </a:endParaRPr>
          </a:p>
          <a:p>
            <a:pPr indent="-317500" lvl="0" marL="1371600" marR="0" rtl="0" algn="l">
              <a:lnSpc>
                <a:spcPct val="100000"/>
              </a:lnSpc>
              <a:spcBef>
                <a:spcPts val="0"/>
              </a:spcBef>
              <a:spcAft>
                <a:spcPts val="0"/>
              </a:spcAft>
              <a:buClr>
                <a:schemeClr val="dk1"/>
              </a:buClr>
              <a:buSzPts val="1400"/>
              <a:buFont typeface="Arial"/>
              <a:buAutoNum type="arabicPeriod"/>
            </a:pPr>
            <a:r>
              <a:rPr b="0" i="0" lang="es" sz="1400" u="none" cap="none" strike="noStrike">
                <a:solidFill>
                  <a:schemeClr val="dk1"/>
                </a:solidFill>
                <a:latin typeface="Arial"/>
                <a:ea typeface="Arial"/>
                <a:cs typeface="Arial"/>
                <a:sym typeface="Arial"/>
              </a:rPr>
              <a:t>Lo que sabemos es básico y cosas que no sabemos completamente</a:t>
            </a:r>
            <a:endParaRPr b="0" i="0" sz="1400" u="none" cap="none" strike="noStrike">
              <a:solidFill>
                <a:schemeClr val="dk1"/>
              </a:solidFill>
              <a:latin typeface="Arial"/>
              <a:ea typeface="Arial"/>
              <a:cs typeface="Arial"/>
              <a:sym typeface="Arial"/>
            </a:endParaRPr>
          </a:p>
          <a:p>
            <a:pPr indent="-317500" lvl="0" marL="1371600" marR="0" rtl="0" algn="l">
              <a:lnSpc>
                <a:spcPct val="100000"/>
              </a:lnSpc>
              <a:spcBef>
                <a:spcPts val="0"/>
              </a:spcBef>
              <a:spcAft>
                <a:spcPts val="0"/>
              </a:spcAft>
              <a:buClr>
                <a:schemeClr val="dk1"/>
              </a:buClr>
              <a:buSzPts val="1400"/>
              <a:buFont typeface="Arial"/>
              <a:buAutoNum type="arabicPeriod"/>
            </a:pPr>
            <a:r>
              <a:rPr b="0" i="0" lang="es" sz="1400" u="none" cap="none" strike="noStrike">
                <a:solidFill>
                  <a:schemeClr val="dk1"/>
                </a:solidFill>
                <a:latin typeface="Arial"/>
                <a:ea typeface="Arial"/>
                <a:cs typeface="Arial"/>
                <a:sym typeface="Arial"/>
              </a:rPr>
              <a:t>Lo que aún no sabemos</a:t>
            </a:r>
            <a:endParaRPr b="0" i="0" sz="1400" u="none" cap="none" strike="noStrike">
              <a:solidFill>
                <a:schemeClr val="dk1"/>
              </a:solidFill>
              <a:latin typeface="Arial"/>
              <a:ea typeface="Arial"/>
              <a:cs typeface="Arial"/>
              <a:sym typeface="Arial"/>
            </a:endParaRPr>
          </a:p>
          <a:p>
            <a:pPr indent="-317500" lvl="0" marL="1371600" marR="0" rtl="0" algn="l">
              <a:lnSpc>
                <a:spcPct val="100000"/>
              </a:lnSpc>
              <a:spcBef>
                <a:spcPts val="0"/>
              </a:spcBef>
              <a:spcAft>
                <a:spcPts val="0"/>
              </a:spcAft>
              <a:buClr>
                <a:schemeClr val="dk1"/>
              </a:buClr>
              <a:buSzPts val="1400"/>
              <a:buFont typeface="Arial"/>
              <a:buAutoNum type="arabicPeriod"/>
            </a:pPr>
            <a:r>
              <a:rPr b="0" i="0" lang="es" sz="1400" u="none" cap="none" strike="noStrike">
                <a:solidFill>
                  <a:schemeClr val="dk1"/>
                </a:solidFill>
                <a:latin typeface="Arial"/>
                <a:ea typeface="Arial"/>
                <a:cs typeface="Arial"/>
                <a:sym typeface="Arial"/>
              </a:rPr>
              <a:t>El meta conocimiento se ocupa del primero, es decir, lo que sabemos y permite que la IA perciba lo mismo. </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Hechos:</a:t>
            </a:r>
            <a:r>
              <a:rPr b="0" i="0" lang="es" sz="1400" u="none" cap="none" strike="noStrike">
                <a:solidFill>
                  <a:schemeClr val="dk1"/>
                </a:solidFill>
                <a:latin typeface="Arial"/>
                <a:ea typeface="Arial"/>
                <a:cs typeface="Arial"/>
                <a:sym typeface="Arial"/>
              </a:rPr>
              <a:t> Este conocimiento se basa en hechos descripción de nuestro mundo. Por ejemplo, la Tierra no es plana pero tampoco redonda; nuestro sol tiene un apetito voraz, y más. </a:t>
            </a:r>
            <a:endParaRPr b="0" i="0" sz="14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Base de conocimientos:</a:t>
            </a:r>
            <a:r>
              <a:rPr b="0" i="0" lang="es" sz="1400" u="none" cap="none" strike="noStrike">
                <a:solidFill>
                  <a:schemeClr val="dk1"/>
                </a:solidFill>
                <a:latin typeface="Arial"/>
                <a:ea typeface="Arial"/>
                <a:cs typeface="Arial"/>
                <a:sym typeface="Arial"/>
              </a:rPr>
              <a:t> La base de conocimientos es el componente principal de la inteligencia humana. Se refiere a un conjunto de datos o información relevante sobre cualquier campo, descriptiones y más. Por ejemplo, una base de conocimientos sobre el diseño de un modelo de automóvil.</a:t>
            </a:r>
            <a:endParaRPr b="0" i="0" sz="14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g1f7d42c1871_1_28"/>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96" name="Google Shape;96;g1f7d42c1871_1_28"/>
          <p:cNvSpPr txBox="1"/>
          <p:nvPr/>
        </p:nvSpPr>
        <p:spPr>
          <a:xfrm>
            <a:off x="1058500" y="730550"/>
            <a:ext cx="6515100" cy="439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Conexión entre la representación del conocimiento y la IA</a:t>
            </a:r>
            <a:endParaRPr b="1" i="0" sz="1800" u="none" cap="none" strike="noStrike">
              <a:solidFill>
                <a:schemeClr val="dk1"/>
              </a:solidFill>
              <a:latin typeface="Arial"/>
              <a:ea typeface="Arial"/>
              <a:cs typeface="Arial"/>
              <a:sym typeface="Arial"/>
            </a:endParaRPr>
          </a:p>
        </p:txBody>
      </p:sp>
      <p:sp>
        <p:nvSpPr>
          <p:cNvPr id="97" name="Google Shape;97;g1f7d42c1871_1_28"/>
          <p:cNvSpPr txBox="1"/>
          <p:nvPr/>
        </p:nvSpPr>
        <p:spPr>
          <a:xfrm>
            <a:off x="37275" y="1311975"/>
            <a:ext cx="9049500" cy="37272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chemeClr val="dk1"/>
              </a:buClr>
              <a:buSzPts val="1100"/>
              <a:buFont typeface="Arial"/>
              <a:buNone/>
            </a:pPr>
            <a:r>
              <a:rPr b="0" i="0" lang="es" sz="1400" u="none" cap="none" strike="noStrike">
                <a:solidFill>
                  <a:schemeClr val="dk1"/>
                </a:solidFill>
                <a:latin typeface="Arial"/>
                <a:ea typeface="Arial"/>
                <a:cs typeface="Arial"/>
                <a:sym typeface="Arial"/>
              </a:rPr>
              <a:t>El conocimiento juega un papel esencial en la inteligencia, también es responsable de la </a:t>
            </a:r>
            <a:r>
              <a:rPr lang="es">
                <a:solidFill>
                  <a:schemeClr val="dk1"/>
                </a:solidFill>
              </a:rPr>
              <a:t>creación</a:t>
            </a:r>
            <a:r>
              <a:rPr b="0" i="0" lang="es" sz="1400" u="none" cap="none" strike="noStrike">
                <a:solidFill>
                  <a:schemeClr val="dk1"/>
                </a:solidFill>
                <a:latin typeface="Arial"/>
                <a:ea typeface="Arial"/>
                <a:cs typeface="Arial"/>
                <a:sym typeface="Arial"/>
              </a:rPr>
              <a:t> de inteligencia artificial, cuando se necesita expresar un comportamiento inteligente en los agentes de IA, juega un papel necesario. Un agente no puede funcionar correctamente cuando carece de experiencia o conocimiento de ciertos insumos. </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0" i="0" lang="es" sz="1400" u="none" cap="none" strike="noStrike">
                <a:solidFill>
                  <a:schemeClr val="dk1"/>
                </a:solidFill>
                <a:latin typeface="Arial"/>
                <a:ea typeface="Arial"/>
                <a:cs typeface="Arial"/>
                <a:sym typeface="Arial"/>
              </a:rPr>
              <a:t>Por ejemplo, si desea interactuar con una persona pero no puede entender el idioma, es obvio que no puede responder bien y no </a:t>
            </a:r>
            <a:r>
              <a:rPr lang="es">
                <a:solidFill>
                  <a:schemeClr val="dk1"/>
                </a:solidFill>
              </a:rPr>
              <a:t>realizará</a:t>
            </a:r>
            <a:r>
              <a:rPr b="0" i="0" lang="es" sz="1400" u="none" cap="none" strike="noStrike">
                <a:solidFill>
                  <a:schemeClr val="dk1"/>
                </a:solidFill>
                <a:latin typeface="Arial"/>
                <a:ea typeface="Arial"/>
                <a:cs typeface="Arial"/>
                <a:sym typeface="Arial"/>
              </a:rPr>
              <a:t> ninguna acción. Esto funciona igual para el comportamiento inteligente de los agentes. La IA debe tener suficiente conocimiento para llevar a cabo la funcionalidad a medida que un tomador de decisiones descubre el entorno y aplica el conocimiento requerido. </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id="102" name="Google Shape;102;g1f7d42c1871_1_34"/>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03" name="Google Shape;103;g1f7d42c1871_1_34"/>
          <p:cNvSpPr txBox="1"/>
          <p:nvPr/>
        </p:nvSpPr>
        <p:spPr>
          <a:xfrm>
            <a:off x="1386500" y="782700"/>
            <a:ext cx="5285100" cy="42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Tipos de conocimiento representados en la IA</a:t>
            </a:r>
            <a:endParaRPr b="1" i="0" sz="1800" u="none" cap="none" strike="noStrike">
              <a:solidFill>
                <a:schemeClr val="dk1"/>
              </a:solidFill>
              <a:latin typeface="Arial"/>
              <a:ea typeface="Arial"/>
              <a:cs typeface="Arial"/>
              <a:sym typeface="Arial"/>
            </a:endParaRPr>
          </a:p>
        </p:txBody>
      </p:sp>
      <p:sp>
        <p:nvSpPr>
          <p:cNvPr id="104" name="Google Shape;104;g1f7d42c1871_1_34"/>
          <p:cNvSpPr txBox="1"/>
          <p:nvPr/>
        </p:nvSpPr>
        <p:spPr>
          <a:xfrm>
            <a:off x="22375" y="1453600"/>
            <a:ext cx="9121500" cy="36600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Conocimiento declarativo:</a:t>
            </a:r>
            <a:r>
              <a:rPr b="0" i="0" lang="es" sz="1400" u="none" cap="none" strike="noStrike">
                <a:solidFill>
                  <a:schemeClr val="dk1"/>
                </a:solidFill>
                <a:latin typeface="Arial"/>
                <a:ea typeface="Arial"/>
                <a:cs typeface="Arial"/>
                <a:sym typeface="Arial"/>
              </a:rPr>
              <a:t> Representa los objetos, conceptos y hechos que te ayudan a describir el mundo que te rodea. Así, comparte la descripción de algo y expresa oraciones declarativas.</a:t>
            </a:r>
            <a:endParaRPr b="0" i="0" sz="14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Arial"/>
                <a:ea typeface="Arial"/>
                <a:cs typeface="Arial"/>
                <a:sym typeface="Arial"/>
              </a:rPr>
              <a:t> </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Conocimiento procedimental:</a:t>
            </a:r>
            <a:r>
              <a:rPr b="0" i="0" lang="es" sz="1400" u="none" cap="none" strike="noStrike">
                <a:solidFill>
                  <a:schemeClr val="dk1"/>
                </a:solidFill>
                <a:latin typeface="Arial"/>
                <a:ea typeface="Arial"/>
                <a:cs typeface="Arial"/>
                <a:sym typeface="Arial"/>
              </a:rPr>
              <a:t> El conocimiento procedimental es menor en comparación con el conocimiento declarativo. También se conoce como conocimiento imperativo, que es utilizado por robots móviles. Es para declarar la realización de algo. Por ejemplo, con solo un mapa de un edificio, los robots móviles pueden hacer su propio plan. Los robots móviles pueden planear atacar o realizar navegación.</a:t>
            </a:r>
            <a:endParaRPr b="0" i="0" sz="14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g1f7d42c1871_1_4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10" name="Google Shape;110;g1f7d42c1871_1_40"/>
          <p:cNvSpPr txBox="1"/>
          <p:nvPr/>
        </p:nvSpPr>
        <p:spPr>
          <a:xfrm>
            <a:off x="65850" y="849800"/>
            <a:ext cx="9012300" cy="37122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Metaconocimiento:</a:t>
            </a:r>
            <a:r>
              <a:rPr b="0" i="0" lang="es" sz="1400" u="none" cap="none" strike="noStrike">
                <a:solidFill>
                  <a:schemeClr val="dk1"/>
                </a:solidFill>
                <a:latin typeface="Arial"/>
                <a:ea typeface="Arial"/>
                <a:cs typeface="Arial"/>
                <a:sym typeface="Arial"/>
              </a:rPr>
              <a:t> En el campo de la inteligencia artificial, el conocimiento predefinido se conoce como metaconocimiento. Por ejemplo, el estudio del etiquetado, el aprendizaje, planning, etc., entra dentro de este tipo de conocimiento. Este modelo cambia su comportamiento con el tiempo y utiliza otras especificaciones, utiliza varias formas de metaconocimiento, como precisión, evaluación, propósito, fuente, vida útil, confiabilidad, justificación, integridad, consistencia, aplicabilidad y eliminación de ambigüedades.</a:t>
            </a:r>
            <a:endParaRPr b="0" i="0" sz="14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Arial"/>
                <a:ea typeface="Arial"/>
                <a:cs typeface="Arial"/>
                <a:sym typeface="Arial"/>
              </a:rPr>
              <a:t> </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Conocimiento heurístico: </a:t>
            </a:r>
            <a:r>
              <a:rPr b="0" i="0" lang="es" sz="1400" u="none" cap="none" strike="noStrike">
                <a:solidFill>
                  <a:schemeClr val="dk1"/>
                </a:solidFill>
                <a:latin typeface="Arial"/>
                <a:ea typeface="Arial"/>
                <a:cs typeface="Arial"/>
                <a:sym typeface="Arial"/>
              </a:rPr>
              <a:t>Este conocimiento, que también se conoce como conocimiento superficial, sigue el principio de la regla general. Por lo tanto, es altamente eficiente en el process del razonamiento, ya que puede resolver problemas basados ​​en registros pasados ​​o problemas compilados por expertos. Sin embargo, recopila experiencias de problemas pasados ​​y proporciona un mejor enfoque basado en el conocimiento para especificar problemas y tomar medidas. </a:t>
            </a:r>
            <a:endParaRPr b="0" i="0" sz="14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Conocimiento estructural:</a:t>
            </a:r>
            <a:r>
              <a:rPr b="0" i="0" lang="es" sz="1400" u="none" cap="none" strike="noStrike">
                <a:solidFill>
                  <a:schemeClr val="dk1"/>
                </a:solidFill>
                <a:latin typeface="Arial"/>
                <a:ea typeface="Arial"/>
                <a:cs typeface="Arial"/>
                <a:sym typeface="Arial"/>
              </a:rPr>
              <a:t> El conocimiento estructural es el conocimiento más simple y básico que se usa y aplica para resolver problemas complejos. Intenta encontrar una solución efectiva encontrando la relación entre objetos y conceptos. Además, describe la relación entre múltiples conceptos, como parte, tipo o agrupación de algo. </a:t>
            </a:r>
            <a:endParaRPr b="0" i="0" sz="14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id="115" name="Google Shape;115;g1f7d42c1871_1_46"/>
          <p:cNvPicPr preferRelativeResize="0"/>
          <p:nvPr/>
        </p:nvPicPr>
        <p:blipFill rotWithShape="1">
          <a:blip r:embed="rId3">
            <a:alphaModFix amt="62000"/>
          </a:blip>
          <a:srcRect b="0" l="0" r="0" t="0"/>
          <a:stretch/>
        </p:blipFill>
        <p:spPr>
          <a:xfrm>
            <a:off x="8451" y="-42750"/>
            <a:ext cx="9127099" cy="5143501"/>
          </a:xfrm>
          <a:prstGeom prst="rect">
            <a:avLst/>
          </a:prstGeom>
          <a:noFill/>
          <a:ln>
            <a:noFill/>
          </a:ln>
        </p:spPr>
      </p:pic>
      <p:sp>
        <p:nvSpPr>
          <p:cNvPr id="116" name="Google Shape;116;g1f7d42c1871_1_46"/>
          <p:cNvSpPr txBox="1"/>
          <p:nvPr/>
        </p:nvSpPr>
        <p:spPr>
          <a:xfrm>
            <a:off x="1036150" y="901975"/>
            <a:ext cx="6023100" cy="46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Técnicas de Representación del Conocimiento en IA</a:t>
            </a:r>
            <a:endParaRPr b="1" i="0" sz="1800" u="none" cap="none" strike="noStrike">
              <a:solidFill>
                <a:schemeClr val="dk1"/>
              </a:solidFill>
              <a:latin typeface="Arial"/>
              <a:ea typeface="Arial"/>
              <a:cs typeface="Arial"/>
              <a:sym typeface="Arial"/>
            </a:endParaRPr>
          </a:p>
        </p:txBody>
      </p:sp>
      <p:sp>
        <p:nvSpPr>
          <p:cNvPr id="117" name="Google Shape;117;g1f7d42c1871_1_46"/>
          <p:cNvSpPr txBox="1"/>
          <p:nvPr/>
        </p:nvSpPr>
        <p:spPr>
          <a:xfrm>
            <a:off x="8450" y="1310800"/>
            <a:ext cx="9127200" cy="38328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Representación lógica: </a:t>
            </a:r>
            <a:r>
              <a:rPr b="0" i="0" lang="es" sz="1400" u="none" cap="none" strike="noStrike">
                <a:solidFill>
                  <a:schemeClr val="dk1"/>
                </a:solidFill>
                <a:latin typeface="Arial"/>
                <a:ea typeface="Arial"/>
                <a:cs typeface="Arial"/>
                <a:sym typeface="Arial"/>
              </a:rPr>
              <a:t>La representación lógica es la forma básica de representación del conocimiento a las máquinas donde se utiliza una sintaxis definida con reglas básicas. Esta sintaxis no tiene ambigüedad en el significado y trata con preposiciones. Sin embargo, la forma lógica de representación del conocimiento actúa como las reglas de comunicación. Esta es la razón por la que se puede utilizar para representar hechos a las máquinas.</a:t>
            </a:r>
            <a:endParaRPr b="0" i="0" sz="14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317500" lvl="0" marL="914400" marR="0" rtl="0" algn="just">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Lógica proposicional:</a:t>
            </a:r>
            <a:r>
              <a:rPr b="0" i="0" lang="es" sz="1400" u="none" cap="none" strike="noStrike">
                <a:solidFill>
                  <a:schemeClr val="dk1"/>
                </a:solidFill>
                <a:latin typeface="Arial"/>
                <a:ea typeface="Arial"/>
                <a:cs typeface="Arial"/>
                <a:sym typeface="Arial"/>
              </a:rPr>
              <a:t> La lógica proposicional también se conoce como Lógica de mención o cálculo proposicional que funciona en un booleano, lo que significa un método de Verdadero o Falso.</a:t>
            </a:r>
            <a:endParaRPr b="0" i="0" sz="1400" u="none" cap="none" strike="noStrike">
              <a:solidFill>
                <a:schemeClr val="dk1"/>
              </a:solidFill>
              <a:latin typeface="Arial"/>
              <a:ea typeface="Arial"/>
              <a:cs typeface="Arial"/>
              <a:sym typeface="Arial"/>
            </a:endParaRPr>
          </a:p>
          <a:p>
            <a:pPr indent="-317500" lvl="0" marL="914400" marR="0" rtl="0" algn="just">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Lógica de primer orden:</a:t>
            </a:r>
            <a:r>
              <a:rPr b="0" i="0" lang="es" sz="1400" u="none" cap="none" strike="noStrike">
                <a:solidFill>
                  <a:schemeClr val="dk1"/>
                </a:solidFill>
                <a:latin typeface="Arial"/>
                <a:ea typeface="Arial"/>
                <a:cs typeface="Arial"/>
                <a:sym typeface="Arial"/>
              </a:rPr>
              <a:t> La lógica de primer orden es un tipo de representación lógica del conocimiento que también se puede denominar predicción de primer orden. Cálculo Lógico (FOPL). Esta representación del conocimiento lógico representa la predicción y objetos en cuantificadores. Es un modelo avanzado de lógica proposicional.</a:t>
            </a:r>
            <a:endParaRPr b="0" i="0" sz="1400" u="none" cap="none" strike="noStrike">
              <a:solidFill>
                <a:schemeClr val="dk1"/>
              </a:solidFill>
              <a:latin typeface="Arial"/>
              <a:ea typeface="Arial"/>
              <a:cs typeface="Arial"/>
              <a:sym typeface="Arial"/>
            </a:endParaRPr>
          </a:p>
          <a:p>
            <a:pPr indent="0" lvl="0" marL="18288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Arial"/>
                <a:ea typeface="Arial"/>
                <a:cs typeface="Arial"/>
                <a:sym typeface="Arial"/>
              </a:rPr>
              <a:t>Esta forma de representación del conocimiento se parece a la mayoría de los lenguajes de programación en los que usa la semántica para enviar información. Es una forma muy lógica de resolver problemas. Sin embargo, el principal inconveniente de este método es el carácter estricto de la representación. En general, es difícil de ejecutar y, a veces, no muy eficiente.</a:t>
            </a:r>
            <a:endParaRPr b="0" i="0" sz="14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id="122" name="Google Shape;122;g1ff22a25f1c_0_2"/>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23" name="Google Shape;123;g1ff22a25f1c_0_2"/>
          <p:cNvSpPr txBox="1"/>
          <p:nvPr/>
        </p:nvSpPr>
        <p:spPr>
          <a:xfrm>
            <a:off x="8500" y="973425"/>
            <a:ext cx="9127200" cy="4084500"/>
          </a:xfrm>
          <a:prstGeom prst="rect">
            <a:avLst/>
          </a:prstGeom>
          <a:noFill/>
          <a:ln>
            <a:noFill/>
          </a:ln>
        </p:spPr>
        <p:txBody>
          <a:bodyPr anchorCtr="0" anchor="t" bIns="91425" lIns="91425" spcFirstLastPara="1" rIns="91425" wrap="square" tIns="91425">
            <a:noAutofit/>
          </a:bodyPr>
          <a:lstStyle/>
          <a:p>
            <a:pPr indent="-317500" lvl="0" marL="457200" marR="0" rtl="0" algn="just">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Redes semántica: </a:t>
            </a:r>
            <a:r>
              <a:rPr b="0" i="0" lang="es" sz="1400" u="none" cap="none" strike="noStrike">
                <a:solidFill>
                  <a:schemeClr val="dk1"/>
                </a:solidFill>
                <a:latin typeface="Arial"/>
                <a:ea typeface="Arial"/>
                <a:cs typeface="Arial"/>
                <a:sym typeface="Arial"/>
              </a:rPr>
              <a:t>Una representación gráfica, en este tipo de representación del conocimiento, lleva los objetos conectados que se utilizan con la red de datos. Las redes semánticas incluyen arcos/bordes (conexiones) y nodos/bloques (objetos) que describen la conexión entre los objetos.Esta es una alternativa a la predicción de primer orden. Forma de representación de Cálculo Lógico (FOPL). Las relaciones en las redes semánticas son de dos tipos:</a:t>
            </a:r>
            <a:endParaRPr b="0" i="0" sz="1400" u="none" cap="none" strike="noStrike">
              <a:solidFill>
                <a:schemeClr val="dk1"/>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317500" lvl="0" marL="1371600" marR="0" rtl="0" algn="just">
              <a:lnSpc>
                <a:spcPct val="100000"/>
              </a:lnSpc>
              <a:spcBef>
                <a:spcPts val="0"/>
              </a:spcBef>
              <a:spcAft>
                <a:spcPts val="0"/>
              </a:spcAft>
              <a:buClr>
                <a:schemeClr val="dk1"/>
              </a:buClr>
              <a:buSzPts val="1400"/>
              <a:buFont typeface="Arial"/>
              <a:buChar char="➢"/>
            </a:pPr>
            <a:r>
              <a:rPr b="0" i="0" lang="es" sz="1400" u="none" cap="none" strike="noStrike">
                <a:solidFill>
                  <a:schemeClr val="dk1"/>
                </a:solidFill>
                <a:latin typeface="Arial"/>
                <a:ea typeface="Arial"/>
                <a:cs typeface="Arial"/>
                <a:sym typeface="Arial"/>
              </a:rPr>
              <a:t>ES UN</a:t>
            </a:r>
            <a:endParaRPr b="0" i="0" sz="1400" u="none" cap="none" strike="noStrike">
              <a:solidFill>
                <a:schemeClr val="dk1"/>
              </a:solidFill>
              <a:latin typeface="Arial"/>
              <a:ea typeface="Arial"/>
              <a:cs typeface="Arial"/>
              <a:sym typeface="Arial"/>
            </a:endParaRPr>
          </a:p>
          <a:p>
            <a:pPr indent="-317500" lvl="0" marL="1371600" marR="0" rtl="0" algn="just">
              <a:lnSpc>
                <a:spcPct val="100000"/>
              </a:lnSpc>
              <a:spcBef>
                <a:spcPts val="0"/>
              </a:spcBef>
              <a:spcAft>
                <a:spcPts val="0"/>
              </a:spcAft>
              <a:buClr>
                <a:schemeClr val="dk1"/>
              </a:buClr>
              <a:buSzPts val="1400"/>
              <a:buFont typeface="Arial"/>
              <a:buChar char="➢"/>
            </a:pPr>
            <a:r>
              <a:rPr b="0" i="0" lang="es" sz="1400" u="none" cap="none" strike="noStrike">
                <a:solidFill>
                  <a:schemeClr val="dk1"/>
                </a:solidFill>
                <a:latin typeface="Arial"/>
                <a:ea typeface="Arial"/>
                <a:cs typeface="Arial"/>
                <a:sym typeface="Arial"/>
              </a:rPr>
              <a:t>UN POCO</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Arial"/>
                <a:ea typeface="Arial"/>
                <a:cs typeface="Arial"/>
                <a:sym typeface="Arial"/>
              </a:rPr>
              <a:t> 	</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Arial"/>
                <a:ea typeface="Arial"/>
                <a:cs typeface="Arial"/>
                <a:sym typeface="Arial"/>
              </a:rPr>
              <a:t>Es una forma de representación más natural que lógica debido a su sencillez de comprensión. La principal desventaja de esta forma de representación es que es computacional caro y no incluye cuantificadores equivalentes que se pueden encontrar en representaciones lógicas.</a:t>
            </a:r>
            <a:endParaRPr b="0" i="0" sz="1400" u="none" cap="none" strike="noStrike">
              <a:solidFill>
                <a:schemeClr val="dk1"/>
              </a:solidFill>
              <a:latin typeface="Arial"/>
              <a:ea typeface="Arial"/>
              <a:cs typeface="Arial"/>
              <a:sym typeface="Arial"/>
            </a:endParaRPr>
          </a:p>
          <a:p>
            <a:pPr indent="0" lvl="0" marL="91440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91440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id="128" name="Google Shape;128;g1ff22a25f1c_0_1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29" name="Google Shape;129;g1ff22a25f1c_0_10"/>
          <p:cNvSpPr txBox="1"/>
          <p:nvPr/>
        </p:nvSpPr>
        <p:spPr>
          <a:xfrm>
            <a:off x="8450" y="854875"/>
            <a:ext cx="9127200" cy="4288500"/>
          </a:xfrm>
          <a:prstGeom prst="rect">
            <a:avLst/>
          </a:prstGeom>
          <a:noFill/>
          <a:ln>
            <a:noFill/>
          </a:ln>
        </p:spPr>
        <p:txBody>
          <a:bodyPr anchorCtr="0" anchor="t" bIns="91425" lIns="91425" spcFirstLastPara="1" rIns="91425" wrap="square" tIns="91425">
            <a:noAutofit/>
          </a:bodyPr>
          <a:lstStyle/>
          <a:p>
            <a:pPr indent="-317500" lvl="0" marL="457200" marR="0" rtl="0" algn="just">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Reglas de producción:</a:t>
            </a:r>
            <a:r>
              <a:rPr b="0" i="0" lang="es" sz="1400" u="none" cap="none" strike="noStrike">
                <a:solidFill>
                  <a:schemeClr val="dk1"/>
                </a:solidFill>
                <a:latin typeface="Arial"/>
                <a:ea typeface="Arial"/>
                <a:cs typeface="Arial"/>
                <a:sym typeface="Arial"/>
              </a:rPr>
              <a:t> Las reglas de producción son la forma más común de representación del conocimiento en los sistemas de IA. Es la forma más simple de representar sistemas basados ​​en reglas if-else y, por lo tanto, se puede entender fácilmente. Representa una forma de combinar FOPL y lógica proposicional.Para comprender las reglas de producción, primero es necesario comprender los constituyentes del sistema de representación. Este sistema incluye un conjunto de reglas, memoria de trabajo, aplicador de reglas y un ciclo de actos reconocido.</a:t>
            </a:r>
            <a:endParaRPr b="0" i="0" sz="1400" u="none" cap="none" strike="noStrike">
              <a:solidFill>
                <a:schemeClr val="dk1"/>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Arial"/>
                <a:ea typeface="Arial"/>
                <a:cs typeface="Arial"/>
                <a:sym typeface="Arial"/>
              </a:rPr>
              <a:t>Para cada entrada, la IA verifica las condiciones de las reglas de producción y, después de encontrar una regla mejor, toma las medidas necesarias de inmediato. El ciclo de seleccionar reglas en función de las condiciones y actuar para resolver el problema se conoce como ciclo de reconocimiento y acción que tiene lugar en cada entrada.Sin embargo, este método tiene algunos problemas, como una ejecución ineficiente debido a las reglas activas y la falta de experiencia debido a que no se almacenan los resultados anteriores. Dado que las reglas están expresadas en lenguaje natural, el costo de las desventajas puede ser redimido. Aquí, las reglas se pueden cambiar y eliminar fácilmente si es necesario.</a:t>
            </a:r>
            <a:endParaRPr b="0" i="0" sz="1400" u="none" cap="none" strike="noStrike">
              <a:solidFill>
                <a:schemeClr val="dk1"/>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g1ff22a25f1c_0_16"/>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35" name="Google Shape;135;g1ff22a25f1c_0_16"/>
          <p:cNvSpPr txBox="1"/>
          <p:nvPr/>
        </p:nvSpPr>
        <p:spPr>
          <a:xfrm>
            <a:off x="8450" y="833500"/>
            <a:ext cx="9127200" cy="4274400"/>
          </a:xfrm>
          <a:prstGeom prst="rect">
            <a:avLst/>
          </a:prstGeom>
          <a:noFill/>
          <a:ln>
            <a:noFill/>
          </a:ln>
        </p:spPr>
        <p:txBody>
          <a:bodyPr anchorCtr="0" anchor="t" bIns="91425" lIns="91425" spcFirstLastPara="1" rIns="91425" wrap="square" tIns="91425">
            <a:noAutofit/>
          </a:bodyPr>
          <a:lstStyle/>
          <a:p>
            <a:pPr indent="-317500" lvl="0" marL="457200" marR="0" rtl="0" algn="just">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Representación de cuadros:</a:t>
            </a:r>
            <a:r>
              <a:rPr b="0" i="0" lang="es" sz="1400" u="none" cap="none" strike="noStrike">
                <a:solidFill>
                  <a:schemeClr val="dk1"/>
                </a:solidFill>
                <a:latin typeface="Arial"/>
                <a:ea typeface="Arial"/>
                <a:cs typeface="Arial"/>
                <a:sym typeface="Arial"/>
              </a:rPr>
              <a:t>Para comprender la representación del marco en un nivel fundamental, imagine una tabla que consta de nombres en columnas y valores en filas; la información necesaria se pasa en esta estructura completa. En palabras simples, la representación de marcos es una colección de valores y atributos. Esta es una estructura de datos específica de IA que utiliza rellenos (valores de ranura que pueden ser de cualquier tipo y forma de datos) y ranuras. El proceso es bastante similar al típico sistema de gestión de bases de datos (DBMS). Estos rellenos y ranuras forman una estructura llamada marco.</a:t>
            </a:r>
            <a:endParaRPr b="0" i="0" sz="1400" u="none" cap="none" strike="noStrike">
              <a:solidFill>
                <a:schemeClr val="dk1"/>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Arial"/>
                <a:ea typeface="Arial"/>
                <a:cs typeface="Arial"/>
                <a:sym typeface="Arial"/>
              </a:rPr>
              <a:t>Los slots, en esta forma de representación del conocimiento, tienen nombres o atributos, y el conocimiento related a los atributos se almacena en rellenos. La principal ventaja de este tipo de representación es que datos similares se pueden fusionar en grupos para dividir el conocimiento en estructuras. Además, se divide en subestructuras. Al ser como una estructura de datos típica, este tipo puede entenderse, manipularse, y visualizarse fácilmente. Se pueden llevar a cabo conceptos típicos, como eliminar, eliminar y agregar ranuras.</a:t>
            </a:r>
            <a:endParaRPr b="0" i="0" sz="1400" u="none" cap="none" strike="noStrike">
              <a:solidFill>
                <a:schemeClr val="dk1"/>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g1ff22a25f1c_0_22"/>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41" name="Google Shape;141;g1ff22a25f1c_0_22"/>
          <p:cNvSpPr txBox="1"/>
          <p:nvPr/>
        </p:nvSpPr>
        <p:spPr>
          <a:xfrm>
            <a:off x="450800" y="726675"/>
            <a:ext cx="7983900" cy="292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Requisitos para la representación del conocimiento en el sistema de IA</a:t>
            </a:r>
            <a:endParaRPr b="1" i="0" sz="1800" u="none" cap="none" strike="noStrike">
              <a:solidFill>
                <a:schemeClr val="dk1"/>
              </a:solidFill>
              <a:latin typeface="Arial"/>
              <a:ea typeface="Arial"/>
              <a:cs typeface="Arial"/>
              <a:sym typeface="Arial"/>
            </a:endParaRPr>
          </a:p>
        </p:txBody>
      </p:sp>
      <p:sp>
        <p:nvSpPr>
          <p:cNvPr id="142" name="Google Shape;142;g1ff22a25f1c_0_22"/>
          <p:cNvSpPr txBox="1"/>
          <p:nvPr/>
        </p:nvSpPr>
        <p:spPr>
          <a:xfrm>
            <a:off x="8450" y="1403425"/>
            <a:ext cx="9127200" cy="30846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Exactitud representacional:</a:t>
            </a:r>
            <a:r>
              <a:rPr b="0" i="0" lang="es" sz="1400" u="none" cap="none" strike="noStrike">
                <a:solidFill>
                  <a:schemeClr val="dk1"/>
                </a:solidFill>
                <a:latin typeface="Arial"/>
                <a:ea typeface="Arial"/>
                <a:cs typeface="Arial"/>
                <a:sym typeface="Arial"/>
              </a:rPr>
              <a:t> La representación del conocimiento debe representar cada tipo de conocimiento requerido.</a:t>
            </a:r>
            <a:endParaRPr b="0" i="0" sz="14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Eficiencia inferencial:</a:t>
            </a:r>
            <a:r>
              <a:rPr b="0" i="0" lang="es" sz="1400" u="none" cap="none" strike="noStrike">
                <a:solidFill>
                  <a:schemeClr val="dk1"/>
                </a:solidFill>
                <a:latin typeface="Arial"/>
                <a:ea typeface="Arial"/>
                <a:cs typeface="Arial"/>
                <a:sym typeface="Arial"/>
              </a:rPr>
              <a:t> Es la capacidad de manejar fácilmente mecanismos de conocimiento inferencial en productive direcciones usando apropiadamente guías.</a:t>
            </a:r>
            <a:endParaRPr b="0" i="0" sz="14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Adecuación inferencial:</a:t>
            </a:r>
            <a:r>
              <a:rPr b="0" i="0" lang="es" sz="1400" u="none" cap="none" strike="noStrike">
                <a:solidFill>
                  <a:schemeClr val="dk1"/>
                </a:solidFill>
                <a:latin typeface="Arial"/>
                <a:ea typeface="Arial"/>
                <a:cs typeface="Arial"/>
                <a:sym typeface="Arial"/>
              </a:rPr>
              <a:t> La representación del conocimiento debe tener la capacidad de manipular.ate algunas estructuras representacionales para representar nuevos</a:t>
            </a:r>
            <a:endParaRPr b="0" i="0" sz="14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Arial"/>
                <a:ea typeface="Arial"/>
                <a:cs typeface="Arial"/>
                <a:sym typeface="Arial"/>
              </a:rPr>
              <a:t> conocimientos basados ​​en las estructuras existentes.</a:t>
            </a:r>
            <a:endParaRPr b="0" i="0" sz="14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Eficiencia adquisitiva:</a:t>
            </a:r>
            <a:r>
              <a:rPr b="0" i="0" lang="es" sz="1400" u="none" cap="none" strike="noStrike">
                <a:solidFill>
                  <a:schemeClr val="dk1"/>
                </a:solidFill>
                <a:latin typeface="Arial"/>
                <a:ea typeface="Arial"/>
                <a:cs typeface="Arial"/>
                <a:sym typeface="Arial"/>
              </a:rPr>
              <a:t> La capacidad de adquirir nuevos conocimientos utilizando métodos automáticos.</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g1ff22a25f1c_0_28"/>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48" name="Google Shape;148;g1ff22a25f1c_0_28"/>
          <p:cNvSpPr txBox="1"/>
          <p:nvPr/>
        </p:nvSpPr>
        <p:spPr>
          <a:xfrm>
            <a:off x="2521900" y="398950"/>
            <a:ext cx="3355500" cy="370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Ciclo de conocimiento de IA</a:t>
            </a:r>
            <a:endParaRPr b="1" i="0" sz="1800" u="none" cap="none" strike="noStrike">
              <a:solidFill>
                <a:schemeClr val="dk1"/>
              </a:solidFill>
              <a:latin typeface="Arial"/>
              <a:ea typeface="Arial"/>
              <a:cs typeface="Arial"/>
              <a:sym typeface="Arial"/>
            </a:endParaRPr>
          </a:p>
        </p:txBody>
      </p:sp>
      <p:sp>
        <p:nvSpPr>
          <p:cNvPr id="149" name="Google Shape;149;g1ff22a25f1c_0_28"/>
          <p:cNvSpPr txBox="1"/>
          <p:nvPr/>
        </p:nvSpPr>
        <p:spPr>
          <a:xfrm>
            <a:off x="0" y="1125575"/>
            <a:ext cx="9144000" cy="2970600"/>
          </a:xfrm>
          <a:prstGeom prst="rect">
            <a:avLst/>
          </a:prstGeom>
          <a:noFill/>
          <a:ln>
            <a:noFill/>
          </a:ln>
        </p:spPr>
        <p:txBody>
          <a:bodyPr anchorCtr="0" anchor="t" bIns="91425" lIns="91425" spcFirstLastPara="1" rIns="91425" wrap="square" tIns="91425">
            <a:noAutofit/>
          </a:bodyPr>
          <a:lstStyle/>
          <a:p>
            <a:pPr indent="-317500" lvl="0" marL="457200" marR="0" rtl="0" algn="just">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Percepción:</a:t>
            </a:r>
            <a:r>
              <a:rPr b="0" i="0" lang="es" sz="1400" u="none" cap="none" strike="noStrike">
                <a:solidFill>
                  <a:schemeClr val="dk1"/>
                </a:solidFill>
                <a:latin typeface="Arial"/>
                <a:ea typeface="Arial"/>
                <a:cs typeface="Arial"/>
                <a:sym typeface="Arial"/>
              </a:rPr>
              <a:t> Ayuda al sistema basado en IA a recopilar información sobre el medio ambiente utilizando diferentes sensores y lo familiariza con el ecosistema para interactuar eficientemente con los problemas.</a:t>
            </a:r>
            <a:endParaRPr b="0" i="0" sz="1400" u="none" cap="none" strike="noStrike">
              <a:solidFill>
                <a:schemeClr val="dk1"/>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317500" lvl="0" marL="457200" marR="0" rtl="0" algn="just">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Aprendizaje:</a:t>
            </a:r>
            <a:r>
              <a:rPr b="0" i="0" lang="es" sz="1400" u="none" cap="none" strike="noStrike">
                <a:solidFill>
                  <a:schemeClr val="dk1"/>
                </a:solidFill>
                <a:latin typeface="Arial"/>
                <a:ea typeface="Arial"/>
                <a:cs typeface="Arial"/>
                <a:sym typeface="Arial"/>
              </a:rPr>
              <a:t> Se utiliza para permitir que los sistemas de IA se ejecuten deep learning algoritmos que ya están escritos para hacer que los sistemas de IA entreguen la información necesaria desde el componente de percepción al componente de aprendizaje para un mejor aprendizaje y comprensión.anding.</a:t>
            </a:r>
            <a:endParaRPr b="0" i="0" sz="1400" u="none" cap="none" strike="noStrike">
              <a:solidFill>
                <a:schemeClr val="dk1"/>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317500" lvl="0" marL="457200" marR="0" rtl="0" algn="just">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Representación del conocimiento y razonamiento:</a:t>
            </a:r>
            <a:r>
              <a:rPr b="0" i="0" lang="es" sz="1400" u="none" cap="none" strike="noStrike">
                <a:solidFill>
                  <a:schemeClr val="dk1"/>
                </a:solidFill>
                <a:latin typeface="Arial"/>
                <a:ea typeface="Arial"/>
                <a:cs typeface="Arial"/>
                <a:sym typeface="Arial"/>
              </a:rPr>
              <a:t> Los seres humanos utilizan el conocimiento para tomar decisiones. Por lo tanto, este bloque es responsable de servir a los humanos a través de los datos de conocimiento de los sistemas de IA y usar el conocimiento relevante cuando sea necesario.</a:t>
            </a:r>
            <a:endParaRPr b="0" i="0" sz="1400" u="none" cap="none" strike="noStrike">
              <a:solidFill>
                <a:schemeClr val="dk1"/>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317500" lvl="0" marL="457200" marR="0" rtl="0" algn="just">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Planning y ejecución:</a:t>
            </a:r>
            <a:r>
              <a:rPr b="0" i="0" lang="es" sz="1400" u="none" cap="none" strike="noStrike">
                <a:solidFill>
                  <a:schemeClr val="dk1"/>
                </a:solidFill>
                <a:latin typeface="Arial"/>
                <a:ea typeface="Arial"/>
                <a:cs typeface="Arial"/>
                <a:sym typeface="Arial"/>
              </a:rPr>
              <a:t> Este bloque es independiente. Se utiliza para tomar datos de bloques de conocimiento y razonamiento y ejecutar acciones relevantes.</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g1ff22a25f1c_0_47"/>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55" name="Google Shape;155;g1ff22a25f1c_0_47"/>
          <p:cNvSpPr txBox="1"/>
          <p:nvPr/>
        </p:nvSpPr>
        <p:spPr>
          <a:xfrm>
            <a:off x="2521900" y="398950"/>
            <a:ext cx="3355500" cy="370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Ciclo de conocimiento de IA</a:t>
            </a:r>
            <a:endParaRPr b="1" i="0" sz="1800" u="none" cap="none" strike="noStrike">
              <a:solidFill>
                <a:schemeClr val="dk1"/>
              </a:solidFill>
              <a:latin typeface="Arial"/>
              <a:ea typeface="Arial"/>
              <a:cs typeface="Arial"/>
              <a:sym typeface="Arial"/>
            </a:endParaRPr>
          </a:p>
        </p:txBody>
      </p:sp>
      <p:pic>
        <p:nvPicPr>
          <p:cNvPr id="156" name="Google Shape;156;g1ff22a25f1c_0_47"/>
          <p:cNvPicPr preferRelativeResize="0"/>
          <p:nvPr/>
        </p:nvPicPr>
        <p:blipFill rotWithShape="1">
          <a:blip r:embed="rId4">
            <a:alphaModFix/>
          </a:blip>
          <a:srcRect b="0" l="0" r="0" t="0"/>
          <a:stretch/>
        </p:blipFill>
        <p:spPr>
          <a:xfrm>
            <a:off x="8450" y="919175"/>
            <a:ext cx="9127101" cy="3654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id="161" name="Google Shape;161;g2d4f6b5dbef_0_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62" name="Google Shape;162;g2d4f6b5dbef_0_0"/>
          <p:cNvSpPr txBox="1"/>
          <p:nvPr/>
        </p:nvSpPr>
        <p:spPr>
          <a:xfrm>
            <a:off x="3469800" y="220250"/>
            <a:ext cx="1199700" cy="370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lang="es" sz="1800">
                <a:solidFill>
                  <a:schemeClr val="dk1"/>
                </a:solidFill>
              </a:rPr>
              <a:t>Robótica</a:t>
            </a:r>
            <a:endParaRPr b="1" i="0" sz="1800" u="none" cap="none" strike="noStrike">
              <a:solidFill>
                <a:schemeClr val="dk1"/>
              </a:solidFill>
              <a:latin typeface="Arial"/>
              <a:ea typeface="Arial"/>
              <a:cs typeface="Arial"/>
              <a:sym typeface="Arial"/>
            </a:endParaRPr>
          </a:p>
        </p:txBody>
      </p:sp>
      <p:sp>
        <p:nvSpPr>
          <p:cNvPr id="163" name="Google Shape;163;g2d4f6b5dbef_0_0"/>
          <p:cNvSpPr txBox="1"/>
          <p:nvPr/>
        </p:nvSpPr>
        <p:spPr>
          <a:xfrm>
            <a:off x="116550" y="1212075"/>
            <a:ext cx="8717400" cy="2028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sz="1800">
                <a:solidFill>
                  <a:schemeClr val="dk1"/>
                </a:solidFill>
              </a:rPr>
              <a:t>Robótica e Inteligencia Artificial son dos términos que con frecuencia se mezclan y en ocasiones no se distinguen, pero realmente hacen referencia a tecnologías diferentes. La inteligencia artificial es una disciplina centrada en dotar a las máquinas de desarrollar las mismas capacidades intelectuales que el ser humano. Por su parte, la robótica es la ciencia enfocada en diseñar y construir robots físicos, para mejorar la automatización e innovación.</a:t>
            </a:r>
            <a:endParaRPr sz="18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g2d4f6b5dbef_0_6"/>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69" name="Google Shape;169;g2d4f6b5dbef_0_6"/>
          <p:cNvSpPr txBox="1"/>
          <p:nvPr/>
        </p:nvSpPr>
        <p:spPr>
          <a:xfrm>
            <a:off x="2521900" y="398950"/>
            <a:ext cx="3355500" cy="370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lang="es" sz="1800">
                <a:solidFill>
                  <a:schemeClr val="dk1"/>
                </a:solidFill>
              </a:rPr>
              <a:t>¿Qué son la robótica y la Inteligencia Artificial?</a:t>
            </a:r>
            <a:endParaRPr b="1" i="0" sz="1800" u="none" cap="none" strike="noStrike">
              <a:solidFill>
                <a:schemeClr val="dk1"/>
              </a:solidFill>
              <a:latin typeface="Arial"/>
              <a:ea typeface="Arial"/>
              <a:cs typeface="Arial"/>
              <a:sym typeface="Arial"/>
            </a:endParaRPr>
          </a:p>
        </p:txBody>
      </p:sp>
      <p:sp>
        <p:nvSpPr>
          <p:cNvPr id="170" name="Google Shape;170;g2d4f6b5dbef_0_6"/>
          <p:cNvSpPr txBox="1"/>
          <p:nvPr/>
        </p:nvSpPr>
        <p:spPr>
          <a:xfrm>
            <a:off x="31075" y="1149900"/>
            <a:ext cx="9075000" cy="3356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sz="1800">
                <a:solidFill>
                  <a:schemeClr val="dk1"/>
                </a:solidFill>
              </a:rPr>
              <a:t>La robótica y la IA son dos campos de la ciencia y la tecnología relacionados entre sí, pero con varias diferencias. La robótica es la disciplina que se encarga de diseñar máquinas capaces de automatizar tareas. En este sentido, los expertos en robótica además crean, programan y manejan estos elementos autómatas para desarrollar determinadas habilidades y tareas. </a:t>
            </a:r>
            <a:endParaRPr sz="1800">
              <a:solidFill>
                <a:schemeClr val="dk1"/>
              </a:solidFill>
            </a:endParaRPr>
          </a:p>
          <a:p>
            <a:pPr indent="0" lvl="0" marL="0" rtl="0" algn="just">
              <a:spcBef>
                <a:spcPts val="0"/>
              </a:spcBef>
              <a:spcAft>
                <a:spcPts val="0"/>
              </a:spcAft>
              <a:buNone/>
            </a:pPr>
            <a:r>
              <a:t/>
            </a:r>
            <a:endParaRPr sz="1800">
              <a:solidFill>
                <a:schemeClr val="dk1"/>
              </a:solidFill>
            </a:endParaRPr>
          </a:p>
          <a:p>
            <a:pPr indent="0" lvl="0" marL="0" rtl="0" algn="just">
              <a:spcBef>
                <a:spcPts val="0"/>
              </a:spcBef>
              <a:spcAft>
                <a:spcPts val="0"/>
              </a:spcAft>
              <a:buNone/>
            </a:pPr>
            <a:r>
              <a:rPr lang="es" sz="1800">
                <a:solidFill>
                  <a:schemeClr val="dk1"/>
                </a:solidFill>
              </a:rPr>
              <a:t>Mientras, la inteligencia artificial es una rama de la computación que estudia la forma de que las máquinas imiten los procesos cognitivos de los humanos, que puedan aprender y razonar con el objetivo de solucionar problemas y llevar a cabo tareas específicas, tal y como lo haría un ser humano. Los expertos en IA diseñan algoritmos para que las máquinas sean capaces de aprender de manera autónoma, resuelvan inconvenientes, comprendan el lenguaje y razonen usando la lógica. </a:t>
            </a:r>
            <a:endParaRPr sz="18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id="175" name="Google Shape;175;g2d4f6b5dbef_0_12"/>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76" name="Google Shape;176;g2d4f6b5dbef_0_12"/>
          <p:cNvSpPr txBox="1"/>
          <p:nvPr/>
        </p:nvSpPr>
        <p:spPr>
          <a:xfrm>
            <a:off x="2498600" y="41550"/>
            <a:ext cx="3355500" cy="665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lang="es" sz="1800">
                <a:solidFill>
                  <a:schemeClr val="dk1"/>
                </a:solidFill>
              </a:rPr>
              <a:t>Relación entre inteligencia artificial y robótica </a:t>
            </a:r>
            <a:endParaRPr b="1" i="0" sz="1800" u="none" cap="none" strike="noStrike">
              <a:solidFill>
                <a:schemeClr val="dk1"/>
              </a:solidFill>
              <a:latin typeface="Arial"/>
              <a:ea typeface="Arial"/>
              <a:cs typeface="Arial"/>
              <a:sym typeface="Arial"/>
            </a:endParaRPr>
          </a:p>
        </p:txBody>
      </p:sp>
      <p:sp>
        <p:nvSpPr>
          <p:cNvPr id="177" name="Google Shape;177;g2d4f6b5dbef_0_12"/>
          <p:cNvSpPr txBox="1"/>
          <p:nvPr/>
        </p:nvSpPr>
        <p:spPr>
          <a:xfrm>
            <a:off x="31075" y="784725"/>
            <a:ext cx="9112800" cy="3760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s" sz="1800">
                <a:solidFill>
                  <a:schemeClr val="dk1"/>
                </a:solidFill>
              </a:rPr>
              <a:t>Aunque existen bastantes diferencias entre la robótica y la Inteligencia Artificial, son dos ramas que se benefician entre sí. Principalmente, la IA se usa para mejorar habilidades como el movimiento, la adaptación al entorno, la optimización del funcionamiento, el diagnóstico de errores y la realización de tareas autónomas de las máquinas, es decir, mejora la capacidad de aprendizaje y aplicación de los robots.   </a:t>
            </a:r>
            <a:endParaRPr sz="1800">
              <a:solidFill>
                <a:schemeClr val="dk1"/>
              </a:solidFill>
            </a:endParaRPr>
          </a:p>
          <a:p>
            <a:pPr indent="0" lvl="0" marL="0" rtl="0" algn="just">
              <a:spcBef>
                <a:spcPts val="0"/>
              </a:spcBef>
              <a:spcAft>
                <a:spcPts val="0"/>
              </a:spcAft>
              <a:buClr>
                <a:schemeClr val="dk1"/>
              </a:buClr>
              <a:buSzPts val="1100"/>
              <a:buFont typeface="Arial"/>
              <a:buNone/>
            </a:pPr>
            <a:r>
              <a:t/>
            </a:r>
            <a:endParaRPr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Tanto la robótica como la IA pretenden automatizar las tareas y facilitar los procesos a los seres humanos, y utilizan los datos recopilados por sensores de entrada y salida de datos que facilitan la toma de decisiones.  </a:t>
            </a:r>
            <a:endParaRPr sz="1800">
              <a:solidFill>
                <a:schemeClr val="dk1"/>
              </a:solidFill>
            </a:endParaRPr>
          </a:p>
          <a:p>
            <a:pPr indent="0" lvl="0" marL="0" rtl="0" algn="just">
              <a:spcBef>
                <a:spcPts val="0"/>
              </a:spcBef>
              <a:spcAft>
                <a:spcPts val="0"/>
              </a:spcAft>
              <a:buNone/>
            </a:pPr>
            <a:r>
              <a:t/>
            </a:r>
            <a:endParaRPr sz="18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g2d4f6b5dbef_0_18"/>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83" name="Google Shape;183;g2d4f6b5dbef_0_18"/>
          <p:cNvSpPr txBox="1"/>
          <p:nvPr/>
        </p:nvSpPr>
        <p:spPr>
          <a:xfrm>
            <a:off x="23300" y="792500"/>
            <a:ext cx="9075000" cy="2587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s" sz="1800">
                <a:solidFill>
                  <a:schemeClr val="dk1"/>
                </a:solidFill>
              </a:rPr>
              <a:t>Los dos campos tecnológicos demandan conocimientos específicos para su correcta manipulación, y por ese motivo los expertos que trabajan en estas áreas han estudiado ciencias informáticas, física o ingenierías.  </a:t>
            </a:r>
            <a:endParaRPr sz="1800">
              <a:solidFill>
                <a:schemeClr val="dk1"/>
              </a:solidFill>
            </a:endParaRPr>
          </a:p>
          <a:p>
            <a:pPr indent="0" lvl="0" marL="0" rtl="0" algn="just">
              <a:spcBef>
                <a:spcPts val="0"/>
              </a:spcBef>
              <a:spcAft>
                <a:spcPts val="0"/>
              </a:spcAft>
              <a:buClr>
                <a:schemeClr val="dk1"/>
              </a:buClr>
              <a:buSzPts val="1100"/>
              <a:buFont typeface="Arial"/>
              <a:buNone/>
            </a:pPr>
            <a:r>
              <a:t/>
            </a:r>
            <a:endParaRPr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Por otro lado, la IA permite a los robots comunicarse de manera inteligente, no solo con los operarios humanos, también con otros robots. De modo que, las máquinas pueden comprender las necesidades y trabajar colaborativamente en la resolución de problemas.</a:t>
            </a:r>
            <a:endParaRPr sz="1800">
              <a:solidFill>
                <a:schemeClr val="dk1"/>
              </a:solidFill>
            </a:endParaRPr>
          </a:p>
          <a:p>
            <a:pPr indent="0" lvl="0" marL="0" rtl="0" algn="just">
              <a:spcBef>
                <a:spcPts val="0"/>
              </a:spcBef>
              <a:spcAft>
                <a:spcPts val="0"/>
              </a:spcAft>
              <a:buNone/>
            </a:pPr>
            <a:r>
              <a:t/>
            </a:r>
            <a:endParaRPr sz="18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