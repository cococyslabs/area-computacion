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y7PUn+vHVwj1R0qxj+DkZCfVEE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84DF74-BFCE-4ECB-943D-72DFAF8DBC9B}">
  <a:tblStyle styleId="{5984DF74-BFCE-4ECB-943D-72DFAF8DBC9B}"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68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fb629737a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fb629737a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fb629737af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2fb629737af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fb629737af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g2fb629737af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fb629737af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g2fb629737af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fb629737af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g2fb629737af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fb629737af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2fb629737af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fb629737af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2fb629737af_0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fb629737af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fb629737af_0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fb629737af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2fb629737af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fb629737af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fb629737af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fb629737af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2fb629737af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fb629737af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2fb629737af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fb629737af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2fb629737af_0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fb629737af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2fb629737af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www.youtube.com/watch?v=Nml-s3WsmA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youtube.com/watch?v=CrDJzmPaBQI"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youtube.com/watch?v=cX0tOqC-jKo"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690575" cy="798516"/>
        </p:xfrm>
        <a:graphic>
          <a:graphicData uri="http://schemas.openxmlformats.org/drawingml/2006/table">
            <a:tbl>
              <a:tblPr>
                <a:noFill/>
                <a:tableStyleId>{5984DF74-BFCE-4ECB-943D-72DFAF8DBC9B}</a:tableStyleId>
              </a:tblPr>
              <a:tblGrid>
                <a:gridCol w="1518200">
                  <a:extLst>
                    <a:ext uri="{9D8B030D-6E8A-4147-A177-3AD203B41FA5}">
                      <a16:colId xmlns:a16="http://schemas.microsoft.com/office/drawing/2014/main" val="20000"/>
                    </a:ext>
                  </a:extLst>
                </a:gridCol>
                <a:gridCol w="2172375">
                  <a:extLst>
                    <a:ext uri="{9D8B030D-6E8A-4147-A177-3AD203B41FA5}">
                      <a16:colId xmlns:a16="http://schemas.microsoft.com/office/drawing/2014/main" val="20001"/>
                    </a:ext>
                  </a:extLst>
                </a:gridCol>
              </a:tblGrid>
              <a:tr h="32245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Día, Fecha:</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a:t>Martes</a:t>
                      </a:r>
                      <a:r>
                        <a:rPr lang="es" sz="1400" u="none" strike="noStrike" cap="none"/>
                        <a:t>, </a:t>
                      </a:r>
                      <a:r>
                        <a:rPr lang="es"/>
                        <a:t>03</a:t>
                      </a:r>
                      <a:r>
                        <a:rPr lang="es" sz="1400" u="none" strike="noStrike" cap="none"/>
                        <a:t>/0</a:t>
                      </a:r>
                      <a:r>
                        <a:rPr lang="es"/>
                        <a:t>9</a:t>
                      </a:r>
                      <a:r>
                        <a:rPr lang="es" sz="1400" u="none" strike="noStrike" cap="none"/>
                        <a:t>/2024</a:t>
                      </a:r>
                      <a:endParaRPr sz="1400" u="none" strike="noStrike" cap="none"/>
                    </a:p>
                  </a:txBody>
                  <a:tcPr marL="91425" marR="91425" marT="91425" marB="91425"/>
                </a:tc>
                <a:extLst>
                  <a:ext uri="{0D108BD9-81ED-4DB2-BD59-A6C34878D82A}">
                    <a16:rowId xmlns:a16="http://schemas.microsoft.com/office/drawing/2014/main" val="10000"/>
                  </a:ext>
                </a:extLst>
              </a:tr>
              <a:tr h="363100">
                <a:tc>
                  <a:txBody>
                    <a:bodyPr/>
                    <a:lstStyle/>
                    <a:p>
                      <a:pPr marL="0" marR="0" lvl="0" indent="0" algn="l" rtl="0">
                        <a:lnSpc>
                          <a:spcPct val="100000"/>
                        </a:lnSpc>
                        <a:spcBef>
                          <a:spcPts val="0"/>
                        </a:spcBef>
                        <a:spcAft>
                          <a:spcPts val="0"/>
                        </a:spcAft>
                        <a:buClr>
                          <a:srgbClr val="000000"/>
                        </a:buClr>
                        <a:buSzPts val="1420"/>
                        <a:buFont typeface="Arial"/>
                        <a:buNone/>
                      </a:pPr>
                      <a:r>
                        <a:rPr lang="es" sz="1420" b="1" u="none" strike="noStrike" cap="none">
                          <a:solidFill>
                            <a:schemeClr val="dk1"/>
                          </a:solidFill>
                        </a:rPr>
                        <a:t>Hora de inicio:</a:t>
                      </a:r>
                      <a:endParaRPr sz="1420" b="1" u="none" strike="noStrike" cap="none">
                        <a:solidFill>
                          <a:schemeClr val="dk1"/>
                        </a:solidFil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 sz="1400" u="none" strike="noStrike" cap="none"/>
                        <a:t>17:20</a:t>
                      </a: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sp>
        <p:nvSpPr>
          <p:cNvPr id="56" name="Google Shape;56;p1"/>
          <p:cNvSpPr txBox="1"/>
          <p:nvPr/>
        </p:nvSpPr>
        <p:spPr>
          <a:xfrm>
            <a:off x="1440175" y="2258300"/>
            <a:ext cx="55866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 sz="2500" b="0" i="0" u="none" strike="noStrike" cap="none">
                <a:solidFill>
                  <a:srgbClr val="000000"/>
                </a:solidFill>
                <a:latin typeface="Arial"/>
                <a:ea typeface="Arial"/>
                <a:cs typeface="Arial"/>
                <a:sym typeface="Arial"/>
              </a:rPr>
              <a:t>Inteligencia artificial 1 Sección A</a:t>
            </a:r>
            <a:endParaRPr sz="2500" b="0" i="0" u="none" strike="noStrike" cap="none">
              <a:solidFill>
                <a:srgbClr val="000000"/>
              </a:solidFill>
              <a:latin typeface="Arial"/>
              <a:ea typeface="Arial"/>
              <a:cs typeface="Arial"/>
              <a:sym typeface="Arial"/>
            </a:endParaRPr>
          </a:p>
        </p:txBody>
      </p:sp>
      <p:sp>
        <p:nvSpPr>
          <p:cNvPr id="57" name="Google Shape;57;p1"/>
          <p:cNvSpPr txBox="1"/>
          <p:nvPr/>
        </p:nvSpPr>
        <p:spPr>
          <a:xfrm>
            <a:off x="1778700" y="3212600"/>
            <a:ext cx="5586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 sz="2000" b="0" i="0" u="none" strike="noStrike" cap="none">
                <a:solidFill>
                  <a:srgbClr val="000000"/>
                </a:solidFill>
                <a:latin typeface="Arial"/>
                <a:ea typeface="Arial"/>
                <a:cs typeface="Arial"/>
                <a:sym typeface="Arial"/>
              </a:rPr>
              <a:t>Erick Eden Sandoval Ramirez</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g2fb629737af_0_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63" name="Google Shape;63;g2fb629737af_0_0"/>
          <p:cNvSpPr txBox="1"/>
          <p:nvPr/>
        </p:nvSpPr>
        <p:spPr>
          <a:xfrm>
            <a:off x="2610600" y="380700"/>
            <a:ext cx="2929200" cy="34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2"/>
                </a:solidFill>
              </a:rPr>
              <a:t>Algoritmos de búsqueda</a:t>
            </a:r>
            <a:endParaRPr sz="1800" b="1">
              <a:solidFill>
                <a:schemeClr val="dk2"/>
              </a:solidFill>
            </a:endParaRPr>
          </a:p>
        </p:txBody>
      </p:sp>
      <p:sp>
        <p:nvSpPr>
          <p:cNvPr id="64" name="Google Shape;64;g2fb629737af_0_0"/>
          <p:cNvSpPr txBox="1"/>
          <p:nvPr/>
        </p:nvSpPr>
        <p:spPr>
          <a:xfrm>
            <a:off x="46625" y="1367450"/>
            <a:ext cx="9005100" cy="2758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sz="1800">
                <a:solidFill>
                  <a:schemeClr val="dk1"/>
                </a:solidFill>
              </a:rPr>
              <a:t>Los algoritmos de búsqueda son programas informáticos que buscan información para entregarte una respuesta exacta a lo que necesitas. Estos procesos de búsqueda involucran recorrer un arreglo completo con el fin de encontrar algo.</a:t>
            </a: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None/>
            </a:pPr>
            <a:r>
              <a:rPr lang="es" sz="1800">
                <a:solidFill>
                  <a:schemeClr val="dk1"/>
                </a:solidFill>
              </a:rPr>
              <a:t>Un algoritmo de búsqueda es una técnica utilizada para localizar datos específicos dentro de un conjunto de datos, un concepto fundacional de la informática aplicable a campos como los motores de búsqueda, las bases de datos y la inteligencia artificial.</a:t>
            </a: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None/>
            </a:pP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g2fb629737af_0_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0" name="Google Shape;70;g2fb629737af_0_7"/>
          <p:cNvSpPr txBox="1"/>
          <p:nvPr/>
        </p:nvSpPr>
        <p:spPr>
          <a:xfrm>
            <a:off x="2385275" y="613800"/>
            <a:ext cx="3853800" cy="41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2"/>
                </a:solidFill>
              </a:rPr>
              <a:t>Tipos de algoritmo de búsqueda</a:t>
            </a:r>
            <a:endParaRPr sz="1800" b="1">
              <a:solidFill>
                <a:schemeClr val="dk2"/>
              </a:solidFill>
            </a:endParaRPr>
          </a:p>
        </p:txBody>
      </p:sp>
      <p:sp>
        <p:nvSpPr>
          <p:cNvPr id="71" name="Google Shape;71;g2fb629737af_0_7"/>
          <p:cNvSpPr txBox="1"/>
          <p:nvPr/>
        </p:nvSpPr>
        <p:spPr>
          <a:xfrm>
            <a:off x="139850" y="1779250"/>
            <a:ext cx="8849700" cy="27195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es" sz="1800">
                <a:solidFill>
                  <a:schemeClr val="dk1"/>
                </a:solidFill>
              </a:rPr>
              <a:t>Búsqueda lineal: Busca un valor concreto dentro de una matriz o lista.</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Búsqueda binaria: Encuentra la posición de un valor en una matriz ordenada.</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Búsqueda por interpolación: Localiza una clave en una matriz ordenada numéricamente.</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Hashing: Asigna directamente claves a registros mediante una función hash.</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Algoritmos de búsqueda por comparación: Mejoran la búsqueda lineal eliminando progresivamente registros en función de propiedades y trabajando con estructuras de datos ordenadas.</a:t>
            </a:r>
            <a:endParaRPr sz="1800">
              <a:solidFill>
                <a:schemeClr val="dk1"/>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g2fb629737af_0_1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77" name="Google Shape;77;g2fb629737af_0_14"/>
          <p:cNvSpPr txBox="1"/>
          <p:nvPr/>
        </p:nvSpPr>
        <p:spPr>
          <a:xfrm>
            <a:off x="2750450" y="303025"/>
            <a:ext cx="2618400" cy="37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2"/>
                </a:solidFill>
              </a:rPr>
              <a:t>Beneficios y desafíos</a:t>
            </a:r>
            <a:endParaRPr sz="1800" b="1">
              <a:solidFill>
                <a:schemeClr val="dk2"/>
              </a:solidFill>
            </a:endParaRPr>
          </a:p>
        </p:txBody>
      </p:sp>
      <p:sp>
        <p:nvSpPr>
          <p:cNvPr id="78" name="Google Shape;78;g2fb629737af_0_14"/>
          <p:cNvSpPr txBox="1"/>
          <p:nvPr/>
        </p:nvSpPr>
        <p:spPr>
          <a:xfrm>
            <a:off x="217550" y="1367450"/>
            <a:ext cx="8601000" cy="2634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sz="1800">
                <a:solidFill>
                  <a:schemeClr val="dk1"/>
                </a:solidFill>
              </a:rPr>
              <a:t>Los algoritmos de búsqueda facilitan la recuperación eficaz de datos dentro de colecciones, se adaptan a diversas estructuras de datos y a menudo requieren un conocimiento previo de los datos.</a:t>
            </a: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Por otro lado, algunos algoritmos de búsqueda exigen recursos informáticos considerables, sobre todo cuando se trata de conjuntos de datos de gran tamaño. La selección depende de la estructura de los datos y de la familiaridad con los mismos.</a:t>
            </a:r>
            <a:endParaRPr sz="1800">
              <a:solidFill>
                <a:schemeClr val="dk1"/>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g2fb629737af_0_2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84" name="Google Shape;84;g2fb629737af_0_21"/>
          <p:cNvSpPr txBox="1"/>
          <p:nvPr/>
        </p:nvSpPr>
        <p:spPr>
          <a:xfrm>
            <a:off x="2664975" y="349650"/>
            <a:ext cx="3162300" cy="41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2"/>
                </a:solidFill>
              </a:rPr>
              <a:t>Búsquedas no informadas</a:t>
            </a:r>
            <a:endParaRPr sz="1800" b="1">
              <a:solidFill>
                <a:schemeClr val="dk2"/>
              </a:solidFill>
            </a:endParaRPr>
          </a:p>
        </p:txBody>
      </p:sp>
      <p:sp>
        <p:nvSpPr>
          <p:cNvPr id="85" name="Google Shape;85;g2fb629737af_0_21"/>
          <p:cNvSpPr txBox="1"/>
          <p:nvPr/>
        </p:nvSpPr>
        <p:spPr>
          <a:xfrm>
            <a:off x="271925" y="1025600"/>
            <a:ext cx="8608800" cy="34809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None/>
            </a:pPr>
            <a:r>
              <a:rPr lang="es" sz="1800">
                <a:solidFill>
                  <a:schemeClr val="dk1"/>
                </a:solidFill>
              </a:rPr>
              <a:t>Se denominan métodos de búsqueda no informados o ciegos a las estrategias de búsqueda en las que se evalúa el estado siguiente sin conocer a priori si es mejor o peor que su predecesor.</a:t>
            </a: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None/>
            </a:pPr>
            <a:r>
              <a:rPr lang="es" sz="1800">
                <a:solidFill>
                  <a:schemeClr val="dk1"/>
                </a:solidFill>
              </a:rPr>
              <a:t>Un problema típico de la inteligencia artificial consiste en buscar un estado concreto entre un conjunto determinado, al que se le llama espacio de estados. Imaginemos, por ejemplo, una habitación en la que hay un libro. Un robot se desea desplazar por la habitación con el fin de llegar a dicho libro. ¿De qué manera lo hará? En este punto es donde entran en juego las estrategias y los algoritmos de búsqueda.</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g2fb629737af_0_28"/>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1" name="Google Shape;91;g2fb629737af_0_28"/>
          <p:cNvSpPr txBox="1"/>
          <p:nvPr/>
        </p:nvSpPr>
        <p:spPr>
          <a:xfrm>
            <a:off x="2361975" y="217550"/>
            <a:ext cx="3729600" cy="45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2"/>
                </a:solidFill>
              </a:rPr>
              <a:t>Búsqueda en profundidad (DFS)</a:t>
            </a:r>
            <a:endParaRPr sz="1800" b="1">
              <a:solidFill>
                <a:schemeClr val="dk2"/>
              </a:solidFill>
            </a:endParaRPr>
          </a:p>
        </p:txBody>
      </p:sp>
      <p:sp>
        <p:nvSpPr>
          <p:cNvPr id="92" name="Google Shape;92;g2fb629737af_0_28"/>
          <p:cNvSpPr txBox="1"/>
          <p:nvPr/>
        </p:nvSpPr>
        <p:spPr>
          <a:xfrm>
            <a:off x="8525" y="1118825"/>
            <a:ext cx="9127200" cy="3379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Una búsqueda en profundidad (DFS) es un algoritmo de búsqueda para lo cual recorre los nodos de un grafo. Su funcionamiento consiste en ir expandiendo cada uno de los nodos que va localizando, de forma recurrente (desde el nodo padre hacia el nodo hijo). Cuando ya no quedan más nodos que visitar en dicho camino, regresa al nodo predecesor, de modo que repite el mismo proceso con cada uno de los vecinos del nodo. </a:t>
            </a:r>
            <a:endParaRPr sz="1800">
              <a:solidFill>
                <a:schemeClr val="dk1"/>
              </a:solidFill>
            </a:endParaRPr>
          </a:p>
          <a:p>
            <a:pPr marL="0" lvl="0" indent="0" algn="just" rtl="0">
              <a:spcBef>
                <a:spcPts val="0"/>
              </a:spcBef>
              <a:spcAft>
                <a:spcPts val="0"/>
              </a:spcAft>
              <a:buNone/>
            </a:pPr>
            <a:endParaRPr sz="1800">
              <a:solidFill>
                <a:schemeClr val="dk1"/>
              </a:solidFill>
            </a:endParaRPr>
          </a:p>
          <a:p>
            <a:pPr marL="0" lvl="0" indent="0" algn="just" rtl="0">
              <a:spcBef>
                <a:spcPts val="0"/>
              </a:spcBef>
              <a:spcAft>
                <a:spcPts val="0"/>
              </a:spcAft>
              <a:buNone/>
            </a:pPr>
            <a:r>
              <a:rPr lang="es" sz="1800">
                <a:solidFill>
                  <a:schemeClr val="dk1"/>
                </a:solidFill>
              </a:rPr>
              <a:t>La búsqueda en profundidad se usa cuando queremos probar si una solución entre varias posibles cumple con ciertos requisitos; como sucede en el problema del camino que debe recorrer un caballo en un tablero de ajedrez para pasar por las 64 casillas del tablero.</a:t>
            </a:r>
            <a:endParaRPr sz="1800">
              <a:solidFill>
                <a:schemeClr val="dk1"/>
              </a:solidFill>
            </a:endParaRPr>
          </a:p>
        </p:txBody>
      </p:sp>
      <p:sp>
        <p:nvSpPr>
          <p:cNvPr id="93" name="Google Shape;93;g2fb629737af_0_28"/>
          <p:cNvSpPr txBox="1"/>
          <p:nvPr/>
        </p:nvSpPr>
        <p:spPr>
          <a:xfrm>
            <a:off x="101000" y="4591850"/>
            <a:ext cx="5912700" cy="55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https://www.youtube.com/watch?v=Nml-s3WsmAg</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g2fb629737af_0_35"/>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99" name="Google Shape;99;g2fb629737af_0_35"/>
          <p:cNvSpPr txBox="1"/>
          <p:nvPr/>
        </p:nvSpPr>
        <p:spPr>
          <a:xfrm>
            <a:off x="2719375" y="209775"/>
            <a:ext cx="2657100" cy="38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2"/>
                </a:solidFill>
              </a:rPr>
              <a:t>Aplicaciones DFS</a:t>
            </a:r>
            <a:endParaRPr sz="1800" b="1">
              <a:solidFill>
                <a:schemeClr val="dk2"/>
              </a:solidFill>
            </a:endParaRPr>
          </a:p>
        </p:txBody>
      </p:sp>
      <p:sp>
        <p:nvSpPr>
          <p:cNvPr id="100" name="Google Shape;100;g2fb629737af_0_35"/>
          <p:cNvSpPr txBox="1"/>
          <p:nvPr/>
        </p:nvSpPr>
        <p:spPr>
          <a:xfrm>
            <a:off x="404025" y="1351925"/>
            <a:ext cx="8142600" cy="25950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1800">
              <a:solidFill>
                <a:schemeClr val="dk1"/>
              </a:solidFill>
            </a:endParaRPr>
          </a:p>
          <a:p>
            <a:pPr marL="45720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Encontrar nodos conectados en un grafo</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Ordenamiento topológico en un grafo acíclico dirigido</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Encontrar puentes en un grafo de nodos</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Resolver puzzles con una sola solución, como los laberintos</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Encontrar nodos fuertemente conectados</a:t>
            </a:r>
            <a:endParaRPr sz="1800">
              <a:solidFill>
                <a:schemeClr val="dk1"/>
              </a:solidFill>
            </a:endParaRPr>
          </a:p>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g2fb629737af_0_42"/>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06" name="Google Shape;106;g2fb629737af_0_42"/>
          <p:cNvSpPr txBox="1"/>
          <p:nvPr/>
        </p:nvSpPr>
        <p:spPr>
          <a:xfrm>
            <a:off x="2439675" y="233100"/>
            <a:ext cx="3418500" cy="49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2"/>
                </a:solidFill>
              </a:rPr>
              <a:t>Búsqueda en Anchura (BFS)</a:t>
            </a:r>
            <a:endParaRPr sz="1800" b="1">
              <a:solidFill>
                <a:schemeClr val="dk2"/>
              </a:solidFill>
            </a:endParaRPr>
          </a:p>
        </p:txBody>
      </p:sp>
      <p:sp>
        <p:nvSpPr>
          <p:cNvPr id="107" name="Google Shape;107;g2fb629737af_0_42"/>
          <p:cNvSpPr txBox="1"/>
          <p:nvPr/>
        </p:nvSpPr>
        <p:spPr>
          <a:xfrm>
            <a:off x="147625" y="1235375"/>
            <a:ext cx="8709900" cy="3201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sz="1800">
                <a:solidFill>
                  <a:schemeClr val="dk1"/>
                </a:solidFill>
              </a:rPr>
              <a:t>Una búsqueda en anchura (BFS) es un algoritmo de búsqueda para lo cual recorre los nodos de un grafo, comenzando en la raíz (eligiendo algún nodo como elemento raíz en el caso de un grafo), para luego explorar todos los vecinos de este nodo. A continuación, para cada uno de los vecinos se exploran sus respectivos vecinos adyacentes, y así hasta que se recorra todo el grafo. Cabe resaltar que si se encuentra el nodo antes de recorrer todos los nodos, concluye la búsqueda.</a:t>
            </a:r>
            <a:endParaRPr sz="1800">
              <a:solidFill>
                <a:schemeClr val="dk1"/>
              </a:solidFill>
            </a:endParaRPr>
          </a:p>
          <a:p>
            <a:pPr marL="0" lvl="0" indent="0" algn="just" rtl="0">
              <a:spcBef>
                <a:spcPts val="0"/>
              </a:spcBef>
              <a:spcAft>
                <a:spcPts val="0"/>
              </a:spcAft>
              <a:buClr>
                <a:schemeClr val="dk1"/>
              </a:buClr>
              <a:buSzPts val="1100"/>
              <a:buFont typeface="Arial"/>
              <a:buNone/>
            </a:pPr>
            <a:endParaRPr sz="1800">
              <a:solidFill>
                <a:schemeClr val="dk1"/>
              </a:solidFill>
            </a:endParaRPr>
          </a:p>
          <a:p>
            <a:pPr marL="0" lvl="0" indent="0" algn="just" rtl="0">
              <a:spcBef>
                <a:spcPts val="0"/>
              </a:spcBef>
              <a:spcAft>
                <a:spcPts val="0"/>
              </a:spcAft>
              <a:buClr>
                <a:schemeClr val="dk1"/>
              </a:buClr>
              <a:buSzPts val="1100"/>
              <a:buFont typeface="Arial"/>
              <a:buNone/>
            </a:pPr>
            <a:r>
              <a:rPr lang="es" sz="1800">
                <a:solidFill>
                  <a:schemeClr val="dk1"/>
                </a:solidFill>
              </a:rPr>
              <a:t>La búsqueda por anchura se usa para aquellos algoritmos en donde resulta crítico elegir el mejor camino posible en cada momento del recorrido.</a:t>
            </a:r>
            <a:endParaRPr sz="1800">
              <a:solidFill>
                <a:schemeClr val="dk1"/>
              </a:solidFill>
            </a:endParaRPr>
          </a:p>
          <a:p>
            <a:pPr marL="0" lvl="0" indent="0" algn="l" rtl="0">
              <a:spcBef>
                <a:spcPts val="0"/>
              </a:spcBef>
              <a:spcAft>
                <a:spcPts val="0"/>
              </a:spcAft>
              <a:buNone/>
            </a:pPr>
            <a:endParaRPr sz="1800">
              <a:solidFill>
                <a:schemeClr val="dk2"/>
              </a:solidFill>
            </a:endParaRPr>
          </a:p>
        </p:txBody>
      </p:sp>
      <p:sp>
        <p:nvSpPr>
          <p:cNvPr id="108" name="Google Shape;108;g2fb629737af_0_42"/>
          <p:cNvSpPr txBox="1"/>
          <p:nvPr/>
        </p:nvSpPr>
        <p:spPr>
          <a:xfrm>
            <a:off x="93225" y="4615175"/>
            <a:ext cx="5703000" cy="46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https://www.youtube.com/watch?v=CrDJzmPaBQI</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g2fb629737af_0_49"/>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14" name="Google Shape;114;g2fb629737af_0_49"/>
          <p:cNvSpPr txBox="1"/>
          <p:nvPr/>
        </p:nvSpPr>
        <p:spPr>
          <a:xfrm>
            <a:off x="2828150" y="186475"/>
            <a:ext cx="2214300" cy="45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Aplicaciones BFS</a:t>
            </a:r>
            <a:endParaRPr sz="1800" b="1">
              <a:solidFill>
                <a:schemeClr val="dk1"/>
              </a:solidFill>
            </a:endParaRPr>
          </a:p>
        </p:txBody>
      </p:sp>
      <p:sp>
        <p:nvSpPr>
          <p:cNvPr id="115" name="Google Shape;115;g2fb629737af_0_49"/>
          <p:cNvSpPr txBox="1"/>
          <p:nvPr/>
        </p:nvSpPr>
        <p:spPr>
          <a:xfrm>
            <a:off x="101000" y="1126600"/>
            <a:ext cx="8779800" cy="34110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1800">
              <a:solidFill>
                <a:schemeClr val="dk1"/>
              </a:solidFill>
            </a:endParaRPr>
          </a:p>
          <a:p>
            <a:pPr marL="457200" lvl="0" indent="0" algn="l" rtl="0">
              <a:spcBef>
                <a:spcPts val="0"/>
              </a:spcBef>
              <a:spcAft>
                <a:spcPts val="0"/>
              </a:spcAft>
              <a:buNone/>
            </a:pP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Encontrar el camino más corto entre 2 nodos, medido por el número de nodos conectados</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Probar si un grafo de nodos es bipartito (si se puede dividir en 2 conjuntos)</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Encontrar el árbol de expansión mínima en un grafo no ponderado</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Hacer un Web Crawler</a:t>
            </a:r>
            <a:endParaRPr sz="1800">
              <a:solidFill>
                <a:schemeClr val="dk1"/>
              </a:solidFill>
            </a:endParaRPr>
          </a:p>
          <a:p>
            <a:pPr marL="457200" lvl="0" indent="-342900" algn="l" rtl="0">
              <a:spcBef>
                <a:spcPts val="0"/>
              </a:spcBef>
              <a:spcAft>
                <a:spcPts val="0"/>
              </a:spcAft>
              <a:buClr>
                <a:schemeClr val="dk1"/>
              </a:buClr>
              <a:buSzPts val="1800"/>
              <a:buChar char="●"/>
            </a:pPr>
            <a:r>
              <a:rPr lang="es" sz="1800">
                <a:solidFill>
                  <a:schemeClr val="dk1"/>
                </a:solidFill>
              </a:rPr>
              <a:t>Sistemas de navegación GPS, para encontrar localizaciones vecinas</a:t>
            </a:r>
            <a:endParaRPr sz="1800">
              <a:solidFill>
                <a:schemeClr val="dk1"/>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g2fb629737af_0_56"/>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1" name="Google Shape;121;g2fb629737af_0_56"/>
          <p:cNvSpPr txBox="1"/>
          <p:nvPr/>
        </p:nvSpPr>
        <p:spPr>
          <a:xfrm>
            <a:off x="2292050" y="217550"/>
            <a:ext cx="40323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Búsqueda en profundidad limitada</a:t>
            </a:r>
            <a:endParaRPr sz="1800" b="1">
              <a:solidFill>
                <a:schemeClr val="dk1"/>
              </a:solidFill>
            </a:endParaRPr>
          </a:p>
        </p:txBody>
      </p:sp>
      <p:sp>
        <p:nvSpPr>
          <p:cNvPr id="122" name="Google Shape;122;g2fb629737af_0_56"/>
          <p:cNvSpPr txBox="1"/>
          <p:nvPr/>
        </p:nvSpPr>
        <p:spPr>
          <a:xfrm>
            <a:off x="46625" y="1196525"/>
            <a:ext cx="8958300" cy="33486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a:solidFill>
                  <a:schemeClr val="dk1"/>
                </a:solidFill>
              </a:rPr>
              <a:t>Es un algoritmo usado para recorrer o buscar elementos en un árbol o un grafo.</a:t>
            </a:r>
            <a:endParaRPr>
              <a:solidFill>
                <a:schemeClr val="dk1"/>
              </a:solidFill>
            </a:endParaRPr>
          </a:p>
          <a:p>
            <a:pPr marL="0" lvl="0" indent="0" algn="just" rtl="0">
              <a:spcBef>
                <a:spcPts val="0"/>
              </a:spcBef>
              <a:spcAft>
                <a:spcPts val="0"/>
              </a:spcAft>
              <a:buClr>
                <a:schemeClr val="dk1"/>
              </a:buClr>
              <a:buSzPts val="1100"/>
              <a:buFont typeface="Arial"/>
              <a:buNone/>
            </a:pPr>
            <a:endParaRPr>
              <a:solidFill>
                <a:schemeClr val="dk1"/>
              </a:solidFill>
            </a:endParaRPr>
          </a:p>
          <a:p>
            <a:pPr marL="0" lvl="0" indent="0" algn="just" rtl="0">
              <a:spcBef>
                <a:spcPts val="0"/>
              </a:spcBef>
              <a:spcAft>
                <a:spcPts val="0"/>
              </a:spcAft>
              <a:buClr>
                <a:schemeClr val="dk1"/>
              </a:buClr>
              <a:buSzPts val="1100"/>
              <a:buFont typeface="Arial"/>
              <a:buNone/>
            </a:pPr>
            <a:r>
              <a:rPr lang="es">
                <a:solidFill>
                  <a:schemeClr val="dk1"/>
                </a:solidFill>
              </a:rPr>
              <a:t>Su procedimiento consiste en visitar todos los nodos de forma ordenada pero no uniforme en un camino concreto, dejando caminos sin visitar en su proceso, imponiendo un límite máximo de profundidad de búsqueda.</a:t>
            </a:r>
            <a:endParaRPr>
              <a:solidFill>
                <a:schemeClr val="dk1"/>
              </a:solidFill>
            </a:endParaRPr>
          </a:p>
          <a:p>
            <a:pPr marL="0" lvl="0" indent="0" algn="just" rtl="0">
              <a:spcBef>
                <a:spcPts val="0"/>
              </a:spcBef>
              <a:spcAft>
                <a:spcPts val="0"/>
              </a:spcAft>
              <a:buClr>
                <a:schemeClr val="dk1"/>
              </a:buClr>
              <a:buSzPts val="1100"/>
              <a:buFont typeface="Arial"/>
              <a:buNone/>
            </a:pPr>
            <a:endParaRPr>
              <a:solidFill>
                <a:schemeClr val="dk1"/>
              </a:solidFill>
            </a:endParaRPr>
          </a:p>
          <a:p>
            <a:pPr marL="0" lvl="0" indent="0" algn="just" rtl="0">
              <a:spcBef>
                <a:spcPts val="0"/>
              </a:spcBef>
              <a:spcAft>
                <a:spcPts val="0"/>
              </a:spcAft>
              <a:buClr>
                <a:schemeClr val="dk1"/>
              </a:buClr>
              <a:buSzPts val="1100"/>
              <a:buFont typeface="Arial"/>
              <a:buNone/>
            </a:pPr>
            <a:r>
              <a:rPr lang="es">
                <a:solidFill>
                  <a:schemeClr val="dk1"/>
                </a:solidFill>
              </a:rPr>
              <a:t>Como la búsqueda en profundidad normal, la búsqueda en profundidad limitada es una búsqueda sin información. Funciona igual que la búsqueda en profundidad simple, pero evita los inconvenientes respecto a la completitud, imponiendo un límite máximo de profundidad de búsqueda.</a:t>
            </a:r>
            <a:endParaRPr>
              <a:solidFill>
                <a:schemeClr val="dk1"/>
              </a:solidFill>
            </a:endParaRPr>
          </a:p>
          <a:p>
            <a:pPr marL="0" lvl="0" indent="0" algn="just" rtl="0">
              <a:spcBef>
                <a:spcPts val="0"/>
              </a:spcBef>
              <a:spcAft>
                <a:spcPts val="0"/>
              </a:spcAft>
              <a:buNone/>
            </a:pPr>
            <a:endParaRPr>
              <a:solidFill>
                <a:schemeClr val="dk1"/>
              </a:solidFill>
            </a:endParaRPr>
          </a:p>
        </p:txBody>
      </p:sp>
      <p:sp>
        <p:nvSpPr>
          <p:cNvPr id="123" name="Google Shape;123;g2fb629737af_0_56"/>
          <p:cNvSpPr txBox="1"/>
          <p:nvPr/>
        </p:nvSpPr>
        <p:spPr>
          <a:xfrm>
            <a:off x="217550" y="4638475"/>
            <a:ext cx="56718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u="sng">
                <a:solidFill>
                  <a:schemeClr val="hlink"/>
                </a:solidFill>
                <a:hlinkClick r:id="rId4"/>
              </a:rPr>
              <a:t>https://www.youtube.com/watch?v=cX0tOqC-jKo</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g2fb629737af_0_63"/>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29" name="Google Shape;129;g2fb629737af_0_63"/>
          <p:cNvSpPr txBox="1"/>
          <p:nvPr/>
        </p:nvSpPr>
        <p:spPr>
          <a:xfrm>
            <a:off x="2548450" y="240875"/>
            <a:ext cx="3504000" cy="4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2"/>
                </a:solidFill>
              </a:rPr>
              <a:t>BÚSQUEDA BIDIRECCIONAL</a:t>
            </a:r>
            <a:endParaRPr sz="1800" b="1">
              <a:solidFill>
                <a:schemeClr val="dk2"/>
              </a:solidFill>
            </a:endParaRPr>
          </a:p>
        </p:txBody>
      </p:sp>
      <p:sp>
        <p:nvSpPr>
          <p:cNvPr id="130" name="Google Shape;130;g2fb629737af_0_63"/>
          <p:cNvSpPr txBox="1"/>
          <p:nvPr/>
        </p:nvSpPr>
        <p:spPr>
          <a:xfrm>
            <a:off x="46625" y="932350"/>
            <a:ext cx="9012900" cy="36051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a:solidFill>
                  <a:schemeClr val="dk1"/>
                </a:solidFill>
              </a:rPr>
              <a:t>Buscar bidireccionalmente, es  como su nombre lo indica, búsquedas en dos direcciones al mismo tiempo: uno hacia adelante desde el estado inicial y el otro hacia atrás de la parte final. Esto se hace generalmente mediante la expansión de árbol con factor de ramificación b y la distancia desde el principio hasta el objetivo es d. La búsqueda se detiene cuando búsquedas desde ambas direcciones se reúnen en el centro. Búsqueda bidireccional es un algoritmo de búsqueda de fuerza bruta que requiera un estado objetivo explícito en lugar de simplemente una prueba para una condición meta.</a:t>
            </a:r>
            <a:endParaRPr>
              <a:solidFill>
                <a:schemeClr val="dk1"/>
              </a:solidFill>
            </a:endParaRPr>
          </a:p>
          <a:p>
            <a:pPr marL="0" lvl="0" indent="0" algn="just" rtl="0">
              <a:spcBef>
                <a:spcPts val="0"/>
              </a:spcBef>
              <a:spcAft>
                <a:spcPts val="0"/>
              </a:spcAft>
              <a:buNone/>
            </a:pPr>
            <a:endParaRPr>
              <a:solidFill>
                <a:schemeClr val="dk1"/>
              </a:solidFill>
            </a:endParaRPr>
          </a:p>
          <a:p>
            <a:pPr marL="0" lvl="0" indent="0" algn="just" rtl="0">
              <a:spcBef>
                <a:spcPts val="0"/>
              </a:spcBef>
              <a:spcAft>
                <a:spcPts val="0"/>
              </a:spcAft>
              <a:buNone/>
            </a:pPr>
            <a:r>
              <a:rPr lang="es">
                <a:solidFill>
                  <a:schemeClr val="dk1"/>
                </a:solidFill>
              </a:rPr>
              <a:t>La idea de una búsqueda bidireccional es reducir el tiempo de búsqueda mediante la búsqueda hacia adelante desde el comienzo y hacia atrás de la estancia simultáneamente. Cuando las dos fronteras de búsqueda se cruzan, el algoritmo puede reconstruir un único camino que se extiende desde el estado de inicio a través de la intersección de frontera a la meta. Una técnica que ha demostrado ser útil en el camino más corto y otra discreta cálculos de optimización ha sido la búsqueda bidireccional. El método tiene  sido bien probado en el de dos nodos problema del camino más corto proporciona sustancial  ahorros computacionales. Un impulso natural es extender sus beneficios a heurística búsqueda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g2fb629737af_0_70"/>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37" name="Google Shape;137;g2fb629737af_0_70"/>
          <p:cNvSpPr txBox="1"/>
          <p:nvPr/>
        </p:nvSpPr>
        <p:spPr>
          <a:xfrm>
            <a:off x="2618375" y="202000"/>
            <a:ext cx="3208800" cy="4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rPr>
              <a:t>Ejemplos Prácticos</a:t>
            </a:r>
            <a:endParaRPr sz="1800">
              <a:solidFill>
                <a:schemeClr val="dk1"/>
              </a:solidFill>
            </a:endParaRPr>
          </a:p>
        </p:txBody>
      </p:sp>
      <p:sp>
        <p:nvSpPr>
          <p:cNvPr id="138" name="Google Shape;138;g2fb629737af_0_70"/>
          <p:cNvSpPr txBox="1"/>
          <p:nvPr/>
        </p:nvSpPr>
        <p:spPr>
          <a:xfrm>
            <a:off x="202000" y="854650"/>
            <a:ext cx="8686500" cy="34809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a:solidFill>
                  <a:schemeClr val="dk1"/>
                </a:solidFill>
              </a:rPr>
              <a:t>En inteligencia artificial el tema de búsquedas es central, dado que, por ejemplo, realizar acciones mecanizadas o resolver problemas, se reduce a buscar en un espacio de estados.</a:t>
            </a:r>
            <a:endParaRPr>
              <a:solidFill>
                <a:schemeClr val="dk1"/>
              </a:solidFill>
            </a:endParaRPr>
          </a:p>
          <a:p>
            <a:pPr marL="0" lvl="0" indent="0" algn="just" rtl="0">
              <a:spcBef>
                <a:spcPts val="0"/>
              </a:spcBef>
              <a:spcAft>
                <a:spcPts val="0"/>
              </a:spcAft>
              <a:buNone/>
            </a:pPr>
            <a:endParaRPr>
              <a:solidFill>
                <a:schemeClr val="dk1"/>
              </a:solidFill>
            </a:endParaRPr>
          </a:p>
          <a:p>
            <a:pPr marL="0" lvl="0" indent="0" algn="just" rtl="0">
              <a:spcBef>
                <a:spcPts val="0"/>
              </a:spcBef>
              <a:spcAft>
                <a:spcPts val="0"/>
              </a:spcAft>
              <a:buNone/>
            </a:pPr>
            <a:r>
              <a:rPr lang="es">
                <a:solidFill>
                  <a:schemeClr val="dk1"/>
                </a:solidFill>
              </a:rPr>
              <a:t>En esa disciplina se estudian búsquedas ciegas (búsqueda primero en amplitud, primero en profundidad, profundidad iterativa, de costo uniforme, etc.) y búsquedas inteligentes (A* restricta por memoria simplificada, ascenso de cima (hill-climbing), etc.)</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g2fb629737af_0_77"/>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44" name="Google Shape;144;g2fb629737af_0_77"/>
          <p:cNvSpPr txBox="1"/>
          <p:nvPr/>
        </p:nvSpPr>
        <p:spPr>
          <a:xfrm>
            <a:off x="1755950" y="815800"/>
            <a:ext cx="5306700" cy="34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rPr>
              <a:t>El papel de la búsqueda en la Inteligencia Artificial</a:t>
            </a:r>
            <a:endParaRPr sz="1800">
              <a:solidFill>
                <a:schemeClr val="dk1"/>
              </a:solidFill>
            </a:endParaRPr>
          </a:p>
        </p:txBody>
      </p:sp>
      <p:sp>
        <p:nvSpPr>
          <p:cNvPr id="145" name="Google Shape;145;g2fb629737af_0_77"/>
          <p:cNvSpPr txBox="1"/>
          <p:nvPr/>
        </p:nvSpPr>
        <p:spPr>
          <a:xfrm>
            <a:off x="85475" y="1468450"/>
            <a:ext cx="8904000" cy="3069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En Inteligencia Artificial (IA) los términos resolución de problemas y búsqueda se refieren a un núcleo fundamental de técnicas que se utilizan en dominios como la deducción, elaboración de planes de actuación, razonamientos de sentido común, prueba automática de teoremas, etc. Aplicaciones de estas ideas generales aparecen en la práctica totalidad de los sistemas inteligentes, como por ejemplo en los programas que tratan de entender el lenguaje natural, en los programas que tratan de sintetizar un conjunto de reglas de clasificación en un determinado dominio de actuación, o en los sistemas que realizan inferencias a partir de un conjunto de reglas.</a:t>
            </a: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g2fb629737af_0_84"/>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2" name="Google Shape;152;g2fb629737af_0_84"/>
          <p:cNvSpPr txBox="1"/>
          <p:nvPr/>
        </p:nvSpPr>
        <p:spPr>
          <a:xfrm>
            <a:off x="1911325" y="792500"/>
            <a:ext cx="4824900" cy="4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Componentes de un sistema de búsqueda</a:t>
            </a:r>
            <a:endParaRPr sz="1800" b="1">
              <a:solidFill>
                <a:schemeClr val="dk1"/>
              </a:solidFill>
            </a:endParaRPr>
          </a:p>
        </p:txBody>
      </p:sp>
      <p:sp>
        <p:nvSpPr>
          <p:cNvPr id="153" name="Google Shape;153;g2fb629737af_0_84"/>
          <p:cNvSpPr txBox="1"/>
          <p:nvPr/>
        </p:nvSpPr>
        <p:spPr>
          <a:xfrm>
            <a:off x="69925" y="1165450"/>
            <a:ext cx="9020700" cy="3325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1800">
                <a:solidFill>
                  <a:schemeClr val="dk1"/>
                </a:solidFill>
              </a:rPr>
              <a:t>La resolución de problemas en IA requiere, normalmente, determinar una secuencia de acciones o decisiones. Esta secuencia será ejecutada posteriormente por un agente con el fin de alcanzar un objetivo a partir de una situación inicial dada. Dependiendo del problema concreto, la ejecución de la secuencia de acciones o decisiones tiene asociado un costo que se tratará de minimizar, o bien tiene asociado un beneficio que se tratará de maximizar. En la descripción de los sistemas de búsqueda, se supone que el agente se mueve en un entorno accesible, o lo que es lo mismo, que es capaz de percibir el entorno con precisión. Además, se supone también que tanto el efecto como el coste o costo de las acciones se pueden predecir con exactitud. De este modo, la secuencia de acciones se puede obtener antes de su ejecución; en otro caso, la siguiente acción no podría ser determinada hasta conocer el resultado de la ejecución de la anterior.  </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g2fb629737af_0_91"/>
          <p:cNvPicPr preferRelativeResize="0"/>
          <p:nvPr/>
        </p:nvPicPr>
        <p:blipFill rotWithShape="1">
          <a:blip r:embed="rId3">
            <a:alphaModFix amt="62000"/>
          </a:blip>
          <a:srcRect/>
          <a:stretch/>
        </p:blipFill>
        <p:spPr>
          <a:xfrm>
            <a:off x="8451" y="0"/>
            <a:ext cx="9127099" cy="5143501"/>
          </a:xfrm>
          <a:prstGeom prst="rect">
            <a:avLst/>
          </a:prstGeom>
          <a:noFill/>
          <a:ln>
            <a:noFill/>
          </a:ln>
        </p:spPr>
      </p:pic>
      <p:sp>
        <p:nvSpPr>
          <p:cNvPr id="159" name="Google Shape;159;g2fb629737af_0_91"/>
          <p:cNvSpPr txBox="1"/>
          <p:nvPr/>
        </p:nvSpPr>
        <p:spPr>
          <a:xfrm>
            <a:off x="3162225" y="326325"/>
            <a:ext cx="1740300" cy="40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b="1">
                <a:solidFill>
                  <a:schemeClr val="dk1"/>
                </a:solidFill>
              </a:rPr>
              <a:t>Clasificación</a:t>
            </a:r>
            <a:endParaRPr sz="1800" b="1">
              <a:solidFill>
                <a:schemeClr val="dk1"/>
              </a:solidFill>
            </a:endParaRPr>
          </a:p>
        </p:txBody>
      </p:sp>
      <p:sp>
        <p:nvSpPr>
          <p:cNvPr id="160" name="Google Shape;160;g2fb629737af_0_91"/>
          <p:cNvSpPr txBox="1"/>
          <p:nvPr/>
        </p:nvSpPr>
        <p:spPr>
          <a:xfrm>
            <a:off x="62175" y="901275"/>
            <a:ext cx="9128400" cy="14763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a:solidFill>
                  <a:schemeClr val="dk1"/>
                </a:solidFill>
              </a:rPr>
              <a:t>Para elaborar una clasificación de los sistemas de búsqueda se tienen muchas clasificaciones tantas como investigadores y autores en inteligencia artificial existen, en el módulo se ha tratado de organizar esta información para ofrecer un panorama lo más amplio posible para que el estudiante abarque la mayor cantidad de información, los nombres de los algoritmos y métodos de solución en unos casos tienen diferencias que se aclaran en el transcurso del documento. La siguiente clasificación se puede tomar como genérica para tener una idea de las posibilidades de búsqueda.</a:t>
            </a:r>
            <a:endParaRPr>
              <a:solidFill>
                <a:schemeClr val="dk1"/>
              </a:solidFill>
            </a:endParaRPr>
          </a:p>
        </p:txBody>
      </p:sp>
      <p:pic>
        <p:nvPicPr>
          <p:cNvPr id="161" name="Google Shape;161;g2fb629737af_0_91"/>
          <p:cNvPicPr preferRelativeResize="0"/>
          <p:nvPr/>
        </p:nvPicPr>
        <p:blipFill>
          <a:blip r:embed="rId4">
            <a:alphaModFix/>
          </a:blip>
          <a:stretch>
            <a:fillRect/>
          </a:stretch>
        </p:blipFill>
        <p:spPr>
          <a:xfrm>
            <a:off x="971200" y="2260975"/>
            <a:ext cx="6790674" cy="28315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1578</Words>
  <Application>Microsoft Office PowerPoint</Application>
  <PresentationFormat>Presentación en pantalla (16:9)</PresentationFormat>
  <Paragraphs>74</Paragraphs>
  <Slides>15</Slides>
  <Notes>15</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15</vt:i4>
      </vt:variant>
    </vt:vector>
  </HeadingPairs>
  <TitlesOfParts>
    <vt:vector size="17" baseType="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erik sandoval</cp:lastModifiedBy>
  <cp:revision>1</cp:revision>
  <dcterms:modified xsi:type="dcterms:W3CDTF">2024-11-07T05:37:45Z</dcterms:modified>
</cp:coreProperties>
</file>