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Nunito"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JamTVvfv0OH0cG9xPjbLowOln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DF496C-8D61-4E35-994D-E6A2485BAF9D}">
  <a:tblStyle styleId="{56DF496C-8D61-4E35-994D-E6A2485BAF9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ee083241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ee083241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ee083241ee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ee083241ee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ef9d4e089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g2ef9d4e089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ef9d4e089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2ef9d4e0891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ef9d4e089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ef9d4e0891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f9d4e0891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2ef9d4e0891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f9d4e089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2ef9d4e0891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ef9d4e0891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2ef9d4e0891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ef9d4e0891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2ef9d4e0891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ef9d4e089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2ef9d4e0891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ef9d4e0891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2ef9d4e0891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ef9d4e089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2ef9d4e0891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ef9d4e0891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2ef9d4e0891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f9d4e0891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2ef9d4e0891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ef9d4e0891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2ef9d4e0891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ef9d4e0891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2ef9d4e0891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690575" cy="798516"/>
        </p:xfrm>
        <a:graphic>
          <a:graphicData uri="http://schemas.openxmlformats.org/drawingml/2006/table">
            <a:tbl>
              <a:tblPr>
                <a:noFill/>
                <a:tableStyleId>{56DF496C-8D61-4E35-994D-E6A2485BAF9D}</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Martes, 30/07/2024</a:t>
                      </a:r>
                      <a:endParaRPr sz="1400" u="none" strike="noStrike" cap="none"/>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17:20</a:t>
                      </a: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1649975" y="1939750"/>
            <a:ext cx="55866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Inteligencia Artificial 1 Sección A</a:t>
            </a:r>
            <a:endParaRPr sz="2500" b="0" i="0" u="none" strike="noStrike" cap="none">
              <a:solidFill>
                <a:srgbClr val="000000"/>
              </a:solidFill>
              <a:latin typeface="Arial"/>
              <a:ea typeface="Arial"/>
              <a:cs typeface="Arial"/>
              <a:sym typeface="Arial"/>
            </a:endParaRPr>
          </a:p>
        </p:txBody>
      </p:sp>
      <p:sp>
        <p:nvSpPr>
          <p:cNvPr id="57" name="Google Shape;57;p1"/>
          <p:cNvSpPr txBox="1"/>
          <p:nvPr/>
        </p:nvSpPr>
        <p:spPr>
          <a:xfrm>
            <a:off x="4288300" y="3981800"/>
            <a:ext cx="4592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0" i="0" u="none" strike="noStrike" cap="none">
                <a:solidFill>
                  <a:srgbClr val="000000"/>
                </a:solidFill>
                <a:latin typeface="Arial"/>
                <a:ea typeface="Arial"/>
                <a:cs typeface="Arial"/>
                <a:sym typeface="Arial"/>
              </a:rPr>
              <a:t>Erick Eden Sandoval Ramirez</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ee083241ee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2ee083241ee_0_0"/>
          <p:cNvSpPr txBox="1"/>
          <p:nvPr/>
        </p:nvSpPr>
        <p:spPr>
          <a:xfrm>
            <a:off x="3500250" y="444775"/>
            <a:ext cx="1627800" cy="65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000" b="1">
                <a:solidFill>
                  <a:schemeClr val="dk1"/>
                </a:solidFill>
                <a:latin typeface="Nunito"/>
                <a:ea typeface="Nunito"/>
                <a:cs typeface="Nunito"/>
                <a:sym typeface="Nunito"/>
              </a:rPr>
              <a:t>Historia</a:t>
            </a:r>
            <a:endParaRPr sz="3000" b="1">
              <a:solidFill>
                <a:schemeClr val="dk1"/>
              </a:solidFill>
              <a:latin typeface="Nunito"/>
              <a:ea typeface="Nunito"/>
              <a:cs typeface="Nunito"/>
              <a:sym typeface="Nunito"/>
            </a:endParaRPr>
          </a:p>
        </p:txBody>
      </p:sp>
      <p:sp>
        <p:nvSpPr>
          <p:cNvPr id="64" name="Google Shape;64;g2ee083241ee_0_0"/>
          <p:cNvSpPr txBox="1"/>
          <p:nvPr/>
        </p:nvSpPr>
        <p:spPr>
          <a:xfrm>
            <a:off x="225325" y="1238150"/>
            <a:ext cx="8639700" cy="306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dirty="0">
                <a:solidFill>
                  <a:schemeClr val="dk1"/>
                </a:solidFill>
                <a:latin typeface="Nunito"/>
                <a:ea typeface="Nunito"/>
                <a:cs typeface="Nunito"/>
                <a:sym typeface="Nunito"/>
              </a:rPr>
              <a:t>1854. Una lógica matemática</a:t>
            </a:r>
            <a:endParaRPr sz="2400" b="1" dirty="0">
              <a:solidFill>
                <a:schemeClr val="dk1"/>
              </a:solidFill>
              <a:latin typeface="Nunito"/>
              <a:ea typeface="Nunito"/>
              <a:cs typeface="Nunito"/>
              <a:sym typeface="Nunito"/>
            </a:endParaRPr>
          </a:p>
          <a:p>
            <a:pPr marL="0" lvl="0" indent="0" algn="l" rtl="0">
              <a:spcBef>
                <a:spcPts val="0"/>
              </a:spcBef>
              <a:spcAft>
                <a:spcPts val="0"/>
              </a:spcAft>
              <a:buNone/>
            </a:pPr>
            <a:r>
              <a:rPr lang="es" sz="2400" dirty="0">
                <a:solidFill>
                  <a:schemeClr val="dk1"/>
                </a:solidFill>
                <a:latin typeface="Nunito"/>
                <a:ea typeface="Nunito"/>
                <a:cs typeface="Nunito"/>
                <a:sym typeface="Nunito"/>
              </a:rPr>
              <a:t>El matemático George Boole argumenta por primera vez en la historia que el razonamiento lógico podría sistematizarse de la misma manera que se resuelve un sistema de ecuaciones.</a:t>
            </a: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ee083241ee_0_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ee083241ee_0_8"/>
          <p:cNvSpPr txBox="1"/>
          <p:nvPr/>
        </p:nvSpPr>
        <p:spPr>
          <a:xfrm>
            <a:off x="305625" y="1147975"/>
            <a:ext cx="8287500" cy="25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a:solidFill>
                  <a:schemeClr val="dk1"/>
                </a:solidFill>
                <a:latin typeface="Nunito"/>
                <a:ea typeface="Nunito"/>
                <a:cs typeface="Nunito"/>
                <a:sym typeface="Nunito"/>
              </a:rPr>
              <a:t>1921. La idea de un robot</a:t>
            </a:r>
            <a:endParaRPr sz="2400" b="1">
              <a:solidFill>
                <a:schemeClr val="dk1"/>
              </a:solidFill>
              <a:latin typeface="Nunito"/>
              <a:ea typeface="Nunito"/>
              <a:cs typeface="Nunito"/>
              <a:sym typeface="Nunito"/>
            </a:endParaRPr>
          </a:p>
          <a:p>
            <a:pPr marL="0" lvl="0" indent="0" algn="l" rtl="0">
              <a:spcBef>
                <a:spcPts val="0"/>
              </a:spcBef>
              <a:spcAft>
                <a:spcPts val="0"/>
              </a:spcAft>
              <a:buNone/>
            </a:pPr>
            <a:r>
              <a:rPr lang="es" sz="2400">
                <a:solidFill>
                  <a:schemeClr val="dk1"/>
                </a:solidFill>
                <a:latin typeface="Nunito"/>
                <a:ea typeface="Nunito"/>
                <a:cs typeface="Nunito"/>
                <a:sym typeface="Nunito"/>
              </a:rPr>
              <a:t>Es en este año que el escritor Karek Apek acuña el término “robot” en su obra de teatro R.U.R. Su etimología proviene de la palabra robota, que en muchas lenguas eslavas significa “trabajo duro”.</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g2ef9d4e0891_0_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6" name="Google Shape;76;g2ef9d4e0891_0_6"/>
          <p:cNvSpPr txBox="1"/>
          <p:nvPr/>
        </p:nvSpPr>
        <p:spPr>
          <a:xfrm>
            <a:off x="295250" y="1064450"/>
            <a:ext cx="8228100" cy="226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dirty="0">
                <a:solidFill>
                  <a:schemeClr val="dk1"/>
                </a:solidFill>
                <a:latin typeface="Nunito"/>
                <a:ea typeface="Nunito"/>
                <a:cs typeface="Nunito"/>
                <a:sym typeface="Nunito"/>
              </a:rPr>
              <a:t>1936. El concepto de algoritmo</a:t>
            </a:r>
            <a:endParaRPr sz="2400" b="1" dirty="0">
              <a:solidFill>
                <a:schemeClr val="dk1"/>
              </a:solidFill>
              <a:latin typeface="Nunito"/>
              <a:ea typeface="Nunito"/>
              <a:cs typeface="Nunito"/>
              <a:sym typeface="Nunito"/>
            </a:endParaRPr>
          </a:p>
          <a:p>
            <a:pPr marL="0" lvl="0" indent="0" algn="l" rtl="0">
              <a:spcBef>
                <a:spcPts val="0"/>
              </a:spcBef>
              <a:spcAft>
                <a:spcPts val="0"/>
              </a:spcAft>
              <a:buNone/>
            </a:pPr>
            <a:r>
              <a:rPr lang="es" sz="2400" dirty="0">
                <a:solidFill>
                  <a:schemeClr val="dk1"/>
                </a:solidFill>
                <a:latin typeface="Nunito"/>
                <a:ea typeface="Nunito"/>
                <a:cs typeface="Nunito"/>
                <a:sym typeface="Nunito"/>
              </a:rPr>
              <a:t>El considerado padre de la computación moderna Alan Turing, publica su este año su artículo sobre los números computables en el que introduce el concepto de algoritmo</a:t>
            </a:r>
            <a:endParaRPr sz="2400" dirty="0">
              <a:solidFill>
                <a:schemeClr val="dk1"/>
              </a:solidFill>
              <a:latin typeface="Nunito"/>
              <a:ea typeface="Nunito"/>
              <a:cs typeface="Nunito"/>
              <a:sym typeface="Nunito"/>
            </a:endParaRPr>
          </a:p>
          <a:p>
            <a:pPr marL="0" lvl="0" indent="0" algn="l" rtl="0">
              <a:spcBef>
                <a:spcPts val="0"/>
              </a:spcBef>
              <a:spcAft>
                <a:spcPts val="0"/>
              </a:spcAft>
              <a:buNone/>
            </a:pPr>
            <a:r>
              <a:rPr lang="es" sz="2400" dirty="0">
                <a:solidFill>
                  <a:schemeClr val="dk1"/>
                </a:solidFill>
                <a:latin typeface="Nunito"/>
                <a:ea typeface="Nunito"/>
                <a:cs typeface="Nunito"/>
                <a:sym typeface="Nunito"/>
              </a:rPr>
              <a:t>y sienta las bases de la informática.</a:t>
            </a: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g2ef9d4e0891_0_1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2" name="Google Shape;82;g2ef9d4e0891_0_11"/>
          <p:cNvSpPr txBox="1"/>
          <p:nvPr/>
        </p:nvSpPr>
        <p:spPr>
          <a:xfrm>
            <a:off x="883550" y="971825"/>
            <a:ext cx="7165800" cy="35086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2400" b="1" dirty="0">
                <a:solidFill>
                  <a:schemeClr val="dk1"/>
                </a:solidFill>
                <a:latin typeface="Nunito"/>
                <a:ea typeface="Nunito"/>
                <a:cs typeface="Nunito"/>
                <a:sym typeface="Nunito"/>
              </a:rPr>
              <a:t>1941. Z3</a:t>
            </a:r>
            <a:endParaRPr sz="2400" b="1" dirty="0">
              <a:solidFill>
                <a:schemeClr val="dk1"/>
              </a:solidFill>
              <a:latin typeface="Nunito"/>
              <a:ea typeface="Nunito"/>
              <a:cs typeface="Nunito"/>
              <a:sym typeface="Nunito"/>
            </a:endParaRPr>
          </a:p>
          <a:p>
            <a:pPr marL="0" lvl="0" indent="0" algn="l" rtl="0">
              <a:spcBef>
                <a:spcPts val="0"/>
              </a:spcBef>
              <a:spcAft>
                <a:spcPts val="0"/>
              </a:spcAft>
              <a:buNone/>
            </a:pPr>
            <a:r>
              <a:rPr lang="es" sz="2400" dirty="0">
                <a:solidFill>
                  <a:schemeClr val="dk1"/>
                </a:solidFill>
                <a:latin typeface="Nunito"/>
                <a:ea typeface="Nunito"/>
                <a:cs typeface="Nunito"/>
                <a:sym typeface="Nunito"/>
              </a:rPr>
              <a:t>Konrad Zuse crea Z3, la primera computadora programable y completamente automática. Se considera el primer ordenador de la historia moderna.</a:t>
            </a: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g2ef9d4e0891_0_1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8" name="Google Shape;88;g2ef9d4e0891_0_15"/>
          <p:cNvSpPr txBox="1"/>
          <p:nvPr/>
        </p:nvSpPr>
        <p:spPr>
          <a:xfrm>
            <a:off x="50500" y="743875"/>
            <a:ext cx="8472900" cy="333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b="1" dirty="0">
                <a:solidFill>
                  <a:schemeClr val="dk1"/>
                </a:solidFill>
                <a:latin typeface="Nunito"/>
                <a:ea typeface="Nunito"/>
                <a:cs typeface="Nunito"/>
                <a:sym typeface="Nunito"/>
              </a:rPr>
              <a:t>1941. Las leyes de la robótica</a:t>
            </a:r>
            <a:endParaRPr b="1" dirty="0">
              <a:solidFill>
                <a:schemeClr val="dk1"/>
              </a:solidFill>
              <a:latin typeface="Nunito"/>
              <a:ea typeface="Nunito"/>
              <a:cs typeface="Nunito"/>
              <a:sym typeface="Nunito"/>
            </a:endParaRPr>
          </a:p>
          <a:p>
            <a:pPr marL="0" lvl="0" indent="0" algn="l" rtl="0">
              <a:spcBef>
                <a:spcPts val="0"/>
              </a:spcBef>
              <a:spcAft>
                <a:spcPts val="0"/>
              </a:spcAft>
              <a:buNone/>
            </a:pPr>
            <a:r>
              <a:rPr lang="es" sz="1300" dirty="0">
                <a:solidFill>
                  <a:schemeClr val="dk1"/>
                </a:solidFill>
                <a:latin typeface="Nunito"/>
                <a:ea typeface="Nunito"/>
                <a:cs typeface="Nunito"/>
                <a:sym typeface="Nunito"/>
              </a:rPr>
              <a:t>Las leyes de la robótica, las cuales se supone que todo robot debería cumplir, nacieron del relato de unos de los escritores de ciencia ficción más prolíficos y famosos de todos los tiempos, Isaac Asimov. Concretamente en el cuento titulado "Círculo vicioso" Estas leyes son 3 y establecen que:</a:t>
            </a: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a:p>
            <a:pPr marL="0" lvl="0" indent="0" algn="l" rtl="0">
              <a:spcBef>
                <a:spcPts val="0"/>
              </a:spcBef>
              <a:spcAft>
                <a:spcPts val="0"/>
              </a:spcAft>
              <a:buNone/>
            </a:pPr>
            <a:r>
              <a:rPr lang="es" sz="1300" dirty="0">
                <a:solidFill>
                  <a:schemeClr val="dk1"/>
                </a:solidFill>
                <a:latin typeface="Nunito"/>
                <a:ea typeface="Nunito"/>
                <a:cs typeface="Nunito"/>
                <a:sym typeface="Nunito"/>
              </a:rPr>
              <a:t>1. Un robot no hará daño a un ser humano o, por inacción, permitirá que un ser humano sufra daño.</a:t>
            </a: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a:p>
            <a:pPr marL="0" lvl="0" indent="0" algn="l" rtl="0">
              <a:spcBef>
                <a:spcPts val="0"/>
              </a:spcBef>
              <a:spcAft>
                <a:spcPts val="0"/>
              </a:spcAft>
              <a:buNone/>
            </a:pPr>
            <a:r>
              <a:rPr lang="es" sz="1300" dirty="0">
                <a:solidFill>
                  <a:schemeClr val="dk1"/>
                </a:solidFill>
                <a:latin typeface="Nunito"/>
                <a:ea typeface="Nunito"/>
                <a:cs typeface="Nunito"/>
                <a:sym typeface="Nunito"/>
              </a:rPr>
              <a:t>2. Un robot debe cumplir las órdenes dadas por los seres humanos, a excepción de aquellas que entrasen en conflicto con la primera ley.</a:t>
            </a: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a:p>
            <a:pPr marL="0" lvl="0" indent="0" algn="l" rtl="0">
              <a:spcBef>
                <a:spcPts val="0"/>
              </a:spcBef>
              <a:spcAft>
                <a:spcPts val="0"/>
              </a:spcAft>
              <a:buNone/>
            </a:pPr>
            <a:r>
              <a:rPr lang="es" sz="1300" dirty="0">
                <a:solidFill>
                  <a:schemeClr val="dk1"/>
                </a:solidFill>
                <a:latin typeface="Nunito"/>
                <a:ea typeface="Nunito"/>
                <a:cs typeface="Nunito"/>
                <a:sym typeface="Nunito"/>
              </a:rPr>
              <a:t>3. Un robot debe proteger su propia existencia en la medida en que esta protección no entre en conflicto con la primera o con la segunda ley</a:t>
            </a: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g2ef9d4e0891_0_69"/>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94" name="Google Shape;94;g2ef9d4e0891_0_69"/>
          <p:cNvPicPr preferRelativeResize="0"/>
          <p:nvPr/>
        </p:nvPicPr>
        <p:blipFill rotWithShape="1">
          <a:blip r:embed="rId4">
            <a:alphaModFix/>
          </a:blip>
          <a:srcRect t="13442"/>
          <a:stretch/>
        </p:blipFill>
        <p:spPr>
          <a:xfrm>
            <a:off x="54375" y="1452925"/>
            <a:ext cx="8853076" cy="3418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g2ef9d4e0891_0_1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0" name="Google Shape;100;g2ef9d4e0891_0_19"/>
          <p:cNvSpPr txBox="1"/>
          <p:nvPr/>
        </p:nvSpPr>
        <p:spPr>
          <a:xfrm>
            <a:off x="8450" y="736100"/>
            <a:ext cx="8786700" cy="380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dirty="0">
                <a:solidFill>
                  <a:schemeClr val="dk1"/>
                </a:solidFill>
                <a:latin typeface="Nunito"/>
                <a:ea typeface="Nunito"/>
                <a:cs typeface="Nunito"/>
                <a:sym typeface="Nunito"/>
              </a:rPr>
              <a:t>1950 ¿Cómo diferenciar a una máquina de un ser humano?</a:t>
            </a:r>
            <a:endParaRPr sz="1800" b="1" dirty="0">
              <a:solidFill>
                <a:schemeClr val="dk1"/>
              </a:solidFill>
              <a:latin typeface="Nunito"/>
              <a:ea typeface="Nunito"/>
              <a:cs typeface="Nunito"/>
              <a:sym typeface="Nunito"/>
            </a:endParaRPr>
          </a:p>
          <a:p>
            <a:pPr marL="0" lvl="0" indent="0" algn="ctr" rtl="0">
              <a:spcBef>
                <a:spcPts val="0"/>
              </a:spcBef>
              <a:spcAft>
                <a:spcPts val="0"/>
              </a:spcAft>
              <a:buNone/>
            </a:pPr>
            <a:endParaRPr b="1" dirty="0">
              <a:solidFill>
                <a:schemeClr val="dk1"/>
              </a:solidFill>
              <a:latin typeface="Nunito"/>
              <a:ea typeface="Nunito"/>
              <a:cs typeface="Nunito"/>
              <a:sym typeface="Nunito"/>
            </a:endParaRPr>
          </a:p>
          <a:p>
            <a:pPr marL="0" lvl="0" indent="0" algn="l" rtl="0">
              <a:spcBef>
                <a:spcPts val="0"/>
              </a:spcBef>
              <a:spcAft>
                <a:spcPts val="0"/>
              </a:spcAft>
              <a:buNone/>
            </a:pPr>
            <a:r>
              <a:rPr lang="es" sz="1800" dirty="0">
                <a:solidFill>
                  <a:schemeClr val="dk1"/>
                </a:solidFill>
                <a:latin typeface="Nunito"/>
                <a:ea typeface="Nunito"/>
                <a:cs typeface="Nunito"/>
                <a:sym typeface="Nunito"/>
              </a:rPr>
              <a:t>Alan Turing propone en su ensayo titulado Computing Machinery and Intelligence el que sería conocido como el Test de Turing, una prueba de comunicación verbal hombre máquina que evalúa la capacidad de las segundas de hacerse pasar por humanos.</a:t>
            </a:r>
            <a:endParaRPr sz="1800" dirty="0">
              <a:solidFill>
                <a:schemeClr val="dk1"/>
              </a:solidFill>
              <a:latin typeface="Nunito"/>
              <a:ea typeface="Nunito"/>
              <a:cs typeface="Nunito"/>
              <a:sym typeface="Nunito"/>
            </a:endParaRPr>
          </a:p>
          <a:p>
            <a:pPr marL="0" lvl="0" indent="0" algn="l" rtl="0">
              <a:spcBef>
                <a:spcPts val="0"/>
              </a:spcBef>
              <a:spcAft>
                <a:spcPts val="0"/>
              </a:spcAft>
              <a:buNone/>
            </a:pPr>
            <a:endParaRPr sz="1800" dirty="0">
              <a:solidFill>
                <a:schemeClr val="dk1"/>
              </a:solidFill>
              <a:latin typeface="Nunito"/>
              <a:ea typeface="Nunito"/>
              <a:cs typeface="Nunito"/>
              <a:sym typeface="Nunito"/>
            </a:endParaRPr>
          </a:p>
          <a:p>
            <a:pPr marL="0" lvl="0" indent="0" algn="l" rtl="0">
              <a:spcBef>
                <a:spcPts val="0"/>
              </a:spcBef>
              <a:spcAft>
                <a:spcPts val="0"/>
              </a:spcAft>
              <a:buNone/>
            </a:pPr>
            <a:endParaRPr sz="1800" dirty="0">
              <a:solidFill>
                <a:schemeClr val="dk1"/>
              </a:solidFill>
              <a:latin typeface="Nunito"/>
              <a:ea typeface="Nunito"/>
              <a:cs typeface="Nunito"/>
              <a:sym typeface="Nunito"/>
            </a:endParaRPr>
          </a:p>
          <a:p>
            <a:pPr marL="0" lvl="0" indent="0" algn="l" rtl="0">
              <a:spcBef>
                <a:spcPts val="0"/>
              </a:spcBef>
              <a:spcAft>
                <a:spcPts val="0"/>
              </a:spcAft>
              <a:buNone/>
            </a:pPr>
            <a:endParaRPr sz="1800" dirty="0">
              <a:solidFill>
                <a:schemeClr val="dk1"/>
              </a:solidFill>
              <a:latin typeface="Nunito"/>
              <a:ea typeface="Nunito"/>
              <a:cs typeface="Nunito"/>
              <a:sym typeface="Nunito"/>
            </a:endParaRPr>
          </a:p>
          <a:p>
            <a:pPr marL="0" lvl="0" indent="0" algn="l" rtl="0">
              <a:spcBef>
                <a:spcPts val="0"/>
              </a:spcBef>
              <a:spcAft>
                <a:spcPts val="0"/>
              </a:spcAft>
              <a:buNone/>
            </a:pPr>
            <a:endParaRPr sz="1800" dirty="0">
              <a:solidFill>
                <a:schemeClr val="dk1"/>
              </a:solidFill>
              <a:latin typeface="Nunito"/>
              <a:ea typeface="Nunito"/>
              <a:cs typeface="Nunito"/>
              <a:sym typeface="Nunito"/>
            </a:endParaRPr>
          </a:p>
          <a:p>
            <a:pPr marL="0" lvl="0" indent="0" algn="l" rtl="0">
              <a:spcBef>
                <a:spcPts val="0"/>
              </a:spcBef>
              <a:spcAft>
                <a:spcPts val="0"/>
              </a:spcAft>
              <a:buNone/>
            </a:pPr>
            <a:endParaRPr sz="1300" dirty="0">
              <a:solidFill>
                <a:schemeClr val="dk1"/>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g2ef9d4e0891_0_2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6" name="Google Shape;106;g2ef9d4e0891_0_23"/>
          <p:cNvSpPr txBox="1"/>
          <p:nvPr/>
        </p:nvSpPr>
        <p:spPr>
          <a:xfrm>
            <a:off x="54375" y="743875"/>
            <a:ext cx="8973900" cy="29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latin typeface="Nunito"/>
                <a:ea typeface="Nunito"/>
                <a:cs typeface="Nunito"/>
                <a:sym typeface="Nunito"/>
              </a:rPr>
              <a:t>1956. Nace el término Inteligencia artificial</a:t>
            </a:r>
            <a:endParaRPr sz="1800" b="1">
              <a:solidFill>
                <a:schemeClr val="dk1"/>
              </a:solidFill>
              <a:latin typeface="Nunito"/>
              <a:ea typeface="Nunito"/>
              <a:cs typeface="Nunito"/>
              <a:sym typeface="Nunito"/>
            </a:endParaRPr>
          </a:p>
          <a:p>
            <a:pPr marL="0" lvl="0" indent="0" algn="l" rtl="0">
              <a:spcBef>
                <a:spcPts val="0"/>
              </a:spcBef>
              <a:spcAft>
                <a:spcPts val="0"/>
              </a:spcAft>
              <a:buNone/>
            </a:pPr>
            <a:endParaRPr sz="1800">
              <a:solidFill>
                <a:schemeClr val="dk1"/>
              </a:solidFill>
              <a:latin typeface="Nunito"/>
              <a:ea typeface="Nunito"/>
              <a:cs typeface="Nunito"/>
              <a:sym typeface="Nunito"/>
            </a:endParaRPr>
          </a:p>
          <a:p>
            <a:pPr marL="0" lvl="0" indent="0" algn="l" rtl="0">
              <a:spcBef>
                <a:spcPts val="0"/>
              </a:spcBef>
              <a:spcAft>
                <a:spcPts val="0"/>
              </a:spcAft>
              <a:buNone/>
            </a:pPr>
            <a:endParaRPr sz="1800">
              <a:solidFill>
                <a:schemeClr val="dk1"/>
              </a:solidFill>
              <a:latin typeface="Nunito"/>
              <a:ea typeface="Nunito"/>
              <a:cs typeface="Nunito"/>
              <a:sym typeface="Nunito"/>
            </a:endParaRPr>
          </a:p>
          <a:p>
            <a:pPr marL="0" lvl="0" indent="0" algn="l" rtl="0">
              <a:spcBef>
                <a:spcPts val="0"/>
              </a:spcBef>
              <a:spcAft>
                <a:spcPts val="0"/>
              </a:spcAft>
              <a:buNone/>
            </a:pPr>
            <a:r>
              <a:rPr lang="es" sz="1800">
                <a:solidFill>
                  <a:schemeClr val="dk1"/>
                </a:solidFill>
                <a:latin typeface="Nunito"/>
                <a:ea typeface="Nunito"/>
                <a:cs typeface="Nunito"/>
                <a:sym typeface="Nunito"/>
              </a:rPr>
              <a:t>El informático John McCarthy acuña por primera vez el término Inteligencia Artificial durante la conferencia de Darmouth de 1956, considerada el germen de la disciplina.</a:t>
            </a:r>
            <a:endParaRPr sz="18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g2ef9d4e0891_0_2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2" name="Google Shape;112;g2ef9d4e0891_0_27"/>
          <p:cNvSpPr txBox="1"/>
          <p:nvPr/>
        </p:nvSpPr>
        <p:spPr>
          <a:xfrm>
            <a:off x="8450" y="764100"/>
            <a:ext cx="9127200" cy="38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a:solidFill>
                  <a:schemeClr val="dk1"/>
                </a:solidFill>
                <a:latin typeface="Nunito"/>
                <a:ea typeface="Nunito"/>
                <a:cs typeface="Nunito"/>
                <a:sym typeface="Nunito"/>
              </a:rPr>
              <a:t>1966 - ELIZA da voz a las computadoras</a:t>
            </a:r>
            <a:endParaRPr sz="2400" b="1">
              <a:solidFill>
                <a:schemeClr val="dk1"/>
              </a:solidFill>
              <a:latin typeface="Nunito"/>
              <a:ea typeface="Nunito"/>
              <a:cs typeface="Nunito"/>
              <a:sym typeface="Nunito"/>
            </a:endParaRPr>
          </a:p>
          <a:p>
            <a:pPr marL="0" lvl="0" indent="0" algn="ctr" rtl="0">
              <a:spcBef>
                <a:spcPts val="0"/>
              </a:spcBef>
              <a:spcAft>
                <a:spcPts val="0"/>
              </a:spcAft>
              <a:buNone/>
            </a:pPr>
            <a:endParaRPr sz="2400" b="1">
              <a:solidFill>
                <a:schemeClr val="dk1"/>
              </a:solidFill>
              <a:latin typeface="Nunito"/>
              <a:ea typeface="Nunito"/>
              <a:cs typeface="Nunito"/>
              <a:sym typeface="Nunito"/>
            </a:endParaRPr>
          </a:p>
          <a:p>
            <a:pPr marL="0" lvl="0" indent="0" algn="l" rtl="0">
              <a:spcBef>
                <a:spcPts val="0"/>
              </a:spcBef>
              <a:spcAft>
                <a:spcPts val="0"/>
              </a:spcAft>
              <a:buNone/>
            </a:pPr>
            <a:r>
              <a:rPr lang="es" sz="1800">
                <a:solidFill>
                  <a:schemeClr val="dk1"/>
                </a:solidFill>
                <a:latin typeface="Nunito"/>
                <a:ea typeface="Nunito"/>
                <a:cs typeface="Nunito"/>
                <a:sym typeface="Nunito"/>
              </a:rPr>
              <a:t>ELIZA, desarrollada en el MIT por Joseph Weizenbaum, fue quizás el primer chatbot del mundo. Fue el primer programa en incorporar el procesamiento del lenguaje natural humano cuyo objetivo es enseñar a las computadoras a comunicarse con nosotros en nuestro lenguaje, en lugar de requerir una programación en código .</a:t>
            </a:r>
            <a:endParaRPr sz="18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g2ef9d4e0891_0_3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8" name="Google Shape;118;g2ef9d4e0891_0_31"/>
          <p:cNvSpPr txBox="1"/>
          <p:nvPr/>
        </p:nvSpPr>
        <p:spPr>
          <a:xfrm>
            <a:off x="85475" y="751650"/>
            <a:ext cx="8857200" cy="29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dirty="0">
                <a:solidFill>
                  <a:schemeClr val="dk1"/>
                </a:solidFill>
                <a:latin typeface="Nunito"/>
                <a:ea typeface="Nunito"/>
                <a:cs typeface="Nunito"/>
                <a:sym typeface="Nunito"/>
              </a:rPr>
              <a:t>1969. Perceptrones</a:t>
            </a:r>
            <a:endParaRPr sz="2400" b="1" dirty="0">
              <a:solidFill>
                <a:schemeClr val="dk1"/>
              </a:solidFill>
              <a:latin typeface="Nunito"/>
              <a:ea typeface="Nunito"/>
              <a:cs typeface="Nunito"/>
              <a:sym typeface="Nunito"/>
            </a:endParaRPr>
          </a:p>
          <a:p>
            <a:pPr marL="0" lvl="0" indent="0" algn="ctr" rtl="0">
              <a:spcBef>
                <a:spcPts val="0"/>
              </a:spcBef>
              <a:spcAft>
                <a:spcPts val="0"/>
              </a:spcAft>
              <a:buNone/>
            </a:pPr>
            <a:endParaRPr sz="2400" b="1" dirty="0">
              <a:solidFill>
                <a:schemeClr val="dk1"/>
              </a:solidFill>
              <a:latin typeface="Nunito"/>
              <a:ea typeface="Nunito"/>
              <a:cs typeface="Nunito"/>
              <a:sym typeface="Nunito"/>
            </a:endParaRPr>
          </a:p>
          <a:p>
            <a:pPr marL="0" lvl="0" indent="0" algn="l" rtl="0">
              <a:spcBef>
                <a:spcPts val="0"/>
              </a:spcBef>
              <a:spcAft>
                <a:spcPts val="0"/>
              </a:spcAft>
              <a:buNone/>
            </a:pPr>
            <a:r>
              <a:rPr lang="es" sz="2400" dirty="0">
                <a:solidFill>
                  <a:schemeClr val="dk1"/>
                </a:solidFill>
                <a:latin typeface="Nunito"/>
                <a:ea typeface="Nunito"/>
                <a:cs typeface="Nunito"/>
                <a:sym typeface="Nunito"/>
              </a:rPr>
              <a:t>Marvin Misnky el cofundador del MIT escribe Perceptrones el trabajo fundamental del análisis de las redes neuronales artificiales.</a:t>
            </a: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g2ef9d4e0891_0_3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4" name="Google Shape;124;g2ef9d4e0891_0_35"/>
          <p:cNvSpPr txBox="1"/>
          <p:nvPr/>
        </p:nvSpPr>
        <p:spPr>
          <a:xfrm>
            <a:off x="303025" y="1023400"/>
            <a:ext cx="8367900" cy="29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a:solidFill>
                  <a:schemeClr val="dk1"/>
                </a:solidFill>
                <a:latin typeface="Nunito"/>
                <a:ea typeface="Nunito"/>
                <a:cs typeface="Nunito"/>
                <a:sym typeface="Nunito"/>
              </a:rPr>
              <a:t>1979. El vehículo de Stanforf</a:t>
            </a:r>
            <a:endParaRPr sz="2400" b="1">
              <a:solidFill>
                <a:schemeClr val="dk1"/>
              </a:solidFill>
              <a:latin typeface="Nunito"/>
              <a:ea typeface="Nunito"/>
              <a:cs typeface="Nunito"/>
              <a:sym typeface="Nunito"/>
            </a:endParaRPr>
          </a:p>
          <a:p>
            <a:pPr marL="0" lvl="0" indent="0" algn="ctr" rtl="0">
              <a:spcBef>
                <a:spcPts val="0"/>
              </a:spcBef>
              <a:spcAft>
                <a:spcPts val="0"/>
              </a:spcAft>
              <a:buNone/>
            </a:pPr>
            <a:endParaRPr sz="2400" b="1">
              <a:solidFill>
                <a:schemeClr val="dk1"/>
              </a:solidFill>
              <a:latin typeface="Nunito"/>
              <a:ea typeface="Nunito"/>
              <a:cs typeface="Nunito"/>
              <a:sym typeface="Nunito"/>
            </a:endParaRPr>
          </a:p>
          <a:p>
            <a:pPr marL="0" lvl="0" indent="0" algn="l" rtl="0">
              <a:spcBef>
                <a:spcPts val="0"/>
              </a:spcBef>
              <a:spcAft>
                <a:spcPts val="0"/>
              </a:spcAft>
              <a:buNone/>
            </a:pPr>
            <a:r>
              <a:rPr lang="es" sz="2400">
                <a:solidFill>
                  <a:schemeClr val="dk1"/>
                </a:solidFill>
                <a:latin typeface="Nunito"/>
                <a:ea typeface="Nunito"/>
                <a:cs typeface="Nunito"/>
                <a:sym typeface="Nunito"/>
              </a:rPr>
              <a:t>Este vehículo, uno de los primeros vehículos autónomos de la historia se convirtió en el primero de recorrer con éxito un espacio ocupado por obstáculos de forma autónoma.</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g2ef9d4e0891_0_3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0" name="Google Shape;130;g2ef9d4e0891_0_39"/>
          <p:cNvSpPr txBox="1"/>
          <p:nvPr/>
        </p:nvSpPr>
        <p:spPr>
          <a:xfrm>
            <a:off x="415650" y="759425"/>
            <a:ext cx="8332800" cy="29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dirty="0">
                <a:solidFill>
                  <a:schemeClr val="dk1"/>
                </a:solidFill>
                <a:latin typeface="Nunito"/>
                <a:ea typeface="Nunito"/>
                <a:cs typeface="Nunito"/>
                <a:sym typeface="Nunito"/>
              </a:rPr>
              <a:t>1996. Deep Blue</a:t>
            </a:r>
            <a:endParaRPr sz="2400" b="1" dirty="0">
              <a:solidFill>
                <a:schemeClr val="dk1"/>
              </a:solidFill>
              <a:latin typeface="Nunito"/>
              <a:ea typeface="Nunito"/>
              <a:cs typeface="Nunito"/>
              <a:sym typeface="Nunito"/>
            </a:endParaRPr>
          </a:p>
          <a:p>
            <a:pPr marL="0" lvl="0" indent="0" algn="l" rtl="0">
              <a:spcBef>
                <a:spcPts val="0"/>
              </a:spcBef>
              <a:spcAft>
                <a:spcPts val="0"/>
              </a:spcAft>
              <a:buNone/>
            </a:pPr>
            <a:r>
              <a:rPr lang="es" sz="2400" dirty="0">
                <a:solidFill>
                  <a:schemeClr val="dk1"/>
                </a:solidFill>
                <a:latin typeface="Nunito"/>
                <a:ea typeface="Nunito"/>
                <a:cs typeface="Nunito"/>
                <a:sym typeface="Nunito"/>
              </a:rPr>
              <a:t>La supercomputadora Deep Blue, creada por IBM, vence al campeón del mundo de ajedrez Gary Kasparov.</a:t>
            </a: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a:p>
            <a:pPr marL="0" lvl="0" indent="0" algn="l" rtl="0">
              <a:spcBef>
                <a:spcPts val="0"/>
              </a:spcBef>
              <a:spcAft>
                <a:spcPts val="0"/>
              </a:spcAft>
              <a:buNone/>
            </a:pPr>
            <a:endParaRPr sz="2400" dirty="0">
              <a:solidFill>
                <a:schemeClr val="dk1"/>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g2ef9d4e0891_0_4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6" name="Google Shape;136;g2ef9d4e0891_0_43"/>
          <p:cNvSpPr txBox="1"/>
          <p:nvPr/>
        </p:nvSpPr>
        <p:spPr>
          <a:xfrm>
            <a:off x="268025" y="743875"/>
            <a:ext cx="8480700" cy="29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400" b="1">
                <a:solidFill>
                  <a:schemeClr val="dk1"/>
                </a:solidFill>
                <a:latin typeface="Nunito"/>
                <a:ea typeface="Nunito"/>
                <a:cs typeface="Nunito"/>
                <a:sym typeface="Nunito"/>
              </a:rPr>
              <a:t>2005 . Máquinas más inteligentes que los hombres.</a:t>
            </a:r>
            <a:endParaRPr sz="2400" b="1">
              <a:solidFill>
                <a:schemeClr val="dk1"/>
              </a:solidFill>
              <a:latin typeface="Nunito"/>
              <a:ea typeface="Nunito"/>
              <a:cs typeface="Nunito"/>
              <a:sym typeface="Nunito"/>
            </a:endParaRPr>
          </a:p>
          <a:p>
            <a:pPr marL="0" lvl="0" indent="0" algn="l" rtl="0">
              <a:spcBef>
                <a:spcPts val="0"/>
              </a:spcBef>
              <a:spcAft>
                <a:spcPts val="0"/>
              </a:spcAft>
              <a:buNone/>
            </a:pPr>
            <a:r>
              <a:rPr lang="es" sz="2400">
                <a:solidFill>
                  <a:schemeClr val="dk1"/>
                </a:solidFill>
                <a:latin typeface="Nunito"/>
                <a:ea typeface="Nunito"/>
                <a:cs typeface="Nunito"/>
                <a:sym typeface="Nunito"/>
              </a:rPr>
              <a:t>Usando la Ley de Moore, Raymond Kurzweil predijo que las máquinas alcanzarán un nivel de inteligencia humano en 2029, y que de seguir para el año 2045 habrán superado la inteligencia de nuestra civilización en un billón de veces.</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g2ef9d4e0891_0_47"/>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42" name="Google Shape;142;g2ef9d4e0891_0_47"/>
          <p:cNvPicPr preferRelativeResize="0"/>
          <p:nvPr/>
        </p:nvPicPr>
        <p:blipFill rotWithShape="1">
          <a:blip r:embed="rId4">
            <a:alphaModFix/>
          </a:blip>
          <a:srcRect t="9428"/>
          <a:stretch/>
        </p:blipFill>
        <p:spPr>
          <a:xfrm>
            <a:off x="101000" y="1188750"/>
            <a:ext cx="8942850" cy="3954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2ef9d4e0891_0_51"/>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48" name="Google Shape;148;g2ef9d4e0891_0_51"/>
          <p:cNvPicPr preferRelativeResize="0"/>
          <p:nvPr/>
        </p:nvPicPr>
        <p:blipFill rotWithShape="1">
          <a:blip r:embed="rId4">
            <a:alphaModFix/>
          </a:blip>
          <a:srcRect t="13005"/>
          <a:stretch/>
        </p:blipFill>
        <p:spPr>
          <a:xfrm>
            <a:off x="8450" y="1297525"/>
            <a:ext cx="9127100" cy="3372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g2ef9d4e0891_0_55"/>
          <p:cNvPicPr preferRelativeResize="0"/>
          <p:nvPr/>
        </p:nvPicPr>
        <p:blipFill rotWithShape="1">
          <a:blip r:embed="rId3">
            <a:alphaModFix amt="62000"/>
          </a:blip>
          <a:srcRect/>
          <a:stretch/>
        </p:blipFill>
        <p:spPr>
          <a:xfrm>
            <a:off x="8451" y="0"/>
            <a:ext cx="9127099" cy="5143501"/>
          </a:xfrm>
          <a:prstGeom prst="rect">
            <a:avLst/>
          </a:prstGeom>
          <a:noFill/>
          <a:ln>
            <a:noFill/>
          </a:ln>
        </p:spPr>
      </p:pic>
      <p:pic>
        <p:nvPicPr>
          <p:cNvPr id="154" name="Google Shape;154;g2ef9d4e0891_0_55"/>
          <p:cNvPicPr preferRelativeResize="0"/>
          <p:nvPr/>
        </p:nvPicPr>
        <p:blipFill rotWithShape="1">
          <a:blip r:embed="rId4">
            <a:alphaModFix/>
          </a:blip>
          <a:srcRect t="14096"/>
          <a:stretch/>
        </p:blipFill>
        <p:spPr>
          <a:xfrm>
            <a:off x="8450" y="1320850"/>
            <a:ext cx="9127101" cy="35274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598</Words>
  <Application>Microsoft Office PowerPoint</Application>
  <PresentationFormat>Presentación en pantalla (16:9)</PresentationFormat>
  <Paragraphs>58</Paragraphs>
  <Slides>17</Slides>
  <Notes>17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Nunito</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erik sandoval</cp:lastModifiedBy>
  <cp:revision>1</cp:revision>
  <dcterms:modified xsi:type="dcterms:W3CDTF">2024-11-07T05:28:17Z</dcterms:modified>
</cp:coreProperties>
</file>