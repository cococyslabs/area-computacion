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erT2GVPM3nIZrovivaaefFnvi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B15139-9AFB-46B5-829C-A4E14D753E65}">
  <a:tblStyle styleId="{2AB15139-9AFB-46B5-829C-A4E14D753E6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68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f513d268b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1f513d268b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f513d268b4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1f513d268b4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f513d268b4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1f513d268b4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f513d268b4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1f513d268b4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f513d268b4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1f513d268b4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f513d268b4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1f513d268b4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f513d268b4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1f513d268b4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f513d268b4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1f513d268b4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f513d268b4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1f513d268b4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f513d268b4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1f513d268b4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f513d268b4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1f513d268b4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513d268b4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1f513d268b4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d4a5065e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2d4a5065e8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d4a5065e8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2d4a5065e89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d4a5065e89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2d4a5065e89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d4a5065e89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2d4a5065e8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d4a5065e89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2d4a5065e89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4a5065e89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2d4a5065e89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d4a5065e89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2d4a5065e89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UTkYv9-0fL8"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youtube.com/watch?v=yVIf4MtNg_c" TargetMode="Externa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www.youtube.com/watch?v=ENSHwuJU5sU"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690575" cy="798516"/>
        </p:xfrm>
        <a:graphic>
          <a:graphicData uri="http://schemas.openxmlformats.org/drawingml/2006/table">
            <a:tbl>
              <a:tblPr>
                <a:noFill/>
                <a:tableStyleId>{2AB15139-9AFB-46B5-829C-A4E14D753E65}</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a:t>Martes</a:t>
                      </a:r>
                      <a:r>
                        <a:rPr lang="es" sz="1400" u="none" strike="noStrike" cap="none"/>
                        <a:t>, </a:t>
                      </a:r>
                      <a:r>
                        <a:rPr lang="es"/>
                        <a:t>22</a:t>
                      </a:r>
                      <a:r>
                        <a:rPr lang="es" sz="1400" u="none" strike="noStrike" cap="none"/>
                        <a:t>/10/2024</a:t>
                      </a:r>
                      <a:endParaRPr sz="1400" u="none" strike="noStrike" cap="none"/>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17:20</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01750" y="2087375"/>
            <a:ext cx="5233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1" i="0" u="none" strike="noStrike" cap="none">
                <a:solidFill>
                  <a:srgbClr val="000000"/>
                </a:solidFill>
              </a:rPr>
              <a:t>Inteligencia </a:t>
            </a:r>
            <a:r>
              <a:rPr lang="es" sz="2500" b="1"/>
              <a:t>A</a:t>
            </a:r>
            <a:r>
              <a:rPr lang="es" sz="2500" b="1" i="0" u="none" strike="noStrike" cap="none">
                <a:solidFill>
                  <a:srgbClr val="000000"/>
                </a:solidFill>
              </a:rPr>
              <a:t>rtificial 1 Sección A</a:t>
            </a:r>
            <a:endParaRPr sz="2500" b="1" i="0" u="none" strike="noStrike" cap="none">
              <a:solidFill>
                <a:srgbClr val="000000"/>
              </a:solidFill>
            </a:endParaRPr>
          </a:p>
        </p:txBody>
      </p:sp>
      <p:sp>
        <p:nvSpPr>
          <p:cNvPr id="57" name="Google Shape;57;p1"/>
          <p:cNvSpPr txBox="1"/>
          <p:nvPr/>
        </p:nvSpPr>
        <p:spPr>
          <a:xfrm>
            <a:off x="69375" y="4595600"/>
            <a:ext cx="3784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1" i="0" u="none" strike="noStrike" cap="none">
                <a:solidFill>
                  <a:srgbClr val="000000"/>
                </a:solidFill>
              </a:rPr>
              <a:t>Erick Eden Sandoval Ramirez</a:t>
            </a:r>
            <a:endParaRPr sz="2000" b="1" i="0" u="none" strike="noStrike" cap="non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1f513d268b4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1f513d268b4_0_0"/>
          <p:cNvSpPr txBox="1"/>
          <p:nvPr/>
        </p:nvSpPr>
        <p:spPr>
          <a:xfrm>
            <a:off x="2678600" y="391825"/>
            <a:ext cx="2892300" cy="605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s" sz="2400" b="1" i="0" u="none" strike="noStrike" cap="none">
                <a:solidFill>
                  <a:schemeClr val="dk1"/>
                </a:solidFill>
                <a:latin typeface="Arial"/>
                <a:ea typeface="Arial"/>
                <a:cs typeface="Arial"/>
                <a:sym typeface="Arial"/>
              </a:rPr>
              <a:t>Machine learning</a:t>
            </a:r>
            <a:endParaRPr sz="2400" b="1" i="0" u="none" strike="noStrike" cap="none">
              <a:solidFill>
                <a:schemeClr val="dk1"/>
              </a:solidFill>
              <a:latin typeface="Arial"/>
              <a:ea typeface="Arial"/>
              <a:cs typeface="Arial"/>
              <a:sym typeface="Arial"/>
            </a:endParaRPr>
          </a:p>
        </p:txBody>
      </p:sp>
      <p:sp>
        <p:nvSpPr>
          <p:cNvPr id="64" name="Google Shape;64;g1f513d268b4_0_0"/>
          <p:cNvSpPr txBox="1"/>
          <p:nvPr/>
        </p:nvSpPr>
        <p:spPr>
          <a:xfrm>
            <a:off x="128225" y="1759625"/>
            <a:ext cx="8776800" cy="27069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El Machine Learning o aprendizaje automático es un campo científico y, más particularmente, una subcategoría de inteligencia artificial. Consiste en dejar que los algoritmos descubran "Patrones", patrones recurrentes, en conjuntos de datos. Esos datos pueden ser números, palabras, imágenes, estadísticas .. etc</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Todo lo que se pueda almacenar digitalmente puede servir como dato para el Machine Learning. Al detectar patrones en esos datos, los algoritmos aprenden y mejoran su rendimiento en la ejecución de una tarea específica.</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El Machine Learning aprenden de forma autónoma a realizar una tarea o hacer predicciones a partir de datos y mejorar su rendimiento con el tiempo. Una vez entrenado, el algoritmo podrá encontrar los patrones en nuevos datos.</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1f513d268b4_0_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1f513d268b4_0_7"/>
          <p:cNvSpPr txBox="1"/>
          <p:nvPr/>
        </p:nvSpPr>
        <p:spPr>
          <a:xfrm>
            <a:off x="398950" y="1104225"/>
            <a:ext cx="8299500" cy="32769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Permite que las máquinas aprendan sin ser expresamente programadas para ello. Una habilidad indispensable para hacer sistemas capaces de identificar datos para hacer predicciones. Esta tecnología está presente en un sinfín de aplicaciones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como las recomendaciones de Netflix o Spotify, las respuestas inteligentes de Gmail o el habla de Siri y Alexa.</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Es capaz de convertir una muestra de datos en un programa informático capaz de extraer inferencias de nuevos conjuntos de datos para los que no ha sido entrenado previamente. Esta capacidad de aprendizaje se emplea también para la mejora de motores de búsqueda, la robótica, el diagnóstico médico o incluso la detección del fraude en el uso de tarjetas de crédito.</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g1f513d268b4_0_1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6" name="Google Shape;76;g1f513d268b4_0_16"/>
          <p:cNvSpPr txBox="1"/>
          <p:nvPr/>
        </p:nvSpPr>
        <p:spPr>
          <a:xfrm>
            <a:off x="2689575" y="158650"/>
            <a:ext cx="3129900" cy="904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s" sz="2400" b="1" i="0" u="none" strike="noStrike" cap="none">
                <a:solidFill>
                  <a:schemeClr val="dk1"/>
                </a:solidFill>
                <a:latin typeface="Arial"/>
                <a:ea typeface="Arial"/>
                <a:cs typeface="Arial"/>
                <a:sym typeface="Arial"/>
              </a:rPr>
              <a:t>Historia del machine learning</a:t>
            </a:r>
            <a:endParaRPr sz="2400" b="1" i="0" u="none" strike="noStrike" cap="none">
              <a:solidFill>
                <a:schemeClr val="dk1"/>
              </a:solidFill>
              <a:latin typeface="Arial"/>
              <a:ea typeface="Arial"/>
              <a:cs typeface="Arial"/>
              <a:sym typeface="Arial"/>
            </a:endParaRPr>
          </a:p>
        </p:txBody>
      </p:sp>
      <p:sp>
        <p:nvSpPr>
          <p:cNvPr id="77" name="Google Shape;77;g1f513d268b4_0_16"/>
          <p:cNvSpPr txBox="1"/>
          <p:nvPr/>
        </p:nvSpPr>
        <p:spPr>
          <a:xfrm>
            <a:off x="113975" y="1146950"/>
            <a:ext cx="8933400" cy="33483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El machine learning comienza a mediados del siglo XX y se trata de una disciplina que se concibe por primera vez a partir del modelado matemático de las redes neuronales humanas.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Walter Pitts y Warren McCulloch publican en 1943 un artículo que intenta mapear matemáticamente el pensamiento y la toma de decisiones en los seres humanos.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Unos años después de este primer hito, en 1950, Arthur Samuel desarrolla un programa de ordenador para jugar a las damas. En este programa, con una memoria muy limitada, la máquina es capaz de elegir sus movimientos mediante la estrategia minimax (tomar decisiones esperando el peor escenario en la respuesta del adversario), que pasó a denominarse algoritmo minimax.</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Alan Turing propuso en 1950 una prueba mediante la cual determinar si una máquina es inteligente. En ella la máquina debía convencer a un humano de que también era humana.</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g1f513d268b4_0_2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3" name="Google Shape;83;g1f513d268b4_0_20"/>
          <p:cNvSpPr txBox="1"/>
          <p:nvPr/>
        </p:nvSpPr>
        <p:spPr>
          <a:xfrm>
            <a:off x="121100" y="968850"/>
            <a:ext cx="8784000" cy="39894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En sus comienzos, el desarrollo de las investigaciones relacionadas con el machine learning y la IA iban de la mano. Esto cambiaría a finales de los 70, ya que es en este momento cuando el desarrollo en IA se centra en el uso de enfoques lógicos basados en el conocimiento en lugar de en el uso de algoritmos.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Además, los investigadores también dejan a un lado la investigación sobre redes neuronales. Esto provoca una ruptura entre las dos disciplinas porque, hasta ese momento, los algoritmos de aprendizaje automático habían servido para entrenar a las IA.</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A partir de 1990 y con el incremento de Internet, se retoman las investigaciones en redes neuronales.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En este punto, el camino que toma la historia de machine learning pasa por una lucha y un cambio en el enfoque de la industria. Se opta por la practicidad y por el desarrollo de aplicaciones que resuelvan problemas prácticos en la prestación de servicios.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De este modo, el machine learning cambia de puntos de vista parejos y heredados de las investigaciones en IA a emplear enfoques basados en la teoría de la probabilidad y en las estadísticas. Un gran empuje a este enfoque tiene lugar en el momento en el que Internet empieza a crecer y cada vez hay más datos digitales a los que acceder.</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1f513d268b4_0_2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9" name="Google Shape;89;g1f513d268b4_0_24"/>
          <p:cNvSpPr txBox="1"/>
          <p:nvPr/>
        </p:nvSpPr>
        <p:spPr>
          <a:xfrm>
            <a:off x="121100" y="954600"/>
            <a:ext cx="8841000" cy="30633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En este contexto, empezaron a aparecer y desarrollarse nuevos algoritmos de machine learning y programas informáticos inteligentes que hacía de todo, desde planificar rutas de viaje hasta llegar al reconocimiento de voz o aprender a derrotar a un campeón mundial de ajedrez.</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En la actualidad, el machine learning es una disciplina necesaria para todo tipo de negocios y para la investigación en muchas empresas y universidades. La combinación del desarrollo de algoritmos de aprendizaje automático con los modelos de redes neuronales está ayudando a los sistemas informáticos a mejorar su rendimiento.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A esto se suma el gran desarrollo de Internet que existe en la actualidad y, con ello, las grandes cantidades de información y el rastro que dejamos con el uso de aplicaciones y la navegación web. En este sentido, el desarrollo del Big Data y su implementación en los procesos empresariales también ha contribuido a mejorar los algoritmos y el desarrollo del aprendizaje automático.</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g1f513d268b4_0_2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5" name="Google Shape;95;g1f513d268b4_0_28"/>
          <p:cNvSpPr txBox="1"/>
          <p:nvPr/>
        </p:nvSpPr>
        <p:spPr>
          <a:xfrm>
            <a:off x="2593125" y="71225"/>
            <a:ext cx="3170100" cy="89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s" sz="2400" b="1" i="0" u="none" strike="noStrike" cap="none">
                <a:solidFill>
                  <a:schemeClr val="dk2"/>
                </a:solidFill>
                <a:latin typeface="Arial"/>
                <a:ea typeface="Arial"/>
                <a:cs typeface="Arial"/>
                <a:sym typeface="Arial"/>
              </a:rPr>
              <a:t>¿Cómo funciona el Machine Learning?</a:t>
            </a:r>
            <a:endParaRPr sz="2400" b="1" i="0" u="none" strike="noStrike" cap="none">
              <a:solidFill>
                <a:schemeClr val="dk2"/>
              </a:solidFill>
              <a:latin typeface="Arial"/>
              <a:ea typeface="Arial"/>
              <a:cs typeface="Arial"/>
              <a:sym typeface="Arial"/>
            </a:endParaRPr>
          </a:p>
        </p:txBody>
      </p:sp>
      <p:sp>
        <p:nvSpPr>
          <p:cNvPr id="96" name="Google Shape;96;g1f513d268b4_0_28"/>
          <p:cNvSpPr txBox="1"/>
          <p:nvPr/>
        </p:nvSpPr>
        <p:spPr>
          <a:xfrm>
            <a:off x="85475" y="911875"/>
            <a:ext cx="8876400" cy="40536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Hay cuatro etapas principales en el desarrollo de un modelo de Machine Learning. Por lo general, es un Data Scientist quien gestiona y supervisa el proceso.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El primer paso es seleccionar y preparar un conjunto de datos de entrenamiento. Esos datos se utilizarán para alimentar el modelo de Machine Learning para aprender a resolver el problema para el que se ha diseñado.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Los datos se pueden etiquetar para indicarle al modelo las características que debe identificar. También pueden estar sin etiquetar, entonces será el modelo el que deberá detectar y extraer características recurrentes por sí mismo.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En ambos casos, los datos deben prepararse, organizarse y limpiarse cuidadosamente. De lo contrario, el entrenamiento del modelo de Machine Learning puede estar sesgado. Los resultados de sus predicciones futuras se verán afectados directamente.</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El segundo paso es seleccionar un algoritmo para ejecutar sobre el conjunto de datos de entrenamiento. El tipo de algoritmo que se emplea depende del tipo y del volumen de datos de entrenamiento y del tipo de problema que haya que resolver.</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g1f513d268b4_0_32"/>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2" name="Google Shape;102;g1f513d268b4_0_32"/>
          <p:cNvSpPr txBox="1"/>
          <p:nvPr/>
        </p:nvSpPr>
        <p:spPr>
          <a:xfrm>
            <a:off x="42750" y="840625"/>
            <a:ext cx="9018900" cy="41817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El tercer paso es entrenar el algoritmo. Es un proceso de repetición. Las variables se ejecutan a través del algoritmo y los resultados se comparan con los que debería haber producido. Los "pesos" y el sesgo se pueden ajustar para aumentar la precisión del resultado.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Después se vuelve a ejecutar las variables hasta que el algoritmo produzca el resultado correcto en la mayoría de los casos. El algoritmo entrenado es el modelo de Machine Learning.</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El cuarto y último paso es el uso y la mejora del modelo. Utilizamos el modelo sobre nuevos datos, cuyo origen depende del problema que haya que resolver.</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En realidad, el machine learning tiene más que ver con las matemáticas, la estadística y el etiquetado masivo. El reconocimiento de patrones que realizan los algoritmos de machine learning no dejan de ser algo similar a lo que hacen las formulas estadísticas. Todo se reduce al análisis de enormes cantidades de datos y a la aplicación de la probabilidad para calcular cuál es el resultado más factible a una determinada problemática.</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g1f513d268b4_0_3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8" name="Google Shape;108;g1f513d268b4_0_36"/>
          <p:cNvSpPr txBox="1"/>
          <p:nvPr/>
        </p:nvSpPr>
        <p:spPr>
          <a:xfrm>
            <a:off x="2514750" y="106850"/>
            <a:ext cx="3213000" cy="918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s" sz="2400" b="1" i="0" u="none" strike="noStrike" cap="none">
                <a:solidFill>
                  <a:schemeClr val="dk2"/>
                </a:solidFill>
                <a:latin typeface="Arial"/>
                <a:ea typeface="Arial"/>
                <a:cs typeface="Arial"/>
                <a:sym typeface="Arial"/>
              </a:rPr>
              <a:t>Algoritmos de Machine Learning</a:t>
            </a:r>
            <a:endParaRPr sz="2400" b="1" i="0" u="none" strike="noStrike" cap="none">
              <a:solidFill>
                <a:schemeClr val="dk2"/>
              </a:solidFill>
              <a:latin typeface="Arial"/>
              <a:ea typeface="Arial"/>
              <a:cs typeface="Arial"/>
              <a:sym typeface="Arial"/>
            </a:endParaRPr>
          </a:p>
        </p:txBody>
      </p:sp>
      <p:sp>
        <p:nvSpPr>
          <p:cNvPr id="109" name="Google Shape;109;g1f513d268b4_0_36"/>
          <p:cNvSpPr txBox="1"/>
          <p:nvPr/>
        </p:nvSpPr>
        <p:spPr>
          <a:xfrm>
            <a:off x="85500" y="1054350"/>
            <a:ext cx="8983200" cy="39681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Existe una amplia variedad de algoritmos de Machine Learning. Algunos, sin embargo, se utilizan mucho más a menudo que otros. En primer lugar, se utilizan diferentes algoritmos para los datos etiquetados.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Los algoritmos de regresión, lineal o logística, permiten comprender las relaciones entre los datos. La regresión lineal se utiliza para predecir el valor de una variable dependiente en función del valor de una variable independiente. Sería por ejemplo, para predecir las ventas anuales de un comercial en función de su nivel de estudios o de experiencia.</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La regresión logística a su vez se utiliza cuando las variables dependientes son binarias. Otro tipo de algoritmo de regresión llamado máquina de vectores de soporte es pertinente cuando las variables dependientes son más difíciles de clasificar.</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Otro algoritmo de ML popular es el árbol de decisiones. Ese algoritmo permite establecer recomendaciones basadas en un conjunto de reglas de decisión partiendo de datos clasificados. Por ejemplo, es posible recomendar por qué equipo de fútbol apostar basándose en datos como la edad de los jugadores o el porcentaje de victorias del equipo.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g1f513d268b4_0_4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5" name="Google Shape;115;g1f513d268b4_0_40"/>
          <p:cNvSpPr txBox="1"/>
          <p:nvPr/>
        </p:nvSpPr>
        <p:spPr>
          <a:xfrm>
            <a:off x="85500" y="840625"/>
            <a:ext cx="8926200" cy="34716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Para los datos no etiquetados, a menudo se utilizan los algoritmos de "clustering". Este método consiste en identificar los grupos con registros similares y etiquetar esos registros según el grupo al que pertenecen.</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Entre los algoritmos de clustering, encontramos K-medias, TwoStep o incluso Kohonen.</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Los algoritmos de asociación permiten descubrir patrones y relaciones en los datos, e identificar las relaciones “si/entonces”, llamadas “reglas de asociación». Esas reglas son similares a las que se utilizan en el campo del Data Mining o minería de datos.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0" i="0" u="none" strike="noStrike" cap="none">
                <a:solidFill>
                  <a:schemeClr val="dk1"/>
                </a:solidFill>
                <a:latin typeface="Arial"/>
                <a:ea typeface="Arial"/>
                <a:cs typeface="Arial"/>
                <a:sym typeface="Arial"/>
              </a:rPr>
              <a:t>Por último, las redes neuronales son algoritmos en forma de red con varias capas. La primera permite la captación de datos, una o más capas escondidas permiten sacar conclusiones de los datos captados y la última capa asigna una probabilidad a cada conclusión.</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0" i="0" u="none" strike="noStrike" cap="none">
                <a:solidFill>
                  <a:schemeClr val="dk1"/>
                </a:solidFill>
                <a:latin typeface="Arial"/>
                <a:ea typeface="Arial"/>
                <a:cs typeface="Arial"/>
                <a:sym typeface="Arial"/>
              </a:rPr>
              <a:t>Una red de neuronas “profunda” está compuesta por múltiples capas ocultas que permiten afinar los resultados de la anterior. Es la que se utiliza en el campo del </a:t>
            </a:r>
            <a:r>
              <a:rPr lang="es" sz="1400" b="1" i="0" u="none" strike="noStrike" cap="none">
                <a:solidFill>
                  <a:srgbClr val="FF0000"/>
                </a:solidFill>
                <a:latin typeface="Arial"/>
                <a:ea typeface="Arial"/>
                <a:cs typeface="Arial"/>
                <a:sym typeface="Arial"/>
              </a:rPr>
              <a:t>Deep Learning.</a:t>
            </a:r>
            <a:endParaRPr sz="1400" b="1" i="0" u="none" strike="noStrike" cap="none">
              <a:solidFill>
                <a:srgbClr val="FF0000"/>
              </a:solidFill>
              <a:latin typeface="Arial"/>
              <a:ea typeface="Arial"/>
              <a:cs typeface="Arial"/>
              <a:sym typeface="Arial"/>
            </a:endParaRPr>
          </a:p>
        </p:txBody>
      </p:sp>
      <p:sp>
        <p:nvSpPr>
          <p:cNvPr id="116" name="Google Shape;116;g1f513d268b4_0_40"/>
          <p:cNvSpPr txBox="1"/>
          <p:nvPr/>
        </p:nvSpPr>
        <p:spPr>
          <a:xfrm>
            <a:off x="132075" y="4607400"/>
            <a:ext cx="58350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https://www.youtube.com/watch?v=UTkYv9-0fL8</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g1f513d268b4_0_6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2" name="Google Shape;122;g1f513d268b4_0_60"/>
          <p:cNvSpPr txBox="1"/>
          <p:nvPr/>
        </p:nvSpPr>
        <p:spPr>
          <a:xfrm>
            <a:off x="2529000" y="142475"/>
            <a:ext cx="3490800" cy="49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s" sz="2400" b="1" i="0" u="none" strike="noStrike" cap="none">
                <a:solidFill>
                  <a:schemeClr val="dk2"/>
                </a:solidFill>
                <a:latin typeface="Arial"/>
                <a:ea typeface="Arial"/>
                <a:cs typeface="Arial"/>
                <a:sym typeface="Arial"/>
              </a:rPr>
              <a:t>Aplicaciones prácticas</a:t>
            </a:r>
            <a:endParaRPr sz="2400" b="1" i="0" u="none" strike="noStrike" cap="none">
              <a:solidFill>
                <a:schemeClr val="dk2"/>
              </a:solidFill>
              <a:latin typeface="Arial"/>
              <a:ea typeface="Arial"/>
              <a:cs typeface="Arial"/>
              <a:sym typeface="Arial"/>
            </a:endParaRPr>
          </a:p>
        </p:txBody>
      </p:sp>
      <p:sp>
        <p:nvSpPr>
          <p:cNvPr id="123" name="Google Shape;123;g1f513d268b4_0_60"/>
          <p:cNvSpPr txBox="1"/>
          <p:nvPr/>
        </p:nvSpPr>
        <p:spPr>
          <a:xfrm>
            <a:off x="8450" y="1011600"/>
            <a:ext cx="9017700" cy="39609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Recomendaciones:</a:t>
            </a:r>
            <a:r>
              <a:rPr lang="es" sz="1400" b="0" i="0" u="none" strike="noStrike" cap="none">
                <a:solidFill>
                  <a:schemeClr val="dk1"/>
                </a:solidFill>
                <a:latin typeface="Arial"/>
                <a:ea typeface="Arial"/>
                <a:cs typeface="Arial"/>
                <a:sym typeface="Arial"/>
              </a:rPr>
              <a:t> permite hacer sugerencias personalizadas de compra en plataformas online o recomendar canciones. En su forma más básica analiza el historial de compras y reproducciones del usuario y lo compara con lo que han hecho otros usuarios con tendencias o gastos parecidos.</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Vehículos inteligentes:</a:t>
            </a:r>
            <a:r>
              <a:rPr lang="es" sz="1400" b="0" i="0" u="none" strike="noStrike" cap="none">
                <a:solidFill>
                  <a:schemeClr val="dk1"/>
                </a:solidFill>
                <a:latin typeface="Arial"/>
                <a:ea typeface="Arial"/>
                <a:cs typeface="Arial"/>
                <a:sym typeface="Arial"/>
              </a:rPr>
              <a:t> según el informe Automotive 2025: industry without borders de IBM, en 2025 ya veremos coches inteligentes en las carreteras. Gracias al aprendizaje automático, estos vehículos podrán ajustar la configuración interna (temperatura, música, inclinación del respaldo, etc.) de acuerdo a las preferencias del conductor e, incluso, mover el volante solos para reaccionar al entorno.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Redes sociales:</a:t>
            </a:r>
            <a:r>
              <a:rPr lang="es" sz="1400" b="0" i="0" u="none" strike="noStrike" cap="none">
                <a:solidFill>
                  <a:schemeClr val="dk1"/>
                </a:solidFill>
                <a:latin typeface="Arial"/>
                <a:ea typeface="Arial"/>
                <a:cs typeface="Arial"/>
                <a:sym typeface="Arial"/>
              </a:rPr>
              <a:t> Twitter, por ejemplo, se sirve de algoritmos de Machine Learning para reducir en gran medida el spam publicado en esta red social mientras que Facebook, a su vez, lo utiliza para detectar tanto noticias falsas como contenidos no permitidos en retransmisiones en directo que bloquea automáticamente.</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1f513d268b4_0_6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9" name="Google Shape;129;g1f513d268b4_0_64"/>
          <p:cNvSpPr txBox="1"/>
          <p:nvPr/>
        </p:nvSpPr>
        <p:spPr>
          <a:xfrm>
            <a:off x="71250" y="940375"/>
            <a:ext cx="8983200" cy="41175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s" sz="1400" b="1" i="0" u="none" strike="noStrike" cap="none">
                <a:solidFill>
                  <a:schemeClr val="dk1"/>
                </a:solidFill>
              </a:rPr>
              <a:t>Procesamiento de Lenguaje Natural (PLN):</a:t>
            </a:r>
            <a:r>
              <a:rPr lang="es" sz="1400" b="0" i="0" u="none" strike="noStrike" cap="none">
                <a:solidFill>
                  <a:schemeClr val="dk1"/>
                </a:solidFill>
                <a:latin typeface="Arial"/>
                <a:ea typeface="Arial"/>
                <a:cs typeface="Arial"/>
                <a:sym typeface="Arial"/>
              </a:rPr>
              <a:t> a través de la comprensión del lenguaje humano, asistentes virtuales como Alexa o Siri pueden traducir instantáneamente de un idioma a otro, reconocer la voz del usuario e incluso analizar sus sentimientos. Por otro lado, el PLN también se utiliza para otras tareas complejas como traducir la jerga legal de los contratos a un lenguaje sencillo o ayudar a los abogados a ordenar grandes volúmenes de información relativos a un caso.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r>
              <a:rPr lang="es" sz="1400" b="1" i="0" u="none" strike="noStrike" cap="none">
                <a:solidFill>
                  <a:schemeClr val="dk1"/>
                </a:solidFill>
              </a:rPr>
              <a:t>Búsquedas:</a:t>
            </a:r>
            <a:r>
              <a:rPr lang="es" sz="1400" b="0" i="0" u="none" strike="noStrike" cap="none">
                <a:solidFill>
                  <a:schemeClr val="dk1"/>
                </a:solidFill>
                <a:latin typeface="Arial"/>
                <a:ea typeface="Arial"/>
                <a:cs typeface="Arial"/>
                <a:sym typeface="Arial"/>
              </a:rPr>
              <a:t> los motores de búsqueda se sirven del aprendizaje automático para optimizar sus resultados en función de su eficacia, midiendo la misma a través de los clics del usuario.</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Medicina:</a:t>
            </a:r>
            <a:r>
              <a:rPr lang="es" sz="1400" b="0" i="0" u="none" strike="noStrike" cap="none">
                <a:solidFill>
                  <a:schemeClr val="dk1"/>
                </a:solidFill>
                <a:latin typeface="Arial"/>
                <a:ea typeface="Arial"/>
                <a:cs typeface="Arial"/>
                <a:sym typeface="Arial"/>
              </a:rPr>
              <a:t> investigadores del Instituto de Tecnología de Massachusetts (MIT) ya utilizan el Machine Learning para detectar con mayor antelación el cáncer de mama, algo de vital importancia ya que su detección temprana aumenta las probabilidades de curación. Asimismo, también se utiliza con una alta eficacia para detectar neumonía y enfermedades de la retina que pueden provocar ceguera.</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1f513d268b4_0_6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5" name="Google Shape;135;g1f513d268b4_0_68"/>
          <p:cNvSpPr txBox="1"/>
          <p:nvPr/>
        </p:nvSpPr>
        <p:spPr>
          <a:xfrm>
            <a:off x="35625" y="826375"/>
            <a:ext cx="8969100" cy="392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Ciberseguridad:</a:t>
            </a:r>
            <a:r>
              <a:rPr lang="es" sz="1400" b="0" i="0" u="none" strike="noStrike" cap="none">
                <a:solidFill>
                  <a:schemeClr val="dk1"/>
                </a:solidFill>
                <a:latin typeface="Arial"/>
                <a:ea typeface="Arial"/>
                <a:cs typeface="Arial"/>
                <a:sym typeface="Arial"/>
              </a:rPr>
              <a:t> los nuevos antivirus y motores de detección de malware ya se sirven del aprendizaje automático para potenciar el escaneado, acelerar la detección y mejorar la habilidad de reconocer anomalías.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s" sz="1400" b="1" i="0" u="none" strike="noStrike" cap="none">
                <a:solidFill>
                  <a:schemeClr val="dk1"/>
                </a:solidFill>
              </a:rPr>
              <a:t>Machine learning para smart cities:</a:t>
            </a:r>
            <a:r>
              <a:rPr lang="es" sz="1400" b="0" i="0" u="none" strike="noStrike" cap="none">
                <a:solidFill>
                  <a:schemeClr val="dk1"/>
                </a:solidFill>
                <a:latin typeface="Arial"/>
                <a:ea typeface="Arial"/>
                <a:cs typeface="Arial"/>
                <a:sym typeface="Arial"/>
              </a:rPr>
              <a:t> Existe gran dificultad por parte de muchas ciudades para detectar las problemáticas de su ciudad y poder elaborar soluciones en consecuencia. Gracias al machine learning, estos sistemas pueden gestionar una gran cantidad de datos (tanto estructurados como no estructurados) desde grabaciones de vídeo hasta comentarios en medios sociales, analizando todos los datos recogidos para así ayudar a encontrar las soluciones específicas para cada problemática, ya que no todas las soluciones funcionan para problemas similares.</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2d4a5065e89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1" name="Google Shape;141;g2d4a5065e89_0_0"/>
          <p:cNvSpPr txBox="1"/>
          <p:nvPr/>
        </p:nvSpPr>
        <p:spPr>
          <a:xfrm>
            <a:off x="2548450" y="155400"/>
            <a:ext cx="3162300" cy="4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Clustering no supervisado</a:t>
            </a:r>
            <a:endParaRPr sz="1800" b="1">
              <a:solidFill>
                <a:schemeClr val="dk1"/>
              </a:solidFill>
            </a:endParaRPr>
          </a:p>
        </p:txBody>
      </p:sp>
      <p:sp>
        <p:nvSpPr>
          <p:cNvPr id="142" name="Google Shape;142;g2d4a5065e89_0_0"/>
          <p:cNvSpPr txBox="1"/>
          <p:nvPr/>
        </p:nvSpPr>
        <p:spPr>
          <a:xfrm>
            <a:off x="8450" y="854650"/>
            <a:ext cx="9097500" cy="4094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a:solidFill>
                  <a:schemeClr val="dk1"/>
                </a:solidFill>
              </a:rPr>
              <a:t>Un algoritmo de clustering no supervisado es una técnica de machine learning utilizada para agrupar un conjunto de datos en diferentes clusters o grupos sin tener etiquetas previas para esos datos. A diferencia del aprendizaje supervisado, donde cada instancia de datos viene con una etiqueta o resultado conocido, el aprendizaje no supervisado trabaja con datos sin etiquetas, permitiendo que el algoritmo encuentre patrones y estructuras por sí mismo.</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b="1">
                <a:solidFill>
                  <a:schemeClr val="dk1"/>
                </a:solidFill>
              </a:rPr>
              <a:t>El objetivo de los algoritmos de clustering no supervisado es identificar similitudes entre los elementos del conjunto de datos y agrupar aquellos elementos similares en clusters.</a:t>
            </a:r>
            <a:endParaRPr sz="1800" b="1">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Los elementos dentro de un mismo cluster son más similares entre sí que con los elementos de otros clusters, según algún criterio de similitud, como la distancia euclidiana u otras medidas de distancia.</a:t>
            </a:r>
            <a:endParaRPr sz="1800">
              <a:solidFill>
                <a:schemeClr val="dk1"/>
              </a:solidFill>
            </a:endParaRPr>
          </a:p>
          <a:p>
            <a:pPr marL="0" lvl="0" indent="0" algn="just" rtl="0">
              <a:spcBef>
                <a:spcPts val="0"/>
              </a:spcBef>
              <a:spcAft>
                <a:spcPts val="0"/>
              </a:spcAft>
              <a:buNone/>
            </a:pP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2d4a5065e89_0_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8" name="Google Shape;148;g2d4a5065e89_0_5"/>
          <p:cNvSpPr txBox="1"/>
          <p:nvPr/>
        </p:nvSpPr>
        <p:spPr>
          <a:xfrm>
            <a:off x="2898075" y="240875"/>
            <a:ext cx="2610600" cy="44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Proceso de Clustering</a:t>
            </a:r>
            <a:endParaRPr sz="1800" b="1">
              <a:solidFill>
                <a:schemeClr val="dk1"/>
              </a:solidFill>
            </a:endParaRPr>
          </a:p>
        </p:txBody>
      </p:sp>
      <p:sp>
        <p:nvSpPr>
          <p:cNvPr id="149" name="Google Shape;149;g2d4a5065e89_0_5"/>
          <p:cNvSpPr txBox="1"/>
          <p:nvPr/>
        </p:nvSpPr>
        <p:spPr>
          <a:xfrm>
            <a:off x="15550" y="776975"/>
            <a:ext cx="9051600" cy="4289100"/>
          </a:xfrm>
          <a:prstGeom prst="rect">
            <a:avLst/>
          </a:prstGeom>
          <a:noFill/>
          <a:ln>
            <a:noFill/>
          </a:ln>
        </p:spPr>
        <p:txBody>
          <a:bodyPr spcFirstLastPara="1" wrap="square" lIns="91425" tIns="91425" rIns="91425" bIns="91425" anchor="t" anchorCtr="0">
            <a:noAutofit/>
          </a:bodyPr>
          <a:lstStyle/>
          <a:p>
            <a:pPr marL="457200" lvl="0" indent="-330200" algn="just" rtl="0">
              <a:spcBef>
                <a:spcPts val="0"/>
              </a:spcBef>
              <a:spcAft>
                <a:spcPts val="0"/>
              </a:spcAft>
              <a:buClr>
                <a:schemeClr val="dk1"/>
              </a:buClr>
              <a:buSzPts val="1600"/>
              <a:buChar char="●"/>
            </a:pPr>
            <a:r>
              <a:rPr lang="es" sz="1600" b="1">
                <a:solidFill>
                  <a:schemeClr val="dk1"/>
                </a:solidFill>
              </a:rPr>
              <a:t>Selección de características:</a:t>
            </a:r>
            <a:r>
              <a:rPr lang="es" sz="1600">
                <a:solidFill>
                  <a:schemeClr val="dk1"/>
                </a:solidFill>
              </a:rPr>
              <a:t> Se eligen las características o variables que se utilizarán para medir la similitud entre los elementos del conjunto de datos.</a:t>
            </a:r>
            <a:endParaRPr sz="1600">
              <a:solidFill>
                <a:schemeClr val="dk1"/>
              </a:solidFill>
            </a:endParaRPr>
          </a:p>
          <a:p>
            <a:pPr marL="457200" lvl="0" indent="-330200" algn="just" rtl="0">
              <a:spcBef>
                <a:spcPts val="0"/>
              </a:spcBef>
              <a:spcAft>
                <a:spcPts val="0"/>
              </a:spcAft>
              <a:buClr>
                <a:schemeClr val="dk1"/>
              </a:buClr>
              <a:buSzPts val="1600"/>
              <a:buChar char="●"/>
            </a:pPr>
            <a:r>
              <a:rPr lang="es" sz="1600" b="1">
                <a:solidFill>
                  <a:schemeClr val="dk1"/>
                </a:solidFill>
              </a:rPr>
              <a:t>Determinación del número de clusters:</a:t>
            </a:r>
            <a:r>
              <a:rPr lang="es" sz="1600">
                <a:solidFill>
                  <a:schemeClr val="dk1"/>
                </a:solidFill>
              </a:rPr>
              <a:t> Se decide el número de clusters en los que se dividirán los datos. Este paso puede ser desafiante y a menudo requiere métodos como el método Elbow o técnicas de validación cruzada para encontrar un número óptimo de clusters.</a:t>
            </a:r>
            <a:endParaRPr sz="1600">
              <a:solidFill>
                <a:schemeClr val="dk1"/>
              </a:solidFill>
            </a:endParaRPr>
          </a:p>
          <a:p>
            <a:pPr marL="457200" lvl="0" indent="-330200" algn="just" rtl="0">
              <a:spcBef>
                <a:spcPts val="0"/>
              </a:spcBef>
              <a:spcAft>
                <a:spcPts val="0"/>
              </a:spcAft>
              <a:buClr>
                <a:schemeClr val="dk1"/>
              </a:buClr>
              <a:buSzPts val="1600"/>
              <a:buChar char="●"/>
            </a:pPr>
            <a:r>
              <a:rPr lang="es" sz="1600" b="1">
                <a:solidFill>
                  <a:schemeClr val="dk1"/>
                </a:solidFill>
              </a:rPr>
              <a:t>Asignación de clusters:</a:t>
            </a:r>
            <a:r>
              <a:rPr lang="es" sz="1600">
                <a:solidFill>
                  <a:schemeClr val="dk1"/>
                </a:solidFill>
              </a:rPr>
              <a:t> El algoritmo agrupa los datos en el número determinado de clusters basándose en las similitudes de las características seleccionadas. Cada elemento del conjunto de datos es asignado a un cluster.</a:t>
            </a:r>
            <a:endParaRPr sz="1600">
              <a:solidFill>
                <a:schemeClr val="dk1"/>
              </a:solidFill>
            </a:endParaRPr>
          </a:p>
          <a:p>
            <a:pPr marL="457200" lvl="0" indent="-330200" algn="just" rtl="0">
              <a:spcBef>
                <a:spcPts val="0"/>
              </a:spcBef>
              <a:spcAft>
                <a:spcPts val="0"/>
              </a:spcAft>
              <a:buClr>
                <a:schemeClr val="dk1"/>
              </a:buClr>
              <a:buSzPts val="1600"/>
              <a:buChar char="●"/>
            </a:pPr>
            <a:r>
              <a:rPr lang="es" sz="1600" b="1">
                <a:solidFill>
                  <a:schemeClr val="dk1"/>
                </a:solidFill>
              </a:rPr>
              <a:t>Optimización:</a:t>
            </a:r>
            <a:r>
              <a:rPr lang="es" sz="1600">
                <a:solidFill>
                  <a:schemeClr val="dk1"/>
                </a:solidFill>
              </a:rPr>
              <a:t> Los algoritmos iteran a través de los datos ajustando los clusters para mejorar la agrupación basándose en el criterio de similitud elegido. El proceso continúa hasta que se cumple algún criterio de parada, como un número máximo de iteraciones o un umbral mínimo de cambio en la calidad del clustering.</a:t>
            </a:r>
            <a:endParaRPr sz="1600">
              <a:solidFill>
                <a:schemeClr val="dk1"/>
              </a:solidFill>
            </a:endParaRPr>
          </a:p>
          <a:p>
            <a:pPr marL="457200" lvl="0" indent="0" algn="just" rtl="0">
              <a:spcBef>
                <a:spcPts val="0"/>
              </a:spcBef>
              <a:spcAft>
                <a:spcPts val="0"/>
              </a:spcAft>
              <a:buNone/>
            </a:pPr>
            <a:endParaRPr sz="16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Existen varios algoritmos de clustering no supervisado, siendo algunos de los más conocidos K-Means, Clustering Jerárquico</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2d4a5065e89_0_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5" name="Google Shape;155;g2d4a5065e89_0_9"/>
          <p:cNvSpPr txBox="1"/>
          <p:nvPr/>
        </p:nvSpPr>
        <p:spPr>
          <a:xfrm>
            <a:off x="3776025" y="209775"/>
            <a:ext cx="12666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dirty="0">
                <a:solidFill>
                  <a:schemeClr val="dk1"/>
                </a:solidFill>
              </a:rPr>
              <a:t>K-means</a:t>
            </a:r>
            <a:endParaRPr sz="1800" b="1" dirty="0">
              <a:solidFill>
                <a:schemeClr val="dk1"/>
              </a:solidFill>
            </a:endParaRPr>
          </a:p>
        </p:txBody>
      </p:sp>
      <p:sp>
        <p:nvSpPr>
          <p:cNvPr id="156" name="Google Shape;156;g2d4a5065e89_0_9"/>
          <p:cNvSpPr txBox="1"/>
          <p:nvPr/>
        </p:nvSpPr>
        <p:spPr>
          <a:xfrm>
            <a:off x="62150" y="823575"/>
            <a:ext cx="8966100" cy="3714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dirty="0">
                <a:solidFill>
                  <a:schemeClr val="dk1"/>
                </a:solidFill>
              </a:rPr>
              <a:t>Es un algoritmo de clasificación no supervisada (clusterización) que agrupa objetos en k grupos basándose en sus características. El agrupamiento se realiza minimizando la suma de distancias entre cada objeto y el centroide de su grupo o cluster. </a:t>
            </a:r>
            <a:endParaRPr sz="1800" dirty="0">
              <a:solidFill>
                <a:schemeClr val="dk1"/>
              </a:solidFill>
            </a:endParaRPr>
          </a:p>
        </p:txBody>
      </p:sp>
      <p:sp>
        <p:nvSpPr>
          <p:cNvPr id="157" name="Google Shape;157;g2d4a5065e89_0_9"/>
          <p:cNvSpPr txBox="1"/>
          <p:nvPr/>
        </p:nvSpPr>
        <p:spPr>
          <a:xfrm>
            <a:off x="108775" y="1763700"/>
            <a:ext cx="9035100" cy="305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800">
                <a:solidFill>
                  <a:schemeClr val="dk1"/>
                </a:solidFill>
              </a:rPr>
              <a:t>Pasos.</a:t>
            </a: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Inicialización:</a:t>
            </a:r>
            <a:r>
              <a:rPr lang="es" sz="1800">
                <a:solidFill>
                  <a:schemeClr val="dk1"/>
                </a:solidFill>
              </a:rPr>
              <a:t> una vez escogido el número de grupos, k, se establecen k centroides en el espacio de los datos, por ejemplo, escogiendo aleatoriamente.</a:t>
            </a: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Asignación objetos a los centroides:</a:t>
            </a:r>
            <a:r>
              <a:rPr lang="es" sz="1800">
                <a:solidFill>
                  <a:schemeClr val="dk1"/>
                </a:solidFill>
              </a:rPr>
              <a:t> cada objeto de los datos es asignado a su centroide más cercano.</a:t>
            </a:r>
            <a:endParaRPr sz="1800">
              <a:solidFill>
                <a:schemeClr val="dk1"/>
              </a:solidFill>
            </a:endParaRPr>
          </a:p>
          <a:p>
            <a:pPr marL="457200" lvl="0" indent="-342900" algn="just" rtl="0">
              <a:spcBef>
                <a:spcPts val="0"/>
              </a:spcBef>
              <a:spcAft>
                <a:spcPts val="0"/>
              </a:spcAft>
              <a:buClr>
                <a:schemeClr val="dk1"/>
              </a:buClr>
              <a:buSzPts val="1800"/>
              <a:buChar char="●"/>
            </a:pPr>
            <a:r>
              <a:rPr lang="es" sz="1800" b="1">
                <a:solidFill>
                  <a:schemeClr val="dk1"/>
                </a:solidFill>
              </a:rPr>
              <a:t>Actualización centroides:</a:t>
            </a:r>
            <a:r>
              <a:rPr lang="es" sz="1800">
                <a:solidFill>
                  <a:schemeClr val="dk1"/>
                </a:solidFill>
              </a:rPr>
              <a:t> se actualiza la posición del centroide de cada grupo tomando como nuevo centroide la posición del promedio de los objetos pertenecientes a dicho grupo.</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El algoritmo k-means resuelve un problema de optimización, siendo la función a optimizar (minimizar) la suma de las distancias cuadráticas de cada objeto al centroide de su cluster.</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g2d4a5065e89_0_1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3" name="Google Shape;163;g2d4a5065e89_0_13"/>
          <p:cNvSpPr txBox="1"/>
          <p:nvPr/>
        </p:nvSpPr>
        <p:spPr>
          <a:xfrm>
            <a:off x="0" y="730350"/>
            <a:ext cx="9127200" cy="1188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600" b="1">
                <a:solidFill>
                  <a:schemeClr val="dk1"/>
                </a:solidFill>
              </a:rPr>
              <a:t>Ejemplo :</a:t>
            </a:r>
            <a:r>
              <a:rPr lang="es" sz="1600">
                <a:solidFill>
                  <a:schemeClr val="dk1"/>
                </a:solidFill>
              </a:rPr>
              <a:t> Imagina que quieres agrupar a los estudiantes de una escuela según su altura y peso. K-Means colocará a los estudiantes en K grupos donde cada grupo tiene un «centroide» que representa la altura y el peso promedio de los estudiantes en ese grupo. Los estudiantes se reasignan a los grupos hasta que cada grupo esté bien definido.</a:t>
            </a:r>
            <a:endParaRPr sz="1600">
              <a:solidFill>
                <a:schemeClr val="dk1"/>
              </a:solidFill>
            </a:endParaRPr>
          </a:p>
        </p:txBody>
      </p:sp>
      <p:pic>
        <p:nvPicPr>
          <p:cNvPr id="164" name="Google Shape;164;g2d4a5065e89_0_13"/>
          <p:cNvPicPr preferRelativeResize="0"/>
          <p:nvPr/>
        </p:nvPicPr>
        <p:blipFill>
          <a:blip r:embed="rId4">
            <a:alphaModFix/>
          </a:blip>
          <a:stretch>
            <a:fillRect/>
          </a:stretch>
        </p:blipFill>
        <p:spPr>
          <a:xfrm>
            <a:off x="4852625" y="1793925"/>
            <a:ext cx="4074676" cy="2945574"/>
          </a:xfrm>
          <a:prstGeom prst="rect">
            <a:avLst/>
          </a:prstGeom>
          <a:noFill/>
          <a:ln>
            <a:noFill/>
          </a:ln>
        </p:spPr>
      </p:pic>
      <p:sp>
        <p:nvSpPr>
          <p:cNvPr id="165" name="Google Shape;165;g2d4a5065e89_0_13"/>
          <p:cNvSpPr txBox="1"/>
          <p:nvPr/>
        </p:nvSpPr>
        <p:spPr>
          <a:xfrm>
            <a:off x="8450" y="4778250"/>
            <a:ext cx="5166000" cy="32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5"/>
              </a:rPr>
              <a:t>https://www.youtube.com/watch?v=yVIf4MtNg_c</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g2d4a5065e89_0_6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1" name="Google Shape;171;g2d4a5065e89_0_65"/>
          <p:cNvSpPr txBox="1"/>
          <p:nvPr/>
        </p:nvSpPr>
        <p:spPr>
          <a:xfrm>
            <a:off x="2323125" y="209775"/>
            <a:ext cx="39081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K-nearest neighbor (supervisado)</a:t>
            </a:r>
            <a:endParaRPr sz="1800" b="1">
              <a:solidFill>
                <a:schemeClr val="dk1"/>
              </a:solidFill>
            </a:endParaRPr>
          </a:p>
        </p:txBody>
      </p:sp>
      <p:sp>
        <p:nvSpPr>
          <p:cNvPr id="172" name="Google Shape;172;g2d4a5065e89_0_65"/>
          <p:cNvSpPr txBox="1"/>
          <p:nvPr/>
        </p:nvSpPr>
        <p:spPr>
          <a:xfrm>
            <a:off x="23250" y="784750"/>
            <a:ext cx="9097500" cy="994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K-nearest neighbors (kNN) es un algoritmo de Machine Learning que pertenece a los algoritmos de aprendizaje supervisado simples y fáciles de aplicar que pueden ser utilizados para resolver problemas de clasificación y de regresión.</a:t>
            </a:r>
            <a:endParaRPr sz="1800">
              <a:solidFill>
                <a:schemeClr val="dk1"/>
              </a:solidFill>
            </a:endParaRPr>
          </a:p>
        </p:txBody>
      </p:sp>
      <p:sp>
        <p:nvSpPr>
          <p:cNvPr id="173" name="Google Shape;173;g2d4a5065e89_0_65"/>
          <p:cNvSpPr txBox="1"/>
          <p:nvPr/>
        </p:nvSpPr>
        <p:spPr>
          <a:xfrm>
            <a:off x="93225" y="1888025"/>
            <a:ext cx="8966100" cy="304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¿Cómo funciona kNN?</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Calcular la distancia entre el item a clasificar y el resto de items del dataset de entrenamiento.</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Seleccionar los “k” elementos más cercanos (con menor distancia, según la función que se use)</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Realizar una “votación de mayoría” entre los k puntos: los de una clase/etiqueta que &lt;&lt;dominen&gt;&gt; decidirán su clasificación final.</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g2d4a5065e89_0_2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9" name="Google Shape;179;g2d4a5065e89_0_21"/>
          <p:cNvSpPr txBox="1"/>
          <p:nvPr/>
        </p:nvSpPr>
        <p:spPr>
          <a:xfrm>
            <a:off x="3045725" y="217525"/>
            <a:ext cx="19656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Algunos usos</a:t>
            </a:r>
            <a:endParaRPr sz="1800" b="1">
              <a:solidFill>
                <a:schemeClr val="dk1"/>
              </a:solidFill>
            </a:endParaRPr>
          </a:p>
        </p:txBody>
      </p:sp>
      <p:sp>
        <p:nvSpPr>
          <p:cNvPr id="180" name="Google Shape;180;g2d4a5065e89_0_21"/>
          <p:cNvSpPr txBox="1"/>
          <p:nvPr/>
        </p:nvSpPr>
        <p:spPr>
          <a:xfrm>
            <a:off x="23250" y="784750"/>
            <a:ext cx="9097500" cy="35196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Char char="●"/>
            </a:pPr>
            <a:r>
              <a:rPr lang="es" sz="1800">
                <a:solidFill>
                  <a:schemeClr val="dk1"/>
                </a:solidFill>
              </a:rPr>
              <a:t>Puede utilizarse en tecnologías como OCR (Optical Character Recognizer), que intenta detectar la escritura manuscrita, las imágenes e incluso los videos.</a:t>
            </a:r>
            <a:endParaRPr sz="1800">
              <a:solidFill>
                <a:schemeClr val="dk1"/>
              </a:solidFill>
            </a:endParaRPr>
          </a:p>
          <a:p>
            <a:pPr marL="457200" lvl="0" indent="-342900" algn="just" rtl="0">
              <a:spcBef>
                <a:spcPts val="0"/>
              </a:spcBef>
              <a:spcAft>
                <a:spcPts val="0"/>
              </a:spcAft>
              <a:buClr>
                <a:schemeClr val="dk1"/>
              </a:buClr>
              <a:buSzPts val="1800"/>
              <a:buChar char="●"/>
            </a:pPr>
            <a:r>
              <a:rPr lang="es" sz="1800">
                <a:solidFill>
                  <a:schemeClr val="dk1"/>
                </a:solidFill>
              </a:rPr>
              <a:t>Puede utilizarse en el campo de las notaciones de crédito. En ese caso, intenta hacer corresponder las características de un individuo con el grupo de personas existentes para atribuirle la cotización de crédito correspondiente. Obtendrá entonces con la misma nota que las personas que corresponden a las mismas características.</a:t>
            </a:r>
            <a:endParaRPr sz="1800">
              <a:solidFill>
                <a:schemeClr val="dk1"/>
              </a:solidFill>
            </a:endParaRPr>
          </a:p>
          <a:p>
            <a:pPr marL="457200" lvl="0" indent="0" algn="just" rtl="0">
              <a:spcBef>
                <a:spcPts val="0"/>
              </a:spcBef>
              <a:spcAft>
                <a:spcPts val="0"/>
              </a:spcAft>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Se utiliza también para predecir si el banco debe otorgar un préstamo a un particular. Busca evaluar si el individuo dado corresponde a los mismos criterios que otras personas que han sido rechazadas anteriormente y sino, no es rechazado para el préstamo.</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None/>
            </a:pPr>
            <a:endParaRPr sz="1800">
              <a:solidFill>
                <a:schemeClr val="dk1"/>
              </a:solidFill>
            </a:endParaRPr>
          </a:p>
        </p:txBody>
      </p:sp>
      <p:sp>
        <p:nvSpPr>
          <p:cNvPr id="181" name="Google Shape;181;g2d4a5065e89_0_21"/>
          <p:cNvSpPr txBox="1"/>
          <p:nvPr/>
        </p:nvSpPr>
        <p:spPr>
          <a:xfrm>
            <a:off x="69925" y="4638475"/>
            <a:ext cx="54387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https://www.youtube.com/watch?v=ENSHwuJU5sU</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g2d4a5065e89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87" name="Google Shape;187;g2d4a5065e89_0_25"/>
          <p:cNvSpPr txBox="1"/>
          <p:nvPr/>
        </p:nvSpPr>
        <p:spPr>
          <a:xfrm>
            <a:off x="54375" y="877975"/>
            <a:ext cx="9089700" cy="40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1600" b="1">
                <a:solidFill>
                  <a:schemeClr val="dk1"/>
                </a:solidFill>
              </a:rPr>
              <a:t>Ventajas :</a:t>
            </a:r>
            <a:endParaRPr sz="1600" b="1">
              <a:solidFill>
                <a:schemeClr val="dk1"/>
              </a:solidFill>
            </a:endParaRPr>
          </a:p>
          <a:p>
            <a:pPr marL="457200" lvl="0" indent="-330200" algn="l" rtl="0">
              <a:spcBef>
                <a:spcPts val="0"/>
              </a:spcBef>
              <a:spcAft>
                <a:spcPts val="0"/>
              </a:spcAft>
              <a:buClr>
                <a:schemeClr val="dk1"/>
              </a:buClr>
              <a:buSzPts val="1600"/>
              <a:buChar char="●"/>
            </a:pPr>
            <a:r>
              <a:rPr lang="es" sz="1600">
                <a:solidFill>
                  <a:schemeClr val="dk1"/>
                </a:solidFill>
              </a:rPr>
              <a:t>El algoritmo es simple y fácil de aplicar.</a:t>
            </a:r>
            <a:endParaRPr sz="1600">
              <a:solidFill>
                <a:schemeClr val="dk1"/>
              </a:solidFill>
            </a:endParaRPr>
          </a:p>
          <a:p>
            <a:pPr marL="457200" lvl="0" indent="-330200" algn="l" rtl="0">
              <a:spcBef>
                <a:spcPts val="0"/>
              </a:spcBef>
              <a:spcAft>
                <a:spcPts val="0"/>
              </a:spcAft>
              <a:buClr>
                <a:schemeClr val="dk1"/>
              </a:buClr>
              <a:buSzPts val="1600"/>
              <a:buChar char="●"/>
            </a:pPr>
            <a:r>
              <a:rPr lang="es" sz="1600">
                <a:solidFill>
                  <a:schemeClr val="dk1"/>
                </a:solidFill>
              </a:rPr>
              <a:t>No es necesario crear un modelo, configurar varios parámetros o formular hipótesis suplementarias.</a:t>
            </a:r>
            <a:endParaRPr sz="1600">
              <a:solidFill>
                <a:schemeClr val="dk1"/>
              </a:solidFill>
            </a:endParaRPr>
          </a:p>
          <a:p>
            <a:pPr marL="457200" lvl="0" indent="-330200" algn="l" rtl="0">
              <a:spcBef>
                <a:spcPts val="0"/>
              </a:spcBef>
              <a:spcAft>
                <a:spcPts val="0"/>
              </a:spcAft>
              <a:buClr>
                <a:schemeClr val="dk1"/>
              </a:buClr>
              <a:buSzPts val="1600"/>
              <a:buChar char="●"/>
            </a:pPr>
            <a:r>
              <a:rPr lang="es" sz="1600">
                <a:solidFill>
                  <a:schemeClr val="dk1"/>
                </a:solidFill>
              </a:rPr>
              <a:t>El algoritmo es polivalente. Puede ser utilizado para la clasificación o la regresión.</a:t>
            </a:r>
            <a:endParaRPr sz="1600">
              <a:solidFill>
                <a:schemeClr val="dk1"/>
              </a:solidFill>
            </a:endParaRPr>
          </a:p>
          <a:p>
            <a:pPr marL="0" lvl="0" indent="0" algn="l" rtl="0">
              <a:spcBef>
                <a:spcPts val="0"/>
              </a:spcBef>
              <a:spcAft>
                <a:spcPts val="0"/>
              </a:spcAft>
              <a:buClr>
                <a:schemeClr val="dk1"/>
              </a:buClr>
              <a:buSzPts val="1100"/>
              <a:buFont typeface="Arial"/>
              <a:buNone/>
            </a:pPr>
            <a:endParaRPr sz="1600">
              <a:solidFill>
                <a:schemeClr val="dk1"/>
              </a:solidFill>
            </a:endParaRPr>
          </a:p>
          <a:p>
            <a:pPr marL="0" lvl="0" indent="0" algn="l" rtl="0">
              <a:spcBef>
                <a:spcPts val="0"/>
              </a:spcBef>
              <a:spcAft>
                <a:spcPts val="0"/>
              </a:spcAft>
              <a:buClr>
                <a:schemeClr val="dk1"/>
              </a:buClr>
              <a:buSzPts val="1100"/>
              <a:buFont typeface="Arial"/>
              <a:buNone/>
            </a:pPr>
            <a:r>
              <a:rPr lang="es" sz="1600" b="1">
                <a:solidFill>
                  <a:schemeClr val="dk1"/>
                </a:solidFill>
              </a:rPr>
              <a:t>Desventajas :</a:t>
            </a:r>
            <a:endParaRPr sz="1600" b="1">
              <a:solidFill>
                <a:schemeClr val="dk1"/>
              </a:solidFill>
            </a:endParaRPr>
          </a:p>
          <a:p>
            <a:pPr marL="457200" lvl="0" indent="-330200" algn="l" rtl="0">
              <a:spcBef>
                <a:spcPts val="0"/>
              </a:spcBef>
              <a:spcAft>
                <a:spcPts val="0"/>
              </a:spcAft>
              <a:buClr>
                <a:schemeClr val="dk1"/>
              </a:buClr>
              <a:buSzPts val="1600"/>
              <a:buChar char="●"/>
            </a:pPr>
            <a:r>
              <a:rPr lang="es" sz="1600">
                <a:solidFill>
                  <a:schemeClr val="dk1"/>
                </a:solidFill>
              </a:rPr>
              <a:t>El algoritmo se vuelve más lento a medida que el número de observaciones aumenta y las variables independientes aumentan.</a:t>
            </a:r>
            <a:endParaRPr sz="1600">
              <a:solidFill>
                <a:schemeClr val="dk1"/>
              </a:solidFill>
            </a:endParaRPr>
          </a:p>
          <a:p>
            <a:pPr marL="457200" lvl="0" indent="0" algn="l" rtl="0">
              <a:spcBef>
                <a:spcPts val="0"/>
              </a:spcBef>
              <a:spcAft>
                <a:spcPts val="0"/>
              </a:spcAft>
              <a:buNone/>
            </a:pPr>
            <a:endParaRPr sz="1600">
              <a:solidFill>
                <a:schemeClr val="dk1"/>
              </a:solidFill>
            </a:endParaRPr>
          </a:p>
          <a:p>
            <a:pPr marL="0" lvl="0" indent="0" algn="l" rtl="0">
              <a:spcBef>
                <a:spcPts val="0"/>
              </a:spcBef>
              <a:spcAft>
                <a:spcPts val="0"/>
              </a:spcAft>
              <a:buClr>
                <a:schemeClr val="dk1"/>
              </a:buClr>
              <a:buSzPts val="1100"/>
              <a:buFont typeface="Arial"/>
              <a:buNone/>
            </a:pPr>
            <a:r>
              <a:rPr lang="es" sz="1600">
                <a:solidFill>
                  <a:schemeClr val="dk1"/>
                </a:solidFill>
              </a:rPr>
              <a:t>Al tratarse de uno de los algoritmos más simples de Machine Learning, es muy implementado por los desarrolladores de sistemas basados en el aprendizaje, intuitivos e inteligentes que pueden efectuar y tomar pequeñas decisiones solos.</a:t>
            </a:r>
            <a:endParaRPr sz="1600">
              <a:solidFill>
                <a:schemeClr val="dk1"/>
              </a:solidFill>
            </a:endParaRPr>
          </a:p>
          <a:p>
            <a:pPr marL="0" lvl="0" indent="0" algn="l" rtl="0">
              <a:spcBef>
                <a:spcPts val="0"/>
              </a:spcBef>
              <a:spcAft>
                <a:spcPts val="0"/>
              </a:spcAft>
              <a:buClr>
                <a:schemeClr val="dk1"/>
              </a:buClr>
              <a:buSzPts val="1100"/>
              <a:buFont typeface="Arial"/>
              <a:buNone/>
            </a:pPr>
            <a:endParaRPr sz="1600">
              <a:solidFill>
                <a:schemeClr val="dk1"/>
              </a:solidFill>
            </a:endParaRPr>
          </a:p>
          <a:p>
            <a:pPr marL="0" lvl="0" indent="0" algn="l" rtl="0">
              <a:spcBef>
                <a:spcPts val="0"/>
              </a:spcBef>
              <a:spcAft>
                <a:spcPts val="0"/>
              </a:spcAft>
              <a:buClr>
                <a:schemeClr val="dk1"/>
              </a:buClr>
              <a:buSzPts val="1100"/>
              <a:buFont typeface="Arial"/>
              <a:buNone/>
            </a:pPr>
            <a:r>
              <a:rPr lang="es" sz="1600">
                <a:solidFill>
                  <a:schemeClr val="dk1"/>
                </a:solidFill>
              </a:rPr>
              <a:t>Esto hace que sea aún más práctico para el aprendizaje y el desarrollo y puede servir para toda industria que utilice sistemas, soluciones o servicios inteligentes.</a:t>
            </a:r>
            <a:endParaRPr sz="1600">
              <a:solidFill>
                <a:schemeClr val="dk1"/>
              </a:solidFill>
            </a:endParaRPr>
          </a:p>
          <a:p>
            <a:pPr marL="0" lvl="0" indent="0" algn="l" rtl="0">
              <a:spcBef>
                <a:spcPts val="0"/>
              </a:spcBef>
              <a:spcAft>
                <a:spcPts val="0"/>
              </a:spcAft>
              <a:buClr>
                <a:schemeClr val="dk1"/>
              </a:buClr>
              <a:buSzPts val="1100"/>
              <a:buFont typeface="Arial"/>
              <a:buNone/>
            </a:pPr>
            <a:endParaRPr sz="1600">
              <a:solidFill>
                <a:schemeClr val="dk1"/>
              </a:solidFill>
            </a:endParaRPr>
          </a:p>
          <a:p>
            <a:pPr marL="0" lvl="0" indent="0" algn="l" rtl="0">
              <a:spcBef>
                <a:spcPts val="0"/>
              </a:spcBef>
              <a:spcAft>
                <a:spcPts val="0"/>
              </a:spcAft>
              <a:buNone/>
            </a:pPr>
            <a:endParaRPr sz="16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3016</Words>
  <Application>Microsoft Office PowerPoint</Application>
  <PresentationFormat>Presentación en pantalla (16:9)</PresentationFormat>
  <Paragraphs>142</Paragraphs>
  <Slides>20</Slides>
  <Notes>20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20</vt:i4>
      </vt:variant>
    </vt:vector>
  </HeadingPairs>
  <TitlesOfParts>
    <vt:vector size="22"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erik sandoval</cp:lastModifiedBy>
  <cp:revision>1</cp:revision>
  <dcterms:modified xsi:type="dcterms:W3CDTF">2024-10-31T20:59:54Z</dcterms:modified>
</cp:coreProperties>
</file>