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j9fOOD7i7/9Aqg9/6r3qFvTwcd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D1E451-99B5-45A8-9037-C29996227419}">
  <a:tblStyle styleId="{7DD1E451-99B5-45A8-9037-C2999622741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f1bbde7f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1f1bbde7f1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f1bbde7f1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1f1bbde7f1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f1bbde7f1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1f1bbde7f1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f1bbde7f1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1f1bbde7f11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f1bbde7f1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1f1bbde7f11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f1bbde7f1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1f1bbde7f1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f1bbde7f1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f1bbde7f11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f1bbde7f1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1f1bbde7f11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f1bbde7f1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1f1bbde7f11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f1bbde7f1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1f1bbde7f11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f1bbde7f1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1f1bbde7f11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f1bbde7f1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1f1bbde7f11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f1bbde7f1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1f1bbde7f11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f1bbde7f1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1f1bbde7f11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{7DD1E451-99B5-45A8-9037-C29996227419}</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Martes</a:t>
                      </a:r>
                      <a:r>
                        <a:rPr lang="es" sz="1400" u="none" cap="none" strike="noStrike"/>
                        <a:t>, </a:t>
                      </a:r>
                      <a:r>
                        <a:rPr lang="es"/>
                        <a:t>13</a:t>
                      </a:r>
                      <a:r>
                        <a:rPr lang="es" sz="1400" u="none" cap="none" strike="noStrike"/>
                        <a:t>/0</a:t>
                      </a:r>
                      <a:r>
                        <a:rPr lang="es"/>
                        <a:t>8</a:t>
                      </a:r>
                      <a:r>
                        <a:rPr lang="es" sz="1400" u="none" cap="none" strike="noStrike"/>
                        <a:t>/2024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1440175" y="2258300"/>
            <a:ext cx="5586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Inteligencia </a:t>
            </a:r>
            <a:r>
              <a:rPr lang="es" sz="2500"/>
              <a:t>A</a:t>
            </a:r>
            <a:r>
              <a:rPr b="0" i="0" lang="es" sz="2500" u="none" cap="none" strike="noStrike">
                <a:solidFill>
                  <a:srgbClr val="000000"/>
                </a:solidFill>
                <a:latin typeface="Arial"/>
                <a:ea typeface="Arial"/>
                <a:cs typeface="Arial"/>
                <a:sym typeface="Arial"/>
              </a:rPr>
              <a:t>rtificial 1 Sección A</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778700" y="3212600"/>
            <a:ext cx="5586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1f1bbde7f11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63" name="Google Shape;63;g1f1bbde7f11_0_0"/>
          <p:cNvPicPr preferRelativeResize="0"/>
          <p:nvPr/>
        </p:nvPicPr>
        <p:blipFill rotWithShape="1">
          <a:blip r:embed="rId4">
            <a:alphaModFix/>
          </a:blip>
          <a:srcRect b="0" l="0" r="0" t="0"/>
          <a:stretch/>
        </p:blipFill>
        <p:spPr>
          <a:xfrm>
            <a:off x="3006850" y="214475"/>
            <a:ext cx="2919082" cy="1052775"/>
          </a:xfrm>
          <a:prstGeom prst="rect">
            <a:avLst/>
          </a:prstGeom>
          <a:noFill/>
          <a:ln>
            <a:noFill/>
          </a:ln>
        </p:spPr>
      </p:pic>
      <p:sp>
        <p:nvSpPr>
          <p:cNvPr id="64" name="Google Shape;64;g1f1bbde7f11_0_0"/>
          <p:cNvSpPr txBox="1"/>
          <p:nvPr/>
        </p:nvSpPr>
        <p:spPr>
          <a:xfrm>
            <a:off x="341875" y="1499550"/>
            <a:ext cx="8259000" cy="322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65" name="Google Shape;65;g1f1bbde7f11_0_0"/>
          <p:cNvPicPr preferRelativeResize="0"/>
          <p:nvPr/>
        </p:nvPicPr>
        <p:blipFill rotWithShape="1">
          <a:blip r:embed="rId5">
            <a:alphaModFix/>
          </a:blip>
          <a:srcRect b="3203" l="0" r="0" t="0"/>
          <a:stretch/>
        </p:blipFill>
        <p:spPr>
          <a:xfrm>
            <a:off x="0" y="1267250"/>
            <a:ext cx="9144000" cy="3876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g1f1bbde7f11_0_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71" name="Google Shape;71;g1f1bbde7f11_0_7"/>
          <p:cNvPicPr preferRelativeResize="0"/>
          <p:nvPr/>
        </p:nvPicPr>
        <p:blipFill rotWithShape="1">
          <a:blip r:embed="rId4">
            <a:alphaModFix/>
          </a:blip>
          <a:srcRect b="0" l="0" r="0" t="0"/>
          <a:stretch/>
        </p:blipFill>
        <p:spPr>
          <a:xfrm>
            <a:off x="3006850" y="214475"/>
            <a:ext cx="2649450" cy="955525"/>
          </a:xfrm>
          <a:prstGeom prst="rect">
            <a:avLst/>
          </a:prstGeom>
          <a:noFill/>
          <a:ln>
            <a:noFill/>
          </a:ln>
        </p:spPr>
      </p:pic>
      <p:sp>
        <p:nvSpPr>
          <p:cNvPr id="72" name="Google Shape;72;g1f1bbde7f11_0_7"/>
          <p:cNvSpPr txBox="1"/>
          <p:nvPr/>
        </p:nvSpPr>
        <p:spPr>
          <a:xfrm>
            <a:off x="54375" y="1468450"/>
            <a:ext cx="8911800" cy="34575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Para comprender RPA, primero se debe de comprender tres términos:  robótica, procesos y  automatización.</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s" sz="1600" u="none" cap="none" strike="noStrike">
                <a:solidFill>
                  <a:schemeClr val="dk1"/>
                </a:solidFill>
                <a:latin typeface="Arial"/>
                <a:ea typeface="Arial"/>
                <a:cs typeface="Arial"/>
                <a:sym typeface="Arial"/>
              </a:rPr>
              <a:t>Robótico:  Las entidades que imitan las acciones humanas se denominan Robots.</a:t>
            </a:r>
            <a:endParaRPr b="0" i="0" sz="16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s" sz="1600" u="none" cap="none" strike="noStrike">
                <a:solidFill>
                  <a:schemeClr val="dk1"/>
                </a:solidFill>
                <a:latin typeface="Arial"/>
                <a:ea typeface="Arial"/>
                <a:cs typeface="Arial"/>
                <a:sym typeface="Arial"/>
              </a:rPr>
              <a:t>Proceso:  Secuencia de pasos que conducen a una actividad significativa .</a:t>
            </a:r>
            <a:endParaRPr b="0" i="0" sz="16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s" sz="1600" u="none" cap="none" strike="noStrike">
                <a:solidFill>
                  <a:schemeClr val="dk1"/>
                </a:solidFill>
                <a:latin typeface="Arial"/>
                <a:ea typeface="Arial"/>
                <a:cs typeface="Arial"/>
                <a:sym typeface="Arial"/>
              </a:rPr>
              <a:t>Automatización:  Cualquier proceso realizado por un robot sin intervención humana.</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g1f1bbde7f11_0_14"/>
          <p:cNvPicPr preferRelativeResize="0"/>
          <p:nvPr/>
        </p:nvPicPr>
        <p:blipFill rotWithShape="1">
          <a:blip r:embed="rId3">
            <a:alphaModFix amt="62000"/>
          </a:blip>
          <a:srcRect b="0" l="0" r="0" t="0"/>
          <a:stretch/>
        </p:blipFill>
        <p:spPr>
          <a:xfrm>
            <a:off x="8451" y="76200"/>
            <a:ext cx="9127099" cy="5143501"/>
          </a:xfrm>
          <a:prstGeom prst="rect">
            <a:avLst/>
          </a:prstGeom>
          <a:noFill/>
          <a:ln>
            <a:noFill/>
          </a:ln>
        </p:spPr>
      </p:pic>
      <p:sp>
        <p:nvSpPr>
          <p:cNvPr id="78" name="Google Shape;78;g1f1bbde7f11_0_14"/>
          <p:cNvSpPr txBox="1"/>
          <p:nvPr/>
        </p:nvSpPr>
        <p:spPr>
          <a:xfrm>
            <a:off x="8500" y="1926875"/>
            <a:ext cx="9127200" cy="3162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Ahora, si resumimos todos los términos juntos, imitar las acciones humanas para realizar una secuencia de pasos que conducirán a una actividad significativa, sin ninguna intervención humana, se conoce como automatización robótica de procesos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Dado que en el mundo de RPA los robots físicos no funcionan, necesita un software que satisfaga sus necesidades. Esos softwares no son más que herramientas RPA.</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9" name="Google Shape;79;g1f1bbde7f11_0_14"/>
          <p:cNvPicPr preferRelativeResize="0"/>
          <p:nvPr/>
        </p:nvPicPr>
        <p:blipFill rotWithShape="1">
          <a:blip r:embed="rId4">
            <a:alphaModFix/>
          </a:blip>
          <a:srcRect b="0" l="0" r="0" t="0"/>
          <a:stretch/>
        </p:blipFill>
        <p:spPr>
          <a:xfrm>
            <a:off x="3006850" y="214475"/>
            <a:ext cx="2649450" cy="955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1f1bbde7f11_0_2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85" name="Google Shape;85;g1f1bbde7f11_0_21"/>
          <p:cNvPicPr preferRelativeResize="0"/>
          <p:nvPr/>
        </p:nvPicPr>
        <p:blipFill rotWithShape="1">
          <a:blip r:embed="rId4">
            <a:alphaModFix/>
          </a:blip>
          <a:srcRect b="0" l="0" r="0" t="0"/>
          <a:stretch/>
        </p:blipFill>
        <p:spPr>
          <a:xfrm>
            <a:off x="3006850" y="214475"/>
            <a:ext cx="2649450" cy="955525"/>
          </a:xfrm>
          <a:prstGeom prst="rect">
            <a:avLst/>
          </a:prstGeom>
          <a:noFill/>
          <a:ln>
            <a:noFill/>
          </a:ln>
        </p:spPr>
      </p:pic>
      <p:sp>
        <p:nvSpPr>
          <p:cNvPr id="86" name="Google Shape;86;g1f1bbde7f11_0_21"/>
          <p:cNvSpPr txBox="1"/>
          <p:nvPr/>
        </p:nvSpPr>
        <p:spPr>
          <a:xfrm>
            <a:off x="8450" y="1585000"/>
            <a:ext cx="9090000" cy="275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Herramientas RPA</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Hay numerosas cantidades de herramientas disponibles en el mercado, cada una con sus propias ventajas y desventajas. Pero las tres herramientas principales presentes en el mercado actual son el trío ( UiPath ,  Blue Prism y  Automation Anywhere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g1f1bbde7f11_0_3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92" name="Google Shape;92;g1f1bbde7f11_0_33"/>
          <p:cNvPicPr preferRelativeResize="0"/>
          <p:nvPr/>
        </p:nvPicPr>
        <p:blipFill rotWithShape="1">
          <a:blip r:embed="rId4">
            <a:alphaModFix/>
          </a:blip>
          <a:srcRect b="0" l="0" r="0" t="0"/>
          <a:stretch/>
        </p:blipFill>
        <p:spPr>
          <a:xfrm>
            <a:off x="3006850" y="214475"/>
            <a:ext cx="2649450" cy="679025"/>
          </a:xfrm>
          <a:prstGeom prst="rect">
            <a:avLst/>
          </a:prstGeom>
          <a:noFill/>
          <a:ln>
            <a:noFill/>
          </a:ln>
        </p:spPr>
      </p:pic>
      <p:sp>
        <p:nvSpPr>
          <p:cNvPr id="93" name="Google Shape;93;g1f1bbde7f11_0_33"/>
          <p:cNvSpPr txBox="1"/>
          <p:nvPr/>
        </p:nvSpPr>
        <p:spPr>
          <a:xfrm>
            <a:off x="8300" y="1204300"/>
            <a:ext cx="9127200" cy="38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UiPath Studio es uno de los productos que ofrece UiPath. Es un panel donde puede crear su flujo de trabajo de automatización con la ayuda de actividades y ejecutar la automatización diseñada.</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latin typeface="Arial"/>
                <a:ea typeface="Arial"/>
                <a:cs typeface="Arial"/>
                <a:sym typeface="Arial"/>
              </a:rPr>
              <a:t>Las siguientes son las características de UiPath Studio:</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s" sz="1200" u="none" cap="none" strike="noStrike">
                <a:solidFill>
                  <a:schemeClr val="dk1"/>
                </a:solidFill>
                <a:latin typeface="Arial"/>
                <a:ea typeface="Arial"/>
                <a:cs typeface="Arial"/>
                <a:sym typeface="Arial"/>
              </a:rPr>
              <a:t>Panel GUI  : ofrece un panel GUI que consta de actividades predefinidas para crear flujos de trabajo de automatización.</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s" sz="1200" u="none" cap="none" strike="noStrike">
                <a:solidFill>
                  <a:schemeClr val="dk1"/>
                </a:solidFill>
                <a:latin typeface="Arial"/>
                <a:ea typeface="Arial"/>
                <a:cs typeface="Arial"/>
                <a:sym typeface="Arial"/>
              </a:rPr>
              <a:t>Niveles de complejidad  : le permite crear proyectos basados ​​en niveles de complejidad como secuencia, diagrama de flujo y máquina de estados.</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s" sz="1200" u="none" cap="none" strike="noStrike">
                <a:solidFill>
                  <a:schemeClr val="dk1"/>
                </a:solidFill>
                <a:latin typeface="Arial"/>
                <a:ea typeface="Arial"/>
                <a:cs typeface="Arial"/>
                <a:sym typeface="Arial"/>
              </a:rPr>
              <a:t>Tipos de grabadoras  : ofrece  varios tipos de grabadoras  para registrar acciones en múltiples plataformas, como Básica, Escritorio, Web, Imagen y Citrix nativo.</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s" sz="1200" u="none" cap="none" strike="noStrike">
                <a:solidFill>
                  <a:schemeClr val="dk1"/>
                </a:solidFill>
                <a:latin typeface="Arial"/>
                <a:ea typeface="Arial"/>
                <a:cs typeface="Arial"/>
                <a:sym typeface="Arial"/>
              </a:rPr>
              <a:t>Registro y manejo de excepciones  : le permite realizar depuración y manejo de excepciones. Si desea aprender a utilizar estas opciones, puede consultar mi artículo sobre  Manejo de errores.</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s" sz="1200" u="none" cap="none" strike="noStrike">
                <a:solidFill>
                  <a:schemeClr val="dk1"/>
                </a:solidFill>
                <a:latin typeface="Arial"/>
                <a:ea typeface="Arial"/>
                <a:cs typeface="Arial"/>
                <a:sym typeface="Arial"/>
              </a:rPr>
              <a:t>Integre con tecnologías OCR  : UiPath Studio puede integrarse con varias tecnologías OCR para realizar captura de pantalla.</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s" sz="1200" u="none" cap="none" strike="noStrike">
                <a:solidFill>
                  <a:schemeClr val="dk1"/>
                </a:solidFill>
                <a:latin typeface="Arial"/>
                <a:ea typeface="Arial"/>
                <a:cs typeface="Arial"/>
                <a:sym typeface="Arial"/>
              </a:rPr>
              <a:t>Componentes reutilizables  : con UiPath Studio, puede crear componentes reutilizables para publicarlos juntos como bibliotecas.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g1f1bbde7f11_0_4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99" name="Google Shape;99;g1f1bbde7f11_0_40"/>
          <p:cNvPicPr preferRelativeResize="0"/>
          <p:nvPr/>
        </p:nvPicPr>
        <p:blipFill rotWithShape="1">
          <a:blip r:embed="rId4">
            <a:alphaModFix/>
          </a:blip>
          <a:srcRect b="0" l="0" r="0" t="0"/>
          <a:stretch/>
        </p:blipFill>
        <p:spPr>
          <a:xfrm>
            <a:off x="3006850" y="214475"/>
            <a:ext cx="2649450" cy="679025"/>
          </a:xfrm>
          <a:prstGeom prst="rect">
            <a:avLst/>
          </a:prstGeom>
          <a:noFill/>
          <a:ln>
            <a:noFill/>
          </a:ln>
        </p:spPr>
      </p:pic>
      <p:sp>
        <p:nvSpPr>
          <p:cNvPr id="100" name="Google Shape;100;g1f1bbde7f11_0_40"/>
          <p:cNvSpPr txBox="1"/>
          <p:nvPr/>
        </p:nvSpPr>
        <p:spPr>
          <a:xfrm>
            <a:off x="23300" y="1243150"/>
            <a:ext cx="9120600" cy="283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Existen principalmente 7 tipos de proyectos en UiPath Studio.</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Proceso</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Biblioteca</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Proceso de orquestación</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Proceso en segundo plano</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Marco empresarial robótico</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Automatización basada en disparadores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Proceso transaccional</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g1f1bbde7f11_0_4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06" name="Google Shape;106;g1f1bbde7f11_0_47"/>
          <p:cNvPicPr preferRelativeResize="0"/>
          <p:nvPr/>
        </p:nvPicPr>
        <p:blipFill rotWithShape="1">
          <a:blip r:embed="rId4">
            <a:alphaModFix/>
          </a:blip>
          <a:srcRect b="0" l="0" r="0" t="0"/>
          <a:stretch/>
        </p:blipFill>
        <p:spPr>
          <a:xfrm>
            <a:off x="3006850" y="214475"/>
            <a:ext cx="2649450" cy="679025"/>
          </a:xfrm>
          <a:prstGeom prst="rect">
            <a:avLst/>
          </a:prstGeom>
          <a:noFill/>
          <a:ln>
            <a:noFill/>
          </a:ln>
        </p:spPr>
      </p:pic>
      <p:sp>
        <p:nvSpPr>
          <p:cNvPr id="107" name="Google Shape;107;g1f1bbde7f11_0_47"/>
          <p:cNvSpPr txBox="1"/>
          <p:nvPr/>
        </p:nvSpPr>
        <p:spPr>
          <a:xfrm>
            <a:off x="108775" y="1002275"/>
            <a:ext cx="8733000" cy="6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Proceso.</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Un proceso es borrón y cuenta nueva, puedes construir tus proyectos desde cero aquí. La siguiente captura de pantalla es la pantalla de un proyecto en blanco. No tiene plantillas ni nada predefinido en su espacio de trabajo.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08" name="Google Shape;108;g1f1bbde7f11_0_47"/>
          <p:cNvPicPr preferRelativeResize="0"/>
          <p:nvPr/>
        </p:nvPicPr>
        <p:blipFill rotWithShape="1">
          <a:blip r:embed="rId5">
            <a:alphaModFix/>
          </a:blip>
          <a:srcRect b="0" l="0" r="0" t="0"/>
          <a:stretch/>
        </p:blipFill>
        <p:spPr>
          <a:xfrm>
            <a:off x="187825" y="1681175"/>
            <a:ext cx="8444250" cy="348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g1f1bbde7f11_0_5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14" name="Google Shape;114;g1f1bbde7f11_0_54"/>
          <p:cNvPicPr preferRelativeResize="0"/>
          <p:nvPr/>
        </p:nvPicPr>
        <p:blipFill rotWithShape="1">
          <a:blip r:embed="rId4">
            <a:alphaModFix/>
          </a:blip>
          <a:srcRect b="0" l="0" r="0" t="0"/>
          <a:stretch/>
        </p:blipFill>
        <p:spPr>
          <a:xfrm>
            <a:off x="3006850" y="214475"/>
            <a:ext cx="2649450" cy="679025"/>
          </a:xfrm>
          <a:prstGeom prst="rect">
            <a:avLst/>
          </a:prstGeom>
          <a:noFill/>
          <a:ln>
            <a:noFill/>
          </a:ln>
        </p:spPr>
      </p:pic>
      <p:sp>
        <p:nvSpPr>
          <p:cNvPr id="115" name="Google Shape;115;g1f1bbde7f11_0_54"/>
          <p:cNvSpPr txBox="1"/>
          <p:nvPr/>
        </p:nvSpPr>
        <p:spPr>
          <a:xfrm>
            <a:off x="54375" y="955675"/>
            <a:ext cx="90129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Biblioteca.</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La biblioteca se utiliza para crear componentes reutilizables y publicarlos juntos como una biblioteca. Aparte de esto, las bibliotecas se pueden agregar como dependencias de los procesos de automatización.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16" name="Google Shape;116;g1f1bbde7f11_0_54"/>
          <p:cNvPicPr preferRelativeResize="0"/>
          <p:nvPr/>
        </p:nvPicPr>
        <p:blipFill rotWithShape="1">
          <a:blip r:embed="rId5">
            <a:alphaModFix/>
          </a:blip>
          <a:srcRect b="0" l="0" r="0" t="0"/>
          <a:stretch/>
        </p:blipFill>
        <p:spPr>
          <a:xfrm>
            <a:off x="132075" y="1592725"/>
            <a:ext cx="8577701" cy="3550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g1f1bbde7f11_0_6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22" name="Google Shape;122;g1f1bbde7f11_0_61"/>
          <p:cNvPicPr preferRelativeResize="0"/>
          <p:nvPr/>
        </p:nvPicPr>
        <p:blipFill rotWithShape="1">
          <a:blip r:embed="rId4">
            <a:alphaModFix/>
          </a:blip>
          <a:srcRect b="0" l="0" r="0" t="0"/>
          <a:stretch/>
        </p:blipFill>
        <p:spPr>
          <a:xfrm>
            <a:off x="3006850" y="214475"/>
            <a:ext cx="2649450" cy="679025"/>
          </a:xfrm>
          <a:prstGeom prst="rect">
            <a:avLst/>
          </a:prstGeom>
          <a:noFill/>
          <a:ln>
            <a:noFill/>
          </a:ln>
        </p:spPr>
      </p:pic>
      <p:sp>
        <p:nvSpPr>
          <p:cNvPr id="123" name="Google Shape;123;g1f1bbde7f11_0_61"/>
          <p:cNvSpPr txBox="1"/>
          <p:nvPr/>
        </p:nvSpPr>
        <p:spPr>
          <a:xfrm>
            <a:off x="8375" y="1056675"/>
            <a:ext cx="9127200" cy="72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Proceso de orquestación.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La plantilla Proceso de orquestación se utiliza para implementar un proceso mediante transacciones largas y orquestación de servicios. A continuación se muestra la captura de pantalla de un proceso de orquestación, que solo tiene un nodo de inicio.</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24" name="Google Shape;124;g1f1bbde7f11_0_61"/>
          <p:cNvPicPr preferRelativeResize="0"/>
          <p:nvPr/>
        </p:nvPicPr>
        <p:blipFill rotWithShape="1">
          <a:blip r:embed="rId5">
            <a:alphaModFix/>
          </a:blip>
          <a:srcRect b="0" l="0" r="0" t="0"/>
          <a:stretch/>
        </p:blipFill>
        <p:spPr>
          <a:xfrm>
            <a:off x="974013" y="1701050"/>
            <a:ext cx="6715125" cy="3442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g1f1bbde7f11_0_6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30" name="Google Shape;130;g1f1bbde7f11_0_68"/>
          <p:cNvPicPr preferRelativeResize="0"/>
          <p:nvPr/>
        </p:nvPicPr>
        <p:blipFill rotWithShape="1">
          <a:blip r:embed="rId4">
            <a:alphaModFix/>
          </a:blip>
          <a:srcRect b="0" l="0" r="0" t="0"/>
          <a:stretch/>
        </p:blipFill>
        <p:spPr>
          <a:xfrm>
            <a:off x="3006850" y="214475"/>
            <a:ext cx="2649450" cy="679025"/>
          </a:xfrm>
          <a:prstGeom prst="rect">
            <a:avLst/>
          </a:prstGeom>
          <a:noFill/>
          <a:ln>
            <a:noFill/>
          </a:ln>
        </p:spPr>
      </p:pic>
      <p:sp>
        <p:nvSpPr>
          <p:cNvPr id="131" name="Google Shape;131;g1f1bbde7f11_0_68"/>
          <p:cNvSpPr txBox="1"/>
          <p:nvPr/>
        </p:nvSpPr>
        <p:spPr>
          <a:xfrm>
            <a:off x="15550" y="986750"/>
            <a:ext cx="9120000" cy="901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Proceso en segundo plano.</a:t>
            </a:r>
            <a:endParaRPr b="0" i="0" sz="1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Este tipo de plantilla se utiliza para crear procesos que no requieren interacciones del usuario y pueden ejecutarse como un proceso en segundo plano. Se pueden ejecutar múltiples procesos en segundo plano simultáneamente en el mismo robot en UiPath. Consulte a continuación.</a:t>
            </a:r>
            <a:endParaRPr b="0" i="0" sz="1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32" name="Google Shape;132;g1f1bbde7f11_0_68"/>
          <p:cNvPicPr preferRelativeResize="0"/>
          <p:nvPr/>
        </p:nvPicPr>
        <p:blipFill rotWithShape="1">
          <a:blip r:embed="rId5">
            <a:alphaModFix/>
          </a:blip>
          <a:srcRect b="0" l="0" r="0" t="0"/>
          <a:stretch/>
        </p:blipFill>
        <p:spPr>
          <a:xfrm>
            <a:off x="905425" y="1810325"/>
            <a:ext cx="6696075" cy="3287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1f1bbde7f11_0_7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38" name="Google Shape;138;g1f1bbde7f11_0_75"/>
          <p:cNvPicPr preferRelativeResize="0"/>
          <p:nvPr/>
        </p:nvPicPr>
        <p:blipFill rotWithShape="1">
          <a:blip r:embed="rId4">
            <a:alphaModFix/>
          </a:blip>
          <a:srcRect b="0" l="0" r="0" t="0"/>
          <a:stretch/>
        </p:blipFill>
        <p:spPr>
          <a:xfrm>
            <a:off x="2859225" y="113475"/>
            <a:ext cx="2758225" cy="679025"/>
          </a:xfrm>
          <a:prstGeom prst="rect">
            <a:avLst/>
          </a:prstGeom>
          <a:noFill/>
          <a:ln>
            <a:noFill/>
          </a:ln>
        </p:spPr>
      </p:pic>
      <p:sp>
        <p:nvSpPr>
          <p:cNvPr id="139" name="Google Shape;139;g1f1bbde7f11_0_75"/>
          <p:cNvSpPr txBox="1"/>
          <p:nvPr/>
        </p:nvSpPr>
        <p:spPr>
          <a:xfrm>
            <a:off x="85475" y="846900"/>
            <a:ext cx="9005100" cy="72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Marco empresarial robótico.</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Robotic Enterprise Framework se utiliza para crear un proceso de negocio adecuado para implementaciones a gran escala. Viene con estados predefinidos que puede utilizar para crear un proceso de negocio. Consulte a continuación.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40" name="Google Shape;140;g1f1bbde7f11_0_75"/>
          <p:cNvPicPr preferRelativeResize="0"/>
          <p:nvPr/>
        </p:nvPicPr>
        <p:blipFill rotWithShape="1">
          <a:blip r:embed="rId5">
            <a:alphaModFix/>
          </a:blip>
          <a:srcRect b="0" l="0" r="0" t="0"/>
          <a:stretch/>
        </p:blipFill>
        <p:spPr>
          <a:xfrm>
            <a:off x="1081375" y="1507300"/>
            <a:ext cx="6810375" cy="3636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g1f1bbde7f11_0_8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6" name="Google Shape;146;g1f1bbde7f11_0_82"/>
          <p:cNvSpPr txBox="1"/>
          <p:nvPr/>
        </p:nvSpPr>
        <p:spPr>
          <a:xfrm>
            <a:off x="15550" y="1033350"/>
            <a:ext cx="9090600" cy="66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Automatización asistida basada en disparadores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Este tipo de proyecto se utiliza para activar la automatización en respuesta a eventos de usuario del mouse o del teclado.</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47" name="Google Shape;147;g1f1bbde7f11_0_82"/>
          <p:cNvPicPr preferRelativeResize="0"/>
          <p:nvPr/>
        </p:nvPicPr>
        <p:blipFill rotWithShape="1">
          <a:blip r:embed="rId4">
            <a:alphaModFix/>
          </a:blip>
          <a:srcRect b="0" l="0" r="0" t="0"/>
          <a:stretch/>
        </p:blipFill>
        <p:spPr>
          <a:xfrm>
            <a:off x="668200" y="1701450"/>
            <a:ext cx="7552076" cy="3390650"/>
          </a:xfrm>
          <a:prstGeom prst="rect">
            <a:avLst/>
          </a:prstGeom>
          <a:noFill/>
          <a:ln>
            <a:noFill/>
          </a:ln>
        </p:spPr>
      </p:pic>
      <p:pic>
        <p:nvPicPr>
          <p:cNvPr id="148" name="Google Shape;148;g1f1bbde7f11_0_82"/>
          <p:cNvPicPr preferRelativeResize="0"/>
          <p:nvPr/>
        </p:nvPicPr>
        <p:blipFill rotWithShape="1">
          <a:blip r:embed="rId5">
            <a:alphaModFix/>
          </a:blip>
          <a:srcRect b="0" l="0" r="0" t="0"/>
          <a:stretch/>
        </p:blipFill>
        <p:spPr>
          <a:xfrm>
            <a:off x="2859225" y="113475"/>
            <a:ext cx="2758225" cy="679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1f1bbde7f11_0_8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4" name="Google Shape;154;g1f1bbde7f11_0_89"/>
          <p:cNvSpPr txBox="1"/>
          <p:nvPr/>
        </p:nvSpPr>
        <p:spPr>
          <a:xfrm>
            <a:off x="23300" y="955675"/>
            <a:ext cx="9120600" cy="66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Proceso transaccional.</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dk1"/>
                </a:solidFill>
                <a:latin typeface="Arial"/>
                <a:ea typeface="Arial"/>
                <a:cs typeface="Arial"/>
                <a:sym typeface="Arial"/>
              </a:rPr>
              <a:t>Esta plantilla se utiliza para modelar el flujo de trabajo de automatización como un diagrama de flujo. Consulte a continuación para obtener una instantánea del proceso transaccional.</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55" name="Google Shape;155;g1f1bbde7f11_0_89"/>
          <p:cNvPicPr preferRelativeResize="0"/>
          <p:nvPr/>
        </p:nvPicPr>
        <p:blipFill rotWithShape="1">
          <a:blip r:embed="rId4">
            <a:alphaModFix/>
          </a:blip>
          <a:srcRect b="0" l="0" r="0" t="0"/>
          <a:stretch/>
        </p:blipFill>
        <p:spPr>
          <a:xfrm>
            <a:off x="2859225" y="113475"/>
            <a:ext cx="2758225" cy="679025"/>
          </a:xfrm>
          <a:prstGeom prst="rect">
            <a:avLst/>
          </a:prstGeom>
          <a:noFill/>
          <a:ln>
            <a:noFill/>
          </a:ln>
        </p:spPr>
      </p:pic>
      <p:pic>
        <p:nvPicPr>
          <p:cNvPr id="156" name="Google Shape;156;g1f1bbde7f11_0_89"/>
          <p:cNvPicPr preferRelativeResize="0"/>
          <p:nvPr/>
        </p:nvPicPr>
        <p:blipFill rotWithShape="1">
          <a:blip r:embed="rId5">
            <a:alphaModFix/>
          </a:blip>
          <a:srcRect b="0" l="0" r="0" t="0"/>
          <a:stretch/>
        </p:blipFill>
        <p:spPr>
          <a:xfrm>
            <a:off x="978975" y="1569475"/>
            <a:ext cx="7055374" cy="3574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g1f1bbde7f11_0_9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2" name="Google Shape;162;g1f1bbde7f11_0_96"/>
          <p:cNvSpPr txBox="1"/>
          <p:nvPr/>
        </p:nvSpPr>
        <p:spPr>
          <a:xfrm>
            <a:off x="2338675" y="349625"/>
            <a:ext cx="3605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Componentes de UiPath Studio</a:t>
            </a:r>
            <a:endParaRPr b="0" i="0" sz="1800" u="none" cap="none" strike="noStrike">
              <a:solidFill>
                <a:schemeClr val="dk2"/>
              </a:solidFill>
              <a:latin typeface="Arial"/>
              <a:ea typeface="Arial"/>
              <a:cs typeface="Arial"/>
              <a:sym typeface="Arial"/>
            </a:endParaRPr>
          </a:p>
        </p:txBody>
      </p:sp>
      <p:pic>
        <p:nvPicPr>
          <p:cNvPr id="163" name="Google Shape;163;g1f1bbde7f11_0_96"/>
          <p:cNvPicPr preferRelativeResize="0"/>
          <p:nvPr/>
        </p:nvPicPr>
        <p:blipFill rotWithShape="1">
          <a:blip r:embed="rId4">
            <a:alphaModFix/>
          </a:blip>
          <a:srcRect b="0" l="0" r="0" t="0"/>
          <a:stretch/>
        </p:blipFill>
        <p:spPr>
          <a:xfrm>
            <a:off x="2859225" y="193700"/>
            <a:ext cx="2152200" cy="284875"/>
          </a:xfrm>
          <a:prstGeom prst="rect">
            <a:avLst/>
          </a:prstGeom>
          <a:noFill/>
          <a:ln>
            <a:noFill/>
          </a:ln>
        </p:spPr>
      </p:pic>
      <p:pic>
        <p:nvPicPr>
          <p:cNvPr id="164" name="Google Shape;164;g1f1bbde7f11_0_96"/>
          <p:cNvPicPr preferRelativeResize="0"/>
          <p:nvPr/>
        </p:nvPicPr>
        <p:blipFill rotWithShape="1">
          <a:blip r:embed="rId5">
            <a:alphaModFix/>
          </a:blip>
          <a:srcRect b="4168" l="0" r="0" t="0"/>
          <a:stretch/>
        </p:blipFill>
        <p:spPr>
          <a:xfrm>
            <a:off x="8450" y="815800"/>
            <a:ext cx="9144000" cy="432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