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iR5x670BkBzAbmM2/U0ST6+CyC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69EAE4-AF48-487D-B50A-72B54667E228}">
  <a:tblStyle styleId="{9B69EAE4-AF48-487D-B50A-72B54667E22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f1bbde7f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1f1bbde7f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4a1aff18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2f4a1aff18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f4a1aff18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2f4a1aff18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4a1aff18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2f4a1aff18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{9B69EAE4-AF48-487D-B50A-72B54667E228}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Martes, </a:t>
                      </a:r>
                      <a:r>
                        <a:rPr lang="es"/>
                        <a:t>20</a:t>
                      </a:r>
                      <a:r>
                        <a:rPr lang="es" sz="1400" u="none" cap="none" strike="noStrike"/>
                        <a:t>/08/2024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1440175" y="2258300"/>
            <a:ext cx="5586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Inteligencia Artificial 1 Sección A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778700" y="3212600"/>
            <a:ext cx="5586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Erick Eden Sandoval Ramirez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1f1bbde7f11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1f1bbde7f11_0_0"/>
          <p:cNvSpPr txBox="1"/>
          <p:nvPr/>
        </p:nvSpPr>
        <p:spPr>
          <a:xfrm>
            <a:off x="357400" y="986750"/>
            <a:ext cx="82590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</a:rPr>
              <a:t>Los diagramas de flujo se pueden utilizar en una variedad de entornos, desde trabajos grandes hasta proyectos pequeños que puede reutilizar en otros proyectos.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</a:rPr>
              <a:t>El aspecto más importante de los diagramas de flujo es que, a diferencia de las secuencias, presentan múltiples operadores lógicos de ramificación, que permiten crear procesos de negocio complejos y conectar actividades de múltiples maneras.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g1f1bbde7f11_0_0"/>
          <p:cNvSpPr txBox="1"/>
          <p:nvPr/>
        </p:nvSpPr>
        <p:spPr>
          <a:xfrm>
            <a:off x="3069000" y="62175"/>
            <a:ext cx="2152200" cy="3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Actividades UiPath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g1f1bbde7f11_0_0"/>
          <p:cNvSpPr txBox="1"/>
          <p:nvPr/>
        </p:nvSpPr>
        <p:spPr>
          <a:xfrm>
            <a:off x="2579550" y="536125"/>
            <a:ext cx="3131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Flowchart</a:t>
            </a:r>
            <a:r>
              <a:rPr b="1" lang="es" sz="800">
                <a:solidFill>
                  <a:schemeClr val="dk2"/>
                </a:solidFill>
              </a:rPr>
              <a:t>(Diagramas de flujo)</a:t>
            </a:r>
            <a:endParaRPr b="1" sz="800">
              <a:solidFill>
                <a:schemeClr val="dk2"/>
              </a:solidFill>
            </a:endParaRPr>
          </a:p>
        </p:txBody>
      </p:sp>
      <p:pic>
        <p:nvPicPr>
          <p:cNvPr id="66" name="Google Shape;66;g1f1bbde7f1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7450" y="1857050"/>
            <a:ext cx="4429125" cy="323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2f4a1aff18f_0_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2f4a1aff18f_0_13"/>
          <p:cNvSpPr txBox="1"/>
          <p:nvPr/>
        </p:nvSpPr>
        <p:spPr>
          <a:xfrm>
            <a:off x="109550" y="780750"/>
            <a:ext cx="89808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</a:rPr>
              <a:t>Las secuencias son el tipo de proyecto más pequeño. Son adecuadas para procesos lineales, ya que permiten pasar de una actividad a otra sin problemas y actúan como una actividad de un solo bloque.Una de las características clave de las secuencias es que pueden reutilizarse una y otra vez, como una automatización independiente o como parte de una máquina de estados o un diagrama de flujo.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</a:rPr>
              <a:t>Por ejemplo, puede crear una secuencia para tomar información de un archivo pdf y agregarla a una hoja de cálculo y reutilizarla en una configuración diferente, mientras cambia solo algunas propiedades.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3" name="Google Shape;73;g2f4a1aff18f_0_13"/>
          <p:cNvSpPr txBox="1"/>
          <p:nvPr/>
        </p:nvSpPr>
        <p:spPr>
          <a:xfrm>
            <a:off x="2587325" y="116575"/>
            <a:ext cx="31311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Sequences</a:t>
            </a:r>
            <a:r>
              <a:rPr b="1" lang="es" sz="800">
                <a:solidFill>
                  <a:schemeClr val="dk2"/>
                </a:solidFill>
              </a:rPr>
              <a:t>(secuencias)</a:t>
            </a:r>
            <a:endParaRPr b="1" sz="800">
              <a:solidFill>
                <a:schemeClr val="dk2"/>
              </a:solidFill>
            </a:endParaRPr>
          </a:p>
        </p:txBody>
      </p:sp>
      <p:pic>
        <p:nvPicPr>
          <p:cNvPr id="74" name="Google Shape;74;g2f4a1aff18f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75" y="1755925"/>
            <a:ext cx="8629650" cy="30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2f4a1aff18f_0_2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2f4a1aff18f_0_24"/>
          <p:cNvSpPr txBox="1"/>
          <p:nvPr/>
        </p:nvSpPr>
        <p:spPr>
          <a:xfrm>
            <a:off x="109550" y="780750"/>
            <a:ext cx="89808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</a:rPr>
              <a:t>Un contenedor que le permite abrir un navegador en una URL específica y ejecutar múltiples actividades dentro de él.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</a:rPr>
              <a:t>En el panel de diseño, la actividad se presenta como un contenedor, en el que se pueden agregar actividades para interactuar con el navegador especificado.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</a:rPr>
              <a:t>El campo URL le permite proporcionar el enlace en el que se abre el navegador.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1" name="Google Shape;81;g2f4a1aff18f_0_24"/>
          <p:cNvSpPr txBox="1"/>
          <p:nvPr/>
        </p:nvSpPr>
        <p:spPr>
          <a:xfrm>
            <a:off x="2587325" y="116575"/>
            <a:ext cx="31311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Open Browser</a:t>
            </a:r>
            <a:endParaRPr b="1" sz="800">
              <a:solidFill>
                <a:schemeClr val="dk2"/>
              </a:solidFill>
            </a:endParaRPr>
          </a:p>
        </p:txBody>
      </p:sp>
      <p:pic>
        <p:nvPicPr>
          <p:cNvPr id="82" name="Google Shape;82;g2f4a1aff18f_0_24"/>
          <p:cNvPicPr preferRelativeResize="0"/>
          <p:nvPr/>
        </p:nvPicPr>
        <p:blipFill rotWithShape="1">
          <a:blip r:embed="rId4">
            <a:alphaModFix/>
          </a:blip>
          <a:srcRect b="9418" l="0" r="0" t="20395"/>
          <a:stretch/>
        </p:blipFill>
        <p:spPr>
          <a:xfrm>
            <a:off x="1021700" y="2105575"/>
            <a:ext cx="6572250" cy="29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2f4a1aff18f_0_3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f4a1aff18f_0_35"/>
          <p:cNvSpPr txBox="1"/>
          <p:nvPr/>
        </p:nvSpPr>
        <p:spPr>
          <a:xfrm>
            <a:off x="109550" y="780750"/>
            <a:ext cx="89808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</a:rPr>
              <a:t>Actividad que ejecuta una de dos ramas, dependiendo de si se cumple una condición específica. Las ramas se denominan Verdadero y Falso de forma predeterminada, pero sus nombres se pueden cambiar en el panel Propiedades . Esta actividad solo se puede utilizar en un diagrama de flujo y es equivalente a la actividad Si 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9" name="Google Shape;89;g2f4a1aff18f_0_35"/>
          <p:cNvSpPr txBox="1"/>
          <p:nvPr/>
        </p:nvSpPr>
        <p:spPr>
          <a:xfrm>
            <a:off x="2587325" y="116575"/>
            <a:ext cx="31311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</a:rPr>
              <a:t>Flow Decision</a:t>
            </a:r>
            <a:endParaRPr b="1" sz="800">
              <a:solidFill>
                <a:schemeClr val="dk2"/>
              </a:solidFill>
            </a:endParaRPr>
          </a:p>
        </p:txBody>
      </p:sp>
      <p:pic>
        <p:nvPicPr>
          <p:cNvPr id="90" name="Google Shape;90;g2f4a1aff18f_0_35"/>
          <p:cNvPicPr preferRelativeResize="0"/>
          <p:nvPr/>
        </p:nvPicPr>
        <p:blipFill rotWithShape="1">
          <a:blip r:embed="rId4">
            <a:alphaModFix/>
          </a:blip>
          <a:srcRect b="24299" l="16493" r="36927" t="0"/>
          <a:stretch/>
        </p:blipFill>
        <p:spPr>
          <a:xfrm>
            <a:off x="1911325" y="2004575"/>
            <a:ext cx="4677325" cy="255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