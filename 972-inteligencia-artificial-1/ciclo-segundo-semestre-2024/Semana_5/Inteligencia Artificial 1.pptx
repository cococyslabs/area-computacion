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6" roundtripDataSignature="AMtx7mjZeskgMTS9OXazU7zsaOse6CWJ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73B3CE-DB31-4EB6-821C-FB307371DABF}">
  <a:tblStyle styleId="{F973B3CE-DB31-4EB6-821C-FB307371DAB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bcfd998e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bcfd998e5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c1d7c74eb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2c1d7c74eba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c1d7c74eb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2c1d7c74eba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c1d7c74eb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2c1d7c74eba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c1d7c74eb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2c1d7c74eba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c1d7c74eb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2c1d7c74eba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c1d7c74eb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2c1d7c74eba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c1d7c74eb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2c1d7c74eba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c1d7c74eb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2c1d7c74eba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c1d7c74eb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2c1d7c74eba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c1d7c74eb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g2c1d7c74eba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c1d7c74eb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2c1d7c74eba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c1d7c74eba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g2c1d7c74eba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c1d7c74eb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g2c1d7c74eba_0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c1d7c74eba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2c1d7c74eba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c1d7c74eb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2c1d7c74eba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c1d7c74eba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2c1d7c74eba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c1d7c74eb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2c1d7c74eba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www.youtube.com/watch?v=PnX5Jvg84AY&amp;ab_channel=ITSKOREA"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hyperlink" Target="https://www.youtube.com/watch?v=XK8GR2iI_4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000000" cy="3000000"/>
        </p:xfrm>
        <a:graphic>
          <a:graphicData uri="http://schemas.openxmlformats.org/drawingml/2006/table">
            <a:tbl>
              <a:tblPr>
                <a:noFill/>
                <a:tableStyleId>{F973B3CE-DB31-4EB6-821C-FB307371DABF}</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a:t>Martes</a:t>
                      </a:r>
                      <a:r>
                        <a:rPr lang="es" sz="1400" u="none" cap="none" strike="noStrike"/>
                        <a:t>, </a:t>
                      </a:r>
                      <a:r>
                        <a:rPr lang="es"/>
                        <a:t>27</a:t>
                      </a:r>
                      <a:r>
                        <a:rPr lang="es" sz="1400" u="none" cap="none" strike="noStrike"/>
                        <a:t>/0</a:t>
                      </a:r>
                      <a:r>
                        <a:rPr lang="es"/>
                        <a:t>8</a:t>
                      </a:r>
                      <a:r>
                        <a:rPr lang="es" sz="1400" u="none" cap="none" strike="noStrike"/>
                        <a:t>/2024</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56" name="Google Shape;56;p1"/>
          <p:cNvSpPr txBox="1"/>
          <p:nvPr/>
        </p:nvSpPr>
        <p:spPr>
          <a:xfrm>
            <a:off x="1440175" y="2258300"/>
            <a:ext cx="55866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Inteligencia </a:t>
            </a:r>
            <a:r>
              <a:rPr lang="es" sz="2500"/>
              <a:t>A</a:t>
            </a:r>
            <a:r>
              <a:rPr b="0" i="0" lang="es" sz="2500" u="none" cap="none" strike="noStrike">
                <a:solidFill>
                  <a:srgbClr val="000000"/>
                </a:solidFill>
                <a:latin typeface="Arial"/>
                <a:ea typeface="Arial"/>
                <a:cs typeface="Arial"/>
                <a:sym typeface="Arial"/>
              </a:rPr>
              <a:t>rtificial 1 Sección A</a:t>
            </a:r>
            <a:endParaRPr b="0" i="0" sz="2500" u="none" cap="none" strike="noStrike">
              <a:solidFill>
                <a:srgbClr val="000000"/>
              </a:solidFill>
              <a:latin typeface="Arial"/>
              <a:ea typeface="Arial"/>
              <a:cs typeface="Arial"/>
              <a:sym typeface="Arial"/>
            </a:endParaRPr>
          </a:p>
        </p:txBody>
      </p:sp>
      <p:sp>
        <p:nvSpPr>
          <p:cNvPr id="57" name="Google Shape;57;p1"/>
          <p:cNvSpPr txBox="1"/>
          <p:nvPr/>
        </p:nvSpPr>
        <p:spPr>
          <a:xfrm>
            <a:off x="1778700" y="3212600"/>
            <a:ext cx="5586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000000"/>
                </a:solidFill>
                <a:latin typeface="Arial"/>
                <a:ea typeface="Arial"/>
                <a:cs typeface="Arial"/>
                <a:sym typeface="Arial"/>
              </a:rPr>
              <a:t>Erick Eden Sandoval Ramirez</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g2bcfd998e5f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63" name="Google Shape;63;g2bcfd998e5f_0_0"/>
          <p:cNvSpPr txBox="1"/>
          <p:nvPr/>
        </p:nvSpPr>
        <p:spPr>
          <a:xfrm>
            <a:off x="3160650" y="462175"/>
            <a:ext cx="2452500" cy="43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Sistemas Inteligentes</a:t>
            </a:r>
            <a:endParaRPr b="0" i="0" sz="1800" u="none" cap="none" strike="noStrike">
              <a:solidFill>
                <a:schemeClr val="dk1"/>
              </a:solidFill>
              <a:latin typeface="Arial"/>
              <a:ea typeface="Arial"/>
              <a:cs typeface="Arial"/>
              <a:sym typeface="Arial"/>
            </a:endParaRPr>
          </a:p>
        </p:txBody>
      </p:sp>
      <p:sp>
        <p:nvSpPr>
          <p:cNvPr id="64" name="Google Shape;64;g2bcfd998e5f_0_0"/>
          <p:cNvSpPr txBox="1"/>
          <p:nvPr/>
        </p:nvSpPr>
        <p:spPr>
          <a:xfrm>
            <a:off x="123550" y="1375150"/>
            <a:ext cx="9012000" cy="1997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Un agente inteligente (IA) es una entidad autónoma que observa a través de sensores y actúa so-bre un entorno utilizando actuadores y dirige su actividad hacia el logro de objetivos ( es racional). Los agentes inteligentes también pueden aprender o usar el conocimiento para lograr sus objetivos. Los agen-tes inteligentes en inteligencia artificial están estrechamente relacionados con los agentes en economía, y las versiones del paradigma del agente inteligente se estudian en ciencias cognitivas, ética, filosofía de la razón práctica, así como en muchos modelos sociocognitivos interdisciplinarios y simulaciones sociales informáticas. Un sistema de múltiples agentes (MAS) es un sistema compuesto por múltiples agentes inteligentes que interactúan.</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g2c1d7c74eba_0_1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0" name="Google Shape;70;g2c1d7c74eba_0_10"/>
          <p:cNvSpPr txBox="1"/>
          <p:nvPr/>
        </p:nvSpPr>
        <p:spPr>
          <a:xfrm>
            <a:off x="123250" y="1557975"/>
            <a:ext cx="9012300" cy="2981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Los sistemas de múltiples agentes se pueden usar para resolver problemas que son difíciles o imposibles de resolver para un agente individual o un sistema monolítico. Los sistemas de múltiples agentes consisten en agentes y su entorno. Sin embargo, los agentes en un sistema de múltiples agentes también podrían ser robots, humanos o equipos humanos.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Los agentes de IA pueden ser desde sistemas sencillos que siguen reglas predefinidas hasta entidades complejas y autónomas que aprenden y se adaptan en función de su experiencia. Se utilizan en diversos campos, como la robótica, los juegos, los asistentes virtuales y los vehículos autónomos, entre otros. Estos agentes pueden ser reactivos (responden estímulos), deliberativos (planifican y toman decisiones) o incluso tener capacidad de aprendizaje (adaptan su comportamiento en función de datos y experiencias).</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p:txBody>
      </p:sp>
      <p:sp>
        <p:nvSpPr>
          <p:cNvPr id="71" name="Google Shape;71;g2c1d7c74eba_0_10"/>
          <p:cNvSpPr txBox="1"/>
          <p:nvPr/>
        </p:nvSpPr>
        <p:spPr>
          <a:xfrm>
            <a:off x="64125" y="4609200"/>
            <a:ext cx="8035800" cy="43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u="sng">
                <a:solidFill>
                  <a:schemeClr val="hlink"/>
                </a:solidFill>
                <a:hlinkClick r:id="rId4"/>
              </a:rPr>
              <a:t>https://www.youtube.com/watch?v=PnX5Jvg84AY&amp;ab_channel=ITSKOREA</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g2c1d7c74eba_0_1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7" name="Google Shape;77;g2c1d7c74eba_0_15"/>
          <p:cNvSpPr txBox="1"/>
          <p:nvPr/>
        </p:nvSpPr>
        <p:spPr>
          <a:xfrm>
            <a:off x="3264975" y="402500"/>
            <a:ext cx="2288400" cy="34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Función de agente</a:t>
            </a:r>
            <a:endParaRPr b="0" i="0" sz="1800" u="none" cap="none" strike="noStrike">
              <a:solidFill>
                <a:schemeClr val="dk1"/>
              </a:solidFill>
              <a:latin typeface="Arial"/>
              <a:ea typeface="Arial"/>
              <a:cs typeface="Arial"/>
              <a:sym typeface="Arial"/>
            </a:endParaRPr>
          </a:p>
        </p:txBody>
      </p:sp>
      <p:sp>
        <p:nvSpPr>
          <p:cNvPr id="78" name="Google Shape;78;g2c1d7c74eba_0_15"/>
          <p:cNvSpPr txBox="1"/>
          <p:nvPr/>
        </p:nvSpPr>
        <p:spPr>
          <a:xfrm>
            <a:off x="114300" y="1833775"/>
            <a:ext cx="8915400" cy="1737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La función del agente es el núcleo de un agente de IA. Define cómo el agente traduce los datos que ha recopilado en acciones. En otras palabras, la función de agente permite a la IA determinar qué acciones debe emprender basándose en la información que ha recopilado. Aquí es donde reside la "inteligencia" del agente, ya que implica razonar y seleccionar acciones para alcanzar sus objetivos.Esto según el mapeo de cada secuencia posible de percepciones a una acción posible que el agente puede realizar a un coeficiente, elemento de retroalimentación, función o constante que afecta las acciones eventuales:</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g2c1d7c74eba_0_2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4" name="Google Shape;84;g2c1d7c74eba_0_20"/>
          <p:cNvSpPr txBox="1"/>
          <p:nvPr/>
        </p:nvSpPr>
        <p:spPr>
          <a:xfrm>
            <a:off x="3525875" y="387625"/>
            <a:ext cx="1610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Percep</a:t>
            </a:r>
            <a:r>
              <a:rPr lang="es" sz="1800">
                <a:solidFill>
                  <a:schemeClr val="dk1"/>
                </a:solidFill>
              </a:rPr>
              <a:t>tos</a:t>
            </a:r>
            <a:endParaRPr b="0" i="0" sz="1800" u="none" cap="none" strike="noStrike">
              <a:solidFill>
                <a:schemeClr val="dk1"/>
              </a:solidFill>
              <a:latin typeface="Arial"/>
              <a:ea typeface="Arial"/>
              <a:cs typeface="Arial"/>
              <a:sym typeface="Arial"/>
            </a:endParaRPr>
          </a:p>
        </p:txBody>
      </p:sp>
      <p:sp>
        <p:nvSpPr>
          <p:cNvPr id="85" name="Google Shape;85;g2c1d7c74eba_0_20"/>
          <p:cNvSpPr txBox="1"/>
          <p:nvPr/>
        </p:nvSpPr>
        <p:spPr>
          <a:xfrm>
            <a:off x="29825" y="1036150"/>
            <a:ext cx="9034800" cy="4032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Los perceptos son las entradas sensoriales que el agente de IA recibe de su entorno. Proporcionan información sobre el estado actual del entorno observable en el que opera el agente. Por ejemplo, si el agente de IA es un chatbot de atención al cliente, los perceptos pueden incluir: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s" sz="1400" u="none" cap="none" strike="noStrike">
                <a:solidFill>
                  <a:schemeClr val="dk1"/>
                </a:solidFill>
                <a:latin typeface="Arial"/>
                <a:ea typeface="Arial"/>
                <a:cs typeface="Arial"/>
                <a:sym typeface="Arial"/>
              </a:rPr>
              <a:t>Mensajes de usuario</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s" sz="1400" u="none" cap="none" strike="noStrike">
                <a:solidFill>
                  <a:schemeClr val="dk1"/>
                </a:solidFill>
                <a:latin typeface="Arial"/>
                <a:ea typeface="Arial"/>
                <a:cs typeface="Arial"/>
                <a:sym typeface="Arial"/>
              </a:rPr>
              <a:t>Información sobre el perfil del usuario</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s" sz="1400" u="none" cap="none" strike="noStrike">
                <a:solidFill>
                  <a:schemeClr val="dk1"/>
                </a:solidFill>
                <a:latin typeface="Arial"/>
                <a:ea typeface="Arial"/>
                <a:cs typeface="Arial"/>
                <a:sym typeface="Arial"/>
              </a:rPr>
              <a:t>Ubicación del usuario</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s" sz="1400" u="none" cap="none" strike="noStrike">
                <a:solidFill>
                  <a:schemeClr val="dk1"/>
                </a:solidFill>
                <a:latin typeface="Arial"/>
                <a:ea typeface="Arial"/>
                <a:cs typeface="Arial"/>
                <a:sym typeface="Arial"/>
              </a:rPr>
              <a:t>Historia del chat</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s" sz="1400" u="none" cap="none" strike="noStrike">
                <a:solidFill>
                  <a:schemeClr val="dk1"/>
                </a:solidFill>
                <a:latin typeface="Arial"/>
                <a:ea typeface="Arial"/>
                <a:cs typeface="Arial"/>
                <a:sym typeface="Arial"/>
              </a:rPr>
              <a:t>Preferencias lingüísticas</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s" sz="1400" u="none" cap="none" strike="noStrike">
                <a:solidFill>
                  <a:schemeClr val="dk1"/>
                </a:solidFill>
                <a:latin typeface="Arial"/>
                <a:ea typeface="Arial"/>
                <a:cs typeface="Arial"/>
                <a:sym typeface="Arial"/>
              </a:rPr>
              <a:t>Fecha y hora</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s" sz="1400" u="none" cap="none" strike="noStrike">
                <a:solidFill>
                  <a:schemeClr val="dk1"/>
                </a:solidFill>
                <a:latin typeface="Arial"/>
                <a:ea typeface="Arial"/>
                <a:cs typeface="Arial"/>
                <a:sym typeface="Arial"/>
              </a:rPr>
              <a:t>Preferencias del usuario</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0" i="0" lang="es" sz="1400" u="none" cap="none" strike="noStrike">
                <a:solidFill>
                  <a:schemeClr val="dk1"/>
                </a:solidFill>
                <a:latin typeface="Arial"/>
                <a:ea typeface="Arial"/>
                <a:cs typeface="Arial"/>
                <a:sym typeface="Arial"/>
              </a:rPr>
              <a:t>Reconocimiento de las emociones del usuario</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g2c1d7c74eba_0_2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1" name="Google Shape;91;g2c1d7c74eba_0_25"/>
          <p:cNvSpPr txBox="1"/>
          <p:nvPr/>
        </p:nvSpPr>
        <p:spPr>
          <a:xfrm>
            <a:off x="3488625" y="335450"/>
            <a:ext cx="1548000" cy="38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2"/>
                </a:solidFill>
                <a:latin typeface="Arial"/>
                <a:ea typeface="Arial"/>
                <a:cs typeface="Arial"/>
                <a:sym typeface="Arial"/>
              </a:rPr>
              <a:t>Actuadores</a:t>
            </a:r>
            <a:endParaRPr b="1" i="0" sz="1800" u="none" cap="none" strike="noStrike">
              <a:solidFill>
                <a:schemeClr val="dk2"/>
              </a:solidFill>
              <a:latin typeface="Arial"/>
              <a:ea typeface="Arial"/>
              <a:cs typeface="Arial"/>
              <a:sym typeface="Arial"/>
            </a:endParaRPr>
          </a:p>
        </p:txBody>
      </p:sp>
      <p:sp>
        <p:nvSpPr>
          <p:cNvPr id="92" name="Google Shape;92;g2c1d7c74eba_0_25"/>
          <p:cNvSpPr txBox="1"/>
          <p:nvPr/>
        </p:nvSpPr>
        <p:spPr>
          <a:xfrm>
            <a:off x="30300" y="2288475"/>
            <a:ext cx="9083400" cy="100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Los actuadores son esencialmente los "músculos" del agente, que ejecutan las decisiones tomadas por la función del agente. Estas acciones pueden consistir en una amplia gama de tareas, desde dirigir un vehículo auto conducido hasta teclear texto en una pantalla para un chatbot.</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g2c1d7c74eba_0_3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8" name="Google Shape;98;g2c1d7c74eba_0_30"/>
          <p:cNvSpPr txBox="1"/>
          <p:nvPr/>
        </p:nvSpPr>
        <p:spPr>
          <a:xfrm>
            <a:off x="2750625" y="305625"/>
            <a:ext cx="2370600" cy="45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Actuadores comunes</a:t>
            </a:r>
            <a:endParaRPr b="0" i="0" sz="1800" u="none" cap="none" strike="noStrike">
              <a:solidFill>
                <a:schemeClr val="dk1"/>
              </a:solidFill>
              <a:latin typeface="Arial"/>
              <a:ea typeface="Arial"/>
              <a:cs typeface="Arial"/>
              <a:sym typeface="Arial"/>
            </a:endParaRPr>
          </a:p>
        </p:txBody>
      </p:sp>
      <p:sp>
        <p:nvSpPr>
          <p:cNvPr id="99" name="Google Shape;99;g2c1d7c74eba_0_30"/>
          <p:cNvSpPr txBox="1"/>
          <p:nvPr/>
        </p:nvSpPr>
        <p:spPr>
          <a:xfrm>
            <a:off x="8450" y="1423775"/>
            <a:ext cx="8781300" cy="2452500"/>
          </a:xfrm>
          <a:prstGeom prst="rect">
            <a:avLst/>
          </a:prstGeom>
          <a:noFill/>
          <a:ln>
            <a:noFill/>
          </a:ln>
        </p:spPr>
        <p:txBody>
          <a:bodyPr anchorCtr="0" anchor="t" bIns="91425" lIns="91425" spcFirstLastPara="1" rIns="91425" wrap="square" tIns="91425">
            <a:noAutofit/>
          </a:bodyPr>
          <a:lstStyle/>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Generador de respuestas de texto</a:t>
            </a:r>
            <a:r>
              <a:rPr b="0" i="0" lang="es" sz="1400" u="none" cap="none" strike="noStrike">
                <a:solidFill>
                  <a:schemeClr val="dk1"/>
                </a:solidFill>
                <a:latin typeface="Arial"/>
                <a:ea typeface="Arial"/>
                <a:cs typeface="Arial"/>
                <a:sym typeface="Arial"/>
              </a:rPr>
              <a:t>: Este actuador es responsable de generar y enviar respuestas basadas en texto al usuario. Toma la respuesta basada en texto del chatbot y la entrega al usuario a través de la interfaz de chat.</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just">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API de integración de servicios:</a:t>
            </a:r>
            <a:r>
              <a:rPr b="0" i="0" lang="es" sz="1400" u="none" cap="none" strike="noStrike">
                <a:solidFill>
                  <a:schemeClr val="dk1"/>
                </a:solidFill>
                <a:latin typeface="Arial"/>
                <a:ea typeface="Arial"/>
                <a:cs typeface="Arial"/>
                <a:sym typeface="Arial"/>
              </a:rPr>
              <a:t> Un chatbot puede necesitar integrar un sistema como el sistema CRM de la empresa para acceder a los datos de los clientes, crear tickets de soporte o comprobar el estado de los pedidos. Estas integraciones implican llamadas a API como actuadores, lo que permite al chatbot interactuar con sistemas externos y recuperar o actualizar información según sea necesario.</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g2c1d7c74eba_0_3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5" name="Google Shape;105;g2c1d7c74eba_0_35"/>
          <p:cNvSpPr txBox="1"/>
          <p:nvPr/>
        </p:nvSpPr>
        <p:spPr>
          <a:xfrm>
            <a:off x="126725" y="961600"/>
            <a:ext cx="8870700" cy="32352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Notificaciones y alertas:</a:t>
            </a:r>
            <a:r>
              <a:rPr b="0" i="0" lang="es" sz="1400" u="none" cap="none" strike="noStrike">
                <a:solidFill>
                  <a:schemeClr val="dk1"/>
                </a:solidFill>
                <a:latin typeface="Arial"/>
                <a:ea typeface="Arial"/>
                <a:cs typeface="Arial"/>
                <a:sym typeface="Arial"/>
              </a:rPr>
              <a:t> Los actuadores para notificaciones pueden enviar notificaciones por correo electrónico, mensajes SMS o notificaciones push al dispositivo del usuario para avisarle de próximas citas, cambios en el estado de los pedidos, promociones u otras actualizaciones relevantes. Estos actuadores ayudan a mantener a los usuarios informados y comprometidos.</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Generadores de voz:</a:t>
            </a:r>
            <a:r>
              <a:rPr b="0" i="0" lang="es" sz="1400" u="none" cap="none" strike="noStrike">
                <a:solidFill>
                  <a:schemeClr val="dk1"/>
                </a:solidFill>
                <a:latin typeface="Arial"/>
                <a:ea typeface="Arial"/>
                <a:cs typeface="Arial"/>
                <a:sym typeface="Arial"/>
              </a:rPr>
              <a:t> Estos son utilizados en sistemas IVR para elegir entre las opciones del menú de voz e interactuar mediante la voz y el teclado numérico.</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g2c1d7c74eba_0_4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11" name="Google Shape;111;g2c1d7c74eba_0_40"/>
          <p:cNvSpPr txBox="1"/>
          <p:nvPr/>
        </p:nvSpPr>
        <p:spPr>
          <a:xfrm>
            <a:off x="2698475" y="275800"/>
            <a:ext cx="2840100" cy="54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2"/>
                </a:solidFill>
                <a:latin typeface="Arial"/>
                <a:ea typeface="Arial"/>
                <a:cs typeface="Arial"/>
                <a:sym typeface="Arial"/>
              </a:rPr>
              <a:t>Base de conocimientos</a:t>
            </a:r>
            <a:endParaRPr b="1" i="0" sz="1800" u="none" cap="none" strike="noStrike">
              <a:solidFill>
                <a:schemeClr val="dk2"/>
              </a:solidFill>
              <a:latin typeface="Arial"/>
              <a:ea typeface="Arial"/>
              <a:cs typeface="Arial"/>
              <a:sym typeface="Arial"/>
            </a:endParaRPr>
          </a:p>
        </p:txBody>
      </p:sp>
      <p:sp>
        <p:nvSpPr>
          <p:cNvPr id="112" name="Google Shape;112;g2c1d7c74eba_0_40"/>
          <p:cNvSpPr txBox="1"/>
          <p:nvPr/>
        </p:nvSpPr>
        <p:spPr>
          <a:xfrm>
            <a:off x="151500" y="1848675"/>
            <a:ext cx="8841000" cy="16995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La base de conocimientos es donde el agente de IA almacena sus conocimientos iniciales sobre el entorno. Este conocimiento suele estar predefinido o se aprende durante el entrenamiento. Sirve de base para el proceso de toma de decisiones del agente. Por ejemplo, un vehículo auto conducido puede tener una base de conocimientos con información sobre las normas de circulación, mientras que un agente autónomo de atención al cliente tiene acceso a información detallada sobre los productos de una empresa.</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g2c1d7c74eba_0_4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18" name="Google Shape;118;g2c1d7c74eba_0_45"/>
          <p:cNvSpPr txBox="1"/>
          <p:nvPr/>
        </p:nvSpPr>
        <p:spPr>
          <a:xfrm>
            <a:off x="2571750" y="268350"/>
            <a:ext cx="3235200" cy="46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Tipos de agentes inteligentes</a:t>
            </a:r>
            <a:endParaRPr b="0" i="0" sz="1800" u="none" cap="none" strike="noStrike">
              <a:solidFill>
                <a:schemeClr val="dk1"/>
              </a:solidFill>
              <a:latin typeface="Arial"/>
              <a:ea typeface="Arial"/>
              <a:cs typeface="Arial"/>
              <a:sym typeface="Arial"/>
            </a:endParaRPr>
          </a:p>
        </p:txBody>
      </p:sp>
      <p:sp>
        <p:nvSpPr>
          <p:cNvPr id="119" name="Google Shape;119;g2c1d7c74eba_0_45"/>
          <p:cNvSpPr txBox="1"/>
          <p:nvPr/>
        </p:nvSpPr>
        <p:spPr>
          <a:xfrm>
            <a:off x="8450" y="1960475"/>
            <a:ext cx="8945400" cy="279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s" sz="1400" u="none" cap="none" strike="noStrike">
                <a:solidFill>
                  <a:schemeClr val="dk1"/>
                </a:solidFill>
                <a:latin typeface="Arial"/>
                <a:ea typeface="Arial"/>
                <a:cs typeface="Arial"/>
                <a:sym typeface="Arial"/>
              </a:rPr>
              <a:t>Agentes reflejos simples</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Trabajan únicamente sobre la percepción actual, sin considerar el histórico de sensaciones. Por ello, solamente tienen éxito cuándo están ante un entorno que puede percibirse en su totalidad.</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s" sz="1400" u="none" cap="none" strike="noStrike">
                <a:solidFill>
                  <a:schemeClr val="dk1"/>
                </a:solidFill>
                <a:latin typeface="Arial"/>
                <a:ea typeface="Arial"/>
                <a:cs typeface="Arial"/>
                <a:sym typeface="Arial"/>
              </a:rPr>
              <a:t>Agentes reflejos basados en modelos</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Este tipo de agentes sí consideran el historial y, por lo tanto, pueden actuar en un escenario que no se observa por completo, teniendo así una visión más completa del mismo.</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g2c1d7c74eba_0_5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5" name="Google Shape;125;g2c1d7c74eba_0_50"/>
          <p:cNvSpPr txBox="1"/>
          <p:nvPr/>
        </p:nvSpPr>
        <p:spPr>
          <a:xfrm>
            <a:off x="8450" y="1520700"/>
            <a:ext cx="9042000" cy="3101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1" i="0" lang="es" sz="1400" u="none" cap="none" strike="noStrike">
                <a:solidFill>
                  <a:schemeClr val="dk1"/>
                </a:solidFill>
                <a:latin typeface="Arial"/>
                <a:ea typeface="Arial"/>
                <a:cs typeface="Arial"/>
                <a:sym typeface="Arial"/>
              </a:rPr>
              <a:t>Agentes basados en metas</a:t>
            </a:r>
            <a:endParaRPr b="1"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Como su nombre indica, este agente tiene un objetivo fijado, lo que hará que elija la mejor opción entre las que estén disponibles para alcanzar su propósito.</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1" i="0" lang="es" sz="1400" u="none" cap="none" strike="noStrike">
                <a:solidFill>
                  <a:schemeClr val="dk1"/>
                </a:solidFill>
                <a:latin typeface="Arial"/>
                <a:ea typeface="Arial"/>
                <a:cs typeface="Arial"/>
                <a:sym typeface="Arial"/>
              </a:rPr>
              <a:t>Agentes basados en la utilidad</a:t>
            </a:r>
            <a:endParaRPr b="1"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Son parecidos a los agentes orientados a metas, pero cuentan con la ventaja de proporcionar una medida sobre la utilidad de la acción. De esta forma, el agente estudia también el beneficio de la operación a la hora de tomar su decisión, permitiendo así compensar diferentes factores.</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Por ejemplo, el objetivo de una tienda puede ser la obtención de beneficios sobre las ventas, pero la función de utilidad reconoce que la satisfacción al cliente también debe tenerse en cuenta al buscar esa ganancia. El hecho de establecer la utilidad como un número real (satisfacción del cliente en una escala de uno al diez), el agente inteligente es capaz de definir los escenarios del mundo real en función de esa conveniencia.</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g2c1d7c74eba_0_5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31" name="Google Shape;131;g2c1d7c74eba_0_55"/>
          <p:cNvSpPr txBox="1"/>
          <p:nvPr/>
        </p:nvSpPr>
        <p:spPr>
          <a:xfrm>
            <a:off x="59625" y="1013800"/>
            <a:ext cx="9034800" cy="34962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1" i="0" lang="es" sz="1400" u="none" cap="none" strike="noStrike">
                <a:solidFill>
                  <a:schemeClr val="dk1"/>
                </a:solidFill>
                <a:latin typeface="Arial"/>
                <a:ea typeface="Arial"/>
                <a:cs typeface="Arial"/>
                <a:sym typeface="Arial"/>
              </a:rPr>
              <a:t>Agentes que aprenden</a:t>
            </a:r>
            <a:endParaRPr b="1"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El elemento adicional del aprendizaje implica que estos agentes pueden mejorar gradualmente y adquirir más conocimientos de un entorno con el tiempo. Se trata de un sistema altamente complejo que está programado para interactuar con el mundo real y cumplir determinados objetivos, relacionándose con ambientes que no conoce.El aprendizaje profundo y las redes neuronales se utilizan a menudo en el desarrollo de agentes de aprendizaje.</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Arial"/>
                <a:ea typeface="Arial"/>
                <a:cs typeface="Arial"/>
                <a:sym typeface="Arial"/>
              </a:rPr>
              <a:t>Agentes de creencia-deseo-intención</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rPr b="0" i="0" lang="es" sz="1400" u="none" cap="none" strike="noStrike">
                <a:solidFill>
                  <a:schemeClr val="dk1"/>
                </a:solidFill>
                <a:latin typeface="Arial"/>
                <a:ea typeface="Arial"/>
                <a:cs typeface="Arial"/>
                <a:sym typeface="Arial"/>
              </a:rPr>
              <a:t>Estos agentes modelan un comportamiento similar al humano manteniendo creencias sobre el entorno, deseos e intenciones. Pueden razonar y planificar sus acciones en consecuencia, lo que los hace adecuados para sistemas complejos.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g2c1d7c74eba_0_6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37" name="Google Shape;137;g2c1d7c74eba_0_60"/>
          <p:cNvSpPr txBox="1"/>
          <p:nvPr/>
        </p:nvSpPr>
        <p:spPr>
          <a:xfrm>
            <a:off x="357800" y="1259775"/>
            <a:ext cx="8512800" cy="2303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Arial"/>
                <a:ea typeface="Arial"/>
                <a:cs typeface="Arial"/>
                <a:sym typeface="Arial"/>
              </a:rPr>
              <a:t>Agentes basados en la lógica</a:t>
            </a:r>
            <a:endParaRPr b="1"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Los agentes basados en la lógica utilizan el razonamiento deductivo para tomar decisiones, normalmente sobre reglas lógicas. Son idóneos para tareas que requieren un razonamiento lógico complejo.</a:t>
            </a:r>
            <a:endParaRPr b="0" i="0" sz="1400" u="none" cap="none" strike="noStrike">
              <a:solidFill>
                <a:schemeClr val="dk1"/>
              </a:solidFill>
              <a:latin typeface="Arial"/>
              <a:ea typeface="Arial"/>
              <a:cs typeface="Arial"/>
              <a:sym typeface="Arial"/>
            </a:endParaRPr>
          </a:p>
        </p:txBody>
      </p:sp>
      <p:sp>
        <p:nvSpPr>
          <p:cNvPr id="138" name="Google Shape;138;g2c1d7c74eba_0_60"/>
          <p:cNvSpPr txBox="1"/>
          <p:nvPr/>
        </p:nvSpPr>
        <p:spPr>
          <a:xfrm>
            <a:off x="178700" y="4708400"/>
            <a:ext cx="396300" cy="20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39" name="Google Shape;139;g2c1d7c74eba_0_60"/>
          <p:cNvSpPr txBox="1"/>
          <p:nvPr/>
        </p:nvSpPr>
        <p:spPr>
          <a:xfrm>
            <a:off x="147625" y="4630700"/>
            <a:ext cx="6060300" cy="3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u="sng">
                <a:solidFill>
                  <a:schemeClr val="hlink"/>
                </a:solidFill>
                <a:hlinkClick r:id="rId4"/>
              </a:rPr>
              <a:t>https://www.youtube.com/watch?v=XK8GR2iI_4E</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g2c1d7c74eba_0_6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5" name="Google Shape;145;g2c1d7c74eba_0_65"/>
          <p:cNvSpPr txBox="1"/>
          <p:nvPr/>
        </p:nvSpPr>
        <p:spPr>
          <a:xfrm>
            <a:off x="3138275" y="290725"/>
            <a:ext cx="1821300" cy="47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Características</a:t>
            </a:r>
            <a:endParaRPr b="0" i="0" sz="1800" u="none" cap="none" strike="noStrike">
              <a:solidFill>
                <a:schemeClr val="dk1"/>
              </a:solidFill>
              <a:latin typeface="Arial"/>
              <a:ea typeface="Arial"/>
              <a:cs typeface="Arial"/>
              <a:sym typeface="Arial"/>
            </a:endParaRPr>
          </a:p>
        </p:txBody>
      </p:sp>
      <p:sp>
        <p:nvSpPr>
          <p:cNvPr id="146" name="Google Shape;146;g2c1d7c74eba_0_65"/>
          <p:cNvSpPr txBox="1"/>
          <p:nvPr/>
        </p:nvSpPr>
        <p:spPr>
          <a:xfrm>
            <a:off x="59625" y="1714500"/>
            <a:ext cx="9084300" cy="28998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Autonomía:</a:t>
            </a:r>
            <a:r>
              <a:rPr b="0" i="0" lang="es" sz="1400" u="none" cap="none" strike="noStrike">
                <a:solidFill>
                  <a:schemeClr val="dk1"/>
                </a:solidFill>
                <a:latin typeface="Arial"/>
                <a:ea typeface="Arial"/>
                <a:cs typeface="Arial"/>
                <a:sym typeface="Arial"/>
              </a:rPr>
              <a:t> Los agentes de IA tienen la capacidad de funcionar de forma independiente, tomando decisiones y realizando acciones, sin la necesidad de intervención del usuario constante mediante un programa de software. Esta autonomía les permite enfrentarse a problemas y situaciones complejas por sí mismos.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Aprendizaje y mejora continua:</a:t>
            </a:r>
            <a:r>
              <a:rPr b="0" i="0" lang="es" sz="1400" u="none" cap="none" strike="noStrike">
                <a:solidFill>
                  <a:schemeClr val="dk1"/>
                </a:solidFill>
                <a:latin typeface="Arial"/>
                <a:ea typeface="Arial"/>
                <a:cs typeface="Arial"/>
                <a:sym typeface="Arial"/>
              </a:rPr>
              <a:t> Los agentes de IA pueden aprender de su entorno y de las interacciones que tienen con otros agentes o sistemas de inteligencia artificial distribuida. A medida que adquieren más información y conocimientos, estos agentes mejoran sus habilidades y capacidades, lo que les permite desempeñarse de manera más eficiente y efectiva en el futuro.</a:t>
            </a:r>
            <a:endParaRPr b="0" i="0" sz="14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g2c1d7c74eba_0_7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2" name="Google Shape;152;g2c1d7c74eba_0_70"/>
          <p:cNvSpPr txBox="1"/>
          <p:nvPr/>
        </p:nvSpPr>
        <p:spPr>
          <a:xfrm>
            <a:off x="59625" y="1707050"/>
            <a:ext cx="8945100" cy="25494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Adaptabilidad:</a:t>
            </a:r>
            <a:r>
              <a:rPr b="0" i="0" lang="es" sz="1400" u="none" cap="none" strike="noStrike">
                <a:solidFill>
                  <a:schemeClr val="dk1"/>
                </a:solidFill>
                <a:latin typeface="Arial"/>
                <a:ea typeface="Arial"/>
                <a:cs typeface="Arial"/>
                <a:sym typeface="Arial"/>
              </a:rPr>
              <a:t> Los agentes de IA pueden adaptarse a cambios en sus entornos y en sus objetivos, lo que les permite enfrentarse a nuevas situaciones y desafíos con facilidad. Esta adaptabilidad es esencial en un mundo en constante evolución y permite a los agentes de IA mantener su relevancia y utilidad a través de diversas aplicaciones.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Interacción y cooperación:</a:t>
            </a:r>
            <a:r>
              <a:rPr b="0" i="0" lang="es" sz="1400" u="none" cap="none" strike="noStrike">
                <a:solidFill>
                  <a:schemeClr val="dk1"/>
                </a:solidFill>
                <a:latin typeface="Arial"/>
                <a:ea typeface="Arial"/>
                <a:cs typeface="Arial"/>
                <a:sym typeface="Arial"/>
              </a:rPr>
              <a:t> Los agentes de IA pueden interactuar con otros agentes, sistemas y usuarios humanos, compartiendo información y trabajando juntos para alcanzar objetivos comunes 🏆. Esta capacidad de colaboración es clave para el éxito en aplicaciones que involucran múltiples agentes o sistemas que trabajan en conjunto.</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g2c1d7c74eba_0_7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8" name="Google Shape;158;g2c1d7c74eba_0_75"/>
          <p:cNvSpPr txBox="1"/>
          <p:nvPr/>
        </p:nvSpPr>
        <p:spPr>
          <a:xfrm>
            <a:off x="80700" y="1938125"/>
            <a:ext cx="8982600" cy="15879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Arial"/>
              <a:buChar char="●"/>
            </a:pPr>
            <a:r>
              <a:rPr b="1" i="0" lang="es" sz="1400" u="none" cap="none" strike="noStrike">
                <a:solidFill>
                  <a:schemeClr val="dk1"/>
                </a:solidFill>
                <a:latin typeface="Arial"/>
                <a:ea typeface="Arial"/>
                <a:cs typeface="Arial"/>
                <a:sym typeface="Arial"/>
              </a:rPr>
              <a:t>Razonamiento y toma de decisiones:</a:t>
            </a:r>
            <a:r>
              <a:rPr b="0" i="0" lang="es" sz="1400" u="none" cap="none" strike="noStrike">
                <a:solidFill>
                  <a:schemeClr val="dk1"/>
                </a:solidFill>
                <a:latin typeface="Arial"/>
                <a:ea typeface="Arial"/>
                <a:cs typeface="Arial"/>
                <a:sym typeface="Arial"/>
              </a:rPr>
              <a:t> Los agentes de IA pueden analizar datos y situaciones, aplicar reglas lógicas y utilizar el conocimiento previamente adquirido para tomar decisiones informadas. Esta habilidad de razonamiento y toma de decisiones les permite navegar por entornos complejos y resolver problemas de manera efectiva.</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g2c1d7c74eba_0_8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4" name="Google Shape;164;g2c1d7c74eba_0_80"/>
          <p:cNvSpPr txBox="1"/>
          <p:nvPr/>
        </p:nvSpPr>
        <p:spPr>
          <a:xfrm>
            <a:off x="2556850" y="223625"/>
            <a:ext cx="3496200" cy="47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Beneficios de los agentes de IA</a:t>
            </a:r>
            <a:endParaRPr b="0" i="0" sz="1800" u="none" cap="none" strike="noStrike">
              <a:solidFill>
                <a:schemeClr val="dk1"/>
              </a:solidFill>
              <a:latin typeface="Arial"/>
              <a:ea typeface="Arial"/>
              <a:cs typeface="Arial"/>
              <a:sym typeface="Arial"/>
            </a:endParaRPr>
          </a:p>
        </p:txBody>
      </p:sp>
      <p:sp>
        <p:nvSpPr>
          <p:cNvPr id="165" name="Google Shape;165;g2c1d7c74eba_0_80"/>
          <p:cNvSpPr txBox="1"/>
          <p:nvPr/>
        </p:nvSpPr>
        <p:spPr>
          <a:xfrm>
            <a:off x="29825" y="991425"/>
            <a:ext cx="9042000" cy="2609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Asistencia personal y chatbots: Los agentes de IA pueden ayudar a las personas a realizar tareas cotidianas, como programar citas, responder preguntas y ofrecer recomendaciones personalizadas.</a:t>
            </a:r>
            <a:endParaRPr b="0" i="0" sz="1800" u="none" cap="none" strike="noStrike">
              <a:solidFill>
                <a:schemeClr val="dk1"/>
              </a:solidFill>
              <a:latin typeface="Arial"/>
              <a:ea typeface="Arial"/>
              <a:cs typeface="Arial"/>
              <a:sym typeface="Arial"/>
            </a:endParaRPr>
          </a:p>
          <a:p>
            <a:pPr indent="-342900" lvl="1" marL="914400" marR="0" rtl="0" algn="l">
              <a:lnSpc>
                <a:spcPct val="100000"/>
              </a:lnSpc>
              <a:spcBef>
                <a:spcPts val="0"/>
              </a:spcBef>
              <a:spcAft>
                <a:spcPts val="0"/>
              </a:spcAft>
              <a:buClr>
                <a:schemeClr val="dk1"/>
              </a:buClr>
              <a:buSzPts val="1800"/>
              <a:buFont typeface="Arial"/>
              <a:buChar char="○"/>
            </a:pPr>
            <a:r>
              <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Automatización y optimización de procesos empresariales: Los agentes de IA pueden mejorar la eficiencia en los negocios al automatizar tareas repetitivas y optimizar el uso de recursos.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g2c1d7c74eba_0_8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71" name="Google Shape;171;g2c1d7c74eba_0_85"/>
          <p:cNvSpPr txBox="1"/>
          <p:nvPr/>
        </p:nvSpPr>
        <p:spPr>
          <a:xfrm>
            <a:off x="134175" y="805075"/>
            <a:ext cx="8893200" cy="4189500"/>
          </a:xfrm>
          <a:prstGeom prst="rect">
            <a:avLst/>
          </a:prstGeom>
          <a:noFill/>
          <a:ln>
            <a:noFill/>
          </a:ln>
        </p:spPr>
        <p:txBody>
          <a:bodyPr anchorCtr="0" anchor="t" bIns="91425" lIns="91425" spcFirstLastPara="1" rIns="91425" wrap="square" tIns="91425">
            <a:noAutofit/>
          </a:bodyPr>
          <a:lstStyle/>
          <a:p>
            <a:pPr indent="-342900" lvl="0" marL="457200" marR="0" rtl="0" algn="just">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Análisis de datos y toma de decisiones: La IA puede analizar grandes cantidades de datos para identificar patrones y tendencias, lo que permite a las empresas tomar decisiones informadas.</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342900" lvl="0" marL="457200" marR="0" rtl="0" algn="just">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Innovaciones en medicina, educación, transporte y otros sectores: Los agentes de IA pueden mejorar la calidad de vida en áreas como la medicina, la educación y el transporte mediante la innovación y la optimización de servicios.</a:t>
            </a:r>
            <a:endParaRPr b="0" i="0" sz="1800" u="none" cap="none" strike="noStrike">
              <a:solidFill>
                <a:schemeClr val="dk1"/>
              </a:solidFill>
              <a:latin typeface="Arial"/>
              <a:ea typeface="Arial"/>
              <a:cs typeface="Arial"/>
              <a:sym typeface="Arial"/>
            </a:endParaRPr>
          </a:p>
          <a:p>
            <a:pPr indent="0" lvl="0" marL="45720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g2c1d7c74eba_0_9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177" name="Google Shape;177;g2c1d7c74eba_0_90"/>
          <p:cNvPicPr preferRelativeResize="0"/>
          <p:nvPr/>
        </p:nvPicPr>
        <p:blipFill rotWithShape="1">
          <a:blip r:embed="rId4">
            <a:alphaModFix/>
          </a:blip>
          <a:srcRect b="0" l="0" r="0" t="0"/>
          <a:stretch/>
        </p:blipFill>
        <p:spPr>
          <a:xfrm>
            <a:off x="52175" y="894525"/>
            <a:ext cx="9083375" cy="42042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