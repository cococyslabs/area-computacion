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16" roundtripDataSignature="AMtx7mha0NumtdEgXoL0+9FUE931Oj53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B334169-0B1C-40FD-A412-1998E1910B1B}">
  <a:tblStyle styleId="{5B334169-0B1C-40FD-A412-1998E1910B1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d2d4a7724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g2d2d4a77240_0_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01c3c48f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301c3c48f2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01c3c48f2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301c3c48f2b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1c3c48f2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g301c3c48f2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01c3c48f2b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g301c3c48f2b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1c3c48f2b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g301c3c48f2b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01c3c48f2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301c3c48f2b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01c3c48f2b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301c3c48f2b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graphicFrame>
        <p:nvGraphicFramePr>
          <p:cNvPr id="55" name="Google Shape;55;p1"/>
          <p:cNvGraphicFramePr/>
          <p:nvPr/>
        </p:nvGraphicFramePr>
        <p:xfrm>
          <a:off x="5328200" y="970025"/>
          <a:ext cx="3000000" cy="3000000"/>
        </p:xfrm>
        <a:graphic>
          <a:graphicData uri="http://schemas.openxmlformats.org/drawingml/2006/table">
            <a:tbl>
              <a:tblPr>
                <a:noFill/>
                <a:tableStyleId>{5B334169-0B1C-40FD-A412-1998E1910B1B}</a:tableStyleId>
              </a:tblPr>
              <a:tblGrid>
                <a:gridCol w="1518200"/>
                <a:gridCol w="2172375"/>
              </a:tblGrid>
              <a:tr h="32245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Día, Fecha:</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Martes, 0</a:t>
                      </a:r>
                      <a:r>
                        <a:rPr lang="es"/>
                        <a:t>8</a:t>
                      </a:r>
                      <a:r>
                        <a:rPr lang="es" sz="1400" u="none" cap="none" strike="noStrike"/>
                        <a:t>/10/2024</a:t>
                      </a:r>
                      <a:endParaRPr sz="1400" u="none" cap="none" strike="noStrike"/>
                    </a:p>
                  </a:txBody>
                  <a:tcPr marT="91425" marB="91425" marR="91425" marL="91425"/>
                </a:tc>
              </a:tr>
              <a:tr h="363100">
                <a:tc>
                  <a:txBody>
                    <a:bodyPr/>
                    <a:lstStyle/>
                    <a:p>
                      <a:pPr indent="0" lvl="0" marL="0" marR="0" rtl="0" algn="l">
                        <a:lnSpc>
                          <a:spcPct val="100000"/>
                        </a:lnSpc>
                        <a:spcBef>
                          <a:spcPts val="0"/>
                        </a:spcBef>
                        <a:spcAft>
                          <a:spcPts val="0"/>
                        </a:spcAft>
                        <a:buClr>
                          <a:srgbClr val="000000"/>
                        </a:buClr>
                        <a:buSzPts val="1420"/>
                        <a:buFont typeface="Arial"/>
                        <a:buNone/>
                      </a:pPr>
                      <a:r>
                        <a:rPr b="1" lang="es" sz="1420" u="none" cap="none" strike="noStrike">
                          <a:solidFill>
                            <a:schemeClr val="dk1"/>
                          </a:solidFill>
                        </a:rPr>
                        <a:t>Hora de inicio:</a:t>
                      </a:r>
                      <a:endParaRPr b="1" sz="142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s" sz="1400" u="none" cap="none" strike="noStrike"/>
                        <a:t>17:20</a:t>
                      </a:r>
                      <a:endParaRPr sz="1400" u="none" cap="none" strike="noStrike"/>
                    </a:p>
                  </a:txBody>
                  <a:tcPr marT="91425" marB="91425" marR="91425" marL="91425"/>
                </a:tc>
              </a:tr>
            </a:tbl>
          </a:graphicData>
        </a:graphic>
      </p:graphicFrame>
      <p:sp>
        <p:nvSpPr>
          <p:cNvPr id="56" name="Google Shape;56;p1"/>
          <p:cNvSpPr txBox="1"/>
          <p:nvPr/>
        </p:nvSpPr>
        <p:spPr>
          <a:xfrm>
            <a:off x="3959050" y="2420225"/>
            <a:ext cx="51765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chemeClr val="dk1"/>
                </a:solidFill>
              </a:rPr>
              <a:t>Inteligencia Artificial 1 Sección A</a:t>
            </a:r>
            <a:endParaRPr b="1" i="0" sz="2500" u="none" cap="none" strike="noStrike">
              <a:solidFill>
                <a:schemeClr val="dk1"/>
              </a:solidFill>
            </a:endParaRPr>
          </a:p>
        </p:txBody>
      </p:sp>
      <p:sp>
        <p:nvSpPr>
          <p:cNvPr id="57" name="Google Shape;57;p1"/>
          <p:cNvSpPr txBox="1"/>
          <p:nvPr/>
        </p:nvSpPr>
        <p:spPr>
          <a:xfrm>
            <a:off x="46625" y="4603000"/>
            <a:ext cx="38226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s" sz="2000" u="none" cap="none" strike="noStrike">
                <a:solidFill>
                  <a:srgbClr val="000000"/>
                </a:solidFill>
              </a:rPr>
              <a:t>Erick Eden Sandoval Ramirez</a:t>
            </a:r>
            <a:endParaRPr b="1" i="0" sz="2000" u="none" cap="none" strike="noStrik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pic>
        <p:nvPicPr>
          <p:cNvPr id="62" name="Google Shape;62;g2d2d4a77240_0_4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63" name="Google Shape;63;g2d2d4a77240_0_44"/>
          <p:cNvSpPr txBox="1"/>
          <p:nvPr/>
        </p:nvSpPr>
        <p:spPr>
          <a:xfrm>
            <a:off x="2882525" y="202000"/>
            <a:ext cx="2874900" cy="29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Causa y efecto de Bayes</a:t>
            </a:r>
            <a:endParaRPr b="1" sz="1800">
              <a:solidFill>
                <a:schemeClr val="dk1"/>
              </a:solidFill>
            </a:endParaRPr>
          </a:p>
        </p:txBody>
      </p:sp>
      <p:sp>
        <p:nvSpPr>
          <p:cNvPr id="64" name="Google Shape;64;g2d2d4a77240_0_44"/>
          <p:cNvSpPr txBox="1"/>
          <p:nvPr/>
        </p:nvSpPr>
        <p:spPr>
          <a:xfrm>
            <a:off x="85450" y="947900"/>
            <a:ext cx="2688300" cy="3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1"/>
                </a:solidFill>
              </a:rPr>
              <a:t>Inferencia bayesiana</a:t>
            </a:r>
            <a:endParaRPr b="1" sz="1800">
              <a:solidFill>
                <a:schemeClr val="dk1"/>
              </a:solidFill>
            </a:endParaRPr>
          </a:p>
        </p:txBody>
      </p:sp>
      <p:sp>
        <p:nvSpPr>
          <p:cNvPr id="65" name="Google Shape;65;g2d2d4a77240_0_44"/>
          <p:cNvSpPr txBox="1"/>
          <p:nvPr/>
        </p:nvSpPr>
        <p:spPr>
          <a:xfrm>
            <a:off x="155400" y="1390775"/>
            <a:ext cx="8919600" cy="1243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Es una rama de la estadística que proporciona un marco teórico para interpretar eventos en términos de probabilidades. Se basa en el Teorema de Bayes, que es una fórmula para actualizar la probabilidad de que ocurra un evento a la luz de nuevos datos.</a:t>
            </a:r>
            <a:endParaRPr sz="1800">
              <a:solidFill>
                <a:schemeClr val="dk1"/>
              </a:solidFill>
            </a:endParaRPr>
          </a:p>
        </p:txBody>
      </p:sp>
      <p:sp>
        <p:nvSpPr>
          <p:cNvPr id="66" name="Google Shape;66;g2d2d4a77240_0_44"/>
          <p:cNvSpPr txBox="1"/>
          <p:nvPr/>
        </p:nvSpPr>
        <p:spPr>
          <a:xfrm>
            <a:off x="1950150" y="2494050"/>
            <a:ext cx="40635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Fórmula</a:t>
            </a:r>
            <a:r>
              <a:rPr lang="es" sz="1800">
                <a:solidFill>
                  <a:schemeClr val="dk1"/>
                </a:solidFill>
              </a:rPr>
              <a:t>:   </a:t>
            </a:r>
            <a:r>
              <a:rPr lang="es">
                <a:solidFill>
                  <a:schemeClr val="dk1"/>
                </a:solidFill>
              </a:rPr>
              <a:t>P(H|E) = (P(E|H) * P(H)) / P(E)</a:t>
            </a:r>
            <a:endParaRPr>
              <a:solidFill>
                <a:schemeClr val="dk1"/>
              </a:solidFill>
            </a:endParaRPr>
          </a:p>
          <a:p>
            <a:pPr indent="0" lvl="0" marL="0" rtl="0" algn="l">
              <a:spcBef>
                <a:spcPts val="0"/>
              </a:spcBef>
              <a:spcAft>
                <a:spcPts val="0"/>
              </a:spcAft>
              <a:buNone/>
            </a:pPr>
            <a:r>
              <a:t/>
            </a:r>
            <a:endParaRPr sz="1800">
              <a:solidFill>
                <a:schemeClr val="dk1"/>
              </a:solidFill>
            </a:endParaRPr>
          </a:p>
        </p:txBody>
      </p:sp>
      <p:sp>
        <p:nvSpPr>
          <p:cNvPr id="67" name="Google Shape;67;g2d2d4a77240_0_44"/>
          <p:cNvSpPr txBox="1"/>
          <p:nvPr/>
        </p:nvSpPr>
        <p:spPr>
          <a:xfrm>
            <a:off x="846900" y="3076775"/>
            <a:ext cx="7233600" cy="13674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Char char="●"/>
            </a:pPr>
            <a:r>
              <a:rPr lang="es">
                <a:solidFill>
                  <a:schemeClr val="dk1"/>
                </a:solidFill>
              </a:rPr>
              <a:t>P(H|E) es la probabilidad de la hipótesis H sabiendo que ha ocurrido el evento E.</a:t>
            </a:r>
            <a:endParaRPr>
              <a:solidFill>
                <a:schemeClr val="dk1"/>
              </a:solidFill>
            </a:endParaRPr>
          </a:p>
          <a:p>
            <a:pPr indent="-317500" lvl="0" marL="457200" rtl="0" algn="l">
              <a:spcBef>
                <a:spcPts val="0"/>
              </a:spcBef>
              <a:spcAft>
                <a:spcPts val="0"/>
              </a:spcAft>
              <a:buClr>
                <a:schemeClr val="dk1"/>
              </a:buClr>
              <a:buSzPts val="1400"/>
              <a:buChar char="●"/>
            </a:pPr>
            <a:r>
              <a:rPr lang="es">
                <a:solidFill>
                  <a:schemeClr val="dk1"/>
                </a:solidFill>
              </a:rPr>
              <a:t>P(E|H) es la probabilidad de que ocurra el evento E si la hipótesis H es cierta.</a:t>
            </a:r>
            <a:endParaRPr>
              <a:solidFill>
                <a:schemeClr val="dk1"/>
              </a:solidFill>
            </a:endParaRPr>
          </a:p>
          <a:p>
            <a:pPr indent="-317500" lvl="0" marL="457200" rtl="0" algn="l">
              <a:spcBef>
                <a:spcPts val="0"/>
              </a:spcBef>
              <a:spcAft>
                <a:spcPts val="0"/>
              </a:spcAft>
              <a:buClr>
                <a:schemeClr val="dk1"/>
              </a:buClr>
              <a:buSzPts val="1400"/>
              <a:buChar char="●"/>
            </a:pPr>
            <a:r>
              <a:rPr lang="es">
                <a:solidFill>
                  <a:schemeClr val="dk1"/>
                </a:solidFill>
              </a:rPr>
              <a:t>PAG(H) es la probabilidad a priori de la hipótesis H antes de ver los datos E.</a:t>
            </a:r>
            <a:endParaRPr>
              <a:solidFill>
                <a:schemeClr val="dk1"/>
              </a:solidFill>
            </a:endParaRPr>
          </a:p>
          <a:p>
            <a:pPr indent="-317500" lvl="0" marL="457200" rtl="0" algn="l">
              <a:spcBef>
                <a:spcPts val="0"/>
              </a:spcBef>
              <a:spcAft>
                <a:spcPts val="0"/>
              </a:spcAft>
              <a:buClr>
                <a:schemeClr val="dk1"/>
              </a:buClr>
              <a:buSzPts val="1400"/>
              <a:buChar char="●"/>
            </a:pPr>
            <a:r>
              <a:rPr lang="es">
                <a:solidFill>
                  <a:schemeClr val="dk1"/>
                </a:solidFill>
              </a:rPr>
              <a:t>P(E) es la probabilidad a priori del evento E.</a:t>
            </a:r>
            <a:endParaRPr>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pic>
        <p:nvPicPr>
          <p:cNvPr id="72" name="Google Shape;72;g301c3c48f2b_0_0"/>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73" name="Google Shape;73;g301c3c48f2b_0_0"/>
          <p:cNvSpPr txBox="1"/>
          <p:nvPr/>
        </p:nvSpPr>
        <p:spPr>
          <a:xfrm>
            <a:off x="2284275" y="217550"/>
            <a:ext cx="3962400" cy="44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Probabilidades a priori y posteriores.</a:t>
            </a:r>
            <a:endParaRPr sz="1800">
              <a:solidFill>
                <a:schemeClr val="dk1"/>
              </a:solidFill>
            </a:endParaRPr>
          </a:p>
        </p:txBody>
      </p:sp>
      <p:sp>
        <p:nvSpPr>
          <p:cNvPr id="74" name="Google Shape;74;g301c3c48f2b_0_0"/>
          <p:cNvSpPr txBox="1"/>
          <p:nvPr/>
        </p:nvSpPr>
        <p:spPr>
          <a:xfrm>
            <a:off x="65550" y="738100"/>
            <a:ext cx="9012900" cy="25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600">
                <a:solidFill>
                  <a:schemeClr val="dk1"/>
                </a:solidFill>
              </a:rPr>
              <a:t>Dos conceptos clave en la inferencia bayesiana son las nociones de probabilidad. a priori Y a posteriori :</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330200" lvl="0" marL="457200" rtl="0" algn="l">
              <a:spcBef>
                <a:spcPts val="0"/>
              </a:spcBef>
              <a:spcAft>
                <a:spcPts val="0"/>
              </a:spcAft>
              <a:buClr>
                <a:schemeClr val="dk1"/>
              </a:buClr>
              <a:buSzPts val="1600"/>
              <a:buChar char="●"/>
            </a:pPr>
            <a:r>
              <a:rPr lang="es" sz="1600">
                <a:solidFill>
                  <a:schemeClr val="dk1"/>
                </a:solidFill>
              </a:rPr>
              <a:t>La probabilidad a priori, denotado P(H), representa lo que sabemos antes de tener en cuenta la nueva información.</a:t>
            </a:r>
            <a:endParaRPr sz="1600">
              <a:solidFill>
                <a:schemeClr val="dk1"/>
              </a:solidFill>
            </a:endParaRPr>
          </a:p>
          <a:p>
            <a:pPr indent="-330200" lvl="0" marL="457200" rtl="0" algn="l">
              <a:spcBef>
                <a:spcPts val="0"/>
              </a:spcBef>
              <a:spcAft>
                <a:spcPts val="0"/>
              </a:spcAft>
              <a:buClr>
                <a:schemeClr val="dk1"/>
              </a:buClr>
              <a:buSzPts val="1600"/>
              <a:buChar char="●"/>
            </a:pPr>
            <a:r>
              <a:rPr lang="es" sz="1600">
                <a:solidFill>
                  <a:schemeClr val="dk1"/>
                </a:solidFill>
              </a:rPr>
              <a:t>La probabilidad a posteriori, denotado P(H|E), representa lo que sabemos después de tener en cuenta la nueva información.</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s" sz="1600">
                <a:solidFill>
                  <a:schemeClr val="dk1"/>
                </a:solidFill>
              </a:rPr>
              <a:t>La inferencia bayesiana implica pasar de la probabilidad anterior a la probabilidad posterior utilizando el teorema de Bayes.</a:t>
            </a:r>
            <a:endParaRPr sz="1600">
              <a:solidFill>
                <a:schemeClr val="dk1"/>
              </a:solidFill>
            </a:endParaRPr>
          </a:p>
        </p:txBody>
      </p:sp>
      <p:sp>
        <p:nvSpPr>
          <p:cNvPr id="75" name="Google Shape;75;g301c3c48f2b_0_0"/>
          <p:cNvSpPr txBox="1"/>
          <p:nvPr/>
        </p:nvSpPr>
        <p:spPr>
          <a:xfrm>
            <a:off x="108775" y="3418650"/>
            <a:ext cx="8973900" cy="16626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b="1" lang="es" sz="1800">
                <a:solidFill>
                  <a:schemeClr val="dk1"/>
                </a:solidFill>
              </a:rPr>
              <a:t>Evidencia</a:t>
            </a:r>
            <a:endParaRPr b="1" sz="1800">
              <a:solidFill>
                <a:schemeClr val="dk1"/>
              </a:solidFill>
            </a:endParaRPr>
          </a:p>
          <a:p>
            <a:pPr indent="0" lvl="0" marL="0" rtl="0" algn="just">
              <a:spcBef>
                <a:spcPts val="0"/>
              </a:spcBef>
              <a:spcAft>
                <a:spcPts val="0"/>
              </a:spcAft>
              <a:buNone/>
            </a:pPr>
            <a:r>
              <a:rPr lang="es" sz="1800">
                <a:solidFill>
                  <a:schemeClr val="dk1"/>
                </a:solidFill>
              </a:rPr>
              <a:t>En el teorema de Bayes, a P(E) a menudo se le llama factor de evidencia. Puede considerarse como una medida de la compatibilidad de los datos observados con todas las hipótesis posibles. En la práctica, actúa como un factor normalizador de actualización de nuestras creencias.</a:t>
            </a:r>
            <a:endParaRPr sz="1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g301c3c48f2b_0_7"/>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1" name="Google Shape;81;g301c3c48f2b_0_7"/>
          <p:cNvSpPr txBox="1"/>
          <p:nvPr/>
        </p:nvSpPr>
        <p:spPr>
          <a:xfrm>
            <a:off x="38850" y="831341"/>
            <a:ext cx="9059400" cy="424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s" sz="1800">
                <a:solidFill>
                  <a:schemeClr val="dk1"/>
                </a:solidFill>
              </a:rPr>
              <a:t>Inferencia bayesiana en la práctica</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En la práctica, la inferencia bayesiana se utiliza en muchos campos como el aprendizaje automático, el análisis de datos estadísticos, la toma de decisiones en presencia de incertidumbre, etc. En particular, permite:</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Desarrollar modelos predictivos probabilísticos.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Detectar anomalías o deducir patrones ocultos en datos complejos.</a:t>
            </a:r>
            <a:endParaRPr sz="1800">
              <a:solidFill>
                <a:schemeClr val="dk1"/>
              </a:solidFill>
            </a:endParaRPr>
          </a:p>
          <a:p>
            <a:pPr indent="-342900" lvl="0" marL="457200" rtl="0" algn="l">
              <a:spcBef>
                <a:spcPts val="0"/>
              </a:spcBef>
              <a:spcAft>
                <a:spcPts val="0"/>
              </a:spcAft>
              <a:buClr>
                <a:schemeClr val="dk1"/>
              </a:buClr>
              <a:buSzPts val="1800"/>
              <a:buChar char="●"/>
            </a:pPr>
            <a:r>
              <a:rPr lang="es" sz="1800">
                <a:solidFill>
                  <a:schemeClr val="dk1"/>
                </a:solidFill>
              </a:rPr>
              <a:t>Tomar decisiones basadas en datos incompletos o inciertos.</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La inferencia bayesiana proporciona un marco poderoso para razonar con incertidumbre e integrar coherentemente nueva información. Sus aplicaciones son amplias y su uso en campos avanzados como inteligencia artificial </a:t>
            </a:r>
            <a:r>
              <a:rPr lang="es" sz="1800">
                <a:solidFill>
                  <a:schemeClr val="dk1"/>
                </a:solidFill>
              </a:rPr>
              <a:t>donde</a:t>
            </a:r>
            <a:r>
              <a:rPr lang="es" sz="1800">
                <a:solidFill>
                  <a:schemeClr val="dk1"/>
                </a:solidFill>
              </a:rPr>
              <a:t> los grandes datos crece continuamente. Por lo tanto, comprender sus principios fundamentales es esencial para quienes desean interpretar el mundo a través del prisma de la probabilidad.</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pic>
        <p:nvPicPr>
          <p:cNvPr id="86" name="Google Shape;86;g301c3c48f2b_0_14"/>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87" name="Google Shape;87;g301c3c48f2b_0_14"/>
          <p:cNvSpPr txBox="1"/>
          <p:nvPr/>
        </p:nvSpPr>
        <p:spPr>
          <a:xfrm>
            <a:off x="1386450" y="862450"/>
            <a:ext cx="63711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Teorema de Bayes en algoritmos de aprendizaje automático</a:t>
            </a:r>
            <a:endParaRPr sz="1800">
              <a:solidFill>
                <a:schemeClr val="dk1"/>
              </a:solidFill>
            </a:endParaRPr>
          </a:p>
        </p:txBody>
      </p:sp>
      <p:sp>
        <p:nvSpPr>
          <p:cNvPr id="88" name="Google Shape;88;g301c3c48f2b_0_14"/>
          <p:cNvSpPr txBox="1"/>
          <p:nvPr/>
        </p:nvSpPr>
        <p:spPr>
          <a:xfrm>
            <a:off x="46625" y="1406300"/>
            <a:ext cx="93300" cy="2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sp>
        <p:nvSpPr>
          <p:cNvPr id="89" name="Google Shape;89;g301c3c48f2b_0_14"/>
          <p:cNvSpPr txBox="1"/>
          <p:nvPr/>
        </p:nvSpPr>
        <p:spPr>
          <a:xfrm>
            <a:off x="8450" y="1414075"/>
            <a:ext cx="9144000" cy="3480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El mundo de la inteligencia artificial (IA) está en constante evolución y entre los conceptos fundamentales que impulsan esta revolución se encuentra el teorema de Bayes. Esta herramienta matemática juega un papel crucial en los algoritmos de aprendizaje automático, permitiendo a las máquinas tomar decisiones informadas basadas en la probabilidad.</a:t>
            </a:r>
            <a:endParaRPr sz="1800">
              <a:solidFill>
                <a:schemeClr val="dk1"/>
              </a:solidFill>
            </a:endParaRPr>
          </a:p>
          <a:p>
            <a:pPr indent="0" lvl="0" marL="0" rtl="0" algn="just">
              <a:spcBef>
                <a:spcPts val="0"/>
              </a:spcBef>
              <a:spcAft>
                <a:spcPts val="0"/>
              </a:spcAft>
              <a:buNone/>
            </a:pPr>
            <a:r>
              <a:t/>
            </a:r>
            <a:endParaRPr sz="1800">
              <a:solidFill>
                <a:schemeClr val="dk1"/>
              </a:solidFill>
            </a:endParaRPr>
          </a:p>
          <a:p>
            <a:pPr indent="0" lvl="0" marL="0" rtl="0" algn="just">
              <a:spcBef>
                <a:spcPts val="0"/>
              </a:spcBef>
              <a:spcAft>
                <a:spcPts val="0"/>
              </a:spcAft>
              <a:buNone/>
            </a:pPr>
            <a:r>
              <a:rPr lang="es" sz="1800">
                <a:solidFill>
                  <a:schemeClr val="dk1"/>
                </a:solidFill>
              </a:rPr>
              <a:t>EL Teorema de Bayes, desarrollada por el reverendo Thomas Bayes en el siglo XVIII, es una fórmula que describe la probabilidad condicional de un evento, basada en el conocimiento previo asociado con ese evento. Formalmente, permite calcular la probabilidad (P(A|B)) de un evento A, sabiendo que B es verdadero, utilizando la probabilidad de que B sepa que A es verdadero (P(B|A)), la probabilidad de A ( P(A) ) y la probabilidad de B ( P(B) ).</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g301c3c48f2b_0_21"/>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95" name="Google Shape;95;g301c3c48f2b_0_21"/>
          <p:cNvSpPr txBox="1"/>
          <p:nvPr/>
        </p:nvSpPr>
        <p:spPr>
          <a:xfrm>
            <a:off x="1856950" y="761450"/>
            <a:ext cx="4716300" cy="41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1"/>
                </a:solidFill>
              </a:rPr>
              <a:t>La aplicación del teorema de Bayes en la IA</a:t>
            </a:r>
            <a:endParaRPr sz="1800">
              <a:solidFill>
                <a:schemeClr val="dk1"/>
              </a:solidFill>
            </a:endParaRPr>
          </a:p>
        </p:txBody>
      </p:sp>
      <p:sp>
        <p:nvSpPr>
          <p:cNvPr id="96" name="Google Shape;96;g301c3c48f2b_0_21"/>
          <p:cNvSpPr txBox="1"/>
          <p:nvPr/>
        </p:nvSpPr>
        <p:spPr>
          <a:xfrm>
            <a:off x="93225" y="1608325"/>
            <a:ext cx="8966100" cy="1911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1800">
                <a:solidFill>
                  <a:schemeClr val="dk1"/>
                </a:solidFill>
              </a:rPr>
              <a:t>En el contexto del aprendizaje automático, el teorema de Bayes se aplica para construir modelos probabilísticos. Estos modelos pueden ajustar sus predicciones en función de los nuevos datos proporcionados, lo que permite una mejora continua y un refinamiento del rendimiento. Este proceso es particularmente útil en la clasificación, donde el objetivo es asignar una etiqueta a una entrada determinada en función de las características observadas.</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g301c3c48f2b_0_28"/>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2" name="Google Shape;102;g301c3c48f2b_0_28"/>
          <p:cNvSpPr txBox="1"/>
          <p:nvPr/>
        </p:nvSpPr>
        <p:spPr>
          <a:xfrm>
            <a:off x="101000" y="1056675"/>
            <a:ext cx="8997300" cy="365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La importancia del aprendizaje bayesiano</a:t>
            </a:r>
            <a:endParaRPr b="1" sz="1800">
              <a:solidFill>
                <a:schemeClr val="dk1"/>
              </a:solidFill>
            </a:endParaRPr>
          </a:p>
          <a:p>
            <a:pPr indent="0" lvl="0" marL="0" rtl="0" algn="ctr">
              <a:spcBef>
                <a:spcPts val="0"/>
              </a:spcBef>
              <a:spcAft>
                <a:spcPts val="0"/>
              </a:spcAft>
              <a:buNone/>
            </a:pPr>
            <a:r>
              <a:t/>
            </a:r>
            <a:endParaRPr b="1"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0" lvl="0" marL="0" rtl="0" algn="just">
              <a:spcBef>
                <a:spcPts val="0"/>
              </a:spcBef>
              <a:spcAft>
                <a:spcPts val="0"/>
              </a:spcAft>
              <a:buClr>
                <a:schemeClr val="dk1"/>
              </a:buClr>
              <a:buSzPts val="1100"/>
              <a:buFont typeface="Arial"/>
              <a:buNone/>
            </a:pPr>
            <a:r>
              <a:rPr lang="es" sz="1800">
                <a:solidFill>
                  <a:schemeClr val="dk1"/>
                </a:solidFill>
              </a:rPr>
              <a:t>Una de las principales ventajas del aprendizaje bayesiano es su capacidad para manejar la incertidumbre y proporcionar cierta confianza en las predicciones. Esto es fundamental en campos críticos como la medicina o las finanzas, donde cada predicción puede tener grandes repercusiones. Además, este enfoque proporciona un marco para incorporar conocimientos previos y aprender a partir de pequeñas cantidades de datos.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g301c3c48f2b_0_35"/>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sp>
        <p:nvSpPr>
          <p:cNvPr id="108" name="Google Shape;108;g301c3c48f2b_0_35"/>
          <p:cNvSpPr txBox="1"/>
          <p:nvPr/>
        </p:nvSpPr>
        <p:spPr>
          <a:xfrm>
            <a:off x="54375" y="893500"/>
            <a:ext cx="9028200" cy="395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solidFill>
                  <a:schemeClr val="dk1"/>
                </a:solidFill>
              </a:rPr>
              <a:t>Ejemplos de algoritmos bayesianos</a:t>
            </a:r>
            <a:endParaRPr b="1" sz="1800">
              <a:solidFill>
                <a:schemeClr val="dk1"/>
              </a:solidFill>
            </a:endParaRPr>
          </a:p>
          <a:p>
            <a:pPr indent="0" lvl="0" marL="0" rtl="0" algn="ctr">
              <a:spcBef>
                <a:spcPts val="0"/>
              </a:spcBef>
              <a:spcAft>
                <a:spcPts val="0"/>
              </a:spcAft>
              <a:buClr>
                <a:schemeClr val="dk1"/>
              </a:buClr>
              <a:buSzPts val="1100"/>
              <a:buFont typeface="Arial"/>
              <a:buNone/>
            </a:pPr>
            <a:r>
              <a:t/>
            </a:r>
            <a:endParaRPr b="1" sz="1800">
              <a:solidFill>
                <a:schemeClr val="dk1"/>
              </a:solidFill>
            </a:endParaRPr>
          </a:p>
          <a:p>
            <a:pPr indent="0" lvl="0" marL="0" rtl="0" algn="just">
              <a:spcBef>
                <a:spcPts val="0"/>
              </a:spcBef>
              <a:spcAft>
                <a:spcPts val="0"/>
              </a:spcAft>
              <a:buClr>
                <a:schemeClr val="dk1"/>
              </a:buClr>
              <a:buSzPts val="1100"/>
              <a:buFont typeface="Arial"/>
              <a:buNone/>
            </a:pPr>
            <a:r>
              <a:rPr lang="es" sz="1800">
                <a:solidFill>
                  <a:schemeClr val="dk1"/>
                </a:solidFill>
              </a:rPr>
              <a:t>Existen varios algoritmos de aprendizaje automático que se basan en el teorema de Bayes, que incluyen:</a:t>
            </a:r>
            <a:endParaRPr sz="1800">
              <a:solidFill>
                <a:schemeClr val="dk1"/>
              </a:solidFill>
            </a:endParaRPr>
          </a:p>
          <a:p>
            <a:pPr indent="0" lvl="0" marL="0" rtl="0" algn="l">
              <a:spcBef>
                <a:spcPts val="0"/>
              </a:spcBef>
              <a:spcAft>
                <a:spcPts val="0"/>
              </a:spcAft>
              <a:buClr>
                <a:schemeClr val="dk1"/>
              </a:buClr>
              <a:buSzPts val="1100"/>
              <a:buFont typeface="Arial"/>
              <a:buNone/>
            </a:pPr>
            <a:r>
              <a:t/>
            </a:r>
            <a:endParaRPr sz="1800">
              <a:solidFill>
                <a:schemeClr val="dk2"/>
              </a:solidFill>
            </a:endParaRPr>
          </a:p>
          <a:p>
            <a:pPr indent="-342900" lvl="0" marL="457200" rtl="0" algn="just">
              <a:spcBef>
                <a:spcPts val="0"/>
              </a:spcBef>
              <a:spcAft>
                <a:spcPts val="0"/>
              </a:spcAft>
              <a:buClr>
                <a:schemeClr val="dk1"/>
              </a:buClr>
              <a:buSzPts val="1800"/>
              <a:buChar char="●"/>
            </a:pPr>
            <a:r>
              <a:rPr b="1" lang="es" sz="1800">
                <a:solidFill>
                  <a:schemeClr val="dk1"/>
                </a:solidFill>
              </a:rPr>
              <a:t>Bayes ingenuo</a:t>
            </a:r>
            <a:r>
              <a:rPr lang="es" sz="1800">
                <a:solidFill>
                  <a:schemeClr val="dk1"/>
                </a:solidFill>
              </a:rPr>
              <a:t>: Un clasificador probabilístico que, a pesar de su nombre ‘ingenuo’, destaca por su simplicidad y eficacia, especialmente cuando la probabilidad de las características es independiente.</a:t>
            </a:r>
            <a:endParaRPr sz="1800">
              <a:solidFill>
                <a:schemeClr val="dk1"/>
              </a:solidFill>
            </a:endParaRPr>
          </a:p>
          <a:p>
            <a:pPr indent="-342900" lvl="0" marL="457200" rtl="0" algn="just">
              <a:spcBef>
                <a:spcPts val="0"/>
              </a:spcBef>
              <a:spcAft>
                <a:spcPts val="0"/>
              </a:spcAft>
              <a:buClr>
                <a:schemeClr val="dk1"/>
              </a:buClr>
              <a:buSzPts val="1800"/>
              <a:buChar char="●"/>
            </a:pPr>
            <a:r>
              <a:rPr b="1" lang="es" sz="1800">
                <a:solidFill>
                  <a:schemeClr val="dk1"/>
                </a:solidFill>
              </a:rPr>
              <a:t>Redes bayesianas</a:t>
            </a:r>
            <a:r>
              <a:rPr lang="es" sz="1800">
                <a:solidFill>
                  <a:schemeClr val="dk1"/>
                </a:solidFill>
              </a:rPr>
              <a:t>: Modelo gráfico que representa relaciones probabilísticas entre un conjunto de variables y que puede usarse para predicción, clasificación y toma de decisiones.</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g301c3c48f2b_0_42"/>
          <p:cNvPicPr preferRelativeResize="0"/>
          <p:nvPr/>
        </p:nvPicPr>
        <p:blipFill rotWithShape="1">
          <a:blip r:embed="rId3">
            <a:alphaModFix amt="62000"/>
          </a:blip>
          <a:srcRect b="0" l="0" r="0" t="0"/>
          <a:stretch/>
        </p:blipFill>
        <p:spPr>
          <a:xfrm>
            <a:off x="8451" y="0"/>
            <a:ext cx="9127099" cy="5143501"/>
          </a:xfrm>
          <a:prstGeom prst="rect">
            <a:avLst/>
          </a:prstGeom>
          <a:noFill/>
          <a:ln>
            <a:noFill/>
          </a:ln>
        </p:spPr>
      </p:pic>
      <p:pic>
        <p:nvPicPr>
          <p:cNvPr id="114" name="Google Shape;114;g301c3c48f2b_0_42"/>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