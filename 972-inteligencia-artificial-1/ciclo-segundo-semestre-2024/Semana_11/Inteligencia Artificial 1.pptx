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7" roundtripDataSignature="AMtx7mhgxCnfXPQjSn0oRt9reKUSua0P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4458464-FEB9-4FD7-831F-BED008CD8A09}">
  <a:tblStyle styleId="{D4458464-FEB9-4FD7-831F-BED008CD8A0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ca4aeeaf0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ca4aeeaf05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44fef0cf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2d44fef0cfb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ca4aeeaf0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2ca4aeeaf05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d44fef0cf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2d44fef0cfb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ca4aeeaf0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2ca4aeeaf05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d44fef0cfb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2d44fef0cfb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d44fef0cfb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2d44fef0cfb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ca4aeeaf0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2ca4aeeaf05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ca4aeeaf0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2ca4aeeaf05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ca4aeeaf05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2ca4aeeaf05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ca4aeeaf05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2ca4aeeaf05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ca4aeeaf05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2ca4aeeaf05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ca4aeeaf05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2ca4aeeaf05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ca4aeeaf05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2ca4aeeaf05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d44fef0c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2d44fef0cf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d44fef0cf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2d44fef0cfb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d44fef0cf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2d44fef0cfb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d44fef0cf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2d44fef0cfb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d44fef0cf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2d44fef0cfb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hyperlink" Target="https://www.youtube.com/watch?v=UAeHmeWF9q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hyperlink" Target="https://www.youtube.com/watch?v=YcJxQTUVTl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hyperlink" Target="https://www.youtube.com/watch?v=bKkjQx_PS_M&amp;list=PL9E7H1rzXKFKRQA2TiNRJG3bezPDxG6c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hyperlink" Target="https://www.youtube.com/watch?v=M6oDiCQCin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{D4458464-FEB9-4FD7-831F-BED008CD8A09}</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a:t>Martes</a:t>
                      </a:r>
                      <a:r>
                        <a:rPr lang="es" sz="1400" u="none" cap="none" strike="noStrike"/>
                        <a:t>, </a:t>
                      </a:r>
                      <a:r>
                        <a:rPr lang="es"/>
                        <a:t>15</a:t>
                      </a:r>
                      <a:r>
                        <a:rPr lang="es" sz="1400" u="none" cap="none" strike="noStrike"/>
                        <a:t>/10/2024</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3718450" y="2180600"/>
            <a:ext cx="54171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s" sz="2500" u="none" cap="none" strike="noStrike">
                <a:solidFill>
                  <a:srgbClr val="000000"/>
                </a:solidFill>
              </a:rPr>
              <a:t>Inteligencia </a:t>
            </a:r>
            <a:r>
              <a:rPr b="1" lang="es" sz="2500"/>
              <a:t>A</a:t>
            </a:r>
            <a:r>
              <a:rPr b="1" i="0" lang="es" sz="2500" u="none" cap="none" strike="noStrike">
                <a:solidFill>
                  <a:srgbClr val="000000"/>
                </a:solidFill>
              </a:rPr>
              <a:t>rtificial 1 Sección A</a:t>
            </a:r>
            <a:endParaRPr b="1" i="0" sz="2500" u="none" cap="none" strike="noStrike">
              <a:solidFill>
                <a:srgbClr val="000000"/>
              </a:solidFill>
            </a:endParaRPr>
          </a:p>
        </p:txBody>
      </p:sp>
      <p:sp>
        <p:nvSpPr>
          <p:cNvPr id="57" name="Google Shape;57;p1"/>
          <p:cNvSpPr txBox="1"/>
          <p:nvPr/>
        </p:nvSpPr>
        <p:spPr>
          <a:xfrm>
            <a:off x="61625" y="4564525"/>
            <a:ext cx="3893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s" sz="2000" u="none" cap="none" strike="noStrike">
                <a:solidFill>
                  <a:srgbClr val="000000"/>
                </a:solidFill>
              </a:rPr>
              <a:t>Erick Eden Sandoval Ramirez</a:t>
            </a:r>
            <a:endParaRPr b="1" i="0" sz="2000" u="none" cap="none" strike="noStrike">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2ca4aeeaf05_0_1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3" name="Google Shape;63;g2ca4aeeaf05_0_18"/>
          <p:cNvSpPr txBox="1"/>
          <p:nvPr/>
        </p:nvSpPr>
        <p:spPr>
          <a:xfrm>
            <a:off x="2678600" y="135425"/>
            <a:ext cx="3319500" cy="835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lang="es" sz="2400">
                <a:solidFill>
                  <a:schemeClr val="dk1"/>
                </a:solidFill>
              </a:rPr>
              <a:t>Historia de las redes neuronales</a:t>
            </a:r>
            <a:endParaRPr b="1" i="0" sz="2400" u="none" cap="none" strike="noStrike">
              <a:solidFill>
                <a:schemeClr val="dk1"/>
              </a:solidFill>
              <a:latin typeface="Arial"/>
              <a:ea typeface="Arial"/>
              <a:cs typeface="Arial"/>
              <a:sym typeface="Arial"/>
            </a:endParaRPr>
          </a:p>
        </p:txBody>
      </p:sp>
      <p:sp>
        <p:nvSpPr>
          <p:cNvPr id="64" name="Google Shape;64;g2ca4aeeaf05_0_18"/>
          <p:cNvSpPr txBox="1"/>
          <p:nvPr/>
        </p:nvSpPr>
        <p:spPr>
          <a:xfrm>
            <a:off x="183600" y="1459600"/>
            <a:ext cx="8776800" cy="2706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a:solidFill>
                  <a:schemeClr val="dk1"/>
                </a:solidFill>
              </a:rPr>
              <a:t>Se remonta a la década de 1940, cuando el neurocientífico Warren McCulloch y el matemático Walter Pitts presentaron un modelo de neurona artificial. Este modelo se basó en la idea de que las neuronas biológicas en el cerebro funcionan mediante la transmisión de señales eléctricas.</a:t>
            </a:r>
            <a:endParaRPr>
              <a:solidFill>
                <a:schemeClr val="dk1"/>
              </a:solidFill>
            </a:endParaRPr>
          </a:p>
          <a:p>
            <a:pPr indent="0" lvl="0" marL="0" rtl="0" algn="just">
              <a:spcBef>
                <a:spcPts val="0"/>
              </a:spcBef>
              <a:spcAft>
                <a:spcPts val="0"/>
              </a:spcAft>
              <a:buClr>
                <a:schemeClr val="dk1"/>
              </a:buClr>
              <a:buSzPts val="1100"/>
              <a:buFont typeface="Arial"/>
              <a:buNone/>
            </a:pPr>
            <a:r>
              <a:t/>
            </a:r>
            <a:endParaRPr>
              <a:solidFill>
                <a:schemeClr val="dk1"/>
              </a:solidFill>
            </a:endParaRPr>
          </a:p>
          <a:p>
            <a:pPr indent="0" lvl="0" marL="0" rtl="0" algn="just">
              <a:spcBef>
                <a:spcPts val="0"/>
              </a:spcBef>
              <a:spcAft>
                <a:spcPts val="0"/>
              </a:spcAft>
              <a:buClr>
                <a:schemeClr val="dk1"/>
              </a:buClr>
              <a:buSzPts val="1100"/>
              <a:buFont typeface="Arial"/>
              <a:buNone/>
            </a:pPr>
            <a:r>
              <a:rPr lang="es">
                <a:solidFill>
                  <a:schemeClr val="dk1"/>
                </a:solidFill>
              </a:rPr>
              <a:t>En la década de 1950, el psicólogo Frank Rosenblatt desarrolló el perceptrón, un tipo de red neuronal que puede ser entrenada para reconocer patrones en los datos. Aunque el perceptrón tenía sus limitaciones, fue un paso importante en el desarrollo de redes neuronales más avanzadas. En las décadas siguientes, los avances en la tecnología informática y la investigación en neurociencia llevaron a la creación de redes neuronales más complejas, como las redes neuronales convolucionales y las redes neuronales recurrentes. Estas redes en concreto han sido utilizadas en una amplia variedad de aplicaciones</a:t>
            </a:r>
            <a:endParaRPr>
              <a:solidFill>
                <a:schemeClr val="dk1"/>
              </a:solidFill>
            </a:endParaRPr>
          </a:p>
          <a:p>
            <a:pPr indent="0" lvl="0" marL="0" marR="0" rtl="0" algn="just">
              <a:lnSpc>
                <a:spcPct val="100000"/>
              </a:lnSpc>
              <a:spcBef>
                <a:spcPts val="0"/>
              </a:spcBef>
              <a:spcAft>
                <a:spcPts val="0"/>
              </a:spcAft>
              <a:buClr>
                <a:srgbClr val="000000"/>
              </a:buClr>
              <a:buSzPts val="1400"/>
              <a:buFont typeface="Arial"/>
              <a:buNone/>
            </a:pPr>
            <a: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g2d44fef0cfb_0_5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0" name="Google Shape;70;g2d44fef0cfb_0_59"/>
          <p:cNvSpPr txBox="1"/>
          <p:nvPr/>
        </p:nvSpPr>
        <p:spPr>
          <a:xfrm>
            <a:off x="2678600" y="391825"/>
            <a:ext cx="2892300" cy="605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s" sz="2400" u="none" cap="none" strike="noStrike">
                <a:solidFill>
                  <a:schemeClr val="dk1"/>
                </a:solidFill>
                <a:latin typeface="Arial"/>
                <a:ea typeface="Arial"/>
                <a:cs typeface="Arial"/>
                <a:sym typeface="Arial"/>
              </a:rPr>
              <a:t>Red neuronal</a:t>
            </a:r>
            <a:endParaRPr b="1" i="0" sz="2400" u="none" cap="none" strike="noStrike">
              <a:solidFill>
                <a:schemeClr val="dk1"/>
              </a:solidFill>
              <a:latin typeface="Arial"/>
              <a:ea typeface="Arial"/>
              <a:cs typeface="Arial"/>
              <a:sym typeface="Arial"/>
            </a:endParaRPr>
          </a:p>
        </p:txBody>
      </p:sp>
      <p:sp>
        <p:nvSpPr>
          <p:cNvPr id="71" name="Google Shape;71;g2d44fef0cfb_0_59"/>
          <p:cNvSpPr txBox="1"/>
          <p:nvPr/>
        </p:nvSpPr>
        <p:spPr>
          <a:xfrm>
            <a:off x="183600" y="1459600"/>
            <a:ext cx="8776800" cy="2706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Una red neuronal es un modelo de computación cuya estructura de capas se asemeja a la estructura interconectada de las neuronas en el cerebro, con capas de nodos conectados. Una red neuronal puede aprender de los datos, de manera que se puede entrenar para que reconozca patrones, clasifique datos y pronostique eventos futuros.</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Las redes neuronales descomponen las entradas en capas de abstracción. Se pueden entrenar con muchos ejemplos para que reconozcan patrones de voz o en imágenes, por ejemplo, igual que el cerebro humano. Su comportamiento está definido por la forma en que se conectan sus elementos individuales, así como por la importancia (o ponderación) de dichas conexiones. Estas ponderaciones se ajustan automáticamente durante el entrenamiento de acuerdo con una regla de aprendizaje especificada hasta que la red neuronal lleva a cabo la tarea deseada correctamente.</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g2ca4aeeaf05_0_2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7" name="Google Shape;77;g2ca4aeeaf05_0_24"/>
          <p:cNvSpPr txBox="1"/>
          <p:nvPr/>
        </p:nvSpPr>
        <p:spPr>
          <a:xfrm>
            <a:off x="2758225" y="178700"/>
            <a:ext cx="2929200" cy="65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¿Para qué se utilizan las redes neuronales?</a:t>
            </a:r>
            <a:endParaRPr b="1" sz="1800">
              <a:solidFill>
                <a:schemeClr val="dk1"/>
              </a:solidFill>
            </a:endParaRPr>
          </a:p>
        </p:txBody>
      </p:sp>
      <p:sp>
        <p:nvSpPr>
          <p:cNvPr id="78" name="Google Shape;78;g2ca4aeeaf05_0_24"/>
          <p:cNvSpPr txBox="1"/>
          <p:nvPr/>
        </p:nvSpPr>
        <p:spPr>
          <a:xfrm>
            <a:off x="178700" y="1196525"/>
            <a:ext cx="8810700" cy="3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800">
                <a:solidFill>
                  <a:schemeClr val="dk1"/>
                </a:solidFill>
              </a:rPr>
              <a:t>Las redes neuronales están presentes en varios casos de uso en muchos sectores, como los siguientes: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Diagnóstico médico mediante la clasificación de imágenes médicas</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Marketing orientado mediante el filtrado de redes sociales y el análisis de datos de comportamiento</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predicciones financieras mediante el procesamiento de datos históricos de instrumentos financieros</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Previsión de la carga eléctrica y la demanda de energía</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Proceso y control de calidad</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Identificación de compuestos químicos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g2d44fef0cfb_0_5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4" name="Google Shape;84;g2d44fef0cfb_0_52"/>
          <p:cNvSpPr txBox="1"/>
          <p:nvPr/>
        </p:nvSpPr>
        <p:spPr>
          <a:xfrm>
            <a:off x="2144425" y="691750"/>
            <a:ext cx="4778400" cy="459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s" sz="1800" u="none" cap="none" strike="noStrike">
                <a:solidFill>
                  <a:schemeClr val="dk1"/>
                </a:solidFill>
                <a:latin typeface="Arial"/>
                <a:ea typeface="Arial"/>
                <a:cs typeface="Arial"/>
                <a:sym typeface="Arial"/>
              </a:rPr>
              <a:t>¿Cómo funcionan las redes neuronales?</a:t>
            </a:r>
            <a:endParaRPr b="1" i="0" sz="1800" u="none" cap="none" strike="noStrike">
              <a:solidFill>
                <a:schemeClr val="dk1"/>
              </a:solidFill>
              <a:latin typeface="Arial"/>
              <a:ea typeface="Arial"/>
              <a:cs typeface="Arial"/>
              <a:sym typeface="Arial"/>
            </a:endParaRPr>
          </a:p>
        </p:txBody>
      </p:sp>
      <p:sp>
        <p:nvSpPr>
          <p:cNvPr id="85" name="Google Shape;85;g2d44fef0cfb_0_52"/>
          <p:cNvSpPr txBox="1"/>
          <p:nvPr/>
        </p:nvSpPr>
        <p:spPr>
          <a:xfrm>
            <a:off x="183600" y="1151050"/>
            <a:ext cx="8776800" cy="10092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800" u="none" cap="none" strike="noStrike">
                <a:solidFill>
                  <a:schemeClr val="dk1"/>
                </a:solidFill>
                <a:latin typeface="Arial"/>
                <a:ea typeface="Arial"/>
                <a:cs typeface="Arial"/>
                <a:sym typeface="Arial"/>
              </a:rPr>
              <a:t>Una red neuronal combina diversas capas de procesamiento y utiliza elementos simples que operan en paralelo, y están inspiradas en los sistemas nerviosos biológicos. Consta de una capa de entrada, una o varias capas ocultas y una capa de salida. Las capas están interconectadas mediante nodos, o neuronas; cada capa utiliza la salida de la capa anterior como entrada.</a:t>
            </a:r>
            <a:endParaRPr b="0" i="0" sz="1800" u="none" cap="none" strike="noStrike">
              <a:solidFill>
                <a:schemeClr val="dk1"/>
              </a:solidFill>
              <a:latin typeface="Arial"/>
              <a:ea typeface="Arial"/>
              <a:cs typeface="Arial"/>
              <a:sym typeface="Arial"/>
            </a:endParaRPr>
          </a:p>
        </p:txBody>
      </p:sp>
      <p:sp>
        <p:nvSpPr>
          <p:cNvPr id="86" name="Google Shape;86;g2d44fef0cfb_0_52"/>
          <p:cNvSpPr txBox="1"/>
          <p:nvPr/>
        </p:nvSpPr>
        <p:spPr>
          <a:xfrm>
            <a:off x="183600" y="2734900"/>
            <a:ext cx="8717700" cy="18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Capa de entrada</a:t>
            </a:r>
            <a:endParaRPr b="1" sz="1800">
              <a:solidFill>
                <a:schemeClr val="dk1"/>
              </a:solidFill>
            </a:endParaRPr>
          </a:p>
          <a:p>
            <a:pPr indent="0" lvl="0" marL="0" rtl="0" algn="l">
              <a:spcBef>
                <a:spcPts val="0"/>
              </a:spcBef>
              <a:spcAft>
                <a:spcPts val="0"/>
              </a:spcAft>
              <a:buClr>
                <a:schemeClr val="dk1"/>
              </a:buClr>
              <a:buSzPts val="1100"/>
              <a:buFont typeface="Arial"/>
              <a:buNone/>
            </a:pPr>
            <a:r>
              <a:t/>
            </a:r>
            <a:endParaRPr b="1"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La información del mundo exterior entra en la red neuronal artificial desde la capa de entrada. Los nodos de entrada procesan los datos, los analizan o los clasifican y los pasan a la siguiente capa.</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g2ca4aeeaf05_0_3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2" name="Google Shape;92;g2ca4aeeaf05_0_30"/>
          <p:cNvSpPr txBox="1"/>
          <p:nvPr/>
        </p:nvSpPr>
        <p:spPr>
          <a:xfrm>
            <a:off x="62150" y="932350"/>
            <a:ext cx="8981700" cy="3597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s" sz="1800">
                <a:solidFill>
                  <a:schemeClr val="dk1"/>
                </a:solidFill>
              </a:rPr>
              <a:t>Capa oculta</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Las capas ocultas toman su entrada de la capa de entrada o de otras capas ocultas. Las redes neuronales artificiales pueden tener una gran cantidad de capas ocultas. Cada capa oculta analiza la salida de la capa anterior, la procesa aún más y la pasa a la siguiente capa.</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b="1" lang="es" sz="1800">
                <a:solidFill>
                  <a:schemeClr val="dk1"/>
                </a:solidFill>
              </a:rPr>
              <a:t>Capa de salida</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La capa de salida proporciona el resultado final de todo el procesamiento de datos que realiza la red neuronal artificial. Puede tener uno o varios nodos. Por ejemplo, si tenemos un problema de clasificación binaria (sí/no), la capa de salida tendrá un nodo de salida que dará como resultado 1 o 0. Sin embargo, si tenemos un problema de clasificación multiclase, la capa de salida puede estar formada por más de un nodo de salida.</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g2d44fef0cfb_0_8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98" name="Google Shape;98;g2d44fef0cfb_0_84"/>
          <p:cNvPicPr preferRelativeResize="0"/>
          <p:nvPr/>
        </p:nvPicPr>
        <p:blipFill>
          <a:blip r:embed="rId4">
            <a:alphaModFix/>
          </a:blip>
          <a:stretch>
            <a:fillRect/>
          </a:stretch>
        </p:blipFill>
        <p:spPr>
          <a:xfrm>
            <a:off x="1132475" y="788602"/>
            <a:ext cx="6548875" cy="3375926"/>
          </a:xfrm>
          <a:prstGeom prst="rect">
            <a:avLst/>
          </a:prstGeom>
          <a:noFill/>
          <a:ln>
            <a:noFill/>
          </a:ln>
        </p:spPr>
      </p:pic>
      <p:sp>
        <p:nvSpPr>
          <p:cNvPr id="99" name="Google Shape;99;g2d44fef0cfb_0_84"/>
          <p:cNvSpPr txBox="1"/>
          <p:nvPr/>
        </p:nvSpPr>
        <p:spPr>
          <a:xfrm>
            <a:off x="85475" y="4164525"/>
            <a:ext cx="8942700" cy="901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a:solidFill>
                  <a:schemeClr val="dk1"/>
                </a:solidFill>
              </a:rPr>
              <a:t>Cada neurona en la red neuronal está conectada a otras neuronas a través de conexiones que, al igual que en el mundo biológico, son conocidas como sinapsis. Cada sinapsis tiene un peso asociado que determina la fuerza de la conexión, y durante el proceso de entrenamiento, estos pesos se ajustan mediante el aprendizaje para mejorar la precisión y el resultado de la salida de la red.</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g2d44fef0cfb_0_7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5" name="Google Shape;105;g2d44fef0cfb_0_71"/>
          <p:cNvSpPr txBox="1"/>
          <p:nvPr/>
        </p:nvSpPr>
        <p:spPr>
          <a:xfrm>
            <a:off x="2246000" y="546125"/>
            <a:ext cx="4251900" cy="605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s" sz="2400" u="none" cap="none" strike="noStrike">
                <a:solidFill>
                  <a:schemeClr val="dk1"/>
                </a:solidFill>
                <a:latin typeface="Arial"/>
                <a:ea typeface="Arial"/>
                <a:cs typeface="Arial"/>
                <a:sym typeface="Arial"/>
              </a:rPr>
              <a:t>Tipos de redes neuronales.</a:t>
            </a:r>
            <a:endParaRPr b="1" i="0" sz="2400" u="none" cap="none" strike="noStrike">
              <a:solidFill>
                <a:schemeClr val="dk1"/>
              </a:solidFill>
              <a:latin typeface="Arial"/>
              <a:ea typeface="Arial"/>
              <a:cs typeface="Arial"/>
              <a:sym typeface="Arial"/>
            </a:endParaRPr>
          </a:p>
        </p:txBody>
      </p:sp>
      <p:sp>
        <p:nvSpPr>
          <p:cNvPr id="106" name="Google Shape;106;g2d44fef0cfb_0_71"/>
          <p:cNvSpPr txBox="1"/>
          <p:nvPr/>
        </p:nvSpPr>
        <p:spPr>
          <a:xfrm>
            <a:off x="183600" y="1397425"/>
            <a:ext cx="8776800" cy="9945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Arial"/>
                <a:ea typeface="Arial"/>
                <a:cs typeface="Arial"/>
                <a:sym typeface="Arial"/>
              </a:rPr>
              <a:t>Redes neuronales monocapas</a:t>
            </a:r>
            <a:r>
              <a:rPr b="0" i="0" lang="es" sz="1400" u="none" cap="none" strike="noStrike">
                <a:solidFill>
                  <a:schemeClr val="dk1"/>
                </a:solidFill>
                <a:latin typeface="Arial"/>
                <a:ea typeface="Arial"/>
                <a:cs typeface="Arial"/>
                <a:sym typeface="Arial"/>
              </a:rPr>
              <a:t>: generalmente son las más sencillas de hacer, la capa de entrada también podría considerarse una capa, pero al no hacer cálculos no se tiene en cuenta a la hora de clasificarse. La capa de entrada se conectan a la capa de neuronas de salida que realizan determinados cálculos.</a:t>
            </a:r>
            <a:endParaRPr b="0" i="0" sz="1400" u="none" cap="none" strike="noStrike">
              <a:solidFill>
                <a:schemeClr val="dk1"/>
              </a:solidFill>
              <a:latin typeface="Arial"/>
              <a:ea typeface="Arial"/>
              <a:cs typeface="Arial"/>
              <a:sym typeface="Arial"/>
            </a:endParaRPr>
          </a:p>
        </p:txBody>
      </p:sp>
      <p:sp>
        <p:nvSpPr>
          <p:cNvPr id="107" name="Google Shape;107;g2d44fef0cfb_0_71"/>
          <p:cNvSpPr txBox="1"/>
          <p:nvPr/>
        </p:nvSpPr>
        <p:spPr>
          <a:xfrm>
            <a:off x="128225" y="1045825"/>
            <a:ext cx="2974800" cy="35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Por número de capas.</a:t>
            </a:r>
            <a:endParaRPr b="1" i="0" sz="1800" u="none" cap="none" strike="noStrike">
              <a:solidFill>
                <a:schemeClr val="dk1"/>
              </a:solidFill>
              <a:latin typeface="Arial"/>
              <a:ea typeface="Arial"/>
              <a:cs typeface="Arial"/>
              <a:sym typeface="Arial"/>
            </a:endParaRPr>
          </a:p>
        </p:txBody>
      </p:sp>
      <p:pic>
        <p:nvPicPr>
          <p:cNvPr id="108" name="Google Shape;108;g2d44fef0cfb_0_71"/>
          <p:cNvPicPr preferRelativeResize="0"/>
          <p:nvPr/>
        </p:nvPicPr>
        <p:blipFill rotWithShape="1">
          <a:blip r:embed="rId4">
            <a:alphaModFix/>
          </a:blip>
          <a:srcRect b="0" l="0" r="0" t="0"/>
          <a:stretch/>
        </p:blipFill>
        <p:spPr>
          <a:xfrm>
            <a:off x="3151352" y="2245975"/>
            <a:ext cx="2841300" cy="2362200"/>
          </a:xfrm>
          <a:prstGeom prst="rect">
            <a:avLst/>
          </a:prstGeom>
          <a:noFill/>
          <a:ln>
            <a:noFill/>
          </a:ln>
        </p:spPr>
      </p:pic>
      <p:sp>
        <p:nvSpPr>
          <p:cNvPr id="109" name="Google Shape;109;g2d44fef0cfb_0_71"/>
          <p:cNvSpPr txBox="1"/>
          <p:nvPr/>
        </p:nvSpPr>
        <p:spPr>
          <a:xfrm>
            <a:off x="171450" y="4689150"/>
            <a:ext cx="5821200" cy="35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sng" cap="none" strike="noStrike">
                <a:solidFill>
                  <a:schemeClr val="hlink"/>
                </a:solidFill>
                <a:latin typeface="Arial"/>
                <a:ea typeface="Arial"/>
                <a:cs typeface="Arial"/>
                <a:sym typeface="Arial"/>
                <a:hlinkClick r:id="rId5"/>
              </a:rPr>
              <a:t>https://www.youtube.com/watch?v=UAeHmeWF9qg</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g2ca4aeeaf05_0_3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15" name="Google Shape;115;g2ca4aeeaf05_0_36"/>
          <p:cNvSpPr txBox="1"/>
          <p:nvPr/>
        </p:nvSpPr>
        <p:spPr>
          <a:xfrm>
            <a:off x="2678600" y="391825"/>
            <a:ext cx="2867700" cy="60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s" sz="1800" u="none" cap="none" strike="noStrike">
                <a:solidFill>
                  <a:schemeClr val="dk1"/>
                </a:solidFill>
                <a:latin typeface="Arial"/>
                <a:ea typeface="Arial"/>
                <a:cs typeface="Arial"/>
                <a:sym typeface="Arial"/>
              </a:rPr>
              <a:t>Por número de capas.</a:t>
            </a:r>
            <a:endParaRPr b="1" i="0" sz="2400" u="none" cap="none" strike="noStrike">
              <a:solidFill>
                <a:schemeClr val="dk1"/>
              </a:solidFill>
              <a:latin typeface="Arial"/>
              <a:ea typeface="Arial"/>
              <a:cs typeface="Arial"/>
              <a:sym typeface="Arial"/>
            </a:endParaRPr>
          </a:p>
        </p:txBody>
      </p:sp>
      <p:sp>
        <p:nvSpPr>
          <p:cNvPr id="116" name="Google Shape;116;g2ca4aeeaf05_0_36"/>
          <p:cNvSpPr txBox="1"/>
          <p:nvPr/>
        </p:nvSpPr>
        <p:spPr>
          <a:xfrm>
            <a:off x="85350" y="1433875"/>
            <a:ext cx="8776800" cy="812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Arial"/>
                <a:ea typeface="Arial"/>
                <a:cs typeface="Arial"/>
                <a:sym typeface="Arial"/>
              </a:rPr>
              <a:t>Redes neuronales multicapas:</a:t>
            </a:r>
            <a:r>
              <a:rPr b="0" i="0" lang="es" sz="1400" u="none" cap="none" strike="noStrike">
                <a:solidFill>
                  <a:schemeClr val="dk1"/>
                </a:solidFill>
                <a:latin typeface="Arial"/>
                <a:ea typeface="Arial"/>
                <a:cs typeface="Arial"/>
                <a:sym typeface="Arial"/>
              </a:rPr>
              <a:t> entre las conexiones de entrada y de salida, existen diversas capas de neuronas que hacen de intermediarias, denominadas capas ocultas. Estas capas de neuronas, pueden conectarse entre ellas o no.</a:t>
            </a:r>
            <a:endParaRPr b="0" i="0" sz="1400" u="none" cap="none" strike="noStrike">
              <a:solidFill>
                <a:schemeClr val="dk1"/>
              </a:solidFill>
              <a:latin typeface="Arial"/>
              <a:ea typeface="Arial"/>
              <a:cs typeface="Arial"/>
              <a:sym typeface="Arial"/>
            </a:endParaRPr>
          </a:p>
        </p:txBody>
      </p:sp>
      <p:pic>
        <p:nvPicPr>
          <p:cNvPr id="117" name="Google Shape;117;g2ca4aeeaf05_0_36"/>
          <p:cNvPicPr preferRelativeResize="0"/>
          <p:nvPr/>
        </p:nvPicPr>
        <p:blipFill rotWithShape="1">
          <a:blip r:embed="rId4">
            <a:alphaModFix/>
          </a:blip>
          <a:srcRect b="0" l="0" r="0" t="0"/>
          <a:stretch/>
        </p:blipFill>
        <p:spPr>
          <a:xfrm>
            <a:off x="2935450" y="2132638"/>
            <a:ext cx="3076575" cy="2181225"/>
          </a:xfrm>
          <a:prstGeom prst="rect">
            <a:avLst/>
          </a:prstGeom>
          <a:noFill/>
          <a:ln>
            <a:noFill/>
          </a:ln>
        </p:spPr>
      </p:pic>
      <p:sp>
        <p:nvSpPr>
          <p:cNvPr id="118" name="Google Shape;118;g2ca4aeeaf05_0_36"/>
          <p:cNvSpPr txBox="1"/>
          <p:nvPr/>
        </p:nvSpPr>
        <p:spPr>
          <a:xfrm>
            <a:off x="77150" y="4466275"/>
            <a:ext cx="5898000" cy="3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sng" cap="none" strike="noStrike">
                <a:solidFill>
                  <a:schemeClr val="hlink"/>
                </a:solidFill>
                <a:latin typeface="Arial"/>
                <a:ea typeface="Arial"/>
                <a:cs typeface="Arial"/>
                <a:sym typeface="Arial"/>
                <a:hlinkClick r:id="rId5"/>
              </a:rPr>
              <a:t>https://www.youtube.com/watch?v=YcJxQTUVTls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g2ca4aeeaf05_0_4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4" name="Google Shape;124;g2ca4aeeaf05_0_42"/>
          <p:cNvSpPr txBox="1"/>
          <p:nvPr/>
        </p:nvSpPr>
        <p:spPr>
          <a:xfrm>
            <a:off x="183600" y="1318138"/>
            <a:ext cx="8776800" cy="1035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Arial"/>
                <a:ea typeface="Arial"/>
                <a:cs typeface="Arial"/>
                <a:sym typeface="Arial"/>
              </a:rPr>
              <a:t>Redes neuronales no recurrentes:</a:t>
            </a:r>
            <a:r>
              <a:rPr b="0" i="0" lang="es" sz="1400" u="none" cap="none" strike="noStrike">
                <a:solidFill>
                  <a:schemeClr val="dk1"/>
                </a:solidFill>
                <a:latin typeface="Arial"/>
                <a:ea typeface="Arial"/>
                <a:cs typeface="Arial"/>
                <a:sym typeface="Arial"/>
              </a:rPr>
              <a:t> se descubrieron en el año 1980, la información de las redes neuronales trabaja en un solo sentido. No existe una realimentación y también carecen de memoria. Este tipo de red neuronal no es tan utilizada. Sin embargo las redes neuronales recurrentes y no recurrentes, también utilizan algoritmos en común como por ejemplo en la fase de entrenamiento.</a:t>
            </a:r>
            <a:endParaRPr b="0" i="0" sz="1400" u="none" cap="none" strike="noStrike">
              <a:solidFill>
                <a:schemeClr val="dk1"/>
              </a:solidFill>
              <a:latin typeface="Arial"/>
              <a:ea typeface="Arial"/>
              <a:cs typeface="Arial"/>
              <a:sym typeface="Arial"/>
            </a:endParaRPr>
          </a:p>
        </p:txBody>
      </p:sp>
      <p:sp>
        <p:nvSpPr>
          <p:cNvPr id="125" name="Google Shape;125;g2ca4aeeaf05_0_42"/>
          <p:cNvSpPr txBox="1"/>
          <p:nvPr/>
        </p:nvSpPr>
        <p:spPr>
          <a:xfrm>
            <a:off x="2470800" y="265750"/>
            <a:ext cx="3437700" cy="48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Por los tipos de conexiones.</a:t>
            </a:r>
            <a:endParaRPr b="1" i="0" sz="1800" u="none" cap="none" strike="noStrike">
              <a:solidFill>
                <a:schemeClr val="dk1"/>
              </a:solidFill>
              <a:latin typeface="Arial"/>
              <a:ea typeface="Arial"/>
              <a:cs typeface="Arial"/>
              <a:sym typeface="Arial"/>
            </a:endParaRPr>
          </a:p>
        </p:txBody>
      </p:sp>
      <p:pic>
        <p:nvPicPr>
          <p:cNvPr id="126" name="Google Shape;126;g2ca4aeeaf05_0_42"/>
          <p:cNvPicPr preferRelativeResize="0"/>
          <p:nvPr/>
        </p:nvPicPr>
        <p:blipFill rotWithShape="1">
          <a:blip r:embed="rId4">
            <a:alphaModFix/>
          </a:blip>
          <a:srcRect b="0" l="0" r="0" t="0"/>
          <a:stretch/>
        </p:blipFill>
        <p:spPr>
          <a:xfrm>
            <a:off x="2470788" y="2571750"/>
            <a:ext cx="4695825" cy="2057400"/>
          </a:xfrm>
          <a:prstGeom prst="rect">
            <a:avLst/>
          </a:prstGeom>
          <a:noFill/>
          <a:ln>
            <a:noFill/>
          </a:ln>
        </p:spPr>
      </p:pic>
      <p:sp>
        <p:nvSpPr>
          <p:cNvPr id="127" name="Google Shape;127;g2ca4aeeaf05_0_42"/>
          <p:cNvSpPr txBox="1"/>
          <p:nvPr/>
        </p:nvSpPr>
        <p:spPr>
          <a:xfrm>
            <a:off x="197175" y="4774875"/>
            <a:ext cx="7284900" cy="25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sng" cap="none" strike="noStrike">
                <a:solidFill>
                  <a:schemeClr val="hlink"/>
                </a:solidFill>
                <a:latin typeface="Arial"/>
                <a:ea typeface="Arial"/>
                <a:cs typeface="Arial"/>
                <a:sym typeface="Arial"/>
                <a:hlinkClick r:id="rId5"/>
              </a:rPr>
              <a:t>https://www.youtube.com/watch?v=bKkjQx_PS_M&amp;list=PL9E7H1rzXKFKRQA2TiNRJG3bezPDxG6c3</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g2ca4aeeaf05_0_4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33" name="Google Shape;133;g2ca4aeeaf05_0_48"/>
          <p:cNvSpPr txBox="1"/>
          <p:nvPr/>
        </p:nvSpPr>
        <p:spPr>
          <a:xfrm>
            <a:off x="8438" y="1073825"/>
            <a:ext cx="8776800" cy="10092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Arial"/>
                <a:ea typeface="Arial"/>
                <a:cs typeface="Arial"/>
                <a:sym typeface="Arial"/>
              </a:rPr>
              <a:t>Redes neuronales recurrentes:</a:t>
            </a:r>
            <a:r>
              <a:rPr b="0" i="0" lang="es" sz="1400" u="none" cap="none" strike="noStrike">
                <a:solidFill>
                  <a:schemeClr val="dk1"/>
                </a:solidFill>
                <a:latin typeface="Arial"/>
                <a:ea typeface="Arial"/>
                <a:cs typeface="Arial"/>
                <a:sym typeface="Arial"/>
              </a:rPr>
              <a:t> las neuronas tienen la posibilidad de realizar conexiones realimentación, ya sea entre neuronas de una misma capa o de diferentes capas. La realimentación permite que las redes neuronales recurrentes, tengan memoria. Las redes neuronales recurrentes tienen mayores ventajas en general y suelen ser más potentes, que las redes neuronales no recurrentes.</a:t>
            </a:r>
            <a:endParaRPr b="0" i="0" sz="1400" u="none" cap="none" strike="noStrike">
              <a:solidFill>
                <a:schemeClr val="dk1"/>
              </a:solidFill>
              <a:latin typeface="Arial"/>
              <a:ea typeface="Arial"/>
              <a:cs typeface="Arial"/>
              <a:sym typeface="Arial"/>
            </a:endParaRPr>
          </a:p>
        </p:txBody>
      </p:sp>
      <p:sp>
        <p:nvSpPr>
          <p:cNvPr id="134" name="Google Shape;134;g2ca4aeeaf05_0_48"/>
          <p:cNvSpPr txBox="1"/>
          <p:nvPr/>
        </p:nvSpPr>
        <p:spPr>
          <a:xfrm>
            <a:off x="2470800" y="265750"/>
            <a:ext cx="3437700" cy="48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Por los tipos de conexiones.</a:t>
            </a:r>
            <a:endParaRPr b="1" i="0" sz="1800" u="none" cap="none" strike="noStrike">
              <a:solidFill>
                <a:schemeClr val="dk1"/>
              </a:solidFill>
              <a:latin typeface="Arial"/>
              <a:ea typeface="Arial"/>
              <a:cs typeface="Arial"/>
              <a:sym typeface="Arial"/>
            </a:endParaRPr>
          </a:p>
        </p:txBody>
      </p:sp>
      <p:pic>
        <p:nvPicPr>
          <p:cNvPr id="135" name="Google Shape;135;g2ca4aeeaf05_0_48"/>
          <p:cNvPicPr preferRelativeResize="0"/>
          <p:nvPr/>
        </p:nvPicPr>
        <p:blipFill>
          <a:blip r:embed="rId4">
            <a:alphaModFix/>
          </a:blip>
          <a:stretch>
            <a:fillRect/>
          </a:stretch>
        </p:blipFill>
        <p:spPr>
          <a:xfrm>
            <a:off x="1072625" y="2083022"/>
            <a:ext cx="6648450" cy="2986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g2ca4aeeaf05_0_10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1" name="Google Shape;141;g2ca4aeeaf05_0_103"/>
          <p:cNvSpPr txBox="1"/>
          <p:nvPr/>
        </p:nvSpPr>
        <p:spPr>
          <a:xfrm>
            <a:off x="8450" y="1005275"/>
            <a:ext cx="8776800" cy="675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Arial"/>
                <a:ea typeface="Arial"/>
                <a:cs typeface="Arial"/>
                <a:sym typeface="Arial"/>
              </a:rPr>
              <a:t>Redes neuronales totalmente conectadas:</a:t>
            </a:r>
            <a:r>
              <a:rPr b="0" i="0" lang="es" sz="1400" u="none" cap="none" strike="noStrike">
                <a:solidFill>
                  <a:schemeClr val="dk1"/>
                </a:solidFill>
                <a:latin typeface="Arial"/>
                <a:ea typeface="Arial"/>
                <a:cs typeface="Arial"/>
                <a:sym typeface="Arial"/>
              </a:rPr>
              <a:t> las capas anteriores y las capas posteriores, están totalmente conectadas. La totalidad de las neuronas están conectadas entre ellas.</a:t>
            </a:r>
            <a:endParaRPr b="0" i="0" sz="1400" u="none" cap="none" strike="noStrike">
              <a:solidFill>
                <a:schemeClr val="dk1"/>
              </a:solidFill>
              <a:latin typeface="Arial"/>
              <a:ea typeface="Arial"/>
              <a:cs typeface="Arial"/>
              <a:sym typeface="Arial"/>
            </a:endParaRPr>
          </a:p>
        </p:txBody>
      </p:sp>
      <p:sp>
        <p:nvSpPr>
          <p:cNvPr id="142" name="Google Shape;142;g2ca4aeeaf05_0_103"/>
          <p:cNvSpPr txBox="1"/>
          <p:nvPr/>
        </p:nvSpPr>
        <p:spPr>
          <a:xfrm>
            <a:off x="2470800" y="265750"/>
            <a:ext cx="3437700" cy="48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Por grado de conexiones.</a:t>
            </a:r>
            <a:endParaRPr b="1" i="0" sz="1800" u="none" cap="none" strike="noStrike">
              <a:solidFill>
                <a:schemeClr val="dk1"/>
              </a:solidFill>
              <a:latin typeface="Arial"/>
              <a:ea typeface="Arial"/>
              <a:cs typeface="Arial"/>
              <a:sym typeface="Arial"/>
            </a:endParaRPr>
          </a:p>
        </p:txBody>
      </p:sp>
      <p:pic>
        <p:nvPicPr>
          <p:cNvPr id="143" name="Google Shape;143;g2ca4aeeaf05_0_103"/>
          <p:cNvPicPr preferRelativeResize="0"/>
          <p:nvPr/>
        </p:nvPicPr>
        <p:blipFill rotWithShape="1">
          <a:blip r:embed="rId4">
            <a:alphaModFix/>
          </a:blip>
          <a:srcRect b="0" l="0" r="0" t="0"/>
          <a:stretch/>
        </p:blipFill>
        <p:spPr>
          <a:xfrm>
            <a:off x="271925" y="1644025"/>
            <a:ext cx="8655401" cy="3343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g2ca4aeeaf05_0_12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9" name="Google Shape;149;g2ca4aeeaf05_0_123"/>
          <p:cNvSpPr txBox="1"/>
          <p:nvPr/>
        </p:nvSpPr>
        <p:spPr>
          <a:xfrm>
            <a:off x="8450" y="1219575"/>
            <a:ext cx="8776800" cy="675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Arial"/>
                <a:ea typeface="Arial"/>
                <a:cs typeface="Arial"/>
                <a:sym typeface="Arial"/>
              </a:rPr>
              <a:t>Redes parcialmente conectadas:</a:t>
            </a:r>
            <a:r>
              <a:rPr b="0" i="0" lang="es" sz="1400" u="none" cap="none" strike="noStrike">
                <a:solidFill>
                  <a:schemeClr val="dk1"/>
                </a:solidFill>
                <a:latin typeface="Arial"/>
                <a:ea typeface="Arial"/>
                <a:cs typeface="Arial"/>
                <a:sym typeface="Arial"/>
              </a:rPr>
              <a:t> no todas las neuronas están totalmente conectadas entre ellas.</a:t>
            </a:r>
            <a:endParaRPr b="0" i="0" sz="1400" u="none" cap="none" strike="noStrike">
              <a:solidFill>
                <a:schemeClr val="dk1"/>
              </a:solidFill>
              <a:latin typeface="Arial"/>
              <a:ea typeface="Arial"/>
              <a:cs typeface="Arial"/>
              <a:sym typeface="Arial"/>
            </a:endParaRPr>
          </a:p>
        </p:txBody>
      </p:sp>
      <p:sp>
        <p:nvSpPr>
          <p:cNvPr id="150" name="Google Shape;150;g2ca4aeeaf05_0_123"/>
          <p:cNvSpPr txBox="1"/>
          <p:nvPr/>
        </p:nvSpPr>
        <p:spPr>
          <a:xfrm>
            <a:off x="2470800" y="265750"/>
            <a:ext cx="3437700" cy="48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Por grado de conexiones.</a:t>
            </a:r>
            <a:endParaRPr b="1" i="0" sz="1800" u="none" cap="none" strike="noStrike">
              <a:solidFill>
                <a:schemeClr val="dk1"/>
              </a:solidFill>
              <a:latin typeface="Arial"/>
              <a:ea typeface="Arial"/>
              <a:cs typeface="Arial"/>
              <a:sym typeface="Arial"/>
            </a:endParaRPr>
          </a:p>
        </p:txBody>
      </p:sp>
      <p:pic>
        <p:nvPicPr>
          <p:cNvPr id="151" name="Google Shape;151;g2ca4aeeaf05_0_123"/>
          <p:cNvPicPr preferRelativeResize="0"/>
          <p:nvPr/>
        </p:nvPicPr>
        <p:blipFill rotWithShape="1">
          <a:blip r:embed="rId4">
            <a:alphaModFix/>
          </a:blip>
          <a:srcRect b="0" l="0" r="0" t="0"/>
          <a:stretch/>
        </p:blipFill>
        <p:spPr>
          <a:xfrm>
            <a:off x="2810938" y="1517350"/>
            <a:ext cx="3171825" cy="3420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g2ca4aeeaf05_0_13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7" name="Google Shape;157;g2ca4aeeaf05_0_136"/>
          <p:cNvSpPr txBox="1"/>
          <p:nvPr/>
        </p:nvSpPr>
        <p:spPr>
          <a:xfrm>
            <a:off x="68450" y="1819650"/>
            <a:ext cx="8776800" cy="2586600"/>
          </a:xfrm>
          <a:prstGeom prst="rect">
            <a:avLst/>
          </a:prstGeom>
          <a:noFill/>
          <a:ln>
            <a:noFill/>
          </a:ln>
        </p:spPr>
        <p:txBody>
          <a:bodyPr anchorCtr="0" anchor="t" bIns="91425" lIns="91425" spcFirstLastPara="1" rIns="91425" wrap="square" tIns="91425">
            <a:noAutofit/>
          </a:bodyPr>
          <a:lstStyle/>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Redes Neuronales Transformers:</a:t>
            </a:r>
            <a:r>
              <a:rPr b="0" i="0" lang="es" sz="1400" u="none" cap="none" strike="noStrike">
                <a:solidFill>
                  <a:schemeClr val="dk1"/>
                </a:solidFill>
                <a:latin typeface="Arial"/>
                <a:ea typeface="Arial"/>
                <a:cs typeface="Arial"/>
                <a:sym typeface="Arial"/>
              </a:rPr>
              <a:t> ChatGPT o Bert, utilizan este tipo de redes neuronales, que son muy buenas para usos del procesamiento del lenguaje natural, entendiendo mejor el contexto, que otro tipo de redes. Este tipo de arquitectura, consume muchos recursos y energía.</a:t>
            </a:r>
            <a:endParaRPr b="0" i="0" sz="1400" u="none" cap="none" strike="noStrike">
              <a:solidFill>
                <a:schemeClr val="dk1"/>
              </a:solidFill>
              <a:latin typeface="Arial"/>
              <a:ea typeface="Arial"/>
              <a:cs typeface="Arial"/>
              <a:sym typeface="Arial"/>
            </a:endParaRPr>
          </a:p>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Redes Neuronales Recurrentes:</a:t>
            </a:r>
            <a:r>
              <a:rPr b="0" i="0" lang="es" sz="1400" u="none" cap="none" strike="noStrike">
                <a:solidFill>
                  <a:schemeClr val="dk1"/>
                </a:solidFill>
                <a:latin typeface="Arial"/>
                <a:ea typeface="Arial"/>
                <a:cs typeface="Arial"/>
                <a:sym typeface="Arial"/>
              </a:rPr>
              <a:t> se emplean bastante para la generación de texto y trabajar con secuencias, sin embargo, las transformers las están sustituyendo en muchos procesos similares.</a:t>
            </a:r>
            <a:endParaRPr b="0" i="0" sz="1400" u="none" cap="none" strike="noStrike">
              <a:solidFill>
                <a:schemeClr val="dk1"/>
              </a:solidFill>
              <a:latin typeface="Arial"/>
              <a:ea typeface="Arial"/>
              <a:cs typeface="Arial"/>
              <a:sym typeface="Arial"/>
            </a:endParaRPr>
          </a:p>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Redes Neuronales Convuncionales:</a:t>
            </a:r>
            <a:r>
              <a:rPr b="0" i="0" lang="es" sz="1400" u="none" cap="none" strike="noStrike">
                <a:solidFill>
                  <a:schemeClr val="dk1"/>
                </a:solidFill>
                <a:latin typeface="Arial"/>
                <a:ea typeface="Arial"/>
                <a:cs typeface="Arial"/>
                <a:sym typeface="Arial"/>
              </a:rPr>
              <a:t> generalmente se emplean para computer vision, reconocimiento facial y datos bidimensionales. Para conducción autónoma o sistemas de vigilancia, pueden llegar a ser bastante útiles.</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8" name="Google Shape;158;g2ca4aeeaf05_0_136"/>
          <p:cNvSpPr txBox="1"/>
          <p:nvPr/>
        </p:nvSpPr>
        <p:spPr>
          <a:xfrm>
            <a:off x="2470800" y="265750"/>
            <a:ext cx="3437700" cy="48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Por tipo de arquitectura.</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g2ca4aeeaf05_0_14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4" name="Google Shape;164;g2ca4aeeaf05_0_145"/>
          <p:cNvSpPr txBox="1"/>
          <p:nvPr/>
        </p:nvSpPr>
        <p:spPr>
          <a:xfrm>
            <a:off x="8450" y="1588175"/>
            <a:ext cx="8776800" cy="3101100"/>
          </a:xfrm>
          <a:prstGeom prst="rect">
            <a:avLst/>
          </a:prstGeom>
          <a:noFill/>
          <a:ln>
            <a:noFill/>
          </a:ln>
        </p:spPr>
        <p:txBody>
          <a:bodyPr anchorCtr="0" anchor="t" bIns="91425" lIns="91425" spcFirstLastPara="1" rIns="91425" wrap="square" tIns="91425">
            <a:noAutofit/>
          </a:bodyPr>
          <a:lstStyle/>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Redes Generativas Adversarias:</a:t>
            </a:r>
            <a:r>
              <a:rPr b="0" i="0" lang="es" sz="1400" u="none" cap="none" strike="noStrike">
                <a:solidFill>
                  <a:schemeClr val="dk1"/>
                </a:solidFill>
                <a:latin typeface="Arial"/>
                <a:ea typeface="Arial"/>
                <a:cs typeface="Arial"/>
                <a:sym typeface="Arial"/>
              </a:rPr>
              <a:t> se pueden usar para generar contenidos, como por ejemplo rostros artificiales, dibujos y usos similares. Se emplea una red para generar el contenido y con otra red, se comprueba su calidad, en comparación con los datos de entrenamiento. Una vez que el resultado, llega a un mínimo de calidad, se decide el dato final de salida.</a:t>
            </a:r>
            <a:endParaRPr b="0" i="0" sz="1400" u="none" cap="none" strike="noStrike">
              <a:solidFill>
                <a:schemeClr val="dk1"/>
              </a:solidFill>
              <a:latin typeface="Arial"/>
              <a:ea typeface="Arial"/>
              <a:cs typeface="Arial"/>
              <a:sym typeface="Arial"/>
            </a:endParaRPr>
          </a:p>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Redes Neuronales Siamesas:</a:t>
            </a:r>
            <a:r>
              <a:rPr b="0" i="0" lang="es" sz="1400" u="none" cap="none" strike="noStrike">
                <a:solidFill>
                  <a:schemeClr val="dk1"/>
                </a:solidFill>
                <a:latin typeface="Arial"/>
                <a:ea typeface="Arial"/>
                <a:cs typeface="Arial"/>
                <a:sym typeface="Arial"/>
              </a:rPr>
              <a:t> se utilizan para comparar similitudes, algunos ejemplos podrían ser verificar la autenticidad de un documento o en reconocimiento facial.</a:t>
            </a:r>
            <a:endParaRPr b="0" i="0" sz="1400" u="none" cap="none" strike="noStrike">
              <a:solidFill>
                <a:schemeClr val="dk1"/>
              </a:solidFill>
              <a:latin typeface="Arial"/>
              <a:ea typeface="Arial"/>
              <a:cs typeface="Arial"/>
              <a:sym typeface="Arial"/>
            </a:endParaRPr>
          </a:p>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Redes Neuronales de Memoria Diferenciable:</a:t>
            </a:r>
            <a:r>
              <a:rPr b="0" i="0" lang="es" sz="1400" u="none" cap="none" strike="noStrike">
                <a:solidFill>
                  <a:schemeClr val="dk1"/>
                </a:solidFill>
                <a:latin typeface="Arial"/>
                <a:ea typeface="Arial"/>
                <a:cs typeface="Arial"/>
                <a:sym typeface="Arial"/>
              </a:rPr>
              <a:t> están destinadas a procesos en los que se requieran memoria y capacidades de razonamiento.</a:t>
            </a:r>
            <a:endParaRPr b="0" i="0" sz="1400" u="none" cap="none" strike="noStrike">
              <a:solidFill>
                <a:schemeClr val="dk1"/>
              </a:solidFill>
              <a:latin typeface="Arial"/>
              <a:ea typeface="Arial"/>
              <a:cs typeface="Arial"/>
              <a:sym typeface="Arial"/>
            </a:endParaRPr>
          </a:p>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Variantes de Redes Neuronales Recurrentes:</a:t>
            </a:r>
            <a:r>
              <a:rPr b="0" i="0" lang="es" sz="1400" u="none" cap="none" strike="noStrike">
                <a:solidFill>
                  <a:schemeClr val="dk1"/>
                </a:solidFill>
                <a:latin typeface="Arial"/>
                <a:ea typeface="Arial"/>
                <a:cs typeface="Arial"/>
                <a:sym typeface="Arial"/>
              </a:rPr>
              <a:t> existen algunas variedades como las LSTM (Long Short-Term Memory) y las GRU (Gated Recurrent Unit) que buscan perfeccionar algunas desventajas de las RNN.</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5" name="Google Shape;165;g2ca4aeeaf05_0_145"/>
          <p:cNvSpPr txBox="1"/>
          <p:nvPr/>
        </p:nvSpPr>
        <p:spPr>
          <a:xfrm>
            <a:off x="2470800" y="265750"/>
            <a:ext cx="3437700" cy="48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Por tipo de arquitectura.</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g2d44fef0cfb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1" name="Google Shape;171;g2d44fef0cfb_0_0"/>
          <p:cNvSpPr txBox="1"/>
          <p:nvPr/>
        </p:nvSpPr>
        <p:spPr>
          <a:xfrm>
            <a:off x="3449725" y="271950"/>
            <a:ext cx="1313100" cy="38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2"/>
                </a:solidFill>
              </a:rPr>
              <a:t>Ventajas</a:t>
            </a:r>
            <a:endParaRPr b="1" sz="1800">
              <a:solidFill>
                <a:schemeClr val="dk2"/>
              </a:solidFill>
            </a:endParaRPr>
          </a:p>
        </p:txBody>
      </p:sp>
      <p:sp>
        <p:nvSpPr>
          <p:cNvPr id="172" name="Google Shape;172;g2d44fef0cfb_0_0"/>
          <p:cNvSpPr txBox="1"/>
          <p:nvPr/>
        </p:nvSpPr>
        <p:spPr>
          <a:xfrm>
            <a:off x="372950" y="1406300"/>
            <a:ext cx="8321100" cy="22533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1"/>
              </a:buClr>
              <a:buSzPts val="1800"/>
              <a:buChar char="●"/>
            </a:pPr>
            <a:r>
              <a:rPr lang="es" sz="1800">
                <a:solidFill>
                  <a:schemeClr val="dk1"/>
                </a:solidFill>
              </a:rPr>
              <a:t>Su alta capacidad de aprendizaje</a:t>
            </a:r>
            <a:endParaRPr sz="1800">
              <a:solidFill>
                <a:schemeClr val="dk1"/>
              </a:solidFill>
            </a:endParaRPr>
          </a:p>
          <a:p>
            <a:pPr indent="-342900" lvl="0" marL="457200" rtl="0" algn="just">
              <a:spcBef>
                <a:spcPts val="0"/>
              </a:spcBef>
              <a:spcAft>
                <a:spcPts val="0"/>
              </a:spcAft>
              <a:buClr>
                <a:schemeClr val="dk1"/>
              </a:buClr>
              <a:buSzPts val="1800"/>
              <a:buChar char="●"/>
            </a:pPr>
            <a:r>
              <a:rPr lang="es" sz="1800">
                <a:solidFill>
                  <a:schemeClr val="dk1"/>
                </a:solidFill>
              </a:rPr>
              <a:t>Son muy flexibles, pudiendo ser diseñadas para realizar predicciones con datos de muy diversa naturaleza: textos, imágenes, audio, señales de sensores, etc.</a:t>
            </a:r>
            <a:endParaRPr sz="1800">
              <a:solidFill>
                <a:schemeClr val="dk1"/>
              </a:solidFill>
            </a:endParaRPr>
          </a:p>
          <a:p>
            <a:pPr indent="-342900" lvl="0" marL="457200" rtl="0" algn="just">
              <a:spcBef>
                <a:spcPts val="0"/>
              </a:spcBef>
              <a:spcAft>
                <a:spcPts val="0"/>
              </a:spcAft>
              <a:buClr>
                <a:schemeClr val="dk1"/>
              </a:buClr>
              <a:buSzPts val="1800"/>
              <a:buChar char="●"/>
            </a:pPr>
            <a:r>
              <a:rPr lang="es" sz="1800">
                <a:solidFill>
                  <a:schemeClr val="dk1"/>
                </a:solidFill>
              </a:rPr>
              <a:t>Son capaces de crear modelos no lineales</a:t>
            </a:r>
            <a:endParaRPr sz="1800">
              <a:solidFill>
                <a:schemeClr val="dk1"/>
              </a:solidFill>
            </a:endParaRPr>
          </a:p>
          <a:p>
            <a:pPr indent="-342900" lvl="0" marL="457200" rtl="0" algn="just">
              <a:spcBef>
                <a:spcPts val="0"/>
              </a:spcBef>
              <a:spcAft>
                <a:spcPts val="0"/>
              </a:spcAft>
              <a:buClr>
                <a:schemeClr val="dk1"/>
              </a:buClr>
              <a:buSzPts val="1800"/>
              <a:buChar char="●"/>
            </a:pPr>
            <a:r>
              <a:rPr lang="es" sz="1800">
                <a:solidFill>
                  <a:schemeClr val="dk1"/>
                </a:solidFill>
              </a:rPr>
              <a:t>Pueden entrenar un modelo online (entrenándose con nuevas muestras a medida que éstas están disponibles)</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g2d44fef0cfb_0_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8" name="Google Shape;178;g2d44fef0cfb_0_7"/>
          <p:cNvSpPr txBox="1"/>
          <p:nvPr/>
        </p:nvSpPr>
        <p:spPr>
          <a:xfrm>
            <a:off x="3410875" y="233075"/>
            <a:ext cx="16161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Desventajas</a:t>
            </a:r>
            <a:endParaRPr b="1" sz="1800">
              <a:solidFill>
                <a:schemeClr val="dk1"/>
              </a:solidFill>
            </a:endParaRPr>
          </a:p>
        </p:txBody>
      </p:sp>
      <p:sp>
        <p:nvSpPr>
          <p:cNvPr id="179" name="Google Shape;179;g2d44fef0cfb_0_7"/>
          <p:cNvSpPr txBox="1"/>
          <p:nvPr/>
        </p:nvSpPr>
        <p:spPr>
          <a:xfrm>
            <a:off x="8450" y="846900"/>
            <a:ext cx="9127200" cy="3791700"/>
          </a:xfrm>
          <a:prstGeom prst="rect">
            <a:avLst/>
          </a:prstGeom>
          <a:noFill/>
          <a:ln>
            <a:noFill/>
          </a:ln>
        </p:spPr>
        <p:txBody>
          <a:bodyPr anchorCtr="0" anchor="t" bIns="91425" lIns="91425" spcFirstLastPara="1" rIns="91425" wrap="square" tIns="91425">
            <a:noAutofit/>
          </a:bodyPr>
          <a:lstStyle/>
          <a:p>
            <a:pPr indent="-330200" lvl="0" marL="457200" rtl="0" algn="just">
              <a:spcBef>
                <a:spcPts val="0"/>
              </a:spcBef>
              <a:spcAft>
                <a:spcPts val="0"/>
              </a:spcAft>
              <a:buClr>
                <a:schemeClr val="dk1"/>
              </a:buClr>
              <a:buSzPts val="1600"/>
              <a:buChar char="●"/>
            </a:pPr>
            <a:r>
              <a:rPr lang="es" sz="1600">
                <a:solidFill>
                  <a:schemeClr val="dk1"/>
                </a:solidFill>
              </a:rPr>
              <a:t>La necesidad de grandes cantidades de datos para su entrenamiento</a:t>
            </a:r>
            <a:endParaRPr sz="1600">
              <a:solidFill>
                <a:schemeClr val="dk1"/>
              </a:solidFill>
            </a:endParaRPr>
          </a:p>
          <a:p>
            <a:pPr indent="-330200" lvl="0" marL="457200" rtl="0" algn="just">
              <a:spcBef>
                <a:spcPts val="0"/>
              </a:spcBef>
              <a:spcAft>
                <a:spcPts val="0"/>
              </a:spcAft>
              <a:buClr>
                <a:schemeClr val="dk1"/>
              </a:buClr>
              <a:buSzPts val="1600"/>
              <a:buChar char="●"/>
            </a:pPr>
            <a:r>
              <a:rPr lang="es" sz="1600">
                <a:solidFill>
                  <a:schemeClr val="dk1"/>
                </a:solidFill>
              </a:rPr>
              <a:t>Son difíciles de interpretar, lo que hace difícil entender el motivo por el que llega a una cierta predicción</a:t>
            </a:r>
            <a:endParaRPr sz="1600">
              <a:solidFill>
                <a:schemeClr val="dk1"/>
              </a:solidFill>
            </a:endParaRPr>
          </a:p>
          <a:p>
            <a:pPr indent="-330200" lvl="0" marL="457200" rtl="0" algn="just">
              <a:spcBef>
                <a:spcPts val="0"/>
              </a:spcBef>
              <a:spcAft>
                <a:spcPts val="0"/>
              </a:spcAft>
              <a:buClr>
                <a:schemeClr val="dk1"/>
              </a:buClr>
              <a:buSzPts val="1600"/>
              <a:buChar char="●"/>
            </a:pPr>
            <a:r>
              <a:rPr lang="es" sz="1600">
                <a:solidFill>
                  <a:schemeClr val="dk1"/>
                </a:solidFill>
              </a:rPr>
              <a:t>Tienden a sobreentrenarse con mucha facilidad, debido a la mencionada capacidad de aprendizaje</a:t>
            </a:r>
            <a:endParaRPr sz="1600">
              <a:solidFill>
                <a:schemeClr val="dk1"/>
              </a:solidFill>
            </a:endParaRPr>
          </a:p>
          <a:p>
            <a:pPr indent="-330200" lvl="0" marL="457200" rtl="0" algn="just">
              <a:spcBef>
                <a:spcPts val="0"/>
              </a:spcBef>
              <a:spcAft>
                <a:spcPts val="0"/>
              </a:spcAft>
              <a:buClr>
                <a:schemeClr val="dk1"/>
              </a:buClr>
              <a:buSzPts val="1600"/>
              <a:buChar char="●"/>
            </a:pPr>
            <a:r>
              <a:rPr lang="es" sz="1600">
                <a:solidFill>
                  <a:schemeClr val="dk1"/>
                </a:solidFill>
              </a:rPr>
              <a:t>Los perceptrones multicapa tienen una función de pérdida en general no convexa con más de un mínimo local, por lo que los valores aleatorios inicialmente asignados a los pesos de los enlaces entre neuronas puede llevar a modelos con diferente precisión.</a:t>
            </a:r>
            <a:endParaRPr sz="1600">
              <a:solidFill>
                <a:schemeClr val="dk1"/>
              </a:solidFill>
            </a:endParaRPr>
          </a:p>
          <a:p>
            <a:pPr indent="-330200" lvl="0" marL="457200" rtl="0" algn="just">
              <a:spcBef>
                <a:spcPts val="0"/>
              </a:spcBef>
              <a:spcAft>
                <a:spcPts val="0"/>
              </a:spcAft>
              <a:buClr>
                <a:schemeClr val="dk1"/>
              </a:buClr>
              <a:buSzPts val="1600"/>
              <a:buChar char="●"/>
            </a:pPr>
            <a:r>
              <a:rPr lang="es" sz="1600">
                <a:solidFill>
                  <a:schemeClr val="dk1"/>
                </a:solidFill>
              </a:rPr>
              <a:t>Es necesario ajustar un alto número de hiperparámetros como el número de capas ocultas, funciones de activación, número de iteraciones, solver (optimizador) y número de neuronas por capa, lo que no hace sencilla su optimización</a:t>
            </a:r>
            <a:endParaRPr sz="1600">
              <a:solidFill>
                <a:schemeClr val="dk1"/>
              </a:solidFill>
            </a:endParaRPr>
          </a:p>
          <a:p>
            <a:pPr indent="-330200" lvl="0" marL="457200" rtl="0" algn="just">
              <a:spcBef>
                <a:spcPts val="0"/>
              </a:spcBef>
              <a:spcAft>
                <a:spcPts val="0"/>
              </a:spcAft>
              <a:buClr>
                <a:schemeClr val="dk1"/>
              </a:buClr>
              <a:buSzPts val="1600"/>
              <a:buChar char="●"/>
            </a:pPr>
            <a:r>
              <a:rPr lang="es" sz="1600">
                <a:solidFill>
                  <a:schemeClr val="dk1"/>
                </a:solidFill>
              </a:rPr>
              <a:t>Son muy sensibles a la escala de los datos, por lo que resulta conveniente transformarlos de forma que todas las características tengan una escala semejante, por ejemplo, escalándolas al rango [0, 1] o a [-1, 1], o estandarizándolas de forma que todas tengan un mismo valor medio e idéntica desviación estándar</a:t>
            </a:r>
            <a:endParaRPr sz="1600">
              <a:solidFill>
                <a:schemeClr val="dk1"/>
              </a:solidFill>
            </a:endParaRPr>
          </a:p>
          <a:p>
            <a:pPr indent="0" lvl="0" marL="0" rtl="0" algn="l">
              <a:spcBef>
                <a:spcPts val="0"/>
              </a:spcBef>
              <a:spcAft>
                <a:spcPts val="0"/>
              </a:spcAft>
              <a:buNone/>
            </a:pPr>
            <a:r>
              <a:t/>
            </a:r>
            <a:endParaRPr sz="1800">
              <a:solidFill>
                <a:schemeClr val="dk1"/>
              </a:solidFill>
            </a:endParaRPr>
          </a:p>
        </p:txBody>
      </p:sp>
      <p:sp>
        <p:nvSpPr>
          <p:cNvPr id="180" name="Google Shape;180;g2d44fef0cfb_0_7"/>
          <p:cNvSpPr txBox="1"/>
          <p:nvPr/>
        </p:nvSpPr>
        <p:spPr>
          <a:xfrm>
            <a:off x="155400" y="4630700"/>
            <a:ext cx="5400000" cy="3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u="sng">
                <a:solidFill>
                  <a:schemeClr val="hlink"/>
                </a:solidFill>
                <a:hlinkClick r:id="rId4"/>
              </a:rPr>
              <a:t>https://www.youtube.com/watch?v=M6oDiCQCins</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g2d44fef0cfb_0_1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86" name="Google Shape;186;g2d44fef0cfb_0_11"/>
          <p:cNvSpPr txBox="1"/>
          <p:nvPr/>
        </p:nvSpPr>
        <p:spPr>
          <a:xfrm>
            <a:off x="2820400" y="139850"/>
            <a:ext cx="2610600" cy="40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800">
                <a:solidFill>
                  <a:schemeClr val="dk1"/>
                </a:solidFill>
              </a:rPr>
              <a:t>Aplicaciones de las redes neuronales.</a:t>
            </a:r>
            <a:endParaRPr sz="1800">
              <a:solidFill>
                <a:schemeClr val="dk1"/>
              </a:solidFill>
            </a:endParaRPr>
          </a:p>
        </p:txBody>
      </p:sp>
      <p:sp>
        <p:nvSpPr>
          <p:cNvPr id="187" name="Google Shape;187;g2d44fef0cfb_0_11"/>
          <p:cNvSpPr txBox="1"/>
          <p:nvPr/>
        </p:nvSpPr>
        <p:spPr>
          <a:xfrm>
            <a:off x="31075" y="1157675"/>
            <a:ext cx="9112800" cy="3411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s" sz="1800">
                <a:solidFill>
                  <a:schemeClr val="dk1"/>
                </a:solidFill>
              </a:rPr>
              <a:t>Reconocimiento de patrones</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Las redes neuronales son extremadamente útiles para identificar patrones en grandes conjuntos de datos. Por ejemplo, en el reconocimiento de voz, las redes neuronales pueden convertir ondas sonoras en texto. Al analizar patrones en el sonido, las redes neuronales pueden determinar qué palabras se están diciendo y crear una transcripción de la conversación.</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En la clasificación de imágenes, las redes neuronales también son muy eficaces. Las redes neuronales pueden reconocer características específicas en las imágenes, como la forma y el color, y clasificarlas en diferentes categorías. Por ejemplo, una red neuronal puede analizar miles de imágenes de animales como conjunto de aprendizaje y clasificarlas en diferentes categorías, como “perros”, “gatos”, “aves”, etc.</a:t>
            </a:r>
            <a:endParaRPr sz="1800">
              <a:solidFill>
                <a:schemeClr val="dk1"/>
              </a:solidFill>
            </a:endParaRPr>
          </a:p>
          <a:p>
            <a:pPr indent="0" lvl="0" marL="0" rtl="0" algn="just">
              <a:spcBef>
                <a:spcPts val="0"/>
              </a:spcBef>
              <a:spcAft>
                <a:spcPts val="0"/>
              </a:spcAft>
              <a:buNone/>
            </a:pPr>
            <a:r>
              <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g2d44fef0cfb_0_2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93" name="Google Shape;193;g2d44fef0cfb_0_20"/>
          <p:cNvSpPr txBox="1"/>
          <p:nvPr/>
        </p:nvSpPr>
        <p:spPr>
          <a:xfrm>
            <a:off x="23300" y="761425"/>
            <a:ext cx="9075000" cy="3993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s" sz="1800">
                <a:solidFill>
                  <a:schemeClr val="dk1"/>
                </a:solidFill>
              </a:rPr>
              <a:t>Procesamiento de lenguaje natural</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Estos sistemas también son muy eficaces en el procesamiento del lenguaje humano. En la traducción automática, las redes neuronales pueden aprender a traducir idiomas al analizar patrones en el lenguaje. Una red neuronal puede analizar millones de oraciones en diferentes idiomas y aprender a traducir entre ellos (como ocurre ya en el traductor Deepl). Así también con la generación de texto, donde las redes neuronales pueden crear texto coherente y relevante al analizar patrones en el lenguaje, de forma que puede aprender a escribir historias o artículos de noticias que sean atractivas para un público objetivo deseado.</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De la misma manera, pueden analizar el lenguaje para determinar lo que el usuario quiere y proporcionar una respuesta adecuada. Por ejemplo, una red neuronal puede analizar la consulta de un usuario en un motor de búsqueda y proporcionar los resultados más relevantes (Una estrategia llevada ahora mismo a cabo por Bing).</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g2d44fef0cfb_0_2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99" name="Google Shape;199;g2d44fef0cfb_0_24"/>
          <p:cNvSpPr txBox="1"/>
          <p:nvPr/>
        </p:nvSpPr>
        <p:spPr>
          <a:xfrm>
            <a:off x="23300" y="792500"/>
            <a:ext cx="9120600" cy="40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just">
              <a:spcBef>
                <a:spcPts val="0"/>
              </a:spcBef>
              <a:spcAft>
                <a:spcPts val="0"/>
              </a:spcAft>
              <a:buNone/>
            </a:pPr>
            <a:r>
              <a:rPr b="1" lang="es" sz="1800">
                <a:solidFill>
                  <a:schemeClr val="dk1"/>
                </a:solidFill>
              </a:rPr>
              <a:t>Predicción y toma de decisiones.</a:t>
            </a:r>
            <a:endParaRPr b="1" sz="1800">
              <a:solidFill>
                <a:schemeClr val="dk1"/>
              </a:solidFill>
            </a:endParaRPr>
          </a:p>
          <a:p>
            <a:pPr indent="0" lvl="0" marL="0" rtl="0" algn="just">
              <a:spcBef>
                <a:spcPts val="0"/>
              </a:spcBef>
              <a:spcAft>
                <a:spcPts val="0"/>
              </a:spcAft>
              <a:buClr>
                <a:schemeClr val="dk1"/>
              </a:buClr>
              <a:buSzPts val="1100"/>
              <a:buFont typeface="Arial"/>
              <a:buNone/>
            </a:pPr>
            <a:r>
              <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Por el reconocimiento de patrones que ofrecen, estos sistemas también son muy útiles para la predicción y toma de decisiones en diferentes áreas. En el comercio electrónico, por ejemplo, las redes neuronales pueden analizar los datos de los clientes para predecir sus preferencias de compra y ofrecer productos relevantes. O en el análisis de riesgos, donde las redes neuronales pueden predecir el riesgo de diferentes escenarios y, dada la necesidad, un sistema podría analizar los datos de los pacientes para predecir el riesgo de enfermedades como la diabetes o la enfermedad cardíaca.</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