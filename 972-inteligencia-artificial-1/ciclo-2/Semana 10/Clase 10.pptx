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rial Bold" charset="1" panose="020B0802020202020204"/>
      <p:regular r:id="rId20"/>
    </p:embeddedFont>
    <p:embeddedFont>
      <p:font typeface="Arimo" charset="1" panose="020B0604020202020204"/>
      <p:regular r:id="rId21"/>
    </p:embeddedFont>
    <p:embeddedFont>
      <p:font typeface="Arial" charset="1" panose="020B0502020202020204"/>
      <p:regular r:id="rId22"/>
    </p:embeddedFont>
    <p:embeddedFont>
      <p:font typeface="HK Grotesk Medium" charset="1" panose="00000600000000000000"/>
      <p:regular r:id="rId23"/>
    </p:embeddedFont>
    <p:embeddedFont>
      <p:font typeface="HK Grotesk Bold" charset="1" panose="00000800000000000000"/>
      <p:regular r:id="rId24"/>
    </p:embeddedFont>
    <p:embeddedFont>
      <p:font typeface="HK Grotesk" charset="1" panose="000005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https://threejs.org/docs/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02" y="0"/>
            <a:ext cx="18254198" cy="10287002"/>
          </a:xfrm>
          <a:custGeom>
            <a:avLst/>
            <a:gdLst/>
            <a:ahLst/>
            <a:cxnLst/>
            <a:rect r="r" b="b" t="t" l="l"/>
            <a:pathLst>
              <a:path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800"/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656400" y="1940050"/>
          <a:ext cx="7366000" cy="1547812"/>
        </p:xfrm>
        <a:graphic>
          <a:graphicData uri="http://schemas.openxmlformats.org/drawingml/2006/table">
            <a:tbl>
              <a:tblPr/>
              <a:tblGrid>
                <a:gridCol w="3030168"/>
                <a:gridCol w="4335832"/>
              </a:tblGrid>
              <a:tr h="7739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b="true" sz="284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Día, Fecha: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76"/>
                        </a:lnSpc>
                        <a:defRPr/>
                      </a:pPr>
                      <a:r>
                        <a:rPr lang="en-US" sz="284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Viernes, XX-XX-XXXX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9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b="true" sz="284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Hora de inicio: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76"/>
                        </a:lnSpc>
                        <a:defRPr/>
                      </a:pPr>
                      <a:r>
                        <a:rPr lang="en-US" sz="284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19:00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3864138" y="4529138"/>
            <a:ext cx="951329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Inteligencia Artificial 1</a:t>
            </a:r>
            <a:r>
              <a:rPr lang="en-US" b="true" sz="5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[A]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17834" y="5845971"/>
            <a:ext cx="700590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Robin Omar Buezo Díaz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952267"/>
            <a:ext cx="16230600" cy="8382465"/>
            <a:chOff x="0" y="0"/>
            <a:chExt cx="6045684" cy="3122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45684" cy="3122357"/>
            </a:xfrm>
            <a:custGeom>
              <a:avLst/>
              <a:gdLst/>
              <a:ahLst/>
              <a:cxnLst/>
              <a:rect r="r" b="b" t="t" l="l"/>
              <a:pathLst>
                <a:path h="3122357" w="6045684">
                  <a:moveTo>
                    <a:pt x="0" y="0"/>
                  </a:moveTo>
                  <a:lnTo>
                    <a:pt x="6045684" y="0"/>
                  </a:lnTo>
                  <a:lnTo>
                    <a:pt x="6045684" y="3122357"/>
                  </a:lnTo>
                  <a:lnTo>
                    <a:pt x="0" y="3122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9753A8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045684" cy="312235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74539" y="8993151"/>
            <a:ext cx="4284389" cy="1567256"/>
            <a:chOff x="0" y="0"/>
            <a:chExt cx="1128399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8399" cy="412775"/>
            </a:xfrm>
            <a:custGeom>
              <a:avLst/>
              <a:gdLst/>
              <a:ahLst/>
              <a:cxnLst/>
              <a:rect r="r" b="b" t="t" l="l"/>
              <a:pathLst>
                <a:path h="412775" w="1128399">
                  <a:moveTo>
                    <a:pt x="0" y="0"/>
                  </a:moveTo>
                  <a:lnTo>
                    <a:pt x="1128399" y="0"/>
                  </a:lnTo>
                  <a:lnTo>
                    <a:pt x="1128399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28399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012664" y="3237235"/>
            <a:ext cx="6983416" cy="1567256"/>
            <a:chOff x="0" y="0"/>
            <a:chExt cx="183925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9254" cy="412775"/>
            </a:xfrm>
            <a:custGeom>
              <a:avLst/>
              <a:gdLst/>
              <a:ahLst/>
              <a:cxnLst/>
              <a:rect r="r" b="b" t="t" l="l"/>
              <a:pathLst>
                <a:path h="412775" w="1839254">
                  <a:moveTo>
                    <a:pt x="0" y="0"/>
                  </a:moveTo>
                  <a:lnTo>
                    <a:pt x="1839254" y="0"/>
                  </a:lnTo>
                  <a:lnTo>
                    <a:pt x="183925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3925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true" rot="5400000">
            <a:off x="10540746" y="-52264"/>
            <a:ext cx="11547949" cy="9406329"/>
          </a:xfrm>
          <a:custGeom>
            <a:avLst/>
            <a:gdLst/>
            <a:ahLst/>
            <a:cxnLst/>
            <a:rect r="r" b="b" t="t" l="l"/>
            <a:pathLst>
              <a:path h="9406329" w="11547949">
                <a:moveTo>
                  <a:pt x="11547949" y="9406329"/>
                </a:moveTo>
                <a:lnTo>
                  <a:pt x="0" y="9406329"/>
                </a:lnTo>
                <a:lnTo>
                  <a:pt x="0" y="0"/>
                </a:lnTo>
                <a:lnTo>
                  <a:pt x="11547949" y="0"/>
                </a:lnTo>
                <a:lnTo>
                  <a:pt x="11547949" y="94063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18001" y="6620396"/>
            <a:ext cx="9224082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Escuela de Ingenieria de Ciencias Y Sistemas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Facultad de Ingenieria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Universidad de San Carlos de Guatemala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118001" y="3415707"/>
            <a:ext cx="11119114" cy="121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8000" b="tru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Clase 10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4676" y="2365657"/>
            <a:ext cx="11052439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5"/>
              </a:lnSpc>
            </a:pPr>
            <a:r>
              <a:rPr lang="en-US" b="true" sz="5500" spc="4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INTELIGENCIA ARTIFICIAL 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18001" y="857436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AutoShape 17" id="17"/>
          <p:cNvSpPr/>
          <p:nvPr/>
        </p:nvSpPr>
        <p:spPr>
          <a:xfrm flipV="true">
            <a:off x="13553005" y="935761"/>
            <a:ext cx="5036482" cy="5036482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4602740" y="4540846"/>
            <a:ext cx="1216428" cy="1216428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12944791" y="7512571"/>
            <a:ext cx="2942644" cy="2942644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1473469" y="9776779"/>
            <a:ext cx="2942644" cy="2942644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2118001" y="4721267"/>
            <a:ext cx="781821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Simulación de Robots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2575" y="1028700"/>
            <a:ext cx="15562849" cy="8179961"/>
            <a:chOff x="0" y="0"/>
            <a:chExt cx="5796956" cy="3046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96955" cy="3046927"/>
            </a:xfrm>
            <a:custGeom>
              <a:avLst/>
              <a:gdLst/>
              <a:ahLst/>
              <a:cxnLst/>
              <a:rect r="r" b="b" t="t" l="l"/>
              <a:pathLst>
                <a:path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70F69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5796956" cy="304692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700000">
            <a:off x="57071" y="8050244"/>
            <a:ext cx="3393988" cy="1567256"/>
            <a:chOff x="0" y="0"/>
            <a:chExt cx="893890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4836942" y="550429"/>
            <a:ext cx="3393988" cy="1567256"/>
            <a:chOff x="0" y="0"/>
            <a:chExt cx="893890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515035" y="5489862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3871465" y="-189523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99395" y="3078596"/>
            <a:ext cx="6464263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5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Actividad</a:t>
            </a:r>
          </a:p>
          <a:p>
            <a:pPr algn="l">
              <a:lnSpc>
                <a:spcPts val="4200"/>
              </a:lnSpc>
            </a:pP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UEDI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89083" y="1511090"/>
            <a:ext cx="4271494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Agenda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06974" y="8506847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34003" y="3078596"/>
            <a:ext cx="6464263" cy="481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Recordatorios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Temas</a:t>
            </a:r>
          </a:p>
          <a:p>
            <a:pPr algn="l">
              <a:lnSpc>
                <a:spcPts val="4200"/>
              </a:lnSpc>
            </a:pP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Diseño de Aplicaciones de Realidad Aumentada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08934" y="1511090"/>
            <a:ext cx="4271494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Recursos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7AC3F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74889" y="1164153"/>
            <a:ext cx="13991174" cy="88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90"/>
              </a:lnSpc>
            </a:pPr>
            <a:r>
              <a:rPr lang="en-US" b="true" sz="6098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COMPETENCIA(S) Que desarrollaremos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24552" y="3306849"/>
            <a:ext cx="12569573" cy="350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4000" spc="32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Integra diseños 2D y 3D de robots</a:t>
            </a:r>
            <a:r>
              <a:rPr lang="en-US" b="true" sz="4000" spc="32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utilizando librerías como p5.js y Three.js en simulaciones programadas que involucren acciones y comportamientos dinámicos </a:t>
            </a:r>
          </a:p>
          <a:p>
            <a:pPr algn="ctr">
              <a:lnSpc>
                <a:spcPts val="56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52914" y="2450775"/>
            <a:ext cx="8930885" cy="5930699"/>
            <a:chOff x="0" y="0"/>
            <a:chExt cx="2352167" cy="156199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52167" cy="1561995"/>
            </a:xfrm>
            <a:custGeom>
              <a:avLst/>
              <a:gdLst/>
              <a:ahLst/>
              <a:cxnLst/>
              <a:rect r="r" b="b" t="t" l="l"/>
              <a:pathLst>
                <a:path h="1561995" w="2352167">
                  <a:moveTo>
                    <a:pt x="44210" y="0"/>
                  </a:moveTo>
                  <a:lnTo>
                    <a:pt x="2307957" y="0"/>
                  </a:lnTo>
                  <a:cubicBezTo>
                    <a:pt x="2319682" y="0"/>
                    <a:pt x="2330927" y="4658"/>
                    <a:pt x="2339218" y="12949"/>
                  </a:cubicBezTo>
                  <a:cubicBezTo>
                    <a:pt x="2347509" y="21240"/>
                    <a:pt x="2352167" y="32485"/>
                    <a:pt x="2352167" y="44210"/>
                  </a:cubicBezTo>
                  <a:lnTo>
                    <a:pt x="2352167" y="1517784"/>
                  </a:lnTo>
                  <a:cubicBezTo>
                    <a:pt x="2352167" y="1529510"/>
                    <a:pt x="2347509" y="1540755"/>
                    <a:pt x="2339218" y="1549046"/>
                  </a:cubicBezTo>
                  <a:cubicBezTo>
                    <a:pt x="2330927" y="1557337"/>
                    <a:pt x="2319682" y="1561995"/>
                    <a:pt x="2307957" y="1561995"/>
                  </a:cubicBezTo>
                  <a:lnTo>
                    <a:pt x="44210" y="1561995"/>
                  </a:lnTo>
                  <a:cubicBezTo>
                    <a:pt x="32485" y="1561995"/>
                    <a:pt x="21240" y="1557337"/>
                    <a:pt x="12949" y="1549046"/>
                  </a:cubicBezTo>
                  <a:cubicBezTo>
                    <a:pt x="4658" y="1540755"/>
                    <a:pt x="0" y="1529510"/>
                    <a:pt x="0" y="1517784"/>
                  </a:cubicBezTo>
                  <a:lnTo>
                    <a:pt x="0" y="44210"/>
                  </a:lnTo>
                  <a:cubicBezTo>
                    <a:pt x="0" y="32485"/>
                    <a:pt x="4658" y="21240"/>
                    <a:pt x="12949" y="12949"/>
                  </a:cubicBezTo>
                  <a:cubicBezTo>
                    <a:pt x="21240" y="4658"/>
                    <a:pt x="32485" y="0"/>
                    <a:pt x="44210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352167" cy="1609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595266" y="2450775"/>
            <a:ext cx="8333792" cy="5773178"/>
          </a:xfrm>
          <a:custGeom>
            <a:avLst/>
            <a:gdLst/>
            <a:ahLst/>
            <a:cxnLst/>
            <a:rect r="r" b="b" t="t" l="l"/>
            <a:pathLst>
              <a:path h="5773178" w="8333792">
                <a:moveTo>
                  <a:pt x="0" y="0"/>
                </a:moveTo>
                <a:lnTo>
                  <a:pt x="8333791" y="0"/>
                </a:lnTo>
                <a:lnTo>
                  <a:pt x="8333791" y="5773178"/>
                </a:lnTo>
                <a:lnTo>
                  <a:pt x="0" y="57731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769" t="0" r="-5631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392343" y="767350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Simulación en 2D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8044" y="2683206"/>
            <a:ext cx="8460625" cy="538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3"/>
              </a:lnSpc>
            </a:pPr>
            <a:r>
              <a:rPr lang="en-US" sz="3809" spc="30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Una simulación en 2D representa un entorno o sistema dentro de un plano de dos dimensiones: alto (Y) y ancho (X). No hay profundidad, por lo que los elementos simulados se ven “planos”, como</a:t>
            </a:r>
            <a:r>
              <a:rPr lang="en-US" sz="3809" spc="30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si fueran dibujos o mapas.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82985" y="2338109"/>
            <a:ext cx="6150114" cy="4185901"/>
            <a:chOff x="0" y="0"/>
            <a:chExt cx="1619783" cy="11024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12229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677031" y="2338109"/>
            <a:ext cx="6150114" cy="4185901"/>
            <a:chOff x="0" y="0"/>
            <a:chExt cx="1619783" cy="11024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12229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068943" y="4743237"/>
            <a:ext cx="6150114" cy="4185901"/>
            <a:chOff x="0" y="0"/>
            <a:chExt cx="1619783" cy="11024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554434" y="471487"/>
            <a:ext cx="1317913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Ventajas del 2D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1609" y="2907881"/>
            <a:ext cx="5332867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b="true" sz="4500" spc="35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Más fácil y rápido de desarrollar.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74589" y="2482673"/>
            <a:ext cx="5243932" cy="332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b="true" sz="4500" spc="35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Ideal para probar algoritmos y lógica.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88632" y="5449122"/>
            <a:ext cx="5332867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b="true" sz="4500" spc="35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Menor carga computacional.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044028" y="1576387"/>
            <a:ext cx="5080522" cy="3744493"/>
            <a:chOff x="0" y="0"/>
            <a:chExt cx="1338080" cy="9862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38080" cy="986204"/>
            </a:xfrm>
            <a:custGeom>
              <a:avLst/>
              <a:gdLst/>
              <a:ahLst/>
              <a:cxnLst/>
              <a:rect r="r" b="b" t="t" l="l"/>
              <a:pathLst>
                <a:path h="986204" w="1338080">
                  <a:moveTo>
                    <a:pt x="77716" y="0"/>
                  </a:moveTo>
                  <a:lnTo>
                    <a:pt x="1260364" y="0"/>
                  </a:lnTo>
                  <a:cubicBezTo>
                    <a:pt x="1303285" y="0"/>
                    <a:pt x="1338080" y="34795"/>
                    <a:pt x="1338080" y="77716"/>
                  </a:cubicBezTo>
                  <a:lnTo>
                    <a:pt x="1338080" y="908488"/>
                  </a:lnTo>
                  <a:cubicBezTo>
                    <a:pt x="1338080" y="951409"/>
                    <a:pt x="1303285" y="986204"/>
                    <a:pt x="1260364" y="986204"/>
                  </a:cubicBezTo>
                  <a:lnTo>
                    <a:pt x="77716" y="986204"/>
                  </a:lnTo>
                  <a:cubicBezTo>
                    <a:pt x="34795" y="986204"/>
                    <a:pt x="0" y="951409"/>
                    <a:pt x="0" y="908488"/>
                  </a:cubicBezTo>
                  <a:lnTo>
                    <a:pt x="0" y="77716"/>
                  </a:lnTo>
                  <a:cubicBezTo>
                    <a:pt x="0" y="34795"/>
                    <a:pt x="34795" y="0"/>
                    <a:pt x="77716" y="0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338080" cy="1033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86794" y="1576388"/>
            <a:ext cx="5080522" cy="3744493"/>
            <a:chOff x="0" y="0"/>
            <a:chExt cx="1338080" cy="9862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38080" cy="986204"/>
            </a:xfrm>
            <a:custGeom>
              <a:avLst/>
              <a:gdLst/>
              <a:ahLst/>
              <a:cxnLst/>
              <a:rect r="r" b="b" t="t" l="l"/>
              <a:pathLst>
                <a:path h="986204" w="1338080">
                  <a:moveTo>
                    <a:pt x="77716" y="0"/>
                  </a:moveTo>
                  <a:lnTo>
                    <a:pt x="1260364" y="0"/>
                  </a:lnTo>
                  <a:cubicBezTo>
                    <a:pt x="1303285" y="0"/>
                    <a:pt x="1338080" y="34795"/>
                    <a:pt x="1338080" y="77716"/>
                  </a:cubicBezTo>
                  <a:lnTo>
                    <a:pt x="1338080" y="908488"/>
                  </a:lnTo>
                  <a:cubicBezTo>
                    <a:pt x="1338080" y="951409"/>
                    <a:pt x="1303285" y="986204"/>
                    <a:pt x="1260364" y="986204"/>
                  </a:cubicBezTo>
                  <a:lnTo>
                    <a:pt x="77716" y="986204"/>
                  </a:lnTo>
                  <a:cubicBezTo>
                    <a:pt x="34795" y="986204"/>
                    <a:pt x="0" y="951409"/>
                    <a:pt x="0" y="908488"/>
                  </a:cubicBezTo>
                  <a:lnTo>
                    <a:pt x="0" y="77716"/>
                  </a:lnTo>
                  <a:cubicBezTo>
                    <a:pt x="0" y="34795"/>
                    <a:pt x="34795" y="0"/>
                    <a:pt x="77716" y="0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38080" cy="1033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281577" y="5137753"/>
            <a:ext cx="5186840" cy="3675517"/>
            <a:chOff x="0" y="0"/>
            <a:chExt cx="1366081" cy="9680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66081" cy="968038"/>
            </a:xfrm>
            <a:custGeom>
              <a:avLst/>
              <a:gdLst/>
              <a:ahLst/>
              <a:cxnLst/>
              <a:rect r="r" b="b" t="t" l="l"/>
              <a:pathLst>
                <a:path h="968038" w="1366081">
                  <a:moveTo>
                    <a:pt x="76123" y="0"/>
                  </a:moveTo>
                  <a:lnTo>
                    <a:pt x="1289958" y="0"/>
                  </a:lnTo>
                  <a:cubicBezTo>
                    <a:pt x="1310147" y="0"/>
                    <a:pt x="1329510" y="8020"/>
                    <a:pt x="1343785" y="22296"/>
                  </a:cubicBezTo>
                  <a:cubicBezTo>
                    <a:pt x="1358061" y="36572"/>
                    <a:pt x="1366081" y="55934"/>
                    <a:pt x="1366081" y="76123"/>
                  </a:cubicBezTo>
                  <a:lnTo>
                    <a:pt x="1366081" y="891915"/>
                  </a:lnTo>
                  <a:cubicBezTo>
                    <a:pt x="1366081" y="933956"/>
                    <a:pt x="1332000" y="968038"/>
                    <a:pt x="1289958" y="968038"/>
                  </a:cubicBezTo>
                  <a:lnTo>
                    <a:pt x="76123" y="968038"/>
                  </a:lnTo>
                  <a:cubicBezTo>
                    <a:pt x="34081" y="968038"/>
                    <a:pt x="0" y="933956"/>
                    <a:pt x="0" y="891915"/>
                  </a:cubicBezTo>
                  <a:lnTo>
                    <a:pt x="0" y="76123"/>
                  </a:lnTo>
                  <a:cubicBezTo>
                    <a:pt x="0" y="34081"/>
                    <a:pt x="34081" y="0"/>
                    <a:pt x="76123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366081" cy="1015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846363" y="2420194"/>
            <a:ext cx="4561384" cy="2565778"/>
          </a:xfrm>
          <a:custGeom>
            <a:avLst/>
            <a:gdLst/>
            <a:ahLst/>
            <a:cxnLst/>
            <a:rect r="r" b="b" t="t" l="l"/>
            <a:pathLst>
              <a:path h="2565778" w="4561384">
                <a:moveTo>
                  <a:pt x="0" y="0"/>
                </a:moveTo>
                <a:lnTo>
                  <a:pt x="4561383" y="0"/>
                </a:lnTo>
                <a:lnTo>
                  <a:pt x="4561383" y="2565779"/>
                </a:lnTo>
                <a:lnTo>
                  <a:pt x="0" y="25657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015869" y="6048180"/>
            <a:ext cx="3718257" cy="2323910"/>
          </a:xfrm>
          <a:custGeom>
            <a:avLst/>
            <a:gdLst/>
            <a:ahLst/>
            <a:cxnLst/>
            <a:rect r="r" b="b" t="t" l="l"/>
            <a:pathLst>
              <a:path h="2323910" w="3718257">
                <a:moveTo>
                  <a:pt x="0" y="0"/>
                </a:moveTo>
                <a:lnTo>
                  <a:pt x="3718256" y="0"/>
                </a:lnTo>
                <a:lnTo>
                  <a:pt x="3718256" y="2323911"/>
                </a:lnTo>
                <a:lnTo>
                  <a:pt x="0" y="23239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286319" y="5143500"/>
            <a:ext cx="5186840" cy="3675517"/>
            <a:chOff x="0" y="0"/>
            <a:chExt cx="1366081" cy="96803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66081" cy="968038"/>
            </a:xfrm>
            <a:custGeom>
              <a:avLst/>
              <a:gdLst/>
              <a:ahLst/>
              <a:cxnLst/>
              <a:rect r="r" b="b" t="t" l="l"/>
              <a:pathLst>
                <a:path h="968038" w="1366081">
                  <a:moveTo>
                    <a:pt x="76123" y="0"/>
                  </a:moveTo>
                  <a:lnTo>
                    <a:pt x="1289958" y="0"/>
                  </a:lnTo>
                  <a:cubicBezTo>
                    <a:pt x="1310147" y="0"/>
                    <a:pt x="1329510" y="8020"/>
                    <a:pt x="1343785" y="22296"/>
                  </a:cubicBezTo>
                  <a:cubicBezTo>
                    <a:pt x="1358061" y="36572"/>
                    <a:pt x="1366081" y="55934"/>
                    <a:pt x="1366081" y="76123"/>
                  </a:cubicBezTo>
                  <a:lnTo>
                    <a:pt x="1366081" y="891915"/>
                  </a:lnTo>
                  <a:cubicBezTo>
                    <a:pt x="1366081" y="933956"/>
                    <a:pt x="1332000" y="968038"/>
                    <a:pt x="1289958" y="968038"/>
                  </a:cubicBezTo>
                  <a:lnTo>
                    <a:pt x="76123" y="968038"/>
                  </a:lnTo>
                  <a:cubicBezTo>
                    <a:pt x="34081" y="968038"/>
                    <a:pt x="0" y="933956"/>
                    <a:pt x="0" y="891915"/>
                  </a:cubicBezTo>
                  <a:lnTo>
                    <a:pt x="0" y="76123"/>
                  </a:lnTo>
                  <a:cubicBezTo>
                    <a:pt x="0" y="34081"/>
                    <a:pt x="34081" y="0"/>
                    <a:pt x="76123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366081" cy="1015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0306696" y="6160129"/>
            <a:ext cx="3146086" cy="2100013"/>
          </a:xfrm>
          <a:custGeom>
            <a:avLst/>
            <a:gdLst/>
            <a:ahLst/>
            <a:cxnLst/>
            <a:rect r="r" b="b" t="t" l="l"/>
            <a:pathLst>
              <a:path h="2100013" w="3146086">
                <a:moveTo>
                  <a:pt x="0" y="0"/>
                </a:moveTo>
                <a:lnTo>
                  <a:pt x="3146086" y="0"/>
                </a:lnTo>
                <a:lnTo>
                  <a:pt x="3146086" y="2100013"/>
                </a:lnTo>
                <a:lnTo>
                  <a:pt x="0" y="21000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470748" y="2450737"/>
            <a:ext cx="4227082" cy="2378438"/>
          </a:xfrm>
          <a:custGeom>
            <a:avLst/>
            <a:gdLst/>
            <a:ahLst/>
            <a:cxnLst/>
            <a:rect r="r" b="b" t="t" l="l"/>
            <a:pathLst>
              <a:path h="2378438" w="4227082">
                <a:moveTo>
                  <a:pt x="0" y="0"/>
                </a:moveTo>
                <a:lnTo>
                  <a:pt x="4227081" y="0"/>
                </a:lnTo>
                <a:lnTo>
                  <a:pt x="4227081" y="2378438"/>
                </a:lnTo>
                <a:lnTo>
                  <a:pt x="0" y="23784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554434" y="471487"/>
            <a:ext cx="1317913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Herramientas Cómunes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24007" y="1302966"/>
            <a:ext cx="400609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b="true" sz="4500" spc="359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P5.JS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871950" y="5040331"/>
            <a:ext cx="400609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b="true" sz="4500" spc="35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PROCESSING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76692" y="5046078"/>
            <a:ext cx="400609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b="true" sz="4500" spc="35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SCRATCH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581242" y="1302966"/>
            <a:ext cx="400609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b="true" sz="4500" spc="359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UNITY 2D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5183" y="2566495"/>
            <a:ext cx="8749135" cy="5385450"/>
            <a:chOff x="0" y="0"/>
            <a:chExt cx="2304299" cy="14183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4299" cy="1418390"/>
            </a:xfrm>
            <a:custGeom>
              <a:avLst/>
              <a:gdLst/>
              <a:ahLst/>
              <a:cxnLst/>
              <a:rect r="r" b="b" t="t" l="l"/>
              <a:pathLst>
                <a:path h="1418390" w="2304299">
                  <a:moveTo>
                    <a:pt x="45129" y="0"/>
                  </a:moveTo>
                  <a:lnTo>
                    <a:pt x="2259170" y="0"/>
                  </a:lnTo>
                  <a:cubicBezTo>
                    <a:pt x="2284094" y="0"/>
                    <a:pt x="2304299" y="20205"/>
                    <a:pt x="2304299" y="45129"/>
                  </a:cubicBezTo>
                  <a:lnTo>
                    <a:pt x="2304299" y="1373261"/>
                  </a:lnTo>
                  <a:cubicBezTo>
                    <a:pt x="2304299" y="1385230"/>
                    <a:pt x="2299545" y="1396709"/>
                    <a:pt x="2291081" y="1405172"/>
                  </a:cubicBezTo>
                  <a:cubicBezTo>
                    <a:pt x="2282618" y="1413635"/>
                    <a:pt x="2271139" y="1418390"/>
                    <a:pt x="2259170" y="1418390"/>
                  </a:cubicBezTo>
                  <a:lnTo>
                    <a:pt x="45129" y="1418390"/>
                  </a:lnTo>
                  <a:cubicBezTo>
                    <a:pt x="20205" y="1418390"/>
                    <a:pt x="0" y="1398185"/>
                    <a:pt x="0" y="1373261"/>
                  </a:cubicBezTo>
                  <a:lnTo>
                    <a:pt x="0" y="45129"/>
                  </a:lnTo>
                  <a:cubicBezTo>
                    <a:pt x="0" y="20205"/>
                    <a:pt x="20205" y="0"/>
                    <a:pt x="45129" y="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304299" cy="1466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971533" y="3047781"/>
            <a:ext cx="8021891" cy="4191438"/>
          </a:xfrm>
          <a:custGeom>
            <a:avLst/>
            <a:gdLst/>
            <a:ahLst/>
            <a:cxnLst/>
            <a:rect r="r" b="b" t="t" l="l"/>
            <a:pathLst>
              <a:path h="4191438" w="8021891">
                <a:moveTo>
                  <a:pt x="0" y="0"/>
                </a:moveTo>
                <a:lnTo>
                  <a:pt x="8021892" y="0"/>
                </a:lnTo>
                <a:lnTo>
                  <a:pt x="8021892" y="4191438"/>
                </a:lnTo>
                <a:lnTo>
                  <a:pt x="0" y="41914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148413" y="915441"/>
            <a:ext cx="13991174" cy="1024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9"/>
              </a:lnSpc>
            </a:pPr>
            <a:r>
              <a:rPr lang="en-US" b="true" sz="69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Simulación en 3D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0033" y="2610757"/>
            <a:ext cx="8233967" cy="5230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3"/>
              </a:lnSpc>
            </a:pPr>
            <a:r>
              <a:rPr lang="en-US" b="true" sz="3709" spc="296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Una simulación en 3D agrega una tercera dimensión: la profundidad (Z). Los objetos tienen volumen y pueden rotar, moverse o interactuar en un espacio tridimensional, lo que permite una representación</a:t>
            </a:r>
            <a:r>
              <a:rPr lang="en-US" b="true" sz="3709" spc="296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más realista.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82985" y="2338109"/>
            <a:ext cx="6150114" cy="4185901"/>
            <a:chOff x="0" y="0"/>
            <a:chExt cx="1619783" cy="11024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677031" y="2338109"/>
            <a:ext cx="6150114" cy="4185901"/>
            <a:chOff x="0" y="0"/>
            <a:chExt cx="1619783" cy="11024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068943" y="4743237"/>
            <a:ext cx="6150114" cy="4185901"/>
            <a:chOff x="0" y="0"/>
            <a:chExt cx="1619783" cy="11024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19783" cy="1102460"/>
            </a:xfrm>
            <a:custGeom>
              <a:avLst/>
              <a:gdLst/>
              <a:ahLst/>
              <a:cxnLst/>
              <a:rect r="r" b="b" t="t" l="l"/>
              <a:pathLst>
                <a:path h="1102460" w="1619783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3C3D5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554434" y="471487"/>
            <a:ext cx="1317913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Ventajas del 3D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1609" y="3091958"/>
            <a:ext cx="5332867" cy="191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11"/>
              </a:lnSpc>
              <a:spcBef>
                <a:spcPct val="0"/>
              </a:spcBef>
            </a:pPr>
            <a:r>
              <a:rPr lang="en-US" b="true" sz="4005" spc="32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MAYOR REALISMO E INMERSIÓN.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75541" y="2451746"/>
            <a:ext cx="5243932" cy="373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4"/>
              </a:lnSpc>
              <a:spcBef>
                <a:spcPct val="0"/>
              </a:spcBef>
            </a:pPr>
            <a:r>
              <a:rPr lang="en-US" b="true" sz="3037" spc="242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IDEAL PARA SIMULACIONES FÍSICAS, ROBÓTICA REALISTA Y ENTRENAMIENTO VISUAL.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33099" y="4612101"/>
            <a:ext cx="5332867" cy="3973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37"/>
              </a:lnSpc>
              <a:spcBef>
                <a:spcPct val="0"/>
              </a:spcBef>
            </a:pPr>
            <a:r>
              <a:rPr lang="en-US" b="true" sz="4018" spc="32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</a:t>
            </a:r>
            <a:r>
              <a:rPr lang="en-US" b="true" sz="4018" spc="32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ERMITE TRABAJAR CON ENTORNOS COMPLEJOS.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044028" y="1576387"/>
            <a:ext cx="5080522" cy="3744493"/>
            <a:chOff x="0" y="0"/>
            <a:chExt cx="1338080" cy="9862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38080" cy="986204"/>
            </a:xfrm>
            <a:custGeom>
              <a:avLst/>
              <a:gdLst/>
              <a:ahLst/>
              <a:cxnLst/>
              <a:rect r="r" b="b" t="t" l="l"/>
              <a:pathLst>
                <a:path h="986204" w="1338080">
                  <a:moveTo>
                    <a:pt x="77716" y="0"/>
                  </a:moveTo>
                  <a:lnTo>
                    <a:pt x="1260364" y="0"/>
                  </a:lnTo>
                  <a:cubicBezTo>
                    <a:pt x="1303285" y="0"/>
                    <a:pt x="1338080" y="34795"/>
                    <a:pt x="1338080" y="77716"/>
                  </a:cubicBezTo>
                  <a:lnTo>
                    <a:pt x="1338080" y="908488"/>
                  </a:lnTo>
                  <a:cubicBezTo>
                    <a:pt x="1338080" y="951409"/>
                    <a:pt x="1303285" y="986204"/>
                    <a:pt x="1260364" y="986204"/>
                  </a:cubicBezTo>
                  <a:lnTo>
                    <a:pt x="77716" y="986204"/>
                  </a:lnTo>
                  <a:cubicBezTo>
                    <a:pt x="34795" y="986204"/>
                    <a:pt x="0" y="951409"/>
                    <a:pt x="0" y="908488"/>
                  </a:cubicBezTo>
                  <a:lnTo>
                    <a:pt x="0" y="77716"/>
                  </a:lnTo>
                  <a:cubicBezTo>
                    <a:pt x="0" y="34795"/>
                    <a:pt x="34795" y="0"/>
                    <a:pt x="77716" y="0"/>
                  </a:cubicBezTo>
                  <a:close/>
                </a:path>
              </a:pathLst>
            </a:custGeom>
            <a:solidFill>
              <a:srgbClr val="12229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338080" cy="1033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86794" y="1576388"/>
            <a:ext cx="5080522" cy="3744493"/>
            <a:chOff x="0" y="0"/>
            <a:chExt cx="1338080" cy="9862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38080" cy="986204"/>
            </a:xfrm>
            <a:custGeom>
              <a:avLst/>
              <a:gdLst/>
              <a:ahLst/>
              <a:cxnLst/>
              <a:rect r="r" b="b" t="t" l="l"/>
              <a:pathLst>
                <a:path h="986204" w="1338080">
                  <a:moveTo>
                    <a:pt x="77716" y="0"/>
                  </a:moveTo>
                  <a:lnTo>
                    <a:pt x="1260364" y="0"/>
                  </a:lnTo>
                  <a:cubicBezTo>
                    <a:pt x="1303285" y="0"/>
                    <a:pt x="1338080" y="34795"/>
                    <a:pt x="1338080" y="77716"/>
                  </a:cubicBezTo>
                  <a:lnTo>
                    <a:pt x="1338080" y="908488"/>
                  </a:lnTo>
                  <a:cubicBezTo>
                    <a:pt x="1338080" y="951409"/>
                    <a:pt x="1303285" y="986204"/>
                    <a:pt x="1260364" y="986204"/>
                  </a:cubicBezTo>
                  <a:lnTo>
                    <a:pt x="77716" y="986204"/>
                  </a:lnTo>
                  <a:cubicBezTo>
                    <a:pt x="34795" y="986204"/>
                    <a:pt x="0" y="951409"/>
                    <a:pt x="0" y="908488"/>
                  </a:cubicBezTo>
                  <a:lnTo>
                    <a:pt x="0" y="77716"/>
                  </a:lnTo>
                  <a:cubicBezTo>
                    <a:pt x="0" y="34795"/>
                    <a:pt x="34795" y="0"/>
                    <a:pt x="77716" y="0"/>
                  </a:cubicBezTo>
                  <a:close/>
                </a:path>
              </a:pathLst>
            </a:custGeom>
            <a:solidFill>
              <a:srgbClr val="12229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38080" cy="1033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281577" y="5137753"/>
            <a:ext cx="5186840" cy="3675517"/>
            <a:chOff x="0" y="0"/>
            <a:chExt cx="1366081" cy="9680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66081" cy="968038"/>
            </a:xfrm>
            <a:custGeom>
              <a:avLst/>
              <a:gdLst/>
              <a:ahLst/>
              <a:cxnLst/>
              <a:rect r="r" b="b" t="t" l="l"/>
              <a:pathLst>
                <a:path h="968038" w="1366081">
                  <a:moveTo>
                    <a:pt x="76123" y="0"/>
                  </a:moveTo>
                  <a:lnTo>
                    <a:pt x="1289958" y="0"/>
                  </a:lnTo>
                  <a:cubicBezTo>
                    <a:pt x="1310147" y="0"/>
                    <a:pt x="1329510" y="8020"/>
                    <a:pt x="1343785" y="22296"/>
                  </a:cubicBezTo>
                  <a:cubicBezTo>
                    <a:pt x="1358061" y="36572"/>
                    <a:pt x="1366081" y="55934"/>
                    <a:pt x="1366081" y="76123"/>
                  </a:cubicBezTo>
                  <a:lnTo>
                    <a:pt x="1366081" y="891915"/>
                  </a:lnTo>
                  <a:cubicBezTo>
                    <a:pt x="1366081" y="933956"/>
                    <a:pt x="1332000" y="968038"/>
                    <a:pt x="1289958" y="968038"/>
                  </a:cubicBezTo>
                  <a:lnTo>
                    <a:pt x="76123" y="968038"/>
                  </a:lnTo>
                  <a:cubicBezTo>
                    <a:pt x="34081" y="968038"/>
                    <a:pt x="0" y="933956"/>
                    <a:pt x="0" y="891915"/>
                  </a:cubicBezTo>
                  <a:lnTo>
                    <a:pt x="0" y="76123"/>
                  </a:lnTo>
                  <a:cubicBezTo>
                    <a:pt x="0" y="34081"/>
                    <a:pt x="34081" y="0"/>
                    <a:pt x="76123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366081" cy="1015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286319" y="5143500"/>
            <a:ext cx="5186840" cy="3675517"/>
            <a:chOff x="0" y="0"/>
            <a:chExt cx="1366081" cy="96803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66081" cy="968038"/>
            </a:xfrm>
            <a:custGeom>
              <a:avLst/>
              <a:gdLst/>
              <a:ahLst/>
              <a:cxnLst/>
              <a:rect r="r" b="b" t="t" l="l"/>
              <a:pathLst>
                <a:path h="968038" w="1366081">
                  <a:moveTo>
                    <a:pt x="76123" y="0"/>
                  </a:moveTo>
                  <a:lnTo>
                    <a:pt x="1289958" y="0"/>
                  </a:lnTo>
                  <a:cubicBezTo>
                    <a:pt x="1310147" y="0"/>
                    <a:pt x="1329510" y="8020"/>
                    <a:pt x="1343785" y="22296"/>
                  </a:cubicBezTo>
                  <a:cubicBezTo>
                    <a:pt x="1358061" y="36572"/>
                    <a:pt x="1366081" y="55934"/>
                    <a:pt x="1366081" y="76123"/>
                  </a:cubicBezTo>
                  <a:lnTo>
                    <a:pt x="1366081" y="891915"/>
                  </a:lnTo>
                  <a:cubicBezTo>
                    <a:pt x="1366081" y="933956"/>
                    <a:pt x="1332000" y="968038"/>
                    <a:pt x="1289958" y="968038"/>
                  </a:cubicBezTo>
                  <a:lnTo>
                    <a:pt x="76123" y="968038"/>
                  </a:lnTo>
                  <a:cubicBezTo>
                    <a:pt x="34081" y="968038"/>
                    <a:pt x="0" y="933956"/>
                    <a:pt x="0" y="891915"/>
                  </a:cubicBezTo>
                  <a:lnTo>
                    <a:pt x="0" y="76123"/>
                  </a:lnTo>
                  <a:cubicBezTo>
                    <a:pt x="0" y="34081"/>
                    <a:pt x="34081" y="0"/>
                    <a:pt x="76123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366081" cy="1015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319135" y="2569276"/>
            <a:ext cx="3615838" cy="2259899"/>
          </a:xfrm>
          <a:custGeom>
            <a:avLst/>
            <a:gdLst/>
            <a:ahLst/>
            <a:cxnLst/>
            <a:rect r="r" b="b" t="t" l="l"/>
            <a:pathLst>
              <a:path h="2259899" w="3615838">
                <a:moveTo>
                  <a:pt x="0" y="0"/>
                </a:moveTo>
                <a:lnTo>
                  <a:pt x="3615839" y="0"/>
                </a:lnTo>
                <a:lnTo>
                  <a:pt x="3615839" y="2259899"/>
                </a:lnTo>
                <a:lnTo>
                  <a:pt x="0" y="2259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659937" y="2616778"/>
            <a:ext cx="3848703" cy="2164896"/>
          </a:xfrm>
          <a:custGeom>
            <a:avLst/>
            <a:gdLst/>
            <a:ahLst/>
            <a:cxnLst/>
            <a:rect r="r" b="b" t="t" l="l"/>
            <a:pathLst>
              <a:path h="2164896" w="3848703">
                <a:moveTo>
                  <a:pt x="0" y="0"/>
                </a:moveTo>
                <a:lnTo>
                  <a:pt x="3848703" y="0"/>
                </a:lnTo>
                <a:lnTo>
                  <a:pt x="3848703" y="2164895"/>
                </a:lnTo>
                <a:lnTo>
                  <a:pt x="0" y="21648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975366" y="6232286"/>
            <a:ext cx="3799262" cy="2027856"/>
          </a:xfrm>
          <a:custGeom>
            <a:avLst/>
            <a:gdLst/>
            <a:ahLst/>
            <a:cxnLst/>
            <a:rect r="r" b="b" t="t" l="l"/>
            <a:pathLst>
              <a:path h="2027856" w="3799262">
                <a:moveTo>
                  <a:pt x="0" y="0"/>
                </a:moveTo>
                <a:lnTo>
                  <a:pt x="3799262" y="0"/>
                </a:lnTo>
                <a:lnTo>
                  <a:pt x="3799262" y="2027856"/>
                </a:lnTo>
                <a:lnTo>
                  <a:pt x="0" y="20278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341517" y="6115621"/>
            <a:ext cx="3076443" cy="2261186"/>
          </a:xfrm>
          <a:custGeom>
            <a:avLst/>
            <a:gdLst/>
            <a:ahLst/>
            <a:cxnLst/>
            <a:rect r="r" b="b" t="t" l="l"/>
            <a:pathLst>
              <a:path h="2261186" w="3076443">
                <a:moveTo>
                  <a:pt x="0" y="0"/>
                </a:moveTo>
                <a:lnTo>
                  <a:pt x="3076444" y="0"/>
                </a:lnTo>
                <a:lnTo>
                  <a:pt x="3076444" y="2261186"/>
                </a:lnTo>
                <a:lnTo>
                  <a:pt x="0" y="22611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554434" y="471487"/>
            <a:ext cx="1317913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b="true" sz="7207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Herramientas Cómunes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24007" y="1302966"/>
            <a:ext cx="400609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b="true" sz="4500" spc="35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THREE</a:t>
            </a:r>
            <a:r>
              <a:rPr lang="en-US" b="true" sz="4500" spc="35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.JS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871950" y="5107006"/>
            <a:ext cx="4006094" cy="83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b="true" sz="3600" spc="288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UNREAL ENGINE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76692" y="5046078"/>
            <a:ext cx="400609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b="true" sz="4500" spc="35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BLENDER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581242" y="1302966"/>
            <a:ext cx="400609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b="true" sz="4500" spc="35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UNITY 3D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07390" y="1076325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Conceptos Clave Aprendidos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27167" y="3781426"/>
            <a:ext cx="14233665" cy="265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Simulación en 2D: 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La simulación en 2D se enfoca en planos básicos (X, Y), ideal para lógica y movimiento simple. </a:t>
            </a:r>
          </a:p>
          <a:p>
            <a:pPr algn="just">
              <a:lnSpc>
                <a:spcPts val="4200"/>
              </a:lnSpc>
            </a:pPr>
          </a:p>
          <a:p>
            <a:pPr algn="just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Simulación en 3D: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 La 3D añade una dimensión más (Z), permitiendo una visualización más realista y compleja.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92343" y="712826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Valores y Actitudes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27167" y="1842771"/>
            <a:ext cx="14233665" cy="6920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Responsabilidad</a:t>
            </a:r>
            <a:r>
              <a:rPr lang="en-US" b="true" sz="28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: 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Al asumir el rol de desarrolladores de simulaciones tanto en 2D como en 3D, los estudiantes deben trabajar con ética, cumpliendo sus tareas con compromiso y seriedad.</a:t>
            </a:r>
          </a:p>
          <a:p>
            <a:pPr algn="just">
              <a:lnSpc>
                <a:spcPts val="3920"/>
              </a:lnSpc>
            </a:pPr>
          </a:p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Trabajo en equipo: 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La simulación requiere colaboración multidisciplinaria (programación, lógica, diseño), fomentando la cooperación, el respeto y la escucha activa entre compañeros.</a:t>
            </a:r>
          </a:p>
          <a:p>
            <a:pPr algn="just">
              <a:lnSpc>
                <a:spcPts val="3920"/>
              </a:lnSpc>
            </a:pPr>
          </a:p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Pensamiento Crítico</a:t>
            </a:r>
            <a:r>
              <a:rPr lang="en-US" b="true" sz="28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:</a:t>
            </a:r>
            <a:r>
              <a:rPr lang="en-US" b="true" sz="28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La simulación invita a analizar problemas complejos y en base a eso evaluar que tipo de simulación es mejor para desarrollar el problema ¿2D o 3D?.</a:t>
            </a:r>
          </a:p>
          <a:p>
            <a:pPr algn="just">
              <a:lnSpc>
                <a:spcPts val="3920"/>
              </a:lnSpc>
            </a:pPr>
          </a:p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Creatividad: 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Al construir escenarios, programar comportamientos y diseñar entornos visuales, los estudiantes ejercitan su capacidad para idear soluciones innovadoras y visualmente atractivas.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07390" y="1076325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Referencias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42215" y="3564371"/>
            <a:ext cx="14233665" cy="3453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32" indent="-302266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ssell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,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S., &amp; Norvig, P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. (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20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1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6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). Ar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ti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icial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nte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li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g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ence: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 M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dern A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ch (3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.).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Pe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on.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</a:p>
          <a:p>
            <a:pPr algn="just" marL="604532" indent="-302266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P5.js.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p5.j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 Reference. Recuperado de: </a:t>
            </a:r>
            <a:r>
              <a:rPr lang="en-US" b="true" sz="2800" strike="noStrike" u="sng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https://p5js.org/reference/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</a:p>
          <a:p>
            <a:pPr algn="just" marL="604532" indent="-302266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Three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.js Documentation. three.js Docs. Recuperado de: </a:t>
            </a:r>
            <a:r>
              <a:rPr lang="en-US" b="true" sz="2800" strike="noStrike" u="sng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  <a:hlinkClick r:id="rId3" tooltip="https://threejs.org/docs/"/>
              </a:rPr>
              <a:t>https://threejs.org/docs/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37795" y="3446254"/>
            <a:ext cx="8658828" cy="2438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43"/>
              </a:lnSpc>
            </a:pPr>
            <a:r>
              <a:rPr lang="en-US" b="true" sz="60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¡GRACIAS POR su  ATENCIÓN!</a:t>
            </a:r>
          </a:p>
          <a:p>
            <a:pPr algn="just">
              <a:lnSpc>
                <a:spcPts val="6343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414714" y="5958103"/>
            <a:ext cx="6704991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b="true" sz="5000" spc="4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DUDAS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963751" y="1028700"/>
            <a:ext cx="2757268" cy="3770970"/>
          </a:xfrm>
          <a:custGeom>
            <a:avLst/>
            <a:gdLst/>
            <a:ahLst/>
            <a:cxnLst/>
            <a:rect r="r" b="b" t="t" l="l"/>
            <a:pathLst>
              <a:path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11098" y="7890210"/>
            <a:ext cx="1346580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Recuerda que tenemos nuestro foro semanal donde puedes consultar cualquier duda que te surja en la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DAGn8rKivNM</dc:identifier>
  <dcterms:modified xsi:type="dcterms:W3CDTF">2011-08-01T06:04:30Z</dcterms:modified>
  <cp:revision>1</cp:revision>
  <dc:title>Clase 10</dc:title>
</cp:coreProperties>
</file>