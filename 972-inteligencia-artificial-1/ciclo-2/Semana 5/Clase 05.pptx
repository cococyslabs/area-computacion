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802020202020204"/>
      <p:regular r:id="rId25"/>
    </p:embeddedFont>
    <p:embeddedFont>
      <p:font typeface="Arimo" charset="1" panose="020B0604020202020204"/>
      <p:regular r:id="rId26"/>
    </p:embeddedFont>
    <p:embeddedFont>
      <p:font typeface="Arial" charset="1" panose="020B0502020202020204"/>
      <p:regular r:id="rId27"/>
    </p:embeddedFont>
    <p:embeddedFont>
      <p:font typeface="HK Grotesk Medium" charset="1" panose="00000600000000000000"/>
      <p:regular r:id="rId28"/>
    </p:embeddedFont>
    <p:embeddedFont>
      <p:font typeface="HK Grotesk Bold" charset="1" panose="00000800000000000000"/>
      <p:regular r:id="rId29"/>
    </p:embeddedFont>
    <p:embeddedFont>
      <p:font typeface="HK Grotesk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02" y="0"/>
            <a:ext cx="18254198" cy="10287002"/>
          </a:xfrm>
          <a:custGeom>
            <a:avLst/>
            <a:gdLst/>
            <a:ahLst/>
            <a:cxnLst/>
            <a:rect r="r" b="b" t="t" l="l"/>
            <a:pathLst>
              <a:path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/>
                <a:gridCol w="4335832"/>
              </a:tblGrid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864138" y="4529138"/>
            <a:ext cx="951329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</a:t>
            </a: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[A]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17834" y="5845971"/>
            <a:ext cx="700590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Robin Omar Buezo Díaz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8001" y="6620396"/>
            <a:ext cx="922408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18001" y="3415707"/>
            <a:ext cx="11119114" cy="12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76" y="2365657"/>
            <a:ext cx="11052439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b="true" sz="5500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18001" y="857436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118001" y="4721267"/>
            <a:ext cx="80151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Realidad Aumentada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62682" y="3926552"/>
            <a:ext cx="1963999" cy="1963999"/>
          </a:xfrm>
          <a:custGeom>
            <a:avLst/>
            <a:gdLst/>
            <a:ahLst/>
            <a:cxnLst/>
            <a:rect r="r" b="b" t="t" l="l"/>
            <a:pathLst>
              <a:path h="1963999" w="1963999">
                <a:moveTo>
                  <a:pt x="0" y="0"/>
                </a:moveTo>
                <a:lnTo>
                  <a:pt x="1963999" y="0"/>
                </a:lnTo>
                <a:lnTo>
                  <a:pt x="1963999" y="1964000"/>
                </a:lnTo>
                <a:lnTo>
                  <a:pt x="0" y="1964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99395" y="3078596"/>
            <a:ext cx="6464263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Link del Video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b="true" sz="3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UEDI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89083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06974" y="8506847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4003" y="3078596"/>
            <a:ext cx="6464263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Introducción a la Realidad Aumentada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08934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4889" y="1409214"/>
            <a:ext cx="13991174" cy="88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b="true" sz="6098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57547" y="3698875"/>
            <a:ext cx="12569573" cy="280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Evalúa plataformas de realidad aumentada usando criterios de compatibilidad, usabilidad y eficiencia</a:t>
            </a: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bajo escenarios de prueba en dispositivos móviles y navegadores web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1875998"/>
            <a:ext cx="9440751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¿Qué es la Realidad Aumentada?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49325" y="1728495"/>
            <a:ext cx="4834228" cy="2719253"/>
          </a:xfrm>
          <a:custGeom>
            <a:avLst/>
            <a:gdLst/>
            <a:ahLst/>
            <a:cxnLst/>
            <a:rect r="r" b="b" t="t" l="l"/>
            <a:pathLst>
              <a:path h="2719253" w="4834228">
                <a:moveTo>
                  <a:pt x="0" y="0"/>
                </a:moveTo>
                <a:lnTo>
                  <a:pt x="4834228" y="0"/>
                </a:lnTo>
                <a:lnTo>
                  <a:pt x="4834228" y="2719253"/>
                </a:lnTo>
                <a:lnTo>
                  <a:pt x="0" y="2719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77486" y="5076825"/>
            <a:ext cx="15333028" cy="313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 Realidad Aumentada (AR) es una tecnología que superpone elementos digitales sobre el mundo físico en tiempo real.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A diferencia de la Realidad Virtual (RV), que crea un entorno completamente digital y reemplaza el mundo real, AR enriquece la realidad existente, añadiendo capas de información o interactividad al entorno físico.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83638" y="1019175"/>
            <a:ext cx="12023256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Diferencias Clave Entre Realidad Aumentada y Realidad Virtual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00843" y="4887147"/>
            <a:ext cx="5988845" cy="3319720"/>
          </a:xfrm>
          <a:custGeom>
            <a:avLst/>
            <a:gdLst/>
            <a:ahLst/>
            <a:cxnLst/>
            <a:rect r="r" b="b" t="t" l="l"/>
            <a:pathLst>
              <a:path h="3319720" w="5988845">
                <a:moveTo>
                  <a:pt x="0" y="0"/>
                </a:moveTo>
                <a:lnTo>
                  <a:pt x="5988845" y="0"/>
                </a:lnTo>
                <a:lnTo>
                  <a:pt x="5988845" y="3319719"/>
                </a:lnTo>
                <a:lnTo>
                  <a:pt x="0" y="33197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839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77486" y="3066106"/>
            <a:ext cx="1533302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 spc="24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Realidad Aumentada (AR) </a:t>
            </a:r>
            <a:r>
              <a:rPr lang="en-US" sz="3000" spc="24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no reemplaza el mundo real, lo complementa. Es decir, AR utiliza los objetos físicos y los modifica con información digital.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2943" y="585383"/>
            <a:ext cx="11242114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Diferencias Clave Entre Realidad Aumentada y Realidad Virtual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03836" y="4752166"/>
            <a:ext cx="7480327" cy="4207684"/>
          </a:xfrm>
          <a:custGeom>
            <a:avLst/>
            <a:gdLst/>
            <a:ahLst/>
            <a:cxnLst/>
            <a:rect r="r" b="b" t="t" l="l"/>
            <a:pathLst>
              <a:path h="4207684" w="7480327">
                <a:moveTo>
                  <a:pt x="0" y="0"/>
                </a:moveTo>
                <a:lnTo>
                  <a:pt x="7480328" y="0"/>
                </a:lnTo>
                <a:lnTo>
                  <a:pt x="7480328" y="4207684"/>
                </a:lnTo>
                <a:lnTo>
                  <a:pt x="0" y="4207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1038" y="2759262"/>
            <a:ext cx="14905924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Realidad Virtual (RV)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por otro lado, crea un entorno completamente virtual que reemplaza el mundo real, sumergiendo al usuario en un entorno generado por computadora.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7486" y="1028700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Tecnologías involucradas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5667" y="3855282"/>
            <a:ext cx="12642554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477486" y="2487066"/>
            <a:ext cx="15333028" cy="627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Para que funcione la AR, se necesitan diferentes tecnologías que faciliten la integración entre lo real y lo digital. Algunas de las tecnologías clave incluyen:</a:t>
            </a:r>
          </a:p>
          <a:p>
            <a:pPr algn="just">
              <a:lnSpc>
                <a:spcPts val="4199"/>
              </a:lnSpc>
            </a:pP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Dispositivos móviles: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Smartphones y tabletas que cuentan con cámaras y sensores.</a:t>
            </a:r>
          </a:p>
          <a:p>
            <a:pPr algn="just">
              <a:lnSpc>
                <a:spcPts val="4199"/>
              </a:lnSpc>
            </a:pP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Cámaras y sensores: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Se utilizan para captar el entorno físico y objetos del mundo real.</a:t>
            </a:r>
          </a:p>
          <a:p>
            <a:pPr algn="just">
              <a:lnSpc>
                <a:spcPts val="4199"/>
              </a:lnSpc>
            </a:pP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Procesadores y software: 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Los dispositivos necesitan potencia de procesamiento para superponer los elementos digitales en tiempo real y para reconocer el entorno.</a:t>
            </a:r>
          </a:p>
          <a:p>
            <a:pPr algn="just">
              <a:lnSpc>
                <a:spcPts val="4199"/>
              </a:lnSpc>
            </a:pPr>
          </a:p>
          <a:p>
            <a:pPr algn="just" marL="647695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Pantallas: 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Pantallas interactivas, gafas inteligentes u otras interfaces de visualización.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2943" y="585383"/>
            <a:ext cx="11242114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Ejemplos de Realidad Aumentada</a:t>
            </a:r>
          </a:p>
          <a:p>
            <a:pPr algn="ctr">
              <a:lnSpc>
                <a:spcPts val="960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87641" y="3764063"/>
            <a:ext cx="7215249" cy="418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Pokémon Go</a:t>
            </a:r>
          </a:p>
          <a:p>
            <a:pPr algn="just">
              <a:lnSpc>
                <a:spcPts val="4759"/>
              </a:lnSpc>
            </a:pP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Aplicaciones de navegación</a:t>
            </a:r>
          </a:p>
          <a:p>
            <a:pPr algn="just">
              <a:lnSpc>
                <a:spcPts val="4759"/>
              </a:lnSpc>
            </a:pP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Filtros en redes sociales</a:t>
            </a:r>
          </a:p>
          <a:p>
            <a:pPr algn="just">
              <a:lnSpc>
                <a:spcPts val="4759"/>
              </a:lnSpc>
            </a:pP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Visualización de productos en 3D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4488" y="1019175"/>
            <a:ext cx="14799023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Ejemplos de Realidad Aumentada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77486" y="4133850"/>
            <a:ext cx="3175130" cy="3242788"/>
          </a:xfrm>
          <a:custGeom>
            <a:avLst/>
            <a:gdLst/>
            <a:ahLst/>
            <a:cxnLst/>
            <a:rect r="r" b="b" t="t" l="l"/>
            <a:pathLst>
              <a:path h="3242788" w="3175130">
                <a:moveTo>
                  <a:pt x="0" y="0"/>
                </a:moveTo>
                <a:lnTo>
                  <a:pt x="3175130" y="0"/>
                </a:lnTo>
                <a:lnTo>
                  <a:pt x="3175130" y="3242788"/>
                </a:lnTo>
                <a:lnTo>
                  <a:pt x="0" y="3242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4261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11148" y="4133850"/>
            <a:ext cx="4465704" cy="3242788"/>
          </a:xfrm>
          <a:custGeom>
            <a:avLst/>
            <a:gdLst/>
            <a:ahLst/>
            <a:cxnLst/>
            <a:rect r="r" b="b" t="t" l="l"/>
            <a:pathLst>
              <a:path h="3242788" w="4465704">
                <a:moveTo>
                  <a:pt x="0" y="0"/>
                </a:moveTo>
                <a:lnTo>
                  <a:pt x="4465704" y="0"/>
                </a:lnTo>
                <a:lnTo>
                  <a:pt x="4465704" y="3242788"/>
                </a:lnTo>
                <a:lnTo>
                  <a:pt x="0" y="3242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349298" y="4207497"/>
            <a:ext cx="3779909" cy="3113086"/>
          </a:xfrm>
          <a:custGeom>
            <a:avLst/>
            <a:gdLst/>
            <a:ahLst/>
            <a:cxnLst/>
            <a:rect r="r" b="b" t="t" l="l"/>
            <a:pathLst>
              <a:path h="3113086" w="3779909">
                <a:moveTo>
                  <a:pt x="0" y="0"/>
                </a:moveTo>
                <a:lnTo>
                  <a:pt x="3779909" y="0"/>
                </a:lnTo>
                <a:lnTo>
                  <a:pt x="3779909" y="3113086"/>
                </a:lnTo>
                <a:lnTo>
                  <a:pt x="0" y="31130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721" t="0" r="-8119" b="-180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7191" y="585383"/>
            <a:ext cx="11397866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5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Historia de la Realidad Aumentada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40737" y="6950827"/>
            <a:ext cx="15406525" cy="1585195"/>
          </a:xfrm>
          <a:custGeom>
            <a:avLst/>
            <a:gdLst/>
            <a:ahLst/>
            <a:cxnLst/>
            <a:rect r="r" b="b" t="t" l="l"/>
            <a:pathLst>
              <a:path h="1585195" w="15406525">
                <a:moveTo>
                  <a:pt x="0" y="0"/>
                </a:moveTo>
                <a:lnTo>
                  <a:pt x="15406526" y="0"/>
                </a:lnTo>
                <a:lnTo>
                  <a:pt x="15406526" y="1585196"/>
                </a:lnTo>
                <a:lnTo>
                  <a:pt x="0" y="1585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40737" y="3088121"/>
            <a:ext cx="2724075" cy="3168480"/>
            <a:chOff x="0" y="0"/>
            <a:chExt cx="743097" cy="8643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3097" cy="864326"/>
            </a:xfrm>
            <a:custGeom>
              <a:avLst/>
              <a:gdLst/>
              <a:ahLst/>
              <a:cxnLst/>
              <a:rect r="r" b="b" t="t" l="l"/>
              <a:pathLst>
                <a:path h="864326" w="743097">
                  <a:moveTo>
                    <a:pt x="99471" y="0"/>
                  </a:moveTo>
                  <a:lnTo>
                    <a:pt x="643626" y="0"/>
                  </a:lnTo>
                  <a:cubicBezTo>
                    <a:pt x="670007" y="0"/>
                    <a:pt x="695308" y="10480"/>
                    <a:pt x="713963" y="29134"/>
                  </a:cubicBezTo>
                  <a:cubicBezTo>
                    <a:pt x="732617" y="47789"/>
                    <a:pt x="743097" y="73090"/>
                    <a:pt x="743097" y="99471"/>
                  </a:cubicBezTo>
                  <a:lnTo>
                    <a:pt x="743097" y="764854"/>
                  </a:lnTo>
                  <a:cubicBezTo>
                    <a:pt x="743097" y="791236"/>
                    <a:pt x="732617" y="816537"/>
                    <a:pt x="713963" y="835191"/>
                  </a:cubicBezTo>
                  <a:cubicBezTo>
                    <a:pt x="695308" y="853846"/>
                    <a:pt x="670007" y="864326"/>
                    <a:pt x="643626" y="864326"/>
                  </a:cubicBezTo>
                  <a:lnTo>
                    <a:pt x="99471" y="864326"/>
                  </a:lnTo>
                  <a:cubicBezTo>
                    <a:pt x="73090" y="864326"/>
                    <a:pt x="47789" y="853846"/>
                    <a:pt x="29134" y="835191"/>
                  </a:cubicBezTo>
                  <a:cubicBezTo>
                    <a:pt x="10480" y="816537"/>
                    <a:pt x="0" y="791236"/>
                    <a:pt x="0" y="764854"/>
                  </a:cubicBezTo>
                  <a:lnTo>
                    <a:pt x="0" y="99471"/>
                  </a:lnTo>
                  <a:cubicBezTo>
                    <a:pt x="0" y="73090"/>
                    <a:pt x="10480" y="47789"/>
                    <a:pt x="29134" y="29134"/>
                  </a:cubicBezTo>
                  <a:cubicBezTo>
                    <a:pt x="47789" y="10480"/>
                    <a:pt x="73090" y="0"/>
                    <a:pt x="99471" y="0"/>
                  </a:cubicBezTo>
                  <a:close/>
                </a:path>
              </a:pathLst>
            </a:custGeom>
            <a:solidFill>
              <a:srgbClr val="BA302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026373" y="5933563"/>
            <a:ext cx="1543050" cy="1350169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A302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114928" y="9076571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15153" y="7287812"/>
            <a:ext cx="1949659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b="true" sz="4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1960s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81356" y="7287812"/>
            <a:ext cx="1949659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b="true" sz="4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1990s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45441" y="7306862"/>
            <a:ext cx="1949659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b="true" sz="4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2000s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71425" y="7297337"/>
            <a:ext cx="1949659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b="true" sz="4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2010s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53020" y="7287812"/>
            <a:ext cx="1949659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b="true" sz="4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2020s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448887" y="3088121"/>
            <a:ext cx="2947829" cy="3168480"/>
            <a:chOff x="0" y="0"/>
            <a:chExt cx="804135" cy="86432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135" cy="864326"/>
            </a:xfrm>
            <a:custGeom>
              <a:avLst/>
              <a:gdLst/>
              <a:ahLst/>
              <a:cxnLst/>
              <a:rect r="r" b="b" t="t" l="l"/>
              <a:pathLst>
                <a:path h="864326" w="804135">
                  <a:moveTo>
                    <a:pt x="94547" y="0"/>
                  </a:moveTo>
                  <a:lnTo>
                    <a:pt x="709588" y="0"/>
                  </a:lnTo>
                  <a:cubicBezTo>
                    <a:pt x="734663" y="0"/>
                    <a:pt x="758711" y="9961"/>
                    <a:pt x="776442" y="27692"/>
                  </a:cubicBezTo>
                  <a:cubicBezTo>
                    <a:pt x="794174" y="45423"/>
                    <a:pt x="804135" y="69472"/>
                    <a:pt x="804135" y="94547"/>
                  </a:cubicBezTo>
                  <a:lnTo>
                    <a:pt x="804135" y="769778"/>
                  </a:lnTo>
                  <a:cubicBezTo>
                    <a:pt x="804135" y="794854"/>
                    <a:pt x="794174" y="818902"/>
                    <a:pt x="776442" y="836634"/>
                  </a:cubicBezTo>
                  <a:cubicBezTo>
                    <a:pt x="758711" y="854365"/>
                    <a:pt x="734663" y="864326"/>
                    <a:pt x="709588" y="864326"/>
                  </a:cubicBezTo>
                  <a:lnTo>
                    <a:pt x="94547" y="864326"/>
                  </a:lnTo>
                  <a:cubicBezTo>
                    <a:pt x="69472" y="864326"/>
                    <a:pt x="45423" y="854365"/>
                    <a:pt x="27692" y="836634"/>
                  </a:cubicBezTo>
                  <a:cubicBezTo>
                    <a:pt x="9961" y="818902"/>
                    <a:pt x="0" y="794854"/>
                    <a:pt x="0" y="769778"/>
                  </a:cubicBezTo>
                  <a:lnTo>
                    <a:pt x="0" y="94547"/>
                  </a:lnTo>
                  <a:cubicBezTo>
                    <a:pt x="0" y="69472"/>
                    <a:pt x="9961" y="45423"/>
                    <a:pt x="27692" y="27692"/>
                  </a:cubicBezTo>
                  <a:cubicBezTo>
                    <a:pt x="45423" y="9961"/>
                    <a:pt x="69472" y="0"/>
                    <a:pt x="94547" y="0"/>
                  </a:cubicBezTo>
                  <a:close/>
                </a:path>
              </a:pathLst>
            </a:custGeom>
            <a:solidFill>
              <a:srgbClr val="008CC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198161" y="5933563"/>
            <a:ext cx="1543050" cy="1350169"/>
            <a:chOff x="0" y="0"/>
            <a:chExt cx="8128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8CC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596741" y="3088121"/>
            <a:ext cx="3083883" cy="3168480"/>
            <a:chOff x="0" y="0"/>
            <a:chExt cx="841249" cy="86432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1249" cy="864326"/>
            </a:xfrm>
            <a:custGeom>
              <a:avLst/>
              <a:gdLst/>
              <a:ahLst/>
              <a:cxnLst/>
              <a:rect r="r" b="b" t="t" l="l"/>
              <a:pathLst>
                <a:path h="864326" w="841249">
                  <a:moveTo>
                    <a:pt x="87866" y="0"/>
                  </a:moveTo>
                  <a:lnTo>
                    <a:pt x="753383" y="0"/>
                  </a:lnTo>
                  <a:cubicBezTo>
                    <a:pt x="801910" y="0"/>
                    <a:pt x="841249" y="39339"/>
                    <a:pt x="841249" y="87866"/>
                  </a:cubicBezTo>
                  <a:lnTo>
                    <a:pt x="841249" y="776460"/>
                  </a:lnTo>
                  <a:cubicBezTo>
                    <a:pt x="841249" y="799764"/>
                    <a:pt x="831991" y="822113"/>
                    <a:pt x="815513" y="838590"/>
                  </a:cubicBezTo>
                  <a:cubicBezTo>
                    <a:pt x="799035" y="855068"/>
                    <a:pt x="776686" y="864326"/>
                    <a:pt x="753383" y="864326"/>
                  </a:cubicBezTo>
                  <a:lnTo>
                    <a:pt x="87866" y="864326"/>
                  </a:lnTo>
                  <a:cubicBezTo>
                    <a:pt x="39339" y="864326"/>
                    <a:pt x="0" y="824987"/>
                    <a:pt x="0" y="776460"/>
                  </a:cubicBezTo>
                  <a:lnTo>
                    <a:pt x="0" y="87866"/>
                  </a:lnTo>
                  <a:cubicBezTo>
                    <a:pt x="0" y="39339"/>
                    <a:pt x="39339" y="0"/>
                    <a:pt x="87866" y="0"/>
                  </a:cubicBezTo>
                  <a:close/>
                </a:path>
              </a:pathLst>
            </a:custGeom>
            <a:solidFill>
              <a:srgbClr val="FBB62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7777" y="5933563"/>
            <a:ext cx="1543050" cy="1350169"/>
            <a:chOff x="0" y="0"/>
            <a:chExt cx="812800" cy="711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B62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883813" y="3088121"/>
            <a:ext cx="2724075" cy="3168480"/>
            <a:chOff x="0" y="0"/>
            <a:chExt cx="743097" cy="86432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3097" cy="864326"/>
            </a:xfrm>
            <a:custGeom>
              <a:avLst/>
              <a:gdLst/>
              <a:ahLst/>
              <a:cxnLst/>
              <a:rect r="r" b="b" t="t" l="l"/>
              <a:pathLst>
                <a:path h="864326" w="743097">
                  <a:moveTo>
                    <a:pt x="99471" y="0"/>
                  </a:moveTo>
                  <a:lnTo>
                    <a:pt x="643626" y="0"/>
                  </a:lnTo>
                  <a:cubicBezTo>
                    <a:pt x="670007" y="0"/>
                    <a:pt x="695308" y="10480"/>
                    <a:pt x="713963" y="29134"/>
                  </a:cubicBezTo>
                  <a:cubicBezTo>
                    <a:pt x="732617" y="47789"/>
                    <a:pt x="743097" y="73090"/>
                    <a:pt x="743097" y="99471"/>
                  </a:cubicBezTo>
                  <a:lnTo>
                    <a:pt x="743097" y="764854"/>
                  </a:lnTo>
                  <a:cubicBezTo>
                    <a:pt x="743097" y="791236"/>
                    <a:pt x="732617" y="816537"/>
                    <a:pt x="713963" y="835191"/>
                  </a:cubicBezTo>
                  <a:cubicBezTo>
                    <a:pt x="695308" y="853846"/>
                    <a:pt x="670007" y="864326"/>
                    <a:pt x="643626" y="864326"/>
                  </a:cubicBezTo>
                  <a:lnTo>
                    <a:pt x="99471" y="864326"/>
                  </a:lnTo>
                  <a:cubicBezTo>
                    <a:pt x="73090" y="864326"/>
                    <a:pt x="47789" y="853846"/>
                    <a:pt x="29134" y="835191"/>
                  </a:cubicBezTo>
                  <a:cubicBezTo>
                    <a:pt x="10480" y="816537"/>
                    <a:pt x="0" y="791236"/>
                    <a:pt x="0" y="764854"/>
                  </a:cubicBezTo>
                  <a:lnTo>
                    <a:pt x="0" y="99471"/>
                  </a:lnTo>
                  <a:cubicBezTo>
                    <a:pt x="0" y="73090"/>
                    <a:pt x="10480" y="47789"/>
                    <a:pt x="29134" y="29134"/>
                  </a:cubicBezTo>
                  <a:cubicBezTo>
                    <a:pt x="47789" y="10480"/>
                    <a:pt x="73090" y="0"/>
                    <a:pt x="99471" y="0"/>
                  </a:cubicBezTo>
                  <a:close/>
                </a:path>
              </a:pathLst>
            </a:custGeom>
            <a:solidFill>
              <a:srgbClr val="9FC2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474325" y="5933563"/>
            <a:ext cx="1543050" cy="1350169"/>
            <a:chOff x="0" y="0"/>
            <a:chExt cx="812800" cy="71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9FC20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965812" y="3088121"/>
            <a:ext cx="2724075" cy="3168480"/>
            <a:chOff x="0" y="0"/>
            <a:chExt cx="743097" cy="8643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43097" cy="864326"/>
            </a:xfrm>
            <a:custGeom>
              <a:avLst/>
              <a:gdLst/>
              <a:ahLst/>
              <a:cxnLst/>
              <a:rect r="r" b="b" t="t" l="l"/>
              <a:pathLst>
                <a:path h="864326" w="743097">
                  <a:moveTo>
                    <a:pt x="99471" y="0"/>
                  </a:moveTo>
                  <a:lnTo>
                    <a:pt x="643626" y="0"/>
                  </a:lnTo>
                  <a:cubicBezTo>
                    <a:pt x="670007" y="0"/>
                    <a:pt x="695308" y="10480"/>
                    <a:pt x="713963" y="29134"/>
                  </a:cubicBezTo>
                  <a:cubicBezTo>
                    <a:pt x="732617" y="47789"/>
                    <a:pt x="743097" y="73090"/>
                    <a:pt x="743097" y="99471"/>
                  </a:cubicBezTo>
                  <a:lnTo>
                    <a:pt x="743097" y="764854"/>
                  </a:lnTo>
                  <a:cubicBezTo>
                    <a:pt x="743097" y="791236"/>
                    <a:pt x="732617" y="816537"/>
                    <a:pt x="713963" y="835191"/>
                  </a:cubicBezTo>
                  <a:cubicBezTo>
                    <a:pt x="695308" y="853846"/>
                    <a:pt x="670007" y="864326"/>
                    <a:pt x="643626" y="864326"/>
                  </a:cubicBezTo>
                  <a:lnTo>
                    <a:pt x="99471" y="864326"/>
                  </a:lnTo>
                  <a:cubicBezTo>
                    <a:pt x="73090" y="864326"/>
                    <a:pt x="47789" y="853846"/>
                    <a:pt x="29134" y="835191"/>
                  </a:cubicBezTo>
                  <a:cubicBezTo>
                    <a:pt x="10480" y="816537"/>
                    <a:pt x="0" y="791236"/>
                    <a:pt x="0" y="764854"/>
                  </a:cubicBezTo>
                  <a:lnTo>
                    <a:pt x="0" y="99471"/>
                  </a:lnTo>
                  <a:cubicBezTo>
                    <a:pt x="0" y="73090"/>
                    <a:pt x="10480" y="47789"/>
                    <a:pt x="29134" y="29134"/>
                  </a:cubicBezTo>
                  <a:cubicBezTo>
                    <a:pt x="47789" y="10480"/>
                    <a:pt x="73090" y="0"/>
                    <a:pt x="99471" y="0"/>
                  </a:cubicBezTo>
                  <a:close/>
                </a:path>
              </a:pathLst>
            </a:custGeom>
            <a:solidFill>
              <a:srgbClr val="B567B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4613875" y="5933563"/>
            <a:ext cx="1543050" cy="1350169"/>
            <a:chOff x="0" y="0"/>
            <a:chExt cx="812800" cy="711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567B2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440737" y="3293975"/>
            <a:ext cx="2719236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Ivan Sutherland</a:t>
            </a:r>
          </a:p>
          <a:p>
            <a:pPr algn="ctr">
              <a:lnSpc>
                <a:spcPts val="2799"/>
              </a:lnSpc>
            </a:pPr>
          </a:p>
          <a:p>
            <a:pPr algn="ctr">
              <a:lnSpc>
                <a:spcPts val="2799"/>
              </a:lnSpc>
            </a:pPr>
          </a:p>
          <a:p>
            <a:pPr algn="ctr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1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Primeros experimentos con sistemas de visualización aumentada.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563184" y="3240436"/>
            <a:ext cx="2719236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Tom Caudell, Louis Rosenberg </a:t>
            </a:r>
          </a:p>
          <a:p>
            <a:pPr algn="ctr">
              <a:lnSpc>
                <a:spcPts val="2799"/>
              </a:lnSpc>
            </a:pP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Desarrollo de aplicaciones industriales y militares, primeros usos comerciales y académicos.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79398" y="3293975"/>
            <a:ext cx="2719236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Layar, ARKit, ARCore </a:t>
            </a:r>
          </a:p>
          <a:p>
            <a:pPr algn="ctr">
              <a:lnSpc>
                <a:spcPts val="2799"/>
              </a:lnSpc>
            </a:pP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Emergen las primeras aplicaciones móviles de AR, y los smartphones comienzan a ser capaces de soportar aplicaciones de AR.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872605" y="3331543"/>
            <a:ext cx="2719236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Pokémon Go, AR en consumo masivo</a:t>
            </a:r>
          </a:p>
          <a:p>
            <a:pPr algn="ctr">
              <a:lnSpc>
                <a:spcPts val="2799"/>
              </a:lnSpc>
            </a:pPr>
          </a:p>
          <a:p>
            <a:pPr algn="ctr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1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Explosión de AR en el entretenimiento y en el público en general.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965812" y="3331543"/>
            <a:ext cx="2719236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Gafas AR, 5G, AI </a:t>
            </a:r>
          </a:p>
          <a:p>
            <a:pPr algn="ctr">
              <a:lnSpc>
                <a:spcPts val="2799"/>
              </a:lnSpc>
            </a:pPr>
          </a:p>
          <a:p>
            <a:pPr algn="ctr">
              <a:lnSpc>
                <a:spcPts val="2799"/>
              </a:lnSpc>
            </a:pP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AR en dispositivos más sofisticados y en el uso cotidiano.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72011" y="8848281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7486" y="797757"/>
            <a:ext cx="1533302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¿Dónde se usa la Realidad Aumentada?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5667" y="3855282"/>
            <a:ext cx="12642554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77486" y="3011921"/>
            <a:ext cx="430789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Entretenimiento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95667" y="3796855"/>
            <a:ext cx="15333028" cy="522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Juegos como Pokémon Go: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Pokémon Go es uno de los ejemplos más populares de cómo AR puede transformar la experiencia de juego. Los jugadores exploran el mundo real mientras interactúan con cr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ura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s vi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rtuales que parecen estar ubicadas en el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mu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do fí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ic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, utilizando la cámara y los sensores de los teléfonos móviles.</a:t>
            </a:r>
          </a:p>
          <a:p>
            <a:pPr algn="just">
              <a:lnSpc>
                <a:spcPts val="4199"/>
              </a:lnSpc>
            </a:pPr>
          </a:p>
          <a:p>
            <a:pPr algn="just" marL="647695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Aplicaci</a:t>
            </a:r>
            <a:r>
              <a:rPr lang="en-US" b="true" sz="2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ones de AR para visualización de objetos en 3D: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Además de juegos, AR se usa para ver objetos 3D sobrepuestos a la realidad, como en aplicaciones de muebles (ej. IKEA 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ce), do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de 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s 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usuarios pueden ver cómo un mueble quedaría en su hogar antes de comprarlo.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72011" y="8848281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7486" y="797757"/>
            <a:ext cx="1533302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¿Dónde se usa la Realidad Aumentada?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5667" y="3855282"/>
            <a:ext cx="12642554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77486" y="3011921"/>
            <a:ext cx="430789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Educación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95667" y="3796855"/>
            <a:ext cx="15333028" cy="470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Aplicaciones educativas interactivas: 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 AR ofrece herramientas poderosas para facilitar el aprendizaje. Las aplicaciones educativas pueden mostrar modelos 3D de conceptos abstractos o complejos, como el sistema solar, las células, o los mecanismos de una máquina.</a:t>
            </a:r>
          </a:p>
          <a:p>
            <a:pPr algn="just">
              <a:lnSpc>
                <a:spcPts val="4199"/>
              </a:lnSpc>
            </a:pP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Ejemplo: 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Las aplicaciones como Google Expeditions permiten a los estudiantes hacer recorridos virtuales por lugares históricos, explorar el cuerpo humano en 3D, o visualizar conceptos de física y química en un entorno interactivo.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72011" y="8848281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7486" y="797757"/>
            <a:ext cx="1533302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¿Dónde se usa la Realidad Aumentada?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5667" y="3855282"/>
            <a:ext cx="12642554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77486" y="3011921"/>
            <a:ext cx="430789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Marketing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95667" y="4087375"/>
            <a:ext cx="15333028" cy="470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Publicidad interactiva con AR: 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Las marcas están utilizando AR para crear experiencias publicitarias innovadoras. Los anuncios de AR permiten a los consumidores interactuar con productos o servicios de manera virtual antes de comprarlos.</a:t>
            </a:r>
          </a:p>
          <a:p>
            <a:pPr algn="just">
              <a:lnSpc>
                <a:spcPts val="4199"/>
              </a:lnSpc>
            </a:pP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Ejemplo: </a:t>
            </a: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Marcas como L’Oreal o Sephora ofrecen experiencias de AR donde los usuarios pueden probarse productos de belleza (como maquillaje) de forma virtual. Otras marcas permiten que los usuarios vean productos en 3D o personalicen productos en tiempo real a través de sus dispositivos móviles.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72011" y="9123079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7486" y="659054"/>
            <a:ext cx="1533302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¿Dónde se usa la Realidad Aumentada?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5667" y="4087501"/>
            <a:ext cx="12642554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77486" y="2697404"/>
            <a:ext cx="430789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Industria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95667" y="3429000"/>
            <a:ext cx="15333028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Diseño industrial: 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Los diseñadores utilizan AR para visualizar modelos 3D de productos o piezas antes de fabricarlas, permitiendo ajustar diseños en tiempo real y mejorar el proceso de prototipado.</a:t>
            </a:r>
          </a:p>
          <a:p>
            <a:pPr algn="just">
              <a:lnSpc>
                <a:spcPts val="3599"/>
              </a:lnSpc>
            </a:pPr>
          </a:p>
          <a:p>
            <a:pPr algn="just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Mantenimiento de equipos: 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 AR facilita la reparación y mantenimiento de maquinaria, proporcionando a los técnicos superposiciones de información sobre el equipo (como manuales o instrucciones paso a paso) a través de lentes inteligentes o dispositivos móviles.</a:t>
            </a:r>
          </a:p>
          <a:p>
            <a:pPr algn="just">
              <a:lnSpc>
                <a:spcPts val="3599"/>
              </a:lnSpc>
            </a:pPr>
          </a:p>
          <a:p>
            <a:pPr algn="just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Visualización arquitectónica: 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Los arquitectos y diseñadores pueden utilizar AR para mostrar a los clientes cómo se verá un edificio o una estructura en un entorno real. Esto les ayuda a tomar decisiones más informadas sobre diseño y planificación.</a:t>
            </a:r>
          </a:p>
          <a:p>
            <a:pPr algn="just">
              <a:lnSpc>
                <a:spcPts val="359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05467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4374" y="1980368"/>
            <a:ext cx="17039252" cy="724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Realidad Aumentada (AR):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Tecnología que añade información digital al entorno físico en ti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empo real, sin reemplazarlo.</a:t>
            </a:r>
          </a:p>
          <a:p>
            <a:pPr algn="just">
              <a:lnSpc>
                <a:spcPts val="1399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 vs. Realidad Virtual (RV):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AR complementa el mundo real; RV lo sustituye por completo.</a:t>
            </a:r>
          </a:p>
          <a:p>
            <a:pPr algn="just">
              <a:lnSpc>
                <a:spcPts val="1399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Tecnologías de AR: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Uso de cámaras, sensores, software, procesad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ores y pantalla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s para fusionar lo digital con lo físico.</a:t>
            </a:r>
          </a:p>
          <a:p>
            <a:pPr algn="just">
              <a:lnSpc>
                <a:spcPts val="1399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Aplicaciones de AR: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Utilizada en juegos, educación, marketing, industria y visualización arquitectónica.</a:t>
            </a:r>
          </a:p>
          <a:p>
            <a:pPr algn="just">
              <a:lnSpc>
                <a:spcPts val="1399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</a:t>
            </a: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istoria y evolución: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Desde los primeros experimentos en los años 60 hasta su expansión masiva en móviles y el entretenimiento actual.</a:t>
            </a:r>
          </a:p>
          <a:p>
            <a:pPr algn="just">
              <a:lnSpc>
                <a:spcPts val="1399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Integración con IA y s</a:t>
            </a: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imulación: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Permite probar comportamientos lógicos y sistemas inteligentes en entornos visuales interactivos.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12826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Valores y Actitudes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1821917"/>
            <a:ext cx="14233665" cy="741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Ética y Responsabilidad</a:t>
            </a: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Tecnológica: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Reflexión crítica sobre el impacto de la AR en la privacidad, la seguridad y el bienestar de las personas. Uso responsable de tecnologías inmersivas.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Pensamiento Crítico y Lógico</a:t>
            </a: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Evaluación de cómo la información digital se integra en contextos reales. Capacidad para analizar y diseñar interacciones coherentes en entornos aumentados.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Creatividad y Solución de Problemas: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Aplicación innovadora de la AR en sectores diversos (educación, salud, industria). Diseño de experiencias inmersivas que resuelvan problemas reales.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Colaboración Multidisciplinaria: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Trabajo conjunto con diseñadores, programadores, expertos en UX/UI y otros profesionales para crear aplicaciones AR funcionales y atractivas.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167326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4268899"/>
            <a:ext cx="14233665" cy="147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ssell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,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S., &amp; Norvig, 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 (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20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6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). 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icial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nte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ence: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M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dern 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ch (3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.).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on.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446254"/>
            <a:ext cx="8658828" cy="243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b="true" sz="60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5000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098" y="7890210"/>
            <a:ext cx="1346580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DAGn8l0tC0o</dc:identifier>
  <dcterms:modified xsi:type="dcterms:W3CDTF">2011-08-01T06:04:30Z</dcterms:modified>
  <cp:revision>1</cp:revision>
  <dc:title>Clase 05</dc:title>
</cp:coreProperties>
</file>