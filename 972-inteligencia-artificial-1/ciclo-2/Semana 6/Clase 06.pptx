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rial Bold" charset="1" panose="020B0802020202020204"/>
      <p:regular r:id="rId25"/>
    </p:embeddedFont>
    <p:embeddedFont>
      <p:font typeface="Arimo" charset="1" panose="020B0604020202020204"/>
      <p:regular r:id="rId26"/>
    </p:embeddedFont>
    <p:embeddedFont>
      <p:font typeface="Arial" charset="1" panose="020B0502020202020204"/>
      <p:regular r:id="rId27"/>
    </p:embeddedFont>
    <p:embeddedFont>
      <p:font typeface="HK Grotesk Medium" charset="1" panose="00000600000000000000"/>
      <p:regular r:id="rId28"/>
    </p:embeddedFont>
    <p:embeddedFont>
      <p:font typeface="HK Grotesk Bold" charset="1" panose="00000800000000000000"/>
      <p:regular r:id="rId29"/>
    </p:embeddedFont>
    <p:embeddedFont>
      <p:font typeface="HK Grotesk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02" y="0"/>
            <a:ext cx="18254198" cy="10287002"/>
          </a:xfrm>
          <a:custGeom>
            <a:avLst/>
            <a:gdLst/>
            <a:ahLst/>
            <a:cxnLst/>
            <a:rect r="r" b="b" t="t" l="l"/>
            <a:pathLst>
              <a:path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800"/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656400" y="1940050"/>
          <a:ext cx="7366000" cy="1547812"/>
        </p:xfrm>
        <a:graphic>
          <a:graphicData uri="http://schemas.openxmlformats.org/drawingml/2006/table">
            <a:tbl>
              <a:tblPr/>
              <a:tblGrid>
                <a:gridCol w="3030168"/>
                <a:gridCol w="4335832"/>
              </a:tblGrid>
              <a:tr h="773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Día, Fecha: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Viernes, XX-XX-XXXX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864138" y="4529138"/>
            <a:ext cx="951329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Inteligencia Artificial 1</a:t>
            </a:r>
            <a:r>
              <a:rPr lang="en-US" b="true" sz="5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[A]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17834" y="5845971"/>
            <a:ext cx="700590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Robin Omar Buezo Díaz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952267"/>
            <a:ext cx="16230600" cy="8382465"/>
            <a:chOff x="0" y="0"/>
            <a:chExt cx="6045684" cy="3122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45684" cy="3122357"/>
            </a:xfrm>
            <a:custGeom>
              <a:avLst/>
              <a:gdLst/>
              <a:ahLst/>
              <a:cxnLst/>
              <a:rect r="r" b="b" t="t" l="l"/>
              <a:pathLst>
                <a:path h="3122357" w="6045684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9753A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74539" y="8993151"/>
            <a:ext cx="4284389" cy="1567256"/>
            <a:chOff x="0" y="0"/>
            <a:chExt cx="1128399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399" cy="412775"/>
            </a:xfrm>
            <a:custGeom>
              <a:avLst/>
              <a:gdLst/>
              <a:ahLst/>
              <a:cxnLst/>
              <a:rect r="r" b="b" t="t" l="l"/>
              <a:pathLst>
                <a:path h="412775" w="1128399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9254" cy="412775"/>
            </a:xfrm>
            <a:custGeom>
              <a:avLst/>
              <a:gdLst/>
              <a:ahLst/>
              <a:cxnLst/>
              <a:rect r="r" b="b" t="t" l="l"/>
              <a:pathLst>
                <a:path h="412775" w="1839254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5400000">
            <a:off x="10540746" y="-52264"/>
            <a:ext cx="11547949" cy="9406329"/>
          </a:xfrm>
          <a:custGeom>
            <a:avLst/>
            <a:gdLst/>
            <a:ahLst/>
            <a:cxnLst/>
            <a:rect r="r" b="b" t="t" l="l"/>
            <a:pathLst>
              <a:path h="9406329" w="1154794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18001" y="6620396"/>
            <a:ext cx="9224082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Escuela de Ingenieria de Ciencias Y Sistemas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Facultad de Ingenieria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Universidad de San Carlos de Guatemala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118001" y="3415707"/>
            <a:ext cx="11119114" cy="121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8000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Clase 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76" y="2365657"/>
            <a:ext cx="11052439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b="true" sz="5500" spc="4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INTELIGENCIA ARTIFICIAL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18001" y="857436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13553005" y="935761"/>
            <a:ext cx="5036482" cy="5036482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4602740" y="4540846"/>
            <a:ext cx="1216428" cy="1216428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2944791" y="7512571"/>
            <a:ext cx="2942644" cy="2942644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1473469" y="9776779"/>
            <a:ext cx="2942644" cy="2942644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2118001" y="4721267"/>
            <a:ext cx="784282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Realidad Aumentada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796956" cy="304692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515035" y="5489862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3871465" y="-189523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99395" y="3078596"/>
            <a:ext cx="6464263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Actividad</a:t>
            </a:r>
          </a:p>
          <a:p>
            <a:pPr algn="l">
              <a:lnSpc>
                <a:spcPts val="4200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UEDI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89083" y="1511090"/>
            <a:ext cx="4271494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Agenda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06974" y="8506847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34003" y="3078596"/>
            <a:ext cx="6464263" cy="481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Recordatorios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Temas</a:t>
            </a:r>
          </a:p>
          <a:p>
            <a:pPr algn="l">
              <a:lnSpc>
                <a:spcPts val="4200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Plataformas de Desarrollo de Realidad Aumentada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08934" y="1511090"/>
            <a:ext cx="4271494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Recursos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7AC3F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74889" y="1409214"/>
            <a:ext cx="13991174" cy="88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b="true" sz="6098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COMPETENCIA(S) Que desarrollaremos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57547" y="3698875"/>
            <a:ext cx="12569573" cy="2803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Evalúa plataformas de realidad aumentada usando criterios de compatibilidad, usabilidad y eficiencia</a:t>
            </a: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bajo escenarios de prueba en dispositivos móviles y navegadores web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00914" y="1195318"/>
            <a:ext cx="5292356" cy="3526032"/>
          </a:xfrm>
          <a:custGeom>
            <a:avLst/>
            <a:gdLst/>
            <a:ahLst/>
            <a:cxnLst/>
            <a:rect r="r" b="b" t="t" l="l"/>
            <a:pathLst>
              <a:path h="3526032" w="5292356">
                <a:moveTo>
                  <a:pt x="0" y="0"/>
                </a:moveTo>
                <a:lnTo>
                  <a:pt x="5292356" y="0"/>
                </a:lnTo>
                <a:lnTo>
                  <a:pt x="5292356" y="3526032"/>
                </a:lnTo>
                <a:lnTo>
                  <a:pt x="0" y="35260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77486" y="1029522"/>
            <a:ext cx="9440751" cy="385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Plataformas de Realidad Aumentada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7486" y="5041455"/>
            <a:ext cx="15333028" cy="313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La realidad aumentada (RA) es una tecnología que permite superponer elementos digitales (como imágenes, videos o sonidos) en el mundo real, utilizando dispositivos como smartphones, tablets, gafas o cascos especializados. Existen varias plataformas que nos permiten el desarrollo de RA y a través de las cuales, los usuarios pueden interactuar con un entorno físico mientras reciben información digital adicional, creando una experiencia combinada y enriquecida.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738729" y="1461839"/>
            <a:ext cx="4475708" cy="2237854"/>
          </a:xfrm>
          <a:custGeom>
            <a:avLst/>
            <a:gdLst/>
            <a:ahLst/>
            <a:cxnLst/>
            <a:rect r="r" b="b" t="t" l="l"/>
            <a:pathLst>
              <a:path h="2237854" w="4475708">
                <a:moveTo>
                  <a:pt x="0" y="0"/>
                </a:moveTo>
                <a:lnTo>
                  <a:pt x="4475708" y="0"/>
                </a:lnTo>
                <a:lnTo>
                  <a:pt x="4475708" y="2237855"/>
                </a:lnTo>
                <a:lnTo>
                  <a:pt x="0" y="22378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068476" y="1814680"/>
            <a:ext cx="5797963" cy="152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14"/>
              </a:lnSpc>
            </a:pPr>
            <a:r>
              <a:rPr lang="en-US" b="true" sz="9928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ARKit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7486" y="4703124"/>
            <a:ext cx="15333028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24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ARKit es el kit de desarrollo de Apple para crear aplicaciones de RA. Utiliza el hardware de los dispositivos Apple, como la cámara y los sensores, para detectar el entorno y colocar objetos virtuales en él. Ofrece características avanzadas como la detección de superficies, seguimiento de movimiento y oclusión (es decir, la capacidad de ocultar objetos virtuales detrás de elementos reales).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024785" y="1715875"/>
            <a:ext cx="4568412" cy="2517288"/>
          </a:xfrm>
          <a:custGeom>
            <a:avLst/>
            <a:gdLst/>
            <a:ahLst/>
            <a:cxnLst/>
            <a:rect r="r" b="b" t="t" l="l"/>
            <a:pathLst>
              <a:path h="2517288" w="4568412">
                <a:moveTo>
                  <a:pt x="0" y="0"/>
                </a:moveTo>
                <a:lnTo>
                  <a:pt x="4568412" y="0"/>
                </a:lnTo>
                <a:lnTo>
                  <a:pt x="4568412" y="2517288"/>
                </a:lnTo>
                <a:lnTo>
                  <a:pt x="0" y="2517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757963" y="2082468"/>
            <a:ext cx="5933600" cy="178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8"/>
              </a:lnSpc>
            </a:pPr>
            <a:r>
              <a:rPr lang="en-US" b="true" sz="11706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ARCore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91038" y="4820472"/>
            <a:ext cx="14905924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ARCore es el equivalente de ARKit para dispositivos Android. Permite a los desarrolladores integrar características de realidad aumentada en sus aplicaciones Android, como el rastreo de movimiento, la estimación de luz ambiental y la detección de planos horizontales y verticales.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839591" y="1495822"/>
            <a:ext cx="5459039" cy="2169890"/>
          </a:xfrm>
          <a:custGeom>
            <a:avLst/>
            <a:gdLst/>
            <a:ahLst/>
            <a:cxnLst/>
            <a:rect r="r" b="b" t="t" l="l"/>
            <a:pathLst>
              <a:path h="2169890" w="5459039">
                <a:moveTo>
                  <a:pt x="0" y="0"/>
                </a:moveTo>
                <a:lnTo>
                  <a:pt x="5459039" y="0"/>
                </a:lnTo>
                <a:lnTo>
                  <a:pt x="5459039" y="2169889"/>
                </a:lnTo>
                <a:lnTo>
                  <a:pt x="0" y="21698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8981" r="0" b="-3523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068476" y="1814680"/>
            <a:ext cx="5797963" cy="152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14"/>
              </a:lnSpc>
            </a:pPr>
            <a:r>
              <a:rPr lang="en-US" b="true" sz="9928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Vuforia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7486" y="4599161"/>
            <a:ext cx="1533302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24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Vuforia es una de las plataformas más populares para el desarrollo de RA. Permite a los desarrolladores crear experiencias interactivas mediante el reconocimiento de imágenes y objetos. Es compatible con Unity, lo que facilita la integración de experiencias de RA en videojuegos y aplicaciones.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854048" y="1838371"/>
            <a:ext cx="4165877" cy="2272297"/>
          </a:xfrm>
          <a:custGeom>
            <a:avLst/>
            <a:gdLst/>
            <a:ahLst/>
            <a:cxnLst/>
            <a:rect r="r" b="b" t="t" l="l"/>
            <a:pathLst>
              <a:path h="2272297" w="4165877">
                <a:moveTo>
                  <a:pt x="0" y="0"/>
                </a:moveTo>
                <a:lnTo>
                  <a:pt x="4165877" y="0"/>
                </a:lnTo>
                <a:lnTo>
                  <a:pt x="4165877" y="2272296"/>
                </a:lnTo>
                <a:lnTo>
                  <a:pt x="0" y="22722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56916" y="1949334"/>
            <a:ext cx="6487084" cy="205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72"/>
              </a:lnSpc>
            </a:pPr>
            <a:r>
              <a:rPr lang="en-US" b="true" sz="6726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Microsoft HoloLens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91038" y="4820472"/>
            <a:ext cx="14905924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HoloLens es un dispositivo de realidad mixta de Microsoft que combina RA y realidad virtual. A través de gafas especiales, los usuarios pueden interactuar con objetos virtuales en su entorno físico. Esta plataforma está orientada principalmente a empresas y aplicaciones industriales, ofreciendo soluciones para la visualización de datos, el diseño y la colaboración remota.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541640" y="1204102"/>
            <a:ext cx="2244562" cy="2753329"/>
          </a:xfrm>
          <a:custGeom>
            <a:avLst/>
            <a:gdLst/>
            <a:ahLst/>
            <a:cxnLst/>
            <a:rect r="r" b="b" t="t" l="l"/>
            <a:pathLst>
              <a:path h="2753329" w="2244562">
                <a:moveTo>
                  <a:pt x="0" y="0"/>
                </a:moveTo>
                <a:lnTo>
                  <a:pt x="2244561" y="0"/>
                </a:lnTo>
                <a:lnTo>
                  <a:pt x="2244561" y="2753329"/>
                </a:lnTo>
                <a:lnTo>
                  <a:pt x="0" y="27533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176719" y="1812431"/>
            <a:ext cx="5797963" cy="152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14"/>
              </a:lnSpc>
            </a:pPr>
            <a:r>
              <a:rPr lang="en-US" b="true" sz="9928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Spark 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7486" y="4402580"/>
            <a:ext cx="15333028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24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Spark AR es una plataforma de Facebook que permite crear filtros y efectos de RA para Instagram y Facebook. A través de herramientas de diseño fáciles de usar, los usuarios pueden desarrollar efectos personalizados que interactúan con la cámara del dispositivo. Esta plataforma es muy popular para creadores de contenido y marcas que desean integrar efectos visuales en las redes sociales.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040202" y="1432759"/>
            <a:ext cx="3083520" cy="3083520"/>
          </a:xfrm>
          <a:custGeom>
            <a:avLst/>
            <a:gdLst/>
            <a:ahLst/>
            <a:cxnLst/>
            <a:rect r="r" b="b" t="t" l="l"/>
            <a:pathLst>
              <a:path h="3083520" w="3083520">
                <a:moveTo>
                  <a:pt x="0" y="0"/>
                </a:moveTo>
                <a:lnTo>
                  <a:pt x="3083520" y="0"/>
                </a:lnTo>
                <a:lnTo>
                  <a:pt x="3083520" y="3083520"/>
                </a:lnTo>
                <a:lnTo>
                  <a:pt x="0" y="30835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309640" y="2410015"/>
            <a:ext cx="6142882" cy="1346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8"/>
              </a:lnSpc>
            </a:pPr>
            <a:r>
              <a:rPr lang="en-US" b="true" sz="877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Lens Studio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91038" y="5076825"/>
            <a:ext cx="14905924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Lens Studio es la herramienta de creación de efectos de RA para Snapchat. Los desarrolladores pueden crear "lentes" (filtros) que interactúan con el rostro o el entorno del usuario. Es una plataforma popular para contenido divertido y creativo, permitiendo a los usuarios agregar efectos a sus fotos y videos.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352051" y="1166184"/>
            <a:ext cx="2824668" cy="2824668"/>
          </a:xfrm>
          <a:custGeom>
            <a:avLst/>
            <a:gdLst/>
            <a:ahLst/>
            <a:cxnLst/>
            <a:rect r="r" b="b" t="t" l="l"/>
            <a:pathLst>
              <a:path h="2824668" w="2824668">
                <a:moveTo>
                  <a:pt x="0" y="0"/>
                </a:moveTo>
                <a:lnTo>
                  <a:pt x="2824668" y="0"/>
                </a:lnTo>
                <a:lnTo>
                  <a:pt x="2824668" y="2824668"/>
                </a:lnTo>
                <a:lnTo>
                  <a:pt x="0" y="2824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176719" y="1754284"/>
            <a:ext cx="6316572" cy="164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80"/>
              </a:lnSpc>
            </a:pPr>
            <a:r>
              <a:rPr lang="en-US" b="true" sz="10816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Zappar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7486" y="4935980"/>
            <a:ext cx="1533302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24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Zappar es una plataforma que permite crear experiencias de RA tanto para marketing como para entretenimiento. Ofrece herramientas para crear contenido interactivo a través de códigos QR y marcas visuales, lo que permite a los usuarios escanear objetos o imágenes para revelar experiencias digitales.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262966" y="1387545"/>
            <a:ext cx="3715293" cy="3401152"/>
          </a:xfrm>
          <a:custGeom>
            <a:avLst/>
            <a:gdLst/>
            <a:ahLst/>
            <a:cxnLst/>
            <a:rect r="r" b="b" t="t" l="l"/>
            <a:pathLst>
              <a:path h="3401152" w="3715293">
                <a:moveTo>
                  <a:pt x="0" y="0"/>
                </a:moveTo>
                <a:lnTo>
                  <a:pt x="3715294" y="0"/>
                </a:lnTo>
                <a:lnTo>
                  <a:pt x="3715294" y="3401152"/>
                </a:lnTo>
                <a:lnTo>
                  <a:pt x="0" y="3401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659" t="0" r="-37711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10464" y="2317837"/>
            <a:ext cx="5497715" cy="154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30"/>
              </a:lnSpc>
            </a:pPr>
            <a:r>
              <a:rPr lang="en-US" b="true" sz="10108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Blippar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91038" y="5236524"/>
            <a:ext cx="14905924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Blippar es una plataforma de RA que permite crear experiencias interactivas al escanear productos, imágenes o anuncios. Está orientada a la publicidad y el marketing, y permite a las marcas ofrecer experiencias inmersivas a los consumidores.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888743" y="1122298"/>
            <a:ext cx="3102732" cy="2912440"/>
          </a:xfrm>
          <a:custGeom>
            <a:avLst/>
            <a:gdLst/>
            <a:ahLst/>
            <a:cxnLst/>
            <a:rect r="r" b="b" t="t" l="l"/>
            <a:pathLst>
              <a:path h="2912440" w="3102732">
                <a:moveTo>
                  <a:pt x="0" y="0"/>
                </a:moveTo>
                <a:lnTo>
                  <a:pt x="3102732" y="0"/>
                </a:lnTo>
                <a:lnTo>
                  <a:pt x="3102732" y="2912440"/>
                </a:lnTo>
                <a:lnTo>
                  <a:pt x="0" y="29124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5792" t="0" r="-31082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411485" y="1754284"/>
            <a:ext cx="3720920" cy="164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80"/>
              </a:lnSpc>
            </a:pPr>
            <a:r>
              <a:rPr lang="en-US" b="true" sz="10816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AR.js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7486" y="4935980"/>
            <a:ext cx="15333028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24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AR.js es una biblioteca de JavaScript de código abierto que permite integrar experiencias de realidad aumentada (RA) en páginas web utilizando WebGL y WebRTC. Está diseñada para ser eficiente, rápida y fácil de usar, permitiendo a los desarrolladores crear aplicaciones de RA que se ejecuten directamente en el navegador, sin necesidad de aplicaciones nativas.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949674" y="1885504"/>
            <a:ext cx="3325604" cy="2405234"/>
          </a:xfrm>
          <a:custGeom>
            <a:avLst/>
            <a:gdLst/>
            <a:ahLst/>
            <a:cxnLst/>
            <a:rect r="r" b="b" t="t" l="l"/>
            <a:pathLst>
              <a:path h="2405234" w="3325604">
                <a:moveTo>
                  <a:pt x="0" y="0"/>
                </a:moveTo>
                <a:lnTo>
                  <a:pt x="3325603" y="0"/>
                </a:lnTo>
                <a:lnTo>
                  <a:pt x="3325603" y="2405234"/>
                </a:lnTo>
                <a:lnTo>
                  <a:pt x="0" y="24052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860797" y="2317837"/>
            <a:ext cx="5497715" cy="154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30"/>
              </a:lnSpc>
            </a:pPr>
            <a:r>
              <a:rPr lang="en-US" b="true" sz="10108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MindAR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14928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91038" y="4820472"/>
            <a:ext cx="14905924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MindAR es una plataforma basada en JavaScript que facilita la creación de experiencias de realidad aumentada en la web sin necesidad de una aplicación nativa. Utiliza una arquitectura sencilla y eficiente para hacer que la implementación de la realidad aumentada sea accesible a los desarrolladores web, incluso aquellos sin mucha experiencia en RA. Su objetivo es hacer que las experiencias de RA sean más fáciles de crear y distribuir en la web.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92343" y="705467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Conceptos Clave Aprendidos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4374" y="1795508"/>
            <a:ext cx="17039252" cy="7458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Realidad Aumentada (RA):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Tecnología que superpone elementos digitales sobre el entorno físico en ti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empo real mediante dispositivos como smartphones, tablets, gafas o navegadores web.</a:t>
            </a:r>
          </a:p>
          <a:p>
            <a:pPr algn="just">
              <a:lnSpc>
                <a:spcPts val="4200"/>
              </a:lnSpc>
            </a:pPr>
          </a:p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Plataformas de desarrollo AR: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Existen múltiples plataformas especializadas en el desarrollo de experiencias RA, adaptadas a distintos sistemas operativos, públicos y objetivos.</a:t>
            </a:r>
          </a:p>
          <a:p>
            <a:pPr algn="just">
              <a:lnSpc>
                <a:spcPts val="4200"/>
              </a:lnSpc>
            </a:pPr>
          </a:p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Func</a:t>
            </a: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ionalidad compartida: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Las plataformas permiten rastreo espacial, interacción con el usuario, proyección de contenido digital y fusión entre lo virtual y lo real.</a:t>
            </a:r>
          </a:p>
          <a:p>
            <a:pPr algn="just">
              <a:lnSpc>
                <a:spcPts val="4200"/>
              </a:lnSpc>
            </a:pPr>
          </a:p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Accesibilidad y distribución: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Plataformas web como AR.js y MindAR democratizan el acceso a la RA, permitiendo su uso desde cualquier navegador moderno sin necesidad de instalar apps.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92343" y="712826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Valores y Actitudes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831442"/>
            <a:ext cx="16230600" cy="740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43" indent="-291471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Curiosidad</a:t>
            </a:r>
            <a:r>
              <a:rPr lang="en-US" b="true" sz="27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tecnológica y actualización constante: </a:t>
            </a:r>
            <a:r>
              <a:rPr lang="en-US" sz="2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Comprensión y exploración crítica de nuevas herramientas y plataformas de RA. Evaluar sus capacidades, limitaciones y áreas de aplicación.</a:t>
            </a:r>
          </a:p>
          <a:p>
            <a:pPr algn="just">
              <a:lnSpc>
                <a:spcPts val="1260"/>
              </a:lnSpc>
            </a:pPr>
          </a:p>
          <a:p>
            <a:pPr algn="just" marL="582943" indent="-291471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Adaptabilidad e innovación: </a:t>
            </a:r>
            <a:r>
              <a:rPr lang="en-US" sz="2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Capacidad para seleccionar la plataforma adecuada según el proyecto, el dispositivo y el público objetivo. Buscar soluciones creativas para probl</a:t>
            </a:r>
            <a:r>
              <a:rPr lang="en-US" sz="2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emas reales mediante la RA.</a:t>
            </a:r>
          </a:p>
          <a:p>
            <a:pPr algn="just">
              <a:lnSpc>
                <a:spcPts val="1260"/>
              </a:lnSpc>
            </a:pPr>
          </a:p>
          <a:p>
            <a:pPr algn="just" marL="582943" indent="-291471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Ética y responsabilidad digital</a:t>
            </a:r>
            <a:r>
              <a:rPr lang="en-US" b="true" sz="27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: </a:t>
            </a:r>
            <a:r>
              <a:rPr lang="en-US" sz="2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Considerar el impacto del uso de plataformas RA en la privacidad de los usuarios, el uso de datos personales y la manipulación visual. Garantizar una implementación segura y respetuosa.</a:t>
            </a:r>
          </a:p>
          <a:p>
            <a:pPr algn="just">
              <a:lnSpc>
                <a:spcPts val="1260"/>
              </a:lnSpc>
            </a:pPr>
          </a:p>
          <a:p>
            <a:pPr algn="just" marL="582943" indent="-291471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Colaboración interdisciplinaria: </a:t>
            </a:r>
            <a:r>
              <a:rPr lang="en-US" sz="2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Reconocer que el desarrollo de experiencias RA involucra no solo programadores, sino también diseñadores, artistas, expertos en UX y otros profesionales. Fomentar el trabajo en equipo y la comunicación efectiva.</a:t>
            </a:r>
          </a:p>
          <a:p>
            <a:pPr algn="just">
              <a:lnSpc>
                <a:spcPts val="1260"/>
              </a:lnSpc>
            </a:pPr>
          </a:p>
          <a:p>
            <a:pPr algn="just" marL="582943" indent="-291471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Pensamiento lógico y crítico: </a:t>
            </a:r>
            <a:r>
              <a:rPr lang="en-US" sz="2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Evaluar qué plataforma es más adecuada para cada caso. Comprender los fundamentos técnicos detrás de la RA para diseñar experiencias coherentes, funcionales y significativas.</a:t>
            </a:r>
          </a:p>
          <a:p>
            <a:pPr algn="just">
              <a:lnSpc>
                <a:spcPts val="1260"/>
              </a:lnSpc>
            </a:pPr>
          </a:p>
          <a:p>
            <a:pPr algn="just" marL="582943" indent="-291471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Creatividad con propósito: </a:t>
            </a:r>
            <a:r>
              <a:rPr lang="en-US" sz="27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Uso de las plataformas RA no solo para entretenimiento, sino para generar valor en áreas como la educación, la salud, la cultura, el turismo y la inclusión.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92343" y="1673265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Referencias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27167" y="4268899"/>
            <a:ext cx="14233665" cy="147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ssell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,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S., &amp; Norvig, 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. (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20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1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6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). Ar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icial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nte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ence: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 M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dern A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ch (3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.).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on.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37795" y="3446254"/>
            <a:ext cx="8658828" cy="2438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43"/>
              </a:lnSpc>
            </a:pPr>
            <a:r>
              <a:rPr lang="en-US" b="true" sz="60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¡GRACIAS POR su  ATENCIÓN!</a:t>
            </a:r>
          </a:p>
          <a:p>
            <a:pPr algn="just">
              <a:lnSpc>
                <a:spcPts val="634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414714" y="5958103"/>
            <a:ext cx="6704991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b="true" sz="5000" spc="4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DUDAS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963751" y="1028700"/>
            <a:ext cx="2757268" cy="3770970"/>
          </a:xfrm>
          <a:custGeom>
            <a:avLst/>
            <a:gdLst/>
            <a:ahLst/>
            <a:cxnLst/>
            <a:rect r="r" b="b" t="t" l="l"/>
            <a:pathLst>
              <a:path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11098" y="7890210"/>
            <a:ext cx="1346580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DAGn8kbC9KQ</dc:identifier>
  <dcterms:modified xsi:type="dcterms:W3CDTF">2011-08-01T06:04:30Z</dcterms:modified>
  <cp:revision>1</cp:revision>
  <dc:title>Clase 06</dc:title>
</cp:coreProperties>
</file>