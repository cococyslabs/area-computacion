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x="18288000" cy="10287000"/>
  <p:notesSz cx="6858000" cy="9144000"/>
  <p:embeddedFontLst>
    <p:embeddedFont>
      <p:font typeface="Arial Bold" charset="1" panose="020B0802020202020204"/>
      <p:regular r:id="rId30"/>
    </p:embeddedFont>
    <p:embeddedFont>
      <p:font typeface="Arimo" charset="1" panose="020B0604020202020204"/>
      <p:regular r:id="rId31"/>
    </p:embeddedFont>
    <p:embeddedFont>
      <p:font typeface="Arial" charset="1" panose="020B0502020202020204"/>
      <p:regular r:id="rId32"/>
    </p:embeddedFont>
    <p:embeddedFont>
      <p:font typeface="HK Grotesk Medium" charset="1" panose="00000600000000000000"/>
      <p:regular r:id="rId33"/>
    </p:embeddedFont>
    <p:embeddedFont>
      <p:font typeface="HK Grotesk Bold" charset="1" panose="00000800000000000000"/>
      <p:regular r:id="rId34"/>
    </p:embeddedFont>
    <p:embeddedFont>
      <p:font typeface="HK Grotesk" charset="1" panose="00000500000000000000"/>
      <p:regular r:id="rId35"/>
    </p:embeddedFont>
    <p:embeddedFont>
      <p:font typeface="Open Sauce Bold" charset="1" panose="00000800000000000000"/>
      <p:regular r:id="rId3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32" Target="fonts/font32.fntdata" Type="http://schemas.openxmlformats.org/officeDocument/2006/relationships/font"/><Relationship Id="rId33" Target="fonts/font33.fntdata" Type="http://schemas.openxmlformats.org/officeDocument/2006/relationships/font"/><Relationship Id="rId34" Target="fonts/font34.fntdata" Type="http://schemas.openxmlformats.org/officeDocument/2006/relationships/font"/><Relationship Id="rId35" Target="fonts/font35.fntdata" Type="http://schemas.openxmlformats.org/officeDocument/2006/relationships/font"/><Relationship Id="rId36" Target="fonts/font36.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jpeg" Type="http://schemas.openxmlformats.org/officeDocument/2006/relationships/image"/><Relationship Id="rId3" Target="../media/image3.png" Type="http://schemas.openxmlformats.org/officeDocument/2006/relationships/image"/><Relationship Id="rId4"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 Id="rId5"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jpe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jpe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6902" y="0"/>
            <a:ext cx="18254198" cy="10287002"/>
          </a:xfrm>
          <a:custGeom>
            <a:avLst/>
            <a:gdLst/>
            <a:ahLst/>
            <a:cxnLst/>
            <a:rect r="r" b="b" t="t" l="l"/>
            <a:pathLst>
              <a:path h="10287002" w="18254198">
                <a:moveTo>
                  <a:pt x="0" y="0"/>
                </a:moveTo>
                <a:lnTo>
                  <a:pt x="18254198" y="0"/>
                </a:lnTo>
                <a:lnTo>
                  <a:pt x="18254198" y="10287002"/>
                </a:lnTo>
                <a:lnTo>
                  <a:pt x="0" y="10287002"/>
                </a:lnTo>
                <a:lnTo>
                  <a:pt x="0" y="0"/>
                </a:lnTo>
                <a:close/>
              </a:path>
            </a:pathLst>
          </a:custGeom>
          <a:blipFill>
            <a:blip r:embed="rId2">
              <a:alphaModFix amt="55800"/>
            </a:blip>
            <a:stretch>
              <a:fillRect l="0" t="0" r="0" b="0"/>
            </a:stretch>
          </a:blipFill>
        </p:spPr>
      </p:sp>
      <p:graphicFrame>
        <p:nvGraphicFramePr>
          <p:cNvPr name="Table 3" id="3"/>
          <p:cNvGraphicFramePr>
            <a:graphicFrameLocks noGrp="true"/>
          </p:cNvGraphicFramePr>
          <p:nvPr/>
        </p:nvGraphicFramePr>
        <p:xfrm>
          <a:off x="10656400" y="1940050"/>
          <a:ext cx="7366000" cy="1547812"/>
        </p:xfrm>
        <a:graphic>
          <a:graphicData uri="http://schemas.openxmlformats.org/drawingml/2006/table">
            <a:tbl>
              <a:tblPr/>
              <a:tblGrid>
                <a:gridCol w="3030168"/>
                <a:gridCol w="4335832"/>
              </a:tblGrid>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Día, Fecha:</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Viernes, XX-XX-XXXX</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r h="773906">
                <a:tc>
                  <a:txBody>
                    <a:bodyPr anchor="t" rtlCol="false"/>
                    <a:lstStyle/>
                    <a:p>
                      <a:pPr algn="l">
                        <a:lnSpc>
                          <a:spcPts val="3408"/>
                        </a:lnSpc>
                        <a:defRPr/>
                      </a:pPr>
                      <a:r>
                        <a:rPr lang="en-US" b="true" sz="2840">
                          <a:solidFill>
                            <a:srgbClr val="000000"/>
                          </a:solidFill>
                          <a:latin typeface="Arial Bold"/>
                          <a:ea typeface="Arial Bold"/>
                          <a:cs typeface="Arial Bold"/>
                          <a:sym typeface="Arial Bold"/>
                        </a:rPr>
                        <a:t>Hora de inicio:</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c>
                  <a:txBody>
                    <a:bodyPr anchor="t" rtlCol="false"/>
                    <a:lstStyle/>
                    <a:p>
                      <a:pPr algn="l">
                        <a:lnSpc>
                          <a:spcPts val="3976"/>
                        </a:lnSpc>
                        <a:defRPr/>
                      </a:pPr>
                      <a:r>
                        <a:rPr lang="en-US" sz="2840">
                          <a:solidFill>
                            <a:srgbClr val="000000"/>
                          </a:solidFill>
                          <a:latin typeface="Arimo"/>
                          <a:ea typeface="Arimo"/>
                          <a:cs typeface="Arimo"/>
                          <a:sym typeface="Arimo"/>
                        </a:rPr>
                        <a:t>19:00</a:t>
                      </a:r>
                      <a:endParaRPr lang="en-US" sz="1100"/>
                    </a:p>
                  </a:txBody>
                  <a:tcPr marL="91425" marR="91425" marT="91425" marB="91425" anchor="ctr">
                    <a:lnL cmpd="sng" algn="ctr" cap="flat" w="4762">
                      <a:solidFill>
                        <a:srgbClr val="000000"/>
                      </a:solidFill>
                      <a:prstDash val="solid"/>
                      <a:round/>
                      <a:headEnd type="none" w="med" len="med"/>
                      <a:tailEnd type="none" w="med" len="med"/>
                    </a:lnL>
                    <a:lnR cmpd="sng" algn="ctr" cap="flat" w="4762">
                      <a:solidFill>
                        <a:srgbClr val="000000"/>
                      </a:solidFill>
                      <a:prstDash val="solid"/>
                      <a:round/>
                      <a:headEnd type="none" w="med" len="med"/>
                      <a:tailEnd type="none" w="med" len="med"/>
                    </a:lnR>
                    <a:lnT cmpd="sng" algn="ctr" cap="flat" w="4762">
                      <a:solidFill>
                        <a:srgbClr val="000000"/>
                      </a:solidFill>
                      <a:prstDash val="solid"/>
                      <a:round/>
                      <a:headEnd type="none" w="med" len="med"/>
                      <a:tailEnd type="none" w="med" len="med"/>
                    </a:lnT>
                    <a:lnB cmpd="sng" algn="ctr" cap="flat" w="4762">
                      <a:solidFill>
                        <a:srgbClr val="000000"/>
                      </a:solidFill>
                      <a:prstDash val="solid"/>
                      <a:round/>
                      <a:headEnd type="none" w="med" len="med"/>
                      <a:tailEnd type="none" w="med" len="med"/>
                    </a:lnB>
                  </a:tcPr>
                </a:tc>
              </a:tr>
            </a:tbl>
          </a:graphicData>
        </a:graphic>
      </p:graphicFrame>
      <p:sp>
        <p:nvSpPr>
          <p:cNvPr name="TextBox 4" id="4"/>
          <p:cNvSpPr txBox="true"/>
          <p:nvPr/>
        </p:nvSpPr>
        <p:spPr>
          <a:xfrm rot="0">
            <a:off x="3864138" y="4529138"/>
            <a:ext cx="9513297" cy="1019175"/>
          </a:xfrm>
          <a:prstGeom prst="rect">
            <a:avLst/>
          </a:prstGeom>
        </p:spPr>
        <p:txBody>
          <a:bodyPr anchor="t" rtlCol="false" tIns="0" lIns="0" bIns="0" rIns="0">
            <a:spAutoFit/>
          </a:bodyPr>
          <a:lstStyle/>
          <a:p>
            <a:pPr algn="l">
              <a:lnSpc>
                <a:spcPts val="7199"/>
              </a:lnSpc>
            </a:pPr>
            <a:r>
              <a:rPr lang="en-US" b="true" sz="5999">
                <a:solidFill>
                  <a:srgbClr val="000000"/>
                </a:solidFill>
                <a:latin typeface="Arial Bold"/>
                <a:ea typeface="Arial Bold"/>
                <a:cs typeface="Arial Bold"/>
                <a:sym typeface="Arial Bold"/>
              </a:rPr>
              <a:t>Inteligencia Artificial 1</a:t>
            </a:r>
            <a:r>
              <a:rPr lang="en-US" b="true" sz="5999">
                <a:solidFill>
                  <a:srgbClr val="000000"/>
                </a:solidFill>
                <a:latin typeface="Arial Bold"/>
                <a:ea typeface="Arial Bold"/>
                <a:cs typeface="Arial Bold"/>
                <a:sym typeface="Arial Bold"/>
              </a:rPr>
              <a:t> [A]</a:t>
            </a:r>
          </a:p>
        </p:txBody>
      </p:sp>
      <p:sp>
        <p:nvSpPr>
          <p:cNvPr name="TextBox 5" id="5"/>
          <p:cNvSpPr txBox="true"/>
          <p:nvPr/>
        </p:nvSpPr>
        <p:spPr>
          <a:xfrm rot="0">
            <a:off x="5117834" y="5845971"/>
            <a:ext cx="7005905" cy="847725"/>
          </a:xfrm>
          <a:prstGeom prst="rect">
            <a:avLst/>
          </a:prstGeom>
        </p:spPr>
        <p:txBody>
          <a:bodyPr anchor="t" rtlCol="false" tIns="0" lIns="0" bIns="0" rIns="0">
            <a:spAutoFit/>
          </a:bodyPr>
          <a:lstStyle/>
          <a:p>
            <a:pPr algn="l">
              <a:lnSpc>
                <a:spcPts val="5999"/>
              </a:lnSpc>
            </a:pPr>
            <a:r>
              <a:rPr lang="en-US" sz="4999">
                <a:solidFill>
                  <a:srgbClr val="000000"/>
                </a:solidFill>
                <a:latin typeface="Arial"/>
                <a:ea typeface="Arial"/>
                <a:cs typeface="Arial"/>
                <a:sym typeface="Arial"/>
              </a:rPr>
              <a:t>Robin Omar Buezo Díaz</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04" t="0" r="-2204" b="0"/>
            </a:stretch>
          </a:blipFill>
        </p:spPr>
      </p:sp>
      <p:grpSp>
        <p:nvGrpSpPr>
          <p:cNvPr name="Group 3" id="3"/>
          <p:cNvGrpSpPr/>
          <p:nvPr/>
        </p:nvGrpSpPr>
        <p:grpSpPr>
          <a:xfrm rot="0">
            <a:off x="1028700" y="952267"/>
            <a:ext cx="16230600" cy="8382465"/>
            <a:chOff x="0" y="0"/>
            <a:chExt cx="6045684" cy="3122357"/>
          </a:xfrm>
        </p:grpSpPr>
        <p:sp>
          <p:nvSpPr>
            <p:cNvPr name="Freeform 4" id="4"/>
            <p:cNvSpPr/>
            <p:nvPr/>
          </p:nvSpPr>
          <p:spPr>
            <a:xfrm flipH="false" flipV="false" rot="0">
              <a:off x="0" y="0"/>
              <a:ext cx="6045684" cy="3122357"/>
            </a:xfrm>
            <a:custGeom>
              <a:avLst/>
              <a:gdLst/>
              <a:ahLst/>
              <a:cxnLst/>
              <a:rect r="r" b="b" t="t" l="l"/>
              <a:pathLst>
                <a:path h="3122357" w="6045684">
                  <a:moveTo>
                    <a:pt x="0" y="0"/>
                  </a:moveTo>
                  <a:lnTo>
                    <a:pt x="6045684" y="0"/>
                  </a:lnTo>
                  <a:lnTo>
                    <a:pt x="6045684" y="3122357"/>
                  </a:lnTo>
                  <a:lnTo>
                    <a:pt x="0" y="3122357"/>
                  </a:lnTo>
                  <a:close/>
                </a:path>
              </a:pathLst>
            </a:custGeom>
            <a:solidFill>
              <a:srgbClr val="000000">
                <a:alpha val="0"/>
              </a:srgbClr>
            </a:solidFill>
            <a:ln w="66675" cap="sq">
              <a:solidFill>
                <a:srgbClr val="9753A8"/>
              </a:solidFill>
              <a:prstDash val="solid"/>
              <a:miter/>
            </a:ln>
          </p:spPr>
        </p:sp>
        <p:sp>
          <p:nvSpPr>
            <p:cNvPr name="TextBox 5" id="5"/>
            <p:cNvSpPr txBox="true"/>
            <p:nvPr/>
          </p:nvSpPr>
          <p:spPr>
            <a:xfrm>
              <a:off x="0" y="0"/>
              <a:ext cx="6045684" cy="312235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0">
            <a:off x="12374539" y="8993151"/>
            <a:ext cx="4284389" cy="1567256"/>
            <a:chOff x="0" y="0"/>
            <a:chExt cx="1128399" cy="412775"/>
          </a:xfrm>
        </p:grpSpPr>
        <p:sp>
          <p:nvSpPr>
            <p:cNvPr name="Freeform 7" id="7"/>
            <p:cNvSpPr/>
            <p:nvPr/>
          </p:nvSpPr>
          <p:spPr>
            <a:xfrm flipH="false" flipV="false" rot="0">
              <a:off x="0" y="0"/>
              <a:ext cx="1128399" cy="412775"/>
            </a:xfrm>
            <a:custGeom>
              <a:avLst/>
              <a:gdLst/>
              <a:ahLst/>
              <a:cxnLst/>
              <a:rect r="r" b="b" t="t" l="l"/>
              <a:pathLst>
                <a:path h="412775" w="1128399">
                  <a:moveTo>
                    <a:pt x="0" y="0"/>
                  </a:moveTo>
                  <a:lnTo>
                    <a:pt x="1128399" y="0"/>
                  </a:lnTo>
                  <a:lnTo>
                    <a:pt x="1128399" y="412775"/>
                  </a:lnTo>
                  <a:lnTo>
                    <a:pt x="0" y="412775"/>
                  </a:lnTo>
                  <a:close/>
                </a:path>
              </a:pathLst>
            </a:custGeom>
            <a:solidFill>
              <a:srgbClr val="F4F6FC"/>
            </a:solidFill>
          </p:spPr>
        </p:sp>
        <p:sp>
          <p:nvSpPr>
            <p:cNvPr name="TextBox 8" id="8"/>
            <p:cNvSpPr txBox="true"/>
            <p:nvPr/>
          </p:nvSpPr>
          <p:spPr>
            <a:xfrm>
              <a:off x="0" y="-47625"/>
              <a:ext cx="1128399"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5400000">
            <a:off x="14012664" y="3237235"/>
            <a:ext cx="6983416" cy="1567256"/>
            <a:chOff x="0" y="0"/>
            <a:chExt cx="1839254" cy="412775"/>
          </a:xfrm>
        </p:grpSpPr>
        <p:sp>
          <p:nvSpPr>
            <p:cNvPr name="Freeform 10" id="10"/>
            <p:cNvSpPr/>
            <p:nvPr/>
          </p:nvSpPr>
          <p:spPr>
            <a:xfrm flipH="false" flipV="false" rot="0">
              <a:off x="0" y="0"/>
              <a:ext cx="1839254" cy="412775"/>
            </a:xfrm>
            <a:custGeom>
              <a:avLst/>
              <a:gdLst/>
              <a:ahLst/>
              <a:cxnLst/>
              <a:rect r="r" b="b" t="t" l="l"/>
              <a:pathLst>
                <a:path h="412775" w="1839254">
                  <a:moveTo>
                    <a:pt x="0" y="0"/>
                  </a:moveTo>
                  <a:lnTo>
                    <a:pt x="1839254" y="0"/>
                  </a:lnTo>
                  <a:lnTo>
                    <a:pt x="1839254" y="412775"/>
                  </a:lnTo>
                  <a:lnTo>
                    <a:pt x="0" y="412775"/>
                  </a:lnTo>
                  <a:close/>
                </a:path>
              </a:pathLst>
            </a:custGeom>
            <a:solidFill>
              <a:srgbClr val="F4F6FC"/>
            </a:solidFill>
          </p:spPr>
        </p:sp>
        <p:sp>
          <p:nvSpPr>
            <p:cNvPr name="TextBox 11" id="11"/>
            <p:cNvSpPr txBox="true"/>
            <p:nvPr/>
          </p:nvSpPr>
          <p:spPr>
            <a:xfrm>
              <a:off x="0" y="-47625"/>
              <a:ext cx="183925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true" flipV="true" rot="5400000">
            <a:off x="10540746" y="-52264"/>
            <a:ext cx="11547949" cy="9406329"/>
          </a:xfrm>
          <a:custGeom>
            <a:avLst/>
            <a:gdLst/>
            <a:ahLst/>
            <a:cxnLst/>
            <a:rect r="r" b="b" t="t" l="l"/>
            <a:pathLst>
              <a:path h="9406329" w="11547949">
                <a:moveTo>
                  <a:pt x="11547949" y="9406329"/>
                </a:moveTo>
                <a:lnTo>
                  <a:pt x="0" y="9406329"/>
                </a:lnTo>
                <a:lnTo>
                  <a:pt x="0" y="0"/>
                </a:lnTo>
                <a:lnTo>
                  <a:pt x="11547949" y="0"/>
                </a:lnTo>
                <a:lnTo>
                  <a:pt x="11547949" y="9406329"/>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118001" y="6620396"/>
            <a:ext cx="9224082" cy="1736725"/>
          </a:xfrm>
          <a:prstGeom prst="rect">
            <a:avLst/>
          </a:prstGeom>
        </p:spPr>
        <p:txBody>
          <a:bodyPr anchor="t" rtlCol="false" tIns="0" lIns="0" bIns="0" rIns="0">
            <a:spAutoFit/>
          </a:bodyPr>
          <a:lstStyle/>
          <a:p>
            <a:pPr algn="l">
              <a:lnSpc>
                <a:spcPts val="3499"/>
              </a:lnSpc>
            </a:pPr>
            <a:r>
              <a:rPr lang="en-US" sz="2499" b="true">
                <a:solidFill>
                  <a:srgbClr val="050A30"/>
                </a:solidFill>
                <a:latin typeface="HK Grotesk Medium"/>
                <a:ea typeface="HK Grotesk Medium"/>
                <a:cs typeface="HK Grotesk Medium"/>
                <a:sym typeface="HK Grotesk Medium"/>
              </a:rPr>
              <a:t>Escuela de Ingenieria de Ciencias Y Sistemas</a:t>
            </a:r>
          </a:p>
          <a:p>
            <a:pPr algn="l">
              <a:lnSpc>
                <a:spcPts val="3499"/>
              </a:lnSpc>
            </a:pPr>
            <a:r>
              <a:rPr lang="en-US" sz="2499" b="true">
                <a:solidFill>
                  <a:srgbClr val="050A30"/>
                </a:solidFill>
                <a:latin typeface="HK Grotesk Medium"/>
                <a:ea typeface="HK Grotesk Medium"/>
                <a:cs typeface="HK Grotesk Medium"/>
                <a:sym typeface="HK Grotesk Medium"/>
              </a:rPr>
              <a:t>Facultad de Ingenieria</a:t>
            </a:r>
          </a:p>
          <a:p>
            <a:pPr algn="l">
              <a:lnSpc>
                <a:spcPts val="3499"/>
              </a:lnSpc>
            </a:pPr>
            <a:r>
              <a:rPr lang="en-US" sz="2499" b="true">
                <a:solidFill>
                  <a:srgbClr val="050A30"/>
                </a:solidFill>
                <a:latin typeface="HK Grotesk Medium"/>
                <a:ea typeface="HK Grotesk Medium"/>
                <a:cs typeface="HK Grotesk Medium"/>
                <a:sym typeface="HK Grotesk Medium"/>
              </a:rPr>
              <a:t>Universidad de San Carlos de Guatemala</a:t>
            </a:r>
          </a:p>
          <a:p>
            <a:pPr algn="l">
              <a:lnSpc>
                <a:spcPts val="3499"/>
              </a:lnSpc>
              <a:spcBef>
                <a:spcPct val="0"/>
              </a:spcBef>
            </a:pPr>
          </a:p>
        </p:txBody>
      </p:sp>
      <p:sp>
        <p:nvSpPr>
          <p:cNvPr name="TextBox 14" id="14"/>
          <p:cNvSpPr txBox="true"/>
          <p:nvPr/>
        </p:nvSpPr>
        <p:spPr>
          <a:xfrm rot="0">
            <a:off x="2118001" y="3415707"/>
            <a:ext cx="11119114" cy="1210310"/>
          </a:xfrm>
          <a:prstGeom prst="rect">
            <a:avLst/>
          </a:prstGeom>
        </p:spPr>
        <p:txBody>
          <a:bodyPr anchor="t" rtlCol="false" tIns="0" lIns="0" bIns="0" rIns="0">
            <a:spAutoFit/>
          </a:bodyPr>
          <a:lstStyle/>
          <a:p>
            <a:pPr algn="l">
              <a:lnSpc>
                <a:spcPts val="9520"/>
              </a:lnSpc>
            </a:pPr>
            <a:r>
              <a:rPr lang="en-US" sz="8000" b="true">
                <a:solidFill>
                  <a:srgbClr val="050A30"/>
                </a:solidFill>
                <a:latin typeface="HK Grotesk Bold"/>
                <a:ea typeface="HK Grotesk Bold"/>
                <a:cs typeface="HK Grotesk Bold"/>
                <a:sym typeface="HK Grotesk Bold"/>
              </a:rPr>
              <a:t>Clase 7</a:t>
            </a:r>
          </a:p>
        </p:txBody>
      </p:sp>
      <p:sp>
        <p:nvSpPr>
          <p:cNvPr name="TextBox 15" id="15"/>
          <p:cNvSpPr txBox="true"/>
          <p:nvPr/>
        </p:nvSpPr>
        <p:spPr>
          <a:xfrm rot="0">
            <a:off x="2184676" y="2365657"/>
            <a:ext cx="11052439" cy="835660"/>
          </a:xfrm>
          <a:prstGeom prst="rect">
            <a:avLst/>
          </a:prstGeom>
        </p:spPr>
        <p:txBody>
          <a:bodyPr anchor="t" rtlCol="false" tIns="0" lIns="0" bIns="0" rIns="0">
            <a:spAutoFit/>
          </a:bodyPr>
          <a:lstStyle/>
          <a:p>
            <a:pPr algn="l">
              <a:lnSpc>
                <a:spcPts val="6545"/>
              </a:lnSpc>
            </a:pPr>
            <a:r>
              <a:rPr lang="en-US" b="true" sz="5500" spc="440">
                <a:solidFill>
                  <a:srgbClr val="050A30"/>
                </a:solidFill>
                <a:latin typeface="HK Grotesk Bold"/>
                <a:ea typeface="HK Grotesk Bold"/>
                <a:cs typeface="HK Grotesk Bold"/>
                <a:sym typeface="HK Grotesk Bold"/>
              </a:rPr>
              <a:t>INTELIGENCIA ARTIFICIAL 1</a:t>
            </a:r>
          </a:p>
        </p:txBody>
      </p:sp>
      <p:sp>
        <p:nvSpPr>
          <p:cNvPr name="TextBox 16" id="16"/>
          <p:cNvSpPr txBox="true"/>
          <p:nvPr/>
        </p:nvSpPr>
        <p:spPr>
          <a:xfrm rot="0">
            <a:off x="2118001" y="857436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AutoShape 17" id="17"/>
          <p:cNvSpPr/>
          <p:nvPr/>
        </p:nvSpPr>
        <p:spPr>
          <a:xfrm flipV="true">
            <a:off x="13553005" y="935761"/>
            <a:ext cx="5036482" cy="5036482"/>
          </a:xfrm>
          <a:prstGeom prst="line">
            <a:avLst/>
          </a:prstGeom>
          <a:ln cap="flat" w="114300">
            <a:solidFill>
              <a:srgbClr val="050A30"/>
            </a:solidFill>
            <a:prstDash val="solid"/>
            <a:headEnd type="none" len="sm" w="sm"/>
            <a:tailEnd type="none" len="sm" w="sm"/>
          </a:ln>
        </p:spPr>
      </p:sp>
      <p:sp>
        <p:nvSpPr>
          <p:cNvPr name="AutoShape 18" id="18"/>
          <p:cNvSpPr/>
          <p:nvPr/>
        </p:nvSpPr>
        <p:spPr>
          <a:xfrm flipV="true">
            <a:off x="14602740" y="4540846"/>
            <a:ext cx="1216428" cy="1216428"/>
          </a:xfrm>
          <a:prstGeom prst="line">
            <a:avLst/>
          </a:prstGeom>
          <a:ln cap="flat" w="114300">
            <a:solidFill>
              <a:srgbClr val="050A30"/>
            </a:solidFill>
            <a:prstDash val="solid"/>
            <a:headEnd type="none" len="sm" w="sm"/>
            <a:tailEnd type="none" len="sm" w="sm"/>
          </a:ln>
        </p:spPr>
      </p:sp>
      <p:sp>
        <p:nvSpPr>
          <p:cNvPr name="AutoShape 19" id="19"/>
          <p:cNvSpPr/>
          <p:nvPr/>
        </p:nvSpPr>
        <p:spPr>
          <a:xfrm flipV="true">
            <a:off x="12944791" y="7512571"/>
            <a:ext cx="2942644" cy="2942644"/>
          </a:xfrm>
          <a:prstGeom prst="line">
            <a:avLst/>
          </a:prstGeom>
          <a:ln cap="flat" w="114300">
            <a:solidFill>
              <a:srgbClr val="050A30"/>
            </a:solidFill>
            <a:prstDash val="solid"/>
            <a:headEnd type="none" len="sm" w="sm"/>
            <a:tailEnd type="none" len="sm" w="sm"/>
          </a:ln>
        </p:spPr>
      </p:sp>
      <p:sp>
        <p:nvSpPr>
          <p:cNvPr name="AutoShape 20" id="20"/>
          <p:cNvSpPr/>
          <p:nvPr/>
        </p:nvSpPr>
        <p:spPr>
          <a:xfrm flipV="true">
            <a:off x="11473469" y="9776779"/>
            <a:ext cx="2942644" cy="2942644"/>
          </a:xfrm>
          <a:prstGeom prst="line">
            <a:avLst/>
          </a:prstGeom>
          <a:ln cap="flat" w="114300">
            <a:solidFill>
              <a:srgbClr val="050A30"/>
            </a:solidFill>
            <a:prstDash val="solid"/>
            <a:headEnd type="none" len="sm" w="sm"/>
            <a:tailEnd type="none" len="sm" w="sm"/>
          </a:ln>
        </p:spPr>
      </p:sp>
      <p:sp>
        <p:nvSpPr>
          <p:cNvPr name="TextBox 21" id="21"/>
          <p:cNvSpPr txBox="true"/>
          <p:nvPr/>
        </p:nvSpPr>
        <p:spPr>
          <a:xfrm rot="0">
            <a:off x="2118001" y="4721267"/>
            <a:ext cx="7842829" cy="1038225"/>
          </a:xfrm>
          <a:prstGeom prst="rect">
            <a:avLst/>
          </a:prstGeom>
        </p:spPr>
        <p:txBody>
          <a:bodyPr anchor="t" rtlCol="false" tIns="0" lIns="0" bIns="0" rIns="0">
            <a:spAutoFit/>
          </a:bodyPr>
          <a:lstStyle/>
          <a:p>
            <a:pPr algn="l">
              <a:lnSpc>
                <a:spcPts val="8400"/>
              </a:lnSpc>
              <a:spcBef>
                <a:spcPct val="0"/>
              </a:spcBef>
            </a:pPr>
            <a:r>
              <a:rPr lang="en-US" b="true" sz="6000">
                <a:solidFill>
                  <a:srgbClr val="050A30"/>
                </a:solidFill>
                <a:latin typeface="HK Grotesk Medium"/>
                <a:ea typeface="HK Grotesk Medium"/>
                <a:cs typeface="HK Grotesk Medium"/>
                <a:sym typeface="HK Grotesk Medium"/>
              </a:rPr>
              <a:t>Realidad Aumentada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0">
            <a:off x="1362575" y="1028700"/>
            <a:ext cx="15562849" cy="8179961"/>
            <a:chOff x="0" y="0"/>
            <a:chExt cx="5796956" cy="3046927"/>
          </a:xfrm>
        </p:grpSpPr>
        <p:sp>
          <p:nvSpPr>
            <p:cNvPr name="Freeform 4" id="4"/>
            <p:cNvSpPr/>
            <p:nvPr/>
          </p:nvSpPr>
          <p:spPr>
            <a:xfrm flipH="false" flipV="false" rot="0">
              <a:off x="0" y="0"/>
              <a:ext cx="5796955" cy="3046927"/>
            </a:xfrm>
            <a:custGeom>
              <a:avLst/>
              <a:gdLst/>
              <a:ahLst/>
              <a:cxnLst/>
              <a:rect r="r" b="b" t="t" l="l"/>
              <a:pathLst>
                <a:path h="3046927" w="5796955">
                  <a:moveTo>
                    <a:pt x="0" y="0"/>
                  </a:moveTo>
                  <a:lnTo>
                    <a:pt x="5796955" y="0"/>
                  </a:lnTo>
                  <a:lnTo>
                    <a:pt x="5796955" y="3046927"/>
                  </a:lnTo>
                  <a:lnTo>
                    <a:pt x="0" y="3046927"/>
                  </a:lnTo>
                  <a:close/>
                </a:path>
              </a:pathLst>
            </a:custGeom>
            <a:solidFill>
              <a:srgbClr val="000000">
                <a:alpha val="0"/>
              </a:srgbClr>
            </a:solidFill>
            <a:ln w="66675" cap="sq">
              <a:solidFill>
                <a:srgbClr val="570F69"/>
              </a:solidFill>
              <a:prstDash val="solid"/>
              <a:miter/>
            </a:ln>
          </p:spPr>
        </p:sp>
        <p:sp>
          <p:nvSpPr>
            <p:cNvPr name="TextBox 5" id="5"/>
            <p:cNvSpPr txBox="true"/>
            <p:nvPr/>
          </p:nvSpPr>
          <p:spPr>
            <a:xfrm>
              <a:off x="0" y="0"/>
              <a:ext cx="5796956" cy="3046927"/>
            </a:xfrm>
            <a:prstGeom prst="rect">
              <a:avLst/>
            </a:prstGeom>
          </p:spPr>
          <p:txBody>
            <a:bodyPr anchor="ctr" rtlCol="false" tIns="48876" lIns="48876" bIns="48876" rIns="48876"/>
            <a:lstStyle/>
            <a:p>
              <a:pPr algn="ctr">
                <a:lnSpc>
                  <a:spcPts val="1813"/>
                </a:lnSpc>
              </a:pPr>
            </a:p>
          </p:txBody>
        </p:sp>
      </p:grpSp>
      <p:grpSp>
        <p:nvGrpSpPr>
          <p:cNvPr name="Group 6" id="6"/>
          <p:cNvGrpSpPr/>
          <p:nvPr/>
        </p:nvGrpSpPr>
        <p:grpSpPr>
          <a:xfrm rot="2700000">
            <a:off x="57071" y="8050244"/>
            <a:ext cx="3393988" cy="1567256"/>
            <a:chOff x="0" y="0"/>
            <a:chExt cx="893890" cy="412775"/>
          </a:xfrm>
        </p:grpSpPr>
        <p:sp>
          <p:nvSpPr>
            <p:cNvPr name="Freeform 7" id="7"/>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8" id="8"/>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14836942" y="550429"/>
            <a:ext cx="3393988" cy="1567256"/>
            <a:chOff x="0" y="0"/>
            <a:chExt cx="893890" cy="412775"/>
          </a:xfrm>
        </p:grpSpPr>
        <p:sp>
          <p:nvSpPr>
            <p:cNvPr name="Freeform 10" id="10"/>
            <p:cNvSpPr/>
            <p:nvPr/>
          </p:nvSpPr>
          <p:spPr>
            <a:xfrm flipH="false" flipV="false" rot="0">
              <a:off x="0" y="0"/>
              <a:ext cx="893890" cy="412775"/>
            </a:xfrm>
            <a:custGeom>
              <a:avLst/>
              <a:gdLst/>
              <a:ahLst/>
              <a:cxnLst/>
              <a:rect r="r" b="b" t="t" l="l"/>
              <a:pathLst>
                <a:path h="412775" w="893890">
                  <a:moveTo>
                    <a:pt x="0" y="0"/>
                  </a:moveTo>
                  <a:lnTo>
                    <a:pt x="893890" y="0"/>
                  </a:lnTo>
                  <a:lnTo>
                    <a:pt x="893890" y="412775"/>
                  </a:lnTo>
                  <a:lnTo>
                    <a:pt x="0" y="412775"/>
                  </a:lnTo>
                  <a:close/>
                </a:path>
              </a:pathLst>
            </a:custGeom>
            <a:solidFill>
              <a:srgbClr val="050A30"/>
            </a:solidFill>
          </p:spPr>
        </p:sp>
        <p:sp>
          <p:nvSpPr>
            <p:cNvPr name="TextBox 11" id="11"/>
            <p:cNvSpPr txBox="true"/>
            <p:nvPr/>
          </p:nvSpPr>
          <p:spPr>
            <a:xfrm>
              <a:off x="0" y="-47625"/>
              <a:ext cx="893890"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0">
            <a:off x="-515035" y="5489862"/>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10800000">
            <a:off x="13871465" y="-189523"/>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4" id="14"/>
          <p:cNvSpPr txBox="true"/>
          <p:nvPr/>
        </p:nvSpPr>
        <p:spPr>
          <a:xfrm rot="0">
            <a:off x="10299395" y="3078596"/>
            <a:ext cx="6464263" cy="48101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Link del Video</a:t>
            </a:r>
          </a:p>
          <a:p>
            <a:pPr algn="l">
              <a:lnSpc>
                <a:spcPts val="4200"/>
              </a:lnSpc>
            </a:pPr>
          </a:p>
          <a:p>
            <a:pPr algn="l">
              <a:lnSpc>
                <a:spcPts val="4200"/>
              </a:lnSpc>
            </a:pPr>
          </a:p>
          <a:p>
            <a:pPr algn="l">
              <a:lnSpc>
                <a:spcPts val="4200"/>
              </a:lnSpc>
            </a:pPr>
          </a:p>
          <a:p>
            <a:pPr algn="l">
              <a:lnSpc>
                <a:spcPts val="4200"/>
              </a:lnSpc>
            </a:pPr>
          </a:p>
          <a:p>
            <a:pPr algn="l">
              <a:lnSpc>
                <a:spcPts val="4200"/>
              </a:lnSpc>
            </a:pPr>
          </a:p>
          <a:p>
            <a:pPr algn="l">
              <a:lnSpc>
                <a:spcPts val="4200"/>
              </a:lnSpc>
            </a:pPr>
            <a:r>
              <a:rPr lang="en-US" b="true" sz="3500">
                <a:solidFill>
                  <a:srgbClr val="F4F6FC"/>
                </a:solidFill>
                <a:latin typeface="HK Grotesk Bold"/>
                <a:ea typeface="HK Grotesk Bold"/>
                <a:cs typeface="HK Grotesk Bold"/>
                <a:sym typeface="HK Grotesk Bold"/>
              </a:rPr>
              <a:t>Actividad</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UEDI</a:t>
            </a:r>
          </a:p>
        </p:txBody>
      </p:sp>
      <p:sp>
        <p:nvSpPr>
          <p:cNvPr name="Freeform 15" id="15"/>
          <p:cNvSpPr/>
          <p:nvPr/>
        </p:nvSpPr>
        <p:spPr>
          <a:xfrm flipH="false" flipV="false" rot="0">
            <a:off x="12612599" y="3649685"/>
            <a:ext cx="2517733" cy="2517733"/>
          </a:xfrm>
          <a:custGeom>
            <a:avLst/>
            <a:gdLst/>
            <a:ahLst/>
            <a:cxnLst/>
            <a:rect r="r" b="b" t="t" l="l"/>
            <a:pathLst>
              <a:path h="2517733" w="2517733">
                <a:moveTo>
                  <a:pt x="0" y="0"/>
                </a:moveTo>
                <a:lnTo>
                  <a:pt x="2517733" y="0"/>
                </a:lnTo>
                <a:lnTo>
                  <a:pt x="2517733" y="2517734"/>
                </a:lnTo>
                <a:lnTo>
                  <a:pt x="0" y="2517734"/>
                </a:lnTo>
                <a:lnTo>
                  <a:pt x="0" y="0"/>
                </a:lnTo>
                <a:close/>
              </a:path>
            </a:pathLst>
          </a:custGeom>
          <a:blipFill>
            <a:blip r:embed="rId5"/>
            <a:stretch>
              <a:fillRect l="0" t="0" r="0" b="0"/>
            </a:stretch>
          </a:blipFill>
        </p:spPr>
      </p:sp>
      <p:sp>
        <p:nvSpPr>
          <p:cNvPr name="TextBox 16" id="16"/>
          <p:cNvSpPr txBox="true"/>
          <p:nvPr/>
        </p:nvSpPr>
        <p:spPr>
          <a:xfrm rot="0">
            <a:off x="1889083"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Agenda</a:t>
            </a:r>
          </a:p>
        </p:txBody>
      </p:sp>
      <p:sp>
        <p:nvSpPr>
          <p:cNvPr name="TextBox 17" id="17"/>
          <p:cNvSpPr txBox="true"/>
          <p:nvPr/>
        </p:nvSpPr>
        <p:spPr>
          <a:xfrm rot="0">
            <a:off x="12006974" y="8506847"/>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FFFFF"/>
                </a:solidFill>
                <a:latin typeface="HK Grotesk Medium"/>
                <a:ea typeface="HK Grotesk Medium"/>
                <a:cs typeface="HK Grotesk Medium"/>
                <a:sym typeface="HK Grotesk Medium"/>
              </a:rPr>
              <a:t>Elaborado por: Robin Omar Buezo Díaz</a:t>
            </a:r>
          </a:p>
        </p:txBody>
      </p:sp>
      <p:sp>
        <p:nvSpPr>
          <p:cNvPr name="TextBox 18" id="18"/>
          <p:cNvSpPr txBox="true"/>
          <p:nvPr/>
        </p:nvSpPr>
        <p:spPr>
          <a:xfrm rot="0">
            <a:off x="2034003" y="3078596"/>
            <a:ext cx="6464263" cy="4810125"/>
          </a:xfrm>
          <a:prstGeom prst="rect">
            <a:avLst/>
          </a:prstGeom>
        </p:spPr>
        <p:txBody>
          <a:bodyPr anchor="t" rtlCol="false" tIns="0" lIns="0" bIns="0" rIns="0">
            <a:spAutoFit/>
          </a:bodyPr>
          <a:lstStyle/>
          <a:p>
            <a:pPr algn="l">
              <a:lnSpc>
                <a:spcPts val="4200"/>
              </a:lnSpc>
            </a:pPr>
            <a:r>
              <a:rPr lang="en-US" sz="3500" b="true">
                <a:solidFill>
                  <a:srgbClr val="F4F6FC"/>
                </a:solidFill>
                <a:latin typeface="HK Grotesk Bold"/>
                <a:ea typeface="HK Grotesk Bold"/>
                <a:cs typeface="HK Grotesk Bold"/>
                <a:sym typeface="HK Grotesk Bold"/>
              </a:rPr>
              <a:t>Recordatorios</a:t>
            </a:r>
          </a:p>
          <a:p>
            <a:pPr algn="l">
              <a:lnSpc>
                <a:spcPts val="4200"/>
              </a:lnSpc>
            </a:pPr>
          </a:p>
          <a:p>
            <a:pPr algn="l">
              <a:lnSpc>
                <a:spcPts val="4200"/>
              </a:lnSpc>
            </a:pPr>
          </a:p>
          <a:p>
            <a:pPr algn="l">
              <a:lnSpc>
                <a:spcPts val="4200"/>
              </a:lnSpc>
            </a:pPr>
          </a:p>
          <a:p>
            <a:pPr algn="l">
              <a:lnSpc>
                <a:spcPts val="4200"/>
              </a:lnSpc>
            </a:pPr>
          </a:p>
          <a:p>
            <a:pPr algn="l">
              <a:lnSpc>
                <a:spcPts val="4200"/>
              </a:lnSpc>
            </a:pPr>
            <a:r>
              <a:rPr lang="en-US" sz="3500" b="true">
                <a:solidFill>
                  <a:srgbClr val="F4F6FC"/>
                </a:solidFill>
                <a:latin typeface="HK Grotesk Bold"/>
                <a:ea typeface="HK Grotesk Bold"/>
                <a:cs typeface="HK Grotesk Bold"/>
                <a:sym typeface="HK Grotesk Bold"/>
              </a:rPr>
              <a:t>Temas</a:t>
            </a:r>
          </a:p>
          <a:p>
            <a:pPr algn="l">
              <a:lnSpc>
                <a:spcPts val="4200"/>
              </a:lnSpc>
            </a:pPr>
          </a:p>
          <a:p>
            <a:pPr algn="l" marL="755651" indent="-377825" lvl="1">
              <a:lnSpc>
                <a:spcPts val="4200"/>
              </a:lnSpc>
              <a:buFont typeface="Arial"/>
              <a:buChar char="•"/>
            </a:pPr>
            <a:r>
              <a:rPr lang="en-US" sz="3500">
                <a:solidFill>
                  <a:srgbClr val="F4F6FC"/>
                </a:solidFill>
                <a:latin typeface="HK Grotesk"/>
                <a:ea typeface="HK Grotesk"/>
                <a:cs typeface="HK Grotesk"/>
                <a:sym typeface="HK Grotesk"/>
              </a:rPr>
              <a:t>Diseño de Aplicaciones de Realidad Aumentada</a:t>
            </a:r>
          </a:p>
        </p:txBody>
      </p:sp>
      <p:sp>
        <p:nvSpPr>
          <p:cNvPr name="TextBox 19" id="19"/>
          <p:cNvSpPr txBox="true"/>
          <p:nvPr/>
        </p:nvSpPr>
        <p:spPr>
          <a:xfrm rot="0">
            <a:off x="11208934" y="1511090"/>
            <a:ext cx="4271494" cy="1152525"/>
          </a:xfrm>
          <a:prstGeom prst="rect">
            <a:avLst/>
          </a:prstGeom>
        </p:spPr>
        <p:txBody>
          <a:bodyPr anchor="t" rtlCol="false" tIns="0" lIns="0" bIns="0" rIns="0">
            <a:spAutoFit/>
          </a:bodyPr>
          <a:lstStyle/>
          <a:p>
            <a:pPr algn="ctr">
              <a:lnSpc>
                <a:spcPts val="9000"/>
              </a:lnSpc>
            </a:pPr>
            <a:r>
              <a:rPr lang="en-US" b="true" sz="7500">
                <a:solidFill>
                  <a:srgbClr val="F4F6FC"/>
                </a:solidFill>
                <a:latin typeface="HK Grotesk Bold"/>
                <a:ea typeface="HK Grotesk Bold"/>
                <a:cs typeface="HK Grotesk Bold"/>
                <a:sym typeface="HK Grotesk Bold"/>
              </a:rPr>
              <a:t>Recursos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7AC3FE"/>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1374889" y="1409214"/>
            <a:ext cx="13991174" cy="882887"/>
          </a:xfrm>
          <a:prstGeom prst="rect">
            <a:avLst/>
          </a:prstGeom>
        </p:spPr>
        <p:txBody>
          <a:bodyPr anchor="t" rtlCol="false" tIns="0" lIns="0" bIns="0" rIns="0">
            <a:spAutoFit/>
          </a:bodyPr>
          <a:lstStyle/>
          <a:p>
            <a:pPr algn="just">
              <a:lnSpc>
                <a:spcPts val="6890"/>
              </a:lnSpc>
            </a:pPr>
            <a:r>
              <a:rPr lang="en-US" b="true" sz="6098">
                <a:solidFill>
                  <a:srgbClr val="050A30"/>
                </a:solidFill>
                <a:latin typeface="HK Grotesk Medium"/>
                <a:ea typeface="HK Grotesk Medium"/>
                <a:cs typeface="HK Grotesk Medium"/>
                <a:sym typeface="HK Grotesk Medium"/>
              </a:rPr>
              <a:t>COMPETENCIA(S) Que desarrollaremos</a:t>
            </a:r>
          </a:p>
        </p:txBody>
      </p:sp>
      <p:sp>
        <p:nvSpPr>
          <p:cNvPr name="TextBox 13" id="13"/>
          <p:cNvSpPr txBox="true"/>
          <p:nvPr/>
        </p:nvSpPr>
        <p:spPr>
          <a:xfrm rot="0">
            <a:off x="2557547" y="3698875"/>
            <a:ext cx="12569573" cy="4213224"/>
          </a:xfrm>
          <a:prstGeom prst="rect">
            <a:avLst/>
          </a:prstGeom>
        </p:spPr>
        <p:txBody>
          <a:bodyPr anchor="t" rtlCol="false" tIns="0" lIns="0" bIns="0" rIns="0">
            <a:spAutoFit/>
          </a:bodyPr>
          <a:lstStyle/>
          <a:p>
            <a:pPr algn="ctr">
              <a:lnSpc>
                <a:spcPts val="5600"/>
              </a:lnSpc>
            </a:pPr>
            <a:r>
              <a:rPr lang="en-US" b="true" sz="4000" spc="320">
                <a:solidFill>
                  <a:srgbClr val="050A30"/>
                </a:solidFill>
                <a:latin typeface="HK Grotesk Bold"/>
                <a:ea typeface="HK Grotesk Bold"/>
                <a:cs typeface="HK Grotesk Bold"/>
                <a:sym typeface="HK Grotesk Bold"/>
              </a:rPr>
              <a:t>Crea aplicaciones de realidad aumentada con contenido digital interactivo mediante el uso de bibliotecas como AR.js y técnicas</a:t>
            </a:r>
            <a:r>
              <a:rPr lang="en-US" b="true" sz="4000" spc="320">
                <a:solidFill>
                  <a:srgbClr val="050A30"/>
                </a:solidFill>
                <a:latin typeface="HK Grotesk Bold"/>
                <a:ea typeface="HK Grotesk Bold"/>
                <a:cs typeface="HK Grotesk Bold"/>
                <a:sym typeface="HK Grotesk Bold"/>
              </a:rPr>
              <a:t> de diseño de experiencias para integrar información virtual en el mundo real de forma efectiva y funcional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3934859"/>
            <a:ext cx="7528964" cy="4503358"/>
            <a:chOff x="0" y="0"/>
            <a:chExt cx="1982937" cy="1186070"/>
          </a:xfrm>
        </p:grpSpPr>
        <p:sp>
          <p:nvSpPr>
            <p:cNvPr name="Freeform 14" id="14"/>
            <p:cNvSpPr/>
            <p:nvPr/>
          </p:nvSpPr>
          <p:spPr>
            <a:xfrm flipH="false" flipV="false" rot="0">
              <a:off x="0" y="0"/>
              <a:ext cx="1982937" cy="1186070"/>
            </a:xfrm>
            <a:custGeom>
              <a:avLst/>
              <a:gdLst/>
              <a:ahLst/>
              <a:cxnLst/>
              <a:rect r="r" b="b" t="t" l="l"/>
              <a:pathLst>
                <a:path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p:spPr>
        </p:sp>
        <p:sp>
          <p:nvSpPr>
            <p:cNvPr name="TextBox 15" id="15"/>
            <p:cNvSpPr txBox="true"/>
            <p:nvPr/>
          </p:nvSpPr>
          <p:spPr>
            <a:xfrm>
              <a:off x="0" y="-47625"/>
              <a:ext cx="1982937" cy="1233695"/>
            </a:xfrm>
            <a:prstGeom prst="rect">
              <a:avLst/>
            </a:prstGeom>
          </p:spPr>
          <p:txBody>
            <a:bodyPr anchor="ctr" rtlCol="false" tIns="50800" lIns="50800" bIns="50800" rIns="50800"/>
            <a:lstStyle/>
            <a:p>
              <a:pPr algn="ctr">
                <a:lnSpc>
                  <a:spcPts val="3079"/>
                </a:lnSpc>
              </a:pPr>
            </a:p>
          </p:txBody>
        </p:sp>
      </p:grpSp>
      <p:sp>
        <p:nvSpPr>
          <p:cNvPr name="TextBox 16" id="16"/>
          <p:cNvSpPr txBox="true"/>
          <p:nvPr/>
        </p:nvSpPr>
        <p:spPr>
          <a:xfrm rot="0">
            <a:off x="2433094" y="1052234"/>
            <a:ext cx="13421812" cy="2571750"/>
          </a:xfrm>
          <a:prstGeom prst="rect">
            <a:avLst/>
          </a:prstGeom>
        </p:spPr>
        <p:txBody>
          <a:bodyPr anchor="t" rtlCol="false" tIns="0" lIns="0" bIns="0" rIns="0">
            <a:spAutoFit/>
          </a:bodyPr>
          <a:lstStyle/>
          <a:p>
            <a:pPr algn="ctr">
              <a:lnSpc>
                <a:spcPts val="10158"/>
              </a:lnSpc>
            </a:pPr>
            <a:r>
              <a:rPr lang="en-US" b="true" sz="8465">
                <a:solidFill>
                  <a:srgbClr val="050A30"/>
                </a:solidFill>
                <a:latin typeface="HK Grotesk Bold"/>
                <a:ea typeface="HK Grotesk Bold"/>
                <a:cs typeface="HK Grotesk Bold"/>
                <a:sym typeface="HK Grotesk Bold"/>
              </a:rPr>
              <a:t>Diseño de aplicaciones con Realidad Aumentada</a:t>
            </a:r>
          </a:p>
        </p:txBody>
      </p:sp>
      <p:sp>
        <p:nvSpPr>
          <p:cNvPr name="TextBox 17" id="17"/>
          <p:cNvSpPr txBox="true"/>
          <p:nvPr/>
        </p:nvSpPr>
        <p:spPr>
          <a:xfrm rot="0">
            <a:off x="1537684" y="4324400"/>
            <a:ext cx="6510997" cy="3657601"/>
          </a:xfrm>
          <a:prstGeom prst="rect">
            <a:avLst/>
          </a:prstGeom>
        </p:spPr>
        <p:txBody>
          <a:bodyPr anchor="t" rtlCol="false" tIns="0" lIns="0" bIns="0" rIns="0">
            <a:spAutoFit/>
          </a:bodyPr>
          <a:lstStyle/>
          <a:p>
            <a:pPr algn="just">
              <a:lnSpc>
                <a:spcPts val="4199"/>
              </a:lnSpc>
              <a:spcBef>
                <a:spcPct val="0"/>
              </a:spcBef>
            </a:pPr>
            <a:r>
              <a:rPr lang="en-US" sz="2999">
                <a:solidFill>
                  <a:srgbClr val="FFFFFF"/>
                </a:solidFill>
                <a:latin typeface="HK Grotesk"/>
                <a:ea typeface="HK Grotesk"/>
                <a:cs typeface="HK Grotesk"/>
                <a:sym typeface="HK Grotesk"/>
              </a:rPr>
              <a:t>El diseño de aplicaciones con realidad aumentada (RA) es un campo emocionante y en expansión que combina el mundo digital con el mundo físico, proporcionando una experiencia inmersiva e interactiva para los usuarios.</a:t>
            </a:r>
          </a:p>
        </p:txBody>
      </p:sp>
      <p:sp>
        <p:nvSpPr>
          <p:cNvPr name="TextBox 18" id="18"/>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grpSp>
        <p:nvGrpSpPr>
          <p:cNvPr name="Group 19" id="19"/>
          <p:cNvGrpSpPr/>
          <p:nvPr/>
        </p:nvGrpSpPr>
        <p:grpSpPr>
          <a:xfrm rot="0">
            <a:off x="9595266" y="3934859"/>
            <a:ext cx="7528964" cy="4503358"/>
            <a:chOff x="0" y="0"/>
            <a:chExt cx="1982937" cy="1186070"/>
          </a:xfrm>
        </p:grpSpPr>
        <p:sp>
          <p:nvSpPr>
            <p:cNvPr name="Freeform 20" id="20"/>
            <p:cNvSpPr/>
            <p:nvPr/>
          </p:nvSpPr>
          <p:spPr>
            <a:xfrm flipH="false" flipV="false" rot="0">
              <a:off x="0" y="0"/>
              <a:ext cx="1982937" cy="1186070"/>
            </a:xfrm>
            <a:custGeom>
              <a:avLst/>
              <a:gdLst/>
              <a:ahLst/>
              <a:cxnLst/>
              <a:rect r="r" b="b" t="t" l="l"/>
              <a:pathLst>
                <a:path h="1186070" w="1982937">
                  <a:moveTo>
                    <a:pt x="52443" y="0"/>
                  </a:moveTo>
                  <a:lnTo>
                    <a:pt x="1930495" y="0"/>
                  </a:lnTo>
                  <a:cubicBezTo>
                    <a:pt x="1944403" y="0"/>
                    <a:pt x="1957742" y="5525"/>
                    <a:pt x="1967577" y="15360"/>
                  </a:cubicBezTo>
                  <a:cubicBezTo>
                    <a:pt x="1977412" y="25195"/>
                    <a:pt x="1982937" y="38534"/>
                    <a:pt x="1982937" y="52443"/>
                  </a:cubicBezTo>
                  <a:lnTo>
                    <a:pt x="1982937" y="1133627"/>
                  </a:lnTo>
                  <a:cubicBezTo>
                    <a:pt x="1982937" y="1162590"/>
                    <a:pt x="1959458" y="1186070"/>
                    <a:pt x="1930495" y="1186070"/>
                  </a:cubicBezTo>
                  <a:lnTo>
                    <a:pt x="52443" y="1186070"/>
                  </a:lnTo>
                  <a:cubicBezTo>
                    <a:pt x="23479" y="1186070"/>
                    <a:pt x="0" y="1162590"/>
                    <a:pt x="0" y="1133627"/>
                  </a:cubicBezTo>
                  <a:lnTo>
                    <a:pt x="0" y="52443"/>
                  </a:lnTo>
                  <a:cubicBezTo>
                    <a:pt x="0" y="23479"/>
                    <a:pt x="23479" y="0"/>
                    <a:pt x="52443" y="0"/>
                  </a:cubicBezTo>
                  <a:close/>
                </a:path>
              </a:pathLst>
            </a:custGeom>
            <a:solidFill>
              <a:srgbClr val="3C3D5C"/>
            </a:solidFill>
          </p:spPr>
        </p:sp>
        <p:sp>
          <p:nvSpPr>
            <p:cNvPr name="TextBox 21" id="21"/>
            <p:cNvSpPr txBox="true"/>
            <p:nvPr/>
          </p:nvSpPr>
          <p:spPr>
            <a:xfrm>
              <a:off x="0" y="-47625"/>
              <a:ext cx="1982937" cy="1233695"/>
            </a:xfrm>
            <a:prstGeom prst="rect">
              <a:avLst/>
            </a:prstGeom>
          </p:spPr>
          <p:txBody>
            <a:bodyPr anchor="ctr" rtlCol="false" tIns="50800" lIns="50800" bIns="50800" rIns="50800"/>
            <a:lstStyle/>
            <a:p>
              <a:pPr algn="ctr">
                <a:lnSpc>
                  <a:spcPts val="3079"/>
                </a:lnSpc>
              </a:pPr>
            </a:p>
          </p:txBody>
        </p:sp>
      </p:grpSp>
      <p:sp>
        <p:nvSpPr>
          <p:cNvPr name="TextBox 22" id="22"/>
          <p:cNvSpPr txBox="true"/>
          <p:nvPr/>
        </p:nvSpPr>
        <p:spPr>
          <a:xfrm rot="0">
            <a:off x="10104249" y="4051732"/>
            <a:ext cx="6510997" cy="4181476"/>
          </a:xfrm>
          <a:prstGeom prst="rect">
            <a:avLst/>
          </a:prstGeom>
        </p:spPr>
        <p:txBody>
          <a:bodyPr anchor="t" rtlCol="false" tIns="0" lIns="0" bIns="0" rIns="0">
            <a:spAutoFit/>
          </a:bodyPr>
          <a:lstStyle/>
          <a:p>
            <a:pPr algn="just">
              <a:lnSpc>
                <a:spcPts val="4199"/>
              </a:lnSpc>
              <a:spcBef>
                <a:spcPct val="0"/>
              </a:spcBef>
            </a:pPr>
            <a:r>
              <a:rPr lang="en-US" sz="2999">
                <a:solidFill>
                  <a:srgbClr val="FFFFFF"/>
                </a:solidFill>
                <a:latin typeface="HK Grotesk"/>
                <a:ea typeface="HK Grotesk"/>
                <a:cs typeface="HK Grotesk"/>
                <a:sym typeface="HK Grotesk"/>
              </a:rPr>
              <a:t>Al diseñar aplicaciones de RA, se deben tomar en cuenta diversos aspectos para crear una experiencia fluida y útil que aproveche al máximo las capacidades tecnológicas disponibles, pero también asegure que la interfaz y la interacción sean intuitivas y agradables.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702006" y="2864291"/>
            <a:ext cx="12247282" cy="4548894"/>
          </a:xfrm>
          <a:prstGeom prst="rect">
            <a:avLst/>
          </a:prstGeom>
        </p:spPr>
        <p:txBody>
          <a:bodyPr anchor="t" rtlCol="false" tIns="0" lIns="0" bIns="0" rIns="0">
            <a:spAutoFit/>
          </a:bodyPr>
          <a:lstStyle/>
          <a:p>
            <a:pPr algn="ctr">
              <a:lnSpc>
                <a:spcPts val="11914"/>
              </a:lnSpc>
            </a:pPr>
            <a:r>
              <a:rPr lang="en-US" b="true" sz="9928">
                <a:solidFill>
                  <a:srgbClr val="F4F6FC"/>
                </a:solidFill>
                <a:latin typeface="HK Grotesk Bold"/>
                <a:ea typeface="HK Grotesk Bold"/>
                <a:cs typeface="HK Grotesk Bold"/>
                <a:sym typeface="HK Grotesk Bold"/>
              </a:rPr>
              <a:t>Aspectos clave en el diseño de Realidad Aumentada</a:t>
            </a:r>
          </a:p>
        </p:txBody>
      </p:sp>
      <p:sp>
        <p:nvSpPr>
          <p:cNvPr name="TextBox 14" id="14"/>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449130"/>
            <a:ext cx="13179131" cy="2200275"/>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Interacción del usuario con el entorno físico</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4820472"/>
            <a:ext cx="14905924" cy="26574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A diferencia de las aplicaciones tradicionales, las aplicaciones de RA deben considerar cómo los usuarios interactúan con su entorno físico y cómo la tecnología digital se superpone sobre ese entorno. Es fundamental que el diseño facilite la interacción entre el usuario y el entorno de manera natural y fluida.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4" id="14"/>
          <p:cNvSpPr txBox="true"/>
          <p:nvPr/>
        </p:nvSpPr>
        <p:spPr>
          <a:xfrm rot="0">
            <a:off x="2554434" y="1449130"/>
            <a:ext cx="13179131" cy="2200275"/>
          </a:xfrm>
          <a:prstGeom prst="rect">
            <a:avLst/>
          </a:prstGeom>
        </p:spPr>
        <p:txBody>
          <a:bodyPr anchor="t" rtlCol="false" tIns="0" lIns="0" bIns="0" rIns="0">
            <a:spAutoFit/>
          </a:bodyPr>
          <a:lstStyle/>
          <a:p>
            <a:pPr algn="ctr">
              <a:lnSpc>
                <a:spcPts val="8649"/>
              </a:lnSpc>
            </a:pPr>
            <a:r>
              <a:rPr lang="en-US" b="true" sz="7207">
                <a:solidFill>
                  <a:srgbClr val="FFFFFF"/>
                </a:solidFill>
                <a:latin typeface="HK Grotesk Bold"/>
                <a:ea typeface="HK Grotesk Bold"/>
                <a:cs typeface="HK Grotesk Bold"/>
                <a:sym typeface="HK Grotesk Bold"/>
              </a:rPr>
              <a:t>Interacción del usuario con el entorno físico</a:t>
            </a:r>
          </a:p>
        </p:txBody>
      </p:sp>
      <p:grpSp>
        <p:nvGrpSpPr>
          <p:cNvPr name="Group 15" id="15"/>
          <p:cNvGrpSpPr/>
          <p:nvPr/>
        </p:nvGrpSpPr>
        <p:grpSpPr>
          <a:xfrm rot="0">
            <a:off x="7757617" y="4205648"/>
            <a:ext cx="3675297" cy="3950208"/>
            <a:chOff x="0" y="0"/>
            <a:chExt cx="756234" cy="812800"/>
          </a:xfrm>
        </p:grpSpPr>
        <p:sp>
          <p:nvSpPr>
            <p:cNvPr name="Freeform 16" id="16"/>
            <p:cNvSpPr/>
            <p:nvPr/>
          </p:nvSpPr>
          <p:spPr>
            <a:xfrm flipH="false" flipV="false" rot="0">
              <a:off x="0" y="0"/>
              <a:ext cx="756234" cy="812800"/>
            </a:xfrm>
            <a:custGeom>
              <a:avLst/>
              <a:gdLst/>
              <a:ahLst/>
              <a:cxnLst/>
              <a:rect r="r" b="b" t="t" l="l"/>
              <a:pathLst>
                <a:path h="812800" w="756234">
                  <a:moveTo>
                    <a:pt x="756234" y="0"/>
                  </a:moveTo>
                  <a:lnTo>
                    <a:pt x="756234" y="698500"/>
                  </a:lnTo>
                  <a:lnTo>
                    <a:pt x="378117" y="812800"/>
                  </a:lnTo>
                  <a:lnTo>
                    <a:pt x="0" y="698500"/>
                  </a:lnTo>
                  <a:lnTo>
                    <a:pt x="0" y="0"/>
                  </a:lnTo>
                  <a:lnTo>
                    <a:pt x="756234" y="0"/>
                  </a:lnTo>
                  <a:close/>
                </a:path>
              </a:pathLst>
            </a:custGeom>
            <a:gradFill rotWithShape="true">
              <a:gsLst>
                <a:gs pos="0">
                  <a:srgbClr val="A6A6A6">
                    <a:alpha val="100000"/>
                  </a:srgbClr>
                </a:gs>
                <a:gs pos="100000">
                  <a:srgbClr val="FFFFFF">
                    <a:alpha val="100000"/>
                  </a:srgbClr>
                </a:gs>
              </a:gsLst>
              <a:lin ang="0"/>
            </a:gradFill>
            <a:ln w="114300" cap="sq">
              <a:solidFill>
                <a:srgbClr val="000000"/>
              </a:solidFill>
              <a:prstDash val="solid"/>
              <a:miter/>
            </a:ln>
          </p:spPr>
        </p:sp>
        <p:sp>
          <p:nvSpPr>
            <p:cNvPr name="TextBox 17" id="17"/>
            <p:cNvSpPr txBox="true"/>
            <p:nvPr/>
          </p:nvSpPr>
          <p:spPr>
            <a:xfrm>
              <a:off x="0" y="-76200"/>
              <a:ext cx="756234" cy="774700"/>
            </a:xfrm>
            <a:prstGeom prst="rect">
              <a:avLst/>
            </a:prstGeom>
          </p:spPr>
          <p:txBody>
            <a:bodyPr anchor="ctr" rtlCol="false" tIns="50800" lIns="50800" bIns="50800" rIns="50800"/>
            <a:lstStyle/>
            <a:p>
              <a:pPr algn="ctr">
                <a:lnSpc>
                  <a:spcPts val="5179"/>
                </a:lnSpc>
              </a:pPr>
              <a:r>
                <a:rPr lang="en-US" b="true" sz="3699">
                  <a:solidFill>
                    <a:srgbClr val="000000"/>
                  </a:solidFill>
                  <a:latin typeface="Open Sauce Bold"/>
                  <a:ea typeface="Open Sauce Bold"/>
                  <a:cs typeface="Open Sauce Bold"/>
                  <a:sym typeface="Open Sauce Bold"/>
                </a:rPr>
                <a:t>Toques y Deslizamiento</a:t>
              </a:r>
            </a:p>
          </p:txBody>
        </p:sp>
      </p:grpSp>
      <p:grpSp>
        <p:nvGrpSpPr>
          <p:cNvPr name="Group 18" id="18"/>
          <p:cNvGrpSpPr/>
          <p:nvPr/>
        </p:nvGrpSpPr>
        <p:grpSpPr>
          <a:xfrm rot="0">
            <a:off x="2428391" y="4205648"/>
            <a:ext cx="3595676" cy="3950208"/>
            <a:chOff x="0" y="0"/>
            <a:chExt cx="739851" cy="812800"/>
          </a:xfrm>
        </p:grpSpPr>
        <p:sp>
          <p:nvSpPr>
            <p:cNvPr name="Freeform 19" id="19"/>
            <p:cNvSpPr/>
            <p:nvPr/>
          </p:nvSpPr>
          <p:spPr>
            <a:xfrm flipH="false" flipV="false" rot="0">
              <a:off x="0" y="0"/>
              <a:ext cx="739851" cy="812800"/>
            </a:xfrm>
            <a:custGeom>
              <a:avLst/>
              <a:gdLst/>
              <a:ahLst/>
              <a:cxnLst/>
              <a:rect r="r" b="b" t="t" l="l"/>
              <a:pathLst>
                <a:path h="812800" w="739851">
                  <a:moveTo>
                    <a:pt x="739851" y="0"/>
                  </a:moveTo>
                  <a:lnTo>
                    <a:pt x="739851" y="698500"/>
                  </a:lnTo>
                  <a:lnTo>
                    <a:pt x="369926" y="812800"/>
                  </a:lnTo>
                  <a:lnTo>
                    <a:pt x="0" y="698500"/>
                  </a:lnTo>
                  <a:lnTo>
                    <a:pt x="0" y="0"/>
                  </a:lnTo>
                  <a:lnTo>
                    <a:pt x="739851" y="0"/>
                  </a:lnTo>
                  <a:close/>
                </a:path>
              </a:pathLst>
            </a:custGeom>
            <a:gradFill rotWithShape="true">
              <a:gsLst>
                <a:gs pos="0">
                  <a:srgbClr val="CDFFD8">
                    <a:alpha val="100000"/>
                  </a:srgbClr>
                </a:gs>
                <a:gs pos="100000">
                  <a:srgbClr val="94B9FF">
                    <a:alpha val="100000"/>
                  </a:srgbClr>
                </a:gs>
              </a:gsLst>
              <a:lin ang="0"/>
            </a:gradFill>
            <a:ln w="114300" cap="sq">
              <a:solidFill>
                <a:srgbClr val="000000"/>
              </a:solidFill>
              <a:prstDash val="solid"/>
              <a:miter/>
            </a:ln>
          </p:spPr>
        </p:sp>
        <p:sp>
          <p:nvSpPr>
            <p:cNvPr name="TextBox 20" id="20"/>
            <p:cNvSpPr txBox="true"/>
            <p:nvPr/>
          </p:nvSpPr>
          <p:spPr>
            <a:xfrm>
              <a:off x="0" y="-76200"/>
              <a:ext cx="739851" cy="7747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Gestos</a:t>
              </a:r>
            </a:p>
          </p:txBody>
        </p:sp>
      </p:grpSp>
      <p:grpSp>
        <p:nvGrpSpPr>
          <p:cNvPr name="Group 21" id="21"/>
          <p:cNvGrpSpPr/>
          <p:nvPr/>
        </p:nvGrpSpPr>
        <p:grpSpPr>
          <a:xfrm rot="0">
            <a:off x="13166464" y="4205648"/>
            <a:ext cx="3595676" cy="3950208"/>
            <a:chOff x="0" y="0"/>
            <a:chExt cx="739851" cy="812800"/>
          </a:xfrm>
        </p:grpSpPr>
        <p:sp>
          <p:nvSpPr>
            <p:cNvPr name="Freeform 22" id="22"/>
            <p:cNvSpPr/>
            <p:nvPr/>
          </p:nvSpPr>
          <p:spPr>
            <a:xfrm flipH="false" flipV="false" rot="0">
              <a:off x="0" y="0"/>
              <a:ext cx="739851" cy="812800"/>
            </a:xfrm>
            <a:custGeom>
              <a:avLst/>
              <a:gdLst/>
              <a:ahLst/>
              <a:cxnLst/>
              <a:rect r="r" b="b" t="t" l="l"/>
              <a:pathLst>
                <a:path h="812800" w="739851">
                  <a:moveTo>
                    <a:pt x="739851" y="0"/>
                  </a:moveTo>
                  <a:lnTo>
                    <a:pt x="739851" y="698500"/>
                  </a:lnTo>
                  <a:lnTo>
                    <a:pt x="369926" y="812800"/>
                  </a:lnTo>
                  <a:lnTo>
                    <a:pt x="0" y="698500"/>
                  </a:lnTo>
                  <a:lnTo>
                    <a:pt x="0" y="0"/>
                  </a:lnTo>
                  <a:lnTo>
                    <a:pt x="739851" y="0"/>
                  </a:lnTo>
                  <a:close/>
                </a:path>
              </a:pathLst>
            </a:custGeom>
            <a:gradFill rotWithShape="true">
              <a:gsLst>
                <a:gs pos="0">
                  <a:srgbClr val="FFF7AD">
                    <a:alpha val="100000"/>
                  </a:srgbClr>
                </a:gs>
                <a:gs pos="100000">
                  <a:srgbClr val="FFA9F9">
                    <a:alpha val="100000"/>
                  </a:srgbClr>
                </a:gs>
              </a:gsLst>
              <a:lin ang="0"/>
            </a:gradFill>
            <a:ln w="114300" cap="sq">
              <a:solidFill>
                <a:srgbClr val="000000"/>
              </a:solidFill>
              <a:prstDash val="solid"/>
              <a:miter/>
            </a:ln>
          </p:spPr>
        </p:sp>
        <p:sp>
          <p:nvSpPr>
            <p:cNvPr name="TextBox 23" id="23"/>
            <p:cNvSpPr txBox="true"/>
            <p:nvPr/>
          </p:nvSpPr>
          <p:spPr>
            <a:xfrm>
              <a:off x="0" y="-76200"/>
              <a:ext cx="739851" cy="7747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Voz y Control por Movimiento</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3078596"/>
            <a:ext cx="13179131" cy="1104900"/>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Diseño de la Interfaz de Usuario</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4820472"/>
            <a:ext cx="14905924" cy="21240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Aunque la RA se trata principalmente de integrar elementos digitales con el entorno físico, la interfaz de usuario (UI) sigue siendo esencial. El diseño de la UI debe garantizar que la información digital se muestre de manera clara, no intrusiva y fácil de interactuar.</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4" id="14"/>
          <p:cNvSpPr txBox="true"/>
          <p:nvPr/>
        </p:nvSpPr>
        <p:spPr>
          <a:xfrm rot="0">
            <a:off x="2554434" y="1983221"/>
            <a:ext cx="13179131" cy="1104900"/>
          </a:xfrm>
          <a:prstGeom prst="rect">
            <a:avLst/>
          </a:prstGeom>
        </p:spPr>
        <p:txBody>
          <a:bodyPr anchor="t" rtlCol="false" tIns="0" lIns="0" bIns="0" rIns="0">
            <a:spAutoFit/>
          </a:bodyPr>
          <a:lstStyle/>
          <a:p>
            <a:pPr algn="ctr">
              <a:lnSpc>
                <a:spcPts val="8649"/>
              </a:lnSpc>
            </a:pPr>
            <a:r>
              <a:rPr lang="en-US" b="true" sz="7207">
                <a:solidFill>
                  <a:srgbClr val="FFFFFF"/>
                </a:solidFill>
                <a:latin typeface="HK Grotesk Bold"/>
                <a:ea typeface="HK Grotesk Bold"/>
                <a:cs typeface="HK Grotesk Bold"/>
                <a:sym typeface="HK Grotesk Bold"/>
              </a:rPr>
              <a:t>Diseño de la Interfaz de Usuario</a:t>
            </a:r>
          </a:p>
        </p:txBody>
      </p:sp>
      <p:grpSp>
        <p:nvGrpSpPr>
          <p:cNvPr name="Group 15" id="15"/>
          <p:cNvGrpSpPr/>
          <p:nvPr/>
        </p:nvGrpSpPr>
        <p:grpSpPr>
          <a:xfrm rot="0">
            <a:off x="7757617" y="4205648"/>
            <a:ext cx="3675297" cy="4276709"/>
            <a:chOff x="0" y="0"/>
            <a:chExt cx="698500" cy="812800"/>
          </a:xfrm>
        </p:grpSpPr>
        <p:sp>
          <p:nvSpPr>
            <p:cNvPr name="Freeform 16" id="16"/>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gradFill rotWithShape="true">
              <a:gsLst>
                <a:gs pos="0">
                  <a:srgbClr val="A6A6A6">
                    <a:alpha val="100000"/>
                  </a:srgbClr>
                </a:gs>
                <a:gs pos="100000">
                  <a:srgbClr val="FFFFFF">
                    <a:alpha val="100000"/>
                  </a:srgbClr>
                </a:gs>
              </a:gsLst>
              <a:lin ang="0"/>
            </a:gradFill>
            <a:ln w="114300" cap="sq">
              <a:solidFill>
                <a:srgbClr val="000000"/>
              </a:solidFill>
              <a:prstDash val="solid"/>
              <a:miter/>
            </a:ln>
          </p:spPr>
        </p:sp>
        <p:sp>
          <p:nvSpPr>
            <p:cNvPr name="TextBox 17" id="17"/>
            <p:cNvSpPr txBox="true"/>
            <p:nvPr/>
          </p:nvSpPr>
          <p:spPr>
            <a:xfrm>
              <a:off x="0" y="63500"/>
              <a:ext cx="698500" cy="609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Botones y Controles</a:t>
              </a:r>
            </a:p>
          </p:txBody>
        </p:sp>
      </p:grpSp>
      <p:grpSp>
        <p:nvGrpSpPr>
          <p:cNvPr name="Group 18" id="18"/>
          <p:cNvGrpSpPr/>
          <p:nvPr/>
        </p:nvGrpSpPr>
        <p:grpSpPr>
          <a:xfrm rot="0">
            <a:off x="2428391" y="4205648"/>
            <a:ext cx="3595676" cy="4184059"/>
            <a:chOff x="0" y="0"/>
            <a:chExt cx="698500" cy="812800"/>
          </a:xfrm>
        </p:grpSpPr>
        <p:sp>
          <p:nvSpPr>
            <p:cNvPr name="Freeform 19" id="19"/>
            <p:cNvSpPr/>
            <p:nvPr/>
          </p:nvSpPr>
          <p:spPr>
            <a:xfrm flipH="false" flipV="false" rot="0">
              <a:off x="0" y="0"/>
              <a:ext cx="698500" cy="812800"/>
            </a:xfrm>
            <a:custGeom>
              <a:avLst/>
              <a:gdLst/>
              <a:ahLst/>
              <a:cxnLst/>
              <a:rect r="r" b="b" t="t" l="l"/>
              <a:pathLst>
                <a:path h="812800" w="698500">
                  <a:moveTo>
                    <a:pt x="349250" y="0"/>
                  </a:moveTo>
                  <a:lnTo>
                    <a:pt x="698500" y="203200"/>
                  </a:lnTo>
                  <a:lnTo>
                    <a:pt x="698500" y="609600"/>
                  </a:lnTo>
                  <a:lnTo>
                    <a:pt x="349250" y="812800"/>
                  </a:lnTo>
                  <a:lnTo>
                    <a:pt x="0" y="609600"/>
                  </a:lnTo>
                  <a:lnTo>
                    <a:pt x="0" y="203200"/>
                  </a:lnTo>
                  <a:lnTo>
                    <a:pt x="349250" y="0"/>
                  </a:lnTo>
                  <a:close/>
                </a:path>
              </a:pathLst>
            </a:custGeom>
            <a:gradFill rotWithShape="true">
              <a:gsLst>
                <a:gs pos="0">
                  <a:srgbClr val="CDFFD8">
                    <a:alpha val="100000"/>
                  </a:srgbClr>
                </a:gs>
                <a:gs pos="100000">
                  <a:srgbClr val="94B9FF">
                    <a:alpha val="100000"/>
                  </a:srgbClr>
                </a:gs>
              </a:gsLst>
              <a:lin ang="0"/>
            </a:gradFill>
            <a:ln w="114300" cap="sq">
              <a:solidFill>
                <a:srgbClr val="000000"/>
              </a:solidFill>
              <a:prstDash val="solid"/>
              <a:miter/>
            </a:ln>
          </p:spPr>
        </p:sp>
        <p:sp>
          <p:nvSpPr>
            <p:cNvPr name="TextBox 20" id="20"/>
            <p:cNvSpPr txBox="true"/>
            <p:nvPr/>
          </p:nvSpPr>
          <p:spPr>
            <a:xfrm>
              <a:off x="0" y="63500"/>
              <a:ext cx="698500" cy="609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Simplicidad</a:t>
              </a:r>
            </a:p>
          </p:txBody>
        </p:sp>
      </p:grpSp>
      <p:grpSp>
        <p:nvGrpSpPr>
          <p:cNvPr name="Group 21" id="21"/>
          <p:cNvGrpSpPr/>
          <p:nvPr/>
        </p:nvGrpSpPr>
        <p:grpSpPr>
          <a:xfrm rot="0">
            <a:off x="13166464" y="4205648"/>
            <a:ext cx="3595676" cy="4596506"/>
            <a:chOff x="0" y="0"/>
            <a:chExt cx="698500" cy="892922"/>
          </a:xfrm>
        </p:grpSpPr>
        <p:sp>
          <p:nvSpPr>
            <p:cNvPr name="Freeform 22" id="22"/>
            <p:cNvSpPr/>
            <p:nvPr/>
          </p:nvSpPr>
          <p:spPr>
            <a:xfrm flipH="false" flipV="false" rot="0">
              <a:off x="0" y="0"/>
              <a:ext cx="698500" cy="892922"/>
            </a:xfrm>
            <a:custGeom>
              <a:avLst/>
              <a:gdLst/>
              <a:ahLst/>
              <a:cxnLst/>
              <a:rect r="r" b="b" t="t" l="l"/>
              <a:pathLst>
                <a:path h="892922" w="698500">
                  <a:moveTo>
                    <a:pt x="349250" y="0"/>
                  </a:moveTo>
                  <a:lnTo>
                    <a:pt x="698500" y="203200"/>
                  </a:lnTo>
                  <a:lnTo>
                    <a:pt x="698500" y="689722"/>
                  </a:lnTo>
                  <a:lnTo>
                    <a:pt x="349250" y="892922"/>
                  </a:lnTo>
                  <a:lnTo>
                    <a:pt x="0" y="689722"/>
                  </a:lnTo>
                  <a:lnTo>
                    <a:pt x="0" y="203200"/>
                  </a:lnTo>
                  <a:lnTo>
                    <a:pt x="349250" y="0"/>
                  </a:lnTo>
                  <a:close/>
                </a:path>
              </a:pathLst>
            </a:custGeom>
            <a:gradFill rotWithShape="true">
              <a:gsLst>
                <a:gs pos="0">
                  <a:srgbClr val="FFF7AD">
                    <a:alpha val="100000"/>
                  </a:srgbClr>
                </a:gs>
                <a:gs pos="100000">
                  <a:srgbClr val="FFA9F9">
                    <a:alpha val="100000"/>
                  </a:srgbClr>
                </a:gs>
              </a:gsLst>
              <a:lin ang="0"/>
            </a:gradFill>
            <a:ln w="114300" cap="sq">
              <a:solidFill>
                <a:srgbClr val="000000"/>
              </a:solidFill>
              <a:prstDash val="solid"/>
              <a:miter/>
            </a:ln>
          </p:spPr>
        </p:sp>
        <p:sp>
          <p:nvSpPr>
            <p:cNvPr name="TextBox 23" id="23"/>
            <p:cNvSpPr txBox="true"/>
            <p:nvPr/>
          </p:nvSpPr>
          <p:spPr>
            <a:xfrm>
              <a:off x="0" y="63500"/>
              <a:ext cx="698500" cy="689722"/>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Buen Manejo de Dimensiones de Pantalla</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983221"/>
            <a:ext cx="13179131" cy="2200275"/>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Ubicación y anclaje de objetos 3D</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4820472"/>
            <a:ext cx="14905924" cy="21240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Uno de los mayores desafíos del diseño de RA es cómo integrar los objetos 3D en el entorno físico de una manera realista y funcional. Los objetos digitales deben ubicarse correctamente en el mundo real de modo que parezcan formar parte de él.</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4" id="14"/>
          <p:cNvSpPr txBox="true"/>
          <p:nvPr/>
        </p:nvSpPr>
        <p:spPr>
          <a:xfrm rot="0">
            <a:off x="2554434" y="1452923"/>
            <a:ext cx="13179131" cy="2200275"/>
          </a:xfrm>
          <a:prstGeom prst="rect">
            <a:avLst/>
          </a:prstGeom>
        </p:spPr>
        <p:txBody>
          <a:bodyPr anchor="t" rtlCol="false" tIns="0" lIns="0" bIns="0" rIns="0">
            <a:spAutoFit/>
          </a:bodyPr>
          <a:lstStyle/>
          <a:p>
            <a:pPr algn="ctr">
              <a:lnSpc>
                <a:spcPts val="8649"/>
              </a:lnSpc>
            </a:pPr>
            <a:r>
              <a:rPr lang="en-US" b="true" sz="7207">
                <a:solidFill>
                  <a:srgbClr val="FFFFFF"/>
                </a:solidFill>
                <a:latin typeface="HK Grotesk Bold"/>
                <a:ea typeface="HK Grotesk Bold"/>
                <a:cs typeface="HK Grotesk Bold"/>
                <a:sym typeface="HK Grotesk Bold"/>
              </a:rPr>
              <a:t>Ubicación y anclaje de objetos 3D</a:t>
            </a:r>
          </a:p>
        </p:txBody>
      </p:sp>
      <p:grpSp>
        <p:nvGrpSpPr>
          <p:cNvPr name="Group 15" id="15"/>
          <p:cNvGrpSpPr/>
          <p:nvPr/>
        </p:nvGrpSpPr>
        <p:grpSpPr>
          <a:xfrm rot="0">
            <a:off x="7757617" y="4205648"/>
            <a:ext cx="3675297" cy="4055500"/>
            <a:chOff x="0" y="0"/>
            <a:chExt cx="736600" cy="812800"/>
          </a:xfrm>
        </p:grpSpPr>
        <p:sp>
          <p:nvSpPr>
            <p:cNvPr name="Freeform 16" id="16"/>
            <p:cNvSpPr/>
            <p:nvPr/>
          </p:nvSpPr>
          <p:spPr>
            <a:xfrm flipH="false" flipV="false" rot="0">
              <a:off x="0" y="0"/>
              <a:ext cx="736600" cy="812800"/>
            </a:xfrm>
            <a:custGeom>
              <a:avLst/>
              <a:gdLst/>
              <a:ahLst/>
              <a:cxnLst/>
              <a:rect r="r" b="b" t="t" l="l"/>
              <a:pathLst>
                <a:path h="812800" w="736600">
                  <a:moveTo>
                    <a:pt x="736600" y="0"/>
                  </a:moveTo>
                  <a:lnTo>
                    <a:pt x="736600" y="812800"/>
                  </a:lnTo>
                  <a:lnTo>
                    <a:pt x="368300" y="685800"/>
                  </a:lnTo>
                  <a:lnTo>
                    <a:pt x="0" y="812800"/>
                  </a:lnTo>
                  <a:lnTo>
                    <a:pt x="0" y="0"/>
                  </a:lnTo>
                  <a:lnTo>
                    <a:pt x="736600" y="0"/>
                  </a:lnTo>
                  <a:close/>
                </a:path>
              </a:pathLst>
            </a:custGeom>
            <a:gradFill rotWithShape="true">
              <a:gsLst>
                <a:gs pos="0">
                  <a:srgbClr val="A6A6A6">
                    <a:alpha val="100000"/>
                  </a:srgbClr>
                </a:gs>
                <a:gs pos="100000">
                  <a:srgbClr val="FFFFFF">
                    <a:alpha val="100000"/>
                  </a:srgbClr>
                </a:gs>
              </a:gsLst>
              <a:lin ang="0"/>
            </a:gradFill>
            <a:ln w="114300" cap="sq">
              <a:solidFill>
                <a:srgbClr val="000000"/>
              </a:solidFill>
              <a:prstDash val="solid"/>
              <a:miter/>
            </a:ln>
          </p:spPr>
        </p:sp>
        <p:sp>
          <p:nvSpPr>
            <p:cNvPr name="TextBox 17" id="17"/>
            <p:cNvSpPr txBox="true"/>
            <p:nvPr/>
          </p:nvSpPr>
          <p:spPr>
            <a:xfrm>
              <a:off x="0" y="-76200"/>
              <a:ext cx="736600" cy="7620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Escala Realista</a:t>
              </a:r>
            </a:p>
          </p:txBody>
        </p:sp>
      </p:grpSp>
      <p:grpSp>
        <p:nvGrpSpPr>
          <p:cNvPr name="Group 18" id="18"/>
          <p:cNvGrpSpPr/>
          <p:nvPr/>
        </p:nvGrpSpPr>
        <p:grpSpPr>
          <a:xfrm rot="0">
            <a:off x="2428391" y="4205648"/>
            <a:ext cx="3595676" cy="3967642"/>
            <a:chOff x="0" y="0"/>
            <a:chExt cx="736600" cy="812800"/>
          </a:xfrm>
        </p:grpSpPr>
        <p:sp>
          <p:nvSpPr>
            <p:cNvPr name="Freeform 19" id="19"/>
            <p:cNvSpPr/>
            <p:nvPr/>
          </p:nvSpPr>
          <p:spPr>
            <a:xfrm flipH="false" flipV="false" rot="0">
              <a:off x="0" y="0"/>
              <a:ext cx="736600" cy="812800"/>
            </a:xfrm>
            <a:custGeom>
              <a:avLst/>
              <a:gdLst/>
              <a:ahLst/>
              <a:cxnLst/>
              <a:rect r="r" b="b" t="t" l="l"/>
              <a:pathLst>
                <a:path h="812800" w="736600">
                  <a:moveTo>
                    <a:pt x="736600" y="0"/>
                  </a:moveTo>
                  <a:lnTo>
                    <a:pt x="736600" y="812800"/>
                  </a:lnTo>
                  <a:lnTo>
                    <a:pt x="368300" y="685800"/>
                  </a:lnTo>
                  <a:lnTo>
                    <a:pt x="0" y="812800"/>
                  </a:lnTo>
                  <a:lnTo>
                    <a:pt x="0" y="0"/>
                  </a:lnTo>
                  <a:lnTo>
                    <a:pt x="736600" y="0"/>
                  </a:lnTo>
                  <a:close/>
                </a:path>
              </a:pathLst>
            </a:custGeom>
            <a:gradFill rotWithShape="true">
              <a:gsLst>
                <a:gs pos="0">
                  <a:srgbClr val="CDFFD8">
                    <a:alpha val="100000"/>
                  </a:srgbClr>
                </a:gs>
                <a:gs pos="100000">
                  <a:srgbClr val="94B9FF">
                    <a:alpha val="100000"/>
                  </a:srgbClr>
                </a:gs>
              </a:gsLst>
              <a:lin ang="0"/>
            </a:gradFill>
            <a:ln w="114300" cap="sq">
              <a:solidFill>
                <a:srgbClr val="000000"/>
              </a:solidFill>
              <a:prstDash val="solid"/>
              <a:miter/>
            </a:ln>
          </p:spPr>
        </p:sp>
        <p:sp>
          <p:nvSpPr>
            <p:cNvPr name="TextBox 20" id="20"/>
            <p:cNvSpPr txBox="true"/>
            <p:nvPr/>
          </p:nvSpPr>
          <p:spPr>
            <a:xfrm>
              <a:off x="0" y="-76200"/>
              <a:ext cx="736600" cy="7620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Detección de Superficies</a:t>
              </a:r>
            </a:p>
          </p:txBody>
        </p:sp>
      </p:grpSp>
      <p:grpSp>
        <p:nvGrpSpPr>
          <p:cNvPr name="Group 21" id="21"/>
          <p:cNvGrpSpPr/>
          <p:nvPr/>
        </p:nvGrpSpPr>
        <p:grpSpPr>
          <a:xfrm rot="0">
            <a:off x="13166464" y="4205648"/>
            <a:ext cx="3595676" cy="3967642"/>
            <a:chOff x="0" y="0"/>
            <a:chExt cx="736600" cy="812800"/>
          </a:xfrm>
        </p:grpSpPr>
        <p:sp>
          <p:nvSpPr>
            <p:cNvPr name="Freeform 22" id="22"/>
            <p:cNvSpPr/>
            <p:nvPr/>
          </p:nvSpPr>
          <p:spPr>
            <a:xfrm flipH="false" flipV="false" rot="0">
              <a:off x="0" y="0"/>
              <a:ext cx="736600" cy="812800"/>
            </a:xfrm>
            <a:custGeom>
              <a:avLst/>
              <a:gdLst/>
              <a:ahLst/>
              <a:cxnLst/>
              <a:rect r="r" b="b" t="t" l="l"/>
              <a:pathLst>
                <a:path h="812800" w="736600">
                  <a:moveTo>
                    <a:pt x="736600" y="0"/>
                  </a:moveTo>
                  <a:lnTo>
                    <a:pt x="736600" y="812800"/>
                  </a:lnTo>
                  <a:lnTo>
                    <a:pt x="368300" y="685800"/>
                  </a:lnTo>
                  <a:lnTo>
                    <a:pt x="0" y="812800"/>
                  </a:lnTo>
                  <a:lnTo>
                    <a:pt x="0" y="0"/>
                  </a:lnTo>
                  <a:lnTo>
                    <a:pt x="736600" y="0"/>
                  </a:lnTo>
                  <a:close/>
                </a:path>
              </a:pathLst>
            </a:custGeom>
            <a:gradFill rotWithShape="true">
              <a:gsLst>
                <a:gs pos="0">
                  <a:srgbClr val="FFF7AD">
                    <a:alpha val="100000"/>
                  </a:srgbClr>
                </a:gs>
                <a:gs pos="100000">
                  <a:srgbClr val="FFA9F9">
                    <a:alpha val="100000"/>
                  </a:srgbClr>
                </a:gs>
              </a:gsLst>
              <a:lin ang="0"/>
            </a:gradFill>
            <a:ln w="114300" cap="sq">
              <a:solidFill>
                <a:srgbClr val="000000"/>
              </a:solidFill>
              <a:prstDash val="solid"/>
              <a:miter/>
            </a:ln>
          </p:spPr>
        </p:sp>
        <p:sp>
          <p:nvSpPr>
            <p:cNvPr name="TextBox 23" id="23"/>
            <p:cNvSpPr txBox="true"/>
            <p:nvPr/>
          </p:nvSpPr>
          <p:spPr>
            <a:xfrm>
              <a:off x="0" y="-76200"/>
              <a:ext cx="736600" cy="7620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Sombra y Reflejos</a:t>
              </a:r>
            </a:p>
          </p:txBody>
        </p:sp>
      </p:gr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983221"/>
            <a:ext cx="13179131" cy="2200275"/>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Optimización para dispositivos móviles</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4820472"/>
            <a:ext cx="14905924" cy="26574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La mayoría de las aplicaciones de RA se ejecutan en dispositivos móviles (iPhone, Android), lo que significa que el rendimiento es un factor crucial. Las aplicaciones de RA deben estar optimizadas para garantizar un rendimiento fluido, especialmente dado que la RA implica procesamiento de gráficos 3D y seguimiento en tiempo real.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4" id="14"/>
          <p:cNvSpPr txBox="true"/>
          <p:nvPr/>
        </p:nvSpPr>
        <p:spPr>
          <a:xfrm rot="0">
            <a:off x="2554434" y="1452923"/>
            <a:ext cx="13179131" cy="2200275"/>
          </a:xfrm>
          <a:prstGeom prst="rect">
            <a:avLst/>
          </a:prstGeom>
        </p:spPr>
        <p:txBody>
          <a:bodyPr anchor="t" rtlCol="false" tIns="0" lIns="0" bIns="0" rIns="0">
            <a:spAutoFit/>
          </a:bodyPr>
          <a:lstStyle/>
          <a:p>
            <a:pPr algn="ctr">
              <a:lnSpc>
                <a:spcPts val="8649"/>
              </a:lnSpc>
            </a:pPr>
            <a:r>
              <a:rPr lang="en-US" b="true" sz="7207">
                <a:solidFill>
                  <a:srgbClr val="FFFFFF"/>
                </a:solidFill>
                <a:latin typeface="HK Grotesk Bold"/>
                <a:ea typeface="HK Grotesk Bold"/>
                <a:cs typeface="HK Grotesk Bold"/>
                <a:sym typeface="HK Grotesk Bold"/>
              </a:rPr>
              <a:t>Ubicación y anclaje de objetos 3D</a:t>
            </a:r>
          </a:p>
        </p:txBody>
      </p:sp>
      <p:grpSp>
        <p:nvGrpSpPr>
          <p:cNvPr name="Group 15" id="15"/>
          <p:cNvGrpSpPr/>
          <p:nvPr/>
        </p:nvGrpSpPr>
        <p:grpSpPr>
          <a:xfrm rot="0">
            <a:off x="3407042" y="3986736"/>
            <a:ext cx="4079280" cy="4072309"/>
            <a:chOff x="0" y="0"/>
            <a:chExt cx="883626" cy="882116"/>
          </a:xfrm>
        </p:grpSpPr>
        <p:sp>
          <p:nvSpPr>
            <p:cNvPr name="Freeform 16" id="16"/>
            <p:cNvSpPr/>
            <p:nvPr/>
          </p:nvSpPr>
          <p:spPr>
            <a:xfrm flipH="false" flipV="false" rot="0">
              <a:off x="0" y="0"/>
              <a:ext cx="883626" cy="882116"/>
            </a:xfrm>
            <a:custGeom>
              <a:avLst/>
              <a:gdLst/>
              <a:ahLst/>
              <a:cxnLst/>
              <a:rect r="r" b="b" t="t" l="l"/>
              <a:pathLst>
                <a:path h="882116" w="883626">
                  <a:moveTo>
                    <a:pt x="441813" y="0"/>
                  </a:moveTo>
                  <a:cubicBezTo>
                    <a:pt x="197806" y="0"/>
                    <a:pt x="0" y="197468"/>
                    <a:pt x="0" y="441058"/>
                  </a:cubicBezTo>
                  <a:cubicBezTo>
                    <a:pt x="0" y="684648"/>
                    <a:pt x="197806" y="882116"/>
                    <a:pt x="441813" y="882116"/>
                  </a:cubicBezTo>
                  <a:cubicBezTo>
                    <a:pt x="685820" y="882116"/>
                    <a:pt x="883626" y="684648"/>
                    <a:pt x="883626" y="441058"/>
                  </a:cubicBezTo>
                  <a:cubicBezTo>
                    <a:pt x="883626" y="197468"/>
                    <a:pt x="685820" y="0"/>
                    <a:pt x="441813" y="0"/>
                  </a:cubicBezTo>
                  <a:close/>
                </a:path>
              </a:pathLst>
            </a:custGeom>
            <a:gradFill rotWithShape="true">
              <a:gsLst>
                <a:gs pos="0">
                  <a:srgbClr val="CDFFD8">
                    <a:alpha val="100000"/>
                  </a:srgbClr>
                </a:gs>
                <a:gs pos="100000">
                  <a:srgbClr val="94B9FF">
                    <a:alpha val="100000"/>
                  </a:srgbClr>
                </a:gs>
              </a:gsLst>
              <a:lin ang="0"/>
            </a:gradFill>
            <a:ln w="114300" cap="sq">
              <a:solidFill>
                <a:srgbClr val="000000"/>
              </a:solidFill>
              <a:prstDash val="solid"/>
              <a:miter/>
            </a:ln>
          </p:spPr>
        </p:sp>
        <p:sp>
          <p:nvSpPr>
            <p:cNvPr name="TextBox 17" id="17"/>
            <p:cNvSpPr txBox="true"/>
            <p:nvPr/>
          </p:nvSpPr>
          <p:spPr>
            <a:xfrm>
              <a:off x="82840" y="6498"/>
              <a:ext cx="717946" cy="79292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Uso eficiente de los Recursos</a:t>
              </a:r>
            </a:p>
          </p:txBody>
        </p:sp>
      </p:grpSp>
      <p:grpSp>
        <p:nvGrpSpPr>
          <p:cNvPr name="Group 18" id="18"/>
          <p:cNvGrpSpPr/>
          <p:nvPr/>
        </p:nvGrpSpPr>
        <p:grpSpPr>
          <a:xfrm rot="0">
            <a:off x="10881106" y="3986736"/>
            <a:ext cx="4070740" cy="4072309"/>
            <a:chOff x="0" y="0"/>
            <a:chExt cx="858644" cy="858975"/>
          </a:xfrm>
        </p:grpSpPr>
        <p:sp>
          <p:nvSpPr>
            <p:cNvPr name="Freeform 19" id="19"/>
            <p:cNvSpPr/>
            <p:nvPr/>
          </p:nvSpPr>
          <p:spPr>
            <a:xfrm flipH="false" flipV="false" rot="0">
              <a:off x="0" y="0"/>
              <a:ext cx="858644" cy="858975"/>
            </a:xfrm>
            <a:custGeom>
              <a:avLst/>
              <a:gdLst/>
              <a:ahLst/>
              <a:cxnLst/>
              <a:rect r="r" b="b" t="t" l="l"/>
              <a:pathLst>
                <a:path h="858975" w="858644">
                  <a:moveTo>
                    <a:pt x="429322" y="0"/>
                  </a:moveTo>
                  <a:cubicBezTo>
                    <a:pt x="192214" y="0"/>
                    <a:pt x="0" y="192288"/>
                    <a:pt x="0" y="429488"/>
                  </a:cubicBezTo>
                  <a:cubicBezTo>
                    <a:pt x="0" y="666687"/>
                    <a:pt x="192214" y="858975"/>
                    <a:pt x="429322" y="858975"/>
                  </a:cubicBezTo>
                  <a:cubicBezTo>
                    <a:pt x="666430" y="858975"/>
                    <a:pt x="858644" y="666687"/>
                    <a:pt x="858644" y="429488"/>
                  </a:cubicBezTo>
                  <a:cubicBezTo>
                    <a:pt x="858644" y="192288"/>
                    <a:pt x="666430" y="0"/>
                    <a:pt x="429322" y="0"/>
                  </a:cubicBezTo>
                  <a:close/>
                </a:path>
              </a:pathLst>
            </a:custGeom>
            <a:gradFill rotWithShape="true">
              <a:gsLst>
                <a:gs pos="0">
                  <a:srgbClr val="FFF7AD">
                    <a:alpha val="100000"/>
                  </a:srgbClr>
                </a:gs>
                <a:gs pos="100000">
                  <a:srgbClr val="FFA9F9">
                    <a:alpha val="100000"/>
                  </a:srgbClr>
                </a:gs>
              </a:gsLst>
              <a:lin ang="0"/>
            </a:gradFill>
            <a:ln w="114300" cap="sq">
              <a:solidFill>
                <a:srgbClr val="000000"/>
              </a:solidFill>
              <a:prstDash val="solid"/>
              <a:miter/>
            </a:ln>
          </p:spPr>
        </p:sp>
        <p:sp>
          <p:nvSpPr>
            <p:cNvPr name="TextBox 20" id="20"/>
            <p:cNvSpPr txBox="true"/>
            <p:nvPr/>
          </p:nvSpPr>
          <p:spPr>
            <a:xfrm>
              <a:off x="80498" y="4329"/>
              <a:ext cx="697648" cy="774117"/>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Tamaño y Carga</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463142"/>
            <a:ext cx="13179131" cy="1104900"/>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Realismo y Efectos Visuales</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3021446"/>
            <a:ext cx="14905924" cy="10572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Crear una experiencia inmersiva significa trabajar en la calidad visual de los objetos y efectos en la escena.</a:t>
            </a:r>
          </a:p>
        </p:txBody>
      </p:sp>
      <p:grpSp>
        <p:nvGrpSpPr>
          <p:cNvPr name="Group 16" id="16"/>
          <p:cNvGrpSpPr/>
          <p:nvPr/>
        </p:nvGrpSpPr>
        <p:grpSpPr>
          <a:xfrm rot="0">
            <a:off x="7005882" y="5107522"/>
            <a:ext cx="4296343" cy="1837649"/>
            <a:chOff x="0" y="0"/>
            <a:chExt cx="950146" cy="406400"/>
          </a:xfrm>
        </p:grpSpPr>
        <p:sp>
          <p:nvSpPr>
            <p:cNvPr name="Freeform 17" id="17"/>
            <p:cNvSpPr/>
            <p:nvPr/>
          </p:nvSpPr>
          <p:spPr>
            <a:xfrm flipH="false" flipV="false" rot="0">
              <a:off x="0" y="0"/>
              <a:ext cx="950146" cy="406400"/>
            </a:xfrm>
            <a:custGeom>
              <a:avLst/>
              <a:gdLst/>
              <a:ahLst/>
              <a:cxnLst/>
              <a:rect r="r" b="b" t="t" l="l"/>
              <a:pathLst>
                <a:path h="406400" w="950146">
                  <a:moveTo>
                    <a:pt x="746946" y="0"/>
                  </a:moveTo>
                  <a:lnTo>
                    <a:pt x="0" y="0"/>
                  </a:lnTo>
                  <a:lnTo>
                    <a:pt x="0" y="406400"/>
                  </a:lnTo>
                  <a:lnTo>
                    <a:pt x="746946" y="406400"/>
                  </a:lnTo>
                  <a:lnTo>
                    <a:pt x="950146" y="203200"/>
                  </a:lnTo>
                  <a:lnTo>
                    <a:pt x="746946" y="0"/>
                  </a:lnTo>
                  <a:close/>
                </a:path>
              </a:pathLst>
            </a:custGeom>
            <a:gradFill rotWithShape="true">
              <a:gsLst>
                <a:gs pos="0">
                  <a:srgbClr val="A6A6A6">
                    <a:alpha val="100000"/>
                  </a:srgbClr>
                </a:gs>
                <a:gs pos="100000">
                  <a:srgbClr val="FFFFFF">
                    <a:alpha val="100000"/>
                  </a:srgbClr>
                </a:gs>
              </a:gsLst>
              <a:lin ang="0"/>
            </a:gradFill>
            <a:ln w="114300" cap="sq">
              <a:solidFill>
                <a:srgbClr val="000000"/>
              </a:solidFill>
              <a:prstDash val="solid"/>
              <a:miter/>
            </a:ln>
          </p:spPr>
        </p:sp>
        <p:sp>
          <p:nvSpPr>
            <p:cNvPr name="TextBox 18" id="18"/>
            <p:cNvSpPr txBox="true"/>
            <p:nvPr/>
          </p:nvSpPr>
          <p:spPr>
            <a:xfrm>
              <a:off x="0" y="-76200"/>
              <a:ext cx="835846" cy="482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Efectos de Sonido</a:t>
              </a:r>
            </a:p>
          </p:txBody>
        </p:sp>
      </p:grpSp>
      <p:grpSp>
        <p:nvGrpSpPr>
          <p:cNvPr name="Group 19" id="19"/>
          <p:cNvGrpSpPr/>
          <p:nvPr/>
        </p:nvGrpSpPr>
        <p:grpSpPr>
          <a:xfrm rot="0">
            <a:off x="1676657" y="5106222"/>
            <a:ext cx="4296343" cy="1797838"/>
            <a:chOff x="0" y="0"/>
            <a:chExt cx="971185" cy="406400"/>
          </a:xfrm>
        </p:grpSpPr>
        <p:sp>
          <p:nvSpPr>
            <p:cNvPr name="Freeform 20" id="20"/>
            <p:cNvSpPr/>
            <p:nvPr/>
          </p:nvSpPr>
          <p:spPr>
            <a:xfrm flipH="false" flipV="false" rot="0">
              <a:off x="0" y="0"/>
              <a:ext cx="971185" cy="406400"/>
            </a:xfrm>
            <a:custGeom>
              <a:avLst/>
              <a:gdLst/>
              <a:ahLst/>
              <a:cxnLst/>
              <a:rect r="r" b="b" t="t" l="l"/>
              <a:pathLst>
                <a:path h="406400" w="971185">
                  <a:moveTo>
                    <a:pt x="767985" y="0"/>
                  </a:moveTo>
                  <a:lnTo>
                    <a:pt x="0" y="0"/>
                  </a:lnTo>
                  <a:lnTo>
                    <a:pt x="0" y="406400"/>
                  </a:lnTo>
                  <a:lnTo>
                    <a:pt x="767985" y="406400"/>
                  </a:lnTo>
                  <a:lnTo>
                    <a:pt x="971185" y="203200"/>
                  </a:lnTo>
                  <a:lnTo>
                    <a:pt x="767985" y="0"/>
                  </a:lnTo>
                  <a:close/>
                </a:path>
              </a:pathLst>
            </a:custGeom>
            <a:gradFill rotWithShape="true">
              <a:gsLst>
                <a:gs pos="0">
                  <a:srgbClr val="CDFFD8">
                    <a:alpha val="100000"/>
                  </a:srgbClr>
                </a:gs>
                <a:gs pos="100000">
                  <a:srgbClr val="94B9FF">
                    <a:alpha val="100000"/>
                  </a:srgbClr>
                </a:gs>
              </a:gsLst>
              <a:lin ang="0"/>
            </a:gradFill>
            <a:ln w="114300" cap="sq">
              <a:solidFill>
                <a:srgbClr val="000000"/>
              </a:solidFill>
              <a:prstDash val="solid"/>
              <a:miter/>
            </a:ln>
          </p:spPr>
        </p:sp>
        <p:sp>
          <p:nvSpPr>
            <p:cNvPr name="TextBox 21" id="21"/>
            <p:cNvSpPr txBox="true"/>
            <p:nvPr/>
          </p:nvSpPr>
          <p:spPr>
            <a:xfrm>
              <a:off x="0" y="-76200"/>
              <a:ext cx="856885" cy="482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Texturas y Detalles</a:t>
              </a:r>
            </a:p>
          </p:txBody>
        </p:sp>
      </p:grpSp>
      <p:grpSp>
        <p:nvGrpSpPr>
          <p:cNvPr name="Group 22" id="22"/>
          <p:cNvGrpSpPr/>
          <p:nvPr/>
        </p:nvGrpSpPr>
        <p:grpSpPr>
          <a:xfrm rot="0">
            <a:off x="12330925" y="5147332"/>
            <a:ext cx="4280418" cy="1797838"/>
            <a:chOff x="0" y="0"/>
            <a:chExt cx="967586" cy="406400"/>
          </a:xfrm>
        </p:grpSpPr>
        <p:sp>
          <p:nvSpPr>
            <p:cNvPr name="Freeform 23" id="23"/>
            <p:cNvSpPr/>
            <p:nvPr/>
          </p:nvSpPr>
          <p:spPr>
            <a:xfrm flipH="false" flipV="false" rot="0">
              <a:off x="0" y="0"/>
              <a:ext cx="967586" cy="406400"/>
            </a:xfrm>
            <a:custGeom>
              <a:avLst/>
              <a:gdLst/>
              <a:ahLst/>
              <a:cxnLst/>
              <a:rect r="r" b="b" t="t" l="l"/>
              <a:pathLst>
                <a:path h="406400" w="967586">
                  <a:moveTo>
                    <a:pt x="764386" y="0"/>
                  </a:moveTo>
                  <a:lnTo>
                    <a:pt x="0" y="0"/>
                  </a:lnTo>
                  <a:lnTo>
                    <a:pt x="0" y="406400"/>
                  </a:lnTo>
                  <a:lnTo>
                    <a:pt x="764386" y="406400"/>
                  </a:lnTo>
                  <a:lnTo>
                    <a:pt x="967586" y="203200"/>
                  </a:lnTo>
                  <a:lnTo>
                    <a:pt x="764386" y="0"/>
                  </a:lnTo>
                  <a:close/>
                </a:path>
              </a:pathLst>
            </a:custGeom>
            <a:gradFill rotWithShape="true">
              <a:gsLst>
                <a:gs pos="0">
                  <a:srgbClr val="FFF7AD">
                    <a:alpha val="100000"/>
                  </a:srgbClr>
                </a:gs>
                <a:gs pos="100000">
                  <a:srgbClr val="FFA9F9">
                    <a:alpha val="100000"/>
                  </a:srgbClr>
                </a:gs>
              </a:gsLst>
              <a:lin ang="0"/>
            </a:gradFill>
            <a:ln w="114300" cap="sq">
              <a:solidFill>
                <a:srgbClr val="000000"/>
              </a:solidFill>
              <a:prstDash val="solid"/>
              <a:miter/>
            </a:ln>
          </p:spPr>
        </p:sp>
        <p:sp>
          <p:nvSpPr>
            <p:cNvPr name="TextBox 24" id="24"/>
            <p:cNvSpPr txBox="true"/>
            <p:nvPr/>
          </p:nvSpPr>
          <p:spPr>
            <a:xfrm>
              <a:off x="0" y="-76200"/>
              <a:ext cx="853286" cy="482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Iluminación Dinámica</a:t>
              </a:r>
            </a:p>
          </p:txBody>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463142"/>
            <a:ext cx="13179131" cy="1104900"/>
          </a:xfrm>
          <a:prstGeom prst="rect">
            <a:avLst/>
          </a:prstGeom>
        </p:spPr>
        <p:txBody>
          <a:bodyPr anchor="t" rtlCol="false" tIns="0" lIns="0" bIns="0" rIns="0">
            <a:spAutoFit/>
          </a:bodyPr>
          <a:lstStyle/>
          <a:p>
            <a:pPr algn="ctr">
              <a:lnSpc>
                <a:spcPts val="8649"/>
              </a:lnSpc>
            </a:pPr>
            <a:r>
              <a:rPr lang="en-US" b="true" sz="7207">
                <a:solidFill>
                  <a:srgbClr val="F4F6FC"/>
                </a:solidFill>
                <a:latin typeface="HK Grotesk Bold"/>
                <a:ea typeface="HK Grotesk Bold"/>
                <a:cs typeface="HK Grotesk Bold"/>
                <a:sym typeface="HK Grotesk Bold"/>
              </a:rPr>
              <a:t>Accesibilidad</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2925901"/>
            <a:ext cx="14905924" cy="1057275"/>
          </a:xfrm>
          <a:prstGeom prst="rect">
            <a:avLst/>
          </a:prstGeom>
        </p:spPr>
        <p:txBody>
          <a:bodyPr anchor="t" rtlCol="false" tIns="0" lIns="0" bIns="0" rIns="0">
            <a:spAutoFit/>
          </a:bodyPr>
          <a:lstStyle/>
          <a:p>
            <a:pPr algn="just">
              <a:lnSpc>
                <a:spcPts val="4200"/>
              </a:lnSpc>
            </a:pPr>
            <a:r>
              <a:rPr lang="en-US" sz="3000" spc="240">
                <a:solidFill>
                  <a:srgbClr val="F4F6FC"/>
                </a:solidFill>
                <a:latin typeface="HK Grotesk"/>
                <a:ea typeface="HK Grotesk"/>
                <a:cs typeface="HK Grotesk"/>
                <a:sym typeface="HK Grotesk"/>
              </a:rPr>
              <a:t>Las aplicaciones de RA deben ser accesibles para un público amplio. Esto incluye usuarios con discapacidades o dificultades de interacción.</a:t>
            </a:r>
          </a:p>
        </p:txBody>
      </p:sp>
      <p:grpSp>
        <p:nvGrpSpPr>
          <p:cNvPr name="Group 16" id="16"/>
          <p:cNvGrpSpPr/>
          <p:nvPr/>
        </p:nvGrpSpPr>
        <p:grpSpPr>
          <a:xfrm rot="0">
            <a:off x="6782943" y="5144800"/>
            <a:ext cx="4742221" cy="2148171"/>
            <a:chOff x="0" y="0"/>
            <a:chExt cx="897153" cy="406400"/>
          </a:xfrm>
        </p:grpSpPr>
        <p:sp>
          <p:nvSpPr>
            <p:cNvPr name="Freeform 17" id="17"/>
            <p:cNvSpPr/>
            <p:nvPr/>
          </p:nvSpPr>
          <p:spPr>
            <a:xfrm flipH="false" flipV="false" rot="0">
              <a:off x="0" y="0"/>
              <a:ext cx="897153" cy="406400"/>
            </a:xfrm>
            <a:custGeom>
              <a:avLst/>
              <a:gdLst/>
              <a:ahLst/>
              <a:cxnLst/>
              <a:rect r="r" b="b" t="t" l="l"/>
              <a:pathLst>
                <a:path h="406400" w="897153">
                  <a:moveTo>
                    <a:pt x="0" y="0"/>
                  </a:moveTo>
                  <a:lnTo>
                    <a:pt x="693953" y="0"/>
                  </a:lnTo>
                  <a:lnTo>
                    <a:pt x="897153" y="203200"/>
                  </a:lnTo>
                  <a:lnTo>
                    <a:pt x="693953" y="406400"/>
                  </a:lnTo>
                  <a:lnTo>
                    <a:pt x="0" y="406400"/>
                  </a:lnTo>
                  <a:lnTo>
                    <a:pt x="203200" y="203200"/>
                  </a:lnTo>
                  <a:lnTo>
                    <a:pt x="0" y="0"/>
                  </a:lnTo>
                  <a:close/>
                </a:path>
              </a:pathLst>
            </a:custGeom>
            <a:gradFill rotWithShape="true">
              <a:gsLst>
                <a:gs pos="0">
                  <a:srgbClr val="A6A6A6">
                    <a:alpha val="100000"/>
                  </a:srgbClr>
                </a:gs>
                <a:gs pos="100000">
                  <a:srgbClr val="FFFFFF">
                    <a:alpha val="100000"/>
                  </a:srgbClr>
                </a:gs>
              </a:gsLst>
              <a:lin ang="0"/>
            </a:gradFill>
            <a:ln w="95250" cap="sq">
              <a:solidFill>
                <a:srgbClr val="000000"/>
              </a:solidFill>
              <a:prstDash val="solid"/>
              <a:miter/>
            </a:ln>
          </p:spPr>
        </p:sp>
        <p:sp>
          <p:nvSpPr>
            <p:cNvPr name="TextBox 18" id="18"/>
            <p:cNvSpPr txBox="true"/>
            <p:nvPr/>
          </p:nvSpPr>
          <p:spPr>
            <a:xfrm>
              <a:off x="177800" y="-57150"/>
              <a:ext cx="643153" cy="463550"/>
            </a:xfrm>
            <a:prstGeom prst="rect">
              <a:avLst/>
            </a:prstGeom>
          </p:spPr>
          <p:txBody>
            <a:bodyPr anchor="ctr" rtlCol="false" tIns="50800" lIns="50800" bIns="50800" rIns="50800"/>
            <a:lstStyle/>
            <a:p>
              <a:pPr algn="ctr">
                <a:lnSpc>
                  <a:spcPts val="4199"/>
                </a:lnSpc>
              </a:pPr>
              <a:r>
                <a:rPr lang="en-US" b="true" sz="2999">
                  <a:solidFill>
                    <a:srgbClr val="050A30"/>
                  </a:solidFill>
                  <a:latin typeface="Open Sauce Bold"/>
                  <a:ea typeface="Open Sauce Bold"/>
                  <a:cs typeface="Open Sauce Bold"/>
                  <a:sym typeface="Open Sauce Bold"/>
                </a:rPr>
                <a:t>Soporte para lectores de pantalla</a:t>
              </a:r>
            </a:p>
          </p:txBody>
        </p:sp>
      </p:grpSp>
      <p:grpSp>
        <p:nvGrpSpPr>
          <p:cNvPr name="Group 19" id="19"/>
          <p:cNvGrpSpPr/>
          <p:nvPr/>
        </p:nvGrpSpPr>
        <p:grpSpPr>
          <a:xfrm rot="0">
            <a:off x="1453717" y="5143500"/>
            <a:ext cx="4757726" cy="2148171"/>
            <a:chOff x="0" y="0"/>
            <a:chExt cx="900086" cy="406400"/>
          </a:xfrm>
        </p:grpSpPr>
        <p:sp>
          <p:nvSpPr>
            <p:cNvPr name="Freeform 20" id="20"/>
            <p:cNvSpPr/>
            <p:nvPr/>
          </p:nvSpPr>
          <p:spPr>
            <a:xfrm flipH="false" flipV="false" rot="0">
              <a:off x="0" y="0"/>
              <a:ext cx="900086" cy="406400"/>
            </a:xfrm>
            <a:custGeom>
              <a:avLst/>
              <a:gdLst/>
              <a:ahLst/>
              <a:cxnLst/>
              <a:rect r="r" b="b" t="t" l="l"/>
              <a:pathLst>
                <a:path h="406400" w="900086">
                  <a:moveTo>
                    <a:pt x="0" y="0"/>
                  </a:moveTo>
                  <a:lnTo>
                    <a:pt x="696886" y="0"/>
                  </a:lnTo>
                  <a:lnTo>
                    <a:pt x="900086" y="203200"/>
                  </a:lnTo>
                  <a:lnTo>
                    <a:pt x="696886" y="406400"/>
                  </a:lnTo>
                  <a:lnTo>
                    <a:pt x="0" y="406400"/>
                  </a:lnTo>
                  <a:lnTo>
                    <a:pt x="203200" y="203200"/>
                  </a:lnTo>
                  <a:lnTo>
                    <a:pt x="0" y="0"/>
                  </a:lnTo>
                  <a:close/>
                </a:path>
              </a:pathLst>
            </a:custGeom>
            <a:gradFill rotWithShape="true">
              <a:gsLst>
                <a:gs pos="0">
                  <a:srgbClr val="CDFFD8">
                    <a:alpha val="100000"/>
                  </a:srgbClr>
                </a:gs>
                <a:gs pos="100000">
                  <a:srgbClr val="94B9FF">
                    <a:alpha val="100000"/>
                  </a:srgbClr>
                </a:gs>
              </a:gsLst>
              <a:lin ang="0"/>
            </a:gradFill>
            <a:ln w="95250" cap="sq">
              <a:solidFill>
                <a:srgbClr val="000000"/>
              </a:solidFill>
              <a:prstDash val="solid"/>
              <a:miter/>
            </a:ln>
          </p:spPr>
        </p:sp>
        <p:sp>
          <p:nvSpPr>
            <p:cNvPr name="TextBox 21" id="21"/>
            <p:cNvSpPr txBox="true"/>
            <p:nvPr/>
          </p:nvSpPr>
          <p:spPr>
            <a:xfrm>
              <a:off x="177800" y="-57150"/>
              <a:ext cx="646086" cy="463550"/>
            </a:xfrm>
            <a:prstGeom prst="rect">
              <a:avLst/>
            </a:prstGeom>
          </p:spPr>
          <p:txBody>
            <a:bodyPr anchor="ctr" rtlCol="false" tIns="50800" lIns="50800" bIns="50800" rIns="50800"/>
            <a:lstStyle/>
            <a:p>
              <a:pPr algn="ctr">
                <a:lnSpc>
                  <a:spcPts val="4199"/>
                </a:lnSpc>
              </a:pPr>
              <a:r>
                <a:rPr lang="en-US" b="true" sz="2999">
                  <a:solidFill>
                    <a:srgbClr val="050A30"/>
                  </a:solidFill>
                  <a:latin typeface="Open Sauce Bold"/>
                  <a:ea typeface="Open Sauce Bold"/>
                  <a:cs typeface="Open Sauce Bold"/>
                  <a:sym typeface="Open Sauce Bold"/>
                </a:rPr>
                <a:t>Contrastes de colores altos</a:t>
              </a:r>
            </a:p>
          </p:txBody>
        </p:sp>
      </p:grpSp>
      <p:grpSp>
        <p:nvGrpSpPr>
          <p:cNvPr name="Group 22" id="22"/>
          <p:cNvGrpSpPr/>
          <p:nvPr/>
        </p:nvGrpSpPr>
        <p:grpSpPr>
          <a:xfrm rot="0">
            <a:off x="12096664" y="5143500"/>
            <a:ext cx="4726297" cy="2140209"/>
            <a:chOff x="0" y="0"/>
            <a:chExt cx="897467" cy="406400"/>
          </a:xfrm>
        </p:grpSpPr>
        <p:sp>
          <p:nvSpPr>
            <p:cNvPr name="Freeform 23" id="23"/>
            <p:cNvSpPr/>
            <p:nvPr/>
          </p:nvSpPr>
          <p:spPr>
            <a:xfrm flipH="false" flipV="false" rot="0">
              <a:off x="0" y="0"/>
              <a:ext cx="897467" cy="406400"/>
            </a:xfrm>
            <a:custGeom>
              <a:avLst/>
              <a:gdLst/>
              <a:ahLst/>
              <a:cxnLst/>
              <a:rect r="r" b="b" t="t" l="l"/>
              <a:pathLst>
                <a:path h="406400" w="897467">
                  <a:moveTo>
                    <a:pt x="0" y="0"/>
                  </a:moveTo>
                  <a:lnTo>
                    <a:pt x="694267" y="0"/>
                  </a:lnTo>
                  <a:lnTo>
                    <a:pt x="897467" y="203200"/>
                  </a:lnTo>
                  <a:lnTo>
                    <a:pt x="694267" y="406400"/>
                  </a:lnTo>
                  <a:lnTo>
                    <a:pt x="0" y="406400"/>
                  </a:lnTo>
                  <a:lnTo>
                    <a:pt x="203200" y="203200"/>
                  </a:lnTo>
                  <a:lnTo>
                    <a:pt x="0" y="0"/>
                  </a:lnTo>
                  <a:close/>
                </a:path>
              </a:pathLst>
            </a:custGeom>
            <a:gradFill rotWithShape="true">
              <a:gsLst>
                <a:gs pos="0">
                  <a:srgbClr val="FFF7AD">
                    <a:alpha val="100000"/>
                  </a:srgbClr>
                </a:gs>
                <a:gs pos="100000">
                  <a:srgbClr val="FFA9F9">
                    <a:alpha val="100000"/>
                  </a:srgbClr>
                </a:gs>
              </a:gsLst>
              <a:lin ang="0"/>
            </a:gradFill>
            <a:ln w="95250" cap="sq">
              <a:solidFill>
                <a:srgbClr val="000000"/>
              </a:solidFill>
              <a:prstDash val="solid"/>
              <a:miter/>
            </a:ln>
          </p:spPr>
        </p:sp>
        <p:sp>
          <p:nvSpPr>
            <p:cNvPr name="TextBox 24" id="24"/>
            <p:cNvSpPr txBox="true"/>
            <p:nvPr/>
          </p:nvSpPr>
          <p:spPr>
            <a:xfrm>
              <a:off x="177800" y="-57150"/>
              <a:ext cx="643467" cy="463550"/>
            </a:xfrm>
            <a:prstGeom prst="rect">
              <a:avLst/>
            </a:prstGeom>
          </p:spPr>
          <p:txBody>
            <a:bodyPr anchor="ctr" rtlCol="false" tIns="50800" lIns="50800" bIns="50800" rIns="50800"/>
            <a:lstStyle/>
            <a:p>
              <a:pPr algn="ctr">
                <a:lnSpc>
                  <a:spcPts val="4199"/>
                </a:lnSpc>
              </a:pPr>
              <a:r>
                <a:rPr lang="en-US" b="true" sz="2999">
                  <a:solidFill>
                    <a:srgbClr val="050A30"/>
                  </a:solidFill>
                  <a:latin typeface="Open Sauce Bold"/>
                  <a:ea typeface="Open Sauce Bold"/>
                  <a:cs typeface="Open Sauce Bold"/>
                  <a:sym typeface="Open Sauce Bold"/>
                </a:rPr>
                <a:t>Opciones de interaccción alternativa</a:t>
              </a:r>
            </a:p>
          </p:txBody>
        </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2554434" y="1123312"/>
            <a:ext cx="13179131" cy="1104900"/>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Pruebas de Adaptabilidad</a:t>
            </a:r>
          </a:p>
        </p:txBody>
      </p:sp>
      <p:sp>
        <p:nvSpPr>
          <p:cNvPr name="TextBox 14" id="14"/>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15" id="15"/>
          <p:cNvSpPr txBox="true"/>
          <p:nvPr/>
        </p:nvSpPr>
        <p:spPr>
          <a:xfrm rot="0">
            <a:off x="1691038" y="2516184"/>
            <a:ext cx="14905924" cy="1590675"/>
          </a:xfrm>
          <a:prstGeom prst="rect">
            <a:avLst/>
          </a:prstGeom>
        </p:spPr>
        <p:txBody>
          <a:bodyPr anchor="t" rtlCol="false" tIns="0" lIns="0" bIns="0" rIns="0">
            <a:spAutoFit/>
          </a:bodyPr>
          <a:lstStyle/>
          <a:p>
            <a:pPr algn="just">
              <a:lnSpc>
                <a:spcPts val="4200"/>
              </a:lnSpc>
            </a:pPr>
            <a:r>
              <a:rPr lang="en-US" sz="3000" spc="240">
                <a:solidFill>
                  <a:srgbClr val="050A30"/>
                </a:solidFill>
                <a:latin typeface="HK Grotesk"/>
                <a:ea typeface="HK Grotesk"/>
                <a:cs typeface="HK Grotesk"/>
                <a:sym typeface="HK Grotesk"/>
              </a:rPr>
              <a:t>Dado que las aplicaciones de RA involucran la interacción en el mundo físico, es fundamental realizar pruebas exhaustivas para asegurarse de que los objetos virtuales se comporten correctamente en diferentes entornos.</a:t>
            </a:r>
          </a:p>
        </p:txBody>
      </p:sp>
      <p:grpSp>
        <p:nvGrpSpPr>
          <p:cNvPr name="Group 16" id="16"/>
          <p:cNvGrpSpPr/>
          <p:nvPr/>
        </p:nvGrpSpPr>
        <p:grpSpPr>
          <a:xfrm rot="0">
            <a:off x="4015865" y="5143500"/>
            <a:ext cx="4296343" cy="2148171"/>
            <a:chOff x="0" y="0"/>
            <a:chExt cx="812800" cy="406400"/>
          </a:xfrm>
        </p:grpSpPr>
        <p:sp>
          <p:nvSpPr>
            <p:cNvPr name="Freeform 17" id="17"/>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CDFFD8">
                    <a:alpha val="100000"/>
                  </a:srgbClr>
                </a:gs>
                <a:gs pos="100000">
                  <a:srgbClr val="94B9FF">
                    <a:alpha val="100000"/>
                  </a:srgbClr>
                </a:gs>
              </a:gsLst>
              <a:lin ang="0"/>
            </a:gradFill>
            <a:ln w="95250" cap="sq">
              <a:solidFill>
                <a:srgbClr val="000000"/>
              </a:solidFill>
              <a:prstDash val="solid"/>
              <a:miter/>
            </a:ln>
          </p:spPr>
        </p:sp>
        <p:sp>
          <p:nvSpPr>
            <p:cNvPr name="TextBox 18" id="18"/>
            <p:cNvSpPr txBox="true"/>
            <p:nvPr/>
          </p:nvSpPr>
          <p:spPr>
            <a:xfrm>
              <a:off x="0" y="-76200"/>
              <a:ext cx="812800" cy="482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Pruebas de Usuario</a:t>
              </a:r>
            </a:p>
          </p:txBody>
        </p:sp>
      </p:grpSp>
      <p:grpSp>
        <p:nvGrpSpPr>
          <p:cNvPr name="Group 19" id="19"/>
          <p:cNvGrpSpPr/>
          <p:nvPr/>
        </p:nvGrpSpPr>
        <p:grpSpPr>
          <a:xfrm rot="0">
            <a:off x="9928019" y="5151462"/>
            <a:ext cx="4280418" cy="2140209"/>
            <a:chOff x="0" y="0"/>
            <a:chExt cx="812800" cy="406400"/>
          </a:xfrm>
        </p:grpSpPr>
        <p:sp>
          <p:nvSpPr>
            <p:cNvPr name="Freeform 20" id="20"/>
            <p:cNvSpPr/>
            <p:nvPr/>
          </p:nvSpPr>
          <p:spPr>
            <a:xfrm flipH="false" flipV="false" rot="0">
              <a:off x="0" y="0"/>
              <a:ext cx="812800" cy="406400"/>
            </a:xfrm>
            <a:custGeom>
              <a:avLst/>
              <a:gdLst/>
              <a:ahLst/>
              <a:cxnLst/>
              <a:rect r="r" b="b" t="t" l="l"/>
              <a:pathLst>
                <a:path h="406400" w="812800">
                  <a:moveTo>
                    <a:pt x="609600" y="0"/>
                  </a:moveTo>
                  <a:cubicBezTo>
                    <a:pt x="721824" y="0"/>
                    <a:pt x="812800" y="90976"/>
                    <a:pt x="812800" y="203200"/>
                  </a:cubicBezTo>
                  <a:cubicBezTo>
                    <a:pt x="812800" y="315424"/>
                    <a:pt x="721824" y="406400"/>
                    <a:pt x="609600" y="406400"/>
                  </a:cubicBezTo>
                  <a:lnTo>
                    <a:pt x="203200" y="406400"/>
                  </a:lnTo>
                  <a:cubicBezTo>
                    <a:pt x="90976" y="406400"/>
                    <a:pt x="0" y="315424"/>
                    <a:pt x="0" y="203200"/>
                  </a:cubicBezTo>
                  <a:cubicBezTo>
                    <a:pt x="0" y="90976"/>
                    <a:pt x="90976" y="0"/>
                    <a:pt x="203200" y="0"/>
                  </a:cubicBezTo>
                  <a:close/>
                </a:path>
              </a:pathLst>
            </a:custGeom>
            <a:gradFill rotWithShape="true">
              <a:gsLst>
                <a:gs pos="0">
                  <a:srgbClr val="FFF7AD">
                    <a:alpha val="100000"/>
                  </a:srgbClr>
                </a:gs>
                <a:gs pos="100000">
                  <a:srgbClr val="FFA9F9">
                    <a:alpha val="100000"/>
                  </a:srgbClr>
                </a:gs>
              </a:gsLst>
              <a:lin ang="0"/>
            </a:gradFill>
            <a:ln w="95250" cap="sq">
              <a:solidFill>
                <a:srgbClr val="000000"/>
              </a:solidFill>
              <a:prstDash val="solid"/>
              <a:miter/>
            </a:ln>
          </p:spPr>
        </p:sp>
        <p:sp>
          <p:nvSpPr>
            <p:cNvPr name="TextBox 21" id="21"/>
            <p:cNvSpPr txBox="true"/>
            <p:nvPr/>
          </p:nvSpPr>
          <p:spPr>
            <a:xfrm>
              <a:off x="0" y="-76200"/>
              <a:ext cx="812800" cy="482600"/>
            </a:xfrm>
            <a:prstGeom prst="rect">
              <a:avLst/>
            </a:prstGeom>
          </p:spPr>
          <p:txBody>
            <a:bodyPr anchor="ctr" rtlCol="false" tIns="50800" lIns="50800" bIns="50800" rIns="50800"/>
            <a:lstStyle/>
            <a:p>
              <a:pPr algn="ctr">
                <a:lnSpc>
                  <a:spcPts val="5599"/>
                </a:lnSpc>
              </a:pPr>
              <a:r>
                <a:rPr lang="en-US" b="true" sz="3999">
                  <a:solidFill>
                    <a:srgbClr val="000000"/>
                  </a:solidFill>
                  <a:latin typeface="Open Sauce Bold"/>
                  <a:ea typeface="Open Sauce Bold"/>
                  <a:cs typeface="Open Sauce Bold"/>
                  <a:sym typeface="Open Sauce Bold"/>
                </a:rPr>
                <a:t>Feedback en tiempo real</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sp>
        <p:nvSpPr>
          <p:cNvPr name="TextBox 13" id="13"/>
          <p:cNvSpPr txBox="true"/>
          <p:nvPr/>
        </p:nvSpPr>
        <p:spPr>
          <a:xfrm rot="0">
            <a:off x="3020359" y="3976163"/>
            <a:ext cx="12247282" cy="2114550"/>
          </a:xfrm>
          <a:prstGeom prst="rect">
            <a:avLst/>
          </a:prstGeom>
        </p:spPr>
        <p:txBody>
          <a:bodyPr anchor="t" rtlCol="false" tIns="0" lIns="0" bIns="0" rIns="0">
            <a:spAutoFit/>
          </a:bodyPr>
          <a:lstStyle/>
          <a:p>
            <a:pPr algn="ctr">
              <a:lnSpc>
                <a:spcPts val="8399"/>
              </a:lnSpc>
            </a:pPr>
            <a:r>
              <a:rPr lang="en-US" b="true" sz="6999">
                <a:solidFill>
                  <a:srgbClr val="F4F6FC"/>
                </a:solidFill>
                <a:latin typeface="HK Grotesk Bold"/>
                <a:ea typeface="HK Grotesk Bold"/>
                <a:cs typeface="HK Grotesk Bold"/>
                <a:sym typeface="HK Grotesk Bold"/>
              </a:rPr>
              <a:t>Desafíos y Futuro del Contenido Digital en RA</a:t>
            </a:r>
          </a:p>
        </p:txBody>
      </p:sp>
      <p:sp>
        <p:nvSpPr>
          <p:cNvPr name="TextBox 14" id="14"/>
          <p:cNvSpPr txBox="true"/>
          <p:nvPr/>
        </p:nvSpPr>
        <p:spPr>
          <a:xfrm rot="0">
            <a:off x="1028700" y="8699056"/>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2693871"/>
            <a:ext cx="7528964" cy="2204118"/>
            <a:chOff x="0" y="0"/>
            <a:chExt cx="1982937" cy="580509"/>
          </a:xfrm>
        </p:grpSpPr>
        <p:sp>
          <p:nvSpPr>
            <p:cNvPr name="Freeform 14" id="14"/>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p:spPr>
        </p:sp>
        <p:sp>
          <p:nvSpPr>
            <p:cNvPr name="TextBox 15" id="15"/>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grpSp>
        <p:nvGrpSpPr>
          <p:cNvPr name="Group 16" id="16"/>
          <p:cNvGrpSpPr/>
          <p:nvPr/>
        </p:nvGrpSpPr>
        <p:grpSpPr>
          <a:xfrm rot="0">
            <a:off x="9595266" y="2693871"/>
            <a:ext cx="7528964" cy="2204118"/>
            <a:chOff x="0" y="0"/>
            <a:chExt cx="1982937" cy="580509"/>
          </a:xfrm>
        </p:grpSpPr>
        <p:sp>
          <p:nvSpPr>
            <p:cNvPr name="Freeform 17" id="17"/>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p:spPr>
        </p:sp>
        <p:sp>
          <p:nvSpPr>
            <p:cNvPr name="TextBox 18" id="18"/>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sp>
        <p:nvSpPr>
          <p:cNvPr name="TextBox 19" id="19"/>
          <p:cNvSpPr txBox="true"/>
          <p:nvPr/>
        </p:nvSpPr>
        <p:spPr>
          <a:xfrm rot="0">
            <a:off x="2554434" y="867816"/>
            <a:ext cx="13179131" cy="1104900"/>
          </a:xfrm>
          <a:prstGeom prst="rect">
            <a:avLst/>
          </a:prstGeom>
        </p:spPr>
        <p:txBody>
          <a:bodyPr anchor="t" rtlCol="false" tIns="0" lIns="0" bIns="0" rIns="0">
            <a:spAutoFit/>
          </a:bodyPr>
          <a:lstStyle/>
          <a:p>
            <a:pPr algn="ctr">
              <a:lnSpc>
                <a:spcPts val="8649"/>
              </a:lnSpc>
            </a:pPr>
            <a:r>
              <a:rPr lang="en-US" b="true" sz="7207">
                <a:solidFill>
                  <a:srgbClr val="050A30"/>
                </a:solidFill>
                <a:latin typeface="HK Grotesk Bold"/>
                <a:ea typeface="HK Grotesk Bold"/>
                <a:cs typeface="HK Grotesk Bold"/>
                <a:sym typeface="HK Grotesk Bold"/>
              </a:rPr>
              <a:t>Desafíos Actuales</a:t>
            </a:r>
          </a:p>
        </p:txBody>
      </p:sp>
      <p:sp>
        <p:nvSpPr>
          <p:cNvPr name="TextBox 20" id="20"/>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050A30"/>
                </a:solidFill>
                <a:latin typeface="HK Grotesk Medium"/>
                <a:ea typeface="HK Grotesk Medium"/>
                <a:cs typeface="HK Grotesk Medium"/>
                <a:sym typeface="HK Grotesk Medium"/>
              </a:rPr>
              <a:t>Elaborado por: Robin Omar Buezo Díaz</a:t>
            </a:r>
          </a:p>
        </p:txBody>
      </p:sp>
      <p:sp>
        <p:nvSpPr>
          <p:cNvPr name="TextBox 21" id="21"/>
          <p:cNvSpPr txBox="true"/>
          <p:nvPr/>
        </p:nvSpPr>
        <p:spPr>
          <a:xfrm rot="0">
            <a:off x="1537684" y="3212738"/>
            <a:ext cx="6510997" cy="1038226"/>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HK Grotesk"/>
                <a:ea typeface="HK Grotesk"/>
                <a:cs typeface="HK Grotesk"/>
                <a:sym typeface="HK Grotesk"/>
              </a:rPr>
              <a:t>Alto costo de desarrollo y producción de contenido interactivo.</a:t>
            </a:r>
          </a:p>
        </p:txBody>
      </p:sp>
      <p:grpSp>
        <p:nvGrpSpPr>
          <p:cNvPr name="Group 22" id="22"/>
          <p:cNvGrpSpPr/>
          <p:nvPr/>
        </p:nvGrpSpPr>
        <p:grpSpPr>
          <a:xfrm rot="0">
            <a:off x="5379518" y="5813063"/>
            <a:ext cx="7528964" cy="2204118"/>
            <a:chOff x="0" y="0"/>
            <a:chExt cx="1982937" cy="580509"/>
          </a:xfrm>
        </p:grpSpPr>
        <p:sp>
          <p:nvSpPr>
            <p:cNvPr name="Freeform 23" id="23"/>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3C3D5C"/>
            </a:solidFill>
          </p:spPr>
        </p:sp>
        <p:sp>
          <p:nvSpPr>
            <p:cNvPr name="TextBox 24" id="24"/>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sp>
        <p:nvSpPr>
          <p:cNvPr name="TextBox 25" id="25"/>
          <p:cNvSpPr txBox="true"/>
          <p:nvPr/>
        </p:nvSpPr>
        <p:spPr>
          <a:xfrm rot="0">
            <a:off x="10104249" y="3212738"/>
            <a:ext cx="6510997" cy="1038226"/>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HK Grotesk"/>
                <a:ea typeface="HK Grotesk"/>
                <a:cs typeface="HK Grotesk"/>
                <a:sym typeface="HK Grotesk"/>
              </a:rPr>
              <a:t>Limitaciones tecnológicas en dispositivos móviles y gafas de RA.</a:t>
            </a:r>
          </a:p>
        </p:txBody>
      </p:sp>
      <p:sp>
        <p:nvSpPr>
          <p:cNvPr name="TextBox 26" id="26"/>
          <p:cNvSpPr txBox="true"/>
          <p:nvPr/>
        </p:nvSpPr>
        <p:spPr>
          <a:xfrm rot="0">
            <a:off x="5888502" y="6362672"/>
            <a:ext cx="6510997" cy="1038226"/>
          </a:xfrm>
          <a:prstGeom prst="rect">
            <a:avLst/>
          </a:prstGeom>
        </p:spPr>
        <p:txBody>
          <a:bodyPr anchor="t" rtlCol="false" tIns="0" lIns="0" bIns="0" rIns="0">
            <a:spAutoFit/>
          </a:bodyPr>
          <a:lstStyle/>
          <a:p>
            <a:pPr algn="ctr">
              <a:lnSpc>
                <a:spcPts val="4199"/>
              </a:lnSpc>
              <a:spcBef>
                <a:spcPct val="0"/>
              </a:spcBef>
            </a:pPr>
            <a:r>
              <a:rPr lang="en-US" sz="2999">
                <a:solidFill>
                  <a:srgbClr val="FFFFFF"/>
                </a:solidFill>
                <a:latin typeface="HK Grotesk"/>
                <a:ea typeface="HK Grotesk"/>
                <a:cs typeface="HK Grotesk"/>
                <a:sym typeface="HK Grotesk"/>
              </a:rPr>
              <a:t>Problemas de usabilidad y accesibilidad para algunos usuarios.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F4F6FC"/>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F4F6FC"/>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Freeform 12" id="12"/>
          <p:cNvSpPr/>
          <p:nvPr/>
        </p:nvSpPr>
        <p:spPr>
          <a:xfrm flipH="false" flipV="false" rot="-10800000">
            <a:off x="14019925" y="-210928"/>
            <a:ext cx="5098075" cy="5098075"/>
          </a:xfrm>
          <a:custGeom>
            <a:avLst/>
            <a:gdLst/>
            <a:ahLst/>
            <a:cxnLst/>
            <a:rect r="r" b="b" t="t" l="l"/>
            <a:pathLst>
              <a:path h="5098075" w="5098075">
                <a:moveTo>
                  <a:pt x="0" y="0"/>
                </a:moveTo>
                <a:lnTo>
                  <a:pt x="5098075" y="0"/>
                </a:lnTo>
                <a:lnTo>
                  <a:pt x="5098075" y="5098075"/>
                </a:lnTo>
                <a:lnTo>
                  <a:pt x="0" y="5098075"/>
                </a:lnTo>
                <a:lnTo>
                  <a:pt x="0" y="0"/>
                </a:lnTo>
                <a:close/>
              </a:path>
            </a:pathLst>
          </a:custGeom>
          <a:blipFill>
            <a:blip r:embed="rId3">
              <a:alphaModFix amt="77000"/>
              <a:extLst>
                <a:ext uri="{96DAC541-7B7A-43D3-8B79-37D633B846F1}">
                  <asvg:svgBlip xmlns:asvg="http://schemas.microsoft.com/office/drawing/2016/SVG/main" r:embed="rId4"/>
                </a:ext>
              </a:extLst>
            </a:blip>
            <a:stretch>
              <a:fillRect l="0" t="0" r="0" b="0"/>
            </a:stretch>
          </a:blipFill>
        </p:spPr>
      </p:sp>
      <p:grpSp>
        <p:nvGrpSpPr>
          <p:cNvPr name="Group 13" id="13"/>
          <p:cNvGrpSpPr/>
          <p:nvPr/>
        </p:nvGrpSpPr>
        <p:grpSpPr>
          <a:xfrm rot="0">
            <a:off x="1028700" y="3010355"/>
            <a:ext cx="7528964" cy="2204118"/>
            <a:chOff x="0" y="0"/>
            <a:chExt cx="1982937" cy="580509"/>
          </a:xfrm>
        </p:grpSpPr>
        <p:sp>
          <p:nvSpPr>
            <p:cNvPr name="Freeform 14" id="14"/>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p:spPr>
        </p:sp>
        <p:sp>
          <p:nvSpPr>
            <p:cNvPr name="TextBox 15" id="15"/>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grpSp>
        <p:nvGrpSpPr>
          <p:cNvPr name="Group 16" id="16"/>
          <p:cNvGrpSpPr/>
          <p:nvPr/>
        </p:nvGrpSpPr>
        <p:grpSpPr>
          <a:xfrm rot="0">
            <a:off x="9595266" y="3010355"/>
            <a:ext cx="7528964" cy="2204118"/>
            <a:chOff x="0" y="0"/>
            <a:chExt cx="1982937" cy="580509"/>
          </a:xfrm>
        </p:grpSpPr>
        <p:sp>
          <p:nvSpPr>
            <p:cNvPr name="Freeform 17" id="17"/>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p:spPr>
        </p:sp>
        <p:sp>
          <p:nvSpPr>
            <p:cNvPr name="TextBox 18" id="18"/>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sp>
        <p:nvSpPr>
          <p:cNvPr name="TextBox 19" id="19"/>
          <p:cNvSpPr txBox="true"/>
          <p:nvPr/>
        </p:nvSpPr>
        <p:spPr>
          <a:xfrm rot="0">
            <a:off x="2554434" y="867816"/>
            <a:ext cx="13179131" cy="857250"/>
          </a:xfrm>
          <a:prstGeom prst="rect">
            <a:avLst/>
          </a:prstGeom>
        </p:spPr>
        <p:txBody>
          <a:bodyPr anchor="t" rtlCol="false" tIns="0" lIns="0" bIns="0" rIns="0">
            <a:spAutoFit/>
          </a:bodyPr>
          <a:lstStyle/>
          <a:p>
            <a:pPr algn="ctr">
              <a:lnSpc>
                <a:spcPts val="6729"/>
              </a:lnSpc>
            </a:pPr>
            <a:r>
              <a:rPr lang="en-US" b="true" sz="5607">
                <a:solidFill>
                  <a:srgbClr val="F4F6FC"/>
                </a:solidFill>
                <a:latin typeface="HK Grotesk Bold"/>
                <a:ea typeface="HK Grotesk Bold"/>
                <a:cs typeface="HK Grotesk Bold"/>
                <a:sym typeface="HK Grotesk Bold"/>
              </a:rPr>
              <a:t>Futuro del Contenido Digital en RA</a:t>
            </a:r>
          </a:p>
        </p:txBody>
      </p:sp>
      <p:sp>
        <p:nvSpPr>
          <p:cNvPr name="TextBox 20" id="20"/>
          <p:cNvSpPr txBox="true"/>
          <p:nvPr/>
        </p:nvSpPr>
        <p:spPr>
          <a:xfrm rot="0">
            <a:off x="13114928" y="8931275"/>
            <a:ext cx="4756684" cy="327025"/>
          </a:xfrm>
          <a:prstGeom prst="rect">
            <a:avLst/>
          </a:prstGeom>
        </p:spPr>
        <p:txBody>
          <a:bodyPr anchor="t" rtlCol="false" tIns="0" lIns="0" bIns="0" rIns="0">
            <a:spAutoFit/>
          </a:bodyPr>
          <a:lstStyle/>
          <a:p>
            <a:pPr algn="just" marL="0" indent="0" lvl="0">
              <a:lnSpc>
                <a:spcPts val="2600"/>
              </a:lnSpc>
              <a:spcBef>
                <a:spcPct val="0"/>
              </a:spcBef>
            </a:pPr>
            <a:r>
              <a:rPr lang="en-US" b="true" sz="2000">
                <a:solidFill>
                  <a:srgbClr val="F4F6FC"/>
                </a:solidFill>
                <a:latin typeface="HK Grotesk Medium"/>
                <a:ea typeface="HK Grotesk Medium"/>
                <a:cs typeface="HK Grotesk Medium"/>
                <a:sym typeface="HK Grotesk Medium"/>
              </a:rPr>
              <a:t>Elaborado por: Robin Omar Buezo Díaz</a:t>
            </a:r>
          </a:p>
        </p:txBody>
      </p:sp>
      <p:sp>
        <p:nvSpPr>
          <p:cNvPr name="TextBox 21" id="21"/>
          <p:cNvSpPr txBox="true"/>
          <p:nvPr/>
        </p:nvSpPr>
        <p:spPr>
          <a:xfrm rot="0">
            <a:off x="1537684" y="3559964"/>
            <a:ext cx="6510997" cy="1038226"/>
          </a:xfrm>
          <a:prstGeom prst="rect">
            <a:avLst/>
          </a:prstGeom>
        </p:spPr>
        <p:txBody>
          <a:bodyPr anchor="t" rtlCol="false" tIns="0" lIns="0" bIns="0" rIns="0">
            <a:spAutoFit/>
          </a:bodyPr>
          <a:lstStyle/>
          <a:p>
            <a:pPr algn="ctr">
              <a:lnSpc>
                <a:spcPts val="4199"/>
              </a:lnSpc>
              <a:spcBef>
                <a:spcPct val="0"/>
              </a:spcBef>
            </a:pPr>
            <a:r>
              <a:rPr lang="en-US" b="true" sz="2999">
                <a:solidFill>
                  <a:srgbClr val="050A30"/>
                </a:solidFill>
                <a:latin typeface="HK Grotesk Bold"/>
                <a:ea typeface="HK Grotesk Bold"/>
                <a:cs typeface="HK Grotesk Bold"/>
                <a:sym typeface="HK Grotesk Bold"/>
              </a:rPr>
              <a:t>AVANCES EN IN</a:t>
            </a:r>
            <a:r>
              <a:rPr lang="en-US" b="true" sz="2999">
                <a:solidFill>
                  <a:srgbClr val="050A30"/>
                </a:solidFill>
                <a:latin typeface="HK Grotesk Bold"/>
                <a:ea typeface="HK Grotesk Bold"/>
                <a:cs typeface="HK Grotesk Bold"/>
                <a:sym typeface="HK Grotesk Bold"/>
              </a:rPr>
              <a:t>teligencia artificial para personalizar la experiencia de RA.</a:t>
            </a:r>
          </a:p>
        </p:txBody>
      </p:sp>
      <p:sp>
        <p:nvSpPr>
          <p:cNvPr name="TextBox 22" id="22"/>
          <p:cNvSpPr txBox="true"/>
          <p:nvPr/>
        </p:nvSpPr>
        <p:spPr>
          <a:xfrm rot="0">
            <a:off x="10104249" y="3554064"/>
            <a:ext cx="6510997" cy="1038226"/>
          </a:xfrm>
          <a:prstGeom prst="rect">
            <a:avLst/>
          </a:prstGeom>
        </p:spPr>
        <p:txBody>
          <a:bodyPr anchor="t" rtlCol="false" tIns="0" lIns="0" bIns="0" rIns="0">
            <a:spAutoFit/>
          </a:bodyPr>
          <a:lstStyle/>
          <a:p>
            <a:pPr algn="ctr">
              <a:lnSpc>
                <a:spcPts val="4199"/>
              </a:lnSpc>
              <a:spcBef>
                <a:spcPct val="0"/>
              </a:spcBef>
            </a:pPr>
            <a:r>
              <a:rPr lang="en-US" b="true" sz="2999">
                <a:solidFill>
                  <a:srgbClr val="050A30"/>
                </a:solidFill>
                <a:latin typeface="HK Grotesk Bold"/>
                <a:ea typeface="HK Grotesk Bold"/>
                <a:cs typeface="HK Grotesk Bold"/>
                <a:sym typeface="HK Grotesk Bold"/>
              </a:rPr>
              <a:t>MAYO</a:t>
            </a:r>
            <a:r>
              <a:rPr lang="en-US" b="true" sz="2999">
                <a:solidFill>
                  <a:srgbClr val="050A30"/>
                </a:solidFill>
                <a:latin typeface="HK Grotesk Bold"/>
                <a:ea typeface="HK Grotesk Bold"/>
                <a:cs typeface="HK Grotesk Bold"/>
                <a:sym typeface="HK Grotesk Bold"/>
              </a:rPr>
              <a:t>R INTEGRACIÓN CON EL METAVERSO Y EXPERIEN</a:t>
            </a:r>
            <a:r>
              <a:rPr lang="en-US" b="true" sz="2999">
                <a:solidFill>
                  <a:srgbClr val="050A30"/>
                </a:solidFill>
                <a:latin typeface="HK Grotesk Bold"/>
                <a:ea typeface="HK Grotesk Bold"/>
                <a:cs typeface="HK Grotesk Bold"/>
                <a:sym typeface="HK Grotesk Bold"/>
              </a:rPr>
              <a:t>cias digitales híbridas.</a:t>
            </a:r>
          </a:p>
        </p:txBody>
      </p:sp>
      <p:grpSp>
        <p:nvGrpSpPr>
          <p:cNvPr name="Group 23" id="23"/>
          <p:cNvGrpSpPr/>
          <p:nvPr/>
        </p:nvGrpSpPr>
        <p:grpSpPr>
          <a:xfrm rot="0">
            <a:off x="5379518" y="5887690"/>
            <a:ext cx="7528964" cy="2204118"/>
            <a:chOff x="0" y="0"/>
            <a:chExt cx="1982937" cy="580509"/>
          </a:xfrm>
        </p:grpSpPr>
        <p:sp>
          <p:nvSpPr>
            <p:cNvPr name="Freeform 24" id="24"/>
            <p:cNvSpPr/>
            <p:nvPr/>
          </p:nvSpPr>
          <p:spPr>
            <a:xfrm flipH="false" flipV="false" rot="0">
              <a:off x="0" y="0"/>
              <a:ext cx="1982937" cy="580509"/>
            </a:xfrm>
            <a:custGeom>
              <a:avLst/>
              <a:gdLst/>
              <a:ahLst/>
              <a:cxnLst/>
              <a:rect r="r" b="b" t="t" l="l"/>
              <a:pathLst>
                <a:path h="580509" w="1982937">
                  <a:moveTo>
                    <a:pt x="52443" y="0"/>
                  </a:moveTo>
                  <a:lnTo>
                    <a:pt x="1930495" y="0"/>
                  </a:lnTo>
                  <a:cubicBezTo>
                    <a:pt x="1944403" y="0"/>
                    <a:pt x="1957742" y="5525"/>
                    <a:pt x="1967577" y="15360"/>
                  </a:cubicBezTo>
                  <a:cubicBezTo>
                    <a:pt x="1977412" y="25195"/>
                    <a:pt x="1982937" y="38534"/>
                    <a:pt x="1982937" y="52443"/>
                  </a:cubicBezTo>
                  <a:lnTo>
                    <a:pt x="1982937" y="528066"/>
                  </a:lnTo>
                  <a:cubicBezTo>
                    <a:pt x="1982937" y="557029"/>
                    <a:pt x="1959458" y="580509"/>
                    <a:pt x="1930495" y="580509"/>
                  </a:cubicBezTo>
                  <a:lnTo>
                    <a:pt x="52443" y="580509"/>
                  </a:lnTo>
                  <a:cubicBezTo>
                    <a:pt x="23479" y="580509"/>
                    <a:pt x="0" y="557029"/>
                    <a:pt x="0" y="528066"/>
                  </a:cubicBezTo>
                  <a:lnTo>
                    <a:pt x="0" y="52443"/>
                  </a:lnTo>
                  <a:cubicBezTo>
                    <a:pt x="0" y="23479"/>
                    <a:pt x="23479" y="0"/>
                    <a:pt x="52443" y="0"/>
                  </a:cubicBezTo>
                  <a:close/>
                </a:path>
              </a:pathLst>
            </a:custGeom>
            <a:solidFill>
              <a:srgbClr val="F4F6FC"/>
            </a:solidFill>
          </p:spPr>
        </p:sp>
        <p:sp>
          <p:nvSpPr>
            <p:cNvPr name="TextBox 25" id="25"/>
            <p:cNvSpPr txBox="true"/>
            <p:nvPr/>
          </p:nvSpPr>
          <p:spPr>
            <a:xfrm>
              <a:off x="0" y="-47625"/>
              <a:ext cx="1982937" cy="628134"/>
            </a:xfrm>
            <a:prstGeom prst="rect">
              <a:avLst/>
            </a:prstGeom>
          </p:spPr>
          <p:txBody>
            <a:bodyPr anchor="ctr" rtlCol="false" tIns="50800" lIns="50800" bIns="50800" rIns="50800"/>
            <a:lstStyle/>
            <a:p>
              <a:pPr algn="ctr">
                <a:lnSpc>
                  <a:spcPts val="3079"/>
                </a:lnSpc>
              </a:pPr>
            </a:p>
          </p:txBody>
        </p:sp>
      </p:grpSp>
      <p:sp>
        <p:nvSpPr>
          <p:cNvPr name="TextBox 26" id="26"/>
          <p:cNvSpPr txBox="true"/>
          <p:nvPr/>
        </p:nvSpPr>
        <p:spPr>
          <a:xfrm rot="0">
            <a:off x="5888502" y="6178668"/>
            <a:ext cx="6510997" cy="1562101"/>
          </a:xfrm>
          <a:prstGeom prst="rect">
            <a:avLst/>
          </a:prstGeom>
        </p:spPr>
        <p:txBody>
          <a:bodyPr anchor="t" rtlCol="false" tIns="0" lIns="0" bIns="0" rIns="0">
            <a:spAutoFit/>
          </a:bodyPr>
          <a:lstStyle/>
          <a:p>
            <a:pPr algn="ctr">
              <a:lnSpc>
                <a:spcPts val="4199"/>
              </a:lnSpc>
              <a:spcBef>
                <a:spcPct val="0"/>
              </a:spcBef>
            </a:pPr>
            <a:r>
              <a:rPr lang="en-US" b="true" sz="2999">
                <a:solidFill>
                  <a:srgbClr val="050A30"/>
                </a:solidFill>
                <a:latin typeface="HK Grotesk Bold"/>
                <a:ea typeface="HK Grotesk Bold"/>
                <a:cs typeface="HK Grotesk Bold"/>
                <a:sym typeface="HK Grotesk Bold"/>
              </a:rPr>
              <a:t>D</a:t>
            </a:r>
            <a:r>
              <a:rPr lang="en-US" b="true" sz="2999">
                <a:solidFill>
                  <a:srgbClr val="050A30"/>
                </a:solidFill>
                <a:latin typeface="HK Grotesk Bold"/>
                <a:ea typeface="HK Grotesk Bold"/>
                <a:cs typeface="HK Grotesk Bold"/>
                <a:sym typeface="HK Grotesk Bold"/>
              </a:rPr>
              <a:t>ISPOSI</a:t>
            </a:r>
            <a:r>
              <a:rPr lang="en-US" b="true" sz="2999">
                <a:solidFill>
                  <a:srgbClr val="050A30"/>
                </a:solidFill>
                <a:latin typeface="HK Grotesk Bold"/>
                <a:ea typeface="HK Grotesk Bold"/>
                <a:cs typeface="HK Grotesk Bold"/>
                <a:sym typeface="HK Grotesk Bold"/>
              </a:rPr>
              <a:t>tivos más accesibles y optimización de la calidad gráfica en RA.</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F4F6FC"/>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05467"/>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Conceptos Clave Aprendidos </a:t>
            </a:r>
          </a:p>
        </p:txBody>
      </p:sp>
      <p:sp>
        <p:nvSpPr>
          <p:cNvPr name="TextBox 13" id="13"/>
          <p:cNvSpPr txBox="true"/>
          <p:nvPr/>
        </p:nvSpPr>
        <p:spPr>
          <a:xfrm rot="0">
            <a:off x="319935" y="1785983"/>
            <a:ext cx="17623519" cy="7583803"/>
          </a:xfrm>
          <a:prstGeom prst="rect">
            <a:avLst/>
          </a:prstGeom>
        </p:spPr>
        <p:txBody>
          <a:bodyPr anchor="t" rtlCol="false" tIns="0" lIns="0" bIns="0" rIns="0">
            <a:spAutoFit/>
          </a:bodyPr>
          <a:lstStyle/>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Diseño RA: </a:t>
            </a:r>
            <a:r>
              <a:rPr lang="en-US" sz="3300" spc="264">
                <a:solidFill>
                  <a:srgbClr val="050A30"/>
                </a:solidFill>
                <a:latin typeface="HK Grotesk"/>
                <a:ea typeface="HK Grotesk"/>
                <a:cs typeface="HK Grotesk"/>
                <a:sym typeface="HK Grotesk"/>
              </a:rPr>
              <a:t>Crear experiencias que integren elementos digitales en el entorno físico de forma intuitiva</a:t>
            </a:r>
            <a:r>
              <a:rPr lang="en-US" sz="3300" spc="264">
                <a:solidFill>
                  <a:srgbClr val="050A30"/>
                </a:solidFill>
                <a:latin typeface="HK Grotesk"/>
                <a:ea typeface="HK Grotesk"/>
                <a:cs typeface="HK Grotesk"/>
                <a:sym typeface="HK Grotesk"/>
              </a:rPr>
              <a:t>.</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Interacción natural: </a:t>
            </a:r>
            <a:r>
              <a:rPr lang="en-US" sz="3300" spc="264">
                <a:solidFill>
                  <a:srgbClr val="050A30"/>
                </a:solidFill>
                <a:latin typeface="HK Grotesk"/>
                <a:ea typeface="HK Grotesk"/>
                <a:cs typeface="HK Grotesk"/>
                <a:sym typeface="HK Grotesk"/>
              </a:rPr>
              <a:t>Uso de gestos, voz y movimientos para una experiencia fluida con el entorno.</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UI en RA: </a:t>
            </a:r>
            <a:r>
              <a:rPr lang="en-US" sz="3300" spc="264">
                <a:solidFill>
                  <a:srgbClr val="050A30"/>
                </a:solidFill>
                <a:latin typeface="HK Grotesk"/>
                <a:ea typeface="HK Grotesk"/>
                <a:cs typeface="HK Grotesk"/>
                <a:sym typeface="HK Grotesk"/>
              </a:rPr>
              <a:t>Interfaces claras, simples y no intrusivas que mejoran la interacción.</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Anclaje 3D: </a:t>
            </a:r>
            <a:r>
              <a:rPr lang="en-US" sz="3300" spc="264">
                <a:solidFill>
                  <a:srgbClr val="050A30"/>
                </a:solidFill>
                <a:latin typeface="HK Grotesk"/>
                <a:ea typeface="HK Grotesk"/>
                <a:cs typeface="HK Grotesk"/>
                <a:sym typeface="HK Grotesk"/>
              </a:rPr>
              <a:t>Objetos bien posicionados con escala, sombras y realismo.</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Optimización móvil: </a:t>
            </a:r>
            <a:r>
              <a:rPr lang="en-US" sz="3300" spc="264">
                <a:solidFill>
                  <a:srgbClr val="050A30"/>
                </a:solidFill>
                <a:latin typeface="HK Grotesk"/>
                <a:ea typeface="HK Grotesk"/>
                <a:cs typeface="HK Grotesk"/>
                <a:sym typeface="HK Grotesk"/>
              </a:rPr>
              <a:t>Buen uso de recursos para mantener el rendimiento.</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Acces</a:t>
            </a:r>
            <a:r>
              <a:rPr lang="en-US" b="true" sz="3300" spc="264">
                <a:solidFill>
                  <a:srgbClr val="050A30"/>
                </a:solidFill>
                <a:latin typeface="HK Grotesk Bold"/>
                <a:ea typeface="HK Grotesk Bold"/>
                <a:cs typeface="HK Grotesk Bold"/>
                <a:sym typeface="HK Grotesk Bold"/>
              </a:rPr>
              <a:t>ibilidad: </a:t>
            </a:r>
            <a:r>
              <a:rPr lang="en-US" sz="3300" spc="264">
                <a:solidFill>
                  <a:srgbClr val="050A30"/>
                </a:solidFill>
                <a:latin typeface="HK Grotesk"/>
                <a:ea typeface="HK Grotesk"/>
                <a:cs typeface="HK Grotesk"/>
                <a:sym typeface="HK Grotesk"/>
              </a:rPr>
              <a:t>Diseño inclusivo con soporte a múltiples formas de interacción.</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Pruebas contextuales: </a:t>
            </a:r>
            <a:r>
              <a:rPr lang="en-US" sz="3300" spc="264">
                <a:solidFill>
                  <a:srgbClr val="050A30"/>
                </a:solidFill>
                <a:latin typeface="HK Grotesk"/>
                <a:ea typeface="HK Grotesk"/>
                <a:cs typeface="HK Grotesk"/>
                <a:sym typeface="HK Grotesk"/>
              </a:rPr>
              <a:t>Evaluar la app en distintos entornos físicos.</a:t>
            </a:r>
          </a:p>
          <a:p>
            <a:pPr algn="just">
              <a:lnSpc>
                <a:spcPts val="1399"/>
              </a:lnSpc>
            </a:pPr>
          </a:p>
          <a:p>
            <a:pPr algn="just" marL="712483" indent="-356241" lvl="1">
              <a:lnSpc>
                <a:spcPts val="4620"/>
              </a:lnSpc>
              <a:buFont typeface="Arial"/>
              <a:buChar char="•"/>
            </a:pPr>
            <a:r>
              <a:rPr lang="en-US" b="true" sz="3300" spc="264">
                <a:solidFill>
                  <a:srgbClr val="050A30"/>
                </a:solidFill>
                <a:latin typeface="HK Grotesk Bold"/>
                <a:ea typeface="HK Grotesk Bold"/>
                <a:cs typeface="HK Grotesk Bold"/>
                <a:sym typeface="HK Grotesk Bold"/>
              </a:rPr>
              <a:t>Futuro de la RA: </a:t>
            </a:r>
            <a:r>
              <a:rPr lang="en-US" sz="3300" spc="264">
                <a:solidFill>
                  <a:srgbClr val="050A30"/>
                </a:solidFill>
                <a:latin typeface="HK Grotesk"/>
                <a:ea typeface="HK Grotesk"/>
                <a:cs typeface="HK Grotesk"/>
                <a:sym typeface="HK Grotesk"/>
              </a:rPr>
              <a:t>IA, metaverso y mejor calidad gráfica impulsarán su evolución.</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CAE8FF"/>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CAE8FF"/>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050A30"/>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712826"/>
            <a:ext cx="13503315" cy="994791"/>
          </a:xfrm>
          <a:prstGeom prst="rect">
            <a:avLst/>
          </a:prstGeom>
        </p:spPr>
        <p:txBody>
          <a:bodyPr anchor="t" rtlCol="false" tIns="0" lIns="0" bIns="0" rIns="0">
            <a:spAutoFit/>
          </a:bodyPr>
          <a:lstStyle/>
          <a:p>
            <a:pPr algn="ctr">
              <a:lnSpc>
                <a:spcPts val="7797"/>
              </a:lnSpc>
            </a:pPr>
            <a:r>
              <a:rPr lang="en-US" b="true" sz="6900">
                <a:solidFill>
                  <a:srgbClr val="F4F6FC"/>
                </a:solidFill>
                <a:latin typeface="HK Grotesk Bold"/>
                <a:ea typeface="HK Grotesk Bold"/>
                <a:cs typeface="HK Grotesk Bold"/>
                <a:sym typeface="HK Grotesk Bold"/>
              </a:rPr>
              <a:t>Valores y Actitudes</a:t>
            </a:r>
          </a:p>
        </p:txBody>
      </p:sp>
      <p:sp>
        <p:nvSpPr>
          <p:cNvPr name="TextBox 13" id="13"/>
          <p:cNvSpPr txBox="true"/>
          <p:nvPr/>
        </p:nvSpPr>
        <p:spPr>
          <a:xfrm rot="0">
            <a:off x="1028700" y="2196633"/>
            <a:ext cx="16230600" cy="6366509"/>
          </a:xfrm>
          <a:prstGeom prst="rect">
            <a:avLst/>
          </a:prstGeom>
        </p:spPr>
        <p:txBody>
          <a:bodyPr anchor="t" rtlCol="false" tIns="0" lIns="0" bIns="0" rIns="0">
            <a:spAutoFit/>
          </a:bodyPr>
          <a:lstStyle/>
          <a:p>
            <a:pPr algn="just" marL="777248" indent="-388624" lvl="1">
              <a:lnSpc>
                <a:spcPts val="5040"/>
              </a:lnSpc>
              <a:buFont typeface="Arial"/>
              <a:buChar char="•"/>
            </a:pPr>
            <a:r>
              <a:rPr lang="en-US" b="true" sz="3600">
                <a:solidFill>
                  <a:srgbClr val="F4F6FC"/>
                </a:solidFill>
                <a:latin typeface="HK Grotesk Bold"/>
                <a:ea typeface="HK Grotesk Bold"/>
                <a:cs typeface="HK Grotesk Bold"/>
                <a:sym typeface="HK Grotesk Bold"/>
              </a:rPr>
              <a:t>Curiosidad</a:t>
            </a:r>
            <a:r>
              <a:rPr lang="en-US" b="true" sz="3600">
                <a:solidFill>
                  <a:srgbClr val="F4F6FC"/>
                </a:solidFill>
                <a:latin typeface="HK Grotesk Bold"/>
                <a:ea typeface="HK Grotesk Bold"/>
                <a:cs typeface="HK Grotesk Bold"/>
                <a:sym typeface="HK Grotesk Bold"/>
              </a:rPr>
              <a:t> e innovación: </a:t>
            </a:r>
            <a:r>
              <a:rPr lang="en-US" sz="3600">
                <a:solidFill>
                  <a:srgbClr val="F4F6FC"/>
                </a:solidFill>
                <a:latin typeface="HK Grotesk"/>
                <a:ea typeface="HK Grotesk"/>
                <a:cs typeface="HK Grotesk"/>
                <a:sym typeface="HK Grotesk"/>
              </a:rPr>
              <a:t>Explorar nuevas herramientas y crear soluciones creativas</a:t>
            </a:r>
            <a:r>
              <a:rPr lang="en-US" sz="3600">
                <a:solidFill>
                  <a:srgbClr val="F4F6FC"/>
                </a:solidFill>
                <a:latin typeface="HK Grotesk"/>
                <a:ea typeface="HK Grotesk"/>
                <a:cs typeface="HK Grotesk"/>
                <a:sym typeface="HK Grotesk"/>
              </a:rPr>
              <a:t>.</a:t>
            </a:r>
          </a:p>
          <a:p>
            <a:pPr algn="just">
              <a:lnSpc>
                <a:spcPts val="5040"/>
              </a:lnSpc>
            </a:pPr>
          </a:p>
          <a:p>
            <a:pPr algn="just" marL="777248" indent="-388624" lvl="1">
              <a:lnSpc>
                <a:spcPts val="5040"/>
              </a:lnSpc>
              <a:buFont typeface="Arial"/>
              <a:buChar char="•"/>
            </a:pPr>
            <a:r>
              <a:rPr lang="en-US" b="true" sz="3600">
                <a:solidFill>
                  <a:srgbClr val="F4F6FC"/>
                </a:solidFill>
                <a:latin typeface="HK Grotesk Bold"/>
                <a:ea typeface="HK Grotesk Bold"/>
                <a:cs typeface="HK Grotesk Bold"/>
                <a:sym typeface="HK Grotesk Bold"/>
              </a:rPr>
              <a:t>R</a:t>
            </a:r>
            <a:r>
              <a:rPr lang="en-US" b="true" sz="3600">
                <a:solidFill>
                  <a:srgbClr val="F4F6FC"/>
                </a:solidFill>
                <a:latin typeface="HK Grotesk Bold"/>
                <a:ea typeface="HK Grotesk Bold"/>
                <a:cs typeface="HK Grotesk Bold"/>
                <a:sym typeface="HK Grotesk Bold"/>
              </a:rPr>
              <a:t>esponsabilidad y ética</a:t>
            </a:r>
            <a:r>
              <a:rPr lang="en-US" b="true" sz="3600">
                <a:solidFill>
                  <a:srgbClr val="F4F6FC"/>
                </a:solidFill>
                <a:latin typeface="HK Grotesk Bold"/>
                <a:ea typeface="HK Grotesk Bold"/>
                <a:cs typeface="HK Grotesk Bold"/>
                <a:sym typeface="HK Grotesk Bold"/>
              </a:rPr>
              <a:t>: </a:t>
            </a:r>
            <a:r>
              <a:rPr lang="en-US" sz="3600">
                <a:solidFill>
                  <a:srgbClr val="F4F6FC"/>
                </a:solidFill>
                <a:latin typeface="HK Grotesk"/>
                <a:ea typeface="HK Grotesk"/>
                <a:cs typeface="HK Grotesk"/>
                <a:sym typeface="HK Grotesk"/>
              </a:rPr>
              <a:t>Proteger la privacidad y diseñar con inclusión.</a:t>
            </a:r>
          </a:p>
          <a:p>
            <a:pPr algn="just">
              <a:lnSpc>
                <a:spcPts val="5040"/>
              </a:lnSpc>
            </a:pPr>
          </a:p>
          <a:p>
            <a:pPr algn="just" marL="777248" indent="-388624" lvl="1">
              <a:lnSpc>
                <a:spcPts val="5040"/>
              </a:lnSpc>
              <a:buFont typeface="Arial"/>
              <a:buChar char="•"/>
            </a:pPr>
            <a:r>
              <a:rPr lang="en-US" b="true" sz="3600">
                <a:solidFill>
                  <a:srgbClr val="F4F6FC"/>
                </a:solidFill>
                <a:latin typeface="HK Grotesk Bold"/>
                <a:ea typeface="HK Grotesk Bold"/>
                <a:cs typeface="HK Grotesk Bold"/>
                <a:sym typeface="HK Grotesk Bold"/>
              </a:rPr>
              <a:t>Trabajo en equipo: </a:t>
            </a:r>
            <a:r>
              <a:rPr lang="en-US" sz="3600">
                <a:solidFill>
                  <a:srgbClr val="F4F6FC"/>
                </a:solidFill>
                <a:latin typeface="HK Grotesk"/>
                <a:ea typeface="HK Grotesk"/>
                <a:cs typeface="HK Grotesk"/>
                <a:sym typeface="HK Grotesk"/>
              </a:rPr>
              <a:t>Colaborar con distintos perfiles para enriquecer el diseño.</a:t>
            </a:r>
          </a:p>
          <a:p>
            <a:pPr algn="just">
              <a:lnSpc>
                <a:spcPts val="5040"/>
              </a:lnSpc>
            </a:pPr>
          </a:p>
          <a:p>
            <a:pPr algn="just" marL="777248" indent="-388624" lvl="1">
              <a:lnSpc>
                <a:spcPts val="5040"/>
              </a:lnSpc>
              <a:buFont typeface="Arial"/>
              <a:buChar char="•"/>
            </a:pPr>
            <a:r>
              <a:rPr lang="en-US" b="true" sz="3600">
                <a:solidFill>
                  <a:srgbClr val="F4F6FC"/>
                </a:solidFill>
                <a:latin typeface="HK Grotesk Bold"/>
                <a:ea typeface="HK Grotesk Bold"/>
                <a:cs typeface="HK Grotesk Bold"/>
                <a:sym typeface="HK Grotesk Bold"/>
              </a:rPr>
              <a:t>Pensamiento crítico: </a:t>
            </a:r>
            <a:r>
              <a:rPr lang="en-US" sz="3600">
                <a:solidFill>
                  <a:srgbClr val="F4F6FC"/>
                </a:solidFill>
                <a:latin typeface="HK Grotesk"/>
                <a:ea typeface="HK Grotesk"/>
                <a:cs typeface="HK Grotesk"/>
                <a:sym typeface="HK Grotesk"/>
              </a:rPr>
              <a:t>Analizar opciones técnicas y de diseño con lógica.</a:t>
            </a:r>
          </a:p>
          <a:p>
            <a:pPr algn="just">
              <a:lnSpc>
                <a:spcPts val="5040"/>
              </a:lnSpc>
            </a:pPr>
          </a:p>
          <a:p>
            <a:pPr algn="just" marL="777248" indent="-388624" lvl="1">
              <a:lnSpc>
                <a:spcPts val="5040"/>
              </a:lnSpc>
              <a:buFont typeface="Arial"/>
              <a:buChar char="•"/>
            </a:pPr>
            <a:r>
              <a:rPr lang="en-US" b="true" sz="3600">
                <a:solidFill>
                  <a:srgbClr val="F4F6FC"/>
                </a:solidFill>
                <a:latin typeface="HK Grotesk Bold"/>
                <a:ea typeface="HK Grotesk Bold"/>
                <a:cs typeface="HK Grotesk Bold"/>
                <a:sym typeface="HK Grotesk Bold"/>
              </a:rPr>
              <a:t>Excelencia: </a:t>
            </a:r>
            <a:r>
              <a:rPr lang="en-US" sz="3600">
                <a:solidFill>
                  <a:srgbClr val="F4F6FC"/>
                </a:solidFill>
                <a:latin typeface="HK Grotesk"/>
                <a:ea typeface="HK Grotesk"/>
                <a:cs typeface="HK Grotesk"/>
                <a:sym typeface="HK Grotesk"/>
              </a:rPr>
              <a:t>Buscar experiencias útiles, realistas y bien optimizadas.</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2244" t="0" r="-2244" b="0"/>
            </a:stretch>
          </a:blipFill>
        </p:spPr>
      </p:sp>
      <p:grpSp>
        <p:nvGrpSpPr>
          <p:cNvPr name="Group 3" id="3"/>
          <p:cNvGrpSpPr/>
          <p:nvPr/>
        </p:nvGrpSpPr>
        <p:grpSpPr>
          <a:xfrm rot="-5400000">
            <a:off x="6186162" y="2511196"/>
            <a:ext cx="6818207" cy="20947169"/>
            <a:chOff x="0" y="0"/>
            <a:chExt cx="1795742" cy="5516950"/>
          </a:xfrm>
        </p:grpSpPr>
        <p:sp>
          <p:nvSpPr>
            <p:cNvPr name="Freeform 4" id="4"/>
            <p:cNvSpPr/>
            <p:nvPr/>
          </p:nvSpPr>
          <p:spPr>
            <a:xfrm flipH="false" flipV="false" rot="0">
              <a:off x="0" y="0"/>
              <a:ext cx="1795742" cy="5516950"/>
            </a:xfrm>
            <a:custGeom>
              <a:avLst/>
              <a:gdLst/>
              <a:ahLst/>
              <a:cxnLst/>
              <a:rect r="r" b="b" t="t" l="l"/>
              <a:pathLst>
                <a:path h="5516950" w="1795742">
                  <a:moveTo>
                    <a:pt x="0" y="0"/>
                  </a:moveTo>
                  <a:lnTo>
                    <a:pt x="1795742" y="0"/>
                  </a:lnTo>
                  <a:lnTo>
                    <a:pt x="1795742" y="5516950"/>
                  </a:lnTo>
                  <a:lnTo>
                    <a:pt x="0" y="5516950"/>
                  </a:lnTo>
                  <a:close/>
                </a:path>
              </a:pathLst>
            </a:custGeom>
            <a:solidFill>
              <a:srgbClr val="050A30"/>
            </a:solidFill>
          </p:spPr>
        </p:sp>
        <p:sp>
          <p:nvSpPr>
            <p:cNvPr name="TextBox 5" id="5"/>
            <p:cNvSpPr txBox="true"/>
            <p:nvPr/>
          </p:nvSpPr>
          <p:spPr>
            <a:xfrm>
              <a:off x="0" y="-47625"/>
              <a:ext cx="1795742" cy="5564575"/>
            </a:xfrm>
            <a:prstGeom prst="rect">
              <a:avLst/>
            </a:prstGeom>
          </p:spPr>
          <p:txBody>
            <a:bodyPr anchor="ctr" rtlCol="false" tIns="50800" lIns="50800" bIns="50800" rIns="50800"/>
            <a:lstStyle/>
            <a:p>
              <a:pPr algn="ctr">
                <a:lnSpc>
                  <a:spcPts val="3079"/>
                </a:lnSpc>
              </a:pPr>
            </a:p>
          </p:txBody>
        </p:sp>
      </p:grpSp>
      <p:grpSp>
        <p:nvGrpSpPr>
          <p:cNvPr name="Group 6" id="6"/>
          <p:cNvGrpSpPr/>
          <p:nvPr/>
        </p:nvGrpSpPr>
        <p:grpSpPr>
          <a:xfrm rot="-5400000">
            <a:off x="3997069" y="-11005002"/>
            <a:ext cx="2045233" cy="20947169"/>
            <a:chOff x="0" y="0"/>
            <a:chExt cx="538662" cy="5516950"/>
          </a:xfrm>
        </p:grpSpPr>
        <p:sp>
          <p:nvSpPr>
            <p:cNvPr name="Freeform 7" id="7"/>
            <p:cNvSpPr/>
            <p:nvPr/>
          </p:nvSpPr>
          <p:spPr>
            <a:xfrm flipH="false" flipV="false" rot="0">
              <a:off x="0" y="0"/>
              <a:ext cx="538662" cy="5516950"/>
            </a:xfrm>
            <a:custGeom>
              <a:avLst/>
              <a:gdLst/>
              <a:ahLst/>
              <a:cxnLst/>
              <a:rect r="r" b="b" t="t" l="l"/>
              <a:pathLst>
                <a:path h="5516950" w="538662">
                  <a:moveTo>
                    <a:pt x="0" y="0"/>
                  </a:moveTo>
                  <a:lnTo>
                    <a:pt x="538662" y="0"/>
                  </a:lnTo>
                  <a:lnTo>
                    <a:pt x="538662" y="5516950"/>
                  </a:lnTo>
                  <a:lnTo>
                    <a:pt x="0" y="5516950"/>
                  </a:lnTo>
                  <a:close/>
                </a:path>
              </a:pathLst>
            </a:custGeom>
            <a:solidFill>
              <a:srgbClr val="050A30"/>
            </a:solidFill>
          </p:spPr>
        </p:sp>
        <p:sp>
          <p:nvSpPr>
            <p:cNvPr name="TextBox 8" id="8"/>
            <p:cNvSpPr txBox="true"/>
            <p:nvPr/>
          </p:nvSpPr>
          <p:spPr>
            <a:xfrm>
              <a:off x="0" y="-47625"/>
              <a:ext cx="538662" cy="5564575"/>
            </a:xfrm>
            <a:prstGeom prst="rect">
              <a:avLst/>
            </a:prstGeom>
          </p:spPr>
          <p:txBody>
            <a:bodyPr anchor="ctr" rtlCol="false" tIns="50800" lIns="50800" bIns="50800" rIns="50800"/>
            <a:lstStyle/>
            <a:p>
              <a:pPr algn="ctr">
                <a:lnSpc>
                  <a:spcPts val="3079"/>
                </a:lnSpc>
              </a:pPr>
            </a:p>
          </p:txBody>
        </p:sp>
      </p:grpSp>
      <p:grpSp>
        <p:nvGrpSpPr>
          <p:cNvPr name="Group 9" id="9"/>
          <p:cNvGrpSpPr/>
          <p:nvPr/>
        </p:nvGrpSpPr>
        <p:grpSpPr>
          <a:xfrm rot="2700000">
            <a:off x="13734331" y="93713"/>
            <a:ext cx="4685776" cy="1567256"/>
            <a:chOff x="0" y="0"/>
            <a:chExt cx="1234114" cy="412775"/>
          </a:xfrm>
        </p:grpSpPr>
        <p:sp>
          <p:nvSpPr>
            <p:cNvPr name="Freeform 10" id="10"/>
            <p:cNvSpPr/>
            <p:nvPr/>
          </p:nvSpPr>
          <p:spPr>
            <a:xfrm flipH="false" flipV="false" rot="0">
              <a:off x="0" y="0"/>
              <a:ext cx="1234114" cy="412775"/>
            </a:xfrm>
            <a:custGeom>
              <a:avLst/>
              <a:gdLst/>
              <a:ahLst/>
              <a:cxnLst/>
              <a:rect r="r" b="b" t="t" l="l"/>
              <a:pathLst>
                <a:path h="412775" w="1234114">
                  <a:moveTo>
                    <a:pt x="0" y="0"/>
                  </a:moveTo>
                  <a:lnTo>
                    <a:pt x="1234114" y="0"/>
                  </a:lnTo>
                  <a:lnTo>
                    <a:pt x="1234114" y="412775"/>
                  </a:lnTo>
                  <a:lnTo>
                    <a:pt x="0" y="412775"/>
                  </a:lnTo>
                  <a:close/>
                </a:path>
              </a:pathLst>
            </a:custGeom>
            <a:solidFill>
              <a:srgbClr val="CAE8FF"/>
            </a:solidFill>
          </p:spPr>
        </p:sp>
        <p:sp>
          <p:nvSpPr>
            <p:cNvPr name="TextBox 11" id="11"/>
            <p:cNvSpPr txBox="true"/>
            <p:nvPr/>
          </p:nvSpPr>
          <p:spPr>
            <a:xfrm>
              <a:off x="0" y="-47625"/>
              <a:ext cx="1234114" cy="460400"/>
            </a:xfrm>
            <a:prstGeom prst="rect">
              <a:avLst/>
            </a:prstGeom>
          </p:spPr>
          <p:txBody>
            <a:bodyPr anchor="ctr" rtlCol="false" tIns="50800" lIns="50800" bIns="50800" rIns="50800"/>
            <a:lstStyle/>
            <a:p>
              <a:pPr algn="ctr">
                <a:lnSpc>
                  <a:spcPts val="2800"/>
                </a:lnSpc>
              </a:pPr>
            </a:p>
          </p:txBody>
        </p:sp>
      </p:grpSp>
      <p:sp>
        <p:nvSpPr>
          <p:cNvPr name="TextBox 12" id="12"/>
          <p:cNvSpPr txBox="true"/>
          <p:nvPr/>
        </p:nvSpPr>
        <p:spPr>
          <a:xfrm rot="0">
            <a:off x="2392343" y="1673265"/>
            <a:ext cx="13503315" cy="994791"/>
          </a:xfrm>
          <a:prstGeom prst="rect">
            <a:avLst/>
          </a:prstGeom>
        </p:spPr>
        <p:txBody>
          <a:bodyPr anchor="t" rtlCol="false" tIns="0" lIns="0" bIns="0" rIns="0">
            <a:spAutoFit/>
          </a:bodyPr>
          <a:lstStyle/>
          <a:p>
            <a:pPr algn="ctr">
              <a:lnSpc>
                <a:spcPts val="7797"/>
              </a:lnSpc>
            </a:pPr>
            <a:r>
              <a:rPr lang="en-US" b="true" sz="6900">
                <a:solidFill>
                  <a:srgbClr val="050A30"/>
                </a:solidFill>
                <a:latin typeface="HK Grotesk Bold"/>
                <a:ea typeface="HK Grotesk Bold"/>
                <a:cs typeface="HK Grotesk Bold"/>
                <a:sym typeface="HK Grotesk Bold"/>
              </a:rPr>
              <a:t>Referencias</a:t>
            </a:r>
          </a:p>
        </p:txBody>
      </p:sp>
      <p:sp>
        <p:nvSpPr>
          <p:cNvPr name="TextBox 13" id="13"/>
          <p:cNvSpPr txBox="true"/>
          <p:nvPr/>
        </p:nvSpPr>
        <p:spPr>
          <a:xfrm rot="0">
            <a:off x="2027167" y="4268899"/>
            <a:ext cx="14233665" cy="1471929"/>
          </a:xfrm>
          <a:prstGeom prst="rect">
            <a:avLst/>
          </a:prstGeom>
        </p:spPr>
        <p:txBody>
          <a:bodyPr anchor="t" rtlCol="false" tIns="0" lIns="0" bIns="0" rIns="0">
            <a:spAutoFit/>
          </a:bodyPr>
          <a:lstStyle/>
          <a:p>
            <a:pPr algn="just" marL="604532" indent="-302266" lvl="1">
              <a:lnSpc>
                <a:spcPts val="3920"/>
              </a:lnSpc>
              <a:spcBef>
                <a:spcPct val="0"/>
              </a:spcBef>
              <a:buFont typeface="Arial"/>
              <a:buChar char="•"/>
            </a:pPr>
            <a:r>
              <a:rPr lang="en-US" b="true" sz="2800">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u</a:t>
            </a:r>
            <a:r>
              <a:rPr lang="en-US" b="true" sz="2800" strike="noStrike" u="none">
                <a:solidFill>
                  <a:srgbClr val="222222"/>
                </a:solidFill>
                <a:latin typeface="HK Grotesk Medium"/>
                <a:ea typeface="HK Grotesk Medium"/>
                <a:cs typeface="HK Grotesk Medium"/>
                <a:sym typeface="HK Grotesk Medium"/>
              </a:rPr>
              <a:t>ssell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S., &amp; Norvig, P</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20</a:t>
            </a:r>
            <a:r>
              <a:rPr lang="en-US" b="true" sz="2800" strike="noStrike" u="none">
                <a:solidFill>
                  <a:srgbClr val="222222"/>
                </a:solidFill>
                <a:latin typeface="HK Grotesk Medium"/>
                <a:ea typeface="HK Grotesk Medium"/>
                <a:cs typeface="HK Grotesk Medium"/>
                <a:sym typeface="HK Grotesk Medium"/>
              </a:rPr>
              <a:t>1</a:t>
            </a:r>
            <a:r>
              <a:rPr lang="en-US" b="true" sz="2800" strike="noStrike" u="none">
                <a:solidFill>
                  <a:srgbClr val="222222"/>
                </a:solidFill>
                <a:latin typeface="HK Grotesk Medium"/>
                <a:ea typeface="HK Grotesk Medium"/>
                <a:cs typeface="HK Grotesk Medium"/>
                <a:sym typeface="HK Grotesk Medium"/>
              </a:rPr>
              <a:t>6</a:t>
            </a:r>
            <a:r>
              <a:rPr lang="en-US" b="true" sz="2800" strike="noStrike" u="none">
                <a:solidFill>
                  <a:srgbClr val="222222"/>
                </a:solidFill>
                <a:latin typeface="HK Grotesk Medium"/>
                <a:ea typeface="HK Grotesk Medium"/>
                <a:cs typeface="HK Grotesk Medium"/>
                <a:sym typeface="HK Grotesk Medium"/>
              </a:rPr>
              <a:t>). Ar</a:t>
            </a:r>
            <a:r>
              <a:rPr lang="en-US" b="true" sz="2800" strike="noStrike" u="none">
                <a:solidFill>
                  <a:srgbClr val="222222"/>
                </a:solidFill>
                <a:latin typeface="HK Grotesk Medium"/>
                <a:ea typeface="HK Grotesk Medium"/>
                <a:cs typeface="HK Grotesk Medium"/>
                <a:sym typeface="HK Grotesk Medium"/>
              </a:rPr>
              <a:t>ti</a:t>
            </a:r>
            <a:r>
              <a:rPr lang="en-US" b="true" sz="2800" strike="noStrike" u="none">
                <a:solidFill>
                  <a:srgbClr val="222222"/>
                </a:solidFill>
                <a:latin typeface="HK Grotesk Medium"/>
                <a:ea typeface="HK Grotesk Medium"/>
                <a:cs typeface="HK Grotesk Medium"/>
                <a:sym typeface="HK Grotesk Medium"/>
              </a:rPr>
              <a:t>f</a:t>
            </a:r>
            <a:r>
              <a:rPr lang="en-US" b="true" sz="2800" strike="noStrike" u="none">
                <a:solidFill>
                  <a:srgbClr val="222222"/>
                </a:solidFill>
                <a:latin typeface="HK Grotesk Medium"/>
                <a:ea typeface="HK Grotesk Medium"/>
                <a:cs typeface="HK Grotesk Medium"/>
                <a:sym typeface="HK Grotesk Medium"/>
              </a:rPr>
              <a:t>icial</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I</a:t>
            </a:r>
            <a:r>
              <a:rPr lang="en-US" b="true" sz="2800" strike="noStrike" u="none">
                <a:solidFill>
                  <a:srgbClr val="222222"/>
                </a:solidFill>
                <a:latin typeface="HK Grotesk Medium"/>
                <a:ea typeface="HK Grotesk Medium"/>
                <a:cs typeface="HK Grotesk Medium"/>
                <a:sym typeface="HK Grotesk Medium"/>
              </a:rPr>
              <a:t>nte</a:t>
            </a:r>
            <a:r>
              <a:rPr lang="en-US" b="true" sz="2800" strike="noStrike" u="none">
                <a:solidFill>
                  <a:srgbClr val="222222"/>
                </a:solidFill>
                <a:latin typeface="HK Grotesk Medium"/>
                <a:ea typeface="HK Grotesk Medium"/>
                <a:cs typeface="HK Grotesk Medium"/>
                <a:sym typeface="HK Grotesk Medium"/>
              </a:rPr>
              <a:t>l</a:t>
            </a:r>
            <a:r>
              <a:rPr lang="en-US" b="true" sz="2800" strike="noStrike" u="none">
                <a:solidFill>
                  <a:srgbClr val="222222"/>
                </a:solidFill>
                <a:latin typeface="HK Grotesk Medium"/>
                <a:ea typeface="HK Grotesk Medium"/>
                <a:cs typeface="HK Grotesk Medium"/>
                <a:sym typeface="HK Grotesk Medium"/>
              </a:rPr>
              <a:t>li</a:t>
            </a:r>
            <a:r>
              <a:rPr lang="en-US" b="true" sz="2800" strike="noStrike" u="none">
                <a:solidFill>
                  <a:srgbClr val="222222"/>
                </a:solidFill>
                <a:latin typeface="HK Grotesk Medium"/>
                <a:ea typeface="HK Grotesk Medium"/>
                <a:cs typeface="HK Grotesk Medium"/>
                <a:sym typeface="HK Grotesk Medium"/>
              </a:rPr>
              <a:t>g</a:t>
            </a:r>
            <a:r>
              <a:rPr lang="en-US" b="true" sz="2800" strike="noStrike" u="none">
                <a:solidFill>
                  <a:srgbClr val="222222"/>
                </a:solidFill>
                <a:latin typeface="HK Grotesk Medium"/>
                <a:ea typeface="HK Grotesk Medium"/>
                <a:cs typeface="HK Grotesk Medium"/>
                <a:sym typeface="HK Grotesk Medium"/>
              </a:rPr>
              <a:t>ence: </a:t>
            </a:r>
            <a:r>
              <a:rPr lang="en-US" b="true" sz="2800" strike="noStrike" u="none">
                <a:solidFill>
                  <a:srgbClr val="222222"/>
                </a:solidFill>
                <a:latin typeface="HK Grotesk Medium"/>
                <a:ea typeface="HK Grotesk Medium"/>
                <a:cs typeface="HK Grotesk Medium"/>
                <a:sym typeface="HK Grotesk Medium"/>
              </a:rPr>
              <a:t>A M</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dern A</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p</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o</a:t>
            </a:r>
            <a:r>
              <a:rPr lang="en-US" b="true" sz="2800" strike="noStrike" u="none">
                <a:solidFill>
                  <a:srgbClr val="222222"/>
                </a:solidFill>
                <a:latin typeface="HK Grotesk Medium"/>
                <a:ea typeface="HK Grotesk Medium"/>
                <a:cs typeface="HK Grotesk Medium"/>
                <a:sym typeface="HK Grotesk Medium"/>
              </a:rPr>
              <a:t>a</a:t>
            </a:r>
            <a:r>
              <a:rPr lang="en-US" b="true" sz="2800" strike="noStrike" u="none">
                <a:solidFill>
                  <a:srgbClr val="222222"/>
                </a:solidFill>
                <a:latin typeface="HK Grotesk Medium"/>
                <a:ea typeface="HK Grotesk Medium"/>
                <a:cs typeface="HK Grotesk Medium"/>
                <a:sym typeface="HK Grotesk Medium"/>
              </a:rPr>
              <a:t>ch (3</a:t>
            </a:r>
            <a:r>
              <a:rPr lang="en-US" b="true" sz="2800" strike="noStrike" u="none">
                <a:solidFill>
                  <a:srgbClr val="222222"/>
                </a:solidFill>
                <a:latin typeface="HK Grotesk Medium"/>
                <a:ea typeface="HK Grotesk Medium"/>
                <a:cs typeface="HK Grotesk Medium"/>
                <a:sym typeface="HK Grotesk Medium"/>
              </a:rPr>
              <a:t>r</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e</a:t>
            </a:r>
            <a:r>
              <a:rPr lang="en-US" b="true" sz="2800" strike="noStrike" u="none">
                <a:solidFill>
                  <a:srgbClr val="222222"/>
                </a:solidFill>
                <a:latin typeface="HK Grotesk Medium"/>
                <a:ea typeface="HK Grotesk Medium"/>
                <a:cs typeface="HK Grotesk Medium"/>
                <a:sym typeface="HK Grotesk Medium"/>
              </a:rPr>
              <a:t>d</a:t>
            </a:r>
            <a:r>
              <a:rPr lang="en-US" b="true" sz="2800" strike="noStrike" u="none">
                <a:solidFill>
                  <a:srgbClr val="222222"/>
                </a:solidFill>
                <a:latin typeface="HK Grotesk Medium"/>
                <a:ea typeface="HK Grotesk Medium"/>
                <a:cs typeface="HK Grotesk Medium"/>
                <a:sym typeface="HK Grotesk Medium"/>
              </a:rPr>
              <a:t>.).</a:t>
            </a:r>
            <a:r>
              <a:rPr lang="en-US" b="true" sz="2800" strike="noStrike" u="none">
                <a:solidFill>
                  <a:srgbClr val="222222"/>
                </a:solidFill>
                <a:latin typeface="HK Grotesk Medium"/>
                <a:ea typeface="HK Grotesk Medium"/>
                <a:cs typeface="HK Grotesk Medium"/>
                <a:sym typeface="HK Grotesk Medium"/>
              </a:rPr>
              <a:t> </a:t>
            </a:r>
            <a:r>
              <a:rPr lang="en-US" b="true" sz="2800" strike="noStrike" u="none">
                <a:solidFill>
                  <a:srgbClr val="222222"/>
                </a:solidFill>
                <a:latin typeface="HK Grotesk Medium"/>
                <a:ea typeface="HK Grotesk Medium"/>
                <a:cs typeface="HK Grotesk Medium"/>
                <a:sym typeface="HK Grotesk Medium"/>
              </a:rPr>
              <a:t>Pe</a:t>
            </a:r>
            <a:r>
              <a:rPr lang="en-US" b="true" sz="2800" strike="noStrike" u="none">
                <a:solidFill>
                  <a:srgbClr val="222222"/>
                </a:solidFill>
                <a:latin typeface="HK Grotesk Medium"/>
                <a:ea typeface="HK Grotesk Medium"/>
                <a:cs typeface="HK Grotesk Medium"/>
                <a:sym typeface="HK Grotesk Medium"/>
              </a:rPr>
              <a:t>ar</a:t>
            </a:r>
            <a:r>
              <a:rPr lang="en-US" b="true" sz="2800" strike="noStrike" u="none">
                <a:solidFill>
                  <a:srgbClr val="222222"/>
                </a:solidFill>
                <a:latin typeface="HK Grotesk Medium"/>
                <a:ea typeface="HK Grotesk Medium"/>
                <a:cs typeface="HK Grotesk Medium"/>
                <a:sym typeface="HK Grotesk Medium"/>
              </a:rPr>
              <a:t>s</a:t>
            </a:r>
            <a:r>
              <a:rPr lang="en-US" b="true" sz="2800" strike="noStrike" u="none">
                <a:solidFill>
                  <a:srgbClr val="222222"/>
                </a:solidFill>
                <a:latin typeface="HK Grotesk Medium"/>
                <a:ea typeface="HK Grotesk Medium"/>
                <a:cs typeface="HK Grotesk Medium"/>
                <a:sym typeface="HK Grotesk Medium"/>
              </a:rPr>
              <a:t>on.</a:t>
            </a:r>
          </a:p>
          <a:p>
            <a:pPr algn="just">
              <a:lnSpc>
                <a:spcPts val="3920"/>
              </a:lnSpc>
              <a:spcBef>
                <a:spcPct val="0"/>
              </a:spcBef>
            </a:pP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50A30"/>
        </a:solidFill>
      </p:bgPr>
    </p:bg>
    <p:spTree>
      <p:nvGrpSpPr>
        <p:cNvPr id="1" name=""/>
        <p:cNvGrpSpPr/>
        <p:nvPr/>
      </p:nvGrpSpPr>
      <p:grpSpPr>
        <a:xfrm>
          <a:off x="0" y="0"/>
          <a:ext cx="0" cy="0"/>
          <a:chOff x="0" y="0"/>
          <a:chExt cx="0" cy="0"/>
        </a:xfrm>
      </p:grpSpPr>
      <p:sp>
        <p:nvSpPr>
          <p:cNvPr name="TextBox 2" id="2"/>
          <p:cNvSpPr txBox="true"/>
          <p:nvPr/>
        </p:nvSpPr>
        <p:spPr>
          <a:xfrm rot="0">
            <a:off x="4437795" y="3446254"/>
            <a:ext cx="8658828" cy="2438527"/>
          </a:xfrm>
          <a:prstGeom prst="rect">
            <a:avLst/>
          </a:prstGeom>
        </p:spPr>
        <p:txBody>
          <a:bodyPr anchor="t" rtlCol="false" tIns="0" lIns="0" bIns="0" rIns="0">
            <a:spAutoFit/>
          </a:bodyPr>
          <a:lstStyle/>
          <a:p>
            <a:pPr algn="just">
              <a:lnSpc>
                <a:spcPts val="6343"/>
              </a:lnSpc>
            </a:pPr>
            <a:r>
              <a:rPr lang="en-US" b="true" sz="6099">
                <a:solidFill>
                  <a:srgbClr val="F4F6FC"/>
                </a:solidFill>
                <a:latin typeface="HK Grotesk Bold"/>
                <a:ea typeface="HK Grotesk Bold"/>
                <a:cs typeface="HK Grotesk Bold"/>
                <a:sym typeface="HK Grotesk Bold"/>
              </a:rPr>
              <a:t>¡GRACIAS POR su  ATENCIÓN!</a:t>
            </a:r>
          </a:p>
          <a:p>
            <a:pPr algn="just">
              <a:lnSpc>
                <a:spcPts val="6343"/>
              </a:lnSpc>
            </a:pPr>
          </a:p>
        </p:txBody>
      </p:sp>
      <p:sp>
        <p:nvSpPr>
          <p:cNvPr name="TextBox 3" id="3"/>
          <p:cNvSpPr txBox="true"/>
          <p:nvPr/>
        </p:nvSpPr>
        <p:spPr>
          <a:xfrm rot="0">
            <a:off x="5414714" y="5958103"/>
            <a:ext cx="6704991" cy="898525"/>
          </a:xfrm>
          <a:prstGeom prst="rect">
            <a:avLst/>
          </a:prstGeom>
        </p:spPr>
        <p:txBody>
          <a:bodyPr anchor="t" rtlCol="false" tIns="0" lIns="0" bIns="0" rIns="0">
            <a:spAutoFit/>
          </a:bodyPr>
          <a:lstStyle/>
          <a:p>
            <a:pPr algn="ctr">
              <a:lnSpc>
                <a:spcPts val="7400"/>
              </a:lnSpc>
            </a:pPr>
            <a:r>
              <a:rPr lang="en-US" b="true" sz="5000" spc="400">
                <a:solidFill>
                  <a:srgbClr val="F4F6FC"/>
                </a:solidFill>
                <a:latin typeface="HK Grotesk Bold"/>
                <a:ea typeface="HK Grotesk Bold"/>
                <a:cs typeface="HK Grotesk Bold"/>
                <a:sym typeface="HK Grotesk Bold"/>
              </a:rPr>
              <a:t>DUDAS</a:t>
            </a:r>
          </a:p>
        </p:txBody>
      </p:sp>
      <p:sp>
        <p:nvSpPr>
          <p:cNvPr name="Freeform 4" id="4"/>
          <p:cNvSpPr/>
          <p:nvPr/>
        </p:nvSpPr>
        <p:spPr>
          <a:xfrm flipH="false" flipV="false" rot="0">
            <a:off x="13963751" y="1028700"/>
            <a:ext cx="2757268" cy="3770970"/>
          </a:xfrm>
          <a:custGeom>
            <a:avLst/>
            <a:gdLst/>
            <a:ahLst/>
            <a:cxnLst/>
            <a:rect r="r" b="b" t="t" l="l"/>
            <a:pathLst>
              <a:path h="3770970" w="2757268">
                <a:moveTo>
                  <a:pt x="0" y="0"/>
                </a:moveTo>
                <a:lnTo>
                  <a:pt x="2757268" y="0"/>
                </a:lnTo>
                <a:lnTo>
                  <a:pt x="2757268" y="3770970"/>
                </a:lnTo>
                <a:lnTo>
                  <a:pt x="0" y="3770970"/>
                </a:lnTo>
                <a:lnTo>
                  <a:pt x="0" y="0"/>
                </a:lnTo>
                <a:close/>
              </a:path>
            </a:pathLst>
          </a:custGeom>
          <a:blipFill>
            <a:blip r:embed="rId2"/>
            <a:stretch>
              <a:fillRect l="0" t="0" r="0" b="0"/>
            </a:stretch>
          </a:blipFill>
        </p:spPr>
      </p:sp>
      <p:sp>
        <p:nvSpPr>
          <p:cNvPr name="TextBox 5" id="5"/>
          <p:cNvSpPr txBox="true"/>
          <p:nvPr/>
        </p:nvSpPr>
        <p:spPr>
          <a:xfrm rot="0">
            <a:off x="2411098" y="7890210"/>
            <a:ext cx="13465804" cy="357505"/>
          </a:xfrm>
          <a:prstGeom prst="rect">
            <a:avLst/>
          </a:prstGeom>
        </p:spPr>
        <p:txBody>
          <a:bodyPr anchor="t" rtlCol="false" tIns="0" lIns="0" bIns="0" rIns="0">
            <a:spAutoFit/>
          </a:bodyPr>
          <a:lstStyle/>
          <a:p>
            <a:pPr algn="ctr">
              <a:lnSpc>
                <a:spcPts val="2960"/>
              </a:lnSpc>
            </a:pPr>
            <a:r>
              <a:rPr lang="en-US" b="true" sz="2000">
                <a:solidFill>
                  <a:srgbClr val="F4F6FC"/>
                </a:solidFill>
                <a:latin typeface="HK Grotesk Medium"/>
                <a:ea typeface="HK Grotesk Medium"/>
                <a:cs typeface="HK Grotesk Medium"/>
                <a:sym typeface="HK Grotesk Medium"/>
              </a:rPr>
              <a:t>Recuerda que tenemos nuestro foro semanal donde puedes consultar cualquier duda que te surja en la semana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DAGn8hnG0Io</dc:identifier>
  <dcterms:modified xsi:type="dcterms:W3CDTF">2011-08-01T06:04:30Z</dcterms:modified>
  <cp:revision>1</cp:revision>
  <dc:title>Clase 07</dc:title>
</cp:coreProperties>
</file>