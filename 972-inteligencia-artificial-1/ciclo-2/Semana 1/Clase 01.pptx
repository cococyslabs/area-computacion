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Arial Bold" charset="1" panose="020B0802020202020204"/>
      <p:regular r:id="rId29"/>
    </p:embeddedFont>
    <p:embeddedFont>
      <p:font typeface="Arimo" charset="1" panose="020B0604020202020204"/>
      <p:regular r:id="rId30"/>
    </p:embeddedFont>
    <p:embeddedFont>
      <p:font typeface="Arial" charset="1" panose="020B0502020202020204"/>
      <p:regular r:id="rId31"/>
    </p:embeddedFont>
    <p:embeddedFont>
      <p:font typeface="HK Grotesk Medium" charset="1" panose="00000600000000000000"/>
      <p:regular r:id="rId32"/>
    </p:embeddedFont>
    <p:embeddedFont>
      <p:font typeface="HK Grotesk Bold" charset="1" panose="00000800000000000000"/>
      <p:regular r:id="rId33"/>
    </p:embeddedFont>
    <p:embeddedFont>
      <p:font typeface="HK Grotesk" charset="1" panose="0000050000000000000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902" y="0"/>
            <a:ext cx="18254198" cy="10287002"/>
          </a:xfrm>
          <a:custGeom>
            <a:avLst/>
            <a:gdLst/>
            <a:ahLst/>
            <a:cxnLst/>
            <a:rect r="r" b="b" t="t" l="l"/>
            <a:pathLst>
              <a:path h="10287002" w="18254198">
                <a:moveTo>
                  <a:pt x="0" y="0"/>
                </a:moveTo>
                <a:lnTo>
                  <a:pt x="18254198" y="0"/>
                </a:lnTo>
                <a:lnTo>
                  <a:pt x="18254198" y="10287002"/>
                </a:lnTo>
                <a:lnTo>
                  <a:pt x="0" y="10287002"/>
                </a:lnTo>
                <a:lnTo>
                  <a:pt x="0" y="0"/>
                </a:lnTo>
                <a:close/>
              </a:path>
            </a:pathLst>
          </a:custGeom>
          <a:blipFill>
            <a:blip r:embed="rId2">
              <a:alphaModFix amt="55800"/>
            </a:blip>
            <a:stretch>
              <a:fillRect l="0" t="0" r="0" b="0"/>
            </a:stretch>
          </a:blipFill>
        </p:spPr>
      </p:sp>
      <p:graphicFrame>
        <p:nvGraphicFramePr>
          <p:cNvPr name="Table 3" id="3"/>
          <p:cNvGraphicFramePr>
            <a:graphicFrameLocks noGrp="true"/>
          </p:cNvGraphicFramePr>
          <p:nvPr/>
        </p:nvGraphicFramePr>
        <p:xfrm>
          <a:off x="10656400" y="1940050"/>
          <a:ext cx="7366000" cy="1547812"/>
        </p:xfrm>
        <a:graphic>
          <a:graphicData uri="http://schemas.openxmlformats.org/drawingml/2006/table">
            <a:tbl>
              <a:tblPr/>
              <a:tblGrid>
                <a:gridCol w="3030168"/>
                <a:gridCol w="4335832"/>
              </a:tblGrid>
              <a:tr h="773906">
                <a:tc>
                  <a:txBody>
                    <a:bodyPr anchor="t" rtlCol="false"/>
                    <a:lstStyle/>
                    <a:p>
                      <a:pPr algn="l">
                        <a:lnSpc>
                          <a:spcPts val="3408"/>
                        </a:lnSpc>
                        <a:defRPr/>
                      </a:pPr>
                      <a:r>
                        <a:rPr lang="en-US" b="true" sz="2840">
                          <a:solidFill>
                            <a:srgbClr val="000000"/>
                          </a:solidFill>
                          <a:latin typeface="Arial Bold"/>
                          <a:ea typeface="Arial Bold"/>
                          <a:cs typeface="Arial Bold"/>
                          <a:sym typeface="Arial Bold"/>
                        </a:rPr>
                        <a:t>Día, Fecha:</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976"/>
                        </a:lnSpc>
                        <a:defRPr/>
                      </a:pPr>
                      <a:r>
                        <a:rPr lang="en-US" sz="2840">
                          <a:solidFill>
                            <a:srgbClr val="000000"/>
                          </a:solidFill>
                          <a:latin typeface="Arimo"/>
                          <a:ea typeface="Arimo"/>
                          <a:cs typeface="Arimo"/>
                          <a:sym typeface="Arimo"/>
                        </a:rPr>
                        <a:t>Viernes, XX-XX-XXXX</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773906">
                <a:tc>
                  <a:txBody>
                    <a:bodyPr anchor="t" rtlCol="false"/>
                    <a:lstStyle/>
                    <a:p>
                      <a:pPr algn="l">
                        <a:lnSpc>
                          <a:spcPts val="3408"/>
                        </a:lnSpc>
                        <a:defRPr/>
                      </a:pPr>
                      <a:r>
                        <a:rPr lang="en-US" b="true" sz="2840">
                          <a:solidFill>
                            <a:srgbClr val="000000"/>
                          </a:solidFill>
                          <a:latin typeface="Arial Bold"/>
                          <a:ea typeface="Arial Bold"/>
                          <a:cs typeface="Arial Bold"/>
                          <a:sym typeface="Arial Bold"/>
                        </a:rPr>
                        <a:t>Hora de inicio:</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976"/>
                        </a:lnSpc>
                        <a:defRPr/>
                      </a:pPr>
                      <a:r>
                        <a:rPr lang="en-US" sz="2840">
                          <a:solidFill>
                            <a:srgbClr val="000000"/>
                          </a:solidFill>
                          <a:latin typeface="Arimo"/>
                          <a:ea typeface="Arimo"/>
                          <a:cs typeface="Arimo"/>
                          <a:sym typeface="Arimo"/>
                        </a:rPr>
                        <a:t>19:00</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3864138" y="4529138"/>
            <a:ext cx="9513297" cy="1019175"/>
          </a:xfrm>
          <a:prstGeom prst="rect">
            <a:avLst/>
          </a:prstGeom>
        </p:spPr>
        <p:txBody>
          <a:bodyPr anchor="t" rtlCol="false" tIns="0" lIns="0" bIns="0" rIns="0">
            <a:spAutoFit/>
          </a:bodyPr>
          <a:lstStyle/>
          <a:p>
            <a:pPr algn="l">
              <a:lnSpc>
                <a:spcPts val="7199"/>
              </a:lnSpc>
            </a:pPr>
            <a:r>
              <a:rPr lang="en-US" b="true" sz="5999">
                <a:solidFill>
                  <a:srgbClr val="000000"/>
                </a:solidFill>
                <a:latin typeface="Arial Bold"/>
                <a:ea typeface="Arial Bold"/>
                <a:cs typeface="Arial Bold"/>
                <a:sym typeface="Arial Bold"/>
              </a:rPr>
              <a:t>Inteligencia Artificial 1</a:t>
            </a:r>
            <a:r>
              <a:rPr lang="en-US" b="true" sz="5999">
                <a:solidFill>
                  <a:srgbClr val="000000"/>
                </a:solidFill>
                <a:latin typeface="Arial Bold"/>
                <a:ea typeface="Arial Bold"/>
                <a:cs typeface="Arial Bold"/>
                <a:sym typeface="Arial Bold"/>
              </a:rPr>
              <a:t> [A]</a:t>
            </a:r>
          </a:p>
        </p:txBody>
      </p:sp>
      <p:sp>
        <p:nvSpPr>
          <p:cNvPr name="TextBox 5" id="5"/>
          <p:cNvSpPr txBox="true"/>
          <p:nvPr/>
        </p:nvSpPr>
        <p:spPr>
          <a:xfrm rot="0">
            <a:off x="5117834" y="5845971"/>
            <a:ext cx="7005905" cy="847725"/>
          </a:xfrm>
          <a:prstGeom prst="rect">
            <a:avLst/>
          </a:prstGeom>
        </p:spPr>
        <p:txBody>
          <a:bodyPr anchor="t" rtlCol="false" tIns="0" lIns="0" bIns="0" rIns="0">
            <a:spAutoFit/>
          </a:bodyPr>
          <a:lstStyle/>
          <a:p>
            <a:pPr algn="l">
              <a:lnSpc>
                <a:spcPts val="5999"/>
              </a:lnSpc>
            </a:pPr>
            <a:r>
              <a:rPr lang="en-US" sz="4999">
                <a:solidFill>
                  <a:srgbClr val="000000"/>
                </a:solidFill>
                <a:latin typeface="Arial"/>
                <a:ea typeface="Arial"/>
                <a:cs typeface="Arial"/>
                <a:sym typeface="Arial"/>
              </a:rPr>
              <a:t>Robin Omar Buezo Díaz</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1028700" y="952267"/>
            <a:ext cx="16230600" cy="8382465"/>
            <a:chOff x="0" y="0"/>
            <a:chExt cx="6045684" cy="3122357"/>
          </a:xfrm>
        </p:grpSpPr>
        <p:sp>
          <p:nvSpPr>
            <p:cNvPr name="Freeform 4" id="4"/>
            <p:cNvSpPr/>
            <p:nvPr/>
          </p:nvSpPr>
          <p:spPr>
            <a:xfrm flipH="false" flipV="false" rot="0">
              <a:off x="0" y="0"/>
              <a:ext cx="6045684" cy="3122357"/>
            </a:xfrm>
            <a:custGeom>
              <a:avLst/>
              <a:gdLst/>
              <a:ahLst/>
              <a:cxnLst/>
              <a:rect r="r" b="b" t="t" l="l"/>
              <a:pathLst>
                <a:path h="3122357" w="6045684">
                  <a:moveTo>
                    <a:pt x="0" y="0"/>
                  </a:moveTo>
                  <a:lnTo>
                    <a:pt x="6045684" y="0"/>
                  </a:lnTo>
                  <a:lnTo>
                    <a:pt x="6045684" y="3122357"/>
                  </a:lnTo>
                  <a:lnTo>
                    <a:pt x="0" y="3122357"/>
                  </a:lnTo>
                  <a:close/>
                </a:path>
              </a:pathLst>
            </a:custGeom>
            <a:solidFill>
              <a:srgbClr val="000000">
                <a:alpha val="0"/>
              </a:srgbClr>
            </a:solidFill>
            <a:ln w="66675" cap="sq">
              <a:solidFill>
                <a:srgbClr val="9753A8"/>
              </a:solidFill>
              <a:prstDash val="solid"/>
              <a:miter/>
            </a:ln>
          </p:spPr>
        </p:sp>
        <p:sp>
          <p:nvSpPr>
            <p:cNvPr name="TextBox 5" id="5"/>
            <p:cNvSpPr txBox="true"/>
            <p:nvPr/>
          </p:nvSpPr>
          <p:spPr>
            <a:xfrm>
              <a:off x="0" y="0"/>
              <a:ext cx="6045684" cy="3122357"/>
            </a:xfrm>
            <a:prstGeom prst="rect">
              <a:avLst/>
            </a:prstGeom>
          </p:spPr>
          <p:txBody>
            <a:bodyPr anchor="ctr" rtlCol="false" tIns="48876" lIns="48876" bIns="48876" rIns="48876"/>
            <a:lstStyle/>
            <a:p>
              <a:pPr algn="ctr">
                <a:lnSpc>
                  <a:spcPts val="1813"/>
                </a:lnSpc>
              </a:pPr>
            </a:p>
          </p:txBody>
        </p:sp>
      </p:grpSp>
      <p:grpSp>
        <p:nvGrpSpPr>
          <p:cNvPr name="Group 6" id="6"/>
          <p:cNvGrpSpPr/>
          <p:nvPr/>
        </p:nvGrpSpPr>
        <p:grpSpPr>
          <a:xfrm rot="0">
            <a:off x="12374539" y="8993151"/>
            <a:ext cx="4284389" cy="1567256"/>
            <a:chOff x="0" y="0"/>
            <a:chExt cx="1128399" cy="412775"/>
          </a:xfrm>
        </p:grpSpPr>
        <p:sp>
          <p:nvSpPr>
            <p:cNvPr name="Freeform 7" id="7"/>
            <p:cNvSpPr/>
            <p:nvPr/>
          </p:nvSpPr>
          <p:spPr>
            <a:xfrm flipH="false" flipV="false" rot="0">
              <a:off x="0" y="0"/>
              <a:ext cx="1128399" cy="412775"/>
            </a:xfrm>
            <a:custGeom>
              <a:avLst/>
              <a:gdLst/>
              <a:ahLst/>
              <a:cxnLst/>
              <a:rect r="r" b="b" t="t" l="l"/>
              <a:pathLst>
                <a:path h="412775" w="1128399">
                  <a:moveTo>
                    <a:pt x="0" y="0"/>
                  </a:moveTo>
                  <a:lnTo>
                    <a:pt x="1128399" y="0"/>
                  </a:lnTo>
                  <a:lnTo>
                    <a:pt x="1128399" y="412775"/>
                  </a:lnTo>
                  <a:lnTo>
                    <a:pt x="0" y="412775"/>
                  </a:lnTo>
                  <a:close/>
                </a:path>
              </a:pathLst>
            </a:custGeom>
            <a:solidFill>
              <a:srgbClr val="F4F6FC"/>
            </a:solidFill>
          </p:spPr>
        </p:sp>
        <p:sp>
          <p:nvSpPr>
            <p:cNvPr name="TextBox 8" id="8"/>
            <p:cNvSpPr txBox="true"/>
            <p:nvPr/>
          </p:nvSpPr>
          <p:spPr>
            <a:xfrm>
              <a:off x="0" y="-47625"/>
              <a:ext cx="1128399" cy="460400"/>
            </a:xfrm>
            <a:prstGeom prst="rect">
              <a:avLst/>
            </a:prstGeom>
          </p:spPr>
          <p:txBody>
            <a:bodyPr anchor="ctr" rtlCol="false" tIns="50800" lIns="50800" bIns="50800" rIns="50800"/>
            <a:lstStyle/>
            <a:p>
              <a:pPr algn="ctr">
                <a:lnSpc>
                  <a:spcPts val="2800"/>
                </a:lnSpc>
              </a:pPr>
            </a:p>
          </p:txBody>
        </p:sp>
      </p:grpSp>
      <p:grpSp>
        <p:nvGrpSpPr>
          <p:cNvPr name="Group 9" id="9"/>
          <p:cNvGrpSpPr/>
          <p:nvPr/>
        </p:nvGrpSpPr>
        <p:grpSpPr>
          <a:xfrm rot="5400000">
            <a:off x="14012664" y="3237235"/>
            <a:ext cx="6983416" cy="1567256"/>
            <a:chOff x="0" y="0"/>
            <a:chExt cx="1839254" cy="412775"/>
          </a:xfrm>
        </p:grpSpPr>
        <p:sp>
          <p:nvSpPr>
            <p:cNvPr name="Freeform 10" id="10"/>
            <p:cNvSpPr/>
            <p:nvPr/>
          </p:nvSpPr>
          <p:spPr>
            <a:xfrm flipH="false" flipV="false" rot="0">
              <a:off x="0" y="0"/>
              <a:ext cx="1839254" cy="412775"/>
            </a:xfrm>
            <a:custGeom>
              <a:avLst/>
              <a:gdLst/>
              <a:ahLst/>
              <a:cxnLst/>
              <a:rect r="r" b="b" t="t" l="l"/>
              <a:pathLst>
                <a:path h="412775" w="1839254">
                  <a:moveTo>
                    <a:pt x="0" y="0"/>
                  </a:moveTo>
                  <a:lnTo>
                    <a:pt x="1839254" y="0"/>
                  </a:lnTo>
                  <a:lnTo>
                    <a:pt x="1839254" y="412775"/>
                  </a:lnTo>
                  <a:lnTo>
                    <a:pt x="0" y="412775"/>
                  </a:lnTo>
                  <a:close/>
                </a:path>
              </a:pathLst>
            </a:custGeom>
            <a:solidFill>
              <a:srgbClr val="F4F6FC"/>
            </a:solidFill>
          </p:spPr>
        </p:sp>
        <p:sp>
          <p:nvSpPr>
            <p:cNvPr name="TextBox 11" id="11"/>
            <p:cNvSpPr txBox="true"/>
            <p:nvPr/>
          </p:nvSpPr>
          <p:spPr>
            <a:xfrm>
              <a:off x="0" y="-47625"/>
              <a:ext cx="183925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true" flipV="true" rot="5400000">
            <a:off x="10540746" y="-52264"/>
            <a:ext cx="11547949" cy="9406329"/>
          </a:xfrm>
          <a:custGeom>
            <a:avLst/>
            <a:gdLst/>
            <a:ahLst/>
            <a:cxnLst/>
            <a:rect r="r" b="b" t="t" l="l"/>
            <a:pathLst>
              <a:path h="9406329" w="11547949">
                <a:moveTo>
                  <a:pt x="11547949" y="9406329"/>
                </a:moveTo>
                <a:lnTo>
                  <a:pt x="0" y="9406329"/>
                </a:lnTo>
                <a:lnTo>
                  <a:pt x="0" y="0"/>
                </a:lnTo>
                <a:lnTo>
                  <a:pt x="11547949" y="0"/>
                </a:lnTo>
                <a:lnTo>
                  <a:pt x="11547949" y="9406329"/>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2118001" y="6620396"/>
            <a:ext cx="9224082" cy="1736725"/>
          </a:xfrm>
          <a:prstGeom prst="rect">
            <a:avLst/>
          </a:prstGeom>
        </p:spPr>
        <p:txBody>
          <a:bodyPr anchor="t" rtlCol="false" tIns="0" lIns="0" bIns="0" rIns="0">
            <a:spAutoFit/>
          </a:bodyPr>
          <a:lstStyle/>
          <a:p>
            <a:pPr algn="l">
              <a:lnSpc>
                <a:spcPts val="3499"/>
              </a:lnSpc>
            </a:pPr>
            <a:r>
              <a:rPr lang="en-US" sz="2499" b="true">
                <a:solidFill>
                  <a:srgbClr val="050A30"/>
                </a:solidFill>
                <a:latin typeface="HK Grotesk Medium"/>
                <a:ea typeface="HK Grotesk Medium"/>
                <a:cs typeface="HK Grotesk Medium"/>
                <a:sym typeface="HK Grotesk Medium"/>
              </a:rPr>
              <a:t>Escuela de Ingenieria de Ciencias Y Sistemas</a:t>
            </a:r>
          </a:p>
          <a:p>
            <a:pPr algn="l">
              <a:lnSpc>
                <a:spcPts val="3499"/>
              </a:lnSpc>
            </a:pPr>
            <a:r>
              <a:rPr lang="en-US" sz="2499" b="true">
                <a:solidFill>
                  <a:srgbClr val="050A30"/>
                </a:solidFill>
                <a:latin typeface="HK Grotesk Medium"/>
                <a:ea typeface="HK Grotesk Medium"/>
                <a:cs typeface="HK Grotesk Medium"/>
                <a:sym typeface="HK Grotesk Medium"/>
              </a:rPr>
              <a:t>Facultad de Ingenieria</a:t>
            </a:r>
          </a:p>
          <a:p>
            <a:pPr algn="l">
              <a:lnSpc>
                <a:spcPts val="3499"/>
              </a:lnSpc>
            </a:pPr>
            <a:r>
              <a:rPr lang="en-US" sz="2499" b="true">
                <a:solidFill>
                  <a:srgbClr val="050A30"/>
                </a:solidFill>
                <a:latin typeface="HK Grotesk Medium"/>
                <a:ea typeface="HK Grotesk Medium"/>
                <a:cs typeface="HK Grotesk Medium"/>
                <a:sym typeface="HK Grotesk Medium"/>
              </a:rPr>
              <a:t>Universidad de San Carlos de Guatemala</a:t>
            </a:r>
          </a:p>
          <a:p>
            <a:pPr algn="l">
              <a:lnSpc>
                <a:spcPts val="3499"/>
              </a:lnSpc>
              <a:spcBef>
                <a:spcPct val="0"/>
              </a:spcBef>
            </a:pPr>
          </a:p>
        </p:txBody>
      </p:sp>
      <p:sp>
        <p:nvSpPr>
          <p:cNvPr name="TextBox 14" id="14"/>
          <p:cNvSpPr txBox="true"/>
          <p:nvPr/>
        </p:nvSpPr>
        <p:spPr>
          <a:xfrm rot="0">
            <a:off x="2118001" y="3415707"/>
            <a:ext cx="11119114" cy="1210310"/>
          </a:xfrm>
          <a:prstGeom prst="rect">
            <a:avLst/>
          </a:prstGeom>
        </p:spPr>
        <p:txBody>
          <a:bodyPr anchor="t" rtlCol="false" tIns="0" lIns="0" bIns="0" rIns="0">
            <a:spAutoFit/>
          </a:bodyPr>
          <a:lstStyle/>
          <a:p>
            <a:pPr algn="l">
              <a:lnSpc>
                <a:spcPts val="9520"/>
              </a:lnSpc>
            </a:pPr>
            <a:r>
              <a:rPr lang="en-US" sz="8000" b="true">
                <a:solidFill>
                  <a:srgbClr val="050A30"/>
                </a:solidFill>
                <a:latin typeface="HK Grotesk Bold"/>
                <a:ea typeface="HK Grotesk Bold"/>
                <a:cs typeface="HK Grotesk Bold"/>
                <a:sym typeface="HK Grotesk Bold"/>
              </a:rPr>
              <a:t>Clase 1</a:t>
            </a:r>
          </a:p>
        </p:txBody>
      </p:sp>
      <p:sp>
        <p:nvSpPr>
          <p:cNvPr name="TextBox 15" id="15"/>
          <p:cNvSpPr txBox="true"/>
          <p:nvPr/>
        </p:nvSpPr>
        <p:spPr>
          <a:xfrm rot="0">
            <a:off x="2184676" y="2365657"/>
            <a:ext cx="11052439" cy="835660"/>
          </a:xfrm>
          <a:prstGeom prst="rect">
            <a:avLst/>
          </a:prstGeom>
        </p:spPr>
        <p:txBody>
          <a:bodyPr anchor="t" rtlCol="false" tIns="0" lIns="0" bIns="0" rIns="0">
            <a:spAutoFit/>
          </a:bodyPr>
          <a:lstStyle/>
          <a:p>
            <a:pPr algn="l">
              <a:lnSpc>
                <a:spcPts val="6545"/>
              </a:lnSpc>
            </a:pPr>
            <a:r>
              <a:rPr lang="en-US" b="true" sz="5500" spc="440">
                <a:solidFill>
                  <a:srgbClr val="050A30"/>
                </a:solidFill>
                <a:latin typeface="HK Grotesk Bold"/>
                <a:ea typeface="HK Grotesk Bold"/>
                <a:cs typeface="HK Grotesk Bold"/>
                <a:sym typeface="HK Grotesk Bold"/>
              </a:rPr>
              <a:t>INTELIGENCIA ARTIFICIAL 1</a:t>
            </a:r>
          </a:p>
        </p:txBody>
      </p:sp>
      <p:sp>
        <p:nvSpPr>
          <p:cNvPr name="TextBox 16" id="16"/>
          <p:cNvSpPr txBox="true"/>
          <p:nvPr/>
        </p:nvSpPr>
        <p:spPr>
          <a:xfrm rot="0">
            <a:off x="2118001" y="857436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
        <p:nvSpPr>
          <p:cNvPr name="AutoShape 17" id="17"/>
          <p:cNvSpPr/>
          <p:nvPr/>
        </p:nvSpPr>
        <p:spPr>
          <a:xfrm flipV="true">
            <a:off x="13553005" y="935761"/>
            <a:ext cx="5036482" cy="5036482"/>
          </a:xfrm>
          <a:prstGeom prst="line">
            <a:avLst/>
          </a:prstGeom>
          <a:ln cap="flat" w="114300">
            <a:solidFill>
              <a:srgbClr val="050A30"/>
            </a:solidFill>
            <a:prstDash val="solid"/>
            <a:headEnd type="none" len="sm" w="sm"/>
            <a:tailEnd type="none" len="sm" w="sm"/>
          </a:ln>
        </p:spPr>
      </p:sp>
      <p:sp>
        <p:nvSpPr>
          <p:cNvPr name="AutoShape 18" id="18"/>
          <p:cNvSpPr/>
          <p:nvPr/>
        </p:nvSpPr>
        <p:spPr>
          <a:xfrm flipV="true">
            <a:off x="14602740" y="4540846"/>
            <a:ext cx="1216428" cy="1216428"/>
          </a:xfrm>
          <a:prstGeom prst="line">
            <a:avLst/>
          </a:prstGeom>
          <a:ln cap="flat" w="114300">
            <a:solidFill>
              <a:srgbClr val="050A30"/>
            </a:solidFill>
            <a:prstDash val="solid"/>
            <a:headEnd type="none" len="sm" w="sm"/>
            <a:tailEnd type="none" len="sm" w="sm"/>
          </a:ln>
        </p:spPr>
      </p:sp>
      <p:sp>
        <p:nvSpPr>
          <p:cNvPr name="AutoShape 19" id="19"/>
          <p:cNvSpPr/>
          <p:nvPr/>
        </p:nvSpPr>
        <p:spPr>
          <a:xfrm flipV="true">
            <a:off x="12944791" y="7512571"/>
            <a:ext cx="2942644" cy="2942644"/>
          </a:xfrm>
          <a:prstGeom prst="line">
            <a:avLst/>
          </a:prstGeom>
          <a:ln cap="flat" w="114300">
            <a:solidFill>
              <a:srgbClr val="050A30"/>
            </a:solidFill>
            <a:prstDash val="solid"/>
            <a:headEnd type="none" len="sm" w="sm"/>
            <a:tailEnd type="none" len="sm" w="sm"/>
          </a:ln>
        </p:spPr>
      </p:sp>
      <p:sp>
        <p:nvSpPr>
          <p:cNvPr name="AutoShape 20" id="20"/>
          <p:cNvSpPr/>
          <p:nvPr/>
        </p:nvSpPr>
        <p:spPr>
          <a:xfrm flipV="true">
            <a:off x="11473469" y="9776779"/>
            <a:ext cx="2942644" cy="2942644"/>
          </a:xfrm>
          <a:prstGeom prst="line">
            <a:avLst/>
          </a:prstGeom>
          <a:ln cap="flat" w="114300">
            <a:solidFill>
              <a:srgbClr val="050A30"/>
            </a:solidFill>
            <a:prstDash val="solid"/>
            <a:headEnd type="none" len="sm" w="sm"/>
            <a:tailEnd type="none" len="sm" w="sm"/>
          </a:ln>
        </p:spPr>
      </p:sp>
      <p:sp>
        <p:nvSpPr>
          <p:cNvPr name="TextBox 21" id="21"/>
          <p:cNvSpPr txBox="true"/>
          <p:nvPr/>
        </p:nvSpPr>
        <p:spPr>
          <a:xfrm rot="0">
            <a:off x="2118001" y="4721267"/>
            <a:ext cx="6563087" cy="1038225"/>
          </a:xfrm>
          <a:prstGeom prst="rect">
            <a:avLst/>
          </a:prstGeom>
        </p:spPr>
        <p:txBody>
          <a:bodyPr anchor="t" rtlCol="false" tIns="0" lIns="0" bIns="0" rIns="0">
            <a:spAutoFit/>
          </a:bodyPr>
          <a:lstStyle/>
          <a:p>
            <a:pPr algn="l">
              <a:lnSpc>
                <a:spcPts val="8400"/>
              </a:lnSpc>
              <a:spcBef>
                <a:spcPct val="0"/>
              </a:spcBef>
            </a:pPr>
            <a:r>
              <a:rPr lang="en-US" b="true" sz="6000">
                <a:solidFill>
                  <a:srgbClr val="050A30"/>
                </a:solidFill>
                <a:latin typeface="HK Grotesk Medium"/>
                <a:ea typeface="HK Grotesk Medium"/>
                <a:cs typeface="HK Grotesk Medium"/>
                <a:sym typeface="HK Grotesk Medium"/>
              </a:rPr>
              <a:t>Lógica e Inferencia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0">
            <a:off x="1362575" y="1028700"/>
            <a:ext cx="15562849" cy="8179961"/>
            <a:chOff x="0" y="0"/>
            <a:chExt cx="5796956" cy="3046927"/>
          </a:xfrm>
        </p:grpSpPr>
        <p:sp>
          <p:nvSpPr>
            <p:cNvPr name="Freeform 4" id="4"/>
            <p:cNvSpPr/>
            <p:nvPr/>
          </p:nvSpPr>
          <p:spPr>
            <a:xfrm flipH="false" flipV="false" rot="0">
              <a:off x="0" y="0"/>
              <a:ext cx="5796955" cy="3046927"/>
            </a:xfrm>
            <a:custGeom>
              <a:avLst/>
              <a:gdLst/>
              <a:ahLst/>
              <a:cxnLst/>
              <a:rect r="r" b="b" t="t" l="l"/>
              <a:pathLst>
                <a:path h="3046927" w="5796955">
                  <a:moveTo>
                    <a:pt x="0" y="0"/>
                  </a:moveTo>
                  <a:lnTo>
                    <a:pt x="5796955" y="0"/>
                  </a:lnTo>
                  <a:lnTo>
                    <a:pt x="5796955" y="3046927"/>
                  </a:lnTo>
                  <a:lnTo>
                    <a:pt x="0" y="3046927"/>
                  </a:lnTo>
                  <a:close/>
                </a:path>
              </a:pathLst>
            </a:custGeom>
            <a:solidFill>
              <a:srgbClr val="000000">
                <a:alpha val="0"/>
              </a:srgbClr>
            </a:solidFill>
            <a:ln w="66675" cap="sq">
              <a:solidFill>
                <a:srgbClr val="570F69"/>
              </a:solidFill>
              <a:prstDash val="solid"/>
              <a:miter/>
            </a:ln>
          </p:spPr>
        </p:sp>
        <p:sp>
          <p:nvSpPr>
            <p:cNvPr name="TextBox 5" id="5"/>
            <p:cNvSpPr txBox="true"/>
            <p:nvPr/>
          </p:nvSpPr>
          <p:spPr>
            <a:xfrm>
              <a:off x="0" y="0"/>
              <a:ext cx="5796956" cy="3046927"/>
            </a:xfrm>
            <a:prstGeom prst="rect">
              <a:avLst/>
            </a:prstGeom>
          </p:spPr>
          <p:txBody>
            <a:bodyPr anchor="ctr" rtlCol="false" tIns="48876" lIns="48876" bIns="48876" rIns="48876"/>
            <a:lstStyle/>
            <a:p>
              <a:pPr algn="ctr">
                <a:lnSpc>
                  <a:spcPts val="1813"/>
                </a:lnSpc>
              </a:pPr>
            </a:p>
          </p:txBody>
        </p:sp>
      </p:grpSp>
      <p:grpSp>
        <p:nvGrpSpPr>
          <p:cNvPr name="Group 6" id="6"/>
          <p:cNvGrpSpPr/>
          <p:nvPr/>
        </p:nvGrpSpPr>
        <p:grpSpPr>
          <a:xfrm rot="2700000">
            <a:off x="57071" y="8050244"/>
            <a:ext cx="3393988" cy="1567256"/>
            <a:chOff x="0" y="0"/>
            <a:chExt cx="893890" cy="412775"/>
          </a:xfrm>
        </p:grpSpPr>
        <p:sp>
          <p:nvSpPr>
            <p:cNvPr name="Freeform 7" id="7"/>
            <p:cNvSpPr/>
            <p:nvPr/>
          </p:nvSpPr>
          <p:spPr>
            <a:xfrm flipH="false" flipV="false" rot="0">
              <a:off x="0" y="0"/>
              <a:ext cx="893890" cy="412775"/>
            </a:xfrm>
            <a:custGeom>
              <a:avLst/>
              <a:gdLst/>
              <a:ahLst/>
              <a:cxnLst/>
              <a:rect r="r" b="b" t="t" l="l"/>
              <a:pathLst>
                <a:path h="412775" w="893890">
                  <a:moveTo>
                    <a:pt x="0" y="0"/>
                  </a:moveTo>
                  <a:lnTo>
                    <a:pt x="893890" y="0"/>
                  </a:lnTo>
                  <a:lnTo>
                    <a:pt x="893890" y="412775"/>
                  </a:lnTo>
                  <a:lnTo>
                    <a:pt x="0" y="412775"/>
                  </a:lnTo>
                  <a:close/>
                </a:path>
              </a:pathLst>
            </a:custGeom>
            <a:solidFill>
              <a:srgbClr val="050A30"/>
            </a:solidFill>
          </p:spPr>
        </p:sp>
        <p:sp>
          <p:nvSpPr>
            <p:cNvPr name="TextBox 8" id="8"/>
            <p:cNvSpPr txBox="true"/>
            <p:nvPr/>
          </p:nvSpPr>
          <p:spPr>
            <a:xfrm>
              <a:off x="0" y="-47625"/>
              <a:ext cx="893890" cy="460400"/>
            </a:xfrm>
            <a:prstGeom prst="rect">
              <a:avLst/>
            </a:prstGeom>
          </p:spPr>
          <p:txBody>
            <a:bodyPr anchor="ctr" rtlCol="false" tIns="50800" lIns="50800" bIns="50800" rIns="50800"/>
            <a:lstStyle/>
            <a:p>
              <a:pPr algn="ctr">
                <a:lnSpc>
                  <a:spcPts val="2800"/>
                </a:lnSpc>
              </a:pPr>
            </a:p>
          </p:txBody>
        </p:sp>
      </p:grpSp>
      <p:grpSp>
        <p:nvGrpSpPr>
          <p:cNvPr name="Group 9" id="9"/>
          <p:cNvGrpSpPr/>
          <p:nvPr/>
        </p:nvGrpSpPr>
        <p:grpSpPr>
          <a:xfrm rot="2700000">
            <a:off x="14836942" y="550429"/>
            <a:ext cx="3393988" cy="1567256"/>
            <a:chOff x="0" y="0"/>
            <a:chExt cx="893890" cy="412775"/>
          </a:xfrm>
        </p:grpSpPr>
        <p:sp>
          <p:nvSpPr>
            <p:cNvPr name="Freeform 10" id="10"/>
            <p:cNvSpPr/>
            <p:nvPr/>
          </p:nvSpPr>
          <p:spPr>
            <a:xfrm flipH="false" flipV="false" rot="0">
              <a:off x="0" y="0"/>
              <a:ext cx="893890" cy="412775"/>
            </a:xfrm>
            <a:custGeom>
              <a:avLst/>
              <a:gdLst/>
              <a:ahLst/>
              <a:cxnLst/>
              <a:rect r="r" b="b" t="t" l="l"/>
              <a:pathLst>
                <a:path h="412775" w="893890">
                  <a:moveTo>
                    <a:pt x="0" y="0"/>
                  </a:moveTo>
                  <a:lnTo>
                    <a:pt x="893890" y="0"/>
                  </a:lnTo>
                  <a:lnTo>
                    <a:pt x="893890" y="412775"/>
                  </a:lnTo>
                  <a:lnTo>
                    <a:pt x="0" y="412775"/>
                  </a:lnTo>
                  <a:close/>
                </a:path>
              </a:pathLst>
            </a:custGeom>
            <a:solidFill>
              <a:srgbClr val="050A30"/>
            </a:solidFill>
          </p:spPr>
        </p:sp>
        <p:sp>
          <p:nvSpPr>
            <p:cNvPr name="TextBox 11" id="11"/>
            <p:cNvSpPr txBox="true"/>
            <p:nvPr/>
          </p:nvSpPr>
          <p:spPr>
            <a:xfrm>
              <a:off x="0" y="-47625"/>
              <a:ext cx="893890"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0">
            <a:off x="-515035" y="5489862"/>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10800000">
            <a:off x="13871465" y="-189523"/>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0299395" y="3078596"/>
            <a:ext cx="6464263" cy="4810125"/>
          </a:xfrm>
          <a:prstGeom prst="rect">
            <a:avLst/>
          </a:prstGeom>
        </p:spPr>
        <p:txBody>
          <a:bodyPr anchor="t" rtlCol="false" tIns="0" lIns="0" bIns="0" rIns="0">
            <a:spAutoFit/>
          </a:bodyPr>
          <a:lstStyle/>
          <a:p>
            <a:pPr algn="l">
              <a:lnSpc>
                <a:spcPts val="4200"/>
              </a:lnSpc>
            </a:pPr>
            <a:r>
              <a:rPr lang="en-US" sz="3500" b="true">
                <a:solidFill>
                  <a:srgbClr val="F4F6FC"/>
                </a:solidFill>
                <a:latin typeface="HK Grotesk Bold"/>
                <a:ea typeface="HK Grotesk Bold"/>
                <a:cs typeface="HK Grotesk Bold"/>
                <a:sym typeface="HK Grotesk Bold"/>
              </a:rPr>
              <a:t>Link del Video</a:t>
            </a:r>
          </a:p>
          <a:p>
            <a:pPr algn="l">
              <a:lnSpc>
                <a:spcPts val="4200"/>
              </a:lnSpc>
            </a:pPr>
          </a:p>
          <a:p>
            <a:pPr algn="l">
              <a:lnSpc>
                <a:spcPts val="4200"/>
              </a:lnSpc>
            </a:pPr>
          </a:p>
          <a:p>
            <a:pPr algn="l">
              <a:lnSpc>
                <a:spcPts val="4200"/>
              </a:lnSpc>
            </a:pPr>
          </a:p>
          <a:p>
            <a:pPr algn="l">
              <a:lnSpc>
                <a:spcPts val="4200"/>
              </a:lnSpc>
            </a:pPr>
          </a:p>
          <a:p>
            <a:pPr algn="l">
              <a:lnSpc>
                <a:spcPts val="4200"/>
              </a:lnSpc>
            </a:pPr>
          </a:p>
          <a:p>
            <a:pPr algn="l">
              <a:lnSpc>
                <a:spcPts val="4200"/>
              </a:lnSpc>
            </a:pPr>
            <a:r>
              <a:rPr lang="en-US" b="true" sz="3500">
                <a:solidFill>
                  <a:srgbClr val="F4F6FC"/>
                </a:solidFill>
                <a:latin typeface="HK Grotesk Bold"/>
                <a:ea typeface="HK Grotesk Bold"/>
                <a:cs typeface="HK Grotesk Bold"/>
                <a:sym typeface="HK Grotesk Bold"/>
              </a:rPr>
              <a:t>Actividad</a:t>
            </a:r>
          </a:p>
          <a:p>
            <a:pPr algn="l">
              <a:lnSpc>
                <a:spcPts val="4200"/>
              </a:lnSpc>
            </a:pPr>
          </a:p>
          <a:p>
            <a:pPr algn="l" marL="755651" indent="-377825" lvl="1">
              <a:lnSpc>
                <a:spcPts val="4200"/>
              </a:lnSpc>
              <a:buFont typeface="Arial"/>
              <a:buChar char="•"/>
            </a:pPr>
            <a:r>
              <a:rPr lang="en-US" sz="3500">
                <a:solidFill>
                  <a:srgbClr val="F4F6FC"/>
                </a:solidFill>
                <a:latin typeface="HK Grotesk"/>
                <a:ea typeface="HK Grotesk"/>
                <a:cs typeface="HK Grotesk"/>
                <a:sym typeface="HK Grotesk"/>
              </a:rPr>
              <a:t>UEDI</a:t>
            </a:r>
          </a:p>
        </p:txBody>
      </p:sp>
      <p:sp>
        <p:nvSpPr>
          <p:cNvPr name="Freeform 15" id="15"/>
          <p:cNvSpPr/>
          <p:nvPr/>
        </p:nvSpPr>
        <p:spPr>
          <a:xfrm flipH="false" flipV="false" rot="0">
            <a:off x="12777973" y="3815059"/>
            <a:ext cx="2186985" cy="2186985"/>
          </a:xfrm>
          <a:custGeom>
            <a:avLst/>
            <a:gdLst/>
            <a:ahLst/>
            <a:cxnLst/>
            <a:rect r="r" b="b" t="t" l="l"/>
            <a:pathLst>
              <a:path h="2186985" w="2186985">
                <a:moveTo>
                  <a:pt x="0" y="0"/>
                </a:moveTo>
                <a:lnTo>
                  <a:pt x="2186985" y="0"/>
                </a:lnTo>
                <a:lnTo>
                  <a:pt x="2186985" y="2186985"/>
                </a:lnTo>
                <a:lnTo>
                  <a:pt x="0" y="2186985"/>
                </a:lnTo>
                <a:lnTo>
                  <a:pt x="0" y="0"/>
                </a:lnTo>
                <a:close/>
              </a:path>
            </a:pathLst>
          </a:custGeom>
          <a:blipFill>
            <a:blip r:embed="rId5"/>
            <a:stretch>
              <a:fillRect l="0" t="0" r="0" b="0"/>
            </a:stretch>
          </a:blipFill>
        </p:spPr>
      </p:sp>
      <p:sp>
        <p:nvSpPr>
          <p:cNvPr name="TextBox 16" id="16"/>
          <p:cNvSpPr txBox="true"/>
          <p:nvPr/>
        </p:nvSpPr>
        <p:spPr>
          <a:xfrm rot="0">
            <a:off x="1889083" y="1511090"/>
            <a:ext cx="4271494" cy="1152525"/>
          </a:xfrm>
          <a:prstGeom prst="rect">
            <a:avLst/>
          </a:prstGeom>
        </p:spPr>
        <p:txBody>
          <a:bodyPr anchor="t" rtlCol="false" tIns="0" lIns="0" bIns="0" rIns="0">
            <a:spAutoFit/>
          </a:bodyPr>
          <a:lstStyle/>
          <a:p>
            <a:pPr algn="ctr">
              <a:lnSpc>
                <a:spcPts val="9000"/>
              </a:lnSpc>
            </a:pPr>
            <a:r>
              <a:rPr lang="en-US" b="true" sz="7500">
                <a:solidFill>
                  <a:srgbClr val="F4F6FC"/>
                </a:solidFill>
                <a:latin typeface="HK Grotesk Bold"/>
                <a:ea typeface="HK Grotesk Bold"/>
                <a:cs typeface="HK Grotesk Bold"/>
                <a:sym typeface="HK Grotesk Bold"/>
              </a:rPr>
              <a:t>Agenda</a:t>
            </a:r>
          </a:p>
        </p:txBody>
      </p:sp>
      <p:sp>
        <p:nvSpPr>
          <p:cNvPr name="TextBox 17" id="17"/>
          <p:cNvSpPr txBox="true"/>
          <p:nvPr/>
        </p:nvSpPr>
        <p:spPr>
          <a:xfrm rot="0">
            <a:off x="12006974" y="8506847"/>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FFFFFF"/>
                </a:solidFill>
                <a:latin typeface="HK Grotesk Medium"/>
                <a:ea typeface="HK Grotesk Medium"/>
                <a:cs typeface="HK Grotesk Medium"/>
                <a:sym typeface="HK Grotesk Medium"/>
              </a:rPr>
              <a:t>Elaborado por: Robin Omar Buezo Díaz</a:t>
            </a:r>
          </a:p>
        </p:txBody>
      </p:sp>
      <p:sp>
        <p:nvSpPr>
          <p:cNvPr name="TextBox 18" id="18"/>
          <p:cNvSpPr txBox="true"/>
          <p:nvPr/>
        </p:nvSpPr>
        <p:spPr>
          <a:xfrm rot="0">
            <a:off x="2034003" y="3078596"/>
            <a:ext cx="6464263" cy="5343525"/>
          </a:xfrm>
          <a:prstGeom prst="rect">
            <a:avLst/>
          </a:prstGeom>
        </p:spPr>
        <p:txBody>
          <a:bodyPr anchor="t" rtlCol="false" tIns="0" lIns="0" bIns="0" rIns="0">
            <a:spAutoFit/>
          </a:bodyPr>
          <a:lstStyle/>
          <a:p>
            <a:pPr algn="l">
              <a:lnSpc>
                <a:spcPts val="4200"/>
              </a:lnSpc>
            </a:pPr>
            <a:r>
              <a:rPr lang="en-US" sz="3500" b="true">
                <a:solidFill>
                  <a:srgbClr val="F4F6FC"/>
                </a:solidFill>
                <a:latin typeface="HK Grotesk Bold"/>
                <a:ea typeface="HK Grotesk Bold"/>
                <a:cs typeface="HK Grotesk Bold"/>
                <a:sym typeface="HK Grotesk Bold"/>
              </a:rPr>
              <a:t>Recordatorios</a:t>
            </a:r>
          </a:p>
          <a:p>
            <a:pPr algn="l">
              <a:lnSpc>
                <a:spcPts val="4200"/>
              </a:lnSpc>
            </a:pPr>
          </a:p>
          <a:p>
            <a:pPr algn="l">
              <a:lnSpc>
                <a:spcPts val="4200"/>
              </a:lnSpc>
            </a:pPr>
          </a:p>
          <a:p>
            <a:pPr algn="l">
              <a:lnSpc>
                <a:spcPts val="4200"/>
              </a:lnSpc>
            </a:pPr>
          </a:p>
          <a:p>
            <a:pPr algn="l">
              <a:lnSpc>
                <a:spcPts val="4200"/>
              </a:lnSpc>
            </a:pPr>
          </a:p>
          <a:p>
            <a:pPr algn="l">
              <a:lnSpc>
                <a:spcPts val="4200"/>
              </a:lnSpc>
            </a:pPr>
            <a:r>
              <a:rPr lang="en-US" sz="3500" b="true">
                <a:solidFill>
                  <a:srgbClr val="F4F6FC"/>
                </a:solidFill>
                <a:latin typeface="HK Grotesk Bold"/>
                <a:ea typeface="HK Grotesk Bold"/>
                <a:cs typeface="HK Grotesk Bold"/>
                <a:sym typeface="HK Grotesk Bold"/>
              </a:rPr>
              <a:t>Temas</a:t>
            </a:r>
          </a:p>
          <a:p>
            <a:pPr algn="l">
              <a:lnSpc>
                <a:spcPts val="4200"/>
              </a:lnSpc>
            </a:pPr>
          </a:p>
          <a:p>
            <a:pPr algn="l" marL="755651" indent="-377825" lvl="1">
              <a:lnSpc>
                <a:spcPts val="4200"/>
              </a:lnSpc>
              <a:buFont typeface="Arial"/>
              <a:buChar char="•"/>
            </a:pPr>
            <a:r>
              <a:rPr lang="en-US" sz="3500">
                <a:solidFill>
                  <a:srgbClr val="F4F6FC"/>
                </a:solidFill>
                <a:latin typeface="HK Grotesk"/>
                <a:ea typeface="HK Grotesk"/>
                <a:cs typeface="HK Grotesk"/>
                <a:sym typeface="HK Grotesk"/>
              </a:rPr>
              <a:t>Tipos de Datos y Variables</a:t>
            </a:r>
          </a:p>
          <a:p>
            <a:pPr algn="l">
              <a:lnSpc>
                <a:spcPts val="4200"/>
              </a:lnSpc>
            </a:pPr>
          </a:p>
          <a:p>
            <a:pPr algn="l" marL="755651" indent="-377825" lvl="1">
              <a:lnSpc>
                <a:spcPts val="4200"/>
              </a:lnSpc>
              <a:buFont typeface="Arial"/>
              <a:buChar char="•"/>
            </a:pPr>
            <a:r>
              <a:rPr lang="en-US" sz="3500">
                <a:solidFill>
                  <a:srgbClr val="F4F6FC"/>
                </a:solidFill>
                <a:latin typeface="HK Grotesk"/>
                <a:ea typeface="HK Grotesk"/>
                <a:cs typeface="HK Grotesk"/>
                <a:sym typeface="HK Grotesk"/>
              </a:rPr>
              <a:t>Reglas, Hechos y Consultas</a:t>
            </a:r>
          </a:p>
        </p:txBody>
      </p:sp>
      <p:sp>
        <p:nvSpPr>
          <p:cNvPr name="TextBox 19" id="19"/>
          <p:cNvSpPr txBox="true"/>
          <p:nvPr/>
        </p:nvSpPr>
        <p:spPr>
          <a:xfrm rot="0">
            <a:off x="11208934" y="1511090"/>
            <a:ext cx="4271494" cy="1152525"/>
          </a:xfrm>
          <a:prstGeom prst="rect">
            <a:avLst/>
          </a:prstGeom>
        </p:spPr>
        <p:txBody>
          <a:bodyPr anchor="t" rtlCol="false" tIns="0" lIns="0" bIns="0" rIns="0">
            <a:spAutoFit/>
          </a:bodyPr>
          <a:lstStyle/>
          <a:p>
            <a:pPr algn="ctr">
              <a:lnSpc>
                <a:spcPts val="9000"/>
              </a:lnSpc>
            </a:pPr>
            <a:r>
              <a:rPr lang="en-US" b="true" sz="7500">
                <a:solidFill>
                  <a:srgbClr val="F4F6FC"/>
                </a:solidFill>
                <a:latin typeface="HK Grotesk Bold"/>
                <a:ea typeface="HK Grotesk Bold"/>
                <a:cs typeface="HK Grotesk Bold"/>
                <a:sym typeface="HK Grotesk Bold"/>
              </a:rPr>
              <a:t>Recursos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7AC3FE"/>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TextBox 12" id="12"/>
          <p:cNvSpPr txBox="true"/>
          <p:nvPr/>
        </p:nvSpPr>
        <p:spPr>
          <a:xfrm rot="0">
            <a:off x="1374889" y="1409214"/>
            <a:ext cx="13991174" cy="882887"/>
          </a:xfrm>
          <a:prstGeom prst="rect">
            <a:avLst/>
          </a:prstGeom>
        </p:spPr>
        <p:txBody>
          <a:bodyPr anchor="t" rtlCol="false" tIns="0" lIns="0" bIns="0" rIns="0">
            <a:spAutoFit/>
          </a:bodyPr>
          <a:lstStyle/>
          <a:p>
            <a:pPr algn="just">
              <a:lnSpc>
                <a:spcPts val="6890"/>
              </a:lnSpc>
            </a:pPr>
            <a:r>
              <a:rPr lang="en-US" b="true" sz="6098">
                <a:solidFill>
                  <a:srgbClr val="050A30"/>
                </a:solidFill>
                <a:latin typeface="HK Grotesk Medium"/>
                <a:ea typeface="HK Grotesk Medium"/>
                <a:cs typeface="HK Grotesk Medium"/>
                <a:sym typeface="HK Grotesk Medium"/>
              </a:rPr>
              <a:t>COMPETENCIA(S) Que desarrollaremos</a:t>
            </a:r>
          </a:p>
        </p:txBody>
      </p:sp>
      <p:sp>
        <p:nvSpPr>
          <p:cNvPr name="TextBox 13" id="13"/>
          <p:cNvSpPr txBox="true"/>
          <p:nvPr/>
        </p:nvSpPr>
        <p:spPr>
          <a:xfrm rot="0">
            <a:off x="2508326" y="3435564"/>
            <a:ext cx="12569573" cy="4213224"/>
          </a:xfrm>
          <a:prstGeom prst="rect">
            <a:avLst/>
          </a:prstGeom>
        </p:spPr>
        <p:txBody>
          <a:bodyPr anchor="t" rtlCol="false" tIns="0" lIns="0" bIns="0" rIns="0">
            <a:spAutoFit/>
          </a:bodyPr>
          <a:lstStyle/>
          <a:p>
            <a:pPr algn="ctr">
              <a:lnSpc>
                <a:spcPts val="5600"/>
              </a:lnSpc>
            </a:pPr>
            <a:r>
              <a:rPr lang="en-US" b="true" sz="4000" spc="320">
                <a:solidFill>
                  <a:srgbClr val="050A30"/>
                </a:solidFill>
                <a:latin typeface="HK Grotesk Bold"/>
                <a:ea typeface="HK Grotesk Bold"/>
                <a:cs typeface="HK Grotesk Bold"/>
                <a:sym typeface="HK Grotesk Bold"/>
              </a:rPr>
              <a:t>Desarrolla hechos, reglas, expresiones y predicados recursivos mediante el uso de cláusulas, ciclos, listas, unificació</a:t>
            </a:r>
            <a:r>
              <a:rPr lang="en-US" b="true" sz="4000" spc="320">
                <a:solidFill>
                  <a:srgbClr val="050A30"/>
                </a:solidFill>
                <a:latin typeface="HK Grotesk Bold"/>
                <a:ea typeface="HK Grotesk Bold"/>
                <a:cs typeface="HK Grotesk Bold"/>
                <a:sym typeface="HK Grotesk Bold"/>
              </a:rPr>
              <a:t>n y cortes en Tau Prolog para modelar bases de conocimiento y resolver problemas de inferencia lógica.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1477486" y="1899471"/>
            <a:ext cx="15333028" cy="1285875"/>
          </a:xfrm>
          <a:prstGeom prst="rect">
            <a:avLst/>
          </a:prstGeom>
        </p:spPr>
        <p:txBody>
          <a:bodyPr anchor="t" rtlCol="false" tIns="0" lIns="0" bIns="0" rIns="0">
            <a:spAutoFit/>
          </a:bodyPr>
          <a:lstStyle/>
          <a:p>
            <a:pPr algn="ctr">
              <a:lnSpc>
                <a:spcPts val="10158"/>
              </a:lnSpc>
            </a:pPr>
            <a:r>
              <a:rPr lang="en-US" b="true" sz="8465">
                <a:solidFill>
                  <a:srgbClr val="050A30"/>
                </a:solidFill>
                <a:latin typeface="HK Grotesk Bold"/>
                <a:ea typeface="HK Grotesk Bold"/>
                <a:cs typeface="HK Grotesk Bold"/>
                <a:sym typeface="HK Grotesk Bold"/>
              </a:rPr>
              <a:t>Lógica e Inferencia</a:t>
            </a:r>
          </a:p>
        </p:txBody>
      </p:sp>
      <p:grpSp>
        <p:nvGrpSpPr>
          <p:cNvPr name="Group 4" id="4"/>
          <p:cNvGrpSpPr/>
          <p:nvPr/>
        </p:nvGrpSpPr>
        <p:grpSpPr>
          <a:xfrm rot="-5400000">
            <a:off x="6186162" y="2511196"/>
            <a:ext cx="6818207" cy="20947169"/>
            <a:chOff x="0" y="0"/>
            <a:chExt cx="1795742" cy="5516950"/>
          </a:xfrm>
        </p:grpSpPr>
        <p:sp>
          <p:nvSpPr>
            <p:cNvPr name="Freeform 5" id="5"/>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6" id="6"/>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7" id="7"/>
          <p:cNvGrpSpPr/>
          <p:nvPr/>
        </p:nvGrpSpPr>
        <p:grpSpPr>
          <a:xfrm rot="-5400000">
            <a:off x="3997069" y="-11005002"/>
            <a:ext cx="2045233" cy="20947169"/>
            <a:chOff x="0" y="0"/>
            <a:chExt cx="538662" cy="5516950"/>
          </a:xfrm>
        </p:grpSpPr>
        <p:sp>
          <p:nvSpPr>
            <p:cNvPr name="Freeform 8" id="8"/>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9" id="9"/>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10" id="10"/>
          <p:cNvGrpSpPr/>
          <p:nvPr/>
        </p:nvGrpSpPr>
        <p:grpSpPr>
          <a:xfrm rot="2700000">
            <a:off x="13734331" y="93713"/>
            <a:ext cx="4685776" cy="1567256"/>
            <a:chOff x="0" y="0"/>
            <a:chExt cx="1234114" cy="412775"/>
          </a:xfrm>
        </p:grpSpPr>
        <p:sp>
          <p:nvSpPr>
            <p:cNvPr name="Freeform 11" id="11"/>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F4F6FC"/>
            </a:solidFill>
          </p:spPr>
        </p:sp>
        <p:sp>
          <p:nvSpPr>
            <p:cNvPr name="TextBox 12" id="12"/>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3" id="13"/>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028700" y="4084032"/>
            <a:ext cx="7709623" cy="679451"/>
          </a:xfrm>
          <a:prstGeom prst="rect">
            <a:avLst/>
          </a:prstGeom>
        </p:spPr>
        <p:txBody>
          <a:bodyPr anchor="t" rtlCol="false" tIns="0" lIns="0" bIns="0" rIns="0">
            <a:spAutoFit/>
          </a:bodyPr>
          <a:lstStyle/>
          <a:p>
            <a:pPr algn="ctr">
              <a:lnSpc>
                <a:spcPts val="5599"/>
              </a:lnSpc>
            </a:pPr>
            <a:r>
              <a:rPr lang="en-US" b="true" sz="3999" spc="319">
                <a:solidFill>
                  <a:srgbClr val="050A30"/>
                </a:solidFill>
                <a:latin typeface="HK Grotesk Bold"/>
                <a:ea typeface="HK Grotesk Bold"/>
                <a:cs typeface="HK Grotesk Bold"/>
                <a:sym typeface="HK Grotesk Bold"/>
              </a:rPr>
              <a:t>LÓGICA</a:t>
            </a:r>
          </a:p>
        </p:txBody>
      </p:sp>
      <p:sp>
        <p:nvSpPr>
          <p:cNvPr name="TextBox 15" id="15"/>
          <p:cNvSpPr txBox="true"/>
          <p:nvPr/>
        </p:nvSpPr>
        <p:spPr>
          <a:xfrm rot="0">
            <a:off x="1028700" y="5142895"/>
            <a:ext cx="7709623" cy="2609851"/>
          </a:xfrm>
          <a:prstGeom prst="rect">
            <a:avLst/>
          </a:prstGeom>
        </p:spPr>
        <p:txBody>
          <a:bodyPr anchor="t" rtlCol="false" tIns="0" lIns="0" bIns="0" rIns="0">
            <a:spAutoFit/>
          </a:bodyPr>
          <a:lstStyle/>
          <a:p>
            <a:pPr algn="just">
              <a:lnSpc>
                <a:spcPts val="4199"/>
              </a:lnSpc>
              <a:spcBef>
                <a:spcPct val="0"/>
              </a:spcBef>
            </a:pPr>
            <a:r>
              <a:rPr lang="en-US" b="true" sz="2999">
                <a:solidFill>
                  <a:srgbClr val="050A30"/>
                </a:solidFill>
                <a:latin typeface="HK Grotesk Medium"/>
                <a:ea typeface="HK Grotesk Medium"/>
                <a:cs typeface="HK Grotesk Medium"/>
                <a:sym typeface="HK Grotesk Medium"/>
              </a:rPr>
              <a:t>La lógica es una rama de la filosofía y la matemática que se ocupa de las reglas y principios del razonamiento válido. Entre sus tipos están la lógica formal, lógica informal, lógica proposicional y lógica de predicados.</a:t>
            </a:r>
          </a:p>
        </p:txBody>
      </p:sp>
      <p:sp>
        <p:nvSpPr>
          <p:cNvPr name="TextBox 16" id="16"/>
          <p:cNvSpPr txBox="true"/>
          <p:nvPr/>
        </p:nvSpPr>
        <p:spPr>
          <a:xfrm rot="0">
            <a:off x="9549677" y="4084032"/>
            <a:ext cx="7709623" cy="679451"/>
          </a:xfrm>
          <a:prstGeom prst="rect">
            <a:avLst/>
          </a:prstGeom>
        </p:spPr>
        <p:txBody>
          <a:bodyPr anchor="t" rtlCol="false" tIns="0" lIns="0" bIns="0" rIns="0">
            <a:spAutoFit/>
          </a:bodyPr>
          <a:lstStyle/>
          <a:p>
            <a:pPr algn="ctr">
              <a:lnSpc>
                <a:spcPts val="5599"/>
              </a:lnSpc>
            </a:pPr>
            <a:r>
              <a:rPr lang="en-US" b="true" sz="3999" spc="319">
                <a:solidFill>
                  <a:srgbClr val="050A30"/>
                </a:solidFill>
                <a:latin typeface="HK Grotesk Bold"/>
                <a:ea typeface="HK Grotesk Bold"/>
                <a:cs typeface="HK Grotesk Bold"/>
                <a:sym typeface="HK Grotesk Bold"/>
              </a:rPr>
              <a:t>INFERENCIA</a:t>
            </a:r>
          </a:p>
        </p:txBody>
      </p:sp>
      <p:sp>
        <p:nvSpPr>
          <p:cNvPr name="TextBox 17" id="17"/>
          <p:cNvSpPr txBox="true"/>
          <p:nvPr/>
        </p:nvSpPr>
        <p:spPr>
          <a:xfrm rot="0">
            <a:off x="9504089" y="5142895"/>
            <a:ext cx="7709623" cy="2609851"/>
          </a:xfrm>
          <a:prstGeom prst="rect">
            <a:avLst/>
          </a:prstGeom>
        </p:spPr>
        <p:txBody>
          <a:bodyPr anchor="t" rtlCol="false" tIns="0" lIns="0" bIns="0" rIns="0">
            <a:spAutoFit/>
          </a:bodyPr>
          <a:lstStyle/>
          <a:p>
            <a:pPr algn="just">
              <a:lnSpc>
                <a:spcPts val="4199"/>
              </a:lnSpc>
              <a:spcBef>
                <a:spcPct val="0"/>
              </a:spcBef>
            </a:pPr>
            <a:r>
              <a:rPr lang="en-US" b="true" sz="2999">
                <a:solidFill>
                  <a:srgbClr val="050A30"/>
                </a:solidFill>
                <a:latin typeface="HK Grotesk Medium"/>
                <a:ea typeface="HK Grotesk Medium"/>
                <a:cs typeface="HK Grotesk Medium"/>
                <a:sym typeface="HK Grotesk Medium"/>
              </a:rPr>
              <a:t>La inferencia es el proceso mediante el cual, a partir de ciertas premisas, llegamos a una conclusión. Entre sus varios tipos se encuentran la inferencia deductiva, inferencia inductiva y la inferencia abductiva.</a:t>
            </a:r>
          </a:p>
        </p:txBody>
      </p:sp>
      <p:sp>
        <p:nvSpPr>
          <p:cNvPr name="TextBox 18" id="18"/>
          <p:cNvSpPr txBox="true"/>
          <p:nvPr/>
        </p:nvSpPr>
        <p:spPr>
          <a:xfrm rot="0">
            <a:off x="1028700" y="8699056"/>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Freeform 3" id="3"/>
          <p:cNvSpPr/>
          <p:nvPr/>
        </p:nvSpPr>
        <p:spPr>
          <a:xfrm flipH="false" flipV="false" rot="-10800000">
            <a:off x="13310500" y="-221708"/>
            <a:ext cx="5046831" cy="6425363"/>
          </a:xfrm>
          <a:custGeom>
            <a:avLst/>
            <a:gdLst/>
            <a:ahLst/>
            <a:cxnLst/>
            <a:rect r="r" b="b" t="t" l="l"/>
            <a:pathLst>
              <a:path h="6425363" w="5046831">
                <a:moveTo>
                  <a:pt x="0" y="0"/>
                </a:moveTo>
                <a:lnTo>
                  <a:pt x="5046831" y="0"/>
                </a:lnTo>
                <a:lnTo>
                  <a:pt x="5046831" y="6425363"/>
                </a:lnTo>
                <a:lnTo>
                  <a:pt x="0" y="64253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42229" y="4134736"/>
            <a:ext cx="3875734" cy="5123564"/>
            <a:chOff x="0" y="0"/>
            <a:chExt cx="334712" cy="442476"/>
          </a:xfrm>
        </p:grpSpPr>
        <p:sp>
          <p:nvSpPr>
            <p:cNvPr name="Freeform 5" id="5"/>
            <p:cNvSpPr/>
            <p:nvPr/>
          </p:nvSpPr>
          <p:spPr>
            <a:xfrm flipH="false" flipV="false" rot="0">
              <a:off x="0" y="0"/>
              <a:ext cx="334712" cy="442476"/>
            </a:xfrm>
            <a:custGeom>
              <a:avLst/>
              <a:gdLst/>
              <a:ahLst/>
              <a:cxnLst/>
              <a:rect r="r" b="b" t="t" l="l"/>
              <a:pathLst>
                <a:path h="442476" w="334712">
                  <a:moveTo>
                    <a:pt x="73909" y="0"/>
                  </a:moveTo>
                  <a:lnTo>
                    <a:pt x="260803" y="0"/>
                  </a:lnTo>
                  <a:cubicBezTo>
                    <a:pt x="301622" y="0"/>
                    <a:pt x="334712" y="33090"/>
                    <a:pt x="334712" y="73909"/>
                  </a:cubicBezTo>
                  <a:lnTo>
                    <a:pt x="334712" y="368567"/>
                  </a:lnTo>
                  <a:cubicBezTo>
                    <a:pt x="334712" y="409386"/>
                    <a:pt x="301622" y="442476"/>
                    <a:pt x="260803" y="442476"/>
                  </a:cubicBezTo>
                  <a:lnTo>
                    <a:pt x="73909" y="442476"/>
                  </a:lnTo>
                  <a:cubicBezTo>
                    <a:pt x="54307" y="442476"/>
                    <a:pt x="35508" y="434689"/>
                    <a:pt x="21647" y="420828"/>
                  </a:cubicBezTo>
                  <a:cubicBezTo>
                    <a:pt x="7787" y="406968"/>
                    <a:pt x="0" y="388169"/>
                    <a:pt x="0" y="368567"/>
                  </a:cubicBezTo>
                  <a:lnTo>
                    <a:pt x="0" y="73909"/>
                  </a:lnTo>
                  <a:cubicBezTo>
                    <a:pt x="0" y="33090"/>
                    <a:pt x="33090" y="0"/>
                    <a:pt x="73909" y="0"/>
                  </a:cubicBezTo>
                  <a:close/>
                </a:path>
              </a:pathLst>
            </a:custGeom>
            <a:solidFill>
              <a:srgbClr val="FFFFFF"/>
            </a:solidFill>
            <a:ln w="85725" cap="rnd">
              <a:solidFill>
                <a:srgbClr val="12229D"/>
              </a:solidFill>
              <a:prstDash val="solid"/>
              <a:round/>
            </a:ln>
          </p:spPr>
        </p:sp>
        <p:sp>
          <p:nvSpPr>
            <p:cNvPr name="TextBox 6" id="6"/>
            <p:cNvSpPr txBox="true"/>
            <p:nvPr/>
          </p:nvSpPr>
          <p:spPr>
            <a:xfrm>
              <a:off x="0" y="-66675"/>
              <a:ext cx="334712" cy="509151"/>
            </a:xfrm>
            <a:prstGeom prst="rect">
              <a:avLst/>
            </a:prstGeom>
          </p:spPr>
          <p:txBody>
            <a:bodyPr anchor="ctr" rtlCol="false" tIns="50800" lIns="50800" bIns="50800" rIns="50800"/>
            <a:lstStyle/>
            <a:p>
              <a:pPr algn="ctr">
                <a:lnSpc>
                  <a:spcPts val="4480"/>
                </a:lnSpc>
              </a:pPr>
            </a:p>
          </p:txBody>
        </p:sp>
      </p:grpSp>
      <p:grpSp>
        <p:nvGrpSpPr>
          <p:cNvPr name="Group 7" id="7"/>
          <p:cNvGrpSpPr/>
          <p:nvPr/>
        </p:nvGrpSpPr>
        <p:grpSpPr>
          <a:xfrm rot="0">
            <a:off x="5188741" y="4134736"/>
            <a:ext cx="3875734" cy="5123564"/>
            <a:chOff x="0" y="0"/>
            <a:chExt cx="334712" cy="442476"/>
          </a:xfrm>
        </p:grpSpPr>
        <p:sp>
          <p:nvSpPr>
            <p:cNvPr name="Freeform 8" id="8"/>
            <p:cNvSpPr/>
            <p:nvPr/>
          </p:nvSpPr>
          <p:spPr>
            <a:xfrm flipH="false" flipV="false" rot="0">
              <a:off x="0" y="0"/>
              <a:ext cx="334712" cy="442476"/>
            </a:xfrm>
            <a:custGeom>
              <a:avLst/>
              <a:gdLst/>
              <a:ahLst/>
              <a:cxnLst/>
              <a:rect r="r" b="b" t="t" l="l"/>
              <a:pathLst>
                <a:path h="442476" w="334712">
                  <a:moveTo>
                    <a:pt x="73909" y="0"/>
                  </a:moveTo>
                  <a:lnTo>
                    <a:pt x="260803" y="0"/>
                  </a:lnTo>
                  <a:cubicBezTo>
                    <a:pt x="301622" y="0"/>
                    <a:pt x="334712" y="33090"/>
                    <a:pt x="334712" y="73909"/>
                  </a:cubicBezTo>
                  <a:lnTo>
                    <a:pt x="334712" y="368567"/>
                  </a:lnTo>
                  <a:cubicBezTo>
                    <a:pt x="334712" y="409386"/>
                    <a:pt x="301622" y="442476"/>
                    <a:pt x="260803" y="442476"/>
                  </a:cubicBezTo>
                  <a:lnTo>
                    <a:pt x="73909" y="442476"/>
                  </a:lnTo>
                  <a:cubicBezTo>
                    <a:pt x="54307" y="442476"/>
                    <a:pt x="35508" y="434689"/>
                    <a:pt x="21647" y="420828"/>
                  </a:cubicBezTo>
                  <a:cubicBezTo>
                    <a:pt x="7787" y="406968"/>
                    <a:pt x="0" y="388169"/>
                    <a:pt x="0" y="368567"/>
                  </a:cubicBezTo>
                  <a:lnTo>
                    <a:pt x="0" y="73909"/>
                  </a:lnTo>
                  <a:cubicBezTo>
                    <a:pt x="0" y="33090"/>
                    <a:pt x="33090" y="0"/>
                    <a:pt x="73909" y="0"/>
                  </a:cubicBezTo>
                  <a:close/>
                </a:path>
              </a:pathLst>
            </a:custGeom>
            <a:solidFill>
              <a:srgbClr val="FFFFFF"/>
            </a:solidFill>
            <a:ln w="85725" cap="rnd">
              <a:solidFill>
                <a:srgbClr val="12229D"/>
              </a:solidFill>
              <a:prstDash val="solid"/>
              <a:round/>
            </a:ln>
          </p:spPr>
        </p:sp>
        <p:sp>
          <p:nvSpPr>
            <p:cNvPr name="TextBox 9" id="9"/>
            <p:cNvSpPr txBox="true"/>
            <p:nvPr/>
          </p:nvSpPr>
          <p:spPr>
            <a:xfrm>
              <a:off x="0" y="-66675"/>
              <a:ext cx="334712" cy="509151"/>
            </a:xfrm>
            <a:prstGeom prst="rect">
              <a:avLst/>
            </a:prstGeom>
          </p:spPr>
          <p:txBody>
            <a:bodyPr anchor="ctr" rtlCol="false" tIns="50800" lIns="50800" bIns="50800" rIns="50800"/>
            <a:lstStyle/>
            <a:p>
              <a:pPr algn="ctr">
                <a:lnSpc>
                  <a:spcPts val="4480"/>
                </a:lnSpc>
              </a:pPr>
            </a:p>
          </p:txBody>
        </p:sp>
      </p:grpSp>
      <p:sp>
        <p:nvSpPr>
          <p:cNvPr name="TextBox 10" id="10"/>
          <p:cNvSpPr txBox="true"/>
          <p:nvPr/>
        </p:nvSpPr>
        <p:spPr>
          <a:xfrm rot="0">
            <a:off x="1028700" y="2317874"/>
            <a:ext cx="12495637" cy="1298575"/>
          </a:xfrm>
          <a:prstGeom prst="rect">
            <a:avLst/>
          </a:prstGeom>
        </p:spPr>
        <p:txBody>
          <a:bodyPr anchor="t" rtlCol="false" tIns="0" lIns="0" bIns="0" rIns="0">
            <a:spAutoFit/>
          </a:bodyPr>
          <a:lstStyle/>
          <a:p>
            <a:pPr algn="just">
              <a:lnSpc>
                <a:spcPts val="3499"/>
              </a:lnSpc>
            </a:pPr>
            <a:r>
              <a:rPr lang="en-US" b="true" sz="2499">
                <a:solidFill>
                  <a:srgbClr val="F4F6FC"/>
                </a:solidFill>
                <a:latin typeface="HK Grotesk Medium"/>
                <a:ea typeface="HK Grotesk Medium"/>
                <a:cs typeface="HK Grotesk Medium"/>
                <a:sym typeface="HK Grotesk Medium"/>
              </a:rPr>
              <a:t>La inferencia lógica es el proceso de llegar a una conclusión a partir de premisas o hechos. A veces, se puede hacer rápidamente con una sola premisa, o puede requerir varias premisas para llegar a una conclusión. ¿Cómo clasificamos estas inferencias?</a:t>
            </a:r>
          </a:p>
        </p:txBody>
      </p:sp>
      <p:sp>
        <p:nvSpPr>
          <p:cNvPr name="TextBox 11" id="11"/>
          <p:cNvSpPr txBox="true"/>
          <p:nvPr/>
        </p:nvSpPr>
        <p:spPr>
          <a:xfrm rot="0">
            <a:off x="1028700" y="1133475"/>
            <a:ext cx="9377403" cy="960755"/>
          </a:xfrm>
          <a:prstGeom prst="rect">
            <a:avLst/>
          </a:prstGeom>
        </p:spPr>
        <p:txBody>
          <a:bodyPr anchor="t" rtlCol="false" tIns="0" lIns="0" bIns="0" rIns="0">
            <a:spAutoFit/>
          </a:bodyPr>
          <a:lstStyle/>
          <a:p>
            <a:pPr algn="l">
              <a:lnSpc>
                <a:spcPts val="7209"/>
              </a:lnSpc>
            </a:pPr>
            <a:r>
              <a:rPr lang="en-US" sz="6999" b="true">
                <a:solidFill>
                  <a:srgbClr val="F4F6FC"/>
                </a:solidFill>
                <a:latin typeface="HK Grotesk Bold"/>
                <a:ea typeface="HK Grotesk Bold"/>
                <a:cs typeface="HK Grotesk Bold"/>
                <a:sym typeface="HK Grotesk Bold"/>
              </a:rPr>
              <a:t>Inferencia Lógica</a:t>
            </a:r>
          </a:p>
        </p:txBody>
      </p:sp>
      <p:sp>
        <p:nvSpPr>
          <p:cNvPr name="TextBox 12" id="12"/>
          <p:cNvSpPr txBox="true"/>
          <p:nvPr/>
        </p:nvSpPr>
        <p:spPr>
          <a:xfrm rot="0">
            <a:off x="1493256" y="4366789"/>
            <a:ext cx="2973682" cy="450985"/>
          </a:xfrm>
          <a:prstGeom prst="rect">
            <a:avLst/>
          </a:prstGeom>
        </p:spPr>
        <p:txBody>
          <a:bodyPr anchor="t" rtlCol="false" tIns="0" lIns="0" bIns="0" rIns="0">
            <a:spAutoFit/>
          </a:bodyPr>
          <a:lstStyle/>
          <a:p>
            <a:pPr algn="ctr">
              <a:lnSpc>
                <a:spcPts val="3744"/>
              </a:lnSpc>
              <a:spcBef>
                <a:spcPct val="0"/>
              </a:spcBef>
            </a:pPr>
            <a:r>
              <a:rPr lang="en-US" b="true" sz="2674" spc="213">
                <a:solidFill>
                  <a:srgbClr val="253439"/>
                </a:solidFill>
                <a:latin typeface="HK Grotesk Bold"/>
                <a:ea typeface="HK Grotesk Bold"/>
                <a:cs typeface="HK Grotesk Bold"/>
                <a:sym typeface="HK Grotesk Bold"/>
              </a:rPr>
              <a:t> INMEDIATA</a:t>
            </a:r>
          </a:p>
        </p:txBody>
      </p:sp>
      <p:sp>
        <p:nvSpPr>
          <p:cNvPr name="TextBox 13" id="13"/>
          <p:cNvSpPr txBox="true"/>
          <p:nvPr/>
        </p:nvSpPr>
        <p:spPr>
          <a:xfrm rot="0">
            <a:off x="1431667" y="4784982"/>
            <a:ext cx="3096858" cy="1254096"/>
          </a:xfrm>
          <a:prstGeom prst="rect">
            <a:avLst/>
          </a:prstGeom>
        </p:spPr>
        <p:txBody>
          <a:bodyPr anchor="t" rtlCol="false" tIns="0" lIns="0" bIns="0" rIns="0">
            <a:spAutoFit/>
          </a:bodyPr>
          <a:lstStyle/>
          <a:p>
            <a:pPr algn="just">
              <a:lnSpc>
                <a:spcPts val="3327"/>
              </a:lnSpc>
            </a:pPr>
            <a:r>
              <a:rPr lang="en-US" sz="2501">
                <a:solidFill>
                  <a:srgbClr val="253439"/>
                </a:solidFill>
                <a:latin typeface="HK Grotesk"/>
                <a:ea typeface="HK Grotesk"/>
                <a:cs typeface="HK Grotesk"/>
                <a:sym typeface="HK Grotesk"/>
              </a:rPr>
              <a:t>Una única premisa lleva directamente a una conclusión.</a:t>
            </a:r>
          </a:p>
        </p:txBody>
      </p:sp>
      <p:sp>
        <p:nvSpPr>
          <p:cNvPr name="TextBox 14" id="14"/>
          <p:cNvSpPr txBox="true"/>
          <p:nvPr/>
        </p:nvSpPr>
        <p:spPr>
          <a:xfrm rot="0">
            <a:off x="1028700" y="6594702"/>
            <a:ext cx="3499826" cy="834996"/>
          </a:xfrm>
          <a:prstGeom prst="rect">
            <a:avLst/>
          </a:prstGeom>
        </p:spPr>
        <p:txBody>
          <a:bodyPr anchor="t" rtlCol="false" tIns="0" lIns="0" bIns="0" rIns="0">
            <a:spAutoFit/>
          </a:bodyPr>
          <a:lstStyle/>
          <a:p>
            <a:pPr algn="just" marL="540135" indent="-270067" lvl="1">
              <a:lnSpc>
                <a:spcPts val="3327"/>
              </a:lnSpc>
              <a:buFont typeface="Arial"/>
              <a:buChar char="•"/>
            </a:pPr>
            <a:r>
              <a:rPr lang="en-US" sz="2501">
                <a:solidFill>
                  <a:srgbClr val="253439"/>
                </a:solidFill>
                <a:latin typeface="HK Grotesk"/>
                <a:ea typeface="HK Grotesk"/>
                <a:cs typeface="HK Grotesk"/>
                <a:sym typeface="HK Grotesk"/>
              </a:rPr>
              <a:t>Todos los mamíferos respiran.</a:t>
            </a:r>
          </a:p>
        </p:txBody>
      </p:sp>
      <p:sp>
        <p:nvSpPr>
          <p:cNvPr name="TextBox 15" id="15"/>
          <p:cNvSpPr txBox="true"/>
          <p:nvPr/>
        </p:nvSpPr>
        <p:spPr>
          <a:xfrm rot="0">
            <a:off x="1042229" y="7901815"/>
            <a:ext cx="3486296" cy="834996"/>
          </a:xfrm>
          <a:prstGeom prst="rect">
            <a:avLst/>
          </a:prstGeom>
        </p:spPr>
        <p:txBody>
          <a:bodyPr anchor="t" rtlCol="false" tIns="0" lIns="0" bIns="0" rIns="0">
            <a:spAutoFit/>
          </a:bodyPr>
          <a:lstStyle/>
          <a:p>
            <a:pPr algn="just" marL="540135" indent="-270067" lvl="1">
              <a:lnSpc>
                <a:spcPts val="3327"/>
              </a:lnSpc>
              <a:buFont typeface="Arial"/>
              <a:buChar char="•"/>
            </a:pPr>
            <a:r>
              <a:rPr lang="en-US" sz="2501">
                <a:solidFill>
                  <a:srgbClr val="3C38B9"/>
                </a:solidFill>
                <a:latin typeface="HK Grotesk"/>
                <a:ea typeface="HK Grotesk"/>
                <a:cs typeface="HK Grotesk"/>
                <a:sym typeface="HK Grotesk"/>
              </a:rPr>
              <a:t>Un perro, siendo mamífero, respira.</a:t>
            </a:r>
          </a:p>
        </p:txBody>
      </p:sp>
      <p:sp>
        <p:nvSpPr>
          <p:cNvPr name="TextBox 16" id="16"/>
          <p:cNvSpPr txBox="true"/>
          <p:nvPr/>
        </p:nvSpPr>
        <p:spPr>
          <a:xfrm rot="0">
            <a:off x="5639767" y="4366789"/>
            <a:ext cx="2973682" cy="450985"/>
          </a:xfrm>
          <a:prstGeom prst="rect">
            <a:avLst/>
          </a:prstGeom>
        </p:spPr>
        <p:txBody>
          <a:bodyPr anchor="t" rtlCol="false" tIns="0" lIns="0" bIns="0" rIns="0">
            <a:spAutoFit/>
          </a:bodyPr>
          <a:lstStyle/>
          <a:p>
            <a:pPr algn="ctr">
              <a:lnSpc>
                <a:spcPts val="3744"/>
              </a:lnSpc>
              <a:spcBef>
                <a:spcPct val="0"/>
              </a:spcBef>
            </a:pPr>
            <a:r>
              <a:rPr lang="en-US" b="true" sz="2674" spc="213">
                <a:solidFill>
                  <a:srgbClr val="253439"/>
                </a:solidFill>
                <a:latin typeface="HK Grotesk Bold"/>
                <a:ea typeface="HK Grotesk Bold"/>
                <a:cs typeface="HK Grotesk Bold"/>
                <a:sym typeface="HK Grotesk Bold"/>
              </a:rPr>
              <a:t> MEDIATA</a:t>
            </a:r>
          </a:p>
        </p:txBody>
      </p:sp>
      <p:sp>
        <p:nvSpPr>
          <p:cNvPr name="TextBox 17" id="17"/>
          <p:cNvSpPr txBox="true"/>
          <p:nvPr/>
        </p:nvSpPr>
        <p:spPr>
          <a:xfrm rot="0">
            <a:off x="5578179" y="4784982"/>
            <a:ext cx="3096858" cy="1254096"/>
          </a:xfrm>
          <a:prstGeom prst="rect">
            <a:avLst/>
          </a:prstGeom>
        </p:spPr>
        <p:txBody>
          <a:bodyPr anchor="t" rtlCol="false" tIns="0" lIns="0" bIns="0" rIns="0">
            <a:spAutoFit/>
          </a:bodyPr>
          <a:lstStyle/>
          <a:p>
            <a:pPr algn="just">
              <a:lnSpc>
                <a:spcPts val="3327"/>
              </a:lnSpc>
            </a:pPr>
            <a:r>
              <a:rPr lang="en-US" sz="2501">
                <a:solidFill>
                  <a:srgbClr val="253439"/>
                </a:solidFill>
                <a:latin typeface="HK Grotesk"/>
                <a:ea typeface="HK Grotesk"/>
                <a:cs typeface="HK Grotesk"/>
                <a:sym typeface="HK Grotesk"/>
              </a:rPr>
              <a:t>Se necesitan múltiples premisas para llegar a una conclusión.</a:t>
            </a:r>
          </a:p>
        </p:txBody>
      </p:sp>
      <p:sp>
        <p:nvSpPr>
          <p:cNvPr name="TextBox 18" id="18"/>
          <p:cNvSpPr txBox="true"/>
          <p:nvPr/>
        </p:nvSpPr>
        <p:spPr>
          <a:xfrm rot="0">
            <a:off x="5175212" y="6241755"/>
            <a:ext cx="3499826" cy="654095"/>
          </a:xfrm>
          <a:prstGeom prst="rect">
            <a:avLst/>
          </a:prstGeom>
        </p:spPr>
        <p:txBody>
          <a:bodyPr anchor="t" rtlCol="false" tIns="0" lIns="0" bIns="0" rIns="0">
            <a:spAutoFit/>
          </a:bodyPr>
          <a:lstStyle/>
          <a:p>
            <a:pPr algn="just" marL="540135" indent="-270067" lvl="1">
              <a:lnSpc>
                <a:spcPts val="2501"/>
              </a:lnSpc>
              <a:buFont typeface="Arial"/>
              <a:buChar char="•"/>
            </a:pPr>
            <a:r>
              <a:rPr lang="en-US" sz="2501">
                <a:solidFill>
                  <a:srgbClr val="253439"/>
                </a:solidFill>
                <a:latin typeface="HK Grotesk"/>
                <a:ea typeface="HK Grotesk"/>
                <a:cs typeface="HK Grotesk"/>
                <a:sym typeface="HK Grotesk"/>
              </a:rPr>
              <a:t>Todos los mamíferos tienen corazón.</a:t>
            </a:r>
          </a:p>
        </p:txBody>
      </p:sp>
      <p:sp>
        <p:nvSpPr>
          <p:cNvPr name="TextBox 19" id="19"/>
          <p:cNvSpPr txBox="true"/>
          <p:nvPr/>
        </p:nvSpPr>
        <p:spPr>
          <a:xfrm rot="0">
            <a:off x="5188741" y="8097281"/>
            <a:ext cx="3499826" cy="834996"/>
          </a:xfrm>
          <a:prstGeom prst="rect">
            <a:avLst/>
          </a:prstGeom>
        </p:spPr>
        <p:txBody>
          <a:bodyPr anchor="t" rtlCol="false" tIns="0" lIns="0" bIns="0" rIns="0">
            <a:spAutoFit/>
          </a:bodyPr>
          <a:lstStyle/>
          <a:p>
            <a:pPr algn="just" marL="540135" indent="-270067" lvl="1">
              <a:lnSpc>
                <a:spcPts val="3327"/>
              </a:lnSpc>
              <a:buFont typeface="Arial"/>
              <a:buChar char="•"/>
            </a:pPr>
            <a:r>
              <a:rPr lang="en-US" sz="2501">
                <a:solidFill>
                  <a:srgbClr val="3C38B9"/>
                </a:solidFill>
                <a:latin typeface="HK Grotesk"/>
                <a:ea typeface="HK Grotesk"/>
                <a:cs typeface="HK Grotesk"/>
                <a:sym typeface="HK Grotesk"/>
              </a:rPr>
              <a:t>Todos los perros tienen corazón.</a:t>
            </a:r>
          </a:p>
        </p:txBody>
      </p:sp>
      <p:sp>
        <p:nvSpPr>
          <p:cNvPr name="TextBox 20" id="20"/>
          <p:cNvSpPr txBox="true"/>
          <p:nvPr/>
        </p:nvSpPr>
        <p:spPr>
          <a:xfrm rot="0">
            <a:off x="5188741" y="7109885"/>
            <a:ext cx="3499826" cy="654095"/>
          </a:xfrm>
          <a:prstGeom prst="rect">
            <a:avLst/>
          </a:prstGeom>
        </p:spPr>
        <p:txBody>
          <a:bodyPr anchor="t" rtlCol="false" tIns="0" lIns="0" bIns="0" rIns="0">
            <a:spAutoFit/>
          </a:bodyPr>
          <a:lstStyle/>
          <a:p>
            <a:pPr algn="just" marL="540135" indent="-270067" lvl="1">
              <a:lnSpc>
                <a:spcPts val="2501"/>
              </a:lnSpc>
              <a:buFont typeface="Arial"/>
              <a:buChar char="•"/>
            </a:pPr>
            <a:r>
              <a:rPr lang="en-US" sz="2501">
                <a:solidFill>
                  <a:srgbClr val="253439"/>
                </a:solidFill>
                <a:latin typeface="HK Grotesk"/>
                <a:ea typeface="HK Grotesk"/>
                <a:cs typeface="HK Grotesk"/>
                <a:sym typeface="HK Grotesk"/>
              </a:rPr>
              <a:t>Todos los perros son mamíferos.</a:t>
            </a:r>
          </a:p>
        </p:txBody>
      </p:sp>
      <p:grpSp>
        <p:nvGrpSpPr>
          <p:cNvPr name="Group 21" id="21"/>
          <p:cNvGrpSpPr/>
          <p:nvPr/>
        </p:nvGrpSpPr>
        <p:grpSpPr>
          <a:xfrm rot="0">
            <a:off x="9321723" y="4134736"/>
            <a:ext cx="3875734" cy="5123564"/>
            <a:chOff x="0" y="0"/>
            <a:chExt cx="334712" cy="442476"/>
          </a:xfrm>
        </p:grpSpPr>
        <p:sp>
          <p:nvSpPr>
            <p:cNvPr name="Freeform 22" id="22"/>
            <p:cNvSpPr/>
            <p:nvPr/>
          </p:nvSpPr>
          <p:spPr>
            <a:xfrm flipH="false" flipV="false" rot="0">
              <a:off x="0" y="0"/>
              <a:ext cx="334712" cy="442476"/>
            </a:xfrm>
            <a:custGeom>
              <a:avLst/>
              <a:gdLst/>
              <a:ahLst/>
              <a:cxnLst/>
              <a:rect r="r" b="b" t="t" l="l"/>
              <a:pathLst>
                <a:path h="442476" w="334712">
                  <a:moveTo>
                    <a:pt x="73909" y="0"/>
                  </a:moveTo>
                  <a:lnTo>
                    <a:pt x="260803" y="0"/>
                  </a:lnTo>
                  <a:cubicBezTo>
                    <a:pt x="301622" y="0"/>
                    <a:pt x="334712" y="33090"/>
                    <a:pt x="334712" y="73909"/>
                  </a:cubicBezTo>
                  <a:lnTo>
                    <a:pt x="334712" y="368567"/>
                  </a:lnTo>
                  <a:cubicBezTo>
                    <a:pt x="334712" y="409386"/>
                    <a:pt x="301622" y="442476"/>
                    <a:pt x="260803" y="442476"/>
                  </a:cubicBezTo>
                  <a:lnTo>
                    <a:pt x="73909" y="442476"/>
                  </a:lnTo>
                  <a:cubicBezTo>
                    <a:pt x="54307" y="442476"/>
                    <a:pt x="35508" y="434689"/>
                    <a:pt x="21647" y="420828"/>
                  </a:cubicBezTo>
                  <a:cubicBezTo>
                    <a:pt x="7787" y="406968"/>
                    <a:pt x="0" y="388169"/>
                    <a:pt x="0" y="368567"/>
                  </a:cubicBezTo>
                  <a:lnTo>
                    <a:pt x="0" y="73909"/>
                  </a:lnTo>
                  <a:cubicBezTo>
                    <a:pt x="0" y="33090"/>
                    <a:pt x="33090" y="0"/>
                    <a:pt x="73909" y="0"/>
                  </a:cubicBezTo>
                  <a:close/>
                </a:path>
              </a:pathLst>
            </a:custGeom>
            <a:solidFill>
              <a:srgbClr val="FFFFFF"/>
            </a:solidFill>
            <a:ln w="85725" cap="rnd">
              <a:solidFill>
                <a:srgbClr val="12229D"/>
              </a:solidFill>
              <a:prstDash val="solid"/>
              <a:round/>
            </a:ln>
          </p:spPr>
        </p:sp>
        <p:sp>
          <p:nvSpPr>
            <p:cNvPr name="TextBox 23" id="23"/>
            <p:cNvSpPr txBox="true"/>
            <p:nvPr/>
          </p:nvSpPr>
          <p:spPr>
            <a:xfrm>
              <a:off x="0" y="-66675"/>
              <a:ext cx="334712" cy="509151"/>
            </a:xfrm>
            <a:prstGeom prst="rect">
              <a:avLst/>
            </a:prstGeom>
          </p:spPr>
          <p:txBody>
            <a:bodyPr anchor="ctr" rtlCol="false" tIns="50800" lIns="50800" bIns="50800" rIns="50800"/>
            <a:lstStyle/>
            <a:p>
              <a:pPr algn="ctr">
                <a:lnSpc>
                  <a:spcPts val="4480"/>
                </a:lnSpc>
              </a:pPr>
            </a:p>
          </p:txBody>
        </p:sp>
      </p:grpSp>
      <p:sp>
        <p:nvSpPr>
          <p:cNvPr name="TextBox 24" id="24"/>
          <p:cNvSpPr txBox="true"/>
          <p:nvPr/>
        </p:nvSpPr>
        <p:spPr>
          <a:xfrm rot="0">
            <a:off x="9772749" y="4366789"/>
            <a:ext cx="2973682" cy="450985"/>
          </a:xfrm>
          <a:prstGeom prst="rect">
            <a:avLst/>
          </a:prstGeom>
        </p:spPr>
        <p:txBody>
          <a:bodyPr anchor="t" rtlCol="false" tIns="0" lIns="0" bIns="0" rIns="0">
            <a:spAutoFit/>
          </a:bodyPr>
          <a:lstStyle/>
          <a:p>
            <a:pPr algn="ctr">
              <a:lnSpc>
                <a:spcPts val="3744"/>
              </a:lnSpc>
              <a:spcBef>
                <a:spcPct val="0"/>
              </a:spcBef>
            </a:pPr>
            <a:r>
              <a:rPr lang="en-US" b="true" sz="2674" spc="213">
                <a:solidFill>
                  <a:srgbClr val="253439"/>
                </a:solidFill>
                <a:latin typeface="HK Grotesk Bold"/>
                <a:ea typeface="HK Grotesk Bold"/>
                <a:cs typeface="HK Grotesk Bold"/>
                <a:sym typeface="HK Grotesk Bold"/>
              </a:rPr>
              <a:t>DEDUCTIVA</a:t>
            </a:r>
          </a:p>
        </p:txBody>
      </p:sp>
      <p:sp>
        <p:nvSpPr>
          <p:cNvPr name="TextBox 25" id="25"/>
          <p:cNvSpPr txBox="true"/>
          <p:nvPr/>
        </p:nvSpPr>
        <p:spPr>
          <a:xfrm rot="0">
            <a:off x="9528408" y="4861182"/>
            <a:ext cx="3451720" cy="1282745"/>
          </a:xfrm>
          <a:prstGeom prst="rect">
            <a:avLst/>
          </a:prstGeom>
        </p:spPr>
        <p:txBody>
          <a:bodyPr anchor="t" rtlCol="false" tIns="0" lIns="0" bIns="0" rIns="0">
            <a:spAutoFit/>
          </a:bodyPr>
          <a:lstStyle/>
          <a:p>
            <a:pPr algn="just">
              <a:lnSpc>
                <a:spcPts val="2501"/>
              </a:lnSpc>
            </a:pPr>
            <a:r>
              <a:rPr lang="en-US" sz="2501">
                <a:solidFill>
                  <a:srgbClr val="253439"/>
                </a:solidFill>
                <a:latin typeface="HK Grotesk"/>
                <a:ea typeface="HK Grotesk"/>
                <a:cs typeface="HK Grotesk"/>
                <a:sym typeface="HK Grotesk"/>
              </a:rPr>
              <a:t>Utilizan un factor común indirecto para relacionar las premisas y llegar a una conclusión.</a:t>
            </a:r>
          </a:p>
        </p:txBody>
      </p:sp>
      <p:sp>
        <p:nvSpPr>
          <p:cNvPr name="TextBox 26" id="26"/>
          <p:cNvSpPr txBox="true"/>
          <p:nvPr/>
        </p:nvSpPr>
        <p:spPr>
          <a:xfrm rot="0">
            <a:off x="9321723" y="6324805"/>
            <a:ext cx="3499826" cy="654095"/>
          </a:xfrm>
          <a:prstGeom prst="rect">
            <a:avLst/>
          </a:prstGeom>
        </p:spPr>
        <p:txBody>
          <a:bodyPr anchor="t" rtlCol="false" tIns="0" lIns="0" bIns="0" rIns="0">
            <a:spAutoFit/>
          </a:bodyPr>
          <a:lstStyle/>
          <a:p>
            <a:pPr algn="just" marL="540135" indent="-270067" lvl="1">
              <a:lnSpc>
                <a:spcPts val="2501"/>
              </a:lnSpc>
              <a:buFont typeface="Arial"/>
              <a:buChar char="•"/>
            </a:pPr>
            <a:r>
              <a:rPr lang="en-US" sz="2501">
                <a:solidFill>
                  <a:srgbClr val="253439"/>
                </a:solidFill>
                <a:latin typeface="HK Grotesk"/>
                <a:ea typeface="HK Grotesk"/>
                <a:cs typeface="HK Grotesk"/>
                <a:sym typeface="HK Grotesk"/>
              </a:rPr>
              <a:t>Todos los pájaros tienen alas.</a:t>
            </a:r>
          </a:p>
        </p:txBody>
      </p:sp>
      <p:sp>
        <p:nvSpPr>
          <p:cNvPr name="TextBox 27" id="27"/>
          <p:cNvSpPr txBox="true"/>
          <p:nvPr/>
        </p:nvSpPr>
        <p:spPr>
          <a:xfrm rot="0">
            <a:off x="9321723" y="8097281"/>
            <a:ext cx="3499826" cy="415896"/>
          </a:xfrm>
          <a:prstGeom prst="rect">
            <a:avLst/>
          </a:prstGeom>
        </p:spPr>
        <p:txBody>
          <a:bodyPr anchor="t" rtlCol="false" tIns="0" lIns="0" bIns="0" rIns="0">
            <a:spAutoFit/>
          </a:bodyPr>
          <a:lstStyle/>
          <a:p>
            <a:pPr algn="just" marL="540135" indent="-270067" lvl="1">
              <a:lnSpc>
                <a:spcPts val="3327"/>
              </a:lnSpc>
              <a:buFont typeface="Arial"/>
              <a:buChar char="•"/>
            </a:pPr>
            <a:r>
              <a:rPr lang="en-US" sz="2501">
                <a:solidFill>
                  <a:srgbClr val="3C38B9"/>
                </a:solidFill>
                <a:latin typeface="HK Grotesk"/>
                <a:ea typeface="HK Grotesk"/>
                <a:cs typeface="HK Grotesk"/>
                <a:sym typeface="HK Grotesk"/>
              </a:rPr>
              <a:t>Un colibrí tiene alas</a:t>
            </a:r>
          </a:p>
        </p:txBody>
      </p:sp>
      <p:sp>
        <p:nvSpPr>
          <p:cNvPr name="TextBox 28" id="28"/>
          <p:cNvSpPr txBox="true"/>
          <p:nvPr/>
        </p:nvSpPr>
        <p:spPr>
          <a:xfrm rot="0">
            <a:off x="9321723" y="7207618"/>
            <a:ext cx="3499826" cy="654095"/>
          </a:xfrm>
          <a:prstGeom prst="rect">
            <a:avLst/>
          </a:prstGeom>
        </p:spPr>
        <p:txBody>
          <a:bodyPr anchor="t" rtlCol="false" tIns="0" lIns="0" bIns="0" rIns="0">
            <a:spAutoFit/>
          </a:bodyPr>
          <a:lstStyle/>
          <a:p>
            <a:pPr algn="just" marL="540135" indent="-270067" lvl="1">
              <a:lnSpc>
                <a:spcPts val="2501"/>
              </a:lnSpc>
              <a:buFont typeface="Arial"/>
              <a:buChar char="•"/>
            </a:pPr>
            <a:r>
              <a:rPr lang="en-US" sz="2501">
                <a:solidFill>
                  <a:srgbClr val="253439"/>
                </a:solidFill>
                <a:latin typeface="HK Grotesk"/>
                <a:ea typeface="HK Grotesk"/>
                <a:cs typeface="HK Grotesk"/>
                <a:sym typeface="HK Grotesk"/>
              </a:rPr>
              <a:t>Un colibrí es un pájaro.</a:t>
            </a:r>
          </a:p>
        </p:txBody>
      </p:sp>
      <p:grpSp>
        <p:nvGrpSpPr>
          <p:cNvPr name="Group 29" id="29"/>
          <p:cNvGrpSpPr/>
          <p:nvPr/>
        </p:nvGrpSpPr>
        <p:grpSpPr>
          <a:xfrm rot="0">
            <a:off x="13383566" y="4134736"/>
            <a:ext cx="3875734" cy="5123564"/>
            <a:chOff x="0" y="0"/>
            <a:chExt cx="334712" cy="442476"/>
          </a:xfrm>
        </p:grpSpPr>
        <p:sp>
          <p:nvSpPr>
            <p:cNvPr name="Freeform 30" id="30"/>
            <p:cNvSpPr/>
            <p:nvPr/>
          </p:nvSpPr>
          <p:spPr>
            <a:xfrm flipH="false" flipV="false" rot="0">
              <a:off x="0" y="0"/>
              <a:ext cx="334712" cy="442476"/>
            </a:xfrm>
            <a:custGeom>
              <a:avLst/>
              <a:gdLst/>
              <a:ahLst/>
              <a:cxnLst/>
              <a:rect r="r" b="b" t="t" l="l"/>
              <a:pathLst>
                <a:path h="442476" w="334712">
                  <a:moveTo>
                    <a:pt x="73909" y="0"/>
                  </a:moveTo>
                  <a:lnTo>
                    <a:pt x="260803" y="0"/>
                  </a:lnTo>
                  <a:cubicBezTo>
                    <a:pt x="301622" y="0"/>
                    <a:pt x="334712" y="33090"/>
                    <a:pt x="334712" y="73909"/>
                  </a:cubicBezTo>
                  <a:lnTo>
                    <a:pt x="334712" y="368567"/>
                  </a:lnTo>
                  <a:cubicBezTo>
                    <a:pt x="334712" y="409386"/>
                    <a:pt x="301622" y="442476"/>
                    <a:pt x="260803" y="442476"/>
                  </a:cubicBezTo>
                  <a:lnTo>
                    <a:pt x="73909" y="442476"/>
                  </a:lnTo>
                  <a:cubicBezTo>
                    <a:pt x="54307" y="442476"/>
                    <a:pt x="35508" y="434689"/>
                    <a:pt x="21647" y="420828"/>
                  </a:cubicBezTo>
                  <a:cubicBezTo>
                    <a:pt x="7787" y="406968"/>
                    <a:pt x="0" y="388169"/>
                    <a:pt x="0" y="368567"/>
                  </a:cubicBezTo>
                  <a:lnTo>
                    <a:pt x="0" y="73909"/>
                  </a:lnTo>
                  <a:cubicBezTo>
                    <a:pt x="0" y="33090"/>
                    <a:pt x="33090" y="0"/>
                    <a:pt x="73909" y="0"/>
                  </a:cubicBezTo>
                  <a:close/>
                </a:path>
              </a:pathLst>
            </a:custGeom>
            <a:solidFill>
              <a:srgbClr val="FFFFFF"/>
            </a:solidFill>
            <a:ln w="85725" cap="rnd">
              <a:solidFill>
                <a:srgbClr val="12229D"/>
              </a:solidFill>
              <a:prstDash val="solid"/>
              <a:round/>
            </a:ln>
          </p:spPr>
        </p:sp>
        <p:sp>
          <p:nvSpPr>
            <p:cNvPr name="TextBox 31" id="31"/>
            <p:cNvSpPr txBox="true"/>
            <p:nvPr/>
          </p:nvSpPr>
          <p:spPr>
            <a:xfrm>
              <a:off x="0" y="-66675"/>
              <a:ext cx="334712" cy="509151"/>
            </a:xfrm>
            <a:prstGeom prst="rect">
              <a:avLst/>
            </a:prstGeom>
          </p:spPr>
          <p:txBody>
            <a:bodyPr anchor="ctr" rtlCol="false" tIns="50800" lIns="50800" bIns="50800" rIns="50800"/>
            <a:lstStyle/>
            <a:p>
              <a:pPr algn="ctr">
                <a:lnSpc>
                  <a:spcPts val="4480"/>
                </a:lnSpc>
              </a:pPr>
            </a:p>
          </p:txBody>
        </p:sp>
      </p:grpSp>
      <p:sp>
        <p:nvSpPr>
          <p:cNvPr name="TextBox 32" id="32"/>
          <p:cNvSpPr txBox="true"/>
          <p:nvPr/>
        </p:nvSpPr>
        <p:spPr>
          <a:xfrm rot="0">
            <a:off x="13834592" y="4366789"/>
            <a:ext cx="2973682" cy="450985"/>
          </a:xfrm>
          <a:prstGeom prst="rect">
            <a:avLst/>
          </a:prstGeom>
        </p:spPr>
        <p:txBody>
          <a:bodyPr anchor="t" rtlCol="false" tIns="0" lIns="0" bIns="0" rIns="0">
            <a:spAutoFit/>
          </a:bodyPr>
          <a:lstStyle/>
          <a:p>
            <a:pPr algn="ctr">
              <a:lnSpc>
                <a:spcPts val="3744"/>
              </a:lnSpc>
              <a:spcBef>
                <a:spcPct val="0"/>
              </a:spcBef>
            </a:pPr>
            <a:r>
              <a:rPr lang="en-US" b="true" sz="2674" spc="213">
                <a:solidFill>
                  <a:srgbClr val="253439"/>
                </a:solidFill>
                <a:latin typeface="HK Grotesk Bold"/>
                <a:ea typeface="HK Grotesk Bold"/>
                <a:cs typeface="HK Grotesk Bold"/>
                <a:sym typeface="HK Grotesk Bold"/>
              </a:rPr>
              <a:t>INDUCTIVA</a:t>
            </a:r>
          </a:p>
        </p:txBody>
      </p:sp>
      <p:sp>
        <p:nvSpPr>
          <p:cNvPr name="TextBox 33" id="33"/>
          <p:cNvSpPr txBox="true"/>
          <p:nvPr/>
        </p:nvSpPr>
        <p:spPr>
          <a:xfrm rot="0">
            <a:off x="13590251" y="4861182"/>
            <a:ext cx="3451720" cy="1282745"/>
          </a:xfrm>
          <a:prstGeom prst="rect">
            <a:avLst/>
          </a:prstGeom>
        </p:spPr>
        <p:txBody>
          <a:bodyPr anchor="t" rtlCol="false" tIns="0" lIns="0" bIns="0" rIns="0">
            <a:spAutoFit/>
          </a:bodyPr>
          <a:lstStyle/>
          <a:p>
            <a:pPr algn="just">
              <a:lnSpc>
                <a:spcPts val="2501"/>
              </a:lnSpc>
            </a:pPr>
            <a:r>
              <a:rPr lang="en-US" sz="2501">
                <a:solidFill>
                  <a:srgbClr val="253439"/>
                </a:solidFill>
                <a:latin typeface="HK Grotesk"/>
                <a:ea typeface="HK Grotesk"/>
                <a:cs typeface="HK Grotesk"/>
                <a:sym typeface="HK Grotesk"/>
              </a:rPr>
              <a:t>Se basan en un factor común para conectar varias premisas y llegar a una conclusión general.</a:t>
            </a:r>
          </a:p>
        </p:txBody>
      </p:sp>
      <p:sp>
        <p:nvSpPr>
          <p:cNvPr name="TextBox 34" id="34"/>
          <p:cNvSpPr txBox="true"/>
          <p:nvPr/>
        </p:nvSpPr>
        <p:spPr>
          <a:xfrm rot="0">
            <a:off x="13383566" y="6324805"/>
            <a:ext cx="3499826" cy="654095"/>
          </a:xfrm>
          <a:prstGeom prst="rect">
            <a:avLst/>
          </a:prstGeom>
        </p:spPr>
        <p:txBody>
          <a:bodyPr anchor="t" rtlCol="false" tIns="0" lIns="0" bIns="0" rIns="0">
            <a:spAutoFit/>
          </a:bodyPr>
          <a:lstStyle/>
          <a:p>
            <a:pPr algn="just" marL="540135" indent="-270067" lvl="1">
              <a:lnSpc>
                <a:spcPts val="2501"/>
              </a:lnSpc>
              <a:buFont typeface="Arial"/>
              <a:buChar char="•"/>
            </a:pPr>
            <a:r>
              <a:rPr lang="en-US" sz="2501">
                <a:solidFill>
                  <a:srgbClr val="253439"/>
                </a:solidFill>
                <a:latin typeface="HK Grotesk"/>
                <a:ea typeface="HK Grotesk"/>
                <a:cs typeface="HK Grotesk"/>
                <a:sym typeface="HK Grotesk"/>
              </a:rPr>
              <a:t>He visto 100 cisnes y todos son blancos.</a:t>
            </a:r>
          </a:p>
        </p:txBody>
      </p:sp>
      <p:sp>
        <p:nvSpPr>
          <p:cNvPr name="TextBox 35" id="35"/>
          <p:cNvSpPr txBox="true"/>
          <p:nvPr/>
        </p:nvSpPr>
        <p:spPr>
          <a:xfrm rot="0">
            <a:off x="13383566" y="8223663"/>
            <a:ext cx="3499826" cy="834996"/>
          </a:xfrm>
          <a:prstGeom prst="rect">
            <a:avLst/>
          </a:prstGeom>
        </p:spPr>
        <p:txBody>
          <a:bodyPr anchor="t" rtlCol="false" tIns="0" lIns="0" bIns="0" rIns="0">
            <a:spAutoFit/>
          </a:bodyPr>
          <a:lstStyle/>
          <a:p>
            <a:pPr algn="just" marL="540135" indent="-270067" lvl="1">
              <a:lnSpc>
                <a:spcPts val="3327"/>
              </a:lnSpc>
              <a:buFont typeface="Arial"/>
              <a:buChar char="•"/>
            </a:pPr>
            <a:r>
              <a:rPr lang="en-US" sz="2501">
                <a:solidFill>
                  <a:srgbClr val="3C38B9"/>
                </a:solidFill>
                <a:latin typeface="HK Grotesk"/>
                <a:ea typeface="HK Grotesk"/>
                <a:cs typeface="HK Grotesk"/>
                <a:sym typeface="HK Grotesk"/>
              </a:rPr>
              <a:t>Todos los cisnes son blancos.</a:t>
            </a:r>
          </a:p>
        </p:txBody>
      </p:sp>
      <p:sp>
        <p:nvSpPr>
          <p:cNvPr name="TextBox 36" id="36"/>
          <p:cNvSpPr txBox="true"/>
          <p:nvPr/>
        </p:nvSpPr>
        <p:spPr>
          <a:xfrm rot="0">
            <a:off x="13383566" y="7109885"/>
            <a:ext cx="3499826" cy="968420"/>
          </a:xfrm>
          <a:prstGeom prst="rect">
            <a:avLst/>
          </a:prstGeom>
        </p:spPr>
        <p:txBody>
          <a:bodyPr anchor="t" rtlCol="false" tIns="0" lIns="0" bIns="0" rIns="0">
            <a:spAutoFit/>
          </a:bodyPr>
          <a:lstStyle/>
          <a:p>
            <a:pPr algn="just" marL="540135" indent="-270067" lvl="1">
              <a:lnSpc>
                <a:spcPts val="2501"/>
              </a:lnSpc>
              <a:buFont typeface="Arial"/>
              <a:buChar char="•"/>
            </a:pPr>
            <a:r>
              <a:rPr lang="en-US" sz="2501">
                <a:solidFill>
                  <a:srgbClr val="253439"/>
                </a:solidFill>
                <a:latin typeface="HK Grotesk"/>
                <a:ea typeface="HK Grotesk"/>
                <a:cs typeface="HK Grotesk"/>
                <a:sym typeface="HK Grotesk"/>
              </a:rPr>
              <a:t>Mi amigo ha visto 200 cisnes y todos son blancos.</a:t>
            </a:r>
          </a:p>
        </p:txBody>
      </p:sp>
      <p:sp>
        <p:nvSpPr>
          <p:cNvPr name="TextBox 37" id="37"/>
          <p:cNvSpPr txBox="true"/>
          <p:nvPr/>
        </p:nvSpPr>
        <p:spPr>
          <a:xfrm rot="0">
            <a:off x="12502616" y="9505950"/>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FFFFFF"/>
                </a:solidFill>
                <a:latin typeface="HK Grotesk Medium"/>
                <a:ea typeface="HK Grotesk Medium"/>
                <a:cs typeface="HK Grotesk Medium"/>
                <a:sym typeface="HK Grotesk Medium"/>
              </a:rPr>
              <a:t>Elaborado por: Robin Omar Buezo Díaz</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1477486" y="2155356"/>
            <a:ext cx="15333028" cy="2571750"/>
          </a:xfrm>
          <a:prstGeom prst="rect">
            <a:avLst/>
          </a:prstGeom>
        </p:spPr>
        <p:txBody>
          <a:bodyPr anchor="t" rtlCol="false" tIns="0" lIns="0" bIns="0" rIns="0">
            <a:spAutoFit/>
          </a:bodyPr>
          <a:lstStyle/>
          <a:p>
            <a:pPr algn="ctr">
              <a:lnSpc>
                <a:spcPts val="10158"/>
              </a:lnSpc>
            </a:pPr>
            <a:r>
              <a:rPr lang="en-US" b="true" sz="8465">
                <a:solidFill>
                  <a:srgbClr val="050A30"/>
                </a:solidFill>
                <a:latin typeface="HK Grotesk Bold"/>
                <a:ea typeface="HK Grotesk Bold"/>
                <a:cs typeface="HK Grotesk Bold"/>
                <a:sym typeface="HK Grotesk Bold"/>
              </a:rPr>
              <a:t>¿Para qué sirve la Inferencia Lógica?</a:t>
            </a:r>
          </a:p>
        </p:txBody>
      </p:sp>
      <p:grpSp>
        <p:nvGrpSpPr>
          <p:cNvPr name="Group 4" id="4"/>
          <p:cNvGrpSpPr/>
          <p:nvPr/>
        </p:nvGrpSpPr>
        <p:grpSpPr>
          <a:xfrm rot="-5400000">
            <a:off x="6186162" y="2511196"/>
            <a:ext cx="6818207" cy="20947169"/>
            <a:chOff x="0" y="0"/>
            <a:chExt cx="1795742" cy="5516950"/>
          </a:xfrm>
        </p:grpSpPr>
        <p:sp>
          <p:nvSpPr>
            <p:cNvPr name="Freeform 5" id="5"/>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6" id="6"/>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7" id="7"/>
          <p:cNvGrpSpPr/>
          <p:nvPr/>
        </p:nvGrpSpPr>
        <p:grpSpPr>
          <a:xfrm rot="-5400000">
            <a:off x="3997069" y="-11005002"/>
            <a:ext cx="2045233" cy="20947169"/>
            <a:chOff x="0" y="0"/>
            <a:chExt cx="538662" cy="5516950"/>
          </a:xfrm>
        </p:grpSpPr>
        <p:sp>
          <p:nvSpPr>
            <p:cNvPr name="Freeform 8" id="8"/>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9" id="9"/>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10" id="10"/>
          <p:cNvGrpSpPr/>
          <p:nvPr/>
        </p:nvGrpSpPr>
        <p:grpSpPr>
          <a:xfrm rot="2700000">
            <a:off x="13734331" y="93713"/>
            <a:ext cx="4685776" cy="1567256"/>
            <a:chOff x="0" y="0"/>
            <a:chExt cx="1234114" cy="412775"/>
          </a:xfrm>
        </p:grpSpPr>
        <p:sp>
          <p:nvSpPr>
            <p:cNvPr name="Freeform 11" id="11"/>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F4F6FC"/>
            </a:solidFill>
          </p:spPr>
        </p:sp>
        <p:sp>
          <p:nvSpPr>
            <p:cNvPr name="TextBox 12" id="12"/>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3" id="13"/>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477486" y="5255574"/>
            <a:ext cx="15333028" cy="2085976"/>
          </a:xfrm>
          <a:prstGeom prst="rect">
            <a:avLst/>
          </a:prstGeom>
        </p:spPr>
        <p:txBody>
          <a:bodyPr anchor="t" rtlCol="false" tIns="0" lIns="0" bIns="0" rIns="0">
            <a:spAutoFit/>
          </a:bodyPr>
          <a:lstStyle/>
          <a:p>
            <a:pPr algn="just">
              <a:lnSpc>
                <a:spcPts val="4199"/>
              </a:lnSpc>
              <a:spcBef>
                <a:spcPct val="0"/>
              </a:spcBef>
            </a:pPr>
            <a:r>
              <a:rPr lang="en-US" b="true" sz="2999">
                <a:solidFill>
                  <a:srgbClr val="050A30"/>
                </a:solidFill>
                <a:latin typeface="HK Grotesk Medium"/>
                <a:ea typeface="HK Grotesk Medium"/>
                <a:cs typeface="HK Grotesk Medium"/>
                <a:sym typeface="HK Grotesk Medium"/>
              </a:rPr>
              <a:t>La inferencia lógica juega un papel clave en campos como la filosofía y la inteligencia artificial. En programación, facilita el </a:t>
            </a:r>
            <a:r>
              <a:rPr lang="en-US" b="true" sz="2999">
                <a:solidFill>
                  <a:srgbClr val="050A30"/>
                </a:solidFill>
                <a:latin typeface="HK Grotesk Bold"/>
                <a:ea typeface="HK Grotesk Bold"/>
                <a:cs typeface="HK Grotesk Bold"/>
                <a:sym typeface="HK Grotesk Bold"/>
              </a:rPr>
              <a:t>diseño y desarrollo de algoritmos</a:t>
            </a:r>
            <a:r>
              <a:rPr lang="en-US" b="true" sz="2999">
                <a:solidFill>
                  <a:srgbClr val="050A30"/>
                </a:solidFill>
                <a:latin typeface="HK Grotesk Medium"/>
                <a:ea typeface="HK Grotesk Medium"/>
                <a:cs typeface="HK Grotesk Medium"/>
                <a:sym typeface="HK Grotesk Medium"/>
              </a:rPr>
              <a:t> que toman decisiones inteligentes y </a:t>
            </a:r>
            <a:r>
              <a:rPr lang="en-US" b="true" sz="2999">
                <a:solidFill>
                  <a:srgbClr val="050A30"/>
                </a:solidFill>
                <a:latin typeface="HK Grotesk Bold"/>
                <a:ea typeface="HK Grotesk Bold"/>
                <a:cs typeface="HK Grotesk Bold"/>
                <a:sym typeface="HK Grotesk Bold"/>
              </a:rPr>
              <a:t>ayudan a los analistas de datos</a:t>
            </a:r>
            <a:r>
              <a:rPr lang="en-US" b="true" sz="2999">
                <a:solidFill>
                  <a:srgbClr val="050A30"/>
                </a:solidFill>
                <a:latin typeface="HK Grotesk Medium"/>
                <a:ea typeface="HK Grotesk Medium"/>
                <a:cs typeface="HK Grotesk Medium"/>
                <a:sym typeface="HK Grotesk Medium"/>
              </a:rPr>
              <a:t> a obtener conclusiones valiosas de grandes cantidades de información.</a:t>
            </a:r>
          </a:p>
        </p:txBody>
      </p:sp>
      <p:sp>
        <p:nvSpPr>
          <p:cNvPr name="TextBox 15" id="15"/>
          <p:cNvSpPr txBox="true"/>
          <p:nvPr/>
        </p:nvSpPr>
        <p:spPr>
          <a:xfrm rot="0">
            <a:off x="1028700" y="8699056"/>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1477486" y="2155356"/>
            <a:ext cx="15333028" cy="2571750"/>
          </a:xfrm>
          <a:prstGeom prst="rect">
            <a:avLst/>
          </a:prstGeom>
        </p:spPr>
        <p:txBody>
          <a:bodyPr anchor="t" rtlCol="false" tIns="0" lIns="0" bIns="0" rIns="0">
            <a:spAutoFit/>
          </a:bodyPr>
          <a:lstStyle/>
          <a:p>
            <a:pPr algn="ctr">
              <a:lnSpc>
                <a:spcPts val="10158"/>
              </a:lnSpc>
            </a:pPr>
            <a:r>
              <a:rPr lang="en-US" b="true" sz="8465">
                <a:solidFill>
                  <a:srgbClr val="F4F6FC"/>
                </a:solidFill>
                <a:latin typeface="HK Grotesk Bold"/>
                <a:ea typeface="HK Grotesk Bold"/>
                <a:cs typeface="HK Grotesk Bold"/>
                <a:sym typeface="HK Grotesk Bold"/>
              </a:rPr>
              <a:t>¿Cómo se usa en programación?</a:t>
            </a:r>
          </a:p>
        </p:txBody>
      </p:sp>
      <p:grpSp>
        <p:nvGrpSpPr>
          <p:cNvPr name="Group 4" id="4"/>
          <p:cNvGrpSpPr/>
          <p:nvPr/>
        </p:nvGrpSpPr>
        <p:grpSpPr>
          <a:xfrm rot="-5400000">
            <a:off x="6186162" y="2511196"/>
            <a:ext cx="6818207" cy="20947169"/>
            <a:chOff x="0" y="0"/>
            <a:chExt cx="1795742" cy="5516950"/>
          </a:xfrm>
        </p:grpSpPr>
        <p:sp>
          <p:nvSpPr>
            <p:cNvPr name="Freeform 5" id="5"/>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F4F6FC"/>
            </a:solidFill>
          </p:spPr>
        </p:sp>
        <p:sp>
          <p:nvSpPr>
            <p:cNvPr name="TextBox 6" id="6"/>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7" id="7"/>
          <p:cNvGrpSpPr/>
          <p:nvPr/>
        </p:nvGrpSpPr>
        <p:grpSpPr>
          <a:xfrm rot="-5400000">
            <a:off x="3997069" y="-11005002"/>
            <a:ext cx="2045233" cy="20947169"/>
            <a:chOff x="0" y="0"/>
            <a:chExt cx="538662" cy="5516950"/>
          </a:xfrm>
        </p:grpSpPr>
        <p:sp>
          <p:nvSpPr>
            <p:cNvPr name="Freeform 8" id="8"/>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F4F6FC"/>
            </a:solidFill>
          </p:spPr>
        </p:sp>
        <p:sp>
          <p:nvSpPr>
            <p:cNvPr name="TextBox 9" id="9"/>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10" id="10"/>
          <p:cNvGrpSpPr/>
          <p:nvPr/>
        </p:nvGrpSpPr>
        <p:grpSpPr>
          <a:xfrm rot="2700000">
            <a:off x="13734331" y="93713"/>
            <a:ext cx="4685776" cy="1567256"/>
            <a:chOff x="0" y="0"/>
            <a:chExt cx="1234114" cy="412775"/>
          </a:xfrm>
        </p:grpSpPr>
        <p:sp>
          <p:nvSpPr>
            <p:cNvPr name="Freeform 11" id="11"/>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050A30"/>
            </a:solidFill>
          </p:spPr>
        </p:sp>
        <p:sp>
          <p:nvSpPr>
            <p:cNvPr name="TextBox 12" id="12"/>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3" id="13"/>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477486" y="5255574"/>
            <a:ext cx="15333028" cy="2085976"/>
          </a:xfrm>
          <a:prstGeom prst="rect">
            <a:avLst/>
          </a:prstGeom>
        </p:spPr>
        <p:txBody>
          <a:bodyPr anchor="t" rtlCol="false" tIns="0" lIns="0" bIns="0" rIns="0">
            <a:spAutoFit/>
          </a:bodyPr>
          <a:lstStyle/>
          <a:p>
            <a:pPr algn="just">
              <a:lnSpc>
                <a:spcPts val="4199"/>
              </a:lnSpc>
              <a:spcBef>
                <a:spcPct val="0"/>
              </a:spcBef>
            </a:pPr>
            <a:r>
              <a:rPr lang="en-US" b="true" sz="2999">
                <a:solidFill>
                  <a:srgbClr val="F4F6FC"/>
                </a:solidFill>
                <a:latin typeface="HK Grotesk Medium"/>
                <a:ea typeface="HK Grotesk Medium"/>
                <a:cs typeface="HK Grotesk Medium"/>
                <a:sym typeface="HK Grotesk Medium"/>
              </a:rPr>
              <a:t>En programación, la inferencia lógica se usa para crear sistemas capaces de razonar y tomar decisiones a partir de datos y reglas definidas. En áreas como la inteligencia artificial y el aprendizaje automático, esta inferencia permite que las máquinas aprendan de la información y mejoren su desempeño a medida que procesan más datos.</a:t>
            </a:r>
          </a:p>
        </p:txBody>
      </p:sp>
      <p:sp>
        <p:nvSpPr>
          <p:cNvPr name="TextBox 15" id="15"/>
          <p:cNvSpPr txBox="true"/>
          <p:nvPr/>
        </p:nvSpPr>
        <p:spPr>
          <a:xfrm rot="0">
            <a:off x="12502616"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F4F6FC"/>
                </a:solidFill>
                <a:latin typeface="HK Grotesk Medium"/>
                <a:ea typeface="HK Grotesk Medium"/>
                <a:cs typeface="HK Grotesk Medium"/>
                <a:sym typeface="HK Grotesk Medium"/>
              </a:rPr>
              <a:t>Elaborado por: Robin Omar Buezo Díaz</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1477486" y="2338109"/>
            <a:ext cx="15333028" cy="1285875"/>
          </a:xfrm>
          <a:prstGeom prst="rect">
            <a:avLst/>
          </a:prstGeom>
        </p:spPr>
        <p:txBody>
          <a:bodyPr anchor="t" rtlCol="false" tIns="0" lIns="0" bIns="0" rIns="0">
            <a:spAutoFit/>
          </a:bodyPr>
          <a:lstStyle/>
          <a:p>
            <a:pPr algn="ctr">
              <a:lnSpc>
                <a:spcPts val="10158"/>
              </a:lnSpc>
            </a:pPr>
            <a:r>
              <a:rPr lang="en-US" b="true" sz="8465">
                <a:solidFill>
                  <a:srgbClr val="050A30"/>
                </a:solidFill>
                <a:latin typeface="HK Grotesk Bold"/>
                <a:ea typeface="HK Grotesk Bold"/>
                <a:cs typeface="HK Grotesk Bold"/>
                <a:sym typeface="HK Grotesk Bold"/>
              </a:rPr>
              <a:t>PROLOG</a:t>
            </a:r>
          </a:p>
        </p:txBody>
      </p:sp>
      <p:grpSp>
        <p:nvGrpSpPr>
          <p:cNvPr name="Group 4" id="4"/>
          <p:cNvGrpSpPr/>
          <p:nvPr/>
        </p:nvGrpSpPr>
        <p:grpSpPr>
          <a:xfrm rot="-5400000">
            <a:off x="6186162" y="2511196"/>
            <a:ext cx="6818207" cy="20947169"/>
            <a:chOff x="0" y="0"/>
            <a:chExt cx="1795742" cy="5516950"/>
          </a:xfrm>
        </p:grpSpPr>
        <p:sp>
          <p:nvSpPr>
            <p:cNvPr name="Freeform 5" id="5"/>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6" id="6"/>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7" id="7"/>
          <p:cNvGrpSpPr/>
          <p:nvPr/>
        </p:nvGrpSpPr>
        <p:grpSpPr>
          <a:xfrm rot="-5400000">
            <a:off x="3997069" y="-11005002"/>
            <a:ext cx="2045233" cy="20947169"/>
            <a:chOff x="0" y="0"/>
            <a:chExt cx="538662" cy="5516950"/>
          </a:xfrm>
        </p:grpSpPr>
        <p:sp>
          <p:nvSpPr>
            <p:cNvPr name="Freeform 8" id="8"/>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9" id="9"/>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10" id="10"/>
          <p:cNvGrpSpPr/>
          <p:nvPr/>
        </p:nvGrpSpPr>
        <p:grpSpPr>
          <a:xfrm rot="2700000">
            <a:off x="13734331" y="93713"/>
            <a:ext cx="4685776" cy="1567256"/>
            <a:chOff x="0" y="0"/>
            <a:chExt cx="1234114" cy="412775"/>
          </a:xfrm>
        </p:grpSpPr>
        <p:sp>
          <p:nvSpPr>
            <p:cNvPr name="Freeform 11" id="11"/>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F4F6FC"/>
            </a:solidFill>
          </p:spPr>
        </p:sp>
        <p:sp>
          <p:nvSpPr>
            <p:cNvPr name="TextBox 12" id="12"/>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3" id="13"/>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253093" y="4072759"/>
            <a:ext cx="15781814" cy="3657601"/>
          </a:xfrm>
          <a:prstGeom prst="rect">
            <a:avLst/>
          </a:prstGeom>
        </p:spPr>
        <p:txBody>
          <a:bodyPr anchor="t" rtlCol="false" tIns="0" lIns="0" bIns="0" rIns="0">
            <a:spAutoFit/>
          </a:bodyPr>
          <a:lstStyle/>
          <a:p>
            <a:pPr algn="just">
              <a:lnSpc>
                <a:spcPts val="4199"/>
              </a:lnSpc>
            </a:pPr>
            <a:r>
              <a:rPr lang="en-US" sz="2999" b="true">
                <a:solidFill>
                  <a:srgbClr val="050A30"/>
                </a:solidFill>
                <a:latin typeface="HK Grotesk Medium"/>
                <a:ea typeface="HK Grotesk Medium"/>
                <a:cs typeface="HK Grotesk Medium"/>
                <a:sym typeface="HK Grotesk Medium"/>
              </a:rPr>
              <a:t>Prolog es un lenguaje de programación lógico que se utiliza principalmente en inteligencia artificial y en áreas donde es necesario manipular bases de conocimiento o realizar razonamiento lógico.</a:t>
            </a:r>
          </a:p>
          <a:p>
            <a:pPr algn="just">
              <a:lnSpc>
                <a:spcPts val="4199"/>
              </a:lnSpc>
            </a:pPr>
          </a:p>
          <a:p>
            <a:pPr algn="just">
              <a:lnSpc>
                <a:spcPts val="4199"/>
              </a:lnSpc>
              <a:spcBef>
                <a:spcPct val="0"/>
              </a:spcBef>
            </a:pPr>
            <a:r>
              <a:rPr lang="en-US" b="true" sz="2999">
                <a:solidFill>
                  <a:srgbClr val="050A30"/>
                </a:solidFill>
                <a:latin typeface="HK Grotesk Medium"/>
                <a:ea typeface="HK Grotesk Medium"/>
                <a:cs typeface="HK Grotesk Medium"/>
                <a:sym typeface="HK Grotesk Medium"/>
              </a:rPr>
              <a:t>Su nombre proviene de "Programming in Logic". Es un lenguaje declarativo, lo que significa que, en lugar de decirle a la computadora cómo hacer algo, le dices qué es lo que deseas lograr.</a:t>
            </a:r>
          </a:p>
        </p:txBody>
      </p:sp>
      <p:sp>
        <p:nvSpPr>
          <p:cNvPr name="TextBox 15" id="15"/>
          <p:cNvSpPr txBox="true"/>
          <p:nvPr/>
        </p:nvSpPr>
        <p:spPr>
          <a:xfrm rot="0">
            <a:off x="1028700" y="8699056"/>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9144000" y="1085850"/>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351840" y="2287828"/>
            <a:ext cx="6209890" cy="6122269"/>
            <a:chOff x="0" y="0"/>
            <a:chExt cx="8279853" cy="8163026"/>
          </a:xfrm>
        </p:grpSpPr>
        <p:pic>
          <p:nvPicPr>
            <p:cNvPr name="Picture 5" id="5"/>
            <p:cNvPicPr>
              <a:picLocks noChangeAspect="true"/>
            </p:cNvPicPr>
            <p:nvPr/>
          </p:nvPicPr>
          <p:blipFill>
            <a:blip r:embed="rId5"/>
            <a:srcRect l="0" t="705" r="0" b="705"/>
            <a:stretch>
              <a:fillRect/>
            </a:stretch>
          </p:blipFill>
          <p:spPr>
            <a:xfrm flipH="false" flipV="false">
              <a:off x="0" y="0"/>
              <a:ext cx="8279853" cy="8163026"/>
            </a:xfrm>
            <a:prstGeom prst="rect">
              <a:avLst/>
            </a:prstGeom>
          </p:spPr>
        </p:pic>
      </p:grpSp>
      <p:sp>
        <p:nvSpPr>
          <p:cNvPr name="TextBox 6" id="6"/>
          <p:cNvSpPr txBox="true"/>
          <p:nvPr/>
        </p:nvSpPr>
        <p:spPr>
          <a:xfrm rot="0">
            <a:off x="1385161" y="1270558"/>
            <a:ext cx="7758839" cy="1017270"/>
          </a:xfrm>
          <a:prstGeom prst="rect">
            <a:avLst/>
          </a:prstGeom>
        </p:spPr>
        <p:txBody>
          <a:bodyPr anchor="t" rtlCol="false" tIns="0" lIns="0" bIns="0" rIns="0">
            <a:spAutoFit/>
          </a:bodyPr>
          <a:lstStyle/>
          <a:p>
            <a:pPr algn="l">
              <a:lnSpc>
                <a:spcPts val="8325"/>
              </a:lnSpc>
            </a:pPr>
            <a:r>
              <a:rPr lang="en-US" b="true" sz="5550" spc="444">
                <a:solidFill>
                  <a:srgbClr val="050A30"/>
                </a:solidFill>
                <a:latin typeface="HK Grotesk Bold"/>
                <a:ea typeface="HK Grotesk Bold"/>
                <a:cs typeface="HK Grotesk Bold"/>
                <a:sym typeface="HK Grotesk Bold"/>
              </a:rPr>
              <a:t>TAU-PROLOG</a:t>
            </a:r>
          </a:p>
        </p:txBody>
      </p:sp>
      <p:sp>
        <p:nvSpPr>
          <p:cNvPr name="TextBox 7" id="7"/>
          <p:cNvSpPr txBox="true"/>
          <p:nvPr/>
        </p:nvSpPr>
        <p:spPr>
          <a:xfrm rot="0">
            <a:off x="1028700" y="2487595"/>
            <a:ext cx="7555756" cy="3112770"/>
          </a:xfrm>
          <a:prstGeom prst="rect">
            <a:avLst/>
          </a:prstGeom>
        </p:spPr>
        <p:txBody>
          <a:bodyPr anchor="t" rtlCol="false" tIns="0" lIns="0" bIns="0" rIns="0">
            <a:spAutoFit/>
          </a:bodyPr>
          <a:lstStyle/>
          <a:p>
            <a:pPr algn="just" marL="604518" indent="-302259" lvl="1">
              <a:lnSpc>
                <a:spcPts val="4199"/>
              </a:lnSpc>
              <a:buFont typeface="Arial"/>
              <a:buChar char="•"/>
            </a:pPr>
            <a:r>
              <a:rPr lang="en-US" b="true" sz="2799">
                <a:solidFill>
                  <a:srgbClr val="050A30"/>
                </a:solidFill>
                <a:latin typeface="HK Grotesk Medium"/>
                <a:ea typeface="HK Grotesk Medium"/>
                <a:cs typeface="HK Grotesk Medium"/>
                <a:sym typeface="HK Grotesk Medium"/>
              </a:rPr>
              <a:t>Tau-Prolog es un motor de inferencia basado en Prolog, pero con el objetivo de ser utilizado en entornos donde los motores tradicionales de Prolog no serían fácilmente viables, como en navegadores web o en aplicaciones que utilizan JavaScript</a:t>
            </a:r>
          </a:p>
        </p:txBody>
      </p:sp>
      <p:sp>
        <p:nvSpPr>
          <p:cNvPr name="TextBox 8" id="8"/>
          <p:cNvSpPr txBox="true"/>
          <p:nvPr/>
        </p:nvSpPr>
        <p:spPr>
          <a:xfrm rot="0">
            <a:off x="1028700" y="5800390"/>
            <a:ext cx="7555756" cy="2588895"/>
          </a:xfrm>
          <a:prstGeom prst="rect">
            <a:avLst/>
          </a:prstGeom>
        </p:spPr>
        <p:txBody>
          <a:bodyPr anchor="t" rtlCol="false" tIns="0" lIns="0" bIns="0" rIns="0">
            <a:spAutoFit/>
          </a:bodyPr>
          <a:lstStyle/>
          <a:p>
            <a:pPr algn="just" marL="604518" indent="-302259" lvl="1">
              <a:lnSpc>
                <a:spcPts val="4199"/>
              </a:lnSpc>
              <a:buFont typeface="Arial"/>
              <a:buChar char="•"/>
            </a:pPr>
            <a:r>
              <a:rPr lang="en-US" b="true" sz="2799">
                <a:solidFill>
                  <a:srgbClr val="050A30"/>
                </a:solidFill>
                <a:latin typeface="HK Grotesk Medium"/>
                <a:ea typeface="HK Grotesk Medium"/>
                <a:cs typeface="HK Grotesk Medium"/>
                <a:sym typeface="HK Grotesk Medium"/>
              </a:rPr>
              <a:t>Fue diseñado con algunas características de eficiencia y modularidad en mente, lo que hace que sea una opción interesante cuando se requiere lógica declarativa en un entorno web.</a:t>
            </a:r>
          </a:p>
        </p:txBody>
      </p:sp>
      <p:sp>
        <p:nvSpPr>
          <p:cNvPr name="TextBox 9" id="9"/>
          <p:cNvSpPr txBox="true"/>
          <p:nvPr/>
        </p:nvSpPr>
        <p:spPr>
          <a:xfrm rot="0">
            <a:off x="1028700"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1477486" y="2155356"/>
            <a:ext cx="15333028" cy="1285875"/>
          </a:xfrm>
          <a:prstGeom prst="rect">
            <a:avLst/>
          </a:prstGeom>
        </p:spPr>
        <p:txBody>
          <a:bodyPr anchor="t" rtlCol="false" tIns="0" lIns="0" bIns="0" rIns="0">
            <a:spAutoFit/>
          </a:bodyPr>
          <a:lstStyle/>
          <a:p>
            <a:pPr algn="ctr">
              <a:lnSpc>
                <a:spcPts val="10158"/>
              </a:lnSpc>
            </a:pPr>
            <a:r>
              <a:rPr lang="en-US" b="true" sz="8465">
                <a:solidFill>
                  <a:srgbClr val="F4F6FC"/>
                </a:solidFill>
                <a:latin typeface="HK Grotesk Bold"/>
                <a:ea typeface="HK Grotesk Bold"/>
                <a:cs typeface="HK Grotesk Bold"/>
                <a:sym typeface="HK Grotesk Bold"/>
              </a:rPr>
              <a:t>Tipos de Datos y Variables</a:t>
            </a:r>
          </a:p>
        </p:txBody>
      </p:sp>
      <p:grpSp>
        <p:nvGrpSpPr>
          <p:cNvPr name="Group 4" id="4"/>
          <p:cNvGrpSpPr/>
          <p:nvPr/>
        </p:nvGrpSpPr>
        <p:grpSpPr>
          <a:xfrm rot="-5400000">
            <a:off x="6186162" y="2511196"/>
            <a:ext cx="6818207" cy="20947169"/>
            <a:chOff x="0" y="0"/>
            <a:chExt cx="1795742" cy="5516950"/>
          </a:xfrm>
        </p:grpSpPr>
        <p:sp>
          <p:nvSpPr>
            <p:cNvPr name="Freeform 5" id="5"/>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F4F6FC"/>
            </a:solidFill>
          </p:spPr>
        </p:sp>
        <p:sp>
          <p:nvSpPr>
            <p:cNvPr name="TextBox 6" id="6"/>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7" id="7"/>
          <p:cNvGrpSpPr/>
          <p:nvPr/>
        </p:nvGrpSpPr>
        <p:grpSpPr>
          <a:xfrm rot="-5400000">
            <a:off x="3997069" y="-11005002"/>
            <a:ext cx="2045233" cy="20947169"/>
            <a:chOff x="0" y="0"/>
            <a:chExt cx="538662" cy="5516950"/>
          </a:xfrm>
        </p:grpSpPr>
        <p:sp>
          <p:nvSpPr>
            <p:cNvPr name="Freeform 8" id="8"/>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F4F6FC"/>
            </a:solidFill>
          </p:spPr>
        </p:sp>
        <p:sp>
          <p:nvSpPr>
            <p:cNvPr name="TextBox 9" id="9"/>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10" id="10"/>
          <p:cNvGrpSpPr/>
          <p:nvPr/>
        </p:nvGrpSpPr>
        <p:grpSpPr>
          <a:xfrm rot="2700000">
            <a:off x="13734331" y="93713"/>
            <a:ext cx="4685776" cy="1567256"/>
            <a:chOff x="0" y="0"/>
            <a:chExt cx="1234114" cy="412775"/>
          </a:xfrm>
        </p:grpSpPr>
        <p:sp>
          <p:nvSpPr>
            <p:cNvPr name="Freeform 11" id="11"/>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050A30"/>
            </a:solidFill>
          </p:spPr>
        </p:sp>
        <p:sp>
          <p:nvSpPr>
            <p:cNvPr name="TextBox 12" id="12"/>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3" id="13"/>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2842693" y="5386153"/>
            <a:ext cx="12650577" cy="1562101"/>
          </a:xfrm>
          <a:prstGeom prst="rect">
            <a:avLst/>
          </a:prstGeom>
        </p:spPr>
        <p:txBody>
          <a:bodyPr anchor="t" rtlCol="false" tIns="0" lIns="0" bIns="0" rIns="0">
            <a:spAutoFit/>
          </a:bodyPr>
          <a:lstStyle/>
          <a:p>
            <a:pPr algn="just">
              <a:lnSpc>
                <a:spcPts val="4199"/>
              </a:lnSpc>
              <a:spcBef>
                <a:spcPct val="0"/>
              </a:spcBef>
            </a:pPr>
            <a:r>
              <a:rPr lang="en-US" b="true" sz="2999">
                <a:solidFill>
                  <a:srgbClr val="F4F6FC"/>
                </a:solidFill>
                <a:latin typeface="HK Grotesk Medium"/>
                <a:ea typeface="HK Grotesk Medium"/>
                <a:cs typeface="HK Grotesk Medium"/>
                <a:sym typeface="HK Grotesk Medium"/>
              </a:rPr>
              <a:t>A pesar de que Tau-Prolog es una implementación ligera de Prolog escrita en JavaScript, mantiene muchas de las características fundamentales del lenguaje Prolog tradicional</a:t>
            </a:r>
          </a:p>
        </p:txBody>
      </p:sp>
      <p:sp>
        <p:nvSpPr>
          <p:cNvPr name="TextBox 15" id="15"/>
          <p:cNvSpPr txBox="true"/>
          <p:nvPr/>
        </p:nvSpPr>
        <p:spPr>
          <a:xfrm rot="0">
            <a:off x="12502616"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F4F6FC"/>
                </a:solidFill>
                <a:latin typeface="HK Grotesk Medium"/>
                <a:ea typeface="HK Grotesk Medium"/>
                <a:cs typeface="HK Grotesk Medium"/>
                <a:sym typeface="HK Grotesk Medium"/>
              </a:rPr>
              <a:t>Elaborado por: Robin Omar Buezo Díaz</a:t>
            </a:r>
          </a:p>
        </p:txBody>
      </p:sp>
      <p:grpSp>
        <p:nvGrpSpPr>
          <p:cNvPr name="Group 16" id="16"/>
          <p:cNvGrpSpPr/>
          <p:nvPr/>
        </p:nvGrpSpPr>
        <p:grpSpPr>
          <a:xfrm rot="0">
            <a:off x="2437946" y="4887147"/>
            <a:ext cx="13412107" cy="2541451"/>
            <a:chOff x="0" y="0"/>
            <a:chExt cx="4995833" cy="946657"/>
          </a:xfrm>
        </p:grpSpPr>
        <p:sp>
          <p:nvSpPr>
            <p:cNvPr name="Freeform 17" id="17"/>
            <p:cNvSpPr/>
            <p:nvPr/>
          </p:nvSpPr>
          <p:spPr>
            <a:xfrm flipH="false" flipV="false" rot="0">
              <a:off x="0" y="0"/>
              <a:ext cx="4995833" cy="946657"/>
            </a:xfrm>
            <a:custGeom>
              <a:avLst/>
              <a:gdLst/>
              <a:ahLst/>
              <a:cxnLst/>
              <a:rect r="r" b="b" t="t" l="l"/>
              <a:pathLst>
                <a:path h="946657" w="4995833">
                  <a:moveTo>
                    <a:pt x="0" y="0"/>
                  </a:moveTo>
                  <a:lnTo>
                    <a:pt x="4995833" y="0"/>
                  </a:lnTo>
                  <a:lnTo>
                    <a:pt x="4995833" y="946657"/>
                  </a:lnTo>
                  <a:lnTo>
                    <a:pt x="0" y="946657"/>
                  </a:lnTo>
                  <a:close/>
                </a:path>
              </a:pathLst>
            </a:custGeom>
            <a:solidFill>
              <a:srgbClr val="000000">
                <a:alpha val="0"/>
              </a:srgbClr>
            </a:solidFill>
            <a:ln w="66675" cap="sq">
              <a:solidFill>
                <a:srgbClr val="9753A8"/>
              </a:solidFill>
              <a:prstDash val="solid"/>
              <a:miter/>
            </a:ln>
          </p:spPr>
        </p:sp>
        <p:sp>
          <p:nvSpPr>
            <p:cNvPr name="TextBox 18" id="18"/>
            <p:cNvSpPr txBox="true"/>
            <p:nvPr/>
          </p:nvSpPr>
          <p:spPr>
            <a:xfrm>
              <a:off x="0" y="0"/>
              <a:ext cx="4995833" cy="946657"/>
            </a:xfrm>
            <a:prstGeom prst="rect">
              <a:avLst/>
            </a:prstGeom>
          </p:spPr>
          <p:txBody>
            <a:bodyPr anchor="ctr" rtlCol="false" tIns="48876" lIns="48876" bIns="48876" rIns="48876"/>
            <a:lstStyle/>
            <a:p>
              <a:pPr algn="ctr">
                <a:lnSpc>
                  <a:spcPts val="1813"/>
                </a:lnSpc>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9144000" y="1085850"/>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683676" y="2633701"/>
            <a:ext cx="5045833" cy="5089872"/>
            <a:chOff x="0" y="0"/>
            <a:chExt cx="1328944" cy="1340542"/>
          </a:xfrm>
        </p:grpSpPr>
        <p:sp>
          <p:nvSpPr>
            <p:cNvPr name="Freeform 5" id="5"/>
            <p:cNvSpPr/>
            <p:nvPr/>
          </p:nvSpPr>
          <p:spPr>
            <a:xfrm flipH="false" flipV="false" rot="0">
              <a:off x="0" y="0"/>
              <a:ext cx="1328944" cy="1340542"/>
            </a:xfrm>
            <a:custGeom>
              <a:avLst/>
              <a:gdLst/>
              <a:ahLst/>
              <a:cxnLst/>
              <a:rect r="r" b="b" t="t" l="l"/>
              <a:pathLst>
                <a:path h="1340542" w="1328944">
                  <a:moveTo>
                    <a:pt x="0" y="0"/>
                  </a:moveTo>
                  <a:lnTo>
                    <a:pt x="1328944" y="0"/>
                  </a:lnTo>
                  <a:lnTo>
                    <a:pt x="1328944" y="1340542"/>
                  </a:lnTo>
                  <a:lnTo>
                    <a:pt x="0" y="1340542"/>
                  </a:lnTo>
                  <a:close/>
                </a:path>
              </a:pathLst>
            </a:custGeom>
            <a:solidFill>
              <a:srgbClr val="FFFFFF"/>
            </a:solidFill>
          </p:spPr>
        </p:sp>
        <p:sp>
          <p:nvSpPr>
            <p:cNvPr name="TextBox 6" id="6"/>
            <p:cNvSpPr txBox="true"/>
            <p:nvPr/>
          </p:nvSpPr>
          <p:spPr>
            <a:xfrm>
              <a:off x="0" y="-47625"/>
              <a:ext cx="1328944" cy="1388167"/>
            </a:xfrm>
            <a:prstGeom prst="rect">
              <a:avLst/>
            </a:prstGeom>
          </p:spPr>
          <p:txBody>
            <a:bodyPr anchor="ctr" rtlCol="false" tIns="50800" lIns="50800" bIns="50800" rIns="50800"/>
            <a:lstStyle/>
            <a:p>
              <a:pPr algn="ctr">
                <a:lnSpc>
                  <a:spcPts val="2800"/>
                </a:lnSpc>
              </a:pPr>
            </a:p>
          </p:txBody>
        </p:sp>
      </p:grpSp>
      <p:sp>
        <p:nvSpPr>
          <p:cNvPr name="TextBox 7" id="7"/>
          <p:cNvSpPr txBox="true"/>
          <p:nvPr/>
        </p:nvSpPr>
        <p:spPr>
          <a:xfrm rot="0">
            <a:off x="1385161" y="3159481"/>
            <a:ext cx="7758839" cy="1017270"/>
          </a:xfrm>
          <a:prstGeom prst="rect">
            <a:avLst/>
          </a:prstGeom>
        </p:spPr>
        <p:txBody>
          <a:bodyPr anchor="t" rtlCol="false" tIns="0" lIns="0" bIns="0" rIns="0">
            <a:spAutoFit/>
          </a:bodyPr>
          <a:lstStyle/>
          <a:p>
            <a:pPr algn="l">
              <a:lnSpc>
                <a:spcPts val="8325"/>
              </a:lnSpc>
            </a:pPr>
            <a:r>
              <a:rPr lang="en-US" b="true" sz="5550" spc="444">
                <a:solidFill>
                  <a:srgbClr val="050A30"/>
                </a:solidFill>
                <a:latin typeface="HK Grotesk Bold"/>
                <a:ea typeface="HK Grotesk Bold"/>
                <a:cs typeface="HK Grotesk Bold"/>
                <a:sym typeface="HK Grotesk Bold"/>
              </a:rPr>
              <a:t>ÁTOMOS</a:t>
            </a:r>
          </a:p>
        </p:txBody>
      </p:sp>
      <p:sp>
        <p:nvSpPr>
          <p:cNvPr name="TextBox 8" id="8"/>
          <p:cNvSpPr txBox="true"/>
          <p:nvPr/>
        </p:nvSpPr>
        <p:spPr>
          <a:xfrm rot="0">
            <a:off x="1385161" y="4520405"/>
            <a:ext cx="7555756" cy="2588895"/>
          </a:xfrm>
          <a:prstGeom prst="rect">
            <a:avLst/>
          </a:prstGeom>
        </p:spPr>
        <p:txBody>
          <a:bodyPr anchor="t" rtlCol="false" tIns="0" lIns="0" bIns="0" rIns="0">
            <a:spAutoFit/>
          </a:bodyPr>
          <a:lstStyle/>
          <a:p>
            <a:pPr algn="just">
              <a:lnSpc>
                <a:spcPts val="4199"/>
              </a:lnSpc>
            </a:pPr>
            <a:r>
              <a:rPr lang="en-US" b="true" sz="2799">
                <a:solidFill>
                  <a:srgbClr val="050A30"/>
                </a:solidFill>
                <a:latin typeface="HK Grotesk Medium"/>
                <a:ea typeface="HK Grotesk Medium"/>
                <a:cs typeface="HK Grotesk Medium"/>
                <a:sym typeface="HK Grotesk Medium"/>
              </a:rPr>
              <a:t>Son cadenas de texto que representan constantes o identificadores, como los nombres de personas, lugares o cosas. Los átomos deben comenzar con una letra minúscula, o bien pueden ser cadenas entre comillas.</a:t>
            </a:r>
          </a:p>
        </p:txBody>
      </p:sp>
      <p:sp>
        <p:nvSpPr>
          <p:cNvPr name="TextBox 9" id="9"/>
          <p:cNvSpPr txBox="true"/>
          <p:nvPr/>
        </p:nvSpPr>
        <p:spPr>
          <a:xfrm rot="0">
            <a:off x="1028700"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
        <p:nvSpPr>
          <p:cNvPr name="TextBox 10" id="10"/>
          <p:cNvSpPr txBox="true"/>
          <p:nvPr/>
        </p:nvSpPr>
        <p:spPr>
          <a:xfrm rot="0">
            <a:off x="10939877" y="2834678"/>
            <a:ext cx="4563009" cy="4777816"/>
          </a:xfrm>
          <a:prstGeom prst="rect">
            <a:avLst/>
          </a:prstGeom>
        </p:spPr>
        <p:txBody>
          <a:bodyPr anchor="t" rtlCol="false" tIns="0" lIns="0" bIns="0" rIns="0">
            <a:spAutoFit/>
          </a:bodyPr>
          <a:lstStyle/>
          <a:p>
            <a:pPr algn="just" marL="614886" indent="-307443" lvl="1">
              <a:lnSpc>
                <a:spcPts val="4272"/>
              </a:lnSpc>
              <a:buFont typeface="Arial"/>
              <a:buChar char="•"/>
            </a:pPr>
            <a:r>
              <a:rPr lang="en-US" b="true" sz="2848">
                <a:solidFill>
                  <a:srgbClr val="050A30"/>
                </a:solidFill>
                <a:latin typeface="HK Grotesk Medium"/>
                <a:ea typeface="HK Grotesk Medium"/>
                <a:cs typeface="HK Grotesk Medium"/>
                <a:sym typeface="HK Grotesk Medium"/>
              </a:rPr>
              <a:t>juan</a:t>
            </a:r>
          </a:p>
          <a:p>
            <a:pPr algn="just">
              <a:lnSpc>
                <a:spcPts val="4272"/>
              </a:lnSpc>
            </a:pPr>
          </a:p>
          <a:p>
            <a:pPr algn="just" marL="614886" indent="-307443" lvl="1">
              <a:lnSpc>
                <a:spcPts val="4272"/>
              </a:lnSpc>
              <a:buFont typeface="Arial"/>
              <a:buChar char="•"/>
            </a:pPr>
            <a:r>
              <a:rPr lang="en-US" b="true" sz="2848">
                <a:solidFill>
                  <a:srgbClr val="050A30"/>
                </a:solidFill>
                <a:latin typeface="HK Grotesk Medium"/>
                <a:ea typeface="HK Grotesk Medium"/>
                <a:cs typeface="HK Grotesk Medium"/>
                <a:sym typeface="HK Grotesk Medium"/>
              </a:rPr>
              <a:t>maria</a:t>
            </a:r>
          </a:p>
          <a:p>
            <a:pPr algn="just">
              <a:lnSpc>
                <a:spcPts val="4272"/>
              </a:lnSpc>
            </a:pPr>
          </a:p>
          <a:p>
            <a:pPr algn="just" marL="614886" indent="-307443" lvl="1">
              <a:lnSpc>
                <a:spcPts val="4272"/>
              </a:lnSpc>
              <a:buFont typeface="Arial"/>
              <a:buChar char="•"/>
            </a:pPr>
            <a:r>
              <a:rPr lang="en-US" b="true" sz="2848">
                <a:solidFill>
                  <a:srgbClr val="050A30"/>
                </a:solidFill>
                <a:latin typeface="HK Grotesk Medium"/>
                <a:ea typeface="HK Grotesk Medium"/>
                <a:cs typeface="HK Grotesk Medium"/>
                <a:sym typeface="HK Grotesk Medium"/>
              </a:rPr>
              <a:t>perro</a:t>
            </a:r>
          </a:p>
          <a:p>
            <a:pPr algn="just">
              <a:lnSpc>
                <a:spcPts val="4272"/>
              </a:lnSpc>
            </a:pPr>
          </a:p>
          <a:p>
            <a:pPr algn="just" marL="614886" indent="-307443" lvl="1">
              <a:lnSpc>
                <a:spcPts val="4272"/>
              </a:lnSpc>
              <a:buFont typeface="Arial"/>
              <a:buChar char="•"/>
            </a:pPr>
            <a:r>
              <a:rPr lang="en-US" b="true" sz="2848">
                <a:solidFill>
                  <a:srgbClr val="050A30"/>
                </a:solidFill>
                <a:latin typeface="HK Grotesk Medium"/>
                <a:ea typeface="HK Grotesk Medium"/>
                <a:cs typeface="HK Grotesk Medium"/>
                <a:sym typeface="HK Grotesk Medium"/>
              </a:rPr>
              <a:t>“pelota”</a:t>
            </a:r>
          </a:p>
          <a:p>
            <a:pPr algn="just">
              <a:lnSpc>
                <a:spcPts val="4272"/>
              </a:lnSpc>
            </a:pPr>
          </a:p>
          <a:p>
            <a:pPr algn="just" marL="614886" indent="-307443" lvl="1">
              <a:lnSpc>
                <a:spcPts val="4272"/>
              </a:lnSpc>
              <a:buFont typeface="Arial"/>
              <a:buChar char="•"/>
            </a:pPr>
            <a:r>
              <a:rPr lang="en-US" b="true" sz="2848">
                <a:solidFill>
                  <a:srgbClr val="050A30"/>
                </a:solidFill>
                <a:latin typeface="HK Grotesk Medium"/>
                <a:ea typeface="HK Grotesk Medium"/>
                <a:cs typeface="HK Grotesk Medium"/>
                <a:sym typeface="HK Grotesk Medium"/>
              </a:rPr>
              <a:t>pais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9144000" y="1085850"/>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683676" y="2633701"/>
            <a:ext cx="5045833" cy="5089872"/>
            <a:chOff x="0" y="0"/>
            <a:chExt cx="1328944" cy="1340542"/>
          </a:xfrm>
        </p:grpSpPr>
        <p:sp>
          <p:nvSpPr>
            <p:cNvPr name="Freeform 5" id="5"/>
            <p:cNvSpPr/>
            <p:nvPr/>
          </p:nvSpPr>
          <p:spPr>
            <a:xfrm flipH="false" flipV="false" rot="0">
              <a:off x="0" y="0"/>
              <a:ext cx="1328944" cy="1340542"/>
            </a:xfrm>
            <a:custGeom>
              <a:avLst/>
              <a:gdLst/>
              <a:ahLst/>
              <a:cxnLst/>
              <a:rect r="r" b="b" t="t" l="l"/>
              <a:pathLst>
                <a:path h="1340542" w="1328944">
                  <a:moveTo>
                    <a:pt x="0" y="0"/>
                  </a:moveTo>
                  <a:lnTo>
                    <a:pt x="1328944" y="0"/>
                  </a:lnTo>
                  <a:lnTo>
                    <a:pt x="1328944" y="1340542"/>
                  </a:lnTo>
                  <a:lnTo>
                    <a:pt x="0" y="1340542"/>
                  </a:lnTo>
                  <a:close/>
                </a:path>
              </a:pathLst>
            </a:custGeom>
            <a:solidFill>
              <a:srgbClr val="FFFFFF"/>
            </a:solidFill>
          </p:spPr>
        </p:sp>
        <p:sp>
          <p:nvSpPr>
            <p:cNvPr name="TextBox 6" id="6"/>
            <p:cNvSpPr txBox="true"/>
            <p:nvPr/>
          </p:nvSpPr>
          <p:spPr>
            <a:xfrm>
              <a:off x="0" y="-47625"/>
              <a:ext cx="1328944" cy="1388167"/>
            </a:xfrm>
            <a:prstGeom prst="rect">
              <a:avLst/>
            </a:prstGeom>
          </p:spPr>
          <p:txBody>
            <a:bodyPr anchor="ctr" rtlCol="false" tIns="50800" lIns="50800" bIns="50800" rIns="50800"/>
            <a:lstStyle/>
            <a:p>
              <a:pPr algn="ctr">
                <a:lnSpc>
                  <a:spcPts val="2800"/>
                </a:lnSpc>
              </a:pPr>
            </a:p>
          </p:txBody>
        </p:sp>
      </p:grpSp>
      <p:sp>
        <p:nvSpPr>
          <p:cNvPr name="TextBox 7" id="7"/>
          <p:cNvSpPr txBox="true"/>
          <p:nvPr/>
        </p:nvSpPr>
        <p:spPr>
          <a:xfrm rot="0">
            <a:off x="1385161" y="3159481"/>
            <a:ext cx="7758839" cy="1017270"/>
          </a:xfrm>
          <a:prstGeom prst="rect">
            <a:avLst/>
          </a:prstGeom>
        </p:spPr>
        <p:txBody>
          <a:bodyPr anchor="t" rtlCol="false" tIns="0" lIns="0" bIns="0" rIns="0">
            <a:spAutoFit/>
          </a:bodyPr>
          <a:lstStyle/>
          <a:p>
            <a:pPr algn="l">
              <a:lnSpc>
                <a:spcPts val="8325"/>
              </a:lnSpc>
            </a:pPr>
            <a:r>
              <a:rPr lang="en-US" b="true" sz="5550" spc="444">
                <a:solidFill>
                  <a:srgbClr val="050A30"/>
                </a:solidFill>
                <a:latin typeface="HK Grotesk Bold"/>
                <a:ea typeface="HK Grotesk Bold"/>
                <a:cs typeface="HK Grotesk Bold"/>
                <a:sym typeface="HK Grotesk Bold"/>
              </a:rPr>
              <a:t>NÚMEROS</a:t>
            </a:r>
          </a:p>
        </p:txBody>
      </p:sp>
      <p:sp>
        <p:nvSpPr>
          <p:cNvPr name="TextBox 8" id="8"/>
          <p:cNvSpPr txBox="true"/>
          <p:nvPr/>
        </p:nvSpPr>
        <p:spPr>
          <a:xfrm rot="0">
            <a:off x="1385161" y="4520405"/>
            <a:ext cx="7555756" cy="1541145"/>
          </a:xfrm>
          <a:prstGeom prst="rect">
            <a:avLst/>
          </a:prstGeom>
        </p:spPr>
        <p:txBody>
          <a:bodyPr anchor="t" rtlCol="false" tIns="0" lIns="0" bIns="0" rIns="0">
            <a:spAutoFit/>
          </a:bodyPr>
          <a:lstStyle/>
          <a:p>
            <a:pPr algn="just">
              <a:lnSpc>
                <a:spcPts val="4199"/>
              </a:lnSpc>
            </a:pPr>
            <a:r>
              <a:rPr lang="en-US" b="true" sz="2799">
                <a:solidFill>
                  <a:srgbClr val="050A30"/>
                </a:solidFill>
                <a:latin typeface="HK Grotesk Medium"/>
                <a:ea typeface="HK Grotesk Medium"/>
                <a:cs typeface="HK Grotesk Medium"/>
                <a:sym typeface="HK Grotesk Medium"/>
              </a:rPr>
              <a:t>Prolog trata los números de manera estándar. Existen enteros y flotantes, como en la mayoría de lenguajes.</a:t>
            </a:r>
          </a:p>
        </p:txBody>
      </p:sp>
      <p:sp>
        <p:nvSpPr>
          <p:cNvPr name="TextBox 9" id="9"/>
          <p:cNvSpPr txBox="true"/>
          <p:nvPr/>
        </p:nvSpPr>
        <p:spPr>
          <a:xfrm rot="0">
            <a:off x="1028700"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
        <p:nvSpPr>
          <p:cNvPr name="TextBox 10" id="10"/>
          <p:cNvSpPr txBox="true"/>
          <p:nvPr/>
        </p:nvSpPr>
        <p:spPr>
          <a:xfrm rot="0">
            <a:off x="10939877" y="2834678"/>
            <a:ext cx="4563009" cy="4777816"/>
          </a:xfrm>
          <a:prstGeom prst="rect">
            <a:avLst/>
          </a:prstGeom>
        </p:spPr>
        <p:txBody>
          <a:bodyPr anchor="t" rtlCol="false" tIns="0" lIns="0" bIns="0" rIns="0">
            <a:spAutoFit/>
          </a:bodyPr>
          <a:lstStyle/>
          <a:p>
            <a:pPr algn="just" marL="614886" indent="-307443" lvl="1">
              <a:lnSpc>
                <a:spcPts val="4272"/>
              </a:lnSpc>
              <a:buFont typeface="Arial"/>
              <a:buChar char="•"/>
            </a:pPr>
            <a:r>
              <a:rPr lang="en-US" sz="2848">
                <a:solidFill>
                  <a:srgbClr val="050A30"/>
                </a:solidFill>
                <a:latin typeface="HK Grotesk"/>
                <a:ea typeface="HK Grotesk"/>
                <a:cs typeface="HK Grotesk"/>
                <a:sym typeface="HK Grotesk"/>
              </a:rPr>
              <a:t>1</a:t>
            </a:r>
          </a:p>
          <a:p>
            <a:pPr algn="just">
              <a:lnSpc>
                <a:spcPts val="4272"/>
              </a:lnSpc>
            </a:pPr>
          </a:p>
          <a:p>
            <a:pPr algn="just" marL="614886" indent="-307443" lvl="1">
              <a:lnSpc>
                <a:spcPts val="4272"/>
              </a:lnSpc>
              <a:buFont typeface="Arial"/>
              <a:buChar char="•"/>
            </a:pPr>
            <a:r>
              <a:rPr lang="en-US" b="true" sz="2848">
                <a:solidFill>
                  <a:srgbClr val="050A30"/>
                </a:solidFill>
                <a:latin typeface="HK Grotesk Medium"/>
                <a:ea typeface="HK Grotesk Medium"/>
                <a:cs typeface="HK Grotesk Medium"/>
                <a:sym typeface="HK Grotesk Medium"/>
              </a:rPr>
              <a:t>10.5</a:t>
            </a:r>
          </a:p>
          <a:p>
            <a:pPr algn="just">
              <a:lnSpc>
                <a:spcPts val="4272"/>
              </a:lnSpc>
            </a:pPr>
          </a:p>
          <a:p>
            <a:pPr algn="just" marL="614886" indent="-307443" lvl="1">
              <a:lnSpc>
                <a:spcPts val="4272"/>
              </a:lnSpc>
              <a:buFont typeface="Arial"/>
              <a:buChar char="•"/>
            </a:pPr>
            <a:r>
              <a:rPr lang="en-US" b="true" sz="2848">
                <a:solidFill>
                  <a:srgbClr val="050A30"/>
                </a:solidFill>
                <a:latin typeface="HK Grotesk Medium"/>
                <a:ea typeface="HK Grotesk Medium"/>
                <a:cs typeface="HK Grotesk Medium"/>
                <a:sym typeface="HK Grotesk Medium"/>
              </a:rPr>
              <a:t>7</a:t>
            </a:r>
          </a:p>
          <a:p>
            <a:pPr algn="just">
              <a:lnSpc>
                <a:spcPts val="4272"/>
              </a:lnSpc>
            </a:pPr>
          </a:p>
          <a:p>
            <a:pPr algn="just" marL="614886" indent="-307443" lvl="1">
              <a:lnSpc>
                <a:spcPts val="4272"/>
              </a:lnSpc>
              <a:buFont typeface="Arial"/>
              <a:buChar char="•"/>
            </a:pPr>
            <a:r>
              <a:rPr lang="en-US" b="true" sz="2848">
                <a:solidFill>
                  <a:srgbClr val="050A30"/>
                </a:solidFill>
                <a:latin typeface="HK Grotesk Medium"/>
                <a:ea typeface="HK Grotesk Medium"/>
                <a:cs typeface="HK Grotesk Medium"/>
                <a:sym typeface="HK Grotesk Medium"/>
              </a:rPr>
              <a:t>20.3</a:t>
            </a:r>
          </a:p>
          <a:p>
            <a:pPr algn="just">
              <a:lnSpc>
                <a:spcPts val="4272"/>
              </a:lnSpc>
            </a:pPr>
          </a:p>
          <a:p>
            <a:pPr algn="just" marL="614886" indent="-307443" lvl="1">
              <a:lnSpc>
                <a:spcPts val="4272"/>
              </a:lnSpc>
              <a:buFont typeface="Arial"/>
              <a:buChar char="•"/>
            </a:pPr>
            <a:r>
              <a:rPr lang="en-US" b="true" sz="2848">
                <a:solidFill>
                  <a:srgbClr val="050A30"/>
                </a:solidFill>
                <a:latin typeface="HK Grotesk Medium"/>
                <a:ea typeface="HK Grotesk Medium"/>
                <a:cs typeface="HK Grotesk Medium"/>
                <a:sym typeface="HK Grotesk Medium"/>
              </a:rPr>
              <a:t>1000</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9144000" y="1085850"/>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683676" y="2633701"/>
            <a:ext cx="5045833" cy="5089872"/>
            <a:chOff x="0" y="0"/>
            <a:chExt cx="1328944" cy="1340542"/>
          </a:xfrm>
        </p:grpSpPr>
        <p:sp>
          <p:nvSpPr>
            <p:cNvPr name="Freeform 5" id="5"/>
            <p:cNvSpPr/>
            <p:nvPr/>
          </p:nvSpPr>
          <p:spPr>
            <a:xfrm flipH="false" flipV="false" rot="0">
              <a:off x="0" y="0"/>
              <a:ext cx="1328944" cy="1340542"/>
            </a:xfrm>
            <a:custGeom>
              <a:avLst/>
              <a:gdLst/>
              <a:ahLst/>
              <a:cxnLst/>
              <a:rect r="r" b="b" t="t" l="l"/>
              <a:pathLst>
                <a:path h="1340542" w="1328944">
                  <a:moveTo>
                    <a:pt x="0" y="0"/>
                  </a:moveTo>
                  <a:lnTo>
                    <a:pt x="1328944" y="0"/>
                  </a:lnTo>
                  <a:lnTo>
                    <a:pt x="1328944" y="1340542"/>
                  </a:lnTo>
                  <a:lnTo>
                    <a:pt x="0" y="1340542"/>
                  </a:lnTo>
                  <a:close/>
                </a:path>
              </a:pathLst>
            </a:custGeom>
            <a:solidFill>
              <a:srgbClr val="FFFFFF"/>
            </a:solidFill>
          </p:spPr>
        </p:sp>
        <p:sp>
          <p:nvSpPr>
            <p:cNvPr name="TextBox 6" id="6"/>
            <p:cNvSpPr txBox="true"/>
            <p:nvPr/>
          </p:nvSpPr>
          <p:spPr>
            <a:xfrm>
              <a:off x="0" y="-47625"/>
              <a:ext cx="1328944" cy="1388167"/>
            </a:xfrm>
            <a:prstGeom prst="rect">
              <a:avLst/>
            </a:prstGeom>
          </p:spPr>
          <p:txBody>
            <a:bodyPr anchor="ctr" rtlCol="false" tIns="50800" lIns="50800" bIns="50800" rIns="50800"/>
            <a:lstStyle/>
            <a:p>
              <a:pPr algn="ctr">
                <a:lnSpc>
                  <a:spcPts val="2800"/>
                </a:lnSpc>
              </a:pPr>
            </a:p>
          </p:txBody>
        </p:sp>
      </p:grpSp>
      <p:sp>
        <p:nvSpPr>
          <p:cNvPr name="TextBox 7" id="7"/>
          <p:cNvSpPr txBox="true"/>
          <p:nvPr/>
        </p:nvSpPr>
        <p:spPr>
          <a:xfrm rot="0">
            <a:off x="1385161" y="2326043"/>
            <a:ext cx="7758839" cy="1017270"/>
          </a:xfrm>
          <a:prstGeom prst="rect">
            <a:avLst/>
          </a:prstGeom>
        </p:spPr>
        <p:txBody>
          <a:bodyPr anchor="t" rtlCol="false" tIns="0" lIns="0" bIns="0" rIns="0">
            <a:spAutoFit/>
          </a:bodyPr>
          <a:lstStyle/>
          <a:p>
            <a:pPr algn="l">
              <a:lnSpc>
                <a:spcPts val="8325"/>
              </a:lnSpc>
            </a:pPr>
            <a:r>
              <a:rPr lang="en-US" b="true" sz="5550" spc="444">
                <a:solidFill>
                  <a:srgbClr val="050A30"/>
                </a:solidFill>
                <a:latin typeface="HK Grotesk Bold"/>
                <a:ea typeface="HK Grotesk Bold"/>
                <a:cs typeface="HK Grotesk Bold"/>
                <a:sym typeface="HK Grotesk Bold"/>
              </a:rPr>
              <a:t>VARIABLES</a:t>
            </a:r>
          </a:p>
        </p:txBody>
      </p:sp>
      <p:sp>
        <p:nvSpPr>
          <p:cNvPr name="TextBox 8" id="8"/>
          <p:cNvSpPr txBox="true"/>
          <p:nvPr/>
        </p:nvSpPr>
        <p:spPr>
          <a:xfrm rot="0">
            <a:off x="1385161" y="3837801"/>
            <a:ext cx="7555756" cy="3636645"/>
          </a:xfrm>
          <a:prstGeom prst="rect">
            <a:avLst/>
          </a:prstGeom>
        </p:spPr>
        <p:txBody>
          <a:bodyPr anchor="t" rtlCol="false" tIns="0" lIns="0" bIns="0" rIns="0">
            <a:spAutoFit/>
          </a:bodyPr>
          <a:lstStyle/>
          <a:p>
            <a:pPr algn="just">
              <a:lnSpc>
                <a:spcPts val="4199"/>
              </a:lnSpc>
            </a:pPr>
            <a:r>
              <a:rPr lang="en-US" b="true" sz="2799">
                <a:solidFill>
                  <a:srgbClr val="050A30"/>
                </a:solidFill>
                <a:latin typeface="HK Grotesk Medium"/>
                <a:ea typeface="HK Grotesk Medium"/>
                <a:cs typeface="HK Grotesk Medium"/>
                <a:sym typeface="HK Grotesk Medium"/>
              </a:rPr>
              <a:t>Las variables en Prolog son representadas por nombres que comienzan con una letra mayúscula o con un guion bajo (_). Las variables pueden tomar cualquier valor durante la evaluación de una consulta, y su valor se determinará a medida que se resuelvan las reglas y hechos.</a:t>
            </a:r>
          </a:p>
        </p:txBody>
      </p:sp>
      <p:sp>
        <p:nvSpPr>
          <p:cNvPr name="TextBox 9" id="9"/>
          <p:cNvSpPr txBox="true"/>
          <p:nvPr/>
        </p:nvSpPr>
        <p:spPr>
          <a:xfrm rot="0">
            <a:off x="1028700"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
        <p:nvSpPr>
          <p:cNvPr name="TextBox 10" id="10"/>
          <p:cNvSpPr txBox="true"/>
          <p:nvPr/>
        </p:nvSpPr>
        <p:spPr>
          <a:xfrm rot="0">
            <a:off x="10925088" y="3280267"/>
            <a:ext cx="4563009" cy="3711016"/>
          </a:xfrm>
          <a:prstGeom prst="rect">
            <a:avLst/>
          </a:prstGeom>
        </p:spPr>
        <p:txBody>
          <a:bodyPr anchor="t" rtlCol="false" tIns="0" lIns="0" bIns="0" rIns="0">
            <a:spAutoFit/>
          </a:bodyPr>
          <a:lstStyle/>
          <a:p>
            <a:pPr algn="just" marL="614886" indent="-307443" lvl="1">
              <a:lnSpc>
                <a:spcPts val="4272"/>
              </a:lnSpc>
              <a:buFont typeface="Arial"/>
              <a:buChar char="•"/>
            </a:pPr>
            <a:r>
              <a:rPr lang="en-US" sz="2848">
                <a:solidFill>
                  <a:srgbClr val="050A30"/>
                </a:solidFill>
                <a:latin typeface="HK Grotesk"/>
                <a:ea typeface="HK Grotesk"/>
                <a:cs typeface="HK Grotesk"/>
                <a:sym typeface="HK Grotesk"/>
              </a:rPr>
              <a:t>X</a:t>
            </a:r>
          </a:p>
          <a:p>
            <a:pPr algn="just">
              <a:lnSpc>
                <a:spcPts val="4272"/>
              </a:lnSpc>
            </a:pPr>
          </a:p>
          <a:p>
            <a:pPr algn="just" marL="614886" indent="-307443" lvl="1">
              <a:lnSpc>
                <a:spcPts val="4272"/>
              </a:lnSpc>
              <a:buFont typeface="Arial"/>
              <a:buChar char="•"/>
            </a:pPr>
            <a:r>
              <a:rPr lang="en-US" sz="2848">
                <a:solidFill>
                  <a:srgbClr val="050A30"/>
                </a:solidFill>
                <a:latin typeface="HK Grotesk"/>
                <a:ea typeface="HK Grotesk"/>
                <a:cs typeface="HK Grotesk"/>
                <a:sym typeface="HK Grotesk"/>
              </a:rPr>
              <a:t>Y</a:t>
            </a:r>
          </a:p>
          <a:p>
            <a:pPr algn="just">
              <a:lnSpc>
                <a:spcPts val="4272"/>
              </a:lnSpc>
            </a:pPr>
          </a:p>
          <a:p>
            <a:pPr algn="just" marL="614886" indent="-307443" lvl="1">
              <a:lnSpc>
                <a:spcPts val="4272"/>
              </a:lnSpc>
              <a:buFont typeface="Arial"/>
              <a:buChar char="•"/>
            </a:pPr>
            <a:r>
              <a:rPr lang="en-US" sz="2848">
                <a:solidFill>
                  <a:srgbClr val="050A30"/>
                </a:solidFill>
                <a:latin typeface="HK Grotesk"/>
                <a:ea typeface="HK Grotesk"/>
                <a:cs typeface="HK Grotesk"/>
                <a:sym typeface="HK Grotesk"/>
              </a:rPr>
              <a:t>Variable</a:t>
            </a:r>
          </a:p>
          <a:p>
            <a:pPr algn="just">
              <a:lnSpc>
                <a:spcPts val="4272"/>
              </a:lnSpc>
            </a:pPr>
          </a:p>
          <a:p>
            <a:pPr algn="just" marL="614886" indent="-307443" lvl="1">
              <a:lnSpc>
                <a:spcPts val="4272"/>
              </a:lnSpc>
              <a:buFont typeface="Arial"/>
              <a:buChar char="•"/>
            </a:pPr>
            <a:r>
              <a:rPr lang="en-US" sz="2848">
                <a:solidFill>
                  <a:srgbClr val="050A30"/>
                </a:solidFill>
                <a:latin typeface="HK Grotesk"/>
                <a:ea typeface="HK Grotesk"/>
                <a:cs typeface="HK Grotesk"/>
                <a:sym typeface="HK Grotesk"/>
              </a:rPr>
              <a:t>_</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9144000" y="1085850"/>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683676" y="2633701"/>
            <a:ext cx="5045833" cy="5089872"/>
            <a:chOff x="0" y="0"/>
            <a:chExt cx="1328944" cy="1340542"/>
          </a:xfrm>
        </p:grpSpPr>
        <p:sp>
          <p:nvSpPr>
            <p:cNvPr name="Freeform 5" id="5"/>
            <p:cNvSpPr/>
            <p:nvPr/>
          </p:nvSpPr>
          <p:spPr>
            <a:xfrm flipH="false" flipV="false" rot="0">
              <a:off x="0" y="0"/>
              <a:ext cx="1328944" cy="1340542"/>
            </a:xfrm>
            <a:custGeom>
              <a:avLst/>
              <a:gdLst/>
              <a:ahLst/>
              <a:cxnLst/>
              <a:rect r="r" b="b" t="t" l="l"/>
              <a:pathLst>
                <a:path h="1340542" w="1328944">
                  <a:moveTo>
                    <a:pt x="0" y="0"/>
                  </a:moveTo>
                  <a:lnTo>
                    <a:pt x="1328944" y="0"/>
                  </a:lnTo>
                  <a:lnTo>
                    <a:pt x="1328944" y="1340542"/>
                  </a:lnTo>
                  <a:lnTo>
                    <a:pt x="0" y="1340542"/>
                  </a:lnTo>
                  <a:close/>
                </a:path>
              </a:pathLst>
            </a:custGeom>
            <a:solidFill>
              <a:srgbClr val="FFFFFF"/>
            </a:solidFill>
          </p:spPr>
        </p:sp>
        <p:sp>
          <p:nvSpPr>
            <p:cNvPr name="TextBox 6" id="6"/>
            <p:cNvSpPr txBox="true"/>
            <p:nvPr/>
          </p:nvSpPr>
          <p:spPr>
            <a:xfrm>
              <a:off x="0" y="-47625"/>
              <a:ext cx="1328944" cy="1388167"/>
            </a:xfrm>
            <a:prstGeom prst="rect">
              <a:avLst/>
            </a:prstGeom>
          </p:spPr>
          <p:txBody>
            <a:bodyPr anchor="ctr" rtlCol="false" tIns="50800" lIns="50800" bIns="50800" rIns="50800"/>
            <a:lstStyle/>
            <a:p>
              <a:pPr algn="ctr">
                <a:lnSpc>
                  <a:spcPts val="2800"/>
                </a:lnSpc>
              </a:pPr>
            </a:p>
          </p:txBody>
        </p:sp>
      </p:grpSp>
      <p:sp>
        <p:nvSpPr>
          <p:cNvPr name="TextBox 7" id="7"/>
          <p:cNvSpPr txBox="true"/>
          <p:nvPr/>
        </p:nvSpPr>
        <p:spPr>
          <a:xfrm rot="0">
            <a:off x="1385161" y="2326043"/>
            <a:ext cx="7758839" cy="1017270"/>
          </a:xfrm>
          <a:prstGeom prst="rect">
            <a:avLst/>
          </a:prstGeom>
        </p:spPr>
        <p:txBody>
          <a:bodyPr anchor="t" rtlCol="false" tIns="0" lIns="0" bIns="0" rIns="0">
            <a:spAutoFit/>
          </a:bodyPr>
          <a:lstStyle/>
          <a:p>
            <a:pPr algn="l">
              <a:lnSpc>
                <a:spcPts val="8325"/>
              </a:lnSpc>
            </a:pPr>
            <a:r>
              <a:rPr lang="en-US" b="true" sz="5550" spc="444">
                <a:solidFill>
                  <a:srgbClr val="050A30"/>
                </a:solidFill>
                <a:latin typeface="HK Grotesk Bold"/>
                <a:ea typeface="HK Grotesk Bold"/>
                <a:cs typeface="HK Grotesk Bold"/>
                <a:sym typeface="HK Grotesk Bold"/>
              </a:rPr>
              <a:t>LISTAS</a:t>
            </a:r>
          </a:p>
        </p:txBody>
      </p:sp>
      <p:sp>
        <p:nvSpPr>
          <p:cNvPr name="TextBox 8" id="8"/>
          <p:cNvSpPr txBox="true"/>
          <p:nvPr/>
        </p:nvSpPr>
        <p:spPr>
          <a:xfrm rot="0">
            <a:off x="1385161" y="3837801"/>
            <a:ext cx="7555756" cy="2588895"/>
          </a:xfrm>
          <a:prstGeom prst="rect">
            <a:avLst/>
          </a:prstGeom>
        </p:spPr>
        <p:txBody>
          <a:bodyPr anchor="t" rtlCol="false" tIns="0" lIns="0" bIns="0" rIns="0">
            <a:spAutoFit/>
          </a:bodyPr>
          <a:lstStyle/>
          <a:p>
            <a:pPr algn="just">
              <a:lnSpc>
                <a:spcPts val="4199"/>
              </a:lnSpc>
            </a:pPr>
            <a:r>
              <a:rPr lang="en-US" b="true" sz="2799">
                <a:solidFill>
                  <a:srgbClr val="050A30"/>
                </a:solidFill>
                <a:latin typeface="HK Grotesk Medium"/>
                <a:ea typeface="HK Grotesk Medium"/>
                <a:cs typeface="HK Grotesk Medium"/>
                <a:sym typeface="HK Grotesk Medium"/>
              </a:rPr>
              <a:t>Prolog también soporta listas, que son estructuras de datos comunes. Las listas se representan entre corchetes [] y pueden contener cualquier tipo de dato (átomos, números, variables, otros términos, etc.).</a:t>
            </a:r>
          </a:p>
        </p:txBody>
      </p:sp>
      <p:sp>
        <p:nvSpPr>
          <p:cNvPr name="TextBox 9" id="9"/>
          <p:cNvSpPr txBox="true"/>
          <p:nvPr/>
        </p:nvSpPr>
        <p:spPr>
          <a:xfrm rot="0">
            <a:off x="1028700"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
        <p:nvSpPr>
          <p:cNvPr name="TextBox 10" id="10"/>
          <p:cNvSpPr txBox="true"/>
          <p:nvPr/>
        </p:nvSpPr>
        <p:spPr>
          <a:xfrm rot="0">
            <a:off x="10683676" y="3270742"/>
            <a:ext cx="5045833" cy="2924461"/>
          </a:xfrm>
          <a:prstGeom prst="rect">
            <a:avLst/>
          </a:prstGeom>
        </p:spPr>
        <p:txBody>
          <a:bodyPr anchor="t" rtlCol="false" tIns="0" lIns="0" bIns="0" rIns="0">
            <a:spAutoFit/>
          </a:bodyPr>
          <a:lstStyle/>
          <a:p>
            <a:pPr algn="just" marL="679949" indent="-339974" lvl="1">
              <a:lnSpc>
                <a:spcPts val="4724"/>
              </a:lnSpc>
              <a:buFont typeface="Arial"/>
              <a:buChar char="•"/>
            </a:pPr>
            <a:r>
              <a:rPr lang="en-US" sz="3149">
                <a:solidFill>
                  <a:srgbClr val="050A30"/>
                </a:solidFill>
                <a:latin typeface="HK Grotesk"/>
                <a:ea typeface="HK Grotesk"/>
                <a:cs typeface="HK Grotesk"/>
                <a:sym typeface="HK Grotesk"/>
              </a:rPr>
              <a:t>lista([1, 2, 3]). </a:t>
            </a:r>
          </a:p>
          <a:p>
            <a:pPr algn="just">
              <a:lnSpc>
                <a:spcPts val="4724"/>
              </a:lnSpc>
            </a:pPr>
          </a:p>
          <a:p>
            <a:pPr algn="just" marL="679949" indent="-339974" lvl="1">
              <a:lnSpc>
                <a:spcPts val="4724"/>
              </a:lnSpc>
              <a:buFont typeface="Arial"/>
              <a:buChar char="•"/>
            </a:pPr>
            <a:r>
              <a:rPr lang="en-US" sz="3149">
                <a:solidFill>
                  <a:srgbClr val="050A30"/>
                </a:solidFill>
                <a:latin typeface="HK Grotesk"/>
                <a:ea typeface="HK Grotesk"/>
                <a:cs typeface="HK Grotesk"/>
                <a:sym typeface="HK Grotesk"/>
              </a:rPr>
              <a:t>lista([juan, maria, jose]).</a:t>
            </a:r>
          </a:p>
          <a:p>
            <a:pPr algn="just">
              <a:lnSpc>
                <a:spcPts val="4724"/>
              </a:lnSpc>
            </a:pPr>
          </a:p>
          <a:p>
            <a:pPr algn="just" marL="679949" indent="-339974" lvl="1">
              <a:lnSpc>
                <a:spcPts val="4724"/>
              </a:lnSpc>
              <a:buFont typeface="Arial"/>
              <a:buChar char="•"/>
            </a:pPr>
            <a:r>
              <a:rPr lang="en-US" sz="3149">
                <a:solidFill>
                  <a:srgbClr val="050A30"/>
                </a:solidFill>
                <a:latin typeface="HK Grotesk"/>
                <a:ea typeface="HK Grotesk"/>
                <a:cs typeface="HK Grotesk"/>
                <a:sym typeface="HK Grotesk"/>
              </a:rPr>
              <a:t>lista([lista2[x1, x2], y1])</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1477486" y="2155356"/>
            <a:ext cx="15333028" cy="1285875"/>
          </a:xfrm>
          <a:prstGeom prst="rect">
            <a:avLst/>
          </a:prstGeom>
        </p:spPr>
        <p:txBody>
          <a:bodyPr anchor="t" rtlCol="false" tIns="0" lIns="0" bIns="0" rIns="0">
            <a:spAutoFit/>
          </a:bodyPr>
          <a:lstStyle/>
          <a:p>
            <a:pPr algn="ctr">
              <a:lnSpc>
                <a:spcPts val="10158"/>
              </a:lnSpc>
            </a:pPr>
            <a:r>
              <a:rPr lang="en-US" b="true" sz="8465">
                <a:solidFill>
                  <a:srgbClr val="F4F6FC"/>
                </a:solidFill>
                <a:latin typeface="HK Grotesk Bold"/>
                <a:ea typeface="HK Grotesk Bold"/>
                <a:cs typeface="HK Grotesk Bold"/>
                <a:sym typeface="HK Grotesk Bold"/>
              </a:rPr>
              <a:t>Reglas, Hechos y Consultas</a:t>
            </a:r>
          </a:p>
        </p:txBody>
      </p:sp>
      <p:grpSp>
        <p:nvGrpSpPr>
          <p:cNvPr name="Group 4" id="4"/>
          <p:cNvGrpSpPr/>
          <p:nvPr/>
        </p:nvGrpSpPr>
        <p:grpSpPr>
          <a:xfrm rot="-5400000">
            <a:off x="6186162" y="2511196"/>
            <a:ext cx="6818207" cy="20947169"/>
            <a:chOff x="0" y="0"/>
            <a:chExt cx="1795742" cy="5516950"/>
          </a:xfrm>
        </p:grpSpPr>
        <p:sp>
          <p:nvSpPr>
            <p:cNvPr name="Freeform 5" id="5"/>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F4F6FC"/>
            </a:solidFill>
          </p:spPr>
        </p:sp>
        <p:sp>
          <p:nvSpPr>
            <p:cNvPr name="TextBox 6" id="6"/>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7" id="7"/>
          <p:cNvGrpSpPr/>
          <p:nvPr/>
        </p:nvGrpSpPr>
        <p:grpSpPr>
          <a:xfrm rot="-5400000">
            <a:off x="3997069" y="-11005002"/>
            <a:ext cx="2045233" cy="20947169"/>
            <a:chOff x="0" y="0"/>
            <a:chExt cx="538662" cy="5516950"/>
          </a:xfrm>
        </p:grpSpPr>
        <p:sp>
          <p:nvSpPr>
            <p:cNvPr name="Freeform 8" id="8"/>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F4F6FC"/>
            </a:solidFill>
          </p:spPr>
        </p:sp>
        <p:sp>
          <p:nvSpPr>
            <p:cNvPr name="TextBox 9" id="9"/>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10" id="10"/>
          <p:cNvGrpSpPr/>
          <p:nvPr/>
        </p:nvGrpSpPr>
        <p:grpSpPr>
          <a:xfrm rot="2700000">
            <a:off x="13734331" y="93713"/>
            <a:ext cx="4685776" cy="1567256"/>
            <a:chOff x="0" y="0"/>
            <a:chExt cx="1234114" cy="412775"/>
          </a:xfrm>
        </p:grpSpPr>
        <p:sp>
          <p:nvSpPr>
            <p:cNvPr name="Freeform 11" id="11"/>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050A30"/>
            </a:solidFill>
          </p:spPr>
        </p:sp>
        <p:sp>
          <p:nvSpPr>
            <p:cNvPr name="TextBox 12" id="12"/>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3" id="13"/>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grpSp>
        <p:nvGrpSpPr>
          <p:cNvPr name="Group 14" id="14"/>
          <p:cNvGrpSpPr/>
          <p:nvPr/>
        </p:nvGrpSpPr>
        <p:grpSpPr>
          <a:xfrm rot="0">
            <a:off x="2437946" y="4887147"/>
            <a:ext cx="13412107" cy="2145101"/>
            <a:chOff x="0" y="0"/>
            <a:chExt cx="4995833" cy="799022"/>
          </a:xfrm>
        </p:grpSpPr>
        <p:sp>
          <p:nvSpPr>
            <p:cNvPr name="Freeform 15" id="15"/>
            <p:cNvSpPr/>
            <p:nvPr/>
          </p:nvSpPr>
          <p:spPr>
            <a:xfrm flipH="false" flipV="false" rot="0">
              <a:off x="0" y="0"/>
              <a:ext cx="4995833" cy="799022"/>
            </a:xfrm>
            <a:custGeom>
              <a:avLst/>
              <a:gdLst/>
              <a:ahLst/>
              <a:cxnLst/>
              <a:rect r="r" b="b" t="t" l="l"/>
              <a:pathLst>
                <a:path h="799022" w="4995833">
                  <a:moveTo>
                    <a:pt x="0" y="0"/>
                  </a:moveTo>
                  <a:lnTo>
                    <a:pt x="4995833" y="0"/>
                  </a:lnTo>
                  <a:lnTo>
                    <a:pt x="4995833" y="799022"/>
                  </a:lnTo>
                  <a:lnTo>
                    <a:pt x="0" y="799022"/>
                  </a:lnTo>
                  <a:close/>
                </a:path>
              </a:pathLst>
            </a:custGeom>
            <a:solidFill>
              <a:srgbClr val="000000">
                <a:alpha val="0"/>
              </a:srgbClr>
            </a:solidFill>
            <a:ln w="66675" cap="sq">
              <a:solidFill>
                <a:srgbClr val="9753A8"/>
              </a:solidFill>
              <a:prstDash val="solid"/>
              <a:miter/>
            </a:ln>
          </p:spPr>
        </p:sp>
        <p:sp>
          <p:nvSpPr>
            <p:cNvPr name="TextBox 16" id="16"/>
            <p:cNvSpPr txBox="true"/>
            <p:nvPr/>
          </p:nvSpPr>
          <p:spPr>
            <a:xfrm>
              <a:off x="0" y="0"/>
              <a:ext cx="4995833" cy="799022"/>
            </a:xfrm>
            <a:prstGeom prst="rect">
              <a:avLst/>
            </a:prstGeom>
          </p:spPr>
          <p:txBody>
            <a:bodyPr anchor="ctr" rtlCol="false" tIns="48876" lIns="48876" bIns="48876" rIns="48876"/>
            <a:lstStyle/>
            <a:p>
              <a:pPr algn="ctr">
                <a:lnSpc>
                  <a:spcPts val="1813"/>
                </a:lnSpc>
              </a:pPr>
            </a:p>
          </p:txBody>
        </p:sp>
      </p:grpSp>
      <p:sp>
        <p:nvSpPr>
          <p:cNvPr name="TextBox 17" id="17"/>
          <p:cNvSpPr txBox="true"/>
          <p:nvPr/>
        </p:nvSpPr>
        <p:spPr>
          <a:xfrm rot="0">
            <a:off x="2842693" y="5386153"/>
            <a:ext cx="12650577" cy="1038226"/>
          </a:xfrm>
          <a:prstGeom prst="rect">
            <a:avLst/>
          </a:prstGeom>
        </p:spPr>
        <p:txBody>
          <a:bodyPr anchor="t" rtlCol="false" tIns="0" lIns="0" bIns="0" rIns="0">
            <a:spAutoFit/>
          </a:bodyPr>
          <a:lstStyle/>
          <a:p>
            <a:pPr algn="just">
              <a:lnSpc>
                <a:spcPts val="4199"/>
              </a:lnSpc>
              <a:spcBef>
                <a:spcPct val="0"/>
              </a:spcBef>
            </a:pPr>
            <a:r>
              <a:rPr lang="en-US" b="true" sz="2999">
                <a:solidFill>
                  <a:srgbClr val="F4F6FC"/>
                </a:solidFill>
                <a:latin typeface="HK Grotesk Medium"/>
                <a:ea typeface="HK Grotesk Medium"/>
                <a:cs typeface="HK Grotesk Medium"/>
                <a:sym typeface="HK Grotesk Medium"/>
              </a:rPr>
              <a:t>Prolog se basa en hechos, reglas y consultas para representar y razonar sobre el conocimiento.</a:t>
            </a:r>
          </a:p>
        </p:txBody>
      </p:sp>
      <p:sp>
        <p:nvSpPr>
          <p:cNvPr name="TextBox 18" id="18"/>
          <p:cNvSpPr txBox="true"/>
          <p:nvPr/>
        </p:nvSpPr>
        <p:spPr>
          <a:xfrm rot="0">
            <a:off x="12502616"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F4F6FC"/>
                </a:solidFill>
                <a:latin typeface="HK Grotesk Medium"/>
                <a:ea typeface="HK Grotesk Medium"/>
                <a:cs typeface="HK Grotesk Medium"/>
                <a:sym typeface="HK Grotesk Medium"/>
              </a:rPr>
              <a:t>Elaborado por: Robin Omar Buezo Díaz</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9144000" y="1085850"/>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111170" y="2061195"/>
            <a:ext cx="6521138" cy="6565177"/>
            <a:chOff x="0" y="0"/>
            <a:chExt cx="1717501" cy="1729100"/>
          </a:xfrm>
        </p:grpSpPr>
        <p:sp>
          <p:nvSpPr>
            <p:cNvPr name="Freeform 5" id="5"/>
            <p:cNvSpPr/>
            <p:nvPr/>
          </p:nvSpPr>
          <p:spPr>
            <a:xfrm flipH="false" flipV="false" rot="0">
              <a:off x="0" y="0"/>
              <a:ext cx="1717501" cy="1729100"/>
            </a:xfrm>
            <a:custGeom>
              <a:avLst/>
              <a:gdLst/>
              <a:ahLst/>
              <a:cxnLst/>
              <a:rect r="r" b="b" t="t" l="l"/>
              <a:pathLst>
                <a:path h="1729100" w="1717501">
                  <a:moveTo>
                    <a:pt x="0" y="0"/>
                  </a:moveTo>
                  <a:lnTo>
                    <a:pt x="1717501" y="0"/>
                  </a:lnTo>
                  <a:lnTo>
                    <a:pt x="1717501" y="1729100"/>
                  </a:lnTo>
                  <a:lnTo>
                    <a:pt x="0" y="1729100"/>
                  </a:lnTo>
                  <a:close/>
                </a:path>
              </a:pathLst>
            </a:custGeom>
            <a:solidFill>
              <a:srgbClr val="FFFFFF"/>
            </a:solidFill>
          </p:spPr>
        </p:sp>
        <p:sp>
          <p:nvSpPr>
            <p:cNvPr name="TextBox 6" id="6"/>
            <p:cNvSpPr txBox="true"/>
            <p:nvPr/>
          </p:nvSpPr>
          <p:spPr>
            <a:xfrm>
              <a:off x="0" y="-47625"/>
              <a:ext cx="1717501" cy="1776725"/>
            </a:xfrm>
            <a:prstGeom prst="rect">
              <a:avLst/>
            </a:prstGeom>
          </p:spPr>
          <p:txBody>
            <a:bodyPr anchor="ctr" rtlCol="false" tIns="50800" lIns="50800" bIns="50800" rIns="50800"/>
            <a:lstStyle/>
            <a:p>
              <a:pPr algn="ctr">
                <a:lnSpc>
                  <a:spcPts val="2800"/>
                </a:lnSpc>
              </a:pPr>
            </a:p>
          </p:txBody>
        </p:sp>
      </p:grpSp>
      <p:sp>
        <p:nvSpPr>
          <p:cNvPr name="TextBox 7" id="7"/>
          <p:cNvSpPr txBox="true"/>
          <p:nvPr/>
        </p:nvSpPr>
        <p:spPr>
          <a:xfrm rot="0">
            <a:off x="1385161" y="3018386"/>
            <a:ext cx="7758839" cy="1017270"/>
          </a:xfrm>
          <a:prstGeom prst="rect">
            <a:avLst/>
          </a:prstGeom>
        </p:spPr>
        <p:txBody>
          <a:bodyPr anchor="t" rtlCol="false" tIns="0" lIns="0" bIns="0" rIns="0">
            <a:spAutoFit/>
          </a:bodyPr>
          <a:lstStyle/>
          <a:p>
            <a:pPr algn="l">
              <a:lnSpc>
                <a:spcPts val="8325"/>
              </a:lnSpc>
            </a:pPr>
            <a:r>
              <a:rPr lang="en-US" b="true" sz="5550" spc="444">
                <a:solidFill>
                  <a:srgbClr val="050A30"/>
                </a:solidFill>
                <a:latin typeface="HK Grotesk Bold"/>
                <a:ea typeface="HK Grotesk Bold"/>
                <a:cs typeface="HK Grotesk Bold"/>
                <a:sym typeface="HK Grotesk Bold"/>
              </a:rPr>
              <a:t>HECHOS</a:t>
            </a:r>
          </a:p>
        </p:txBody>
      </p:sp>
      <p:sp>
        <p:nvSpPr>
          <p:cNvPr name="TextBox 8" id="8"/>
          <p:cNvSpPr txBox="true"/>
          <p:nvPr/>
        </p:nvSpPr>
        <p:spPr>
          <a:xfrm rot="0">
            <a:off x="1385161" y="4418144"/>
            <a:ext cx="7555756" cy="2065020"/>
          </a:xfrm>
          <a:prstGeom prst="rect">
            <a:avLst/>
          </a:prstGeom>
        </p:spPr>
        <p:txBody>
          <a:bodyPr anchor="t" rtlCol="false" tIns="0" lIns="0" bIns="0" rIns="0">
            <a:spAutoFit/>
          </a:bodyPr>
          <a:lstStyle/>
          <a:p>
            <a:pPr algn="just">
              <a:lnSpc>
                <a:spcPts val="4199"/>
              </a:lnSpc>
            </a:pPr>
            <a:r>
              <a:rPr lang="en-US" b="true" sz="2799">
                <a:solidFill>
                  <a:srgbClr val="050A30"/>
                </a:solidFill>
                <a:latin typeface="HK Grotesk Medium"/>
                <a:ea typeface="HK Grotesk Medium"/>
                <a:cs typeface="HK Grotesk Medium"/>
                <a:sym typeface="HK Grotesk Medium"/>
              </a:rPr>
              <a:t>Los hechos son declaraciones simples sobre el mundo, que se asumen como ciertos en el contexto del programa. No requieren condiciones adicionales.</a:t>
            </a:r>
          </a:p>
        </p:txBody>
      </p:sp>
      <p:sp>
        <p:nvSpPr>
          <p:cNvPr name="TextBox 9" id="9"/>
          <p:cNvSpPr txBox="true"/>
          <p:nvPr/>
        </p:nvSpPr>
        <p:spPr>
          <a:xfrm rot="0">
            <a:off x="1028700"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
        <p:nvSpPr>
          <p:cNvPr name="TextBox 10" id="10"/>
          <p:cNvSpPr txBox="true"/>
          <p:nvPr/>
        </p:nvSpPr>
        <p:spPr>
          <a:xfrm rot="0">
            <a:off x="10678733" y="2288771"/>
            <a:ext cx="5045833" cy="2695575"/>
          </a:xfrm>
          <a:prstGeom prst="rect">
            <a:avLst/>
          </a:prstGeom>
        </p:spPr>
        <p:txBody>
          <a:bodyPr anchor="t" rtlCol="false" tIns="0" lIns="0" bIns="0" rIns="0">
            <a:spAutoFit/>
          </a:bodyPr>
          <a:lstStyle/>
          <a:p>
            <a:pPr algn="just" marL="647700" indent="-323850" lvl="1">
              <a:lnSpc>
                <a:spcPts val="3000"/>
              </a:lnSpc>
              <a:buFont typeface="Arial"/>
              <a:buChar char="•"/>
            </a:pPr>
            <a:r>
              <a:rPr lang="en-US" sz="3000">
                <a:solidFill>
                  <a:srgbClr val="050A30"/>
                </a:solidFill>
                <a:latin typeface="HK Grotesk"/>
                <a:ea typeface="HK Grotesk"/>
                <a:cs typeface="HK Grotesk"/>
                <a:sym typeface="HK Grotesk"/>
              </a:rPr>
              <a:t>Juan es el padre de María</a:t>
            </a:r>
          </a:p>
          <a:p>
            <a:pPr algn="just">
              <a:lnSpc>
                <a:spcPts val="3000"/>
              </a:lnSpc>
            </a:pPr>
          </a:p>
          <a:p>
            <a:pPr algn="just" marL="647700" indent="-323850" lvl="1">
              <a:lnSpc>
                <a:spcPts val="3000"/>
              </a:lnSpc>
              <a:buFont typeface="Arial"/>
              <a:buChar char="•"/>
            </a:pPr>
            <a:r>
              <a:rPr lang="en-US" sz="3000">
                <a:solidFill>
                  <a:srgbClr val="050A30"/>
                </a:solidFill>
                <a:latin typeface="HK Grotesk"/>
                <a:ea typeface="HK Grotesk"/>
                <a:cs typeface="HK Grotesk"/>
                <a:sym typeface="HK Grotesk"/>
              </a:rPr>
              <a:t>Juan es el padre de José</a:t>
            </a:r>
          </a:p>
          <a:p>
            <a:pPr algn="just">
              <a:lnSpc>
                <a:spcPts val="3000"/>
              </a:lnSpc>
            </a:pPr>
          </a:p>
          <a:p>
            <a:pPr algn="just" marL="647700" indent="-323850" lvl="1">
              <a:lnSpc>
                <a:spcPts val="3000"/>
              </a:lnSpc>
              <a:buFont typeface="Arial"/>
              <a:buChar char="•"/>
            </a:pPr>
            <a:r>
              <a:rPr lang="en-US" sz="3000">
                <a:solidFill>
                  <a:srgbClr val="050A30"/>
                </a:solidFill>
                <a:latin typeface="HK Grotesk"/>
                <a:ea typeface="HK Grotesk"/>
                <a:cs typeface="HK Grotesk"/>
                <a:sym typeface="HK Grotesk"/>
              </a:rPr>
              <a:t>Ana es la madre de María</a:t>
            </a:r>
          </a:p>
          <a:p>
            <a:pPr algn="just">
              <a:lnSpc>
                <a:spcPts val="3000"/>
              </a:lnSpc>
            </a:pPr>
          </a:p>
          <a:p>
            <a:pPr algn="just" marL="647700" indent="-323850" lvl="1">
              <a:lnSpc>
                <a:spcPts val="3000"/>
              </a:lnSpc>
              <a:buFont typeface="Arial"/>
              <a:buChar char="•"/>
            </a:pPr>
            <a:r>
              <a:rPr lang="en-US" sz="3000">
                <a:solidFill>
                  <a:srgbClr val="050A30"/>
                </a:solidFill>
                <a:latin typeface="HK Grotesk"/>
                <a:ea typeface="HK Grotesk"/>
                <a:cs typeface="HK Grotesk"/>
                <a:sym typeface="HK Grotesk"/>
              </a:rPr>
              <a:t>Ana es la madre de José</a:t>
            </a:r>
          </a:p>
        </p:txBody>
      </p:sp>
      <p:sp>
        <p:nvSpPr>
          <p:cNvPr name="TextBox 11" id="11"/>
          <p:cNvSpPr txBox="true"/>
          <p:nvPr/>
        </p:nvSpPr>
        <p:spPr>
          <a:xfrm rot="0">
            <a:off x="10678733" y="5536379"/>
            <a:ext cx="5045833" cy="3076575"/>
          </a:xfrm>
          <a:prstGeom prst="rect">
            <a:avLst/>
          </a:prstGeom>
        </p:spPr>
        <p:txBody>
          <a:bodyPr anchor="t" rtlCol="false" tIns="0" lIns="0" bIns="0" rIns="0">
            <a:spAutoFit/>
          </a:bodyPr>
          <a:lstStyle/>
          <a:p>
            <a:pPr algn="just" marL="647700" indent="-323850" lvl="1">
              <a:lnSpc>
                <a:spcPts val="3000"/>
              </a:lnSpc>
              <a:buFont typeface="Arial"/>
              <a:buChar char="•"/>
            </a:pPr>
            <a:r>
              <a:rPr lang="en-US" sz="3000">
                <a:solidFill>
                  <a:srgbClr val="12229D"/>
                </a:solidFill>
                <a:latin typeface="HK Grotesk"/>
                <a:ea typeface="HK Grotesk"/>
                <a:cs typeface="HK Grotesk"/>
                <a:sym typeface="HK Grotesk"/>
              </a:rPr>
              <a:t>padre(juan, maria).</a:t>
            </a:r>
          </a:p>
          <a:p>
            <a:pPr algn="just">
              <a:lnSpc>
                <a:spcPts val="3000"/>
              </a:lnSpc>
            </a:pPr>
          </a:p>
          <a:p>
            <a:pPr algn="just" marL="647700" indent="-323850" lvl="1">
              <a:lnSpc>
                <a:spcPts val="3000"/>
              </a:lnSpc>
              <a:buFont typeface="Arial"/>
              <a:buChar char="•"/>
            </a:pPr>
            <a:r>
              <a:rPr lang="en-US" sz="3000">
                <a:solidFill>
                  <a:srgbClr val="12229D"/>
                </a:solidFill>
                <a:latin typeface="HK Grotesk"/>
                <a:ea typeface="HK Grotesk"/>
                <a:cs typeface="HK Grotesk"/>
                <a:sym typeface="HK Grotesk"/>
              </a:rPr>
              <a:t>padre(juan, jose).</a:t>
            </a:r>
          </a:p>
          <a:p>
            <a:pPr algn="just">
              <a:lnSpc>
                <a:spcPts val="3000"/>
              </a:lnSpc>
            </a:pPr>
          </a:p>
          <a:p>
            <a:pPr algn="just" marL="647700" indent="-323850" lvl="1">
              <a:lnSpc>
                <a:spcPts val="3000"/>
              </a:lnSpc>
              <a:buFont typeface="Arial"/>
              <a:buChar char="•"/>
            </a:pPr>
            <a:r>
              <a:rPr lang="en-US" sz="3000">
                <a:solidFill>
                  <a:srgbClr val="12229D"/>
                </a:solidFill>
                <a:latin typeface="HK Grotesk"/>
                <a:ea typeface="HK Grotesk"/>
                <a:cs typeface="HK Grotesk"/>
                <a:sym typeface="HK Grotesk"/>
              </a:rPr>
              <a:t>madre(ana, maria).</a:t>
            </a:r>
          </a:p>
          <a:p>
            <a:pPr algn="just">
              <a:lnSpc>
                <a:spcPts val="3000"/>
              </a:lnSpc>
            </a:pPr>
          </a:p>
          <a:p>
            <a:pPr algn="just" marL="647700" indent="-323850" lvl="1">
              <a:lnSpc>
                <a:spcPts val="3000"/>
              </a:lnSpc>
              <a:buFont typeface="Arial"/>
              <a:buChar char="•"/>
            </a:pPr>
            <a:r>
              <a:rPr lang="en-US" sz="3000">
                <a:solidFill>
                  <a:srgbClr val="12229D"/>
                </a:solidFill>
                <a:latin typeface="HK Grotesk"/>
                <a:ea typeface="HK Grotesk"/>
                <a:cs typeface="HK Grotesk"/>
                <a:sym typeface="HK Grotesk"/>
              </a:rPr>
              <a:t>madre(ana, jose).</a:t>
            </a:r>
          </a:p>
          <a:p>
            <a:pPr algn="just">
              <a:lnSpc>
                <a:spcPts val="3000"/>
              </a:lnSpc>
            </a:pPr>
          </a:p>
        </p:txBody>
      </p:sp>
      <p:sp>
        <p:nvSpPr>
          <p:cNvPr name="AutoShape 12" id="12"/>
          <p:cNvSpPr/>
          <p:nvPr/>
        </p:nvSpPr>
        <p:spPr>
          <a:xfrm>
            <a:off x="10787688" y="5200650"/>
            <a:ext cx="5149052" cy="19050"/>
          </a:xfrm>
          <a:prstGeom prst="line">
            <a:avLst/>
          </a:prstGeom>
          <a:ln cap="flat" w="38100">
            <a:solidFill>
              <a:srgbClr val="000000">
                <a:alpha val="38824"/>
              </a:srgbClr>
            </a:solidFill>
            <a:prstDash val="solid"/>
            <a:headEnd type="none" len="sm" w="sm"/>
            <a:tailEnd type="none" len="sm" w="sm"/>
          </a:ln>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9144000" y="1085850"/>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111170" y="2061195"/>
            <a:ext cx="6521138" cy="6565177"/>
            <a:chOff x="0" y="0"/>
            <a:chExt cx="1717501" cy="1729100"/>
          </a:xfrm>
        </p:grpSpPr>
        <p:sp>
          <p:nvSpPr>
            <p:cNvPr name="Freeform 5" id="5"/>
            <p:cNvSpPr/>
            <p:nvPr/>
          </p:nvSpPr>
          <p:spPr>
            <a:xfrm flipH="false" flipV="false" rot="0">
              <a:off x="0" y="0"/>
              <a:ext cx="1717501" cy="1729100"/>
            </a:xfrm>
            <a:custGeom>
              <a:avLst/>
              <a:gdLst/>
              <a:ahLst/>
              <a:cxnLst/>
              <a:rect r="r" b="b" t="t" l="l"/>
              <a:pathLst>
                <a:path h="1729100" w="1717501">
                  <a:moveTo>
                    <a:pt x="0" y="0"/>
                  </a:moveTo>
                  <a:lnTo>
                    <a:pt x="1717501" y="0"/>
                  </a:lnTo>
                  <a:lnTo>
                    <a:pt x="1717501" y="1729100"/>
                  </a:lnTo>
                  <a:lnTo>
                    <a:pt x="0" y="1729100"/>
                  </a:lnTo>
                  <a:close/>
                </a:path>
              </a:pathLst>
            </a:custGeom>
            <a:solidFill>
              <a:srgbClr val="FFFFFF"/>
            </a:solidFill>
          </p:spPr>
        </p:sp>
        <p:sp>
          <p:nvSpPr>
            <p:cNvPr name="TextBox 6" id="6"/>
            <p:cNvSpPr txBox="true"/>
            <p:nvPr/>
          </p:nvSpPr>
          <p:spPr>
            <a:xfrm>
              <a:off x="0" y="-47625"/>
              <a:ext cx="1717501" cy="1776725"/>
            </a:xfrm>
            <a:prstGeom prst="rect">
              <a:avLst/>
            </a:prstGeom>
          </p:spPr>
          <p:txBody>
            <a:bodyPr anchor="ctr" rtlCol="false" tIns="50800" lIns="50800" bIns="50800" rIns="50800"/>
            <a:lstStyle/>
            <a:p>
              <a:pPr algn="ctr">
                <a:lnSpc>
                  <a:spcPts val="2800"/>
                </a:lnSpc>
              </a:pPr>
            </a:p>
          </p:txBody>
        </p:sp>
      </p:grpSp>
      <p:sp>
        <p:nvSpPr>
          <p:cNvPr name="TextBox 7" id="7"/>
          <p:cNvSpPr txBox="true"/>
          <p:nvPr/>
        </p:nvSpPr>
        <p:spPr>
          <a:xfrm rot="0">
            <a:off x="1385161" y="3018386"/>
            <a:ext cx="7758839" cy="1017270"/>
          </a:xfrm>
          <a:prstGeom prst="rect">
            <a:avLst/>
          </a:prstGeom>
        </p:spPr>
        <p:txBody>
          <a:bodyPr anchor="t" rtlCol="false" tIns="0" lIns="0" bIns="0" rIns="0">
            <a:spAutoFit/>
          </a:bodyPr>
          <a:lstStyle/>
          <a:p>
            <a:pPr algn="l">
              <a:lnSpc>
                <a:spcPts val="8325"/>
              </a:lnSpc>
            </a:pPr>
            <a:r>
              <a:rPr lang="en-US" b="true" sz="5550" spc="444">
                <a:solidFill>
                  <a:srgbClr val="050A30"/>
                </a:solidFill>
                <a:latin typeface="HK Grotesk Bold"/>
                <a:ea typeface="HK Grotesk Bold"/>
                <a:cs typeface="HK Grotesk Bold"/>
                <a:sym typeface="HK Grotesk Bold"/>
              </a:rPr>
              <a:t>REGLAS</a:t>
            </a:r>
          </a:p>
        </p:txBody>
      </p:sp>
      <p:sp>
        <p:nvSpPr>
          <p:cNvPr name="TextBox 8" id="8"/>
          <p:cNvSpPr txBox="true"/>
          <p:nvPr/>
        </p:nvSpPr>
        <p:spPr>
          <a:xfrm rot="0">
            <a:off x="1385161" y="4418144"/>
            <a:ext cx="7555756" cy="3636645"/>
          </a:xfrm>
          <a:prstGeom prst="rect">
            <a:avLst/>
          </a:prstGeom>
        </p:spPr>
        <p:txBody>
          <a:bodyPr anchor="t" rtlCol="false" tIns="0" lIns="0" bIns="0" rIns="0">
            <a:spAutoFit/>
          </a:bodyPr>
          <a:lstStyle/>
          <a:p>
            <a:pPr algn="just">
              <a:lnSpc>
                <a:spcPts val="4199"/>
              </a:lnSpc>
            </a:pPr>
            <a:r>
              <a:rPr lang="en-US" b="true" sz="2799">
                <a:solidFill>
                  <a:srgbClr val="050A30"/>
                </a:solidFill>
                <a:latin typeface="HK Grotesk Medium"/>
                <a:ea typeface="HK Grotesk Medium"/>
                <a:cs typeface="HK Grotesk Medium"/>
                <a:sym typeface="HK Grotesk Medium"/>
              </a:rPr>
              <a:t>Las reglas son relaciones lógicas que se derivan de otros hechos. Las reglas permiten hacer inferencias, ya que definen condiciones bajo las cuales algo es cierto. Una regla tiene una cabeza (lo que queremos inferir) y un cuerpo (las condiciones que deben cumplirse para que la cabeza sea cierta).</a:t>
            </a:r>
          </a:p>
        </p:txBody>
      </p:sp>
      <p:sp>
        <p:nvSpPr>
          <p:cNvPr name="TextBox 9" id="9"/>
          <p:cNvSpPr txBox="true"/>
          <p:nvPr/>
        </p:nvSpPr>
        <p:spPr>
          <a:xfrm rot="0">
            <a:off x="1028700"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
        <p:nvSpPr>
          <p:cNvPr name="TextBox 10" id="10"/>
          <p:cNvSpPr txBox="true"/>
          <p:nvPr/>
        </p:nvSpPr>
        <p:spPr>
          <a:xfrm rot="0">
            <a:off x="10848822" y="2971800"/>
            <a:ext cx="5045833" cy="1171575"/>
          </a:xfrm>
          <a:prstGeom prst="rect">
            <a:avLst/>
          </a:prstGeom>
        </p:spPr>
        <p:txBody>
          <a:bodyPr anchor="t" rtlCol="false" tIns="0" lIns="0" bIns="0" rIns="0">
            <a:spAutoFit/>
          </a:bodyPr>
          <a:lstStyle/>
          <a:p>
            <a:pPr algn="just">
              <a:lnSpc>
                <a:spcPts val="3000"/>
              </a:lnSpc>
            </a:pPr>
            <a:r>
              <a:rPr lang="en-US" b="true" sz="3000">
                <a:solidFill>
                  <a:srgbClr val="050A30"/>
                </a:solidFill>
                <a:latin typeface="HK Grotesk Medium"/>
                <a:ea typeface="HK Grotesk Medium"/>
                <a:cs typeface="HK Grotesk Medium"/>
                <a:sym typeface="HK Grotesk Medium"/>
              </a:rPr>
              <a:t>X es hermano de Y, si P es padre de X y P es padre de Y y X no es igual a Y</a:t>
            </a:r>
          </a:p>
        </p:txBody>
      </p:sp>
      <p:sp>
        <p:nvSpPr>
          <p:cNvPr name="TextBox 11" id="11"/>
          <p:cNvSpPr txBox="true"/>
          <p:nvPr/>
        </p:nvSpPr>
        <p:spPr>
          <a:xfrm rot="0">
            <a:off x="10848822" y="6322192"/>
            <a:ext cx="5045833" cy="790575"/>
          </a:xfrm>
          <a:prstGeom prst="rect">
            <a:avLst/>
          </a:prstGeom>
        </p:spPr>
        <p:txBody>
          <a:bodyPr anchor="t" rtlCol="false" tIns="0" lIns="0" bIns="0" rIns="0">
            <a:spAutoFit/>
          </a:bodyPr>
          <a:lstStyle/>
          <a:p>
            <a:pPr algn="just">
              <a:lnSpc>
                <a:spcPts val="3000"/>
              </a:lnSpc>
            </a:pPr>
            <a:r>
              <a:rPr lang="en-US" sz="3000">
                <a:solidFill>
                  <a:srgbClr val="12229D"/>
                </a:solidFill>
                <a:latin typeface="HK Grotesk"/>
                <a:ea typeface="HK Grotesk"/>
                <a:cs typeface="HK Grotesk"/>
                <a:sym typeface="HK Grotesk"/>
              </a:rPr>
              <a:t>hermano(X, Y) :- padre(P, X), padre(P, Y), X \= Y.</a:t>
            </a:r>
          </a:p>
        </p:txBody>
      </p:sp>
      <p:sp>
        <p:nvSpPr>
          <p:cNvPr name="AutoShape 12" id="12"/>
          <p:cNvSpPr/>
          <p:nvPr/>
        </p:nvSpPr>
        <p:spPr>
          <a:xfrm>
            <a:off x="10787688" y="5200650"/>
            <a:ext cx="5149052" cy="19050"/>
          </a:xfrm>
          <a:prstGeom prst="line">
            <a:avLst/>
          </a:prstGeom>
          <a:ln cap="flat" w="38100">
            <a:solidFill>
              <a:srgbClr val="000000">
                <a:alpha val="38824"/>
              </a:srgbClr>
            </a:solidFill>
            <a:prstDash val="solid"/>
            <a:headEnd type="none" len="sm" w="sm"/>
            <a:tailEnd type="none" len="sm" w="sm"/>
          </a:ln>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false" rot="0">
            <a:off x="9144000" y="1085850"/>
            <a:ext cx="8115300" cy="8115300"/>
          </a:xfrm>
          <a:custGeom>
            <a:avLst/>
            <a:gdLst/>
            <a:ahLst/>
            <a:cxnLst/>
            <a:rect r="r" b="b" t="t" l="l"/>
            <a:pathLst>
              <a:path h="8115300" w="8115300">
                <a:moveTo>
                  <a:pt x="0" y="0"/>
                </a:moveTo>
                <a:lnTo>
                  <a:pt x="8115300" y="0"/>
                </a:lnTo>
                <a:lnTo>
                  <a:pt x="8115300" y="8115300"/>
                </a:lnTo>
                <a:lnTo>
                  <a:pt x="0" y="81153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111170" y="2061195"/>
            <a:ext cx="6521138" cy="6565177"/>
            <a:chOff x="0" y="0"/>
            <a:chExt cx="1717501" cy="1729100"/>
          </a:xfrm>
        </p:grpSpPr>
        <p:sp>
          <p:nvSpPr>
            <p:cNvPr name="Freeform 5" id="5"/>
            <p:cNvSpPr/>
            <p:nvPr/>
          </p:nvSpPr>
          <p:spPr>
            <a:xfrm flipH="false" flipV="false" rot="0">
              <a:off x="0" y="0"/>
              <a:ext cx="1717501" cy="1729100"/>
            </a:xfrm>
            <a:custGeom>
              <a:avLst/>
              <a:gdLst/>
              <a:ahLst/>
              <a:cxnLst/>
              <a:rect r="r" b="b" t="t" l="l"/>
              <a:pathLst>
                <a:path h="1729100" w="1717501">
                  <a:moveTo>
                    <a:pt x="0" y="0"/>
                  </a:moveTo>
                  <a:lnTo>
                    <a:pt x="1717501" y="0"/>
                  </a:lnTo>
                  <a:lnTo>
                    <a:pt x="1717501" y="1729100"/>
                  </a:lnTo>
                  <a:lnTo>
                    <a:pt x="0" y="1729100"/>
                  </a:lnTo>
                  <a:close/>
                </a:path>
              </a:pathLst>
            </a:custGeom>
            <a:solidFill>
              <a:srgbClr val="FFFFFF"/>
            </a:solidFill>
          </p:spPr>
        </p:sp>
        <p:sp>
          <p:nvSpPr>
            <p:cNvPr name="TextBox 6" id="6"/>
            <p:cNvSpPr txBox="true"/>
            <p:nvPr/>
          </p:nvSpPr>
          <p:spPr>
            <a:xfrm>
              <a:off x="0" y="-47625"/>
              <a:ext cx="1717501" cy="1776725"/>
            </a:xfrm>
            <a:prstGeom prst="rect">
              <a:avLst/>
            </a:prstGeom>
          </p:spPr>
          <p:txBody>
            <a:bodyPr anchor="ctr" rtlCol="false" tIns="50800" lIns="50800" bIns="50800" rIns="50800"/>
            <a:lstStyle/>
            <a:p>
              <a:pPr algn="ctr">
                <a:lnSpc>
                  <a:spcPts val="2800"/>
                </a:lnSpc>
              </a:pPr>
            </a:p>
          </p:txBody>
        </p:sp>
      </p:grpSp>
      <p:sp>
        <p:nvSpPr>
          <p:cNvPr name="TextBox 7" id="7"/>
          <p:cNvSpPr txBox="true"/>
          <p:nvPr/>
        </p:nvSpPr>
        <p:spPr>
          <a:xfrm rot="0">
            <a:off x="1385161" y="3018386"/>
            <a:ext cx="7758839" cy="1017270"/>
          </a:xfrm>
          <a:prstGeom prst="rect">
            <a:avLst/>
          </a:prstGeom>
        </p:spPr>
        <p:txBody>
          <a:bodyPr anchor="t" rtlCol="false" tIns="0" lIns="0" bIns="0" rIns="0">
            <a:spAutoFit/>
          </a:bodyPr>
          <a:lstStyle/>
          <a:p>
            <a:pPr algn="l">
              <a:lnSpc>
                <a:spcPts val="8325"/>
              </a:lnSpc>
            </a:pPr>
            <a:r>
              <a:rPr lang="en-US" b="true" sz="5550" spc="444">
                <a:solidFill>
                  <a:srgbClr val="050A30"/>
                </a:solidFill>
                <a:latin typeface="HK Grotesk Bold"/>
                <a:ea typeface="HK Grotesk Bold"/>
                <a:cs typeface="HK Grotesk Bold"/>
                <a:sym typeface="HK Grotesk Bold"/>
              </a:rPr>
              <a:t>CONSULTAS</a:t>
            </a:r>
          </a:p>
        </p:txBody>
      </p:sp>
      <p:sp>
        <p:nvSpPr>
          <p:cNvPr name="TextBox 8" id="8"/>
          <p:cNvSpPr txBox="true"/>
          <p:nvPr/>
        </p:nvSpPr>
        <p:spPr>
          <a:xfrm rot="0">
            <a:off x="1385161" y="4418144"/>
            <a:ext cx="7555756" cy="2065020"/>
          </a:xfrm>
          <a:prstGeom prst="rect">
            <a:avLst/>
          </a:prstGeom>
        </p:spPr>
        <p:txBody>
          <a:bodyPr anchor="t" rtlCol="false" tIns="0" lIns="0" bIns="0" rIns="0">
            <a:spAutoFit/>
          </a:bodyPr>
          <a:lstStyle/>
          <a:p>
            <a:pPr algn="just">
              <a:lnSpc>
                <a:spcPts val="4199"/>
              </a:lnSpc>
            </a:pPr>
            <a:r>
              <a:rPr lang="en-US" b="true" sz="2799">
                <a:solidFill>
                  <a:srgbClr val="050A30"/>
                </a:solidFill>
                <a:latin typeface="HK Grotesk Medium"/>
                <a:ea typeface="HK Grotesk Medium"/>
                <a:cs typeface="HK Grotesk Medium"/>
                <a:sym typeface="HK Grotesk Medium"/>
              </a:rPr>
              <a:t>Las consultas son preguntas que le hacemos al programa Prolog. Prolog intenta resolver esta consulta usando los hechos y las reglas que se han definido en el programa.</a:t>
            </a:r>
          </a:p>
        </p:txBody>
      </p:sp>
      <p:sp>
        <p:nvSpPr>
          <p:cNvPr name="TextBox 9" id="9"/>
          <p:cNvSpPr txBox="true"/>
          <p:nvPr/>
        </p:nvSpPr>
        <p:spPr>
          <a:xfrm rot="0">
            <a:off x="1028700"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
        <p:nvSpPr>
          <p:cNvPr name="TextBox 10" id="10"/>
          <p:cNvSpPr txBox="true"/>
          <p:nvPr/>
        </p:nvSpPr>
        <p:spPr>
          <a:xfrm rot="0">
            <a:off x="10848822" y="2971800"/>
            <a:ext cx="5045833" cy="409575"/>
          </a:xfrm>
          <a:prstGeom prst="rect">
            <a:avLst/>
          </a:prstGeom>
        </p:spPr>
        <p:txBody>
          <a:bodyPr anchor="t" rtlCol="false" tIns="0" lIns="0" bIns="0" rIns="0">
            <a:spAutoFit/>
          </a:bodyPr>
          <a:lstStyle/>
          <a:p>
            <a:pPr algn="just">
              <a:lnSpc>
                <a:spcPts val="3000"/>
              </a:lnSpc>
            </a:pPr>
            <a:r>
              <a:rPr lang="en-US" b="true" sz="3000">
                <a:solidFill>
                  <a:srgbClr val="050A30"/>
                </a:solidFill>
                <a:latin typeface="HK Grotesk Medium"/>
                <a:ea typeface="HK Grotesk Medium"/>
                <a:cs typeface="HK Grotesk Medium"/>
                <a:sym typeface="HK Grotesk Medium"/>
              </a:rPr>
              <a:t>¿Es María hermana de José?</a:t>
            </a:r>
          </a:p>
        </p:txBody>
      </p:sp>
      <p:sp>
        <p:nvSpPr>
          <p:cNvPr name="TextBox 11" id="11"/>
          <p:cNvSpPr txBox="true"/>
          <p:nvPr/>
        </p:nvSpPr>
        <p:spPr>
          <a:xfrm rot="0">
            <a:off x="10848822" y="6322192"/>
            <a:ext cx="5045833" cy="409575"/>
          </a:xfrm>
          <a:prstGeom prst="rect">
            <a:avLst/>
          </a:prstGeom>
        </p:spPr>
        <p:txBody>
          <a:bodyPr anchor="t" rtlCol="false" tIns="0" lIns="0" bIns="0" rIns="0">
            <a:spAutoFit/>
          </a:bodyPr>
          <a:lstStyle/>
          <a:p>
            <a:pPr algn="just">
              <a:lnSpc>
                <a:spcPts val="3000"/>
              </a:lnSpc>
            </a:pPr>
            <a:r>
              <a:rPr lang="en-US" sz="3000">
                <a:solidFill>
                  <a:srgbClr val="12229D"/>
                </a:solidFill>
                <a:latin typeface="HK Grotesk"/>
                <a:ea typeface="HK Grotesk"/>
                <a:cs typeface="HK Grotesk"/>
                <a:sym typeface="HK Grotesk"/>
              </a:rPr>
              <a:t>?- hermano(maria, jose).</a:t>
            </a:r>
          </a:p>
        </p:txBody>
      </p:sp>
      <p:sp>
        <p:nvSpPr>
          <p:cNvPr name="AutoShape 12" id="12"/>
          <p:cNvSpPr/>
          <p:nvPr/>
        </p:nvSpPr>
        <p:spPr>
          <a:xfrm>
            <a:off x="10797213" y="4818446"/>
            <a:ext cx="5149052" cy="19050"/>
          </a:xfrm>
          <a:prstGeom prst="line">
            <a:avLst/>
          </a:prstGeom>
          <a:ln cap="flat" w="38100">
            <a:solidFill>
              <a:srgbClr val="000000">
                <a:alpha val="38824"/>
              </a:srgbClr>
            </a:solidFill>
            <a:prstDash val="solid"/>
            <a:headEnd type="none" len="sm" w="sm"/>
            <a:tailEnd type="none" len="sm" w="sm"/>
          </a:ln>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F4F6FC"/>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TextBox 12" id="12"/>
          <p:cNvSpPr txBox="true"/>
          <p:nvPr/>
        </p:nvSpPr>
        <p:spPr>
          <a:xfrm rot="0">
            <a:off x="2392343" y="705467"/>
            <a:ext cx="13503315" cy="994791"/>
          </a:xfrm>
          <a:prstGeom prst="rect">
            <a:avLst/>
          </a:prstGeom>
        </p:spPr>
        <p:txBody>
          <a:bodyPr anchor="t" rtlCol="false" tIns="0" lIns="0" bIns="0" rIns="0">
            <a:spAutoFit/>
          </a:bodyPr>
          <a:lstStyle/>
          <a:p>
            <a:pPr algn="ctr">
              <a:lnSpc>
                <a:spcPts val="7797"/>
              </a:lnSpc>
            </a:pPr>
            <a:r>
              <a:rPr lang="en-US" b="true" sz="6900">
                <a:solidFill>
                  <a:srgbClr val="050A30"/>
                </a:solidFill>
                <a:latin typeface="HK Grotesk Bold"/>
                <a:ea typeface="HK Grotesk Bold"/>
                <a:cs typeface="HK Grotesk Bold"/>
                <a:sym typeface="HK Grotesk Bold"/>
              </a:rPr>
              <a:t>Conceptos Clave Aprendidos </a:t>
            </a:r>
          </a:p>
        </p:txBody>
      </p:sp>
      <p:sp>
        <p:nvSpPr>
          <p:cNvPr name="TextBox 13" id="13"/>
          <p:cNvSpPr txBox="true"/>
          <p:nvPr/>
        </p:nvSpPr>
        <p:spPr>
          <a:xfrm rot="0">
            <a:off x="2027167" y="2604564"/>
            <a:ext cx="14233665" cy="4791074"/>
          </a:xfrm>
          <a:prstGeom prst="rect">
            <a:avLst/>
          </a:prstGeom>
        </p:spPr>
        <p:txBody>
          <a:bodyPr anchor="t" rtlCol="false" tIns="0" lIns="0" bIns="0" rIns="0">
            <a:spAutoFit/>
          </a:bodyPr>
          <a:lstStyle/>
          <a:p>
            <a:pPr algn="just" marL="647711" indent="-323856" lvl="1">
              <a:lnSpc>
                <a:spcPts val="4200"/>
              </a:lnSpc>
              <a:buFont typeface="Arial"/>
              <a:buChar char="•"/>
            </a:pPr>
            <a:r>
              <a:rPr lang="en-US" b="true" sz="3000" spc="240">
                <a:solidFill>
                  <a:srgbClr val="050A30"/>
                </a:solidFill>
                <a:latin typeface="HK Grotesk Bold"/>
                <a:ea typeface="HK Grotesk Bold"/>
                <a:cs typeface="HK Grotesk Bold"/>
                <a:sym typeface="HK Grotesk Bold"/>
              </a:rPr>
              <a:t>Lógica e inferencia: </a:t>
            </a:r>
            <a:r>
              <a:rPr lang="en-US" sz="3000" spc="240">
                <a:solidFill>
                  <a:srgbClr val="050A30"/>
                </a:solidFill>
                <a:latin typeface="HK Grotesk"/>
                <a:ea typeface="HK Grotesk"/>
                <a:cs typeface="HK Grotesk"/>
                <a:sym typeface="HK Grotesk"/>
              </a:rPr>
              <a:t>Aplicación </a:t>
            </a:r>
            <a:r>
              <a:rPr lang="en-US" sz="3000" spc="240">
                <a:solidFill>
                  <a:srgbClr val="050A30"/>
                </a:solidFill>
                <a:latin typeface="HK Grotesk"/>
                <a:ea typeface="HK Grotesk"/>
                <a:cs typeface="HK Grotesk"/>
                <a:sym typeface="HK Grotesk"/>
              </a:rPr>
              <a:t>de reglas para llegar a conclusiones a partir de premisas.</a:t>
            </a:r>
          </a:p>
          <a:p>
            <a:pPr algn="just">
              <a:lnSpc>
                <a:spcPts val="4200"/>
              </a:lnSpc>
            </a:pPr>
          </a:p>
          <a:p>
            <a:pPr algn="just" marL="647711" indent="-323856" lvl="1">
              <a:lnSpc>
                <a:spcPts val="4200"/>
              </a:lnSpc>
              <a:buFont typeface="Arial"/>
              <a:buChar char="•"/>
            </a:pPr>
            <a:r>
              <a:rPr lang="en-US" b="true" sz="3000" spc="240">
                <a:solidFill>
                  <a:srgbClr val="050A30"/>
                </a:solidFill>
                <a:latin typeface="HK Grotesk Bold"/>
                <a:ea typeface="HK Grotesk Bold"/>
                <a:cs typeface="HK Grotesk Bold"/>
                <a:sym typeface="HK Grotesk Bold"/>
              </a:rPr>
              <a:t>Inferencia en programación: </a:t>
            </a:r>
            <a:r>
              <a:rPr lang="en-US" sz="3000" spc="240">
                <a:solidFill>
                  <a:srgbClr val="050A30"/>
                </a:solidFill>
                <a:latin typeface="HK Grotesk"/>
                <a:ea typeface="HK Grotesk"/>
                <a:cs typeface="HK Grotesk"/>
                <a:sym typeface="HK Grotesk"/>
              </a:rPr>
              <a:t>Uso de lógica para tomar decis</a:t>
            </a:r>
            <a:r>
              <a:rPr lang="en-US" sz="3000" spc="240">
                <a:solidFill>
                  <a:srgbClr val="050A30"/>
                </a:solidFill>
                <a:latin typeface="HK Grotesk"/>
                <a:ea typeface="HK Grotesk"/>
                <a:cs typeface="HK Grotesk"/>
                <a:sym typeface="HK Grotesk"/>
              </a:rPr>
              <a:t>iones automática</a:t>
            </a:r>
            <a:r>
              <a:rPr lang="en-US" sz="3000" spc="240">
                <a:solidFill>
                  <a:srgbClr val="050A30"/>
                </a:solidFill>
                <a:latin typeface="HK Grotesk"/>
                <a:ea typeface="HK Grotesk"/>
                <a:cs typeface="HK Grotesk"/>
                <a:sym typeface="HK Grotesk"/>
              </a:rPr>
              <a:t>s.</a:t>
            </a:r>
          </a:p>
          <a:p>
            <a:pPr algn="just">
              <a:lnSpc>
                <a:spcPts val="4200"/>
              </a:lnSpc>
            </a:pPr>
          </a:p>
          <a:p>
            <a:pPr algn="just" marL="647711" indent="-323856" lvl="1">
              <a:lnSpc>
                <a:spcPts val="4200"/>
              </a:lnSpc>
              <a:buFont typeface="Arial"/>
              <a:buChar char="•"/>
            </a:pPr>
            <a:r>
              <a:rPr lang="en-US" b="true" sz="3000" spc="240">
                <a:solidFill>
                  <a:srgbClr val="050A30"/>
                </a:solidFill>
                <a:latin typeface="HK Grotesk Bold"/>
                <a:ea typeface="HK Grotesk Bold"/>
                <a:cs typeface="HK Grotesk Bold"/>
                <a:sym typeface="HK Grotesk Bold"/>
              </a:rPr>
              <a:t>Prolog y Tau-Prolog: </a:t>
            </a:r>
            <a:r>
              <a:rPr lang="en-US" sz="3000" spc="240">
                <a:solidFill>
                  <a:srgbClr val="050A30"/>
                </a:solidFill>
                <a:latin typeface="HK Grotesk"/>
                <a:ea typeface="HK Grotesk"/>
                <a:cs typeface="HK Grotesk"/>
                <a:sym typeface="HK Grotesk"/>
              </a:rPr>
              <a:t>Lenguajes lógicos que permiten representar conocimiento y razonar.</a:t>
            </a:r>
          </a:p>
          <a:p>
            <a:pPr algn="just">
              <a:lnSpc>
                <a:spcPts val="4200"/>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CAE8FF"/>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CAE8FF"/>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050A30"/>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TextBox 12" id="12"/>
          <p:cNvSpPr txBox="true"/>
          <p:nvPr/>
        </p:nvSpPr>
        <p:spPr>
          <a:xfrm rot="0">
            <a:off x="2392343" y="712826"/>
            <a:ext cx="13503315" cy="994791"/>
          </a:xfrm>
          <a:prstGeom prst="rect">
            <a:avLst/>
          </a:prstGeom>
        </p:spPr>
        <p:txBody>
          <a:bodyPr anchor="t" rtlCol="false" tIns="0" lIns="0" bIns="0" rIns="0">
            <a:spAutoFit/>
          </a:bodyPr>
          <a:lstStyle/>
          <a:p>
            <a:pPr algn="ctr">
              <a:lnSpc>
                <a:spcPts val="7797"/>
              </a:lnSpc>
            </a:pPr>
            <a:r>
              <a:rPr lang="en-US" b="true" sz="6900">
                <a:solidFill>
                  <a:srgbClr val="F4F6FC"/>
                </a:solidFill>
                <a:latin typeface="HK Grotesk Bold"/>
                <a:ea typeface="HK Grotesk Bold"/>
                <a:cs typeface="HK Grotesk Bold"/>
                <a:sym typeface="HK Grotesk Bold"/>
              </a:rPr>
              <a:t>Valores y Actitudes</a:t>
            </a:r>
          </a:p>
        </p:txBody>
      </p:sp>
      <p:sp>
        <p:nvSpPr>
          <p:cNvPr name="TextBox 13" id="13"/>
          <p:cNvSpPr txBox="true"/>
          <p:nvPr/>
        </p:nvSpPr>
        <p:spPr>
          <a:xfrm rot="0">
            <a:off x="2027167" y="1821917"/>
            <a:ext cx="14233665" cy="7415529"/>
          </a:xfrm>
          <a:prstGeom prst="rect">
            <a:avLst/>
          </a:prstGeom>
        </p:spPr>
        <p:txBody>
          <a:bodyPr anchor="t" rtlCol="false" tIns="0" lIns="0" bIns="0" rIns="0">
            <a:spAutoFit/>
          </a:bodyPr>
          <a:lstStyle/>
          <a:p>
            <a:pPr algn="just" marL="604532" indent="-302266" lvl="1">
              <a:lnSpc>
                <a:spcPts val="3920"/>
              </a:lnSpc>
              <a:buFont typeface="Arial"/>
              <a:buChar char="•"/>
            </a:pPr>
            <a:r>
              <a:rPr lang="en-US" b="true" sz="2800">
                <a:solidFill>
                  <a:srgbClr val="F4F6FC"/>
                </a:solidFill>
                <a:latin typeface="HK Grotesk Bold"/>
                <a:ea typeface="HK Grotesk Bold"/>
                <a:cs typeface="HK Grotesk Bold"/>
                <a:sym typeface="HK Grotesk Bold"/>
              </a:rPr>
              <a:t>Ética y Responsabilidad:</a:t>
            </a:r>
            <a:r>
              <a:rPr lang="en-US" sz="2800">
                <a:solidFill>
                  <a:srgbClr val="F4F6FC"/>
                </a:solidFill>
                <a:latin typeface="HK Grotesk"/>
                <a:ea typeface="HK Grotesk"/>
                <a:cs typeface="HK Grotesk"/>
                <a:sym typeface="HK Grotesk"/>
              </a:rPr>
              <a:t> Aplicación consciente del conocimiento lógico y computacional con compromiso y respeto por el impacto de las decisiones tecnológicas en la sociedad.</a:t>
            </a:r>
          </a:p>
          <a:p>
            <a:pPr algn="just">
              <a:lnSpc>
                <a:spcPts val="3920"/>
              </a:lnSpc>
            </a:pPr>
          </a:p>
          <a:p>
            <a:pPr algn="just" marL="604532" indent="-302266" lvl="1">
              <a:lnSpc>
                <a:spcPts val="3920"/>
              </a:lnSpc>
              <a:buFont typeface="Arial"/>
              <a:buChar char="•"/>
            </a:pPr>
            <a:r>
              <a:rPr lang="en-US" b="true" sz="2800">
                <a:solidFill>
                  <a:srgbClr val="F4F6FC"/>
                </a:solidFill>
                <a:latin typeface="HK Grotesk Bold"/>
                <a:ea typeface="HK Grotesk Bold"/>
                <a:cs typeface="HK Grotesk Bold"/>
                <a:sym typeface="HK Grotesk Bold"/>
              </a:rPr>
              <a:t>Colaboración Multidisciplinaria:</a:t>
            </a:r>
            <a:r>
              <a:rPr lang="en-US" b="true" sz="2800">
                <a:solidFill>
                  <a:srgbClr val="F4F6FC"/>
                </a:solidFill>
                <a:latin typeface="HK Grotesk Medium"/>
                <a:ea typeface="HK Grotesk Medium"/>
                <a:cs typeface="HK Grotesk Medium"/>
                <a:sym typeface="HK Grotesk Medium"/>
              </a:rPr>
              <a:t> </a:t>
            </a:r>
            <a:r>
              <a:rPr lang="en-US" sz="2800">
                <a:solidFill>
                  <a:srgbClr val="F4F6FC"/>
                </a:solidFill>
                <a:latin typeface="HK Grotesk"/>
                <a:ea typeface="HK Grotesk"/>
                <a:cs typeface="HK Grotesk"/>
                <a:sym typeface="HK Grotesk"/>
              </a:rPr>
              <a:t>Participación activa y respetuosa en equipos de trabajo, fomentando la escucha activa y el aprendizaje compartido.</a:t>
            </a:r>
          </a:p>
          <a:p>
            <a:pPr algn="just">
              <a:lnSpc>
                <a:spcPts val="3920"/>
              </a:lnSpc>
            </a:pPr>
          </a:p>
          <a:p>
            <a:pPr algn="just" marL="604532" indent="-302266" lvl="1">
              <a:lnSpc>
                <a:spcPts val="3920"/>
              </a:lnSpc>
              <a:buFont typeface="Arial"/>
              <a:buChar char="•"/>
            </a:pPr>
            <a:r>
              <a:rPr lang="en-US" b="true" sz="2800">
                <a:solidFill>
                  <a:srgbClr val="F4F6FC"/>
                </a:solidFill>
                <a:latin typeface="HK Grotesk Bold"/>
                <a:ea typeface="HK Grotesk Bold"/>
                <a:cs typeface="HK Grotesk Bold"/>
                <a:sym typeface="HK Grotesk Bold"/>
              </a:rPr>
              <a:t>Pensamiento Crítico y Razonamiento Lógico</a:t>
            </a:r>
            <a:r>
              <a:rPr lang="en-US" b="true" sz="2800">
                <a:solidFill>
                  <a:srgbClr val="F4F6FC"/>
                </a:solidFill>
                <a:latin typeface="HK Grotesk Bold"/>
                <a:ea typeface="HK Grotesk Bold"/>
                <a:cs typeface="HK Grotesk Bold"/>
                <a:sym typeface="HK Grotesk Bold"/>
              </a:rPr>
              <a:t>:</a:t>
            </a:r>
            <a:r>
              <a:rPr lang="en-US" b="true" sz="2800">
                <a:solidFill>
                  <a:srgbClr val="F4F6FC"/>
                </a:solidFill>
                <a:latin typeface="HK Grotesk Medium"/>
                <a:ea typeface="HK Grotesk Medium"/>
                <a:cs typeface="HK Grotesk Medium"/>
                <a:sym typeface="HK Grotesk Medium"/>
              </a:rPr>
              <a:t> </a:t>
            </a:r>
            <a:r>
              <a:rPr lang="en-US" sz="2800">
                <a:solidFill>
                  <a:srgbClr val="F4F6FC"/>
                </a:solidFill>
                <a:latin typeface="HK Grotesk"/>
                <a:ea typeface="HK Grotesk"/>
                <a:cs typeface="HK Grotesk"/>
                <a:sym typeface="HK Grotesk"/>
              </a:rPr>
              <a:t>Capacidad para analizar problemas complejos, formular hipótesis, evaluar inferencias y proponer soluciones coherentes.</a:t>
            </a:r>
          </a:p>
          <a:p>
            <a:pPr algn="just">
              <a:lnSpc>
                <a:spcPts val="3920"/>
              </a:lnSpc>
            </a:pPr>
          </a:p>
          <a:p>
            <a:pPr algn="just" marL="604532" indent="-302266" lvl="1">
              <a:lnSpc>
                <a:spcPts val="3920"/>
              </a:lnSpc>
              <a:buFont typeface="Arial"/>
              <a:buChar char="•"/>
            </a:pPr>
            <a:r>
              <a:rPr lang="en-US" b="true" sz="2800">
                <a:solidFill>
                  <a:srgbClr val="F4F6FC"/>
                </a:solidFill>
                <a:latin typeface="HK Grotesk Bold"/>
                <a:ea typeface="HK Grotesk Bold"/>
                <a:cs typeface="HK Grotesk Bold"/>
                <a:sym typeface="HK Grotesk Bold"/>
              </a:rPr>
              <a:t>Creatividad y Solución de Problemas:</a:t>
            </a:r>
            <a:r>
              <a:rPr lang="en-US" sz="2800">
                <a:solidFill>
                  <a:srgbClr val="F4F6FC"/>
                </a:solidFill>
                <a:latin typeface="HK Grotesk"/>
                <a:ea typeface="HK Grotesk"/>
                <a:cs typeface="HK Grotesk"/>
                <a:sym typeface="HK Grotesk"/>
              </a:rPr>
              <a:t> Innovación en el diseño de entornos simulados, reglas lógicas y comportamientos programables, utilizando la imaginación.</a:t>
            </a:r>
          </a:p>
          <a:p>
            <a:pPr algn="just">
              <a:lnSpc>
                <a:spcPts val="3920"/>
              </a:lnSpc>
            </a:pPr>
          </a:p>
          <a:p>
            <a:pPr algn="just" marL="604532" indent="-302266" lvl="1">
              <a:lnSpc>
                <a:spcPts val="3920"/>
              </a:lnSpc>
              <a:buFont typeface="Arial"/>
              <a:buChar char="•"/>
            </a:pPr>
            <a:r>
              <a:rPr lang="en-US" b="true" sz="2800">
                <a:solidFill>
                  <a:srgbClr val="F4F6FC"/>
                </a:solidFill>
                <a:latin typeface="HK Grotesk Bold"/>
                <a:ea typeface="HK Grotesk Bold"/>
                <a:cs typeface="HK Grotesk Bold"/>
                <a:sym typeface="HK Grotesk Bold"/>
              </a:rPr>
              <a:t>Aprendizaje Autónomo y Curiosidad:</a:t>
            </a:r>
            <a:r>
              <a:rPr lang="en-US" b="true" sz="2800">
                <a:solidFill>
                  <a:srgbClr val="F4F6FC"/>
                </a:solidFill>
                <a:latin typeface="HK Grotesk Medium"/>
                <a:ea typeface="HK Grotesk Medium"/>
                <a:cs typeface="HK Grotesk Medium"/>
                <a:sym typeface="HK Grotesk Medium"/>
              </a:rPr>
              <a:t> </a:t>
            </a:r>
            <a:r>
              <a:rPr lang="en-US" sz="2800">
                <a:solidFill>
                  <a:srgbClr val="F4F6FC"/>
                </a:solidFill>
                <a:latin typeface="HK Grotesk"/>
                <a:ea typeface="HK Grotesk"/>
                <a:cs typeface="HK Grotesk"/>
                <a:sym typeface="HK Grotesk"/>
              </a:rPr>
              <a:t>Actitud proactiva frente al aprendizaje continuo, explorando nuevas herramientas y lenguajes como Prolog y Tau-Prolog con interés y autodirección.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CAE8FF"/>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TextBox 12" id="12"/>
          <p:cNvSpPr txBox="true"/>
          <p:nvPr/>
        </p:nvSpPr>
        <p:spPr>
          <a:xfrm rot="0">
            <a:off x="2392343" y="1673265"/>
            <a:ext cx="13503315" cy="994791"/>
          </a:xfrm>
          <a:prstGeom prst="rect">
            <a:avLst/>
          </a:prstGeom>
        </p:spPr>
        <p:txBody>
          <a:bodyPr anchor="t" rtlCol="false" tIns="0" lIns="0" bIns="0" rIns="0">
            <a:spAutoFit/>
          </a:bodyPr>
          <a:lstStyle/>
          <a:p>
            <a:pPr algn="ctr">
              <a:lnSpc>
                <a:spcPts val="7797"/>
              </a:lnSpc>
            </a:pPr>
            <a:r>
              <a:rPr lang="en-US" b="true" sz="6900">
                <a:solidFill>
                  <a:srgbClr val="050A30"/>
                </a:solidFill>
                <a:latin typeface="HK Grotesk Bold"/>
                <a:ea typeface="HK Grotesk Bold"/>
                <a:cs typeface="HK Grotesk Bold"/>
                <a:sym typeface="HK Grotesk Bold"/>
              </a:rPr>
              <a:t>Referencias</a:t>
            </a:r>
          </a:p>
        </p:txBody>
      </p:sp>
      <p:sp>
        <p:nvSpPr>
          <p:cNvPr name="TextBox 13" id="13"/>
          <p:cNvSpPr txBox="true"/>
          <p:nvPr/>
        </p:nvSpPr>
        <p:spPr>
          <a:xfrm rot="0">
            <a:off x="2027167" y="3745346"/>
            <a:ext cx="14233665" cy="2957829"/>
          </a:xfrm>
          <a:prstGeom prst="rect">
            <a:avLst/>
          </a:prstGeom>
        </p:spPr>
        <p:txBody>
          <a:bodyPr anchor="t" rtlCol="false" tIns="0" lIns="0" bIns="0" rIns="0">
            <a:spAutoFit/>
          </a:bodyPr>
          <a:lstStyle/>
          <a:p>
            <a:pPr algn="just" marL="604532" indent="-302266" lvl="1">
              <a:lnSpc>
                <a:spcPts val="3920"/>
              </a:lnSpc>
              <a:spcBef>
                <a:spcPct val="0"/>
              </a:spcBef>
              <a:buFont typeface="Arial"/>
              <a:buChar char="•"/>
            </a:pPr>
            <a:r>
              <a:rPr lang="en-US" b="true" sz="2800">
                <a:solidFill>
                  <a:srgbClr val="222222"/>
                </a:solidFill>
                <a:latin typeface="HK Grotesk Medium"/>
                <a:ea typeface="HK Grotesk Medium"/>
                <a:cs typeface="HK Grotesk Medium"/>
                <a:sym typeface="HK Grotesk Medium"/>
              </a:rPr>
              <a:t>R</a:t>
            </a:r>
            <a:r>
              <a:rPr lang="en-US" b="true" sz="2800" strike="noStrike" u="none">
                <a:solidFill>
                  <a:srgbClr val="222222"/>
                </a:solidFill>
                <a:latin typeface="HK Grotesk Medium"/>
                <a:ea typeface="HK Grotesk Medium"/>
                <a:cs typeface="HK Grotesk Medium"/>
                <a:sym typeface="HK Grotesk Medium"/>
              </a:rPr>
              <a:t>u</a:t>
            </a:r>
            <a:r>
              <a:rPr lang="en-US" b="true" sz="2800" strike="noStrike" u="none">
                <a:solidFill>
                  <a:srgbClr val="222222"/>
                </a:solidFill>
                <a:latin typeface="HK Grotesk Medium"/>
                <a:ea typeface="HK Grotesk Medium"/>
                <a:cs typeface="HK Grotesk Medium"/>
                <a:sym typeface="HK Grotesk Medium"/>
              </a:rPr>
              <a:t>ssell</a:t>
            </a:r>
            <a:r>
              <a:rPr lang="en-US" b="true" sz="2800" strike="noStrike" u="none">
                <a:solidFill>
                  <a:srgbClr val="222222"/>
                </a:solidFill>
                <a:latin typeface="HK Grotesk Medium"/>
                <a:ea typeface="HK Grotesk Medium"/>
                <a:cs typeface="HK Grotesk Medium"/>
                <a:sym typeface="HK Grotesk Medium"/>
              </a:rPr>
              <a:t>, </a:t>
            </a:r>
            <a:r>
              <a:rPr lang="en-US" b="true" sz="2800" strike="noStrike" u="none">
                <a:solidFill>
                  <a:srgbClr val="222222"/>
                </a:solidFill>
                <a:latin typeface="HK Grotesk Medium"/>
                <a:ea typeface="HK Grotesk Medium"/>
                <a:cs typeface="HK Grotesk Medium"/>
                <a:sym typeface="HK Grotesk Medium"/>
              </a:rPr>
              <a:t>S., &amp; Norvig, P</a:t>
            </a:r>
            <a:r>
              <a:rPr lang="en-US" b="true" sz="2800" strike="noStrike" u="none">
                <a:solidFill>
                  <a:srgbClr val="222222"/>
                </a:solidFill>
                <a:latin typeface="HK Grotesk Medium"/>
                <a:ea typeface="HK Grotesk Medium"/>
                <a:cs typeface="HK Grotesk Medium"/>
                <a:sym typeface="HK Grotesk Medium"/>
              </a:rPr>
              <a:t>. (</a:t>
            </a:r>
            <a:r>
              <a:rPr lang="en-US" b="true" sz="2800" strike="noStrike" u="none">
                <a:solidFill>
                  <a:srgbClr val="222222"/>
                </a:solidFill>
                <a:latin typeface="HK Grotesk Medium"/>
                <a:ea typeface="HK Grotesk Medium"/>
                <a:cs typeface="HK Grotesk Medium"/>
                <a:sym typeface="HK Grotesk Medium"/>
              </a:rPr>
              <a:t>20</a:t>
            </a:r>
            <a:r>
              <a:rPr lang="en-US" b="true" sz="2800" strike="noStrike" u="none">
                <a:solidFill>
                  <a:srgbClr val="222222"/>
                </a:solidFill>
                <a:latin typeface="HK Grotesk Medium"/>
                <a:ea typeface="HK Grotesk Medium"/>
                <a:cs typeface="HK Grotesk Medium"/>
                <a:sym typeface="HK Grotesk Medium"/>
              </a:rPr>
              <a:t>1</a:t>
            </a:r>
            <a:r>
              <a:rPr lang="en-US" b="true" sz="2800" strike="noStrike" u="none">
                <a:solidFill>
                  <a:srgbClr val="222222"/>
                </a:solidFill>
                <a:latin typeface="HK Grotesk Medium"/>
                <a:ea typeface="HK Grotesk Medium"/>
                <a:cs typeface="HK Grotesk Medium"/>
                <a:sym typeface="HK Grotesk Medium"/>
              </a:rPr>
              <a:t>6</a:t>
            </a:r>
            <a:r>
              <a:rPr lang="en-US" b="true" sz="2800" strike="noStrike" u="none">
                <a:solidFill>
                  <a:srgbClr val="222222"/>
                </a:solidFill>
                <a:latin typeface="HK Grotesk Medium"/>
                <a:ea typeface="HK Grotesk Medium"/>
                <a:cs typeface="HK Grotesk Medium"/>
                <a:sym typeface="HK Grotesk Medium"/>
              </a:rPr>
              <a:t>). Ar</a:t>
            </a:r>
            <a:r>
              <a:rPr lang="en-US" b="true" sz="2800" strike="noStrike" u="none">
                <a:solidFill>
                  <a:srgbClr val="222222"/>
                </a:solidFill>
                <a:latin typeface="HK Grotesk Medium"/>
                <a:ea typeface="HK Grotesk Medium"/>
                <a:cs typeface="HK Grotesk Medium"/>
                <a:sym typeface="HK Grotesk Medium"/>
              </a:rPr>
              <a:t>ti</a:t>
            </a:r>
            <a:r>
              <a:rPr lang="en-US" b="true" sz="2800" strike="noStrike" u="none">
                <a:solidFill>
                  <a:srgbClr val="222222"/>
                </a:solidFill>
                <a:latin typeface="HK Grotesk Medium"/>
                <a:ea typeface="HK Grotesk Medium"/>
                <a:cs typeface="HK Grotesk Medium"/>
                <a:sym typeface="HK Grotesk Medium"/>
              </a:rPr>
              <a:t>f</a:t>
            </a:r>
            <a:r>
              <a:rPr lang="en-US" b="true" sz="2800" strike="noStrike" u="none">
                <a:solidFill>
                  <a:srgbClr val="222222"/>
                </a:solidFill>
                <a:latin typeface="HK Grotesk Medium"/>
                <a:ea typeface="HK Grotesk Medium"/>
                <a:cs typeface="HK Grotesk Medium"/>
                <a:sym typeface="HK Grotesk Medium"/>
              </a:rPr>
              <a:t>icial</a:t>
            </a:r>
            <a:r>
              <a:rPr lang="en-US" b="true" sz="2800" strike="noStrike" u="none">
                <a:solidFill>
                  <a:srgbClr val="222222"/>
                </a:solidFill>
                <a:latin typeface="HK Grotesk Medium"/>
                <a:ea typeface="HK Grotesk Medium"/>
                <a:cs typeface="HK Grotesk Medium"/>
                <a:sym typeface="HK Grotesk Medium"/>
              </a:rPr>
              <a:t> </a:t>
            </a:r>
            <a:r>
              <a:rPr lang="en-US" b="true" sz="2800" strike="noStrike" u="none">
                <a:solidFill>
                  <a:srgbClr val="222222"/>
                </a:solidFill>
                <a:latin typeface="HK Grotesk Medium"/>
                <a:ea typeface="HK Grotesk Medium"/>
                <a:cs typeface="HK Grotesk Medium"/>
                <a:sym typeface="HK Grotesk Medium"/>
              </a:rPr>
              <a:t>I</a:t>
            </a:r>
            <a:r>
              <a:rPr lang="en-US" b="true" sz="2800" strike="noStrike" u="none">
                <a:solidFill>
                  <a:srgbClr val="222222"/>
                </a:solidFill>
                <a:latin typeface="HK Grotesk Medium"/>
                <a:ea typeface="HK Grotesk Medium"/>
                <a:cs typeface="HK Grotesk Medium"/>
                <a:sym typeface="HK Grotesk Medium"/>
              </a:rPr>
              <a:t>nte</a:t>
            </a:r>
            <a:r>
              <a:rPr lang="en-US" b="true" sz="2800" strike="noStrike" u="none">
                <a:solidFill>
                  <a:srgbClr val="222222"/>
                </a:solidFill>
                <a:latin typeface="HK Grotesk Medium"/>
                <a:ea typeface="HK Grotesk Medium"/>
                <a:cs typeface="HK Grotesk Medium"/>
                <a:sym typeface="HK Grotesk Medium"/>
              </a:rPr>
              <a:t>l</a:t>
            </a:r>
            <a:r>
              <a:rPr lang="en-US" b="true" sz="2800" strike="noStrike" u="none">
                <a:solidFill>
                  <a:srgbClr val="222222"/>
                </a:solidFill>
                <a:latin typeface="HK Grotesk Medium"/>
                <a:ea typeface="HK Grotesk Medium"/>
                <a:cs typeface="HK Grotesk Medium"/>
                <a:sym typeface="HK Grotesk Medium"/>
              </a:rPr>
              <a:t>li</a:t>
            </a:r>
            <a:r>
              <a:rPr lang="en-US" b="true" sz="2800" strike="noStrike" u="none">
                <a:solidFill>
                  <a:srgbClr val="222222"/>
                </a:solidFill>
                <a:latin typeface="HK Grotesk Medium"/>
                <a:ea typeface="HK Grotesk Medium"/>
                <a:cs typeface="HK Grotesk Medium"/>
                <a:sym typeface="HK Grotesk Medium"/>
              </a:rPr>
              <a:t>g</a:t>
            </a:r>
            <a:r>
              <a:rPr lang="en-US" b="true" sz="2800" strike="noStrike" u="none">
                <a:solidFill>
                  <a:srgbClr val="222222"/>
                </a:solidFill>
                <a:latin typeface="HK Grotesk Medium"/>
                <a:ea typeface="HK Grotesk Medium"/>
                <a:cs typeface="HK Grotesk Medium"/>
                <a:sym typeface="HK Grotesk Medium"/>
              </a:rPr>
              <a:t>ence: </a:t>
            </a:r>
            <a:r>
              <a:rPr lang="en-US" b="true" sz="2800" strike="noStrike" u="none">
                <a:solidFill>
                  <a:srgbClr val="222222"/>
                </a:solidFill>
                <a:latin typeface="HK Grotesk Medium"/>
                <a:ea typeface="HK Grotesk Medium"/>
                <a:cs typeface="HK Grotesk Medium"/>
                <a:sym typeface="HK Grotesk Medium"/>
              </a:rPr>
              <a:t>A M</a:t>
            </a:r>
            <a:r>
              <a:rPr lang="en-US" b="true" sz="2800" strike="noStrike" u="none">
                <a:solidFill>
                  <a:srgbClr val="222222"/>
                </a:solidFill>
                <a:latin typeface="HK Grotesk Medium"/>
                <a:ea typeface="HK Grotesk Medium"/>
                <a:cs typeface="HK Grotesk Medium"/>
                <a:sym typeface="HK Grotesk Medium"/>
              </a:rPr>
              <a:t>o</a:t>
            </a:r>
            <a:r>
              <a:rPr lang="en-US" b="true" sz="2800" strike="noStrike" u="none">
                <a:solidFill>
                  <a:srgbClr val="222222"/>
                </a:solidFill>
                <a:latin typeface="HK Grotesk Medium"/>
                <a:ea typeface="HK Grotesk Medium"/>
                <a:cs typeface="HK Grotesk Medium"/>
                <a:sym typeface="HK Grotesk Medium"/>
              </a:rPr>
              <a:t>dern A</a:t>
            </a:r>
            <a:r>
              <a:rPr lang="en-US" b="true" sz="2800" strike="noStrike" u="none">
                <a:solidFill>
                  <a:srgbClr val="222222"/>
                </a:solidFill>
                <a:latin typeface="HK Grotesk Medium"/>
                <a:ea typeface="HK Grotesk Medium"/>
                <a:cs typeface="HK Grotesk Medium"/>
                <a:sym typeface="HK Grotesk Medium"/>
              </a:rPr>
              <a:t>p</a:t>
            </a:r>
            <a:r>
              <a:rPr lang="en-US" b="true" sz="2800" strike="noStrike" u="none">
                <a:solidFill>
                  <a:srgbClr val="222222"/>
                </a:solidFill>
                <a:latin typeface="HK Grotesk Medium"/>
                <a:ea typeface="HK Grotesk Medium"/>
                <a:cs typeface="HK Grotesk Medium"/>
                <a:sym typeface="HK Grotesk Medium"/>
              </a:rPr>
              <a:t>p</a:t>
            </a:r>
            <a:r>
              <a:rPr lang="en-US" b="true" sz="2800" strike="noStrike" u="none">
                <a:solidFill>
                  <a:srgbClr val="222222"/>
                </a:solidFill>
                <a:latin typeface="HK Grotesk Medium"/>
                <a:ea typeface="HK Grotesk Medium"/>
                <a:cs typeface="HK Grotesk Medium"/>
                <a:sym typeface="HK Grotesk Medium"/>
              </a:rPr>
              <a:t>r</a:t>
            </a:r>
            <a:r>
              <a:rPr lang="en-US" b="true" sz="2800" strike="noStrike" u="none">
                <a:solidFill>
                  <a:srgbClr val="222222"/>
                </a:solidFill>
                <a:latin typeface="HK Grotesk Medium"/>
                <a:ea typeface="HK Grotesk Medium"/>
                <a:cs typeface="HK Grotesk Medium"/>
                <a:sym typeface="HK Grotesk Medium"/>
              </a:rPr>
              <a:t>o</a:t>
            </a:r>
            <a:r>
              <a:rPr lang="en-US" b="true" sz="2800" strike="noStrike" u="none">
                <a:solidFill>
                  <a:srgbClr val="222222"/>
                </a:solidFill>
                <a:latin typeface="HK Grotesk Medium"/>
                <a:ea typeface="HK Grotesk Medium"/>
                <a:cs typeface="HK Grotesk Medium"/>
                <a:sym typeface="HK Grotesk Medium"/>
              </a:rPr>
              <a:t>a</a:t>
            </a:r>
            <a:r>
              <a:rPr lang="en-US" b="true" sz="2800" strike="noStrike" u="none">
                <a:solidFill>
                  <a:srgbClr val="222222"/>
                </a:solidFill>
                <a:latin typeface="HK Grotesk Medium"/>
                <a:ea typeface="HK Grotesk Medium"/>
                <a:cs typeface="HK Grotesk Medium"/>
                <a:sym typeface="HK Grotesk Medium"/>
              </a:rPr>
              <a:t>ch (3</a:t>
            </a:r>
            <a:r>
              <a:rPr lang="en-US" b="true" sz="2800" strike="noStrike" u="none">
                <a:solidFill>
                  <a:srgbClr val="222222"/>
                </a:solidFill>
                <a:latin typeface="HK Grotesk Medium"/>
                <a:ea typeface="HK Grotesk Medium"/>
                <a:cs typeface="HK Grotesk Medium"/>
                <a:sym typeface="HK Grotesk Medium"/>
              </a:rPr>
              <a:t>r</a:t>
            </a:r>
            <a:r>
              <a:rPr lang="en-US" b="true" sz="2800" strike="noStrike" u="none">
                <a:solidFill>
                  <a:srgbClr val="222222"/>
                </a:solidFill>
                <a:latin typeface="HK Grotesk Medium"/>
                <a:ea typeface="HK Grotesk Medium"/>
                <a:cs typeface="HK Grotesk Medium"/>
                <a:sym typeface="HK Grotesk Medium"/>
              </a:rPr>
              <a:t>d</a:t>
            </a:r>
            <a:r>
              <a:rPr lang="en-US" b="true" sz="2800" strike="noStrike" u="none">
                <a:solidFill>
                  <a:srgbClr val="222222"/>
                </a:solidFill>
                <a:latin typeface="HK Grotesk Medium"/>
                <a:ea typeface="HK Grotesk Medium"/>
                <a:cs typeface="HK Grotesk Medium"/>
                <a:sym typeface="HK Grotesk Medium"/>
              </a:rPr>
              <a:t> </a:t>
            </a:r>
            <a:r>
              <a:rPr lang="en-US" b="true" sz="2800" strike="noStrike" u="none">
                <a:solidFill>
                  <a:srgbClr val="222222"/>
                </a:solidFill>
                <a:latin typeface="HK Grotesk Medium"/>
                <a:ea typeface="HK Grotesk Medium"/>
                <a:cs typeface="HK Grotesk Medium"/>
                <a:sym typeface="HK Grotesk Medium"/>
              </a:rPr>
              <a:t>e</a:t>
            </a:r>
            <a:r>
              <a:rPr lang="en-US" b="true" sz="2800" strike="noStrike" u="none">
                <a:solidFill>
                  <a:srgbClr val="222222"/>
                </a:solidFill>
                <a:latin typeface="HK Grotesk Medium"/>
                <a:ea typeface="HK Grotesk Medium"/>
                <a:cs typeface="HK Grotesk Medium"/>
                <a:sym typeface="HK Grotesk Medium"/>
              </a:rPr>
              <a:t>d</a:t>
            </a:r>
            <a:r>
              <a:rPr lang="en-US" b="true" sz="2800" strike="noStrike" u="none">
                <a:solidFill>
                  <a:srgbClr val="222222"/>
                </a:solidFill>
                <a:latin typeface="HK Grotesk Medium"/>
                <a:ea typeface="HK Grotesk Medium"/>
                <a:cs typeface="HK Grotesk Medium"/>
                <a:sym typeface="HK Grotesk Medium"/>
              </a:rPr>
              <a:t>.).</a:t>
            </a:r>
            <a:r>
              <a:rPr lang="en-US" b="true" sz="2800" strike="noStrike" u="none">
                <a:solidFill>
                  <a:srgbClr val="222222"/>
                </a:solidFill>
                <a:latin typeface="HK Grotesk Medium"/>
                <a:ea typeface="HK Grotesk Medium"/>
                <a:cs typeface="HK Grotesk Medium"/>
                <a:sym typeface="HK Grotesk Medium"/>
              </a:rPr>
              <a:t> </a:t>
            </a:r>
            <a:r>
              <a:rPr lang="en-US" b="true" sz="2800" strike="noStrike" u="none">
                <a:solidFill>
                  <a:srgbClr val="222222"/>
                </a:solidFill>
                <a:latin typeface="HK Grotesk Medium"/>
                <a:ea typeface="HK Grotesk Medium"/>
                <a:cs typeface="HK Grotesk Medium"/>
                <a:sym typeface="HK Grotesk Medium"/>
              </a:rPr>
              <a:t>Pe</a:t>
            </a:r>
            <a:r>
              <a:rPr lang="en-US" b="true" sz="2800" strike="noStrike" u="none">
                <a:solidFill>
                  <a:srgbClr val="222222"/>
                </a:solidFill>
                <a:latin typeface="HK Grotesk Medium"/>
                <a:ea typeface="HK Grotesk Medium"/>
                <a:cs typeface="HK Grotesk Medium"/>
                <a:sym typeface="HK Grotesk Medium"/>
              </a:rPr>
              <a:t>ar</a:t>
            </a:r>
            <a:r>
              <a:rPr lang="en-US" b="true" sz="2800" strike="noStrike" u="none">
                <a:solidFill>
                  <a:srgbClr val="222222"/>
                </a:solidFill>
                <a:latin typeface="HK Grotesk Medium"/>
                <a:ea typeface="HK Grotesk Medium"/>
                <a:cs typeface="HK Grotesk Medium"/>
                <a:sym typeface="HK Grotesk Medium"/>
              </a:rPr>
              <a:t>s</a:t>
            </a:r>
            <a:r>
              <a:rPr lang="en-US" b="true" sz="2800" strike="noStrike" u="none">
                <a:solidFill>
                  <a:srgbClr val="222222"/>
                </a:solidFill>
                <a:latin typeface="HK Grotesk Medium"/>
                <a:ea typeface="HK Grotesk Medium"/>
                <a:cs typeface="HK Grotesk Medium"/>
                <a:sym typeface="HK Grotesk Medium"/>
              </a:rPr>
              <a:t>on.</a:t>
            </a:r>
          </a:p>
          <a:p>
            <a:pPr algn="just">
              <a:lnSpc>
                <a:spcPts val="3920"/>
              </a:lnSpc>
              <a:spcBef>
                <a:spcPct val="0"/>
              </a:spcBef>
            </a:pPr>
          </a:p>
          <a:p>
            <a:pPr algn="just" marL="604532" indent="-302266" lvl="1">
              <a:lnSpc>
                <a:spcPts val="3920"/>
              </a:lnSpc>
              <a:spcBef>
                <a:spcPct val="0"/>
              </a:spcBef>
              <a:buFont typeface="Arial"/>
              <a:buChar char="•"/>
            </a:pPr>
            <a:r>
              <a:rPr lang="en-US" b="true" sz="2800" strike="noStrike" u="none">
                <a:solidFill>
                  <a:srgbClr val="222222"/>
                </a:solidFill>
                <a:latin typeface="HK Grotesk Medium"/>
                <a:ea typeface="HK Grotesk Medium"/>
                <a:cs typeface="HK Grotesk Medium"/>
                <a:sym typeface="HK Grotesk Medium"/>
              </a:rPr>
              <a:t>Clocksin, W. F., &amp; Mellish, C. S. (2003). Programming in Prolog: Using the ISO Standard (5ª ed.). Springer-Verlag.</a:t>
            </a:r>
          </a:p>
          <a:p>
            <a:pPr algn="just">
              <a:lnSpc>
                <a:spcPts val="3920"/>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50A30"/>
        </a:solidFill>
      </p:bgPr>
    </p:bg>
    <p:spTree>
      <p:nvGrpSpPr>
        <p:cNvPr id="1" name=""/>
        <p:cNvGrpSpPr/>
        <p:nvPr/>
      </p:nvGrpSpPr>
      <p:grpSpPr>
        <a:xfrm>
          <a:off x="0" y="0"/>
          <a:ext cx="0" cy="0"/>
          <a:chOff x="0" y="0"/>
          <a:chExt cx="0" cy="0"/>
        </a:xfrm>
      </p:grpSpPr>
      <p:sp>
        <p:nvSpPr>
          <p:cNvPr name="TextBox 2" id="2"/>
          <p:cNvSpPr txBox="true"/>
          <p:nvPr/>
        </p:nvSpPr>
        <p:spPr>
          <a:xfrm rot="0">
            <a:off x="4437795" y="3446254"/>
            <a:ext cx="8658828" cy="2438527"/>
          </a:xfrm>
          <a:prstGeom prst="rect">
            <a:avLst/>
          </a:prstGeom>
        </p:spPr>
        <p:txBody>
          <a:bodyPr anchor="t" rtlCol="false" tIns="0" lIns="0" bIns="0" rIns="0">
            <a:spAutoFit/>
          </a:bodyPr>
          <a:lstStyle/>
          <a:p>
            <a:pPr algn="just">
              <a:lnSpc>
                <a:spcPts val="6343"/>
              </a:lnSpc>
            </a:pPr>
            <a:r>
              <a:rPr lang="en-US" b="true" sz="6099">
                <a:solidFill>
                  <a:srgbClr val="F4F6FC"/>
                </a:solidFill>
                <a:latin typeface="HK Grotesk Bold"/>
                <a:ea typeface="HK Grotesk Bold"/>
                <a:cs typeface="HK Grotesk Bold"/>
                <a:sym typeface="HK Grotesk Bold"/>
              </a:rPr>
              <a:t>¡GRACIAS POR su  ATENCIÓN!</a:t>
            </a:r>
          </a:p>
          <a:p>
            <a:pPr algn="just">
              <a:lnSpc>
                <a:spcPts val="6343"/>
              </a:lnSpc>
            </a:pPr>
          </a:p>
        </p:txBody>
      </p:sp>
      <p:sp>
        <p:nvSpPr>
          <p:cNvPr name="TextBox 3" id="3"/>
          <p:cNvSpPr txBox="true"/>
          <p:nvPr/>
        </p:nvSpPr>
        <p:spPr>
          <a:xfrm rot="0">
            <a:off x="5414714" y="5958103"/>
            <a:ext cx="6704991" cy="898525"/>
          </a:xfrm>
          <a:prstGeom prst="rect">
            <a:avLst/>
          </a:prstGeom>
        </p:spPr>
        <p:txBody>
          <a:bodyPr anchor="t" rtlCol="false" tIns="0" lIns="0" bIns="0" rIns="0">
            <a:spAutoFit/>
          </a:bodyPr>
          <a:lstStyle/>
          <a:p>
            <a:pPr algn="ctr">
              <a:lnSpc>
                <a:spcPts val="7400"/>
              </a:lnSpc>
            </a:pPr>
            <a:r>
              <a:rPr lang="en-US" b="true" sz="5000" spc="400">
                <a:solidFill>
                  <a:srgbClr val="F4F6FC"/>
                </a:solidFill>
                <a:latin typeface="HK Grotesk Bold"/>
                <a:ea typeface="HK Grotesk Bold"/>
                <a:cs typeface="HK Grotesk Bold"/>
                <a:sym typeface="HK Grotesk Bold"/>
              </a:rPr>
              <a:t>DUDAS</a:t>
            </a:r>
          </a:p>
        </p:txBody>
      </p:sp>
      <p:sp>
        <p:nvSpPr>
          <p:cNvPr name="Freeform 4" id="4"/>
          <p:cNvSpPr/>
          <p:nvPr/>
        </p:nvSpPr>
        <p:spPr>
          <a:xfrm flipH="false" flipV="false" rot="0">
            <a:off x="13963751" y="1028700"/>
            <a:ext cx="2757268" cy="3770970"/>
          </a:xfrm>
          <a:custGeom>
            <a:avLst/>
            <a:gdLst/>
            <a:ahLst/>
            <a:cxnLst/>
            <a:rect r="r" b="b" t="t" l="l"/>
            <a:pathLst>
              <a:path h="3770970" w="2757268">
                <a:moveTo>
                  <a:pt x="0" y="0"/>
                </a:moveTo>
                <a:lnTo>
                  <a:pt x="2757268" y="0"/>
                </a:lnTo>
                <a:lnTo>
                  <a:pt x="2757268" y="3770970"/>
                </a:lnTo>
                <a:lnTo>
                  <a:pt x="0" y="3770970"/>
                </a:lnTo>
                <a:lnTo>
                  <a:pt x="0" y="0"/>
                </a:lnTo>
                <a:close/>
              </a:path>
            </a:pathLst>
          </a:custGeom>
          <a:blipFill>
            <a:blip r:embed="rId2"/>
            <a:stretch>
              <a:fillRect l="0" t="0" r="0" b="0"/>
            </a:stretch>
          </a:blipFill>
        </p:spPr>
      </p:sp>
      <p:sp>
        <p:nvSpPr>
          <p:cNvPr name="TextBox 5" id="5"/>
          <p:cNvSpPr txBox="true"/>
          <p:nvPr/>
        </p:nvSpPr>
        <p:spPr>
          <a:xfrm rot="0">
            <a:off x="2411098" y="7890210"/>
            <a:ext cx="13465804" cy="357505"/>
          </a:xfrm>
          <a:prstGeom prst="rect">
            <a:avLst/>
          </a:prstGeom>
        </p:spPr>
        <p:txBody>
          <a:bodyPr anchor="t" rtlCol="false" tIns="0" lIns="0" bIns="0" rIns="0">
            <a:spAutoFit/>
          </a:bodyPr>
          <a:lstStyle/>
          <a:p>
            <a:pPr algn="ctr">
              <a:lnSpc>
                <a:spcPts val="2960"/>
              </a:lnSpc>
            </a:pPr>
            <a:r>
              <a:rPr lang="en-US" b="true" sz="2000">
                <a:solidFill>
                  <a:srgbClr val="F4F6FC"/>
                </a:solidFill>
                <a:latin typeface="HK Grotesk Medium"/>
                <a:ea typeface="HK Grotesk Medium"/>
                <a:cs typeface="HK Grotesk Medium"/>
                <a:sym typeface="HK Grotesk Medium"/>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DAGn8o1AHMo</dc:identifier>
  <dcterms:modified xsi:type="dcterms:W3CDTF">2011-08-01T06:04:30Z</dcterms:modified>
  <cp:revision>1</cp:revision>
  <dc:title>Clase 01</dc:title>
</cp:coreProperties>
</file>