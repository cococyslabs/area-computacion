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ial Bold" charset="1" panose="020B0802020202020204"/>
      <p:regular r:id="rId32"/>
    </p:embeddedFont>
    <p:embeddedFont>
      <p:font typeface="Arimo" charset="1" panose="020B0604020202020204"/>
      <p:regular r:id="rId33"/>
    </p:embeddedFont>
    <p:embeddedFont>
      <p:font typeface="Arial" charset="1" panose="020B0502020202020204"/>
      <p:regular r:id="rId34"/>
    </p:embeddedFont>
    <p:embeddedFont>
      <p:font typeface="HK Grotesk Medium" charset="1" panose="00000600000000000000"/>
      <p:regular r:id="rId35"/>
    </p:embeddedFont>
    <p:embeddedFont>
      <p:font typeface="HK Grotesk Bold" charset="1" panose="00000800000000000000"/>
      <p:regular r:id="rId36"/>
    </p:embeddedFont>
    <p:embeddedFont>
      <p:font typeface="HK Grotesk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781821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Realidad Aumentada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99395" y="3078596"/>
            <a:ext cx="64642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Corto en UEDI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4003" y="3078596"/>
            <a:ext cx="6464263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Creación de Contenido Digital para Realidad Aumentada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409214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7547" y="3698875"/>
            <a:ext cx="12569573" cy="421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 aplicaciones de realidad aumentada con contenido digital interactivo mediante el uso de bibliotecas como AR.js y técnicas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diseño de experiencias para integrar información virtual en el mundo real de forma efectiva y funcional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3934859"/>
            <a:ext cx="7528964" cy="4503358"/>
            <a:chOff x="0" y="0"/>
            <a:chExt cx="1982937" cy="11860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1186070"/>
            </a:xfrm>
            <a:custGeom>
              <a:avLst/>
              <a:gdLst/>
              <a:ahLst/>
              <a:cxnLst/>
              <a:rect r="r" b="b" t="t" l="l"/>
              <a:pathLst>
                <a:path h="1186070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1133627"/>
                  </a:lnTo>
                  <a:cubicBezTo>
                    <a:pt x="1982937" y="1162590"/>
                    <a:pt x="1959458" y="1186070"/>
                    <a:pt x="1930495" y="1186070"/>
                  </a:cubicBezTo>
                  <a:lnTo>
                    <a:pt x="52443" y="1186070"/>
                  </a:lnTo>
                  <a:cubicBezTo>
                    <a:pt x="23479" y="1186070"/>
                    <a:pt x="0" y="1162590"/>
                    <a:pt x="0" y="1133627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123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33094" y="1052234"/>
            <a:ext cx="13421812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Contenido Digital con Realidad Aumentada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7684" y="4343450"/>
            <a:ext cx="6510997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 refiere a todos los elementos virtuales que pueden superponerse en el entorno físico a través de dispositivos tecnológicos. Estos elementos pueden incluir imágenes, videos, modelos 3D, animaciones, texto e incluso sonidos, mejorando la interacción del usuario con su entorno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95266" y="3934859"/>
            <a:ext cx="7528964" cy="4503358"/>
            <a:chOff x="0" y="0"/>
            <a:chExt cx="1982937" cy="1186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82937" cy="1186070"/>
            </a:xfrm>
            <a:custGeom>
              <a:avLst/>
              <a:gdLst/>
              <a:ahLst/>
              <a:cxnLst/>
              <a:rect r="r" b="b" t="t" l="l"/>
              <a:pathLst>
                <a:path h="1186070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1133627"/>
                  </a:lnTo>
                  <a:cubicBezTo>
                    <a:pt x="1982937" y="1162590"/>
                    <a:pt x="1959458" y="1186070"/>
                    <a:pt x="1930495" y="1186070"/>
                  </a:cubicBezTo>
                  <a:lnTo>
                    <a:pt x="52443" y="1186070"/>
                  </a:lnTo>
                  <a:cubicBezTo>
                    <a:pt x="23479" y="1186070"/>
                    <a:pt x="0" y="1162590"/>
                    <a:pt x="0" y="1133627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82937" cy="123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104249" y="4061257"/>
            <a:ext cx="6510997" cy="409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diferencia del contenido digital tradicional, que se consume en pantallas planas, el contenido digital en RA permite a los usuarios experimentar e interactuar con los elementos digitales de manera inmersiva, generando nuevas formas de comunicación, educación, entretenimiento y comercio.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02006" y="2864291"/>
            <a:ext cx="12247282" cy="454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4"/>
              </a:lnSpc>
            </a:pPr>
            <a:r>
              <a:rPr lang="en-US" b="true" sz="992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Tipos de Contenido Digital en Realidad Aumentada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210154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210154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71483" y="4833373"/>
            <a:ext cx="3945033" cy="4304277"/>
          </a:xfrm>
          <a:custGeom>
            <a:avLst/>
            <a:gdLst/>
            <a:ahLst/>
            <a:cxnLst/>
            <a:rect r="r" b="b" t="t" l="l"/>
            <a:pathLst>
              <a:path h="4304277" w="3945033">
                <a:moveTo>
                  <a:pt x="0" y="0"/>
                </a:moveTo>
                <a:lnTo>
                  <a:pt x="3945034" y="0"/>
                </a:lnTo>
                <a:lnTo>
                  <a:pt x="3945034" y="4304277"/>
                </a:lnTo>
                <a:lnTo>
                  <a:pt x="0" y="4304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Imágenes y Gráficos 2D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7684" y="2327027"/>
            <a:ext cx="6510997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Superposición de imágenes, íconos o textos en entornos reales.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4249" y="2284149"/>
            <a:ext cx="6510997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Uso en publicidad interactiva o información contextual en museos y guías turísticas.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111473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111473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178573" y="4706116"/>
            <a:ext cx="5930855" cy="3685038"/>
          </a:xfrm>
          <a:custGeom>
            <a:avLst/>
            <a:gdLst/>
            <a:ahLst/>
            <a:cxnLst/>
            <a:rect r="r" b="b" t="t" l="l"/>
            <a:pathLst>
              <a:path h="3685038" w="5930855">
                <a:moveTo>
                  <a:pt x="0" y="0"/>
                </a:moveTo>
                <a:lnTo>
                  <a:pt x="5930854" y="0"/>
                </a:lnTo>
                <a:lnTo>
                  <a:pt x="5930854" y="3685038"/>
                </a:lnTo>
                <a:lnTo>
                  <a:pt x="0" y="3685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Modelos 3D y Animaciones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7684" y="2296566"/>
            <a:ext cx="6510997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22222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Representaciones tridimensionales de productos, personajes o estructuras.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4249" y="2518842"/>
            <a:ext cx="6510997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2222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Aplicaciones en comercio electrónico y arquitectura.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210154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210154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399173" y="4887147"/>
            <a:ext cx="5489653" cy="3657482"/>
          </a:xfrm>
          <a:custGeom>
            <a:avLst/>
            <a:gdLst/>
            <a:ahLst/>
            <a:cxnLst/>
            <a:rect r="r" b="b" t="t" l="l"/>
            <a:pathLst>
              <a:path h="3657482" w="5489653">
                <a:moveTo>
                  <a:pt x="0" y="0"/>
                </a:moveTo>
                <a:lnTo>
                  <a:pt x="5489654" y="0"/>
                </a:lnTo>
                <a:lnTo>
                  <a:pt x="5489654" y="3657481"/>
                </a:lnTo>
                <a:lnTo>
                  <a:pt x="0" y="3657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Videos en Realidad Aumentada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7684" y="2470521"/>
            <a:ext cx="6510997" cy="161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Contenido en video que se reproduce sobre superficies detectadas, como libros o empaques de productos.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57966" y="2470522"/>
            <a:ext cx="6510997" cy="16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Utilizado en marketing, entretenimiento y educación interactiva.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111473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111473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336788" y="4887147"/>
            <a:ext cx="5614424" cy="3740610"/>
          </a:xfrm>
          <a:custGeom>
            <a:avLst/>
            <a:gdLst/>
            <a:ahLst/>
            <a:cxnLst/>
            <a:rect r="r" b="b" t="t" l="l"/>
            <a:pathLst>
              <a:path h="3740610" w="5614424">
                <a:moveTo>
                  <a:pt x="0" y="0"/>
                </a:moveTo>
                <a:lnTo>
                  <a:pt x="5614424" y="0"/>
                </a:lnTo>
                <a:lnTo>
                  <a:pt x="5614424" y="3740610"/>
                </a:lnTo>
                <a:lnTo>
                  <a:pt x="0" y="3740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Texto y Datos Dinámicos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7684" y="2296566"/>
            <a:ext cx="6510997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22222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Información en tiempo real sobre productos, ubicaciones o personas.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4249" y="2253095"/>
            <a:ext cx="6510997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2222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Aplicaciones en navegación y señalización aumentada en ciudades inteligentes.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210154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210154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50969" y="4988220"/>
            <a:ext cx="6586062" cy="3457683"/>
          </a:xfrm>
          <a:custGeom>
            <a:avLst/>
            <a:gdLst/>
            <a:ahLst/>
            <a:cxnLst/>
            <a:rect r="r" b="b" t="t" l="l"/>
            <a:pathLst>
              <a:path h="3457683" w="6586062">
                <a:moveTo>
                  <a:pt x="0" y="0"/>
                </a:moveTo>
                <a:lnTo>
                  <a:pt x="6586062" y="0"/>
                </a:lnTo>
                <a:lnTo>
                  <a:pt x="6586062" y="3457683"/>
                </a:lnTo>
                <a:lnTo>
                  <a:pt x="0" y="3457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Sonido y Experiencias Auditivas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7684" y="2642421"/>
            <a:ext cx="6510997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Uso de audio espacializado en RA para mejorar la inmersión.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57966" y="2632896"/>
            <a:ext cx="6510997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Guías de museos y experiencias de narración aumentada.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20359" y="3028950"/>
            <a:ext cx="1224728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Creación de Contenido Digital en Realidad Aumentada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7294" y="5937871"/>
            <a:ext cx="14539536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Para desarrollar contenido digital con realidad aumentada, es necesario el uso de herramientas específicas que permitan integrar elementos digitales en el mundo real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210154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210154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133167" y="5220318"/>
            <a:ext cx="5320031" cy="2993487"/>
          </a:xfrm>
          <a:custGeom>
            <a:avLst/>
            <a:gdLst/>
            <a:ahLst/>
            <a:cxnLst/>
            <a:rect r="r" b="b" t="t" l="l"/>
            <a:pathLst>
              <a:path h="2993487" w="5320031">
                <a:moveTo>
                  <a:pt x="0" y="0"/>
                </a:moveTo>
                <a:lnTo>
                  <a:pt x="5320031" y="0"/>
                </a:lnTo>
                <a:lnTo>
                  <a:pt x="5320031" y="2993487"/>
                </a:lnTo>
                <a:lnTo>
                  <a:pt x="0" y="2993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01152" y="5445481"/>
            <a:ext cx="3110900" cy="2543161"/>
          </a:xfrm>
          <a:custGeom>
            <a:avLst/>
            <a:gdLst/>
            <a:ahLst/>
            <a:cxnLst/>
            <a:rect r="r" b="b" t="t" l="l"/>
            <a:pathLst>
              <a:path h="2543161" w="3110900">
                <a:moveTo>
                  <a:pt x="0" y="0"/>
                </a:moveTo>
                <a:lnTo>
                  <a:pt x="3110900" y="0"/>
                </a:lnTo>
                <a:lnTo>
                  <a:pt x="3110900" y="2543160"/>
                </a:lnTo>
                <a:lnTo>
                  <a:pt x="0" y="2543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296398" y="5382153"/>
            <a:ext cx="2669816" cy="2669816"/>
          </a:xfrm>
          <a:custGeom>
            <a:avLst/>
            <a:gdLst/>
            <a:ahLst/>
            <a:cxnLst/>
            <a:rect r="r" b="b" t="t" l="l"/>
            <a:pathLst>
              <a:path h="2669816" w="2669816">
                <a:moveTo>
                  <a:pt x="0" y="0"/>
                </a:moveTo>
                <a:lnTo>
                  <a:pt x="2669816" y="0"/>
                </a:lnTo>
                <a:lnTo>
                  <a:pt x="2669816" y="2669816"/>
                </a:lnTo>
                <a:lnTo>
                  <a:pt x="0" y="2669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Software de Diseño y Modelado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7684" y="2372545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Adobe Aero</a:t>
            </a: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Plataforma para crear experiencias interactivas de RA sin necesidad de programar.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4109" y="2591620"/>
            <a:ext cx="6510997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Bender y Autodesk Maya</a:t>
            </a: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reación de modelos 3D para su uso en RA.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3010355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3010355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54434" y="867816"/>
            <a:ext cx="1317913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b="true" sz="56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</a:t>
            </a:r>
            <a:r>
              <a:rPr lang="en-US" b="true" sz="56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otores de RA y Plataformas de Desarrollo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7684" y="3301333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27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ARKIT Y ARCORE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KI</a:t>
            </a: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ts de desarrollo para integrar RA en dispositivos móviles.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4109" y="3301333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27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VUFO</a:t>
            </a:r>
            <a:r>
              <a:rPr lang="en-US" b="true" sz="3499" spc="27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RIA Y WIKITUDE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PLATAFORMAS QUE PERMITEN </a:t>
            </a: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reconocimiento de imágenes y objetos.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379518" y="5887690"/>
            <a:ext cx="7528964" cy="2204118"/>
            <a:chOff x="0" y="0"/>
            <a:chExt cx="1982937" cy="5805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888502" y="6178668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27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</a:t>
            </a:r>
            <a:r>
              <a:rPr lang="en-US" b="true" sz="3499" spc="27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ITY Y UNREAL ENGINE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</a:t>
            </a:r>
            <a:r>
              <a:rPr lang="en-US" b="true" sz="2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tores gráficos utilizados para la creación de experiencias de RA interactivas.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693871"/>
            <a:ext cx="7528964" cy="2204118"/>
            <a:chOff x="0" y="0"/>
            <a:chExt cx="1982937" cy="580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5266" y="2693871"/>
            <a:ext cx="7528964" cy="2204118"/>
            <a:chOff x="0" y="0"/>
            <a:chExt cx="1982937" cy="580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54434" y="867816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Métodos de Implementación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7684" y="2856261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Marcadores visuales</a:t>
            </a: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 u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tilizan imágenes específicas como activadores del contenido digital en 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51861" y="3019642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 sin marcadores</a:t>
            </a: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Uso de 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reconocimiento de objetos o superficies para la superposición de elementos.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379518" y="5813063"/>
            <a:ext cx="7528964" cy="2204118"/>
            <a:chOff x="0" y="0"/>
            <a:chExt cx="1982937" cy="5805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2937" cy="580509"/>
            </a:xfrm>
            <a:custGeom>
              <a:avLst/>
              <a:gdLst/>
              <a:ahLst/>
              <a:cxnLst/>
              <a:rect r="r" b="b" t="t" l="l"/>
              <a:pathLst>
                <a:path h="580509" w="1982937">
                  <a:moveTo>
                    <a:pt x="52443" y="0"/>
                  </a:moveTo>
                  <a:lnTo>
                    <a:pt x="1930495" y="0"/>
                  </a:lnTo>
                  <a:cubicBezTo>
                    <a:pt x="1944403" y="0"/>
                    <a:pt x="1957742" y="5525"/>
                    <a:pt x="1967577" y="15360"/>
                  </a:cubicBezTo>
                  <a:cubicBezTo>
                    <a:pt x="1977412" y="25195"/>
                    <a:pt x="1982937" y="38534"/>
                    <a:pt x="1982937" y="52443"/>
                  </a:cubicBezTo>
                  <a:lnTo>
                    <a:pt x="1982937" y="528066"/>
                  </a:lnTo>
                  <a:cubicBezTo>
                    <a:pt x="1982937" y="557029"/>
                    <a:pt x="1959458" y="580509"/>
                    <a:pt x="1930495" y="580509"/>
                  </a:cubicBezTo>
                  <a:lnTo>
                    <a:pt x="52443" y="580509"/>
                  </a:lnTo>
                  <a:cubicBezTo>
                    <a:pt x="23479" y="580509"/>
                    <a:pt x="0" y="557029"/>
                    <a:pt x="0" y="528066"/>
                  </a:cubicBezTo>
                  <a:lnTo>
                    <a:pt x="0" y="52443"/>
                  </a:lnTo>
                  <a:cubicBezTo>
                    <a:pt x="0" y="23479"/>
                    <a:pt x="23479" y="0"/>
                    <a:pt x="52443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982937" cy="62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888502" y="5975454"/>
            <a:ext cx="6510997" cy="14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Geolocalización</a:t>
            </a:r>
            <a:r>
              <a:rPr lang="en-US" sz="3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ntegración de contenido digital basado en la ubicación del usuario.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48413" y="4040298"/>
            <a:ext cx="13991174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APLICACION DE LA REALIDAD AUMENTADA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61847" y="3466887"/>
            <a:ext cx="4154737" cy="2077369"/>
          </a:xfrm>
          <a:custGeom>
            <a:avLst/>
            <a:gdLst/>
            <a:ahLst/>
            <a:cxnLst/>
            <a:rect r="r" b="b" t="t" l="l"/>
            <a:pathLst>
              <a:path h="2077369" w="4154737">
                <a:moveTo>
                  <a:pt x="0" y="0"/>
                </a:moveTo>
                <a:lnTo>
                  <a:pt x="4154738" y="0"/>
                </a:lnTo>
                <a:lnTo>
                  <a:pt x="4154738" y="2077369"/>
                </a:lnTo>
                <a:lnTo>
                  <a:pt x="0" y="207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A9BD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906652" y="3333160"/>
            <a:ext cx="3779807" cy="2344823"/>
          </a:xfrm>
          <a:custGeom>
            <a:avLst/>
            <a:gdLst/>
            <a:ahLst/>
            <a:cxnLst/>
            <a:rect r="r" b="b" t="t" l="l"/>
            <a:pathLst>
              <a:path h="2344823" w="3779807">
                <a:moveTo>
                  <a:pt x="0" y="0"/>
                </a:moveTo>
                <a:lnTo>
                  <a:pt x="3779807" y="0"/>
                </a:lnTo>
                <a:lnTo>
                  <a:pt x="3779807" y="2344824"/>
                </a:lnTo>
                <a:lnTo>
                  <a:pt x="0" y="234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70595" y="6122665"/>
            <a:ext cx="3946809" cy="2609828"/>
          </a:xfrm>
          <a:custGeom>
            <a:avLst/>
            <a:gdLst/>
            <a:ahLst/>
            <a:cxnLst/>
            <a:rect r="r" b="b" t="t" l="l"/>
            <a:pathLst>
              <a:path h="2609828" w="3946809">
                <a:moveTo>
                  <a:pt x="0" y="0"/>
                </a:moveTo>
                <a:lnTo>
                  <a:pt x="3946810" y="0"/>
                </a:lnTo>
                <a:lnTo>
                  <a:pt x="3946810" y="2609827"/>
                </a:lnTo>
                <a:lnTo>
                  <a:pt x="0" y="26098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553491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Educación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076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Libros y Materiales Interactivos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Editoriales han desarrollado libros que, al ser escaneados con una aplicación de RA, muestran modelos 3D, videos y contenido adicional.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79342"/>
            <a:ext cx="533286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2199" spc="10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Simulaciones y Laboratorios Virtuales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 asignaturas como biología y química, la RA permite a los estudiantes interactuar con modelos de células, moléculas y reacciones en un entorno seguro.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42556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Aprendizaje de Idiomas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Apl</a:t>
            </a: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icaciones como Mondly usan RA para enseñar vocabulario y gramática con escenarios interactivos.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779415" y="3265660"/>
            <a:ext cx="3018902" cy="2323162"/>
          </a:xfrm>
          <a:custGeom>
            <a:avLst/>
            <a:gdLst/>
            <a:ahLst/>
            <a:cxnLst/>
            <a:rect r="r" b="b" t="t" l="l"/>
            <a:pathLst>
              <a:path h="2323162" w="3018902">
                <a:moveTo>
                  <a:pt x="0" y="0"/>
                </a:moveTo>
                <a:lnTo>
                  <a:pt x="3018903" y="0"/>
                </a:lnTo>
                <a:lnTo>
                  <a:pt x="3018903" y="2323162"/>
                </a:lnTo>
                <a:lnTo>
                  <a:pt x="0" y="2323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605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798939" y="3303582"/>
            <a:ext cx="3995232" cy="2247318"/>
          </a:xfrm>
          <a:custGeom>
            <a:avLst/>
            <a:gdLst/>
            <a:ahLst/>
            <a:cxnLst/>
            <a:rect r="r" b="b" t="t" l="l"/>
            <a:pathLst>
              <a:path h="2247318" w="3995232">
                <a:moveTo>
                  <a:pt x="0" y="0"/>
                </a:moveTo>
                <a:lnTo>
                  <a:pt x="3995233" y="0"/>
                </a:lnTo>
                <a:lnTo>
                  <a:pt x="3995233" y="2247318"/>
                </a:lnTo>
                <a:lnTo>
                  <a:pt x="0" y="2247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37769" y="6430009"/>
            <a:ext cx="3412461" cy="2277818"/>
          </a:xfrm>
          <a:custGeom>
            <a:avLst/>
            <a:gdLst/>
            <a:ahLst/>
            <a:cxnLst/>
            <a:rect r="r" b="b" t="t" l="l"/>
            <a:pathLst>
              <a:path h="2277818" w="3412461">
                <a:moveTo>
                  <a:pt x="0" y="0"/>
                </a:moveTo>
                <a:lnTo>
                  <a:pt x="3412462" y="0"/>
                </a:lnTo>
                <a:lnTo>
                  <a:pt x="3412462" y="2277818"/>
                </a:lnTo>
                <a:lnTo>
                  <a:pt x="0" y="2277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Salud y Medicina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2433" y="1672707"/>
            <a:ext cx="533286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2199" spc="17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Visualizacion de Anatomía Humana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APLICAC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iones como Human Anatomy Atlas permiten estudiar el cuerpo humano en detalle con modelos 3D interactivos.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Cirugía Asistida por RA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HERR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amientas como Microsoft HoloLens son usadas por cirujanos para proyectar imágenes médicas en tiempo real y mejorar la precisión en procedimientos.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87122"/>
            <a:ext cx="5332867" cy="189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Terapia y Rehabilitacion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EN F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isioterapia, la RA se usa para guiar a los pacientes en ejercicios de recuperación con instrucciones visuales en tiempo real.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A9BD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785556" y="3403132"/>
            <a:ext cx="3307319" cy="2204879"/>
          </a:xfrm>
          <a:custGeom>
            <a:avLst/>
            <a:gdLst/>
            <a:ahLst/>
            <a:cxnLst/>
            <a:rect r="r" b="b" t="t" l="l"/>
            <a:pathLst>
              <a:path h="2204879" w="3307319">
                <a:moveTo>
                  <a:pt x="0" y="0"/>
                </a:moveTo>
                <a:lnTo>
                  <a:pt x="3307319" y="0"/>
                </a:lnTo>
                <a:lnTo>
                  <a:pt x="3307319" y="2204879"/>
                </a:lnTo>
                <a:lnTo>
                  <a:pt x="0" y="2204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92028" y="3302554"/>
            <a:ext cx="3609054" cy="2406036"/>
          </a:xfrm>
          <a:custGeom>
            <a:avLst/>
            <a:gdLst/>
            <a:ahLst/>
            <a:cxnLst/>
            <a:rect r="r" b="b" t="t" l="l"/>
            <a:pathLst>
              <a:path h="2406036" w="3609054">
                <a:moveTo>
                  <a:pt x="0" y="0"/>
                </a:moveTo>
                <a:lnTo>
                  <a:pt x="3609055" y="0"/>
                </a:lnTo>
                <a:lnTo>
                  <a:pt x="3609055" y="2406036"/>
                </a:lnTo>
                <a:lnTo>
                  <a:pt x="0" y="24060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382190" y="6443156"/>
            <a:ext cx="3523620" cy="2347612"/>
          </a:xfrm>
          <a:custGeom>
            <a:avLst/>
            <a:gdLst/>
            <a:ahLst/>
            <a:cxnLst/>
            <a:rect r="r" b="b" t="t" l="l"/>
            <a:pathLst>
              <a:path h="2347612" w="3523620">
                <a:moveTo>
                  <a:pt x="0" y="0"/>
                </a:moveTo>
                <a:lnTo>
                  <a:pt x="3523620" y="0"/>
                </a:lnTo>
                <a:lnTo>
                  <a:pt x="3523620" y="2347612"/>
                </a:lnTo>
                <a:lnTo>
                  <a:pt x="0" y="23476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553491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Manufactura e Industria 4.0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076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Asistencia en Ensamblaje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Empresas como Boeing han implementado RA para guiar a los operarios en el ensamblaje de componentes con superposición de instrucciones sobre las piezas.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Mantenimiento Preventivo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 plantas industriales, la RA permite visualizar información en tiempo real sobre el estado de maquinaria, reduciendo fallos y tiempos de inactividad.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42556"/>
            <a:ext cx="5332867" cy="189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Capacitación Laboral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RA ayuda a entrenar a los trabajadores en procedimientos técnicos sin necesidad de equipos físicos costosos.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48673" y="3303582"/>
            <a:ext cx="3280386" cy="2357778"/>
          </a:xfrm>
          <a:custGeom>
            <a:avLst/>
            <a:gdLst/>
            <a:ahLst/>
            <a:cxnLst/>
            <a:rect r="r" b="b" t="t" l="l"/>
            <a:pathLst>
              <a:path h="2357778" w="3280386">
                <a:moveTo>
                  <a:pt x="0" y="0"/>
                </a:moveTo>
                <a:lnTo>
                  <a:pt x="3280387" y="0"/>
                </a:lnTo>
                <a:lnTo>
                  <a:pt x="3280387" y="2357777"/>
                </a:lnTo>
                <a:lnTo>
                  <a:pt x="0" y="2357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580117" y="3228482"/>
            <a:ext cx="2432878" cy="2432878"/>
          </a:xfrm>
          <a:custGeom>
            <a:avLst/>
            <a:gdLst/>
            <a:ahLst/>
            <a:cxnLst/>
            <a:rect r="r" b="b" t="t" l="l"/>
            <a:pathLst>
              <a:path h="2432878" w="2432878">
                <a:moveTo>
                  <a:pt x="0" y="0"/>
                </a:moveTo>
                <a:lnTo>
                  <a:pt x="2432877" y="0"/>
                </a:lnTo>
                <a:lnTo>
                  <a:pt x="2432877" y="2432877"/>
                </a:lnTo>
                <a:lnTo>
                  <a:pt x="0" y="24328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959" t="-11110" r="-14851" b="-1470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59581" y="6466104"/>
            <a:ext cx="3368839" cy="2164479"/>
          </a:xfrm>
          <a:custGeom>
            <a:avLst/>
            <a:gdLst/>
            <a:ahLst/>
            <a:cxnLst/>
            <a:rect r="r" b="b" t="t" l="l"/>
            <a:pathLst>
              <a:path h="2164479" w="3368839">
                <a:moveTo>
                  <a:pt x="0" y="0"/>
                </a:moveTo>
                <a:lnTo>
                  <a:pt x="3368838" y="0"/>
                </a:lnTo>
                <a:lnTo>
                  <a:pt x="3368838" y="2164479"/>
                </a:lnTo>
                <a:lnTo>
                  <a:pt x="0" y="21644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Entretenimiento y Juegos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2782" y="1597757"/>
            <a:ext cx="5332867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2499" spc="1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Juegos de Realidad Aumentada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okémon GO y Harry Potter: Wizards Unite han popularizado el uso de RA en dispositivos móviles, combinando mundos virtuales con ubicaciones reales.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Efectos y Filtros en Redes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aciones como Instagram, Snapchat y TikTok han integrado RA para permitir efectos visuales en fotos y videos en tiempo real.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87122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Eventos y Espectáculos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CONC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iertos y presentaciones en vivo han implementado efectos de RA para mejorar la experiencia del público.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A9BD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47169" y="3088121"/>
            <a:ext cx="3984093" cy="2188187"/>
          </a:xfrm>
          <a:custGeom>
            <a:avLst/>
            <a:gdLst/>
            <a:ahLst/>
            <a:cxnLst/>
            <a:rect r="r" b="b" t="t" l="l"/>
            <a:pathLst>
              <a:path h="2188187" w="3984093">
                <a:moveTo>
                  <a:pt x="0" y="0"/>
                </a:moveTo>
                <a:lnTo>
                  <a:pt x="3984094" y="0"/>
                </a:lnTo>
                <a:lnTo>
                  <a:pt x="3984094" y="2188187"/>
                </a:lnTo>
                <a:lnTo>
                  <a:pt x="0" y="2188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40691" y="3467892"/>
            <a:ext cx="3711730" cy="2087848"/>
          </a:xfrm>
          <a:custGeom>
            <a:avLst/>
            <a:gdLst/>
            <a:ahLst/>
            <a:cxnLst/>
            <a:rect r="r" b="b" t="t" l="l"/>
            <a:pathLst>
              <a:path h="2087848" w="3711730">
                <a:moveTo>
                  <a:pt x="0" y="0"/>
                </a:moveTo>
                <a:lnTo>
                  <a:pt x="3711730" y="0"/>
                </a:lnTo>
                <a:lnTo>
                  <a:pt x="3711730" y="2087849"/>
                </a:lnTo>
                <a:lnTo>
                  <a:pt x="0" y="20878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73020" y="6450438"/>
            <a:ext cx="3941959" cy="2212425"/>
          </a:xfrm>
          <a:custGeom>
            <a:avLst/>
            <a:gdLst/>
            <a:ahLst/>
            <a:cxnLst/>
            <a:rect r="r" b="b" t="t" l="l"/>
            <a:pathLst>
              <a:path h="2212425" w="3941959">
                <a:moveTo>
                  <a:pt x="0" y="0"/>
                </a:moveTo>
                <a:lnTo>
                  <a:pt x="3941960" y="0"/>
                </a:lnTo>
                <a:lnTo>
                  <a:pt x="3941960" y="2212424"/>
                </a:lnTo>
                <a:lnTo>
                  <a:pt x="0" y="2212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553491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Retail y Comercio Electrónico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076" y="1550767"/>
            <a:ext cx="5332867" cy="130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Prueba Virtual de Productos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Empresas como IKEA permiten visualizar muebles en casa antes de comprarlos mediante RA.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Moda y Accesorios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arcas como Nike y Gucci han implementado RA para que los clientes prueben ropa y calzado de manera virtual.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42556"/>
            <a:ext cx="5332867" cy="189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13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Publicidad Interactiva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Anuncios en revistas y carteles han incorporado RA para mostrar contenido adicional al escanearlos con un dispositivo móvil.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4159" y="1658391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21499" y="1658391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34868" y="3441670"/>
            <a:ext cx="3808696" cy="2147152"/>
          </a:xfrm>
          <a:custGeom>
            <a:avLst/>
            <a:gdLst/>
            <a:ahLst/>
            <a:cxnLst/>
            <a:rect r="r" b="b" t="t" l="l"/>
            <a:pathLst>
              <a:path h="2147152" w="3808696">
                <a:moveTo>
                  <a:pt x="0" y="0"/>
                </a:moveTo>
                <a:lnTo>
                  <a:pt x="3808696" y="0"/>
                </a:lnTo>
                <a:lnTo>
                  <a:pt x="3808696" y="2147152"/>
                </a:lnTo>
                <a:lnTo>
                  <a:pt x="0" y="2147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176768" y="3325592"/>
            <a:ext cx="3392195" cy="2263230"/>
          </a:xfrm>
          <a:custGeom>
            <a:avLst/>
            <a:gdLst/>
            <a:ahLst/>
            <a:cxnLst/>
            <a:rect r="r" b="b" t="t" l="l"/>
            <a:pathLst>
              <a:path h="2263230" w="3392195">
                <a:moveTo>
                  <a:pt x="0" y="0"/>
                </a:moveTo>
                <a:lnTo>
                  <a:pt x="3392194" y="0"/>
                </a:lnTo>
                <a:lnTo>
                  <a:pt x="3392194" y="2263230"/>
                </a:lnTo>
                <a:lnTo>
                  <a:pt x="0" y="2263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554524" y="6595118"/>
            <a:ext cx="3178952" cy="1822599"/>
          </a:xfrm>
          <a:custGeom>
            <a:avLst/>
            <a:gdLst/>
            <a:ahLst/>
            <a:cxnLst/>
            <a:rect r="r" b="b" t="t" l="l"/>
            <a:pathLst>
              <a:path h="1822599" w="3178952">
                <a:moveTo>
                  <a:pt x="0" y="0"/>
                </a:moveTo>
                <a:lnTo>
                  <a:pt x="3178952" y="0"/>
                </a:lnTo>
                <a:lnTo>
                  <a:pt x="3178952" y="1822600"/>
                </a:lnTo>
                <a:lnTo>
                  <a:pt x="0" y="1822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Turismo y Cultura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6076" y="1625106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Guías Turísticas Aumentadas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Aplicaci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ones como Google Lens ofrecen datos históricos y culturales al escanear monumentos o puntos de interés.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0122" y="1550767"/>
            <a:ext cx="5332867" cy="16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Museos y Exposiciones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Inst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ITU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ciones como el Museo Británico han incorporado experiencias de RA para visualizar reconstrucciones de piezas arqueológicas.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77566" y="4687122"/>
            <a:ext cx="5332867" cy="219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2699" spc="21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Mapas y Navegación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OOGL</a:t>
            </a:r>
            <a:r>
              <a:rPr lang="en-US" sz="1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 Maps ha integrado RA para mejorar la orientación con indicaciones visuales sobre el entorno real.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3554" y="2225676"/>
            <a:ext cx="14233665" cy="703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6" indent="-431803" lvl="1">
              <a:lnSpc>
                <a:spcPts val="5600"/>
              </a:lnSpc>
              <a:buFont typeface="Arial"/>
              <a:buChar char="•"/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Contenido Digital en AR: </a:t>
            </a:r>
            <a:r>
              <a:rPr lang="en-US" sz="4000" spc="32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Una gran parte de la Realidad Aumentada es en sí el contenido que se muestra, para ellos es importante contar con diversas fuentes y herramientas para la creación de dicho contenido.</a:t>
            </a:r>
          </a:p>
          <a:p>
            <a:pPr algn="just">
              <a:lnSpc>
                <a:spcPts val="5600"/>
              </a:lnSpc>
            </a:pPr>
          </a:p>
          <a:p>
            <a:pPr algn="just" marL="863606" indent="-431803" lvl="1">
              <a:lnSpc>
                <a:spcPts val="5600"/>
              </a:lnSpc>
              <a:buFont typeface="Arial"/>
              <a:buChar char="•"/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Aplicación de la Realidad Aumentada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 </a:t>
            </a:r>
            <a:r>
              <a:rPr lang="en-US" sz="4000" spc="32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áreas de aplicación de la Realidad Aumentada son muy grandes, desde la educación hasta la salud y comercio.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2214548"/>
            <a:ext cx="14233665" cy="642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Innov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ación: Buscar nuevas formas de aplicar la RA para mejorar la sociedad.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Responsabilidad: Diseñar aplicaciones que respeten la privacidad y la seguridad de los usuarios.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Trabajo en equipo: La RA requiere colaboración entre ingenieros, diseñadores y especialistas en experiencia de usuario.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Ética profesional: Garantizar el uso adecuado de la RA en contextos críticos como la salud y la educación.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Compromiso con la accesibilidad: Desarrollar aplicaciones de RA inclusivas para toda la población.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2547366"/>
            <a:ext cx="14233665" cy="592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Azuma, R. (1997). "A Survey of Augmented Reality." Presence: Teleoperators and Virtual Environments.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Billinghurst, M., Clark, A., &amp; Lee, G. (2015). "A survey of augmented reality." Foundations and Trends in Human–Computer Interaction.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Milgram, P., &amp; Kishino, F. (1994). "A Taxonomy of Mixed Reality Visual Displays." IEICE Transactions on Information and Systems.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Google AR &amp; VR. (2024). ARCore Developer Guide.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Unity Technologies. (2024). Augmented Reality Development with Unity.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DAGn8tI7RDU</dc:identifier>
  <dcterms:modified xsi:type="dcterms:W3CDTF">2011-08-01T06:04:30Z</dcterms:modified>
  <cp:revision>1</cp:revision>
  <dc:title>Clase 08</dc:title>
</cp:coreProperties>
</file>