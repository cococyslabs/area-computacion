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73" r:id="rId15"/>
    <p:sldId id="279" r:id="rId16"/>
    <p:sldId id="280" r:id="rId17"/>
    <p:sldId id="281" r:id="rId18"/>
    <p:sldId id="274" r:id="rId19"/>
  </p:sldIdLst>
  <p:sldSz cx="18288000" cy="10287000"/>
  <p:notesSz cx="6858000" cy="9144000"/>
  <p:embeddedFontLst>
    <p:embeddedFont>
      <p:font typeface="Arial Bold" panose="020B0704020202020204" pitchFamily="34" charset="0"/>
      <p:regular r:id="rId21"/>
      <p:bold r:id="rId22"/>
    </p:embeddedFont>
    <p:embeddedFont>
      <p:font typeface="Arimo" panose="020B0604020202020204" charset="0"/>
      <p:regular r:id="rId23"/>
    </p:embeddedFont>
    <p:embeddedFont>
      <p:font typeface="HK Grotesk" panose="020B0604020202020204" charset="0"/>
      <p:regular r:id="rId24"/>
    </p:embeddedFont>
    <p:embeddedFont>
      <p:font typeface="HK Grotesk Bold" panose="020B0604020202020204" charset="0"/>
      <p:regular r:id="rId25"/>
    </p:embeddedFont>
    <p:embeddedFont>
      <p:font typeface="HK Grotesk Medium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71FF9-4DB0-44AB-A916-1F850949D1B7}" v="6" dt="2025-11-01T04:40:42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195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Buezo" userId="d44e5f3f-39a8-4f70-a374-9ef0db0805cd" providerId="ADAL" clId="{996B3292-AC6C-4302-9B50-82325D2A977A}"/>
    <pc:docChg chg="custSel addSld delSld modSld">
      <pc:chgData name="Robin Buezo" userId="d44e5f3f-39a8-4f70-a374-9ef0db0805cd" providerId="ADAL" clId="{996B3292-AC6C-4302-9B50-82325D2A977A}" dt="2025-11-01T04:40:42.869" v="95"/>
      <pc:docMkLst>
        <pc:docMk/>
      </pc:docMkLst>
      <pc:sldChg chg="modSp mod">
        <pc:chgData name="Robin Buezo" userId="d44e5f3f-39a8-4f70-a374-9ef0db0805cd" providerId="ADAL" clId="{996B3292-AC6C-4302-9B50-82325D2A977A}" dt="2025-11-01T04:02:51.901" v="89" actId="20577"/>
        <pc:sldMkLst>
          <pc:docMk/>
          <pc:sldMk cId="0" sldId="256"/>
        </pc:sldMkLst>
        <pc:spChg chg="mod">
          <ac:chgData name="Robin Buezo" userId="d44e5f3f-39a8-4f70-a374-9ef0db0805cd" providerId="ADAL" clId="{996B3292-AC6C-4302-9B50-82325D2A977A}" dt="2025-11-01T04:02:51.901" v="89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Robin Buezo" userId="d44e5f3f-39a8-4f70-a374-9ef0db0805cd" providerId="ADAL" clId="{996B3292-AC6C-4302-9B50-82325D2A977A}" dt="2025-11-01T04:38:53.314" v="91" actId="20577"/>
        <pc:sldMkLst>
          <pc:docMk/>
          <pc:sldMk cId="0" sldId="257"/>
        </pc:sldMkLst>
        <pc:spChg chg="mod">
          <ac:chgData name="Robin Buezo" userId="d44e5f3f-39a8-4f70-a374-9ef0db0805cd" providerId="ADAL" clId="{996B3292-AC6C-4302-9B50-82325D2A977A}" dt="2025-11-01T04:38:53.314" v="91" actId="20577"/>
          <ac:spMkLst>
            <pc:docMk/>
            <pc:sldMk cId="0" sldId="257"/>
            <ac:spMk id="14" creationId="{00000000-0000-0000-0000-000000000000}"/>
          </ac:spMkLst>
        </pc:spChg>
        <pc:grpChg chg="mod">
          <ac:chgData name="Robin Buezo" userId="d44e5f3f-39a8-4f70-a374-9ef0db0805cd" providerId="ADAL" clId="{996B3292-AC6C-4302-9B50-82325D2A977A}" dt="2025-11-01T03:28:10.695" v="3" actId="1035"/>
          <ac:grpSpMkLst>
            <pc:docMk/>
            <pc:sldMk cId="0" sldId="257"/>
            <ac:grpSpMk id="3" creationId="{00000000-0000-0000-0000-000000000000}"/>
          </ac:grpSpMkLst>
        </pc:grpChg>
      </pc:sldChg>
      <pc:sldChg chg="addSp delSp modSp mod">
        <pc:chgData name="Robin Buezo" userId="d44e5f3f-39a8-4f70-a374-9ef0db0805cd" providerId="ADAL" clId="{996B3292-AC6C-4302-9B50-82325D2A977A}" dt="2025-11-01T03:29:58.139" v="9" actId="1076"/>
        <pc:sldMkLst>
          <pc:docMk/>
          <pc:sldMk cId="0" sldId="258"/>
        </pc:sldMkLst>
        <pc:spChg chg="del">
          <ac:chgData name="Robin Buezo" userId="d44e5f3f-39a8-4f70-a374-9ef0db0805cd" providerId="ADAL" clId="{996B3292-AC6C-4302-9B50-82325D2A977A}" dt="2025-11-01T03:29:44.789" v="4" actId="478"/>
          <ac:spMkLst>
            <pc:docMk/>
            <pc:sldMk cId="0" sldId="258"/>
            <ac:spMk id="14" creationId="{00000000-0000-0000-0000-000000000000}"/>
          </ac:spMkLst>
        </pc:spChg>
        <pc:picChg chg="add mod">
          <ac:chgData name="Robin Buezo" userId="d44e5f3f-39a8-4f70-a374-9ef0db0805cd" providerId="ADAL" clId="{996B3292-AC6C-4302-9B50-82325D2A977A}" dt="2025-11-01T03:29:58.139" v="9" actId="1076"/>
          <ac:picMkLst>
            <pc:docMk/>
            <pc:sldMk cId="0" sldId="258"/>
            <ac:picMk id="21" creationId="{434FC632-85FA-78F9-B828-693781932C1E}"/>
          </ac:picMkLst>
        </pc:picChg>
      </pc:sldChg>
      <pc:sldChg chg="modSp mod">
        <pc:chgData name="Robin Buezo" userId="d44e5f3f-39a8-4f70-a374-9ef0db0805cd" providerId="ADAL" clId="{996B3292-AC6C-4302-9B50-82325D2A977A}" dt="2025-11-01T03:34:56.588" v="26" actId="20577"/>
        <pc:sldMkLst>
          <pc:docMk/>
          <pc:sldMk cId="0" sldId="259"/>
        </pc:sldMkLst>
        <pc:spChg chg="mod">
          <ac:chgData name="Robin Buezo" userId="d44e5f3f-39a8-4f70-a374-9ef0db0805cd" providerId="ADAL" clId="{996B3292-AC6C-4302-9B50-82325D2A977A}" dt="2025-11-01T03:34:56.588" v="26" actId="20577"/>
          <ac:spMkLst>
            <pc:docMk/>
            <pc:sldMk cId="0" sldId="259"/>
            <ac:spMk id="13" creationId="{00000000-0000-0000-0000-000000000000}"/>
          </ac:spMkLst>
        </pc:spChg>
      </pc:sldChg>
      <pc:sldChg chg="del">
        <pc:chgData name="Robin Buezo" userId="d44e5f3f-39a8-4f70-a374-9ef0db0805cd" providerId="ADAL" clId="{996B3292-AC6C-4302-9B50-82325D2A977A}" dt="2025-11-01T03:31:04.136" v="11" actId="47"/>
        <pc:sldMkLst>
          <pc:docMk/>
          <pc:sldMk cId="0" sldId="267"/>
        </pc:sldMkLst>
      </pc:sldChg>
      <pc:sldChg chg="del">
        <pc:chgData name="Robin Buezo" userId="d44e5f3f-39a8-4f70-a374-9ef0db0805cd" providerId="ADAL" clId="{996B3292-AC6C-4302-9B50-82325D2A977A}" dt="2025-11-01T03:31:05.249" v="12" actId="47"/>
        <pc:sldMkLst>
          <pc:docMk/>
          <pc:sldMk cId="0" sldId="268"/>
        </pc:sldMkLst>
      </pc:sldChg>
      <pc:sldChg chg="del">
        <pc:chgData name="Robin Buezo" userId="d44e5f3f-39a8-4f70-a374-9ef0db0805cd" providerId="ADAL" clId="{996B3292-AC6C-4302-9B50-82325D2A977A}" dt="2025-11-01T03:31:06.083" v="13" actId="47"/>
        <pc:sldMkLst>
          <pc:docMk/>
          <pc:sldMk cId="0" sldId="269"/>
        </pc:sldMkLst>
      </pc:sldChg>
      <pc:sldChg chg="del">
        <pc:chgData name="Robin Buezo" userId="d44e5f3f-39a8-4f70-a374-9ef0db0805cd" providerId="ADAL" clId="{996B3292-AC6C-4302-9B50-82325D2A977A}" dt="2025-11-01T03:31:09.773" v="14" actId="47"/>
        <pc:sldMkLst>
          <pc:docMk/>
          <pc:sldMk cId="0" sldId="270"/>
        </pc:sldMkLst>
      </pc:sldChg>
      <pc:sldChg chg="modSp mod">
        <pc:chgData name="Robin Buezo" userId="d44e5f3f-39a8-4f70-a374-9ef0db0805cd" providerId="ADAL" clId="{996B3292-AC6C-4302-9B50-82325D2A977A}" dt="2025-11-01T04:40:42.869" v="95"/>
        <pc:sldMkLst>
          <pc:docMk/>
          <pc:sldMk cId="0" sldId="272"/>
        </pc:sldMkLst>
        <pc:spChg chg="mod">
          <ac:chgData name="Robin Buezo" userId="d44e5f3f-39a8-4f70-a374-9ef0db0805cd" providerId="ADAL" clId="{996B3292-AC6C-4302-9B50-82325D2A977A}" dt="2025-11-01T04:40:34.404" v="94" actId="2057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1-01T04:40:42.869" v="95"/>
          <ac:spMkLst>
            <pc:docMk/>
            <pc:sldMk cId="0" sldId="272"/>
            <ac:spMk id="13" creationId="{00000000-0000-0000-0000-000000000000}"/>
          </ac:spMkLst>
        </pc:spChg>
      </pc:sldChg>
      <pc:sldChg chg="modSp mod">
        <pc:chgData name="Robin Buezo" userId="d44e5f3f-39a8-4f70-a374-9ef0db0805cd" providerId="ADAL" clId="{996B3292-AC6C-4302-9B50-82325D2A977A}" dt="2025-11-01T03:31:48.271" v="20" actId="1076"/>
        <pc:sldMkLst>
          <pc:docMk/>
          <pc:sldMk cId="0" sldId="273"/>
        </pc:sldMkLst>
        <pc:spChg chg="mod">
          <ac:chgData name="Robin Buezo" userId="d44e5f3f-39a8-4f70-a374-9ef0db0805cd" providerId="ADAL" clId="{996B3292-AC6C-4302-9B50-82325D2A977A}" dt="2025-11-01T03:31:48.271" v="20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1-01T03:31:45.798" v="19" actId="1076"/>
          <ac:spMkLst>
            <pc:docMk/>
            <pc:sldMk cId="0" sldId="273"/>
            <ac:spMk id="13" creationId="{00000000-0000-0000-0000-000000000000}"/>
          </ac:spMkLst>
        </pc:spChg>
      </pc:sldChg>
      <pc:sldChg chg="add">
        <pc:chgData name="Robin Buezo" userId="d44e5f3f-39a8-4f70-a374-9ef0db0805cd" providerId="ADAL" clId="{996B3292-AC6C-4302-9B50-82325D2A977A}" dt="2025-11-01T03:32:12.428" v="21"/>
        <pc:sldMkLst>
          <pc:docMk/>
          <pc:sldMk cId="3289369567" sldId="279"/>
        </pc:sldMkLst>
      </pc:sldChg>
      <pc:sldChg chg="add">
        <pc:chgData name="Robin Buezo" userId="d44e5f3f-39a8-4f70-a374-9ef0db0805cd" providerId="ADAL" clId="{996B3292-AC6C-4302-9B50-82325D2A977A}" dt="2025-11-01T03:32:12.428" v="21"/>
        <pc:sldMkLst>
          <pc:docMk/>
          <pc:sldMk cId="3676367595" sldId="280"/>
        </pc:sldMkLst>
      </pc:sldChg>
      <pc:sldChg chg="add">
        <pc:chgData name="Robin Buezo" userId="d44e5f3f-39a8-4f70-a374-9ef0db0805cd" providerId="ADAL" clId="{996B3292-AC6C-4302-9B50-82325D2A977A}" dt="2025-11-01T03:32:12.428" v="21"/>
        <pc:sldMkLst>
          <pc:docMk/>
          <pc:sldMk cId="0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0321C-00D0-4644-BAE0-F6B13F1E06E1}" type="datetimeFigureOut">
              <a:rPr lang="es-GT" smtClean="0"/>
              <a:t>31/10/2025</a:t>
            </a:fld>
            <a:endParaRPr lang="es-GT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6FE2F-95D6-4C97-BD2D-18D20E1A774F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90575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e2d797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85e2d797d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e2d797db_0_6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85e2d797db_0_6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85e2d797db_0_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02" y="0"/>
            <a:ext cx="18254198" cy="10287002"/>
          </a:xfrm>
          <a:custGeom>
            <a:avLst/>
            <a:gdLst/>
            <a:ahLst/>
            <a:cxnLst/>
            <a:rect l="l" t="t" r="r" b="b"/>
            <a:pathLst>
              <a:path w="18254198" h="10287002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656400" y="1940050"/>
          <a:ext cx="7366000" cy="1547812"/>
        </p:xfrm>
        <a:graphic>
          <a:graphicData uri="http://schemas.openxmlformats.org/drawingml/2006/table">
            <a:tbl>
              <a:tblPr/>
              <a:tblGrid>
                <a:gridCol w="303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906">
                <a:tc>
                  <a:txBody>
                    <a:bodyPr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284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284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3864138" y="4529138"/>
            <a:ext cx="9513297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 1 [A]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17834" y="5845971"/>
            <a:ext cx="7005905" cy="723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Tutor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1028700" y="952500"/>
            <a:ext cx="16230600" cy="8382465"/>
            <a:chOff x="0" y="0"/>
            <a:chExt cx="6045684" cy="31223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45684" cy="3122357"/>
            </a:xfrm>
            <a:custGeom>
              <a:avLst/>
              <a:gdLst/>
              <a:ahLst/>
              <a:cxnLst/>
              <a:rect l="l" t="t" r="r" b="b"/>
              <a:pathLst>
                <a:path w="6045684" h="3122357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374539" y="8993151"/>
            <a:ext cx="4284389" cy="1567256"/>
            <a:chOff x="0" y="0"/>
            <a:chExt cx="1128399" cy="4127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8399" cy="412775"/>
            </a:xfrm>
            <a:custGeom>
              <a:avLst/>
              <a:gdLst/>
              <a:ahLst/>
              <a:cxnLst/>
              <a:rect l="l" t="t" r="r" b="b"/>
              <a:pathLst>
                <a:path w="1128399" h="412775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39254" cy="412775"/>
            </a:xfrm>
            <a:custGeom>
              <a:avLst/>
              <a:gdLst/>
              <a:ahLst/>
              <a:cxnLst/>
              <a:rect l="l" t="t" r="r" b="b"/>
              <a:pathLst>
                <a:path w="1839254" h="412775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5400000" flipH="1" flipV="1">
            <a:off x="10540746" y="-52264"/>
            <a:ext cx="11547949" cy="9406329"/>
          </a:xfrm>
          <a:custGeom>
            <a:avLst/>
            <a:gdLst/>
            <a:ahLst/>
            <a:cxnLst/>
            <a:rect l="l" t="t" r="r" b="b"/>
            <a:pathLst>
              <a:path w="11547949" h="940632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TextBox 13"/>
          <p:cNvSpPr txBox="1"/>
          <p:nvPr/>
        </p:nvSpPr>
        <p:spPr>
          <a:xfrm>
            <a:off x="2118001" y="6620396"/>
            <a:ext cx="9224082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Escuela de Ingenieria de Ciencias Y Sistemas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Facultad de Ingenieria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Universidad de San Carlos de Guatemala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50A30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18001" y="3415707"/>
            <a:ext cx="11119114" cy="121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000" b="1" dirty="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Clase 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84676" y="2365657"/>
            <a:ext cx="11052439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sz="5500" b="1" spc="4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INTELIGENCIA ARTIFICIAL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18001" y="857436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13553005" y="935761"/>
            <a:ext cx="5036482" cy="5036482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8" name="AutoShape 18"/>
          <p:cNvSpPr/>
          <p:nvPr/>
        </p:nvSpPr>
        <p:spPr>
          <a:xfrm flipV="1">
            <a:off x="14602740" y="4540846"/>
            <a:ext cx="1216428" cy="1216428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9" name="AutoShape 19"/>
          <p:cNvSpPr/>
          <p:nvPr/>
        </p:nvSpPr>
        <p:spPr>
          <a:xfrm flipV="1">
            <a:off x="12944791" y="7512571"/>
            <a:ext cx="2942644" cy="2942644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20" name="AutoShape 20"/>
          <p:cNvSpPr/>
          <p:nvPr/>
        </p:nvSpPr>
        <p:spPr>
          <a:xfrm flipV="1">
            <a:off x="11473469" y="9776779"/>
            <a:ext cx="2942644" cy="2942644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Box 21"/>
          <p:cNvSpPr txBox="1"/>
          <p:nvPr/>
        </p:nvSpPr>
        <p:spPr>
          <a:xfrm>
            <a:off x="2118001" y="4721267"/>
            <a:ext cx="7818218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 dirty="0" err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Simulación</a:t>
            </a:r>
            <a:r>
              <a:rPr lang="en-US" sz="6000" b="1" dirty="0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de Robots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1362575" y="1028700"/>
            <a:ext cx="15562849" cy="8179961"/>
            <a:chOff x="0" y="0"/>
            <a:chExt cx="5796956" cy="30469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96955" cy="3046927"/>
            </a:xfrm>
            <a:custGeom>
              <a:avLst/>
              <a:gdLst/>
              <a:ahLst/>
              <a:cxnLst/>
              <a:rect l="l" t="t" r="r" b="b"/>
              <a:pathLst>
                <a:path w="5796955" h="3046927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515035" y="5489862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Freeform 13"/>
          <p:cNvSpPr/>
          <p:nvPr/>
        </p:nvSpPr>
        <p:spPr>
          <a:xfrm rot="-10800000">
            <a:off x="13871465" y="-189523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5" name="TextBox 15"/>
          <p:cNvSpPr txBox="1"/>
          <p:nvPr/>
        </p:nvSpPr>
        <p:spPr>
          <a:xfrm>
            <a:off x="10299395" y="3078596"/>
            <a:ext cx="6464263" cy="481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Link del Video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UEDI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9083" y="1511090"/>
            <a:ext cx="427149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06974" y="8506847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34003" y="3078596"/>
            <a:ext cx="6464263" cy="481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</a:t>
            </a: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r>
              <a:rPr lang="en-US" sz="3500" b="1" dirty="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Temas</a:t>
            </a:r>
          </a:p>
          <a:p>
            <a:pPr algn="l">
              <a:lnSpc>
                <a:spcPts val="4200"/>
              </a:lnSpc>
            </a:pP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 err="1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Introducción</a:t>
            </a:r>
            <a:r>
              <a:rPr lang="en-US" sz="3500" dirty="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a la </a:t>
            </a:r>
            <a:r>
              <a:rPr lang="en-US" sz="3500" dirty="0" err="1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Simulación</a:t>
            </a:r>
            <a:r>
              <a:rPr lang="en-US" sz="3500" dirty="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500" dirty="0" err="1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Robótica</a:t>
            </a:r>
            <a:endParaRPr lang="en-US" sz="3500" dirty="0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208934" y="1511090"/>
            <a:ext cx="427149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Recursos</a:t>
            </a:r>
          </a:p>
        </p:txBody>
      </p:sp>
      <p:pic>
        <p:nvPicPr>
          <p:cNvPr id="21" name="Imagen 20" descr="Código QR&#10;&#10;El contenido generado por IA puede ser incorrecto.">
            <a:extLst>
              <a:ext uri="{FF2B5EF4-FFF2-40B4-BE49-F238E27FC236}">
                <a16:creationId xmlns:a16="http://schemas.microsoft.com/office/drawing/2014/main" id="{434FC632-85FA-78F9-B828-693781932C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3166" y="3985769"/>
            <a:ext cx="1962150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74889" y="1164153"/>
            <a:ext cx="13991174" cy="882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COMPETENCIA(S) Que desarrollaremos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24552" y="3306849"/>
            <a:ext cx="12569573" cy="284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s-GT" sz="4000" b="1" spc="320" dirty="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Integra diseños 2D y 3D de robots la eficiencia y realismo en simulaciones robóticas para aumentar la precisión, eficiencia y realismo de entornos virtuales</a:t>
            </a:r>
            <a:endParaRPr lang="en-US" sz="4000" b="1" spc="320" dirty="0">
              <a:solidFill>
                <a:srgbClr val="050A3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48413" y="4040298"/>
            <a:ext cx="13991174" cy="102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sz="69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 Inteligencia Artificial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92343" y="767350"/>
            <a:ext cx="13503315" cy="99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¿Qué es la Simulación?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25183" y="2088335"/>
            <a:ext cx="6822588" cy="5385450"/>
            <a:chOff x="0" y="0"/>
            <a:chExt cx="1796896" cy="14183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96896" cy="1418390"/>
            </a:xfrm>
            <a:custGeom>
              <a:avLst/>
              <a:gdLst/>
              <a:ahLst/>
              <a:cxnLst/>
              <a:rect l="l" t="t" r="r" b="b"/>
              <a:pathLst>
                <a:path w="1796896" h="1418390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3C3D5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0033" y="2288685"/>
            <a:ext cx="6452889" cy="471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 spc="30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 simulación es una técnica que permite recrear el comportamiento de sistemas reales o hipotéticos dentro de un entorno virtual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663333" y="2088335"/>
            <a:ext cx="6822588" cy="5385450"/>
            <a:chOff x="0" y="0"/>
            <a:chExt cx="1796896" cy="14183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96896" cy="1418390"/>
            </a:xfrm>
            <a:custGeom>
              <a:avLst/>
              <a:gdLst/>
              <a:ahLst/>
              <a:cxnLst/>
              <a:rect l="l" t="t" r="r" b="b"/>
              <a:pathLst>
                <a:path w="1796896" h="1418390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3C3D5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834273" y="2859747"/>
            <a:ext cx="6480708" cy="358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spc="27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 utiliza para estudiar cómo se comportaría un sistema en condiciones específicas sin necesidad de llevar a cabo experimentos en el mundo físico.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95273" y="7901161"/>
            <a:ext cx="10079353" cy="118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spc="272">
                <a:solidFill>
                  <a:srgbClr val="222222"/>
                </a:solidFill>
                <a:latin typeface="HK Grotesk"/>
                <a:ea typeface="HK Grotesk"/>
                <a:cs typeface="HK Grotesk"/>
                <a:sym typeface="HK Grotesk"/>
              </a:rPr>
              <a:t>La simulación puede ser matemática, lógica o visual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13" name="Group 13"/>
          <p:cNvGrpSpPr/>
          <p:nvPr/>
        </p:nvGrpSpPr>
        <p:grpSpPr>
          <a:xfrm>
            <a:off x="327453" y="3050549"/>
            <a:ext cx="6150114" cy="4185901"/>
            <a:chOff x="0" y="0"/>
            <a:chExt cx="1619783" cy="11024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19783" cy="1102460"/>
            </a:xfrm>
            <a:custGeom>
              <a:avLst/>
              <a:gdLst/>
              <a:ahLst/>
              <a:cxnLst/>
              <a:rect l="l" t="t" r="r" b="b"/>
              <a:pathLst>
                <a:path w="1619783" h="1102460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721499" y="3050549"/>
            <a:ext cx="6150114" cy="4185901"/>
            <a:chOff x="0" y="0"/>
            <a:chExt cx="1619783" cy="11024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19783" cy="1102460"/>
            </a:xfrm>
            <a:custGeom>
              <a:avLst/>
              <a:gdLst/>
              <a:ahLst/>
              <a:cxnLst/>
              <a:rect l="l" t="t" r="r" b="b"/>
              <a:pathLst>
                <a:path w="1619783" h="1102460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12229D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68943" y="4743237"/>
            <a:ext cx="6150114" cy="4185901"/>
            <a:chOff x="0" y="0"/>
            <a:chExt cx="1619783" cy="11024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19783" cy="1102460"/>
            </a:xfrm>
            <a:custGeom>
              <a:avLst/>
              <a:gdLst/>
              <a:ahLst/>
              <a:cxnLst/>
              <a:rect l="l" t="t" r="r" b="b"/>
              <a:pathLst>
                <a:path w="1619783" h="1102460">
                  <a:moveTo>
                    <a:pt x="64200" y="0"/>
                  </a:moveTo>
                  <a:lnTo>
                    <a:pt x="1555583" y="0"/>
                  </a:lnTo>
                  <a:cubicBezTo>
                    <a:pt x="1572610" y="0"/>
                    <a:pt x="1588939" y="6764"/>
                    <a:pt x="1600979" y="18804"/>
                  </a:cubicBezTo>
                  <a:cubicBezTo>
                    <a:pt x="1613019" y="30844"/>
                    <a:pt x="1619783" y="47173"/>
                    <a:pt x="1619783" y="64200"/>
                  </a:cubicBezTo>
                  <a:lnTo>
                    <a:pt x="1619783" y="1038260"/>
                  </a:lnTo>
                  <a:cubicBezTo>
                    <a:pt x="1619783" y="1055286"/>
                    <a:pt x="1613019" y="1071616"/>
                    <a:pt x="1600979" y="1083656"/>
                  </a:cubicBezTo>
                  <a:cubicBezTo>
                    <a:pt x="1588939" y="1095696"/>
                    <a:pt x="1572610" y="1102460"/>
                    <a:pt x="1555583" y="1102460"/>
                  </a:cubicBezTo>
                  <a:lnTo>
                    <a:pt x="64200" y="1102460"/>
                  </a:lnTo>
                  <a:cubicBezTo>
                    <a:pt x="47173" y="1102460"/>
                    <a:pt x="30844" y="1095696"/>
                    <a:pt x="18804" y="1083656"/>
                  </a:cubicBezTo>
                  <a:cubicBezTo>
                    <a:pt x="6764" y="1071616"/>
                    <a:pt x="0" y="1055286"/>
                    <a:pt x="0" y="1038260"/>
                  </a:cubicBezTo>
                  <a:lnTo>
                    <a:pt x="0" y="64200"/>
                  </a:lnTo>
                  <a:cubicBezTo>
                    <a:pt x="0" y="47173"/>
                    <a:pt x="6764" y="30844"/>
                    <a:pt x="18804" y="18804"/>
                  </a:cubicBezTo>
                  <a:cubicBezTo>
                    <a:pt x="30844" y="6764"/>
                    <a:pt x="47173" y="0"/>
                    <a:pt x="64200" y="0"/>
                  </a:cubicBez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619783" cy="115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554434" y="471487"/>
            <a:ext cx="13179131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sz="7207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Los modelos de simulación pueden representar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6076" y="3360212"/>
            <a:ext cx="5332867" cy="307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3499" b="1" spc="27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Procesos Físicos</a:t>
            </a:r>
          </a:p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2999" spc="23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Como el movimiento de un robot o flujo de tráfico en una ciudad.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19057" y="3070011"/>
            <a:ext cx="5243932" cy="307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3499" b="1" spc="27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Procesos Sociales</a:t>
            </a:r>
          </a:p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2999" spc="23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Como la interacción de personas en una red o una emergencia.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8632" y="4876800"/>
            <a:ext cx="5332867" cy="3832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3499" b="1" spc="279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Procesos Lógicos</a:t>
            </a:r>
          </a:p>
          <a:p>
            <a:pPr algn="ctr">
              <a:lnSpc>
                <a:spcPts val="5999"/>
              </a:lnSpc>
              <a:spcBef>
                <a:spcPct val="0"/>
              </a:spcBef>
            </a:pPr>
            <a:r>
              <a:rPr lang="en-US" sz="2999" spc="23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Como el comportamiento de una Inteligencia Artificial ante ciertas decisiones.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13" name="Group 13"/>
          <p:cNvGrpSpPr/>
          <p:nvPr/>
        </p:nvGrpSpPr>
        <p:grpSpPr>
          <a:xfrm>
            <a:off x="1028700" y="2671762"/>
            <a:ext cx="4519025" cy="3086173"/>
            <a:chOff x="0" y="0"/>
            <a:chExt cx="1190196" cy="812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90196" cy="812819"/>
            </a:xfrm>
            <a:custGeom>
              <a:avLst/>
              <a:gdLst/>
              <a:ahLst/>
              <a:cxnLst/>
              <a:rect l="l" t="t" r="r" b="b"/>
              <a:pathLst>
                <a:path w="1190196" h="812819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92687" y="5470236"/>
            <a:ext cx="4405316" cy="3040878"/>
            <a:chOff x="0" y="0"/>
            <a:chExt cx="1160248" cy="8008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0248" cy="800890"/>
            </a:xfrm>
            <a:custGeom>
              <a:avLst/>
              <a:gdLst/>
              <a:ahLst/>
              <a:cxnLst/>
              <a:rect l="l" t="t" r="r" b="b"/>
              <a:pathLst>
                <a:path w="1160248" h="800890">
                  <a:moveTo>
                    <a:pt x="89628" y="0"/>
                  </a:moveTo>
                  <a:lnTo>
                    <a:pt x="1070620" y="0"/>
                  </a:lnTo>
                  <a:cubicBezTo>
                    <a:pt x="1094391" y="0"/>
                    <a:pt x="1117188" y="9443"/>
                    <a:pt x="1133997" y="26251"/>
                  </a:cubicBezTo>
                  <a:cubicBezTo>
                    <a:pt x="1150805" y="43060"/>
                    <a:pt x="1160248" y="65857"/>
                    <a:pt x="1160248" y="89628"/>
                  </a:cubicBezTo>
                  <a:lnTo>
                    <a:pt x="1160248" y="711262"/>
                  </a:lnTo>
                  <a:cubicBezTo>
                    <a:pt x="1160248" y="735033"/>
                    <a:pt x="1150805" y="757830"/>
                    <a:pt x="1133997" y="774638"/>
                  </a:cubicBezTo>
                  <a:cubicBezTo>
                    <a:pt x="1117188" y="791447"/>
                    <a:pt x="1094391" y="800890"/>
                    <a:pt x="1070620" y="800890"/>
                  </a:cubicBezTo>
                  <a:lnTo>
                    <a:pt x="89628" y="800890"/>
                  </a:lnTo>
                  <a:cubicBezTo>
                    <a:pt x="65857" y="800890"/>
                    <a:pt x="43060" y="791447"/>
                    <a:pt x="26251" y="774638"/>
                  </a:cubicBezTo>
                  <a:cubicBezTo>
                    <a:pt x="9443" y="757830"/>
                    <a:pt x="0" y="735033"/>
                    <a:pt x="0" y="711262"/>
                  </a:cubicBezTo>
                  <a:lnTo>
                    <a:pt x="0" y="89628"/>
                  </a:lnTo>
                  <a:cubicBezTo>
                    <a:pt x="0" y="65857"/>
                    <a:pt x="9443" y="43060"/>
                    <a:pt x="26251" y="26251"/>
                  </a:cubicBezTo>
                  <a:cubicBezTo>
                    <a:pt x="43060" y="9443"/>
                    <a:pt x="65857" y="0"/>
                    <a:pt x="89628" y="0"/>
                  </a:cubicBezTo>
                  <a:close/>
                </a:path>
              </a:pathLst>
            </a:custGeom>
            <a:solidFill>
              <a:srgbClr val="3C3D5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160248" cy="848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554434" y="471487"/>
            <a:ext cx="13179131" cy="220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9"/>
              </a:lnSpc>
            </a:pPr>
            <a:r>
              <a:rPr lang="en-US" sz="7207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¿Por qué es importante la simulación?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14928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5166" y="2867662"/>
            <a:ext cx="4006094" cy="2275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0"/>
              </a:lnSpc>
              <a:spcBef>
                <a:spcPct val="0"/>
              </a:spcBef>
            </a:pPr>
            <a:r>
              <a:rPr lang="en-US" sz="3100" b="1" spc="248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PERMITE EXPERIMENTAR SIN RIESGO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114928" y="2671762"/>
            <a:ext cx="4519025" cy="3086173"/>
            <a:chOff x="0" y="0"/>
            <a:chExt cx="1190196" cy="812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90196" cy="812819"/>
            </a:xfrm>
            <a:custGeom>
              <a:avLst/>
              <a:gdLst/>
              <a:ahLst/>
              <a:cxnLst/>
              <a:rect l="l" t="t" r="r" b="b"/>
              <a:pathLst>
                <a:path w="1190196" h="812819">
                  <a:moveTo>
                    <a:pt x="87372" y="0"/>
                  </a:moveTo>
                  <a:lnTo>
                    <a:pt x="1102824" y="0"/>
                  </a:lnTo>
                  <a:cubicBezTo>
                    <a:pt x="1151078" y="0"/>
                    <a:pt x="1190196" y="39118"/>
                    <a:pt x="1190196" y="87372"/>
                  </a:cubicBezTo>
                  <a:lnTo>
                    <a:pt x="1190196" y="725447"/>
                  </a:lnTo>
                  <a:cubicBezTo>
                    <a:pt x="1190196" y="773701"/>
                    <a:pt x="1151078" y="812819"/>
                    <a:pt x="1102824" y="812819"/>
                  </a:cubicBezTo>
                  <a:lnTo>
                    <a:pt x="87372" y="812819"/>
                  </a:lnTo>
                  <a:cubicBezTo>
                    <a:pt x="39118" y="812819"/>
                    <a:pt x="0" y="773701"/>
                    <a:pt x="0" y="725447"/>
                  </a:cubicBezTo>
                  <a:lnTo>
                    <a:pt x="0" y="87372"/>
                  </a:lnTo>
                  <a:cubicBezTo>
                    <a:pt x="0" y="39118"/>
                    <a:pt x="39118" y="0"/>
                    <a:pt x="87372" y="0"/>
                  </a:cubicBezTo>
                  <a:close/>
                </a:path>
              </a:pathLst>
            </a:custGeom>
            <a:solidFill>
              <a:srgbClr val="5CB6F9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190196" cy="860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371394" y="3648712"/>
            <a:ext cx="4006094" cy="713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0"/>
              </a:lnSpc>
              <a:spcBef>
                <a:spcPct val="0"/>
              </a:spcBef>
            </a:pPr>
            <a:r>
              <a:rPr lang="en-US" sz="3100" b="1" spc="248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REDUCE COSTOS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122340" y="5403059"/>
            <a:ext cx="4405316" cy="3040878"/>
            <a:chOff x="0" y="0"/>
            <a:chExt cx="1160248" cy="80089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60248" cy="800890"/>
            </a:xfrm>
            <a:custGeom>
              <a:avLst/>
              <a:gdLst/>
              <a:ahLst/>
              <a:cxnLst/>
              <a:rect l="l" t="t" r="r" b="b"/>
              <a:pathLst>
                <a:path w="1160248" h="800890">
                  <a:moveTo>
                    <a:pt x="89628" y="0"/>
                  </a:moveTo>
                  <a:lnTo>
                    <a:pt x="1070620" y="0"/>
                  </a:lnTo>
                  <a:cubicBezTo>
                    <a:pt x="1094391" y="0"/>
                    <a:pt x="1117188" y="9443"/>
                    <a:pt x="1133997" y="26251"/>
                  </a:cubicBezTo>
                  <a:cubicBezTo>
                    <a:pt x="1150805" y="43060"/>
                    <a:pt x="1160248" y="65857"/>
                    <a:pt x="1160248" y="89628"/>
                  </a:cubicBezTo>
                  <a:lnTo>
                    <a:pt x="1160248" y="711262"/>
                  </a:lnTo>
                  <a:cubicBezTo>
                    <a:pt x="1160248" y="735033"/>
                    <a:pt x="1150805" y="757830"/>
                    <a:pt x="1133997" y="774638"/>
                  </a:cubicBezTo>
                  <a:cubicBezTo>
                    <a:pt x="1117188" y="791447"/>
                    <a:pt x="1094391" y="800890"/>
                    <a:pt x="1070620" y="800890"/>
                  </a:cubicBezTo>
                  <a:lnTo>
                    <a:pt x="89628" y="800890"/>
                  </a:lnTo>
                  <a:cubicBezTo>
                    <a:pt x="65857" y="800890"/>
                    <a:pt x="43060" y="791447"/>
                    <a:pt x="26251" y="774638"/>
                  </a:cubicBezTo>
                  <a:cubicBezTo>
                    <a:pt x="9443" y="757830"/>
                    <a:pt x="0" y="735033"/>
                    <a:pt x="0" y="711262"/>
                  </a:cubicBezTo>
                  <a:lnTo>
                    <a:pt x="0" y="89628"/>
                  </a:lnTo>
                  <a:cubicBezTo>
                    <a:pt x="0" y="65857"/>
                    <a:pt x="9443" y="43060"/>
                    <a:pt x="26251" y="26251"/>
                  </a:cubicBezTo>
                  <a:cubicBezTo>
                    <a:pt x="43060" y="9443"/>
                    <a:pt x="65857" y="0"/>
                    <a:pt x="89628" y="0"/>
                  </a:cubicBezTo>
                  <a:close/>
                </a:path>
              </a:pathLst>
            </a:custGeom>
            <a:solidFill>
              <a:srgbClr val="3C3D5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160248" cy="848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4492298" y="6119456"/>
            <a:ext cx="4006094" cy="1494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0"/>
              </a:lnSpc>
              <a:spcBef>
                <a:spcPct val="0"/>
              </a:spcBef>
            </a:pPr>
            <a:r>
              <a:rPr lang="en-US" sz="3100" b="1" spc="24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FACILITA EL APRENDIZAJE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21951" y="6052279"/>
            <a:ext cx="4006094" cy="1494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0"/>
              </a:lnSpc>
              <a:spcBef>
                <a:spcPct val="0"/>
              </a:spcBef>
            </a:pPr>
            <a:r>
              <a:rPr lang="en-US" sz="3100" b="1" spc="248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ACELERA EL DESARROLLO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148413" y="915441"/>
            <a:ext cx="13991174" cy="102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sz="69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 Inteligencia Artificial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25183" y="2566495"/>
            <a:ext cx="6822588" cy="5385450"/>
            <a:chOff x="0" y="0"/>
            <a:chExt cx="1796896" cy="14183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96896" cy="1418390"/>
            </a:xfrm>
            <a:custGeom>
              <a:avLst/>
              <a:gdLst/>
              <a:ahLst/>
              <a:cxnLst/>
              <a:rect l="l" t="t" r="r" b="b"/>
              <a:pathLst>
                <a:path w="1796896" h="1418390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0033" y="2610757"/>
            <a:ext cx="6452889" cy="523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3"/>
              </a:lnSpc>
            </a:pPr>
            <a:r>
              <a:rPr lang="en-US" sz="3709" b="1" spc="296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La Inteligencia Artificial se integra con la simulación para crear agentes inteligentes que pueden interactuar, adaptarse y aprender dentro de un entorno simulado.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663333" y="2566495"/>
            <a:ext cx="6822588" cy="5385450"/>
            <a:chOff x="0" y="0"/>
            <a:chExt cx="1796896" cy="14183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96896" cy="1418390"/>
            </a:xfrm>
            <a:custGeom>
              <a:avLst/>
              <a:gdLst/>
              <a:ahLst/>
              <a:cxnLst/>
              <a:rect l="l" t="t" r="r" b="b"/>
              <a:pathLst>
                <a:path w="1796896" h="1418390">
                  <a:moveTo>
                    <a:pt x="57872" y="0"/>
                  </a:moveTo>
                  <a:lnTo>
                    <a:pt x="1739023" y="0"/>
                  </a:lnTo>
                  <a:cubicBezTo>
                    <a:pt x="1754372" y="0"/>
                    <a:pt x="1769092" y="6097"/>
                    <a:pt x="1779945" y="16950"/>
                  </a:cubicBezTo>
                  <a:cubicBezTo>
                    <a:pt x="1790798" y="27803"/>
                    <a:pt x="1796896" y="42524"/>
                    <a:pt x="1796896" y="57872"/>
                  </a:cubicBezTo>
                  <a:lnTo>
                    <a:pt x="1796896" y="1360518"/>
                  </a:lnTo>
                  <a:cubicBezTo>
                    <a:pt x="1796896" y="1392480"/>
                    <a:pt x="1770985" y="1418390"/>
                    <a:pt x="1739023" y="1418390"/>
                  </a:cubicBezTo>
                  <a:lnTo>
                    <a:pt x="57872" y="1418390"/>
                  </a:lnTo>
                  <a:cubicBezTo>
                    <a:pt x="25910" y="1418390"/>
                    <a:pt x="0" y="1392480"/>
                    <a:pt x="0" y="1360518"/>
                  </a:cubicBezTo>
                  <a:lnTo>
                    <a:pt x="0" y="57872"/>
                  </a:lnTo>
                  <a:cubicBezTo>
                    <a:pt x="0" y="25910"/>
                    <a:pt x="25910" y="0"/>
                    <a:pt x="57872" y="0"/>
                  </a:cubicBez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796896" cy="146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834273" y="2601232"/>
            <a:ext cx="6480708" cy="5802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 spc="26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 uso de IA en simulaciones permite que los entornos sean más realistas, dinámicos y que reaccionen de forma inteligente ante distintos escenarios, ofreciendo una plataforma ideal para el aprendizaje y la innovación.</a:t>
            </a:r>
          </a:p>
          <a:p>
            <a:pPr algn="ctr">
              <a:lnSpc>
                <a:spcPts val="4620"/>
              </a:lnSpc>
            </a:pPr>
            <a:endParaRPr lang="en-US" sz="3300" b="1" spc="264">
              <a:solidFill>
                <a:srgbClr val="050A3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3115" y="3088121"/>
            <a:ext cx="8930885" cy="5930699"/>
            <a:chOff x="0" y="0"/>
            <a:chExt cx="2352167" cy="15619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2167" cy="1561995"/>
            </a:xfrm>
            <a:custGeom>
              <a:avLst/>
              <a:gdLst/>
              <a:ahLst/>
              <a:cxnLst/>
              <a:rect l="l" t="t" r="r" b="b"/>
              <a:pathLst>
                <a:path w="2352167" h="1561995">
                  <a:moveTo>
                    <a:pt x="44210" y="0"/>
                  </a:moveTo>
                  <a:lnTo>
                    <a:pt x="2307957" y="0"/>
                  </a:lnTo>
                  <a:cubicBezTo>
                    <a:pt x="2319682" y="0"/>
                    <a:pt x="2330927" y="4658"/>
                    <a:pt x="2339218" y="12949"/>
                  </a:cubicBezTo>
                  <a:cubicBezTo>
                    <a:pt x="2347509" y="21240"/>
                    <a:pt x="2352167" y="32485"/>
                    <a:pt x="2352167" y="44210"/>
                  </a:cubicBezTo>
                  <a:lnTo>
                    <a:pt x="2352167" y="1517784"/>
                  </a:lnTo>
                  <a:cubicBezTo>
                    <a:pt x="2352167" y="1529510"/>
                    <a:pt x="2347509" y="1540755"/>
                    <a:pt x="2339218" y="1549046"/>
                  </a:cubicBezTo>
                  <a:cubicBezTo>
                    <a:pt x="2330927" y="1557337"/>
                    <a:pt x="2319682" y="1561995"/>
                    <a:pt x="2307957" y="1561995"/>
                  </a:cubicBezTo>
                  <a:lnTo>
                    <a:pt x="44210" y="1561995"/>
                  </a:lnTo>
                  <a:cubicBezTo>
                    <a:pt x="32485" y="1561995"/>
                    <a:pt x="21240" y="1557337"/>
                    <a:pt x="12949" y="1549046"/>
                  </a:cubicBezTo>
                  <a:cubicBezTo>
                    <a:pt x="4658" y="1540755"/>
                    <a:pt x="0" y="1529510"/>
                    <a:pt x="0" y="1517784"/>
                  </a:cubicBezTo>
                  <a:lnTo>
                    <a:pt x="0" y="44210"/>
                  </a:lnTo>
                  <a:cubicBezTo>
                    <a:pt x="0" y="32485"/>
                    <a:pt x="4658" y="21240"/>
                    <a:pt x="12949" y="12949"/>
                  </a:cubicBezTo>
                  <a:cubicBezTo>
                    <a:pt x="21240" y="4658"/>
                    <a:pt x="32485" y="0"/>
                    <a:pt x="44210" y="0"/>
                  </a:cubicBezTo>
                  <a:close/>
                </a:path>
              </a:pathLst>
            </a:custGeom>
            <a:solidFill>
              <a:srgbClr val="3C3D5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352167" cy="16096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906338" y="3953295"/>
            <a:ext cx="7920202" cy="3900742"/>
          </a:xfrm>
          <a:custGeom>
            <a:avLst/>
            <a:gdLst/>
            <a:ahLst/>
            <a:cxnLst/>
            <a:rect l="l" t="t" r="r" b="b"/>
            <a:pathLst>
              <a:path w="7920202" h="3900742">
                <a:moveTo>
                  <a:pt x="0" y="0"/>
                </a:moveTo>
                <a:lnTo>
                  <a:pt x="7920202" y="0"/>
                </a:lnTo>
                <a:lnTo>
                  <a:pt x="7920202" y="3900742"/>
                </a:lnTo>
                <a:lnTo>
                  <a:pt x="0" y="3900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6" name="TextBox 16"/>
          <p:cNvSpPr txBox="1"/>
          <p:nvPr/>
        </p:nvSpPr>
        <p:spPr>
          <a:xfrm>
            <a:off x="2392343" y="767350"/>
            <a:ext cx="13503315" cy="197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¿Qué es una biblioteca (o librería) en programación robótica?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8245" y="3658690"/>
            <a:ext cx="8460625" cy="471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 spc="30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Una biblioteca es un conjunto de funciones, clases y módulos reutilizables que permiten a los desarrolladores interactuar con robots, sensores, entornos físicos y simuladores de forma más sencilla.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24453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2449" y="3321152"/>
            <a:ext cx="8749135" cy="5385450"/>
            <a:chOff x="0" y="0"/>
            <a:chExt cx="2304299" cy="1418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04299" cy="1418390"/>
            </a:xfrm>
            <a:custGeom>
              <a:avLst/>
              <a:gdLst/>
              <a:ahLst/>
              <a:cxnLst/>
              <a:rect l="l" t="t" r="r" b="b"/>
              <a:pathLst>
                <a:path w="2304299" h="1418390">
                  <a:moveTo>
                    <a:pt x="45129" y="0"/>
                  </a:moveTo>
                  <a:lnTo>
                    <a:pt x="2259170" y="0"/>
                  </a:lnTo>
                  <a:cubicBezTo>
                    <a:pt x="2284094" y="0"/>
                    <a:pt x="2304299" y="20205"/>
                    <a:pt x="2304299" y="45129"/>
                  </a:cubicBezTo>
                  <a:lnTo>
                    <a:pt x="2304299" y="1373261"/>
                  </a:lnTo>
                  <a:cubicBezTo>
                    <a:pt x="2304299" y="1385230"/>
                    <a:pt x="2299545" y="1396709"/>
                    <a:pt x="2291081" y="1405172"/>
                  </a:cubicBezTo>
                  <a:cubicBezTo>
                    <a:pt x="2282618" y="1413635"/>
                    <a:pt x="2271139" y="1418390"/>
                    <a:pt x="2259170" y="1418390"/>
                  </a:cubicBezTo>
                  <a:lnTo>
                    <a:pt x="45129" y="1418390"/>
                  </a:lnTo>
                  <a:cubicBezTo>
                    <a:pt x="20205" y="1418390"/>
                    <a:pt x="0" y="1398185"/>
                    <a:pt x="0" y="1373261"/>
                  </a:cubicBezTo>
                  <a:lnTo>
                    <a:pt x="0" y="45129"/>
                  </a:lnTo>
                  <a:cubicBezTo>
                    <a:pt x="0" y="20205"/>
                    <a:pt x="20205" y="0"/>
                    <a:pt x="45129" y="0"/>
                  </a:cubicBez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304299" cy="14660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922929" y="3795653"/>
            <a:ext cx="7887019" cy="4436448"/>
          </a:xfrm>
          <a:custGeom>
            <a:avLst/>
            <a:gdLst/>
            <a:ahLst/>
            <a:cxnLst/>
            <a:rect l="l" t="t" r="r" b="b"/>
            <a:pathLst>
              <a:path w="7887019" h="4436448">
                <a:moveTo>
                  <a:pt x="0" y="0"/>
                </a:moveTo>
                <a:lnTo>
                  <a:pt x="7887020" y="0"/>
                </a:lnTo>
                <a:lnTo>
                  <a:pt x="7887020" y="4436448"/>
                </a:lnTo>
                <a:lnTo>
                  <a:pt x="0" y="443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6" name="TextBox 16"/>
          <p:cNvSpPr txBox="1"/>
          <p:nvPr/>
        </p:nvSpPr>
        <p:spPr>
          <a:xfrm>
            <a:off x="2148413" y="915441"/>
            <a:ext cx="13928806" cy="201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4"/>
              </a:lnSpc>
            </a:pPr>
            <a:r>
              <a:rPr lang="en-US" sz="6968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¿Por qué son importantes las bibliotecas en la simulación?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2728" y="3459627"/>
            <a:ext cx="8373916" cy="504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1356" lvl="1" indent="-310678" algn="just">
              <a:lnSpc>
                <a:spcPts val="4029"/>
              </a:lnSpc>
              <a:buFont typeface="Arial"/>
              <a:buChar char="•"/>
            </a:pPr>
            <a:r>
              <a:rPr lang="en-US" sz="2877" b="1" spc="23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Simplifican el control de robots virtuales (movimiento, sensores, brazos).</a:t>
            </a:r>
          </a:p>
          <a:p>
            <a:pPr marL="621356" lvl="1" indent="-310678" algn="just">
              <a:lnSpc>
                <a:spcPts val="4029"/>
              </a:lnSpc>
              <a:buFont typeface="Arial"/>
              <a:buChar char="•"/>
            </a:pPr>
            <a:r>
              <a:rPr lang="en-US" sz="2877" b="1" spc="23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Permiten simular entornos físicos como gravedad, colisiones y superficies.</a:t>
            </a:r>
          </a:p>
          <a:p>
            <a:pPr marL="621356" lvl="1" indent="-310678" algn="just">
              <a:lnSpc>
                <a:spcPts val="4029"/>
              </a:lnSpc>
              <a:buFont typeface="Arial"/>
              <a:buChar char="•"/>
            </a:pPr>
            <a:r>
              <a:rPr lang="en-US" sz="2877" b="1" spc="23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Facilitan la conexión entre algoritmos de IA y los robots simulados.</a:t>
            </a:r>
          </a:p>
          <a:p>
            <a:pPr marL="621356" lvl="1" indent="-310678" algn="just">
              <a:lnSpc>
                <a:spcPts val="4029"/>
              </a:lnSpc>
              <a:buFont typeface="Arial"/>
              <a:buChar char="•"/>
            </a:pPr>
            <a:r>
              <a:rPr lang="en-US" sz="2877" b="1" spc="23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Ayudan a implementar comportamientos complejos con pocas líneas de código.</a:t>
            </a:r>
          </a:p>
          <a:p>
            <a:pPr algn="just">
              <a:lnSpc>
                <a:spcPts val="4029"/>
              </a:lnSpc>
            </a:pPr>
            <a:endParaRPr lang="en-US" sz="2877" b="1" spc="230">
              <a:solidFill>
                <a:srgbClr val="050A3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172078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07390" y="1076325"/>
            <a:ext cx="13503315" cy="99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Conceptos Clave Aprendidos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7040" y="2147777"/>
            <a:ext cx="14233665" cy="692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b="1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Representación computacional de sistemas reales o imaginarios, utilizada para analizar comportamientos y validar algoritmos sin necesidad de implementarlos físicamente.</a:t>
            </a:r>
          </a:p>
          <a:p>
            <a:pPr algn="just">
              <a:lnSpc>
                <a:spcPts val="4200"/>
              </a:lnSpc>
            </a:pPr>
            <a:endParaRPr lang="en-US" sz="3000" spc="240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b="1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Simulación e Inteligencia Artificial: 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Permite probar algoritmos de búsqueda, navegación y toma de decisiones en entornos controlados, facilitando el desarrollo de comportamientos inteligentes en los robots.</a:t>
            </a:r>
          </a:p>
          <a:p>
            <a:pPr algn="just">
              <a:lnSpc>
                <a:spcPts val="4200"/>
              </a:lnSpc>
            </a:pPr>
            <a:endParaRPr lang="en-US" sz="3000" spc="240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47711" lvl="1" indent="-323856" algn="just">
              <a:lnSpc>
                <a:spcPts val="4200"/>
              </a:lnSpc>
              <a:buFont typeface="Arial"/>
              <a:buChar char="•"/>
            </a:pPr>
            <a:r>
              <a:rPr lang="en-US" sz="3000" b="1" spc="2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Plataformas y Librerías de Simulación:</a:t>
            </a:r>
            <a:r>
              <a:rPr lang="en-US" sz="3000" spc="240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 Existe un buen número de plataformas para simulación de robots, tanto en local como en desarrollo web. Es necesario siempre evaluar los requerimientos para elegir la mejor opción.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92341" y="2961056"/>
            <a:ext cx="13503315" cy="101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Investigación</a:t>
            </a:r>
            <a:r>
              <a:rPr lang="en-US" sz="6900" b="1" dirty="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, </a:t>
            </a: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Iniciativa</a:t>
            </a:r>
            <a:endParaRPr lang="en-US" sz="69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27167" y="4995582"/>
            <a:ext cx="14233665" cy="1983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6" lvl="1" algn="just">
              <a:lnSpc>
                <a:spcPts val="3920"/>
              </a:lnSpc>
            </a:pPr>
            <a:r>
              <a:rPr lang="es-GT" sz="2800" b="1" dirty="0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La investigación impulsa a los estudiantes a indagar, buscar información y profundizar en nuevos conocimientos para comprender mejor un tema. La iniciativa fomenta la proactividad, motivando a los estudiantes a proponer ideas, experimentar soluciones y tomar acción sin esperar instrucciones.</a:t>
            </a:r>
            <a:endParaRPr lang="en-US" sz="2800" dirty="0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07388" y="2052455"/>
            <a:ext cx="13503315" cy="99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 dirty="0" err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Referencias</a:t>
            </a:r>
            <a:endParaRPr lang="en-US" sz="6900" b="1" dirty="0">
              <a:solidFill>
                <a:srgbClr val="050A3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42214" y="5366055"/>
            <a:ext cx="14233665" cy="98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2" lvl="1" indent="-302266" algn="just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dirty="0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sz="2800" u="none" strike="noStrike" dirty="0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ussell, S., &amp; Norvig, P. (2016). Artificial Intelligence: A Modern Approach (3rd ed.). Pearson.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0FE6-5964-6467-3F0D-E860302A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1C3EB7-7545-7B53-9ED2-BA6C12AC690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E6AF352-ED74-D4A3-36B4-B00097FF3EFE}"/>
              </a:ext>
            </a:extLst>
          </p:cNvPr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DEAF38-ACF1-7688-A02E-B83B24AF38A2}"/>
                </a:ext>
              </a:extLst>
            </p:cNvPr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2B6DF4-2775-EA3D-24C2-BB6BF606EB52}"/>
                </a:ext>
              </a:extLst>
            </p:cNvPr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B501998-E222-CF2A-292C-6666036A92EE}"/>
              </a:ext>
            </a:extLst>
          </p:cNvPr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73030D5-AEA2-2AE7-F6FC-6C7011074038}"/>
                </a:ext>
              </a:extLst>
            </p:cNvPr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13C68DA-C421-399C-F96A-33596265F07C}"/>
                </a:ext>
              </a:extLst>
            </p:cNvPr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9370B1D-E304-FDDD-7028-E924A948A3D9}"/>
              </a:ext>
            </a:extLst>
          </p:cNvPr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016D11E-677F-0F3C-BA36-09445C65A198}"/>
                </a:ext>
              </a:extLst>
            </p:cNvPr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656B8CC-D50C-C740-18D1-99730EBF74FC}"/>
                </a:ext>
              </a:extLst>
            </p:cNvPr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1AF368A-C3B3-2D35-F9EB-4520E1A1BE4F}"/>
              </a:ext>
            </a:extLst>
          </p:cNvPr>
          <p:cNvSpPr txBox="1"/>
          <p:nvPr/>
        </p:nvSpPr>
        <p:spPr>
          <a:xfrm>
            <a:off x="2392342" y="4305300"/>
            <a:ext cx="13503315" cy="101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Ejemplo</a:t>
            </a:r>
            <a:r>
              <a:rPr lang="en-US" sz="6900" b="1" dirty="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Práctico</a:t>
            </a:r>
            <a:endParaRPr lang="en-US" sz="69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  <p:extLst>
      <p:ext uri="{BB962C8B-B14F-4D97-AF65-F5344CB8AC3E}">
        <p14:creationId xmlns:p14="http://schemas.microsoft.com/office/powerpoint/2010/main" val="3289369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A1A0-44EB-06DB-837E-B8043BE8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0735B0-190A-DD7A-A31B-2CCCCDB8090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D3E790B-A56B-6020-79A8-354663DDF3A8}"/>
              </a:ext>
            </a:extLst>
          </p:cNvPr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597B7E8-D430-824A-22DA-B78942180B30}"/>
                </a:ext>
              </a:extLst>
            </p:cNvPr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0B1D353-FA0A-D7DB-85C3-A3B05935CD12}"/>
                </a:ext>
              </a:extLst>
            </p:cNvPr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B7214D9-C315-C52F-2C43-06675B0FC9C7}"/>
              </a:ext>
            </a:extLst>
          </p:cNvPr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41E6081-EA2D-543D-42C4-489453F67616}"/>
                </a:ext>
              </a:extLst>
            </p:cNvPr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4C0188C-9E71-E11A-3920-AAE3E6FAA0E7}"/>
                </a:ext>
              </a:extLst>
            </p:cNvPr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BDA54D4-C845-A74E-70FA-1FEE9D3CA64A}"/>
              </a:ext>
            </a:extLst>
          </p:cNvPr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CB9E3E6-31E2-1445-71D8-BC7EACB8D78D}"/>
                </a:ext>
              </a:extLst>
            </p:cNvPr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E1AF629-A29E-584A-38A9-831CB380D88A}"/>
                </a:ext>
              </a:extLst>
            </p:cNvPr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CE0D3EC-51B2-29A7-929D-335CC9FFF8D7}"/>
              </a:ext>
            </a:extLst>
          </p:cNvPr>
          <p:cNvSpPr txBox="1"/>
          <p:nvPr/>
        </p:nvSpPr>
        <p:spPr>
          <a:xfrm>
            <a:off x="2392342" y="4148709"/>
            <a:ext cx="13503315" cy="101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 dirty="0" err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  <a:r>
              <a:rPr lang="en-US" sz="6900" b="1" dirty="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00" b="1" dirty="0" err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Práctica</a:t>
            </a:r>
            <a:endParaRPr lang="en-US" sz="6900" b="1" dirty="0">
              <a:solidFill>
                <a:srgbClr val="050A3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  <p:extLst>
      <p:ext uri="{BB962C8B-B14F-4D97-AF65-F5344CB8AC3E}">
        <p14:creationId xmlns:p14="http://schemas.microsoft.com/office/powerpoint/2010/main" val="3676367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85e2d797db_0_12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g385e2d797db_0_12"/>
          <p:cNvGraphicFramePr/>
          <p:nvPr/>
        </p:nvGraphicFramePr>
        <p:xfrm>
          <a:off x="16900" y="1507250"/>
          <a:ext cx="10459750" cy="28039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" name="Google Shape;207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g385e2d797db_0_12"/>
          <p:cNvGraphicFramePr/>
          <p:nvPr/>
        </p:nvGraphicFramePr>
        <p:xfrm>
          <a:off x="10656400" y="1940050"/>
          <a:ext cx="7381150" cy="2377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1000" b="1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7795" y="3446254"/>
            <a:ext cx="8658828" cy="243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sz="60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  <a:endParaRPr lang="en-US" sz="6099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5000" b="1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DUDAS</a:t>
            </a:r>
          </a:p>
        </p:txBody>
      </p:sp>
      <p:sp>
        <p:nvSpPr>
          <p:cNvPr id="4" name="Freeform 4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5" name="TextBox 5"/>
          <p:cNvSpPr txBox="1"/>
          <p:nvPr/>
        </p:nvSpPr>
        <p:spPr>
          <a:xfrm>
            <a:off x="2411098" y="7890210"/>
            <a:ext cx="13465804" cy="35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676</Words>
  <Application>Microsoft Office PowerPoint</Application>
  <PresentationFormat>Personalizado</PresentationFormat>
  <Paragraphs>88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Calibri</vt:lpstr>
      <vt:lpstr>Arial</vt:lpstr>
      <vt:lpstr>Aptos</vt:lpstr>
      <vt:lpstr>HK Grotesk</vt:lpstr>
      <vt:lpstr>Arial Bold</vt:lpstr>
      <vt:lpstr>HK Grotesk Medium</vt:lpstr>
      <vt:lpstr>Arimo</vt:lpstr>
      <vt:lpstr>HK Grotesk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9</dc:title>
  <cp:lastModifiedBy>Robin Buezo</cp:lastModifiedBy>
  <cp:revision>1</cp:revision>
  <dcterms:created xsi:type="dcterms:W3CDTF">2006-08-16T00:00:00Z</dcterms:created>
  <dcterms:modified xsi:type="dcterms:W3CDTF">2025-11-01T04:40:50Z</dcterms:modified>
  <dc:identifier>DAGobYpeQaQ</dc:identifier>
</cp:coreProperties>
</file>