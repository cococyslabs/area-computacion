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Arim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gATXzXWjkYkJPASPGfj+lOIl/S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F57EF5-66D5-4E1C-82F9-BC3795699E2E}">
  <a:tblStyle styleId="{ACF57EF5-66D5-4E1C-82F9-BC3795699E2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Arimo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rimo-italic.fntdata"/><Relationship Id="rId25" Type="http://schemas.openxmlformats.org/officeDocument/2006/relationships/font" Target="fonts/Arimo-bold.fntdata"/><Relationship Id="rId28" Type="http://customschemas.google.com/relationships/presentationmetadata" Target="metadata"/><Relationship Id="rId27" Type="http://schemas.openxmlformats.org/officeDocument/2006/relationships/font" Target="fonts/Arim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416567ac9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9416567ac9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3" name="Google Shape;73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5.png"/><Relationship Id="rId5" Type="http://schemas.openxmlformats.org/officeDocument/2006/relationships/hyperlink" Target="http://tau-prolog.org/documentation#list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Relationship Id="rId4" Type="http://schemas.openxmlformats.org/officeDocument/2006/relationships/image" Target="../media/image5.png"/><Relationship Id="rId5" Type="http://schemas.openxmlformats.org/officeDocument/2006/relationships/hyperlink" Target="http://tau-prolog.org/documentation#list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16902" y="0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57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" name="Google Shape;93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{ACF57EF5-66D5-4E1C-82F9-BC3795699E2E}</a:tableStyleId>
              </a:tblPr>
              <a:tblGrid>
                <a:gridCol w="3030175"/>
                <a:gridCol w="4335825"/>
              </a:tblGrid>
              <a:tr h="77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4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Viernes, XX-XX-XXXX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4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p1"/>
          <p:cNvSpPr txBox="1"/>
          <p:nvPr/>
        </p:nvSpPr>
        <p:spPr>
          <a:xfrm>
            <a:off x="3864138" y="4529138"/>
            <a:ext cx="9513297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Inteligencia Artificial 1 [A]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5117834" y="5845971"/>
            <a:ext cx="7005905" cy="723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Tutor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2" r="-220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028700" y="952267"/>
            <a:ext cx="16230600" cy="8382465"/>
            <a:chOff x="0" y="0"/>
            <a:chExt cx="6045684" cy="3122357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6045684" cy="3122357"/>
            </a:xfrm>
            <a:custGeom>
              <a:rect b="b" l="l" r="r" t="t"/>
              <a:pathLst>
                <a:path extrusionOk="0" h="3122357" w="6045684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66675">
              <a:solidFill>
                <a:srgbClr val="9753A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8875" lIns="48875" spcFirstLastPara="1" rIns="48875" wrap="square" tIns="48875">
              <a:noAutofit/>
            </a:bodyPr>
            <a:lstStyle/>
            <a:p>
              <a:pPr indent="0" lvl="0" marL="0" marR="0" rtl="0" algn="ctr">
                <a:lnSpc>
                  <a:spcPct val="10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12374539" y="8812325"/>
            <a:ext cx="4284389" cy="1748082"/>
            <a:chOff x="0" y="-47625"/>
            <a:chExt cx="1128399" cy="460400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1128399" cy="412775"/>
            </a:xfrm>
            <a:custGeom>
              <a:rect b="b" l="l" r="r" t="t"/>
              <a:pathLst>
                <a:path extrusionOk="0" h="412775" w="1128399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 rot="5400000">
            <a:off x="14103077" y="3146822"/>
            <a:ext cx="6983416" cy="1748082"/>
            <a:chOff x="0" y="-47625"/>
            <a:chExt cx="1839254" cy="460400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839254" cy="412775"/>
            </a:xfrm>
            <a:custGeom>
              <a:rect b="b" l="l" r="r" t="t"/>
              <a:pathLst>
                <a:path extrusionOk="0" h="412775" w="1839254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 rot="-5400000">
            <a:off x="10540746" y="-52264"/>
            <a:ext cx="11547949" cy="9406329"/>
          </a:xfrm>
          <a:custGeom>
            <a:rect b="b" l="l" r="r" t="t"/>
            <a:pathLst>
              <a:path extrusionOk="0" h="9406329" w="1154794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2118001" y="6620396"/>
            <a:ext cx="9224082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99">
              <a:solidFill>
                <a:srgbClr val="050A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118001" y="3415707"/>
            <a:ext cx="11119114" cy="1210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Clase 4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2184676" y="2365657"/>
            <a:ext cx="11052439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INTELIGENCIA ARTIFICIAL 1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2118001" y="8574365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cxnSp>
        <p:nvCxnSpPr>
          <p:cNvPr id="115" name="Google Shape;115;p2"/>
          <p:cNvCxnSpPr/>
          <p:nvPr/>
        </p:nvCxnSpPr>
        <p:spPr>
          <a:xfrm flipH="1" rot="10800000">
            <a:off x="13553005" y="935761"/>
            <a:ext cx="5036482" cy="5036482"/>
          </a:xfrm>
          <a:prstGeom prst="straightConnector1">
            <a:avLst/>
          </a:prstGeom>
          <a:noFill/>
          <a:ln cap="flat" cmpd="sng" w="114300">
            <a:solidFill>
              <a:srgbClr val="050A3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2"/>
          <p:cNvCxnSpPr/>
          <p:nvPr/>
        </p:nvCxnSpPr>
        <p:spPr>
          <a:xfrm flipH="1" rot="10800000">
            <a:off x="14602740" y="4540846"/>
            <a:ext cx="1216428" cy="1216428"/>
          </a:xfrm>
          <a:prstGeom prst="straightConnector1">
            <a:avLst/>
          </a:prstGeom>
          <a:noFill/>
          <a:ln cap="flat" cmpd="sng" w="114300">
            <a:solidFill>
              <a:srgbClr val="050A3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2"/>
          <p:cNvCxnSpPr/>
          <p:nvPr/>
        </p:nvCxnSpPr>
        <p:spPr>
          <a:xfrm flipH="1" rot="10800000">
            <a:off x="12944791" y="7512571"/>
            <a:ext cx="2942644" cy="2942644"/>
          </a:xfrm>
          <a:prstGeom prst="straightConnector1">
            <a:avLst/>
          </a:prstGeom>
          <a:noFill/>
          <a:ln cap="flat" cmpd="sng" w="114300">
            <a:solidFill>
              <a:srgbClr val="050A3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"/>
          <p:cNvCxnSpPr/>
          <p:nvPr/>
        </p:nvCxnSpPr>
        <p:spPr>
          <a:xfrm flipH="1" rot="10800000">
            <a:off x="11473469" y="9776779"/>
            <a:ext cx="2942644" cy="2942644"/>
          </a:xfrm>
          <a:prstGeom prst="straightConnector1">
            <a:avLst/>
          </a:prstGeom>
          <a:noFill/>
          <a:ln cap="flat" cmpd="sng" w="114300">
            <a:solidFill>
              <a:srgbClr val="050A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2"/>
          <p:cNvSpPr txBox="1"/>
          <p:nvPr/>
        </p:nvSpPr>
        <p:spPr>
          <a:xfrm>
            <a:off x="2118001" y="4721267"/>
            <a:ext cx="6563087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Lógica e Inferencia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" name="Google Shape;125;p3"/>
          <p:cNvGrpSpPr/>
          <p:nvPr/>
        </p:nvGrpSpPr>
        <p:grpSpPr>
          <a:xfrm>
            <a:off x="1362575" y="1028700"/>
            <a:ext cx="15562849" cy="8179961"/>
            <a:chOff x="0" y="0"/>
            <a:chExt cx="5796956" cy="3046927"/>
          </a:xfrm>
        </p:grpSpPr>
        <p:sp>
          <p:nvSpPr>
            <p:cNvPr id="126" name="Google Shape;126;p3"/>
            <p:cNvSpPr/>
            <p:nvPr/>
          </p:nvSpPr>
          <p:spPr>
            <a:xfrm>
              <a:off x="0" y="0"/>
              <a:ext cx="5796955" cy="3046927"/>
            </a:xfrm>
            <a:custGeom>
              <a:rect b="b" l="l" r="r" t="t"/>
              <a:pathLst>
                <a:path extrusionOk="0"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66675">
              <a:solidFill>
                <a:srgbClr val="570F6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3"/>
            <p:cNvSpPr txBox="1"/>
            <p:nvPr/>
          </p:nvSpPr>
          <p:spPr>
            <a:xfrm>
              <a:off x="0" y="0"/>
              <a:ext cx="5796956" cy="3046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8875" lIns="48875" spcFirstLastPara="1" rIns="48875" wrap="square" tIns="48875">
              <a:noAutofit/>
            </a:bodyPr>
            <a:lstStyle/>
            <a:p>
              <a:pPr indent="0" lvl="0" marL="0" marR="0" rtl="0" algn="ctr">
                <a:lnSpc>
                  <a:spcPct val="10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3"/>
          <p:cNvGrpSpPr/>
          <p:nvPr/>
        </p:nvGrpSpPr>
        <p:grpSpPr>
          <a:xfrm rot="2700000">
            <a:off x="121003" y="7895899"/>
            <a:ext cx="3393988" cy="1748082"/>
            <a:chOff x="0" y="-47625"/>
            <a:chExt cx="893890" cy="460400"/>
          </a:xfrm>
        </p:grpSpPr>
        <p:sp>
          <p:nvSpPr>
            <p:cNvPr id="129" name="Google Shape;129;p3"/>
            <p:cNvSpPr/>
            <p:nvPr/>
          </p:nvSpPr>
          <p:spPr>
            <a:xfrm>
              <a:off x="0" y="0"/>
              <a:ext cx="893890" cy="412775"/>
            </a:xfrm>
            <a:custGeom>
              <a:rect b="b" l="l" r="r" t="t"/>
              <a:pathLst>
                <a:path extrusionOk="0"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3"/>
            <p:cNvSpPr txBox="1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3"/>
          <p:cNvGrpSpPr/>
          <p:nvPr/>
        </p:nvGrpSpPr>
        <p:grpSpPr>
          <a:xfrm rot="2700000">
            <a:off x="14900874" y="396084"/>
            <a:ext cx="3393988" cy="1748082"/>
            <a:chOff x="0" y="-47625"/>
            <a:chExt cx="893890" cy="460400"/>
          </a:xfrm>
        </p:grpSpPr>
        <p:sp>
          <p:nvSpPr>
            <p:cNvPr id="132" name="Google Shape;132;p3"/>
            <p:cNvSpPr/>
            <p:nvPr/>
          </p:nvSpPr>
          <p:spPr>
            <a:xfrm>
              <a:off x="0" y="0"/>
              <a:ext cx="893890" cy="412775"/>
            </a:xfrm>
            <a:custGeom>
              <a:rect b="b" l="l" r="r" t="t"/>
              <a:pathLst>
                <a:path extrusionOk="0"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 txBox="1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3"/>
          <p:cNvSpPr/>
          <p:nvPr/>
        </p:nvSpPr>
        <p:spPr>
          <a:xfrm>
            <a:off x="-515035" y="5489862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 rot="10800000">
            <a:off x="13871465" y="-189523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10299395" y="3078596"/>
            <a:ext cx="6464263" cy="160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Corto en UEDI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1889083" y="1511090"/>
            <a:ext cx="4271494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12006974" y="8506847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2034003" y="3078596"/>
            <a:ext cx="6464263" cy="534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Recordatorios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Temas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Ciclos y Recursión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Átomos, Listas y Unificación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11208934" y="1511090"/>
            <a:ext cx="4271494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4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147" name="Google Shape;147;p4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4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4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150" name="Google Shape;150;p4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4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4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153" name="Google Shape;153;p4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7AC3F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4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4"/>
          <p:cNvSpPr txBox="1"/>
          <p:nvPr/>
        </p:nvSpPr>
        <p:spPr>
          <a:xfrm>
            <a:off x="1374889" y="1409214"/>
            <a:ext cx="13991174" cy="88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8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2508326" y="3435564"/>
            <a:ext cx="12569573" cy="356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Desarrolla hechos, reglas, expresiones y predicados recursivos mediante el uso de cláusulas, ciclos, listas, unificación y cortes en Prolog para modelar bases de conocimiento y resolver problemas de inferencia lógica.</a:t>
            </a:r>
            <a:endParaRPr b="1" sz="4000">
              <a:solidFill>
                <a:srgbClr val="050A3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1477486" y="1541410"/>
            <a:ext cx="15333028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65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Listas</a:t>
            </a:r>
            <a:endParaRPr/>
          </a:p>
        </p:txBody>
      </p:sp>
      <p:grpSp>
        <p:nvGrpSpPr>
          <p:cNvPr id="163" name="Google Shape;163;p5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164" name="Google Shape;164;p5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167" name="Google Shape;167;p5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5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5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170" name="Google Shape;170;p5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5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5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9412161" y="5143500"/>
            <a:ext cx="6239058" cy="2925491"/>
          </a:xfrm>
          <a:custGeom>
            <a:rect b="b" l="l" r="r" t="t"/>
            <a:pathLst>
              <a:path extrusionOk="0" h="2925491" w="6239058">
                <a:moveTo>
                  <a:pt x="0" y="0"/>
                </a:moveTo>
                <a:lnTo>
                  <a:pt x="6239057" y="0"/>
                </a:lnTo>
                <a:lnTo>
                  <a:pt x="6239057" y="2925491"/>
                </a:lnTo>
                <a:lnTo>
                  <a:pt x="0" y="2925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1477486" y="3257549"/>
            <a:ext cx="15333028" cy="1038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Las listas son una estructura clave en Prolog y se representan con [] (lista vacía) o [Cabeza | Cola].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1028700" y="8699056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3407042" y="5255916"/>
            <a:ext cx="2445325" cy="51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48" lvl="1" marL="6476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[a,b,c,d]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3407042" y="5960766"/>
            <a:ext cx="2445325" cy="51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48" lvl="1" marL="6476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[1,2,3,4]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3407042" y="6665617"/>
            <a:ext cx="3049029" cy="51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48" lvl="1" marL="6476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[[1,2],[3,4]]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3407042" y="7369525"/>
            <a:ext cx="3942511" cy="51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48" lvl="1" marL="6476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[a, [b, c, [d, e]]]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 txBox="1"/>
          <p:nvPr/>
        </p:nvSpPr>
        <p:spPr>
          <a:xfrm>
            <a:off x="1477486" y="1028700"/>
            <a:ext cx="15333028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65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Operaciones cómunes</a:t>
            </a:r>
            <a:endParaRPr/>
          </a:p>
        </p:txBody>
      </p:sp>
      <p:grpSp>
        <p:nvGrpSpPr>
          <p:cNvPr id="186" name="Google Shape;186;p6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187" name="Google Shape;187;p6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6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6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190" name="Google Shape;190;p6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6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6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193" name="Google Shape;193;p6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6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6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6" name="Google Shape;196;p6"/>
          <p:cNvGraphicFramePr/>
          <p:nvPr/>
        </p:nvGraphicFramePr>
        <p:xfrm>
          <a:off x="1755385" y="25506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{ACF57EF5-66D5-4E1C-82F9-BC3795699E2E}</a:tableStyleId>
              </a:tblPr>
              <a:tblGrid>
                <a:gridCol w="3570750"/>
                <a:gridCol w="7635500"/>
                <a:gridCol w="3571000"/>
              </a:tblGrid>
              <a:tr h="98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50A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Operación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50A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50A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50A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50A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50A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50A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2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length(L, N)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length([a,b,c], X). → X = 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Longitud de la lista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member(X, L)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member(3, [1,2,3,4]). → true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Verifica si X está en 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append(L1, L2, L3)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append([1,2], [3,4], X). → X = [1,2,3,4]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Concatena listas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reverse(L, R)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reverse([1,2,3], X). → X = [3,2,1]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Invierte una lista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" name="Google Shape;197;p6"/>
          <p:cNvSpPr txBox="1"/>
          <p:nvPr/>
        </p:nvSpPr>
        <p:spPr>
          <a:xfrm>
            <a:off x="1028700" y="8699056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1755385" y="7699927"/>
            <a:ext cx="5438775" cy="415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 u="sng">
                <a:solidFill>
                  <a:srgbClr val="F4F6FC"/>
                </a:solidFill>
                <a:latin typeface="Arimo"/>
                <a:ea typeface="Arimo"/>
                <a:cs typeface="Arimo"/>
                <a:sym typeface="Arim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http://tau-prolog.org/documentation#lists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416567ac9_0_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39" r="-224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9416567ac9_0_4"/>
          <p:cNvSpPr txBox="1"/>
          <p:nvPr/>
        </p:nvSpPr>
        <p:spPr>
          <a:xfrm>
            <a:off x="1477486" y="1028700"/>
            <a:ext cx="153330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65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Operaciones cómunes</a:t>
            </a:r>
            <a:endParaRPr/>
          </a:p>
        </p:txBody>
      </p:sp>
      <p:grpSp>
        <p:nvGrpSpPr>
          <p:cNvPr id="205" name="Google Shape;205;g39416567ac9_0_4"/>
          <p:cNvGrpSpPr/>
          <p:nvPr/>
        </p:nvGrpSpPr>
        <p:grpSpPr>
          <a:xfrm rot="-5400000">
            <a:off x="6095922" y="2420343"/>
            <a:ext cx="6818473" cy="21128609"/>
            <a:chOff x="0" y="-47625"/>
            <a:chExt cx="1795800" cy="5564700"/>
          </a:xfrm>
        </p:grpSpPr>
        <p:sp>
          <p:nvSpPr>
            <p:cNvPr id="206" name="Google Shape;206;g39416567ac9_0_4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g39416567ac9_0_4"/>
            <p:cNvSpPr txBox="1"/>
            <p:nvPr/>
          </p:nvSpPr>
          <p:spPr>
            <a:xfrm>
              <a:off x="0" y="-47625"/>
              <a:ext cx="1795800" cy="55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g39416567ac9_0_4"/>
          <p:cNvGrpSpPr/>
          <p:nvPr/>
        </p:nvGrpSpPr>
        <p:grpSpPr>
          <a:xfrm rot="-5400000">
            <a:off x="3906693" y="-11095991"/>
            <a:ext cx="2045770" cy="21128609"/>
            <a:chOff x="0" y="-47625"/>
            <a:chExt cx="538800" cy="5564700"/>
          </a:xfrm>
        </p:grpSpPr>
        <p:sp>
          <p:nvSpPr>
            <p:cNvPr id="209" name="Google Shape;209;g39416567ac9_0_4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g39416567ac9_0_4"/>
            <p:cNvSpPr txBox="1"/>
            <p:nvPr/>
          </p:nvSpPr>
          <p:spPr>
            <a:xfrm>
              <a:off x="0" y="-47625"/>
              <a:ext cx="538800" cy="55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g39416567ac9_0_4"/>
          <p:cNvGrpSpPr/>
          <p:nvPr/>
        </p:nvGrpSpPr>
        <p:grpSpPr>
          <a:xfrm rot="2700000">
            <a:off x="13798079" y="-60570"/>
            <a:ext cx="4686110" cy="1748464"/>
            <a:chOff x="0" y="-47625"/>
            <a:chExt cx="1234200" cy="460500"/>
          </a:xfrm>
        </p:grpSpPr>
        <p:sp>
          <p:nvSpPr>
            <p:cNvPr id="212" name="Google Shape;212;g39416567ac9_0_4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g39416567ac9_0_4"/>
            <p:cNvSpPr txBox="1"/>
            <p:nvPr/>
          </p:nvSpPr>
          <p:spPr>
            <a:xfrm>
              <a:off x="0" y="-47625"/>
              <a:ext cx="1234200" cy="4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g39416567ac9_0_4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g39416567ac9_0_4"/>
          <p:cNvGraphicFramePr/>
          <p:nvPr/>
        </p:nvGraphicFramePr>
        <p:xfrm>
          <a:off x="1755385" y="25506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{ACF57EF5-66D5-4E1C-82F9-BC3795699E2E}</a:tableStyleId>
              </a:tblPr>
              <a:tblGrid>
                <a:gridCol w="3570750"/>
                <a:gridCol w="7635500"/>
                <a:gridCol w="3571000"/>
              </a:tblGrid>
              <a:tr h="98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50A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Operación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50A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50A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50A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50A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50A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50A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2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length(L, N)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length([a,b,c], X). → X = 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Longitud de la lista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member(X, L)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member(3, [1,2,3,4]). → true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Verifica si X está en 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append(L1, L2, L3)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append([1,2], [3,4], X). → X = [1,2,3,4]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Concatena listas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reverse(L, R)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reverse([1,2,3], X). → X = [3,2,1]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Invierte una lista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g39416567ac9_0_4"/>
          <p:cNvSpPr txBox="1"/>
          <p:nvPr/>
        </p:nvSpPr>
        <p:spPr>
          <a:xfrm>
            <a:off x="1028700" y="8699056"/>
            <a:ext cx="475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sp>
        <p:nvSpPr>
          <p:cNvPr id="217" name="Google Shape;217;g39416567ac9_0_4"/>
          <p:cNvSpPr txBox="1"/>
          <p:nvPr/>
        </p:nvSpPr>
        <p:spPr>
          <a:xfrm>
            <a:off x="1755385" y="7699927"/>
            <a:ext cx="54387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 u="sng">
                <a:solidFill>
                  <a:srgbClr val="F4F6FC"/>
                </a:solidFill>
                <a:latin typeface="Arimo"/>
                <a:ea typeface="Arimo"/>
                <a:cs typeface="Arimo"/>
                <a:sym typeface="Arim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http://tau-prolog.org/documentation#lists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1477486" y="2155356"/>
            <a:ext cx="15333028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65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Unificación</a:t>
            </a:r>
            <a:endParaRPr/>
          </a:p>
        </p:txBody>
      </p:sp>
      <p:grpSp>
        <p:nvGrpSpPr>
          <p:cNvPr id="224" name="Google Shape;224;p7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225" name="Google Shape;225;p7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7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" name="Google Shape;227;p7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228" name="Google Shape;228;p7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7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7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231" name="Google Shape;231;p7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7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7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1477486" y="3810821"/>
            <a:ext cx="15333028" cy="51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La unificación (=) es el proceso de igualar términos, resolviendo variables si es necesario.</a:t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1028700" y="8699056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sp>
        <p:nvSpPr>
          <p:cNvPr id="236" name="Google Shape;236;p7"/>
          <p:cNvSpPr txBox="1"/>
          <p:nvPr/>
        </p:nvSpPr>
        <p:spPr>
          <a:xfrm>
            <a:off x="6417419" y="5656381"/>
            <a:ext cx="5163384" cy="51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48" lvl="1" marL="647695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2999"/>
              <a:buFont typeface="Arial"/>
              <a:buChar char="•"/>
            </a:pPr>
            <a:r>
              <a:rPr b="1" i="0" lang="en-US" sz="2999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X = 5. % X se unifica con 5 </a:t>
            </a:r>
            <a:endParaRPr/>
          </a:p>
        </p:txBody>
      </p:sp>
      <p:sp>
        <p:nvSpPr>
          <p:cNvPr id="237" name="Google Shape;237;p7"/>
          <p:cNvSpPr txBox="1"/>
          <p:nvPr/>
        </p:nvSpPr>
        <p:spPr>
          <a:xfrm>
            <a:off x="5535871" y="6868890"/>
            <a:ext cx="7216259" cy="51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48" lvl="1" marL="647695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2999"/>
              <a:buFont typeface="Arial"/>
              <a:buChar char="•"/>
            </a:pPr>
            <a:r>
              <a:rPr b="1" i="0" lang="en-US" sz="2999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Y = f(A), A = 3. % Y se convierte en f(3)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1477486" y="2155356"/>
            <a:ext cx="15333028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65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Unificación de Listas</a:t>
            </a:r>
            <a:endParaRPr/>
          </a:p>
        </p:txBody>
      </p:sp>
      <p:grpSp>
        <p:nvGrpSpPr>
          <p:cNvPr id="244" name="Google Shape;244;p8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245" name="Google Shape;245;p8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8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8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248" name="Google Shape;248;p8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8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251" name="Google Shape;251;p8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8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8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10558839" y="3965761"/>
            <a:ext cx="4934432" cy="4732276"/>
          </a:xfrm>
          <a:custGeom>
            <a:rect b="b" l="l" r="r" t="t"/>
            <a:pathLst>
              <a:path extrusionOk="0" h="4732276" w="4934432">
                <a:moveTo>
                  <a:pt x="0" y="0"/>
                </a:moveTo>
                <a:lnTo>
                  <a:pt x="4934431" y="0"/>
                </a:lnTo>
                <a:lnTo>
                  <a:pt x="4934431" y="4732276"/>
                </a:lnTo>
                <a:lnTo>
                  <a:pt x="0" y="4732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12502616" y="8931275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sp>
        <p:nvSpPr>
          <p:cNvPr id="256" name="Google Shape;256;p8"/>
          <p:cNvSpPr txBox="1"/>
          <p:nvPr/>
        </p:nvSpPr>
        <p:spPr>
          <a:xfrm>
            <a:off x="696623" y="5041431"/>
            <a:ext cx="8646126" cy="51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48" lvl="1" marL="647695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2999"/>
              <a:buFont typeface="Arial"/>
              <a:buChar char="•"/>
            </a:pPr>
            <a:r>
              <a:rPr b="1" i="0" lang="en-US" sz="2999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[H | T] = [a, b, c, d].         % H = a, T = [b, c, d]</a:t>
            </a:r>
            <a:endParaRPr/>
          </a:p>
        </p:txBody>
      </p:sp>
      <p:sp>
        <p:nvSpPr>
          <p:cNvPr id="257" name="Google Shape;257;p8"/>
          <p:cNvSpPr txBox="1"/>
          <p:nvPr/>
        </p:nvSpPr>
        <p:spPr>
          <a:xfrm>
            <a:off x="696623" y="7041512"/>
            <a:ext cx="9593179" cy="51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48" lvl="1" marL="6476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[H | T] = [a, [b, c, [d, e]]]   % H = a, T = [[b, c, [d, e]]]</a:t>
            </a:r>
            <a:endParaRPr/>
          </a:p>
        </p:txBody>
      </p:sp>
      <p:sp>
        <p:nvSpPr>
          <p:cNvPr id="258" name="Google Shape;258;p8"/>
          <p:cNvSpPr txBox="1"/>
          <p:nvPr/>
        </p:nvSpPr>
        <p:spPr>
          <a:xfrm>
            <a:off x="696623" y="6041386"/>
            <a:ext cx="9000768" cy="51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48" lvl="1" marL="647695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2999"/>
              <a:buFont typeface="Arial"/>
              <a:buChar char="•"/>
            </a:pPr>
            <a:r>
              <a:rPr b="1" i="0" lang="en-US" sz="2999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[H | T] = [[1, 2], [3, 4]].      % H = [1, 2], T = [[3, 4]]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p9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265" name="Google Shape;265;p9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9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9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268" name="Google Shape;268;p9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9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9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271" name="Google Shape;271;p9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9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9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1028700" y="8699056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sp>
        <p:nvSpPr>
          <p:cNvPr id="275" name="Google Shape;275;p9"/>
          <p:cNvSpPr txBox="1"/>
          <p:nvPr/>
        </p:nvSpPr>
        <p:spPr>
          <a:xfrm>
            <a:off x="1477486" y="1695172"/>
            <a:ext cx="15333028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65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Recursión en Listas</a:t>
            </a:r>
            <a:endParaRPr/>
          </a:p>
        </p:txBody>
      </p:sp>
      <p:sp>
        <p:nvSpPr>
          <p:cNvPr id="276" name="Google Shape;276;p9"/>
          <p:cNvSpPr txBox="1"/>
          <p:nvPr/>
        </p:nvSpPr>
        <p:spPr>
          <a:xfrm>
            <a:off x="3800106" y="3021446"/>
            <a:ext cx="10687788" cy="2085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99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suma_lista([], 0). % Caso base: la suma de una lista vacía es 0 suma_lista([X | XS], Suma) :- </a:t>
            </a:r>
            <a:endParaRPr/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99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     suma_lista(XS, SumaResto), % Suma de la cola </a:t>
            </a:r>
            <a:endParaRPr/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99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     Suma is X + SumaResto. % Suma total </a:t>
            </a:r>
            <a:endParaRPr/>
          </a:p>
        </p:txBody>
      </p:sp>
      <p:sp>
        <p:nvSpPr>
          <p:cNvPr id="277" name="Google Shape;277;p9"/>
          <p:cNvSpPr txBox="1"/>
          <p:nvPr/>
        </p:nvSpPr>
        <p:spPr>
          <a:xfrm>
            <a:off x="6596896" y="5794675"/>
            <a:ext cx="5159812" cy="2609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Flujo de ejecución para [1,2,3]</a:t>
            </a:r>
            <a:endParaRPr/>
          </a:p>
          <a:p>
            <a:pPr indent="-323848" lvl="1" marL="647695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2999"/>
              <a:buFont typeface="Arial"/>
              <a:buAutoNum type="arabicPeriod"/>
            </a:pPr>
            <a:r>
              <a:rPr b="0" i="0" lang="en-US" sz="2999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suma_lista([1,2,3], Suma)</a:t>
            </a:r>
            <a:endParaRPr/>
          </a:p>
          <a:p>
            <a:pPr indent="-323848" lvl="1" marL="647695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2999"/>
              <a:buFont typeface="Arial"/>
              <a:buAutoNum type="arabicPeriod"/>
            </a:pPr>
            <a:r>
              <a:rPr b="0" i="0" lang="en-US" sz="2999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1 + suma_lista([2,3])</a:t>
            </a:r>
            <a:endParaRPr/>
          </a:p>
          <a:p>
            <a:pPr indent="-323848" lvl="1" marL="647695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2999"/>
              <a:buFont typeface="Arial"/>
              <a:buAutoNum type="arabicPeriod"/>
            </a:pPr>
            <a:r>
              <a:rPr b="0" i="0" lang="en-US" sz="2999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1 + (2 + suma_lista([3]))</a:t>
            </a:r>
            <a:endParaRPr/>
          </a:p>
          <a:p>
            <a:pPr indent="-323848" lvl="1" marL="647695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2999"/>
              <a:buFont typeface="Arial"/>
              <a:buAutoNum type="arabicPeriod"/>
            </a:pPr>
            <a:r>
              <a:rPr b="0" i="0" lang="en-US" sz="2999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1 + (2 + (3 + 0)) = 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3" name="Google Shape;283;p10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284" name="Google Shape;284;p10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0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10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287" name="Google Shape;287;p10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0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10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290" name="Google Shape;290;p10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0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p10"/>
          <p:cNvSpPr txBox="1"/>
          <p:nvPr/>
        </p:nvSpPr>
        <p:spPr>
          <a:xfrm>
            <a:off x="2392343" y="705467"/>
            <a:ext cx="13503315" cy="994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sp>
        <p:nvSpPr>
          <p:cNvPr id="293" name="Google Shape;293;p10"/>
          <p:cNvSpPr txBox="1"/>
          <p:nvPr/>
        </p:nvSpPr>
        <p:spPr>
          <a:xfrm>
            <a:off x="2027167" y="1800226"/>
            <a:ext cx="14233665" cy="7458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6" lvl="1" marL="64771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Estructuras Lógicas: </a:t>
            </a:r>
            <a:r>
              <a:rPr b="0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Comprensión de listas como estructuras clave para representar información.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50A3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6" lvl="1" marL="64771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Unificación: </a:t>
            </a:r>
            <a:r>
              <a:rPr b="0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Herramienta poderosa para hacer coincidir patrones, resolver variables y procesar estructuras.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50A3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6" lvl="1" marL="64771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Inferencia </a:t>
            </a:r>
            <a:r>
              <a:rPr b="0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Lógica: Uso de hechos y reglas para derivar nuevas conclusiones.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50A3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6" lvl="1" marL="64771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Recursión: </a:t>
            </a:r>
            <a:r>
              <a:rPr b="0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Técnica esencial para operar sobre listas y otras estructuras en Prolog.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50A3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6" lvl="1" marL="64771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Simulación e IA: </a:t>
            </a:r>
            <a:r>
              <a:rPr b="0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Uso de Prolog para modelar comportamientos y decisiones en entornos digitales.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9" name="Google Shape;299;p11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300" name="Google Shape;300;p11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1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1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303" name="Google Shape;303;p11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1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11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306" name="Google Shape;306;p11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8" name="Google Shape;308;p11"/>
          <p:cNvSpPr txBox="1"/>
          <p:nvPr/>
        </p:nvSpPr>
        <p:spPr>
          <a:xfrm>
            <a:off x="2392341" y="2313117"/>
            <a:ext cx="13503315" cy="2015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Curiosidad, innovación, exploración</a:t>
            </a:r>
            <a:endParaRPr b="1" sz="69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1"/>
          <p:cNvSpPr txBox="1"/>
          <p:nvPr/>
        </p:nvSpPr>
        <p:spPr>
          <a:xfrm>
            <a:off x="2027167" y="4995582"/>
            <a:ext cx="14233665" cy="198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6" lvl="1" marL="60453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La curiosidad motiva a los estudiantes a cuestionarse y comprender qué es la realidad aumentada, la innovación los impulsa a proponer ideas y aplicaciones creativas, y la exploración fomenta el descubrimiento de nuevas plataformas y herramientas tecnológicas que potencian su aprendizaje</a:t>
            </a:r>
            <a:endParaRPr b="0" i="0" sz="2800" u="none" cap="none" strike="noStrike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5" name="Google Shape;315;p12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316" name="Google Shape;316;p12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2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12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319" name="Google Shape;319;p12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2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12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322" name="Google Shape;322;p12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2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12"/>
          <p:cNvSpPr txBox="1"/>
          <p:nvPr/>
        </p:nvSpPr>
        <p:spPr>
          <a:xfrm>
            <a:off x="2392343" y="1673265"/>
            <a:ext cx="13503315" cy="994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Referencias</a:t>
            </a:r>
            <a:endParaRPr/>
          </a:p>
        </p:txBody>
      </p:sp>
      <p:sp>
        <p:nvSpPr>
          <p:cNvPr id="325" name="Google Shape;325;p12"/>
          <p:cNvSpPr txBox="1"/>
          <p:nvPr/>
        </p:nvSpPr>
        <p:spPr>
          <a:xfrm>
            <a:off x="2027167" y="3745346"/>
            <a:ext cx="14233665" cy="2957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6" lvl="1" marL="60453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Russell, S., &amp; Norvig, P. (2016). Artificial Intelligence: A Modern Approach (3rd ed.). Pearson.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 u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6" lvl="1" marL="60453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Clocksin, W. F., &amp; Mellish, C. S. (2003). Programming in Prolog: Using the ISO Standard (5ª ed.). Springer-Verlag.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 u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1" name="Google Shape;331;p13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332" name="Google Shape;332;p13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3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4" name="Google Shape;334;p13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335" name="Google Shape;335;p13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3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" name="Google Shape;337;p13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338" name="Google Shape;338;p13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3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" name="Google Shape;340;p13"/>
          <p:cNvSpPr txBox="1"/>
          <p:nvPr/>
        </p:nvSpPr>
        <p:spPr>
          <a:xfrm>
            <a:off x="2392342" y="4305300"/>
            <a:ext cx="13503315" cy="1015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 b="1" sz="69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6" name="Google Shape;346;p14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347" name="Google Shape;347;p14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4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9" name="Google Shape;349;p14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350" name="Google Shape;350;p14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4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2" name="Google Shape;352;p14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353" name="Google Shape;353;p14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4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" name="Google Shape;355;p14"/>
          <p:cNvSpPr txBox="1"/>
          <p:nvPr/>
        </p:nvSpPr>
        <p:spPr>
          <a:xfrm>
            <a:off x="2392342" y="4148709"/>
            <a:ext cx="13503315" cy="1015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Actividad Práctica</a:t>
            </a:r>
            <a:endParaRPr b="1" sz="6900">
              <a:solidFill>
                <a:srgbClr val="050A3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1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1" name="Google Shape;361;p15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{ACF57EF5-66D5-4E1C-82F9-BC3795699E2E}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2" name="Google Shape;362;p15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5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4" name="Google Shape;364;p15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{ACF57EF5-66D5-4E1C-82F9-BC3795699E2E}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5" name="Google Shape;365;p15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5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30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6"/>
          <p:cNvSpPr txBox="1"/>
          <p:nvPr/>
        </p:nvSpPr>
        <p:spPr>
          <a:xfrm>
            <a:off x="4437795" y="3446254"/>
            <a:ext cx="8658828" cy="24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9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99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6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373" name="Google Shape;373;p16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 txBox="1"/>
          <p:nvPr/>
        </p:nvSpPr>
        <p:spPr>
          <a:xfrm>
            <a:off x="2411098" y="7890210"/>
            <a:ext cx="13465804" cy="3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