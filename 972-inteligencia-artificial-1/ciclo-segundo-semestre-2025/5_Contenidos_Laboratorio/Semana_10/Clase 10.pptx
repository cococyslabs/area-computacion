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10287000" cx="18288000"/>
  <p:notesSz cx="6858000" cy="9144000"/>
  <p:embeddedFontLst>
    <p:embeddedFont>
      <p:font typeface="Arim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jBGW1ASStiL+igwVD8lmLBPw+F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C19AA7-E263-4B89-9ECD-60CE82643721}">
  <a:tblStyle styleId="{54C19AA7-E263-4B89-9ECD-60CE8264372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Arimo-regular.fntdata"/><Relationship Id="rId25" Type="http://schemas.openxmlformats.org/officeDocument/2006/relationships/slide" Target="slides/slide19.xml"/><Relationship Id="rId28" Type="http://schemas.openxmlformats.org/officeDocument/2006/relationships/font" Target="fonts/Arimo-italic.fntdata"/><Relationship Id="rId27" Type="http://schemas.openxmlformats.org/officeDocument/2006/relationships/font" Target="fonts/Arim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Arim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" name="Google Shape;4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4" name="Google Shape;54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3" name="Google Shape;73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Relationship Id="rId4" Type="http://schemas.openxmlformats.org/officeDocument/2006/relationships/image" Target="../media/image6.png"/><Relationship Id="rId5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16902" y="0"/>
            <a:ext cx="18254198" cy="10287002"/>
          </a:xfrm>
          <a:custGeom>
            <a:rect b="b" l="l" r="r" t="t"/>
            <a:pathLst>
              <a:path extrusionOk="0"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57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3" name="Google Shape;93;p1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{54C19AA7-E263-4B89-9ECD-60CE82643721}</a:tableStyleId>
              </a:tblPr>
              <a:tblGrid>
                <a:gridCol w="3030175"/>
                <a:gridCol w="4335825"/>
              </a:tblGrid>
              <a:tr h="77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4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Viernes, </a:t>
                      </a:r>
                      <a:r>
                        <a:rPr lang="en-US" sz="2840">
                          <a:latin typeface="Arimo"/>
                          <a:ea typeface="Arimo"/>
                          <a:cs typeface="Arimo"/>
                          <a:sym typeface="Arimo"/>
                        </a:rPr>
                        <a:t>08</a:t>
                      </a:r>
                      <a:r>
                        <a:rPr lang="en-US" sz="284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</a:t>
                      </a:r>
                      <a:r>
                        <a:rPr lang="en-US" sz="2840">
                          <a:latin typeface="Arimo"/>
                          <a:ea typeface="Arimo"/>
                          <a:cs typeface="Arimo"/>
                          <a:sym typeface="Arimo"/>
                        </a:rPr>
                        <a:t>05</a:t>
                      </a:r>
                      <a:r>
                        <a:rPr lang="en-US" sz="284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</a:t>
                      </a:r>
                      <a:r>
                        <a:rPr lang="en-US" sz="2840">
                          <a:latin typeface="Arimo"/>
                          <a:ea typeface="Arimo"/>
                          <a:cs typeface="Arimo"/>
                          <a:sym typeface="Arimo"/>
                        </a:rPr>
                        <a:t>2026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4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19:00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" name="Google Shape;94;p1"/>
          <p:cNvSpPr txBox="1"/>
          <p:nvPr/>
        </p:nvSpPr>
        <p:spPr>
          <a:xfrm>
            <a:off x="3864138" y="4529138"/>
            <a:ext cx="9513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Inteligencia Artificial 1 [</a:t>
            </a:r>
            <a:r>
              <a:rPr b="1" lang="en-US" sz="5999"/>
              <a:t>B</a:t>
            </a:r>
            <a:r>
              <a:rPr b="1" lang="en-US" sz="5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5117821" y="5845975"/>
            <a:ext cx="10416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99"/>
              <a:t>Alberto Kanec Ixchop Ordoñez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3" r="-220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028700" y="952267"/>
            <a:ext cx="16230600" cy="8382465"/>
            <a:chOff x="0" y="0"/>
            <a:chExt cx="6045684" cy="3122357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6045684" cy="3122357"/>
            </a:xfrm>
            <a:custGeom>
              <a:rect b="b" l="l" r="r" t="t"/>
              <a:pathLst>
                <a:path extrusionOk="0" h="3122357" w="6045684">
                  <a:moveTo>
                    <a:pt x="0" y="0"/>
                  </a:moveTo>
                  <a:lnTo>
                    <a:pt x="6045684" y="0"/>
                  </a:lnTo>
                  <a:lnTo>
                    <a:pt x="6045684" y="3122357"/>
                  </a:lnTo>
                  <a:lnTo>
                    <a:pt x="0" y="3122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66675">
              <a:solidFill>
                <a:srgbClr val="9753A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0" y="0"/>
              <a:ext cx="6045684" cy="3122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8875" lIns="48875" spcFirstLastPara="1" rIns="48875" wrap="square" tIns="48875">
              <a:noAutofit/>
            </a:bodyPr>
            <a:lstStyle/>
            <a:p>
              <a:pPr indent="0" lvl="0" marL="0" marR="0" rtl="0" algn="ctr">
                <a:lnSpc>
                  <a:spcPct val="100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12374539" y="8812325"/>
            <a:ext cx="4284389" cy="1748082"/>
            <a:chOff x="0" y="-47625"/>
            <a:chExt cx="1128399" cy="460400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1128399" cy="412775"/>
            </a:xfrm>
            <a:custGeom>
              <a:rect b="b" l="l" r="r" t="t"/>
              <a:pathLst>
                <a:path extrusionOk="0" h="412775" w="1128399">
                  <a:moveTo>
                    <a:pt x="0" y="0"/>
                  </a:moveTo>
                  <a:lnTo>
                    <a:pt x="1128399" y="0"/>
                  </a:lnTo>
                  <a:lnTo>
                    <a:pt x="1128399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-47625"/>
              <a:ext cx="1128399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2"/>
          <p:cNvGrpSpPr/>
          <p:nvPr/>
        </p:nvGrpSpPr>
        <p:grpSpPr>
          <a:xfrm rot="5400000">
            <a:off x="14103077" y="3146822"/>
            <a:ext cx="6983416" cy="1748082"/>
            <a:chOff x="0" y="-47625"/>
            <a:chExt cx="1839254" cy="460400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839254" cy="412775"/>
            </a:xfrm>
            <a:custGeom>
              <a:rect b="b" l="l" r="r" t="t"/>
              <a:pathLst>
                <a:path extrusionOk="0" h="412775" w="1839254">
                  <a:moveTo>
                    <a:pt x="0" y="0"/>
                  </a:moveTo>
                  <a:lnTo>
                    <a:pt x="1839254" y="0"/>
                  </a:lnTo>
                  <a:lnTo>
                    <a:pt x="183925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-47625"/>
              <a:ext cx="183925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2"/>
          <p:cNvSpPr/>
          <p:nvPr/>
        </p:nvSpPr>
        <p:spPr>
          <a:xfrm rot="-5400000">
            <a:off x="10540746" y="-52264"/>
            <a:ext cx="11547949" cy="9406329"/>
          </a:xfrm>
          <a:custGeom>
            <a:rect b="b" l="l" r="r" t="t"/>
            <a:pathLst>
              <a:path extrusionOk="0" h="9406329" w="11547949">
                <a:moveTo>
                  <a:pt x="11547949" y="9406329"/>
                </a:moveTo>
                <a:lnTo>
                  <a:pt x="0" y="9406329"/>
                </a:lnTo>
                <a:lnTo>
                  <a:pt x="0" y="0"/>
                </a:lnTo>
                <a:lnTo>
                  <a:pt x="11547949" y="0"/>
                </a:lnTo>
                <a:lnTo>
                  <a:pt x="11547949" y="940632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2118001" y="6879421"/>
            <a:ext cx="9224100" cy="20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Escuela de </a:t>
            </a:r>
            <a:r>
              <a:rPr b="1" lang="en-US" sz="2499">
                <a:solidFill>
                  <a:srgbClr val="050A30"/>
                </a:solidFill>
              </a:rPr>
              <a:t>Ingeniería</a:t>
            </a:r>
            <a:r>
              <a:rPr b="1" lang="en-US" sz="2499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 de Ciencias Y Sistemas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Facultad de </a:t>
            </a:r>
            <a:r>
              <a:rPr b="1" lang="en-US" sz="2499">
                <a:solidFill>
                  <a:srgbClr val="050A30"/>
                </a:solidFill>
              </a:rPr>
              <a:t>Ingeniería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99">
              <a:solidFill>
                <a:srgbClr val="050A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2118001" y="3415707"/>
            <a:ext cx="11119114" cy="1210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Clase 10</a:t>
            </a:r>
            <a:endParaRPr b="1" sz="8000">
              <a:solidFill>
                <a:srgbClr val="050A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2184676" y="2365657"/>
            <a:ext cx="11052439" cy="83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5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INTELIGENCIA ARTIFICIAL 1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2118001" y="8574365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  <p:cxnSp>
        <p:nvCxnSpPr>
          <p:cNvPr id="115" name="Google Shape;115;p2"/>
          <p:cNvCxnSpPr/>
          <p:nvPr/>
        </p:nvCxnSpPr>
        <p:spPr>
          <a:xfrm flipH="1" rot="10800000">
            <a:off x="13553005" y="935761"/>
            <a:ext cx="5036482" cy="5036482"/>
          </a:xfrm>
          <a:prstGeom prst="straightConnector1">
            <a:avLst/>
          </a:prstGeom>
          <a:noFill/>
          <a:ln cap="flat" cmpd="sng" w="114300">
            <a:solidFill>
              <a:srgbClr val="050A3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2"/>
          <p:cNvCxnSpPr/>
          <p:nvPr/>
        </p:nvCxnSpPr>
        <p:spPr>
          <a:xfrm flipH="1" rot="10800000">
            <a:off x="14602740" y="4540846"/>
            <a:ext cx="1216428" cy="1216428"/>
          </a:xfrm>
          <a:prstGeom prst="straightConnector1">
            <a:avLst/>
          </a:prstGeom>
          <a:noFill/>
          <a:ln cap="flat" cmpd="sng" w="114300">
            <a:solidFill>
              <a:srgbClr val="050A3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2"/>
          <p:cNvCxnSpPr/>
          <p:nvPr/>
        </p:nvCxnSpPr>
        <p:spPr>
          <a:xfrm flipH="1" rot="10800000">
            <a:off x="12944791" y="7512571"/>
            <a:ext cx="2942644" cy="2942644"/>
          </a:xfrm>
          <a:prstGeom prst="straightConnector1">
            <a:avLst/>
          </a:prstGeom>
          <a:noFill/>
          <a:ln cap="flat" cmpd="sng" w="114300">
            <a:solidFill>
              <a:srgbClr val="050A3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2"/>
          <p:cNvCxnSpPr/>
          <p:nvPr/>
        </p:nvCxnSpPr>
        <p:spPr>
          <a:xfrm flipH="1" rot="10800000">
            <a:off x="11473469" y="9776779"/>
            <a:ext cx="2942644" cy="2942644"/>
          </a:xfrm>
          <a:prstGeom prst="straightConnector1">
            <a:avLst/>
          </a:prstGeom>
          <a:noFill/>
          <a:ln cap="flat" cmpd="sng" w="114300">
            <a:solidFill>
              <a:srgbClr val="050A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2"/>
          <p:cNvSpPr txBox="1"/>
          <p:nvPr/>
        </p:nvSpPr>
        <p:spPr>
          <a:xfrm>
            <a:off x="2118001" y="4721267"/>
            <a:ext cx="7818218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Simulación de Robots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5" name="Google Shape;125;p3"/>
          <p:cNvGrpSpPr/>
          <p:nvPr/>
        </p:nvGrpSpPr>
        <p:grpSpPr>
          <a:xfrm>
            <a:off x="1362575" y="1028700"/>
            <a:ext cx="15562849" cy="8179961"/>
            <a:chOff x="0" y="0"/>
            <a:chExt cx="5796956" cy="3046927"/>
          </a:xfrm>
        </p:grpSpPr>
        <p:sp>
          <p:nvSpPr>
            <p:cNvPr id="126" name="Google Shape;126;p3"/>
            <p:cNvSpPr/>
            <p:nvPr/>
          </p:nvSpPr>
          <p:spPr>
            <a:xfrm>
              <a:off x="0" y="0"/>
              <a:ext cx="5796955" cy="3046927"/>
            </a:xfrm>
            <a:custGeom>
              <a:rect b="b" l="l" r="r" t="t"/>
              <a:pathLst>
                <a:path extrusionOk="0" h="3046927" w="5796955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66675">
              <a:solidFill>
                <a:srgbClr val="570F6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3"/>
            <p:cNvSpPr txBox="1"/>
            <p:nvPr/>
          </p:nvSpPr>
          <p:spPr>
            <a:xfrm>
              <a:off x="0" y="0"/>
              <a:ext cx="5796956" cy="30469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8875" lIns="48875" spcFirstLastPara="1" rIns="48875" wrap="square" tIns="48875">
              <a:noAutofit/>
            </a:bodyPr>
            <a:lstStyle/>
            <a:p>
              <a:pPr indent="0" lvl="0" marL="0" marR="0" rtl="0" algn="ctr">
                <a:lnSpc>
                  <a:spcPct val="100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3"/>
          <p:cNvGrpSpPr/>
          <p:nvPr/>
        </p:nvGrpSpPr>
        <p:grpSpPr>
          <a:xfrm rot="2700000">
            <a:off x="121003" y="7895899"/>
            <a:ext cx="3393988" cy="1748082"/>
            <a:chOff x="0" y="-47625"/>
            <a:chExt cx="893890" cy="460400"/>
          </a:xfrm>
        </p:grpSpPr>
        <p:sp>
          <p:nvSpPr>
            <p:cNvPr id="129" name="Google Shape;129;p3"/>
            <p:cNvSpPr/>
            <p:nvPr/>
          </p:nvSpPr>
          <p:spPr>
            <a:xfrm>
              <a:off x="0" y="0"/>
              <a:ext cx="893890" cy="412775"/>
            </a:xfrm>
            <a:custGeom>
              <a:rect b="b" l="l" r="r" t="t"/>
              <a:pathLst>
                <a:path extrusionOk="0"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3"/>
            <p:cNvSpPr txBox="1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" name="Google Shape;131;p3"/>
          <p:cNvGrpSpPr/>
          <p:nvPr/>
        </p:nvGrpSpPr>
        <p:grpSpPr>
          <a:xfrm rot="2700000">
            <a:off x="14900874" y="396084"/>
            <a:ext cx="3393988" cy="1748082"/>
            <a:chOff x="0" y="-47625"/>
            <a:chExt cx="893890" cy="460400"/>
          </a:xfrm>
        </p:grpSpPr>
        <p:sp>
          <p:nvSpPr>
            <p:cNvPr id="132" name="Google Shape;132;p3"/>
            <p:cNvSpPr/>
            <p:nvPr/>
          </p:nvSpPr>
          <p:spPr>
            <a:xfrm>
              <a:off x="0" y="0"/>
              <a:ext cx="893890" cy="412775"/>
            </a:xfrm>
            <a:custGeom>
              <a:rect b="b" l="l" r="r" t="t"/>
              <a:pathLst>
                <a:path extrusionOk="0"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3"/>
            <p:cNvSpPr txBox="1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3"/>
          <p:cNvSpPr/>
          <p:nvPr/>
        </p:nvSpPr>
        <p:spPr>
          <a:xfrm>
            <a:off x="-515035" y="5489862"/>
            <a:ext cx="5098075" cy="5098075"/>
          </a:xfrm>
          <a:custGeom>
            <a:rect b="b" l="l" r="r" t="t"/>
            <a:pathLst>
              <a:path extrusionOk="0"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 rot="10800000">
            <a:off x="13871465" y="-189523"/>
            <a:ext cx="5098075" cy="5098075"/>
          </a:xfrm>
          <a:custGeom>
            <a:rect b="b" l="l" r="r" t="t"/>
            <a:pathLst>
              <a:path extrusionOk="0"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10299395" y="3078596"/>
            <a:ext cx="6464263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Link del Video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b="1" sz="35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1" marL="75565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Corto en UEDI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1889083" y="1511090"/>
            <a:ext cx="4271494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12006974" y="8506847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2034003" y="3078596"/>
            <a:ext cx="6464400" cy="52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Recordatorios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Temas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1" marL="75565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Programación de Acciones Robóticas</a:t>
            </a:r>
            <a:endParaRPr/>
          </a:p>
          <a:p>
            <a:pPr indent="0" lvl="0" marL="0" marR="0" rtl="0" algn="l">
              <a:lnSpc>
                <a:spcPct val="342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1" marL="75565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Simulación en Entornos Robóticos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11208934" y="1511090"/>
            <a:ext cx="4271494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Recursos</a:t>
            </a:r>
            <a:endParaRPr/>
          </a:p>
        </p:txBody>
      </p:sp>
      <p:pic>
        <p:nvPicPr>
          <p:cNvPr descr="Código QR&#10;&#10;El contenido generado por IA puede ser incorrecto." id="141" name="Google Shape;14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65894" y="4010914"/>
            <a:ext cx="2011141" cy="2011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9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7" name="Google Shape;147;p19"/>
          <p:cNvGraphicFramePr/>
          <p:nvPr/>
        </p:nvGraphicFramePr>
        <p:xfrm>
          <a:off x="16900" y="150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{54C19AA7-E263-4B89-9ECD-60CE82643721}</a:tableStyleId>
              </a:tblPr>
              <a:tblGrid>
                <a:gridCol w="5533100"/>
                <a:gridCol w="49266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Examen Final</a:t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20</a:t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Si</a:t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" name="Google Shape;148;p19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169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0" name="Google Shape;150;p19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{54C19AA7-E263-4B89-9ECD-60CE82643721}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19:00</a:t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20:30</a:t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b="1" sz="10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30</a:t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19"/>
          <p:cNvSpPr txBox="1"/>
          <p:nvPr/>
        </p:nvSpPr>
        <p:spPr>
          <a:xfrm>
            <a:off x="62616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12506300" y="4955800"/>
            <a:ext cx="57648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8" name="Google Shape;158;p4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159" name="Google Shape;159;p4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4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4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162" name="Google Shape;162;p4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4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4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165" name="Google Shape;165;p4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4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" name="Google Shape;167;p4"/>
          <p:cNvSpPr txBox="1"/>
          <p:nvPr/>
        </p:nvSpPr>
        <p:spPr>
          <a:xfrm>
            <a:off x="2895440" y="3588174"/>
            <a:ext cx="12634056" cy="3580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31803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Integra diseños 2D y 3D de robots la eficiencia y realismo en simulaciones robóticas para aumentar la precisión, eficiencia y realismo de entornos virtuales. </a:t>
            </a:r>
            <a:endParaRPr b="1" i="0" sz="4800" u="none" cap="none" strike="noStrike">
              <a:solidFill>
                <a:srgbClr val="050A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1502096" y="606306"/>
            <a:ext cx="13991174" cy="88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98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 b="1" sz="6098">
              <a:solidFill>
                <a:srgbClr val="050A3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4" name="Google Shape;174;p5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175" name="Google Shape;175;p5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5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178" name="Google Shape;178;p5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5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" name="Google Shape;180;p5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181" name="Google Shape;181;p5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5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p5"/>
          <p:cNvSpPr txBox="1"/>
          <p:nvPr/>
        </p:nvSpPr>
        <p:spPr>
          <a:xfrm>
            <a:off x="2148413" y="4119245"/>
            <a:ext cx="13991174" cy="1024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Simulación de Robots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9" name="Google Shape;189;p6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190" name="Google Shape;190;p6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6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6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193" name="Google Shape;193;p6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6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6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196" name="Google Shape;196;p6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6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6"/>
          <p:cNvSpPr txBox="1"/>
          <p:nvPr/>
        </p:nvSpPr>
        <p:spPr>
          <a:xfrm>
            <a:off x="2392343" y="767350"/>
            <a:ext cx="13503315" cy="994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¿Qué son las acciones?</a:t>
            </a:r>
            <a:endParaRPr/>
          </a:p>
        </p:txBody>
      </p:sp>
      <p:grpSp>
        <p:nvGrpSpPr>
          <p:cNvPr id="199" name="Google Shape;199;p6"/>
          <p:cNvGrpSpPr/>
          <p:nvPr/>
        </p:nvGrpSpPr>
        <p:grpSpPr>
          <a:xfrm>
            <a:off x="725183" y="1907509"/>
            <a:ext cx="6822588" cy="5566276"/>
            <a:chOff x="0" y="-47625"/>
            <a:chExt cx="1796896" cy="1466015"/>
          </a:xfrm>
        </p:grpSpPr>
        <p:sp>
          <p:nvSpPr>
            <p:cNvPr id="200" name="Google Shape;200;p6"/>
            <p:cNvSpPr/>
            <p:nvPr/>
          </p:nvSpPr>
          <p:spPr>
            <a:xfrm>
              <a:off x="0" y="0"/>
              <a:ext cx="1796896" cy="1418390"/>
            </a:xfrm>
            <a:custGeom>
              <a:rect b="b" l="l" r="r" t="t"/>
              <a:pathLst>
                <a:path extrusionOk="0" h="1418390" w="1796896">
                  <a:moveTo>
                    <a:pt x="57872" y="0"/>
                  </a:moveTo>
                  <a:lnTo>
                    <a:pt x="1739023" y="0"/>
                  </a:lnTo>
                  <a:cubicBezTo>
                    <a:pt x="1754372" y="0"/>
                    <a:pt x="1769092" y="6097"/>
                    <a:pt x="1779945" y="16950"/>
                  </a:cubicBezTo>
                  <a:cubicBezTo>
                    <a:pt x="1790798" y="27803"/>
                    <a:pt x="1796896" y="42524"/>
                    <a:pt x="1796896" y="57872"/>
                  </a:cubicBezTo>
                  <a:lnTo>
                    <a:pt x="1796896" y="1360518"/>
                  </a:lnTo>
                  <a:cubicBezTo>
                    <a:pt x="1796896" y="1392480"/>
                    <a:pt x="1770985" y="1418390"/>
                    <a:pt x="1739023" y="1418390"/>
                  </a:cubicBezTo>
                  <a:lnTo>
                    <a:pt x="57872" y="1418390"/>
                  </a:lnTo>
                  <a:cubicBezTo>
                    <a:pt x="25910" y="1418390"/>
                    <a:pt x="0" y="1392480"/>
                    <a:pt x="0" y="1360518"/>
                  </a:cubicBezTo>
                  <a:lnTo>
                    <a:pt x="0" y="57872"/>
                  </a:lnTo>
                  <a:cubicBezTo>
                    <a:pt x="0" y="25910"/>
                    <a:pt x="25910" y="0"/>
                    <a:pt x="57872" y="0"/>
                  </a:cubicBezTo>
                  <a:close/>
                </a:path>
              </a:pathLst>
            </a:custGeom>
            <a:solidFill>
              <a:srgbClr val="3C3D5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6"/>
            <p:cNvSpPr txBox="1"/>
            <p:nvPr/>
          </p:nvSpPr>
          <p:spPr>
            <a:xfrm>
              <a:off x="0" y="-47625"/>
              <a:ext cx="1796896" cy="14660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6"/>
          <p:cNvSpPr txBox="1"/>
          <p:nvPr/>
        </p:nvSpPr>
        <p:spPr>
          <a:xfrm>
            <a:off x="768829" y="3062554"/>
            <a:ext cx="6452889" cy="3360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Una acción es una actividad deliberada ejecutada por un agente con un objetivo específico. </a:t>
            </a:r>
            <a:endParaRPr/>
          </a:p>
        </p:txBody>
      </p:sp>
      <p:grpSp>
        <p:nvGrpSpPr>
          <p:cNvPr id="203" name="Google Shape;203;p6"/>
          <p:cNvGrpSpPr/>
          <p:nvPr/>
        </p:nvGrpSpPr>
        <p:grpSpPr>
          <a:xfrm>
            <a:off x="10663333" y="1907509"/>
            <a:ext cx="6822588" cy="5566276"/>
            <a:chOff x="0" y="-47625"/>
            <a:chExt cx="1796896" cy="1466015"/>
          </a:xfrm>
        </p:grpSpPr>
        <p:sp>
          <p:nvSpPr>
            <p:cNvPr id="204" name="Google Shape;204;p6"/>
            <p:cNvSpPr/>
            <p:nvPr/>
          </p:nvSpPr>
          <p:spPr>
            <a:xfrm>
              <a:off x="0" y="0"/>
              <a:ext cx="1796896" cy="1418390"/>
            </a:xfrm>
            <a:custGeom>
              <a:rect b="b" l="l" r="r" t="t"/>
              <a:pathLst>
                <a:path extrusionOk="0" h="1418390" w="1796896">
                  <a:moveTo>
                    <a:pt x="57872" y="0"/>
                  </a:moveTo>
                  <a:lnTo>
                    <a:pt x="1739023" y="0"/>
                  </a:lnTo>
                  <a:cubicBezTo>
                    <a:pt x="1754372" y="0"/>
                    <a:pt x="1769092" y="6097"/>
                    <a:pt x="1779945" y="16950"/>
                  </a:cubicBezTo>
                  <a:cubicBezTo>
                    <a:pt x="1790798" y="27803"/>
                    <a:pt x="1796896" y="42524"/>
                    <a:pt x="1796896" y="57872"/>
                  </a:cubicBezTo>
                  <a:lnTo>
                    <a:pt x="1796896" y="1360518"/>
                  </a:lnTo>
                  <a:cubicBezTo>
                    <a:pt x="1796896" y="1392480"/>
                    <a:pt x="1770985" y="1418390"/>
                    <a:pt x="1739023" y="1418390"/>
                  </a:cubicBezTo>
                  <a:lnTo>
                    <a:pt x="57872" y="1418390"/>
                  </a:lnTo>
                  <a:cubicBezTo>
                    <a:pt x="25910" y="1418390"/>
                    <a:pt x="0" y="1392480"/>
                    <a:pt x="0" y="1360518"/>
                  </a:cubicBezTo>
                  <a:lnTo>
                    <a:pt x="0" y="57872"/>
                  </a:lnTo>
                  <a:cubicBezTo>
                    <a:pt x="0" y="25910"/>
                    <a:pt x="25910" y="0"/>
                    <a:pt x="57872" y="0"/>
                  </a:cubicBezTo>
                  <a:close/>
                </a:path>
              </a:pathLst>
            </a:custGeom>
            <a:solidFill>
              <a:srgbClr val="3C3D5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0" y="-47625"/>
              <a:ext cx="1796896" cy="14660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6"/>
          <p:cNvSpPr txBox="1"/>
          <p:nvPr/>
        </p:nvSpPr>
        <p:spPr>
          <a:xfrm>
            <a:off x="10862113" y="2419668"/>
            <a:ext cx="6425027" cy="4780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Son respuestas ante estímulos o situaciones.</a:t>
            </a:r>
            <a:endParaRPr/>
          </a:p>
          <a:p>
            <a:pPr indent="-367035" lvl="1" marL="734069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Tienen un propósito o intención.</a:t>
            </a:r>
            <a:endParaRPr/>
          </a:p>
          <a:p>
            <a:pPr indent="-367035" lvl="1" marL="734069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Son el resultado visible de un proceso de toma de decisiones.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2605132" y="7781607"/>
            <a:ext cx="13077736" cy="1780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"Las acciones convierten la teoría en práctica, y los algoritmos en comportamientos."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3" name="Google Shape;213;p7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214" name="Google Shape;214;p7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7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p7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217" name="Google Shape;217;p7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7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" name="Google Shape;219;p7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220" name="Google Shape;220;p7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7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7"/>
          <p:cNvSpPr/>
          <p:nvPr/>
        </p:nvSpPr>
        <p:spPr>
          <a:xfrm rot="10800000">
            <a:off x="14019925" y="-210928"/>
            <a:ext cx="5098075" cy="5098075"/>
          </a:xfrm>
          <a:custGeom>
            <a:rect b="b" l="l" r="r" t="t"/>
            <a:pathLst>
              <a:path extrusionOk="0"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" name="Google Shape;223;p7"/>
          <p:cNvGrpSpPr/>
          <p:nvPr/>
        </p:nvGrpSpPr>
        <p:grpSpPr>
          <a:xfrm>
            <a:off x="611414" y="2490936"/>
            <a:ext cx="4519025" cy="3266999"/>
            <a:chOff x="0" y="-47625"/>
            <a:chExt cx="1190196" cy="860444"/>
          </a:xfrm>
        </p:grpSpPr>
        <p:sp>
          <p:nvSpPr>
            <p:cNvPr id="224" name="Google Shape;224;p7"/>
            <p:cNvSpPr/>
            <p:nvPr/>
          </p:nvSpPr>
          <p:spPr>
            <a:xfrm>
              <a:off x="0" y="0"/>
              <a:ext cx="1190196" cy="812819"/>
            </a:xfrm>
            <a:custGeom>
              <a:rect b="b" l="l" r="r" t="t"/>
              <a:pathLst>
                <a:path extrusionOk="0" h="812819" w="1190196">
                  <a:moveTo>
                    <a:pt x="87372" y="0"/>
                  </a:moveTo>
                  <a:lnTo>
                    <a:pt x="1102824" y="0"/>
                  </a:lnTo>
                  <a:cubicBezTo>
                    <a:pt x="1151078" y="0"/>
                    <a:pt x="1190196" y="39118"/>
                    <a:pt x="1190196" y="87372"/>
                  </a:cubicBezTo>
                  <a:lnTo>
                    <a:pt x="1190196" y="725447"/>
                  </a:lnTo>
                  <a:cubicBezTo>
                    <a:pt x="1190196" y="773701"/>
                    <a:pt x="1151078" y="812819"/>
                    <a:pt x="1102824" y="812819"/>
                  </a:cubicBezTo>
                  <a:lnTo>
                    <a:pt x="87372" y="812819"/>
                  </a:lnTo>
                  <a:cubicBezTo>
                    <a:pt x="39118" y="812819"/>
                    <a:pt x="0" y="773701"/>
                    <a:pt x="0" y="725447"/>
                  </a:cubicBezTo>
                  <a:lnTo>
                    <a:pt x="0" y="87372"/>
                  </a:lnTo>
                  <a:cubicBezTo>
                    <a:pt x="0" y="39118"/>
                    <a:pt x="39118" y="0"/>
                    <a:pt x="87372" y="0"/>
                  </a:cubicBezTo>
                  <a:close/>
                </a:path>
              </a:pathLst>
            </a:custGeom>
            <a:solidFill>
              <a:srgbClr val="5CB6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7"/>
            <p:cNvSpPr txBox="1"/>
            <p:nvPr/>
          </p:nvSpPr>
          <p:spPr>
            <a:xfrm>
              <a:off x="0" y="-47625"/>
              <a:ext cx="1190196" cy="860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7"/>
          <p:cNvSpPr txBox="1"/>
          <p:nvPr/>
        </p:nvSpPr>
        <p:spPr>
          <a:xfrm>
            <a:off x="2554434" y="471487"/>
            <a:ext cx="13179131" cy="2200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7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¿Cuáles son las caracteristicas de una acción?</a:t>
            </a:r>
            <a:endParaRPr/>
          </a:p>
        </p:txBody>
      </p:sp>
      <p:sp>
        <p:nvSpPr>
          <p:cNvPr id="227" name="Google Shape;227;p7"/>
          <p:cNvSpPr txBox="1"/>
          <p:nvPr/>
        </p:nvSpPr>
        <p:spPr>
          <a:xfrm>
            <a:off x="13114928" y="8931275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  <p:sp>
        <p:nvSpPr>
          <p:cNvPr id="228" name="Google Shape;228;p7"/>
          <p:cNvSpPr txBox="1"/>
          <p:nvPr/>
        </p:nvSpPr>
        <p:spPr>
          <a:xfrm>
            <a:off x="940520" y="2800705"/>
            <a:ext cx="3684454" cy="2628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79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AGENTE EJECUTOR</a:t>
            </a:r>
            <a:endParaRPr/>
          </a:p>
          <a:p>
            <a:pPr indent="0" lvl="0" marL="0" marR="0" rtl="0" algn="ctr">
              <a:lnSpc>
                <a:spcPct val="20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79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Quien realiza la acción (humano, robot, sistema)</a:t>
            </a:r>
            <a:endParaRPr/>
          </a:p>
        </p:txBody>
      </p:sp>
      <p:grpSp>
        <p:nvGrpSpPr>
          <p:cNvPr id="229" name="Google Shape;229;p7"/>
          <p:cNvGrpSpPr/>
          <p:nvPr/>
        </p:nvGrpSpPr>
        <p:grpSpPr>
          <a:xfrm>
            <a:off x="13233758" y="2490936"/>
            <a:ext cx="4519025" cy="3266999"/>
            <a:chOff x="0" y="-47625"/>
            <a:chExt cx="1190196" cy="860444"/>
          </a:xfrm>
        </p:grpSpPr>
        <p:sp>
          <p:nvSpPr>
            <p:cNvPr id="230" name="Google Shape;230;p7"/>
            <p:cNvSpPr/>
            <p:nvPr/>
          </p:nvSpPr>
          <p:spPr>
            <a:xfrm>
              <a:off x="0" y="0"/>
              <a:ext cx="1190196" cy="812819"/>
            </a:xfrm>
            <a:custGeom>
              <a:rect b="b" l="l" r="r" t="t"/>
              <a:pathLst>
                <a:path extrusionOk="0" h="812819" w="1190196">
                  <a:moveTo>
                    <a:pt x="87372" y="0"/>
                  </a:moveTo>
                  <a:lnTo>
                    <a:pt x="1102824" y="0"/>
                  </a:lnTo>
                  <a:cubicBezTo>
                    <a:pt x="1151078" y="0"/>
                    <a:pt x="1190196" y="39118"/>
                    <a:pt x="1190196" y="87372"/>
                  </a:cubicBezTo>
                  <a:lnTo>
                    <a:pt x="1190196" y="725447"/>
                  </a:lnTo>
                  <a:cubicBezTo>
                    <a:pt x="1190196" y="773701"/>
                    <a:pt x="1151078" y="812819"/>
                    <a:pt x="1102824" y="812819"/>
                  </a:cubicBezTo>
                  <a:lnTo>
                    <a:pt x="87372" y="812819"/>
                  </a:lnTo>
                  <a:cubicBezTo>
                    <a:pt x="39118" y="812819"/>
                    <a:pt x="0" y="773701"/>
                    <a:pt x="0" y="725447"/>
                  </a:cubicBezTo>
                  <a:lnTo>
                    <a:pt x="0" y="87372"/>
                  </a:lnTo>
                  <a:cubicBezTo>
                    <a:pt x="0" y="39118"/>
                    <a:pt x="39118" y="0"/>
                    <a:pt x="87372" y="0"/>
                  </a:cubicBezTo>
                  <a:close/>
                </a:path>
              </a:pathLst>
            </a:custGeom>
            <a:solidFill>
              <a:srgbClr val="5CB6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7"/>
            <p:cNvSpPr txBox="1"/>
            <p:nvPr/>
          </p:nvSpPr>
          <p:spPr>
            <a:xfrm>
              <a:off x="0" y="-47625"/>
              <a:ext cx="1190196" cy="860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7"/>
          <p:cNvSpPr txBox="1"/>
          <p:nvPr/>
        </p:nvSpPr>
        <p:spPr>
          <a:xfrm>
            <a:off x="13532214" y="2774796"/>
            <a:ext cx="4025734" cy="2632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79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RESULTADO ESPERADO</a:t>
            </a:r>
            <a:endParaRPr/>
          </a:p>
          <a:p>
            <a:pPr indent="0" lvl="0" marL="0" marR="0" rtl="0" algn="ctr">
              <a:lnSpc>
                <a:spcPct val="20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79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CONSECUENCIa o efecto que se busca lograr.</a:t>
            </a:r>
            <a:endParaRPr/>
          </a:p>
        </p:txBody>
      </p:sp>
      <p:grpSp>
        <p:nvGrpSpPr>
          <p:cNvPr id="233" name="Google Shape;233;p7"/>
          <p:cNvGrpSpPr/>
          <p:nvPr/>
        </p:nvGrpSpPr>
        <p:grpSpPr>
          <a:xfrm>
            <a:off x="4234941" y="5991301"/>
            <a:ext cx="4519025" cy="3266999"/>
            <a:chOff x="0" y="-47625"/>
            <a:chExt cx="1190196" cy="860444"/>
          </a:xfrm>
        </p:grpSpPr>
        <p:sp>
          <p:nvSpPr>
            <p:cNvPr id="234" name="Google Shape;234;p7"/>
            <p:cNvSpPr/>
            <p:nvPr/>
          </p:nvSpPr>
          <p:spPr>
            <a:xfrm>
              <a:off x="0" y="0"/>
              <a:ext cx="1190196" cy="812819"/>
            </a:xfrm>
            <a:custGeom>
              <a:rect b="b" l="l" r="r" t="t"/>
              <a:pathLst>
                <a:path extrusionOk="0" h="812819" w="1190196">
                  <a:moveTo>
                    <a:pt x="87372" y="0"/>
                  </a:moveTo>
                  <a:lnTo>
                    <a:pt x="1102824" y="0"/>
                  </a:lnTo>
                  <a:cubicBezTo>
                    <a:pt x="1151078" y="0"/>
                    <a:pt x="1190196" y="39118"/>
                    <a:pt x="1190196" y="87372"/>
                  </a:cubicBezTo>
                  <a:lnTo>
                    <a:pt x="1190196" y="725447"/>
                  </a:lnTo>
                  <a:cubicBezTo>
                    <a:pt x="1190196" y="773701"/>
                    <a:pt x="1151078" y="812819"/>
                    <a:pt x="1102824" y="812819"/>
                  </a:cubicBezTo>
                  <a:lnTo>
                    <a:pt x="87372" y="812819"/>
                  </a:lnTo>
                  <a:cubicBezTo>
                    <a:pt x="39118" y="812819"/>
                    <a:pt x="0" y="773701"/>
                    <a:pt x="0" y="725447"/>
                  </a:cubicBezTo>
                  <a:lnTo>
                    <a:pt x="0" y="87372"/>
                  </a:lnTo>
                  <a:cubicBezTo>
                    <a:pt x="0" y="39118"/>
                    <a:pt x="39118" y="0"/>
                    <a:pt x="87372" y="0"/>
                  </a:cubicBezTo>
                  <a:close/>
                </a:path>
              </a:pathLst>
            </a:custGeom>
            <a:solidFill>
              <a:srgbClr val="5CB6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7"/>
            <p:cNvSpPr txBox="1"/>
            <p:nvPr/>
          </p:nvSpPr>
          <p:spPr>
            <a:xfrm>
              <a:off x="0" y="-47625"/>
              <a:ext cx="1190196" cy="860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6" name="Google Shape;236;p7"/>
          <p:cNvGrpSpPr/>
          <p:nvPr/>
        </p:nvGrpSpPr>
        <p:grpSpPr>
          <a:xfrm>
            <a:off x="9144000" y="5991301"/>
            <a:ext cx="4519025" cy="3266999"/>
            <a:chOff x="0" y="-47625"/>
            <a:chExt cx="1190196" cy="860444"/>
          </a:xfrm>
        </p:grpSpPr>
        <p:sp>
          <p:nvSpPr>
            <p:cNvPr id="237" name="Google Shape;237;p7"/>
            <p:cNvSpPr/>
            <p:nvPr/>
          </p:nvSpPr>
          <p:spPr>
            <a:xfrm>
              <a:off x="0" y="0"/>
              <a:ext cx="1190196" cy="812819"/>
            </a:xfrm>
            <a:custGeom>
              <a:rect b="b" l="l" r="r" t="t"/>
              <a:pathLst>
                <a:path extrusionOk="0" h="812819" w="1190196">
                  <a:moveTo>
                    <a:pt x="87372" y="0"/>
                  </a:moveTo>
                  <a:lnTo>
                    <a:pt x="1102824" y="0"/>
                  </a:lnTo>
                  <a:cubicBezTo>
                    <a:pt x="1151078" y="0"/>
                    <a:pt x="1190196" y="39118"/>
                    <a:pt x="1190196" y="87372"/>
                  </a:cubicBezTo>
                  <a:lnTo>
                    <a:pt x="1190196" y="725447"/>
                  </a:lnTo>
                  <a:cubicBezTo>
                    <a:pt x="1190196" y="773701"/>
                    <a:pt x="1151078" y="812819"/>
                    <a:pt x="1102824" y="812819"/>
                  </a:cubicBezTo>
                  <a:lnTo>
                    <a:pt x="87372" y="812819"/>
                  </a:lnTo>
                  <a:cubicBezTo>
                    <a:pt x="39118" y="812819"/>
                    <a:pt x="0" y="773701"/>
                    <a:pt x="0" y="725447"/>
                  </a:cubicBezTo>
                  <a:lnTo>
                    <a:pt x="0" y="87372"/>
                  </a:lnTo>
                  <a:cubicBezTo>
                    <a:pt x="0" y="39118"/>
                    <a:pt x="39118" y="0"/>
                    <a:pt x="87372" y="0"/>
                  </a:cubicBezTo>
                  <a:close/>
                </a:path>
              </a:pathLst>
            </a:custGeom>
            <a:solidFill>
              <a:srgbClr val="5CB6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7"/>
            <p:cNvSpPr txBox="1"/>
            <p:nvPr/>
          </p:nvSpPr>
          <p:spPr>
            <a:xfrm>
              <a:off x="0" y="-47625"/>
              <a:ext cx="1190196" cy="860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" name="Google Shape;239;p7"/>
          <p:cNvSpPr txBox="1"/>
          <p:nvPr/>
        </p:nvSpPr>
        <p:spPr>
          <a:xfrm>
            <a:off x="4624975" y="6590222"/>
            <a:ext cx="3684454" cy="1953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79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PROPÓSITO</a:t>
            </a:r>
            <a:endParaRPr/>
          </a:p>
          <a:p>
            <a:pPr indent="0" lvl="0" marL="0" marR="0" rtl="0" algn="ctr">
              <a:lnSpc>
                <a:spcPct val="20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79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La razón o meta detrás de la acción.</a:t>
            </a:r>
            <a:endParaRPr/>
          </a:p>
        </p:txBody>
      </p:sp>
      <p:sp>
        <p:nvSpPr>
          <p:cNvPr id="240" name="Google Shape;240;p7"/>
          <p:cNvSpPr txBox="1"/>
          <p:nvPr/>
        </p:nvSpPr>
        <p:spPr>
          <a:xfrm>
            <a:off x="9561286" y="6272293"/>
            <a:ext cx="3684454" cy="2628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79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CONDICION DE ACTIVACIÓN</a:t>
            </a:r>
            <a:endParaRPr/>
          </a:p>
          <a:p>
            <a:pPr indent="0" lvl="0" marL="0" marR="0" rtl="0" algn="ctr">
              <a:lnSpc>
                <a:spcPct val="20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79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Situación que inicia la acción.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6" name="Google Shape;246;p8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247" name="Google Shape;247;p8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8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8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250" name="Google Shape;250;p8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2" name="Google Shape;252;p8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253" name="Google Shape;253;p8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8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5" name="Google Shape;255;p8"/>
          <p:cNvSpPr/>
          <p:nvPr/>
        </p:nvSpPr>
        <p:spPr>
          <a:xfrm rot="10800000">
            <a:off x="14019925" y="-210928"/>
            <a:ext cx="5098075" cy="5098075"/>
          </a:xfrm>
          <a:custGeom>
            <a:rect b="b" l="l" r="r" t="t"/>
            <a:pathLst>
              <a:path extrusionOk="0"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3997155" y="2764907"/>
            <a:ext cx="10293691" cy="5880618"/>
          </a:xfrm>
          <a:custGeom>
            <a:rect b="b" l="l" r="r" t="t"/>
            <a:pathLst>
              <a:path extrusionOk="0" h="5880618" w="10293691">
                <a:moveTo>
                  <a:pt x="0" y="0"/>
                </a:moveTo>
                <a:lnTo>
                  <a:pt x="10293690" y="0"/>
                </a:lnTo>
                <a:lnTo>
                  <a:pt x="10293690" y="5880618"/>
                </a:lnTo>
                <a:lnTo>
                  <a:pt x="0" y="58806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94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2554434" y="867816"/>
            <a:ext cx="13179131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7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¿Identificas las caracteristicas?</a:t>
            </a:r>
            <a:endParaRPr/>
          </a:p>
        </p:txBody>
      </p:sp>
      <p:sp>
        <p:nvSpPr>
          <p:cNvPr id="258" name="Google Shape;258;p8"/>
          <p:cNvSpPr txBox="1"/>
          <p:nvPr/>
        </p:nvSpPr>
        <p:spPr>
          <a:xfrm>
            <a:off x="13114928" y="8931275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4" name="Google Shape;264;p9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265" name="Google Shape;265;p9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9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9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268" name="Google Shape;268;p9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9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" name="Google Shape;270;p9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271" name="Google Shape;271;p9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9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p9"/>
          <p:cNvSpPr/>
          <p:nvPr/>
        </p:nvSpPr>
        <p:spPr>
          <a:xfrm rot="10800000">
            <a:off x="14019925" y="-210928"/>
            <a:ext cx="5098075" cy="5098075"/>
          </a:xfrm>
          <a:custGeom>
            <a:rect b="b" l="l" r="r" t="t"/>
            <a:pathLst>
              <a:path extrusionOk="0"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 txBox="1"/>
          <p:nvPr/>
        </p:nvSpPr>
        <p:spPr>
          <a:xfrm>
            <a:off x="1875675" y="491200"/>
            <a:ext cx="13617600" cy="19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07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¿Por qué simular las acciones de un robot?</a:t>
            </a:r>
            <a:endParaRPr sz="500"/>
          </a:p>
        </p:txBody>
      </p:sp>
      <p:sp>
        <p:nvSpPr>
          <p:cNvPr id="275" name="Google Shape;275;p9"/>
          <p:cNvSpPr txBox="1"/>
          <p:nvPr/>
        </p:nvSpPr>
        <p:spPr>
          <a:xfrm>
            <a:off x="421750" y="2321776"/>
            <a:ext cx="16856100" cy="77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5081" lvl="1" marL="655561" marR="0" rtl="0" algn="l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2836"/>
              <a:buFont typeface="Arial"/>
              <a:buAutoNum type="arabicPeriod"/>
            </a:pPr>
            <a:r>
              <a:rPr b="1" i="0" lang="en-US" sz="2836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Evita errores costosos en hardware real.</a:t>
            </a:r>
            <a:endParaRPr sz="1200"/>
          </a:p>
          <a:p>
            <a:pPr indent="0" lvl="0" marL="0" marR="0" rtl="0" algn="just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36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En el desarrollo de robótica, cualquier fallo en el código, lógica o estrategia de movimiento puede dañar piezas del robot (motores, sensores, estructuras). Con la simulación, los errores ocurren en un entorno virtual, lo que evita reparaciones costosas, desgaste del equipo, o incluso accidentes.</a:t>
            </a:r>
            <a:endParaRPr b="1" sz="2836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36">
              <a:solidFill>
                <a:srgbClr val="F4F6FC"/>
              </a:solidFill>
            </a:endParaRPr>
          </a:p>
          <a:p>
            <a:pPr indent="0" lvl="0" marL="0" marR="0" rtl="0" algn="just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36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2. Permite pruebas rápidas y repetibles.</a:t>
            </a:r>
            <a:endParaRPr sz="1200"/>
          </a:p>
          <a:p>
            <a:pPr indent="0" lvl="0" marL="0" marR="0" rtl="0" algn="just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36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Una ventaja enorme de la simulación es que puedes:</a:t>
            </a:r>
            <a:endParaRPr sz="1200"/>
          </a:p>
          <a:p>
            <a:pPr indent="-315081" lvl="1" marL="655561" marR="0" rtl="0" algn="just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2836"/>
              <a:buFont typeface="Arial"/>
              <a:buChar char="•"/>
            </a:pPr>
            <a:r>
              <a:rPr b="1" i="0" lang="en-US" sz="2836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Reiniciar escenarios instantáneamente.</a:t>
            </a:r>
            <a:endParaRPr sz="1200"/>
          </a:p>
          <a:p>
            <a:pPr indent="-315081" lvl="1" marL="655561" marR="0" rtl="0" algn="just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2836"/>
              <a:buFont typeface="Arial"/>
              <a:buChar char="•"/>
            </a:pPr>
            <a:r>
              <a:rPr b="1" i="0" lang="en-US" sz="2836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Modificar parámetros en segundos.</a:t>
            </a:r>
            <a:endParaRPr sz="1200"/>
          </a:p>
          <a:p>
            <a:pPr indent="-315081" lvl="1" marL="655561" marR="0" rtl="0" algn="just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2836"/>
              <a:buFont typeface="Arial"/>
              <a:buChar char="•"/>
            </a:pPr>
            <a:r>
              <a:rPr b="1" i="0" lang="en-US" sz="2836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Repetir una prueba exacta varias veces.</a:t>
            </a:r>
            <a:endParaRPr sz="1200"/>
          </a:p>
          <a:p>
            <a:pPr indent="0" lvl="0" marL="0" marR="0" rtl="0" algn="just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36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Esto acelera el ciclo de desarrollo, ya que no hay que reconfigurar manualmente el robot o reconstruir el entorno físico cada vez.</a:t>
            </a:r>
            <a:endParaRPr sz="1200"/>
          </a:p>
          <a:p>
            <a:pPr indent="0" lvl="0" marL="0" marR="0" rtl="0" algn="just">
              <a:lnSpc>
                <a:spcPct val="1492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36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1" name="Google Shape;281;p10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282" name="Google Shape;282;p10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0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4" name="Google Shape;284;p10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285" name="Google Shape;285;p10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0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7" name="Google Shape;287;p10"/>
          <p:cNvSpPr/>
          <p:nvPr/>
        </p:nvSpPr>
        <p:spPr>
          <a:xfrm rot="10800000">
            <a:off x="14019925" y="-210928"/>
            <a:ext cx="5098075" cy="5098075"/>
          </a:xfrm>
          <a:custGeom>
            <a:rect b="b" l="l" r="r" t="t"/>
            <a:pathLst>
              <a:path extrusionOk="0"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2241715" y="573521"/>
            <a:ext cx="13179000" cy="20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7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¿Por qué simular las acciones de un robot?</a:t>
            </a:r>
            <a:endParaRPr sz="800"/>
          </a:p>
        </p:txBody>
      </p:sp>
      <p:sp>
        <p:nvSpPr>
          <p:cNvPr id="289" name="Google Shape;289;p10"/>
          <p:cNvSpPr txBox="1"/>
          <p:nvPr/>
        </p:nvSpPr>
        <p:spPr>
          <a:xfrm>
            <a:off x="13114928" y="8931275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  <p:sp>
        <p:nvSpPr>
          <p:cNvPr id="290" name="Google Shape;290;p10"/>
          <p:cNvSpPr txBox="1"/>
          <p:nvPr/>
        </p:nvSpPr>
        <p:spPr>
          <a:xfrm>
            <a:off x="715975" y="2819041"/>
            <a:ext cx="16856100" cy="6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36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3. Facilita la validación de algoritmos.</a:t>
            </a:r>
            <a:endParaRPr/>
          </a:p>
          <a:p>
            <a:pPr indent="0" lvl="0" marL="0" marR="0" rtl="0" algn="just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36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La simulación permite comprobar si los algoritmos de navegación, evasión de obstáculos, seguimiento de trayectorias, o manipulación de objetos funcionan como se espera.</a:t>
            </a:r>
            <a:endParaRPr/>
          </a:p>
          <a:p>
            <a:pPr indent="0" lvl="0" marL="0" marR="0" rtl="0" algn="just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36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36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2. Permite evaluar estrategias sin riesgo físico.</a:t>
            </a:r>
            <a:endParaRPr/>
          </a:p>
          <a:p>
            <a:pPr indent="0" lvl="0" marL="0" marR="0" rtl="0" algn="just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36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Los robots reales están expuestos a riesgos en entornos desconocidos (escaleras, líquidos, personas).</a:t>
            </a:r>
            <a:endParaRPr/>
          </a:p>
          <a:p>
            <a:pPr indent="0" lvl="0" marL="0" marR="0" rtl="0" algn="just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36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 Con la simulación puedes probar estrategias complejas o peligrosas de forma segura, como rescate en desastres, navegación en exteriores o interacción con humanos.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6" name="Google Shape;296;p11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297" name="Google Shape;297;p11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1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11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300" name="Google Shape;300;p11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1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11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303" name="Google Shape;303;p11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" name="Google Shape;305;p11"/>
          <p:cNvSpPr/>
          <p:nvPr/>
        </p:nvSpPr>
        <p:spPr>
          <a:xfrm rot="10800000">
            <a:off x="14019925" y="-210928"/>
            <a:ext cx="5098075" cy="5098075"/>
          </a:xfrm>
          <a:custGeom>
            <a:rect b="b" l="l" r="r" t="t"/>
            <a:pathLst>
              <a:path extrusionOk="0"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6" name="Google Shape;306;p11"/>
          <p:cNvGrpSpPr/>
          <p:nvPr/>
        </p:nvGrpSpPr>
        <p:grpSpPr>
          <a:xfrm>
            <a:off x="282985" y="2157283"/>
            <a:ext cx="6150114" cy="4366727"/>
            <a:chOff x="0" y="-47625"/>
            <a:chExt cx="1619783" cy="1150085"/>
          </a:xfrm>
        </p:grpSpPr>
        <p:sp>
          <p:nvSpPr>
            <p:cNvPr id="307" name="Google Shape;307;p11"/>
            <p:cNvSpPr/>
            <p:nvPr/>
          </p:nvSpPr>
          <p:spPr>
            <a:xfrm>
              <a:off x="0" y="0"/>
              <a:ext cx="1619783" cy="1102460"/>
            </a:xfrm>
            <a:custGeom>
              <a:rect b="b" l="l" r="r" t="t"/>
              <a:pathLst>
                <a:path extrusionOk="0"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12229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1"/>
            <p:cNvSpPr txBox="1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9" name="Google Shape;309;p11"/>
          <p:cNvGrpSpPr/>
          <p:nvPr/>
        </p:nvGrpSpPr>
        <p:grpSpPr>
          <a:xfrm>
            <a:off x="11677031" y="2157283"/>
            <a:ext cx="6150114" cy="4366727"/>
            <a:chOff x="0" y="-47625"/>
            <a:chExt cx="1619783" cy="1150085"/>
          </a:xfrm>
        </p:grpSpPr>
        <p:sp>
          <p:nvSpPr>
            <p:cNvPr id="310" name="Google Shape;310;p11"/>
            <p:cNvSpPr/>
            <p:nvPr/>
          </p:nvSpPr>
          <p:spPr>
            <a:xfrm>
              <a:off x="0" y="0"/>
              <a:ext cx="1619783" cy="1102460"/>
            </a:xfrm>
            <a:custGeom>
              <a:rect b="b" l="l" r="r" t="t"/>
              <a:pathLst>
                <a:path extrusionOk="0"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12229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1"/>
            <p:cNvSpPr txBox="1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2" name="Google Shape;312;p11"/>
          <p:cNvGrpSpPr/>
          <p:nvPr/>
        </p:nvGrpSpPr>
        <p:grpSpPr>
          <a:xfrm>
            <a:off x="6068943" y="4562411"/>
            <a:ext cx="6150114" cy="4366727"/>
            <a:chOff x="0" y="-47625"/>
            <a:chExt cx="1619783" cy="1150085"/>
          </a:xfrm>
        </p:grpSpPr>
        <p:sp>
          <p:nvSpPr>
            <p:cNvPr id="313" name="Google Shape;313;p11"/>
            <p:cNvSpPr/>
            <p:nvPr/>
          </p:nvSpPr>
          <p:spPr>
            <a:xfrm>
              <a:off x="0" y="0"/>
              <a:ext cx="1619783" cy="1102460"/>
            </a:xfrm>
            <a:custGeom>
              <a:rect b="b" l="l" r="r" t="t"/>
              <a:pathLst>
                <a:path extrusionOk="0"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1"/>
            <p:cNvSpPr txBox="1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5" name="Google Shape;315;p11"/>
          <p:cNvSpPr txBox="1"/>
          <p:nvPr/>
        </p:nvSpPr>
        <p:spPr>
          <a:xfrm>
            <a:off x="2554434" y="867816"/>
            <a:ext cx="13179131" cy="2200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7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Beneficios de la simulación de robots</a:t>
            </a:r>
            <a:endParaRPr/>
          </a:p>
        </p:txBody>
      </p:sp>
      <p:sp>
        <p:nvSpPr>
          <p:cNvPr id="316" name="Google Shape;316;p11"/>
          <p:cNvSpPr txBox="1"/>
          <p:nvPr/>
        </p:nvSpPr>
        <p:spPr>
          <a:xfrm>
            <a:off x="13114928" y="8931275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  <p:sp>
        <p:nvSpPr>
          <p:cNvPr id="317" name="Google Shape;317;p11"/>
          <p:cNvSpPr txBox="1"/>
          <p:nvPr/>
        </p:nvSpPr>
        <p:spPr>
          <a:xfrm>
            <a:off x="6477566" y="6140863"/>
            <a:ext cx="5332867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EFICIENCIA</a:t>
            </a:r>
            <a:endParaRPr/>
          </a:p>
        </p:txBody>
      </p:sp>
      <p:sp>
        <p:nvSpPr>
          <p:cNvPr id="318" name="Google Shape;318;p11"/>
          <p:cNvSpPr txBox="1"/>
          <p:nvPr/>
        </p:nvSpPr>
        <p:spPr>
          <a:xfrm>
            <a:off x="736076" y="3735735"/>
            <a:ext cx="5332867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endParaRPr/>
          </a:p>
        </p:txBody>
      </p:sp>
      <p:sp>
        <p:nvSpPr>
          <p:cNvPr id="319" name="Google Shape;319;p11"/>
          <p:cNvSpPr txBox="1"/>
          <p:nvPr/>
        </p:nvSpPr>
        <p:spPr>
          <a:xfrm>
            <a:off x="11926433" y="3676437"/>
            <a:ext cx="5332867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ECONOMIA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5" name="Google Shape;325;p12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326" name="Google Shape;326;p12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2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8" name="Google Shape;328;p12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329" name="Google Shape;329;p12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12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1" name="Google Shape;331;p12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332" name="Google Shape;332;p12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2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4" name="Google Shape;334;p12"/>
          <p:cNvSpPr/>
          <p:nvPr/>
        </p:nvSpPr>
        <p:spPr>
          <a:xfrm rot="10800000">
            <a:off x="14019925" y="-210928"/>
            <a:ext cx="5098075" cy="5098075"/>
          </a:xfrm>
          <a:custGeom>
            <a:rect b="b" l="l" r="r" t="t"/>
            <a:pathLst>
              <a:path extrusionOk="0"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5" name="Google Shape;335;p12"/>
          <p:cNvGrpSpPr/>
          <p:nvPr/>
        </p:nvGrpSpPr>
        <p:grpSpPr>
          <a:xfrm>
            <a:off x="6434179" y="1343139"/>
            <a:ext cx="5080522" cy="3925319"/>
            <a:chOff x="0" y="-47625"/>
            <a:chExt cx="1338080" cy="1033829"/>
          </a:xfrm>
        </p:grpSpPr>
        <p:sp>
          <p:nvSpPr>
            <p:cNvPr id="336" name="Google Shape;336;p12"/>
            <p:cNvSpPr/>
            <p:nvPr/>
          </p:nvSpPr>
          <p:spPr>
            <a:xfrm>
              <a:off x="0" y="0"/>
              <a:ext cx="1338080" cy="986204"/>
            </a:xfrm>
            <a:custGeom>
              <a:rect b="b" l="l" r="r" t="t"/>
              <a:pathLst>
                <a:path extrusionOk="0" h="986204" w="1338080">
                  <a:moveTo>
                    <a:pt x="77716" y="0"/>
                  </a:moveTo>
                  <a:lnTo>
                    <a:pt x="1260364" y="0"/>
                  </a:lnTo>
                  <a:cubicBezTo>
                    <a:pt x="1303285" y="0"/>
                    <a:pt x="1338080" y="34795"/>
                    <a:pt x="1338080" y="77716"/>
                  </a:cubicBezTo>
                  <a:lnTo>
                    <a:pt x="1338080" y="908488"/>
                  </a:lnTo>
                  <a:cubicBezTo>
                    <a:pt x="1338080" y="951409"/>
                    <a:pt x="1303285" y="986204"/>
                    <a:pt x="1260364" y="986204"/>
                  </a:cubicBezTo>
                  <a:lnTo>
                    <a:pt x="77716" y="986204"/>
                  </a:lnTo>
                  <a:cubicBezTo>
                    <a:pt x="34795" y="986204"/>
                    <a:pt x="0" y="951409"/>
                    <a:pt x="0" y="908488"/>
                  </a:cubicBezTo>
                  <a:lnTo>
                    <a:pt x="0" y="77716"/>
                  </a:lnTo>
                  <a:cubicBezTo>
                    <a:pt x="0" y="34795"/>
                    <a:pt x="34795" y="0"/>
                    <a:pt x="77716" y="0"/>
                  </a:cubicBezTo>
                  <a:close/>
                </a:path>
              </a:pathLst>
            </a:custGeom>
            <a:solidFill>
              <a:srgbClr val="5CB6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2"/>
            <p:cNvSpPr txBox="1"/>
            <p:nvPr/>
          </p:nvSpPr>
          <p:spPr>
            <a:xfrm>
              <a:off x="0" y="-47625"/>
              <a:ext cx="1338080" cy="10338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8" name="Google Shape;338;p12"/>
          <p:cNvGrpSpPr/>
          <p:nvPr/>
        </p:nvGrpSpPr>
        <p:grpSpPr>
          <a:xfrm>
            <a:off x="2036232" y="5401957"/>
            <a:ext cx="5186840" cy="3856347"/>
            <a:chOff x="0" y="-47625"/>
            <a:chExt cx="1366081" cy="1015663"/>
          </a:xfrm>
        </p:grpSpPr>
        <p:sp>
          <p:nvSpPr>
            <p:cNvPr id="339" name="Google Shape;339;p12"/>
            <p:cNvSpPr/>
            <p:nvPr/>
          </p:nvSpPr>
          <p:spPr>
            <a:xfrm>
              <a:off x="0" y="0"/>
              <a:ext cx="1366081" cy="968038"/>
            </a:xfrm>
            <a:custGeom>
              <a:rect b="b" l="l" r="r" t="t"/>
              <a:pathLst>
                <a:path extrusionOk="0" h="968038" w="1366081">
                  <a:moveTo>
                    <a:pt x="76123" y="0"/>
                  </a:moveTo>
                  <a:lnTo>
                    <a:pt x="1289958" y="0"/>
                  </a:lnTo>
                  <a:cubicBezTo>
                    <a:pt x="1310147" y="0"/>
                    <a:pt x="1329510" y="8020"/>
                    <a:pt x="1343785" y="22296"/>
                  </a:cubicBezTo>
                  <a:cubicBezTo>
                    <a:pt x="1358061" y="36572"/>
                    <a:pt x="1366081" y="55934"/>
                    <a:pt x="1366081" y="76123"/>
                  </a:cubicBezTo>
                  <a:lnTo>
                    <a:pt x="1366081" y="891915"/>
                  </a:lnTo>
                  <a:cubicBezTo>
                    <a:pt x="1366081" y="933956"/>
                    <a:pt x="1332000" y="968038"/>
                    <a:pt x="1289958" y="968038"/>
                  </a:cubicBezTo>
                  <a:lnTo>
                    <a:pt x="76123" y="968038"/>
                  </a:lnTo>
                  <a:cubicBezTo>
                    <a:pt x="34081" y="968038"/>
                    <a:pt x="0" y="933956"/>
                    <a:pt x="0" y="891915"/>
                  </a:cubicBezTo>
                  <a:lnTo>
                    <a:pt x="0" y="76123"/>
                  </a:lnTo>
                  <a:cubicBezTo>
                    <a:pt x="0" y="34081"/>
                    <a:pt x="34081" y="0"/>
                    <a:pt x="76123" y="0"/>
                  </a:cubicBez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2"/>
            <p:cNvSpPr txBox="1"/>
            <p:nvPr/>
          </p:nvSpPr>
          <p:spPr>
            <a:xfrm>
              <a:off x="0" y="-47625"/>
              <a:ext cx="1366081" cy="1015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1" name="Google Shape;341;p12"/>
          <p:cNvGrpSpPr/>
          <p:nvPr/>
        </p:nvGrpSpPr>
        <p:grpSpPr>
          <a:xfrm>
            <a:off x="10546726" y="5252732"/>
            <a:ext cx="5186840" cy="3856347"/>
            <a:chOff x="0" y="-47625"/>
            <a:chExt cx="1366081" cy="1015663"/>
          </a:xfrm>
        </p:grpSpPr>
        <p:sp>
          <p:nvSpPr>
            <p:cNvPr id="342" name="Google Shape;342;p12"/>
            <p:cNvSpPr/>
            <p:nvPr/>
          </p:nvSpPr>
          <p:spPr>
            <a:xfrm>
              <a:off x="0" y="0"/>
              <a:ext cx="1366081" cy="968038"/>
            </a:xfrm>
            <a:custGeom>
              <a:rect b="b" l="l" r="r" t="t"/>
              <a:pathLst>
                <a:path extrusionOk="0" h="968038" w="1366081">
                  <a:moveTo>
                    <a:pt x="76123" y="0"/>
                  </a:moveTo>
                  <a:lnTo>
                    <a:pt x="1289958" y="0"/>
                  </a:lnTo>
                  <a:cubicBezTo>
                    <a:pt x="1310147" y="0"/>
                    <a:pt x="1329510" y="8020"/>
                    <a:pt x="1343785" y="22296"/>
                  </a:cubicBezTo>
                  <a:cubicBezTo>
                    <a:pt x="1358061" y="36572"/>
                    <a:pt x="1366081" y="55934"/>
                    <a:pt x="1366081" y="76123"/>
                  </a:cubicBezTo>
                  <a:lnTo>
                    <a:pt x="1366081" y="891915"/>
                  </a:lnTo>
                  <a:cubicBezTo>
                    <a:pt x="1366081" y="933956"/>
                    <a:pt x="1332000" y="968038"/>
                    <a:pt x="1289958" y="968038"/>
                  </a:cubicBezTo>
                  <a:lnTo>
                    <a:pt x="76123" y="968038"/>
                  </a:lnTo>
                  <a:cubicBezTo>
                    <a:pt x="34081" y="968038"/>
                    <a:pt x="0" y="933956"/>
                    <a:pt x="0" y="891915"/>
                  </a:cubicBezTo>
                  <a:lnTo>
                    <a:pt x="0" y="76123"/>
                  </a:lnTo>
                  <a:cubicBezTo>
                    <a:pt x="0" y="34081"/>
                    <a:pt x="34081" y="0"/>
                    <a:pt x="76123" y="0"/>
                  </a:cubicBez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2"/>
            <p:cNvSpPr txBox="1"/>
            <p:nvPr/>
          </p:nvSpPr>
          <p:spPr>
            <a:xfrm>
              <a:off x="0" y="-47625"/>
              <a:ext cx="1366081" cy="1015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4" name="Google Shape;344;p12"/>
          <p:cNvSpPr/>
          <p:nvPr/>
        </p:nvSpPr>
        <p:spPr>
          <a:xfrm>
            <a:off x="6895915" y="2346150"/>
            <a:ext cx="4157050" cy="2540997"/>
          </a:xfrm>
          <a:custGeom>
            <a:rect b="b" l="l" r="r" t="t"/>
            <a:pathLst>
              <a:path extrusionOk="0" h="2540997" w="4157050">
                <a:moveTo>
                  <a:pt x="0" y="0"/>
                </a:moveTo>
                <a:lnTo>
                  <a:pt x="4157049" y="0"/>
                </a:lnTo>
                <a:lnTo>
                  <a:pt x="4157049" y="2540997"/>
                </a:lnTo>
                <a:lnTo>
                  <a:pt x="0" y="2540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2825126" y="6475323"/>
            <a:ext cx="3609053" cy="2531724"/>
          </a:xfrm>
          <a:custGeom>
            <a:rect b="b" l="l" r="r" t="t"/>
            <a:pathLst>
              <a:path extrusionOk="0" h="2531724" w="3609053">
                <a:moveTo>
                  <a:pt x="0" y="0"/>
                </a:moveTo>
                <a:lnTo>
                  <a:pt x="3609053" y="0"/>
                </a:lnTo>
                <a:lnTo>
                  <a:pt x="3609053" y="2531723"/>
                </a:lnTo>
                <a:lnTo>
                  <a:pt x="0" y="25317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10987426" y="6629565"/>
            <a:ext cx="4255004" cy="2223240"/>
          </a:xfrm>
          <a:custGeom>
            <a:rect b="b" l="l" r="r" t="t"/>
            <a:pathLst>
              <a:path extrusionOk="0" h="2223240" w="4255004">
                <a:moveTo>
                  <a:pt x="0" y="0"/>
                </a:moveTo>
                <a:lnTo>
                  <a:pt x="4255004" y="0"/>
                </a:lnTo>
                <a:lnTo>
                  <a:pt x="4255004" y="2223239"/>
                </a:lnTo>
                <a:lnTo>
                  <a:pt x="0" y="22232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 txBox="1"/>
          <p:nvPr/>
        </p:nvSpPr>
        <p:spPr>
          <a:xfrm>
            <a:off x="2554434" y="471487"/>
            <a:ext cx="13179131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7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Ciclo</a:t>
            </a:r>
            <a:endParaRPr/>
          </a:p>
        </p:txBody>
      </p:sp>
      <p:sp>
        <p:nvSpPr>
          <p:cNvPr id="348" name="Google Shape;348;p12"/>
          <p:cNvSpPr txBox="1"/>
          <p:nvPr/>
        </p:nvSpPr>
        <p:spPr>
          <a:xfrm>
            <a:off x="13124453" y="8931275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  <p:sp>
        <p:nvSpPr>
          <p:cNvPr id="349" name="Google Shape;349;p12"/>
          <p:cNvSpPr txBox="1"/>
          <p:nvPr/>
        </p:nvSpPr>
        <p:spPr>
          <a:xfrm>
            <a:off x="6971393" y="1265944"/>
            <a:ext cx="4006094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PERCEPCIÓN</a:t>
            </a:r>
            <a:endParaRPr/>
          </a:p>
        </p:txBody>
      </p:sp>
      <p:sp>
        <p:nvSpPr>
          <p:cNvPr id="350" name="Google Shape;350;p12"/>
          <p:cNvSpPr txBox="1"/>
          <p:nvPr/>
        </p:nvSpPr>
        <p:spPr>
          <a:xfrm>
            <a:off x="2626605" y="5429055"/>
            <a:ext cx="4006094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DECISIÓN</a:t>
            </a:r>
            <a:endParaRPr/>
          </a:p>
        </p:txBody>
      </p:sp>
      <p:sp>
        <p:nvSpPr>
          <p:cNvPr id="351" name="Google Shape;351;p12"/>
          <p:cNvSpPr txBox="1"/>
          <p:nvPr/>
        </p:nvSpPr>
        <p:spPr>
          <a:xfrm>
            <a:off x="11236336" y="5277015"/>
            <a:ext cx="4006094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ACCIÓN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7" name="Google Shape;357;p13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358" name="Google Shape;358;p13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13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p13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361" name="Google Shape;361;p13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3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3" name="Google Shape;363;p13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364" name="Google Shape;364;p13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3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6" name="Google Shape;366;p13"/>
          <p:cNvSpPr txBox="1"/>
          <p:nvPr/>
        </p:nvSpPr>
        <p:spPr>
          <a:xfrm>
            <a:off x="2148413" y="915441"/>
            <a:ext cx="13991174" cy="202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¿Cómo se ejecutan las acciones en un simulador?</a:t>
            </a:r>
            <a:endParaRPr/>
          </a:p>
        </p:txBody>
      </p:sp>
      <p:grpSp>
        <p:nvGrpSpPr>
          <p:cNvPr id="367" name="Google Shape;367;p13"/>
          <p:cNvGrpSpPr/>
          <p:nvPr/>
        </p:nvGrpSpPr>
        <p:grpSpPr>
          <a:xfrm>
            <a:off x="637842" y="2517262"/>
            <a:ext cx="4677404" cy="3421092"/>
            <a:chOff x="0" y="-47625"/>
            <a:chExt cx="1231909" cy="901028"/>
          </a:xfrm>
        </p:grpSpPr>
        <p:sp>
          <p:nvSpPr>
            <p:cNvPr id="368" name="Google Shape;368;p13"/>
            <p:cNvSpPr/>
            <p:nvPr/>
          </p:nvSpPr>
          <p:spPr>
            <a:xfrm>
              <a:off x="0" y="0"/>
              <a:ext cx="1231909" cy="853403"/>
            </a:xfrm>
            <a:custGeom>
              <a:rect b="b" l="l" r="r" t="t"/>
              <a:pathLst>
                <a:path extrusionOk="0" h="853403" w="1231909">
                  <a:moveTo>
                    <a:pt x="84414" y="0"/>
                  </a:moveTo>
                  <a:lnTo>
                    <a:pt x="1147495" y="0"/>
                  </a:lnTo>
                  <a:cubicBezTo>
                    <a:pt x="1194115" y="0"/>
                    <a:pt x="1231909" y="37793"/>
                    <a:pt x="1231909" y="84414"/>
                  </a:cubicBezTo>
                  <a:lnTo>
                    <a:pt x="1231909" y="768989"/>
                  </a:lnTo>
                  <a:cubicBezTo>
                    <a:pt x="1231909" y="791377"/>
                    <a:pt x="1223015" y="812848"/>
                    <a:pt x="1207185" y="828679"/>
                  </a:cubicBezTo>
                  <a:cubicBezTo>
                    <a:pt x="1191354" y="844510"/>
                    <a:pt x="1169883" y="853403"/>
                    <a:pt x="1147495" y="853403"/>
                  </a:cubicBezTo>
                  <a:lnTo>
                    <a:pt x="84414" y="853403"/>
                  </a:lnTo>
                  <a:cubicBezTo>
                    <a:pt x="62026" y="853403"/>
                    <a:pt x="40555" y="844510"/>
                    <a:pt x="24724" y="828679"/>
                  </a:cubicBezTo>
                  <a:cubicBezTo>
                    <a:pt x="8894" y="812848"/>
                    <a:pt x="0" y="791377"/>
                    <a:pt x="0" y="768989"/>
                  </a:cubicBezTo>
                  <a:lnTo>
                    <a:pt x="0" y="84414"/>
                  </a:lnTo>
                  <a:cubicBezTo>
                    <a:pt x="0" y="62026"/>
                    <a:pt x="8894" y="40555"/>
                    <a:pt x="24724" y="24724"/>
                  </a:cubicBezTo>
                  <a:cubicBezTo>
                    <a:pt x="40555" y="8894"/>
                    <a:pt x="62026" y="0"/>
                    <a:pt x="84414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3"/>
            <p:cNvSpPr txBox="1"/>
            <p:nvPr/>
          </p:nvSpPr>
          <p:spPr>
            <a:xfrm>
              <a:off x="0" y="-47625"/>
              <a:ext cx="1231909" cy="9010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0" name="Google Shape;370;p13"/>
          <p:cNvSpPr txBox="1"/>
          <p:nvPr/>
        </p:nvSpPr>
        <p:spPr>
          <a:xfrm>
            <a:off x="418267" y="3263671"/>
            <a:ext cx="5116554" cy="1555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41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Software de control: Programa que toma decisiones.</a:t>
            </a:r>
            <a:endParaRPr/>
          </a:p>
        </p:txBody>
      </p:sp>
      <p:grpSp>
        <p:nvGrpSpPr>
          <p:cNvPr id="371" name="Google Shape;371;p13"/>
          <p:cNvGrpSpPr/>
          <p:nvPr/>
        </p:nvGrpSpPr>
        <p:grpSpPr>
          <a:xfrm>
            <a:off x="6896205" y="4627725"/>
            <a:ext cx="4677404" cy="3421092"/>
            <a:chOff x="0" y="-47625"/>
            <a:chExt cx="1231909" cy="901028"/>
          </a:xfrm>
        </p:grpSpPr>
        <p:sp>
          <p:nvSpPr>
            <p:cNvPr id="372" name="Google Shape;372;p13"/>
            <p:cNvSpPr/>
            <p:nvPr/>
          </p:nvSpPr>
          <p:spPr>
            <a:xfrm>
              <a:off x="0" y="0"/>
              <a:ext cx="1231909" cy="853403"/>
            </a:xfrm>
            <a:custGeom>
              <a:rect b="b" l="l" r="r" t="t"/>
              <a:pathLst>
                <a:path extrusionOk="0" h="853403" w="1231909">
                  <a:moveTo>
                    <a:pt x="84414" y="0"/>
                  </a:moveTo>
                  <a:lnTo>
                    <a:pt x="1147495" y="0"/>
                  </a:lnTo>
                  <a:cubicBezTo>
                    <a:pt x="1194115" y="0"/>
                    <a:pt x="1231909" y="37793"/>
                    <a:pt x="1231909" y="84414"/>
                  </a:cubicBezTo>
                  <a:lnTo>
                    <a:pt x="1231909" y="768989"/>
                  </a:lnTo>
                  <a:cubicBezTo>
                    <a:pt x="1231909" y="791377"/>
                    <a:pt x="1223015" y="812848"/>
                    <a:pt x="1207185" y="828679"/>
                  </a:cubicBezTo>
                  <a:cubicBezTo>
                    <a:pt x="1191354" y="844510"/>
                    <a:pt x="1169883" y="853403"/>
                    <a:pt x="1147495" y="853403"/>
                  </a:cubicBezTo>
                  <a:lnTo>
                    <a:pt x="84414" y="853403"/>
                  </a:lnTo>
                  <a:cubicBezTo>
                    <a:pt x="62026" y="853403"/>
                    <a:pt x="40555" y="844510"/>
                    <a:pt x="24724" y="828679"/>
                  </a:cubicBezTo>
                  <a:cubicBezTo>
                    <a:pt x="8894" y="812848"/>
                    <a:pt x="0" y="791377"/>
                    <a:pt x="0" y="768989"/>
                  </a:cubicBezTo>
                  <a:lnTo>
                    <a:pt x="0" y="84414"/>
                  </a:lnTo>
                  <a:cubicBezTo>
                    <a:pt x="0" y="62026"/>
                    <a:pt x="8894" y="40555"/>
                    <a:pt x="24724" y="24724"/>
                  </a:cubicBezTo>
                  <a:cubicBezTo>
                    <a:pt x="40555" y="8894"/>
                    <a:pt x="62026" y="0"/>
                    <a:pt x="84414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13"/>
            <p:cNvSpPr txBox="1"/>
            <p:nvPr/>
          </p:nvSpPr>
          <p:spPr>
            <a:xfrm>
              <a:off x="0" y="-47625"/>
              <a:ext cx="1231909" cy="9010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4" name="Google Shape;374;p13"/>
          <p:cNvGrpSpPr/>
          <p:nvPr/>
        </p:nvGrpSpPr>
        <p:grpSpPr>
          <a:xfrm>
            <a:off x="13154568" y="5589381"/>
            <a:ext cx="4677404" cy="3421092"/>
            <a:chOff x="0" y="-47625"/>
            <a:chExt cx="1231909" cy="901028"/>
          </a:xfrm>
        </p:grpSpPr>
        <p:sp>
          <p:nvSpPr>
            <p:cNvPr id="375" name="Google Shape;375;p13"/>
            <p:cNvSpPr/>
            <p:nvPr/>
          </p:nvSpPr>
          <p:spPr>
            <a:xfrm>
              <a:off x="0" y="0"/>
              <a:ext cx="1231909" cy="853403"/>
            </a:xfrm>
            <a:custGeom>
              <a:rect b="b" l="l" r="r" t="t"/>
              <a:pathLst>
                <a:path extrusionOk="0" h="853403" w="1231909">
                  <a:moveTo>
                    <a:pt x="84414" y="0"/>
                  </a:moveTo>
                  <a:lnTo>
                    <a:pt x="1147495" y="0"/>
                  </a:lnTo>
                  <a:cubicBezTo>
                    <a:pt x="1194115" y="0"/>
                    <a:pt x="1231909" y="37793"/>
                    <a:pt x="1231909" y="84414"/>
                  </a:cubicBezTo>
                  <a:lnTo>
                    <a:pt x="1231909" y="768989"/>
                  </a:lnTo>
                  <a:cubicBezTo>
                    <a:pt x="1231909" y="791377"/>
                    <a:pt x="1223015" y="812848"/>
                    <a:pt x="1207185" y="828679"/>
                  </a:cubicBezTo>
                  <a:cubicBezTo>
                    <a:pt x="1191354" y="844510"/>
                    <a:pt x="1169883" y="853403"/>
                    <a:pt x="1147495" y="853403"/>
                  </a:cubicBezTo>
                  <a:lnTo>
                    <a:pt x="84414" y="853403"/>
                  </a:lnTo>
                  <a:cubicBezTo>
                    <a:pt x="62026" y="853403"/>
                    <a:pt x="40555" y="844510"/>
                    <a:pt x="24724" y="828679"/>
                  </a:cubicBezTo>
                  <a:cubicBezTo>
                    <a:pt x="8894" y="812848"/>
                    <a:pt x="0" y="791377"/>
                    <a:pt x="0" y="768989"/>
                  </a:cubicBezTo>
                  <a:lnTo>
                    <a:pt x="0" y="84414"/>
                  </a:lnTo>
                  <a:cubicBezTo>
                    <a:pt x="0" y="62026"/>
                    <a:pt x="8894" y="40555"/>
                    <a:pt x="24724" y="24724"/>
                  </a:cubicBezTo>
                  <a:cubicBezTo>
                    <a:pt x="40555" y="8894"/>
                    <a:pt x="62026" y="0"/>
                    <a:pt x="84414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3"/>
            <p:cNvSpPr txBox="1"/>
            <p:nvPr/>
          </p:nvSpPr>
          <p:spPr>
            <a:xfrm>
              <a:off x="0" y="-47625"/>
              <a:ext cx="1231909" cy="9010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7" name="Google Shape;377;p13"/>
          <p:cNvSpPr txBox="1"/>
          <p:nvPr/>
        </p:nvSpPr>
        <p:spPr>
          <a:xfrm>
            <a:off x="6959403" y="5519828"/>
            <a:ext cx="4614206" cy="1409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52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Motor físico: Calcula efectos reales (gravedad, fricción, colisiones).</a:t>
            </a:r>
            <a:endParaRPr/>
          </a:p>
        </p:txBody>
      </p:sp>
      <p:sp>
        <p:nvSpPr>
          <p:cNvPr id="378" name="Google Shape;378;p13"/>
          <p:cNvSpPr txBox="1"/>
          <p:nvPr/>
        </p:nvSpPr>
        <p:spPr>
          <a:xfrm>
            <a:off x="13044781" y="6620808"/>
            <a:ext cx="4896979" cy="1481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15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Entorno virtual: Mapa o espacio donde se mueve el robot.</a:t>
            </a:r>
            <a:endParaRPr/>
          </a:p>
        </p:txBody>
      </p:sp>
      <p:sp>
        <p:nvSpPr>
          <p:cNvPr id="379" name="Google Shape;379;p13"/>
          <p:cNvSpPr txBox="1"/>
          <p:nvPr/>
        </p:nvSpPr>
        <p:spPr>
          <a:xfrm>
            <a:off x="13114928" y="8931275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5" name="Google Shape;385;p14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386" name="Google Shape;386;p14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4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8" name="Google Shape;388;p14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389" name="Google Shape;389;p14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4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1" name="Google Shape;391;p14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392" name="Google Shape;392;p14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4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4" name="Google Shape;394;p14"/>
          <p:cNvSpPr txBox="1"/>
          <p:nvPr/>
        </p:nvSpPr>
        <p:spPr>
          <a:xfrm>
            <a:off x="2507390" y="1076325"/>
            <a:ext cx="13503315" cy="994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/>
          </a:p>
        </p:txBody>
      </p:sp>
      <p:sp>
        <p:nvSpPr>
          <p:cNvPr id="395" name="Google Shape;395;p14"/>
          <p:cNvSpPr txBox="1"/>
          <p:nvPr/>
        </p:nvSpPr>
        <p:spPr>
          <a:xfrm>
            <a:off x="1295855" y="2714626"/>
            <a:ext cx="15696291" cy="4791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6" lvl="1" marL="64771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0A3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Ciclo Percepción – Decisión – Acción:</a:t>
            </a:r>
            <a:r>
              <a:rPr b="0" i="0" lang="en-US" sz="30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Es el proceso fundamental mediante el cual un robot percibe su entorno mediante sensores, procesa la información para tomar decisiones y ejecuta acciones a través de actuadores. Este ciclo permite la autonomía robótica tanto en entornos reales como simulados.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50A3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6" lvl="1" marL="64771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0A3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Simulación de robots: </a:t>
            </a:r>
            <a:r>
              <a:rPr b="0" i="0" lang="en-US" sz="30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Es la creación de un entorno virtual que imita el comportamiento físico de un robot, sus sensores y su entorno. La simulación permite probar algoritmos, evaluar estrategias y evitar errores costosos, todo sin necesidad de hardware físico.</a:t>
            </a:r>
            <a:endParaRPr/>
          </a:p>
        </p:txBody>
      </p:sp>
      <p:sp>
        <p:nvSpPr>
          <p:cNvPr id="396" name="Google Shape;396;p14"/>
          <p:cNvSpPr txBox="1"/>
          <p:nvPr/>
        </p:nvSpPr>
        <p:spPr>
          <a:xfrm>
            <a:off x="13114928" y="9229725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2" name="Google Shape;402;p15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403" name="Google Shape;403;p15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5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5" name="Google Shape;405;p15"/>
          <p:cNvSpPr txBox="1"/>
          <p:nvPr/>
        </p:nvSpPr>
        <p:spPr>
          <a:xfrm>
            <a:off x="2392350" y="712824"/>
            <a:ext cx="13503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Trabajo colaborativo, Mejora continua, Responsabilidad técnica</a:t>
            </a:r>
            <a:endParaRPr b="1" sz="63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5"/>
          <p:cNvSpPr txBox="1"/>
          <p:nvPr/>
        </p:nvSpPr>
        <p:spPr>
          <a:xfrm>
            <a:off x="1320300" y="3088125"/>
            <a:ext cx="15647400" cy="46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Trabajo colaborativo: Capacidad de coordinarse con otros para alcanzar objetivos comunes de manera eficiente.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Mejora continua: Disposición a optimizar procesos mediante pruebas, ajustes y aprendizajes constantes.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Responsabilidad técnica: Compromiso de ejecutar tareas con rigor, considerando el impacto en la calidad y eficiencia de los resultados.</a:t>
            </a:r>
            <a:endParaRPr sz="28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2" name="Google Shape;412;p16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413" name="Google Shape;413;p16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6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5" name="Google Shape;415;p16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416" name="Google Shape;416;p16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6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8" name="Google Shape;418;p16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419" name="Google Shape;419;p16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16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1" name="Google Shape;421;p16"/>
          <p:cNvSpPr txBox="1"/>
          <p:nvPr/>
        </p:nvSpPr>
        <p:spPr>
          <a:xfrm>
            <a:off x="2507390" y="1076325"/>
            <a:ext cx="13503315" cy="994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Referencias</a:t>
            </a:r>
            <a:endParaRPr/>
          </a:p>
        </p:txBody>
      </p:sp>
      <p:sp>
        <p:nvSpPr>
          <p:cNvPr id="422" name="Google Shape;422;p16"/>
          <p:cNvSpPr txBox="1"/>
          <p:nvPr/>
        </p:nvSpPr>
        <p:spPr>
          <a:xfrm>
            <a:off x="2142215" y="3564371"/>
            <a:ext cx="14233665" cy="1483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6" lvl="1" marL="60453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Russell, S., &amp; Norvig, P. (2016). Artificial Intelligence: A Modern Approach (3rd ed.). Pearson.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 u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6"/>
          <p:cNvSpPr txBox="1"/>
          <p:nvPr/>
        </p:nvSpPr>
        <p:spPr>
          <a:xfrm>
            <a:off x="13114928" y="8931275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9" name="Google Shape;429;p18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430" name="Google Shape;430;p18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8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2" name="Google Shape;432;p18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433" name="Google Shape;433;p18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1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5" name="Google Shape;435;p18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436" name="Google Shape;436;p18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CA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18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8" name="Google Shape;438;p18"/>
          <p:cNvSpPr txBox="1"/>
          <p:nvPr/>
        </p:nvSpPr>
        <p:spPr>
          <a:xfrm>
            <a:off x="2392342" y="4148709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00">
                <a:solidFill>
                  <a:srgbClr val="050A30"/>
                </a:solidFill>
              </a:rPr>
              <a:t>Examen Final</a:t>
            </a:r>
            <a:endParaRPr b="1" sz="6900">
              <a:solidFill>
                <a:srgbClr val="050A3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30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0"/>
          <p:cNvSpPr txBox="1"/>
          <p:nvPr/>
        </p:nvSpPr>
        <p:spPr>
          <a:xfrm>
            <a:off x="2508900" y="3429000"/>
            <a:ext cx="132702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99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99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0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0"/>
          <p:cNvSpPr txBox="1"/>
          <p:nvPr/>
        </p:nvSpPr>
        <p:spPr>
          <a:xfrm>
            <a:off x="2411098" y="7890210"/>
            <a:ext cx="13465804" cy="357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