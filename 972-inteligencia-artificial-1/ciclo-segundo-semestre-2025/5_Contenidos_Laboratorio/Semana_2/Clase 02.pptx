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80" r:id="rId22"/>
    <p:sldId id="281" r:id="rId23"/>
    <p:sldId id="275" r:id="rId24"/>
  </p:sldIdLst>
  <p:sldSz cx="18288000" cy="10287000"/>
  <p:notesSz cx="6858000" cy="9144000"/>
  <p:embeddedFontLst>
    <p:embeddedFont>
      <p:font typeface="Arial Bold" panose="020B0704020202020204" pitchFamily="34" charset="0"/>
      <p:regular r:id="rId26"/>
      <p:bold r:id="rId27"/>
    </p:embeddedFont>
    <p:embeddedFont>
      <p:font typeface="Arimo" panose="020B0604020202020204" charset="0"/>
      <p:regular r:id="rId28"/>
    </p:embeddedFont>
    <p:embeddedFont>
      <p:font typeface="HK Grotesk" panose="020B0604020202020204" charset="0"/>
      <p:regular r:id="rId29"/>
    </p:embeddedFont>
    <p:embeddedFont>
      <p:font typeface="HK Grotesk Bold" panose="020B0604020202020204" charset="0"/>
      <p:regular r:id="rId30"/>
    </p:embeddedFont>
    <p:embeddedFont>
      <p:font typeface="HK Grotesk Italics" panose="020B0604020202020204" charset="0"/>
      <p:regular r:id="rId31"/>
    </p:embeddedFont>
    <p:embeddedFont>
      <p:font typeface="HK Grotesk Medium" panose="020B0604020202020204" charset="0"/>
      <p:regular r:id="rId32"/>
    </p:embeddedFont>
    <p:embeddedFont>
      <p:font typeface="HK Grotesk Medium Italic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C959F6-7F87-4AF1-95C7-926F3944444F}" v="7" dt="2025-11-01T08:26:13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Buezo" userId="d44e5f3f-39a8-4f70-a374-9ef0db0805cd" providerId="ADAL" clId="{996B3292-AC6C-4302-9B50-82325D2A977A}"/>
    <pc:docChg chg="addSld modSld">
      <pc:chgData name="Robin Buezo" userId="d44e5f3f-39a8-4f70-a374-9ef0db0805cd" providerId="ADAL" clId="{996B3292-AC6C-4302-9B50-82325D2A977A}" dt="2025-11-01T08:26:18.311" v="66" actId="962"/>
      <pc:docMkLst>
        <pc:docMk/>
      </pc:docMkLst>
      <pc:sldChg chg="modSp mod">
        <pc:chgData name="Robin Buezo" userId="d44e5f3f-39a8-4f70-a374-9ef0db0805cd" providerId="ADAL" clId="{996B3292-AC6C-4302-9B50-82325D2A977A}" dt="2025-11-01T00:31:20.722" v="21" actId="20577"/>
        <pc:sldMkLst>
          <pc:docMk/>
          <pc:sldMk cId="0" sldId="256"/>
        </pc:sldMkLst>
        <pc:spChg chg="mod">
          <ac:chgData name="Robin Buezo" userId="d44e5f3f-39a8-4f70-a374-9ef0db0805cd" providerId="ADAL" clId="{996B3292-AC6C-4302-9B50-82325D2A977A}" dt="2025-11-01T00:31:20.722" v="21" actId="20577"/>
          <ac:spMkLst>
            <pc:docMk/>
            <pc:sldMk cId="0" sldId="256"/>
            <ac:spMk id="5" creationId="{00000000-0000-0000-0000-000000000000}"/>
          </ac:spMkLst>
        </pc:spChg>
      </pc:sldChg>
      <pc:sldChg chg="addSp modSp mod">
        <pc:chgData name="Robin Buezo" userId="d44e5f3f-39a8-4f70-a374-9ef0db0805cd" providerId="ADAL" clId="{996B3292-AC6C-4302-9B50-82325D2A977A}" dt="2025-11-01T08:26:18.311" v="66" actId="962"/>
        <pc:sldMkLst>
          <pc:docMk/>
          <pc:sldMk cId="0" sldId="258"/>
        </pc:sldMkLst>
        <pc:spChg chg="mod">
          <ac:chgData name="Robin Buezo" userId="d44e5f3f-39a8-4f70-a374-9ef0db0805cd" providerId="ADAL" clId="{996B3292-AC6C-4302-9B50-82325D2A977A}" dt="2025-11-01T07:54:51.345" v="61" actId="20577"/>
          <ac:spMkLst>
            <pc:docMk/>
            <pc:sldMk cId="0" sldId="258"/>
            <ac:spMk id="14" creationId="{00000000-0000-0000-0000-000000000000}"/>
          </ac:spMkLst>
        </pc:spChg>
        <pc:grpChg chg="mod">
          <ac:chgData name="Robin Buezo" userId="d44e5f3f-39a8-4f70-a374-9ef0db0805cd" providerId="ADAL" clId="{996B3292-AC6C-4302-9B50-82325D2A977A}" dt="2025-11-01T07:54:38.852" v="40" actId="1076"/>
          <ac:grpSpMkLst>
            <pc:docMk/>
            <pc:sldMk cId="0" sldId="258"/>
            <ac:grpSpMk id="3" creationId="{00000000-0000-0000-0000-000000000000}"/>
          </ac:grpSpMkLst>
        </pc:grpChg>
        <pc:picChg chg="add mod">
          <ac:chgData name="Robin Buezo" userId="d44e5f3f-39a8-4f70-a374-9ef0db0805cd" providerId="ADAL" clId="{996B3292-AC6C-4302-9B50-82325D2A977A}" dt="2025-11-01T08:26:18.311" v="66" actId="962"/>
          <ac:picMkLst>
            <pc:docMk/>
            <pc:sldMk cId="0" sldId="258"/>
            <ac:picMk id="20" creationId="{A722E070-5D76-2C2A-D65E-5ECBDB82C5F1}"/>
          </ac:picMkLst>
        </pc:picChg>
      </pc:sldChg>
      <pc:sldChg chg="modSp">
        <pc:chgData name="Robin Buezo" userId="d44e5f3f-39a8-4f70-a374-9ef0db0805cd" providerId="ADAL" clId="{996B3292-AC6C-4302-9B50-82325D2A977A}" dt="2025-11-01T00:44:15.861" v="23"/>
        <pc:sldMkLst>
          <pc:docMk/>
          <pc:sldMk cId="0" sldId="259"/>
        </pc:sldMkLst>
        <pc:spChg chg="mod">
          <ac:chgData name="Robin Buezo" userId="d44e5f3f-39a8-4f70-a374-9ef0db0805cd" providerId="ADAL" clId="{996B3292-AC6C-4302-9B50-82325D2A977A}" dt="2025-11-01T00:44:15.861" v="23"/>
          <ac:spMkLst>
            <pc:docMk/>
            <pc:sldMk cId="0" sldId="259"/>
            <ac:spMk id="13" creationId="{00000000-0000-0000-0000-000000000000}"/>
          </ac:spMkLst>
        </pc:spChg>
      </pc:sldChg>
      <pc:sldChg chg="modSp mod">
        <pc:chgData name="Robin Buezo" userId="d44e5f3f-39a8-4f70-a374-9ef0db0805cd" providerId="ADAL" clId="{996B3292-AC6C-4302-9B50-82325D2A977A}" dt="2025-11-01T00:45:35.023" v="37" actId="20577"/>
        <pc:sldMkLst>
          <pc:docMk/>
          <pc:sldMk cId="0" sldId="273"/>
        </pc:sldMkLst>
        <pc:spChg chg="mod">
          <ac:chgData name="Robin Buezo" userId="d44e5f3f-39a8-4f70-a374-9ef0db0805cd" providerId="ADAL" clId="{996B3292-AC6C-4302-9B50-82325D2A977A}" dt="2025-11-01T00:45:35.023" v="37" actId="20577"/>
          <ac:spMkLst>
            <pc:docMk/>
            <pc:sldMk cId="0" sldId="273"/>
            <ac:spMk id="12" creationId="{00000000-0000-0000-0000-000000000000}"/>
          </ac:spMkLst>
        </pc:spChg>
        <pc:spChg chg="mod">
          <ac:chgData name="Robin Buezo" userId="d44e5f3f-39a8-4f70-a374-9ef0db0805cd" providerId="ADAL" clId="{996B3292-AC6C-4302-9B50-82325D2A977A}" dt="2025-11-01T00:45:24.748" v="28" actId="1076"/>
          <ac:spMkLst>
            <pc:docMk/>
            <pc:sldMk cId="0" sldId="273"/>
            <ac:spMk id="13" creationId="{00000000-0000-0000-0000-000000000000}"/>
          </ac:spMkLst>
        </pc:spChg>
      </pc:sldChg>
      <pc:sldChg chg="add">
        <pc:chgData name="Robin Buezo" userId="d44e5f3f-39a8-4f70-a374-9ef0db0805cd" providerId="ADAL" clId="{996B3292-AC6C-4302-9B50-82325D2A977A}" dt="2025-11-01T00:45:44.570" v="38"/>
        <pc:sldMkLst>
          <pc:docMk/>
          <pc:sldMk cId="3289369567" sldId="279"/>
        </pc:sldMkLst>
      </pc:sldChg>
      <pc:sldChg chg="add">
        <pc:chgData name="Robin Buezo" userId="d44e5f3f-39a8-4f70-a374-9ef0db0805cd" providerId="ADAL" clId="{996B3292-AC6C-4302-9B50-82325D2A977A}" dt="2025-11-01T00:45:50.211" v="39"/>
        <pc:sldMkLst>
          <pc:docMk/>
          <pc:sldMk cId="3676367595" sldId="280"/>
        </pc:sldMkLst>
      </pc:sldChg>
      <pc:sldChg chg="add">
        <pc:chgData name="Robin Buezo" userId="d44e5f3f-39a8-4f70-a374-9ef0db0805cd" providerId="ADAL" clId="{996B3292-AC6C-4302-9B50-82325D2A977A}" dt="2025-11-01T00:45:50.211" v="39"/>
        <pc:sldMkLst>
          <pc:docMk/>
          <pc:sldMk cId="0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FDB5A2-1CE4-4910-B1CB-E65090EC43BD}" type="datetimeFigureOut">
              <a:rPr lang="es-GT" smtClean="0"/>
              <a:t>1/11/2025</a:t>
            </a:fld>
            <a:endParaRPr lang="es-GT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GT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GT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GT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8B82AD-80AC-4FC7-9023-64CBC93D2644}" type="slidenum">
              <a:rPr lang="es-GT" smtClean="0"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1786727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85e2d797db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g385e2d797db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5e2d797db_0_67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g385e2d797db_0_67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g385e2d797db_0_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086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tau-prolog.org/documentation/prolog/builtin/=%5C=/2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tau-prolog.org/documentation/prolog/builtin/=%3C/2" TargetMode="Externa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au-prolog.org/documentation/prolog/builtin/=:=/2" TargetMode="External"/><Relationship Id="rId5" Type="http://schemas.openxmlformats.org/officeDocument/2006/relationships/hyperlink" Target="https://tau-prolog.org/documentation/prolog/builtin/%3C/2" TargetMode="External"/><Relationship Id="rId10" Type="http://schemas.openxmlformats.org/officeDocument/2006/relationships/hyperlink" Target="https://tau-prolog.org/documentation/prolog/builtin/%3E=/2" TargetMode="External"/><Relationship Id="rId4" Type="http://schemas.openxmlformats.org/officeDocument/2006/relationships/image" Target="../media/image7.svg"/><Relationship Id="rId9" Type="http://schemas.openxmlformats.org/officeDocument/2006/relationships/hyperlink" Target="https://tau-prolog.org/documentation/prolog/builtin/%3E/2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7.svg"/><Relationship Id="rId9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7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902" y="0"/>
            <a:ext cx="18254198" cy="10287002"/>
          </a:xfrm>
          <a:custGeom>
            <a:avLst/>
            <a:gdLst/>
            <a:ahLst/>
            <a:cxnLst/>
            <a:rect l="l" t="t" r="r" b="b"/>
            <a:pathLst>
              <a:path w="18254198" h="10287002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800"/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10656400" y="1940050"/>
          <a:ext cx="7366000" cy="1547812"/>
        </p:xfrm>
        <a:graphic>
          <a:graphicData uri="http://schemas.openxmlformats.org/drawingml/2006/table">
            <a:tbl>
              <a:tblPr/>
              <a:tblGrid>
                <a:gridCol w="3030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0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Día, Fecha: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Viernes, XX-XX-XXXX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3906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Hora de inicio: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976"/>
                        </a:lnSpc>
                        <a:defRPr/>
                      </a:pPr>
                      <a:r>
                        <a:rPr lang="en-US" sz="284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19:00</a:t>
                      </a:r>
                      <a:endParaRPr lang="en-US" sz="110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3864138" y="4529138"/>
            <a:ext cx="9513297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Inteligencia Artificial 1 [A]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17834" y="5845971"/>
            <a:ext cx="7005905" cy="723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4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12374539" y="8993151"/>
            <a:ext cx="4284389" cy="1567256"/>
            <a:chOff x="0" y="0"/>
            <a:chExt cx="1128399" cy="4127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28399" cy="412775"/>
            </a:xfrm>
            <a:custGeom>
              <a:avLst/>
              <a:gdLst/>
              <a:ahLst/>
              <a:cxnLst/>
              <a:rect l="l" t="t" r="r" b="b"/>
              <a:pathLst>
                <a:path w="1128399" h="412775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9254" cy="412775"/>
            </a:xfrm>
            <a:custGeom>
              <a:avLst/>
              <a:gdLst/>
              <a:ahLst/>
              <a:cxnLst/>
              <a:rect l="l" t="t" r="r" b="b"/>
              <a:pathLst>
                <a:path w="1839254" h="412775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H="1" flipV="1">
            <a:off x="10540746" y="-52264"/>
            <a:ext cx="11547949" cy="9406329"/>
          </a:xfrm>
          <a:custGeom>
            <a:avLst/>
            <a:gdLst/>
            <a:ahLst/>
            <a:cxnLst/>
            <a:rect l="l" t="t" r="r" b="b"/>
            <a:pathLst>
              <a:path w="11547949" h="940632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0" name="AutoShape 10"/>
          <p:cNvSpPr/>
          <p:nvPr/>
        </p:nvSpPr>
        <p:spPr>
          <a:xfrm flipV="1">
            <a:off x="13553005" y="935761"/>
            <a:ext cx="5036482" cy="5036482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1" name="AutoShape 11"/>
          <p:cNvSpPr/>
          <p:nvPr/>
        </p:nvSpPr>
        <p:spPr>
          <a:xfrm flipV="1">
            <a:off x="14602740" y="4540846"/>
            <a:ext cx="1216428" cy="1216428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2" name="AutoShape 12"/>
          <p:cNvSpPr/>
          <p:nvPr/>
        </p:nvSpPr>
        <p:spPr>
          <a:xfrm flipV="1">
            <a:off x="12944791" y="7512571"/>
            <a:ext cx="2942644" cy="2942644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sp>
        <p:nvSpPr>
          <p:cNvPr id="13" name="AutoShape 13"/>
          <p:cNvSpPr/>
          <p:nvPr/>
        </p:nvSpPr>
        <p:spPr>
          <a:xfrm flipV="1">
            <a:off x="11473469" y="9776779"/>
            <a:ext cx="2942644" cy="2942644"/>
          </a:xfrm>
          <a:prstGeom prst="line">
            <a:avLst/>
          </a:prstGeom>
          <a:ln w="114300" cap="flat">
            <a:solidFill>
              <a:srgbClr val="050A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  <p:grpSp>
        <p:nvGrpSpPr>
          <p:cNvPr id="14" name="Group 14"/>
          <p:cNvGrpSpPr/>
          <p:nvPr/>
        </p:nvGrpSpPr>
        <p:grpSpPr>
          <a:xfrm>
            <a:off x="1028700" y="952267"/>
            <a:ext cx="16230600" cy="8382465"/>
            <a:chOff x="0" y="0"/>
            <a:chExt cx="6045684" cy="312235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45684" cy="3122357"/>
            </a:xfrm>
            <a:custGeom>
              <a:avLst/>
              <a:gdLst/>
              <a:ahLst/>
              <a:cxnLst/>
              <a:rect l="l" t="t" r="r" b="b"/>
              <a:pathLst>
                <a:path w="6045684" h="3122357">
                  <a:moveTo>
                    <a:pt x="0" y="0"/>
                  </a:moveTo>
                  <a:lnTo>
                    <a:pt x="6045684" y="0"/>
                  </a:lnTo>
                  <a:lnTo>
                    <a:pt x="6045684" y="3122357"/>
                  </a:lnTo>
                  <a:lnTo>
                    <a:pt x="0" y="31223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9753A8"/>
              </a:solidFill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6045684" cy="312235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118001" y="6620396"/>
            <a:ext cx="9224082" cy="173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Escuela de Ingenieria de Ciencias Y Sistemas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Facultad de Ingenieria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Universidad de San Carlos de Guatemala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endParaRPr lang="en-US" sz="2499" b="1">
              <a:solidFill>
                <a:srgbClr val="050A30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2118001" y="3415707"/>
            <a:ext cx="11119114" cy="121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20"/>
              </a:lnSpc>
            </a:pPr>
            <a:r>
              <a:rPr lang="en-US" sz="80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Clase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84676" y="2365657"/>
            <a:ext cx="11052439" cy="835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45"/>
              </a:lnSpc>
            </a:pPr>
            <a:r>
              <a:rPr lang="en-US" sz="5500" b="1" spc="44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INTELIGENCIA ARTIFICIAL 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18001" y="857436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18001" y="4721267"/>
            <a:ext cx="656308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Lógica e Inferencia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1183603" y="1008094"/>
            <a:ext cx="15562849" cy="8179961"/>
            <a:chOff x="0" y="0"/>
            <a:chExt cx="5796956" cy="30469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96955" cy="3046927"/>
            </a:xfrm>
            <a:custGeom>
              <a:avLst/>
              <a:gdLst/>
              <a:ahLst/>
              <a:cxnLst/>
              <a:rect l="l" t="t" r="r" b="b"/>
              <a:pathLst>
                <a:path w="5796955" h="3046927">
                  <a:moveTo>
                    <a:pt x="0" y="0"/>
                  </a:moveTo>
                  <a:lnTo>
                    <a:pt x="5796955" y="0"/>
                  </a:lnTo>
                  <a:lnTo>
                    <a:pt x="5796955" y="3046927"/>
                  </a:lnTo>
                  <a:lnTo>
                    <a:pt x="0" y="30469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570F69"/>
              </a:solidFill>
              <a:prstDash val="solid"/>
              <a:miter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0"/>
              <a:ext cx="5796956" cy="3046927"/>
            </a:xfrm>
            <a:prstGeom prst="rect">
              <a:avLst/>
            </a:prstGeom>
          </p:spPr>
          <p:txBody>
            <a:bodyPr lIns="48876" tIns="48876" rIns="48876" bIns="48876" rtlCol="0" anchor="ctr"/>
            <a:lstStyle/>
            <a:p>
              <a:pPr algn="ctr">
                <a:lnSpc>
                  <a:spcPts val="1813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93890" cy="412775"/>
            </a:xfrm>
            <a:custGeom>
              <a:avLst/>
              <a:gdLst/>
              <a:ahLst/>
              <a:cxnLst/>
              <a:rect l="l" t="t" r="r" b="b"/>
              <a:pathLst>
                <a:path w="893890" h="412775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-515035" y="5489862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Freeform 13"/>
          <p:cNvSpPr/>
          <p:nvPr/>
        </p:nvSpPr>
        <p:spPr>
          <a:xfrm rot="-10800000">
            <a:off x="13871465" y="-189523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0299395" y="3078596"/>
            <a:ext cx="6464263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5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Link del Video</a:t>
            </a: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r>
              <a:rPr lang="en-US" sz="35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 dirty="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UEDI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89083" y="1511090"/>
            <a:ext cx="427149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Agenda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06974" y="8506847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34003" y="3078596"/>
            <a:ext cx="6464263" cy="5343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Recordatorios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algn="l">
              <a:lnSpc>
                <a:spcPts val="4200"/>
              </a:lnSpc>
            </a:pPr>
            <a:r>
              <a:rPr lang="en-US" sz="3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Temas</a:t>
            </a:r>
          </a:p>
          <a:p>
            <a:pPr algn="l">
              <a:lnSpc>
                <a:spcPts val="4200"/>
              </a:lnSpc>
            </a:pPr>
            <a:endParaRPr lang="en-US" sz="3500" b="1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Expresiones y Clausulas</a:t>
            </a:r>
          </a:p>
          <a:p>
            <a:pPr algn="l">
              <a:lnSpc>
                <a:spcPts val="4200"/>
              </a:lnSpc>
            </a:pPr>
            <a:endParaRPr lang="en-US" sz="3500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755651" lvl="1" indent="-377825" algn="l">
              <a:lnSpc>
                <a:spcPts val="4200"/>
              </a:lnSpc>
              <a:buFont typeface="Arial"/>
              <a:buChar char="•"/>
            </a:pPr>
            <a:r>
              <a:rPr lang="en-US" sz="350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Predicados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8934" y="1511090"/>
            <a:ext cx="4271494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75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Recursos</a:t>
            </a:r>
          </a:p>
        </p:txBody>
      </p:sp>
      <p:pic>
        <p:nvPicPr>
          <p:cNvPr id="20" name="Imagen 19" descr="Código QR&#10;&#10;El contenido generado por IA puede ser incorrecto.">
            <a:extLst>
              <a:ext uri="{FF2B5EF4-FFF2-40B4-BE49-F238E27FC236}">
                <a16:creationId xmlns:a16="http://schemas.microsoft.com/office/drawing/2014/main" id="{A722E070-5D76-2C2A-D65E-5ECBDB82C5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4223" y="3738330"/>
            <a:ext cx="2074484" cy="20744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7AC3FE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74889" y="1409214"/>
            <a:ext cx="13991174" cy="882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COMPETENCIA(S) Que desarrollaremos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08326" y="3435564"/>
            <a:ext cx="12569573" cy="3564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s-GT" sz="4000" b="1" spc="320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Desarrolla hechos, reglas, expresiones y predicados recursivos mediante el uso de cláusulas, ciclos, listas, unificación y cortes en </a:t>
            </a:r>
            <a:r>
              <a:rPr lang="es-GT" sz="4000" b="1" spc="320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Prolog</a:t>
            </a:r>
            <a:r>
              <a:rPr lang="es-GT" sz="4000" b="1" spc="320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para modelar bases de conocimiento y resolver problemas de inferencia lógica </a:t>
            </a:r>
            <a:endParaRPr lang="en-US" sz="4000" b="1" spc="320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2338109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Constantes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028700" y="4509321"/>
            <a:ext cx="77096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1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ÁTOMOS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568184"/>
            <a:ext cx="7709623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átomos son las unidades más simples y pueden ser símbolos o cadenas de texto.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595266" y="4509321"/>
            <a:ext cx="7709623" cy="6794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spc="319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NÚMEROS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49677" y="5568184"/>
            <a:ext cx="7709623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número también son considerados como constantes.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53417" y="6829774"/>
            <a:ext cx="2107251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likes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“mary”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019686" y="6829774"/>
            <a:ext cx="2107251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:-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=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41558" y="6829774"/>
            <a:ext cx="2107251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-17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439645" y="6829774"/>
            <a:ext cx="2107251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512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6.2e-23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2338109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Variables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860151" y="4056965"/>
            <a:ext cx="14950363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Las variables son parecidas a los átomos pero estas inician con una letra mayúscula o con un guión bajo “_”.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85384" y="6047380"/>
            <a:ext cx="2107251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Answer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55199" y="6047380"/>
            <a:ext cx="2421177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Y</a:t>
            </a: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_variable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2155356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Estructuras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477486" y="3810821"/>
            <a:ext cx="15333028" cy="208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Las estructura, también llamadas “términos compuestos” son un objeto compuesto por una colección de otros objetos llamados </a:t>
            </a:r>
            <a:r>
              <a:rPr lang="en-US" sz="2999" i="1">
                <a:solidFill>
                  <a:srgbClr val="050A30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componentes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. Su estructura es idéntica a un hecho, sin embargo su finalidad no es definir una verdad, si no mas bien poder agregar atributos a un objeto.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00540" y="6041386"/>
            <a:ext cx="9327549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book(“El Alquimista”, “Paulo Coelho”)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00540" y="6698612"/>
            <a:ext cx="10583253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book(“El Alquimista”, author(paulo, coelho, Brasil),1988)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00540" y="7355837"/>
            <a:ext cx="12566924" cy="514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owns(book(“El Alquimista”, author(paulo, coelho, Brasil),1988, john)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2155356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Caracteres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477486" y="3649199"/>
            <a:ext cx="15333028" cy="3657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caracteres nos ayudan a formar los nombres de las constantes o variables. Aunque en cada uno de estos puede que tengamos reglas que nos permitan utilizar o no ciertos caracteres específicos. Estos están categorizados como </a:t>
            </a:r>
            <a:r>
              <a:rPr lang="en-US" sz="2999" b="1" i="1">
                <a:solidFill>
                  <a:srgbClr val="F4F6FC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imprimibles </a:t>
            </a: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o </a:t>
            </a:r>
            <a:r>
              <a:rPr lang="en-US" sz="2999" b="1" i="1">
                <a:solidFill>
                  <a:srgbClr val="F4F6FC"/>
                </a:solidFill>
                <a:latin typeface="HK Grotesk Medium Italics"/>
                <a:ea typeface="HK Grotesk Medium Italics"/>
                <a:cs typeface="HK Grotesk Medium Italics"/>
                <a:sym typeface="HK Grotesk Medium Italics"/>
              </a:rPr>
              <a:t>no imprimibles.</a:t>
            </a:r>
          </a:p>
          <a:p>
            <a:pPr algn="just">
              <a:lnSpc>
                <a:spcPts val="4199"/>
              </a:lnSpc>
            </a:pPr>
            <a:endParaRPr lang="en-US" sz="2999" b="1" i="1">
              <a:solidFill>
                <a:srgbClr val="F4F6FC"/>
              </a:solidFill>
              <a:latin typeface="HK Grotesk Medium Italics"/>
              <a:ea typeface="HK Grotesk Medium Italics"/>
              <a:cs typeface="HK Grotesk Medium Italics"/>
              <a:sym typeface="HK Grotesk Medium Italics"/>
            </a:endParaR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Los caracteres imprimibles son los que Prolog puede devolver en una respuesta y los no imprimibles son caracteres que no se visualizan como tal en una respuesta pero que si realizan una acción, como puede ser un salto de línea.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02616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2506186" y="5367234"/>
            <a:ext cx="12642554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1" lvl="1" indent="-410205" algn="just">
              <a:lnSpc>
                <a:spcPts val="5319"/>
              </a:lnSpc>
              <a:buFont typeface="Arial"/>
              <a:buChar char="•"/>
            </a:pPr>
            <a:r>
              <a:rPr lang="en-US" sz="37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b c d e f g h i j k l m n o p q r s t u v x y 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06186" y="4424713"/>
            <a:ext cx="12642554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1" lvl="1" indent="-410205" algn="just">
              <a:lnSpc>
                <a:spcPts val="5319"/>
              </a:lnSpc>
              <a:buFont typeface="Arial"/>
              <a:buChar char="•"/>
            </a:pPr>
            <a:r>
              <a:rPr lang="en-US" sz="37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B C D E F G H I J K L M N O P Q R S T U V W X Y 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486" y="2155356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Caracteres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06186" y="6308940"/>
            <a:ext cx="12642554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1" lvl="1" indent="-410205" algn="just">
              <a:lnSpc>
                <a:spcPts val="5319"/>
              </a:lnSpc>
              <a:buFont typeface="Arial"/>
              <a:buChar char="•"/>
            </a:pPr>
            <a:r>
              <a:rPr lang="en-US" sz="37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0 1 2 3 4 5 6 7 8 9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506186" y="7250646"/>
            <a:ext cx="12642554" cy="646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1" lvl="1" indent="-410205" algn="just">
              <a:lnSpc>
                <a:spcPts val="5319"/>
              </a:lnSpc>
              <a:buFont typeface="Arial"/>
              <a:buChar char="•"/>
            </a:pPr>
            <a:r>
              <a:rPr lang="en-US" sz="37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! “ # $ % &amp; ‘ ( ) - = ~ ^ | \ { } [ ] _ ’ @ + ; * : &lt; &gt; , . ? /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180683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Operadores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477486" y="4149982"/>
            <a:ext cx="15333028" cy="2085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En Prolog, las operaciones aritméticas se manejan en notación prefija, como +(x, *(y, z)), en lugar de la forma convencional x + y * z. Sin embargo, Prolog permite escribir las expresiones de manera estándar, y las interpretará internamente como estructuras prefijas para su evaluación.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02616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77486" y="3264157"/>
            <a:ext cx="15333028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000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+ - * 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01532" y="6940808"/>
            <a:ext cx="3099017" cy="1031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+ y * z</a:t>
            </a:r>
          </a:p>
          <a:p>
            <a:pPr algn="just">
              <a:lnSpc>
                <a:spcPts val="4169"/>
              </a:lnSpc>
            </a:pPr>
            <a:endParaRPr lang="en-US" sz="2978" b="1">
              <a:solidFill>
                <a:srgbClr val="F4F6FC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+(x, *(y, z))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96249" y="6940808"/>
            <a:ext cx="3099017" cy="155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(x + y) * z</a:t>
            </a:r>
          </a:p>
          <a:p>
            <a:pPr algn="just">
              <a:lnSpc>
                <a:spcPts val="4169"/>
              </a:lnSpc>
            </a:pPr>
            <a:endParaRPr lang="en-US" sz="2978" b="1">
              <a:solidFill>
                <a:srgbClr val="F4F6FC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*(+(x, y), z)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95291" y="6940808"/>
            <a:ext cx="3099017" cy="155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/ y</a:t>
            </a:r>
          </a:p>
          <a:p>
            <a:pPr algn="just">
              <a:lnSpc>
                <a:spcPts val="4169"/>
              </a:lnSpc>
            </a:pPr>
            <a:endParaRPr lang="en-US" sz="2978" b="1">
              <a:solidFill>
                <a:srgbClr val="F4F6FC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/(x, y)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02616" y="6940808"/>
            <a:ext cx="3099017" cy="1551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x - y</a:t>
            </a:r>
          </a:p>
          <a:p>
            <a:pPr algn="just">
              <a:lnSpc>
                <a:spcPts val="4169"/>
              </a:lnSpc>
            </a:pPr>
            <a:endParaRPr lang="en-US" sz="2978" b="1">
              <a:solidFill>
                <a:srgbClr val="F4F6FC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643035" lvl="1" indent="-321518" algn="just">
              <a:lnSpc>
                <a:spcPts val="4169"/>
              </a:lnSpc>
              <a:buFont typeface="Arial"/>
              <a:buChar char="•"/>
            </a:pPr>
            <a:r>
              <a:rPr lang="en-US" sz="2978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-(x, 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92199" y="3460304"/>
            <a:ext cx="2645219" cy="471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37" lvl="1" indent="-485769" algn="just">
              <a:lnSpc>
                <a:spcPts val="6299"/>
              </a:lnSpc>
              <a:buFont typeface="Arial"/>
              <a:buChar char="•"/>
            </a:pPr>
            <a:r>
              <a:rPr lang="en-US" sz="4499" b="1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5" tooltip="https://tau-prolog.org/documentation/prolog/builtin/%3C/2"/>
              </a:rPr>
              <a:t>&lt;</a:t>
            </a: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</a:t>
            </a:r>
          </a:p>
          <a:p>
            <a:pPr marL="971537" lvl="1" indent="-485769" algn="just">
              <a:lnSpc>
                <a:spcPts val="6299"/>
              </a:lnSpc>
              <a:buFont typeface="Arial"/>
              <a:buChar char="•"/>
            </a:pPr>
            <a:r>
              <a:rPr lang="en-US" sz="4499" b="1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6" tooltip="https://tau-prolog.org/documentation/prolog/builtin/=:=/2"/>
              </a:rPr>
              <a:t>=:=</a:t>
            </a:r>
          </a:p>
          <a:p>
            <a:pPr marL="971537" lvl="1" indent="-485769" algn="just">
              <a:lnSpc>
                <a:spcPts val="6299"/>
              </a:lnSpc>
              <a:buFont typeface="Arial"/>
              <a:buChar char="•"/>
            </a:pPr>
            <a:r>
              <a:rPr lang="en-US" sz="4499" b="1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7" tooltip="https://tau-prolog.org/documentation/prolog/builtin/=%3C/2"/>
              </a:rPr>
              <a:t>=&lt;</a:t>
            </a:r>
          </a:p>
          <a:p>
            <a:pPr marL="971537" lvl="1" indent="-485769" algn="just">
              <a:lnSpc>
                <a:spcPts val="6299"/>
              </a:lnSpc>
              <a:buFont typeface="Arial"/>
              <a:buChar char="•"/>
            </a:pPr>
            <a:r>
              <a:rPr lang="en-US" sz="4499" b="1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8" tooltip="https://tau-prolog.org/documentation/prolog/builtin/=%5C=/2"/>
              </a:rPr>
              <a:t>=\=</a:t>
            </a:r>
          </a:p>
          <a:p>
            <a:pPr marL="971537" lvl="1" indent="-485769" algn="just">
              <a:lnSpc>
                <a:spcPts val="6299"/>
              </a:lnSpc>
              <a:buFont typeface="Arial"/>
              <a:buChar char="•"/>
            </a:pPr>
            <a:r>
              <a:rPr lang="en-US" sz="4499" b="1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9" tooltip="https://tau-prolog.org/documentation/prolog/builtin/%3E/2"/>
              </a:rPr>
              <a:t>&gt;</a:t>
            </a:r>
          </a:p>
          <a:p>
            <a:pPr marL="971537" lvl="1" indent="-485769" algn="just">
              <a:lnSpc>
                <a:spcPts val="6299"/>
              </a:lnSpc>
              <a:buFont typeface="Arial"/>
              <a:buChar char="•"/>
            </a:pPr>
            <a:r>
              <a:rPr lang="en-US" sz="4499" b="1" u="sng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  <a:hlinkClick r:id="rId10" tooltip="https://tau-prolog.org/documentation/prolog/builtin/%3E=/2"/>
              </a:rPr>
              <a:t>&gt;=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37418" y="3467644"/>
            <a:ext cx="4697812" cy="471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- Menor.</a:t>
            </a:r>
          </a:p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Igual.</a:t>
            </a:r>
          </a:p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Menor o igual.</a:t>
            </a:r>
          </a:p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No igual.</a:t>
            </a:r>
          </a:p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Mayor.</a:t>
            </a:r>
          </a:p>
          <a:p>
            <a:pPr algn="just">
              <a:lnSpc>
                <a:spcPts val="6299"/>
              </a:lnSpc>
            </a:pPr>
            <a:r>
              <a:rPr lang="en-US" sz="4499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– Mayor o igual.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69517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Aritméticos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180683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Igualdad y Unificación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477486" y="3321307"/>
            <a:ext cx="15333028" cy="5229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El predicado de igualdad en Prolog se escribe como "=". Este predicado se utiliza para unificar dos términos, es decir, para intentar hacer que sean iguales. Las reglas para definir si dos términos son iguales, son las siguientes: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Si uno de los términos es una variable no instanciada, y el otro término está instanciado en cualquier término, entonces los dos términos son iguales. Además, la variable no instanciada se instanciará en el término que sea el otro término.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Los números enteros y los átomos siempre son iguales a sí mismos.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02616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477486" y="180683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Igualdad y Unificación</a:t>
            </a:r>
          </a:p>
        </p:txBody>
      </p:sp>
      <p:grpSp>
        <p:nvGrpSpPr>
          <p:cNvPr id="4" name="Group 4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477486" y="3640266"/>
            <a:ext cx="15333028" cy="4705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endParaRPr/>
          </a:p>
          <a:p>
            <a:pPr marL="647695" lvl="1" indent="-323848" algn="just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Dos estructuras son iguales si tienen el mismo funtor y el mismo número de componentes, y si todos los componentes correspondientes son iguales o variables. Por ejemplo la siguiente igualdad tiene éxito y hace que X se instancie en bicicleta.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1295390" lvl="2" indent="-431797" algn="just">
              <a:lnSpc>
                <a:spcPts val="4199"/>
              </a:lnSpc>
              <a:buFont typeface="Arial"/>
              <a:buChar char="⚬"/>
            </a:pPr>
            <a:r>
              <a:rPr lang="en-US" sz="2999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conduce(estudiante,bicicleta) = conduce(estudiante,X)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02616" y="8931275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TextBox 13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169517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Resolución de Consultas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77486" y="2944451"/>
            <a:ext cx="15333028" cy="5753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Cuando se presenta una pregunta, que consiste en una conjunción de objetivos, Prolog utiliza las cláusulas conocidas (hechos y reglas) para intentar satisfacerlos.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Es crucial mencionar que una cláusula solo se puede utilizar si unifica el objetivo en consideración. Si un objetivo no se puede satisfacer, Prolog inicia un proceso de </a:t>
            </a:r>
            <a:r>
              <a:rPr lang="en-US" sz="2999" i="1">
                <a:solidFill>
                  <a:srgbClr val="050A30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backtracking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.</a:t>
            </a:r>
          </a:p>
          <a:p>
            <a:pPr algn="just">
              <a:lnSpc>
                <a:spcPts val="4199"/>
              </a:lnSpc>
            </a:pPr>
            <a:endParaRPr lang="en-US" sz="2999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El </a:t>
            </a:r>
            <a:r>
              <a:rPr lang="en-US" sz="2999" i="1">
                <a:solidFill>
                  <a:srgbClr val="050A30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backtracking </a:t>
            </a:r>
            <a:r>
              <a:rPr lang="en-US" sz="29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implica revisar lo que se ha hecho y tratar de volver a satisfacer los objetivos encontrando una forma alternativa de satisfacerlos. Además, si no estás satisfecho con una respuesta, puedes iniciar el backtracking manualmente escribiendo un punto y coma (;).</a:t>
            </a:r>
          </a:p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Freeform 13"/>
          <p:cNvSpPr/>
          <p:nvPr/>
        </p:nvSpPr>
        <p:spPr>
          <a:xfrm>
            <a:off x="649329" y="3345464"/>
            <a:ext cx="5136055" cy="2527902"/>
          </a:xfrm>
          <a:custGeom>
            <a:avLst/>
            <a:gdLst/>
            <a:ahLst/>
            <a:cxnLst/>
            <a:rect l="l" t="t" r="r" b="b"/>
            <a:pathLst>
              <a:path w="5136055" h="2527902">
                <a:moveTo>
                  <a:pt x="0" y="0"/>
                </a:moveTo>
                <a:lnTo>
                  <a:pt x="5136055" y="0"/>
                </a:lnTo>
                <a:lnTo>
                  <a:pt x="5136055" y="2527902"/>
                </a:lnTo>
                <a:lnTo>
                  <a:pt x="0" y="25279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Freeform 14"/>
          <p:cNvSpPr/>
          <p:nvPr/>
        </p:nvSpPr>
        <p:spPr>
          <a:xfrm>
            <a:off x="6465842" y="3345464"/>
            <a:ext cx="10808300" cy="827588"/>
          </a:xfrm>
          <a:custGeom>
            <a:avLst/>
            <a:gdLst/>
            <a:ahLst/>
            <a:cxnLst/>
            <a:rect l="l" t="t" r="r" b="b"/>
            <a:pathLst>
              <a:path w="10808300" h="827588">
                <a:moveTo>
                  <a:pt x="0" y="0"/>
                </a:moveTo>
                <a:lnTo>
                  <a:pt x="10808300" y="0"/>
                </a:lnTo>
                <a:lnTo>
                  <a:pt x="10808300" y="827588"/>
                </a:lnTo>
                <a:lnTo>
                  <a:pt x="0" y="8275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5" name="Freeform 15"/>
          <p:cNvSpPr/>
          <p:nvPr/>
        </p:nvSpPr>
        <p:spPr>
          <a:xfrm>
            <a:off x="6017108" y="4609415"/>
            <a:ext cx="3889303" cy="4416666"/>
          </a:xfrm>
          <a:custGeom>
            <a:avLst/>
            <a:gdLst/>
            <a:ahLst/>
            <a:cxnLst/>
            <a:rect l="l" t="t" r="r" b="b"/>
            <a:pathLst>
              <a:path w="3889303" h="4416666">
                <a:moveTo>
                  <a:pt x="0" y="0"/>
                </a:moveTo>
                <a:lnTo>
                  <a:pt x="3889303" y="0"/>
                </a:lnTo>
                <a:lnTo>
                  <a:pt x="3889303" y="4416666"/>
                </a:lnTo>
                <a:lnTo>
                  <a:pt x="0" y="44166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6" name="Freeform 16"/>
          <p:cNvSpPr/>
          <p:nvPr/>
        </p:nvSpPr>
        <p:spPr>
          <a:xfrm>
            <a:off x="10070770" y="4609415"/>
            <a:ext cx="4046770" cy="4416666"/>
          </a:xfrm>
          <a:custGeom>
            <a:avLst/>
            <a:gdLst/>
            <a:ahLst/>
            <a:cxnLst/>
            <a:rect l="l" t="t" r="r" b="b"/>
            <a:pathLst>
              <a:path w="4046770" h="4416666">
                <a:moveTo>
                  <a:pt x="0" y="0"/>
                </a:moveTo>
                <a:lnTo>
                  <a:pt x="4046770" y="0"/>
                </a:lnTo>
                <a:lnTo>
                  <a:pt x="4046770" y="4416666"/>
                </a:lnTo>
                <a:lnTo>
                  <a:pt x="0" y="44166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7" name="Freeform 17"/>
          <p:cNvSpPr/>
          <p:nvPr/>
        </p:nvSpPr>
        <p:spPr>
          <a:xfrm>
            <a:off x="14308308" y="4624434"/>
            <a:ext cx="3537824" cy="4401647"/>
          </a:xfrm>
          <a:custGeom>
            <a:avLst/>
            <a:gdLst/>
            <a:ahLst/>
            <a:cxnLst/>
            <a:rect l="l" t="t" r="r" b="b"/>
            <a:pathLst>
              <a:path w="3537824" h="4401647">
                <a:moveTo>
                  <a:pt x="0" y="0"/>
                </a:moveTo>
                <a:lnTo>
                  <a:pt x="3537823" y="0"/>
                </a:lnTo>
                <a:lnTo>
                  <a:pt x="3537823" y="4401647"/>
                </a:lnTo>
                <a:lnTo>
                  <a:pt x="0" y="440164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8" name="TextBox 18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169517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Resolución de Consultas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10800000">
            <a:off x="14019925" y="-210928"/>
            <a:ext cx="5098075" cy="5098075"/>
          </a:xfrm>
          <a:custGeom>
            <a:avLst/>
            <a:gdLst/>
            <a:ahLst/>
            <a:cxnLst/>
            <a:rect l="l" t="t" r="r" b="b"/>
            <a:pathLst>
              <a:path w="5098075" h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3" name="Freeform 13"/>
          <p:cNvSpPr/>
          <p:nvPr/>
        </p:nvSpPr>
        <p:spPr>
          <a:xfrm>
            <a:off x="9144000" y="2981047"/>
            <a:ext cx="5796826" cy="6323075"/>
          </a:xfrm>
          <a:custGeom>
            <a:avLst/>
            <a:gdLst/>
            <a:ahLst/>
            <a:cxnLst/>
            <a:rect l="l" t="t" r="r" b="b"/>
            <a:pathLst>
              <a:path w="5796826" h="6323075">
                <a:moveTo>
                  <a:pt x="0" y="0"/>
                </a:moveTo>
                <a:lnTo>
                  <a:pt x="5796826" y="0"/>
                </a:lnTo>
                <a:lnTo>
                  <a:pt x="5796826" y="6323074"/>
                </a:lnTo>
                <a:lnTo>
                  <a:pt x="0" y="63230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14" name="TextBox 14"/>
          <p:cNvSpPr txBox="1"/>
          <p:nvPr/>
        </p:nvSpPr>
        <p:spPr>
          <a:xfrm>
            <a:off x="1028700" y="8699056"/>
            <a:ext cx="4756684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600"/>
              </a:lnSpc>
              <a:spcBef>
                <a:spcPct val="0"/>
              </a:spcBef>
            </a:pPr>
            <a:r>
              <a:rPr lang="en-US" sz="2000" b="1">
                <a:solidFill>
                  <a:srgbClr val="050A3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Elaborado por: Robin Omar Buezo Díaz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695172"/>
            <a:ext cx="1533302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58"/>
              </a:lnSpc>
            </a:pPr>
            <a:r>
              <a:rPr lang="en-US" sz="8465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Backtracking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93024" y="5504771"/>
            <a:ext cx="6253323" cy="622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¿Qué pasa si un objetivo falla?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3" y="555117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Conceptos Clave Aprendidos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1658622"/>
            <a:ext cx="16124539" cy="7599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Constantes: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Valores fijos como nombres, números o átomos. Ejemplos: "mary", likes, 42, 3.14.</a:t>
            </a:r>
          </a:p>
          <a:p>
            <a:pPr algn="just">
              <a:lnSpc>
                <a:spcPts val="3220"/>
              </a:lnSpc>
            </a:pPr>
            <a:endParaRPr lang="en-US" sz="2300" spc="184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Variables: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Representan datos cambiantes; inician con mayúscula o guion bajo. Ejemplos: X, Y, _resultado.</a:t>
            </a:r>
          </a:p>
          <a:p>
            <a:pPr algn="just">
              <a:lnSpc>
                <a:spcPts val="3220"/>
              </a:lnSpc>
            </a:pPr>
            <a:endParaRPr lang="en-US" sz="2300" spc="184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Estructuras: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 Agrupan datos relacionados mediante términos compuestos. Ejemplo: libro("1984", autor("George", "Orwell"), 1949).</a:t>
            </a:r>
          </a:p>
          <a:p>
            <a:pPr algn="just">
              <a:lnSpc>
                <a:spcPts val="3220"/>
              </a:lnSpc>
            </a:pPr>
            <a:endParaRPr lang="en-US" sz="2300" spc="184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Caracteres: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Se usan para formar nombres de constantes, variables y estructuras. Ejemplos: a, B, 9, _, +, :.</a:t>
            </a:r>
          </a:p>
          <a:p>
            <a:pPr algn="just">
              <a:lnSpc>
                <a:spcPts val="3220"/>
              </a:lnSpc>
            </a:pPr>
            <a:endParaRPr lang="en-US" sz="2300" spc="184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Operadores: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Realizan cálculos o comparaciones; pueden escribirse de forma infija o prefija. Ejemplos: X + Y, +(X, Y), X =:= Y.</a:t>
            </a:r>
          </a:p>
          <a:p>
            <a:pPr algn="just">
              <a:lnSpc>
                <a:spcPts val="3220"/>
              </a:lnSpc>
            </a:pPr>
            <a:endParaRPr lang="en-US" sz="2300" spc="184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Igualdad y Unificación: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Prolog iguala términos mediante unificación; las variables se instancian si es posible. Ejemplo: padre(juan, X) = padre(juan, maria) da X = maria.</a:t>
            </a:r>
          </a:p>
          <a:p>
            <a:pPr algn="just">
              <a:lnSpc>
                <a:spcPts val="3220"/>
              </a:lnSpc>
            </a:pPr>
            <a:endParaRPr lang="en-US" sz="2300" spc="184">
              <a:solidFill>
                <a:srgbClr val="050A30"/>
              </a:solidFill>
              <a:latin typeface="HK Grotesk"/>
              <a:ea typeface="HK Grotesk"/>
              <a:cs typeface="HK Grotesk"/>
              <a:sym typeface="HK Grotesk"/>
            </a:endParaRPr>
          </a:p>
          <a:p>
            <a:pPr marL="496585" lvl="1" indent="-248293" algn="just">
              <a:lnSpc>
                <a:spcPts val="3220"/>
              </a:lnSpc>
              <a:buFont typeface="Arial"/>
              <a:buChar char="•"/>
            </a:pPr>
            <a:r>
              <a:rPr lang="en-US" sz="2300" b="1" spc="184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Consultas y Backtracking: </a:t>
            </a:r>
            <a:r>
              <a:rPr lang="en-US" sz="2300" spc="184">
                <a:solidFill>
                  <a:srgbClr val="050A30"/>
                </a:solidFill>
                <a:latin typeface="HK Grotesk"/>
                <a:ea typeface="HK Grotesk"/>
                <a:cs typeface="HK Grotesk"/>
                <a:sym typeface="HK Grotesk"/>
              </a:rPr>
              <a:t>Prolog resuelve consultas buscando hechos o reglas. Si una opción falla, prueba otras (backtracking). Se puede forzar con ; para obtener más soluciones.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1" y="3181095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Claridad</a:t>
            </a:r>
            <a:endParaRPr lang="en-US" sz="69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27167" y="4881797"/>
            <a:ext cx="14233665" cy="982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66" lvl="1" algn="just">
              <a:lnSpc>
                <a:spcPts val="3920"/>
              </a:lnSpc>
            </a:pPr>
            <a:r>
              <a:rPr lang="es-GT" sz="2800" b="1" dirty="0">
                <a:solidFill>
                  <a:srgbClr val="F4F6FC"/>
                </a:solidFill>
                <a:latin typeface="HK Grotesk"/>
                <a:ea typeface="HK Grotesk"/>
                <a:cs typeface="HK Grotesk"/>
                <a:sym typeface="HK Grotesk"/>
              </a:rPr>
              <a:t>La claridad implica expresarse y trabajar de manera comprensible, estructurada y ordenada, tanto al comunicar ideas como al escribir algoritmos o resolver problemas.</a:t>
            </a:r>
            <a:endParaRPr lang="en-US" sz="2800" b="1" dirty="0">
              <a:solidFill>
                <a:srgbClr val="F4F6FC"/>
              </a:solidFill>
              <a:latin typeface="HK Grotesk"/>
              <a:ea typeface="HK Grotesk"/>
              <a:cs typeface="HK Grotesk"/>
              <a:sym typeface="HK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392343" y="1673265"/>
            <a:ext cx="13503315" cy="994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Referencias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27167" y="3745346"/>
            <a:ext cx="14233665" cy="295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2" lvl="1" indent="-302266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</a:t>
            </a:r>
            <a:r>
              <a:rPr lang="en-US" sz="2800" b="1" u="none" strike="noStrik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ussell, S., &amp; Norvig, P. (2016). Artificial Intelligence: A Modern Approach (3rd ed.). Pearson.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 b="1" u="none" strike="noStrike">
              <a:solidFill>
                <a:srgbClr val="222222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  <a:p>
            <a:pPr marL="604532" lvl="1" indent="-302266" algn="just">
              <a:lnSpc>
                <a:spcPts val="3920"/>
              </a:lnSpc>
              <a:spcBef>
                <a:spcPct val="0"/>
              </a:spcBef>
              <a:buFont typeface="Arial"/>
              <a:buChar char="•"/>
            </a:pPr>
            <a:r>
              <a:rPr lang="en-US" sz="2800" b="1" u="none" strike="noStrike">
                <a:solidFill>
                  <a:srgbClr val="222222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Clocksin, W. F., &amp; Mellish, C. S. (2003). Programming in Prolog: Using the ISO Standard (5ª ed.). Springer-Verlag.</a:t>
            </a:r>
          </a:p>
          <a:p>
            <a:pPr algn="just">
              <a:lnSpc>
                <a:spcPts val="3920"/>
              </a:lnSpc>
              <a:spcBef>
                <a:spcPct val="0"/>
              </a:spcBef>
            </a:pPr>
            <a:endParaRPr lang="en-US" sz="2800" b="1" u="none" strike="noStrike">
              <a:solidFill>
                <a:srgbClr val="222222"/>
              </a:solidFill>
              <a:latin typeface="HK Grotesk Medium"/>
              <a:ea typeface="HK Grotesk Medium"/>
              <a:cs typeface="HK Grotesk Medium"/>
              <a:sym typeface="HK Grotesk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50FE6-5964-6467-3F0D-E860302A2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61C3EB7-7545-7B53-9ED2-BA6C12AC690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9E6AF352-ED74-D4A3-36B4-B00097FF3EFE}"/>
              </a:ext>
            </a:extLst>
          </p:cNvPr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3DEAF38-ACF1-7688-A02E-B83B24AF38A2}"/>
                </a:ext>
              </a:extLst>
            </p:cNvPr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2B6DF4-2775-EA3D-24C2-BB6BF606EB52}"/>
                </a:ext>
              </a:extLst>
            </p:cNvPr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4B501998-E222-CF2A-292C-6666036A92EE}"/>
              </a:ext>
            </a:extLst>
          </p:cNvPr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73030D5-AEA2-2AE7-F6FC-6C7011074038}"/>
                </a:ext>
              </a:extLst>
            </p:cNvPr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13C68DA-C421-399C-F96A-33596265F07C}"/>
                </a:ext>
              </a:extLst>
            </p:cNvPr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9370B1D-E304-FDDD-7028-E924A948A3D9}"/>
              </a:ext>
            </a:extLst>
          </p:cNvPr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016D11E-677F-0F3C-BA36-09445C65A198}"/>
                </a:ext>
              </a:extLst>
            </p:cNvPr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5656B8CC-D50C-C740-18D1-99730EBF74FC}"/>
                </a:ext>
              </a:extLst>
            </p:cNvPr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51AF368A-C3B3-2D35-F9EB-4520E1A1BE4F}"/>
              </a:ext>
            </a:extLst>
          </p:cNvPr>
          <p:cNvSpPr txBox="1"/>
          <p:nvPr/>
        </p:nvSpPr>
        <p:spPr>
          <a:xfrm>
            <a:off x="2392342" y="4305300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Ejemplo</a:t>
            </a:r>
            <a:r>
              <a:rPr lang="en-US" sz="6900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Práctico</a:t>
            </a:r>
            <a:endParaRPr lang="en-US" sz="6900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328936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A1A0-44EB-06DB-837E-B8043BE8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0735B0-190A-DD7A-A31B-2CCCCDB8090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r="-2244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8D3E790B-A56B-6020-79A8-354663DDF3A8}"/>
              </a:ext>
            </a:extLst>
          </p:cNvPr>
          <p:cNvGrpSpPr/>
          <p:nvPr/>
        </p:nvGrpSpPr>
        <p:grpSpPr>
          <a:xfrm rot="-5400000">
            <a:off x="6186162" y="2511196"/>
            <a:ext cx="6818207" cy="20947169"/>
            <a:chOff x="0" y="0"/>
            <a:chExt cx="1795742" cy="5516950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597B7E8-D430-824A-22DA-B78942180B30}"/>
                </a:ext>
              </a:extLst>
            </p:cNvPr>
            <p:cNvSpPr/>
            <p:nvPr/>
          </p:nvSpPr>
          <p:spPr>
            <a:xfrm>
              <a:off x="0" y="0"/>
              <a:ext cx="1795742" cy="5516950"/>
            </a:xfrm>
            <a:custGeom>
              <a:avLst/>
              <a:gdLst/>
              <a:ahLst/>
              <a:cxnLst/>
              <a:rect l="l" t="t" r="r" b="b"/>
              <a:pathLst>
                <a:path w="1795742" h="5516950">
                  <a:moveTo>
                    <a:pt x="0" y="0"/>
                  </a:moveTo>
                  <a:lnTo>
                    <a:pt x="1795742" y="0"/>
                  </a:lnTo>
                  <a:lnTo>
                    <a:pt x="179574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0B1D353-FA0A-D7DB-85C3-A3B05935CD12}"/>
                </a:ext>
              </a:extLst>
            </p:cNvPr>
            <p:cNvSpPr txBox="1"/>
            <p:nvPr/>
          </p:nvSpPr>
          <p:spPr>
            <a:xfrm>
              <a:off x="0" y="-47625"/>
              <a:ext cx="179574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EB7214D9-C315-C52F-2C43-06675B0FC9C7}"/>
              </a:ext>
            </a:extLst>
          </p:cNvPr>
          <p:cNvGrpSpPr/>
          <p:nvPr/>
        </p:nvGrpSpPr>
        <p:grpSpPr>
          <a:xfrm rot="-5400000">
            <a:off x="3997069" y="-11005002"/>
            <a:ext cx="2045233" cy="20947169"/>
            <a:chOff x="0" y="0"/>
            <a:chExt cx="538662" cy="551695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41E6081-EA2D-543D-42C4-489453F67616}"/>
                </a:ext>
              </a:extLst>
            </p:cNvPr>
            <p:cNvSpPr/>
            <p:nvPr/>
          </p:nvSpPr>
          <p:spPr>
            <a:xfrm>
              <a:off x="0" y="0"/>
              <a:ext cx="538662" cy="5516950"/>
            </a:xfrm>
            <a:custGeom>
              <a:avLst/>
              <a:gdLst/>
              <a:ahLst/>
              <a:cxnLst/>
              <a:rect l="l" t="t" r="r" b="b"/>
              <a:pathLst>
                <a:path w="538662" h="5516950">
                  <a:moveTo>
                    <a:pt x="0" y="0"/>
                  </a:moveTo>
                  <a:lnTo>
                    <a:pt x="538662" y="0"/>
                  </a:lnTo>
                  <a:lnTo>
                    <a:pt x="538662" y="5516950"/>
                  </a:lnTo>
                  <a:lnTo>
                    <a:pt x="0" y="5516950"/>
                  </a:lnTo>
                  <a:close/>
                </a:path>
              </a:pathLst>
            </a:custGeom>
            <a:solidFill>
              <a:srgbClr val="050A30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4C0188C-9E71-E11A-3920-AAE3E6FAA0E7}"/>
                </a:ext>
              </a:extLst>
            </p:cNvPr>
            <p:cNvSpPr txBox="1"/>
            <p:nvPr/>
          </p:nvSpPr>
          <p:spPr>
            <a:xfrm>
              <a:off x="0" y="-47625"/>
              <a:ext cx="538662" cy="5564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CBDA54D4-C845-A74E-70FA-1FEE9D3CA64A}"/>
              </a:ext>
            </a:extLst>
          </p:cNvPr>
          <p:cNvGrpSpPr/>
          <p:nvPr/>
        </p:nvGrpSpPr>
        <p:grpSpPr>
          <a:xfrm rot="2700000">
            <a:off x="13734331" y="93713"/>
            <a:ext cx="4685776" cy="1567256"/>
            <a:chOff x="0" y="0"/>
            <a:chExt cx="1234114" cy="41277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CB9E3E6-31E2-1445-71D8-BC7EACB8D78D}"/>
                </a:ext>
              </a:extLst>
            </p:cNvPr>
            <p:cNvSpPr/>
            <p:nvPr/>
          </p:nvSpPr>
          <p:spPr>
            <a:xfrm>
              <a:off x="0" y="0"/>
              <a:ext cx="1234114" cy="412775"/>
            </a:xfrm>
            <a:custGeom>
              <a:avLst/>
              <a:gdLst/>
              <a:ahLst/>
              <a:cxnLst/>
              <a:rect l="l" t="t" r="r" b="b"/>
              <a:pathLst>
                <a:path w="1234114" h="412775">
                  <a:moveTo>
                    <a:pt x="0" y="0"/>
                  </a:moveTo>
                  <a:lnTo>
                    <a:pt x="1234114" y="0"/>
                  </a:lnTo>
                  <a:lnTo>
                    <a:pt x="123411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CAE8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E1AF629-A29E-584A-38A9-831CB380D88A}"/>
                </a:ext>
              </a:extLst>
            </p:cNvPr>
            <p:cNvSpPr txBox="1"/>
            <p:nvPr/>
          </p:nvSpPr>
          <p:spPr>
            <a:xfrm>
              <a:off x="0" y="-47625"/>
              <a:ext cx="1234114" cy="4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CE0D3EC-51B2-29A7-929D-335CC9FFF8D7}"/>
              </a:ext>
            </a:extLst>
          </p:cNvPr>
          <p:cNvSpPr txBox="1"/>
          <p:nvPr/>
        </p:nvSpPr>
        <p:spPr>
          <a:xfrm>
            <a:off x="2392342" y="4148709"/>
            <a:ext cx="13503315" cy="1015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Actividad</a:t>
            </a:r>
            <a:r>
              <a:rPr lang="en-US" sz="6900" b="1" dirty="0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</a:t>
            </a:r>
            <a:r>
              <a:rPr lang="en-US" sz="6900" b="1" dirty="0" err="1">
                <a:solidFill>
                  <a:srgbClr val="050A3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Práctica</a:t>
            </a:r>
            <a:endParaRPr lang="en-US" sz="6900" b="1" dirty="0">
              <a:solidFill>
                <a:srgbClr val="050A30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</p:spTree>
    <p:extLst>
      <p:ext uri="{BB962C8B-B14F-4D97-AF65-F5344CB8AC3E}">
        <p14:creationId xmlns:p14="http://schemas.microsoft.com/office/powerpoint/2010/main" val="3676367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g385e2d797db_0_12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16902" y="0"/>
            <a:ext cx="18254198" cy="10287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6" name="Google Shape;206;g385e2d797db_0_12"/>
          <p:cNvGraphicFramePr/>
          <p:nvPr/>
        </p:nvGraphicFramePr>
        <p:xfrm>
          <a:off x="16900" y="1507250"/>
          <a:ext cx="10459750" cy="28039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7" name="Google Shape;207;g385e2d797db_0_12"/>
          <p:cNvSpPr txBox="1"/>
          <p:nvPr/>
        </p:nvSpPr>
        <p:spPr>
          <a:xfrm>
            <a:off x="0" y="4281900"/>
            <a:ext cx="18037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sz="2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385e2d797db_0_12"/>
          <p:cNvSpPr txBox="1"/>
          <p:nvPr/>
        </p:nvSpPr>
        <p:spPr>
          <a:xfrm>
            <a:off x="169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9" name="Google Shape;209;g385e2d797db_0_12"/>
          <p:cNvGraphicFramePr/>
          <p:nvPr/>
        </p:nvGraphicFramePr>
        <p:xfrm>
          <a:off x="10656400" y="1940050"/>
          <a:ext cx="7381150" cy="23772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/>
                    </a:p>
                  </a:txBody>
                  <a:tcPr marL="182850" marR="182850" marT="182850" marB="182850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0" name="Google Shape;210;g385e2d797db_0_12"/>
          <p:cNvSpPr txBox="1"/>
          <p:nvPr/>
        </p:nvSpPr>
        <p:spPr>
          <a:xfrm>
            <a:off x="6261600" y="4955800"/>
            <a:ext cx="61674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g385e2d797db_0_12"/>
          <p:cNvSpPr txBox="1"/>
          <p:nvPr/>
        </p:nvSpPr>
        <p:spPr>
          <a:xfrm>
            <a:off x="12506300" y="4955800"/>
            <a:ext cx="5764800" cy="7389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795" y="3446254"/>
            <a:ext cx="8658828" cy="2438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¡GRACIAS POR </a:t>
            </a:r>
            <a:r>
              <a:rPr lang="en-US" sz="6099" b="1" dirty="0" err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</a:t>
            </a:r>
            <a:r>
              <a:rPr lang="en-US" sz="6099" b="1" dirty="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ATENCIÓN!</a:t>
            </a:r>
          </a:p>
          <a:p>
            <a:pPr algn="just">
              <a:lnSpc>
                <a:spcPts val="6343"/>
              </a:lnSpc>
            </a:pPr>
            <a:endParaRPr lang="en-US" sz="6099" b="1" dirty="0">
              <a:solidFill>
                <a:srgbClr val="F4F6FC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b="1" spc="400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DUDAS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2411098" y="7890210"/>
            <a:ext cx="13465804" cy="35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b="1">
                <a:solidFill>
                  <a:srgbClr val="F4F6FC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1309</Words>
  <Application>Microsoft Office PowerPoint</Application>
  <PresentationFormat>Personalizado</PresentationFormat>
  <Paragraphs>162</Paragraphs>
  <Slides>23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4" baseType="lpstr">
      <vt:lpstr>Calibri</vt:lpstr>
      <vt:lpstr>Arial</vt:lpstr>
      <vt:lpstr>Aptos</vt:lpstr>
      <vt:lpstr>HK Grotesk</vt:lpstr>
      <vt:lpstr>HK Grotesk Medium</vt:lpstr>
      <vt:lpstr>Arial Bold</vt:lpstr>
      <vt:lpstr>HK Grotesk Italics</vt:lpstr>
      <vt:lpstr>HK Grotesk Bold</vt:lpstr>
      <vt:lpstr>Arimo</vt:lpstr>
      <vt:lpstr>HK Grotesk Medium Italics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02</dc:title>
  <cp:lastModifiedBy>Robin Buezo</cp:lastModifiedBy>
  <cp:revision>1</cp:revision>
  <dcterms:created xsi:type="dcterms:W3CDTF">2006-08-16T00:00:00Z</dcterms:created>
  <dcterms:modified xsi:type="dcterms:W3CDTF">2025-11-01T08:26:20Z</dcterms:modified>
  <dc:identifier>DAGn8pZzAJw</dc:identifier>
</cp:coreProperties>
</file>