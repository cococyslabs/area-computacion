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80" r:id="rId16"/>
    <p:sldId id="281" r:id="rId17"/>
    <p:sldId id="269" r:id="rId18"/>
  </p:sldIdLst>
  <p:sldSz cx="18288000" cy="10287000"/>
  <p:notesSz cx="6858000" cy="9144000"/>
  <p:embeddedFontLst>
    <p:embeddedFont>
      <p:font typeface="Arial Bold" panose="020B0704020202020204" pitchFamily="34" charset="0"/>
      <p:regular r:id="rId20"/>
      <p:bold r:id="rId21"/>
    </p:embeddedFont>
    <p:embeddedFont>
      <p:font typeface="Arimo" panose="020B0604020202020204" charset="0"/>
      <p:regular r:id="rId22"/>
    </p:embeddedFont>
    <p:embeddedFont>
      <p:font typeface="HK Grotesk" panose="020B0604020202020204" charset="0"/>
      <p:regular r:id="rId23"/>
    </p:embeddedFont>
    <p:embeddedFont>
      <p:font typeface="HK Grotesk Bold" panose="020B0604020202020204" charset="0"/>
      <p:regular r:id="rId24"/>
    </p:embeddedFont>
    <p:embeddedFont>
      <p:font typeface="HK Grotesk Mediu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F9DCC-DA5D-4DD0-8EFA-1C1D974FC3E9}" v="6" dt="2025-11-01T04:45:56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9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Buezo" userId="d44e5f3f-39a8-4f70-a374-9ef0db0805cd" providerId="ADAL" clId="{996B3292-AC6C-4302-9B50-82325D2A977A}"/>
    <pc:docChg chg="undo custSel addSld modSld">
      <pc:chgData name="Robin Buezo" userId="d44e5f3f-39a8-4f70-a374-9ef0db0805cd" providerId="ADAL" clId="{996B3292-AC6C-4302-9B50-82325D2A977A}" dt="2025-11-01T04:46:02.986" v="41" actId="1076"/>
      <pc:docMkLst>
        <pc:docMk/>
      </pc:docMkLst>
      <pc:sldChg chg="modSp mod">
        <pc:chgData name="Robin Buezo" userId="d44e5f3f-39a8-4f70-a374-9ef0db0805cd" providerId="ADAL" clId="{996B3292-AC6C-4302-9B50-82325D2A977A}" dt="2025-11-01T04:02:41.189" v="11" actId="20577"/>
        <pc:sldMkLst>
          <pc:docMk/>
          <pc:sldMk cId="0" sldId="256"/>
        </pc:sldMkLst>
        <pc:spChg chg="mod">
          <ac:chgData name="Robin Buezo" userId="d44e5f3f-39a8-4f70-a374-9ef0db0805cd" providerId="ADAL" clId="{996B3292-AC6C-4302-9B50-82325D2A977A}" dt="2025-11-01T04:02:41.189" v="1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4:45:20.156" v="34" actId="20577"/>
        <pc:sldMkLst>
          <pc:docMk/>
          <pc:sldMk cId="0" sldId="257"/>
        </pc:sldMkLst>
        <pc:spChg chg="mod">
          <ac:chgData name="Robin Buezo" userId="d44e5f3f-39a8-4f70-a374-9ef0db0805cd" providerId="ADAL" clId="{996B3292-AC6C-4302-9B50-82325D2A977A}" dt="2025-11-01T04:45:20.156" v="34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4:04:35.124" v="16" actId="20577"/>
        <pc:sldMkLst>
          <pc:docMk/>
          <pc:sldMk cId="0" sldId="259"/>
        </pc:sldMkLst>
        <pc:spChg chg="mod">
          <ac:chgData name="Robin Buezo" userId="d44e5f3f-39a8-4f70-a374-9ef0db0805cd" providerId="ADAL" clId="{996B3292-AC6C-4302-9B50-82325D2A977A}" dt="2025-11-01T04:04:35.124" v="16" actId="20577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4:46:02.986" v="41" actId="1076"/>
        <pc:sldMkLst>
          <pc:docMk/>
          <pc:sldMk cId="0" sldId="267"/>
        </pc:sldMkLst>
        <pc:spChg chg="mod">
          <ac:chgData name="Robin Buezo" userId="d44e5f3f-39a8-4f70-a374-9ef0db0805cd" providerId="ADAL" clId="{996B3292-AC6C-4302-9B50-82325D2A977A}" dt="2025-11-01T04:46:02.986" v="41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4:45:50.222" v="38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4:46:01.812" v="40" actId="20577"/>
          <ac:spMkLst>
            <pc:docMk/>
            <pc:sldMk cId="0" sldId="267"/>
            <ac:spMk id="13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4:05:38.163" v="28" actId="1076"/>
        <pc:sldMkLst>
          <pc:docMk/>
          <pc:sldMk cId="0" sldId="268"/>
        </pc:sldMkLst>
        <pc:spChg chg="mod">
          <ac:chgData name="Robin Buezo" userId="d44e5f3f-39a8-4f70-a374-9ef0db0805cd" providerId="ADAL" clId="{996B3292-AC6C-4302-9B50-82325D2A977A}" dt="2025-11-01T04:05:38.163" v="28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4:05:36.034" v="27" actId="1076"/>
          <ac:spMkLst>
            <pc:docMk/>
            <pc:sldMk cId="0" sldId="268"/>
            <ac:spMk id="13" creationId="{00000000-0000-0000-0000-000000000000}"/>
          </ac:spMkLst>
        </pc:spChg>
      </pc:sldChg>
      <pc:sldChg chg="add">
        <pc:chgData name="Robin Buezo" userId="d44e5f3f-39a8-4f70-a374-9ef0db0805cd" providerId="ADAL" clId="{996B3292-AC6C-4302-9B50-82325D2A977A}" dt="2025-11-01T04:05:49.773" v="29"/>
        <pc:sldMkLst>
          <pc:docMk/>
          <pc:sldMk cId="3289369567" sldId="279"/>
        </pc:sldMkLst>
      </pc:sldChg>
      <pc:sldChg chg="add">
        <pc:chgData name="Robin Buezo" userId="d44e5f3f-39a8-4f70-a374-9ef0db0805cd" providerId="ADAL" clId="{996B3292-AC6C-4302-9B50-82325D2A977A}" dt="2025-11-01T04:05:49.773" v="29"/>
        <pc:sldMkLst>
          <pc:docMk/>
          <pc:sldMk cId="3676367595" sldId="280"/>
        </pc:sldMkLst>
      </pc:sldChg>
      <pc:sldChg chg="add">
        <pc:chgData name="Robin Buezo" userId="d44e5f3f-39a8-4f70-a374-9ef0db0805cd" providerId="ADAL" clId="{996B3292-AC6C-4302-9B50-82325D2A977A}" dt="2025-11-01T04:05:49.773" v="29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4FF5-ECC2-4E77-B1C1-EA17F57D2C42}" type="datetimeFigureOut">
              <a:rPr lang="es-GT" smtClean="0"/>
              <a:t>31/10/2025</a:t>
            </a:fld>
            <a:endParaRPr lang="es-GT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E75B3-9449-4414-A22C-6B87B362B922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77986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65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02" y="0"/>
            <a:ext cx="18254198" cy="10287002"/>
          </a:xfrm>
          <a:custGeom>
            <a:avLst/>
            <a:gdLst/>
            <a:ahLst/>
            <a:cxnLst/>
            <a:rect l="l" t="t" r="r" b="b"/>
            <a:pathLst>
              <a:path w="18254198" h="10287002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 [A]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5684" cy="3122357"/>
            </a:xfrm>
            <a:custGeom>
              <a:avLst/>
              <a:gdLst/>
              <a:ahLst/>
              <a:cxnLst/>
              <a:rect l="l" t="t" r="r" b="b"/>
              <a:pathLst>
                <a:path w="6045684" h="3122357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2118001" y="6620396"/>
            <a:ext cx="9224082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50A3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1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500" b="1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8" name="AutoShape 18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9" name="AutoShape 19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20" name="AutoShape 20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Box 21"/>
          <p:cNvSpPr txBox="1"/>
          <p:nvPr/>
        </p:nvSpPr>
        <p:spPr>
          <a:xfrm>
            <a:off x="2118001" y="4721267"/>
            <a:ext cx="781821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 de Robots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515035" y="5489862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0299395" y="3078596"/>
            <a:ext cx="6464263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4003" y="3078596"/>
            <a:ext cx="6464263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Diseño de Aplicaciones de Realidad Aumentada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4889" y="1164153"/>
            <a:ext cx="13991174" cy="88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4552" y="3306849"/>
            <a:ext cx="12569573" cy="284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s-GT" sz="4000" b="1" spc="320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 diseños 2D y 3D de robots la eficiencia y realismo en simulaciones robóticas para aumentar la precisión, eficiencia y realismo de entornos virtuales</a:t>
            </a:r>
            <a:endParaRPr lang="en-US" sz="4000" b="1" spc="320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2914" y="2450775"/>
            <a:ext cx="8930885" cy="5930699"/>
            <a:chOff x="0" y="0"/>
            <a:chExt cx="2352167" cy="15619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2167" cy="1561995"/>
            </a:xfrm>
            <a:custGeom>
              <a:avLst/>
              <a:gdLst/>
              <a:ahLst/>
              <a:cxnLst/>
              <a:rect l="l" t="t" r="r" b="b"/>
              <a:pathLst>
                <a:path w="2352167" h="1561995">
                  <a:moveTo>
                    <a:pt x="44210" y="0"/>
                  </a:moveTo>
                  <a:lnTo>
                    <a:pt x="2307957" y="0"/>
                  </a:lnTo>
                  <a:cubicBezTo>
                    <a:pt x="2319682" y="0"/>
                    <a:pt x="2330927" y="4658"/>
                    <a:pt x="2339218" y="12949"/>
                  </a:cubicBezTo>
                  <a:cubicBezTo>
                    <a:pt x="2347509" y="21240"/>
                    <a:pt x="2352167" y="32485"/>
                    <a:pt x="2352167" y="44210"/>
                  </a:cubicBezTo>
                  <a:lnTo>
                    <a:pt x="2352167" y="1517784"/>
                  </a:lnTo>
                  <a:cubicBezTo>
                    <a:pt x="2352167" y="1529510"/>
                    <a:pt x="2347509" y="1540755"/>
                    <a:pt x="2339218" y="1549046"/>
                  </a:cubicBezTo>
                  <a:cubicBezTo>
                    <a:pt x="2330927" y="1557337"/>
                    <a:pt x="2319682" y="1561995"/>
                    <a:pt x="2307957" y="1561995"/>
                  </a:cubicBezTo>
                  <a:lnTo>
                    <a:pt x="44210" y="1561995"/>
                  </a:lnTo>
                  <a:cubicBezTo>
                    <a:pt x="32485" y="1561995"/>
                    <a:pt x="21240" y="1557337"/>
                    <a:pt x="12949" y="1549046"/>
                  </a:cubicBezTo>
                  <a:cubicBezTo>
                    <a:pt x="4658" y="1540755"/>
                    <a:pt x="0" y="1529510"/>
                    <a:pt x="0" y="1517784"/>
                  </a:cubicBezTo>
                  <a:lnTo>
                    <a:pt x="0" y="44210"/>
                  </a:lnTo>
                  <a:cubicBezTo>
                    <a:pt x="0" y="32485"/>
                    <a:pt x="4658" y="21240"/>
                    <a:pt x="12949" y="12949"/>
                  </a:cubicBezTo>
                  <a:cubicBezTo>
                    <a:pt x="21240" y="4658"/>
                    <a:pt x="32485" y="0"/>
                    <a:pt x="44210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52167" cy="1609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595266" y="2450775"/>
            <a:ext cx="8333792" cy="5773178"/>
          </a:xfrm>
          <a:custGeom>
            <a:avLst/>
            <a:gdLst/>
            <a:ahLst/>
            <a:cxnLst/>
            <a:rect l="l" t="t" r="r" b="b"/>
            <a:pathLst>
              <a:path w="8333792" h="5773178">
                <a:moveTo>
                  <a:pt x="0" y="0"/>
                </a:moveTo>
                <a:lnTo>
                  <a:pt x="8333791" y="0"/>
                </a:lnTo>
                <a:lnTo>
                  <a:pt x="8333791" y="5773178"/>
                </a:lnTo>
                <a:lnTo>
                  <a:pt x="0" y="5773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769" r="-5631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6" name="TextBox 16"/>
          <p:cNvSpPr txBox="1"/>
          <p:nvPr/>
        </p:nvSpPr>
        <p:spPr>
          <a:xfrm>
            <a:off x="2392343" y="767350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2D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044" y="2683206"/>
            <a:ext cx="8460625" cy="538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Una simulación en 2D representa un entorno o sistema dentro de un plano de dos dimensiones: alto (Y) y ancho (X). No hay profundidad, por lo que los elementos simulados se ven “planos”, como si fueran dibujos o mapas.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282985" y="2338109"/>
            <a:ext cx="6150114" cy="4185901"/>
            <a:chOff x="0" y="0"/>
            <a:chExt cx="1619783" cy="11024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77031" y="2338109"/>
            <a:ext cx="6150114" cy="4185901"/>
            <a:chOff x="0" y="0"/>
            <a:chExt cx="1619783" cy="11024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68943" y="4743237"/>
            <a:ext cx="6150114" cy="4185901"/>
            <a:chOff x="0" y="0"/>
            <a:chExt cx="1619783" cy="1102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554434" y="471487"/>
            <a:ext cx="1317913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Ventajas del 2D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1609" y="2907881"/>
            <a:ext cx="5332867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Más fácil y rápido de desarrollar.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74589" y="2482673"/>
            <a:ext cx="5243932" cy="332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Ideal para probar algoritmos y lógica.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8632" y="5449122"/>
            <a:ext cx="5332867" cy="218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Menor carga computacional.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12044028" y="1576387"/>
            <a:ext cx="5080522" cy="3744493"/>
            <a:chOff x="0" y="0"/>
            <a:chExt cx="1338080" cy="9862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38080" cy="986204"/>
            </a:xfrm>
            <a:custGeom>
              <a:avLst/>
              <a:gdLst/>
              <a:ahLst/>
              <a:cxnLst/>
              <a:rect l="l" t="t" r="r" b="b"/>
              <a:pathLst>
                <a:path w="1338080" h="986204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6794" y="1576388"/>
            <a:ext cx="5080522" cy="3744493"/>
            <a:chOff x="0" y="0"/>
            <a:chExt cx="1338080" cy="9862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38080" cy="986204"/>
            </a:xfrm>
            <a:custGeom>
              <a:avLst/>
              <a:gdLst/>
              <a:ahLst/>
              <a:cxnLst/>
              <a:rect l="l" t="t" r="r" b="b"/>
              <a:pathLst>
                <a:path w="1338080" h="986204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81577" y="5137753"/>
            <a:ext cx="5186840" cy="3675517"/>
            <a:chOff x="0" y="0"/>
            <a:chExt cx="1366081" cy="9680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66081" cy="968038"/>
            </a:xfrm>
            <a:custGeom>
              <a:avLst/>
              <a:gdLst/>
              <a:ahLst/>
              <a:cxnLst/>
              <a:rect l="l" t="t" r="r" b="b"/>
              <a:pathLst>
                <a:path w="1366081" h="968038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46363" y="2420194"/>
            <a:ext cx="4561384" cy="2565778"/>
          </a:xfrm>
          <a:custGeom>
            <a:avLst/>
            <a:gdLst/>
            <a:ahLst/>
            <a:cxnLst/>
            <a:rect l="l" t="t" r="r" b="b"/>
            <a:pathLst>
              <a:path w="4561384" h="2565778">
                <a:moveTo>
                  <a:pt x="0" y="0"/>
                </a:moveTo>
                <a:lnTo>
                  <a:pt x="4561383" y="0"/>
                </a:lnTo>
                <a:lnTo>
                  <a:pt x="4561383" y="2565779"/>
                </a:lnTo>
                <a:lnTo>
                  <a:pt x="0" y="256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3" name="Freeform 23"/>
          <p:cNvSpPr/>
          <p:nvPr/>
        </p:nvSpPr>
        <p:spPr>
          <a:xfrm>
            <a:off x="4015869" y="6048180"/>
            <a:ext cx="3718257" cy="2323910"/>
          </a:xfrm>
          <a:custGeom>
            <a:avLst/>
            <a:gdLst/>
            <a:ahLst/>
            <a:cxnLst/>
            <a:rect l="l" t="t" r="r" b="b"/>
            <a:pathLst>
              <a:path w="3718257" h="2323910">
                <a:moveTo>
                  <a:pt x="0" y="0"/>
                </a:moveTo>
                <a:lnTo>
                  <a:pt x="3718256" y="0"/>
                </a:lnTo>
                <a:lnTo>
                  <a:pt x="3718256" y="2323911"/>
                </a:lnTo>
                <a:lnTo>
                  <a:pt x="0" y="232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24" name="Group 24"/>
          <p:cNvGrpSpPr/>
          <p:nvPr/>
        </p:nvGrpSpPr>
        <p:grpSpPr>
          <a:xfrm>
            <a:off x="9286319" y="5143500"/>
            <a:ext cx="5186840" cy="3675517"/>
            <a:chOff x="0" y="0"/>
            <a:chExt cx="1366081" cy="9680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6081" cy="968038"/>
            </a:xfrm>
            <a:custGeom>
              <a:avLst/>
              <a:gdLst/>
              <a:ahLst/>
              <a:cxnLst/>
              <a:rect l="l" t="t" r="r" b="b"/>
              <a:pathLst>
                <a:path w="1366081" h="968038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0306696" y="6160129"/>
            <a:ext cx="3146086" cy="2100013"/>
          </a:xfrm>
          <a:custGeom>
            <a:avLst/>
            <a:gdLst/>
            <a:ahLst/>
            <a:cxnLst/>
            <a:rect l="l" t="t" r="r" b="b"/>
            <a:pathLst>
              <a:path w="3146086" h="2100013">
                <a:moveTo>
                  <a:pt x="0" y="0"/>
                </a:moveTo>
                <a:lnTo>
                  <a:pt x="3146086" y="0"/>
                </a:lnTo>
                <a:lnTo>
                  <a:pt x="3146086" y="2100013"/>
                </a:lnTo>
                <a:lnTo>
                  <a:pt x="0" y="2100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8" name="Freeform 28"/>
          <p:cNvSpPr/>
          <p:nvPr/>
        </p:nvSpPr>
        <p:spPr>
          <a:xfrm>
            <a:off x="12470748" y="2450737"/>
            <a:ext cx="4227082" cy="2378438"/>
          </a:xfrm>
          <a:custGeom>
            <a:avLst/>
            <a:gdLst/>
            <a:ahLst/>
            <a:cxnLst/>
            <a:rect l="l" t="t" r="r" b="b"/>
            <a:pathLst>
              <a:path w="4227082" h="2378438">
                <a:moveTo>
                  <a:pt x="0" y="0"/>
                </a:moveTo>
                <a:lnTo>
                  <a:pt x="4227081" y="0"/>
                </a:lnTo>
                <a:lnTo>
                  <a:pt x="4227081" y="2378438"/>
                </a:lnTo>
                <a:lnTo>
                  <a:pt x="0" y="23784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9" name="TextBox 29"/>
          <p:cNvSpPr txBox="1"/>
          <p:nvPr/>
        </p:nvSpPr>
        <p:spPr>
          <a:xfrm>
            <a:off x="2554434" y="471487"/>
            <a:ext cx="1317913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Herramientas Cómunes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4007" y="1302966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P5.JS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71950" y="5040331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PROCESSING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76692" y="5046078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SCRATCH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81242" y="1302966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UNITY 2D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5183" y="2566495"/>
            <a:ext cx="8749135" cy="5385450"/>
            <a:chOff x="0" y="0"/>
            <a:chExt cx="2304299" cy="1418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4299" cy="1418390"/>
            </a:xfrm>
            <a:custGeom>
              <a:avLst/>
              <a:gdLst/>
              <a:ahLst/>
              <a:cxnLst/>
              <a:rect l="l" t="t" r="r" b="b"/>
              <a:pathLst>
                <a:path w="2304299" h="1418390">
                  <a:moveTo>
                    <a:pt x="45129" y="0"/>
                  </a:moveTo>
                  <a:lnTo>
                    <a:pt x="2259170" y="0"/>
                  </a:lnTo>
                  <a:cubicBezTo>
                    <a:pt x="2284094" y="0"/>
                    <a:pt x="2304299" y="20205"/>
                    <a:pt x="2304299" y="45129"/>
                  </a:cubicBezTo>
                  <a:lnTo>
                    <a:pt x="2304299" y="1373261"/>
                  </a:lnTo>
                  <a:cubicBezTo>
                    <a:pt x="2304299" y="1385230"/>
                    <a:pt x="2299545" y="1396709"/>
                    <a:pt x="2291081" y="1405172"/>
                  </a:cubicBezTo>
                  <a:cubicBezTo>
                    <a:pt x="2282618" y="1413635"/>
                    <a:pt x="2271139" y="1418390"/>
                    <a:pt x="2259170" y="1418390"/>
                  </a:cubicBezTo>
                  <a:lnTo>
                    <a:pt x="45129" y="1418390"/>
                  </a:lnTo>
                  <a:cubicBezTo>
                    <a:pt x="20205" y="1418390"/>
                    <a:pt x="0" y="1398185"/>
                    <a:pt x="0" y="1373261"/>
                  </a:cubicBezTo>
                  <a:lnTo>
                    <a:pt x="0" y="45129"/>
                  </a:lnTo>
                  <a:cubicBezTo>
                    <a:pt x="0" y="20205"/>
                    <a:pt x="20205" y="0"/>
                    <a:pt x="45129" y="0"/>
                  </a:cubicBez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04299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971533" y="3047781"/>
            <a:ext cx="8021891" cy="4191438"/>
          </a:xfrm>
          <a:custGeom>
            <a:avLst/>
            <a:gdLst/>
            <a:ahLst/>
            <a:cxnLst/>
            <a:rect l="l" t="t" r="r" b="b"/>
            <a:pathLst>
              <a:path w="8021891" h="4191438">
                <a:moveTo>
                  <a:pt x="0" y="0"/>
                </a:moveTo>
                <a:lnTo>
                  <a:pt x="8021892" y="0"/>
                </a:lnTo>
                <a:lnTo>
                  <a:pt x="8021892" y="4191438"/>
                </a:lnTo>
                <a:lnTo>
                  <a:pt x="0" y="41914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6" name="TextBox 16"/>
          <p:cNvSpPr txBox="1"/>
          <p:nvPr/>
        </p:nvSpPr>
        <p:spPr>
          <a:xfrm>
            <a:off x="2148413" y="915441"/>
            <a:ext cx="13991174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3D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33" y="2610757"/>
            <a:ext cx="8233967" cy="52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3"/>
              </a:lnSpc>
            </a:pPr>
            <a:r>
              <a:rPr lang="en-US" sz="3709" b="1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Una simulación en 3D agrega una tercera dimensión: la profundidad (Z). Los objetos tienen volumen y pueden rotar, moverse o interactuar en un espacio tridimensional, lo que permite una representación más realista.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282985" y="2338109"/>
            <a:ext cx="6150114" cy="4185901"/>
            <a:chOff x="0" y="0"/>
            <a:chExt cx="1619783" cy="11024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77031" y="2338109"/>
            <a:ext cx="6150114" cy="4185901"/>
            <a:chOff x="0" y="0"/>
            <a:chExt cx="1619783" cy="11024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68943" y="4743237"/>
            <a:ext cx="6150114" cy="4185901"/>
            <a:chOff x="0" y="0"/>
            <a:chExt cx="1619783" cy="1102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554434" y="471487"/>
            <a:ext cx="1317913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Ventajas del 3D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1609" y="3091958"/>
            <a:ext cx="5332867" cy="191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sz="4005" b="1" spc="32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MAYOR REALISMO E INMERSIÓN.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75541" y="2451746"/>
            <a:ext cx="5243932" cy="373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4"/>
              </a:lnSpc>
              <a:spcBef>
                <a:spcPct val="0"/>
              </a:spcBef>
            </a:pPr>
            <a:r>
              <a:rPr lang="en-US" sz="3037" b="1" spc="242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IDEAL PARA SIMULACIONES FÍSICAS, ROBÓTICA REALISTA Y ENTRENAMIENTO VISUAL.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3099" y="4612101"/>
            <a:ext cx="5332867" cy="397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7"/>
              </a:lnSpc>
              <a:spcBef>
                <a:spcPct val="0"/>
              </a:spcBef>
            </a:pPr>
            <a:r>
              <a:rPr lang="en-US" sz="4018" b="1" spc="32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PERMITE TRABAJAR CON ENTORNOS COMPLEJOS.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12044028" y="1576387"/>
            <a:ext cx="5080522" cy="3744493"/>
            <a:chOff x="0" y="0"/>
            <a:chExt cx="1338080" cy="9862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38080" cy="986204"/>
            </a:xfrm>
            <a:custGeom>
              <a:avLst/>
              <a:gdLst/>
              <a:ahLst/>
              <a:cxnLst/>
              <a:rect l="l" t="t" r="r" b="b"/>
              <a:pathLst>
                <a:path w="1338080" h="986204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6794" y="1576388"/>
            <a:ext cx="5080522" cy="3744493"/>
            <a:chOff x="0" y="0"/>
            <a:chExt cx="1338080" cy="9862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38080" cy="986204"/>
            </a:xfrm>
            <a:custGeom>
              <a:avLst/>
              <a:gdLst/>
              <a:ahLst/>
              <a:cxnLst/>
              <a:rect l="l" t="t" r="r" b="b"/>
              <a:pathLst>
                <a:path w="1338080" h="986204">
                  <a:moveTo>
                    <a:pt x="77716" y="0"/>
                  </a:moveTo>
                  <a:lnTo>
                    <a:pt x="1260364" y="0"/>
                  </a:lnTo>
                  <a:cubicBezTo>
                    <a:pt x="1303285" y="0"/>
                    <a:pt x="1338080" y="34795"/>
                    <a:pt x="1338080" y="77716"/>
                  </a:cubicBezTo>
                  <a:lnTo>
                    <a:pt x="1338080" y="908488"/>
                  </a:lnTo>
                  <a:cubicBezTo>
                    <a:pt x="1338080" y="951409"/>
                    <a:pt x="1303285" y="986204"/>
                    <a:pt x="1260364" y="986204"/>
                  </a:cubicBezTo>
                  <a:lnTo>
                    <a:pt x="77716" y="986204"/>
                  </a:lnTo>
                  <a:cubicBezTo>
                    <a:pt x="34795" y="986204"/>
                    <a:pt x="0" y="951409"/>
                    <a:pt x="0" y="908488"/>
                  </a:cubicBezTo>
                  <a:lnTo>
                    <a:pt x="0" y="77716"/>
                  </a:lnTo>
                  <a:cubicBezTo>
                    <a:pt x="0" y="34795"/>
                    <a:pt x="34795" y="0"/>
                    <a:pt x="77716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38080" cy="1033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81577" y="5137753"/>
            <a:ext cx="5186840" cy="3675517"/>
            <a:chOff x="0" y="0"/>
            <a:chExt cx="1366081" cy="9680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66081" cy="968038"/>
            </a:xfrm>
            <a:custGeom>
              <a:avLst/>
              <a:gdLst/>
              <a:ahLst/>
              <a:cxnLst/>
              <a:rect l="l" t="t" r="r" b="b"/>
              <a:pathLst>
                <a:path w="1366081" h="968038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86319" y="5143500"/>
            <a:ext cx="5186840" cy="3675517"/>
            <a:chOff x="0" y="0"/>
            <a:chExt cx="1366081" cy="96803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6081" cy="968038"/>
            </a:xfrm>
            <a:custGeom>
              <a:avLst/>
              <a:gdLst/>
              <a:ahLst/>
              <a:cxnLst/>
              <a:rect l="l" t="t" r="r" b="b"/>
              <a:pathLst>
                <a:path w="1366081" h="968038">
                  <a:moveTo>
                    <a:pt x="76123" y="0"/>
                  </a:moveTo>
                  <a:lnTo>
                    <a:pt x="1289958" y="0"/>
                  </a:lnTo>
                  <a:cubicBezTo>
                    <a:pt x="1310147" y="0"/>
                    <a:pt x="1329510" y="8020"/>
                    <a:pt x="1343785" y="22296"/>
                  </a:cubicBezTo>
                  <a:cubicBezTo>
                    <a:pt x="1358061" y="36572"/>
                    <a:pt x="1366081" y="55934"/>
                    <a:pt x="1366081" y="76123"/>
                  </a:cubicBezTo>
                  <a:lnTo>
                    <a:pt x="1366081" y="891915"/>
                  </a:lnTo>
                  <a:cubicBezTo>
                    <a:pt x="1366081" y="933956"/>
                    <a:pt x="1332000" y="968038"/>
                    <a:pt x="1289958" y="968038"/>
                  </a:cubicBezTo>
                  <a:lnTo>
                    <a:pt x="76123" y="968038"/>
                  </a:lnTo>
                  <a:cubicBezTo>
                    <a:pt x="34081" y="968038"/>
                    <a:pt x="0" y="933956"/>
                    <a:pt x="0" y="891915"/>
                  </a:cubicBezTo>
                  <a:lnTo>
                    <a:pt x="0" y="76123"/>
                  </a:lnTo>
                  <a:cubicBezTo>
                    <a:pt x="0" y="34081"/>
                    <a:pt x="34081" y="0"/>
                    <a:pt x="76123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366081" cy="1015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319135" y="2569276"/>
            <a:ext cx="3615838" cy="2259899"/>
          </a:xfrm>
          <a:custGeom>
            <a:avLst/>
            <a:gdLst/>
            <a:ahLst/>
            <a:cxnLst/>
            <a:rect l="l" t="t" r="r" b="b"/>
            <a:pathLst>
              <a:path w="3615838" h="2259899">
                <a:moveTo>
                  <a:pt x="0" y="0"/>
                </a:moveTo>
                <a:lnTo>
                  <a:pt x="3615839" y="0"/>
                </a:lnTo>
                <a:lnTo>
                  <a:pt x="3615839" y="2259899"/>
                </a:lnTo>
                <a:lnTo>
                  <a:pt x="0" y="2259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6" name="Freeform 26"/>
          <p:cNvSpPr/>
          <p:nvPr/>
        </p:nvSpPr>
        <p:spPr>
          <a:xfrm>
            <a:off x="12659937" y="2616778"/>
            <a:ext cx="3848703" cy="2164896"/>
          </a:xfrm>
          <a:custGeom>
            <a:avLst/>
            <a:gdLst/>
            <a:ahLst/>
            <a:cxnLst/>
            <a:rect l="l" t="t" r="r" b="b"/>
            <a:pathLst>
              <a:path w="3848703" h="2164896">
                <a:moveTo>
                  <a:pt x="0" y="0"/>
                </a:moveTo>
                <a:lnTo>
                  <a:pt x="3848703" y="0"/>
                </a:lnTo>
                <a:lnTo>
                  <a:pt x="3848703" y="2164895"/>
                </a:lnTo>
                <a:lnTo>
                  <a:pt x="0" y="21648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7" name="Freeform 27"/>
          <p:cNvSpPr/>
          <p:nvPr/>
        </p:nvSpPr>
        <p:spPr>
          <a:xfrm>
            <a:off x="3975366" y="6232286"/>
            <a:ext cx="3799262" cy="2027856"/>
          </a:xfrm>
          <a:custGeom>
            <a:avLst/>
            <a:gdLst/>
            <a:ahLst/>
            <a:cxnLst/>
            <a:rect l="l" t="t" r="r" b="b"/>
            <a:pathLst>
              <a:path w="3799262" h="2027856">
                <a:moveTo>
                  <a:pt x="0" y="0"/>
                </a:moveTo>
                <a:lnTo>
                  <a:pt x="3799262" y="0"/>
                </a:lnTo>
                <a:lnTo>
                  <a:pt x="3799262" y="2027856"/>
                </a:lnTo>
                <a:lnTo>
                  <a:pt x="0" y="20278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8" name="Freeform 28"/>
          <p:cNvSpPr/>
          <p:nvPr/>
        </p:nvSpPr>
        <p:spPr>
          <a:xfrm>
            <a:off x="10341517" y="6115621"/>
            <a:ext cx="3076443" cy="2261186"/>
          </a:xfrm>
          <a:custGeom>
            <a:avLst/>
            <a:gdLst/>
            <a:ahLst/>
            <a:cxnLst/>
            <a:rect l="l" t="t" r="r" b="b"/>
            <a:pathLst>
              <a:path w="3076443" h="2261186">
                <a:moveTo>
                  <a:pt x="0" y="0"/>
                </a:moveTo>
                <a:lnTo>
                  <a:pt x="3076444" y="0"/>
                </a:lnTo>
                <a:lnTo>
                  <a:pt x="3076444" y="2261186"/>
                </a:lnTo>
                <a:lnTo>
                  <a:pt x="0" y="22611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29" name="TextBox 29"/>
          <p:cNvSpPr txBox="1"/>
          <p:nvPr/>
        </p:nvSpPr>
        <p:spPr>
          <a:xfrm>
            <a:off x="2554434" y="471487"/>
            <a:ext cx="13179131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Herramientas Cómunes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4007" y="1302966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THREE.JS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71950" y="5107006"/>
            <a:ext cx="4006094" cy="83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3600" b="1" spc="288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UNREAL ENGINE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76692" y="5046078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BLENDER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581242" y="1302966"/>
            <a:ext cx="4006094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  <a:spcBef>
                <a:spcPct val="0"/>
              </a:spcBef>
            </a:pPr>
            <a:r>
              <a:rPr lang="en-US" sz="4500" b="1" spc="35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UNITY 3D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07390" y="1076325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7167" y="3781426"/>
            <a:ext cx="14233665" cy="265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b="1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2D: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en 2D se enfoca en planos básicos (X, Y), ideal para lógica y movimiento simple. </a:t>
            </a:r>
          </a:p>
          <a:p>
            <a:pPr algn="just">
              <a:lnSpc>
                <a:spcPts val="4200"/>
              </a:lnSpc>
            </a:pPr>
            <a:endParaRPr lang="en-US" sz="3000" spc="240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b="1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en 3D: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La 3D añade una dimensión más (Z), permitiendo una visualización más realista y compleja.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1" y="2626412"/>
            <a:ext cx="13503315" cy="201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Creatividad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técnica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,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Precisión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espacial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27167" y="5158098"/>
            <a:ext cx="14233665" cy="198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6" lvl="1" algn="just">
              <a:lnSpc>
                <a:spcPts val="3920"/>
              </a:lnSpc>
            </a:pPr>
            <a:r>
              <a:rPr lang="es-GT" sz="2800" b="1" dirty="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Creatividad técnica: Capacidad de proponer soluciones innovadoras aplicando conocimientos científicos y tecnológicos.</a:t>
            </a:r>
          </a:p>
          <a:p>
            <a:pPr marL="302266" lvl="1" algn="just">
              <a:lnSpc>
                <a:spcPts val="3920"/>
              </a:lnSpc>
            </a:pPr>
            <a:r>
              <a:rPr lang="es-GT" sz="2800" b="1" dirty="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Precisión espacial: Habilidad para interpretar y representar con exactitud las relaciones entre objetos en el espacio.</a:t>
            </a:r>
            <a:endParaRPr lang="en-US" sz="2800" dirty="0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2" y="2045235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  <a:endParaRPr lang="en-US" sz="6900" b="1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42214" y="4667217"/>
            <a:ext cx="14233665" cy="98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dirty="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sz="2800" b="1" u="none" strike="noStrike" dirty="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ussell, S., &amp; Norvig, P. (2016). Artificial Intelligence: A Modern Approach (3rd ed.). Pearson.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0FE6-5964-6467-3F0D-E860302A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1C3EB7-7545-7B53-9ED2-BA6C12AC69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E6AF352-ED74-D4A3-36B4-B00097FF3EFE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DEAF38-ACF1-7688-A02E-B83B24AF38A2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2B6DF4-2775-EA3D-24C2-BB6BF606EB5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501998-E222-CF2A-292C-6666036A92EE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3030D5-AEA2-2AE7-F6FC-6C7011074038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13C68DA-C421-399C-F96A-33596265F07C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9370B1D-E304-FDDD-7028-E924A948A3D9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016D11E-677F-0F3C-BA36-09445C65A198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656B8CC-D50C-C740-18D1-99730EBF74FC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1AF368A-C3B3-2D35-F9EB-4520E1A1BE4F}"/>
              </a:ext>
            </a:extLst>
          </p:cNvPr>
          <p:cNvSpPr txBox="1"/>
          <p:nvPr/>
        </p:nvSpPr>
        <p:spPr>
          <a:xfrm>
            <a:off x="2392342" y="4305300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Práctico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289369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A1A0-44EB-06DB-837E-B8043BE8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0735B0-190A-DD7A-A31B-2CCCCDB8090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3E790B-A56B-6020-79A8-354663DDF3A8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97B7E8-D430-824A-22DA-B78942180B30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B1D353-FA0A-D7DB-85C3-A3B05935CD1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B7214D9-C315-C52F-2C43-06675B0FC9C7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41E6081-EA2D-543D-42C4-489453F67616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4C0188C-9E71-E11A-3920-AAE3E6FAA0E7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BDA54D4-C845-A74E-70FA-1FEE9D3CA64A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B9E3E6-31E2-1445-71D8-BC7EACB8D78D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E1AF629-A29E-584A-38A9-831CB380D88A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CE0D3EC-51B2-29A7-929D-335CC9FFF8D7}"/>
              </a:ext>
            </a:extLst>
          </p:cNvPr>
          <p:cNvSpPr txBox="1"/>
          <p:nvPr/>
        </p:nvSpPr>
        <p:spPr>
          <a:xfrm>
            <a:off x="2392342" y="4148709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  <a:r>
              <a:rPr lang="en-US" sz="6900" b="1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Práctica</a:t>
            </a:r>
            <a:endParaRPr lang="en-US" sz="6900" b="1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67636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446254"/>
            <a:ext cx="8658828" cy="243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  <a:endParaRPr lang="en-US" sz="6099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b="1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476</Words>
  <Application>Microsoft Office PowerPoint</Application>
  <PresentationFormat>Personalizado</PresentationFormat>
  <Paragraphs>76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HK Grotesk</vt:lpstr>
      <vt:lpstr>HK Grotesk Medium</vt:lpstr>
      <vt:lpstr>Calibri</vt:lpstr>
      <vt:lpstr>Arial</vt:lpstr>
      <vt:lpstr>Aptos</vt:lpstr>
      <vt:lpstr>Arial Bold</vt:lpstr>
      <vt:lpstr>Arimo</vt:lpstr>
      <vt:lpstr>HK Grotesk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</dc:title>
  <cp:lastModifiedBy>Robin Buezo</cp:lastModifiedBy>
  <cp:revision>1</cp:revision>
  <dcterms:created xsi:type="dcterms:W3CDTF">2006-08-16T00:00:00Z</dcterms:created>
  <dcterms:modified xsi:type="dcterms:W3CDTF">2025-11-01T04:46:06Z</dcterms:modified>
  <dc:identifier>DAGn8rKivNM</dc:identifier>
</cp:coreProperties>
</file>