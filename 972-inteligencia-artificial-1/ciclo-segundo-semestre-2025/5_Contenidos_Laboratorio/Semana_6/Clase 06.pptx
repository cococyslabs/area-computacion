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10287000" cx="18288000"/>
  <p:notesSz cx="6858000" cy="9144000"/>
  <p:embeddedFontLst>
    <p:embeddedFont>
      <p:font typeface="Arim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CR0EJ7ZckUgRt3+wLJrVa7xCN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8326CF-0FFD-492D-90D0-DA18B6AB4AE2}">
  <a:tblStyle styleId="{628326CF-0FFD-492D-90D0-DA18B6AB4AE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Arimo-bold.fntdata"/><Relationship Id="rId27" Type="http://schemas.openxmlformats.org/officeDocument/2006/relationships/font" Target="fonts/Arim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m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Arim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3" name="Google Shape;73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16902" y="0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57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" name="Google Shape;93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{628326CF-0FFD-492D-90D0-DA18B6AB4AE2}</a:tableStyleId>
              </a:tblPr>
              <a:tblGrid>
                <a:gridCol w="3030175"/>
                <a:gridCol w="4335825"/>
              </a:tblGrid>
              <a:tr h="77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4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Viernes, XX-XX-XXXX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4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p1"/>
          <p:cNvSpPr txBox="1"/>
          <p:nvPr/>
        </p:nvSpPr>
        <p:spPr>
          <a:xfrm>
            <a:off x="3864138" y="4529138"/>
            <a:ext cx="9513297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Inteligencia Artificial 1 [A]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5117834" y="5845971"/>
            <a:ext cx="7005905" cy="723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Tutor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03" r="-220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028700" y="952267"/>
            <a:ext cx="16230600" cy="8382465"/>
            <a:chOff x="0" y="0"/>
            <a:chExt cx="6045684" cy="3122357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6045684" cy="3122357"/>
            </a:xfrm>
            <a:custGeom>
              <a:rect b="b" l="l" r="r" t="t"/>
              <a:pathLst>
                <a:path extrusionOk="0" h="3122357" w="6045684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66675">
              <a:solidFill>
                <a:srgbClr val="9753A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8875" lIns="48875" spcFirstLastPara="1" rIns="48875" wrap="square" tIns="48875">
              <a:noAutofit/>
            </a:bodyPr>
            <a:lstStyle/>
            <a:p>
              <a:pPr indent="0" lvl="0" marL="0" marR="0" rtl="0" algn="ctr">
                <a:lnSpc>
                  <a:spcPct val="10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12374539" y="8812325"/>
            <a:ext cx="4284389" cy="1748082"/>
            <a:chOff x="0" y="-47625"/>
            <a:chExt cx="1128399" cy="460400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1128399" cy="412775"/>
            </a:xfrm>
            <a:custGeom>
              <a:rect b="b" l="l" r="r" t="t"/>
              <a:pathLst>
                <a:path extrusionOk="0" h="412775" w="1128399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 rot="5400000">
            <a:off x="14103077" y="3146822"/>
            <a:ext cx="6983416" cy="1748082"/>
            <a:chOff x="0" y="-47625"/>
            <a:chExt cx="1839254" cy="460400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839254" cy="412775"/>
            </a:xfrm>
            <a:custGeom>
              <a:rect b="b" l="l" r="r" t="t"/>
              <a:pathLst>
                <a:path extrusionOk="0" h="412775" w="1839254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 rot="-5400000">
            <a:off x="10540746" y="-52264"/>
            <a:ext cx="11547949" cy="9406329"/>
          </a:xfrm>
          <a:custGeom>
            <a:rect b="b" l="l" r="r" t="t"/>
            <a:pathLst>
              <a:path extrusionOk="0" h="9406329" w="1154794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2118001" y="6620396"/>
            <a:ext cx="9224082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99">
              <a:solidFill>
                <a:srgbClr val="050A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118001" y="3415707"/>
            <a:ext cx="11119114" cy="1210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Clase 6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2184676" y="2365657"/>
            <a:ext cx="11052439" cy="83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INTELIGENCIA ARTIFICIAL 1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2118001" y="8574365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cxnSp>
        <p:nvCxnSpPr>
          <p:cNvPr id="115" name="Google Shape;115;p2"/>
          <p:cNvCxnSpPr/>
          <p:nvPr/>
        </p:nvCxnSpPr>
        <p:spPr>
          <a:xfrm flipH="1" rot="10800000">
            <a:off x="13553005" y="935761"/>
            <a:ext cx="5036482" cy="5036482"/>
          </a:xfrm>
          <a:prstGeom prst="straightConnector1">
            <a:avLst/>
          </a:prstGeom>
          <a:noFill/>
          <a:ln cap="flat" cmpd="sng" w="114300">
            <a:solidFill>
              <a:srgbClr val="050A3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2"/>
          <p:cNvCxnSpPr/>
          <p:nvPr/>
        </p:nvCxnSpPr>
        <p:spPr>
          <a:xfrm flipH="1" rot="10800000">
            <a:off x="14602740" y="4540846"/>
            <a:ext cx="1216428" cy="1216428"/>
          </a:xfrm>
          <a:prstGeom prst="straightConnector1">
            <a:avLst/>
          </a:prstGeom>
          <a:noFill/>
          <a:ln cap="flat" cmpd="sng" w="114300">
            <a:solidFill>
              <a:srgbClr val="050A3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2"/>
          <p:cNvCxnSpPr/>
          <p:nvPr/>
        </p:nvCxnSpPr>
        <p:spPr>
          <a:xfrm flipH="1" rot="10800000">
            <a:off x="12944791" y="7512571"/>
            <a:ext cx="2942644" cy="2942644"/>
          </a:xfrm>
          <a:prstGeom prst="straightConnector1">
            <a:avLst/>
          </a:prstGeom>
          <a:noFill/>
          <a:ln cap="flat" cmpd="sng" w="114300">
            <a:solidFill>
              <a:srgbClr val="050A3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"/>
          <p:cNvCxnSpPr/>
          <p:nvPr/>
        </p:nvCxnSpPr>
        <p:spPr>
          <a:xfrm flipH="1" rot="10800000">
            <a:off x="11473469" y="9776779"/>
            <a:ext cx="2942644" cy="2942644"/>
          </a:xfrm>
          <a:prstGeom prst="straightConnector1">
            <a:avLst/>
          </a:prstGeom>
          <a:noFill/>
          <a:ln cap="flat" cmpd="sng" w="114300">
            <a:solidFill>
              <a:srgbClr val="050A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2"/>
          <p:cNvSpPr txBox="1"/>
          <p:nvPr/>
        </p:nvSpPr>
        <p:spPr>
          <a:xfrm>
            <a:off x="2118001" y="4721267"/>
            <a:ext cx="7842829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Realidad Aumentada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" name="Google Shape;125;p3"/>
          <p:cNvGrpSpPr/>
          <p:nvPr/>
        </p:nvGrpSpPr>
        <p:grpSpPr>
          <a:xfrm>
            <a:off x="1362575" y="1028700"/>
            <a:ext cx="15562849" cy="8179961"/>
            <a:chOff x="0" y="0"/>
            <a:chExt cx="5796956" cy="3046927"/>
          </a:xfrm>
        </p:grpSpPr>
        <p:sp>
          <p:nvSpPr>
            <p:cNvPr id="126" name="Google Shape;126;p3"/>
            <p:cNvSpPr/>
            <p:nvPr/>
          </p:nvSpPr>
          <p:spPr>
            <a:xfrm>
              <a:off x="0" y="0"/>
              <a:ext cx="5796955" cy="3046927"/>
            </a:xfrm>
            <a:custGeom>
              <a:rect b="b" l="l" r="r" t="t"/>
              <a:pathLst>
                <a:path extrusionOk="0"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66675">
              <a:solidFill>
                <a:srgbClr val="570F6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3"/>
            <p:cNvSpPr txBox="1"/>
            <p:nvPr/>
          </p:nvSpPr>
          <p:spPr>
            <a:xfrm>
              <a:off x="0" y="0"/>
              <a:ext cx="5796956" cy="3046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8875" lIns="48875" spcFirstLastPara="1" rIns="48875" wrap="square" tIns="48875">
              <a:noAutofit/>
            </a:bodyPr>
            <a:lstStyle/>
            <a:p>
              <a:pPr indent="0" lvl="0" marL="0" marR="0" rtl="0" algn="ctr">
                <a:lnSpc>
                  <a:spcPct val="100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3"/>
          <p:cNvGrpSpPr/>
          <p:nvPr/>
        </p:nvGrpSpPr>
        <p:grpSpPr>
          <a:xfrm rot="2700000">
            <a:off x="121003" y="7895899"/>
            <a:ext cx="3393988" cy="1748082"/>
            <a:chOff x="0" y="-47625"/>
            <a:chExt cx="893890" cy="460400"/>
          </a:xfrm>
        </p:grpSpPr>
        <p:sp>
          <p:nvSpPr>
            <p:cNvPr id="129" name="Google Shape;129;p3"/>
            <p:cNvSpPr/>
            <p:nvPr/>
          </p:nvSpPr>
          <p:spPr>
            <a:xfrm>
              <a:off x="0" y="0"/>
              <a:ext cx="893890" cy="412775"/>
            </a:xfrm>
            <a:custGeom>
              <a:rect b="b" l="l" r="r" t="t"/>
              <a:pathLst>
                <a:path extrusionOk="0"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3"/>
            <p:cNvSpPr txBox="1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3"/>
          <p:cNvGrpSpPr/>
          <p:nvPr/>
        </p:nvGrpSpPr>
        <p:grpSpPr>
          <a:xfrm rot="2700000">
            <a:off x="14900874" y="396084"/>
            <a:ext cx="3393988" cy="1748082"/>
            <a:chOff x="0" y="-47625"/>
            <a:chExt cx="893890" cy="460400"/>
          </a:xfrm>
        </p:grpSpPr>
        <p:sp>
          <p:nvSpPr>
            <p:cNvPr id="132" name="Google Shape;132;p3"/>
            <p:cNvSpPr/>
            <p:nvPr/>
          </p:nvSpPr>
          <p:spPr>
            <a:xfrm>
              <a:off x="0" y="0"/>
              <a:ext cx="893890" cy="412775"/>
            </a:xfrm>
            <a:custGeom>
              <a:rect b="b" l="l" r="r" t="t"/>
              <a:pathLst>
                <a:path extrusionOk="0"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 txBox="1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3"/>
          <p:cNvSpPr/>
          <p:nvPr/>
        </p:nvSpPr>
        <p:spPr>
          <a:xfrm>
            <a:off x="-515035" y="5489862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 rot="10800000">
            <a:off x="13871465" y="-189523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10299395" y="3078596"/>
            <a:ext cx="6464263" cy="160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UEDI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1889083" y="1511090"/>
            <a:ext cx="4271494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12006974" y="8506847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2034003" y="3078596"/>
            <a:ext cx="6464263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Recordatorios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Temas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Plataformas de Desarrollo de Realidad Aumentada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11208934" y="1511090"/>
            <a:ext cx="4271494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Recursos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4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147" name="Google Shape;147;p4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4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4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150" name="Google Shape;150;p4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4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4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153" name="Google Shape;153;p4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7AC3F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4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4"/>
          <p:cNvSpPr txBox="1"/>
          <p:nvPr/>
        </p:nvSpPr>
        <p:spPr>
          <a:xfrm>
            <a:off x="1374889" y="1409214"/>
            <a:ext cx="13991174" cy="88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8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2557547" y="3698875"/>
            <a:ext cx="12569573" cy="356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Crea aplicaciones de realidad aumentada con contenido digital interactivo mediante el uso de bibliotecas y técnicas de diseño de experiencias para integrar información virtual en el mundo real de forma efectiva y funcional.</a:t>
            </a:r>
            <a:endParaRPr b="1" sz="4000">
              <a:solidFill>
                <a:srgbClr val="050A3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" name="Google Shape;162;p5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163" name="Google Shape;163;p5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5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166" name="Google Shape;166;p5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5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5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169" name="Google Shape;169;p5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5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5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10200914" y="1195318"/>
            <a:ext cx="5292356" cy="3526032"/>
          </a:xfrm>
          <a:custGeom>
            <a:rect b="b" l="l" r="r" t="t"/>
            <a:pathLst>
              <a:path extrusionOk="0" h="3526032" w="5292356">
                <a:moveTo>
                  <a:pt x="0" y="0"/>
                </a:moveTo>
                <a:lnTo>
                  <a:pt x="5292356" y="0"/>
                </a:lnTo>
                <a:lnTo>
                  <a:pt x="5292356" y="3526032"/>
                </a:lnTo>
                <a:lnTo>
                  <a:pt x="0" y="3526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1477486" y="1029522"/>
            <a:ext cx="9440751" cy="3857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65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Plataformas de Realidad Aumentada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1477486" y="5041455"/>
            <a:ext cx="15333028" cy="3133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La realidad aumentada (RA) es una tecnología que permite superponer elementos digitales (como imágenes, videos o sonidos) en el mundo real, utilizando dispositivos como smartphones, tablets, gafas o cascos especializados. Existen varias plataformas que nos permiten el desarrollo de RA y a través de las cuales, los usuarios pueden interactuar con un entorno físico mientras reciben información digital adicional, creando una experiencia combinada y enriquecida.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1028700" y="8699056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1" name="Google Shape;181;p6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182" name="Google Shape;182;p6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6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6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185" name="Google Shape;185;p6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6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6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188" name="Google Shape;188;p6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6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6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3738729" y="1461839"/>
            <a:ext cx="4475708" cy="2237854"/>
          </a:xfrm>
          <a:custGeom>
            <a:rect b="b" l="l" r="r" t="t"/>
            <a:pathLst>
              <a:path extrusionOk="0" h="2237854" w="4475708">
                <a:moveTo>
                  <a:pt x="0" y="0"/>
                </a:moveTo>
                <a:lnTo>
                  <a:pt x="4475708" y="0"/>
                </a:lnTo>
                <a:lnTo>
                  <a:pt x="4475708" y="2237855"/>
                </a:lnTo>
                <a:lnTo>
                  <a:pt x="0" y="2237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8068476" y="1814680"/>
            <a:ext cx="5797963" cy="152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28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ARKit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1477486" y="4703124"/>
            <a:ext cx="15333028" cy="319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ARKit es el kit de desarrollo de Apple para crear aplicaciones de RA. Utiliza el hardware de los dispositivos Apple, como la cámara y los sensores, para detectar el entorno y colocar objetos virtuales en él. Ofrece características avanzadas como la detección de superficies, seguimiento de movimiento y oclusión (es decir, la capacidad de ocultar objetos virtuales detrás de elementos reales).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1028700" y="8699056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0" name="Google Shape;200;p7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201" name="Google Shape;201;p7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7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7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204" name="Google Shape;204;p7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7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7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207" name="Google Shape;207;p7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7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7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10024785" y="1715875"/>
            <a:ext cx="4568412" cy="2517288"/>
          </a:xfrm>
          <a:custGeom>
            <a:rect b="b" l="l" r="r" t="t"/>
            <a:pathLst>
              <a:path extrusionOk="0" h="2517288" w="4568412">
                <a:moveTo>
                  <a:pt x="0" y="0"/>
                </a:moveTo>
                <a:lnTo>
                  <a:pt x="4568412" y="0"/>
                </a:lnTo>
                <a:lnTo>
                  <a:pt x="4568412" y="2517288"/>
                </a:lnTo>
                <a:lnTo>
                  <a:pt x="0" y="25172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2757963" y="2082468"/>
            <a:ext cx="5933600" cy="1784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706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ARCore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13114928" y="8931275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1691050" y="4820475"/>
            <a:ext cx="14905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ARCore es el equivalente de ARKit para dispositivos Android. Permite a los desarrolladores integrar características de realidad aumentada en sus aplicaciones Android, como el rastreo de movimiento, la estimación de luz ambiental y la detección de planos horizontales y verticales.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" name="Google Shape;219;p8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220" name="Google Shape;220;p8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8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8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223" name="Google Shape;223;p8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8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226" name="Google Shape;226;p8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8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8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2839591" y="1495822"/>
            <a:ext cx="5459039" cy="2169890"/>
          </a:xfrm>
          <a:custGeom>
            <a:rect b="b" l="l" r="r" t="t"/>
            <a:pathLst>
              <a:path extrusionOk="0" h="2169890" w="5459039">
                <a:moveTo>
                  <a:pt x="0" y="0"/>
                </a:moveTo>
                <a:lnTo>
                  <a:pt x="5459039" y="0"/>
                </a:lnTo>
                <a:lnTo>
                  <a:pt x="5459039" y="2169889"/>
                </a:lnTo>
                <a:lnTo>
                  <a:pt x="0" y="21698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5237" l="0" r="0" t="-3897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8068476" y="1814680"/>
            <a:ext cx="5797963" cy="152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28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Vuforia</a:t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1477486" y="4599161"/>
            <a:ext cx="15333028" cy="212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Vuforia es una de las plataformas más populares para el desarrollo de RA. Permite a los desarrolladores crear experiencias interactivas mediante el reconocimiento de imágenes y objetos. Es compatible con Unity, lo que facilita la integración de experiencias de RA en videojuegos y aplicaciones.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1028700" y="8699056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" name="Google Shape;238;p9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239" name="Google Shape;239;p9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9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9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242" name="Google Shape;242;p9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9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9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245" name="Google Shape;245;p9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9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9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9854048" y="1838371"/>
            <a:ext cx="4165877" cy="2272297"/>
          </a:xfrm>
          <a:custGeom>
            <a:rect b="b" l="l" r="r" t="t"/>
            <a:pathLst>
              <a:path extrusionOk="0" h="2272297" w="4165877">
                <a:moveTo>
                  <a:pt x="0" y="0"/>
                </a:moveTo>
                <a:lnTo>
                  <a:pt x="4165877" y="0"/>
                </a:lnTo>
                <a:lnTo>
                  <a:pt x="4165877" y="2272296"/>
                </a:lnTo>
                <a:lnTo>
                  <a:pt x="0" y="2272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2656916" y="1949334"/>
            <a:ext cx="6487084" cy="2050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26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Microsoft HoloLens</a:t>
            </a:r>
            <a:endParaRPr/>
          </a:p>
        </p:txBody>
      </p:sp>
      <p:sp>
        <p:nvSpPr>
          <p:cNvPr id="250" name="Google Shape;250;p9"/>
          <p:cNvSpPr txBox="1"/>
          <p:nvPr/>
        </p:nvSpPr>
        <p:spPr>
          <a:xfrm>
            <a:off x="13114928" y="8931275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sp>
        <p:nvSpPr>
          <p:cNvPr id="251" name="Google Shape;251;p9"/>
          <p:cNvSpPr txBox="1"/>
          <p:nvPr/>
        </p:nvSpPr>
        <p:spPr>
          <a:xfrm>
            <a:off x="1691038" y="4820472"/>
            <a:ext cx="14905924" cy="319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HoloLens es un dispositivo de realidad mixta de Microsoft que combina RA y realidad virtual. A través de gafas especiales, los usuarios pueden interactuar con objetos virtuales en su entorno físico. Esta plataforma está orientada principalmente a empresas y aplicaciones industriales, ofreciendo soluciones para la visualización de datos, el diseño y la colaboración remota.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7" name="Google Shape;257;p10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258" name="Google Shape;258;p10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0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10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261" name="Google Shape;261;p10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0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10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264" name="Google Shape;264;p10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0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" name="Google Shape;266;p10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4541640" y="1204102"/>
            <a:ext cx="2244562" cy="2753329"/>
          </a:xfrm>
          <a:custGeom>
            <a:rect b="b" l="l" r="r" t="t"/>
            <a:pathLst>
              <a:path extrusionOk="0" h="2753329" w="2244562">
                <a:moveTo>
                  <a:pt x="0" y="0"/>
                </a:moveTo>
                <a:lnTo>
                  <a:pt x="2244561" y="0"/>
                </a:lnTo>
                <a:lnTo>
                  <a:pt x="2244561" y="2753329"/>
                </a:lnTo>
                <a:lnTo>
                  <a:pt x="0" y="27533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 txBox="1"/>
          <p:nvPr/>
        </p:nvSpPr>
        <p:spPr>
          <a:xfrm>
            <a:off x="7176719" y="1812431"/>
            <a:ext cx="5797963" cy="152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28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Spark AR</a:t>
            </a:r>
            <a:endParaRPr/>
          </a:p>
        </p:txBody>
      </p:sp>
      <p:sp>
        <p:nvSpPr>
          <p:cNvPr id="269" name="Google Shape;269;p10"/>
          <p:cNvSpPr txBox="1"/>
          <p:nvPr/>
        </p:nvSpPr>
        <p:spPr>
          <a:xfrm>
            <a:off x="1477486" y="4402580"/>
            <a:ext cx="15333028" cy="319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Spark AR es una plataforma de Facebook que permite crear filtros y efectos de RA para Instagram y Facebook. A través de herramientas de diseño fáciles de usar, los usuarios pueden desarrollar efectos personalizados que interactúan con la cámara del dispositivo. Esta plataforma es muy popular para creadores de contenido y marcas que desean integrar efectos visuales en las redes sociales.</a:t>
            </a:r>
            <a:endParaRPr/>
          </a:p>
        </p:txBody>
      </p:sp>
      <p:sp>
        <p:nvSpPr>
          <p:cNvPr id="270" name="Google Shape;270;p10"/>
          <p:cNvSpPr txBox="1"/>
          <p:nvPr/>
        </p:nvSpPr>
        <p:spPr>
          <a:xfrm>
            <a:off x="1028700" y="8699056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11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277" name="Google Shape;277;p11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1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11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280" name="Google Shape;280;p11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1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11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283" name="Google Shape;283;p11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p11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10040202" y="1432759"/>
            <a:ext cx="3083520" cy="3083520"/>
          </a:xfrm>
          <a:custGeom>
            <a:rect b="b" l="l" r="r" t="t"/>
            <a:pathLst>
              <a:path extrusionOk="0" h="3083520" w="3083520">
                <a:moveTo>
                  <a:pt x="0" y="0"/>
                </a:moveTo>
                <a:lnTo>
                  <a:pt x="3083520" y="0"/>
                </a:lnTo>
                <a:lnTo>
                  <a:pt x="3083520" y="3083520"/>
                </a:lnTo>
                <a:lnTo>
                  <a:pt x="0" y="3083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 txBox="1"/>
          <p:nvPr/>
        </p:nvSpPr>
        <p:spPr>
          <a:xfrm>
            <a:off x="3309640" y="2410015"/>
            <a:ext cx="6142882" cy="1346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74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Lens Studio</a:t>
            </a:r>
            <a:endParaRPr/>
          </a:p>
        </p:txBody>
      </p:sp>
      <p:sp>
        <p:nvSpPr>
          <p:cNvPr id="288" name="Google Shape;288;p11"/>
          <p:cNvSpPr txBox="1"/>
          <p:nvPr/>
        </p:nvSpPr>
        <p:spPr>
          <a:xfrm>
            <a:off x="13114928" y="8931275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sp>
        <p:nvSpPr>
          <p:cNvPr id="289" name="Google Shape;289;p11"/>
          <p:cNvSpPr txBox="1"/>
          <p:nvPr/>
        </p:nvSpPr>
        <p:spPr>
          <a:xfrm>
            <a:off x="1691038" y="5076825"/>
            <a:ext cx="14905924" cy="265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Lens Studio es la herramienta de creación de efectos de RA para Snapchat. Los desarrolladores pueden crear "lentes" (filtros) que interactúan con el rostro o el entorno del usuario. Es una plataforma popular para contenido divertido y creativo, permitiendo a los usuarios agregar efectos a sus fotos y videos.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" name="Google Shape;295;p12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296" name="Google Shape;296;p12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2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p12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299" name="Google Shape;299;p12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2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p12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302" name="Google Shape;302;p12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2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p12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4352051" y="1166184"/>
            <a:ext cx="2824668" cy="2824668"/>
          </a:xfrm>
          <a:custGeom>
            <a:rect b="b" l="l" r="r" t="t"/>
            <a:pathLst>
              <a:path extrusionOk="0" h="2824668" w="2824668">
                <a:moveTo>
                  <a:pt x="0" y="0"/>
                </a:moveTo>
                <a:lnTo>
                  <a:pt x="2824668" y="0"/>
                </a:lnTo>
                <a:lnTo>
                  <a:pt x="2824668" y="2824668"/>
                </a:lnTo>
                <a:lnTo>
                  <a:pt x="0" y="2824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7176719" y="1754284"/>
            <a:ext cx="6316572" cy="1648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16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Zappar</a:t>
            </a:r>
            <a:endParaRPr/>
          </a:p>
        </p:txBody>
      </p:sp>
      <p:sp>
        <p:nvSpPr>
          <p:cNvPr id="307" name="Google Shape;307;p12"/>
          <p:cNvSpPr txBox="1"/>
          <p:nvPr/>
        </p:nvSpPr>
        <p:spPr>
          <a:xfrm>
            <a:off x="1477486" y="4935980"/>
            <a:ext cx="15333028" cy="212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Zappar es una plataforma que permite crear experiencias de RA tanto para marketing como para entretenimiento. Ofrece herramientas para crear contenido interactivo a través de códigos QR y marcas visuales, lo que permite a los usuarios escanear objetos o imágenes para revelar experiencias digitales.</a:t>
            </a:r>
            <a:endParaRPr/>
          </a:p>
        </p:txBody>
      </p:sp>
      <p:sp>
        <p:nvSpPr>
          <p:cNvPr id="308" name="Google Shape;308;p12"/>
          <p:cNvSpPr txBox="1"/>
          <p:nvPr/>
        </p:nvSpPr>
        <p:spPr>
          <a:xfrm>
            <a:off x="1028700" y="8699056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4" name="Google Shape;314;p13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315" name="Google Shape;315;p13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3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7" name="Google Shape;317;p13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318" name="Google Shape;318;p13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3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" name="Google Shape;320;p13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321" name="Google Shape;321;p13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3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3" name="Google Shape;323;p13"/>
          <p:cNvSpPr/>
          <p:nvPr/>
        </p:nvSpPr>
        <p:spPr>
          <a:xfrm rot="10800000">
            <a:off x="14019925" y="-210928"/>
            <a:ext cx="5098075" cy="5098075"/>
          </a:xfrm>
          <a:custGeom>
            <a:rect b="b" l="l" r="r" t="t"/>
            <a:pathLst>
              <a:path extrusionOk="0"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7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9262966" y="1387545"/>
            <a:ext cx="3715293" cy="3401152"/>
          </a:xfrm>
          <a:custGeom>
            <a:rect b="b" l="l" r="r" t="t"/>
            <a:pathLst>
              <a:path extrusionOk="0" h="3401152" w="3715293">
                <a:moveTo>
                  <a:pt x="0" y="0"/>
                </a:moveTo>
                <a:lnTo>
                  <a:pt x="3715294" y="0"/>
                </a:lnTo>
                <a:lnTo>
                  <a:pt x="3715294" y="3401152"/>
                </a:lnTo>
                <a:lnTo>
                  <a:pt x="0" y="3401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6657" r="-3770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 txBox="1"/>
          <p:nvPr/>
        </p:nvSpPr>
        <p:spPr>
          <a:xfrm>
            <a:off x="3510464" y="2317837"/>
            <a:ext cx="5497715" cy="1540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08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Blippar</a:t>
            </a:r>
            <a:endParaRPr/>
          </a:p>
        </p:txBody>
      </p:sp>
      <p:sp>
        <p:nvSpPr>
          <p:cNvPr id="326" name="Google Shape;326;p13"/>
          <p:cNvSpPr txBox="1"/>
          <p:nvPr/>
        </p:nvSpPr>
        <p:spPr>
          <a:xfrm>
            <a:off x="13114928" y="8931275"/>
            <a:ext cx="4756684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Elaborado por: Robin Omar Buezo Díaz</a:t>
            </a:r>
            <a:endParaRPr/>
          </a:p>
        </p:txBody>
      </p:sp>
      <p:sp>
        <p:nvSpPr>
          <p:cNvPr id="327" name="Google Shape;327;p13"/>
          <p:cNvSpPr txBox="1"/>
          <p:nvPr/>
        </p:nvSpPr>
        <p:spPr>
          <a:xfrm>
            <a:off x="1691038" y="5236524"/>
            <a:ext cx="14905924" cy="212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Blippar es una plataforma de RA que permite crear experiencias interactivas al escanear productos, imágenes o anuncios. Está orientada a la publicidad y el marketing, y permite a las marcas ofrecer experiencias inmersivas a los consumidores.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3" name="Google Shape;333;p14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334" name="Google Shape;334;p14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4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6" name="Google Shape;336;p14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337" name="Google Shape;337;p14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4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9" name="Google Shape;339;p14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340" name="Google Shape;340;p14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4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2" name="Google Shape;342;p14"/>
          <p:cNvSpPr txBox="1"/>
          <p:nvPr/>
        </p:nvSpPr>
        <p:spPr>
          <a:xfrm>
            <a:off x="2392343" y="705467"/>
            <a:ext cx="13503315" cy="994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sp>
        <p:nvSpPr>
          <p:cNvPr id="343" name="Google Shape;343;p14"/>
          <p:cNvSpPr txBox="1"/>
          <p:nvPr/>
        </p:nvSpPr>
        <p:spPr>
          <a:xfrm>
            <a:off x="624374" y="2752441"/>
            <a:ext cx="17039252" cy="5366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6" lvl="1" marL="64771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Realidad Aumentada (RA): </a:t>
            </a:r>
            <a:r>
              <a:rPr b="0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Tecnología que superpone elementos digitales sobre el entorno físico en tiempo real mediante dispositivos como smartphones, tablets, gafas o navegadores web.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50A3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6" lvl="1" marL="64771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Plataformas de desarrollo AR: </a:t>
            </a:r>
            <a:r>
              <a:rPr b="0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Existen múltiples plataformas especializadas en el desarrollo de experiencias RA, adaptadas a distintos sistemas operativos, públicos y objetivos.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50A3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6" lvl="1" marL="64771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50A3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Funcionalidad compartida: </a:t>
            </a:r>
            <a:r>
              <a:rPr b="0" i="0" lang="en-US" sz="3000" u="none" cap="none" strike="noStrike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Las plataformas permiten rastreo espacial, interacción con el usuario, proyección de contenido digital y fusión entre lo virtual y lo real.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15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350" name="Google Shape;350;p15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2" name="Google Shape;352;p15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353" name="Google Shape;353;p15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5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5" name="Google Shape;355;p15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356" name="Google Shape;356;p15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5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8" name="Google Shape;358;p15"/>
          <p:cNvSpPr txBox="1"/>
          <p:nvPr/>
        </p:nvSpPr>
        <p:spPr>
          <a:xfrm>
            <a:off x="2392342" y="3036606"/>
            <a:ext cx="13503315" cy="1015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Diseño creativo, empatía digital</a:t>
            </a:r>
            <a:endParaRPr/>
          </a:p>
        </p:txBody>
      </p:sp>
      <p:sp>
        <p:nvSpPr>
          <p:cNvPr id="359" name="Google Shape;359;p15"/>
          <p:cNvSpPr txBox="1"/>
          <p:nvPr/>
        </p:nvSpPr>
        <p:spPr>
          <a:xfrm>
            <a:off x="1028699" y="4667911"/>
            <a:ext cx="16230600" cy="1931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29147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El diseño creativo consiste en generar soluciones originales y visualmente atractivas, aplicando la imaginación y la innovación para comunicar ideas de manera efectiva.La empatía digital implica comprender y considerar las experiencias, necesidades y emociones de otros al interactuar y diseñar en entornos tecnológicos.</a:t>
            </a:r>
            <a:endParaRPr b="0" i="0" sz="2700" u="none" cap="none" strike="noStrike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5" name="Google Shape;365;p16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366" name="Google Shape;366;p16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6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6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369" name="Google Shape;369;p16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6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" name="Google Shape;371;p16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372" name="Google Shape;372;p16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6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" name="Google Shape;374;p16"/>
          <p:cNvSpPr txBox="1"/>
          <p:nvPr/>
        </p:nvSpPr>
        <p:spPr>
          <a:xfrm>
            <a:off x="2392343" y="1673265"/>
            <a:ext cx="13503315" cy="994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Referencias</a:t>
            </a:r>
            <a:endParaRPr/>
          </a:p>
        </p:txBody>
      </p:sp>
      <p:sp>
        <p:nvSpPr>
          <p:cNvPr id="375" name="Google Shape;375;p16"/>
          <p:cNvSpPr txBox="1"/>
          <p:nvPr/>
        </p:nvSpPr>
        <p:spPr>
          <a:xfrm>
            <a:off x="2027167" y="4268899"/>
            <a:ext cx="14233665" cy="1471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6" lvl="1" marL="604532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Russell, S., &amp; Norvig, P. (2016). Artificial Intelligence: A Modern Approach (3rd ed.). Pearson.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 u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1" name="Google Shape;381;p17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382" name="Google Shape;382;p17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7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17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385" name="Google Shape;385;p17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7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17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388" name="Google Shape;388;p17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7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0" name="Google Shape;390;p17"/>
          <p:cNvSpPr txBox="1"/>
          <p:nvPr/>
        </p:nvSpPr>
        <p:spPr>
          <a:xfrm>
            <a:off x="2392342" y="4305300"/>
            <a:ext cx="13503315" cy="1015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 b="1" sz="6900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243" r="-224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6" name="Google Shape;396;p18"/>
          <p:cNvGrpSpPr/>
          <p:nvPr/>
        </p:nvGrpSpPr>
        <p:grpSpPr>
          <a:xfrm rot="-5400000">
            <a:off x="6095749" y="2420783"/>
            <a:ext cx="6818207" cy="21127995"/>
            <a:chOff x="0" y="-47625"/>
            <a:chExt cx="1795742" cy="5564575"/>
          </a:xfrm>
        </p:grpSpPr>
        <p:sp>
          <p:nvSpPr>
            <p:cNvPr id="397" name="Google Shape;397;p18"/>
            <p:cNvSpPr/>
            <p:nvPr/>
          </p:nvSpPr>
          <p:spPr>
            <a:xfrm>
              <a:off x="0" y="0"/>
              <a:ext cx="1795742" cy="5516950"/>
            </a:xfrm>
            <a:custGeom>
              <a:rect b="b" l="l" r="r" t="t"/>
              <a:pathLst>
                <a:path extrusionOk="0"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8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18"/>
          <p:cNvGrpSpPr/>
          <p:nvPr/>
        </p:nvGrpSpPr>
        <p:grpSpPr>
          <a:xfrm rot="-5400000">
            <a:off x="3906656" y="-11095415"/>
            <a:ext cx="2045233" cy="21127995"/>
            <a:chOff x="0" y="-47625"/>
            <a:chExt cx="538662" cy="5564575"/>
          </a:xfrm>
        </p:grpSpPr>
        <p:sp>
          <p:nvSpPr>
            <p:cNvPr id="400" name="Google Shape;400;p18"/>
            <p:cNvSpPr/>
            <p:nvPr/>
          </p:nvSpPr>
          <p:spPr>
            <a:xfrm>
              <a:off x="0" y="0"/>
              <a:ext cx="538662" cy="5516950"/>
            </a:xfrm>
            <a:custGeom>
              <a:rect b="b" l="l" r="r" t="t"/>
              <a:pathLst>
                <a:path extrusionOk="0"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18"/>
          <p:cNvGrpSpPr/>
          <p:nvPr/>
        </p:nvGrpSpPr>
        <p:grpSpPr>
          <a:xfrm rot="2700000">
            <a:off x="13798263" y="-60632"/>
            <a:ext cx="4685776" cy="1748082"/>
            <a:chOff x="0" y="-47625"/>
            <a:chExt cx="1234114" cy="460400"/>
          </a:xfrm>
        </p:grpSpPr>
        <p:sp>
          <p:nvSpPr>
            <p:cNvPr id="403" name="Google Shape;403;p18"/>
            <p:cNvSpPr/>
            <p:nvPr/>
          </p:nvSpPr>
          <p:spPr>
            <a:xfrm>
              <a:off x="0" y="0"/>
              <a:ext cx="1234114" cy="412775"/>
            </a:xfrm>
            <a:custGeom>
              <a:rect b="b" l="l" r="r" t="t"/>
              <a:pathLst>
                <a:path extrusionOk="0"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8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p18"/>
          <p:cNvSpPr txBox="1"/>
          <p:nvPr/>
        </p:nvSpPr>
        <p:spPr>
          <a:xfrm>
            <a:off x="2392342" y="4148709"/>
            <a:ext cx="13503315" cy="1015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0">
                <a:solidFill>
                  <a:srgbClr val="050A30"/>
                </a:solidFill>
                <a:latin typeface="Arial"/>
                <a:ea typeface="Arial"/>
                <a:cs typeface="Arial"/>
                <a:sym typeface="Arial"/>
              </a:rPr>
              <a:t>Actividad Práctica</a:t>
            </a:r>
            <a:endParaRPr b="1" sz="6900">
              <a:solidFill>
                <a:srgbClr val="050A3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19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" name="Google Shape;411;p19"/>
          <p:cNvGraphicFramePr/>
          <p:nvPr/>
        </p:nvGraphicFramePr>
        <p:xfrm>
          <a:off x="16900" y="150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{628326CF-0FFD-492D-90D0-DA18B6AB4AE2}</a:tableStyleId>
              </a:tblPr>
              <a:tblGrid>
                <a:gridCol w="5533100"/>
                <a:gridCol w="49266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2" name="Google Shape;412;p19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9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4" name="Google Shape;414;p19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{628326CF-0FFD-492D-90D0-DA18B6AB4AE2}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b="1" sz="10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5" name="Google Shape;415;p19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9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A30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0"/>
          <p:cNvSpPr txBox="1"/>
          <p:nvPr/>
        </p:nvSpPr>
        <p:spPr>
          <a:xfrm>
            <a:off x="4437795" y="3446254"/>
            <a:ext cx="8658828" cy="2438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9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99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0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 txBox="1"/>
          <p:nvPr/>
        </p:nvSpPr>
        <p:spPr>
          <a:xfrm>
            <a:off x="2411098" y="7890210"/>
            <a:ext cx="13465804" cy="3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