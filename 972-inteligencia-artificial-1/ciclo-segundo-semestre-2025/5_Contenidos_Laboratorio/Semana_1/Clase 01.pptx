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10287000" cx="18288000"/>
  <p:notesSz cx="6858000" cy="9144000"/>
  <p:embeddedFontLst>
    <p:embeddedFont>
      <p:font typeface="Arim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6" roundtripDataSignature="AMtx7mjiXNeoGsDUK8xRXdjBHlBQVnB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34745BE-74C4-44F4-A7F2-4E0EA3894E74}">
  <a:tblStyle styleId="{434745BE-74C4-44F4-A7F2-4E0EA3894E7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Arimo-bold.fntdata"/><Relationship Id="rId10" Type="http://schemas.openxmlformats.org/officeDocument/2006/relationships/slide" Target="slides/slide4.xml"/><Relationship Id="rId32" Type="http://schemas.openxmlformats.org/officeDocument/2006/relationships/font" Target="fonts/Arimo-regular.fntdata"/><Relationship Id="rId13" Type="http://schemas.openxmlformats.org/officeDocument/2006/relationships/slide" Target="slides/slide7.xml"/><Relationship Id="rId35" Type="http://schemas.openxmlformats.org/officeDocument/2006/relationships/font" Target="fonts/Arimo-boldItalic.fntdata"/><Relationship Id="rId12" Type="http://schemas.openxmlformats.org/officeDocument/2006/relationships/slide" Target="slides/slide6.xml"/><Relationship Id="rId34" Type="http://schemas.openxmlformats.org/officeDocument/2006/relationships/font" Target="fonts/Arimo-italic.fntdata"/><Relationship Id="rId15" Type="http://schemas.openxmlformats.org/officeDocument/2006/relationships/slide" Target="slides/slide9.xml"/><Relationship Id="rId14" Type="http://schemas.openxmlformats.org/officeDocument/2006/relationships/slide" Target="slides/slide8.xml"/><Relationship Id="rId36"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8" name="Google Shape;48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28"/>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Clr>
                <a:schemeClr val="dk1"/>
              </a:buClr>
              <a:buSzPts val="5600"/>
              <a:buFont typeface="Calibri"/>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21" name="Google Shape;21;p28"/>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Clr>
                <a:schemeClr val="dk1"/>
              </a:buClr>
              <a:buSzPts val="3600"/>
              <a:buChar char="●"/>
              <a:defRPr/>
            </a:lvl1pPr>
            <a:lvl2pPr indent="-406400" lvl="1" marL="914400" algn="l">
              <a:lnSpc>
                <a:spcPct val="115000"/>
              </a:lnSpc>
              <a:spcBef>
                <a:spcPts val="0"/>
              </a:spcBef>
              <a:spcAft>
                <a:spcPts val="0"/>
              </a:spcAft>
              <a:buClr>
                <a:schemeClr val="dk1"/>
              </a:buClr>
              <a:buSzPts val="2800"/>
              <a:buChar char="○"/>
              <a:defRPr/>
            </a:lvl2pPr>
            <a:lvl3pPr indent="-406400" lvl="2" marL="1371600" algn="l">
              <a:lnSpc>
                <a:spcPct val="115000"/>
              </a:lnSpc>
              <a:spcBef>
                <a:spcPts val="0"/>
              </a:spcBef>
              <a:spcAft>
                <a:spcPts val="0"/>
              </a:spcAft>
              <a:buClr>
                <a:schemeClr val="dk1"/>
              </a:buClr>
              <a:buSzPts val="2800"/>
              <a:buChar char="■"/>
              <a:defRPr/>
            </a:lvl3pPr>
            <a:lvl4pPr indent="-406400" lvl="3" marL="1828800" algn="l">
              <a:lnSpc>
                <a:spcPct val="115000"/>
              </a:lnSpc>
              <a:spcBef>
                <a:spcPts val="0"/>
              </a:spcBef>
              <a:spcAft>
                <a:spcPts val="0"/>
              </a:spcAft>
              <a:buClr>
                <a:schemeClr val="dk1"/>
              </a:buClr>
              <a:buSzPts val="2800"/>
              <a:buChar char="●"/>
              <a:defRPr/>
            </a:lvl4pPr>
            <a:lvl5pPr indent="-406400" lvl="4" marL="2286000" algn="l">
              <a:lnSpc>
                <a:spcPct val="115000"/>
              </a:lnSpc>
              <a:spcBef>
                <a:spcPts val="0"/>
              </a:spcBef>
              <a:spcAft>
                <a:spcPts val="0"/>
              </a:spcAft>
              <a:buClr>
                <a:schemeClr val="dk1"/>
              </a:buClr>
              <a:buSzPts val="2800"/>
              <a:buChar char="○"/>
              <a:defRPr/>
            </a:lvl5pPr>
            <a:lvl6pPr indent="-406400" lvl="5" marL="2743200" algn="l">
              <a:lnSpc>
                <a:spcPct val="115000"/>
              </a:lnSpc>
              <a:spcBef>
                <a:spcPts val="0"/>
              </a:spcBef>
              <a:spcAft>
                <a:spcPts val="0"/>
              </a:spcAft>
              <a:buClr>
                <a:schemeClr val="dk1"/>
              </a:buClr>
              <a:buSzPts val="2800"/>
              <a:buChar char="■"/>
              <a:defRPr/>
            </a:lvl6pPr>
            <a:lvl7pPr indent="-406400" lvl="6" marL="3200400" algn="l">
              <a:lnSpc>
                <a:spcPct val="115000"/>
              </a:lnSpc>
              <a:spcBef>
                <a:spcPts val="0"/>
              </a:spcBef>
              <a:spcAft>
                <a:spcPts val="0"/>
              </a:spcAft>
              <a:buClr>
                <a:schemeClr val="dk1"/>
              </a:buClr>
              <a:buSzPts val="2800"/>
              <a:buChar char="●"/>
              <a:defRPr/>
            </a:lvl7pPr>
            <a:lvl8pPr indent="-406400" lvl="7" marL="3657600" algn="l">
              <a:lnSpc>
                <a:spcPct val="115000"/>
              </a:lnSpc>
              <a:spcBef>
                <a:spcPts val="0"/>
              </a:spcBef>
              <a:spcAft>
                <a:spcPts val="0"/>
              </a:spcAft>
              <a:buClr>
                <a:schemeClr val="dk1"/>
              </a:buClr>
              <a:buSzPts val="2800"/>
              <a:buChar char="○"/>
              <a:defRPr/>
            </a:lvl8pPr>
            <a:lvl9pPr indent="-406400" lvl="8" marL="4114800" algn="l">
              <a:lnSpc>
                <a:spcPct val="115000"/>
              </a:lnSpc>
              <a:spcBef>
                <a:spcPts val="0"/>
              </a:spcBef>
              <a:spcAft>
                <a:spcPts val="0"/>
              </a:spcAft>
              <a:buClr>
                <a:schemeClr val="dk1"/>
              </a:buClr>
              <a:buSzPts val="2800"/>
              <a:buChar char="■"/>
              <a:defRPr/>
            </a:lvl9pPr>
          </a:lstStyle>
          <a:p/>
        </p:txBody>
      </p:sp>
      <p:sp>
        <p:nvSpPr>
          <p:cNvPr id="22" name="Google Shape;22;p28"/>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2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6" name="Google Shape;2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8" name="Google Shape;3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3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3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5" name="Google Shape;4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3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3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3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3" name="Google Shape;53;p3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4" name="Google Shape;54;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5" name="Google Shape;65;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6" name="Google Shape;66;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3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36"/>
          <p:cNvSpPr/>
          <p:nvPr>
            <p:ph idx="2" type="pic"/>
          </p:nvPr>
        </p:nvSpPr>
        <p:spPr>
          <a:xfrm>
            <a:off x="1792288" y="612775"/>
            <a:ext cx="5486400" cy="4114800"/>
          </a:xfrm>
          <a:prstGeom prst="rect">
            <a:avLst/>
          </a:prstGeom>
          <a:noFill/>
          <a:ln>
            <a:noFill/>
          </a:ln>
        </p:spPr>
      </p:sp>
      <p:sp>
        <p:nvSpPr>
          <p:cNvPr id="72" name="Google Shape;72;p3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3" name="Google Shape;73;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3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9" name="Google Shape;79;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3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5" name="Google Shape;85;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jpg"/><Relationship Id="rId4" Type="http://schemas.openxmlformats.org/officeDocument/2006/relationships/image" Target="../media/image3.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jp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jp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jp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jp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jp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jp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16902" y="0"/>
            <a:ext cx="18254198" cy="10287002"/>
          </a:xfrm>
          <a:custGeom>
            <a:rect b="b" l="l" r="r" t="t"/>
            <a:pathLst>
              <a:path extrusionOk="0" h="10287002" w="18254198">
                <a:moveTo>
                  <a:pt x="0" y="0"/>
                </a:moveTo>
                <a:lnTo>
                  <a:pt x="18254198" y="0"/>
                </a:lnTo>
                <a:lnTo>
                  <a:pt x="18254198" y="10287002"/>
                </a:lnTo>
                <a:lnTo>
                  <a:pt x="0" y="10287002"/>
                </a:lnTo>
                <a:lnTo>
                  <a:pt x="0" y="0"/>
                </a:lnTo>
                <a:close/>
              </a:path>
            </a:pathLst>
          </a:custGeom>
          <a:blipFill rotWithShape="1">
            <a:blip r:embed="rId3">
              <a:alphaModFix amt="557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93" name="Google Shape;93;p1"/>
          <p:cNvGraphicFramePr/>
          <p:nvPr/>
        </p:nvGraphicFramePr>
        <p:xfrm>
          <a:off x="10656400" y="1940050"/>
          <a:ext cx="3000000" cy="3000000"/>
        </p:xfrm>
        <a:graphic>
          <a:graphicData uri="http://schemas.openxmlformats.org/drawingml/2006/table">
            <a:tbl>
              <a:tblPr>
                <a:noFill/>
                <a:tableStyleId>{434745BE-74C4-44F4-A7F2-4E0EA3894E74}</a:tableStyleId>
              </a:tblPr>
              <a:tblGrid>
                <a:gridCol w="3030175"/>
                <a:gridCol w="4335825"/>
              </a:tblGrid>
              <a:tr h="77390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US" sz="2840" u="none" cap="none" strike="noStrike">
                          <a:solidFill>
                            <a:srgbClr val="000000"/>
                          </a:solidFill>
                          <a:latin typeface="Arimo"/>
                          <a:ea typeface="Arimo"/>
                          <a:cs typeface="Arimo"/>
                          <a:sym typeface="Arimo"/>
                        </a:rPr>
                        <a:t>Viernes, XX-XX-XXXX</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390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US" sz="2840" u="none" cap="none" strike="noStrike">
                          <a:solidFill>
                            <a:srgbClr val="000000"/>
                          </a:solidFill>
                          <a:latin typeface="Arimo"/>
                          <a:ea typeface="Arimo"/>
                          <a:cs typeface="Arimo"/>
                          <a:sym typeface="Arimo"/>
                        </a:rPr>
                        <a:t>19:00</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94" name="Google Shape;94;p1"/>
          <p:cNvSpPr txBox="1"/>
          <p:nvPr/>
        </p:nvSpPr>
        <p:spPr>
          <a:xfrm>
            <a:off x="3864138" y="4529138"/>
            <a:ext cx="9513297" cy="1019175"/>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lang="en-US" sz="5999">
                <a:solidFill>
                  <a:srgbClr val="000000"/>
                </a:solidFill>
                <a:latin typeface="Arial"/>
                <a:ea typeface="Arial"/>
                <a:cs typeface="Arial"/>
                <a:sym typeface="Arial"/>
              </a:rPr>
              <a:t>Inteligencia Artificial 1 [A]</a:t>
            </a:r>
            <a:endParaRPr/>
          </a:p>
        </p:txBody>
      </p:sp>
      <p:sp>
        <p:nvSpPr>
          <p:cNvPr id="95" name="Google Shape;95;p1"/>
          <p:cNvSpPr txBox="1"/>
          <p:nvPr/>
        </p:nvSpPr>
        <p:spPr>
          <a:xfrm>
            <a:off x="5117834" y="5845971"/>
            <a:ext cx="7005905" cy="723018"/>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US" sz="4999">
                <a:solidFill>
                  <a:srgbClr val="000000"/>
                </a:solidFill>
                <a:latin typeface="Arial"/>
                <a:ea typeface="Arial"/>
                <a:cs typeface="Arial"/>
                <a:sym typeface="Arial"/>
              </a:rPr>
              <a:t>Nombre Tutor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3" r="-220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1" name="Google Shape;101;p2"/>
          <p:cNvGrpSpPr/>
          <p:nvPr/>
        </p:nvGrpSpPr>
        <p:grpSpPr>
          <a:xfrm>
            <a:off x="1028700" y="952267"/>
            <a:ext cx="16230600" cy="8382465"/>
            <a:chOff x="0" y="0"/>
            <a:chExt cx="6045684" cy="3122357"/>
          </a:xfrm>
        </p:grpSpPr>
        <p:sp>
          <p:nvSpPr>
            <p:cNvPr id="102" name="Google Shape;102;p2"/>
            <p:cNvSpPr/>
            <p:nvPr/>
          </p:nvSpPr>
          <p:spPr>
            <a:xfrm>
              <a:off x="0" y="0"/>
              <a:ext cx="6045684" cy="3122357"/>
            </a:xfrm>
            <a:custGeom>
              <a:rect b="b" l="l" r="r" t="t"/>
              <a:pathLst>
                <a:path extrusionOk="0" h="3122357" w="6045684">
                  <a:moveTo>
                    <a:pt x="0" y="0"/>
                  </a:moveTo>
                  <a:lnTo>
                    <a:pt x="6045684" y="0"/>
                  </a:lnTo>
                  <a:lnTo>
                    <a:pt x="6045684" y="3122357"/>
                  </a:lnTo>
                  <a:lnTo>
                    <a:pt x="0" y="3122357"/>
                  </a:lnTo>
                  <a:close/>
                </a:path>
              </a:pathLst>
            </a:custGeom>
            <a:solidFill>
              <a:srgbClr val="000000">
                <a:alpha val="0"/>
              </a:srgbClr>
            </a:solidFill>
            <a:ln cap="sq" cmpd="sng" w="66675">
              <a:solidFill>
                <a:srgbClr val="9753A8"/>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2"/>
            <p:cNvSpPr txBox="1"/>
            <p:nvPr/>
          </p:nvSpPr>
          <p:spPr>
            <a:xfrm>
              <a:off x="0" y="0"/>
              <a:ext cx="6045684" cy="3122357"/>
            </a:xfrm>
            <a:prstGeom prst="rect">
              <a:avLst/>
            </a:prstGeom>
            <a:noFill/>
            <a:ln>
              <a:noFill/>
            </a:ln>
          </p:spPr>
          <p:txBody>
            <a:bodyPr anchorCtr="0" anchor="ctr" bIns="48875" lIns="48875" spcFirstLastPara="1" rIns="48875" wrap="square" tIns="48875">
              <a:noAutofit/>
            </a:bodyPr>
            <a:lstStyle/>
            <a:p>
              <a:pPr indent="0" lvl="0" marL="0" marR="0" rtl="0" algn="ctr">
                <a:lnSpc>
                  <a:spcPct val="100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4" name="Google Shape;104;p2"/>
          <p:cNvGrpSpPr/>
          <p:nvPr/>
        </p:nvGrpSpPr>
        <p:grpSpPr>
          <a:xfrm>
            <a:off x="12374539" y="8812325"/>
            <a:ext cx="4284389" cy="1748082"/>
            <a:chOff x="0" y="-47625"/>
            <a:chExt cx="1128399" cy="460400"/>
          </a:xfrm>
        </p:grpSpPr>
        <p:sp>
          <p:nvSpPr>
            <p:cNvPr id="105" name="Google Shape;105;p2"/>
            <p:cNvSpPr/>
            <p:nvPr/>
          </p:nvSpPr>
          <p:spPr>
            <a:xfrm>
              <a:off x="0" y="0"/>
              <a:ext cx="1128399" cy="412775"/>
            </a:xfrm>
            <a:custGeom>
              <a:rect b="b" l="l" r="r" t="t"/>
              <a:pathLst>
                <a:path extrusionOk="0" h="412775" w="1128399">
                  <a:moveTo>
                    <a:pt x="0" y="0"/>
                  </a:moveTo>
                  <a:lnTo>
                    <a:pt x="1128399" y="0"/>
                  </a:lnTo>
                  <a:lnTo>
                    <a:pt x="1128399"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2"/>
            <p:cNvSpPr txBox="1"/>
            <p:nvPr/>
          </p:nvSpPr>
          <p:spPr>
            <a:xfrm>
              <a:off x="0" y="-47625"/>
              <a:ext cx="1128399"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7" name="Google Shape;107;p2"/>
          <p:cNvGrpSpPr/>
          <p:nvPr/>
        </p:nvGrpSpPr>
        <p:grpSpPr>
          <a:xfrm rot="5400000">
            <a:off x="14103077" y="3146822"/>
            <a:ext cx="6983416" cy="1748082"/>
            <a:chOff x="0" y="-47625"/>
            <a:chExt cx="1839254" cy="460400"/>
          </a:xfrm>
        </p:grpSpPr>
        <p:sp>
          <p:nvSpPr>
            <p:cNvPr id="108" name="Google Shape;108;p2"/>
            <p:cNvSpPr/>
            <p:nvPr/>
          </p:nvSpPr>
          <p:spPr>
            <a:xfrm>
              <a:off x="0" y="0"/>
              <a:ext cx="1839254" cy="412775"/>
            </a:xfrm>
            <a:custGeom>
              <a:rect b="b" l="l" r="r" t="t"/>
              <a:pathLst>
                <a:path extrusionOk="0" h="412775" w="1839254">
                  <a:moveTo>
                    <a:pt x="0" y="0"/>
                  </a:moveTo>
                  <a:lnTo>
                    <a:pt x="1839254" y="0"/>
                  </a:lnTo>
                  <a:lnTo>
                    <a:pt x="183925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2"/>
            <p:cNvSpPr txBox="1"/>
            <p:nvPr/>
          </p:nvSpPr>
          <p:spPr>
            <a:xfrm>
              <a:off x="0" y="-47625"/>
              <a:ext cx="183925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0" name="Google Shape;110;p2"/>
          <p:cNvSpPr/>
          <p:nvPr/>
        </p:nvSpPr>
        <p:spPr>
          <a:xfrm rot="-5400000">
            <a:off x="10540746" y="-52264"/>
            <a:ext cx="11547949" cy="9406329"/>
          </a:xfrm>
          <a:custGeom>
            <a:rect b="b" l="l" r="r" t="t"/>
            <a:pathLst>
              <a:path extrusionOk="0" h="9406329" w="11547949">
                <a:moveTo>
                  <a:pt x="11547949" y="9406329"/>
                </a:moveTo>
                <a:lnTo>
                  <a:pt x="0" y="9406329"/>
                </a:lnTo>
                <a:lnTo>
                  <a:pt x="0" y="0"/>
                </a:lnTo>
                <a:lnTo>
                  <a:pt x="11547949" y="0"/>
                </a:lnTo>
                <a:lnTo>
                  <a:pt x="11547949" y="9406329"/>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2"/>
          <p:cNvSpPr txBox="1"/>
          <p:nvPr/>
        </p:nvSpPr>
        <p:spPr>
          <a:xfrm>
            <a:off x="2118001" y="6620396"/>
            <a:ext cx="9224082" cy="173672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lang="en-US" sz="2499">
                <a:solidFill>
                  <a:srgbClr val="050A30"/>
                </a:solidFill>
                <a:latin typeface="Arial"/>
                <a:ea typeface="Arial"/>
                <a:cs typeface="Arial"/>
                <a:sym typeface="Arial"/>
              </a:rPr>
              <a:t>Escuela de Ingenieria de Ciencias Y Sistemas</a:t>
            </a:r>
            <a:endParaRPr/>
          </a:p>
          <a:p>
            <a:pPr indent="0" lvl="0" marL="0" marR="0" rtl="0" algn="l">
              <a:lnSpc>
                <a:spcPct val="140016"/>
              </a:lnSpc>
              <a:spcBef>
                <a:spcPts val="0"/>
              </a:spcBef>
              <a:spcAft>
                <a:spcPts val="0"/>
              </a:spcAft>
              <a:buNone/>
            </a:pPr>
            <a:r>
              <a:rPr b="1" lang="en-US" sz="2499">
                <a:solidFill>
                  <a:srgbClr val="050A30"/>
                </a:solidFill>
                <a:latin typeface="Arial"/>
                <a:ea typeface="Arial"/>
                <a:cs typeface="Arial"/>
                <a:sym typeface="Arial"/>
              </a:rPr>
              <a:t>Facultad de Ingenieria</a:t>
            </a:r>
            <a:endParaRPr/>
          </a:p>
          <a:p>
            <a:pPr indent="0" lvl="0" marL="0" marR="0" rtl="0" algn="l">
              <a:lnSpc>
                <a:spcPct val="140016"/>
              </a:lnSpc>
              <a:spcBef>
                <a:spcPts val="0"/>
              </a:spcBef>
              <a:spcAft>
                <a:spcPts val="0"/>
              </a:spcAft>
              <a:buNone/>
            </a:pPr>
            <a:r>
              <a:rPr b="1" lang="en-US" sz="2499">
                <a:solidFill>
                  <a:srgbClr val="050A30"/>
                </a:solidFill>
                <a:latin typeface="Arial"/>
                <a:ea typeface="Arial"/>
                <a:cs typeface="Arial"/>
                <a:sym typeface="Arial"/>
              </a:rPr>
              <a:t>Universidad de San Carlos de Guatemala</a:t>
            </a:r>
            <a:endParaRPr/>
          </a:p>
          <a:p>
            <a:pPr indent="0" lvl="0" marL="0" marR="0" rtl="0" algn="l">
              <a:lnSpc>
                <a:spcPct val="140016"/>
              </a:lnSpc>
              <a:spcBef>
                <a:spcPts val="0"/>
              </a:spcBef>
              <a:spcAft>
                <a:spcPts val="0"/>
              </a:spcAft>
              <a:buNone/>
            </a:pPr>
            <a:r>
              <a:t/>
            </a:r>
            <a:endParaRPr b="1" sz="2499">
              <a:solidFill>
                <a:srgbClr val="050A30"/>
              </a:solidFill>
              <a:latin typeface="Arial"/>
              <a:ea typeface="Arial"/>
              <a:cs typeface="Arial"/>
              <a:sym typeface="Arial"/>
            </a:endParaRPr>
          </a:p>
        </p:txBody>
      </p:sp>
      <p:sp>
        <p:nvSpPr>
          <p:cNvPr id="112" name="Google Shape;112;p2"/>
          <p:cNvSpPr txBox="1"/>
          <p:nvPr/>
        </p:nvSpPr>
        <p:spPr>
          <a:xfrm>
            <a:off x="2118001" y="3415707"/>
            <a:ext cx="11119114" cy="1210310"/>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1" lang="en-US" sz="8000">
                <a:solidFill>
                  <a:srgbClr val="050A30"/>
                </a:solidFill>
                <a:latin typeface="Arial"/>
                <a:ea typeface="Arial"/>
                <a:cs typeface="Arial"/>
                <a:sym typeface="Arial"/>
              </a:rPr>
              <a:t>Clase 1</a:t>
            </a:r>
            <a:endParaRPr/>
          </a:p>
        </p:txBody>
      </p:sp>
      <p:sp>
        <p:nvSpPr>
          <p:cNvPr id="113" name="Google Shape;113;p2"/>
          <p:cNvSpPr txBox="1"/>
          <p:nvPr/>
        </p:nvSpPr>
        <p:spPr>
          <a:xfrm>
            <a:off x="2184676" y="2365657"/>
            <a:ext cx="11052439" cy="835660"/>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1" lang="en-US" sz="5500">
                <a:solidFill>
                  <a:srgbClr val="050A30"/>
                </a:solidFill>
                <a:latin typeface="Arial"/>
                <a:ea typeface="Arial"/>
                <a:cs typeface="Arial"/>
                <a:sym typeface="Arial"/>
              </a:rPr>
              <a:t>INTELIGENCIA ARTIFICIAL 1</a:t>
            </a:r>
            <a:endParaRPr/>
          </a:p>
        </p:txBody>
      </p:sp>
      <p:sp>
        <p:nvSpPr>
          <p:cNvPr id="114" name="Google Shape;114;p2"/>
          <p:cNvSpPr txBox="1"/>
          <p:nvPr/>
        </p:nvSpPr>
        <p:spPr>
          <a:xfrm>
            <a:off x="2118001" y="857436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cxnSp>
        <p:nvCxnSpPr>
          <p:cNvPr id="115" name="Google Shape;115;p2"/>
          <p:cNvCxnSpPr/>
          <p:nvPr/>
        </p:nvCxnSpPr>
        <p:spPr>
          <a:xfrm flipH="1" rot="10800000">
            <a:off x="13553005" y="935761"/>
            <a:ext cx="5036482" cy="5036482"/>
          </a:xfrm>
          <a:prstGeom prst="straightConnector1">
            <a:avLst/>
          </a:prstGeom>
          <a:noFill/>
          <a:ln cap="flat" cmpd="sng" w="114300">
            <a:solidFill>
              <a:srgbClr val="050A30"/>
            </a:solidFill>
            <a:prstDash val="solid"/>
            <a:round/>
            <a:headEnd len="sm" w="sm" type="none"/>
            <a:tailEnd len="sm" w="sm" type="none"/>
          </a:ln>
        </p:spPr>
      </p:cxnSp>
      <p:cxnSp>
        <p:nvCxnSpPr>
          <p:cNvPr id="116" name="Google Shape;116;p2"/>
          <p:cNvCxnSpPr/>
          <p:nvPr/>
        </p:nvCxnSpPr>
        <p:spPr>
          <a:xfrm flipH="1" rot="10800000">
            <a:off x="14602740" y="4540846"/>
            <a:ext cx="1216428" cy="1216428"/>
          </a:xfrm>
          <a:prstGeom prst="straightConnector1">
            <a:avLst/>
          </a:prstGeom>
          <a:noFill/>
          <a:ln cap="flat" cmpd="sng" w="114300">
            <a:solidFill>
              <a:srgbClr val="050A30"/>
            </a:solidFill>
            <a:prstDash val="solid"/>
            <a:round/>
            <a:headEnd len="sm" w="sm" type="none"/>
            <a:tailEnd len="sm" w="sm" type="none"/>
          </a:ln>
        </p:spPr>
      </p:cxnSp>
      <p:cxnSp>
        <p:nvCxnSpPr>
          <p:cNvPr id="117" name="Google Shape;117;p2"/>
          <p:cNvCxnSpPr/>
          <p:nvPr/>
        </p:nvCxnSpPr>
        <p:spPr>
          <a:xfrm flipH="1" rot="10800000">
            <a:off x="12944791" y="7512571"/>
            <a:ext cx="2942644" cy="2942644"/>
          </a:xfrm>
          <a:prstGeom prst="straightConnector1">
            <a:avLst/>
          </a:prstGeom>
          <a:noFill/>
          <a:ln cap="flat" cmpd="sng" w="114300">
            <a:solidFill>
              <a:srgbClr val="050A30"/>
            </a:solidFill>
            <a:prstDash val="solid"/>
            <a:round/>
            <a:headEnd len="sm" w="sm" type="none"/>
            <a:tailEnd len="sm" w="sm" type="none"/>
          </a:ln>
        </p:spPr>
      </p:cxnSp>
      <p:cxnSp>
        <p:nvCxnSpPr>
          <p:cNvPr id="118" name="Google Shape;118;p2"/>
          <p:cNvCxnSpPr/>
          <p:nvPr/>
        </p:nvCxnSpPr>
        <p:spPr>
          <a:xfrm flipH="1" rot="10800000">
            <a:off x="11473469" y="9776779"/>
            <a:ext cx="2942644" cy="2942644"/>
          </a:xfrm>
          <a:prstGeom prst="straightConnector1">
            <a:avLst/>
          </a:prstGeom>
          <a:noFill/>
          <a:ln cap="flat" cmpd="sng" w="114300">
            <a:solidFill>
              <a:srgbClr val="050A30"/>
            </a:solidFill>
            <a:prstDash val="solid"/>
            <a:round/>
            <a:headEnd len="sm" w="sm" type="none"/>
            <a:tailEnd len="sm" w="sm" type="none"/>
          </a:ln>
        </p:spPr>
      </p:cxnSp>
      <p:sp>
        <p:nvSpPr>
          <p:cNvPr id="119" name="Google Shape;119;p2"/>
          <p:cNvSpPr txBox="1"/>
          <p:nvPr/>
        </p:nvSpPr>
        <p:spPr>
          <a:xfrm>
            <a:off x="2118001" y="4721267"/>
            <a:ext cx="6563087" cy="10382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050A30"/>
                </a:solidFill>
                <a:latin typeface="Arial"/>
                <a:ea typeface="Arial"/>
                <a:cs typeface="Arial"/>
                <a:sym typeface="Arial"/>
              </a:rPr>
              <a:t>Lógica e Inferencia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25" name="Google Shape;125;p3"/>
          <p:cNvGrpSpPr/>
          <p:nvPr/>
        </p:nvGrpSpPr>
        <p:grpSpPr>
          <a:xfrm>
            <a:off x="1362575" y="1028700"/>
            <a:ext cx="15562849" cy="8179961"/>
            <a:chOff x="0" y="0"/>
            <a:chExt cx="5796956" cy="3046927"/>
          </a:xfrm>
        </p:grpSpPr>
        <p:sp>
          <p:nvSpPr>
            <p:cNvPr id="126" name="Google Shape;126;p3"/>
            <p:cNvSpPr/>
            <p:nvPr/>
          </p:nvSpPr>
          <p:spPr>
            <a:xfrm>
              <a:off x="0" y="0"/>
              <a:ext cx="5796955" cy="3046927"/>
            </a:xfrm>
            <a:custGeom>
              <a:rect b="b" l="l" r="r" t="t"/>
              <a:pathLst>
                <a:path extrusionOk="0" h="3046927" w="5796955">
                  <a:moveTo>
                    <a:pt x="0" y="0"/>
                  </a:moveTo>
                  <a:lnTo>
                    <a:pt x="5796955" y="0"/>
                  </a:lnTo>
                  <a:lnTo>
                    <a:pt x="5796955" y="3046927"/>
                  </a:lnTo>
                  <a:lnTo>
                    <a:pt x="0" y="3046927"/>
                  </a:lnTo>
                  <a:close/>
                </a:path>
              </a:pathLst>
            </a:custGeom>
            <a:solidFill>
              <a:srgbClr val="000000">
                <a:alpha val="0"/>
              </a:srgbClr>
            </a:solidFill>
            <a:ln cap="sq" cmpd="sng" w="66675">
              <a:solidFill>
                <a:srgbClr val="570F69"/>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3"/>
            <p:cNvSpPr txBox="1"/>
            <p:nvPr/>
          </p:nvSpPr>
          <p:spPr>
            <a:xfrm>
              <a:off x="0" y="0"/>
              <a:ext cx="5796956" cy="3046927"/>
            </a:xfrm>
            <a:prstGeom prst="rect">
              <a:avLst/>
            </a:prstGeom>
            <a:noFill/>
            <a:ln>
              <a:noFill/>
            </a:ln>
          </p:spPr>
          <p:txBody>
            <a:bodyPr anchorCtr="0" anchor="ctr" bIns="48875" lIns="48875" spcFirstLastPara="1" rIns="48875" wrap="square" tIns="48875">
              <a:noAutofit/>
            </a:bodyPr>
            <a:lstStyle/>
            <a:p>
              <a:pPr indent="0" lvl="0" marL="0" marR="0" rtl="0" algn="ctr">
                <a:lnSpc>
                  <a:spcPct val="100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8" name="Google Shape;128;p3"/>
          <p:cNvGrpSpPr/>
          <p:nvPr/>
        </p:nvGrpSpPr>
        <p:grpSpPr>
          <a:xfrm rot="2700000">
            <a:off x="121003" y="7895899"/>
            <a:ext cx="3393988" cy="1748082"/>
            <a:chOff x="0" y="-47625"/>
            <a:chExt cx="893890" cy="460400"/>
          </a:xfrm>
        </p:grpSpPr>
        <p:sp>
          <p:nvSpPr>
            <p:cNvPr id="129" name="Google Shape;129;p3"/>
            <p:cNvSpPr/>
            <p:nvPr/>
          </p:nvSpPr>
          <p:spPr>
            <a:xfrm>
              <a:off x="0" y="0"/>
              <a:ext cx="893890" cy="412775"/>
            </a:xfrm>
            <a:custGeom>
              <a:rect b="b" l="l" r="r" t="t"/>
              <a:pathLst>
                <a:path extrusionOk="0" h="412775" w="893890">
                  <a:moveTo>
                    <a:pt x="0" y="0"/>
                  </a:moveTo>
                  <a:lnTo>
                    <a:pt x="893890" y="0"/>
                  </a:lnTo>
                  <a:lnTo>
                    <a:pt x="893890"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3"/>
            <p:cNvSpPr txBox="1"/>
            <p:nvPr/>
          </p:nvSpPr>
          <p:spPr>
            <a:xfrm>
              <a:off x="0" y="-47625"/>
              <a:ext cx="893890"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1" name="Google Shape;131;p3"/>
          <p:cNvGrpSpPr/>
          <p:nvPr/>
        </p:nvGrpSpPr>
        <p:grpSpPr>
          <a:xfrm rot="2700000">
            <a:off x="14900874" y="396084"/>
            <a:ext cx="3393988" cy="1748082"/>
            <a:chOff x="0" y="-47625"/>
            <a:chExt cx="893890" cy="460400"/>
          </a:xfrm>
        </p:grpSpPr>
        <p:sp>
          <p:nvSpPr>
            <p:cNvPr id="132" name="Google Shape;132;p3"/>
            <p:cNvSpPr/>
            <p:nvPr/>
          </p:nvSpPr>
          <p:spPr>
            <a:xfrm>
              <a:off x="0" y="0"/>
              <a:ext cx="893890" cy="412775"/>
            </a:xfrm>
            <a:custGeom>
              <a:rect b="b" l="l" r="r" t="t"/>
              <a:pathLst>
                <a:path extrusionOk="0" h="412775" w="893890">
                  <a:moveTo>
                    <a:pt x="0" y="0"/>
                  </a:moveTo>
                  <a:lnTo>
                    <a:pt x="893890" y="0"/>
                  </a:lnTo>
                  <a:lnTo>
                    <a:pt x="893890"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3"/>
            <p:cNvSpPr txBox="1"/>
            <p:nvPr/>
          </p:nvSpPr>
          <p:spPr>
            <a:xfrm>
              <a:off x="0" y="-47625"/>
              <a:ext cx="893890"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4" name="Google Shape;134;p3"/>
          <p:cNvSpPr/>
          <p:nvPr/>
        </p:nvSpPr>
        <p:spPr>
          <a:xfrm>
            <a:off x="-515035" y="5489862"/>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3"/>
          <p:cNvSpPr/>
          <p:nvPr/>
        </p:nvSpPr>
        <p:spPr>
          <a:xfrm rot="10800000">
            <a:off x="13871465" y="-189523"/>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3"/>
          <p:cNvSpPr txBox="1"/>
          <p:nvPr/>
        </p:nvSpPr>
        <p:spPr>
          <a:xfrm>
            <a:off x="10299395" y="3078596"/>
            <a:ext cx="6464263" cy="4810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Link del Video</a:t>
            </a:r>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Actividad</a:t>
            </a:r>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377825" lvl="1" marL="755651" marR="0" rtl="0" algn="l">
              <a:lnSpc>
                <a:spcPct val="120000"/>
              </a:lnSpc>
              <a:spcBef>
                <a:spcPts val="0"/>
              </a:spcBef>
              <a:spcAft>
                <a:spcPts val="0"/>
              </a:spcAft>
              <a:buClr>
                <a:srgbClr val="F4F6FC"/>
              </a:buClr>
              <a:buSzPts val="3500"/>
              <a:buFont typeface="Arial"/>
              <a:buChar char="•"/>
            </a:pPr>
            <a:r>
              <a:rPr b="0" i="0" lang="en-US" sz="3500" u="none" cap="none" strike="noStrike">
                <a:solidFill>
                  <a:srgbClr val="F4F6FC"/>
                </a:solidFill>
                <a:latin typeface="Arial"/>
                <a:ea typeface="Arial"/>
                <a:cs typeface="Arial"/>
                <a:sym typeface="Arial"/>
              </a:rPr>
              <a:t>UEDI</a:t>
            </a:r>
            <a:endParaRPr/>
          </a:p>
        </p:txBody>
      </p:sp>
      <p:sp>
        <p:nvSpPr>
          <p:cNvPr id="137" name="Google Shape;137;p3"/>
          <p:cNvSpPr/>
          <p:nvPr/>
        </p:nvSpPr>
        <p:spPr>
          <a:xfrm>
            <a:off x="12777973" y="3815059"/>
            <a:ext cx="2186985" cy="2186985"/>
          </a:xfrm>
          <a:custGeom>
            <a:rect b="b" l="l" r="r" t="t"/>
            <a:pathLst>
              <a:path extrusionOk="0" h="2186985" w="2186985">
                <a:moveTo>
                  <a:pt x="0" y="0"/>
                </a:moveTo>
                <a:lnTo>
                  <a:pt x="2186985" y="0"/>
                </a:lnTo>
                <a:lnTo>
                  <a:pt x="2186985" y="2186985"/>
                </a:lnTo>
                <a:lnTo>
                  <a:pt x="0" y="218698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3"/>
          <p:cNvSpPr txBox="1"/>
          <p:nvPr/>
        </p:nvSpPr>
        <p:spPr>
          <a:xfrm>
            <a:off x="1889083" y="1511090"/>
            <a:ext cx="4271494" cy="1152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7500">
                <a:solidFill>
                  <a:srgbClr val="F4F6FC"/>
                </a:solidFill>
                <a:latin typeface="Arial"/>
                <a:ea typeface="Arial"/>
                <a:cs typeface="Arial"/>
                <a:sym typeface="Arial"/>
              </a:rPr>
              <a:t>Agenda</a:t>
            </a:r>
            <a:endParaRPr/>
          </a:p>
        </p:txBody>
      </p:sp>
      <p:sp>
        <p:nvSpPr>
          <p:cNvPr id="139" name="Google Shape;139;p3"/>
          <p:cNvSpPr txBox="1"/>
          <p:nvPr/>
        </p:nvSpPr>
        <p:spPr>
          <a:xfrm>
            <a:off x="12006974" y="8506847"/>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FFFFF"/>
                </a:solidFill>
                <a:latin typeface="Arial"/>
                <a:ea typeface="Arial"/>
                <a:cs typeface="Arial"/>
                <a:sym typeface="Arial"/>
              </a:rPr>
              <a:t>Elaborado por: Robin Omar Buezo Díaz</a:t>
            </a:r>
            <a:endParaRPr/>
          </a:p>
        </p:txBody>
      </p:sp>
      <p:sp>
        <p:nvSpPr>
          <p:cNvPr id="140" name="Google Shape;140;p3"/>
          <p:cNvSpPr txBox="1"/>
          <p:nvPr/>
        </p:nvSpPr>
        <p:spPr>
          <a:xfrm>
            <a:off x="2034003" y="3078596"/>
            <a:ext cx="6464263" cy="53435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Recordatorios</a:t>
            </a:r>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Temas</a:t>
            </a:r>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377825" lvl="1" marL="755651" marR="0" rtl="0" algn="l">
              <a:lnSpc>
                <a:spcPct val="120000"/>
              </a:lnSpc>
              <a:spcBef>
                <a:spcPts val="0"/>
              </a:spcBef>
              <a:spcAft>
                <a:spcPts val="0"/>
              </a:spcAft>
              <a:buClr>
                <a:srgbClr val="F4F6FC"/>
              </a:buClr>
              <a:buSzPts val="3500"/>
              <a:buFont typeface="Arial"/>
              <a:buChar char="•"/>
            </a:pPr>
            <a:r>
              <a:rPr b="0" i="0" lang="en-US" sz="3500" u="none" cap="none" strike="noStrike">
                <a:solidFill>
                  <a:srgbClr val="F4F6FC"/>
                </a:solidFill>
                <a:latin typeface="Arial"/>
                <a:ea typeface="Arial"/>
                <a:cs typeface="Arial"/>
                <a:sym typeface="Arial"/>
              </a:rPr>
              <a:t>Tipos de Datos y Variables</a:t>
            </a:r>
            <a:endParaRPr/>
          </a:p>
          <a:p>
            <a:pPr indent="0" lvl="0" marL="0" marR="0" rtl="0" algn="l">
              <a:lnSpc>
                <a:spcPct val="120000"/>
              </a:lnSpc>
              <a:spcBef>
                <a:spcPts val="0"/>
              </a:spcBef>
              <a:spcAft>
                <a:spcPts val="0"/>
              </a:spcAft>
              <a:buNone/>
            </a:pPr>
            <a:r>
              <a:t/>
            </a:r>
            <a:endParaRPr sz="3500">
              <a:solidFill>
                <a:srgbClr val="F4F6FC"/>
              </a:solidFill>
              <a:latin typeface="Arial"/>
              <a:ea typeface="Arial"/>
              <a:cs typeface="Arial"/>
              <a:sym typeface="Arial"/>
            </a:endParaRPr>
          </a:p>
          <a:p>
            <a:pPr indent="-377825" lvl="1" marL="755651" marR="0" rtl="0" algn="l">
              <a:lnSpc>
                <a:spcPct val="120000"/>
              </a:lnSpc>
              <a:spcBef>
                <a:spcPts val="0"/>
              </a:spcBef>
              <a:spcAft>
                <a:spcPts val="0"/>
              </a:spcAft>
              <a:buClr>
                <a:srgbClr val="F4F6FC"/>
              </a:buClr>
              <a:buSzPts val="3500"/>
              <a:buFont typeface="Arial"/>
              <a:buChar char="•"/>
            </a:pPr>
            <a:r>
              <a:rPr b="0" i="0" lang="en-US" sz="3500" u="none" cap="none" strike="noStrike">
                <a:solidFill>
                  <a:srgbClr val="F4F6FC"/>
                </a:solidFill>
                <a:latin typeface="Arial"/>
                <a:ea typeface="Arial"/>
                <a:cs typeface="Arial"/>
                <a:sym typeface="Arial"/>
              </a:rPr>
              <a:t>Reglas, Hechos y Consultas</a:t>
            </a:r>
            <a:endParaRPr/>
          </a:p>
        </p:txBody>
      </p:sp>
      <p:sp>
        <p:nvSpPr>
          <p:cNvPr id="141" name="Google Shape;141;p3"/>
          <p:cNvSpPr txBox="1"/>
          <p:nvPr/>
        </p:nvSpPr>
        <p:spPr>
          <a:xfrm>
            <a:off x="11208934" y="1511090"/>
            <a:ext cx="4271494" cy="1152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7500">
                <a:solidFill>
                  <a:srgbClr val="F4F6FC"/>
                </a:solidFill>
                <a:latin typeface="Arial"/>
                <a:ea typeface="Arial"/>
                <a:cs typeface="Arial"/>
                <a:sym typeface="Arial"/>
              </a:rPr>
              <a:t>Recursos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7" name="Google Shape;147;p4"/>
          <p:cNvGrpSpPr/>
          <p:nvPr/>
        </p:nvGrpSpPr>
        <p:grpSpPr>
          <a:xfrm rot="-5400000">
            <a:off x="6095749" y="2420783"/>
            <a:ext cx="6818207" cy="21127995"/>
            <a:chOff x="0" y="-47625"/>
            <a:chExt cx="1795742" cy="5564575"/>
          </a:xfrm>
        </p:grpSpPr>
        <p:sp>
          <p:nvSpPr>
            <p:cNvPr id="148" name="Google Shape;148;p4"/>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4"/>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0" name="Google Shape;150;p4"/>
          <p:cNvGrpSpPr/>
          <p:nvPr/>
        </p:nvGrpSpPr>
        <p:grpSpPr>
          <a:xfrm rot="-5400000">
            <a:off x="3906656" y="-11095415"/>
            <a:ext cx="2045233" cy="21127995"/>
            <a:chOff x="0" y="-47625"/>
            <a:chExt cx="538662" cy="5564575"/>
          </a:xfrm>
        </p:grpSpPr>
        <p:sp>
          <p:nvSpPr>
            <p:cNvPr id="151" name="Google Shape;151;p4"/>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4"/>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3" name="Google Shape;153;p4"/>
          <p:cNvGrpSpPr/>
          <p:nvPr/>
        </p:nvGrpSpPr>
        <p:grpSpPr>
          <a:xfrm rot="2700000">
            <a:off x="13798263" y="-60632"/>
            <a:ext cx="4685776" cy="1748082"/>
            <a:chOff x="0" y="-47625"/>
            <a:chExt cx="1234114" cy="460400"/>
          </a:xfrm>
        </p:grpSpPr>
        <p:sp>
          <p:nvSpPr>
            <p:cNvPr id="154" name="Google Shape;154;p4"/>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7AC3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4"/>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6" name="Google Shape;156;p4"/>
          <p:cNvSpPr txBox="1"/>
          <p:nvPr/>
        </p:nvSpPr>
        <p:spPr>
          <a:xfrm>
            <a:off x="1374889" y="1409214"/>
            <a:ext cx="13991174" cy="88288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1" lang="en-US" sz="6098">
                <a:solidFill>
                  <a:srgbClr val="050A30"/>
                </a:solidFill>
                <a:latin typeface="Arial"/>
                <a:ea typeface="Arial"/>
                <a:cs typeface="Arial"/>
                <a:sym typeface="Arial"/>
              </a:rPr>
              <a:t>COMPETENCIA(S) Que desarrollaremos</a:t>
            </a:r>
            <a:endParaRPr/>
          </a:p>
        </p:txBody>
      </p:sp>
      <p:sp>
        <p:nvSpPr>
          <p:cNvPr id="157" name="Google Shape;157;p4"/>
          <p:cNvSpPr txBox="1"/>
          <p:nvPr/>
        </p:nvSpPr>
        <p:spPr>
          <a:xfrm>
            <a:off x="2508326" y="3435564"/>
            <a:ext cx="12569573" cy="35649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000">
                <a:solidFill>
                  <a:srgbClr val="050A30"/>
                </a:solidFill>
                <a:latin typeface="Arial"/>
                <a:ea typeface="Arial"/>
                <a:cs typeface="Arial"/>
                <a:sym typeface="Arial"/>
              </a:rPr>
              <a:t>Desarrolla hechos, reglas, expresiones y predicados recursivos mediante el uso de cláusulas, ciclos, listas, unificación y cortes en Prolog para modelar bases de conocimiento y resolver problemas de inferencia lógica </a:t>
            </a:r>
            <a:endParaRPr b="1" sz="4000">
              <a:solidFill>
                <a:srgbClr val="050A3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5"/>
          <p:cNvSpPr txBox="1"/>
          <p:nvPr/>
        </p:nvSpPr>
        <p:spPr>
          <a:xfrm>
            <a:off x="1477486" y="1899471"/>
            <a:ext cx="15333028" cy="12858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465">
                <a:solidFill>
                  <a:srgbClr val="050A30"/>
                </a:solidFill>
                <a:latin typeface="Arial"/>
                <a:ea typeface="Arial"/>
                <a:cs typeface="Arial"/>
                <a:sym typeface="Arial"/>
              </a:rPr>
              <a:t>Lógica e Inferencia</a:t>
            </a:r>
            <a:endParaRPr/>
          </a:p>
        </p:txBody>
      </p:sp>
      <p:grpSp>
        <p:nvGrpSpPr>
          <p:cNvPr id="164" name="Google Shape;164;p5"/>
          <p:cNvGrpSpPr/>
          <p:nvPr/>
        </p:nvGrpSpPr>
        <p:grpSpPr>
          <a:xfrm rot="-5400000">
            <a:off x="6095749" y="2420783"/>
            <a:ext cx="6818207" cy="21127995"/>
            <a:chOff x="0" y="-47625"/>
            <a:chExt cx="1795742" cy="5564575"/>
          </a:xfrm>
        </p:grpSpPr>
        <p:sp>
          <p:nvSpPr>
            <p:cNvPr id="165" name="Google Shape;165;p5"/>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5"/>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7" name="Google Shape;167;p5"/>
          <p:cNvGrpSpPr/>
          <p:nvPr/>
        </p:nvGrpSpPr>
        <p:grpSpPr>
          <a:xfrm rot="-5400000">
            <a:off x="3906656" y="-11095415"/>
            <a:ext cx="2045233" cy="21127995"/>
            <a:chOff x="0" y="-47625"/>
            <a:chExt cx="538662" cy="5564575"/>
          </a:xfrm>
        </p:grpSpPr>
        <p:sp>
          <p:nvSpPr>
            <p:cNvPr id="168" name="Google Shape;168;p5"/>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5"/>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70" name="Google Shape;170;p5"/>
          <p:cNvGrpSpPr/>
          <p:nvPr/>
        </p:nvGrpSpPr>
        <p:grpSpPr>
          <a:xfrm rot="2700000">
            <a:off x="13798263" y="-60632"/>
            <a:ext cx="4685776" cy="1748082"/>
            <a:chOff x="0" y="-47625"/>
            <a:chExt cx="1234114" cy="460400"/>
          </a:xfrm>
        </p:grpSpPr>
        <p:sp>
          <p:nvSpPr>
            <p:cNvPr id="171" name="Google Shape;171;p5"/>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5"/>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3" name="Google Shape;173;p5"/>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5"/>
          <p:cNvSpPr txBox="1"/>
          <p:nvPr/>
        </p:nvSpPr>
        <p:spPr>
          <a:xfrm>
            <a:off x="1028700" y="4084032"/>
            <a:ext cx="7709623" cy="679451"/>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lang="en-US" sz="3999">
                <a:solidFill>
                  <a:srgbClr val="050A30"/>
                </a:solidFill>
                <a:latin typeface="Arial"/>
                <a:ea typeface="Arial"/>
                <a:cs typeface="Arial"/>
                <a:sym typeface="Arial"/>
              </a:rPr>
              <a:t>LÓGICA</a:t>
            </a:r>
            <a:endParaRPr/>
          </a:p>
        </p:txBody>
      </p:sp>
      <p:sp>
        <p:nvSpPr>
          <p:cNvPr id="175" name="Google Shape;175;p5"/>
          <p:cNvSpPr txBox="1"/>
          <p:nvPr/>
        </p:nvSpPr>
        <p:spPr>
          <a:xfrm>
            <a:off x="1028700" y="5142895"/>
            <a:ext cx="7709623" cy="2609851"/>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lang="en-US" sz="2999">
                <a:solidFill>
                  <a:srgbClr val="050A30"/>
                </a:solidFill>
                <a:latin typeface="Arial"/>
                <a:ea typeface="Arial"/>
                <a:cs typeface="Arial"/>
                <a:sym typeface="Arial"/>
              </a:rPr>
              <a:t>La lógica es una rama de la filosofía y la matemática que se ocupa de las reglas y principios del razonamiento válido. Entre sus tipos están la lógica formal, lógica informal, lógica proposicional y lógica de predicados.</a:t>
            </a:r>
            <a:endParaRPr/>
          </a:p>
        </p:txBody>
      </p:sp>
      <p:sp>
        <p:nvSpPr>
          <p:cNvPr id="176" name="Google Shape;176;p5"/>
          <p:cNvSpPr txBox="1"/>
          <p:nvPr/>
        </p:nvSpPr>
        <p:spPr>
          <a:xfrm>
            <a:off x="9549677" y="4084032"/>
            <a:ext cx="7709623" cy="679451"/>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lang="en-US" sz="3999">
                <a:solidFill>
                  <a:srgbClr val="050A30"/>
                </a:solidFill>
                <a:latin typeface="Arial"/>
                <a:ea typeface="Arial"/>
                <a:cs typeface="Arial"/>
                <a:sym typeface="Arial"/>
              </a:rPr>
              <a:t>INFERENCIA</a:t>
            </a:r>
            <a:endParaRPr/>
          </a:p>
        </p:txBody>
      </p:sp>
      <p:sp>
        <p:nvSpPr>
          <p:cNvPr id="177" name="Google Shape;177;p5"/>
          <p:cNvSpPr txBox="1"/>
          <p:nvPr/>
        </p:nvSpPr>
        <p:spPr>
          <a:xfrm>
            <a:off x="9504089" y="5142895"/>
            <a:ext cx="7709623" cy="2609851"/>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lang="en-US" sz="2999">
                <a:solidFill>
                  <a:srgbClr val="050A30"/>
                </a:solidFill>
                <a:latin typeface="Arial"/>
                <a:ea typeface="Arial"/>
                <a:cs typeface="Arial"/>
                <a:sym typeface="Arial"/>
              </a:rPr>
              <a:t>La inferencia es el proceso mediante el cual, a partir de ciertas premisas, llegamos a una conclusión. Entre sus varios tipos se encuentran la inferencia deductiva, inferencia inductiva y la inferencia abductiva.</a:t>
            </a:r>
            <a:endParaRPr/>
          </a:p>
        </p:txBody>
      </p:sp>
      <p:sp>
        <p:nvSpPr>
          <p:cNvPr id="178" name="Google Shape;178;p5"/>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6"/>
          <p:cNvSpPr/>
          <p:nvPr/>
        </p:nvSpPr>
        <p:spPr>
          <a:xfrm rot="10800000">
            <a:off x="13310500" y="-221708"/>
            <a:ext cx="5046831" cy="6425363"/>
          </a:xfrm>
          <a:custGeom>
            <a:rect b="b" l="l" r="r" t="t"/>
            <a:pathLst>
              <a:path extrusionOk="0" h="6425363" w="5046831">
                <a:moveTo>
                  <a:pt x="0" y="0"/>
                </a:moveTo>
                <a:lnTo>
                  <a:pt x="5046831" y="0"/>
                </a:lnTo>
                <a:lnTo>
                  <a:pt x="5046831" y="6425363"/>
                </a:lnTo>
                <a:lnTo>
                  <a:pt x="0" y="642536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85" name="Google Shape;185;p6"/>
          <p:cNvGrpSpPr/>
          <p:nvPr/>
        </p:nvGrpSpPr>
        <p:grpSpPr>
          <a:xfrm>
            <a:off x="1042229" y="3362686"/>
            <a:ext cx="3875734" cy="5895614"/>
            <a:chOff x="0" y="-66675"/>
            <a:chExt cx="334712" cy="509151"/>
          </a:xfrm>
        </p:grpSpPr>
        <p:sp>
          <p:nvSpPr>
            <p:cNvPr id="186" name="Google Shape;186;p6"/>
            <p:cNvSpPr/>
            <p:nvPr/>
          </p:nvSpPr>
          <p:spPr>
            <a:xfrm>
              <a:off x="0" y="0"/>
              <a:ext cx="334712" cy="442476"/>
            </a:xfrm>
            <a:custGeom>
              <a:rect b="b" l="l" r="r" t="t"/>
              <a:pathLst>
                <a:path extrusionOk="0" h="442476" w="334712">
                  <a:moveTo>
                    <a:pt x="73909" y="0"/>
                  </a:moveTo>
                  <a:lnTo>
                    <a:pt x="260803" y="0"/>
                  </a:lnTo>
                  <a:cubicBezTo>
                    <a:pt x="301622" y="0"/>
                    <a:pt x="334712" y="33090"/>
                    <a:pt x="334712" y="73909"/>
                  </a:cubicBezTo>
                  <a:lnTo>
                    <a:pt x="334712" y="368567"/>
                  </a:lnTo>
                  <a:cubicBezTo>
                    <a:pt x="334712" y="409386"/>
                    <a:pt x="301622" y="442476"/>
                    <a:pt x="260803" y="442476"/>
                  </a:cubicBezTo>
                  <a:lnTo>
                    <a:pt x="73909" y="442476"/>
                  </a:lnTo>
                  <a:cubicBezTo>
                    <a:pt x="54307" y="442476"/>
                    <a:pt x="35508" y="434689"/>
                    <a:pt x="21647" y="420828"/>
                  </a:cubicBezTo>
                  <a:cubicBezTo>
                    <a:pt x="7787" y="406968"/>
                    <a:pt x="0" y="388169"/>
                    <a:pt x="0" y="368567"/>
                  </a:cubicBezTo>
                  <a:lnTo>
                    <a:pt x="0" y="73909"/>
                  </a:lnTo>
                  <a:cubicBezTo>
                    <a:pt x="0" y="33090"/>
                    <a:pt x="33090" y="0"/>
                    <a:pt x="73909" y="0"/>
                  </a:cubicBezTo>
                  <a:close/>
                </a:path>
              </a:pathLst>
            </a:custGeom>
            <a:solidFill>
              <a:srgbClr val="FFFFFF"/>
            </a:solidFill>
            <a:ln cap="rnd" cmpd="sng" w="85725">
              <a:solidFill>
                <a:srgbClr val="12229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6"/>
            <p:cNvSpPr txBox="1"/>
            <p:nvPr/>
          </p:nvSpPr>
          <p:spPr>
            <a:xfrm>
              <a:off x="0" y="-66675"/>
              <a:ext cx="334712" cy="509151"/>
            </a:xfrm>
            <a:prstGeom prst="rect">
              <a:avLst/>
            </a:prstGeom>
            <a:noFill/>
            <a:ln>
              <a:noFill/>
            </a:ln>
          </p:spPr>
          <p:txBody>
            <a:bodyPr anchorCtr="0" anchor="ctr" bIns="50800" lIns="50800" spcFirstLastPara="1" rIns="50800" wrap="square" tIns="50800">
              <a:noAutofit/>
            </a:bodyPr>
            <a:lstStyle/>
            <a:p>
              <a:pPr indent="0" lvl="0" marL="0" marR="0" rtl="0" algn="ctr">
                <a:lnSpc>
                  <a:spcPct val="2488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8" name="Google Shape;188;p6"/>
          <p:cNvGrpSpPr/>
          <p:nvPr/>
        </p:nvGrpSpPr>
        <p:grpSpPr>
          <a:xfrm>
            <a:off x="5188741" y="3362686"/>
            <a:ext cx="3875734" cy="5895614"/>
            <a:chOff x="0" y="-66675"/>
            <a:chExt cx="334712" cy="509151"/>
          </a:xfrm>
        </p:grpSpPr>
        <p:sp>
          <p:nvSpPr>
            <p:cNvPr id="189" name="Google Shape;189;p6"/>
            <p:cNvSpPr/>
            <p:nvPr/>
          </p:nvSpPr>
          <p:spPr>
            <a:xfrm>
              <a:off x="0" y="0"/>
              <a:ext cx="334712" cy="442476"/>
            </a:xfrm>
            <a:custGeom>
              <a:rect b="b" l="l" r="r" t="t"/>
              <a:pathLst>
                <a:path extrusionOk="0" h="442476" w="334712">
                  <a:moveTo>
                    <a:pt x="73909" y="0"/>
                  </a:moveTo>
                  <a:lnTo>
                    <a:pt x="260803" y="0"/>
                  </a:lnTo>
                  <a:cubicBezTo>
                    <a:pt x="301622" y="0"/>
                    <a:pt x="334712" y="33090"/>
                    <a:pt x="334712" y="73909"/>
                  </a:cubicBezTo>
                  <a:lnTo>
                    <a:pt x="334712" y="368567"/>
                  </a:lnTo>
                  <a:cubicBezTo>
                    <a:pt x="334712" y="409386"/>
                    <a:pt x="301622" y="442476"/>
                    <a:pt x="260803" y="442476"/>
                  </a:cubicBezTo>
                  <a:lnTo>
                    <a:pt x="73909" y="442476"/>
                  </a:lnTo>
                  <a:cubicBezTo>
                    <a:pt x="54307" y="442476"/>
                    <a:pt x="35508" y="434689"/>
                    <a:pt x="21647" y="420828"/>
                  </a:cubicBezTo>
                  <a:cubicBezTo>
                    <a:pt x="7787" y="406968"/>
                    <a:pt x="0" y="388169"/>
                    <a:pt x="0" y="368567"/>
                  </a:cubicBezTo>
                  <a:lnTo>
                    <a:pt x="0" y="73909"/>
                  </a:lnTo>
                  <a:cubicBezTo>
                    <a:pt x="0" y="33090"/>
                    <a:pt x="33090" y="0"/>
                    <a:pt x="73909" y="0"/>
                  </a:cubicBezTo>
                  <a:close/>
                </a:path>
              </a:pathLst>
            </a:custGeom>
            <a:solidFill>
              <a:srgbClr val="FFFFFF"/>
            </a:solidFill>
            <a:ln cap="rnd" cmpd="sng" w="85725">
              <a:solidFill>
                <a:srgbClr val="12229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6"/>
            <p:cNvSpPr txBox="1"/>
            <p:nvPr/>
          </p:nvSpPr>
          <p:spPr>
            <a:xfrm>
              <a:off x="0" y="-66675"/>
              <a:ext cx="334712" cy="509151"/>
            </a:xfrm>
            <a:prstGeom prst="rect">
              <a:avLst/>
            </a:prstGeom>
            <a:noFill/>
            <a:ln>
              <a:noFill/>
            </a:ln>
          </p:spPr>
          <p:txBody>
            <a:bodyPr anchorCtr="0" anchor="ctr" bIns="50800" lIns="50800" spcFirstLastPara="1" rIns="50800" wrap="square" tIns="50800">
              <a:noAutofit/>
            </a:bodyPr>
            <a:lstStyle/>
            <a:p>
              <a:pPr indent="0" lvl="0" marL="0" marR="0" rtl="0" algn="ctr">
                <a:lnSpc>
                  <a:spcPct val="2488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1" name="Google Shape;191;p6"/>
          <p:cNvSpPr txBox="1"/>
          <p:nvPr/>
        </p:nvSpPr>
        <p:spPr>
          <a:xfrm>
            <a:off x="1028700" y="1874086"/>
            <a:ext cx="12495600" cy="20004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1" lang="en-US" sz="2499">
                <a:solidFill>
                  <a:srgbClr val="F4F6FC"/>
                </a:solidFill>
                <a:latin typeface="Arial"/>
                <a:ea typeface="Arial"/>
                <a:cs typeface="Arial"/>
                <a:sym typeface="Arial"/>
              </a:rPr>
              <a:t>La inferencia lógica es el proceso de llegar a una conclusión a partir de premisas o hechos. A veces, se puede hacer rápidamente con una sola premisa, o puede requerir varias premisas para llegar a una conclusión. ¿Cómo clasificamos estas inferencias?</a:t>
            </a:r>
            <a:endParaRPr/>
          </a:p>
        </p:txBody>
      </p:sp>
      <p:sp>
        <p:nvSpPr>
          <p:cNvPr id="192" name="Google Shape;192;p6"/>
          <p:cNvSpPr txBox="1"/>
          <p:nvPr/>
        </p:nvSpPr>
        <p:spPr>
          <a:xfrm>
            <a:off x="1028700" y="606775"/>
            <a:ext cx="9377400" cy="1077300"/>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1" lang="en-US" sz="6999">
                <a:solidFill>
                  <a:srgbClr val="F4F6FC"/>
                </a:solidFill>
                <a:latin typeface="Arial"/>
                <a:ea typeface="Arial"/>
                <a:cs typeface="Arial"/>
                <a:sym typeface="Arial"/>
              </a:rPr>
              <a:t>Inferencia Lógica</a:t>
            </a:r>
            <a:endParaRPr/>
          </a:p>
        </p:txBody>
      </p:sp>
      <p:sp>
        <p:nvSpPr>
          <p:cNvPr id="193" name="Google Shape;193;p6"/>
          <p:cNvSpPr txBox="1"/>
          <p:nvPr/>
        </p:nvSpPr>
        <p:spPr>
          <a:xfrm>
            <a:off x="1493256" y="4366789"/>
            <a:ext cx="2973682" cy="450985"/>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lang="en-US" sz="2674">
                <a:solidFill>
                  <a:srgbClr val="253439"/>
                </a:solidFill>
                <a:latin typeface="Arial"/>
                <a:ea typeface="Arial"/>
                <a:cs typeface="Arial"/>
                <a:sym typeface="Arial"/>
              </a:rPr>
              <a:t> INMEDIATA</a:t>
            </a:r>
            <a:endParaRPr/>
          </a:p>
        </p:txBody>
      </p:sp>
      <p:sp>
        <p:nvSpPr>
          <p:cNvPr id="194" name="Google Shape;194;p6"/>
          <p:cNvSpPr txBox="1"/>
          <p:nvPr/>
        </p:nvSpPr>
        <p:spPr>
          <a:xfrm>
            <a:off x="1431667" y="4784982"/>
            <a:ext cx="3096858" cy="1254096"/>
          </a:xfrm>
          <a:prstGeom prst="rect">
            <a:avLst/>
          </a:prstGeom>
          <a:noFill/>
          <a:ln>
            <a:noFill/>
          </a:ln>
        </p:spPr>
        <p:txBody>
          <a:bodyPr anchorCtr="0" anchor="t" bIns="0" lIns="0" spcFirstLastPara="1" rIns="0" wrap="square" tIns="0">
            <a:spAutoFit/>
          </a:bodyPr>
          <a:lstStyle/>
          <a:p>
            <a:pPr indent="0" lvl="0" marL="0" marR="0" rtl="0" algn="just">
              <a:lnSpc>
                <a:spcPct val="133026"/>
              </a:lnSpc>
              <a:spcBef>
                <a:spcPts val="0"/>
              </a:spcBef>
              <a:spcAft>
                <a:spcPts val="0"/>
              </a:spcAft>
              <a:buNone/>
            </a:pPr>
            <a:r>
              <a:rPr lang="en-US" sz="2501">
                <a:solidFill>
                  <a:srgbClr val="253439"/>
                </a:solidFill>
                <a:latin typeface="Arial"/>
                <a:ea typeface="Arial"/>
                <a:cs typeface="Arial"/>
                <a:sym typeface="Arial"/>
              </a:rPr>
              <a:t>Una única premisa lleva directamente a una conclusión.</a:t>
            </a:r>
            <a:endParaRPr/>
          </a:p>
        </p:txBody>
      </p:sp>
      <p:sp>
        <p:nvSpPr>
          <p:cNvPr id="195" name="Google Shape;195;p6"/>
          <p:cNvSpPr txBox="1"/>
          <p:nvPr/>
        </p:nvSpPr>
        <p:spPr>
          <a:xfrm>
            <a:off x="1028700" y="6594702"/>
            <a:ext cx="3499826" cy="834996"/>
          </a:xfrm>
          <a:prstGeom prst="rect">
            <a:avLst/>
          </a:prstGeom>
          <a:noFill/>
          <a:ln>
            <a:noFill/>
          </a:ln>
        </p:spPr>
        <p:txBody>
          <a:bodyPr anchorCtr="0" anchor="t" bIns="0" lIns="0" spcFirstLastPara="1" rIns="0" wrap="square" tIns="0">
            <a:spAutoFit/>
          </a:bodyPr>
          <a:lstStyle/>
          <a:p>
            <a:pPr indent="-270067" lvl="1" marL="540135" marR="0" rtl="0" algn="just">
              <a:lnSpc>
                <a:spcPct val="133026"/>
              </a:lnSpc>
              <a:spcBef>
                <a:spcPts val="0"/>
              </a:spcBef>
              <a:spcAft>
                <a:spcPts val="0"/>
              </a:spcAft>
              <a:buClr>
                <a:srgbClr val="253439"/>
              </a:buClr>
              <a:buSzPts val="2501"/>
              <a:buFont typeface="Arial"/>
              <a:buChar char="•"/>
            </a:pPr>
            <a:r>
              <a:rPr b="0" i="0" lang="en-US" sz="2501" u="none" cap="none" strike="noStrike">
                <a:solidFill>
                  <a:srgbClr val="253439"/>
                </a:solidFill>
                <a:latin typeface="Arial"/>
                <a:ea typeface="Arial"/>
                <a:cs typeface="Arial"/>
                <a:sym typeface="Arial"/>
              </a:rPr>
              <a:t>Todos los mamíferos respiran.</a:t>
            </a:r>
            <a:endParaRPr/>
          </a:p>
        </p:txBody>
      </p:sp>
      <p:sp>
        <p:nvSpPr>
          <p:cNvPr id="196" name="Google Shape;196;p6"/>
          <p:cNvSpPr txBox="1"/>
          <p:nvPr/>
        </p:nvSpPr>
        <p:spPr>
          <a:xfrm>
            <a:off x="1042229" y="7901815"/>
            <a:ext cx="3486296" cy="834996"/>
          </a:xfrm>
          <a:prstGeom prst="rect">
            <a:avLst/>
          </a:prstGeom>
          <a:noFill/>
          <a:ln>
            <a:noFill/>
          </a:ln>
        </p:spPr>
        <p:txBody>
          <a:bodyPr anchorCtr="0" anchor="t" bIns="0" lIns="0" spcFirstLastPara="1" rIns="0" wrap="square" tIns="0">
            <a:spAutoFit/>
          </a:bodyPr>
          <a:lstStyle/>
          <a:p>
            <a:pPr indent="-270067" lvl="1" marL="540135" marR="0" rtl="0" algn="just">
              <a:lnSpc>
                <a:spcPct val="133026"/>
              </a:lnSpc>
              <a:spcBef>
                <a:spcPts val="0"/>
              </a:spcBef>
              <a:spcAft>
                <a:spcPts val="0"/>
              </a:spcAft>
              <a:buClr>
                <a:srgbClr val="3C38B9"/>
              </a:buClr>
              <a:buSzPts val="2501"/>
              <a:buFont typeface="Arial"/>
              <a:buChar char="•"/>
            </a:pPr>
            <a:r>
              <a:rPr b="0" i="0" lang="en-US" sz="2501" u="none" cap="none" strike="noStrike">
                <a:solidFill>
                  <a:srgbClr val="3C38B9"/>
                </a:solidFill>
                <a:latin typeface="Arial"/>
                <a:ea typeface="Arial"/>
                <a:cs typeface="Arial"/>
                <a:sym typeface="Arial"/>
              </a:rPr>
              <a:t>Un perro, siendo mamífero, respira.</a:t>
            </a:r>
            <a:endParaRPr/>
          </a:p>
        </p:txBody>
      </p:sp>
      <p:sp>
        <p:nvSpPr>
          <p:cNvPr id="197" name="Google Shape;197;p6"/>
          <p:cNvSpPr txBox="1"/>
          <p:nvPr/>
        </p:nvSpPr>
        <p:spPr>
          <a:xfrm>
            <a:off x="5639767" y="4366789"/>
            <a:ext cx="2973682" cy="450985"/>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lang="en-US" sz="2674">
                <a:solidFill>
                  <a:srgbClr val="253439"/>
                </a:solidFill>
                <a:latin typeface="Arial"/>
                <a:ea typeface="Arial"/>
                <a:cs typeface="Arial"/>
                <a:sym typeface="Arial"/>
              </a:rPr>
              <a:t> MEDIATA</a:t>
            </a:r>
            <a:endParaRPr/>
          </a:p>
        </p:txBody>
      </p:sp>
      <p:sp>
        <p:nvSpPr>
          <p:cNvPr id="198" name="Google Shape;198;p6"/>
          <p:cNvSpPr txBox="1"/>
          <p:nvPr/>
        </p:nvSpPr>
        <p:spPr>
          <a:xfrm>
            <a:off x="5578179" y="4784982"/>
            <a:ext cx="3096858" cy="1254096"/>
          </a:xfrm>
          <a:prstGeom prst="rect">
            <a:avLst/>
          </a:prstGeom>
          <a:noFill/>
          <a:ln>
            <a:noFill/>
          </a:ln>
        </p:spPr>
        <p:txBody>
          <a:bodyPr anchorCtr="0" anchor="t" bIns="0" lIns="0" spcFirstLastPara="1" rIns="0" wrap="square" tIns="0">
            <a:spAutoFit/>
          </a:bodyPr>
          <a:lstStyle/>
          <a:p>
            <a:pPr indent="0" lvl="0" marL="0" marR="0" rtl="0" algn="just">
              <a:lnSpc>
                <a:spcPct val="133026"/>
              </a:lnSpc>
              <a:spcBef>
                <a:spcPts val="0"/>
              </a:spcBef>
              <a:spcAft>
                <a:spcPts val="0"/>
              </a:spcAft>
              <a:buNone/>
            </a:pPr>
            <a:r>
              <a:rPr lang="en-US" sz="2501">
                <a:solidFill>
                  <a:srgbClr val="253439"/>
                </a:solidFill>
                <a:latin typeface="Arial"/>
                <a:ea typeface="Arial"/>
                <a:cs typeface="Arial"/>
                <a:sym typeface="Arial"/>
              </a:rPr>
              <a:t>Se necesitan múltiples premisas para llegar a una conclusión.</a:t>
            </a:r>
            <a:endParaRPr/>
          </a:p>
        </p:txBody>
      </p:sp>
      <p:sp>
        <p:nvSpPr>
          <p:cNvPr id="199" name="Google Shape;199;p6"/>
          <p:cNvSpPr txBox="1"/>
          <p:nvPr/>
        </p:nvSpPr>
        <p:spPr>
          <a:xfrm>
            <a:off x="5175212" y="6241755"/>
            <a:ext cx="3499826" cy="654095"/>
          </a:xfrm>
          <a:prstGeom prst="rect">
            <a:avLst/>
          </a:prstGeom>
          <a:noFill/>
          <a:ln>
            <a:noFill/>
          </a:ln>
        </p:spPr>
        <p:txBody>
          <a:bodyPr anchorCtr="0" anchor="t" bIns="0" lIns="0" spcFirstLastPara="1" rIns="0" wrap="square" tIns="0">
            <a:spAutoFit/>
          </a:bodyPr>
          <a:lstStyle/>
          <a:p>
            <a:pPr indent="-270067" lvl="1" marL="540135" marR="0" rtl="0" algn="just">
              <a:lnSpc>
                <a:spcPct val="100000"/>
              </a:lnSpc>
              <a:spcBef>
                <a:spcPts val="0"/>
              </a:spcBef>
              <a:spcAft>
                <a:spcPts val="0"/>
              </a:spcAft>
              <a:buClr>
                <a:srgbClr val="253439"/>
              </a:buClr>
              <a:buSzPts val="2501"/>
              <a:buFont typeface="Arial"/>
              <a:buChar char="•"/>
            </a:pPr>
            <a:r>
              <a:rPr b="0" i="0" lang="en-US" sz="2501" u="none" cap="none" strike="noStrike">
                <a:solidFill>
                  <a:srgbClr val="253439"/>
                </a:solidFill>
                <a:latin typeface="Arial"/>
                <a:ea typeface="Arial"/>
                <a:cs typeface="Arial"/>
                <a:sym typeface="Arial"/>
              </a:rPr>
              <a:t>Todos los mamíferos tienen corazón.</a:t>
            </a:r>
            <a:endParaRPr/>
          </a:p>
        </p:txBody>
      </p:sp>
      <p:sp>
        <p:nvSpPr>
          <p:cNvPr id="200" name="Google Shape;200;p6"/>
          <p:cNvSpPr txBox="1"/>
          <p:nvPr/>
        </p:nvSpPr>
        <p:spPr>
          <a:xfrm>
            <a:off x="5188741" y="8097281"/>
            <a:ext cx="3499826" cy="834996"/>
          </a:xfrm>
          <a:prstGeom prst="rect">
            <a:avLst/>
          </a:prstGeom>
          <a:noFill/>
          <a:ln>
            <a:noFill/>
          </a:ln>
        </p:spPr>
        <p:txBody>
          <a:bodyPr anchorCtr="0" anchor="t" bIns="0" lIns="0" spcFirstLastPara="1" rIns="0" wrap="square" tIns="0">
            <a:spAutoFit/>
          </a:bodyPr>
          <a:lstStyle/>
          <a:p>
            <a:pPr indent="-270067" lvl="1" marL="540135" marR="0" rtl="0" algn="just">
              <a:lnSpc>
                <a:spcPct val="133026"/>
              </a:lnSpc>
              <a:spcBef>
                <a:spcPts val="0"/>
              </a:spcBef>
              <a:spcAft>
                <a:spcPts val="0"/>
              </a:spcAft>
              <a:buClr>
                <a:srgbClr val="3C38B9"/>
              </a:buClr>
              <a:buSzPts val="2501"/>
              <a:buFont typeface="Arial"/>
              <a:buChar char="•"/>
            </a:pPr>
            <a:r>
              <a:rPr b="0" i="0" lang="en-US" sz="2501" u="none" cap="none" strike="noStrike">
                <a:solidFill>
                  <a:srgbClr val="3C38B9"/>
                </a:solidFill>
                <a:latin typeface="Arial"/>
                <a:ea typeface="Arial"/>
                <a:cs typeface="Arial"/>
                <a:sym typeface="Arial"/>
              </a:rPr>
              <a:t>Todos los perros tienen corazón.</a:t>
            </a:r>
            <a:endParaRPr/>
          </a:p>
        </p:txBody>
      </p:sp>
      <p:sp>
        <p:nvSpPr>
          <p:cNvPr id="201" name="Google Shape;201;p6"/>
          <p:cNvSpPr txBox="1"/>
          <p:nvPr/>
        </p:nvSpPr>
        <p:spPr>
          <a:xfrm>
            <a:off x="5188741" y="7109885"/>
            <a:ext cx="3499826" cy="654095"/>
          </a:xfrm>
          <a:prstGeom prst="rect">
            <a:avLst/>
          </a:prstGeom>
          <a:noFill/>
          <a:ln>
            <a:noFill/>
          </a:ln>
        </p:spPr>
        <p:txBody>
          <a:bodyPr anchorCtr="0" anchor="t" bIns="0" lIns="0" spcFirstLastPara="1" rIns="0" wrap="square" tIns="0">
            <a:spAutoFit/>
          </a:bodyPr>
          <a:lstStyle/>
          <a:p>
            <a:pPr indent="-270067" lvl="1" marL="540135" marR="0" rtl="0" algn="just">
              <a:lnSpc>
                <a:spcPct val="100000"/>
              </a:lnSpc>
              <a:spcBef>
                <a:spcPts val="0"/>
              </a:spcBef>
              <a:spcAft>
                <a:spcPts val="0"/>
              </a:spcAft>
              <a:buClr>
                <a:srgbClr val="253439"/>
              </a:buClr>
              <a:buSzPts val="2501"/>
              <a:buFont typeface="Arial"/>
              <a:buChar char="•"/>
            </a:pPr>
            <a:r>
              <a:rPr b="0" i="0" lang="en-US" sz="2501" u="none" cap="none" strike="noStrike">
                <a:solidFill>
                  <a:srgbClr val="253439"/>
                </a:solidFill>
                <a:latin typeface="Arial"/>
                <a:ea typeface="Arial"/>
                <a:cs typeface="Arial"/>
                <a:sym typeface="Arial"/>
              </a:rPr>
              <a:t>Todos los perros son mamíferos.</a:t>
            </a:r>
            <a:endParaRPr/>
          </a:p>
        </p:txBody>
      </p:sp>
      <p:grpSp>
        <p:nvGrpSpPr>
          <p:cNvPr id="202" name="Google Shape;202;p6"/>
          <p:cNvGrpSpPr/>
          <p:nvPr/>
        </p:nvGrpSpPr>
        <p:grpSpPr>
          <a:xfrm>
            <a:off x="9321723" y="3362686"/>
            <a:ext cx="3875734" cy="5895614"/>
            <a:chOff x="0" y="-66675"/>
            <a:chExt cx="334712" cy="509151"/>
          </a:xfrm>
        </p:grpSpPr>
        <p:sp>
          <p:nvSpPr>
            <p:cNvPr id="203" name="Google Shape;203;p6"/>
            <p:cNvSpPr/>
            <p:nvPr/>
          </p:nvSpPr>
          <p:spPr>
            <a:xfrm>
              <a:off x="0" y="0"/>
              <a:ext cx="334712" cy="442476"/>
            </a:xfrm>
            <a:custGeom>
              <a:rect b="b" l="l" r="r" t="t"/>
              <a:pathLst>
                <a:path extrusionOk="0" h="442476" w="334712">
                  <a:moveTo>
                    <a:pt x="73909" y="0"/>
                  </a:moveTo>
                  <a:lnTo>
                    <a:pt x="260803" y="0"/>
                  </a:lnTo>
                  <a:cubicBezTo>
                    <a:pt x="301622" y="0"/>
                    <a:pt x="334712" y="33090"/>
                    <a:pt x="334712" y="73909"/>
                  </a:cubicBezTo>
                  <a:lnTo>
                    <a:pt x="334712" y="368567"/>
                  </a:lnTo>
                  <a:cubicBezTo>
                    <a:pt x="334712" y="409386"/>
                    <a:pt x="301622" y="442476"/>
                    <a:pt x="260803" y="442476"/>
                  </a:cubicBezTo>
                  <a:lnTo>
                    <a:pt x="73909" y="442476"/>
                  </a:lnTo>
                  <a:cubicBezTo>
                    <a:pt x="54307" y="442476"/>
                    <a:pt x="35508" y="434689"/>
                    <a:pt x="21647" y="420828"/>
                  </a:cubicBezTo>
                  <a:cubicBezTo>
                    <a:pt x="7787" y="406968"/>
                    <a:pt x="0" y="388169"/>
                    <a:pt x="0" y="368567"/>
                  </a:cubicBezTo>
                  <a:lnTo>
                    <a:pt x="0" y="73909"/>
                  </a:lnTo>
                  <a:cubicBezTo>
                    <a:pt x="0" y="33090"/>
                    <a:pt x="33090" y="0"/>
                    <a:pt x="73909" y="0"/>
                  </a:cubicBezTo>
                  <a:close/>
                </a:path>
              </a:pathLst>
            </a:custGeom>
            <a:solidFill>
              <a:srgbClr val="FFFFFF"/>
            </a:solidFill>
            <a:ln cap="rnd" cmpd="sng" w="85725">
              <a:solidFill>
                <a:srgbClr val="12229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6"/>
            <p:cNvSpPr txBox="1"/>
            <p:nvPr/>
          </p:nvSpPr>
          <p:spPr>
            <a:xfrm>
              <a:off x="0" y="-66675"/>
              <a:ext cx="334712" cy="509151"/>
            </a:xfrm>
            <a:prstGeom prst="rect">
              <a:avLst/>
            </a:prstGeom>
            <a:noFill/>
            <a:ln>
              <a:noFill/>
            </a:ln>
          </p:spPr>
          <p:txBody>
            <a:bodyPr anchorCtr="0" anchor="ctr" bIns="50800" lIns="50800" spcFirstLastPara="1" rIns="50800" wrap="square" tIns="50800">
              <a:noAutofit/>
            </a:bodyPr>
            <a:lstStyle/>
            <a:p>
              <a:pPr indent="0" lvl="0" marL="0" marR="0" rtl="0" algn="ctr">
                <a:lnSpc>
                  <a:spcPct val="2488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5" name="Google Shape;205;p6"/>
          <p:cNvSpPr txBox="1"/>
          <p:nvPr/>
        </p:nvSpPr>
        <p:spPr>
          <a:xfrm>
            <a:off x="9772749" y="4366789"/>
            <a:ext cx="2973682" cy="450985"/>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lang="en-US" sz="2674">
                <a:solidFill>
                  <a:srgbClr val="253439"/>
                </a:solidFill>
                <a:latin typeface="Arial"/>
                <a:ea typeface="Arial"/>
                <a:cs typeface="Arial"/>
                <a:sym typeface="Arial"/>
              </a:rPr>
              <a:t>DEDUCTIVA</a:t>
            </a:r>
            <a:endParaRPr/>
          </a:p>
        </p:txBody>
      </p:sp>
      <p:sp>
        <p:nvSpPr>
          <p:cNvPr id="206" name="Google Shape;206;p6"/>
          <p:cNvSpPr txBox="1"/>
          <p:nvPr/>
        </p:nvSpPr>
        <p:spPr>
          <a:xfrm>
            <a:off x="9528408" y="4861182"/>
            <a:ext cx="3451720" cy="1282745"/>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lang="en-US" sz="2501">
                <a:solidFill>
                  <a:srgbClr val="253439"/>
                </a:solidFill>
                <a:latin typeface="Arial"/>
                <a:ea typeface="Arial"/>
                <a:cs typeface="Arial"/>
                <a:sym typeface="Arial"/>
              </a:rPr>
              <a:t>Utilizan un factor común indirecto para relacionar las premisas y llegar a una conclusión.</a:t>
            </a:r>
            <a:endParaRPr/>
          </a:p>
        </p:txBody>
      </p:sp>
      <p:sp>
        <p:nvSpPr>
          <p:cNvPr id="207" name="Google Shape;207;p6"/>
          <p:cNvSpPr txBox="1"/>
          <p:nvPr/>
        </p:nvSpPr>
        <p:spPr>
          <a:xfrm>
            <a:off x="9321723" y="6324805"/>
            <a:ext cx="3499826" cy="654095"/>
          </a:xfrm>
          <a:prstGeom prst="rect">
            <a:avLst/>
          </a:prstGeom>
          <a:noFill/>
          <a:ln>
            <a:noFill/>
          </a:ln>
        </p:spPr>
        <p:txBody>
          <a:bodyPr anchorCtr="0" anchor="t" bIns="0" lIns="0" spcFirstLastPara="1" rIns="0" wrap="square" tIns="0">
            <a:spAutoFit/>
          </a:bodyPr>
          <a:lstStyle/>
          <a:p>
            <a:pPr indent="-270067" lvl="1" marL="540135" marR="0" rtl="0" algn="just">
              <a:lnSpc>
                <a:spcPct val="100000"/>
              </a:lnSpc>
              <a:spcBef>
                <a:spcPts val="0"/>
              </a:spcBef>
              <a:spcAft>
                <a:spcPts val="0"/>
              </a:spcAft>
              <a:buClr>
                <a:srgbClr val="253439"/>
              </a:buClr>
              <a:buSzPts val="2501"/>
              <a:buFont typeface="Arial"/>
              <a:buChar char="•"/>
            </a:pPr>
            <a:r>
              <a:rPr b="0" i="0" lang="en-US" sz="2501" u="none" cap="none" strike="noStrike">
                <a:solidFill>
                  <a:srgbClr val="253439"/>
                </a:solidFill>
                <a:latin typeface="Arial"/>
                <a:ea typeface="Arial"/>
                <a:cs typeface="Arial"/>
                <a:sym typeface="Arial"/>
              </a:rPr>
              <a:t>Todos los pájaros tienen alas.</a:t>
            </a:r>
            <a:endParaRPr/>
          </a:p>
        </p:txBody>
      </p:sp>
      <p:sp>
        <p:nvSpPr>
          <p:cNvPr id="208" name="Google Shape;208;p6"/>
          <p:cNvSpPr txBox="1"/>
          <p:nvPr/>
        </p:nvSpPr>
        <p:spPr>
          <a:xfrm>
            <a:off x="9321723" y="8097281"/>
            <a:ext cx="3499826" cy="415896"/>
          </a:xfrm>
          <a:prstGeom prst="rect">
            <a:avLst/>
          </a:prstGeom>
          <a:noFill/>
          <a:ln>
            <a:noFill/>
          </a:ln>
        </p:spPr>
        <p:txBody>
          <a:bodyPr anchorCtr="0" anchor="t" bIns="0" lIns="0" spcFirstLastPara="1" rIns="0" wrap="square" tIns="0">
            <a:spAutoFit/>
          </a:bodyPr>
          <a:lstStyle/>
          <a:p>
            <a:pPr indent="-270067" lvl="1" marL="540135" marR="0" rtl="0" algn="just">
              <a:lnSpc>
                <a:spcPct val="133026"/>
              </a:lnSpc>
              <a:spcBef>
                <a:spcPts val="0"/>
              </a:spcBef>
              <a:spcAft>
                <a:spcPts val="0"/>
              </a:spcAft>
              <a:buClr>
                <a:srgbClr val="3C38B9"/>
              </a:buClr>
              <a:buSzPts val="2501"/>
              <a:buFont typeface="Arial"/>
              <a:buChar char="•"/>
            </a:pPr>
            <a:r>
              <a:rPr b="0" i="0" lang="en-US" sz="2501" u="none" cap="none" strike="noStrike">
                <a:solidFill>
                  <a:srgbClr val="3C38B9"/>
                </a:solidFill>
                <a:latin typeface="Arial"/>
                <a:ea typeface="Arial"/>
                <a:cs typeface="Arial"/>
                <a:sym typeface="Arial"/>
              </a:rPr>
              <a:t>Un colibrí tiene alas</a:t>
            </a:r>
            <a:endParaRPr/>
          </a:p>
        </p:txBody>
      </p:sp>
      <p:sp>
        <p:nvSpPr>
          <p:cNvPr id="209" name="Google Shape;209;p6"/>
          <p:cNvSpPr txBox="1"/>
          <p:nvPr/>
        </p:nvSpPr>
        <p:spPr>
          <a:xfrm>
            <a:off x="9321723" y="7207618"/>
            <a:ext cx="3499826" cy="654095"/>
          </a:xfrm>
          <a:prstGeom prst="rect">
            <a:avLst/>
          </a:prstGeom>
          <a:noFill/>
          <a:ln>
            <a:noFill/>
          </a:ln>
        </p:spPr>
        <p:txBody>
          <a:bodyPr anchorCtr="0" anchor="t" bIns="0" lIns="0" spcFirstLastPara="1" rIns="0" wrap="square" tIns="0">
            <a:spAutoFit/>
          </a:bodyPr>
          <a:lstStyle/>
          <a:p>
            <a:pPr indent="-270067" lvl="1" marL="540135" marR="0" rtl="0" algn="just">
              <a:lnSpc>
                <a:spcPct val="100000"/>
              </a:lnSpc>
              <a:spcBef>
                <a:spcPts val="0"/>
              </a:spcBef>
              <a:spcAft>
                <a:spcPts val="0"/>
              </a:spcAft>
              <a:buClr>
                <a:srgbClr val="253439"/>
              </a:buClr>
              <a:buSzPts val="2501"/>
              <a:buFont typeface="Arial"/>
              <a:buChar char="•"/>
            </a:pPr>
            <a:r>
              <a:rPr b="0" i="0" lang="en-US" sz="2501" u="none" cap="none" strike="noStrike">
                <a:solidFill>
                  <a:srgbClr val="253439"/>
                </a:solidFill>
                <a:latin typeface="Arial"/>
                <a:ea typeface="Arial"/>
                <a:cs typeface="Arial"/>
                <a:sym typeface="Arial"/>
              </a:rPr>
              <a:t>Un colibrí es un pájaro.</a:t>
            </a:r>
            <a:endParaRPr/>
          </a:p>
        </p:txBody>
      </p:sp>
      <p:grpSp>
        <p:nvGrpSpPr>
          <p:cNvPr id="210" name="Google Shape;210;p6"/>
          <p:cNvGrpSpPr/>
          <p:nvPr/>
        </p:nvGrpSpPr>
        <p:grpSpPr>
          <a:xfrm>
            <a:off x="13383566" y="3362686"/>
            <a:ext cx="3875734" cy="5895614"/>
            <a:chOff x="0" y="-66675"/>
            <a:chExt cx="334712" cy="509151"/>
          </a:xfrm>
        </p:grpSpPr>
        <p:sp>
          <p:nvSpPr>
            <p:cNvPr id="211" name="Google Shape;211;p6"/>
            <p:cNvSpPr/>
            <p:nvPr/>
          </p:nvSpPr>
          <p:spPr>
            <a:xfrm>
              <a:off x="0" y="0"/>
              <a:ext cx="334712" cy="442476"/>
            </a:xfrm>
            <a:custGeom>
              <a:rect b="b" l="l" r="r" t="t"/>
              <a:pathLst>
                <a:path extrusionOk="0" h="442476" w="334712">
                  <a:moveTo>
                    <a:pt x="73909" y="0"/>
                  </a:moveTo>
                  <a:lnTo>
                    <a:pt x="260803" y="0"/>
                  </a:lnTo>
                  <a:cubicBezTo>
                    <a:pt x="301622" y="0"/>
                    <a:pt x="334712" y="33090"/>
                    <a:pt x="334712" y="73909"/>
                  </a:cubicBezTo>
                  <a:lnTo>
                    <a:pt x="334712" y="368567"/>
                  </a:lnTo>
                  <a:cubicBezTo>
                    <a:pt x="334712" y="409386"/>
                    <a:pt x="301622" y="442476"/>
                    <a:pt x="260803" y="442476"/>
                  </a:cubicBezTo>
                  <a:lnTo>
                    <a:pt x="73909" y="442476"/>
                  </a:lnTo>
                  <a:cubicBezTo>
                    <a:pt x="54307" y="442476"/>
                    <a:pt x="35508" y="434689"/>
                    <a:pt x="21647" y="420828"/>
                  </a:cubicBezTo>
                  <a:cubicBezTo>
                    <a:pt x="7787" y="406968"/>
                    <a:pt x="0" y="388169"/>
                    <a:pt x="0" y="368567"/>
                  </a:cubicBezTo>
                  <a:lnTo>
                    <a:pt x="0" y="73909"/>
                  </a:lnTo>
                  <a:cubicBezTo>
                    <a:pt x="0" y="33090"/>
                    <a:pt x="33090" y="0"/>
                    <a:pt x="73909" y="0"/>
                  </a:cubicBezTo>
                  <a:close/>
                </a:path>
              </a:pathLst>
            </a:custGeom>
            <a:solidFill>
              <a:srgbClr val="FFFFFF"/>
            </a:solidFill>
            <a:ln cap="rnd" cmpd="sng" w="85725">
              <a:solidFill>
                <a:srgbClr val="12229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6"/>
            <p:cNvSpPr txBox="1"/>
            <p:nvPr/>
          </p:nvSpPr>
          <p:spPr>
            <a:xfrm>
              <a:off x="0" y="-66675"/>
              <a:ext cx="334712" cy="509151"/>
            </a:xfrm>
            <a:prstGeom prst="rect">
              <a:avLst/>
            </a:prstGeom>
            <a:noFill/>
            <a:ln>
              <a:noFill/>
            </a:ln>
          </p:spPr>
          <p:txBody>
            <a:bodyPr anchorCtr="0" anchor="ctr" bIns="50800" lIns="50800" spcFirstLastPara="1" rIns="50800" wrap="square" tIns="50800">
              <a:noAutofit/>
            </a:bodyPr>
            <a:lstStyle/>
            <a:p>
              <a:pPr indent="0" lvl="0" marL="0" marR="0" rtl="0" algn="ctr">
                <a:lnSpc>
                  <a:spcPct val="2488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3" name="Google Shape;213;p6"/>
          <p:cNvSpPr txBox="1"/>
          <p:nvPr/>
        </p:nvSpPr>
        <p:spPr>
          <a:xfrm>
            <a:off x="13834592" y="4366789"/>
            <a:ext cx="2973682" cy="450985"/>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lang="en-US" sz="2674">
                <a:solidFill>
                  <a:srgbClr val="253439"/>
                </a:solidFill>
                <a:latin typeface="Arial"/>
                <a:ea typeface="Arial"/>
                <a:cs typeface="Arial"/>
                <a:sym typeface="Arial"/>
              </a:rPr>
              <a:t>INDUCTIVA</a:t>
            </a:r>
            <a:endParaRPr/>
          </a:p>
        </p:txBody>
      </p:sp>
      <p:sp>
        <p:nvSpPr>
          <p:cNvPr id="214" name="Google Shape;214;p6"/>
          <p:cNvSpPr txBox="1"/>
          <p:nvPr/>
        </p:nvSpPr>
        <p:spPr>
          <a:xfrm>
            <a:off x="13590251" y="4861182"/>
            <a:ext cx="3451720" cy="1282745"/>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lang="en-US" sz="2501">
                <a:solidFill>
                  <a:srgbClr val="253439"/>
                </a:solidFill>
                <a:latin typeface="Arial"/>
                <a:ea typeface="Arial"/>
                <a:cs typeface="Arial"/>
                <a:sym typeface="Arial"/>
              </a:rPr>
              <a:t>Se basan en un factor común para conectar varias premisas y llegar a una conclusión general.</a:t>
            </a:r>
            <a:endParaRPr/>
          </a:p>
        </p:txBody>
      </p:sp>
      <p:sp>
        <p:nvSpPr>
          <p:cNvPr id="215" name="Google Shape;215;p6"/>
          <p:cNvSpPr txBox="1"/>
          <p:nvPr/>
        </p:nvSpPr>
        <p:spPr>
          <a:xfrm>
            <a:off x="13383566" y="6324805"/>
            <a:ext cx="3499826" cy="654095"/>
          </a:xfrm>
          <a:prstGeom prst="rect">
            <a:avLst/>
          </a:prstGeom>
          <a:noFill/>
          <a:ln>
            <a:noFill/>
          </a:ln>
        </p:spPr>
        <p:txBody>
          <a:bodyPr anchorCtr="0" anchor="t" bIns="0" lIns="0" spcFirstLastPara="1" rIns="0" wrap="square" tIns="0">
            <a:spAutoFit/>
          </a:bodyPr>
          <a:lstStyle/>
          <a:p>
            <a:pPr indent="-270067" lvl="1" marL="540135" marR="0" rtl="0" algn="just">
              <a:lnSpc>
                <a:spcPct val="100000"/>
              </a:lnSpc>
              <a:spcBef>
                <a:spcPts val="0"/>
              </a:spcBef>
              <a:spcAft>
                <a:spcPts val="0"/>
              </a:spcAft>
              <a:buClr>
                <a:srgbClr val="253439"/>
              </a:buClr>
              <a:buSzPts val="2501"/>
              <a:buFont typeface="Arial"/>
              <a:buChar char="•"/>
            </a:pPr>
            <a:r>
              <a:rPr b="0" i="0" lang="en-US" sz="2501" u="none" cap="none" strike="noStrike">
                <a:solidFill>
                  <a:srgbClr val="253439"/>
                </a:solidFill>
                <a:latin typeface="Arial"/>
                <a:ea typeface="Arial"/>
                <a:cs typeface="Arial"/>
                <a:sym typeface="Arial"/>
              </a:rPr>
              <a:t>He visto 100 cisnes y todos son blancos.</a:t>
            </a:r>
            <a:endParaRPr/>
          </a:p>
        </p:txBody>
      </p:sp>
      <p:sp>
        <p:nvSpPr>
          <p:cNvPr id="216" name="Google Shape;216;p6"/>
          <p:cNvSpPr txBox="1"/>
          <p:nvPr/>
        </p:nvSpPr>
        <p:spPr>
          <a:xfrm>
            <a:off x="13383566" y="8223663"/>
            <a:ext cx="3499826" cy="834996"/>
          </a:xfrm>
          <a:prstGeom prst="rect">
            <a:avLst/>
          </a:prstGeom>
          <a:noFill/>
          <a:ln>
            <a:noFill/>
          </a:ln>
        </p:spPr>
        <p:txBody>
          <a:bodyPr anchorCtr="0" anchor="t" bIns="0" lIns="0" spcFirstLastPara="1" rIns="0" wrap="square" tIns="0">
            <a:spAutoFit/>
          </a:bodyPr>
          <a:lstStyle/>
          <a:p>
            <a:pPr indent="-270067" lvl="1" marL="540135" marR="0" rtl="0" algn="just">
              <a:lnSpc>
                <a:spcPct val="133026"/>
              </a:lnSpc>
              <a:spcBef>
                <a:spcPts val="0"/>
              </a:spcBef>
              <a:spcAft>
                <a:spcPts val="0"/>
              </a:spcAft>
              <a:buClr>
                <a:srgbClr val="3C38B9"/>
              </a:buClr>
              <a:buSzPts val="2501"/>
              <a:buFont typeface="Arial"/>
              <a:buChar char="•"/>
            </a:pPr>
            <a:r>
              <a:rPr b="0" i="0" lang="en-US" sz="2501" u="none" cap="none" strike="noStrike">
                <a:solidFill>
                  <a:srgbClr val="3C38B9"/>
                </a:solidFill>
                <a:latin typeface="Arial"/>
                <a:ea typeface="Arial"/>
                <a:cs typeface="Arial"/>
                <a:sym typeface="Arial"/>
              </a:rPr>
              <a:t>Todos los cisnes son blancos.</a:t>
            </a:r>
            <a:endParaRPr/>
          </a:p>
        </p:txBody>
      </p:sp>
      <p:sp>
        <p:nvSpPr>
          <p:cNvPr id="217" name="Google Shape;217;p6"/>
          <p:cNvSpPr txBox="1"/>
          <p:nvPr/>
        </p:nvSpPr>
        <p:spPr>
          <a:xfrm>
            <a:off x="13383566" y="7109885"/>
            <a:ext cx="3499826" cy="968420"/>
          </a:xfrm>
          <a:prstGeom prst="rect">
            <a:avLst/>
          </a:prstGeom>
          <a:noFill/>
          <a:ln>
            <a:noFill/>
          </a:ln>
        </p:spPr>
        <p:txBody>
          <a:bodyPr anchorCtr="0" anchor="t" bIns="0" lIns="0" spcFirstLastPara="1" rIns="0" wrap="square" tIns="0">
            <a:spAutoFit/>
          </a:bodyPr>
          <a:lstStyle/>
          <a:p>
            <a:pPr indent="-270067" lvl="1" marL="540135" marR="0" rtl="0" algn="just">
              <a:lnSpc>
                <a:spcPct val="100000"/>
              </a:lnSpc>
              <a:spcBef>
                <a:spcPts val="0"/>
              </a:spcBef>
              <a:spcAft>
                <a:spcPts val="0"/>
              </a:spcAft>
              <a:buClr>
                <a:srgbClr val="253439"/>
              </a:buClr>
              <a:buSzPts val="2501"/>
              <a:buFont typeface="Arial"/>
              <a:buChar char="•"/>
            </a:pPr>
            <a:r>
              <a:rPr b="0" i="0" lang="en-US" sz="2501" u="none" cap="none" strike="noStrike">
                <a:solidFill>
                  <a:srgbClr val="253439"/>
                </a:solidFill>
                <a:latin typeface="Arial"/>
                <a:ea typeface="Arial"/>
                <a:cs typeface="Arial"/>
                <a:sym typeface="Arial"/>
              </a:rPr>
              <a:t>Mi amigo ha visto 200 cisnes y todos son blancos.</a:t>
            </a:r>
            <a:endParaRPr/>
          </a:p>
        </p:txBody>
      </p:sp>
      <p:sp>
        <p:nvSpPr>
          <p:cNvPr id="218" name="Google Shape;218;p6"/>
          <p:cNvSpPr txBox="1"/>
          <p:nvPr/>
        </p:nvSpPr>
        <p:spPr>
          <a:xfrm>
            <a:off x="12502616" y="9505950"/>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FFFFF"/>
                </a:solidFill>
                <a:latin typeface="Arial"/>
                <a:ea typeface="Arial"/>
                <a:cs typeface="Arial"/>
                <a:sym typeface="Arial"/>
              </a:rPr>
              <a:t>Elaborado por: Robin Omar Buezo Díaz</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7"/>
          <p:cNvSpPr txBox="1"/>
          <p:nvPr/>
        </p:nvSpPr>
        <p:spPr>
          <a:xfrm>
            <a:off x="1477486" y="2155356"/>
            <a:ext cx="15333028" cy="25717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465">
                <a:solidFill>
                  <a:srgbClr val="050A30"/>
                </a:solidFill>
                <a:latin typeface="Arial"/>
                <a:ea typeface="Arial"/>
                <a:cs typeface="Arial"/>
                <a:sym typeface="Arial"/>
              </a:rPr>
              <a:t>¿Para qué sirve la Inferencia Lógica?</a:t>
            </a:r>
            <a:endParaRPr/>
          </a:p>
        </p:txBody>
      </p:sp>
      <p:grpSp>
        <p:nvGrpSpPr>
          <p:cNvPr id="225" name="Google Shape;225;p7"/>
          <p:cNvGrpSpPr/>
          <p:nvPr/>
        </p:nvGrpSpPr>
        <p:grpSpPr>
          <a:xfrm rot="-5400000">
            <a:off x="6095749" y="2420783"/>
            <a:ext cx="6818207" cy="21127995"/>
            <a:chOff x="0" y="-47625"/>
            <a:chExt cx="1795742" cy="5564575"/>
          </a:xfrm>
        </p:grpSpPr>
        <p:sp>
          <p:nvSpPr>
            <p:cNvPr id="226" name="Google Shape;226;p7"/>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7"/>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28" name="Google Shape;228;p7"/>
          <p:cNvGrpSpPr/>
          <p:nvPr/>
        </p:nvGrpSpPr>
        <p:grpSpPr>
          <a:xfrm rot="-5400000">
            <a:off x="3906656" y="-11095415"/>
            <a:ext cx="2045233" cy="21127995"/>
            <a:chOff x="0" y="-47625"/>
            <a:chExt cx="538662" cy="5564575"/>
          </a:xfrm>
        </p:grpSpPr>
        <p:sp>
          <p:nvSpPr>
            <p:cNvPr id="229" name="Google Shape;229;p7"/>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7"/>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31" name="Google Shape;231;p7"/>
          <p:cNvGrpSpPr/>
          <p:nvPr/>
        </p:nvGrpSpPr>
        <p:grpSpPr>
          <a:xfrm rot="2700000">
            <a:off x="13798263" y="-60632"/>
            <a:ext cx="4685776" cy="1748082"/>
            <a:chOff x="0" y="-47625"/>
            <a:chExt cx="1234114" cy="460400"/>
          </a:xfrm>
        </p:grpSpPr>
        <p:sp>
          <p:nvSpPr>
            <p:cNvPr id="232" name="Google Shape;232;p7"/>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7"/>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4" name="Google Shape;234;p7"/>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7"/>
          <p:cNvSpPr txBox="1"/>
          <p:nvPr/>
        </p:nvSpPr>
        <p:spPr>
          <a:xfrm>
            <a:off x="1477486" y="5255574"/>
            <a:ext cx="15333028" cy="2085976"/>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lang="en-US" sz="2999">
                <a:solidFill>
                  <a:srgbClr val="050A30"/>
                </a:solidFill>
                <a:latin typeface="Arial"/>
                <a:ea typeface="Arial"/>
                <a:cs typeface="Arial"/>
                <a:sym typeface="Arial"/>
              </a:rPr>
              <a:t>La inferencia lógica juega un papel clave en campos como la filosofía y la inteligencia artificial. En programación, facilita el diseño y desarrollo de algoritmos que toman decisiones inteligentes y ayudan a los analistas de datos a obtener conclusiones valiosas de grandes cantidades de información.</a:t>
            </a:r>
            <a:endParaRPr/>
          </a:p>
        </p:txBody>
      </p:sp>
      <p:sp>
        <p:nvSpPr>
          <p:cNvPr id="236" name="Google Shape;236;p7"/>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8"/>
          <p:cNvSpPr txBox="1"/>
          <p:nvPr/>
        </p:nvSpPr>
        <p:spPr>
          <a:xfrm>
            <a:off x="1477486" y="2155356"/>
            <a:ext cx="15333028" cy="25717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465">
                <a:solidFill>
                  <a:srgbClr val="F4F6FC"/>
                </a:solidFill>
                <a:latin typeface="Arial"/>
                <a:ea typeface="Arial"/>
                <a:cs typeface="Arial"/>
                <a:sym typeface="Arial"/>
              </a:rPr>
              <a:t>¿Cómo se usa en programación?</a:t>
            </a:r>
            <a:endParaRPr/>
          </a:p>
        </p:txBody>
      </p:sp>
      <p:grpSp>
        <p:nvGrpSpPr>
          <p:cNvPr id="243" name="Google Shape;243;p8"/>
          <p:cNvGrpSpPr/>
          <p:nvPr/>
        </p:nvGrpSpPr>
        <p:grpSpPr>
          <a:xfrm rot="-5400000">
            <a:off x="6095749" y="2420783"/>
            <a:ext cx="6818207" cy="21127995"/>
            <a:chOff x="0" y="-47625"/>
            <a:chExt cx="1795742" cy="5564575"/>
          </a:xfrm>
        </p:grpSpPr>
        <p:sp>
          <p:nvSpPr>
            <p:cNvPr id="244" name="Google Shape;244;p8"/>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8"/>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6" name="Google Shape;246;p8"/>
          <p:cNvGrpSpPr/>
          <p:nvPr/>
        </p:nvGrpSpPr>
        <p:grpSpPr>
          <a:xfrm rot="-5400000">
            <a:off x="3906656" y="-11095415"/>
            <a:ext cx="2045233" cy="21127995"/>
            <a:chOff x="0" y="-47625"/>
            <a:chExt cx="538662" cy="5564575"/>
          </a:xfrm>
        </p:grpSpPr>
        <p:sp>
          <p:nvSpPr>
            <p:cNvPr id="247" name="Google Shape;247;p8"/>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8"/>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9" name="Google Shape;249;p8"/>
          <p:cNvGrpSpPr/>
          <p:nvPr/>
        </p:nvGrpSpPr>
        <p:grpSpPr>
          <a:xfrm rot="2700000">
            <a:off x="13798263" y="-60632"/>
            <a:ext cx="4685776" cy="1748082"/>
            <a:chOff x="0" y="-47625"/>
            <a:chExt cx="1234114" cy="460400"/>
          </a:xfrm>
        </p:grpSpPr>
        <p:sp>
          <p:nvSpPr>
            <p:cNvPr id="250" name="Google Shape;250;p8"/>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8"/>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2" name="Google Shape;252;p8"/>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8"/>
          <p:cNvSpPr txBox="1"/>
          <p:nvPr/>
        </p:nvSpPr>
        <p:spPr>
          <a:xfrm>
            <a:off x="1477486" y="5255574"/>
            <a:ext cx="15333028" cy="2085976"/>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lang="en-US" sz="2999">
                <a:solidFill>
                  <a:srgbClr val="F4F6FC"/>
                </a:solidFill>
                <a:latin typeface="Arial"/>
                <a:ea typeface="Arial"/>
                <a:cs typeface="Arial"/>
                <a:sym typeface="Arial"/>
              </a:rPr>
              <a:t>En programación, la inferencia lógica se usa para crear sistemas capaces de razonar y tomar decisiones a partir de datos y reglas definidas. En áreas como la inteligencia artificial y el aprendizaje automático, esta inferencia permite que las máquinas aprendan de la información y mejoren su desempeño a medida que procesan más datos.</a:t>
            </a:r>
            <a:endParaRPr/>
          </a:p>
        </p:txBody>
      </p:sp>
      <p:sp>
        <p:nvSpPr>
          <p:cNvPr id="254" name="Google Shape;254;p8"/>
          <p:cNvSpPr txBox="1"/>
          <p:nvPr/>
        </p:nvSpPr>
        <p:spPr>
          <a:xfrm>
            <a:off x="12502616"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9"/>
          <p:cNvSpPr txBox="1"/>
          <p:nvPr/>
        </p:nvSpPr>
        <p:spPr>
          <a:xfrm>
            <a:off x="1477486" y="2338109"/>
            <a:ext cx="15333028" cy="12858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465">
                <a:solidFill>
                  <a:srgbClr val="050A30"/>
                </a:solidFill>
                <a:latin typeface="Arial"/>
                <a:ea typeface="Arial"/>
                <a:cs typeface="Arial"/>
                <a:sym typeface="Arial"/>
              </a:rPr>
              <a:t>PROLOG</a:t>
            </a:r>
            <a:endParaRPr/>
          </a:p>
        </p:txBody>
      </p:sp>
      <p:grpSp>
        <p:nvGrpSpPr>
          <p:cNvPr id="261" name="Google Shape;261;p9"/>
          <p:cNvGrpSpPr/>
          <p:nvPr/>
        </p:nvGrpSpPr>
        <p:grpSpPr>
          <a:xfrm rot="-5400000">
            <a:off x="6095749" y="2420783"/>
            <a:ext cx="6818207" cy="21127995"/>
            <a:chOff x="0" y="-47625"/>
            <a:chExt cx="1795742" cy="5564575"/>
          </a:xfrm>
        </p:grpSpPr>
        <p:sp>
          <p:nvSpPr>
            <p:cNvPr id="262" name="Google Shape;262;p9"/>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9"/>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64" name="Google Shape;264;p9"/>
          <p:cNvGrpSpPr/>
          <p:nvPr/>
        </p:nvGrpSpPr>
        <p:grpSpPr>
          <a:xfrm rot="-5400000">
            <a:off x="3906656" y="-11095415"/>
            <a:ext cx="2045233" cy="21127995"/>
            <a:chOff x="0" y="-47625"/>
            <a:chExt cx="538662" cy="5564575"/>
          </a:xfrm>
        </p:grpSpPr>
        <p:sp>
          <p:nvSpPr>
            <p:cNvPr id="265" name="Google Shape;265;p9"/>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9"/>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67" name="Google Shape;267;p9"/>
          <p:cNvGrpSpPr/>
          <p:nvPr/>
        </p:nvGrpSpPr>
        <p:grpSpPr>
          <a:xfrm rot="2700000">
            <a:off x="13798263" y="-60632"/>
            <a:ext cx="4685776" cy="1748082"/>
            <a:chOff x="0" y="-47625"/>
            <a:chExt cx="1234114" cy="460400"/>
          </a:xfrm>
        </p:grpSpPr>
        <p:sp>
          <p:nvSpPr>
            <p:cNvPr id="268" name="Google Shape;268;p9"/>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9"/>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0" name="Google Shape;270;p9"/>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9"/>
          <p:cNvSpPr txBox="1"/>
          <p:nvPr/>
        </p:nvSpPr>
        <p:spPr>
          <a:xfrm>
            <a:off x="1253100" y="4072748"/>
            <a:ext cx="15781800" cy="43395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lang="en-US" sz="2999">
                <a:solidFill>
                  <a:srgbClr val="050A30"/>
                </a:solidFill>
                <a:latin typeface="Arial"/>
                <a:ea typeface="Arial"/>
                <a:cs typeface="Arial"/>
                <a:sym typeface="Arial"/>
              </a:rPr>
              <a:t>Prolog es un lenguaje de programación lógico que se utiliza principalmente en inteligencia artificial y en áreas donde es necesario manipular bases de conocimiento o realizar razonamiento lógico.</a:t>
            </a:r>
            <a:endParaRPr/>
          </a:p>
          <a:p>
            <a:pPr indent="0" lvl="0" marL="0" marR="0" rtl="0" algn="just">
              <a:lnSpc>
                <a:spcPct val="140013"/>
              </a:lnSpc>
              <a:spcBef>
                <a:spcPts val="0"/>
              </a:spcBef>
              <a:spcAft>
                <a:spcPts val="0"/>
              </a:spcAft>
              <a:buNone/>
            </a:pPr>
            <a:r>
              <a:t/>
            </a:r>
            <a:endParaRPr b="1" sz="2999">
              <a:solidFill>
                <a:srgbClr val="050A30"/>
              </a:solidFill>
              <a:latin typeface="Arial"/>
              <a:ea typeface="Arial"/>
              <a:cs typeface="Arial"/>
              <a:sym typeface="Arial"/>
            </a:endParaRPr>
          </a:p>
          <a:p>
            <a:pPr indent="0" lvl="0" marL="0" marR="0" rtl="0" algn="just">
              <a:lnSpc>
                <a:spcPct val="140013"/>
              </a:lnSpc>
              <a:spcBef>
                <a:spcPts val="0"/>
              </a:spcBef>
              <a:spcAft>
                <a:spcPts val="0"/>
              </a:spcAft>
              <a:buNone/>
            </a:pPr>
            <a:r>
              <a:rPr b="1" lang="en-US" sz="2999">
                <a:solidFill>
                  <a:srgbClr val="050A30"/>
                </a:solidFill>
                <a:latin typeface="Arial"/>
                <a:ea typeface="Arial"/>
                <a:cs typeface="Arial"/>
                <a:sym typeface="Arial"/>
              </a:rPr>
              <a:t>Su nombre proviene de "Programming in Logic". Es un lenguaje declarativo, lo que significa que, en lugar de decirle a la computadora cómo hacer algo, le dices qué es lo que deseas lograr.</a:t>
            </a:r>
            <a:endParaRPr/>
          </a:p>
        </p:txBody>
      </p:sp>
      <p:sp>
        <p:nvSpPr>
          <p:cNvPr id="272" name="Google Shape;272;p9"/>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0"/>
          <p:cNvSpPr txBox="1"/>
          <p:nvPr/>
        </p:nvSpPr>
        <p:spPr>
          <a:xfrm>
            <a:off x="1477486" y="4338497"/>
            <a:ext cx="15333028" cy="12858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465">
                <a:solidFill>
                  <a:srgbClr val="F4F6FC"/>
                </a:solidFill>
                <a:latin typeface="Arial"/>
                <a:ea typeface="Arial"/>
                <a:cs typeface="Arial"/>
                <a:sym typeface="Arial"/>
              </a:rPr>
              <a:t>Tipos de Datos y Variables</a:t>
            </a:r>
            <a:endParaRPr/>
          </a:p>
        </p:txBody>
      </p:sp>
      <p:grpSp>
        <p:nvGrpSpPr>
          <p:cNvPr id="279" name="Google Shape;279;p10"/>
          <p:cNvGrpSpPr/>
          <p:nvPr/>
        </p:nvGrpSpPr>
        <p:grpSpPr>
          <a:xfrm rot="-5400000">
            <a:off x="6095749" y="2420783"/>
            <a:ext cx="6818207" cy="21127995"/>
            <a:chOff x="0" y="-47625"/>
            <a:chExt cx="1795742" cy="5564575"/>
          </a:xfrm>
        </p:grpSpPr>
        <p:sp>
          <p:nvSpPr>
            <p:cNvPr id="280" name="Google Shape;280;p10"/>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10"/>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82" name="Google Shape;282;p10"/>
          <p:cNvGrpSpPr/>
          <p:nvPr/>
        </p:nvGrpSpPr>
        <p:grpSpPr>
          <a:xfrm rot="-5400000">
            <a:off x="3906656" y="-11095415"/>
            <a:ext cx="2045233" cy="21127995"/>
            <a:chOff x="0" y="-47625"/>
            <a:chExt cx="538662" cy="5564575"/>
          </a:xfrm>
        </p:grpSpPr>
        <p:sp>
          <p:nvSpPr>
            <p:cNvPr id="283" name="Google Shape;283;p10"/>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10"/>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85" name="Google Shape;285;p10"/>
          <p:cNvGrpSpPr/>
          <p:nvPr/>
        </p:nvGrpSpPr>
        <p:grpSpPr>
          <a:xfrm rot="2700000">
            <a:off x="13798263" y="-60632"/>
            <a:ext cx="4685776" cy="1748082"/>
            <a:chOff x="0" y="-47625"/>
            <a:chExt cx="1234114" cy="460400"/>
          </a:xfrm>
        </p:grpSpPr>
        <p:sp>
          <p:nvSpPr>
            <p:cNvPr id="286" name="Google Shape;286;p10"/>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0"/>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8" name="Google Shape;288;p10"/>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10"/>
          <p:cNvSpPr txBox="1"/>
          <p:nvPr/>
        </p:nvSpPr>
        <p:spPr>
          <a:xfrm>
            <a:off x="12502616"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3" r="-220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11"/>
          <p:cNvSpPr/>
          <p:nvPr/>
        </p:nvSpPr>
        <p:spPr>
          <a:xfrm>
            <a:off x="9144000" y="1085850"/>
            <a:ext cx="8115300" cy="8115300"/>
          </a:xfrm>
          <a:custGeom>
            <a:rect b="b" l="l" r="r" t="t"/>
            <a:pathLst>
              <a:path extrusionOk="0" h="8115300" w="8115300">
                <a:moveTo>
                  <a:pt x="0" y="0"/>
                </a:moveTo>
                <a:lnTo>
                  <a:pt x="8115300" y="0"/>
                </a:lnTo>
                <a:lnTo>
                  <a:pt x="8115300" y="8115300"/>
                </a:lnTo>
                <a:lnTo>
                  <a:pt x="0" y="81153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6" name="Google Shape;296;p11"/>
          <p:cNvGrpSpPr/>
          <p:nvPr/>
        </p:nvGrpSpPr>
        <p:grpSpPr>
          <a:xfrm>
            <a:off x="10683676" y="2452875"/>
            <a:ext cx="5045833" cy="5270698"/>
            <a:chOff x="0" y="-47625"/>
            <a:chExt cx="1328944" cy="1388167"/>
          </a:xfrm>
        </p:grpSpPr>
        <p:sp>
          <p:nvSpPr>
            <p:cNvPr id="297" name="Google Shape;297;p11"/>
            <p:cNvSpPr/>
            <p:nvPr/>
          </p:nvSpPr>
          <p:spPr>
            <a:xfrm>
              <a:off x="0" y="0"/>
              <a:ext cx="1328944" cy="1340542"/>
            </a:xfrm>
            <a:custGeom>
              <a:rect b="b" l="l" r="r" t="t"/>
              <a:pathLst>
                <a:path extrusionOk="0" h="1340542" w="1328944">
                  <a:moveTo>
                    <a:pt x="0" y="0"/>
                  </a:moveTo>
                  <a:lnTo>
                    <a:pt x="1328944" y="0"/>
                  </a:lnTo>
                  <a:lnTo>
                    <a:pt x="1328944" y="1340542"/>
                  </a:lnTo>
                  <a:lnTo>
                    <a:pt x="0" y="134054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1"/>
            <p:cNvSpPr txBox="1"/>
            <p:nvPr/>
          </p:nvSpPr>
          <p:spPr>
            <a:xfrm>
              <a:off x="0" y="-47625"/>
              <a:ext cx="1328944" cy="1388167"/>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9" name="Google Shape;299;p11"/>
          <p:cNvSpPr txBox="1"/>
          <p:nvPr/>
        </p:nvSpPr>
        <p:spPr>
          <a:xfrm>
            <a:off x="1385161" y="3159481"/>
            <a:ext cx="7758839" cy="101727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5550">
                <a:solidFill>
                  <a:srgbClr val="050A30"/>
                </a:solidFill>
                <a:latin typeface="Arial"/>
                <a:ea typeface="Arial"/>
                <a:cs typeface="Arial"/>
                <a:sym typeface="Arial"/>
              </a:rPr>
              <a:t>ÁTOMOS</a:t>
            </a:r>
            <a:endParaRPr/>
          </a:p>
        </p:txBody>
      </p:sp>
      <p:sp>
        <p:nvSpPr>
          <p:cNvPr id="300" name="Google Shape;300;p11"/>
          <p:cNvSpPr txBox="1"/>
          <p:nvPr/>
        </p:nvSpPr>
        <p:spPr>
          <a:xfrm>
            <a:off x="1385161" y="4520405"/>
            <a:ext cx="7555756" cy="2588895"/>
          </a:xfrm>
          <a:prstGeom prst="rect">
            <a:avLst/>
          </a:prstGeom>
          <a:noFill/>
          <a:ln>
            <a:noFill/>
          </a:ln>
        </p:spPr>
        <p:txBody>
          <a:bodyPr anchorCtr="0" anchor="t" bIns="0" lIns="0" spcFirstLastPara="1" rIns="0" wrap="square" tIns="0">
            <a:spAutoFit/>
          </a:bodyPr>
          <a:lstStyle/>
          <a:p>
            <a:pPr indent="0" lvl="0" marL="0" marR="0" rtl="0" algn="just">
              <a:lnSpc>
                <a:spcPct val="150017"/>
              </a:lnSpc>
              <a:spcBef>
                <a:spcPts val="0"/>
              </a:spcBef>
              <a:spcAft>
                <a:spcPts val="0"/>
              </a:spcAft>
              <a:buNone/>
            </a:pPr>
            <a:r>
              <a:rPr b="1" lang="en-US" sz="2799">
                <a:solidFill>
                  <a:srgbClr val="050A30"/>
                </a:solidFill>
                <a:latin typeface="Arial"/>
                <a:ea typeface="Arial"/>
                <a:cs typeface="Arial"/>
                <a:sym typeface="Arial"/>
              </a:rPr>
              <a:t>Son cadenas de texto que representan constantes o identificadores, como los nombres de personas, lugares o cosas. Los átomos deben comenzar con una letra minúscula, o bien pueden ser cadenas entre comillas.</a:t>
            </a:r>
            <a:endParaRPr/>
          </a:p>
        </p:txBody>
      </p:sp>
      <p:sp>
        <p:nvSpPr>
          <p:cNvPr id="301" name="Google Shape;301;p11"/>
          <p:cNvSpPr txBox="1"/>
          <p:nvPr/>
        </p:nvSpPr>
        <p:spPr>
          <a:xfrm>
            <a:off x="1028700"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302" name="Google Shape;302;p11"/>
          <p:cNvSpPr txBox="1"/>
          <p:nvPr/>
        </p:nvSpPr>
        <p:spPr>
          <a:xfrm>
            <a:off x="10939877" y="2834678"/>
            <a:ext cx="4563009" cy="4777816"/>
          </a:xfrm>
          <a:prstGeom prst="rect">
            <a:avLst/>
          </a:prstGeom>
          <a:noFill/>
          <a:ln>
            <a:noFill/>
          </a:ln>
        </p:spPr>
        <p:txBody>
          <a:bodyPr anchorCtr="0" anchor="t" bIns="0" lIns="0" spcFirstLastPara="1" rIns="0" wrap="square" tIns="0">
            <a:spAutoFit/>
          </a:bodyPr>
          <a:lstStyle/>
          <a:p>
            <a:pPr indent="-307442" lvl="1" marL="614886" marR="0" rtl="0" algn="just">
              <a:lnSpc>
                <a:spcPct val="150000"/>
              </a:lnSpc>
              <a:spcBef>
                <a:spcPts val="0"/>
              </a:spcBef>
              <a:spcAft>
                <a:spcPts val="0"/>
              </a:spcAft>
              <a:buClr>
                <a:srgbClr val="050A30"/>
              </a:buClr>
              <a:buSzPts val="2848"/>
              <a:buFont typeface="Arial"/>
              <a:buChar char="•"/>
            </a:pPr>
            <a:r>
              <a:rPr b="1" i="0" lang="en-US" sz="2848" u="none" cap="none" strike="noStrike">
                <a:solidFill>
                  <a:srgbClr val="050A30"/>
                </a:solidFill>
                <a:latin typeface="Arial"/>
                <a:ea typeface="Arial"/>
                <a:cs typeface="Arial"/>
                <a:sym typeface="Arial"/>
              </a:rPr>
              <a:t>juan</a:t>
            </a:r>
            <a:endParaRPr/>
          </a:p>
          <a:p>
            <a:pPr indent="0" lvl="0" marL="0" marR="0" rtl="0" algn="just">
              <a:lnSpc>
                <a:spcPct val="150000"/>
              </a:lnSpc>
              <a:spcBef>
                <a:spcPts val="0"/>
              </a:spcBef>
              <a:spcAft>
                <a:spcPts val="0"/>
              </a:spcAft>
              <a:buNone/>
            </a:pPr>
            <a:r>
              <a:t/>
            </a:r>
            <a:endParaRPr b="1" sz="2848">
              <a:solidFill>
                <a:srgbClr val="050A30"/>
              </a:solidFill>
              <a:latin typeface="Arial"/>
              <a:ea typeface="Arial"/>
              <a:cs typeface="Arial"/>
              <a:sym typeface="Arial"/>
            </a:endParaRPr>
          </a:p>
          <a:p>
            <a:pPr indent="-307442" lvl="1" marL="614886" marR="0" rtl="0" algn="just">
              <a:lnSpc>
                <a:spcPct val="150000"/>
              </a:lnSpc>
              <a:spcBef>
                <a:spcPts val="0"/>
              </a:spcBef>
              <a:spcAft>
                <a:spcPts val="0"/>
              </a:spcAft>
              <a:buClr>
                <a:srgbClr val="050A30"/>
              </a:buClr>
              <a:buSzPts val="2848"/>
              <a:buFont typeface="Arial"/>
              <a:buChar char="•"/>
            </a:pPr>
            <a:r>
              <a:rPr b="1" i="0" lang="en-US" sz="2848" u="none" cap="none" strike="noStrike">
                <a:solidFill>
                  <a:srgbClr val="050A30"/>
                </a:solidFill>
                <a:latin typeface="Arial"/>
                <a:ea typeface="Arial"/>
                <a:cs typeface="Arial"/>
                <a:sym typeface="Arial"/>
              </a:rPr>
              <a:t>maria</a:t>
            </a:r>
            <a:endParaRPr/>
          </a:p>
          <a:p>
            <a:pPr indent="0" lvl="0" marL="0" marR="0" rtl="0" algn="just">
              <a:lnSpc>
                <a:spcPct val="150000"/>
              </a:lnSpc>
              <a:spcBef>
                <a:spcPts val="0"/>
              </a:spcBef>
              <a:spcAft>
                <a:spcPts val="0"/>
              </a:spcAft>
              <a:buNone/>
            </a:pPr>
            <a:r>
              <a:t/>
            </a:r>
            <a:endParaRPr b="1" sz="2848">
              <a:solidFill>
                <a:srgbClr val="050A30"/>
              </a:solidFill>
              <a:latin typeface="Arial"/>
              <a:ea typeface="Arial"/>
              <a:cs typeface="Arial"/>
              <a:sym typeface="Arial"/>
            </a:endParaRPr>
          </a:p>
          <a:p>
            <a:pPr indent="-307442" lvl="1" marL="614886" marR="0" rtl="0" algn="just">
              <a:lnSpc>
                <a:spcPct val="150000"/>
              </a:lnSpc>
              <a:spcBef>
                <a:spcPts val="0"/>
              </a:spcBef>
              <a:spcAft>
                <a:spcPts val="0"/>
              </a:spcAft>
              <a:buClr>
                <a:srgbClr val="050A30"/>
              </a:buClr>
              <a:buSzPts val="2848"/>
              <a:buFont typeface="Arial"/>
              <a:buChar char="•"/>
            </a:pPr>
            <a:r>
              <a:rPr b="1" i="0" lang="en-US" sz="2848" u="none" cap="none" strike="noStrike">
                <a:solidFill>
                  <a:srgbClr val="050A30"/>
                </a:solidFill>
                <a:latin typeface="Arial"/>
                <a:ea typeface="Arial"/>
                <a:cs typeface="Arial"/>
                <a:sym typeface="Arial"/>
              </a:rPr>
              <a:t>perro</a:t>
            </a:r>
            <a:endParaRPr/>
          </a:p>
          <a:p>
            <a:pPr indent="0" lvl="0" marL="0" marR="0" rtl="0" algn="just">
              <a:lnSpc>
                <a:spcPct val="150000"/>
              </a:lnSpc>
              <a:spcBef>
                <a:spcPts val="0"/>
              </a:spcBef>
              <a:spcAft>
                <a:spcPts val="0"/>
              </a:spcAft>
              <a:buNone/>
            </a:pPr>
            <a:r>
              <a:t/>
            </a:r>
            <a:endParaRPr b="1" sz="2848">
              <a:solidFill>
                <a:srgbClr val="050A30"/>
              </a:solidFill>
              <a:latin typeface="Arial"/>
              <a:ea typeface="Arial"/>
              <a:cs typeface="Arial"/>
              <a:sym typeface="Arial"/>
            </a:endParaRPr>
          </a:p>
          <a:p>
            <a:pPr indent="-307442" lvl="1" marL="614886" marR="0" rtl="0" algn="just">
              <a:lnSpc>
                <a:spcPct val="150000"/>
              </a:lnSpc>
              <a:spcBef>
                <a:spcPts val="0"/>
              </a:spcBef>
              <a:spcAft>
                <a:spcPts val="0"/>
              </a:spcAft>
              <a:buClr>
                <a:srgbClr val="050A30"/>
              </a:buClr>
              <a:buSzPts val="2848"/>
              <a:buFont typeface="Arial"/>
              <a:buChar char="•"/>
            </a:pPr>
            <a:r>
              <a:rPr b="1" i="0" lang="en-US" sz="2848" u="none" cap="none" strike="noStrike">
                <a:solidFill>
                  <a:srgbClr val="050A30"/>
                </a:solidFill>
                <a:latin typeface="Arial"/>
                <a:ea typeface="Arial"/>
                <a:cs typeface="Arial"/>
                <a:sym typeface="Arial"/>
              </a:rPr>
              <a:t>“pelota”</a:t>
            </a:r>
            <a:endParaRPr/>
          </a:p>
          <a:p>
            <a:pPr indent="0" lvl="0" marL="0" marR="0" rtl="0" algn="just">
              <a:lnSpc>
                <a:spcPct val="150000"/>
              </a:lnSpc>
              <a:spcBef>
                <a:spcPts val="0"/>
              </a:spcBef>
              <a:spcAft>
                <a:spcPts val="0"/>
              </a:spcAft>
              <a:buNone/>
            </a:pPr>
            <a:r>
              <a:t/>
            </a:r>
            <a:endParaRPr b="1" sz="2848">
              <a:solidFill>
                <a:srgbClr val="050A30"/>
              </a:solidFill>
              <a:latin typeface="Arial"/>
              <a:ea typeface="Arial"/>
              <a:cs typeface="Arial"/>
              <a:sym typeface="Arial"/>
            </a:endParaRPr>
          </a:p>
          <a:p>
            <a:pPr indent="-307442" lvl="1" marL="614886" marR="0" rtl="0" algn="just">
              <a:lnSpc>
                <a:spcPct val="150000"/>
              </a:lnSpc>
              <a:spcBef>
                <a:spcPts val="0"/>
              </a:spcBef>
              <a:spcAft>
                <a:spcPts val="0"/>
              </a:spcAft>
              <a:buClr>
                <a:srgbClr val="050A30"/>
              </a:buClr>
              <a:buSzPts val="2848"/>
              <a:buFont typeface="Arial"/>
              <a:buChar char="•"/>
            </a:pPr>
            <a:r>
              <a:rPr b="1" i="0" lang="en-US" sz="2848" u="none" cap="none" strike="noStrike">
                <a:solidFill>
                  <a:srgbClr val="050A30"/>
                </a:solidFill>
                <a:latin typeface="Arial"/>
                <a:ea typeface="Arial"/>
                <a:cs typeface="Arial"/>
                <a:sym typeface="Arial"/>
              </a:rPr>
              <a:t>pais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3" r="-220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12"/>
          <p:cNvSpPr/>
          <p:nvPr/>
        </p:nvSpPr>
        <p:spPr>
          <a:xfrm>
            <a:off x="9144000" y="1085850"/>
            <a:ext cx="8115300" cy="8115300"/>
          </a:xfrm>
          <a:custGeom>
            <a:rect b="b" l="l" r="r" t="t"/>
            <a:pathLst>
              <a:path extrusionOk="0" h="8115300" w="8115300">
                <a:moveTo>
                  <a:pt x="0" y="0"/>
                </a:moveTo>
                <a:lnTo>
                  <a:pt x="8115300" y="0"/>
                </a:lnTo>
                <a:lnTo>
                  <a:pt x="8115300" y="8115300"/>
                </a:lnTo>
                <a:lnTo>
                  <a:pt x="0" y="81153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09" name="Google Shape;309;p12"/>
          <p:cNvGrpSpPr/>
          <p:nvPr/>
        </p:nvGrpSpPr>
        <p:grpSpPr>
          <a:xfrm>
            <a:off x="10683676" y="2452875"/>
            <a:ext cx="5045833" cy="5270698"/>
            <a:chOff x="0" y="-47625"/>
            <a:chExt cx="1328944" cy="1388167"/>
          </a:xfrm>
        </p:grpSpPr>
        <p:sp>
          <p:nvSpPr>
            <p:cNvPr id="310" name="Google Shape;310;p12"/>
            <p:cNvSpPr/>
            <p:nvPr/>
          </p:nvSpPr>
          <p:spPr>
            <a:xfrm>
              <a:off x="0" y="0"/>
              <a:ext cx="1328944" cy="1340542"/>
            </a:xfrm>
            <a:custGeom>
              <a:rect b="b" l="l" r="r" t="t"/>
              <a:pathLst>
                <a:path extrusionOk="0" h="1340542" w="1328944">
                  <a:moveTo>
                    <a:pt x="0" y="0"/>
                  </a:moveTo>
                  <a:lnTo>
                    <a:pt x="1328944" y="0"/>
                  </a:lnTo>
                  <a:lnTo>
                    <a:pt x="1328944" y="1340542"/>
                  </a:lnTo>
                  <a:lnTo>
                    <a:pt x="0" y="134054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2"/>
            <p:cNvSpPr txBox="1"/>
            <p:nvPr/>
          </p:nvSpPr>
          <p:spPr>
            <a:xfrm>
              <a:off x="0" y="-47625"/>
              <a:ext cx="1328944" cy="1388167"/>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2" name="Google Shape;312;p12"/>
          <p:cNvSpPr txBox="1"/>
          <p:nvPr/>
        </p:nvSpPr>
        <p:spPr>
          <a:xfrm>
            <a:off x="1385161" y="3159481"/>
            <a:ext cx="7758839" cy="101727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5550">
                <a:solidFill>
                  <a:srgbClr val="050A30"/>
                </a:solidFill>
                <a:latin typeface="Arial"/>
                <a:ea typeface="Arial"/>
                <a:cs typeface="Arial"/>
                <a:sym typeface="Arial"/>
              </a:rPr>
              <a:t>NÚMEROS</a:t>
            </a:r>
            <a:endParaRPr/>
          </a:p>
        </p:txBody>
      </p:sp>
      <p:sp>
        <p:nvSpPr>
          <p:cNvPr id="313" name="Google Shape;313;p12"/>
          <p:cNvSpPr txBox="1"/>
          <p:nvPr/>
        </p:nvSpPr>
        <p:spPr>
          <a:xfrm>
            <a:off x="1385161" y="4520405"/>
            <a:ext cx="7555756" cy="1541145"/>
          </a:xfrm>
          <a:prstGeom prst="rect">
            <a:avLst/>
          </a:prstGeom>
          <a:noFill/>
          <a:ln>
            <a:noFill/>
          </a:ln>
        </p:spPr>
        <p:txBody>
          <a:bodyPr anchorCtr="0" anchor="t" bIns="0" lIns="0" spcFirstLastPara="1" rIns="0" wrap="square" tIns="0">
            <a:spAutoFit/>
          </a:bodyPr>
          <a:lstStyle/>
          <a:p>
            <a:pPr indent="0" lvl="0" marL="0" marR="0" rtl="0" algn="just">
              <a:lnSpc>
                <a:spcPct val="150017"/>
              </a:lnSpc>
              <a:spcBef>
                <a:spcPts val="0"/>
              </a:spcBef>
              <a:spcAft>
                <a:spcPts val="0"/>
              </a:spcAft>
              <a:buNone/>
            </a:pPr>
            <a:r>
              <a:rPr b="1" lang="en-US" sz="2799">
                <a:solidFill>
                  <a:srgbClr val="050A30"/>
                </a:solidFill>
                <a:latin typeface="Arial"/>
                <a:ea typeface="Arial"/>
                <a:cs typeface="Arial"/>
                <a:sym typeface="Arial"/>
              </a:rPr>
              <a:t>Prolog trata los números de manera estándar. Existen enteros y flotantes, como en la mayoría de lenguajes.</a:t>
            </a:r>
            <a:endParaRPr/>
          </a:p>
        </p:txBody>
      </p:sp>
      <p:sp>
        <p:nvSpPr>
          <p:cNvPr id="314" name="Google Shape;314;p12"/>
          <p:cNvSpPr txBox="1"/>
          <p:nvPr/>
        </p:nvSpPr>
        <p:spPr>
          <a:xfrm>
            <a:off x="1028700"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315" name="Google Shape;315;p12"/>
          <p:cNvSpPr txBox="1"/>
          <p:nvPr/>
        </p:nvSpPr>
        <p:spPr>
          <a:xfrm>
            <a:off x="10939877" y="2834678"/>
            <a:ext cx="4563009" cy="4777816"/>
          </a:xfrm>
          <a:prstGeom prst="rect">
            <a:avLst/>
          </a:prstGeom>
          <a:noFill/>
          <a:ln>
            <a:noFill/>
          </a:ln>
        </p:spPr>
        <p:txBody>
          <a:bodyPr anchorCtr="0" anchor="t" bIns="0" lIns="0" spcFirstLastPara="1" rIns="0" wrap="square" tIns="0">
            <a:spAutoFit/>
          </a:bodyPr>
          <a:lstStyle/>
          <a:p>
            <a:pPr indent="-307442" lvl="1" marL="614886" marR="0" rtl="0" algn="just">
              <a:lnSpc>
                <a:spcPct val="150000"/>
              </a:lnSpc>
              <a:spcBef>
                <a:spcPts val="0"/>
              </a:spcBef>
              <a:spcAft>
                <a:spcPts val="0"/>
              </a:spcAft>
              <a:buClr>
                <a:srgbClr val="050A30"/>
              </a:buClr>
              <a:buSzPts val="2848"/>
              <a:buFont typeface="Arial"/>
              <a:buChar char="•"/>
            </a:pPr>
            <a:r>
              <a:rPr b="0" i="0" lang="en-US" sz="2848" u="none" cap="none" strike="noStrike">
                <a:solidFill>
                  <a:srgbClr val="050A30"/>
                </a:solidFill>
                <a:latin typeface="Arial"/>
                <a:ea typeface="Arial"/>
                <a:cs typeface="Arial"/>
                <a:sym typeface="Arial"/>
              </a:rPr>
              <a:t>1</a:t>
            </a:r>
            <a:endParaRPr/>
          </a:p>
          <a:p>
            <a:pPr indent="0" lvl="0" marL="0" marR="0" rtl="0" algn="just">
              <a:lnSpc>
                <a:spcPct val="150000"/>
              </a:lnSpc>
              <a:spcBef>
                <a:spcPts val="0"/>
              </a:spcBef>
              <a:spcAft>
                <a:spcPts val="0"/>
              </a:spcAft>
              <a:buNone/>
            </a:pPr>
            <a:r>
              <a:t/>
            </a:r>
            <a:endParaRPr sz="2848">
              <a:solidFill>
                <a:srgbClr val="050A30"/>
              </a:solidFill>
              <a:latin typeface="Arial"/>
              <a:ea typeface="Arial"/>
              <a:cs typeface="Arial"/>
              <a:sym typeface="Arial"/>
            </a:endParaRPr>
          </a:p>
          <a:p>
            <a:pPr indent="-307442" lvl="1" marL="614886" marR="0" rtl="0" algn="just">
              <a:lnSpc>
                <a:spcPct val="150000"/>
              </a:lnSpc>
              <a:spcBef>
                <a:spcPts val="0"/>
              </a:spcBef>
              <a:spcAft>
                <a:spcPts val="0"/>
              </a:spcAft>
              <a:buClr>
                <a:srgbClr val="050A30"/>
              </a:buClr>
              <a:buSzPts val="2848"/>
              <a:buFont typeface="Arial"/>
              <a:buChar char="•"/>
            </a:pPr>
            <a:r>
              <a:rPr b="1" i="0" lang="en-US" sz="2848" u="none" cap="none" strike="noStrike">
                <a:solidFill>
                  <a:srgbClr val="050A30"/>
                </a:solidFill>
                <a:latin typeface="Arial"/>
                <a:ea typeface="Arial"/>
                <a:cs typeface="Arial"/>
                <a:sym typeface="Arial"/>
              </a:rPr>
              <a:t>10.5</a:t>
            </a:r>
            <a:endParaRPr/>
          </a:p>
          <a:p>
            <a:pPr indent="0" lvl="0" marL="0" marR="0" rtl="0" algn="just">
              <a:lnSpc>
                <a:spcPct val="150000"/>
              </a:lnSpc>
              <a:spcBef>
                <a:spcPts val="0"/>
              </a:spcBef>
              <a:spcAft>
                <a:spcPts val="0"/>
              </a:spcAft>
              <a:buNone/>
            </a:pPr>
            <a:r>
              <a:t/>
            </a:r>
            <a:endParaRPr b="1" sz="2848">
              <a:solidFill>
                <a:srgbClr val="050A30"/>
              </a:solidFill>
              <a:latin typeface="Arial"/>
              <a:ea typeface="Arial"/>
              <a:cs typeface="Arial"/>
              <a:sym typeface="Arial"/>
            </a:endParaRPr>
          </a:p>
          <a:p>
            <a:pPr indent="-307442" lvl="1" marL="614886" marR="0" rtl="0" algn="just">
              <a:lnSpc>
                <a:spcPct val="150000"/>
              </a:lnSpc>
              <a:spcBef>
                <a:spcPts val="0"/>
              </a:spcBef>
              <a:spcAft>
                <a:spcPts val="0"/>
              </a:spcAft>
              <a:buClr>
                <a:srgbClr val="050A30"/>
              </a:buClr>
              <a:buSzPts val="2848"/>
              <a:buFont typeface="Arial"/>
              <a:buChar char="•"/>
            </a:pPr>
            <a:r>
              <a:rPr b="1" i="0" lang="en-US" sz="2848" u="none" cap="none" strike="noStrike">
                <a:solidFill>
                  <a:srgbClr val="050A30"/>
                </a:solidFill>
                <a:latin typeface="Arial"/>
                <a:ea typeface="Arial"/>
                <a:cs typeface="Arial"/>
                <a:sym typeface="Arial"/>
              </a:rPr>
              <a:t>7</a:t>
            </a:r>
            <a:endParaRPr/>
          </a:p>
          <a:p>
            <a:pPr indent="0" lvl="0" marL="0" marR="0" rtl="0" algn="just">
              <a:lnSpc>
                <a:spcPct val="150000"/>
              </a:lnSpc>
              <a:spcBef>
                <a:spcPts val="0"/>
              </a:spcBef>
              <a:spcAft>
                <a:spcPts val="0"/>
              </a:spcAft>
              <a:buNone/>
            </a:pPr>
            <a:r>
              <a:t/>
            </a:r>
            <a:endParaRPr b="1" sz="2848">
              <a:solidFill>
                <a:srgbClr val="050A30"/>
              </a:solidFill>
              <a:latin typeface="Arial"/>
              <a:ea typeface="Arial"/>
              <a:cs typeface="Arial"/>
              <a:sym typeface="Arial"/>
            </a:endParaRPr>
          </a:p>
          <a:p>
            <a:pPr indent="-307442" lvl="1" marL="614886" marR="0" rtl="0" algn="just">
              <a:lnSpc>
                <a:spcPct val="150000"/>
              </a:lnSpc>
              <a:spcBef>
                <a:spcPts val="0"/>
              </a:spcBef>
              <a:spcAft>
                <a:spcPts val="0"/>
              </a:spcAft>
              <a:buClr>
                <a:srgbClr val="050A30"/>
              </a:buClr>
              <a:buSzPts val="2848"/>
              <a:buFont typeface="Arial"/>
              <a:buChar char="•"/>
            </a:pPr>
            <a:r>
              <a:rPr b="1" i="0" lang="en-US" sz="2848" u="none" cap="none" strike="noStrike">
                <a:solidFill>
                  <a:srgbClr val="050A30"/>
                </a:solidFill>
                <a:latin typeface="Arial"/>
                <a:ea typeface="Arial"/>
                <a:cs typeface="Arial"/>
                <a:sym typeface="Arial"/>
              </a:rPr>
              <a:t>20.3</a:t>
            </a:r>
            <a:endParaRPr/>
          </a:p>
          <a:p>
            <a:pPr indent="0" lvl="0" marL="0" marR="0" rtl="0" algn="just">
              <a:lnSpc>
                <a:spcPct val="150000"/>
              </a:lnSpc>
              <a:spcBef>
                <a:spcPts val="0"/>
              </a:spcBef>
              <a:spcAft>
                <a:spcPts val="0"/>
              </a:spcAft>
              <a:buNone/>
            </a:pPr>
            <a:r>
              <a:t/>
            </a:r>
            <a:endParaRPr b="1" sz="2848">
              <a:solidFill>
                <a:srgbClr val="050A30"/>
              </a:solidFill>
              <a:latin typeface="Arial"/>
              <a:ea typeface="Arial"/>
              <a:cs typeface="Arial"/>
              <a:sym typeface="Arial"/>
            </a:endParaRPr>
          </a:p>
          <a:p>
            <a:pPr indent="-307442" lvl="1" marL="614886" marR="0" rtl="0" algn="just">
              <a:lnSpc>
                <a:spcPct val="150000"/>
              </a:lnSpc>
              <a:spcBef>
                <a:spcPts val="0"/>
              </a:spcBef>
              <a:spcAft>
                <a:spcPts val="0"/>
              </a:spcAft>
              <a:buClr>
                <a:srgbClr val="050A30"/>
              </a:buClr>
              <a:buSzPts val="2848"/>
              <a:buFont typeface="Arial"/>
              <a:buChar char="•"/>
            </a:pPr>
            <a:r>
              <a:rPr b="1" i="0" lang="en-US" sz="2848" u="none" cap="none" strike="noStrike">
                <a:solidFill>
                  <a:srgbClr val="050A30"/>
                </a:solidFill>
                <a:latin typeface="Arial"/>
                <a:ea typeface="Arial"/>
                <a:cs typeface="Arial"/>
                <a:sym typeface="Arial"/>
              </a:rPr>
              <a:t>1000</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3" r="-220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13"/>
          <p:cNvSpPr/>
          <p:nvPr/>
        </p:nvSpPr>
        <p:spPr>
          <a:xfrm>
            <a:off x="9144000" y="1085850"/>
            <a:ext cx="8115300" cy="8115300"/>
          </a:xfrm>
          <a:custGeom>
            <a:rect b="b" l="l" r="r" t="t"/>
            <a:pathLst>
              <a:path extrusionOk="0" h="8115300" w="8115300">
                <a:moveTo>
                  <a:pt x="0" y="0"/>
                </a:moveTo>
                <a:lnTo>
                  <a:pt x="8115300" y="0"/>
                </a:lnTo>
                <a:lnTo>
                  <a:pt x="8115300" y="8115300"/>
                </a:lnTo>
                <a:lnTo>
                  <a:pt x="0" y="81153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22" name="Google Shape;322;p13"/>
          <p:cNvGrpSpPr/>
          <p:nvPr/>
        </p:nvGrpSpPr>
        <p:grpSpPr>
          <a:xfrm>
            <a:off x="10683676" y="2452875"/>
            <a:ext cx="5045833" cy="5270698"/>
            <a:chOff x="0" y="-47625"/>
            <a:chExt cx="1328944" cy="1388167"/>
          </a:xfrm>
        </p:grpSpPr>
        <p:sp>
          <p:nvSpPr>
            <p:cNvPr id="323" name="Google Shape;323;p13"/>
            <p:cNvSpPr/>
            <p:nvPr/>
          </p:nvSpPr>
          <p:spPr>
            <a:xfrm>
              <a:off x="0" y="0"/>
              <a:ext cx="1328944" cy="1340542"/>
            </a:xfrm>
            <a:custGeom>
              <a:rect b="b" l="l" r="r" t="t"/>
              <a:pathLst>
                <a:path extrusionOk="0" h="1340542" w="1328944">
                  <a:moveTo>
                    <a:pt x="0" y="0"/>
                  </a:moveTo>
                  <a:lnTo>
                    <a:pt x="1328944" y="0"/>
                  </a:lnTo>
                  <a:lnTo>
                    <a:pt x="1328944" y="1340542"/>
                  </a:lnTo>
                  <a:lnTo>
                    <a:pt x="0" y="134054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3"/>
            <p:cNvSpPr txBox="1"/>
            <p:nvPr/>
          </p:nvSpPr>
          <p:spPr>
            <a:xfrm>
              <a:off x="0" y="-47625"/>
              <a:ext cx="1328944" cy="1388167"/>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5" name="Google Shape;325;p13"/>
          <p:cNvSpPr txBox="1"/>
          <p:nvPr/>
        </p:nvSpPr>
        <p:spPr>
          <a:xfrm>
            <a:off x="1385161" y="2326043"/>
            <a:ext cx="7758839" cy="101727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5550">
                <a:solidFill>
                  <a:srgbClr val="050A30"/>
                </a:solidFill>
                <a:latin typeface="Arial"/>
                <a:ea typeface="Arial"/>
                <a:cs typeface="Arial"/>
                <a:sym typeface="Arial"/>
              </a:rPr>
              <a:t>VARIABLES</a:t>
            </a:r>
            <a:endParaRPr/>
          </a:p>
        </p:txBody>
      </p:sp>
      <p:sp>
        <p:nvSpPr>
          <p:cNvPr id="326" name="Google Shape;326;p13"/>
          <p:cNvSpPr txBox="1"/>
          <p:nvPr/>
        </p:nvSpPr>
        <p:spPr>
          <a:xfrm>
            <a:off x="1385161" y="3837801"/>
            <a:ext cx="7555756" cy="3636645"/>
          </a:xfrm>
          <a:prstGeom prst="rect">
            <a:avLst/>
          </a:prstGeom>
          <a:noFill/>
          <a:ln>
            <a:noFill/>
          </a:ln>
        </p:spPr>
        <p:txBody>
          <a:bodyPr anchorCtr="0" anchor="t" bIns="0" lIns="0" spcFirstLastPara="1" rIns="0" wrap="square" tIns="0">
            <a:spAutoFit/>
          </a:bodyPr>
          <a:lstStyle/>
          <a:p>
            <a:pPr indent="0" lvl="0" marL="0" marR="0" rtl="0" algn="just">
              <a:lnSpc>
                <a:spcPct val="150017"/>
              </a:lnSpc>
              <a:spcBef>
                <a:spcPts val="0"/>
              </a:spcBef>
              <a:spcAft>
                <a:spcPts val="0"/>
              </a:spcAft>
              <a:buNone/>
            </a:pPr>
            <a:r>
              <a:rPr b="1" lang="en-US" sz="2799">
                <a:solidFill>
                  <a:srgbClr val="050A30"/>
                </a:solidFill>
                <a:latin typeface="Arial"/>
                <a:ea typeface="Arial"/>
                <a:cs typeface="Arial"/>
                <a:sym typeface="Arial"/>
              </a:rPr>
              <a:t>Las variables en Prolog son representadas por nombres que comienzan con una letra mayúscula o con un guion bajo (_). Las variables pueden tomar cualquier valor durante la evaluación de una consulta, y su valor se determinará a medida que se resuelvan las reglas y hechos.</a:t>
            </a:r>
            <a:endParaRPr/>
          </a:p>
        </p:txBody>
      </p:sp>
      <p:sp>
        <p:nvSpPr>
          <p:cNvPr id="327" name="Google Shape;327;p13"/>
          <p:cNvSpPr txBox="1"/>
          <p:nvPr/>
        </p:nvSpPr>
        <p:spPr>
          <a:xfrm>
            <a:off x="1028700"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328" name="Google Shape;328;p13"/>
          <p:cNvSpPr txBox="1"/>
          <p:nvPr/>
        </p:nvSpPr>
        <p:spPr>
          <a:xfrm>
            <a:off x="10925088" y="3280267"/>
            <a:ext cx="4563009" cy="3711016"/>
          </a:xfrm>
          <a:prstGeom prst="rect">
            <a:avLst/>
          </a:prstGeom>
          <a:noFill/>
          <a:ln>
            <a:noFill/>
          </a:ln>
        </p:spPr>
        <p:txBody>
          <a:bodyPr anchorCtr="0" anchor="t" bIns="0" lIns="0" spcFirstLastPara="1" rIns="0" wrap="square" tIns="0">
            <a:spAutoFit/>
          </a:bodyPr>
          <a:lstStyle/>
          <a:p>
            <a:pPr indent="-307442" lvl="1" marL="614886" marR="0" rtl="0" algn="just">
              <a:lnSpc>
                <a:spcPct val="150000"/>
              </a:lnSpc>
              <a:spcBef>
                <a:spcPts val="0"/>
              </a:spcBef>
              <a:spcAft>
                <a:spcPts val="0"/>
              </a:spcAft>
              <a:buClr>
                <a:srgbClr val="050A30"/>
              </a:buClr>
              <a:buSzPts val="2848"/>
              <a:buFont typeface="Arial"/>
              <a:buChar char="•"/>
            </a:pPr>
            <a:r>
              <a:rPr b="0" i="0" lang="en-US" sz="2848" u="none" cap="none" strike="noStrike">
                <a:solidFill>
                  <a:srgbClr val="050A30"/>
                </a:solidFill>
                <a:latin typeface="Arial"/>
                <a:ea typeface="Arial"/>
                <a:cs typeface="Arial"/>
                <a:sym typeface="Arial"/>
              </a:rPr>
              <a:t>X</a:t>
            </a:r>
            <a:endParaRPr/>
          </a:p>
          <a:p>
            <a:pPr indent="0" lvl="0" marL="0" marR="0" rtl="0" algn="just">
              <a:lnSpc>
                <a:spcPct val="150000"/>
              </a:lnSpc>
              <a:spcBef>
                <a:spcPts val="0"/>
              </a:spcBef>
              <a:spcAft>
                <a:spcPts val="0"/>
              </a:spcAft>
              <a:buNone/>
            </a:pPr>
            <a:r>
              <a:t/>
            </a:r>
            <a:endParaRPr sz="2848">
              <a:solidFill>
                <a:srgbClr val="050A30"/>
              </a:solidFill>
              <a:latin typeface="Arial"/>
              <a:ea typeface="Arial"/>
              <a:cs typeface="Arial"/>
              <a:sym typeface="Arial"/>
            </a:endParaRPr>
          </a:p>
          <a:p>
            <a:pPr indent="-307442" lvl="1" marL="614886" marR="0" rtl="0" algn="just">
              <a:lnSpc>
                <a:spcPct val="150000"/>
              </a:lnSpc>
              <a:spcBef>
                <a:spcPts val="0"/>
              </a:spcBef>
              <a:spcAft>
                <a:spcPts val="0"/>
              </a:spcAft>
              <a:buClr>
                <a:srgbClr val="050A30"/>
              </a:buClr>
              <a:buSzPts val="2848"/>
              <a:buFont typeface="Arial"/>
              <a:buChar char="•"/>
            </a:pPr>
            <a:r>
              <a:rPr b="0" i="0" lang="en-US" sz="2848" u="none" cap="none" strike="noStrike">
                <a:solidFill>
                  <a:srgbClr val="050A30"/>
                </a:solidFill>
                <a:latin typeface="Arial"/>
                <a:ea typeface="Arial"/>
                <a:cs typeface="Arial"/>
                <a:sym typeface="Arial"/>
              </a:rPr>
              <a:t>Y</a:t>
            </a:r>
            <a:endParaRPr/>
          </a:p>
          <a:p>
            <a:pPr indent="0" lvl="0" marL="0" marR="0" rtl="0" algn="just">
              <a:lnSpc>
                <a:spcPct val="150000"/>
              </a:lnSpc>
              <a:spcBef>
                <a:spcPts val="0"/>
              </a:spcBef>
              <a:spcAft>
                <a:spcPts val="0"/>
              </a:spcAft>
              <a:buNone/>
            </a:pPr>
            <a:r>
              <a:t/>
            </a:r>
            <a:endParaRPr sz="2848">
              <a:solidFill>
                <a:srgbClr val="050A30"/>
              </a:solidFill>
              <a:latin typeface="Arial"/>
              <a:ea typeface="Arial"/>
              <a:cs typeface="Arial"/>
              <a:sym typeface="Arial"/>
            </a:endParaRPr>
          </a:p>
          <a:p>
            <a:pPr indent="-307442" lvl="1" marL="614886" marR="0" rtl="0" algn="just">
              <a:lnSpc>
                <a:spcPct val="150000"/>
              </a:lnSpc>
              <a:spcBef>
                <a:spcPts val="0"/>
              </a:spcBef>
              <a:spcAft>
                <a:spcPts val="0"/>
              </a:spcAft>
              <a:buClr>
                <a:srgbClr val="050A30"/>
              </a:buClr>
              <a:buSzPts val="2848"/>
              <a:buFont typeface="Arial"/>
              <a:buChar char="•"/>
            </a:pPr>
            <a:r>
              <a:rPr b="0" i="0" lang="en-US" sz="2848" u="none" cap="none" strike="noStrike">
                <a:solidFill>
                  <a:srgbClr val="050A30"/>
                </a:solidFill>
                <a:latin typeface="Arial"/>
                <a:ea typeface="Arial"/>
                <a:cs typeface="Arial"/>
                <a:sym typeface="Arial"/>
              </a:rPr>
              <a:t>Variable</a:t>
            </a:r>
            <a:endParaRPr/>
          </a:p>
          <a:p>
            <a:pPr indent="0" lvl="0" marL="0" marR="0" rtl="0" algn="just">
              <a:lnSpc>
                <a:spcPct val="150000"/>
              </a:lnSpc>
              <a:spcBef>
                <a:spcPts val="0"/>
              </a:spcBef>
              <a:spcAft>
                <a:spcPts val="0"/>
              </a:spcAft>
              <a:buNone/>
            </a:pPr>
            <a:r>
              <a:t/>
            </a:r>
            <a:endParaRPr sz="2848">
              <a:solidFill>
                <a:srgbClr val="050A30"/>
              </a:solidFill>
              <a:latin typeface="Arial"/>
              <a:ea typeface="Arial"/>
              <a:cs typeface="Arial"/>
              <a:sym typeface="Arial"/>
            </a:endParaRPr>
          </a:p>
          <a:p>
            <a:pPr indent="-307442" lvl="1" marL="614886" marR="0" rtl="0" algn="just">
              <a:lnSpc>
                <a:spcPct val="150000"/>
              </a:lnSpc>
              <a:spcBef>
                <a:spcPts val="0"/>
              </a:spcBef>
              <a:spcAft>
                <a:spcPts val="0"/>
              </a:spcAft>
              <a:buClr>
                <a:srgbClr val="050A30"/>
              </a:buClr>
              <a:buSzPts val="2848"/>
              <a:buFont typeface="Arial"/>
              <a:buChar char="•"/>
            </a:pPr>
            <a:r>
              <a:rPr b="0" i="0" lang="en-US" sz="2848" u="none" cap="none" strike="noStrike">
                <a:solidFill>
                  <a:srgbClr val="050A30"/>
                </a:solidFill>
                <a:latin typeface="Arial"/>
                <a:ea typeface="Arial"/>
                <a:cs typeface="Arial"/>
                <a:sym typeface="Arial"/>
              </a:rPr>
              <a:t>_</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3" r="-220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14"/>
          <p:cNvSpPr/>
          <p:nvPr/>
        </p:nvSpPr>
        <p:spPr>
          <a:xfrm>
            <a:off x="9144000" y="1085850"/>
            <a:ext cx="8115300" cy="8115300"/>
          </a:xfrm>
          <a:custGeom>
            <a:rect b="b" l="l" r="r" t="t"/>
            <a:pathLst>
              <a:path extrusionOk="0" h="8115300" w="8115300">
                <a:moveTo>
                  <a:pt x="0" y="0"/>
                </a:moveTo>
                <a:lnTo>
                  <a:pt x="8115300" y="0"/>
                </a:lnTo>
                <a:lnTo>
                  <a:pt x="8115300" y="8115300"/>
                </a:lnTo>
                <a:lnTo>
                  <a:pt x="0" y="81153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5" name="Google Shape;335;p14"/>
          <p:cNvGrpSpPr/>
          <p:nvPr/>
        </p:nvGrpSpPr>
        <p:grpSpPr>
          <a:xfrm>
            <a:off x="10683676" y="2452875"/>
            <a:ext cx="5045833" cy="5270698"/>
            <a:chOff x="0" y="-47625"/>
            <a:chExt cx="1328944" cy="1388167"/>
          </a:xfrm>
        </p:grpSpPr>
        <p:sp>
          <p:nvSpPr>
            <p:cNvPr id="336" name="Google Shape;336;p14"/>
            <p:cNvSpPr/>
            <p:nvPr/>
          </p:nvSpPr>
          <p:spPr>
            <a:xfrm>
              <a:off x="0" y="0"/>
              <a:ext cx="1328944" cy="1340542"/>
            </a:xfrm>
            <a:custGeom>
              <a:rect b="b" l="l" r="r" t="t"/>
              <a:pathLst>
                <a:path extrusionOk="0" h="1340542" w="1328944">
                  <a:moveTo>
                    <a:pt x="0" y="0"/>
                  </a:moveTo>
                  <a:lnTo>
                    <a:pt x="1328944" y="0"/>
                  </a:lnTo>
                  <a:lnTo>
                    <a:pt x="1328944" y="1340542"/>
                  </a:lnTo>
                  <a:lnTo>
                    <a:pt x="0" y="134054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14"/>
            <p:cNvSpPr txBox="1"/>
            <p:nvPr/>
          </p:nvSpPr>
          <p:spPr>
            <a:xfrm>
              <a:off x="0" y="-47625"/>
              <a:ext cx="1328944" cy="1388167"/>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8" name="Google Shape;338;p14"/>
          <p:cNvSpPr txBox="1"/>
          <p:nvPr/>
        </p:nvSpPr>
        <p:spPr>
          <a:xfrm>
            <a:off x="1385161" y="2326043"/>
            <a:ext cx="7758839" cy="101727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5550">
                <a:solidFill>
                  <a:srgbClr val="050A30"/>
                </a:solidFill>
                <a:latin typeface="Arial"/>
                <a:ea typeface="Arial"/>
                <a:cs typeface="Arial"/>
                <a:sym typeface="Arial"/>
              </a:rPr>
              <a:t>LISTAS</a:t>
            </a:r>
            <a:endParaRPr/>
          </a:p>
        </p:txBody>
      </p:sp>
      <p:sp>
        <p:nvSpPr>
          <p:cNvPr id="339" name="Google Shape;339;p14"/>
          <p:cNvSpPr txBox="1"/>
          <p:nvPr/>
        </p:nvSpPr>
        <p:spPr>
          <a:xfrm>
            <a:off x="1385161" y="3837801"/>
            <a:ext cx="7555756" cy="2588895"/>
          </a:xfrm>
          <a:prstGeom prst="rect">
            <a:avLst/>
          </a:prstGeom>
          <a:noFill/>
          <a:ln>
            <a:noFill/>
          </a:ln>
        </p:spPr>
        <p:txBody>
          <a:bodyPr anchorCtr="0" anchor="t" bIns="0" lIns="0" spcFirstLastPara="1" rIns="0" wrap="square" tIns="0">
            <a:spAutoFit/>
          </a:bodyPr>
          <a:lstStyle/>
          <a:p>
            <a:pPr indent="0" lvl="0" marL="0" marR="0" rtl="0" algn="just">
              <a:lnSpc>
                <a:spcPct val="150017"/>
              </a:lnSpc>
              <a:spcBef>
                <a:spcPts val="0"/>
              </a:spcBef>
              <a:spcAft>
                <a:spcPts val="0"/>
              </a:spcAft>
              <a:buNone/>
            </a:pPr>
            <a:r>
              <a:rPr b="1" lang="en-US" sz="2799">
                <a:solidFill>
                  <a:srgbClr val="050A30"/>
                </a:solidFill>
                <a:latin typeface="Arial"/>
                <a:ea typeface="Arial"/>
                <a:cs typeface="Arial"/>
                <a:sym typeface="Arial"/>
              </a:rPr>
              <a:t>Prolog también soporta listas, que son estructuras de datos comunes. Las listas se representan entre corchetes [] y pueden contener cualquier tipo de dato (átomos, números, variables, otros términos, etc.).</a:t>
            </a:r>
            <a:endParaRPr/>
          </a:p>
        </p:txBody>
      </p:sp>
      <p:sp>
        <p:nvSpPr>
          <p:cNvPr id="340" name="Google Shape;340;p14"/>
          <p:cNvSpPr txBox="1"/>
          <p:nvPr/>
        </p:nvSpPr>
        <p:spPr>
          <a:xfrm>
            <a:off x="1028700"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341" name="Google Shape;341;p14"/>
          <p:cNvSpPr txBox="1"/>
          <p:nvPr/>
        </p:nvSpPr>
        <p:spPr>
          <a:xfrm>
            <a:off x="10683676" y="3270742"/>
            <a:ext cx="5045833" cy="2924461"/>
          </a:xfrm>
          <a:prstGeom prst="rect">
            <a:avLst/>
          </a:prstGeom>
          <a:noFill/>
          <a:ln>
            <a:noFill/>
          </a:ln>
        </p:spPr>
        <p:txBody>
          <a:bodyPr anchorCtr="0" anchor="t" bIns="0" lIns="0" spcFirstLastPara="1" rIns="0" wrap="square" tIns="0">
            <a:spAutoFit/>
          </a:bodyPr>
          <a:lstStyle/>
          <a:p>
            <a:pPr indent="-339973" lvl="1" marL="679949" marR="0" rtl="0" algn="just">
              <a:lnSpc>
                <a:spcPct val="150015"/>
              </a:lnSpc>
              <a:spcBef>
                <a:spcPts val="0"/>
              </a:spcBef>
              <a:spcAft>
                <a:spcPts val="0"/>
              </a:spcAft>
              <a:buClr>
                <a:srgbClr val="050A30"/>
              </a:buClr>
              <a:buSzPts val="3149"/>
              <a:buFont typeface="Arial"/>
              <a:buChar char="•"/>
            </a:pPr>
            <a:r>
              <a:rPr b="0" i="0" lang="en-US" sz="3149" u="none" cap="none" strike="noStrike">
                <a:solidFill>
                  <a:srgbClr val="050A30"/>
                </a:solidFill>
                <a:latin typeface="Arial"/>
                <a:ea typeface="Arial"/>
                <a:cs typeface="Arial"/>
                <a:sym typeface="Arial"/>
              </a:rPr>
              <a:t>lista([1, 2, 3]). </a:t>
            </a:r>
            <a:endParaRPr/>
          </a:p>
          <a:p>
            <a:pPr indent="0" lvl="0" marL="0" marR="0" rtl="0" algn="just">
              <a:lnSpc>
                <a:spcPct val="150015"/>
              </a:lnSpc>
              <a:spcBef>
                <a:spcPts val="0"/>
              </a:spcBef>
              <a:spcAft>
                <a:spcPts val="0"/>
              </a:spcAft>
              <a:buNone/>
            </a:pPr>
            <a:r>
              <a:t/>
            </a:r>
            <a:endParaRPr sz="3149">
              <a:solidFill>
                <a:srgbClr val="050A30"/>
              </a:solidFill>
              <a:latin typeface="Arial"/>
              <a:ea typeface="Arial"/>
              <a:cs typeface="Arial"/>
              <a:sym typeface="Arial"/>
            </a:endParaRPr>
          </a:p>
          <a:p>
            <a:pPr indent="-339973" lvl="1" marL="679949" marR="0" rtl="0" algn="just">
              <a:lnSpc>
                <a:spcPct val="150015"/>
              </a:lnSpc>
              <a:spcBef>
                <a:spcPts val="0"/>
              </a:spcBef>
              <a:spcAft>
                <a:spcPts val="0"/>
              </a:spcAft>
              <a:buClr>
                <a:srgbClr val="050A30"/>
              </a:buClr>
              <a:buSzPts val="3149"/>
              <a:buFont typeface="Arial"/>
              <a:buChar char="•"/>
            </a:pPr>
            <a:r>
              <a:rPr b="0" i="0" lang="en-US" sz="3149" u="none" cap="none" strike="noStrike">
                <a:solidFill>
                  <a:srgbClr val="050A30"/>
                </a:solidFill>
                <a:latin typeface="Arial"/>
                <a:ea typeface="Arial"/>
                <a:cs typeface="Arial"/>
                <a:sym typeface="Arial"/>
              </a:rPr>
              <a:t>lista([juan, maria, jose]).</a:t>
            </a:r>
            <a:endParaRPr/>
          </a:p>
          <a:p>
            <a:pPr indent="0" lvl="0" marL="0" marR="0" rtl="0" algn="just">
              <a:lnSpc>
                <a:spcPct val="150015"/>
              </a:lnSpc>
              <a:spcBef>
                <a:spcPts val="0"/>
              </a:spcBef>
              <a:spcAft>
                <a:spcPts val="0"/>
              </a:spcAft>
              <a:buNone/>
            </a:pPr>
            <a:r>
              <a:t/>
            </a:r>
            <a:endParaRPr sz="3149">
              <a:solidFill>
                <a:srgbClr val="050A30"/>
              </a:solidFill>
              <a:latin typeface="Arial"/>
              <a:ea typeface="Arial"/>
              <a:cs typeface="Arial"/>
              <a:sym typeface="Arial"/>
            </a:endParaRPr>
          </a:p>
          <a:p>
            <a:pPr indent="-339973" lvl="1" marL="679949" marR="0" rtl="0" algn="just">
              <a:lnSpc>
                <a:spcPct val="150015"/>
              </a:lnSpc>
              <a:spcBef>
                <a:spcPts val="0"/>
              </a:spcBef>
              <a:spcAft>
                <a:spcPts val="0"/>
              </a:spcAft>
              <a:buClr>
                <a:srgbClr val="050A30"/>
              </a:buClr>
              <a:buSzPts val="3149"/>
              <a:buFont typeface="Arial"/>
              <a:buChar char="•"/>
            </a:pPr>
            <a:r>
              <a:rPr b="0" i="0" lang="en-US" sz="3149" u="none" cap="none" strike="noStrike">
                <a:solidFill>
                  <a:srgbClr val="050A30"/>
                </a:solidFill>
                <a:latin typeface="Arial"/>
                <a:ea typeface="Arial"/>
                <a:cs typeface="Arial"/>
                <a:sym typeface="Arial"/>
              </a:rPr>
              <a:t>lista([lista2[x1, x2], y1])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15"/>
          <p:cNvSpPr txBox="1"/>
          <p:nvPr/>
        </p:nvSpPr>
        <p:spPr>
          <a:xfrm>
            <a:off x="1477486" y="2155356"/>
            <a:ext cx="15333028" cy="12858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465">
                <a:solidFill>
                  <a:srgbClr val="F4F6FC"/>
                </a:solidFill>
                <a:latin typeface="Arial"/>
                <a:ea typeface="Arial"/>
                <a:cs typeface="Arial"/>
                <a:sym typeface="Arial"/>
              </a:rPr>
              <a:t>Reglas, Hechos y Consultas</a:t>
            </a:r>
            <a:endParaRPr/>
          </a:p>
        </p:txBody>
      </p:sp>
      <p:grpSp>
        <p:nvGrpSpPr>
          <p:cNvPr id="348" name="Google Shape;348;p15"/>
          <p:cNvGrpSpPr/>
          <p:nvPr/>
        </p:nvGrpSpPr>
        <p:grpSpPr>
          <a:xfrm rot="-5400000">
            <a:off x="6095749" y="2420783"/>
            <a:ext cx="6818207" cy="21127995"/>
            <a:chOff x="0" y="-47625"/>
            <a:chExt cx="1795742" cy="5564575"/>
          </a:xfrm>
        </p:grpSpPr>
        <p:sp>
          <p:nvSpPr>
            <p:cNvPr id="349" name="Google Shape;349;p15"/>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15"/>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1" name="Google Shape;351;p15"/>
          <p:cNvGrpSpPr/>
          <p:nvPr/>
        </p:nvGrpSpPr>
        <p:grpSpPr>
          <a:xfrm rot="-5400000">
            <a:off x="3906656" y="-11095415"/>
            <a:ext cx="2045233" cy="21127995"/>
            <a:chOff x="0" y="-47625"/>
            <a:chExt cx="538662" cy="5564575"/>
          </a:xfrm>
        </p:grpSpPr>
        <p:sp>
          <p:nvSpPr>
            <p:cNvPr id="352" name="Google Shape;352;p15"/>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15"/>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4" name="Google Shape;354;p15"/>
          <p:cNvGrpSpPr/>
          <p:nvPr/>
        </p:nvGrpSpPr>
        <p:grpSpPr>
          <a:xfrm rot="2700000">
            <a:off x="13798263" y="-60632"/>
            <a:ext cx="4685776" cy="1748082"/>
            <a:chOff x="0" y="-47625"/>
            <a:chExt cx="1234114" cy="460400"/>
          </a:xfrm>
        </p:grpSpPr>
        <p:sp>
          <p:nvSpPr>
            <p:cNvPr id="355" name="Google Shape;355;p15"/>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15"/>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7" name="Google Shape;357;p15"/>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58" name="Google Shape;358;p15"/>
          <p:cNvGrpSpPr/>
          <p:nvPr/>
        </p:nvGrpSpPr>
        <p:grpSpPr>
          <a:xfrm>
            <a:off x="2437946" y="4887147"/>
            <a:ext cx="13412107" cy="2145101"/>
            <a:chOff x="0" y="0"/>
            <a:chExt cx="4995833" cy="799022"/>
          </a:xfrm>
        </p:grpSpPr>
        <p:sp>
          <p:nvSpPr>
            <p:cNvPr id="359" name="Google Shape;359;p15"/>
            <p:cNvSpPr/>
            <p:nvPr/>
          </p:nvSpPr>
          <p:spPr>
            <a:xfrm>
              <a:off x="0" y="0"/>
              <a:ext cx="4995833" cy="799022"/>
            </a:xfrm>
            <a:custGeom>
              <a:rect b="b" l="l" r="r" t="t"/>
              <a:pathLst>
                <a:path extrusionOk="0" h="799022" w="4995833">
                  <a:moveTo>
                    <a:pt x="0" y="0"/>
                  </a:moveTo>
                  <a:lnTo>
                    <a:pt x="4995833" y="0"/>
                  </a:lnTo>
                  <a:lnTo>
                    <a:pt x="4995833" y="799022"/>
                  </a:lnTo>
                  <a:lnTo>
                    <a:pt x="0" y="799022"/>
                  </a:lnTo>
                  <a:close/>
                </a:path>
              </a:pathLst>
            </a:custGeom>
            <a:solidFill>
              <a:srgbClr val="000000">
                <a:alpha val="0"/>
              </a:srgbClr>
            </a:solidFill>
            <a:ln cap="sq" cmpd="sng" w="66675">
              <a:solidFill>
                <a:srgbClr val="9753A8"/>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15"/>
            <p:cNvSpPr txBox="1"/>
            <p:nvPr/>
          </p:nvSpPr>
          <p:spPr>
            <a:xfrm>
              <a:off x="0" y="0"/>
              <a:ext cx="4995833" cy="799022"/>
            </a:xfrm>
            <a:prstGeom prst="rect">
              <a:avLst/>
            </a:prstGeom>
            <a:noFill/>
            <a:ln>
              <a:noFill/>
            </a:ln>
          </p:spPr>
          <p:txBody>
            <a:bodyPr anchorCtr="0" anchor="ctr" bIns="48875" lIns="48875" spcFirstLastPara="1" rIns="48875" wrap="square" tIns="48875">
              <a:noAutofit/>
            </a:bodyPr>
            <a:lstStyle/>
            <a:p>
              <a:pPr indent="0" lvl="0" marL="0" marR="0" rtl="0" algn="ctr">
                <a:lnSpc>
                  <a:spcPct val="100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1" name="Google Shape;361;p15"/>
          <p:cNvSpPr txBox="1"/>
          <p:nvPr/>
        </p:nvSpPr>
        <p:spPr>
          <a:xfrm>
            <a:off x="2842693" y="5386153"/>
            <a:ext cx="12650577" cy="1038226"/>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lang="en-US" sz="2999">
                <a:solidFill>
                  <a:srgbClr val="F4F6FC"/>
                </a:solidFill>
                <a:latin typeface="Arial"/>
                <a:ea typeface="Arial"/>
                <a:cs typeface="Arial"/>
                <a:sym typeface="Arial"/>
              </a:rPr>
              <a:t>Prolog se basa en hechos, reglas y consultas para representar y razonar sobre el conocimiento.</a:t>
            </a:r>
            <a:endParaRPr/>
          </a:p>
        </p:txBody>
      </p:sp>
      <p:sp>
        <p:nvSpPr>
          <p:cNvPr id="362" name="Google Shape;362;p15"/>
          <p:cNvSpPr txBox="1"/>
          <p:nvPr/>
        </p:nvSpPr>
        <p:spPr>
          <a:xfrm>
            <a:off x="12502616"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3" r="-220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16"/>
          <p:cNvSpPr/>
          <p:nvPr/>
        </p:nvSpPr>
        <p:spPr>
          <a:xfrm>
            <a:off x="9144000" y="1085850"/>
            <a:ext cx="8115300" cy="8115300"/>
          </a:xfrm>
          <a:custGeom>
            <a:rect b="b" l="l" r="r" t="t"/>
            <a:pathLst>
              <a:path extrusionOk="0" h="8115300" w="8115300">
                <a:moveTo>
                  <a:pt x="0" y="0"/>
                </a:moveTo>
                <a:lnTo>
                  <a:pt x="8115300" y="0"/>
                </a:lnTo>
                <a:lnTo>
                  <a:pt x="8115300" y="8115300"/>
                </a:lnTo>
                <a:lnTo>
                  <a:pt x="0" y="81153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69" name="Google Shape;369;p16"/>
          <p:cNvGrpSpPr/>
          <p:nvPr/>
        </p:nvGrpSpPr>
        <p:grpSpPr>
          <a:xfrm>
            <a:off x="10111170" y="1880369"/>
            <a:ext cx="6521138" cy="6746003"/>
            <a:chOff x="0" y="-47625"/>
            <a:chExt cx="1717501" cy="1776725"/>
          </a:xfrm>
        </p:grpSpPr>
        <p:sp>
          <p:nvSpPr>
            <p:cNvPr id="370" name="Google Shape;370;p16"/>
            <p:cNvSpPr/>
            <p:nvPr/>
          </p:nvSpPr>
          <p:spPr>
            <a:xfrm>
              <a:off x="0" y="0"/>
              <a:ext cx="1717501" cy="1729100"/>
            </a:xfrm>
            <a:custGeom>
              <a:rect b="b" l="l" r="r" t="t"/>
              <a:pathLst>
                <a:path extrusionOk="0" h="1729100" w="1717501">
                  <a:moveTo>
                    <a:pt x="0" y="0"/>
                  </a:moveTo>
                  <a:lnTo>
                    <a:pt x="1717501" y="0"/>
                  </a:lnTo>
                  <a:lnTo>
                    <a:pt x="1717501" y="1729100"/>
                  </a:lnTo>
                  <a:lnTo>
                    <a:pt x="0" y="17291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16"/>
            <p:cNvSpPr txBox="1"/>
            <p:nvPr/>
          </p:nvSpPr>
          <p:spPr>
            <a:xfrm>
              <a:off x="0" y="-47625"/>
              <a:ext cx="1717501" cy="177672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2" name="Google Shape;372;p16"/>
          <p:cNvSpPr txBox="1"/>
          <p:nvPr/>
        </p:nvSpPr>
        <p:spPr>
          <a:xfrm>
            <a:off x="1385161" y="3018386"/>
            <a:ext cx="7758839" cy="101727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5550">
                <a:solidFill>
                  <a:srgbClr val="050A30"/>
                </a:solidFill>
                <a:latin typeface="Arial"/>
                <a:ea typeface="Arial"/>
                <a:cs typeface="Arial"/>
                <a:sym typeface="Arial"/>
              </a:rPr>
              <a:t>HECHOS</a:t>
            </a:r>
            <a:endParaRPr/>
          </a:p>
        </p:txBody>
      </p:sp>
      <p:sp>
        <p:nvSpPr>
          <p:cNvPr id="373" name="Google Shape;373;p16"/>
          <p:cNvSpPr txBox="1"/>
          <p:nvPr/>
        </p:nvSpPr>
        <p:spPr>
          <a:xfrm>
            <a:off x="1385161" y="4418144"/>
            <a:ext cx="7555756" cy="2065020"/>
          </a:xfrm>
          <a:prstGeom prst="rect">
            <a:avLst/>
          </a:prstGeom>
          <a:noFill/>
          <a:ln>
            <a:noFill/>
          </a:ln>
        </p:spPr>
        <p:txBody>
          <a:bodyPr anchorCtr="0" anchor="t" bIns="0" lIns="0" spcFirstLastPara="1" rIns="0" wrap="square" tIns="0">
            <a:spAutoFit/>
          </a:bodyPr>
          <a:lstStyle/>
          <a:p>
            <a:pPr indent="0" lvl="0" marL="0" marR="0" rtl="0" algn="just">
              <a:lnSpc>
                <a:spcPct val="150017"/>
              </a:lnSpc>
              <a:spcBef>
                <a:spcPts val="0"/>
              </a:spcBef>
              <a:spcAft>
                <a:spcPts val="0"/>
              </a:spcAft>
              <a:buNone/>
            </a:pPr>
            <a:r>
              <a:rPr b="1" lang="en-US" sz="2799">
                <a:solidFill>
                  <a:srgbClr val="050A30"/>
                </a:solidFill>
                <a:latin typeface="Arial"/>
                <a:ea typeface="Arial"/>
                <a:cs typeface="Arial"/>
                <a:sym typeface="Arial"/>
              </a:rPr>
              <a:t>Los hechos son declaraciones simples sobre el mundo, que se asumen como ciertos en el contexto del programa. No requieren condiciones adicionales.</a:t>
            </a:r>
            <a:endParaRPr/>
          </a:p>
        </p:txBody>
      </p:sp>
      <p:sp>
        <p:nvSpPr>
          <p:cNvPr id="374" name="Google Shape;374;p16"/>
          <p:cNvSpPr txBox="1"/>
          <p:nvPr/>
        </p:nvSpPr>
        <p:spPr>
          <a:xfrm>
            <a:off x="1028700"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375" name="Google Shape;375;p16"/>
          <p:cNvSpPr txBox="1"/>
          <p:nvPr/>
        </p:nvSpPr>
        <p:spPr>
          <a:xfrm>
            <a:off x="10678733" y="2288771"/>
            <a:ext cx="5045833" cy="2695575"/>
          </a:xfrm>
          <a:prstGeom prst="rect">
            <a:avLst/>
          </a:prstGeom>
          <a:noFill/>
          <a:ln>
            <a:noFill/>
          </a:ln>
        </p:spPr>
        <p:txBody>
          <a:bodyPr anchorCtr="0" anchor="t" bIns="0" lIns="0" spcFirstLastPara="1" rIns="0" wrap="square" tIns="0">
            <a:spAutoFit/>
          </a:bodyPr>
          <a:lstStyle/>
          <a:p>
            <a:pPr indent="-323850" lvl="1" marL="647700" marR="0" rtl="0" algn="just">
              <a:lnSpc>
                <a:spcPct val="100000"/>
              </a:lnSpc>
              <a:spcBef>
                <a:spcPts val="0"/>
              </a:spcBef>
              <a:spcAft>
                <a:spcPts val="0"/>
              </a:spcAft>
              <a:buClr>
                <a:srgbClr val="050A30"/>
              </a:buClr>
              <a:buSzPts val="3000"/>
              <a:buFont typeface="Arial"/>
              <a:buChar char="•"/>
            </a:pPr>
            <a:r>
              <a:rPr b="0" i="0" lang="en-US" sz="3000" u="none" cap="none" strike="noStrike">
                <a:solidFill>
                  <a:srgbClr val="050A30"/>
                </a:solidFill>
                <a:latin typeface="Arial"/>
                <a:ea typeface="Arial"/>
                <a:cs typeface="Arial"/>
                <a:sym typeface="Arial"/>
              </a:rPr>
              <a:t>Juan es el padre de María</a:t>
            </a:r>
            <a:endParaRPr/>
          </a:p>
          <a:p>
            <a:pPr indent="0" lvl="0" marL="0" marR="0" rtl="0" algn="just">
              <a:lnSpc>
                <a:spcPct val="100000"/>
              </a:lnSpc>
              <a:spcBef>
                <a:spcPts val="0"/>
              </a:spcBef>
              <a:spcAft>
                <a:spcPts val="0"/>
              </a:spcAft>
              <a:buNone/>
            </a:pPr>
            <a:r>
              <a:t/>
            </a:r>
            <a:endParaRPr sz="3000">
              <a:solidFill>
                <a:srgbClr val="050A30"/>
              </a:solidFill>
              <a:latin typeface="Arial"/>
              <a:ea typeface="Arial"/>
              <a:cs typeface="Arial"/>
              <a:sym typeface="Arial"/>
            </a:endParaRPr>
          </a:p>
          <a:p>
            <a:pPr indent="-323850" lvl="1" marL="647700" marR="0" rtl="0" algn="just">
              <a:lnSpc>
                <a:spcPct val="100000"/>
              </a:lnSpc>
              <a:spcBef>
                <a:spcPts val="0"/>
              </a:spcBef>
              <a:spcAft>
                <a:spcPts val="0"/>
              </a:spcAft>
              <a:buClr>
                <a:srgbClr val="050A30"/>
              </a:buClr>
              <a:buSzPts val="3000"/>
              <a:buFont typeface="Arial"/>
              <a:buChar char="•"/>
            </a:pPr>
            <a:r>
              <a:rPr b="0" i="0" lang="en-US" sz="3000" u="none" cap="none" strike="noStrike">
                <a:solidFill>
                  <a:srgbClr val="050A30"/>
                </a:solidFill>
                <a:latin typeface="Arial"/>
                <a:ea typeface="Arial"/>
                <a:cs typeface="Arial"/>
                <a:sym typeface="Arial"/>
              </a:rPr>
              <a:t>Juan es el padre de José</a:t>
            </a:r>
            <a:endParaRPr/>
          </a:p>
          <a:p>
            <a:pPr indent="0" lvl="0" marL="0" marR="0" rtl="0" algn="just">
              <a:lnSpc>
                <a:spcPct val="100000"/>
              </a:lnSpc>
              <a:spcBef>
                <a:spcPts val="0"/>
              </a:spcBef>
              <a:spcAft>
                <a:spcPts val="0"/>
              </a:spcAft>
              <a:buNone/>
            </a:pPr>
            <a:r>
              <a:t/>
            </a:r>
            <a:endParaRPr sz="3000">
              <a:solidFill>
                <a:srgbClr val="050A30"/>
              </a:solidFill>
              <a:latin typeface="Arial"/>
              <a:ea typeface="Arial"/>
              <a:cs typeface="Arial"/>
              <a:sym typeface="Arial"/>
            </a:endParaRPr>
          </a:p>
          <a:p>
            <a:pPr indent="-323850" lvl="1" marL="647700" marR="0" rtl="0" algn="just">
              <a:lnSpc>
                <a:spcPct val="100000"/>
              </a:lnSpc>
              <a:spcBef>
                <a:spcPts val="0"/>
              </a:spcBef>
              <a:spcAft>
                <a:spcPts val="0"/>
              </a:spcAft>
              <a:buClr>
                <a:srgbClr val="050A30"/>
              </a:buClr>
              <a:buSzPts val="3000"/>
              <a:buFont typeface="Arial"/>
              <a:buChar char="•"/>
            </a:pPr>
            <a:r>
              <a:rPr b="0" i="0" lang="en-US" sz="3000" u="none" cap="none" strike="noStrike">
                <a:solidFill>
                  <a:srgbClr val="050A30"/>
                </a:solidFill>
                <a:latin typeface="Arial"/>
                <a:ea typeface="Arial"/>
                <a:cs typeface="Arial"/>
                <a:sym typeface="Arial"/>
              </a:rPr>
              <a:t>Ana es la madre de María</a:t>
            </a:r>
            <a:endParaRPr/>
          </a:p>
          <a:p>
            <a:pPr indent="0" lvl="0" marL="0" marR="0" rtl="0" algn="just">
              <a:lnSpc>
                <a:spcPct val="100000"/>
              </a:lnSpc>
              <a:spcBef>
                <a:spcPts val="0"/>
              </a:spcBef>
              <a:spcAft>
                <a:spcPts val="0"/>
              </a:spcAft>
              <a:buNone/>
            </a:pPr>
            <a:r>
              <a:t/>
            </a:r>
            <a:endParaRPr sz="3000">
              <a:solidFill>
                <a:srgbClr val="050A30"/>
              </a:solidFill>
              <a:latin typeface="Arial"/>
              <a:ea typeface="Arial"/>
              <a:cs typeface="Arial"/>
              <a:sym typeface="Arial"/>
            </a:endParaRPr>
          </a:p>
          <a:p>
            <a:pPr indent="-323850" lvl="1" marL="647700" marR="0" rtl="0" algn="just">
              <a:lnSpc>
                <a:spcPct val="100000"/>
              </a:lnSpc>
              <a:spcBef>
                <a:spcPts val="0"/>
              </a:spcBef>
              <a:spcAft>
                <a:spcPts val="0"/>
              </a:spcAft>
              <a:buClr>
                <a:srgbClr val="050A30"/>
              </a:buClr>
              <a:buSzPts val="3000"/>
              <a:buFont typeface="Arial"/>
              <a:buChar char="•"/>
            </a:pPr>
            <a:r>
              <a:rPr b="0" i="0" lang="en-US" sz="3000" u="none" cap="none" strike="noStrike">
                <a:solidFill>
                  <a:srgbClr val="050A30"/>
                </a:solidFill>
                <a:latin typeface="Arial"/>
                <a:ea typeface="Arial"/>
                <a:cs typeface="Arial"/>
                <a:sym typeface="Arial"/>
              </a:rPr>
              <a:t>Ana es la madre de José</a:t>
            </a:r>
            <a:endParaRPr/>
          </a:p>
        </p:txBody>
      </p:sp>
      <p:sp>
        <p:nvSpPr>
          <p:cNvPr id="376" name="Google Shape;376;p16"/>
          <p:cNvSpPr txBox="1"/>
          <p:nvPr/>
        </p:nvSpPr>
        <p:spPr>
          <a:xfrm>
            <a:off x="10678733" y="5536379"/>
            <a:ext cx="5045833" cy="3076575"/>
          </a:xfrm>
          <a:prstGeom prst="rect">
            <a:avLst/>
          </a:prstGeom>
          <a:noFill/>
          <a:ln>
            <a:noFill/>
          </a:ln>
        </p:spPr>
        <p:txBody>
          <a:bodyPr anchorCtr="0" anchor="t" bIns="0" lIns="0" spcFirstLastPara="1" rIns="0" wrap="square" tIns="0">
            <a:spAutoFit/>
          </a:bodyPr>
          <a:lstStyle/>
          <a:p>
            <a:pPr indent="-323850" lvl="1" marL="647700" marR="0" rtl="0" algn="just">
              <a:lnSpc>
                <a:spcPct val="100000"/>
              </a:lnSpc>
              <a:spcBef>
                <a:spcPts val="0"/>
              </a:spcBef>
              <a:spcAft>
                <a:spcPts val="0"/>
              </a:spcAft>
              <a:buClr>
                <a:srgbClr val="12229D"/>
              </a:buClr>
              <a:buSzPts val="3000"/>
              <a:buFont typeface="Arial"/>
              <a:buChar char="•"/>
            </a:pPr>
            <a:r>
              <a:rPr b="0" i="0" lang="en-US" sz="3000" u="none" cap="none" strike="noStrike">
                <a:solidFill>
                  <a:srgbClr val="12229D"/>
                </a:solidFill>
                <a:latin typeface="Arial"/>
                <a:ea typeface="Arial"/>
                <a:cs typeface="Arial"/>
                <a:sym typeface="Arial"/>
              </a:rPr>
              <a:t>padre(juan, maria).</a:t>
            </a:r>
            <a:endParaRPr/>
          </a:p>
          <a:p>
            <a:pPr indent="0" lvl="0" marL="0" marR="0" rtl="0" algn="just">
              <a:lnSpc>
                <a:spcPct val="100000"/>
              </a:lnSpc>
              <a:spcBef>
                <a:spcPts val="0"/>
              </a:spcBef>
              <a:spcAft>
                <a:spcPts val="0"/>
              </a:spcAft>
              <a:buNone/>
            </a:pPr>
            <a:r>
              <a:t/>
            </a:r>
            <a:endParaRPr sz="3000">
              <a:solidFill>
                <a:srgbClr val="12229D"/>
              </a:solidFill>
              <a:latin typeface="Arial"/>
              <a:ea typeface="Arial"/>
              <a:cs typeface="Arial"/>
              <a:sym typeface="Arial"/>
            </a:endParaRPr>
          </a:p>
          <a:p>
            <a:pPr indent="-323850" lvl="1" marL="647700" marR="0" rtl="0" algn="just">
              <a:lnSpc>
                <a:spcPct val="100000"/>
              </a:lnSpc>
              <a:spcBef>
                <a:spcPts val="0"/>
              </a:spcBef>
              <a:spcAft>
                <a:spcPts val="0"/>
              </a:spcAft>
              <a:buClr>
                <a:srgbClr val="12229D"/>
              </a:buClr>
              <a:buSzPts val="3000"/>
              <a:buFont typeface="Arial"/>
              <a:buChar char="•"/>
            </a:pPr>
            <a:r>
              <a:rPr b="0" i="0" lang="en-US" sz="3000" u="none" cap="none" strike="noStrike">
                <a:solidFill>
                  <a:srgbClr val="12229D"/>
                </a:solidFill>
                <a:latin typeface="Arial"/>
                <a:ea typeface="Arial"/>
                <a:cs typeface="Arial"/>
                <a:sym typeface="Arial"/>
              </a:rPr>
              <a:t>padre(juan, jose).</a:t>
            </a:r>
            <a:endParaRPr/>
          </a:p>
          <a:p>
            <a:pPr indent="0" lvl="0" marL="0" marR="0" rtl="0" algn="just">
              <a:lnSpc>
                <a:spcPct val="100000"/>
              </a:lnSpc>
              <a:spcBef>
                <a:spcPts val="0"/>
              </a:spcBef>
              <a:spcAft>
                <a:spcPts val="0"/>
              </a:spcAft>
              <a:buNone/>
            </a:pPr>
            <a:r>
              <a:t/>
            </a:r>
            <a:endParaRPr sz="3000">
              <a:solidFill>
                <a:srgbClr val="12229D"/>
              </a:solidFill>
              <a:latin typeface="Arial"/>
              <a:ea typeface="Arial"/>
              <a:cs typeface="Arial"/>
              <a:sym typeface="Arial"/>
            </a:endParaRPr>
          </a:p>
          <a:p>
            <a:pPr indent="-323850" lvl="1" marL="647700" marR="0" rtl="0" algn="just">
              <a:lnSpc>
                <a:spcPct val="100000"/>
              </a:lnSpc>
              <a:spcBef>
                <a:spcPts val="0"/>
              </a:spcBef>
              <a:spcAft>
                <a:spcPts val="0"/>
              </a:spcAft>
              <a:buClr>
                <a:srgbClr val="12229D"/>
              </a:buClr>
              <a:buSzPts val="3000"/>
              <a:buFont typeface="Arial"/>
              <a:buChar char="•"/>
            </a:pPr>
            <a:r>
              <a:rPr b="0" i="0" lang="en-US" sz="3000" u="none" cap="none" strike="noStrike">
                <a:solidFill>
                  <a:srgbClr val="12229D"/>
                </a:solidFill>
                <a:latin typeface="Arial"/>
                <a:ea typeface="Arial"/>
                <a:cs typeface="Arial"/>
                <a:sym typeface="Arial"/>
              </a:rPr>
              <a:t>madre(ana, maria).</a:t>
            </a:r>
            <a:endParaRPr/>
          </a:p>
          <a:p>
            <a:pPr indent="0" lvl="0" marL="0" marR="0" rtl="0" algn="just">
              <a:lnSpc>
                <a:spcPct val="100000"/>
              </a:lnSpc>
              <a:spcBef>
                <a:spcPts val="0"/>
              </a:spcBef>
              <a:spcAft>
                <a:spcPts val="0"/>
              </a:spcAft>
              <a:buNone/>
            </a:pPr>
            <a:r>
              <a:t/>
            </a:r>
            <a:endParaRPr sz="3000">
              <a:solidFill>
                <a:srgbClr val="12229D"/>
              </a:solidFill>
              <a:latin typeface="Arial"/>
              <a:ea typeface="Arial"/>
              <a:cs typeface="Arial"/>
              <a:sym typeface="Arial"/>
            </a:endParaRPr>
          </a:p>
          <a:p>
            <a:pPr indent="-323850" lvl="1" marL="647700" marR="0" rtl="0" algn="just">
              <a:lnSpc>
                <a:spcPct val="100000"/>
              </a:lnSpc>
              <a:spcBef>
                <a:spcPts val="0"/>
              </a:spcBef>
              <a:spcAft>
                <a:spcPts val="0"/>
              </a:spcAft>
              <a:buClr>
                <a:srgbClr val="12229D"/>
              </a:buClr>
              <a:buSzPts val="3000"/>
              <a:buFont typeface="Arial"/>
              <a:buChar char="•"/>
            </a:pPr>
            <a:r>
              <a:rPr b="0" i="0" lang="en-US" sz="3000" u="none" cap="none" strike="noStrike">
                <a:solidFill>
                  <a:srgbClr val="12229D"/>
                </a:solidFill>
                <a:latin typeface="Arial"/>
                <a:ea typeface="Arial"/>
                <a:cs typeface="Arial"/>
                <a:sym typeface="Arial"/>
              </a:rPr>
              <a:t>madre(ana, jose).</a:t>
            </a:r>
            <a:endParaRPr/>
          </a:p>
          <a:p>
            <a:pPr indent="0" lvl="0" marL="0" marR="0" rtl="0" algn="just">
              <a:lnSpc>
                <a:spcPct val="100000"/>
              </a:lnSpc>
              <a:spcBef>
                <a:spcPts val="0"/>
              </a:spcBef>
              <a:spcAft>
                <a:spcPts val="0"/>
              </a:spcAft>
              <a:buNone/>
            </a:pPr>
            <a:r>
              <a:t/>
            </a:r>
            <a:endParaRPr sz="3000">
              <a:solidFill>
                <a:srgbClr val="12229D"/>
              </a:solidFill>
              <a:latin typeface="Arial"/>
              <a:ea typeface="Arial"/>
              <a:cs typeface="Arial"/>
              <a:sym typeface="Arial"/>
            </a:endParaRPr>
          </a:p>
        </p:txBody>
      </p:sp>
      <p:cxnSp>
        <p:nvCxnSpPr>
          <p:cNvPr id="377" name="Google Shape;377;p16"/>
          <p:cNvCxnSpPr/>
          <p:nvPr/>
        </p:nvCxnSpPr>
        <p:spPr>
          <a:xfrm>
            <a:off x="10787688" y="5200650"/>
            <a:ext cx="5149052" cy="19050"/>
          </a:xfrm>
          <a:prstGeom prst="straightConnector1">
            <a:avLst/>
          </a:prstGeom>
          <a:noFill/>
          <a:ln cap="flat" cmpd="sng" w="38100">
            <a:solidFill>
              <a:srgbClr val="000000">
                <a:alpha val="38823"/>
              </a:srgbClr>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3" r="-220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17"/>
          <p:cNvSpPr/>
          <p:nvPr/>
        </p:nvSpPr>
        <p:spPr>
          <a:xfrm>
            <a:off x="9144000" y="1085850"/>
            <a:ext cx="8115300" cy="8115300"/>
          </a:xfrm>
          <a:custGeom>
            <a:rect b="b" l="l" r="r" t="t"/>
            <a:pathLst>
              <a:path extrusionOk="0" h="8115300" w="8115300">
                <a:moveTo>
                  <a:pt x="0" y="0"/>
                </a:moveTo>
                <a:lnTo>
                  <a:pt x="8115300" y="0"/>
                </a:lnTo>
                <a:lnTo>
                  <a:pt x="8115300" y="8115300"/>
                </a:lnTo>
                <a:lnTo>
                  <a:pt x="0" y="81153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84" name="Google Shape;384;p17"/>
          <p:cNvGrpSpPr/>
          <p:nvPr/>
        </p:nvGrpSpPr>
        <p:grpSpPr>
          <a:xfrm>
            <a:off x="10111170" y="1880369"/>
            <a:ext cx="6521138" cy="6746003"/>
            <a:chOff x="0" y="-47625"/>
            <a:chExt cx="1717501" cy="1776725"/>
          </a:xfrm>
        </p:grpSpPr>
        <p:sp>
          <p:nvSpPr>
            <p:cNvPr id="385" name="Google Shape;385;p17"/>
            <p:cNvSpPr/>
            <p:nvPr/>
          </p:nvSpPr>
          <p:spPr>
            <a:xfrm>
              <a:off x="0" y="0"/>
              <a:ext cx="1717501" cy="1729100"/>
            </a:xfrm>
            <a:custGeom>
              <a:rect b="b" l="l" r="r" t="t"/>
              <a:pathLst>
                <a:path extrusionOk="0" h="1729100" w="1717501">
                  <a:moveTo>
                    <a:pt x="0" y="0"/>
                  </a:moveTo>
                  <a:lnTo>
                    <a:pt x="1717501" y="0"/>
                  </a:lnTo>
                  <a:lnTo>
                    <a:pt x="1717501" y="1729100"/>
                  </a:lnTo>
                  <a:lnTo>
                    <a:pt x="0" y="17291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17"/>
            <p:cNvSpPr txBox="1"/>
            <p:nvPr/>
          </p:nvSpPr>
          <p:spPr>
            <a:xfrm>
              <a:off x="0" y="-47625"/>
              <a:ext cx="1717501" cy="177672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7" name="Google Shape;387;p17"/>
          <p:cNvSpPr txBox="1"/>
          <p:nvPr/>
        </p:nvSpPr>
        <p:spPr>
          <a:xfrm>
            <a:off x="1385161" y="3018386"/>
            <a:ext cx="7758839" cy="101727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5550">
                <a:solidFill>
                  <a:srgbClr val="050A30"/>
                </a:solidFill>
                <a:latin typeface="Arial"/>
                <a:ea typeface="Arial"/>
                <a:cs typeface="Arial"/>
                <a:sym typeface="Arial"/>
              </a:rPr>
              <a:t>REGLAS</a:t>
            </a:r>
            <a:endParaRPr/>
          </a:p>
        </p:txBody>
      </p:sp>
      <p:sp>
        <p:nvSpPr>
          <p:cNvPr id="388" name="Google Shape;388;p17"/>
          <p:cNvSpPr txBox="1"/>
          <p:nvPr/>
        </p:nvSpPr>
        <p:spPr>
          <a:xfrm>
            <a:off x="1385161" y="4418144"/>
            <a:ext cx="7555756" cy="3636645"/>
          </a:xfrm>
          <a:prstGeom prst="rect">
            <a:avLst/>
          </a:prstGeom>
          <a:noFill/>
          <a:ln>
            <a:noFill/>
          </a:ln>
        </p:spPr>
        <p:txBody>
          <a:bodyPr anchorCtr="0" anchor="t" bIns="0" lIns="0" spcFirstLastPara="1" rIns="0" wrap="square" tIns="0">
            <a:spAutoFit/>
          </a:bodyPr>
          <a:lstStyle/>
          <a:p>
            <a:pPr indent="0" lvl="0" marL="0" marR="0" rtl="0" algn="just">
              <a:lnSpc>
                <a:spcPct val="150017"/>
              </a:lnSpc>
              <a:spcBef>
                <a:spcPts val="0"/>
              </a:spcBef>
              <a:spcAft>
                <a:spcPts val="0"/>
              </a:spcAft>
              <a:buNone/>
            </a:pPr>
            <a:r>
              <a:rPr b="1" lang="en-US" sz="2799">
                <a:solidFill>
                  <a:srgbClr val="050A30"/>
                </a:solidFill>
                <a:latin typeface="Arial"/>
                <a:ea typeface="Arial"/>
                <a:cs typeface="Arial"/>
                <a:sym typeface="Arial"/>
              </a:rPr>
              <a:t>Las reglas son relaciones lógicas que se derivan de otros hechos. Las reglas permiten hacer inferencias, ya que definen condiciones bajo las cuales algo es cierto. Una regla tiene una cabeza (lo que queremos inferir) y un cuerpo (las condiciones que deben cumplirse para que la cabeza sea cierta).</a:t>
            </a:r>
            <a:endParaRPr/>
          </a:p>
        </p:txBody>
      </p:sp>
      <p:sp>
        <p:nvSpPr>
          <p:cNvPr id="389" name="Google Shape;389;p17"/>
          <p:cNvSpPr txBox="1"/>
          <p:nvPr/>
        </p:nvSpPr>
        <p:spPr>
          <a:xfrm>
            <a:off x="1028700"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390" name="Google Shape;390;p17"/>
          <p:cNvSpPr txBox="1"/>
          <p:nvPr/>
        </p:nvSpPr>
        <p:spPr>
          <a:xfrm>
            <a:off x="10848822" y="2971800"/>
            <a:ext cx="5045833" cy="1171575"/>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1" lang="en-US" sz="3000">
                <a:solidFill>
                  <a:srgbClr val="050A30"/>
                </a:solidFill>
                <a:latin typeface="Arial"/>
                <a:ea typeface="Arial"/>
                <a:cs typeface="Arial"/>
                <a:sym typeface="Arial"/>
              </a:rPr>
              <a:t>X es hermano de Y, si P es padre de X y P es padre de Y y X no es igual a Y</a:t>
            </a:r>
            <a:endParaRPr/>
          </a:p>
        </p:txBody>
      </p:sp>
      <p:sp>
        <p:nvSpPr>
          <p:cNvPr id="391" name="Google Shape;391;p17"/>
          <p:cNvSpPr txBox="1"/>
          <p:nvPr/>
        </p:nvSpPr>
        <p:spPr>
          <a:xfrm>
            <a:off x="10848822" y="6322192"/>
            <a:ext cx="5045833" cy="790575"/>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lang="en-US" sz="3000">
                <a:solidFill>
                  <a:srgbClr val="12229D"/>
                </a:solidFill>
                <a:latin typeface="Arial"/>
                <a:ea typeface="Arial"/>
                <a:cs typeface="Arial"/>
                <a:sym typeface="Arial"/>
              </a:rPr>
              <a:t>hermano(X, Y) :- padre(P, X), padre(P, Y), X \= Y.</a:t>
            </a:r>
            <a:endParaRPr/>
          </a:p>
        </p:txBody>
      </p:sp>
      <p:cxnSp>
        <p:nvCxnSpPr>
          <p:cNvPr id="392" name="Google Shape;392;p17"/>
          <p:cNvCxnSpPr/>
          <p:nvPr/>
        </p:nvCxnSpPr>
        <p:spPr>
          <a:xfrm>
            <a:off x="10787688" y="5200650"/>
            <a:ext cx="5149052" cy="19050"/>
          </a:xfrm>
          <a:prstGeom prst="straightConnector1">
            <a:avLst/>
          </a:prstGeom>
          <a:noFill/>
          <a:ln cap="flat" cmpd="sng" w="38100">
            <a:solidFill>
              <a:srgbClr val="000000">
                <a:alpha val="38823"/>
              </a:srgbClr>
            </a:solidFill>
            <a:prstDash val="solid"/>
            <a:round/>
            <a:headEnd len="sm" w="sm" type="none"/>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3" r="-220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8"/>
          <p:cNvSpPr/>
          <p:nvPr/>
        </p:nvSpPr>
        <p:spPr>
          <a:xfrm>
            <a:off x="9144000" y="1085850"/>
            <a:ext cx="8115300" cy="8115300"/>
          </a:xfrm>
          <a:custGeom>
            <a:rect b="b" l="l" r="r" t="t"/>
            <a:pathLst>
              <a:path extrusionOk="0" h="8115300" w="8115300">
                <a:moveTo>
                  <a:pt x="0" y="0"/>
                </a:moveTo>
                <a:lnTo>
                  <a:pt x="8115300" y="0"/>
                </a:lnTo>
                <a:lnTo>
                  <a:pt x="8115300" y="8115300"/>
                </a:lnTo>
                <a:lnTo>
                  <a:pt x="0" y="81153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99" name="Google Shape;399;p18"/>
          <p:cNvGrpSpPr/>
          <p:nvPr/>
        </p:nvGrpSpPr>
        <p:grpSpPr>
          <a:xfrm>
            <a:off x="10111170" y="1880369"/>
            <a:ext cx="6521138" cy="6746003"/>
            <a:chOff x="0" y="-47625"/>
            <a:chExt cx="1717501" cy="1776725"/>
          </a:xfrm>
        </p:grpSpPr>
        <p:sp>
          <p:nvSpPr>
            <p:cNvPr id="400" name="Google Shape;400;p18"/>
            <p:cNvSpPr/>
            <p:nvPr/>
          </p:nvSpPr>
          <p:spPr>
            <a:xfrm>
              <a:off x="0" y="0"/>
              <a:ext cx="1717501" cy="1729100"/>
            </a:xfrm>
            <a:custGeom>
              <a:rect b="b" l="l" r="r" t="t"/>
              <a:pathLst>
                <a:path extrusionOk="0" h="1729100" w="1717501">
                  <a:moveTo>
                    <a:pt x="0" y="0"/>
                  </a:moveTo>
                  <a:lnTo>
                    <a:pt x="1717501" y="0"/>
                  </a:lnTo>
                  <a:lnTo>
                    <a:pt x="1717501" y="1729100"/>
                  </a:lnTo>
                  <a:lnTo>
                    <a:pt x="0" y="17291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18"/>
            <p:cNvSpPr txBox="1"/>
            <p:nvPr/>
          </p:nvSpPr>
          <p:spPr>
            <a:xfrm>
              <a:off x="0" y="-47625"/>
              <a:ext cx="1717501" cy="177672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2" name="Google Shape;402;p18"/>
          <p:cNvSpPr txBox="1"/>
          <p:nvPr/>
        </p:nvSpPr>
        <p:spPr>
          <a:xfrm>
            <a:off x="1385161" y="3018386"/>
            <a:ext cx="7758839" cy="101727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5550">
                <a:solidFill>
                  <a:srgbClr val="050A30"/>
                </a:solidFill>
                <a:latin typeface="Arial"/>
                <a:ea typeface="Arial"/>
                <a:cs typeface="Arial"/>
                <a:sym typeface="Arial"/>
              </a:rPr>
              <a:t>CONSULTAS</a:t>
            </a:r>
            <a:endParaRPr/>
          </a:p>
        </p:txBody>
      </p:sp>
      <p:sp>
        <p:nvSpPr>
          <p:cNvPr id="403" name="Google Shape;403;p18"/>
          <p:cNvSpPr txBox="1"/>
          <p:nvPr/>
        </p:nvSpPr>
        <p:spPr>
          <a:xfrm>
            <a:off x="1385161" y="4418144"/>
            <a:ext cx="7555756" cy="2065020"/>
          </a:xfrm>
          <a:prstGeom prst="rect">
            <a:avLst/>
          </a:prstGeom>
          <a:noFill/>
          <a:ln>
            <a:noFill/>
          </a:ln>
        </p:spPr>
        <p:txBody>
          <a:bodyPr anchorCtr="0" anchor="t" bIns="0" lIns="0" spcFirstLastPara="1" rIns="0" wrap="square" tIns="0">
            <a:spAutoFit/>
          </a:bodyPr>
          <a:lstStyle/>
          <a:p>
            <a:pPr indent="0" lvl="0" marL="0" marR="0" rtl="0" algn="just">
              <a:lnSpc>
                <a:spcPct val="150017"/>
              </a:lnSpc>
              <a:spcBef>
                <a:spcPts val="0"/>
              </a:spcBef>
              <a:spcAft>
                <a:spcPts val="0"/>
              </a:spcAft>
              <a:buNone/>
            </a:pPr>
            <a:r>
              <a:rPr b="1" lang="en-US" sz="2799">
                <a:solidFill>
                  <a:srgbClr val="050A30"/>
                </a:solidFill>
                <a:latin typeface="Arial"/>
                <a:ea typeface="Arial"/>
                <a:cs typeface="Arial"/>
                <a:sym typeface="Arial"/>
              </a:rPr>
              <a:t>Las consultas son preguntas que le hacemos al programa Prolog. Prolog intenta resolver esta consulta usando los hechos y las reglas que se han definido en el programa.</a:t>
            </a:r>
            <a:endParaRPr/>
          </a:p>
        </p:txBody>
      </p:sp>
      <p:sp>
        <p:nvSpPr>
          <p:cNvPr id="404" name="Google Shape;404;p18"/>
          <p:cNvSpPr txBox="1"/>
          <p:nvPr/>
        </p:nvSpPr>
        <p:spPr>
          <a:xfrm>
            <a:off x="1028700"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405" name="Google Shape;405;p18"/>
          <p:cNvSpPr txBox="1"/>
          <p:nvPr/>
        </p:nvSpPr>
        <p:spPr>
          <a:xfrm>
            <a:off x="10848822" y="2971800"/>
            <a:ext cx="5045833" cy="409575"/>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1" lang="en-US" sz="3000">
                <a:solidFill>
                  <a:srgbClr val="050A30"/>
                </a:solidFill>
                <a:latin typeface="Arial"/>
                <a:ea typeface="Arial"/>
                <a:cs typeface="Arial"/>
                <a:sym typeface="Arial"/>
              </a:rPr>
              <a:t>¿Es María hermana de José?</a:t>
            </a:r>
            <a:endParaRPr/>
          </a:p>
        </p:txBody>
      </p:sp>
      <p:sp>
        <p:nvSpPr>
          <p:cNvPr id="406" name="Google Shape;406;p18"/>
          <p:cNvSpPr txBox="1"/>
          <p:nvPr/>
        </p:nvSpPr>
        <p:spPr>
          <a:xfrm>
            <a:off x="10848822" y="6322192"/>
            <a:ext cx="5045833" cy="409575"/>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lang="en-US" sz="3000">
                <a:solidFill>
                  <a:srgbClr val="12229D"/>
                </a:solidFill>
                <a:latin typeface="Arial"/>
                <a:ea typeface="Arial"/>
                <a:cs typeface="Arial"/>
                <a:sym typeface="Arial"/>
              </a:rPr>
              <a:t>?- hermano(maria, jose).</a:t>
            </a:r>
            <a:endParaRPr/>
          </a:p>
        </p:txBody>
      </p:sp>
      <p:cxnSp>
        <p:nvCxnSpPr>
          <p:cNvPr id="407" name="Google Shape;407;p18"/>
          <p:cNvCxnSpPr/>
          <p:nvPr/>
        </p:nvCxnSpPr>
        <p:spPr>
          <a:xfrm>
            <a:off x="10797213" y="4818446"/>
            <a:ext cx="5149052" cy="19050"/>
          </a:xfrm>
          <a:prstGeom prst="straightConnector1">
            <a:avLst/>
          </a:prstGeom>
          <a:noFill/>
          <a:ln cap="flat" cmpd="sng" w="38100">
            <a:solidFill>
              <a:srgbClr val="000000">
                <a:alpha val="38823"/>
              </a:srgbClr>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13" name="Google Shape;413;p19"/>
          <p:cNvGrpSpPr/>
          <p:nvPr/>
        </p:nvGrpSpPr>
        <p:grpSpPr>
          <a:xfrm rot="-5400000">
            <a:off x="6095749" y="2420783"/>
            <a:ext cx="6818207" cy="21127995"/>
            <a:chOff x="0" y="-47625"/>
            <a:chExt cx="1795742" cy="5564575"/>
          </a:xfrm>
        </p:grpSpPr>
        <p:sp>
          <p:nvSpPr>
            <p:cNvPr id="414" name="Google Shape;414;p19"/>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19"/>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6" name="Google Shape;416;p19"/>
          <p:cNvGrpSpPr/>
          <p:nvPr/>
        </p:nvGrpSpPr>
        <p:grpSpPr>
          <a:xfrm rot="-5400000">
            <a:off x="3906656" y="-11095415"/>
            <a:ext cx="2045233" cy="21127995"/>
            <a:chOff x="0" y="-47625"/>
            <a:chExt cx="538662" cy="5564575"/>
          </a:xfrm>
        </p:grpSpPr>
        <p:sp>
          <p:nvSpPr>
            <p:cNvPr id="417" name="Google Shape;417;p19"/>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19"/>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9" name="Google Shape;419;p19"/>
          <p:cNvGrpSpPr/>
          <p:nvPr/>
        </p:nvGrpSpPr>
        <p:grpSpPr>
          <a:xfrm rot="2700000">
            <a:off x="13798263" y="-60632"/>
            <a:ext cx="4685776" cy="1748082"/>
            <a:chOff x="0" y="-47625"/>
            <a:chExt cx="1234114" cy="460400"/>
          </a:xfrm>
        </p:grpSpPr>
        <p:sp>
          <p:nvSpPr>
            <p:cNvPr id="420" name="Google Shape;420;p19"/>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9"/>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2" name="Google Shape;422;p19"/>
          <p:cNvSpPr txBox="1"/>
          <p:nvPr/>
        </p:nvSpPr>
        <p:spPr>
          <a:xfrm>
            <a:off x="2392343" y="705467"/>
            <a:ext cx="13503315" cy="9947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050A30"/>
                </a:solidFill>
                <a:latin typeface="Arial"/>
                <a:ea typeface="Arial"/>
                <a:cs typeface="Arial"/>
                <a:sym typeface="Arial"/>
              </a:rPr>
              <a:t>Conceptos Clave Aprendidos </a:t>
            </a:r>
            <a:endParaRPr/>
          </a:p>
        </p:txBody>
      </p:sp>
      <p:sp>
        <p:nvSpPr>
          <p:cNvPr id="423" name="Google Shape;423;p19"/>
          <p:cNvSpPr txBox="1"/>
          <p:nvPr/>
        </p:nvSpPr>
        <p:spPr>
          <a:xfrm>
            <a:off x="2027167" y="2604564"/>
            <a:ext cx="14233665" cy="4791074"/>
          </a:xfrm>
          <a:prstGeom prst="rect">
            <a:avLst/>
          </a:prstGeom>
          <a:noFill/>
          <a:ln>
            <a:noFill/>
          </a:ln>
        </p:spPr>
        <p:txBody>
          <a:bodyPr anchorCtr="0" anchor="t" bIns="0" lIns="0" spcFirstLastPara="1" rIns="0" wrap="square" tIns="0">
            <a:spAutoFit/>
          </a:bodyPr>
          <a:lstStyle/>
          <a:p>
            <a:pPr indent="-323856" lvl="1" marL="647711" marR="0" rtl="0" algn="just">
              <a:lnSpc>
                <a:spcPct val="140000"/>
              </a:lnSpc>
              <a:spcBef>
                <a:spcPts val="0"/>
              </a:spcBef>
              <a:spcAft>
                <a:spcPts val="0"/>
              </a:spcAft>
              <a:buClr>
                <a:srgbClr val="050A30"/>
              </a:buClr>
              <a:buSzPts val="3000"/>
              <a:buFont typeface="Arial"/>
              <a:buChar char="•"/>
            </a:pPr>
            <a:r>
              <a:rPr b="1" i="0" lang="en-US" sz="3000" u="none" cap="none" strike="noStrike">
                <a:solidFill>
                  <a:srgbClr val="050A30"/>
                </a:solidFill>
                <a:latin typeface="Arial"/>
                <a:ea typeface="Arial"/>
                <a:cs typeface="Arial"/>
                <a:sym typeface="Arial"/>
              </a:rPr>
              <a:t>Lógica e inferencia: </a:t>
            </a:r>
            <a:r>
              <a:rPr b="0" i="0" lang="en-US" sz="3000" u="none" cap="none" strike="noStrike">
                <a:solidFill>
                  <a:srgbClr val="050A30"/>
                </a:solidFill>
                <a:latin typeface="Arial"/>
                <a:ea typeface="Arial"/>
                <a:cs typeface="Arial"/>
                <a:sym typeface="Arial"/>
              </a:rPr>
              <a:t>Aplicación de reglas para llegar a conclusiones a partir de premisas.</a:t>
            </a:r>
            <a:endParaRPr/>
          </a:p>
          <a:p>
            <a:pPr indent="0" lvl="0" marL="0" marR="0" rtl="0" algn="just">
              <a:lnSpc>
                <a:spcPct val="140000"/>
              </a:lnSpc>
              <a:spcBef>
                <a:spcPts val="0"/>
              </a:spcBef>
              <a:spcAft>
                <a:spcPts val="0"/>
              </a:spcAft>
              <a:buNone/>
            </a:pPr>
            <a:r>
              <a:t/>
            </a:r>
            <a:endParaRPr sz="3000">
              <a:solidFill>
                <a:srgbClr val="050A30"/>
              </a:solidFill>
              <a:latin typeface="Arial"/>
              <a:ea typeface="Arial"/>
              <a:cs typeface="Arial"/>
              <a:sym typeface="Arial"/>
            </a:endParaRPr>
          </a:p>
          <a:p>
            <a:pPr indent="-323856" lvl="1" marL="647711" marR="0" rtl="0" algn="just">
              <a:lnSpc>
                <a:spcPct val="140000"/>
              </a:lnSpc>
              <a:spcBef>
                <a:spcPts val="0"/>
              </a:spcBef>
              <a:spcAft>
                <a:spcPts val="0"/>
              </a:spcAft>
              <a:buClr>
                <a:srgbClr val="050A30"/>
              </a:buClr>
              <a:buSzPts val="3000"/>
              <a:buFont typeface="Arial"/>
              <a:buChar char="•"/>
            </a:pPr>
            <a:r>
              <a:rPr b="1" i="0" lang="en-US" sz="3000" u="none" cap="none" strike="noStrike">
                <a:solidFill>
                  <a:srgbClr val="050A30"/>
                </a:solidFill>
                <a:latin typeface="Arial"/>
                <a:ea typeface="Arial"/>
                <a:cs typeface="Arial"/>
                <a:sym typeface="Arial"/>
              </a:rPr>
              <a:t>Inferencia en programación: </a:t>
            </a:r>
            <a:r>
              <a:rPr b="0" i="0" lang="en-US" sz="3000" u="none" cap="none" strike="noStrike">
                <a:solidFill>
                  <a:srgbClr val="050A30"/>
                </a:solidFill>
                <a:latin typeface="Arial"/>
                <a:ea typeface="Arial"/>
                <a:cs typeface="Arial"/>
                <a:sym typeface="Arial"/>
              </a:rPr>
              <a:t>Uso de lógica para tomar decisiones automáticas.</a:t>
            </a:r>
            <a:endParaRPr/>
          </a:p>
          <a:p>
            <a:pPr indent="0" lvl="0" marL="0" marR="0" rtl="0" algn="just">
              <a:lnSpc>
                <a:spcPct val="140000"/>
              </a:lnSpc>
              <a:spcBef>
                <a:spcPts val="0"/>
              </a:spcBef>
              <a:spcAft>
                <a:spcPts val="0"/>
              </a:spcAft>
              <a:buNone/>
            </a:pPr>
            <a:r>
              <a:t/>
            </a:r>
            <a:endParaRPr sz="3000">
              <a:solidFill>
                <a:srgbClr val="050A30"/>
              </a:solidFill>
              <a:latin typeface="Arial"/>
              <a:ea typeface="Arial"/>
              <a:cs typeface="Arial"/>
              <a:sym typeface="Arial"/>
            </a:endParaRPr>
          </a:p>
          <a:p>
            <a:pPr indent="-323856" lvl="1" marL="647711" marR="0" rtl="0" algn="just">
              <a:lnSpc>
                <a:spcPct val="140000"/>
              </a:lnSpc>
              <a:spcBef>
                <a:spcPts val="0"/>
              </a:spcBef>
              <a:spcAft>
                <a:spcPts val="0"/>
              </a:spcAft>
              <a:buClr>
                <a:srgbClr val="050A30"/>
              </a:buClr>
              <a:buSzPts val="3000"/>
              <a:buFont typeface="Arial"/>
              <a:buChar char="•"/>
            </a:pPr>
            <a:r>
              <a:rPr b="1" i="0" lang="en-US" sz="3000" u="none" cap="none" strike="noStrike">
                <a:solidFill>
                  <a:srgbClr val="050A30"/>
                </a:solidFill>
                <a:latin typeface="Arial"/>
                <a:ea typeface="Arial"/>
                <a:cs typeface="Arial"/>
                <a:sym typeface="Arial"/>
              </a:rPr>
              <a:t>Prolog: </a:t>
            </a:r>
            <a:r>
              <a:rPr b="0" i="0" lang="en-US" sz="3000" u="none" cap="none" strike="noStrike">
                <a:solidFill>
                  <a:srgbClr val="050A30"/>
                </a:solidFill>
                <a:latin typeface="Arial"/>
                <a:ea typeface="Arial"/>
                <a:cs typeface="Arial"/>
                <a:sym typeface="Arial"/>
              </a:rPr>
              <a:t>Lenguaje lógico que permite representar conocimiento y razonar.</a:t>
            </a:r>
            <a:endParaRPr/>
          </a:p>
          <a:p>
            <a:pPr indent="0" lvl="0" marL="0" marR="0" rtl="0" algn="just">
              <a:lnSpc>
                <a:spcPct val="140000"/>
              </a:lnSpc>
              <a:spcBef>
                <a:spcPts val="0"/>
              </a:spcBef>
              <a:spcAft>
                <a:spcPts val="0"/>
              </a:spcAft>
              <a:buNone/>
            </a:pPr>
            <a:r>
              <a:t/>
            </a:r>
            <a:endParaRPr sz="3000">
              <a:solidFill>
                <a:srgbClr val="050A3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29" name="Google Shape;429;p20"/>
          <p:cNvGrpSpPr/>
          <p:nvPr/>
        </p:nvGrpSpPr>
        <p:grpSpPr>
          <a:xfrm rot="-5400000">
            <a:off x="6095749" y="2420783"/>
            <a:ext cx="6818207" cy="21127995"/>
            <a:chOff x="0" y="-47625"/>
            <a:chExt cx="1795742" cy="5564575"/>
          </a:xfrm>
        </p:grpSpPr>
        <p:sp>
          <p:nvSpPr>
            <p:cNvPr id="430" name="Google Shape;430;p20"/>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20"/>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2" name="Google Shape;432;p20"/>
          <p:cNvGrpSpPr/>
          <p:nvPr/>
        </p:nvGrpSpPr>
        <p:grpSpPr>
          <a:xfrm rot="-5400000">
            <a:off x="3906656" y="-11095415"/>
            <a:ext cx="2045233" cy="21127995"/>
            <a:chOff x="0" y="-47625"/>
            <a:chExt cx="538662" cy="5564575"/>
          </a:xfrm>
        </p:grpSpPr>
        <p:sp>
          <p:nvSpPr>
            <p:cNvPr id="433" name="Google Shape;433;p20"/>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20"/>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5" name="Google Shape;435;p20"/>
          <p:cNvGrpSpPr/>
          <p:nvPr/>
        </p:nvGrpSpPr>
        <p:grpSpPr>
          <a:xfrm rot="2700000">
            <a:off x="13798263" y="-60632"/>
            <a:ext cx="4685776" cy="1748082"/>
            <a:chOff x="0" y="-47625"/>
            <a:chExt cx="1234114" cy="460400"/>
          </a:xfrm>
        </p:grpSpPr>
        <p:sp>
          <p:nvSpPr>
            <p:cNvPr id="436" name="Google Shape;436;p20"/>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20"/>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8" name="Google Shape;438;p20"/>
          <p:cNvSpPr txBox="1"/>
          <p:nvPr/>
        </p:nvSpPr>
        <p:spPr>
          <a:xfrm>
            <a:off x="2392339" y="2729898"/>
            <a:ext cx="13503315" cy="101547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F4F6FC"/>
                </a:solidFill>
                <a:latin typeface="Arial"/>
                <a:ea typeface="Arial"/>
                <a:cs typeface="Arial"/>
                <a:sym typeface="Arial"/>
              </a:rPr>
              <a:t>Responsabilidad</a:t>
            </a:r>
            <a:endParaRPr b="1" sz="6900">
              <a:solidFill>
                <a:srgbClr val="F4F6FC"/>
              </a:solidFill>
              <a:latin typeface="Arial"/>
              <a:ea typeface="Arial"/>
              <a:cs typeface="Arial"/>
              <a:sym typeface="Arial"/>
            </a:endParaRPr>
          </a:p>
        </p:txBody>
      </p:sp>
      <p:sp>
        <p:nvSpPr>
          <p:cNvPr id="439" name="Google Shape;439;p20"/>
          <p:cNvSpPr txBox="1"/>
          <p:nvPr/>
        </p:nvSpPr>
        <p:spPr>
          <a:xfrm>
            <a:off x="2027165" y="4848863"/>
            <a:ext cx="14233665" cy="1483035"/>
          </a:xfrm>
          <a:prstGeom prst="rect">
            <a:avLst/>
          </a:prstGeom>
          <a:noFill/>
          <a:ln>
            <a:noFill/>
          </a:ln>
        </p:spPr>
        <p:txBody>
          <a:bodyPr anchorCtr="0" anchor="t" bIns="0" lIns="0" spcFirstLastPara="1" rIns="0" wrap="square" tIns="0">
            <a:spAutoFit/>
          </a:bodyPr>
          <a:lstStyle/>
          <a:p>
            <a:pPr indent="0" lvl="1" marL="302266" marR="0" rtl="0" algn="just">
              <a:lnSpc>
                <a:spcPct val="140000"/>
              </a:lnSpc>
              <a:spcBef>
                <a:spcPts val="0"/>
              </a:spcBef>
              <a:spcAft>
                <a:spcPts val="0"/>
              </a:spcAft>
              <a:buNone/>
            </a:pPr>
            <a:r>
              <a:rPr b="1" i="0" lang="en-US" sz="2800" u="none" cap="none" strike="noStrike">
                <a:solidFill>
                  <a:srgbClr val="F4F6FC"/>
                </a:solidFill>
                <a:latin typeface="Arial"/>
                <a:ea typeface="Arial"/>
                <a:cs typeface="Arial"/>
                <a:sym typeface="Arial"/>
              </a:rPr>
              <a:t>La responsabilidad implica asumir con compromiso las actividades asignadas, cumpliendo en tiempo y forma con lo solicitado, tanto en el aula como en el desarrollo de ejercicios prácticos.</a:t>
            </a:r>
            <a:endParaRPr b="1" i="0" sz="2800" u="none" cap="none" strike="noStrike">
              <a:solidFill>
                <a:srgbClr val="F4F6FC"/>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45" name="Google Shape;445;p21"/>
          <p:cNvGrpSpPr/>
          <p:nvPr/>
        </p:nvGrpSpPr>
        <p:grpSpPr>
          <a:xfrm rot="-5400000">
            <a:off x="6095749" y="2420783"/>
            <a:ext cx="6818207" cy="21127995"/>
            <a:chOff x="0" y="-47625"/>
            <a:chExt cx="1795742" cy="5564575"/>
          </a:xfrm>
        </p:grpSpPr>
        <p:sp>
          <p:nvSpPr>
            <p:cNvPr id="446" name="Google Shape;446;p21"/>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21"/>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8" name="Google Shape;448;p21"/>
          <p:cNvGrpSpPr/>
          <p:nvPr/>
        </p:nvGrpSpPr>
        <p:grpSpPr>
          <a:xfrm rot="-5400000">
            <a:off x="3906656" y="-11095415"/>
            <a:ext cx="2045233" cy="21127995"/>
            <a:chOff x="0" y="-47625"/>
            <a:chExt cx="538662" cy="5564575"/>
          </a:xfrm>
        </p:grpSpPr>
        <p:sp>
          <p:nvSpPr>
            <p:cNvPr id="449" name="Google Shape;449;p21"/>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21"/>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51" name="Google Shape;451;p21"/>
          <p:cNvGrpSpPr/>
          <p:nvPr/>
        </p:nvGrpSpPr>
        <p:grpSpPr>
          <a:xfrm rot="2700000">
            <a:off x="13798263" y="-60632"/>
            <a:ext cx="4685776" cy="1748082"/>
            <a:chOff x="0" y="-47625"/>
            <a:chExt cx="1234114" cy="460400"/>
          </a:xfrm>
        </p:grpSpPr>
        <p:sp>
          <p:nvSpPr>
            <p:cNvPr id="452" name="Google Shape;452;p21"/>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21"/>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4" name="Google Shape;454;p21"/>
          <p:cNvSpPr txBox="1"/>
          <p:nvPr/>
        </p:nvSpPr>
        <p:spPr>
          <a:xfrm>
            <a:off x="2392343" y="1673265"/>
            <a:ext cx="13503315" cy="9947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050A30"/>
                </a:solidFill>
                <a:latin typeface="Arial"/>
                <a:ea typeface="Arial"/>
                <a:cs typeface="Arial"/>
                <a:sym typeface="Arial"/>
              </a:rPr>
              <a:t>Referencias</a:t>
            </a:r>
            <a:endParaRPr/>
          </a:p>
        </p:txBody>
      </p:sp>
      <p:sp>
        <p:nvSpPr>
          <p:cNvPr id="455" name="Google Shape;455;p21"/>
          <p:cNvSpPr txBox="1"/>
          <p:nvPr/>
        </p:nvSpPr>
        <p:spPr>
          <a:xfrm>
            <a:off x="2027167" y="3745346"/>
            <a:ext cx="14233665" cy="2957829"/>
          </a:xfrm>
          <a:prstGeom prst="rect">
            <a:avLst/>
          </a:prstGeom>
          <a:noFill/>
          <a:ln>
            <a:noFill/>
          </a:ln>
        </p:spPr>
        <p:txBody>
          <a:bodyPr anchorCtr="0" anchor="t" bIns="0" lIns="0" spcFirstLastPara="1" rIns="0" wrap="square" tIns="0">
            <a:spAutoFit/>
          </a:bodyPr>
          <a:lstStyle/>
          <a:p>
            <a:pPr indent="-302266" lvl="1" marL="604532" marR="0" rtl="0" algn="just">
              <a:lnSpc>
                <a:spcPct val="140000"/>
              </a:lnSpc>
              <a:spcBef>
                <a:spcPts val="0"/>
              </a:spcBef>
              <a:spcAft>
                <a:spcPts val="0"/>
              </a:spcAft>
              <a:buClr>
                <a:srgbClr val="222222"/>
              </a:buClr>
              <a:buSzPts val="2800"/>
              <a:buFont typeface="Arial"/>
              <a:buChar char="•"/>
            </a:pPr>
            <a:r>
              <a:rPr b="1" i="0" lang="en-US" sz="2800" u="none" cap="none" strike="noStrike">
                <a:solidFill>
                  <a:srgbClr val="222222"/>
                </a:solidFill>
                <a:latin typeface="Arial"/>
                <a:ea typeface="Arial"/>
                <a:cs typeface="Arial"/>
                <a:sym typeface="Arial"/>
              </a:rPr>
              <a:t>Russell, S., &amp; Norvig, P. (2016). Artificial Intelligence: A Modern Approach (3rd ed.). Pearson.</a:t>
            </a:r>
            <a:endParaRPr/>
          </a:p>
          <a:p>
            <a:pPr indent="0" lvl="0" marL="0" marR="0" rtl="0" algn="just">
              <a:lnSpc>
                <a:spcPct val="140000"/>
              </a:lnSpc>
              <a:spcBef>
                <a:spcPts val="0"/>
              </a:spcBef>
              <a:spcAft>
                <a:spcPts val="0"/>
              </a:spcAft>
              <a:buNone/>
            </a:pPr>
            <a:r>
              <a:t/>
            </a:r>
            <a:endParaRPr b="1" sz="2800" u="none" strike="noStrike">
              <a:solidFill>
                <a:srgbClr val="222222"/>
              </a:solidFill>
              <a:latin typeface="Arial"/>
              <a:ea typeface="Arial"/>
              <a:cs typeface="Arial"/>
              <a:sym typeface="Arial"/>
            </a:endParaRPr>
          </a:p>
          <a:p>
            <a:pPr indent="-302266" lvl="1" marL="604532" marR="0" rtl="0" algn="just">
              <a:lnSpc>
                <a:spcPct val="140000"/>
              </a:lnSpc>
              <a:spcBef>
                <a:spcPts val="0"/>
              </a:spcBef>
              <a:spcAft>
                <a:spcPts val="0"/>
              </a:spcAft>
              <a:buClr>
                <a:srgbClr val="222222"/>
              </a:buClr>
              <a:buSzPts val="2800"/>
              <a:buFont typeface="Arial"/>
              <a:buChar char="•"/>
            </a:pPr>
            <a:r>
              <a:rPr b="1" i="0" lang="en-US" sz="2800" u="none" cap="none" strike="noStrike">
                <a:solidFill>
                  <a:srgbClr val="222222"/>
                </a:solidFill>
                <a:latin typeface="Arial"/>
                <a:ea typeface="Arial"/>
                <a:cs typeface="Arial"/>
                <a:sym typeface="Arial"/>
              </a:rPr>
              <a:t>Clocksin, W. F., &amp; Mellish, C. S. (2003). Programming in Prolog: Using the ISO Standard (5ª ed.). Springer-Verlag.</a:t>
            </a:r>
            <a:endParaRPr/>
          </a:p>
          <a:p>
            <a:pPr indent="0" lvl="0" marL="0" marR="0" rtl="0" algn="just">
              <a:lnSpc>
                <a:spcPct val="140000"/>
              </a:lnSpc>
              <a:spcBef>
                <a:spcPts val="0"/>
              </a:spcBef>
              <a:spcAft>
                <a:spcPts val="0"/>
              </a:spcAft>
              <a:buNone/>
            </a:pPr>
            <a:r>
              <a:t/>
            </a:r>
            <a:endParaRPr b="1" sz="2800" u="none" strike="noStrike">
              <a:solidFill>
                <a:srgbClr val="222222"/>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61" name="Google Shape;461;p22"/>
          <p:cNvGrpSpPr/>
          <p:nvPr/>
        </p:nvGrpSpPr>
        <p:grpSpPr>
          <a:xfrm rot="-5400000">
            <a:off x="6095749" y="2420783"/>
            <a:ext cx="6818207" cy="21127995"/>
            <a:chOff x="0" y="-47625"/>
            <a:chExt cx="1795742" cy="5564575"/>
          </a:xfrm>
        </p:grpSpPr>
        <p:sp>
          <p:nvSpPr>
            <p:cNvPr id="462" name="Google Shape;462;p22"/>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22"/>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64" name="Google Shape;464;p22"/>
          <p:cNvGrpSpPr/>
          <p:nvPr/>
        </p:nvGrpSpPr>
        <p:grpSpPr>
          <a:xfrm rot="-5400000">
            <a:off x="3906656" y="-11095415"/>
            <a:ext cx="2045233" cy="21127995"/>
            <a:chOff x="0" y="-47625"/>
            <a:chExt cx="538662" cy="5564575"/>
          </a:xfrm>
        </p:grpSpPr>
        <p:sp>
          <p:nvSpPr>
            <p:cNvPr id="465" name="Google Shape;465;p22"/>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22"/>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67" name="Google Shape;467;p22"/>
          <p:cNvGrpSpPr/>
          <p:nvPr/>
        </p:nvGrpSpPr>
        <p:grpSpPr>
          <a:xfrm rot="2700000">
            <a:off x="13798263" y="-60632"/>
            <a:ext cx="4685776" cy="1748082"/>
            <a:chOff x="0" y="-47625"/>
            <a:chExt cx="1234114" cy="460400"/>
          </a:xfrm>
        </p:grpSpPr>
        <p:sp>
          <p:nvSpPr>
            <p:cNvPr id="468" name="Google Shape;468;p22"/>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22"/>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0" name="Google Shape;470;p22"/>
          <p:cNvSpPr txBox="1"/>
          <p:nvPr/>
        </p:nvSpPr>
        <p:spPr>
          <a:xfrm>
            <a:off x="2392342" y="4305300"/>
            <a:ext cx="13503315" cy="101547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F4F6FC"/>
                </a:solidFill>
                <a:latin typeface="Arial"/>
                <a:ea typeface="Arial"/>
                <a:cs typeface="Arial"/>
                <a:sym typeface="Arial"/>
              </a:rPr>
              <a:t>Ejemplo Práctico</a:t>
            </a:r>
            <a:endParaRPr b="1" sz="6900">
              <a:solidFill>
                <a:srgbClr val="F4F6FC"/>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76" name="Google Shape;476;p23"/>
          <p:cNvGrpSpPr/>
          <p:nvPr/>
        </p:nvGrpSpPr>
        <p:grpSpPr>
          <a:xfrm rot="-5400000">
            <a:off x="6095749" y="2420783"/>
            <a:ext cx="6818207" cy="21127995"/>
            <a:chOff x="0" y="-47625"/>
            <a:chExt cx="1795742" cy="5564575"/>
          </a:xfrm>
        </p:grpSpPr>
        <p:sp>
          <p:nvSpPr>
            <p:cNvPr id="477" name="Google Shape;477;p23"/>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23"/>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79" name="Google Shape;479;p23"/>
          <p:cNvGrpSpPr/>
          <p:nvPr/>
        </p:nvGrpSpPr>
        <p:grpSpPr>
          <a:xfrm rot="-5400000">
            <a:off x="3906656" y="-11095415"/>
            <a:ext cx="2045233" cy="21127995"/>
            <a:chOff x="0" y="-47625"/>
            <a:chExt cx="538662" cy="5564575"/>
          </a:xfrm>
        </p:grpSpPr>
        <p:sp>
          <p:nvSpPr>
            <p:cNvPr id="480" name="Google Shape;480;p23"/>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23"/>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82" name="Google Shape;482;p23"/>
          <p:cNvGrpSpPr/>
          <p:nvPr/>
        </p:nvGrpSpPr>
        <p:grpSpPr>
          <a:xfrm rot="2700000">
            <a:off x="13798263" y="-60632"/>
            <a:ext cx="4685776" cy="1748082"/>
            <a:chOff x="0" y="-47625"/>
            <a:chExt cx="1234114" cy="460400"/>
          </a:xfrm>
        </p:grpSpPr>
        <p:sp>
          <p:nvSpPr>
            <p:cNvPr id="483" name="Google Shape;483;p23"/>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23"/>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5" name="Google Shape;485;p23"/>
          <p:cNvSpPr txBox="1"/>
          <p:nvPr/>
        </p:nvSpPr>
        <p:spPr>
          <a:xfrm>
            <a:off x="2392342" y="4148709"/>
            <a:ext cx="13503315" cy="101547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050A30"/>
                </a:solidFill>
                <a:latin typeface="Arial"/>
                <a:ea typeface="Arial"/>
                <a:cs typeface="Arial"/>
                <a:sym typeface="Arial"/>
              </a:rPr>
              <a:t>Actividad Práctica</a:t>
            </a:r>
            <a:endParaRPr b="1" sz="6900">
              <a:solidFill>
                <a:srgbClr val="050A3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pic>
        <p:nvPicPr>
          <p:cNvPr id="490" name="Google Shape;490;p24"/>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491" name="Google Shape;491;p24"/>
          <p:cNvGraphicFramePr/>
          <p:nvPr/>
        </p:nvGraphicFramePr>
        <p:xfrm>
          <a:off x="16900" y="1507250"/>
          <a:ext cx="3000000" cy="3000000"/>
        </p:xfrm>
        <a:graphic>
          <a:graphicData uri="http://schemas.openxmlformats.org/drawingml/2006/table">
            <a:tbl>
              <a:tblPr>
                <a:noFill/>
                <a:tableStyleId>{434745BE-74C4-44F4-A7F2-4E0EA3894E74}</a:tableStyleId>
              </a:tblPr>
              <a:tblGrid>
                <a:gridCol w="5533100"/>
                <a:gridCol w="49266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Nombre de la actividad:</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Cantidad de participantes:</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7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Doy fe que esta actividad está planificada en dtt (Sí/No):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492" name="Google Shape;492;p24"/>
          <p:cNvSpPr txBox="1"/>
          <p:nvPr/>
        </p:nvSpPr>
        <p:spPr>
          <a:xfrm>
            <a:off x="0" y="4281900"/>
            <a:ext cx="18037800" cy="8004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Participantes: llenar las siguientes cajas de texto (tomar información del chat del meet)</a:t>
            </a:r>
            <a:endParaRPr b="1" i="0" sz="2800" u="none" cap="none" strike="noStrike">
              <a:solidFill>
                <a:srgbClr val="000000"/>
              </a:solidFill>
              <a:latin typeface="Arial"/>
              <a:ea typeface="Arial"/>
              <a:cs typeface="Arial"/>
              <a:sym typeface="Arial"/>
            </a:endParaRPr>
          </a:p>
        </p:txBody>
      </p:sp>
      <p:sp>
        <p:nvSpPr>
          <p:cNvPr id="493" name="Google Shape;493;p24"/>
          <p:cNvSpPr txBox="1"/>
          <p:nvPr/>
        </p:nvSpPr>
        <p:spPr>
          <a:xfrm>
            <a:off x="169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aphicFrame>
        <p:nvGraphicFramePr>
          <p:cNvPr id="494" name="Google Shape;494;p24"/>
          <p:cNvGraphicFramePr/>
          <p:nvPr/>
        </p:nvGraphicFramePr>
        <p:xfrm>
          <a:off x="10656400" y="1940050"/>
          <a:ext cx="3000000" cy="3000000"/>
        </p:xfrm>
        <a:graphic>
          <a:graphicData uri="http://schemas.openxmlformats.org/drawingml/2006/table">
            <a:tbl>
              <a:tblPr>
                <a:noFill/>
                <a:tableStyleId>{434745BE-74C4-44F4-A7F2-4E0EA3894E74}</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fin:</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7200">
                <a:tc>
                  <a:txBody>
                    <a:bodyPr/>
                    <a:lstStyle/>
                    <a:p>
                      <a:pPr indent="0" lvl="0" marL="0" marR="0" rtl="0" algn="l">
                        <a:lnSpc>
                          <a:spcPct val="100000"/>
                        </a:lnSpc>
                        <a:spcBef>
                          <a:spcPts val="0"/>
                        </a:spcBef>
                        <a:spcAft>
                          <a:spcPts val="0"/>
                        </a:spcAft>
                        <a:buClr>
                          <a:schemeClr val="dk1"/>
                        </a:buClr>
                        <a:buSzPts val="2000"/>
                        <a:buFont typeface="Arial"/>
                        <a:buNone/>
                      </a:pPr>
                      <a:r>
                        <a:rPr b="1" lang="en-US" sz="2800" u="none" cap="none" strike="noStrike">
                          <a:solidFill>
                            <a:schemeClr val="dk1"/>
                          </a:solidFill>
                        </a:rPr>
                        <a:t>Duración (min):</a:t>
                      </a:r>
                      <a:endParaRPr b="1" sz="10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495" name="Google Shape;495;p24"/>
          <p:cNvSpPr txBox="1"/>
          <p:nvPr/>
        </p:nvSpPr>
        <p:spPr>
          <a:xfrm>
            <a:off x="62616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496" name="Google Shape;496;p24"/>
          <p:cNvSpPr txBox="1"/>
          <p:nvPr/>
        </p:nvSpPr>
        <p:spPr>
          <a:xfrm>
            <a:off x="12506300" y="4955800"/>
            <a:ext cx="57648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A30"/>
        </a:solidFill>
      </p:bgPr>
    </p:bg>
    <p:spTree>
      <p:nvGrpSpPr>
        <p:cNvPr id="500" name="Shape 500"/>
        <p:cNvGrpSpPr/>
        <p:nvPr/>
      </p:nvGrpSpPr>
      <p:grpSpPr>
        <a:xfrm>
          <a:off x="0" y="0"/>
          <a:ext cx="0" cy="0"/>
          <a:chOff x="0" y="0"/>
          <a:chExt cx="0" cy="0"/>
        </a:xfrm>
      </p:grpSpPr>
      <p:sp>
        <p:nvSpPr>
          <p:cNvPr id="501" name="Google Shape;501;p25"/>
          <p:cNvSpPr txBox="1"/>
          <p:nvPr/>
        </p:nvSpPr>
        <p:spPr>
          <a:xfrm>
            <a:off x="4437795" y="3446254"/>
            <a:ext cx="8658828" cy="243852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1" lang="en-US" sz="6099">
                <a:solidFill>
                  <a:srgbClr val="F4F6FC"/>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1" sz="6099">
              <a:solidFill>
                <a:srgbClr val="F4F6FC"/>
              </a:solidFill>
              <a:latin typeface="Arial"/>
              <a:ea typeface="Arial"/>
              <a:cs typeface="Arial"/>
              <a:sym typeface="Arial"/>
            </a:endParaRPr>
          </a:p>
        </p:txBody>
      </p:sp>
      <p:sp>
        <p:nvSpPr>
          <p:cNvPr id="502" name="Google Shape;502;p25"/>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1" lang="en-US" sz="5000">
                <a:solidFill>
                  <a:srgbClr val="F4F6FC"/>
                </a:solidFill>
                <a:latin typeface="Arial"/>
                <a:ea typeface="Arial"/>
                <a:cs typeface="Arial"/>
                <a:sym typeface="Arial"/>
              </a:rPr>
              <a:t>DUDAS</a:t>
            </a:r>
            <a:endParaRPr/>
          </a:p>
        </p:txBody>
      </p:sp>
      <p:sp>
        <p:nvSpPr>
          <p:cNvPr id="503" name="Google Shape;503;p25"/>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25"/>
          <p:cNvSpPr txBox="1"/>
          <p:nvPr/>
        </p:nvSpPr>
        <p:spPr>
          <a:xfrm>
            <a:off x="2411098" y="7890210"/>
            <a:ext cx="13465804" cy="35750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1" lang="en-US" sz="2000">
                <a:solidFill>
                  <a:srgbClr val="F4F6FC"/>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