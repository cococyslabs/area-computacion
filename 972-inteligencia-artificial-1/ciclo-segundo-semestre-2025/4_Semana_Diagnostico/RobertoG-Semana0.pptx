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828800" cx="3200400"/>
  <p:notesSz cx="68580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Anonymous Pr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NFGOkI9rX+PKz2ELzrJhhpFMK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0CA5F7-538B-4885-A093-FB0356F21615}">
  <a:tblStyle styleId="{DF0CA5F7-538B-4885-A093-FB0356F216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nonymousPro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AnonymousPro-italic.fntdata"/><Relationship Id="rId27" Type="http://schemas.openxmlformats.org/officeDocument/2006/relationships/font" Target="fonts/AnonymousPr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nonymousPr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200400" cy="1830612"/>
          </a:xfrm>
          <a:custGeom>
            <a:rect b="b" l="l" r="r" t="t"/>
            <a:pathLst>
              <a:path extrusionOk="0" h="1803559" w="3200400">
                <a:moveTo>
                  <a:pt x="0" y="0"/>
                </a:moveTo>
                <a:lnTo>
                  <a:pt x="3200400" y="0"/>
                </a:lnTo>
                <a:lnTo>
                  <a:pt x="3200400" y="1803559"/>
                </a:lnTo>
                <a:lnTo>
                  <a:pt x="0" y="1803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"/>
          <p:cNvGraphicFramePr/>
          <p:nvPr/>
        </p:nvGraphicFramePr>
        <p:xfrm>
          <a:off x="1865360" y="340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{DF0CA5F7-538B-4885-A093-FB0356F21615}</a:tableStyleId>
              </a:tblPr>
              <a:tblGrid>
                <a:gridCol w="517850"/>
                <a:gridCol w="741000"/>
              </a:tblGrid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96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96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Viérnes, </a:t>
                      </a:r>
                      <a:r>
                        <a:rPr lang="en-US" sz="496">
                          <a:latin typeface="Arimo"/>
                          <a:ea typeface="Arimo"/>
                          <a:cs typeface="Arimo"/>
                          <a:sym typeface="Arimo"/>
                        </a:rPr>
                        <a:t>23/01/2026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96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96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674513" y="785531"/>
            <a:ext cx="1667910" cy="187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[A]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23175" y="1022600"/>
            <a:ext cx="16479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6"/>
              <a:t>Roberto Miguel García Santizo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-428666" y="682773"/>
            <a:ext cx="1491688" cy="1491688"/>
            <a:chOff x="16500" y="16500"/>
            <a:chExt cx="779800" cy="779800"/>
          </a:xfrm>
        </p:grpSpPr>
        <p:sp>
          <p:nvSpPr>
            <p:cNvPr id="94" name="Google Shape;94;p2"/>
            <p:cNvSpPr/>
            <p:nvPr/>
          </p:nvSpPr>
          <p:spPr>
            <a:xfrm>
              <a:off x="16500" y="16500"/>
              <a:ext cx="779800" cy="779800"/>
            </a:xfrm>
            <a:custGeom>
              <a:rect b="b" l="l" r="r" t="t"/>
              <a:pathLst>
                <a:path extrusionOk="0" h="779800" w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97" name="Google Shape;97;p2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00" name="Google Shape;100;p2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2" name="Google Shape;102;p2"/>
          <p:cNvCxnSpPr/>
          <p:nvPr/>
        </p:nvCxnSpPr>
        <p:spPr>
          <a:xfrm rot="10800000">
            <a:off x="3012758" y="723029"/>
            <a:ext cx="0" cy="2509851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1117449" y="444377"/>
            <a:ext cx="1785376" cy="1201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del Auxiliar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 los Estudiantes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Conocimientos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Programa del Laboratorio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nuevos temas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Opiniones y Dudas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78413" y="140947"/>
            <a:ext cx="1843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3"/>
          <p:cNvGrpSpPr/>
          <p:nvPr/>
        </p:nvGrpSpPr>
        <p:grpSpPr>
          <a:xfrm>
            <a:off x="-428666" y="682773"/>
            <a:ext cx="1491688" cy="1491688"/>
            <a:chOff x="16500" y="16500"/>
            <a:chExt cx="779800" cy="779800"/>
          </a:xfrm>
        </p:grpSpPr>
        <p:sp>
          <p:nvSpPr>
            <p:cNvPr id="111" name="Google Shape;111;p3"/>
            <p:cNvSpPr/>
            <p:nvPr/>
          </p:nvSpPr>
          <p:spPr>
            <a:xfrm>
              <a:off x="16500" y="16500"/>
              <a:ext cx="779800" cy="779800"/>
            </a:xfrm>
            <a:custGeom>
              <a:rect b="b" l="l" r="r" t="t"/>
              <a:pathLst>
                <a:path extrusionOk="0" h="779800" w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14" name="Google Shape;114;p3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17" name="Google Shape;117;p3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/>
          <p:nvPr/>
        </p:nvSpPr>
        <p:spPr>
          <a:xfrm>
            <a:off x="2770490" y="1096079"/>
            <a:ext cx="145492" cy="114320"/>
          </a:xfrm>
          <a:custGeom>
            <a:rect b="b" l="l" r="r" t="t"/>
            <a:pathLst>
              <a:path extrusionOk="0" h="134112" w="170688">
                <a:moveTo>
                  <a:pt x="16383" y="41275"/>
                </a:moveTo>
                <a:cubicBezTo>
                  <a:pt x="18542" y="42799"/>
                  <a:pt x="25019" y="47371"/>
                  <a:pt x="35941" y="54864"/>
                </a:cubicBezTo>
                <a:cubicBezTo>
                  <a:pt x="41783" y="58928"/>
                  <a:pt x="46863" y="62484"/>
                  <a:pt x="51308" y="65532"/>
                </a:cubicBezTo>
                <a:cubicBezTo>
                  <a:pt x="54991" y="68199"/>
                  <a:pt x="58293" y="70358"/>
                  <a:pt x="60960" y="72263"/>
                </a:cubicBezTo>
                <a:cubicBezTo>
                  <a:pt x="61214" y="72517"/>
                  <a:pt x="61722" y="72771"/>
                  <a:pt x="62357" y="73279"/>
                </a:cubicBezTo>
                <a:cubicBezTo>
                  <a:pt x="62992" y="73787"/>
                  <a:pt x="63881" y="74422"/>
                  <a:pt x="65024" y="75184"/>
                </a:cubicBezTo>
                <a:cubicBezTo>
                  <a:pt x="67056" y="76708"/>
                  <a:pt x="68834" y="77851"/>
                  <a:pt x="70104" y="78867"/>
                </a:cubicBezTo>
                <a:cubicBezTo>
                  <a:pt x="71374" y="79883"/>
                  <a:pt x="73152" y="80772"/>
                  <a:pt x="75057" y="81915"/>
                </a:cubicBezTo>
                <a:cubicBezTo>
                  <a:pt x="76962" y="83058"/>
                  <a:pt x="78867" y="83947"/>
                  <a:pt x="80518" y="84455"/>
                </a:cubicBezTo>
                <a:cubicBezTo>
                  <a:pt x="82169" y="84963"/>
                  <a:pt x="83820" y="85344"/>
                  <a:pt x="85217" y="85344"/>
                </a:cubicBezTo>
                <a:lnTo>
                  <a:pt x="85471" y="85344"/>
                </a:lnTo>
                <a:cubicBezTo>
                  <a:pt x="86868" y="85344"/>
                  <a:pt x="88519" y="85090"/>
                  <a:pt x="90170" y="84455"/>
                </a:cubicBezTo>
                <a:cubicBezTo>
                  <a:pt x="91821" y="83820"/>
                  <a:pt x="93726" y="83058"/>
                  <a:pt x="95631" y="81915"/>
                </a:cubicBezTo>
                <a:cubicBezTo>
                  <a:pt x="97536" y="80772"/>
                  <a:pt x="99187" y="79756"/>
                  <a:pt x="100584" y="78867"/>
                </a:cubicBezTo>
                <a:cubicBezTo>
                  <a:pt x="101981" y="77978"/>
                  <a:pt x="103632" y="76708"/>
                  <a:pt x="105791" y="75184"/>
                </a:cubicBezTo>
                <a:cubicBezTo>
                  <a:pt x="106807" y="74422"/>
                  <a:pt x="107696" y="73787"/>
                  <a:pt x="108458" y="73279"/>
                </a:cubicBezTo>
                <a:cubicBezTo>
                  <a:pt x="109220" y="72771"/>
                  <a:pt x="109601" y="72517"/>
                  <a:pt x="109855" y="72263"/>
                </a:cubicBezTo>
                <a:cubicBezTo>
                  <a:pt x="111887" y="70866"/>
                  <a:pt x="115189" y="68580"/>
                  <a:pt x="119507" y="65532"/>
                </a:cubicBezTo>
                <a:cubicBezTo>
                  <a:pt x="127381" y="60071"/>
                  <a:pt x="139065" y="51943"/>
                  <a:pt x="154432" y="41275"/>
                </a:cubicBezTo>
                <a:cubicBezTo>
                  <a:pt x="159004" y="37973"/>
                  <a:pt x="162941" y="34163"/>
                  <a:pt x="165989" y="29591"/>
                </a:cubicBezTo>
                <a:cubicBezTo>
                  <a:pt x="169037" y="25019"/>
                  <a:pt x="170688" y="20193"/>
                  <a:pt x="170688" y="15240"/>
                </a:cubicBezTo>
                <a:cubicBezTo>
                  <a:pt x="170688" y="11049"/>
                  <a:pt x="169164" y="7493"/>
                  <a:pt x="166116" y="4445"/>
                </a:cubicBezTo>
                <a:cubicBezTo>
                  <a:pt x="163068" y="1397"/>
                  <a:pt x="159639" y="0"/>
                  <a:pt x="155448" y="0"/>
                </a:cubicBezTo>
                <a:lnTo>
                  <a:pt x="15240" y="0"/>
                </a:lnTo>
                <a:cubicBezTo>
                  <a:pt x="10414" y="0"/>
                  <a:pt x="6604" y="1651"/>
                  <a:pt x="3937" y="4953"/>
                </a:cubicBezTo>
                <a:cubicBezTo>
                  <a:pt x="1270" y="8255"/>
                  <a:pt x="0" y="12319"/>
                  <a:pt x="0" y="17272"/>
                </a:cubicBezTo>
                <a:cubicBezTo>
                  <a:pt x="0" y="21209"/>
                  <a:pt x="1778" y="25654"/>
                  <a:pt x="5207" y="30226"/>
                </a:cubicBezTo>
                <a:cubicBezTo>
                  <a:pt x="8636" y="34798"/>
                  <a:pt x="12446" y="38608"/>
                  <a:pt x="16383" y="41275"/>
                </a:cubicBezTo>
                <a:moveTo>
                  <a:pt x="128016" y="74168"/>
                </a:moveTo>
                <a:lnTo>
                  <a:pt x="170688" y="116840"/>
                </a:lnTo>
                <a:lnTo>
                  <a:pt x="170688" y="43180"/>
                </a:lnTo>
                <a:cubicBezTo>
                  <a:pt x="167894" y="46228"/>
                  <a:pt x="164719" y="49022"/>
                  <a:pt x="161163" y="51435"/>
                </a:cubicBezTo>
                <a:cubicBezTo>
                  <a:pt x="148209" y="60198"/>
                  <a:pt x="137160" y="67818"/>
                  <a:pt x="128016" y="74168"/>
                </a:cubicBezTo>
                <a:moveTo>
                  <a:pt x="9652" y="51562"/>
                </a:moveTo>
                <a:cubicBezTo>
                  <a:pt x="5969" y="49149"/>
                  <a:pt x="2794" y="46355"/>
                  <a:pt x="0" y="43180"/>
                </a:cubicBezTo>
                <a:lnTo>
                  <a:pt x="0" y="116840"/>
                </a:lnTo>
                <a:lnTo>
                  <a:pt x="42672" y="74168"/>
                </a:lnTo>
                <a:cubicBezTo>
                  <a:pt x="34036" y="68199"/>
                  <a:pt x="23114" y="60706"/>
                  <a:pt x="9652" y="51562"/>
                </a:cubicBezTo>
                <a:moveTo>
                  <a:pt x="113792" y="84455"/>
                </a:moveTo>
                <a:cubicBezTo>
                  <a:pt x="110109" y="87122"/>
                  <a:pt x="107188" y="89154"/>
                  <a:pt x="105029" y="90678"/>
                </a:cubicBezTo>
                <a:cubicBezTo>
                  <a:pt x="102870" y="92202"/>
                  <a:pt x="99822" y="93726"/>
                  <a:pt x="96012" y="95250"/>
                </a:cubicBezTo>
                <a:cubicBezTo>
                  <a:pt x="92202" y="96774"/>
                  <a:pt x="88773" y="97536"/>
                  <a:pt x="85598" y="97536"/>
                </a:cubicBezTo>
                <a:lnTo>
                  <a:pt x="85217" y="97536"/>
                </a:lnTo>
                <a:cubicBezTo>
                  <a:pt x="81915" y="97536"/>
                  <a:pt x="78486" y="96774"/>
                  <a:pt x="74803" y="95250"/>
                </a:cubicBezTo>
                <a:cubicBezTo>
                  <a:pt x="71120" y="93726"/>
                  <a:pt x="68072" y="92202"/>
                  <a:pt x="65786" y="90678"/>
                </a:cubicBezTo>
                <a:cubicBezTo>
                  <a:pt x="63500" y="89154"/>
                  <a:pt x="60579" y="87122"/>
                  <a:pt x="57023" y="84455"/>
                </a:cubicBezTo>
                <a:cubicBezTo>
                  <a:pt x="56007" y="83693"/>
                  <a:pt x="54864" y="82931"/>
                  <a:pt x="53721" y="82042"/>
                </a:cubicBezTo>
                <a:lnTo>
                  <a:pt x="5207" y="130302"/>
                </a:lnTo>
                <a:cubicBezTo>
                  <a:pt x="8001" y="132842"/>
                  <a:pt x="11303" y="134112"/>
                  <a:pt x="15240" y="134112"/>
                </a:cubicBezTo>
                <a:lnTo>
                  <a:pt x="155448" y="134112"/>
                </a:lnTo>
                <a:cubicBezTo>
                  <a:pt x="159258" y="134112"/>
                  <a:pt x="162560" y="132842"/>
                  <a:pt x="165481" y="130302"/>
                </a:cubicBezTo>
                <a:lnTo>
                  <a:pt x="117094" y="81915"/>
                </a:lnTo>
                <a:cubicBezTo>
                  <a:pt x="115951" y="82804"/>
                  <a:pt x="114808" y="83566"/>
                  <a:pt x="113792" y="84328"/>
                </a:cubicBezTo>
              </a:path>
            </a:pathLst>
          </a:custGeom>
          <a:solidFill>
            <a:srgbClr val="043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1945636" y="596702"/>
            <a:ext cx="1067121" cy="0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 rot="10800000">
            <a:off x="3012758" y="723029"/>
            <a:ext cx="0" cy="2509851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2770490" y="666019"/>
            <a:ext cx="146345" cy="188779"/>
          </a:xfrm>
          <a:custGeom>
            <a:rect b="b" l="l" r="r" t="t"/>
            <a:pathLst>
              <a:path extrusionOk="0" h="188779" w="146345">
                <a:moveTo>
                  <a:pt x="0" y="0"/>
                </a:moveTo>
                <a:lnTo>
                  <a:pt x="146344" y="0"/>
                </a:lnTo>
                <a:lnTo>
                  <a:pt x="146344" y="188779"/>
                </a:lnTo>
                <a:lnTo>
                  <a:pt x="0" y="188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770490" y="1448504"/>
            <a:ext cx="145492" cy="145492"/>
          </a:xfrm>
          <a:custGeom>
            <a:rect b="b" l="l" r="r" t="t"/>
            <a:pathLst>
              <a:path extrusionOk="0" h="145492" w="145492">
                <a:moveTo>
                  <a:pt x="0" y="0"/>
                </a:moveTo>
                <a:lnTo>
                  <a:pt x="145492" y="0"/>
                </a:lnTo>
                <a:lnTo>
                  <a:pt x="145492" y="145492"/>
                </a:lnTo>
                <a:lnTo>
                  <a:pt x="0" y="145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025143" y="1106662"/>
            <a:ext cx="16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3008431000101@ingenieria.usac.edu.gt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44899" y="717153"/>
            <a:ext cx="207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1313"/>
                </a:solidFill>
              </a:rPr>
              <a:t>Roberto Miguel García Santizo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025143" y="1472252"/>
            <a:ext cx="16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roberto1206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678413" y="189984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864" y="480139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4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35" name="Google Shape;135;p4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38" name="Google Shape;138;p4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4"/>
          <p:cNvSpPr txBox="1"/>
          <p:nvPr/>
        </p:nvSpPr>
        <p:spPr>
          <a:xfrm>
            <a:off x="678413" y="112507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HISTORIAL ACADÉMICO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812201" y="562636"/>
            <a:ext cx="2295412" cy="131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474444"/>
                </a:solidFill>
                <a:latin typeface="Arial"/>
                <a:ea typeface="Arial"/>
                <a:cs typeface="Arial"/>
                <a:sym typeface="Arial"/>
              </a:rPr>
              <a:t>Institución</a:t>
            </a:r>
            <a:endParaRPr sz="788">
              <a:solidFill>
                <a:srgbClr val="47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12201" y="885825"/>
            <a:ext cx="2258148" cy="11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228" lvl="1" marL="120455" marR="0" rtl="0" algn="just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29"/>
              <a:buFont typeface="Arial"/>
              <a:buChar char="•"/>
            </a:pPr>
            <a:r>
              <a:rPr b="0" i="0" lang="en-US" sz="729" u="none" cap="none" strike="noStrike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Conocimientos</a:t>
            </a:r>
            <a:endParaRPr b="0" i="0" sz="729" u="none" cap="none" strike="noStrike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12201" y="711209"/>
            <a:ext cx="2295412" cy="9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6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endParaRPr sz="596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5"/>
          <p:cNvGrpSpPr/>
          <p:nvPr/>
        </p:nvGrpSpPr>
        <p:grpSpPr>
          <a:xfrm>
            <a:off x="-1347090" y="-399100"/>
            <a:ext cx="1797860" cy="1797860"/>
            <a:chOff x="10621" y="10621"/>
            <a:chExt cx="791558" cy="791558"/>
          </a:xfrm>
        </p:grpSpPr>
        <p:sp>
          <p:nvSpPr>
            <p:cNvPr id="151" name="Google Shape;151;p5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5"/>
          <p:cNvGrpSpPr/>
          <p:nvPr/>
        </p:nvGrpSpPr>
        <p:grpSpPr>
          <a:xfrm>
            <a:off x="-276024" y="877637"/>
            <a:ext cx="638788" cy="638788"/>
            <a:chOff x="28540" y="28540"/>
            <a:chExt cx="755721" cy="755721"/>
          </a:xfrm>
        </p:grpSpPr>
        <p:sp>
          <p:nvSpPr>
            <p:cNvPr id="154" name="Google Shape;154;p5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5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EXPERIENCIA LABORAL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474894" y="329991"/>
            <a:ext cx="1329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>
                <a:solidFill>
                  <a:srgbClr val="474444"/>
                </a:solidFill>
              </a:rPr>
              <a:t>DevOps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474894" y="699250"/>
            <a:ext cx="2677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Revision de </a:t>
            </a: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openshift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Mantenimiento de </a:t>
            </a: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kubernetes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Revision de cluster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Uso constante de RedHat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Mantenimiento y soporte de sistema operativo en base linux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51765" lvl="1" marL="103531" marR="0" rtl="0" algn="l">
              <a:lnSpc>
                <a:spcPct val="139872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27"/>
              <a:buFont typeface="Anonymous Pro"/>
              <a:buChar char="•"/>
            </a:pPr>
            <a:r>
              <a:rPr lang="en-US"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Capacitacion en redhat openAI</a:t>
            </a:r>
            <a:endParaRPr sz="627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474894" y="459609"/>
            <a:ext cx="2675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4">
                <a:solidFill>
                  <a:srgbClr val="777777"/>
                </a:solidFill>
              </a:rPr>
              <a:t>ITM</a:t>
            </a:r>
            <a:r>
              <a:rPr lang="en-US" sz="594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594">
                <a:solidFill>
                  <a:srgbClr val="777777"/>
                </a:solidFill>
              </a:rPr>
              <a:t>Agosto 2025 - actual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6"/>
          <p:cNvGrpSpPr/>
          <p:nvPr/>
        </p:nvGrpSpPr>
        <p:grpSpPr>
          <a:xfrm>
            <a:off x="-1347090" y="-399100"/>
            <a:ext cx="1797860" cy="1797860"/>
            <a:chOff x="10621" y="10621"/>
            <a:chExt cx="791558" cy="791558"/>
          </a:xfrm>
        </p:grpSpPr>
        <p:sp>
          <p:nvSpPr>
            <p:cNvPr id="166" name="Google Shape;166;p6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-276024" y="877637"/>
            <a:ext cx="638788" cy="638788"/>
            <a:chOff x="28540" y="28540"/>
            <a:chExt cx="755721" cy="755721"/>
          </a:xfrm>
        </p:grpSpPr>
        <p:sp>
          <p:nvSpPr>
            <p:cNvPr id="169" name="Google Shape;169;p6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6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ROL DEL AUXILIAR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34085" y="354296"/>
            <a:ext cx="24516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Impartir sesiones prácticas y teóricas sobre conceptos clave de IA en el laboratorio.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Diseño y preparación actividades, proyectos y materiales del laboratorio</a:t>
            </a: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Apoyo a los estudiantes durante la práctica.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actividades del laboratorio</a:t>
            </a:r>
            <a:endParaRPr/>
          </a:p>
          <a:p>
            <a:pPr indent="0" lvl="0" marL="0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2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Coordinación con el docente titular para alinear el laboratorio con la clase magistral.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-38000" y="890043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80" name="Google Shape;180;p7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83" name="Google Shape;183;p7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7"/>
          <p:cNvSpPr txBox="1"/>
          <p:nvPr/>
        </p:nvSpPr>
        <p:spPr>
          <a:xfrm>
            <a:off x="822930" y="280773"/>
            <a:ext cx="1843575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CONOCIENDO A LOS ESTUDIANTES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822930" y="970744"/>
            <a:ext cx="188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8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93" name="Google Shape;193;p8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96" name="Google Shape;196;p8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8"/>
          <p:cNvSpPr txBox="1"/>
          <p:nvPr/>
        </p:nvSpPr>
        <p:spPr>
          <a:xfrm>
            <a:off x="842464" y="20193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DIAGNOSTICO DE CONOCIMIENTOS</a:t>
            </a:r>
            <a:endParaRPr/>
          </a:p>
        </p:txBody>
      </p:sp>
      <p:pic>
        <p:nvPicPr>
          <p:cNvPr descr="Código QR&#10;&#10;El contenido generado por IA puede ser incorrecto."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7051" y="71247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9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206" name="Google Shape;206;p9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9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209" name="Google Shape;209;p9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PROGRAMA DEL LABORATORIO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10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218" name="Google Shape;218;p10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0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221" name="Google Shape;221;p10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0"/>
          <p:cNvSpPr txBox="1"/>
          <p:nvPr/>
        </p:nvSpPr>
        <p:spPr>
          <a:xfrm>
            <a:off x="825773" y="440194"/>
            <a:ext cx="184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</a:rPr>
              <a:t>DIAGNÓSTICO</a:t>
            </a: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 DE NUEVOS CONOCIMIENTOS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806239" y="1137337"/>
            <a:ext cx="18825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Kahoot.it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09" l="0" r="-88547" t="-1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11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231" name="Google Shape;231;p11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1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234" name="Google Shape;234;p11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1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OPINIONES, DUDAS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