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rial Bold" charset="1" panose="020B0802020202020204"/>
      <p:regular r:id="rId19"/>
    </p:embeddedFont>
    <p:embeddedFont>
      <p:font typeface="Arimo" charset="1" panose="020B0604020202020204"/>
      <p:regular r:id="rId20"/>
    </p:embeddedFont>
    <p:embeddedFont>
      <p:font typeface="Arial" charset="1" panose="020B0502020202020204"/>
      <p:regular r:id="rId21"/>
    </p:embeddedFont>
    <p:embeddedFont>
      <p:font typeface="HK Grotesk Medium" charset="1" panose="00000600000000000000"/>
      <p:regular r:id="rId22"/>
    </p:embeddedFont>
    <p:embeddedFont>
      <p:font typeface="HK Grotesk Bold" charset="1" panose="00000800000000000000"/>
      <p:regular r:id="rId23"/>
    </p:embeddedFont>
    <p:embeddedFont>
      <p:font typeface="HK Grotesk" charset="1" panose="00000500000000000000"/>
      <p:regular r:id="rId24"/>
    </p:embeddedFont>
    <p:embeddedFont>
      <p:font typeface="Arimo Italics" charset="1" panose="020B0604020202090204"/>
      <p:regular r:id="rId25"/>
    </p:embeddedFont>
    <p:embeddedFont>
      <p:font typeface="HK Grotesk Medium Italics" charset="1" panose="000006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http://tau-prolog.org/documentation#lists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02" y="0"/>
            <a:ext cx="18254198" cy="10287002"/>
          </a:xfrm>
          <a:custGeom>
            <a:avLst/>
            <a:gdLst/>
            <a:ahLst/>
            <a:cxnLst/>
            <a:rect r="r" b="b" t="t" l="l"/>
            <a:pathLst>
              <a:path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800"/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656400" y="1940050"/>
          <a:ext cx="7366000" cy="1547812"/>
        </p:xfrm>
        <a:graphic>
          <a:graphicData uri="http://schemas.openxmlformats.org/drawingml/2006/table">
            <a:tbl>
              <a:tblPr/>
              <a:tblGrid>
                <a:gridCol w="3030168"/>
                <a:gridCol w="4335832"/>
              </a:tblGrid>
              <a:tr h="7739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b="true" sz="284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Día, Fecha: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76"/>
                        </a:lnSpc>
                        <a:defRPr/>
                      </a:pPr>
                      <a:r>
                        <a:rPr lang="en-US" sz="284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Viernes, XX-XX-XXXX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9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b="true" sz="284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Hora de inicio: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76"/>
                        </a:lnSpc>
                        <a:defRPr/>
                      </a:pPr>
                      <a:r>
                        <a:rPr lang="en-US" sz="284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19:00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3864138" y="4529138"/>
            <a:ext cx="951329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Inteligencia Artificial 1</a:t>
            </a:r>
            <a:r>
              <a:rPr lang="en-US" b="true" sz="5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[A]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17834" y="5845971"/>
            <a:ext cx="700590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Robin Omar Buezo Díaz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952267"/>
            <a:ext cx="16230600" cy="8382465"/>
            <a:chOff x="0" y="0"/>
            <a:chExt cx="6045684" cy="3122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45684" cy="3122357"/>
            </a:xfrm>
            <a:custGeom>
              <a:avLst/>
              <a:gdLst/>
              <a:ahLst/>
              <a:cxnLst/>
              <a:rect r="r" b="b" t="t" l="l"/>
              <a:pathLst>
                <a:path h="3122357" w="6045684">
                  <a:moveTo>
                    <a:pt x="0" y="0"/>
                  </a:moveTo>
                  <a:lnTo>
                    <a:pt x="6045684" y="0"/>
                  </a:lnTo>
                  <a:lnTo>
                    <a:pt x="6045684" y="3122357"/>
                  </a:lnTo>
                  <a:lnTo>
                    <a:pt x="0" y="3122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9753A8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045684" cy="312235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374539" y="8993151"/>
            <a:ext cx="4284389" cy="1567256"/>
            <a:chOff x="0" y="0"/>
            <a:chExt cx="1128399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8399" cy="412775"/>
            </a:xfrm>
            <a:custGeom>
              <a:avLst/>
              <a:gdLst/>
              <a:ahLst/>
              <a:cxnLst/>
              <a:rect r="r" b="b" t="t" l="l"/>
              <a:pathLst>
                <a:path h="412775" w="1128399">
                  <a:moveTo>
                    <a:pt x="0" y="0"/>
                  </a:moveTo>
                  <a:lnTo>
                    <a:pt x="1128399" y="0"/>
                  </a:lnTo>
                  <a:lnTo>
                    <a:pt x="1128399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28399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4012664" y="3237235"/>
            <a:ext cx="6983416" cy="1567256"/>
            <a:chOff x="0" y="0"/>
            <a:chExt cx="183925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9254" cy="412775"/>
            </a:xfrm>
            <a:custGeom>
              <a:avLst/>
              <a:gdLst/>
              <a:ahLst/>
              <a:cxnLst/>
              <a:rect r="r" b="b" t="t" l="l"/>
              <a:pathLst>
                <a:path h="412775" w="1839254">
                  <a:moveTo>
                    <a:pt x="0" y="0"/>
                  </a:moveTo>
                  <a:lnTo>
                    <a:pt x="1839254" y="0"/>
                  </a:lnTo>
                  <a:lnTo>
                    <a:pt x="183925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3925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true" rot="5400000">
            <a:off x="10540746" y="-52264"/>
            <a:ext cx="11547949" cy="9406329"/>
          </a:xfrm>
          <a:custGeom>
            <a:avLst/>
            <a:gdLst/>
            <a:ahLst/>
            <a:cxnLst/>
            <a:rect r="r" b="b" t="t" l="l"/>
            <a:pathLst>
              <a:path h="9406329" w="11547949">
                <a:moveTo>
                  <a:pt x="11547949" y="9406329"/>
                </a:moveTo>
                <a:lnTo>
                  <a:pt x="0" y="9406329"/>
                </a:lnTo>
                <a:lnTo>
                  <a:pt x="0" y="0"/>
                </a:lnTo>
                <a:lnTo>
                  <a:pt x="11547949" y="0"/>
                </a:lnTo>
                <a:lnTo>
                  <a:pt x="11547949" y="94063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18001" y="6620396"/>
            <a:ext cx="9224082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Escuela de Ingenieria de Ciencias Y Sistemas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Facultad de Ingenieria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Universidad de San Carlos de Guatemala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118001" y="3415707"/>
            <a:ext cx="11119114" cy="121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8000" b="tru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Clase 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84676" y="2365657"/>
            <a:ext cx="11052439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5"/>
              </a:lnSpc>
            </a:pPr>
            <a:r>
              <a:rPr lang="en-US" b="true" sz="5500" spc="4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INTELIGENCIA ARTIFICIAL 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18001" y="857436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AutoShape 17" id="17"/>
          <p:cNvSpPr/>
          <p:nvPr/>
        </p:nvSpPr>
        <p:spPr>
          <a:xfrm flipV="true">
            <a:off x="13553005" y="935761"/>
            <a:ext cx="5036482" cy="5036482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4602740" y="4540846"/>
            <a:ext cx="1216428" cy="1216428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12944791" y="7512571"/>
            <a:ext cx="2942644" cy="2942644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1473469" y="9776779"/>
            <a:ext cx="2942644" cy="2942644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2118001" y="4721267"/>
            <a:ext cx="656308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Lógica e Inferencia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2575" y="1028700"/>
            <a:ext cx="15562849" cy="8179961"/>
            <a:chOff x="0" y="0"/>
            <a:chExt cx="5796956" cy="3046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96955" cy="3046927"/>
            </a:xfrm>
            <a:custGeom>
              <a:avLst/>
              <a:gdLst/>
              <a:ahLst/>
              <a:cxnLst/>
              <a:rect r="r" b="b" t="t" l="l"/>
              <a:pathLst>
                <a:path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70F69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5796956" cy="304692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700000">
            <a:off x="57071" y="8050244"/>
            <a:ext cx="3393988" cy="1567256"/>
            <a:chOff x="0" y="0"/>
            <a:chExt cx="893890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4836942" y="550429"/>
            <a:ext cx="3393988" cy="1567256"/>
            <a:chOff x="0" y="0"/>
            <a:chExt cx="893890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515035" y="5489862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3871465" y="-189523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99395" y="3078596"/>
            <a:ext cx="6464263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5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Actividad</a:t>
            </a:r>
          </a:p>
          <a:p>
            <a:pPr algn="l">
              <a:lnSpc>
                <a:spcPts val="4200"/>
              </a:lnSpc>
            </a:pP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Corto en UEDI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89083" y="1511090"/>
            <a:ext cx="4271494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Agenda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06974" y="8506847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34003" y="3078596"/>
            <a:ext cx="6464263" cy="534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Recordatorios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Temas</a:t>
            </a:r>
          </a:p>
          <a:p>
            <a:pPr algn="l">
              <a:lnSpc>
                <a:spcPts val="4200"/>
              </a:lnSpc>
            </a:pP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Ciclos y Recursión</a:t>
            </a:r>
          </a:p>
          <a:p>
            <a:pPr algn="l">
              <a:lnSpc>
                <a:spcPts val="4200"/>
              </a:lnSpc>
            </a:pP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Átomos, Listas y Unificación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08934" y="1511090"/>
            <a:ext cx="4271494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Recursos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7AC3F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74889" y="1409214"/>
            <a:ext cx="13991174" cy="88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90"/>
              </a:lnSpc>
            </a:pPr>
            <a:r>
              <a:rPr lang="en-US" b="true" sz="6098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COMPETENCIA(S) Que desarrollaremos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08326" y="3435564"/>
            <a:ext cx="12569573" cy="4213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4000" spc="32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Desarrolla hechos, reglas, expresiones y predicados recursivos mediante el uso de cláusulas, ciclos, listas, unificació</a:t>
            </a:r>
            <a:r>
              <a:rPr lang="en-US" b="true" sz="4000" spc="32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 y cortes en Tau Prolog para modelar bases de conocimiento y resolver problemas de inferencia lógica.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77486" y="1541410"/>
            <a:ext cx="1533302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b="true" sz="8465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Listas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412161" y="5143500"/>
            <a:ext cx="6239058" cy="2925491"/>
          </a:xfrm>
          <a:custGeom>
            <a:avLst/>
            <a:gdLst/>
            <a:ahLst/>
            <a:cxnLst/>
            <a:rect r="r" b="b" t="t" l="l"/>
            <a:pathLst>
              <a:path h="2925491" w="6239058">
                <a:moveTo>
                  <a:pt x="0" y="0"/>
                </a:moveTo>
                <a:lnTo>
                  <a:pt x="6239057" y="0"/>
                </a:lnTo>
                <a:lnTo>
                  <a:pt x="6239057" y="2925491"/>
                </a:lnTo>
                <a:lnTo>
                  <a:pt x="0" y="29254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77486" y="3257549"/>
            <a:ext cx="15333028" cy="103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Las listas son una estructura clave en Prolog y se representan con [] (lista vacía) o [Cabeza | Cola].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07042" y="5255916"/>
            <a:ext cx="2445325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[a,b,c,d]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07042" y="5960766"/>
            <a:ext cx="2445325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[1,2,3,4]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07042" y="6665617"/>
            <a:ext cx="3049029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[[1,2],[3,4]]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07042" y="7369525"/>
            <a:ext cx="3942511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[a, [b, c, [d, e]]]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77486" y="1028700"/>
            <a:ext cx="1533302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b="true" sz="8465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Operaciones cómunes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755385" y="2550616"/>
          <a:ext cx="14777229" cy="4673060"/>
        </p:xfrm>
        <a:graphic>
          <a:graphicData uri="http://schemas.openxmlformats.org/drawingml/2006/table">
            <a:tbl>
              <a:tblPr/>
              <a:tblGrid>
                <a:gridCol w="3570743"/>
                <a:gridCol w="7635493"/>
                <a:gridCol w="3570994"/>
              </a:tblGrid>
              <a:tr h="9871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Operación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50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Ejemplo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50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50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50A3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Descripción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50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258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length(L, 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length([a,b,c], X). → X = 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Longitud de la lista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00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member(X, L)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member(3, [1,2,3,4]). → true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Verifica si X está en 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00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append(L1, L2, L3)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append([1,2], [3,4], X). → X = [1,2,3,4]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Concatena listas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00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reverse(L, R)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reverse([1,2,3], X). → X = [3,2,1]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Invierte una lista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55385" y="7699927"/>
            <a:ext cx="5438775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i="true" u="sng">
                <a:solidFill>
                  <a:srgbClr val="F4F6FC"/>
                </a:solidFill>
                <a:latin typeface="Arimo Italics"/>
                <a:ea typeface="Arimo Italics"/>
                <a:cs typeface="Arimo Italics"/>
                <a:sym typeface="Arimo Italics"/>
                <a:hlinkClick r:id="rId5" tooltip="http://tau-prolog.org/documentation#lists"/>
              </a:rPr>
              <a:t>http://tau-prolog.org/documentation#lists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77486" y="2155356"/>
            <a:ext cx="1533302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b="true" sz="8465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Unificación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77486" y="3810821"/>
            <a:ext cx="15333028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La unificación (=) es el proceso de igualar términos, resolviendo variables si es necesario.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17419" y="5656381"/>
            <a:ext cx="5163384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X = 5. % X se unifica con 5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35871" y="6868890"/>
            <a:ext cx="7216259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Y = f(A), A = 3. % Y se convierte en f(3)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77486" y="2155356"/>
            <a:ext cx="1533302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b="true" sz="8465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Unificación de Listas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558839" y="3965761"/>
            <a:ext cx="4934432" cy="4732276"/>
          </a:xfrm>
          <a:custGeom>
            <a:avLst/>
            <a:gdLst/>
            <a:ahLst/>
            <a:cxnLst/>
            <a:rect r="r" b="b" t="t" l="l"/>
            <a:pathLst>
              <a:path h="4732276" w="4934432">
                <a:moveTo>
                  <a:pt x="0" y="0"/>
                </a:moveTo>
                <a:lnTo>
                  <a:pt x="4934431" y="0"/>
                </a:lnTo>
                <a:lnTo>
                  <a:pt x="4934431" y="4732276"/>
                </a:lnTo>
                <a:lnTo>
                  <a:pt x="0" y="47322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502616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6623" y="5041431"/>
            <a:ext cx="8646126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[H | T] = [a, b, c, d].         % H = a, T = [b, c, d]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6623" y="7041512"/>
            <a:ext cx="9593179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[H | T] = [a, [b, c, [d, e]]]   % H = a, T = [[b, c, [d, e]]]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6623" y="6041386"/>
            <a:ext cx="9000768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[H | T] = [[1, 2], [3, 4]].      % H = [1, 2], T = [[3, 4]]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77486" y="1695172"/>
            <a:ext cx="1533302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b="true" sz="8465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Recursión en Listas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00106" y="3021446"/>
            <a:ext cx="10687788" cy="208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 i="true">
                <a:solidFill>
                  <a:srgbClr val="050A30"/>
                </a:solidFill>
                <a:latin typeface="HK Grotesk Medium Italics"/>
                <a:ea typeface="HK Grotesk Medium Italics"/>
                <a:cs typeface="HK Grotesk Medium Italics"/>
                <a:sym typeface="HK Grotesk Medium Italics"/>
              </a:rPr>
              <a:t>suma_lista([], 0). % Caso base: la suma de una lista vacía es 0 suma_lista([X | XS], Suma) :- 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 i="true">
                <a:solidFill>
                  <a:srgbClr val="050A30"/>
                </a:solidFill>
                <a:latin typeface="HK Grotesk Medium Italics"/>
                <a:ea typeface="HK Grotesk Medium Italics"/>
                <a:cs typeface="HK Grotesk Medium Italics"/>
                <a:sym typeface="HK Grotesk Medium Italics"/>
              </a:rPr>
              <a:t>     suma_lista(XS, SumaResto), % Suma de la cola 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 i="true">
                <a:solidFill>
                  <a:srgbClr val="050A30"/>
                </a:solidFill>
                <a:latin typeface="HK Grotesk Medium Italics"/>
                <a:ea typeface="HK Grotesk Medium Italics"/>
                <a:cs typeface="HK Grotesk Medium Italics"/>
                <a:sym typeface="HK Grotesk Medium Italics"/>
              </a:rPr>
              <a:t>     Suma is X + SumaResto. % Suma total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96896" y="5794675"/>
            <a:ext cx="5159812" cy="2609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Flujo de ejecución para [1,2,3]</a:t>
            </a:r>
          </a:p>
          <a:p>
            <a:pPr algn="l" marL="647695" indent="-323848" lvl="1">
              <a:lnSpc>
                <a:spcPts val="4199"/>
              </a:lnSpc>
              <a:buAutoNum type="arabicPeriod" startAt="1"/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suma_lista([1,2,3], Suma)</a:t>
            </a:r>
          </a:p>
          <a:p>
            <a:pPr algn="l" marL="647695" indent="-323848" lvl="1">
              <a:lnSpc>
                <a:spcPts val="4199"/>
              </a:lnSpc>
              <a:buAutoNum type="arabicPeriod" startAt="1"/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1 + suma_lista([2,3])</a:t>
            </a:r>
          </a:p>
          <a:p>
            <a:pPr algn="l" marL="647695" indent="-323848" lvl="1">
              <a:lnSpc>
                <a:spcPts val="4199"/>
              </a:lnSpc>
              <a:buAutoNum type="arabicPeriod" startAt="1"/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1 + (2 + suma_lista([3]))</a:t>
            </a:r>
          </a:p>
          <a:p>
            <a:pPr algn="l" marL="647695" indent="-323848" lvl="1">
              <a:lnSpc>
                <a:spcPts val="4199"/>
              </a:lnSpc>
              <a:buAutoNum type="arabicPeriod" startAt="1"/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1 + (2 + (3 + 0)) = 6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92343" y="705467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Conceptos Clave Aprendidos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27167" y="1800226"/>
            <a:ext cx="14233665" cy="7458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Estructuras Lógicas: 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Comprensión 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de listas como estructuras clave para representar información.</a:t>
            </a:r>
          </a:p>
          <a:p>
            <a:pPr algn="just">
              <a:lnSpc>
                <a:spcPts val="4200"/>
              </a:lnSpc>
            </a:pPr>
          </a:p>
          <a:p>
            <a:pPr algn="just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Unificación: 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Herramienta poderosa para hacer coincid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ir patrones, resolver variable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s y procesar estructuras.</a:t>
            </a:r>
          </a:p>
          <a:p>
            <a:pPr algn="just">
              <a:lnSpc>
                <a:spcPts val="4200"/>
              </a:lnSpc>
            </a:pPr>
          </a:p>
          <a:p>
            <a:pPr algn="just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Inferencia 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Lógica: Uso de hechos y reglas para derivar nuevas conclusiones.</a:t>
            </a:r>
          </a:p>
          <a:p>
            <a:pPr algn="just">
              <a:lnSpc>
                <a:spcPts val="4200"/>
              </a:lnSpc>
            </a:pPr>
          </a:p>
          <a:p>
            <a:pPr algn="just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</a:t>
            </a: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ursión: 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Técnica esencial para operar sobre listas y otras estructuras en Prolog.</a:t>
            </a:r>
          </a:p>
          <a:p>
            <a:pPr algn="just">
              <a:lnSpc>
                <a:spcPts val="4200"/>
              </a:lnSpc>
            </a:pPr>
          </a:p>
          <a:p>
            <a:pPr algn="just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</a:t>
            </a:r>
            <a:r>
              <a:rPr lang="en-US" b="true" sz="3000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imulación e IA: 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Uso de Prolog para modelar comportamientos y decisiones en entornos digitales.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92343" y="712826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Valores y Actitudes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27167" y="1969579"/>
            <a:ext cx="14233665" cy="6920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Ética y Responsabilidad: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Aplicación responsable del conocimiento lógico y computacional, considerando el impacto social.</a:t>
            </a:r>
          </a:p>
          <a:p>
            <a:pPr algn="just">
              <a:lnSpc>
                <a:spcPts val="3920"/>
              </a:lnSpc>
            </a:pPr>
          </a:p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Colaboración Multidisciplinaria: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Trabajo conjunto con respeto y empatía en equipos diversos, aprendiendo unos de otros.</a:t>
            </a:r>
          </a:p>
          <a:p>
            <a:pPr algn="just">
              <a:lnSpc>
                <a:spcPts val="3920"/>
              </a:lnSpc>
            </a:pPr>
          </a:p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Pensamiento Crítico y Lógico: 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Ev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aluación rigurosa de problemas y soluciones a través de la lógica formal y la deducción.</a:t>
            </a:r>
          </a:p>
          <a:p>
            <a:pPr algn="just">
              <a:lnSpc>
                <a:spcPts val="3920"/>
              </a:lnSpc>
            </a:pPr>
          </a:p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Creatividad y Resolución de Problemas: 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Diseño innovador de soluciones mediante el uso de estructuras lógicas como listas, unificación y recursión.</a:t>
            </a:r>
          </a:p>
          <a:p>
            <a:pPr algn="just">
              <a:lnSpc>
                <a:spcPts val="3920"/>
              </a:lnSpc>
            </a:pPr>
          </a:p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Aprendizaje Autónomo y Curiosidad: 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Motivación para explorar nuevos lenguajes y entornos, como Prolog y Tau-Prolog, por iniciativa propia.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92343" y="1673265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Referencias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27167" y="3745346"/>
            <a:ext cx="14233665" cy="2957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32" indent="-302266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ssell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,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S., &amp; Norvig, P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. (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20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1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6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). Ar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ti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icial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nte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li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g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ence: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 M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dern A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ch (3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.).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Pe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on.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</a:p>
          <a:p>
            <a:pPr algn="just" marL="604532" indent="-302266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Clocksin, W. F., &amp; Mellish, C. S. (2003). Programming in Prolog: Using the ISO Standard (5ª ed.). Springer-Verlag.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37795" y="3446254"/>
            <a:ext cx="8658828" cy="2438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43"/>
              </a:lnSpc>
            </a:pPr>
            <a:r>
              <a:rPr lang="en-US" b="true" sz="60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¡GRACIAS POR su  ATENCIÓN!</a:t>
            </a:r>
          </a:p>
          <a:p>
            <a:pPr algn="just">
              <a:lnSpc>
                <a:spcPts val="6343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414714" y="5958103"/>
            <a:ext cx="6704991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b="true" sz="5000" spc="4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DUDAS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963751" y="1028700"/>
            <a:ext cx="2757268" cy="3770970"/>
          </a:xfrm>
          <a:custGeom>
            <a:avLst/>
            <a:gdLst/>
            <a:ahLst/>
            <a:cxnLst/>
            <a:rect r="r" b="b" t="t" l="l"/>
            <a:pathLst>
              <a:path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11098" y="7890210"/>
            <a:ext cx="1346580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Recuerda que tenemos nuestro foro semanal donde puedes consultar cualquier duda que te surja en la semana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DAGn8o-sDxg</dc:identifier>
  <dcterms:modified xsi:type="dcterms:W3CDTF">2011-08-01T06:04:30Z</dcterms:modified>
  <cp:revision>1</cp:revision>
  <dc:title>Clase 04</dc:title>
</cp:coreProperties>
</file>