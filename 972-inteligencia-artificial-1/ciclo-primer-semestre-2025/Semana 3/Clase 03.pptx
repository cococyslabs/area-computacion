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ial Bold" charset="1" panose="020B0802020202020204"/>
      <p:regular r:id="rId24"/>
    </p:embeddedFont>
    <p:embeddedFont>
      <p:font typeface="Arial" charset="1" panose="020B0502020202020204"/>
      <p:regular r:id="rId25"/>
    </p:embeddedFont>
    <p:embeddedFont>
      <p:font typeface="Arimo" charset="1" panose="020B0604020202020204"/>
      <p:regular r:id="rId26"/>
    </p:embeddedFont>
    <p:embeddedFont>
      <p:font typeface="HK Grotesk Medium" charset="1" panose="00000600000000000000"/>
      <p:regular r:id="rId27"/>
    </p:embeddedFont>
    <p:embeddedFont>
      <p:font typeface="HK Grotesk Bold" charset="1" panose="00000800000000000000"/>
      <p:regular r:id="rId28"/>
    </p:embeddedFont>
    <p:embeddedFont>
      <p:font typeface="HK Grotesk" charset="1" panose="00000500000000000000"/>
      <p:regular r:id="rId29"/>
    </p:embeddedFont>
    <p:embeddedFont>
      <p:font typeface="HK Grotesk Italics" charset="1" panose="00000500000000000000"/>
      <p:regular r:id="rId30"/>
    </p:embeddedFont>
    <p:embeddedFont>
      <p:font typeface="HK Grotesk Medium Italics" charset="1" panose="00000600000000000000"/>
      <p:regular r:id="rId31"/>
    </p:embeddedFont>
    <p:embeddedFont>
      <p:font typeface="HK Grotesk Bold Italics" charset="1" panose="000008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02" y="0"/>
            <a:ext cx="18254198" cy="10287002"/>
          </a:xfrm>
          <a:custGeom>
            <a:avLst/>
            <a:gdLst/>
            <a:ahLst/>
            <a:cxnLst/>
            <a:rect r="r" b="b" t="t" l="l"/>
            <a:pathLst>
              <a:path h="10287002" w="18254198">
                <a:moveTo>
                  <a:pt x="0" y="0"/>
                </a:moveTo>
                <a:lnTo>
                  <a:pt x="18254198" y="0"/>
                </a:lnTo>
                <a:lnTo>
                  <a:pt x="18254198" y="10287002"/>
                </a:lnTo>
                <a:lnTo>
                  <a:pt x="0" y="10287002"/>
                </a:lnTo>
                <a:lnTo>
                  <a:pt x="0" y="0"/>
                </a:lnTo>
                <a:close/>
              </a:path>
            </a:pathLst>
          </a:custGeom>
          <a:blipFill>
            <a:blip r:embed="rId2">
              <a:alphaModFix amt="55800"/>
            </a:blip>
            <a:stretch>
              <a:fillRect l="0" t="0" r="0" b="0"/>
            </a:stretch>
          </a:blipFill>
        </p:spPr>
      </p:sp>
      <p:sp>
        <p:nvSpPr>
          <p:cNvPr name="TextBox 3" id="3"/>
          <p:cNvSpPr txBox="true"/>
          <p:nvPr/>
        </p:nvSpPr>
        <p:spPr>
          <a:xfrm rot="0">
            <a:off x="3864138" y="4529138"/>
            <a:ext cx="9513297" cy="1019175"/>
          </a:xfrm>
          <a:prstGeom prst="rect">
            <a:avLst/>
          </a:prstGeom>
        </p:spPr>
        <p:txBody>
          <a:bodyPr anchor="t" rtlCol="false" tIns="0" lIns="0" bIns="0" rIns="0">
            <a:spAutoFit/>
          </a:bodyPr>
          <a:lstStyle/>
          <a:p>
            <a:pPr algn="l">
              <a:lnSpc>
                <a:spcPts val="7199"/>
              </a:lnSpc>
            </a:pPr>
            <a:r>
              <a:rPr lang="en-US" b="true" sz="5999">
                <a:solidFill>
                  <a:srgbClr val="000000"/>
                </a:solidFill>
                <a:latin typeface="Arial Bold"/>
                <a:ea typeface="Arial Bold"/>
                <a:cs typeface="Arial Bold"/>
                <a:sym typeface="Arial Bold"/>
              </a:rPr>
              <a:t>Inteligencia Artificial 1</a:t>
            </a:r>
            <a:r>
              <a:rPr lang="en-US" b="true" sz="5999">
                <a:solidFill>
                  <a:srgbClr val="000000"/>
                </a:solidFill>
                <a:latin typeface="Arial Bold"/>
                <a:ea typeface="Arial Bold"/>
                <a:cs typeface="Arial Bold"/>
                <a:sym typeface="Arial Bold"/>
              </a:rPr>
              <a:t> [A]</a:t>
            </a:r>
          </a:p>
        </p:txBody>
      </p:sp>
      <p:sp>
        <p:nvSpPr>
          <p:cNvPr name="TextBox 4" id="4"/>
          <p:cNvSpPr txBox="true"/>
          <p:nvPr/>
        </p:nvSpPr>
        <p:spPr>
          <a:xfrm rot="0">
            <a:off x="5117834" y="5845971"/>
            <a:ext cx="7005905" cy="847725"/>
          </a:xfrm>
          <a:prstGeom prst="rect">
            <a:avLst/>
          </a:prstGeom>
        </p:spPr>
        <p:txBody>
          <a:bodyPr anchor="t" rtlCol="false" tIns="0" lIns="0" bIns="0" rIns="0">
            <a:spAutoFit/>
          </a:bodyPr>
          <a:lstStyle/>
          <a:p>
            <a:pPr algn="l">
              <a:lnSpc>
                <a:spcPts val="5999"/>
              </a:lnSpc>
            </a:pPr>
            <a:r>
              <a:rPr lang="en-US" sz="4999">
                <a:solidFill>
                  <a:srgbClr val="000000"/>
                </a:solidFill>
                <a:latin typeface="Arial"/>
                <a:ea typeface="Arial"/>
                <a:cs typeface="Arial"/>
                <a:sym typeface="Arial"/>
              </a:rPr>
              <a:t>Robin Omar Buezo Díaz</a:t>
            </a:r>
          </a:p>
        </p:txBody>
      </p:sp>
      <p:graphicFrame>
        <p:nvGraphicFramePr>
          <p:cNvPr name="Table 5" id="5"/>
          <p:cNvGraphicFramePr>
            <a:graphicFrameLocks noGrp="true"/>
          </p:cNvGraphicFramePr>
          <p:nvPr/>
        </p:nvGraphicFramePr>
        <p:xfrm>
          <a:off x="10656400" y="1940050"/>
          <a:ext cx="7366000" cy="1547812"/>
        </p:xfrm>
        <a:graphic>
          <a:graphicData uri="http://schemas.openxmlformats.org/drawingml/2006/table">
            <a:tbl>
              <a:tblPr/>
              <a:tblGrid>
                <a:gridCol w="3030168"/>
                <a:gridCol w="4335832"/>
              </a:tblGrid>
              <a:tr h="773906">
                <a:tc>
                  <a:txBody>
                    <a:bodyPr anchor="t" rtlCol="false"/>
                    <a:lstStyle/>
                    <a:p>
                      <a:pPr algn="l">
                        <a:lnSpc>
                          <a:spcPts val="3408"/>
                        </a:lnSpc>
                        <a:defRPr/>
                      </a:pPr>
                      <a:r>
                        <a:rPr lang="en-US" b="true" sz="2840">
                          <a:solidFill>
                            <a:srgbClr val="000000"/>
                          </a:solidFill>
                          <a:latin typeface="Arial Bold"/>
                          <a:ea typeface="Arial Bold"/>
                          <a:cs typeface="Arial Bold"/>
                          <a:sym typeface="Arial Bold"/>
                        </a:rPr>
                        <a:t>Día, Fecha:</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976"/>
                        </a:lnSpc>
                        <a:defRPr/>
                      </a:pPr>
                      <a:r>
                        <a:rPr lang="en-US" sz="2840">
                          <a:solidFill>
                            <a:srgbClr val="000000"/>
                          </a:solidFill>
                          <a:latin typeface="Arimo"/>
                          <a:ea typeface="Arimo"/>
                          <a:cs typeface="Arimo"/>
                          <a:sym typeface="Arimo"/>
                        </a:rPr>
                        <a:t>Viernes, XX-XX-XXXX</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73906">
                <a:tc>
                  <a:txBody>
                    <a:bodyPr anchor="t" rtlCol="false"/>
                    <a:lstStyle/>
                    <a:p>
                      <a:pPr algn="l">
                        <a:lnSpc>
                          <a:spcPts val="3408"/>
                        </a:lnSpc>
                        <a:defRPr/>
                      </a:pPr>
                      <a:r>
                        <a:rPr lang="en-US" b="true" sz="2840">
                          <a:solidFill>
                            <a:srgbClr val="000000"/>
                          </a:solidFill>
                          <a:latin typeface="Arial Bold"/>
                          <a:ea typeface="Arial Bold"/>
                          <a:cs typeface="Arial Bold"/>
                          <a:sym typeface="Arial Bold"/>
                        </a:rPr>
                        <a:t>Hora de inicio: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976"/>
                        </a:lnSpc>
                        <a:defRPr/>
                      </a:pPr>
                      <a:r>
                        <a:rPr lang="en-US" sz="2840">
                          <a:solidFill>
                            <a:srgbClr val="000000"/>
                          </a:solidFill>
                          <a:latin typeface="Arimo"/>
                          <a:ea typeface="Arimo"/>
                          <a:cs typeface="Arimo"/>
                          <a:sym typeface="Arimo"/>
                        </a:rPr>
                        <a:t>19:00</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028700" y="952267"/>
            <a:ext cx="16230600" cy="8382465"/>
            <a:chOff x="0" y="0"/>
            <a:chExt cx="6045684" cy="3122357"/>
          </a:xfrm>
        </p:grpSpPr>
        <p:sp>
          <p:nvSpPr>
            <p:cNvPr name="Freeform 4" id="4"/>
            <p:cNvSpPr/>
            <p:nvPr/>
          </p:nvSpPr>
          <p:spPr>
            <a:xfrm flipH="false" flipV="false" rot="0">
              <a:off x="0" y="0"/>
              <a:ext cx="6045684" cy="3122357"/>
            </a:xfrm>
            <a:custGeom>
              <a:avLst/>
              <a:gdLst/>
              <a:ahLst/>
              <a:cxnLst/>
              <a:rect r="r" b="b" t="t" l="l"/>
              <a:pathLst>
                <a:path h="3122357" w="6045684">
                  <a:moveTo>
                    <a:pt x="0" y="0"/>
                  </a:moveTo>
                  <a:lnTo>
                    <a:pt x="6045684" y="0"/>
                  </a:lnTo>
                  <a:lnTo>
                    <a:pt x="6045684" y="3122357"/>
                  </a:lnTo>
                  <a:lnTo>
                    <a:pt x="0" y="3122357"/>
                  </a:lnTo>
                  <a:close/>
                </a:path>
              </a:pathLst>
            </a:custGeom>
            <a:solidFill>
              <a:srgbClr val="000000">
                <a:alpha val="0"/>
              </a:srgbClr>
            </a:solidFill>
            <a:ln w="66675" cap="sq">
              <a:solidFill>
                <a:srgbClr val="9753A8"/>
              </a:solidFill>
              <a:prstDash val="solid"/>
              <a:miter/>
            </a:ln>
          </p:spPr>
        </p:sp>
        <p:sp>
          <p:nvSpPr>
            <p:cNvPr name="TextBox 5" id="5"/>
            <p:cNvSpPr txBox="true"/>
            <p:nvPr/>
          </p:nvSpPr>
          <p:spPr>
            <a:xfrm>
              <a:off x="0" y="0"/>
              <a:ext cx="6045684" cy="3122357"/>
            </a:xfrm>
            <a:prstGeom prst="rect">
              <a:avLst/>
            </a:prstGeom>
          </p:spPr>
          <p:txBody>
            <a:bodyPr anchor="ctr" rtlCol="false" tIns="48876" lIns="48876" bIns="48876" rIns="48876"/>
            <a:lstStyle/>
            <a:p>
              <a:pPr algn="ctr">
                <a:lnSpc>
                  <a:spcPts val="1813"/>
                </a:lnSpc>
              </a:pPr>
            </a:p>
          </p:txBody>
        </p:sp>
      </p:grpSp>
      <p:grpSp>
        <p:nvGrpSpPr>
          <p:cNvPr name="Group 6" id="6"/>
          <p:cNvGrpSpPr/>
          <p:nvPr/>
        </p:nvGrpSpPr>
        <p:grpSpPr>
          <a:xfrm rot="0">
            <a:off x="12374539" y="8993151"/>
            <a:ext cx="4284389" cy="1567256"/>
            <a:chOff x="0" y="0"/>
            <a:chExt cx="1128399" cy="412775"/>
          </a:xfrm>
        </p:grpSpPr>
        <p:sp>
          <p:nvSpPr>
            <p:cNvPr name="Freeform 7" id="7"/>
            <p:cNvSpPr/>
            <p:nvPr/>
          </p:nvSpPr>
          <p:spPr>
            <a:xfrm flipH="false" flipV="false" rot="0">
              <a:off x="0" y="0"/>
              <a:ext cx="1128399" cy="412775"/>
            </a:xfrm>
            <a:custGeom>
              <a:avLst/>
              <a:gdLst/>
              <a:ahLst/>
              <a:cxnLst/>
              <a:rect r="r" b="b" t="t" l="l"/>
              <a:pathLst>
                <a:path h="412775" w="1128399">
                  <a:moveTo>
                    <a:pt x="0" y="0"/>
                  </a:moveTo>
                  <a:lnTo>
                    <a:pt x="1128399" y="0"/>
                  </a:lnTo>
                  <a:lnTo>
                    <a:pt x="1128399" y="412775"/>
                  </a:lnTo>
                  <a:lnTo>
                    <a:pt x="0" y="412775"/>
                  </a:lnTo>
                  <a:close/>
                </a:path>
              </a:pathLst>
            </a:custGeom>
            <a:solidFill>
              <a:srgbClr val="F4F6FC"/>
            </a:solidFill>
          </p:spPr>
        </p:sp>
        <p:sp>
          <p:nvSpPr>
            <p:cNvPr name="TextBox 8" id="8"/>
            <p:cNvSpPr txBox="true"/>
            <p:nvPr/>
          </p:nvSpPr>
          <p:spPr>
            <a:xfrm>
              <a:off x="0" y="-47625"/>
              <a:ext cx="1128399" cy="4604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5400000">
            <a:off x="14012664" y="3237235"/>
            <a:ext cx="6983416" cy="1567256"/>
            <a:chOff x="0" y="0"/>
            <a:chExt cx="1839254" cy="412775"/>
          </a:xfrm>
        </p:grpSpPr>
        <p:sp>
          <p:nvSpPr>
            <p:cNvPr name="Freeform 10" id="10"/>
            <p:cNvSpPr/>
            <p:nvPr/>
          </p:nvSpPr>
          <p:spPr>
            <a:xfrm flipH="false" flipV="false" rot="0">
              <a:off x="0" y="0"/>
              <a:ext cx="1839254" cy="412775"/>
            </a:xfrm>
            <a:custGeom>
              <a:avLst/>
              <a:gdLst/>
              <a:ahLst/>
              <a:cxnLst/>
              <a:rect r="r" b="b" t="t" l="l"/>
              <a:pathLst>
                <a:path h="412775" w="1839254">
                  <a:moveTo>
                    <a:pt x="0" y="0"/>
                  </a:moveTo>
                  <a:lnTo>
                    <a:pt x="1839254" y="0"/>
                  </a:lnTo>
                  <a:lnTo>
                    <a:pt x="1839254" y="412775"/>
                  </a:lnTo>
                  <a:lnTo>
                    <a:pt x="0" y="412775"/>
                  </a:lnTo>
                  <a:close/>
                </a:path>
              </a:pathLst>
            </a:custGeom>
            <a:solidFill>
              <a:srgbClr val="F4F6FC"/>
            </a:solidFill>
          </p:spPr>
        </p:sp>
        <p:sp>
          <p:nvSpPr>
            <p:cNvPr name="TextBox 11" id="11"/>
            <p:cNvSpPr txBox="true"/>
            <p:nvPr/>
          </p:nvSpPr>
          <p:spPr>
            <a:xfrm>
              <a:off x="0" y="-47625"/>
              <a:ext cx="183925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true" flipV="true" rot="5400000">
            <a:off x="10540746" y="-52264"/>
            <a:ext cx="11547949" cy="9406329"/>
          </a:xfrm>
          <a:custGeom>
            <a:avLst/>
            <a:gdLst/>
            <a:ahLst/>
            <a:cxnLst/>
            <a:rect r="r" b="b" t="t" l="l"/>
            <a:pathLst>
              <a:path h="9406329" w="11547949">
                <a:moveTo>
                  <a:pt x="11547949" y="9406329"/>
                </a:moveTo>
                <a:lnTo>
                  <a:pt x="0" y="9406329"/>
                </a:lnTo>
                <a:lnTo>
                  <a:pt x="0" y="0"/>
                </a:lnTo>
                <a:lnTo>
                  <a:pt x="11547949" y="0"/>
                </a:lnTo>
                <a:lnTo>
                  <a:pt x="11547949" y="940632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118001" y="6620396"/>
            <a:ext cx="9224082" cy="1736725"/>
          </a:xfrm>
          <a:prstGeom prst="rect">
            <a:avLst/>
          </a:prstGeom>
        </p:spPr>
        <p:txBody>
          <a:bodyPr anchor="t" rtlCol="false" tIns="0" lIns="0" bIns="0" rIns="0">
            <a:spAutoFit/>
          </a:bodyPr>
          <a:lstStyle/>
          <a:p>
            <a:pPr algn="l">
              <a:lnSpc>
                <a:spcPts val="3499"/>
              </a:lnSpc>
            </a:pPr>
            <a:r>
              <a:rPr lang="en-US" sz="2499" b="true">
                <a:solidFill>
                  <a:srgbClr val="050A30"/>
                </a:solidFill>
                <a:latin typeface="HK Grotesk Medium"/>
                <a:ea typeface="HK Grotesk Medium"/>
                <a:cs typeface="HK Grotesk Medium"/>
                <a:sym typeface="HK Grotesk Medium"/>
              </a:rPr>
              <a:t>Escuela de Ingenieria de Ciencias Y Sistemas</a:t>
            </a:r>
          </a:p>
          <a:p>
            <a:pPr algn="l">
              <a:lnSpc>
                <a:spcPts val="3499"/>
              </a:lnSpc>
            </a:pPr>
            <a:r>
              <a:rPr lang="en-US" sz="2499" b="true">
                <a:solidFill>
                  <a:srgbClr val="050A30"/>
                </a:solidFill>
                <a:latin typeface="HK Grotesk Medium"/>
                <a:ea typeface="HK Grotesk Medium"/>
                <a:cs typeface="HK Grotesk Medium"/>
                <a:sym typeface="HK Grotesk Medium"/>
              </a:rPr>
              <a:t>Facultad de Ingenieria</a:t>
            </a:r>
          </a:p>
          <a:p>
            <a:pPr algn="l">
              <a:lnSpc>
                <a:spcPts val="3499"/>
              </a:lnSpc>
            </a:pPr>
            <a:r>
              <a:rPr lang="en-US" sz="2499" b="true">
                <a:solidFill>
                  <a:srgbClr val="050A30"/>
                </a:solidFill>
                <a:latin typeface="HK Grotesk Medium"/>
                <a:ea typeface="HK Grotesk Medium"/>
                <a:cs typeface="HK Grotesk Medium"/>
                <a:sym typeface="HK Grotesk Medium"/>
              </a:rPr>
              <a:t>Universidad de San Carlos de Guatemala</a:t>
            </a:r>
          </a:p>
          <a:p>
            <a:pPr algn="l">
              <a:lnSpc>
                <a:spcPts val="3499"/>
              </a:lnSpc>
              <a:spcBef>
                <a:spcPct val="0"/>
              </a:spcBef>
            </a:pPr>
          </a:p>
        </p:txBody>
      </p:sp>
      <p:sp>
        <p:nvSpPr>
          <p:cNvPr name="TextBox 14" id="14"/>
          <p:cNvSpPr txBox="true"/>
          <p:nvPr/>
        </p:nvSpPr>
        <p:spPr>
          <a:xfrm rot="0">
            <a:off x="2118001" y="3415707"/>
            <a:ext cx="11119114" cy="1210310"/>
          </a:xfrm>
          <a:prstGeom prst="rect">
            <a:avLst/>
          </a:prstGeom>
        </p:spPr>
        <p:txBody>
          <a:bodyPr anchor="t" rtlCol="false" tIns="0" lIns="0" bIns="0" rIns="0">
            <a:spAutoFit/>
          </a:bodyPr>
          <a:lstStyle/>
          <a:p>
            <a:pPr algn="l">
              <a:lnSpc>
                <a:spcPts val="9520"/>
              </a:lnSpc>
            </a:pPr>
            <a:r>
              <a:rPr lang="en-US" sz="8000" b="true">
                <a:solidFill>
                  <a:srgbClr val="050A30"/>
                </a:solidFill>
                <a:latin typeface="HK Grotesk Bold"/>
                <a:ea typeface="HK Grotesk Bold"/>
                <a:cs typeface="HK Grotesk Bold"/>
                <a:sym typeface="HK Grotesk Bold"/>
              </a:rPr>
              <a:t>Clase 3</a:t>
            </a:r>
          </a:p>
        </p:txBody>
      </p:sp>
      <p:sp>
        <p:nvSpPr>
          <p:cNvPr name="TextBox 15" id="15"/>
          <p:cNvSpPr txBox="true"/>
          <p:nvPr/>
        </p:nvSpPr>
        <p:spPr>
          <a:xfrm rot="0">
            <a:off x="2184676" y="2365657"/>
            <a:ext cx="11052439" cy="835660"/>
          </a:xfrm>
          <a:prstGeom prst="rect">
            <a:avLst/>
          </a:prstGeom>
        </p:spPr>
        <p:txBody>
          <a:bodyPr anchor="t" rtlCol="false" tIns="0" lIns="0" bIns="0" rIns="0">
            <a:spAutoFit/>
          </a:bodyPr>
          <a:lstStyle/>
          <a:p>
            <a:pPr algn="l">
              <a:lnSpc>
                <a:spcPts val="6545"/>
              </a:lnSpc>
            </a:pPr>
            <a:r>
              <a:rPr lang="en-US" b="true" sz="5500" spc="440">
                <a:solidFill>
                  <a:srgbClr val="050A30"/>
                </a:solidFill>
                <a:latin typeface="HK Grotesk Bold"/>
                <a:ea typeface="HK Grotesk Bold"/>
                <a:cs typeface="HK Grotesk Bold"/>
                <a:sym typeface="HK Grotesk Bold"/>
              </a:rPr>
              <a:t>INTELIGENCIA ARTIFICIAL 1</a:t>
            </a:r>
          </a:p>
        </p:txBody>
      </p:sp>
      <p:sp>
        <p:nvSpPr>
          <p:cNvPr name="TextBox 16" id="16"/>
          <p:cNvSpPr txBox="true"/>
          <p:nvPr/>
        </p:nvSpPr>
        <p:spPr>
          <a:xfrm rot="0">
            <a:off x="2118001" y="857436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AutoShape 17" id="17"/>
          <p:cNvSpPr/>
          <p:nvPr/>
        </p:nvSpPr>
        <p:spPr>
          <a:xfrm flipV="true">
            <a:off x="13553005" y="935761"/>
            <a:ext cx="5036482" cy="5036482"/>
          </a:xfrm>
          <a:prstGeom prst="line">
            <a:avLst/>
          </a:prstGeom>
          <a:ln cap="flat" w="114300">
            <a:solidFill>
              <a:srgbClr val="050A30"/>
            </a:solidFill>
            <a:prstDash val="solid"/>
            <a:headEnd type="none" len="sm" w="sm"/>
            <a:tailEnd type="none" len="sm" w="sm"/>
          </a:ln>
        </p:spPr>
      </p:sp>
      <p:sp>
        <p:nvSpPr>
          <p:cNvPr name="AutoShape 18" id="18"/>
          <p:cNvSpPr/>
          <p:nvPr/>
        </p:nvSpPr>
        <p:spPr>
          <a:xfrm flipV="true">
            <a:off x="14602740" y="4540846"/>
            <a:ext cx="1216428" cy="1216428"/>
          </a:xfrm>
          <a:prstGeom prst="line">
            <a:avLst/>
          </a:prstGeom>
          <a:ln cap="flat" w="114300">
            <a:solidFill>
              <a:srgbClr val="050A30"/>
            </a:solidFill>
            <a:prstDash val="solid"/>
            <a:headEnd type="none" len="sm" w="sm"/>
            <a:tailEnd type="none" len="sm" w="sm"/>
          </a:ln>
        </p:spPr>
      </p:sp>
      <p:sp>
        <p:nvSpPr>
          <p:cNvPr name="AutoShape 19" id="19"/>
          <p:cNvSpPr/>
          <p:nvPr/>
        </p:nvSpPr>
        <p:spPr>
          <a:xfrm flipV="true">
            <a:off x="12944791" y="7512571"/>
            <a:ext cx="2942644" cy="2942644"/>
          </a:xfrm>
          <a:prstGeom prst="line">
            <a:avLst/>
          </a:prstGeom>
          <a:ln cap="flat" w="114300">
            <a:solidFill>
              <a:srgbClr val="050A30"/>
            </a:solidFill>
            <a:prstDash val="solid"/>
            <a:headEnd type="none" len="sm" w="sm"/>
            <a:tailEnd type="none" len="sm" w="sm"/>
          </a:ln>
        </p:spPr>
      </p:sp>
      <p:sp>
        <p:nvSpPr>
          <p:cNvPr name="AutoShape 20" id="20"/>
          <p:cNvSpPr/>
          <p:nvPr/>
        </p:nvSpPr>
        <p:spPr>
          <a:xfrm flipV="true">
            <a:off x="11473469" y="9776779"/>
            <a:ext cx="2942644" cy="2942644"/>
          </a:xfrm>
          <a:prstGeom prst="line">
            <a:avLst/>
          </a:prstGeom>
          <a:ln cap="flat" w="114300">
            <a:solidFill>
              <a:srgbClr val="050A30"/>
            </a:solidFill>
            <a:prstDash val="solid"/>
            <a:headEnd type="none" len="sm" w="sm"/>
            <a:tailEnd type="none" len="sm" w="sm"/>
          </a:ln>
        </p:spPr>
      </p:sp>
      <p:sp>
        <p:nvSpPr>
          <p:cNvPr name="TextBox 21" id="21"/>
          <p:cNvSpPr txBox="true"/>
          <p:nvPr/>
        </p:nvSpPr>
        <p:spPr>
          <a:xfrm rot="0">
            <a:off x="2118001" y="4721267"/>
            <a:ext cx="6563087" cy="1038225"/>
          </a:xfrm>
          <a:prstGeom prst="rect">
            <a:avLst/>
          </a:prstGeom>
        </p:spPr>
        <p:txBody>
          <a:bodyPr anchor="t" rtlCol="false" tIns="0" lIns="0" bIns="0" rIns="0">
            <a:spAutoFit/>
          </a:bodyPr>
          <a:lstStyle/>
          <a:p>
            <a:pPr algn="l">
              <a:lnSpc>
                <a:spcPts val="8400"/>
              </a:lnSpc>
              <a:spcBef>
                <a:spcPct val="0"/>
              </a:spcBef>
            </a:pPr>
            <a:r>
              <a:rPr lang="en-US" b="true" sz="6000">
                <a:solidFill>
                  <a:srgbClr val="050A30"/>
                </a:solidFill>
                <a:latin typeface="HK Grotesk Medium"/>
                <a:ea typeface="HK Grotesk Medium"/>
                <a:cs typeface="HK Grotesk Medium"/>
                <a:sym typeface="HK Grotesk Medium"/>
              </a:rPr>
              <a:t>Lógica e Inferencia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1362575" y="1028700"/>
            <a:ext cx="15562849" cy="8179961"/>
            <a:chOff x="0" y="0"/>
            <a:chExt cx="5796956" cy="3046927"/>
          </a:xfrm>
        </p:grpSpPr>
        <p:sp>
          <p:nvSpPr>
            <p:cNvPr name="Freeform 4" id="4"/>
            <p:cNvSpPr/>
            <p:nvPr/>
          </p:nvSpPr>
          <p:spPr>
            <a:xfrm flipH="false" flipV="false" rot="0">
              <a:off x="0" y="0"/>
              <a:ext cx="5796955" cy="3046927"/>
            </a:xfrm>
            <a:custGeom>
              <a:avLst/>
              <a:gdLst/>
              <a:ahLst/>
              <a:cxnLst/>
              <a:rect r="r" b="b" t="t" l="l"/>
              <a:pathLst>
                <a:path h="3046927" w="5796955">
                  <a:moveTo>
                    <a:pt x="0" y="0"/>
                  </a:moveTo>
                  <a:lnTo>
                    <a:pt x="5796955" y="0"/>
                  </a:lnTo>
                  <a:lnTo>
                    <a:pt x="5796955" y="3046927"/>
                  </a:lnTo>
                  <a:lnTo>
                    <a:pt x="0" y="3046927"/>
                  </a:lnTo>
                  <a:close/>
                </a:path>
              </a:pathLst>
            </a:custGeom>
            <a:solidFill>
              <a:srgbClr val="000000">
                <a:alpha val="0"/>
              </a:srgbClr>
            </a:solidFill>
            <a:ln w="66675" cap="sq">
              <a:solidFill>
                <a:srgbClr val="570F69"/>
              </a:solidFill>
              <a:prstDash val="solid"/>
              <a:miter/>
            </a:ln>
          </p:spPr>
        </p:sp>
        <p:sp>
          <p:nvSpPr>
            <p:cNvPr name="TextBox 5" id="5"/>
            <p:cNvSpPr txBox="true"/>
            <p:nvPr/>
          </p:nvSpPr>
          <p:spPr>
            <a:xfrm>
              <a:off x="0" y="0"/>
              <a:ext cx="5796956" cy="3046927"/>
            </a:xfrm>
            <a:prstGeom prst="rect">
              <a:avLst/>
            </a:prstGeom>
          </p:spPr>
          <p:txBody>
            <a:bodyPr anchor="ctr" rtlCol="false" tIns="48876" lIns="48876" bIns="48876" rIns="48876"/>
            <a:lstStyle/>
            <a:p>
              <a:pPr algn="ctr">
                <a:lnSpc>
                  <a:spcPts val="1813"/>
                </a:lnSpc>
              </a:pPr>
            </a:p>
          </p:txBody>
        </p:sp>
      </p:grpSp>
      <p:grpSp>
        <p:nvGrpSpPr>
          <p:cNvPr name="Group 6" id="6"/>
          <p:cNvGrpSpPr/>
          <p:nvPr/>
        </p:nvGrpSpPr>
        <p:grpSpPr>
          <a:xfrm rot="2700000">
            <a:off x="57071" y="8050244"/>
            <a:ext cx="3393988" cy="1567256"/>
            <a:chOff x="0" y="0"/>
            <a:chExt cx="893890" cy="412775"/>
          </a:xfrm>
        </p:grpSpPr>
        <p:sp>
          <p:nvSpPr>
            <p:cNvPr name="Freeform 7" id="7"/>
            <p:cNvSpPr/>
            <p:nvPr/>
          </p:nvSpPr>
          <p:spPr>
            <a:xfrm flipH="false" flipV="false" rot="0">
              <a:off x="0" y="0"/>
              <a:ext cx="893890" cy="412775"/>
            </a:xfrm>
            <a:custGeom>
              <a:avLst/>
              <a:gdLst/>
              <a:ahLst/>
              <a:cxnLst/>
              <a:rect r="r" b="b" t="t" l="l"/>
              <a:pathLst>
                <a:path h="412775" w="893890">
                  <a:moveTo>
                    <a:pt x="0" y="0"/>
                  </a:moveTo>
                  <a:lnTo>
                    <a:pt x="893890" y="0"/>
                  </a:lnTo>
                  <a:lnTo>
                    <a:pt x="893890" y="412775"/>
                  </a:lnTo>
                  <a:lnTo>
                    <a:pt x="0" y="412775"/>
                  </a:lnTo>
                  <a:close/>
                </a:path>
              </a:pathLst>
            </a:custGeom>
            <a:solidFill>
              <a:srgbClr val="050A30"/>
            </a:solidFill>
          </p:spPr>
        </p:sp>
        <p:sp>
          <p:nvSpPr>
            <p:cNvPr name="TextBox 8" id="8"/>
            <p:cNvSpPr txBox="true"/>
            <p:nvPr/>
          </p:nvSpPr>
          <p:spPr>
            <a:xfrm>
              <a:off x="0" y="-47625"/>
              <a:ext cx="893890" cy="4604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2700000">
            <a:off x="14836942" y="550429"/>
            <a:ext cx="3393988" cy="1567256"/>
            <a:chOff x="0" y="0"/>
            <a:chExt cx="893890" cy="412775"/>
          </a:xfrm>
        </p:grpSpPr>
        <p:sp>
          <p:nvSpPr>
            <p:cNvPr name="Freeform 10" id="10"/>
            <p:cNvSpPr/>
            <p:nvPr/>
          </p:nvSpPr>
          <p:spPr>
            <a:xfrm flipH="false" flipV="false" rot="0">
              <a:off x="0" y="0"/>
              <a:ext cx="893890" cy="412775"/>
            </a:xfrm>
            <a:custGeom>
              <a:avLst/>
              <a:gdLst/>
              <a:ahLst/>
              <a:cxnLst/>
              <a:rect r="r" b="b" t="t" l="l"/>
              <a:pathLst>
                <a:path h="412775" w="893890">
                  <a:moveTo>
                    <a:pt x="0" y="0"/>
                  </a:moveTo>
                  <a:lnTo>
                    <a:pt x="893890" y="0"/>
                  </a:lnTo>
                  <a:lnTo>
                    <a:pt x="893890" y="412775"/>
                  </a:lnTo>
                  <a:lnTo>
                    <a:pt x="0" y="412775"/>
                  </a:lnTo>
                  <a:close/>
                </a:path>
              </a:pathLst>
            </a:custGeom>
            <a:solidFill>
              <a:srgbClr val="050A30"/>
            </a:solidFill>
          </p:spPr>
        </p:sp>
        <p:sp>
          <p:nvSpPr>
            <p:cNvPr name="TextBox 11" id="11"/>
            <p:cNvSpPr txBox="true"/>
            <p:nvPr/>
          </p:nvSpPr>
          <p:spPr>
            <a:xfrm>
              <a:off x="0" y="-47625"/>
              <a:ext cx="893890"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0">
            <a:off x="-515035" y="5489862"/>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3871465" y="-189523"/>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299395" y="3078596"/>
            <a:ext cx="6464263" cy="4810125"/>
          </a:xfrm>
          <a:prstGeom prst="rect">
            <a:avLst/>
          </a:prstGeom>
        </p:spPr>
        <p:txBody>
          <a:bodyPr anchor="t" rtlCol="false" tIns="0" lIns="0" bIns="0" rIns="0">
            <a:spAutoFit/>
          </a:bodyPr>
          <a:lstStyle/>
          <a:p>
            <a:pPr algn="l">
              <a:lnSpc>
                <a:spcPts val="4200"/>
              </a:lnSpc>
            </a:pPr>
            <a:r>
              <a:rPr lang="en-US" sz="3500" b="true">
                <a:solidFill>
                  <a:srgbClr val="F4F6FC"/>
                </a:solidFill>
                <a:latin typeface="HK Grotesk Bold"/>
                <a:ea typeface="HK Grotesk Bold"/>
                <a:cs typeface="HK Grotesk Bold"/>
                <a:sym typeface="HK Grotesk Bold"/>
              </a:rPr>
              <a:t>Link del Video</a:t>
            </a:r>
          </a:p>
          <a:p>
            <a:pPr algn="l">
              <a:lnSpc>
                <a:spcPts val="4200"/>
              </a:lnSpc>
            </a:pPr>
          </a:p>
          <a:p>
            <a:pPr algn="l">
              <a:lnSpc>
                <a:spcPts val="4200"/>
              </a:lnSpc>
            </a:pPr>
          </a:p>
          <a:p>
            <a:pPr algn="l">
              <a:lnSpc>
                <a:spcPts val="4200"/>
              </a:lnSpc>
            </a:pPr>
          </a:p>
          <a:p>
            <a:pPr algn="l">
              <a:lnSpc>
                <a:spcPts val="4200"/>
              </a:lnSpc>
            </a:pPr>
          </a:p>
          <a:p>
            <a:pPr algn="l">
              <a:lnSpc>
                <a:spcPts val="4200"/>
              </a:lnSpc>
            </a:pPr>
          </a:p>
          <a:p>
            <a:pPr algn="l">
              <a:lnSpc>
                <a:spcPts val="4200"/>
              </a:lnSpc>
            </a:pPr>
            <a:r>
              <a:rPr lang="en-US" b="true" sz="3500">
                <a:solidFill>
                  <a:srgbClr val="F4F6FC"/>
                </a:solidFill>
                <a:latin typeface="HK Grotesk Bold"/>
                <a:ea typeface="HK Grotesk Bold"/>
                <a:cs typeface="HK Grotesk Bold"/>
                <a:sym typeface="HK Grotesk Bold"/>
              </a:rPr>
              <a:t>Actividad</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UEDI</a:t>
            </a:r>
          </a:p>
        </p:txBody>
      </p:sp>
      <p:sp>
        <p:nvSpPr>
          <p:cNvPr name="Freeform 15" id="15"/>
          <p:cNvSpPr/>
          <p:nvPr/>
        </p:nvSpPr>
        <p:spPr>
          <a:xfrm flipH="false" flipV="false" rot="0">
            <a:off x="12600079" y="3892225"/>
            <a:ext cx="1862896" cy="1862896"/>
          </a:xfrm>
          <a:custGeom>
            <a:avLst/>
            <a:gdLst/>
            <a:ahLst/>
            <a:cxnLst/>
            <a:rect r="r" b="b" t="t" l="l"/>
            <a:pathLst>
              <a:path h="1862896" w="1862896">
                <a:moveTo>
                  <a:pt x="0" y="0"/>
                </a:moveTo>
                <a:lnTo>
                  <a:pt x="1862896" y="0"/>
                </a:lnTo>
                <a:lnTo>
                  <a:pt x="1862896" y="1862896"/>
                </a:lnTo>
                <a:lnTo>
                  <a:pt x="0" y="1862896"/>
                </a:lnTo>
                <a:lnTo>
                  <a:pt x="0" y="0"/>
                </a:lnTo>
                <a:close/>
              </a:path>
            </a:pathLst>
          </a:custGeom>
          <a:blipFill>
            <a:blip r:embed="rId5"/>
            <a:stretch>
              <a:fillRect l="0" t="0" r="0" b="0"/>
            </a:stretch>
          </a:blipFill>
        </p:spPr>
      </p:sp>
      <p:sp>
        <p:nvSpPr>
          <p:cNvPr name="TextBox 16" id="16"/>
          <p:cNvSpPr txBox="true"/>
          <p:nvPr/>
        </p:nvSpPr>
        <p:spPr>
          <a:xfrm rot="0">
            <a:off x="1889083" y="1511090"/>
            <a:ext cx="4271494" cy="1152525"/>
          </a:xfrm>
          <a:prstGeom prst="rect">
            <a:avLst/>
          </a:prstGeom>
        </p:spPr>
        <p:txBody>
          <a:bodyPr anchor="t" rtlCol="false" tIns="0" lIns="0" bIns="0" rIns="0">
            <a:spAutoFit/>
          </a:bodyPr>
          <a:lstStyle/>
          <a:p>
            <a:pPr algn="ctr">
              <a:lnSpc>
                <a:spcPts val="9000"/>
              </a:lnSpc>
            </a:pPr>
            <a:r>
              <a:rPr lang="en-US" b="true" sz="7500">
                <a:solidFill>
                  <a:srgbClr val="F4F6FC"/>
                </a:solidFill>
                <a:latin typeface="HK Grotesk Bold"/>
                <a:ea typeface="HK Grotesk Bold"/>
                <a:cs typeface="HK Grotesk Bold"/>
                <a:sym typeface="HK Grotesk Bold"/>
              </a:rPr>
              <a:t>Agenda</a:t>
            </a:r>
          </a:p>
        </p:txBody>
      </p:sp>
      <p:sp>
        <p:nvSpPr>
          <p:cNvPr name="TextBox 17" id="17"/>
          <p:cNvSpPr txBox="true"/>
          <p:nvPr/>
        </p:nvSpPr>
        <p:spPr>
          <a:xfrm rot="0">
            <a:off x="12006974" y="8506847"/>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FFFFF"/>
                </a:solidFill>
                <a:latin typeface="HK Grotesk Medium"/>
                <a:ea typeface="HK Grotesk Medium"/>
                <a:cs typeface="HK Grotesk Medium"/>
                <a:sym typeface="HK Grotesk Medium"/>
              </a:rPr>
              <a:t>Elaborado por: Robin Omar Buezo Díaz</a:t>
            </a:r>
          </a:p>
        </p:txBody>
      </p:sp>
      <p:sp>
        <p:nvSpPr>
          <p:cNvPr name="TextBox 18" id="18"/>
          <p:cNvSpPr txBox="true"/>
          <p:nvPr/>
        </p:nvSpPr>
        <p:spPr>
          <a:xfrm rot="0">
            <a:off x="2034003" y="3078596"/>
            <a:ext cx="6464263" cy="5343525"/>
          </a:xfrm>
          <a:prstGeom prst="rect">
            <a:avLst/>
          </a:prstGeom>
        </p:spPr>
        <p:txBody>
          <a:bodyPr anchor="t" rtlCol="false" tIns="0" lIns="0" bIns="0" rIns="0">
            <a:spAutoFit/>
          </a:bodyPr>
          <a:lstStyle/>
          <a:p>
            <a:pPr algn="l">
              <a:lnSpc>
                <a:spcPts val="4200"/>
              </a:lnSpc>
            </a:pPr>
            <a:r>
              <a:rPr lang="en-US" sz="3500" b="true">
                <a:solidFill>
                  <a:srgbClr val="F4F6FC"/>
                </a:solidFill>
                <a:latin typeface="HK Grotesk Bold"/>
                <a:ea typeface="HK Grotesk Bold"/>
                <a:cs typeface="HK Grotesk Bold"/>
                <a:sym typeface="HK Grotesk Bold"/>
              </a:rPr>
              <a:t>Recordatorios</a:t>
            </a:r>
          </a:p>
          <a:p>
            <a:pPr algn="l">
              <a:lnSpc>
                <a:spcPts val="4200"/>
              </a:lnSpc>
            </a:pPr>
          </a:p>
          <a:p>
            <a:pPr algn="l">
              <a:lnSpc>
                <a:spcPts val="4200"/>
              </a:lnSpc>
            </a:pPr>
          </a:p>
          <a:p>
            <a:pPr algn="l">
              <a:lnSpc>
                <a:spcPts val="4200"/>
              </a:lnSpc>
            </a:pPr>
          </a:p>
          <a:p>
            <a:pPr algn="l">
              <a:lnSpc>
                <a:spcPts val="4200"/>
              </a:lnSpc>
            </a:pPr>
          </a:p>
          <a:p>
            <a:pPr algn="l">
              <a:lnSpc>
                <a:spcPts val="4200"/>
              </a:lnSpc>
            </a:pPr>
            <a:r>
              <a:rPr lang="en-US" sz="3500" b="true">
                <a:solidFill>
                  <a:srgbClr val="F4F6FC"/>
                </a:solidFill>
                <a:latin typeface="HK Grotesk Bold"/>
                <a:ea typeface="HK Grotesk Bold"/>
                <a:cs typeface="HK Grotesk Bold"/>
                <a:sym typeface="HK Grotesk Bold"/>
              </a:rPr>
              <a:t>Temas</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Negación y Cortes</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Ciclos y Recursión</a:t>
            </a:r>
          </a:p>
        </p:txBody>
      </p:sp>
      <p:sp>
        <p:nvSpPr>
          <p:cNvPr name="TextBox 19" id="19"/>
          <p:cNvSpPr txBox="true"/>
          <p:nvPr/>
        </p:nvSpPr>
        <p:spPr>
          <a:xfrm rot="0">
            <a:off x="11208934" y="1511090"/>
            <a:ext cx="4271494" cy="1152525"/>
          </a:xfrm>
          <a:prstGeom prst="rect">
            <a:avLst/>
          </a:prstGeom>
        </p:spPr>
        <p:txBody>
          <a:bodyPr anchor="t" rtlCol="false" tIns="0" lIns="0" bIns="0" rIns="0">
            <a:spAutoFit/>
          </a:bodyPr>
          <a:lstStyle/>
          <a:p>
            <a:pPr algn="ctr">
              <a:lnSpc>
                <a:spcPts val="9000"/>
              </a:lnSpc>
            </a:pPr>
            <a:r>
              <a:rPr lang="en-US" b="true" sz="7500">
                <a:solidFill>
                  <a:srgbClr val="F4F6FC"/>
                </a:solidFill>
                <a:latin typeface="HK Grotesk Bold"/>
                <a:ea typeface="HK Grotesk Bold"/>
                <a:cs typeface="HK Grotesk Bold"/>
                <a:sym typeface="HK Grotesk Bold"/>
              </a:rPr>
              <a:t>Recursos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7AC3FE"/>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374889" y="1409214"/>
            <a:ext cx="13991174" cy="882887"/>
          </a:xfrm>
          <a:prstGeom prst="rect">
            <a:avLst/>
          </a:prstGeom>
        </p:spPr>
        <p:txBody>
          <a:bodyPr anchor="t" rtlCol="false" tIns="0" lIns="0" bIns="0" rIns="0">
            <a:spAutoFit/>
          </a:bodyPr>
          <a:lstStyle/>
          <a:p>
            <a:pPr algn="just">
              <a:lnSpc>
                <a:spcPts val="6890"/>
              </a:lnSpc>
            </a:pPr>
            <a:r>
              <a:rPr lang="en-US" b="true" sz="6098">
                <a:solidFill>
                  <a:srgbClr val="050A30"/>
                </a:solidFill>
                <a:latin typeface="HK Grotesk Medium"/>
                <a:ea typeface="HK Grotesk Medium"/>
                <a:cs typeface="HK Grotesk Medium"/>
                <a:sym typeface="HK Grotesk Medium"/>
              </a:rPr>
              <a:t>COMPETENCIA(S) Que desarrollaremos</a:t>
            </a:r>
          </a:p>
        </p:txBody>
      </p:sp>
      <p:sp>
        <p:nvSpPr>
          <p:cNvPr name="TextBox 13" id="13"/>
          <p:cNvSpPr txBox="true"/>
          <p:nvPr/>
        </p:nvSpPr>
        <p:spPr>
          <a:xfrm rot="0">
            <a:off x="2508326" y="3435564"/>
            <a:ext cx="12569573" cy="4213224"/>
          </a:xfrm>
          <a:prstGeom prst="rect">
            <a:avLst/>
          </a:prstGeom>
        </p:spPr>
        <p:txBody>
          <a:bodyPr anchor="t" rtlCol="false" tIns="0" lIns="0" bIns="0" rIns="0">
            <a:spAutoFit/>
          </a:bodyPr>
          <a:lstStyle/>
          <a:p>
            <a:pPr algn="ctr">
              <a:lnSpc>
                <a:spcPts val="5600"/>
              </a:lnSpc>
            </a:pPr>
            <a:r>
              <a:rPr lang="en-US" b="true" sz="4000" spc="320">
                <a:solidFill>
                  <a:srgbClr val="050A30"/>
                </a:solidFill>
                <a:latin typeface="HK Grotesk Bold"/>
                <a:ea typeface="HK Grotesk Bold"/>
                <a:cs typeface="HK Grotesk Bold"/>
                <a:sym typeface="HK Grotesk Bold"/>
              </a:rPr>
              <a:t>Desarrolla hechos, reglas, expresiones y predicados recursivos mediante el uso de cláusulas, ciclos, listas, unificació</a:t>
            </a:r>
            <a:r>
              <a:rPr lang="en-US" b="true" sz="4000" spc="320">
                <a:solidFill>
                  <a:srgbClr val="050A30"/>
                </a:solidFill>
                <a:latin typeface="HK Grotesk Bold"/>
                <a:ea typeface="HK Grotesk Bold"/>
                <a:cs typeface="HK Grotesk Bold"/>
                <a:sym typeface="HK Grotesk Bold"/>
              </a:rPr>
              <a:t>n y cortes en Tau Prolog para modelar bases de conocimiento y resolver problemas de inferencia lógica.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1239476"/>
            <a:ext cx="15333028" cy="1285875"/>
          </a:xfrm>
          <a:prstGeom prst="rect">
            <a:avLst/>
          </a:prstGeom>
        </p:spPr>
        <p:txBody>
          <a:bodyPr anchor="t" rtlCol="false" tIns="0" lIns="0" bIns="0" rIns="0">
            <a:spAutoFit/>
          </a:bodyPr>
          <a:lstStyle/>
          <a:p>
            <a:pPr algn="ctr">
              <a:lnSpc>
                <a:spcPts val="10158"/>
              </a:lnSpc>
            </a:pPr>
            <a:r>
              <a:rPr lang="en-US" b="true" sz="8465">
                <a:solidFill>
                  <a:srgbClr val="F4F6FC"/>
                </a:solidFill>
                <a:latin typeface="HK Grotesk Bold"/>
                <a:ea typeface="HK Grotesk Bold"/>
                <a:cs typeface="HK Grotesk Bold"/>
                <a:sym typeface="HK Grotesk Bold"/>
              </a:rPr>
              <a:t>Cortes</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477486" y="2773001"/>
            <a:ext cx="15333028" cy="2609851"/>
          </a:xfrm>
          <a:prstGeom prst="rect">
            <a:avLst/>
          </a:prstGeom>
        </p:spPr>
        <p:txBody>
          <a:bodyPr anchor="t" rtlCol="false" tIns="0" lIns="0" bIns="0" rIns="0">
            <a:spAutoFit/>
          </a:bodyPr>
          <a:lstStyle/>
          <a:p>
            <a:pPr algn="just">
              <a:lnSpc>
                <a:spcPts val="4199"/>
              </a:lnSpc>
            </a:pPr>
            <a:r>
              <a:rPr lang="en-US" sz="2999">
                <a:solidFill>
                  <a:srgbClr val="F4F6FC"/>
                </a:solidFill>
                <a:latin typeface="HK Grotesk"/>
                <a:ea typeface="HK Grotesk"/>
                <a:cs typeface="HK Grotesk"/>
                <a:sym typeface="HK Grotesk"/>
              </a:rPr>
              <a:t>El corte, representado por el símbolo !, es un predicado incorporado en Prolog que sirve para controlar el backtracking (retroceso) durante la ejecución del programa.</a:t>
            </a:r>
          </a:p>
          <a:p>
            <a:pPr algn="just">
              <a:lnSpc>
                <a:spcPts val="4199"/>
              </a:lnSpc>
            </a:pPr>
            <a:r>
              <a:rPr lang="en-US" sz="2999">
                <a:solidFill>
                  <a:srgbClr val="F4F6FC"/>
                </a:solidFill>
                <a:latin typeface="HK Grotesk"/>
                <a:ea typeface="HK Grotesk"/>
                <a:cs typeface="HK Grotesk"/>
                <a:sym typeface="HK Grotesk"/>
              </a:rPr>
              <a:t>Su función principal es "podar" o eliminar alternativas de búsqueda, permitiendo al programador restringir el comportamiento de Prolog al explorar soluciones.</a:t>
            </a:r>
          </a:p>
          <a:p>
            <a:pPr algn="just">
              <a:lnSpc>
                <a:spcPts val="4199"/>
              </a:lnSpc>
              <a:spcBef>
                <a:spcPct val="0"/>
              </a:spcBef>
            </a:pPr>
          </a:p>
        </p:txBody>
      </p:sp>
      <p:sp>
        <p:nvSpPr>
          <p:cNvPr name="TextBox 15" id="15"/>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6" id="16"/>
          <p:cNvSpPr txBox="true"/>
          <p:nvPr/>
        </p:nvSpPr>
        <p:spPr>
          <a:xfrm rot="0">
            <a:off x="1477486" y="8095615"/>
            <a:ext cx="15781814" cy="656590"/>
          </a:xfrm>
          <a:prstGeom prst="rect">
            <a:avLst/>
          </a:prstGeom>
        </p:spPr>
        <p:txBody>
          <a:bodyPr anchor="t" rtlCol="false" tIns="0" lIns="0" bIns="0" rIns="0">
            <a:spAutoFit/>
          </a:bodyPr>
          <a:lstStyle/>
          <a:p>
            <a:pPr algn="just" marL="0" indent="0" lvl="0">
              <a:lnSpc>
                <a:spcPts val="2660"/>
              </a:lnSpc>
              <a:spcBef>
                <a:spcPct val="0"/>
              </a:spcBef>
            </a:pPr>
            <a:r>
              <a:rPr lang="en-US" sz="1900" i="true" strike="noStrike" u="none">
                <a:solidFill>
                  <a:srgbClr val="F4F6FC"/>
                </a:solidFill>
                <a:latin typeface="HK Grotesk Italics"/>
                <a:ea typeface="HK Grotesk Italics"/>
                <a:cs typeface="HK Grotesk Italics"/>
                <a:sym typeface="HK Grotesk Italics"/>
              </a:rPr>
              <a:t>El corte es una herramienta poderosa para optimizar programas Prolog, pero requiere un uso cuidadoso para evitar la eliminación accidental de soluciones. Su función principal es controlar el backtracking y mejorar la eficiencia.</a:t>
            </a:r>
          </a:p>
        </p:txBody>
      </p:sp>
      <p:sp>
        <p:nvSpPr>
          <p:cNvPr name="Freeform 17" id="17"/>
          <p:cNvSpPr/>
          <p:nvPr/>
        </p:nvSpPr>
        <p:spPr>
          <a:xfrm flipH="false" flipV="false" rot="0">
            <a:off x="1477486" y="5555078"/>
            <a:ext cx="6518887" cy="1406034"/>
          </a:xfrm>
          <a:custGeom>
            <a:avLst/>
            <a:gdLst/>
            <a:ahLst/>
            <a:cxnLst/>
            <a:rect r="r" b="b" t="t" l="l"/>
            <a:pathLst>
              <a:path h="1406034" w="6518887">
                <a:moveTo>
                  <a:pt x="0" y="0"/>
                </a:moveTo>
                <a:lnTo>
                  <a:pt x="6518887" y="0"/>
                </a:lnTo>
                <a:lnTo>
                  <a:pt x="6518887" y="1406034"/>
                </a:lnTo>
                <a:lnTo>
                  <a:pt x="0" y="1406034"/>
                </a:lnTo>
                <a:lnTo>
                  <a:pt x="0" y="0"/>
                </a:lnTo>
                <a:close/>
              </a:path>
            </a:pathLst>
          </a:custGeom>
          <a:blipFill>
            <a:blip r:embed="rId5"/>
            <a:stretch>
              <a:fillRect l="0" t="0" r="0" b="0"/>
            </a:stretch>
          </a:blipFill>
        </p:spPr>
      </p:sp>
      <p:sp>
        <p:nvSpPr>
          <p:cNvPr name="Freeform 18" id="18"/>
          <p:cNvSpPr/>
          <p:nvPr/>
        </p:nvSpPr>
        <p:spPr>
          <a:xfrm flipH="false" flipV="false" rot="0">
            <a:off x="10311695" y="5555078"/>
            <a:ext cx="6498819" cy="1430058"/>
          </a:xfrm>
          <a:custGeom>
            <a:avLst/>
            <a:gdLst/>
            <a:ahLst/>
            <a:cxnLst/>
            <a:rect r="r" b="b" t="t" l="l"/>
            <a:pathLst>
              <a:path h="1430058" w="6498819">
                <a:moveTo>
                  <a:pt x="0" y="0"/>
                </a:moveTo>
                <a:lnTo>
                  <a:pt x="6498819" y="0"/>
                </a:lnTo>
                <a:lnTo>
                  <a:pt x="6498819" y="1430058"/>
                </a:lnTo>
                <a:lnTo>
                  <a:pt x="0" y="1430058"/>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70142" y="1840539"/>
            <a:ext cx="16050143" cy="3665856"/>
          </a:xfrm>
          <a:prstGeom prst="rect">
            <a:avLst/>
          </a:prstGeom>
        </p:spPr>
        <p:txBody>
          <a:bodyPr anchor="t" rtlCol="false" tIns="0" lIns="0" bIns="0" rIns="0">
            <a:spAutoFit/>
          </a:bodyPr>
          <a:lstStyle/>
          <a:p>
            <a:pPr algn="just">
              <a:lnSpc>
                <a:spcPts val="4199"/>
              </a:lnSpc>
            </a:pPr>
            <a:r>
              <a:rPr lang="en-US" sz="2999">
                <a:solidFill>
                  <a:srgbClr val="050A30"/>
                </a:solidFill>
                <a:latin typeface="HK Grotesk"/>
                <a:ea typeface="HK Grotesk"/>
                <a:cs typeface="HK Grotesk"/>
                <a:sym typeface="HK Grotesk"/>
              </a:rPr>
              <a:t>Cuando Prolog encuentra un ! (corte) en una cláusula:</a:t>
            </a:r>
          </a:p>
          <a:p>
            <a:pPr algn="just">
              <a:lnSpc>
                <a:spcPts val="1399"/>
              </a:lnSpc>
            </a:pPr>
          </a:p>
          <a:p>
            <a:pPr algn="just" marL="647695" indent="-323848" lvl="1">
              <a:lnSpc>
                <a:spcPts val="4199"/>
              </a:lnSpc>
              <a:buFont typeface="Arial"/>
              <a:buChar char="•"/>
            </a:pPr>
            <a:r>
              <a:rPr lang="en-US" sz="2999">
                <a:solidFill>
                  <a:srgbClr val="050A30"/>
                </a:solidFill>
                <a:latin typeface="HK Grotesk"/>
                <a:ea typeface="HK Grotesk"/>
                <a:cs typeface="HK Grotesk"/>
                <a:sym typeface="HK Grotesk"/>
              </a:rPr>
              <a:t>Se compromete con todas las decisiones tomadas antes del corte dentro de esa cláusula.</a:t>
            </a:r>
          </a:p>
          <a:p>
            <a:pPr algn="just">
              <a:lnSpc>
                <a:spcPts val="1399"/>
              </a:lnSpc>
            </a:pPr>
          </a:p>
          <a:p>
            <a:pPr algn="just" marL="647695" indent="-323848" lvl="1">
              <a:lnSpc>
                <a:spcPts val="4199"/>
              </a:lnSpc>
              <a:buFont typeface="Arial"/>
              <a:buChar char="•"/>
            </a:pPr>
            <a:r>
              <a:rPr lang="en-US" sz="2999">
                <a:solidFill>
                  <a:srgbClr val="050A30"/>
                </a:solidFill>
                <a:latin typeface="HK Grotesk"/>
                <a:ea typeface="HK Grotesk"/>
                <a:cs typeface="HK Grotesk"/>
                <a:sym typeface="HK Grotesk"/>
              </a:rPr>
              <a:t>Si luego la ejecución falla, Prolog no volverá a considerar otras cláusulas alternativas del mismo predicado ni otras soluciones anteriores a ese punto.</a:t>
            </a:r>
          </a:p>
          <a:p>
            <a:pPr algn="just">
              <a:lnSpc>
                <a:spcPts val="1399"/>
              </a:lnSpc>
            </a:pPr>
          </a:p>
          <a:p>
            <a:pPr algn="just" marL="647695" indent="-323848" lvl="1">
              <a:lnSpc>
                <a:spcPts val="4199"/>
              </a:lnSpc>
              <a:buFont typeface="Arial"/>
              <a:buChar char="•"/>
            </a:pPr>
            <a:r>
              <a:rPr lang="en-US" sz="2999">
                <a:solidFill>
                  <a:srgbClr val="050A30"/>
                </a:solidFill>
                <a:latin typeface="HK Grotesk"/>
                <a:ea typeface="HK Grotesk"/>
                <a:cs typeface="HK Grotesk"/>
                <a:sym typeface="HK Grotesk"/>
              </a:rPr>
              <a:t>El corte no produce efec</a:t>
            </a:r>
            <a:r>
              <a:rPr lang="en-US" sz="2999">
                <a:solidFill>
                  <a:srgbClr val="050A30"/>
                </a:solidFill>
                <a:latin typeface="HK Grotesk"/>
                <a:ea typeface="HK Grotesk"/>
                <a:cs typeface="HK Grotesk"/>
                <a:sym typeface="HK Grotesk"/>
              </a:rPr>
              <a:t>tos por sí</a:t>
            </a:r>
            <a:r>
              <a:rPr lang="en-US" sz="2999">
                <a:solidFill>
                  <a:srgbClr val="050A30"/>
                </a:solidFill>
                <a:latin typeface="HK Grotesk"/>
                <a:ea typeface="HK Grotesk"/>
                <a:cs typeface="HK Grotesk"/>
                <a:sym typeface="HK Grotesk"/>
              </a:rPr>
              <a:t> m</a:t>
            </a:r>
            <a:r>
              <a:rPr lang="en-US" sz="2999">
                <a:solidFill>
                  <a:srgbClr val="050A30"/>
                </a:solidFill>
                <a:latin typeface="HK Grotesk"/>
                <a:ea typeface="HK Grotesk"/>
                <a:cs typeface="HK Grotesk"/>
                <a:sym typeface="HK Grotesk"/>
              </a:rPr>
              <a:t>i</a:t>
            </a:r>
            <a:r>
              <a:rPr lang="en-US" sz="2999">
                <a:solidFill>
                  <a:srgbClr val="050A30"/>
                </a:solidFill>
                <a:latin typeface="HK Grotesk"/>
                <a:ea typeface="HK Grotesk"/>
                <a:cs typeface="HK Grotesk"/>
                <a:sym typeface="HK Grotesk"/>
              </a:rPr>
              <a:t>smo,</a:t>
            </a:r>
            <a:r>
              <a:rPr lang="en-US" sz="2999">
                <a:solidFill>
                  <a:srgbClr val="050A30"/>
                </a:solidFill>
                <a:latin typeface="HK Grotesk"/>
                <a:ea typeface="HK Grotesk"/>
                <a:cs typeface="HK Grotesk"/>
                <a:sym typeface="HK Grotesk"/>
              </a:rPr>
              <a:t> </a:t>
            </a:r>
            <a:r>
              <a:rPr lang="en-US" sz="2999">
                <a:solidFill>
                  <a:srgbClr val="050A30"/>
                </a:solidFill>
                <a:latin typeface="HK Grotesk"/>
                <a:ea typeface="HK Grotesk"/>
                <a:cs typeface="HK Grotesk"/>
                <a:sym typeface="HK Grotesk"/>
              </a:rPr>
              <a:t>per</a:t>
            </a:r>
            <a:r>
              <a:rPr lang="en-US" sz="2999">
                <a:solidFill>
                  <a:srgbClr val="050A30"/>
                </a:solidFill>
                <a:latin typeface="HK Grotesk"/>
                <a:ea typeface="HK Grotesk"/>
                <a:cs typeface="HK Grotesk"/>
                <a:sym typeface="HK Grotesk"/>
              </a:rPr>
              <a:t>o a</a:t>
            </a:r>
            <a:r>
              <a:rPr lang="en-US" sz="2999">
                <a:solidFill>
                  <a:srgbClr val="050A30"/>
                </a:solidFill>
                <a:latin typeface="HK Grotesk"/>
                <a:ea typeface="HK Grotesk"/>
                <a:cs typeface="HK Grotesk"/>
                <a:sym typeface="HK Grotesk"/>
              </a:rPr>
              <a:t>f</a:t>
            </a:r>
            <a:r>
              <a:rPr lang="en-US" sz="2999">
                <a:solidFill>
                  <a:srgbClr val="050A30"/>
                </a:solidFill>
                <a:latin typeface="HK Grotesk"/>
                <a:ea typeface="HK Grotesk"/>
                <a:cs typeface="HK Grotesk"/>
                <a:sym typeface="HK Grotesk"/>
              </a:rPr>
              <a:t>e</a:t>
            </a:r>
            <a:r>
              <a:rPr lang="en-US" sz="2999">
                <a:solidFill>
                  <a:srgbClr val="050A30"/>
                </a:solidFill>
                <a:latin typeface="HK Grotesk"/>
                <a:ea typeface="HK Grotesk"/>
                <a:cs typeface="HK Grotesk"/>
                <a:sym typeface="HK Grotesk"/>
              </a:rPr>
              <a:t>c</a:t>
            </a:r>
            <a:r>
              <a:rPr lang="en-US" sz="2999">
                <a:solidFill>
                  <a:srgbClr val="050A30"/>
                </a:solidFill>
                <a:latin typeface="HK Grotesk"/>
                <a:ea typeface="HK Grotesk"/>
                <a:cs typeface="HK Grotesk"/>
                <a:sym typeface="HK Grotesk"/>
              </a:rPr>
              <a:t>ta </a:t>
            </a:r>
            <a:r>
              <a:rPr lang="en-US" sz="2999">
                <a:solidFill>
                  <a:srgbClr val="050A30"/>
                </a:solidFill>
                <a:latin typeface="HK Grotesk"/>
                <a:ea typeface="HK Grotesk"/>
                <a:cs typeface="HK Grotesk"/>
                <a:sym typeface="HK Grotesk"/>
              </a:rPr>
              <a:t>el f</a:t>
            </a:r>
            <a:r>
              <a:rPr lang="en-US" sz="2999">
                <a:solidFill>
                  <a:srgbClr val="050A30"/>
                </a:solidFill>
                <a:latin typeface="HK Grotesk"/>
                <a:ea typeface="HK Grotesk"/>
                <a:cs typeface="HK Grotesk"/>
                <a:sym typeface="HK Grotesk"/>
              </a:rPr>
              <a:t>lu</a:t>
            </a:r>
            <a:r>
              <a:rPr lang="en-US" sz="2999">
                <a:solidFill>
                  <a:srgbClr val="050A30"/>
                </a:solidFill>
                <a:latin typeface="HK Grotesk"/>
                <a:ea typeface="HK Grotesk"/>
                <a:cs typeface="HK Grotesk"/>
                <a:sym typeface="HK Grotesk"/>
              </a:rPr>
              <a:t>jo d</a:t>
            </a:r>
            <a:r>
              <a:rPr lang="en-US" sz="2999">
                <a:solidFill>
                  <a:srgbClr val="050A30"/>
                </a:solidFill>
                <a:latin typeface="HK Grotesk"/>
                <a:ea typeface="HK Grotesk"/>
                <a:cs typeface="HK Grotesk"/>
                <a:sym typeface="HK Grotesk"/>
              </a:rPr>
              <a:t>e </a:t>
            </a:r>
            <a:r>
              <a:rPr lang="en-US" sz="2999">
                <a:solidFill>
                  <a:srgbClr val="050A30"/>
                </a:solidFill>
                <a:latin typeface="HK Grotesk"/>
                <a:ea typeface="HK Grotesk"/>
                <a:cs typeface="HK Grotesk"/>
                <a:sym typeface="HK Grotesk"/>
              </a:rPr>
              <a:t>control.</a:t>
            </a:r>
          </a:p>
          <a:p>
            <a:pPr algn="just">
              <a:lnSpc>
                <a:spcPts val="4339"/>
              </a:lnSpc>
              <a:spcBef>
                <a:spcPct val="0"/>
              </a:spcBef>
            </a:pPr>
          </a:p>
        </p:txBody>
      </p:sp>
      <p:sp>
        <p:nvSpPr>
          <p:cNvPr name="TextBox 14" id="14"/>
          <p:cNvSpPr txBox="true"/>
          <p:nvPr/>
        </p:nvSpPr>
        <p:spPr>
          <a:xfrm rot="0">
            <a:off x="13531316" y="9080500"/>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028700" y="808682"/>
            <a:ext cx="15333028" cy="771525"/>
          </a:xfrm>
          <a:prstGeom prst="rect">
            <a:avLst/>
          </a:prstGeom>
        </p:spPr>
        <p:txBody>
          <a:bodyPr anchor="t" rtlCol="false" tIns="0" lIns="0" bIns="0" rIns="0">
            <a:spAutoFit/>
          </a:bodyPr>
          <a:lstStyle/>
          <a:p>
            <a:pPr algn="ctr">
              <a:lnSpc>
                <a:spcPts val="6000"/>
              </a:lnSpc>
            </a:pPr>
            <a:r>
              <a:rPr lang="en-US" b="true" sz="5000">
                <a:solidFill>
                  <a:srgbClr val="050A30"/>
                </a:solidFill>
                <a:latin typeface="HK Grotesk Bold"/>
                <a:ea typeface="HK Grotesk Bold"/>
                <a:cs typeface="HK Grotesk Bold"/>
                <a:sym typeface="HK Grotesk Bold"/>
              </a:rPr>
              <a:t>¿Qué hace exactamente el corte?</a:t>
            </a:r>
          </a:p>
        </p:txBody>
      </p:sp>
      <p:sp>
        <p:nvSpPr>
          <p:cNvPr name="Freeform 16" id="16"/>
          <p:cNvSpPr/>
          <p:nvPr/>
        </p:nvSpPr>
        <p:spPr>
          <a:xfrm flipH="false" flipV="false" rot="0">
            <a:off x="4693765" y="5372467"/>
            <a:ext cx="8900470" cy="3171817"/>
          </a:xfrm>
          <a:custGeom>
            <a:avLst/>
            <a:gdLst/>
            <a:ahLst/>
            <a:cxnLst/>
            <a:rect r="r" b="b" t="t" l="l"/>
            <a:pathLst>
              <a:path h="3171817" w="8900470">
                <a:moveTo>
                  <a:pt x="0" y="0"/>
                </a:moveTo>
                <a:lnTo>
                  <a:pt x="8900470" y="0"/>
                </a:lnTo>
                <a:lnTo>
                  <a:pt x="8900470" y="3171816"/>
                </a:lnTo>
                <a:lnTo>
                  <a:pt x="0" y="3171816"/>
                </a:lnTo>
                <a:lnTo>
                  <a:pt x="0" y="0"/>
                </a:lnTo>
                <a:close/>
              </a:path>
            </a:pathLst>
          </a:custGeom>
          <a:blipFill>
            <a:blip r:embed="rId5"/>
            <a:stretch>
              <a:fillRect l="-4406" t="0" r="-4406"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92703" y="481674"/>
            <a:ext cx="15333028" cy="923925"/>
          </a:xfrm>
          <a:prstGeom prst="rect">
            <a:avLst/>
          </a:prstGeom>
        </p:spPr>
        <p:txBody>
          <a:bodyPr anchor="t" rtlCol="false" tIns="0" lIns="0" bIns="0" rIns="0">
            <a:spAutoFit/>
          </a:bodyPr>
          <a:lstStyle/>
          <a:p>
            <a:pPr algn="ctr">
              <a:lnSpc>
                <a:spcPts val="7200"/>
              </a:lnSpc>
            </a:pPr>
            <a:r>
              <a:rPr lang="en-US" b="true" sz="6000">
                <a:solidFill>
                  <a:srgbClr val="F4F6FC"/>
                </a:solidFill>
                <a:latin typeface="HK Grotesk Bold"/>
                <a:ea typeface="HK Grotesk Bold"/>
                <a:cs typeface="HK Grotesk Bold"/>
                <a:sym typeface="HK Grotesk Bold"/>
              </a:rPr>
              <a:t>Tipos de Corte</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695548" y="1500544"/>
            <a:ext cx="8150995" cy="6194191"/>
            <a:chOff x="0" y="0"/>
            <a:chExt cx="2146764" cy="1631392"/>
          </a:xfrm>
        </p:grpSpPr>
        <p:sp>
          <p:nvSpPr>
            <p:cNvPr name="Freeform 15" id="15"/>
            <p:cNvSpPr/>
            <p:nvPr/>
          </p:nvSpPr>
          <p:spPr>
            <a:xfrm flipH="false" flipV="false" rot="0">
              <a:off x="0" y="0"/>
              <a:ext cx="2146764" cy="1631392"/>
            </a:xfrm>
            <a:custGeom>
              <a:avLst/>
              <a:gdLst/>
              <a:ahLst/>
              <a:cxnLst/>
              <a:rect r="r" b="b" t="t" l="l"/>
              <a:pathLst>
                <a:path h="1631392" w="2146764">
                  <a:moveTo>
                    <a:pt x="48440" y="0"/>
                  </a:moveTo>
                  <a:lnTo>
                    <a:pt x="2098324" y="0"/>
                  </a:lnTo>
                  <a:cubicBezTo>
                    <a:pt x="2111171" y="0"/>
                    <a:pt x="2123492" y="5104"/>
                    <a:pt x="2132576" y="14188"/>
                  </a:cubicBezTo>
                  <a:cubicBezTo>
                    <a:pt x="2141661" y="23272"/>
                    <a:pt x="2146764" y="35593"/>
                    <a:pt x="2146764" y="48440"/>
                  </a:cubicBezTo>
                  <a:lnTo>
                    <a:pt x="2146764" y="1582951"/>
                  </a:lnTo>
                  <a:cubicBezTo>
                    <a:pt x="2146764" y="1595799"/>
                    <a:pt x="2141661" y="1608120"/>
                    <a:pt x="2132576" y="1617204"/>
                  </a:cubicBezTo>
                  <a:cubicBezTo>
                    <a:pt x="2123492" y="1626288"/>
                    <a:pt x="2111171" y="1631392"/>
                    <a:pt x="2098324" y="1631392"/>
                  </a:cubicBezTo>
                  <a:lnTo>
                    <a:pt x="48440" y="1631392"/>
                  </a:lnTo>
                  <a:cubicBezTo>
                    <a:pt x="21688" y="1631392"/>
                    <a:pt x="0" y="1609704"/>
                    <a:pt x="0" y="1582951"/>
                  </a:cubicBezTo>
                  <a:lnTo>
                    <a:pt x="0" y="48440"/>
                  </a:lnTo>
                  <a:cubicBezTo>
                    <a:pt x="0" y="21688"/>
                    <a:pt x="21688" y="0"/>
                    <a:pt x="48440" y="0"/>
                  </a:cubicBezTo>
                  <a:close/>
                </a:path>
              </a:pathLst>
            </a:custGeom>
            <a:solidFill>
              <a:srgbClr val="F4F6FC"/>
            </a:solidFill>
          </p:spPr>
        </p:sp>
        <p:sp>
          <p:nvSpPr>
            <p:cNvPr name="TextBox 16" id="16"/>
            <p:cNvSpPr txBox="true"/>
            <p:nvPr/>
          </p:nvSpPr>
          <p:spPr>
            <a:xfrm>
              <a:off x="0" y="-47625"/>
              <a:ext cx="2146764" cy="1679017"/>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157727" y="2426985"/>
            <a:ext cx="7264570" cy="17367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HK Grotesk"/>
                <a:ea typeface="HK Grotesk"/>
                <a:cs typeface="HK Grotesk"/>
                <a:sym typeface="HK Grotesk"/>
              </a:rPr>
              <a:t>Se utiliz</a:t>
            </a:r>
            <a:r>
              <a:rPr lang="en-US" sz="2499">
                <a:solidFill>
                  <a:srgbClr val="000000"/>
                </a:solidFill>
                <a:latin typeface="HK Grotesk"/>
                <a:ea typeface="HK Grotesk"/>
                <a:cs typeface="HK Grotesk"/>
                <a:sym typeface="HK Grotesk"/>
              </a:rPr>
              <a:t>a solo para eficiencia.</a:t>
            </a:r>
          </a:p>
          <a:p>
            <a:pPr algn="just" marL="539749" indent="-269875" lvl="1">
              <a:lnSpc>
                <a:spcPts val="3499"/>
              </a:lnSpc>
              <a:buFont typeface="Arial"/>
              <a:buChar char="•"/>
            </a:pPr>
            <a:r>
              <a:rPr lang="en-US" sz="2499">
                <a:solidFill>
                  <a:srgbClr val="000000"/>
                </a:solidFill>
                <a:latin typeface="HK Grotesk"/>
                <a:ea typeface="HK Grotesk"/>
                <a:cs typeface="HK Grotesk"/>
                <a:sym typeface="HK Grotesk"/>
              </a:rPr>
              <a:t>No cambia la lógica del programa, solo evita búsquedas innecesarias.</a:t>
            </a:r>
          </a:p>
          <a:p>
            <a:pPr algn="just" marL="539749" indent="-269875" lvl="1">
              <a:lnSpc>
                <a:spcPts val="3499"/>
              </a:lnSpc>
              <a:spcBef>
                <a:spcPct val="0"/>
              </a:spcBef>
              <a:buFont typeface="Arial"/>
              <a:buChar char="•"/>
            </a:pPr>
            <a:r>
              <a:rPr lang="en-US" sz="2499">
                <a:solidFill>
                  <a:srgbClr val="000000"/>
                </a:solidFill>
                <a:latin typeface="HK Grotesk"/>
                <a:ea typeface="HK Grotesk"/>
                <a:cs typeface="HK Grotesk"/>
                <a:sym typeface="HK Grotesk"/>
              </a:rPr>
              <a:t>Correcto y seguro.</a:t>
            </a:r>
          </a:p>
        </p:txBody>
      </p:sp>
      <p:sp>
        <p:nvSpPr>
          <p:cNvPr name="TextBox 18" id="18"/>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9" id="19"/>
          <p:cNvSpPr txBox="true"/>
          <p:nvPr/>
        </p:nvSpPr>
        <p:spPr>
          <a:xfrm rot="0">
            <a:off x="1157727" y="1632401"/>
            <a:ext cx="7264570" cy="629921"/>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Corte Verde</a:t>
            </a:r>
          </a:p>
        </p:txBody>
      </p:sp>
      <p:grpSp>
        <p:nvGrpSpPr>
          <p:cNvPr name="Group 20" id="20"/>
          <p:cNvGrpSpPr/>
          <p:nvPr/>
        </p:nvGrpSpPr>
        <p:grpSpPr>
          <a:xfrm rot="0">
            <a:off x="9301722" y="1500544"/>
            <a:ext cx="7957578" cy="6194191"/>
            <a:chOff x="0" y="0"/>
            <a:chExt cx="2095823" cy="1631392"/>
          </a:xfrm>
        </p:grpSpPr>
        <p:sp>
          <p:nvSpPr>
            <p:cNvPr name="Freeform 21" id="21"/>
            <p:cNvSpPr/>
            <p:nvPr/>
          </p:nvSpPr>
          <p:spPr>
            <a:xfrm flipH="false" flipV="false" rot="0">
              <a:off x="0" y="0"/>
              <a:ext cx="2095823" cy="1631392"/>
            </a:xfrm>
            <a:custGeom>
              <a:avLst/>
              <a:gdLst/>
              <a:ahLst/>
              <a:cxnLst/>
              <a:rect r="r" b="b" t="t" l="l"/>
              <a:pathLst>
                <a:path h="1631392" w="2095823">
                  <a:moveTo>
                    <a:pt x="49618" y="0"/>
                  </a:moveTo>
                  <a:lnTo>
                    <a:pt x="2046205" y="0"/>
                  </a:lnTo>
                  <a:cubicBezTo>
                    <a:pt x="2073608" y="0"/>
                    <a:pt x="2095823" y="22215"/>
                    <a:pt x="2095823" y="49618"/>
                  </a:cubicBezTo>
                  <a:lnTo>
                    <a:pt x="2095823" y="1581774"/>
                  </a:lnTo>
                  <a:cubicBezTo>
                    <a:pt x="2095823" y="1594934"/>
                    <a:pt x="2090595" y="1607554"/>
                    <a:pt x="2081290" y="1616859"/>
                  </a:cubicBezTo>
                  <a:cubicBezTo>
                    <a:pt x="2071985" y="1626164"/>
                    <a:pt x="2059365" y="1631392"/>
                    <a:pt x="2046205" y="1631392"/>
                  </a:cubicBezTo>
                  <a:lnTo>
                    <a:pt x="49618" y="1631392"/>
                  </a:lnTo>
                  <a:cubicBezTo>
                    <a:pt x="22215" y="1631392"/>
                    <a:pt x="0" y="1609177"/>
                    <a:pt x="0" y="1581774"/>
                  </a:cubicBezTo>
                  <a:lnTo>
                    <a:pt x="0" y="49618"/>
                  </a:lnTo>
                  <a:cubicBezTo>
                    <a:pt x="0" y="36458"/>
                    <a:pt x="5228" y="23838"/>
                    <a:pt x="14533" y="14533"/>
                  </a:cubicBezTo>
                  <a:cubicBezTo>
                    <a:pt x="23838" y="5228"/>
                    <a:pt x="36458" y="0"/>
                    <a:pt x="49618" y="0"/>
                  </a:cubicBezTo>
                  <a:close/>
                </a:path>
              </a:pathLst>
            </a:custGeom>
            <a:solidFill>
              <a:srgbClr val="F4F6FC"/>
            </a:solidFill>
          </p:spPr>
        </p:sp>
        <p:sp>
          <p:nvSpPr>
            <p:cNvPr name="TextBox 22" id="22"/>
            <p:cNvSpPr txBox="true"/>
            <p:nvPr/>
          </p:nvSpPr>
          <p:spPr>
            <a:xfrm>
              <a:off x="0" y="-47625"/>
              <a:ext cx="2095823" cy="1679017"/>
            </a:xfrm>
            <a:prstGeom prst="rect">
              <a:avLst/>
            </a:prstGeom>
          </p:spPr>
          <p:txBody>
            <a:bodyPr anchor="ctr" rtlCol="false" tIns="50800" lIns="50800" bIns="50800" rIns="50800"/>
            <a:lstStyle/>
            <a:p>
              <a:pPr algn="ctr">
                <a:lnSpc>
                  <a:spcPts val="3079"/>
                </a:lnSpc>
              </a:pPr>
            </a:p>
          </p:txBody>
        </p:sp>
      </p:grpSp>
      <p:sp>
        <p:nvSpPr>
          <p:cNvPr name="TextBox 23" id="23"/>
          <p:cNvSpPr txBox="true"/>
          <p:nvPr/>
        </p:nvSpPr>
        <p:spPr>
          <a:xfrm rot="0">
            <a:off x="10129701" y="2426985"/>
            <a:ext cx="6301619" cy="17367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HK Grotesk"/>
                <a:ea typeface="HK Grotesk"/>
                <a:cs typeface="HK Grotesk"/>
                <a:sym typeface="HK Grotesk"/>
              </a:rPr>
              <a:t>Se utiliza para forzar decisiones lógicas.</a:t>
            </a:r>
          </a:p>
          <a:p>
            <a:pPr algn="just" marL="539749" indent="-269875" lvl="1">
              <a:lnSpc>
                <a:spcPts val="3499"/>
              </a:lnSpc>
              <a:buFont typeface="Arial"/>
              <a:buChar char="•"/>
            </a:pPr>
            <a:r>
              <a:rPr lang="en-US" sz="2499">
                <a:solidFill>
                  <a:srgbClr val="000000"/>
                </a:solidFill>
                <a:latin typeface="HK Grotesk"/>
                <a:ea typeface="HK Grotesk"/>
                <a:cs typeface="HK Grotesk"/>
                <a:sym typeface="HK Grotesk"/>
              </a:rPr>
              <a:t>Afecta el significado del programa (puede descartar soluciones válidas).</a:t>
            </a:r>
          </a:p>
          <a:p>
            <a:pPr algn="just" marL="539749" indent="-269875" lvl="1">
              <a:lnSpc>
                <a:spcPts val="3499"/>
              </a:lnSpc>
              <a:spcBef>
                <a:spcPct val="0"/>
              </a:spcBef>
              <a:buFont typeface="Arial"/>
              <a:buChar char="•"/>
            </a:pPr>
            <a:r>
              <a:rPr lang="en-US" sz="2499">
                <a:solidFill>
                  <a:srgbClr val="000000"/>
                </a:solidFill>
                <a:latin typeface="HK Grotesk"/>
                <a:ea typeface="HK Grotesk"/>
                <a:cs typeface="HK Grotesk"/>
                <a:sym typeface="HK Grotesk"/>
              </a:rPr>
              <a:t>Debe usarse con precaución.</a:t>
            </a:r>
          </a:p>
        </p:txBody>
      </p:sp>
      <p:sp>
        <p:nvSpPr>
          <p:cNvPr name="TextBox 24" id="24"/>
          <p:cNvSpPr txBox="true"/>
          <p:nvPr/>
        </p:nvSpPr>
        <p:spPr>
          <a:xfrm rot="0">
            <a:off x="10129701" y="1632401"/>
            <a:ext cx="6301619" cy="629921"/>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Corte Rojo</a:t>
            </a:r>
          </a:p>
        </p:txBody>
      </p:sp>
      <p:sp>
        <p:nvSpPr>
          <p:cNvPr name="TextBox 25" id="25"/>
          <p:cNvSpPr txBox="true"/>
          <p:nvPr/>
        </p:nvSpPr>
        <p:spPr>
          <a:xfrm rot="0">
            <a:off x="1157727" y="4448810"/>
            <a:ext cx="7264570" cy="2970530"/>
          </a:xfrm>
          <a:prstGeom prst="rect">
            <a:avLst/>
          </a:prstGeom>
        </p:spPr>
        <p:txBody>
          <a:bodyPr anchor="t" rtlCol="false" tIns="0" lIns="0" bIns="0" rIns="0">
            <a:spAutoFit/>
          </a:bodyPr>
          <a:lstStyle/>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m</a:t>
            </a:r>
            <a:r>
              <a:rPr lang="en-US" b="true" sz="2299" i="true">
                <a:solidFill>
                  <a:srgbClr val="000000"/>
                </a:solidFill>
                <a:latin typeface="HK Grotesk Medium Italics"/>
                <a:ea typeface="HK Grotesk Medium Italics"/>
                <a:cs typeface="HK Grotesk Medium Italics"/>
                <a:sym typeface="HK Grotesk Medium Italics"/>
              </a:rPr>
              <a:t>ax(X, Y, X) :- X &gt;= Y,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max(_, Y, Y).</a:t>
            </a:r>
          </a:p>
          <a:p>
            <a:pPr algn="l">
              <a:lnSpc>
                <a:spcPts val="1399"/>
              </a:lnSpc>
              <a:spcBef>
                <a:spcPct val="0"/>
              </a:spcBef>
            </a:pPr>
          </a:p>
          <a:p>
            <a:pPr algn="l" marL="496569" indent="-248284" lvl="1">
              <a:lnSpc>
                <a:spcPts val="3219"/>
              </a:lnSpc>
              <a:spcBef>
                <a:spcPct val="0"/>
              </a:spcBef>
              <a:buFont typeface="Arial"/>
              <a:buChar char="•"/>
            </a:pPr>
            <a:r>
              <a:rPr lang="en-US" sz="2299">
                <a:solidFill>
                  <a:srgbClr val="000000"/>
                </a:solidFill>
                <a:latin typeface="HK Grotesk"/>
                <a:ea typeface="HK Grotesk"/>
                <a:cs typeface="HK Grotesk"/>
                <a:sym typeface="HK Grotesk"/>
              </a:rPr>
              <a:t>Si X &gt;= Y es cierto, se elige la primera cláusula, y el corte evita evaluar la segunda.</a:t>
            </a:r>
          </a:p>
          <a:p>
            <a:pPr algn="l" marL="496569" indent="-248284" lvl="1">
              <a:lnSpc>
                <a:spcPts val="3219"/>
              </a:lnSpc>
              <a:spcBef>
                <a:spcPct val="0"/>
              </a:spcBef>
              <a:buFont typeface="Arial"/>
              <a:buChar char="•"/>
            </a:pPr>
            <a:r>
              <a:rPr lang="en-US" sz="2299">
                <a:solidFill>
                  <a:srgbClr val="000000"/>
                </a:solidFill>
                <a:latin typeface="HK Grotesk"/>
                <a:ea typeface="HK Grotesk"/>
                <a:cs typeface="HK Grotesk"/>
                <a:sym typeface="HK Grotesk"/>
              </a:rPr>
              <a:t>El corte aquí es verde, porque no cambia la lógica, solo mejora el rendimiento.</a:t>
            </a:r>
          </a:p>
          <a:p>
            <a:pPr algn="l">
              <a:lnSpc>
                <a:spcPts val="3219"/>
              </a:lnSpc>
              <a:spcBef>
                <a:spcPct val="0"/>
              </a:spcBef>
            </a:pPr>
          </a:p>
        </p:txBody>
      </p:sp>
      <p:sp>
        <p:nvSpPr>
          <p:cNvPr name="TextBox 26" id="26"/>
          <p:cNvSpPr txBox="true"/>
          <p:nvPr/>
        </p:nvSpPr>
        <p:spPr>
          <a:xfrm rot="0">
            <a:off x="9752987" y="4448810"/>
            <a:ext cx="7234299" cy="3370580"/>
          </a:xfrm>
          <a:prstGeom prst="rect">
            <a:avLst/>
          </a:prstGeom>
        </p:spPr>
        <p:txBody>
          <a:bodyPr anchor="t" rtlCol="false" tIns="0" lIns="0" bIns="0" rIns="0">
            <a:spAutoFit/>
          </a:bodyPr>
          <a:lstStyle/>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clasificacion(X, positivo) :- X &gt; 0, !.</a:t>
            </a:r>
          </a:p>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clasificacion(X, negativo) :- X &lt; 0,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clasificacion(0, neutro).</a:t>
            </a:r>
          </a:p>
          <a:p>
            <a:pPr algn="l">
              <a:lnSpc>
                <a:spcPts val="1399"/>
              </a:lnSpc>
              <a:spcBef>
                <a:spcPct val="0"/>
              </a:spcBef>
            </a:pPr>
          </a:p>
          <a:p>
            <a:pPr algn="l" marL="496569" indent="-248284" lvl="1">
              <a:lnSpc>
                <a:spcPts val="3219"/>
              </a:lnSpc>
              <a:spcBef>
                <a:spcPct val="0"/>
              </a:spcBef>
              <a:buFont typeface="Arial"/>
              <a:buChar char="•"/>
            </a:pPr>
            <a:r>
              <a:rPr lang="en-US" sz="2299">
                <a:solidFill>
                  <a:srgbClr val="000000"/>
                </a:solidFill>
                <a:latin typeface="HK Grotesk"/>
                <a:ea typeface="HK Grotesk"/>
                <a:cs typeface="HK Grotesk"/>
                <a:sym typeface="HK Grotesk"/>
              </a:rPr>
              <a:t>Aquí el corte impide que se evalúe la tercera cláusula incluso si X = 0.</a:t>
            </a:r>
          </a:p>
          <a:p>
            <a:pPr algn="l" marL="496569" indent="-248284" lvl="1">
              <a:lnSpc>
                <a:spcPts val="3219"/>
              </a:lnSpc>
              <a:spcBef>
                <a:spcPct val="0"/>
              </a:spcBef>
              <a:buFont typeface="Arial"/>
              <a:buChar char="•"/>
            </a:pPr>
            <a:r>
              <a:rPr lang="en-US" sz="2299">
                <a:solidFill>
                  <a:srgbClr val="000000"/>
                </a:solidFill>
                <a:latin typeface="HK Grotesk"/>
                <a:ea typeface="HK Grotesk"/>
                <a:cs typeface="HK Grotesk"/>
                <a:sym typeface="HK Grotesk"/>
              </a:rPr>
              <a:t>Este es un corte rojo, porque modifica la lógica del programa.</a:t>
            </a:r>
          </a:p>
          <a:p>
            <a:pPr algn="l">
              <a:lnSpc>
                <a:spcPts val="3219"/>
              </a:lnSpc>
              <a:spcBef>
                <a:spcPct val="0"/>
              </a:spcBef>
            </a:pPr>
          </a:p>
        </p:txBody>
      </p:sp>
      <p:sp>
        <p:nvSpPr>
          <p:cNvPr name="TextBox 27" id="27"/>
          <p:cNvSpPr txBox="true"/>
          <p:nvPr/>
        </p:nvSpPr>
        <p:spPr>
          <a:xfrm rot="0">
            <a:off x="1477486" y="8095615"/>
            <a:ext cx="10729568" cy="1323340"/>
          </a:xfrm>
          <a:prstGeom prst="rect">
            <a:avLst/>
          </a:prstGeom>
        </p:spPr>
        <p:txBody>
          <a:bodyPr anchor="t" rtlCol="false" tIns="0" lIns="0" bIns="0" rIns="0">
            <a:spAutoFit/>
          </a:bodyPr>
          <a:lstStyle/>
          <a:p>
            <a:pPr algn="just" marL="410211" indent="-205106" lvl="1">
              <a:lnSpc>
                <a:spcPts val="2660"/>
              </a:lnSpc>
              <a:spcBef>
                <a:spcPct val="0"/>
              </a:spcBef>
              <a:buFont typeface="Arial"/>
              <a:buChar char="•"/>
            </a:pPr>
            <a:r>
              <a:rPr lang="en-US" sz="1900" i="true" strike="noStrike" u="none">
                <a:solidFill>
                  <a:srgbClr val="F4F6FC"/>
                </a:solidFill>
                <a:latin typeface="HK Grotesk Italics"/>
                <a:ea typeface="HK Grotesk Italics"/>
                <a:cs typeface="HK Grotesk Italics"/>
                <a:sym typeface="HK Grotesk Italics"/>
              </a:rPr>
              <a:t>El corte es </a:t>
            </a:r>
            <a:r>
              <a:rPr lang="en-US" sz="1900" i="true" strike="noStrike" u="none">
                <a:solidFill>
                  <a:srgbClr val="F4F6FC"/>
                </a:solidFill>
                <a:latin typeface="HK Grotesk Italics"/>
                <a:ea typeface="HK Grotesk Italics"/>
                <a:cs typeface="HK Grotesk Italics"/>
                <a:sym typeface="HK Grotesk Italics"/>
              </a:rPr>
              <a:t>útil</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p</a:t>
            </a:r>
            <a:r>
              <a:rPr lang="en-US" sz="1900" i="true" strike="noStrike" u="none">
                <a:solidFill>
                  <a:srgbClr val="F4F6FC"/>
                </a:solidFill>
                <a:latin typeface="HK Grotesk Italics"/>
                <a:ea typeface="HK Grotesk Italics"/>
                <a:cs typeface="HK Grotesk Italics"/>
                <a:sym typeface="HK Grotesk Italics"/>
              </a:rPr>
              <a:t>er</a:t>
            </a:r>
            <a:r>
              <a:rPr lang="en-US" sz="1900" i="true" strike="noStrike" u="none">
                <a:solidFill>
                  <a:srgbClr val="F4F6FC"/>
                </a:solidFill>
                <a:latin typeface="HK Grotesk Italics"/>
                <a:ea typeface="HK Grotesk Italics"/>
                <a:cs typeface="HK Grotesk Italics"/>
                <a:sym typeface="HK Grotesk Italics"/>
              </a:rPr>
              <a:t>o</a:t>
            </a:r>
            <a:r>
              <a:rPr lang="en-US" sz="1900" i="true" strike="noStrike" u="none">
                <a:solidFill>
                  <a:srgbClr val="F4F6FC"/>
                </a:solidFill>
                <a:latin typeface="HK Grotesk Italics"/>
                <a:ea typeface="HK Grotesk Italics"/>
                <a:cs typeface="HK Grotesk Italics"/>
                <a:sym typeface="HK Grotesk Italics"/>
              </a:rPr>
              <a:t> p</a:t>
            </a:r>
            <a:r>
              <a:rPr lang="en-US" sz="1900" i="true" strike="noStrike" u="none">
                <a:solidFill>
                  <a:srgbClr val="F4F6FC"/>
                </a:solidFill>
                <a:latin typeface="HK Grotesk Italics"/>
                <a:ea typeface="HK Grotesk Italics"/>
                <a:cs typeface="HK Grotesk Italics"/>
                <a:sym typeface="HK Grotesk Italics"/>
              </a:rPr>
              <a:t>ue</a:t>
            </a:r>
            <a:r>
              <a:rPr lang="en-US" sz="1900" i="true" strike="noStrike" u="none">
                <a:solidFill>
                  <a:srgbClr val="F4F6FC"/>
                </a:solidFill>
                <a:latin typeface="HK Grotesk Italics"/>
                <a:ea typeface="HK Grotesk Italics"/>
                <a:cs typeface="HK Grotesk Italics"/>
                <a:sym typeface="HK Grotesk Italics"/>
              </a:rPr>
              <a:t>de</a:t>
            </a:r>
            <a:r>
              <a:rPr lang="en-US" sz="1900" i="true" strike="noStrike" u="none">
                <a:solidFill>
                  <a:srgbClr val="F4F6FC"/>
                </a:solidFill>
                <a:latin typeface="HK Grotesk Italics"/>
                <a:ea typeface="HK Grotesk Italics"/>
                <a:cs typeface="HK Grotesk Italics"/>
                <a:sym typeface="HK Grotesk Italics"/>
              </a:rPr>
              <a:t> dificulta</a:t>
            </a:r>
            <a:r>
              <a:rPr lang="en-US" sz="1900" i="true" strike="noStrike" u="none">
                <a:solidFill>
                  <a:srgbClr val="F4F6FC"/>
                </a:solidFill>
                <a:latin typeface="HK Grotesk Italics"/>
                <a:ea typeface="HK Grotesk Italics"/>
                <a:cs typeface="HK Grotesk Italics"/>
                <a:sym typeface="HK Grotesk Italics"/>
              </a:rPr>
              <a:t>r</a:t>
            </a:r>
            <a:r>
              <a:rPr lang="en-US" sz="1900" i="true" strike="noStrike" u="none">
                <a:solidFill>
                  <a:srgbClr val="F4F6FC"/>
                </a:solidFill>
                <a:latin typeface="HK Grotesk Italics"/>
                <a:ea typeface="HK Grotesk Italics"/>
                <a:cs typeface="HK Grotesk Italics"/>
                <a:sym typeface="HK Grotesk Italics"/>
              </a:rPr>
              <a:t> l</a:t>
            </a:r>
            <a:r>
              <a:rPr lang="en-US" sz="1900" i="true" strike="noStrike" u="none">
                <a:solidFill>
                  <a:srgbClr val="F4F6FC"/>
                </a:solidFill>
                <a:latin typeface="HK Grotesk Italics"/>
                <a:ea typeface="HK Grotesk Italics"/>
                <a:cs typeface="HK Grotesk Italics"/>
                <a:sym typeface="HK Grotesk Italics"/>
              </a:rPr>
              <a:t>a </a:t>
            </a:r>
            <a:r>
              <a:rPr lang="en-US" sz="1900" i="true" strike="noStrike" u="none">
                <a:solidFill>
                  <a:srgbClr val="F4F6FC"/>
                </a:solidFill>
                <a:latin typeface="HK Grotesk Italics"/>
                <a:ea typeface="HK Grotesk Italics"/>
                <a:cs typeface="HK Grotesk Italics"/>
                <a:sym typeface="HK Grotesk Italics"/>
              </a:rPr>
              <a:t>de</a:t>
            </a:r>
            <a:r>
              <a:rPr lang="en-US" sz="1900" i="true" strike="noStrike" u="none">
                <a:solidFill>
                  <a:srgbClr val="F4F6FC"/>
                </a:solidFill>
                <a:latin typeface="HK Grotesk Italics"/>
                <a:ea typeface="HK Grotesk Italics"/>
                <a:cs typeface="HK Grotesk Italics"/>
                <a:sym typeface="HK Grotesk Italics"/>
              </a:rPr>
              <a:t>p</a:t>
            </a:r>
            <a:r>
              <a:rPr lang="en-US" sz="1900" i="true" strike="noStrike" u="none">
                <a:solidFill>
                  <a:srgbClr val="F4F6FC"/>
                </a:solidFill>
                <a:latin typeface="HK Grotesk Italics"/>
                <a:ea typeface="HK Grotesk Italics"/>
                <a:cs typeface="HK Grotesk Italics"/>
                <a:sym typeface="HK Grotesk Italics"/>
              </a:rPr>
              <a:t>ur</a:t>
            </a:r>
            <a:r>
              <a:rPr lang="en-US" sz="1900" i="true" strike="noStrike" u="none">
                <a:solidFill>
                  <a:srgbClr val="F4F6FC"/>
                </a:solidFill>
                <a:latin typeface="HK Grotesk Italics"/>
                <a:ea typeface="HK Grotesk Italics"/>
                <a:cs typeface="HK Grotesk Italics"/>
                <a:sym typeface="HK Grotesk Italics"/>
              </a:rPr>
              <a:t>a</a:t>
            </a:r>
            <a:r>
              <a:rPr lang="en-US" sz="1900" i="true" strike="noStrike" u="none">
                <a:solidFill>
                  <a:srgbClr val="F4F6FC"/>
                </a:solidFill>
                <a:latin typeface="HK Grotesk Italics"/>
                <a:ea typeface="HK Grotesk Italics"/>
                <a:cs typeface="HK Grotesk Italics"/>
                <a:sym typeface="HK Grotesk Italics"/>
              </a:rPr>
              <a:t>ción y el </a:t>
            </a:r>
            <a:r>
              <a:rPr lang="en-US" sz="1900" i="true" strike="noStrike" u="none">
                <a:solidFill>
                  <a:srgbClr val="F4F6FC"/>
                </a:solidFill>
                <a:latin typeface="HK Grotesk Italics"/>
                <a:ea typeface="HK Grotesk Italics"/>
                <a:cs typeface="HK Grotesk Italics"/>
                <a:sym typeface="HK Grotesk Italics"/>
              </a:rPr>
              <a:t>ra</a:t>
            </a:r>
            <a:r>
              <a:rPr lang="en-US" sz="1900" i="true" strike="noStrike" u="none">
                <a:solidFill>
                  <a:srgbClr val="F4F6FC"/>
                </a:solidFill>
                <a:latin typeface="HK Grotesk Italics"/>
                <a:ea typeface="HK Grotesk Italics"/>
                <a:cs typeface="HK Grotesk Italics"/>
                <a:sym typeface="HK Grotesk Italics"/>
              </a:rPr>
              <a:t>z</a:t>
            </a:r>
            <a:r>
              <a:rPr lang="en-US" sz="1900" i="true" strike="noStrike" u="none">
                <a:solidFill>
                  <a:srgbClr val="F4F6FC"/>
                </a:solidFill>
                <a:latin typeface="HK Grotesk Italics"/>
                <a:ea typeface="HK Grotesk Italics"/>
                <a:cs typeface="HK Grotesk Italics"/>
                <a:sym typeface="HK Grotesk Italics"/>
              </a:rPr>
              <a:t>o</a:t>
            </a:r>
            <a:r>
              <a:rPr lang="en-US" sz="1900" i="true" strike="noStrike" u="none">
                <a:solidFill>
                  <a:srgbClr val="F4F6FC"/>
                </a:solidFill>
                <a:latin typeface="HK Grotesk Italics"/>
                <a:ea typeface="HK Grotesk Italics"/>
                <a:cs typeface="HK Grotesk Italics"/>
                <a:sym typeface="HK Grotesk Italics"/>
              </a:rPr>
              <a:t>namien</a:t>
            </a:r>
            <a:r>
              <a:rPr lang="en-US" sz="1900" i="true" strike="noStrike" u="none">
                <a:solidFill>
                  <a:srgbClr val="F4F6FC"/>
                </a:solidFill>
                <a:latin typeface="HK Grotesk Italics"/>
                <a:ea typeface="HK Grotesk Italics"/>
                <a:cs typeface="HK Grotesk Italics"/>
                <a:sym typeface="HK Grotesk Italics"/>
              </a:rPr>
              <a:t>t</a:t>
            </a:r>
            <a:r>
              <a:rPr lang="en-US" sz="1900" i="true" strike="noStrike" u="none">
                <a:solidFill>
                  <a:srgbClr val="F4F6FC"/>
                </a:solidFill>
                <a:latin typeface="HK Grotesk Italics"/>
                <a:ea typeface="HK Grotesk Italics"/>
                <a:cs typeface="HK Grotesk Italics"/>
                <a:sym typeface="HK Grotesk Italics"/>
              </a:rPr>
              <a:t>o lóg</a:t>
            </a:r>
            <a:r>
              <a:rPr lang="en-US" sz="1900" i="true" strike="noStrike" u="none">
                <a:solidFill>
                  <a:srgbClr val="F4F6FC"/>
                </a:solidFill>
                <a:latin typeface="HK Grotesk Italics"/>
                <a:ea typeface="HK Grotesk Italics"/>
                <a:cs typeface="HK Grotesk Italics"/>
                <a:sym typeface="HK Grotesk Italics"/>
              </a:rPr>
              <a:t>i</a:t>
            </a:r>
            <a:r>
              <a:rPr lang="en-US" sz="1900" i="true" strike="noStrike" u="none">
                <a:solidFill>
                  <a:srgbClr val="F4F6FC"/>
                </a:solidFill>
                <a:latin typeface="HK Grotesk Italics"/>
                <a:ea typeface="HK Grotesk Italics"/>
                <a:cs typeface="HK Grotesk Italics"/>
                <a:sym typeface="HK Grotesk Italics"/>
              </a:rPr>
              <a:t>co.</a:t>
            </a:r>
          </a:p>
          <a:p>
            <a:pPr algn="just" marL="410211" indent="-205106" lvl="1">
              <a:lnSpc>
                <a:spcPts val="2660"/>
              </a:lnSpc>
              <a:spcBef>
                <a:spcPct val="0"/>
              </a:spcBef>
              <a:buFont typeface="Arial"/>
              <a:buChar char="•"/>
            </a:pPr>
            <a:r>
              <a:rPr lang="en-US" sz="1900" i="true" strike="noStrike" u="none">
                <a:solidFill>
                  <a:srgbClr val="F4F6FC"/>
                </a:solidFill>
                <a:latin typeface="HK Grotesk Italics"/>
                <a:ea typeface="HK Grotesk Italics"/>
                <a:cs typeface="HK Grotesk Italics"/>
                <a:sym typeface="HK Grotesk Italics"/>
              </a:rPr>
              <a:t>En</a:t>
            </a:r>
            <a:r>
              <a:rPr lang="en-US" sz="1900" i="true" strike="noStrike" u="none">
                <a:solidFill>
                  <a:srgbClr val="F4F6FC"/>
                </a:solidFill>
                <a:latin typeface="HK Grotesk Italics"/>
                <a:ea typeface="HK Grotesk Italics"/>
                <a:cs typeface="HK Grotesk Italics"/>
                <a:sym typeface="HK Grotesk Italics"/>
              </a:rPr>
              <a:t> programas </a:t>
            </a:r>
            <a:r>
              <a:rPr lang="en-US" sz="1900" i="true" strike="noStrike" u="none">
                <a:solidFill>
                  <a:srgbClr val="F4F6FC"/>
                </a:solidFill>
                <a:latin typeface="HK Grotesk Italics"/>
                <a:ea typeface="HK Grotesk Italics"/>
                <a:cs typeface="HK Grotesk Italics"/>
                <a:sym typeface="HK Grotesk Italics"/>
              </a:rPr>
              <a:t>decla</a:t>
            </a:r>
            <a:r>
              <a:rPr lang="en-US" sz="1900" i="true" strike="noStrike" u="none">
                <a:solidFill>
                  <a:srgbClr val="F4F6FC"/>
                </a:solidFill>
                <a:latin typeface="HK Grotesk Italics"/>
                <a:ea typeface="HK Grotesk Italics"/>
                <a:cs typeface="HK Grotesk Italics"/>
                <a:sym typeface="HK Grotesk Italics"/>
              </a:rPr>
              <a:t>r</a:t>
            </a:r>
            <a:r>
              <a:rPr lang="en-US" sz="1900" i="true" strike="noStrike" u="none">
                <a:solidFill>
                  <a:srgbClr val="F4F6FC"/>
                </a:solidFill>
                <a:latin typeface="HK Grotesk Italics"/>
                <a:ea typeface="HK Grotesk Italics"/>
                <a:cs typeface="HK Grotesk Italics"/>
                <a:sym typeface="HK Grotesk Italics"/>
              </a:rPr>
              <a:t>ativ</a:t>
            </a:r>
            <a:r>
              <a:rPr lang="en-US" sz="1900" i="true" strike="noStrike" u="none">
                <a:solidFill>
                  <a:srgbClr val="F4F6FC"/>
                </a:solidFill>
                <a:latin typeface="HK Grotesk Italics"/>
                <a:ea typeface="HK Grotesk Italics"/>
                <a:cs typeface="HK Grotesk Italics"/>
                <a:sym typeface="HK Grotesk Italics"/>
              </a:rPr>
              <a:t>o</a:t>
            </a:r>
            <a:r>
              <a:rPr lang="en-US" sz="1900" i="true" strike="noStrike" u="none">
                <a:solidFill>
                  <a:srgbClr val="F4F6FC"/>
                </a:solidFill>
                <a:latin typeface="HK Grotesk Italics"/>
                <a:ea typeface="HK Grotesk Italics"/>
                <a:cs typeface="HK Grotesk Italics"/>
                <a:sym typeface="HK Grotesk Italics"/>
              </a:rPr>
              <a:t>s</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s</a:t>
            </a:r>
            <a:r>
              <a:rPr lang="en-US" sz="1900" i="true" strike="noStrike" u="none">
                <a:solidFill>
                  <a:srgbClr val="F4F6FC"/>
                </a:solidFill>
                <a:latin typeface="HK Grotesk Italics"/>
                <a:ea typeface="HK Grotesk Italics"/>
                <a:cs typeface="HK Grotesk Italics"/>
                <a:sym typeface="HK Grotesk Italics"/>
              </a:rPr>
              <a:t>e re</a:t>
            </a:r>
            <a:r>
              <a:rPr lang="en-US" sz="1900" i="true" strike="noStrike" u="none">
                <a:solidFill>
                  <a:srgbClr val="F4F6FC"/>
                </a:solidFill>
                <a:latin typeface="HK Grotesk Italics"/>
                <a:ea typeface="HK Grotesk Italics"/>
                <a:cs typeface="HK Grotesk Italics"/>
                <a:sym typeface="HK Grotesk Italics"/>
              </a:rPr>
              <a:t>com</a:t>
            </a:r>
            <a:r>
              <a:rPr lang="en-US" sz="1900" i="true" strike="noStrike" u="none">
                <a:solidFill>
                  <a:srgbClr val="F4F6FC"/>
                </a:solidFill>
                <a:latin typeface="HK Grotesk Italics"/>
                <a:ea typeface="HK Grotesk Italics"/>
                <a:cs typeface="HK Grotesk Italics"/>
                <a:sym typeface="HK Grotesk Italics"/>
              </a:rPr>
              <a:t>ie</a:t>
            </a:r>
            <a:r>
              <a:rPr lang="en-US" sz="1900" i="true" strike="noStrike" u="none">
                <a:solidFill>
                  <a:srgbClr val="F4F6FC"/>
                </a:solidFill>
                <a:latin typeface="HK Grotesk Italics"/>
                <a:ea typeface="HK Grotesk Italics"/>
                <a:cs typeface="HK Grotesk Italics"/>
                <a:sym typeface="HK Grotesk Italics"/>
              </a:rPr>
              <a:t>nda usa</a:t>
            </a:r>
            <a:r>
              <a:rPr lang="en-US" sz="1900" i="true" strike="noStrike" u="none">
                <a:solidFill>
                  <a:srgbClr val="F4F6FC"/>
                </a:solidFill>
                <a:latin typeface="HK Grotesk Italics"/>
                <a:ea typeface="HK Grotesk Italics"/>
                <a:cs typeface="HK Grotesk Italics"/>
                <a:sym typeface="HK Grotesk Italics"/>
              </a:rPr>
              <a:t>r</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e</a:t>
            </a:r>
            <a:r>
              <a:rPr lang="en-US" sz="1900" i="true" strike="noStrike" u="none">
                <a:solidFill>
                  <a:srgbClr val="F4F6FC"/>
                </a:solidFill>
                <a:latin typeface="HK Grotesk Italics"/>
                <a:ea typeface="HK Grotesk Italics"/>
                <a:cs typeface="HK Grotesk Italics"/>
                <a:sym typeface="HK Grotesk Italics"/>
              </a:rPr>
              <a:t>l</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corte</a:t>
            </a:r>
            <a:r>
              <a:rPr lang="en-US" sz="1900" i="true" strike="noStrike" u="none">
                <a:solidFill>
                  <a:srgbClr val="F4F6FC"/>
                </a:solidFill>
                <a:latin typeface="HK Grotesk Italics"/>
                <a:ea typeface="HK Grotesk Italics"/>
                <a:cs typeface="HK Grotesk Italics"/>
                <a:sym typeface="HK Grotesk Italics"/>
              </a:rPr>
              <a:t> so</a:t>
            </a:r>
            <a:r>
              <a:rPr lang="en-US" sz="1900" i="true" strike="noStrike" u="none">
                <a:solidFill>
                  <a:srgbClr val="F4F6FC"/>
                </a:solidFill>
                <a:latin typeface="HK Grotesk Italics"/>
                <a:ea typeface="HK Grotesk Italics"/>
                <a:cs typeface="HK Grotesk Italics"/>
                <a:sym typeface="HK Grotesk Italics"/>
              </a:rPr>
              <a:t>lo</a:t>
            </a:r>
            <a:r>
              <a:rPr lang="en-US" sz="1900" i="true" strike="noStrike" u="none">
                <a:solidFill>
                  <a:srgbClr val="F4F6FC"/>
                </a:solidFill>
                <a:latin typeface="HK Grotesk Italics"/>
                <a:ea typeface="HK Grotesk Italics"/>
                <a:cs typeface="HK Grotesk Italics"/>
                <a:sym typeface="HK Grotesk Italics"/>
              </a:rPr>
              <a:t> cua</a:t>
            </a:r>
            <a:r>
              <a:rPr lang="en-US" sz="1900" i="true" strike="noStrike" u="none">
                <a:solidFill>
                  <a:srgbClr val="F4F6FC"/>
                </a:solidFill>
                <a:latin typeface="HK Grotesk Italics"/>
                <a:ea typeface="HK Grotesk Italics"/>
                <a:cs typeface="HK Grotesk Italics"/>
                <a:sym typeface="HK Grotesk Italics"/>
              </a:rPr>
              <a:t>n</a:t>
            </a:r>
            <a:r>
              <a:rPr lang="en-US" sz="1900" i="true" strike="noStrike" u="none">
                <a:solidFill>
                  <a:srgbClr val="F4F6FC"/>
                </a:solidFill>
                <a:latin typeface="HK Grotesk Italics"/>
                <a:ea typeface="HK Grotesk Italics"/>
                <a:cs typeface="HK Grotesk Italics"/>
                <a:sym typeface="HK Grotesk Italics"/>
              </a:rPr>
              <a:t>do </a:t>
            </a:r>
            <a:r>
              <a:rPr lang="en-US" sz="1900" i="true" strike="noStrike" u="none">
                <a:solidFill>
                  <a:srgbClr val="F4F6FC"/>
                </a:solidFill>
                <a:latin typeface="HK Grotesk Italics"/>
                <a:ea typeface="HK Grotesk Italics"/>
                <a:cs typeface="HK Grotesk Italics"/>
                <a:sym typeface="HK Grotesk Italics"/>
              </a:rPr>
              <a:t>se</a:t>
            </a:r>
            <a:r>
              <a:rPr lang="en-US" sz="1900" i="true" strike="noStrike" u="none">
                <a:solidFill>
                  <a:srgbClr val="F4F6FC"/>
                </a:solidFill>
                <a:latin typeface="HK Grotesk Italics"/>
                <a:ea typeface="HK Grotesk Italics"/>
                <a:cs typeface="HK Grotesk Italics"/>
                <a:sym typeface="HK Grotesk Italics"/>
              </a:rPr>
              <a:t>a </a:t>
            </a:r>
            <a:r>
              <a:rPr lang="en-US" sz="1900" i="true" strike="noStrike" u="none">
                <a:solidFill>
                  <a:srgbClr val="F4F6FC"/>
                </a:solidFill>
                <a:latin typeface="HK Grotesk Italics"/>
                <a:ea typeface="HK Grotesk Italics"/>
                <a:cs typeface="HK Grotesk Italics"/>
                <a:sym typeface="HK Grotesk Italics"/>
              </a:rPr>
              <a:t>n</a:t>
            </a:r>
            <a:r>
              <a:rPr lang="en-US" sz="1900" i="true" strike="noStrike" u="none">
                <a:solidFill>
                  <a:srgbClr val="F4F6FC"/>
                </a:solidFill>
                <a:latin typeface="HK Grotesk Italics"/>
                <a:ea typeface="HK Grotesk Italics"/>
                <a:cs typeface="HK Grotesk Italics"/>
                <a:sym typeface="HK Grotesk Italics"/>
              </a:rPr>
              <a:t>e</a:t>
            </a:r>
            <a:r>
              <a:rPr lang="en-US" sz="1900" i="true" strike="noStrike" u="none">
                <a:solidFill>
                  <a:srgbClr val="F4F6FC"/>
                </a:solidFill>
                <a:latin typeface="HK Grotesk Italics"/>
                <a:ea typeface="HK Grotesk Italics"/>
                <a:cs typeface="HK Grotesk Italics"/>
                <a:sym typeface="HK Grotesk Italics"/>
              </a:rPr>
              <a:t>ces</a:t>
            </a:r>
            <a:r>
              <a:rPr lang="en-US" sz="1900" i="true" strike="noStrike" u="none">
                <a:solidFill>
                  <a:srgbClr val="F4F6FC"/>
                </a:solidFill>
                <a:latin typeface="HK Grotesk Italics"/>
                <a:ea typeface="HK Grotesk Italics"/>
                <a:cs typeface="HK Grotesk Italics"/>
                <a:sym typeface="HK Grotesk Italics"/>
              </a:rPr>
              <a:t>ar</a:t>
            </a:r>
            <a:r>
              <a:rPr lang="en-US" sz="1900" i="true" strike="noStrike" u="none">
                <a:solidFill>
                  <a:srgbClr val="F4F6FC"/>
                </a:solidFill>
                <a:latin typeface="HK Grotesk Italics"/>
                <a:ea typeface="HK Grotesk Italics"/>
                <a:cs typeface="HK Grotesk Italics"/>
                <a:sym typeface="HK Grotesk Italics"/>
              </a:rPr>
              <a:t>io</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y</a:t>
            </a:r>
            <a:r>
              <a:rPr lang="en-US" sz="1900" i="true" strike="noStrike" u="none">
                <a:solidFill>
                  <a:srgbClr val="F4F6FC"/>
                </a:solidFill>
                <a:latin typeface="HK Grotesk Italics"/>
                <a:ea typeface="HK Grotesk Italics"/>
                <a:cs typeface="HK Grotesk Italics"/>
                <a:sym typeface="HK Grotesk Italics"/>
              </a:rPr>
              <a:t> en</a:t>
            </a:r>
            <a:r>
              <a:rPr lang="en-US" sz="1900" i="true" strike="noStrike" u="none">
                <a:solidFill>
                  <a:srgbClr val="F4F6FC"/>
                </a:solidFill>
                <a:latin typeface="HK Grotesk Italics"/>
                <a:ea typeface="HK Grotesk Italics"/>
                <a:cs typeface="HK Grotesk Italics"/>
                <a:sym typeface="HK Grotesk Italics"/>
              </a:rPr>
              <a:t>te</a:t>
            </a:r>
            <a:r>
              <a:rPr lang="en-US" sz="1900" i="true" strike="noStrike" u="none">
                <a:solidFill>
                  <a:srgbClr val="F4F6FC"/>
                </a:solidFill>
                <a:latin typeface="HK Grotesk Italics"/>
                <a:ea typeface="HK Grotesk Italics"/>
                <a:cs typeface="HK Grotesk Italics"/>
                <a:sym typeface="HK Grotesk Italics"/>
              </a:rPr>
              <a:t>n</a:t>
            </a:r>
            <a:r>
              <a:rPr lang="en-US" sz="1900" i="true" strike="noStrike" u="none">
                <a:solidFill>
                  <a:srgbClr val="F4F6FC"/>
                </a:solidFill>
                <a:latin typeface="HK Grotesk Italics"/>
                <a:ea typeface="HK Grotesk Italics"/>
                <a:cs typeface="HK Grotesk Italics"/>
                <a:sym typeface="HK Grotesk Italics"/>
              </a:rPr>
              <a:t>d</a:t>
            </a:r>
            <a:r>
              <a:rPr lang="en-US" sz="1900" i="true" strike="noStrike" u="none">
                <a:solidFill>
                  <a:srgbClr val="F4F6FC"/>
                </a:solidFill>
                <a:latin typeface="HK Grotesk Italics"/>
                <a:ea typeface="HK Grotesk Italics"/>
                <a:cs typeface="HK Grotesk Italics"/>
                <a:sym typeface="HK Grotesk Italics"/>
              </a:rPr>
              <a:t>id</a:t>
            </a:r>
            <a:r>
              <a:rPr lang="en-US" sz="1900" i="true" strike="noStrike" u="none">
                <a:solidFill>
                  <a:srgbClr val="F4F6FC"/>
                </a:solidFill>
                <a:latin typeface="HK Grotesk Italics"/>
                <a:ea typeface="HK Grotesk Italics"/>
                <a:cs typeface="HK Grotesk Italics"/>
                <a:sym typeface="HK Grotesk Italics"/>
              </a:rPr>
              <a:t>o.</a:t>
            </a:r>
          </a:p>
          <a:p>
            <a:pPr algn="just" marL="410211" indent="-205106" lvl="1">
              <a:lnSpc>
                <a:spcPts val="2660"/>
              </a:lnSpc>
              <a:spcBef>
                <a:spcPct val="0"/>
              </a:spcBef>
              <a:buFont typeface="Arial"/>
              <a:buChar char="•"/>
            </a:pPr>
            <a:r>
              <a:rPr lang="en-US" sz="1900" i="true" strike="noStrike" u="none">
                <a:solidFill>
                  <a:srgbClr val="F4F6FC"/>
                </a:solidFill>
                <a:latin typeface="HK Grotesk Italics"/>
                <a:ea typeface="HK Grotesk Italics"/>
                <a:cs typeface="HK Grotesk Italics"/>
                <a:sym typeface="HK Grotesk Italics"/>
              </a:rPr>
              <a:t>E</a:t>
            </a:r>
            <a:r>
              <a:rPr lang="en-US" sz="1900" i="true" strike="noStrike" u="none">
                <a:solidFill>
                  <a:srgbClr val="F4F6FC"/>
                </a:solidFill>
                <a:latin typeface="HK Grotesk Italics"/>
                <a:ea typeface="HK Grotesk Italics"/>
                <a:cs typeface="HK Grotesk Italics"/>
                <a:sym typeface="HK Grotesk Italics"/>
              </a:rPr>
              <a:t>n </a:t>
            </a:r>
            <a:r>
              <a:rPr lang="en-US" sz="1900" i="true" strike="noStrike" u="none">
                <a:solidFill>
                  <a:srgbClr val="F4F6FC"/>
                </a:solidFill>
                <a:latin typeface="HK Grotesk Italics"/>
                <a:ea typeface="HK Grotesk Italics"/>
                <a:cs typeface="HK Grotesk Italics"/>
                <a:sym typeface="HK Grotesk Italics"/>
              </a:rPr>
              <a:t>m</a:t>
            </a:r>
            <a:r>
              <a:rPr lang="en-US" sz="1900" i="true" strike="noStrike" u="none">
                <a:solidFill>
                  <a:srgbClr val="F4F6FC"/>
                </a:solidFill>
                <a:latin typeface="HK Grotesk Italics"/>
                <a:ea typeface="HK Grotesk Italics"/>
                <a:cs typeface="HK Grotesk Italics"/>
                <a:sym typeface="HK Grotesk Italics"/>
              </a:rPr>
              <a:t>uc</a:t>
            </a:r>
            <a:r>
              <a:rPr lang="en-US" sz="1900" i="true" strike="noStrike" u="none">
                <a:solidFill>
                  <a:srgbClr val="F4F6FC"/>
                </a:solidFill>
                <a:latin typeface="HK Grotesk Italics"/>
                <a:ea typeface="HK Grotesk Italics"/>
                <a:cs typeface="HK Grotesk Italics"/>
                <a:sym typeface="HK Grotesk Italics"/>
              </a:rPr>
              <a:t>h</a:t>
            </a:r>
            <a:r>
              <a:rPr lang="en-US" sz="1900" i="true" strike="noStrike" u="none">
                <a:solidFill>
                  <a:srgbClr val="F4F6FC"/>
                </a:solidFill>
                <a:latin typeface="HK Grotesk Italics"/>
                <a:ea typeface="HK Grotesk Italics"/>
                <a:cs typeface="HK Grotesk Italics"/>
                <a:sym typeface="HK Grotesk Italics"/>
              </a:rPr>
              <a:t>os </a:t>
            </a:r>
            <a:r>
              <a:rPr lang="en-US" sz="1900" i="true" strike="noStrike" u="none">
                <a:solidFill>
                  <a:srgbClr val="F4F6FC"/>
                </a:solidFill>
                <a:latin typeface="HK Grotesk Italics"/>
                <a:ea typeface="HK Grotesk Italics"/>
                <a:cs typeface="HK Grotesk Italics"/>
                <a:sym typeface="HK Grotesk Italics"/>
              </a:rPr>
              <a:t>casos,</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hay</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alte</a:t>
            </a:r>
            <a:r>
              <a:rPr lang="en-US" sz="1900" i="true" strike="noStrike" u="none">
                <a:solidFill>
                  <a:srgbClr val="F4F6FC"/>
                </a:solidFill>
                <a:latin typeface="HK Grotesk Italics"/>
                <a:ea typeface="HK Grotesk Italics"/>
                <a:cs typeface="HK Grotesk Italics"/>
                <a:sym typeface="HK Grotesk Italics"/>
              </a:rPr>
              <a:t>rn</a:t>
            </a:r>
            <a:r>
              <a:rPr lang="en-US" sz="1900" i="true" strike="noStrike" u="none">
                <a:solidFill>
                  <a:srgbClr val="F4F6FC"/>
                </a:solidFill>
                <a:latin typeface="HK Grotesk Italics"/>
                <a:ea typeface="HK Grotesk Italics"/>
                <a:cs typeface="HK Grotesk Italics"/>
                <a:sym typeface="HK Grotesk Italics"/>
              </a:rPr>
              <a:t>at</a:t>
            </a:r>
            <a:r>
              <a:rPr lang="en-US" sz="1900" i="true" strike="noStrike" u="none">
                <a:solidFill>
                  <a:srgbClr val="F4F6FC"/>
                </a:solidFill>
                <a:latin typeface="HK Grotesk Italics"/>
                <a:ea typeface="HK Grotesk Italics"/>
                <a:cs typeface="HK Grotesk Italics"/>
                <a:sym typeface="HK Grotesk Italics"/>
              </a:rPr>
              <a:t>i</a:t>
            </a:r>
            <a:r>
              <a:rPr lang="en-US" sz="1900" i="true" strike="noStrike" u="none">
                <a:solidFill>
                  <a:srgbClr val="F4F6FC"/>
                </a:solidFill>
                <a:latin typeface="HK Grotesk Italics"/>
                <a:ea typeface="HK Grotesk Italics"/>
                <a:cs typeface="HK Grotesk Italics"/>
                <a:sym typeface="HK Grotesk Italics"/>
              </a:rPr>
              <a:t>v</a:t>
            </a:r>
            <a:r>
              <a:rPr lang="en-US" sz="1900" i="true" strike="noStrike" u="none">
                <a:solidFill>
                  <a:srgbClr val="F4F6FC"/>
                </a:solidFill>
                <a:latin typeface="HK Grotesk Italics"/>
                <a:ea typeface="HK Grotesk Italics"/>
                <a:cs typeface="HK Grotesk Italics"/>
                <a:sym typeface="HK Grotesk Italics"/>
              </a:rPr>
              <a:t>a</a:t>
            </a:r>
            <a:r>
              <a:rPr lang="en-US" sz="1900" i="true" strike="noStrike" u="none">
                <a:solidFill>
                  <a:srgbClr val="F4F6FC"/>
                </a:solidFill>
                <a:latin typeface="HK Grotesk Italics"/>
                <a:ea typeface="HK Grotesk Italics"/>
                <a:cs typeface="HK Grotesk Italics"/>
                <a:sym typeface="HK Grotesk Italics"/>
              </a:rPr>
              <a:t>s</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má</a:t>
            </a:r>
            <a:r>
              <a:rPr lang="en-US" sz="1900" i="true" strike="noStrike" u="none">
                <a:solidFill>
                  <a:srgbClr val="F4F6FC"/>
                </a:solidFill>
                <a:latin typeface="HK Grotesk Italics"/>
                <a:ea typeface="HK Grotesk Italics"/>
                <a:cs typeface="HK Grotesk Italics"/>
                <a:sym typeface="HK Grotesk Italics"/>
              </a:rPr>
              <a:t>s l</a:t>
            </a:r>
            <a:r>
              <a:rPr lang="en-US" sz="1900" i="true" strike="noStrike" u="none">
                <a:solidFill>
                  <a:srgbClr val="F4F6FC"/>
                </a:solidFill>
                <a:latin typeface="HK Grotesk Italics"/>
                <a:ea typeface="HK Grotesk Italics"/>
                <a:cs typeface="HK Grotesk Italics"/>
                <a:sym typeface="HK Grotesk Italics"/>
              </a:rPr>
              <a:t>impi</a:t>
            </a:r>
            <a:r>
              <a:rPr lang="en-US" sz="1900" i="true" strike="noStrike" u="none">
                <a:solidFill>
                  <a:srgbClr val="F4F6FC"/>
                </a:solidFill>
                <a:latin typeface="HK Grotesk Italics"/>
                <a:ea typeface="HK Grotesk Italics"/>
                <a:cs typeface="HK Grotesk Italics"/>
                <a:sym typeface="HK Grotesk Italics"/>
              </a:rPr>
              <a:t>a</a:t>
            </a:r>
            <a:r>
              <a:rPr lang="en-US" sz="1900" i="true" strike="noStrike" u="none">
                <a:solidFill>
                  <a:srgbClr val="F4F6FC"/>
                </a:solidFill>
                <a:latin typeface="HK Grotesk Italics"/>
                <a:ea typeface="HK Grotesk Italics"/>
                <a:cs typeface="HK Grotesk Italics"/>
                <a:sym typeface="HK Grotesk Italics"/>
              </a:rPr>
              <a:t>s</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y d</a:t>
            </a:r>
            <a:r>
              <a:rPr lang="en-US" sz="1900" i="true" strike="noStrike" u="none">
                <a:solidFill>
                  <a:srgbClr val="F4F6FC"/>
                </a:solidFill>
                <a:latin typeface="HK Grotesk Italics"/>
                <a:ea typeface="HK Grotesk Italics"/>
                <a:cs typeface="HK Grotesk Italics"/>
                <a:sym typeface="HK Grotesk Italics"/>
              </a:rPr>
              <a:t>e</a:t>
            </a:r>
            <a:r>
              <a:rPr lang="en-US" sz="1900" i="true" strike="noStrike" u="none">
                <a:solidFill>
                  <a:srgbClr val="F4F6FC"/>
                </a:solidFill>
                <a:latin typeface="HK Grotesk Italics"/>
                <a:ea typeface="HK Grotesk Italics"/>
                <a:cs typeface="HK Grotesk Italics"/>
                <a:sym typeface="HK Grotesk Italics"/>
              </a:rPr>
              <a:t>c</a:t>
            </a:r>
            <a:r>
              <a:rPr lang="en-US" sz="1900" i="true" strike="noStrike" u="none">
                <a:solidFill>
                  <a:srgbClr val="F4F6FC"/>
                </a:solidFill>
                <a:latin typeface="HK Grotesk Italics"/>
                <a:ea typeface="HK Grotesk Italics"/>
                <a:cs typeface="HK Grotesk Italics"/>
                <a:sym typeface="HK Grotesk Italics"/>
              </a:rPr>
              <a:t>lara</a:t>
            </a:r>
            <a:r>
              <a:rPr lang="en-US" sz="1900" i="true" strike="noStrike" u="none">
                <a:solidFill>
                  <a:srgbClr val="F4F6FC"/>
                </a:solidFill>
                <a:latin typeface="HK Grotesk Italics"/>
                <a:ea typeface="HK Grotesk Italics"/>
                <a:cs typeface="HK Grotesk Italics"/>
                <a:sym typeface="HK Grotesk Italics"/>
              </a:rPr>
              <a:t>t</a:t>
            </a:r>
            <a:r>
              <a:rPr lang="en-US" sz="1900" i="true" strike="noStrike" u="none">
                <a:solidFill>
                  <a:srgbClr val="F4F6FC"/>
                </a:solidFill>
                <a:latin typeface="HK Grotesk Italics"/>
                <a:ea typeface="HK Grotesk Italics"/>
                <a:cs typeface="HK Grotesk Italics"/>
                <a:sym typeface="HK Grotesk Italics"/>
              </a:rPr>
              <a:t>i</a:t>
            </a:r>
            <a:r>
              <a:rPr lang="en-US" sz="1900" i="true" strike="noStrike" u="none">
                <a:solidFill>
                  <a:srgbClr val="F4F6FC"/>
                </a:solidFill>
                <a:latin typeface="HK Grotesk Italics"/>
                <a:ea typeface="HK Grotesk Italics"/>
                <a:cs typeface="HK Grotesk Italics"/>
                <a:sym typeface="HK Grotesk Italics"/>
              </a:rPr>
              <a:t>vas</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al</a:t>
            </a:r>
            <a:r>
              <a:rPr lang="en-US" sz="1900" i="true" strike="noStrike" u="none">
                <a:solidFill>
                  <a:srgbClr val="F4F6FC"/>
                </a:solidFill>
                <a:latin typeface="HK Grotesk Italics"/>
                <a:ea typeface="HK Grotesk Italics"/>
                <a:cs typeface="HK Grotesk Italics"/>
                <a:sym typeface="HK Grotesk Italics"/>
              </a:rPr>
              <a:t> </a:t>
            </a:r>
            <a:r>
              <a:rPr lang="en-US" sz="1900" i="true" strike="noStrike" u="none">
                <a:solidFill>
                  <a:srgbClr val="F4F6FC"/>
                </a:solidFill>
                <a:latin typeface="HK Grotesk Italics"/>
                <a:ea typeface="HK Grotesk Italics"/>
                <a:cs typeface="HK Grotesk Italics"/>
                <a:sym typeface="HK Grotesk Italics"/>
              </a:rPr>
              <a:t>us</a:t>
            </a:r>
            <a:r>
              <a:rPr lang="en-US" sz="1900" i="true" strike="noStrike" u="none">
                <a:solidFill>
                  <a:srgbClr val="F4F6FC"/>
                </a:solidFill>
                <a:latin typeface="HK Grotesk Italics"/>
                <a:ea typeface="HK Grotesk Italics"/>
                <a:cs typeface="HK Grotesk Italics"/>
                <a:sym typeface="HK Grotesk Italics"/>
              </a:rPr>
              <a:t>o </a:t>
            </a:r>
            <a:r>
              <a:rPr lang="en-US" sz="1900" i="true" strike="noStrike" u="none">
                <a:solidFill>
                  <a:srgbClr val="F4F6FC"/>
                </a:solidFill>
                <a:latin typeface="HK Grotesk Italics"/>
                <a:ea typeface="HK Grotesk Italics"/>
                <a:cs typeface="HK Grotesk Italics"/>
                <a:sym typeface="HK Grotesk Italics"/>
              </a:rPr>
              <a:t>de</a:t>
            </a:r>
            <a:r>
              <a:rPr lang="en-US" sz="1900" i="true" strike="noStrike" u="none">
                <a:solidFill>
                  <a:srgbClr val="F4F6FC"/>
                </a:solidFill>
                <a:latin typeface="HK Grotesk Italics"/>
                <a:ea typeface="HK Grotesk Italics"/>
                <a:cs typeface="HK Grotesk Italics"/>
                <a:sym typeface="HK Grotesk Italics"/>
              </a:rPr>
              <a:t>l c</a:t>
            </a:r>
            <a:r>
              <a:rPr lang="en-US" sz="1900" i="true" strike="noStrike" u="none">
                <a:solidFill>
                  <a:srgbClr val="F4F6FC"/>
                </a:solidFill>
                <a:latin typeface="HK Grotesk Italics"/>
                <a:ea typeface="HK Grotesk Italics"/>
                <a:cs typeface="HK Grotesk Italics"/>
                <a:sym typeface="HK Grotesk Italics"/>
              </a:rPr>
              <a:t>ort</a:t>
            </a:r>
            <a:r>
              <a:rPr lang="en-US" sz="1900" i="true" strike="noStrike" u="none">
                <a:solidFill>
                  <a:srgbClr val="F4F6FC"/>
                </a:solidFill>
                <a:latin typeface="HK Grotesk Italics"/>
                <a:ea typeface="HK Grotesk Italics"/>
                <a:cs typeface="HK Grotesk Italics"/>
                <a:sym typeface="HK Grotesk Italics"/>
              </a:rPr>
              <a:t>e.</a:t>
            </a:r>
          </a:p>
          <a:p>
            <a:pPr algn="just" marL="0" indent="0" lvl="0">
              <a:lnSpc>
                <a:spcPts val="266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70142" y="1840539"/>
            <a:ext cx="16050143" cy="2780031"/>
          </a:xfrm>
          <a:prstGeom prst="rect">
            <a:avLst/>
          </a:prstGeom>
        </p:spPr>
        <p:txBody>
          <a:bodyPr anchor="t" rtlCol="false" tIns="0" lIns="0" bIns="0" rIns="0">
            <a:spAutoFit/>
          </a:bodyPr>
          <a:lstStyle/>
          <a:p>
            <a:pPr algn="just">
              <a:lnSpc>
                <a:spcPts val="4199"/>
              </a:lnSpc>
            </a:pPr>
            <a:r>
              <a:rPr lang="en-US" sz="2999">
                <a:solidFill>
                  <a:srgbClr val="050A30"/>
                </a:solidFill>
                <a:latin typeface="HK Grotesk"/>
                <a:ea typeface="HK Grotesk"/>
                <a:cs typeface="HK Grotesk"/>
                <a:sym typeface="HK Grotesk"/>
              </a:rPr>
              <a:t>En Prolog, la negación se maneja de forma no clásica debido a su base en la lógica de programación basada en pruebas. No se representa información negativa directamente como en otros lenguajes declarativos o lógicos, sino que se</a:t>
            </a:r>
            <a:r>
              <a:rPr lang="en-US" sz="2999">
                <a:solidFill>
                  <a:srgbClr val="050A30"/>
                </a:solidFill>
                <a:latin typeface="HK Grotesk"/>
                <a:ea typeface="HK Grotesk"/>
                <a:cs typeface="HK Grotesk"/>
                <a:sym typeface="HK Grotesk"/>
              </a:rPr>
              <a:t> utiliza una técnic</a:t>
            </a:r>
            <a:r>
              <a:rPr lang="en-US" sz="2999">
                <a:solidFill>
                  <a:srgbClr val="050A30"/>
                </a:solidFill>
                <a:latin typeface="HK Grotesk"/>
                <a:ea typeface="HK Grotesk"/>
                <a:cs typeface="HK Grotesk"/>
                <a:sym typeface="HK Grotesk"/>
              </a:rPr>
              <a:t>a llamada:</a:t>
            </a:r>
          </a:p>
          <a:p>
            <a:pPr algn="just">
              <a:lnSpc>
                <a:spcPts val="1260"/>
              </a:lnSpc>
            </a:pPr>
          </a:p>
          <a:p>
            <a:pPr algn="just">
              <a:lnSpc>
                <a:spcPts val="4199"/>
              </a:lnSpc>
            </a:pPr>
            <a:r>
              <a:rPr lang="en-US" sz="2999" b="true">
                <a:solidFill>
                  <a:srgbClr val="050A30"/>
                </a:solidFill>
                <a:latin typeface="HK Grotesk Bold"/>
                <a:ea typeface="HK Grotesk Bold"/>
                <a:cs typeface="HK Grotesk Bold"/>
                <a:sym typeface="HK Grotesk Bold"/>
              </a:rPr>
              <a:t>Negación como falla (Negation as Failure, NAF)</a:t>
            </a:r>
          </a:p>
          <a:p>
            <a:pPr algn="just">
              <a:lnSpc>
                <a:spcPts val="4339"/>
              </a:lnSpc>
              <a:spcBef>
                <a:spcPct val="0"/>
              </a:spcBef>
            </a:pPr>
          </a:p>
        </p:txBody>
      </p:sp>
      <p:sp>
        <p:nvSpPr>
          <p:cNvPr name="TextBox 14" id="14"/>
          <p:cNvSpPr txBox="true"/>
          <p:nvPr/>
        </p:nvSpPr>
        <p:spPr>
          <a:xfrm rot="0">
            <a:off x="670142" y="4293230"/>
            <a:ext cx="16050143" cy="4524376"/>
          </a:xfrm>
          <a:prstGeom prst="rect">
            <a:avLst/>
          </a:prstGeom>
        </p:spPr>
        <p:txBody>
          <a:bodyPr anchor="t" rtlCol="false" tIns="0" lIns="0" bIns="0" rIns="0">
            <a:spAutoFit/>
          </a:bodyPr>
          <a:lstStyle/>
          <a:p>
            <a:pPr algn="just">
              <a:lnSpc>
                <a:spcPts val="4199"/>
              </a:lnSpc>
            </a:pPr>
            <a:r>
              <a:rPr lang="en-US" sz="2999" b="true">
                <a:solidFill>
                  <a:srgbClr val="050A30"/>
                </a:solidFill>
                <a:latin typeface="HK Grotesk Bold"/>
                <a:ea typeface="HK Grotesk Bold"/>
                <a:cs typeface="HK Grotesk Bold"/>
                <a:sym typeface="HK Grotesk Bold"/>
              </a:rPr>
              <a:t>¿Cómo funciona?</a:t>
            </a:r>
          </a:p>
          <a:p>
            <a:pPr algn="just">
              <a:lnSpc>
                <a:spcPts val="4199"/>
              </a:lnSpc>
            </a:pPr>
            <a:r>
              <a:rPr lang="en-US" sz="2999">
                <a:solidFill>
                  <a:srgbClr val="050A30"/>
                </a:solidFill>
                <a:latin typeface="HK Grotesk"/>
                <a:ea typeface="HK Grotesk"/>
                <a:cs typeface="HK Grotesk"/>
                <a:sym typeface="HK Grotesk"/>
              </a:rPr>
              <a:t>En Prolog, decir que algo no es cierto se interpreta como "no se puede probar que sea cierto". </a:t>
            </a:r>
          </a:p>
          <a:p>
            <a:pPr algn="just">
              <a:lnSpc>
                <a:spcPts val="1399"/>
              </a:lnSpc>
            </a:pPr>
          </a:p>
          <a:p>
            <a:pPr algn="just">
              <a:lnSpc>
                <a:spcPts val="4199"/>
              </a:lnSpc>
            </a:pPr>
            <a:r>
              <a:rPr lang="en-US" sz="2999">
                <a:solidFill>
                  <a:srgbClr val="050A30"/>
                </a:solidFill>
                <a:latin typeface="HK Grotesk"/>
                <a:ea typeface="HK Grotesk"/>
                <a:cs typeface="HK Grotesk"/>
                <a:sym typeface="HK Grotesk"/>
              </a:rPr>
              <a:t>Esto significa que:</a:t>
            </a:r>
          </a:p>
          <a:p>
            <a:pPr algn="just" marL="647695" indent="-323848" lvl="1">
              <a:lnSpc>
                <a:spcPts val="4199"/>
              </a:lnSpc>
              <a:buFont typeface="Arial"/>
              <a:buChar char="•"/>
            </a:pPr>
            <a:r>
              <a:rPr lang="en-US" sz="2999">
                <a:solidFill>
                  <a:srgbClr val="050A30"/>
                </a:solidFill>
                <a:latin typeface="HK Grotesk"/>
                <a:ea typeface="HK Grotesk"/>
                <a:cs typeface="HK Grotesk"/>
                <a:sym typeface="HK Grotesk"/>
              </a:rPr>
              <a:t>Si una consulta G tiene éxito, entonces + G (no G) falla.</a:t>
            </a:r>
          </a:p>
          <a:p>
            <a:pPr algn="just" marL="647695" indent="-323848" lvl="1">
              <a:lnSpc>
                <a:spcPts val="4199"/>
              </a:lnSpc>
              <a:buFont typeface="Arial"/>
              <a:buChar char="•"/>
            </a:pPr>
            <a:r>
              <a:rPr lang="en-US" sz="2999">
                <a:solidFill>
                  <a:srgbClr val="050A30"/>
                </a:solidFill>
                <a:latin typeface="HK Grotesk"/>
                <a:ea typeface="HK Grotesk"/>
                <a:cs typeface="HK Grotesk"/>
                <a:sym typeface="HK Grotesk"/>
              </a:rPr>
              <a:t>Si una consulta G falla, entonces + G (no G) tiene éxito.</a:t>
            </a:r>
          </a:p>
          <a:p>
            <a:pPr algn="just">
              <a:lnSpc>
                <a:spcPts val="1399"/>
              </a:lnSpc>
            </a:pPr>
          </a:p>
          <a:p>
            <a:pPr algn="just">
              <a:lnSpc>
                <a:spcPts val="4199"/>
              </a:lnSpc>
            </a:pPr>
            <a:r>
              <a:rPr lang="en-US" sz="2999">
                <a:solidFill>
                  <a:srgbClr val="050A30"/>
                </a:solidFill>
                <a:latin typeface="HK Grotesk"/>
                <a:ea typeface="HK Grotesk"/>
                <a:cs typeface="HK Grotesk"/>
                <a:sym typeface="HK Grotesk"/>
              </a:rPr>
              <a:t>Esto se representa con el operador:</a:t>
            </a:r>
          </a:p>
          <a:p>
            <a:pPr algn="just" marL="647695" indent="-323848" lvl="1">
              <a:lnSpc>
                <a:spcPts val="4199"/>
              </a:lnSpc>
              <a:buFont typeface="Arial"/>
              <a:buChar char="•"/>
            </a:pPr>
            <a:r>
              <a:rPr lang="en-US" sz="2999">
                <a:solidFill>
                  <a:srgbClr val="050A30"/>
                </a:solidFill>
                <a:latin typeface="HK Grotesk"/>
                <a:ea typeface="HK Grotesk"/>
                <a:cs typeface="HK Grotesk"/>
                <a:sym typeface="HK Grotesk"/>
              </a:rPr>
              <a:t>\+ G → "no G"</a:t>
            </a:r>
          </a:p>
          <a:p>
            <a:pPr algn="just" marL="647695" indent="-323848" lvl="1">
              <a:lnSpc>
                <a:spcPts val="4199"/>
              </a:lnSpc>
              <a:spcBef>
                <a:spcPct val="0"/>
              </a:spcBef>
              <a:buFont typeface="Arial"/>
              <a:buChar char="•"/>
            </a:pPr>
            <a:r>
              <a:rPr lang="en-US" sz="2999">
                <a:solidFill>
                  <a:srgbClr val="050A30"/>
                </a:solidFill>
                <a:latin typeface="HK Grotesk"/>
                <a:ea typeface="HK Grotesk"/>
                <a:cs typeface="HK Grotesk"/>
                <a:sym typeface="HK Grotesk"/>
              </a:rPr>
              <a:t>También puede verse como not(G) en versiones antiguas o algunos entornos.</a:t>
            </a:r>
          </a:p>
        </p:txBody>
      </p:sp>
      <p:sp>
        <p:nvSpPr>
          <p:cNvPr name="TextBox 15" id="15"/>
          <p:cNvSpPr txBox="true"/>
          <p:nvPr/>
        </p:nvSpPr>
        <p:spPr>
          <a:xfrm rot="0">
            <a:off x="13531316" y="9080500"/>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6" id="16"/>
          <p:cNvSpPr txBox="true"/>
          <p:nvPr/>
        </p:nvSpPr>
        <p:spPr>
          <a:xfrm rot="0">
            <a:off x="1028700" y="491199"/>
            <a:ext cx="15333028" cy="1285875"/>
          </a:xfrm>
          <a:prstGeom prst="rect">
            <a:avLst/>
          </a:prstGeom>
        </p:spPr>
        <p:txBody>
          <a:bodyPr anchor="t" rtlCol="false" tIns="0" lIns="0" bIns="0" rIns="0">
            <a:spAutoFit/>
          </a:bodyPr>
          <a:lstStyle/>
          <a:p>
            <a:pPr algn="ctr">
              <a:lnSpc>
                <a:spcPts val="10158"/>
              </a:lnSpc>
            </a:pPr>
            <a:r>
              <a:rPr lang="en-US" b="true" sz="8465">
                <a:solidFill>
                  <a:srgbClr val="050A30"/>
                </a:solidFill>
                <a:latin typeface="HK Grotesk Bold"/>
                <a:ea typeface="HK Grotesk Bold"/>
                <a:cs typeface="HK Grotesk Bold"/>
                <a:sym typeface="HK Grotesk Bold"/>
              </a:rPr>
              <a:t>Negación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563814" y="1147654"/>
            <a:ext cx="15333028" cy="1285875"/>
          </a:xfrm>
          <a:prstGeom prst="rect">
            <a:avLst/>
          </a:prstGeom>
        </p:spPr>
        <p:txBody>
          <a:bodyPr anchor="t" rtlCol="false" tIns="0" lIns="0" bIns="0" rIns="0">
            <a:spAutoFit/>
          </a:bodyPr>
          <a:lstStyle/>
          <a:p>
            <a:pPr algn="ctr">
              <a:lnSpc>
                <a:spcPts val="10158"/>
              </a:lnSpc>
            </a:pPr>
            <a:r>
              <a:rPr lang="en-US" b="true" sz="8465">
                <a:solidFill>
                  <a:srgbClr val="F4F6FC"/>
                </a:solidFill>
                <a:latin typeface="HK Grotesk Bold"/>
                <a:ea typeface="HK Grotesk Bold"/>
                <a:cs typeface="HK Grotesk Bold"/>
                <a:sym typeface="HK Grotesk Bold"/>
              </a:rPr>
              <a:t>Ejemplo</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193829" y="2587573"/>
            <a:ext cx="9900342" cy="5802630"/>
          </a:xfrm>
          <a:prstGeom prst="rect">
            <a:avLst/>
          </a:prstGeom>
        </p:spPr>
        <p:txBody>
          <a:bodyPr anchor="t" rtlCol="false" tIns="0" lIns="0" bIns="0" rIns="0">
            <a:spAutoFit/>
          </a:bodyPr>
          <a:lstStyle/>
          <a:p>
            <a:pPr algn="just">
              <a:lnSpc>
                <a:spcPts val="3659"/>
              </a:lnSpc>
            </a:pPr>
            <a:r>
              <a:rPr lang="en-US" sz="2999">
                <a:solidFill>
                  <a:srgbClr val="F4F6FC"/>
                </a:solidFill>
                <a:latin typeface="HK Grotesk"/>
                <a:ea typeface="HK Grotesk"/>
                <a:cs typeface="HK Grotesk"/>
                <a:sym typeface="HK Grotesk"/>
              </a:rPr>
              <a:t>hombre(juan).</a:t>
            </a:r>
          </a:p>
          <a:p>
            <a:pPr algn="just">
              <a:lnSpc>
                <a:spcPts val="3659"/>
              </a:lnSpc>
            </a:pPr>
            <a:r>
              <a:rPr lang="en-US" sz="2999">
                <a:solidFill>
                  <a:srgbClr val="F4F6FC"/>
                </a:solidFill>
                <a:latin typeface="HK Grotesk"/>
                <a:ea typeface="HK Grotesk"/>
                <a:cs typeface="HK Grotesk"/>
                <a:sym typeface="HK Grotesk"/>
              </a:rPr>
              <a:t>hombre(pedro).</a:t>
            </a:r>
          </a:p>
          <a:p>
            <a:pPr algn="just">
              <a:lnSpc>
                <a:spcPts val="2440"/>
              </a:lnSpc>
            </a:pPr>
          </a:p>
          <a:p>
            <a:pPr algn="just">
              <a:lnSpc>
                <a:spcPts val="3659"/>
              </a:lnSpc>
            </a:pPr>
            <a:r>
              <a:rPr lang="en-US" sz="2999">
                <a:solidFill>
                  <a:srgbClr val="F4F6FC"/>
                </a:solidFill>
                <a:latin typeface="HK Grotesk"/>
                <a:ea typeface="HK Grotesk"/>
                <a:cs typeface="HK Grotesk"/>
                <a:sym typeface="HK Grotesk"/>
              </a:rPr>
              <a:t>mujer(maria).</a:t>
            </a:r>
          </a:p>
          <a:p>
            <a:pPr algn="just">
              <a:lnSpc>
                <a:spcPts val="2440"/>
              </a:lnSpc>
            </a:pPr>
          </a:p>
          <a:p>
            <a:pPr algn="just">
              <a:lnSpc>
                <a:spcPts val="3659"/>
              </a:lnSpc>
            </a:pPr>
            <a:r>
              <a:rPr lang="en-US" sz="2999">
                <a:solidFill>
                  <a:srgbClr val="F4F6FC"/>
                </a:solidFill>
                <a:latin typeface="HK Grotesk"/>
                <a:ea typeface="HK Grotesk"/>
                <a:cs typeface="HK Grotesk"/>
                <a:sym typeface="HK Grotesk"/>
              </a:rPr>
              <a:t>% Consultas</a:t>
            </a:r>
          </a:p>
          <a:p>
            <a:pPr algn="just">
              <a:lnSpc>
                <a:spcPts val="3659"/>
              </a:lnSpc>
            </a:pPr>
            <a:r>
              <a:rPr lang="en-US" sz="2999">
                <a:solidFill>
                  <a:srgbClr val="F4F6FC"/>
                </a:solidFill>
                <a:latin typeface="HK Grotesk"/>
                <a:ea typeface="HK Grotesk"/>
                <a:cs typeface="HK Grotesk"/>
                <a:sym typeface="HK Grotesk"/>
              </a:rPr>
              <a:t>?- \+ hombre(maria).</a:t>
            </a:r>
          </a:p>
          <a:p>
            <a:pPr algn="just">
              <a:lnSpc>
                <a:spcPts val="3659"/>
              </a:lnSpc>
            </a:pPr>
            <a:r>
              <a:rPr lang="en-US" sz="2999">
                <a:solidFill>
                  <a:srgbClr val="F4F6FC"/>
                </a:solidFill>
                <a:latin typeface="HK Grotesk"/>
                <a:ea typeface="HK Grotesk"/>
                <a:cs typeface="HK Grotesk"/>
                <a:sym typeface="HK Grotesk"/>
              </a:rPr>
              <a:t>true.   % Porque no puede probar que maria sea hombre</a:t>
            </a:r>
          </a:p>
          <a:p>
            <a:pPr algn="just">
              <a:lnSpc>
                <a:spcPts val="2440"/>
              </a:lnSpc>
            </a:pPr>
          </a:p>
          <a:p>
            <a:pPr algn="just">
              <a:lnSpc>
                <a:spcPts val="3659"/>
              </a:lnSpc>
            </a:pPr>
            <a:r>
              <a:rPr lang="en-US" sz="2999">
                <a:solidFill>
                  <a:srgbClr val="F4F6FC"/>
                </a:solidFill>
                <a:latin typeface="HK Grotesk"/>
                <a:ea typeface="HK Grotesk"/>
                <a:cs typeface="HK Grotesk"/>
                <a:sym typeface="HK Grotesk"/>
              </a:rPr>
              <a:t>?- \+ mujer(juan).</a:t>
            </a:r>
          </a:p>
          <a:p>
            <a:pPr algn="just">
              <a:lnSpc>
                <a:spcPts val="3659"/>
              </a:lnSpc>
            </a:pPr>
            <a:r>
              <a:rPr lang="en-US" sz="2999">
                <a:solidFill>
                  <a:srgbClr val="F4F6FC"/>
                </a:solidFill>
                <a:latin typeface="HK Grotesk"/>
                <a:ea typeface="HK Grotesk"/>
                <a:cs typeface="HK Grotesk"/>
                <a:sym typeface="HK Grotesk"/>
              </a:rPr>
              <a:t>true.   % Porque no puede probar que juan sea mujer</a:t>
            </a:r>
          </a:p>
          <a:p>
            <a:pPr algn="just">
              <a:lnSpc>
                <a:spcPts val="2440"/>
              </a:lnSpc>
            </a:pPr>
          </a:p>
          <a:p>
            <a:pPr algn="just">
              <a:lnSpc>
                <a:spcPts val="3659"/>
              </a:lnSpc>
            </a:pPr>
            <a:r>
              <a:rPr lang="en-US" sz="2999">
                <a:solidFill>
                  <a:srgbClr val="F4F6FC"/>
                </a:solidFill>
                <a:latin typeface="HK Grotesk"/>
                <a:ea typeface="HK Grotesk"/>
                <a:cs typeface="HK Grotesk"/>
                <a:sym typeface="HK Grotesk"/>
              </a:rPr>
              <a:t>?- \+ mujer(maria).</a:t>
            </a:r>
          </a:p>
          <a:p>
            <a:pPr algn="just">
              <a:lnSpc>
                <a:spcPts val="3659"/>
              </a:lnSpc>
            </a:pPr>
            <a:r>
              <a:rPr lang="en-US" sz="2999">
                <a:solidFill>
                  <a:srgbClr val="F4F6FC"/>
                </a:solidFill>
                <a:latin typeface="HK Grotesk"/>
                <a:ea typeface="HK Grotesk"/>
                <a:cs typeface="HK Grotesk"/>
                <a:sym typeface="HK Grotesk"/>
              </a:rPr>
              <a:t>false.  % Porque puede probar que maria sí es mujer</a:t>
            </a:r>
          </a:p>
        </p:txBody>
      </p:sp>
      <p:sp>
        <p:nvSpPr>
          <p:cNvPr name="TextBox 15" id="15"/>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70142" y="1657927"/>
            <a:ext cx="16050143" cy="1073786"/>
          </a:xfrm>
          <a:prstGeom prst="rect">
            <a:avLst/>
          </a:prstGeom>
        </p:spPr>
        <p:txBody>
          <a:bodyPr anchor="t" rtlCol="false" tIns="0" lIns="0" bIns="0" rIns="0">
            <a:spAutoFit/>
          </a:bodyPr>
          <a:lstStyle/>
          <a:p>
            <a:pPr algn="just">
              <a:lnSpc>
                <a:spcPts val="4339"/>
              </a:lnSpc>
              <a:spcBef>
                <a:spcPct val="0"/>
              </a:spcBef>
            </a:pPr>
            <a:r>
              <a:rPr lang="en-US" sz="3099">
                <a:solidFill>
                  <a:srgbClr val="050A30"/>
                </a:solidFill>
                <a:latin typeface="HK Grotesk"/>
                <a:ea typeface="HK Grotesk"/>
                <a:cs typeface="HK Grotesk"/>
                <a:sym typeface="HK Grotesk"/>
              </a:rPr>
              <a:t>Internamente, la negación como falla puede modelarse usando un corte (!) seguido de una reg</a:t>
            </a:r>
            <a:r>
              <a:rPr lang="en-US" sz="3099">
                <a:solidFill>
                  <a:srgbClr val="050A30"/>
                </a:solidFill>
                <a:latin typeface="HK Grotesk"/>
                <a:ea typeface="HK Grotesk"/>
                <a:cs typeface="HK Grotesk"/>
                <a:sym typeface="HK Grotesk"/>
              </a:rPr>
              <a:t>la que sie</a:t>
            </a:r>
            <a:r>
              <a:rPr lang="en-US" sz="3099">
                <a:solidFill>
                  <a:srgbClr val="050A30"/>
                </a:solidFill>
                <a:latin typeface="HK Grotesk"/>
                <a:ea typeface="HK Grotesk"/>
                <a:cs typeface="HK Grotesk"/>
                <a:sym typeface="HK Grotesk"/>
              </a:rPr>
              <a:t>mpr</a:t>
            </a:r>
            <a:r>
              <a:rPr lang="en-US" sz="3099">
                <a:solidFill>
                  <a:srgbClr val="050A30"/>
                </a:solidFill>
                <a:latin typeface="HK Grotesk"/>
                <a:ea typeface="HK Grotesk"/>
                <a:cs typeface="HK Grotesk"/>
                <a:sym typeface="HK Grotesk"/>
              </a:rPr>
              <a:t>e falla (</a:t>
            </a:r>
            <a:r>
              <a:rPr lang="en-US" sz="3099">
                <a:solidFill>
                  <a:srgbClr val="050A30"/>
                </a:solidFill>
                <a:latin typeface="HK Grotesk"/>
                <a:ea typeface="HK Grotesk"/>
                <a:cs typeface="HK Grotesk"/>
                <a:sym typeface="HK Grotesk"/>
              </a:rPr>
              <a:t>f</a:t>
            </a:r>
            <a:r>
              <a:rPr lang="en-US" sz="3099">
                <a:solidFill>
                  <a:srgbClr val="050A30"/>
                </a:solidFill>
                <a:latin typeface="HK Grotesk"/>
                <a:ea typeface="HK Grotesk"/>
                <a:cs typeface="HK Grotesk"/>
                <a:sym typeface="HK Grotesk"/>
              </a:rPr>
              <a:t>ai</a:t>
            </a:r>
            <a:r>
              <a:rPr lang="en-US" sz="3099">
                <a:solidFill>
                  <a:srgbClr val="050A30"/>
                </a:solidFill>
                <a:latin typeface="HK Grotesk"/>
                <a:ea typeface="HK Grotesk"/>
                <a:cs typeface="HK Grotesk"/>
                <a:sym typeface="HK Grotesk"/>
              </a:rPr>
              <a:t>l), c</a:t>
            </a:r>
            <a:r>
              <a:rPr lang="en-US" sz="3099">
                <a:solidFill>
                  <a:srgbClr val="050A30"/>
                </a:solidFill>
                <a:latin typeface="HK Grotesk"/>
                <a:ea typeface="HK Grotesk"/>
                <a:cs typeface="HK Grotesk"/>
                <a:sym typeface="HK Grotesk"/>
              </a:rPr>
              <a:t>o</a:t>
            </a:r>
            <a:r>
              <a:rPr lang="en-US" sz="3099">
                <a:solidFill>
                  <a:srgbClr val="050A30"/>
                </a:solidFill>
                <a:latin typeface="HK Grotesk"/>
                <a:ea typeface="HK Grotesk"/>
                <a:cs typeface="HK Grotesk"/>
                <a:sym typeface="HK Grotesk"/>
              </a:rPr>
              <a:t>mo</a:t>
            </a:r>
            <a:r>
              <a:rPr lang="en-US" sz="3099">
                <a:solidFill>
                  <a:srgbClr val="050A30"/>
                </a:solidFill>
                <a:latin typeface="HK Grotesk"/>
                <a:ea typeface="HK Grotesk"/>
                <a:cs typeface="HK Grotesk"/>
                <a:sym typeface="HK Grotesk"/>
              </a:rPr>
              <a:t> </a:t>
            </a:r>
            <a:r>
              <a:rPr lang="en-US" sz="3099">
                <a:solidFill>
                  <a:srgbClr val="050A30"/>
                </a:solidFill>
                <a:latin typeface="HK Grotesk"/>
                <a:ea typeface="HK Grotesk"/>
                <a:cs typeface="HK Grotesk"/>
                <a:sym typeface="HK Grotesk"/>
              </a:rPr>
              <a:t>e</a:t>
            </a:r>
            <a:r>
              <a:rPr lang="en-US" sz="3099">
                <a:solidFill>
                  <a:srgbClr val="050A30"/>
                </a:solidFill>
                <a:latin typeface="HK Grotesk"/>
                <a:ea typeface="HK Grotesk"/>
                <a:cs typeface="HK Grotesk"/>
                <a:sym typeface="HK Grotesk"/>
              </a:rPr>
              <a:t>s</a:t>
            </a:r>
            <a:r>
              <a:rPr lang="en-US" sz="3099">
                <a:solidFill>
                  <a:srgbClr val="050A30"/>
                </a:solidFill>
                <a:latin typeface="HK Grotesk"/>
                <a:ea typeface="HK Grotesk"/>
                <a:cs typeface="HK Grotesk"/>
                <a:sym typeface="HK Grotesk"/>
              </a:rPr>
              <a:t>t</a:t>
            </a:r>
            <a:r>
              <a:rPr lang="en-US" sz="3099">
                <a:solidFill>
                  <a:srgbClr val="050A30"/>
                </a:solidFill>
                <a:latin typeface="HK Grotesk"/>
                <a:ea typeface="HK Grotesk"/>
                <a:cs typeface="HK Grotesk"/>
                <a:sym typeface="HK Grotesk"/>
              </a:rPr>
              <a:t>a</a:t>
            </a:r>
            <a:r>
              <a:rPr lang="en-US" sz="3099">
                <a:solidFill>
                  <a:srgbClr val="050A30"/>
                </a:solidFill>
                <a:latin typeface="HK Grotesk"/>
                <a:ea typeface="HK Grotesk"/>
                <a:cs typeface="HK Grotesk"/>
                <a:sym typeface="HK Grotesk"/>
              </a:rPr>
              <a:t>:</a:t>
            </a:r>
          </a:p>
        </p:txBody>
      </p:sp>
      <p:sp>
        <p:nvSpPr>
          <p:cNvPr name="TextBox 14" id="14"/>
          <p:cNvSpPr txBox="true"/>
          <p:nvPr/>
        </p:nvSpPr>
        <p:spPr>
          <a:xfrm rot="0">
            <a:off x="13531316" y="9080500"/>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028700" y="808682"/>
            <a:ext cx="15333028" cy="771525"/>
          </a:xfrm>
          <a:prstGeom prst="rect">
            <a:avLst/>
          </a:prstGeom>
        </p:spPr>
        <p:txBody>
          <a:bodyPr anchor="t" rtlCol="false" tIns="0" lIns="0" bIns="0" rIns="0">
            <a:spAutoFit/>
          </a:bodyPr>
          <a:lstStyle/>
          <a:p>
            <a:pPr algn="ctr">
              <a:lnSpc>
                <a:spcPts val="6000"/>
              </a:lnSpc>
            </a:pPr>
            <a:r>
              <a:rPr lang="en-US" b="true" sz="5000">
                <a:solidFill>
                  <a:srgbClr val="050A30"/>
                </a:solidFill>
                <a:latin typeface="HK Grotesk Bold"/>
                <a:ea typeface="HK Grotesk Bold"/>
                <a:cs typeface="HK Grotesk Bold"/>
                <a:sym typeface="HK Grotesk Bold"/>
              </a:rPr>
              <a:t>¿Cómo se implementa internamente?</a:t>
            </a:r>
          </a:p>
        </p:txBody>
      </p:sp>
      <p:sp>
        <p:nvSpPr>
          <p:cNvPr name="Freeform 16" id="16"/>
          <p:cNvSpPr/>
          <p:nvPr/>
        </p:nvSpPr>
        <p:spPr>
          <a:xfrm flipH="false" flipV="false" rot="0">
            <a:off x="7788564" y="2338109"/>
            <a:ext cx="4610222" cy="991446"/>
          </a:xfrm>
          <a:custGeom>
            <a:avLst/>
            <a:gdLst/>
            <a:ahLst/>
            <a:cxnLst/>
            <a:rect r="r" b="b" t="t" l="l"/>
            <a:pathLst>
              <a:path h="991446" w="4610222">
                <a:moveTo>
                  <a:pt x="0" y="0"/>
                </a:moveTo>
                <a:lnTo>
                  <a:pt x="4610221" y="0"/>
                </a:lnTo>
                <a:lnTo>
                  <a:pt x="4610221" y="991446"/>
                </a:lnTo>
                <a:lnTo>
                  <a:pt x="0" y="991446"/>
                </a:lnTo>
                <a:lnTo>
                  <a:pt x="0" y="0"/>
                </a:lnTo>
                <a:close/>
              </a:path>
            </a:pathLst>
          </a:custGeom>
          <a:blipFill>
            <a:blip r:embed="rId5"/>
            <a:stretch>
              <a:fillRect l="0" t="0" r="0" b="0"/>
            </a:stretch>
          </a:blipFill>
        </p:spPr>
      </p:sp>
      <p:sp>
        <p:nvSpPr>
          <p:cNvPr name="TextBox 17" id="17"/>
          <p:cNvSpPr txBox="true"/>
          <p:nvPr/>
        </p:nvSpPr>
        <p:spPr>
          <a:xfrm rot="0">
            <a:off x="670142" y="3478949"/>
            <a:ext cx="16050143" cy="4131311"/>
          </a:xfrm>
          <a:prstGeom prst="rect">
            <a:avLst/>
          </a:prstGeom>
        </p:spPr>
        <p:txBody>
          <a:bodyPr anchor="t" rtlCol="false" tIns="0" lIns="0" bIns="0" rIns="0">
            <a:spAutoFit/>
          </a:bodyPr>
          <a:lstStyle/>
          <a:p>
            <a:pPr algn="just">
              <a:lnSpc>
                <a:spcPts val="4339"/>
              </a:lnSpc>
            </a:pPr>
            <a:r>
              <a:rPr lang="en-US" sz="3099">
                <a:solidFill>
                  <a:srgbClr val="050A30"/>
                </a:solidFill>
                <a:latin typeface="HK Grotesk"/>
                <a:ea typeface="HK Grotesk"/>
                <a:cs typeface="HK Grotesk"/>
                <a:sym typeface="HK Grotesk"/>
              </a:rPr>
              <a:t>Esto se interpreta así:</a:t>
            </a:r>
          </a:p>
          <a:p>
            <a:pPr algn="just">
              <a:lnSpc>
                <a:spcPts val="1399"/>
              </a:lnSpc>
            </a:pPr>
          </a:p>
          <a:p>
            <a:pPr algn="just" marL="669285" indent="-334642" lvl="1">
              <a:lnSpc>
                <a:spcPts val="4339"/>
              </a:lnSpc>
              <a:buFont typeface="Arial"/>
              <a:buChar char="•"/>
            </a:pPr>
            <a:r>
              <a:rPr lang="en-US" sz="3099">
                <a:solidFill>
                  <a:srgbClr val="050A30"/>
                </a:solidFill>
                <a:latin typeface="HK Grotesk"/>
                <a:ea typeface="HK Grotesk"/>
                <a:cs typeface="HK Grotesk"/>
                <a:sym typeface="HK Grotesk"/>
              </a:rPr>
              <a:t>Si G es cierto (G tiene éxito), el corte ! impide cualquier otra alternativa y fail fuerza el fallo.</a:t>
            </a:r>
          </a:p>
          <a:p>
            <a:pPr algn="just" marL="669285" indent="-334642" lvl="1">
              <a:lnSpc>
                <a:spcPts val="4339"/>
              </a:lnSpc>
              <a:buFont typeface="Arial"/>
              <a:buChar char="•"/>
            </a:pPr>
            <a:r>
              <a:rPr lang="en-US" sz="3099">
                <a:solidFill>
                  <a:srgbClr val="050A30"/>
                </a:solidFill>
                <a:latin typeface="HK Grotesk"/>
                <a:ea typeface="HK Grotesk"/>
                <a:cs typeface="HK Grotesk"/>
                <a:sym typeface="HK Grotesk"/>
              </a:rPr>
              <a:t>Si G falla, entonces la segunda cláusula (not(_)) tiene éxito.</a:t>
            </a:r>
          </a:p>
          <a:p>
            <a:pPr algn="just">
              <a:lnSpc>
                <a:spcPts val="1399"/>
              </a:lnSpc>
            </a:pPr>
          </a:p>
          <a:p>
            <a:pPr algn="just">
              <a:lnSpc>
                <a:spcPts val="4339"/>
              </a:lnSpc>
            </a:pPr>
            <a:r>
              <a:rPr lang="en-US" sz="3099">
                <a:solidFill>
                  <a:srgbClr val="050A30"/>
                </a:solidFill>
                <a:latin typeface="HK Grotesk"/>
                <a:ea typeface="HK Grotesk"/>
                <a:cs typeface="HK Grotesk"/>
                <a:sym typeface="HK Grotesk"/>
              </a:rPr>
              <a:t>Este patrón evita que Prolog sig</a:t>
            </a:r>
            <a:r>
              <a:rPr lang="en-US" sz="3099">
                <a:solidFill>
                  <a:srgbClr val="050A30"/>
                </a:solidFill>
                <a:latin typeface="HK Grotesk"/>
                <a:ea typeface="HK Grotesk"/>
                <a:cs typeface="HK Grotesk"/>
                <a:sym typeface="HK Grotesk"/>
              </a:rPr>
              <a:t>a buscando solucion</a:t>
            </a:r>
            <a:r>
              <a:rPr lang="en-US" sz="3099">
                <a:solidFill>
                  <a:srgbClr val="050A30"/>
                </a:solidFill>
                <a:latin typeface="HK Grotesk"/>
                <a:ea typeface="HK Grotesk"/>
                <a:cs typeface="HK Grotesk"/>
                <a:sym typeface="HK Grotesk"/>
              </a:rPr>
              <a:t>es alternativas y de</a:t>
            </a:r>
            <a:r>
              <a:rPr lang="en-US" sz="3099">
                <a:solidFill>
                  <a:srgbClr val="050A30"/>
                </a:solidFill>
                <a:latin typeface="HK Grotesk"/>
                <a:ea typeface="HK Grotesk"/>
                <a:cs typeface="HK Grotesk"/>
                <a:sym typeface="HK Grotesk"/>
              </a:rPr>
              <a:t>fine cl</a:t>
            </a:r>
            <a:r>
              <a:rPr lang="en-US" sz="3099">
                <a:solidFill>
                  <a:srgbClr val="050A30"/>
                </a:solidFill>
                <a:latin typeface="HK Grotesk"/>
                <a:ea typeface="HK Grotesk"/>
                <a:cs typeface="HK Grotesk"/>
                <a:sym typeface="HK Grotesk"/>
              </a:rPr>
              <a:t>aramente e</a:t>
            </a:r>
            <a:r>
              <a:rPr lang="en-US" sz="3099">
                <a:solidFill>
                  <a:srgbClr val="050A30"/>
                </a:solidFill>
                <a:latin typeface="HK Grotesk"/>
                <a:ea typeface="HK Grotesk"/>
                <a:cs typeface="HK Grotesk"/>
                <a:sym typeface="HK Grotesk"/>
              </a:rPr>
              <a:t>l c</a:t>
            </a:r>
            <a:r>
              <a:rPr lang="en-US" sz="3099">
                <a:solidFill>
                  <a:srgbClr val="050A30"/>
                </a:solidFill>
                <a:latin typeface="HK Grotesk"/>
                <a:ea typeface="HK Grotesk"/>
                <a:cs typeface="HK Grotesk"/>
                <a:sym typeface="HK Grotesk"/>
              </a:rPr>
              <a:t>o</a:t>
            </a:r>
            <a:r>
              <a:rPr lang="en-US" sz="3099">
                <a:solidFill>
                  <a:srgbClr val="050A30"/>
                </a:solidFill>
                <a:latin typeface="HK Grotesk"/>
                <a:ea typeface="HK Grotesk"/>
                <a:cs typeface="HK Grotesk"/>
                <a:sym typeface="HK Grotesk"/>
              </a:rPr>
              <a:t>mportamiento</a:t>
            </a:r>
            <a:r>
              <a:rPr lang="en-US" sz="3099">
                <a:solidFill>
                  <a:srgbClr val="050A30"/>
                </a:solidFill>
                <a:latin typeface="HK Grotesk"/>
                <a:ea typeface="HK Grotesk"/>
                <a:cs typeface="HK Grotesk"/>
                <a:sym typeface="HK Grotesk"/>
              </a:rPr>
              <a:t> d</a:t>
            </a:r>
            <a:r>
              <a:rPr lang="en-US" sz="3099">
                <a:solidFill>
                  <a:srgbClr val="050A30"/>
                </a:solidFill>
                <a:latin typeface="HK Grotesk"/>
                <a:ea typeface="HK Grotesk"/>
                <a:cs typeface="HK Grotesk"/>
                <a:sym typeface="HK Grotesk"/>
              </a:rPr>
              <a:t>el not.</a:t>
            </a:r>
          </a:p>
          <a:p>
            <a:pPr algn="just">
              <a:lnSpc>
                <a:spcPts val="4339"/>
              </a:lnSpc>
              <a:spcBef>
                <a:spcPct val="0"/>
              </a:spcBef>
            </a:pPr>
          </a:p>
        </p:txBody>
      </p:sp>
      <p:sp>
        <p:nvSpPr>
          <p:cNvPr name="TextBox 18" id="18"/>
          <p:cNvSpPr txBox="true"/>
          <p:nvPr/>
        </p:nvSpPr>
        <p:spPr>
          <a:xfrm rot="0">
            <a:off x="2123290" y="7350125"/>
            <a:ext cx="14041419" cy="1758950"/>
          </a:xfrm>
          <a:prstGeom prst="rect">
            <a:avLst/>
          </a:prstGeom>
        </p:spPr>
        <p:txBody>
          <a:bodyPr anchor="t" rtlCol="false" tIns="0" lIns="0" bIns="0" rIns="0">
            <a:spAutoFit/>
          </a:bodyPr>
          <a:lstStyle/>
          <a:p>
            <a:pPr algn="just">
              <a:lnSpc>
                <a:spcPts val="2800"/>
              </a:lnSpc>
            </a:pPr>
            <a:r>
              <a:rPr lang="en-US" sz="2000" i="true">
                <a:solidFill>
                  <a:srgbClr val="050A30"/>
                </a:solidFill>
                <a:latin typeface="HK Grotesk Italics"/>
                <a:ea typeface="HK Grotesk Italics"/>
                <a:cs typeface="HK Grotesk Italics"/>
                <a:sym typeface="HK Grotesk Italics"/>
              </a:rPr>
              <a:t>Consideraciones importantes</a:t>
            </a:r>
          </a:p>
          <a:p>
            <a:pPr algn="just" marL="431801" indent="-215900" lvl="1">
              <a:lnSpc>
                <a:spcPts val="2800"/>
              </a:lnSpc>
              <a:buFont typeface="Arial"/>
              <a:buChar char="•"/>
            </a:pPr>
            <a:r>
              <a:rPr lang="en-US" b="true" sz="2000" i="true">
                <a:solidFill>
                  <a:srgbClr val="050A30"/>
                </a:solidFill>
                <a:latin typeface="HK Grotesk Bold Italics"/>
                <a:ea typeface="HK Grotesk Bold Italics"/>
                <a:cs typeface="HK Grotesk Bold Italics"/>
                <a:sym typeface="HK Grotesk Bold Italics"/>
              </a:rPr>
              <a:t>Incompleto:</a:t>
            </a:r>
            <a:r>
              <a:rPr lang="en-US" sz="2000" i="true">
                <a:solidFill>
                  <a:srgbClr val="050A30"/>
                </a:solidFill>
                <a:latin typeface="HK Grotesk Italics"/>
                <a:ea typeface="HK Grotesk Italics"/>
                <a:cs typeface="HK Grotesk Italics"/>
                <a:sym typeface="HK Grotesk Italics"/>
              </a:rPr>
              <a:t> La negación como falla no es lógica pura; puede dar resultados incorrectos si hay variables no instanciadas.</a:t>
            </a:r>
          </a:p>
          <a:p>
            <a:pPr algn="just" marL="431801" indent="-215900" lvl="1">
              <a:lnSpc>
                <a:spcPts val="2800"/>
              </a:lnSpc>
              <a:buFont typeface="Arial"/>
              <a:buChar char="•"/>
            </a:pPr>
            <a:r>
              <a:rPr lang="en-US" b="true" sz="2000" i="true">
                <a:solidFill>
                  <a:srgbClr val="050A30"/>
                </a:solidFill>
                <a:latin typeface="HK Grotesk Bold Italics"/>
                <a:ea typeface="HK Grotesk Bold Italics"/>
                <a:cs typeface="HK Grotesk Bold Italics"/>
                <a:sym typeface="HK Grotesk Bold Italics"/>
              </a:rPr>
              <a:t>No es lógica clásica:</a:t>
            </a:r>
            <a:r>
              <a:rPr lang="en-US" sz="2000" i="true">
                <a:solidFill>
                  <a:srgbClr val="050A30"/>
                </a:solidFill>
                <a:latin typeface="HK Grotesk Italics"/>
                <a:ea typeface="HK Grotesk Italics"/>
                <a:cs typeface="HK Grotesk Italics"/>
                <a:sym typeface="HK Grotesk Italics"/>
              </a:rPr>
              <a:t> No se debe asumir que \+ p(X) significa que not(p(X)) en lógic</a:t>
            </a:r>
            <a:r>
              <a:rPr lang="en-US" sz="2000" i="true">
                <a:solidFill>
                  <a:srgbClr val="050A30"/>
                </a:solidFill>
                <a:latin typeface="HK Grotesk Italics"/>
                <a:ea typeface="HK Grotesk Italics"/>
                <a:cs typeface="HK Grotesk Italics"/>
                <a:sym typeface="HK Grotesk Italics"/>
              </a:rPr>
              <a:t>a formal.</a:t>
            </a:r>
          </a:p>
          <a:p>
            <a:pPr algn="just" marL="431801" indent="-215900" lvl="1">
              <a:lnSpc>
                <a:spcPts val="2800"/>
              </a:lnSpc>
              <a:buFont typeface="Arial"/>
              <a:buChar char="•"/>
            </a:pPr>
            <a:r>
              <a:rPr lang="en-US" b="true" sz="2000" i="true">
                <a:solidFill>
                  <a:srgbClr val="050A30"/>
                </a:solidFill>
                <a:latin typeface="HK Grotesk Bold Italics"/>
                <a:ea typeface="HK Grotesk Bold Italics"/>
                <a:cs typeface="HK Grotesk Bold Italics"/>
                <a:sym typeface="HK Grotesk Bold Italics"/>
              </a:rPr>
              <a:t>Cuidado con pr</a:t>
            </a:r>
            <a:r>
              <a:rPr lang="en-US" b="true" sz="2000" i="true">
                <a:solidFill>
                  <a:srgbClr val="050A30"/>
                </a:solidFill>
                <a:latin typeface="HK Grotesk Bold Italics"/>
                <a:ea typeface="HK Grotesk Bold Italics"/>
                <a:cs typeface="HK Grotesk Bold Italics"/>
                <a:sym typeface="HK Grotesk Bold Italics"/>
              </a:rPr>
              <a:t>edicados no cerrados:</a:t>
            </a:r>
            <a:r>
              <a:rPr lang="en-US" sz="2000" i="true">
                <a:solidFill>
                  <a:srgbClr val="050A30"/>
                </a:solidFill>
                <a:latin typeface="HK Grotesk Italics"/>
                <a:ea typeface="HK Grotesk Italics"/>
                <a:cs typeface="HK Grotesk Italics"/>
                <a:sym typeface="HK Grotesk Italics"/>
              </a:rPr>
              <a:t> S</a:t>
            </a:r>
            <a:r>
              <a:rPr lang="en-US" sz="2000" i="true">
                <a:solidFill>
                  <a:srgbClr val="050A30"/>
                </a:solidFill>
                <a:latin typeface="HK Grotesk Italics"/>
                <a:ea typeface="HK Grotesk Italics"/>
                <a:cs typeface="HK Grotesk Italics"/>
                <a:sym typeface="HK Grotesk Italics"/>
              </a:rPr>
              <a:t>i l</a:t>
            </a:r>
            <a:r>
              <a:rPr lang="en-US" sz="2000" i="true">
                <a:solidFill>
                  <a:srgbClr val="050A30"/>
                </a:solidFill>
                <a:latin typeface="HK Grotesk Italics"/>
                <a:ea typeface="HK Grotesk Italics"/>
                <a:cs typeface="HK Grotesk Italics"/>
                <a:sym typeface="HK Grotesk Italics"/>
              </a:rPr>
              <a:t>a base de datos no está</a:t>
            </a:r>
            <a:r>
              <a:rPr lang="en-US" sz="2000" i="true">
                <a:solidFill>
                  <a:srgbClr val="050A30"/>
                </a:solidFill>
                <a:latin typeface="HK Grotesk Italics"/>
                <a:ea typeface="HK Grotesk Italics"/>
                <a:cs typeface="HK Grotesk Italics"/>
                <a:sym typeface="HK Grotesk Italics"/>
              </a:rPr>
              <a:t> c</a:t>
            </a:r>
            <a:r>
              <a:rPr lang="en-US" sz="2000" i="true">
                <a:solidFill>
                  <a:srgbClr val="050A30"/>
                </a:solidFill>
                <a:latin typeface="HK Grotesk Italics"/>
                <a:ea typeface="HK Grotesk Italics"/>
                <a:cs typeface="HK Grotesk Italics"/>
                <a:sym typeface="HK Grotesk Italics"/>
              </a:rPr>
              <a:t>o</a:t>
            </a:r>
            <a:r>
              <a:rPr lang="en-US" sz="2000" i="true">
                <a:solidFill>
                  <a:srgbClr val="050A30"/>
                </a:solidFill>
                <a:latin typeface="HK Grotesk Italics"/>
                <a:ea typeface="HK Grotesk Italics"/>
                <a:cs typeface="HK Grotesk Italics"/>
                <a:sym typeface="HK Grotesk Italics"/>
              </a:rPr>
              <a:t>mpleta, las conclusiones</a:t>
            </a:r>
            <a:r>
              <a:rPr lang="en-US" sz="2000" i="true">
                <a:solidFill>
                  <a:srgbClr val="050A30"/>
                </a:solidFill>
                <a:latin typeface="HK Grotesk Italics"/>
                <a:ea typeface="HK Grotesk Italics"/>
                <a:cs typeface="HK Grotesk Italics"/>
                <a:sym typeface="HK Grotesk Italics"/>
              </a:rPr>
              <a:t> pued</a:t>
            </a:r>
            <a:r>
              <a:rPr lang="en-US" sz="2000" i="true">
                <a:solidFill>
                  <a:srgbClr val="050A30"/>
                </a:solidFill>
                <a:latin typeface="HK Grotesk Italics"/>
                <a:ea typeface="HK Grotesk Italics"/>
                <a:cs typeface="HK Grotesk Italics"/>
                <a:sym typeface="HK Grotesk Italics"/>
              </a:rPr>
              <a:t>en ser engañosas.</a:t>
            </a:r>
          </a:p>
          <a:p>
            <a:pPr algn="just">
              <a:lnSpc>
                <a:spcPts val="28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4" id="14"/>
          <p:cNvSpPr txBox="true"/>
          <p:nvPr/>
        </p:nvSpPr>
        <p:spPr>
          <a:xfrm rot="0">
            <a:off x="1477486" y="2636082"/>
            <a:ext cx="15333028" cy="1285875"/>
          </a:xfrm>
          <a:prstGeom prst="rect">
            <a:avLst/>
          </a:prstGeom>
        </p:spPr>
        <p:txBody>
          <a:bodyPr anchor="t" rtlCol="false" tIns="0" lIns="0" bIns="0" rIns="0">
            <a:spAutoFit/>
          </a:bodyPr>
          <a:lstStyle/>
          <a:p>
            <a:pPr algn="ctr">
              <a:lnSpc>
                <a:spcPts val="10158"/>
              </a:lnSpc>
            </a:pPr>
            <a:r>
              <a:rPr lang="en-US" b="true" sz="8465">
                <a:solidFill>
                  <a:srgbClr val="050A30"/>
                </a:solidFill>
                <a:latin typeface="HK Grotesk Bold"/>
                <a:ea typeface="HK Grotesk Bold"/>
                <a:cs typeface="HK Grotesk Bold"/>
                <a:sym typeface="HK Grotesk Bold"/>
              </a:rPr>
              <a:t>Ciclos y Recursión</a:t>
            </a:r>
          </a:p>
        </p:txBody>
      </p:sp>
      <p:sp>
        <p:nvSpPr>
          <p:cNvPr name="TextBox 15" id="15"/>
          <p:cNvSpPr txBox="true"/>
          <p:nvPr/>
        </p:nvSpPr>
        <p:spPr>
          <a:xfrm rot="0">
            <a:off x="2095667" y="3855282"/>
            <a:ext cx="12642554" cy="530861"/>
          </a:xfrm>
          <a:prstGeom prst="rect">
            <a:avLst/>
          </a:prstGeom>
        </p:spPr>
        <p:txBody>
          <a:bodyPr anchor="t" rtlCol="false" tIns="0" lIns="0" bIns="0" rIns="0">
            <a:spAutoFit/>
          </a:bodyPr>
          <a:lstStyle/>
          <a:p>
            <a:pPr algn="just">
              <a:lnSpc>
                <a:spcPts val="4339"/>
              </a:lnSpc>
            </a:pPr>
          </a:p>
        </p:txBody>
      </p:sp>
      <p:sp>
        <p:nvSpPr>
          <p:cNvPr name="TextBox 16" id="16"/>
          <p:cNvSpPr txBox="true"/>
          <p:nvPr/>
        </p:nvSpPr>
        <p:spPr>
          <a:xfrm rot="0">
            <a:off x="1477486" y="4319467"/>
            <a:ext cx="15333028" cy="2609851"/>
          </a:xfrm>
          <a:prstGeom prst="rect">
            <a:avLst/>
          </a:prstGeom>
        </p:spPr>
        <p:txBody>
          <a:bodyPr anchor="t" rtlCol="false" tIns="0" lIns="0" bIns="0" rIns="0">
            <a:spAutoFit/>
          </a:bodyPr>
          <a:lstStyle/>
          <a:p>
            <a:pPr algn="just">
              <a:lnSpc>
                <a:spcPts val="4199"/>
              </a:lnSpc>
              <a:spcBef>
                <a:spcPct val="0"/>
              </a:spcBef>
            </a:pPr>
            <a:r>
              <a:rPr lang="en-US" sz="2999">
                <a:solidFill>
                  <a:srgbClr val="050A30"/>
                </a:solidFill>
                <a:latin typeface="HK Grotesk"/>
                <a:ea typeface="HK Grotesk"/>
                <a:cs typeface="HK Grotesk"/>
                <a:sym typeface="HK Grotesk"/>
              </a:rPr>
              <a:t>En lenguajes imperativos como Python, Java o C, las estructuras de control como for, while o do-while permiten realizar tareas repetitivas de manera explícita. Sin embargo, Prolog, como lenguaje declarativo, no posee estructuras de iteración tradicionales. En su lugar, la recursión es el principal mecanismo para procesar estructuras repetitivas o listas, realizar acumulaciones, y explorar soluciones en árboles de búsqueda.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96536" y="842684"/>
            <a:ext cx="15333028" cy="1285875"/>
          </a:xfrm>
          <a:prstGeom prst="rect">
            <a:avLst/>
          </a:prstGeom>
        </p:spPr>
        <p:txBody>
          <a:bodyPr anchor="t" rtlCol="false" tIns="0" lIns="0" bIns="0" rIns="0">
            <a:spAutoFit/>
          </a:bodyPr>
          <a:lstStyle/>
          <a:p>
            <a:pPr algn="ctr">
              <a:lnSpc>
                <a:spcPts val="10158"/>
              </a:lnSpc>
            </a:pPr>
            <a:r>
              <a:rPr lang="en-US" b="true" sz="8465">
                <a:solidFill>
                  <a:srgbClr val="F4F6FC"/>
                </a:solidFill>
                <a:latin typeface="HK Grotesk Bold"/>
                <a:ea typeface="HK Grotesk Bold"/>
                <a:cs typeface="HK Grotesk Bold"/>
                <a:sym typeface="HK Grotesk Bold"/>
              </a:rPr>
              <a:t>Tipos de Recursión</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496536" y="2338109"/>
            <a:ext cx="7070545" cy="6194191"/>
            <a:chOff x="0" y="0"/>
            <a:chExt cx="1862201" cy="1631392"/>
          </a:xfrm>
        </p:grpSpPr>
        <p:sp>
          <p:nvSpPr>
            <p:cNvPr name="Freeform 15" id="15"/>
            <p:cNvSpPr/>
            <p:nvPr/>
          </p:nvSpPr>
          <p:spPr>
            <a:xfrm flipH="false" flipV="false" rot="0">
              <a:off x="0" y="0"/>
              <a:ext cx="1862201" cy="1631392"/>
            </a:xfrm>
            <a:custGeom>
              <a:avLst/>
              <a:gdLst/>
              <a:ahLst/>
              <a:cxnLst/>
              <a:rect r="r" b="b" t="t" l="l"/>
              <a:pathLst>
                <a:path h="1631392" w="1862201">
                  <a:moveTo>
                    <a:pt x="55843" y="0"/>
                  </a:moveTo>
                  <a:lnTo>
                    <a:pt x="1806359" y="0"/>
                  </a:lnTo>
                  <a:cubicBezTo>
                    <a:pt x="1821169" y="0"/>
                    <a:pt x="1835373" y="5883"/>
                    <a:pt x="1845845" y="16356"/>
                  </a:cubicBezTo>
                  <a:cubicBezTo>
                    <a:pt x="1856318" y="26828"/>
                    <a:pt x="1862201" y="41032"/>
                    <a:pt x="1862201" y="55843"/>
                  </a:cubicBezTo>
                  <a:lnTo>
                    <a:pt x="1862201" y="1575549"/>
                  </a:lnTo>
                  <a:cubicBezTo>
                    <a:pt x="1862201" y="1590360"/>
                    <a:pt x="1856318" y="1604563"/>
                    <a:pt x="1845845" y="1615036"/>
                  </a:cubicBezTo>
                  <a:cubicBezTo>
                    <a:pt x="1835373" y="1625509"/>
                    <a:pt x="1821169" y="1631392"/>
                    <a:pt x="1806359" y="1631392"/>
                  </a:cubicBezTo>
                  <a:lnTo>
                    <a:pt x="55843" y="1631392"/>
                  </a:lnTo>
                  <a:cubicBezTo>
                    <a:pt x="41032" y="1631392"/>
                    <a:pt x="26828" y="1625509"/>
                    <a:pt x="16356" y="1615036"/>
                  </a:cubicBezTo>
                  <a:cubicBezTo>
                    <a:pt x="5883" y="1604563"/>
                    <a:pt x="0" y="1590360"/>
                    <a:pt x="0" y="1575549"/>
                  </a:cubicBezTo>
                  <a:lnTo>
                    <a:pt x="0" y="55843"/>
                  </a:lnTo>
                  <a:cubicBezTo>
                    <a:pt x="0" y="41032"/>
                    <a:pt x="5883" y="26828"/>
                    <a:pt x="16356" y="16356"/>
                  </a:cubicBezTo>
                  <a:cubicBezTo>
                    <a:pt x="26828" y="5883"/>
                    <a:pt x="41032" y="0"/>
                    <a:pt x="55843" y="0"/>
                  </a:cubicBezTo>
                  <a:close/>
                </a:path>
              </a:pathLst>
            </a:custGeom>
            <a:solidFill>
              <a:srgbClr val="F4F6FC"/>
            </a:solidFill>
          </p:spPr>
        </p:sp>
        <p:sp>
          <p:nvSpPr>
            <p:cNvPr name="TextBox 16" id="16"/>
            <p:cNvSpPr txBox="true"/>
            <p:nvPr/>
          </p:nvSpPr>
          <p:spPr>
            <a:xfrm>
              <a:off x="0" y="-47625"/>
              <a:ext cx="1862201" cy="1679017"/>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897451" y="3162820"/>
            <a:ext cx="6301619" cy="905510"/>
          </a:xfrm>
          <a:prstGeom prst="rect">
            <a:avLst/>
          </a:prstGeom>
        </p:spPr>
        <p:txBody>
          <a:bodyPr anchor="t" rtlCol="false" tIns="0" lIns="0" bIns="0" rIns="0">
            <a:spAutoFit/>
          </a:bodyPr>
          <a:lstStyle/>
          <a:p>
            <a:pPr algn="just">
              <a:lnSpc>
                <a:spcPts val="3639"/>
              </a:lnSpc>
              <a:spcBef>
                <a:spcPct val="0"/>
              </a:spcBef>
            </a:pPr>
            <a:r>
              <a:rPr lang="en-US" sz="2599">
                <a:solidFill>
                  <a:srgbClr val="000000"/>
                </a:solidFill>
                <a:latin typeface="HK Grotesk"/>
                <a:ea typeface="HK Grotesk"/>
                <a:cs typeface="HK Grotesk"/>
                <a:sym typeface="HK Grotesk"/>
              </a:rPr>
              <a:t>Una función se llama a sí misma en su definición.</a:t>
            </a:r>
          </a:p>
        </p:txBody>
      </p:sp>
      <p:sp>
        <p:nvSpPr>
          <p:cNvPr name="TextBox 18" id="18"/>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9" id="19"/>
          <p:cNvSpPr txBox="true"/>
          <p:nvPr/>
        </p:nvSpPr>
        <p:spPr>
          <a:xfrm rot="0">
            <a:off x="1897451" y="2469966"/>
            <a:ext cx="6301619" cy="629921"/>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Recursión Directa</a:t>
            </a:r>
          </a:p>
        </p:txBody>
      </p:sp>
      <p:grpSp>
        <p:nvGrpSpPr>
          <p:cNvPr name="Group 20" id="20"/>
          <p:cNvGrpSpPr/>
          <p:nvPr/>
        </p:nvGrpSpPr>
        <p:grpSpPr>
          <a:xfrm rot="0">
            <a:off x="10033443" y="2338109"/>
            <a:ext cx="7070545" cy="6194191"/>
            <a:chOff x="0" y="0"/>
            <a:chExt cx="1862201" cy="1631392"/>
          </a:xfrm>
        </p:grpSpPr>
        <p:sp>
          <p:nvSpPr>
            <p:cNvPr name="Freeform 21" id="21"/>
            <p:cNvSpPr/>
            <p:nvPr/>
          </p:nvSpPr>
          <p:spPr>
            <a:xfrm flipH="false" flipV="false" rot="0">
              <a:off x="0" y="0"/>
              <a:ext cx="1862201" cy="1631392"/>
            </a:xfrm>
            <a:custGeom>
              <a:avLst/>
              <a:gdLst/>
              <a:ahLst/>
              <a:cxnLst/>
              <a:rect r="r" b="b" t="t" l="l"/>
              <a:pathLst>
                <a:path h="1631392" w="1862201">
                  <a:moveTo>
                    <a:pt x="55843" y="0"/>
                  </a:moveTo>
                  <a:lnTo>
                    <a:pt x="1806359" y="0"/>
                  </a:lnTo>
                  <a:cubicBezTo>
                    <a:pt x="1821169" y="0"/>
                    <a:pt x="1835373" y="5883"/>
                    <a:pt x="1845845" y="16356"/>
                  </a:cubicBezTo>
                  <a:cubicBezTo>
                    <a:pt x="1856318" y="26828"/>
                    <a:pt x="1862201" y="41032"/>
                    <a:pt x="1862201" y="55843"/>
                  </a:cubicBezTo>
                  <a:lnTo>
                    <a:pt x="1862201" y="1575549"/>
                  </a:lnTo>
                  <a:cubicBezTo>
                    <a:pt x="1862201" y="1590360"/>
                    <a:pt x="1856318" y="1604563"/>
                    <a:pt x="1845845" y="1615036"/>
                  </a:cubicBezTo>
                  <a:cubicBezTo>
                    <a:pt x="1835373" y="1625509"/>
                    <a:pt x="1821169" y="1631392"/>
                    <a:pt x="1806359" y="1631392"/>
                  </a:cubicBezTo>
                  <a:lnTo>
                    <a:pt x="55843" y="1631392"/>
                  </a:lnTo>
                  <a:cubicBezTo>
                    <a:pt x="41032" y="1631392"/>
                    <a:pt x="26828" y="1625509"/>
                    <a:pt x="16356" y="1615036"/>
                  </a:cubicBezTo>
                  <a:cubicBezTo>
                    <a:pt x="5883" y="1604563"/>
                    <a:pt x="0" y="1590360"/>
                    <a:pt x="0" y="1575549"/>
                  </a:cubicBezTo>
                  <a:lnTo>
                    <a:pt x="0" y="55843"/>
                  </a:lnTo>
                  <a:cubicBezTo>
                    <a:pt x="0" y="41032"/>
                    <a:pt x="5883" y="26828"/>
                    <a:pt x="16356" y="16356"/>
                  </a:cubicBezTo>
                  <a:cubicBezTo>
                    <a:pt x="26828" y="5883"/>
                    <a:pt x="41032" y="0"/>
                    <a:pt x="55843" y="0"/>
                  </a:cubicBezTo>
                  <a:close/>
                </a:path>
              </a:pathLst>
            </a:custGeom>
            <a:solidFill>
              <a:srgbClr val="F4F6FC"/>
            </a:solidFill>
          </p:spPr>
        </p:sp>
        <p:sp>
          <p:nvSpPr>
            <p:cNvPr name="TextBox 22" id="22"/>
            <p:cNvSpPr txBox="true"/>
            <p:nvPr/>
          </p:nvSpPr>
          <p:spPr>
            <a:xfrm>
              <a:off x="0" y="-47625"/>
              <a:ext cx="1862201" cy="1679017"/>
            </a:xfrm>
            <a:prstGeom prst="rect">
              <a:avLst/>
            </a:prstGeom>
          </p:spPr>
          <p:txBody>
            <a:bodyPr anchor="ctr" rtlCol="false" tIns="50800" lIns="50800" bIns="50800" rIns="50800"/>
            <a:lstStyle/>
            <a:p>
              <a:pPr algn="ctr">
                <a:lnSpc>
                  <a:spcPts val="3079"/>
                </a:lnSpc>
              </a:pPr>
            </a:p>
          </p:txBody>
        </p:sp>
      </p:grpSp>
      <p:sp>
        <p:nvSpPr>
          <p:cNvPr name="TextBox 23" id="23"/>
          <p:cNvSpPr txBox="true"/>
          <p:nvPr/>
        </p:nvSpPr>
        <p:spPr>
          <a:xfrm rot="0">
            <a:off x="10417906" y="3154700"/>
            <a:ext cx="6301619" cy="905510"/>
          </a:xfrm>
          <a:prstGeom prst="rect">
            <a:avLst/>
          </a:prstGeom>
        </p:spPr>
        <p:txBody>
          <a:bodyPr anchor="t" rtlCol="false" tIns="0" lIns="0" bIns="0" rIns="0">
            <a:spAutoFit/>
          </a:bodyPr>
          <a:lstStyle/>
          <a:p>
            <a:pPr algn="just">
              <a:lnSpc>
                <a:spcPts val="3640"/>
              </a:lnSpc>
              <a:spcBef>
                <a:spcPct val="0"/>
              </a:spcBef>
            </a:pPr>
            <a:r>
              <a:rPr lang="en-US" sz="2600">
                <a:solidFill>
                  <a:srgbClr val="000000"/>
                </a:solidFill>
                <a:latin typeface="HK Grotesk"/>
                <a:ea typeface="HK Grotesk"/>
                <a:cs typeface="HK Grotesk"/>
                <a:sym typeface="HK Grotesk"/>
              </a:rPr>
              <a:t>Optimiza el uso de memoria, ya que la última llamada en la función es la recursión.</a:t>
            </a:r>
          </a:p>
        </p:txBody>
      </p:sp>
      <p:sp>
        <p:nvSpPr>
          <p:cNvPr name="TextBox 24" id="24"/>
          <p:cNvSpPr txBox="true"/>
          <p:nvPr/>
        </p:nvSpPr>
        <p:spPr>
          <a:xfrm rot="0">
            <a:off x="10417906" y="2469966"/>
            <a:ext cx="6301619" cy="629921"/>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Recursión de Cola</a:t>
            </a:r>
          </a:p>
        </p:txBody>
      </p:sp>
      <p:sp>
        <p:nvSpPr>
          <p:cNvPr name="TextBox 25" id="25"/>
          <p:cNvSpPr txBox="true"/>
          <p:nvPr/>
        </p:nvSpPr>
        <p:spPr>
          <a:xfrm rot="0">
            <a:off x="1897451" y="4131264"/>
            <a:ext cx="6301619" cy="4058920"/>
          </a:xfrm>
          <a:prstGeom prst="rect">
            <a:avLst/>
          </a:prstGeom>
        </p:spPr>
        <p:txBody>
          <a:bodyPr anchor="t" rtlCol="false" tIns="0" lIns="0" bIns="0" rIns="0">
            <a:spAutoFit/>
          </a:bodyPr>
          <a:lstStyle/>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factorial(0, 1). % Caso base: factorial de 0 es 1 factorial(N, F) :-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     N &gt; 0,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     N1 is N - 1,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     factorial(N1, F1), % Llamada recursiva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     F is N * F1. </a:t>
            </a:r>
          </a:p>
          <a:p>
            <a:pPr algn="l">
              <a:lnSpc>
                <a:spcPts val="1399"/>
              </a:lnSpc>
              <a:spcBef>
                <a:spcPct val="0"/>
              </a:spcBef>
            </a:pPr>
          </a:p>
          <a:p>
            <a:pPr algn="just">
              <a:lnSpc>
                <a:spcPts val="2940"/>
              </a:lnSpc>
              <a:spcBef>
                <a:spcPct val="0"/>
              </a:spcBef>
            </a:pPr>
            <a:r>
              <a:rPr lang="en-US" sz="2100">
                <a:solidFill>
                  <a:srgbClr val="000000"/>
                </a:solidFill>
                <a:latin typeface="HK Grotesk"/>
                <a:ea typeface="HK Grotesk"/>
                <a:cs typeface="HK Grotesk"/>
                <a:sym typeface="HK Grotesk"/>
              </a:rPr>
              <a:t>Aquí, la llamada recursiva ocurre antes de la multiplicación. Esto requiere que el intérprete mantenga cada llamada en la pila, lo que puede provocar desbordamientos para valores grandes de N.</a:t>
            </a:r>
          </a:p>
        </p:txBody>
      </p:sp>
      <p:sp>
        <p:nvSpPr>
          <p:cNvPr name="TextBox 26" id="26"/>
          <p:cNvSpPr txBox="true"/>
          <p:nvPr/>
        </p:nvSpPr>
        <p:spPr>
          <a:xfrm rot="0">
            <a:off x="10417906" y="4228617"/>
            <a:ext cx="6301619" cy="3944620"/>
          </a:xfrm>
          <a:prstGeom prst="rect">
            <a:avLst/>
          </a:prstGeom>
        </p:spPr>
        <p:txBody>
          <a:bodyPr anchor="t" rtlCol="false" tIns="0" lIns="0" bIns="0" rIns="0">
            <a:spAutoFit/>
          </a:bodyPr>
          <a:lstStyle/>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factorial_tail(N, F) :- factorial_helper(N, 1, F). </a:t>
            </a:r>
          </a:p>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factorial_helper(0, Acc, Acc). % Caso base factorial_helper(N, Acc, F) :- </a:t>
            </a:r>
          </a:p>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     N &gt; 0, </a:t>
            </a:r>
          </a:p>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     N1 is N - 1, </a:t>
            </a:r>
          </a:p>
          <a:p>
            <a:pPr algn="l">
              <a:lnSpc>
                <a:spcPts val="3219"/>
              </a:lnSpc>
            </a:pPr>
            <a:r>
              <a:rPr lang="en-US" sz="2299" i="true" b="true">
                <a:solidFill>
                  <a:srgbClr val="000000"/>
                </a:solidFill>
                <a:latin typeface="HK Grotesk Medium Italics"/>
                <a:ea typeface="HK Grotesk Medium Italics"/>
                <a:cs typeface="HK Grotesk Medium Italics"/>
                <a:sym typeface="HK Grotesk Medium Italics"/>
              </a:rPr>
              <a:t>     Acc1 is Acc * N, </a:t>
            </a:r>
          </a:p>
          <a:p>
            <a:pPr algn="l">
              <a:lnSpc>
                <a:spcPts val="3219"/>
              </a:lnSpc>
              <a:spcBef>
                <a:spcPct val="0"/>
              </a:spcBef>
            </a:pPr>
            <a:r>
              <a:rPr lang="en-US" b="true" sz="2299" i="true">
                <a:solidFill>
                  <a:srgbClr val="000000"/>
                </a:solidFill>
                <a:latin typeface="HK Grotesk Medium Italics"/>
                <a:ea typeface="HK Grotesk Medium Italics"/>
                <a:cs typeface="HK Grotesk Medium Italics"/>
                <a:sym typeface="HK Grotesk Medium Italics"/>
              </a:rPr>
              <a:t>     factorial_helper(N1, Acc1, F). </a:t>
            </a:r>
          </a:p>
          <a:p>
            <a:pPr algn="l">
              <a:lnSpc>
                <a:spcPts val="3219"/>
              </a:lnSpc>
              <a:spcBef>
                <a:spcPct val="0"/>
              </a:spcBef>
            </a:pPr>
          </a:p>
          <a:p>
            <a:pPr algn="just">
              <a:lnSpc>
                <a:spcPts val="2940"/>
              </a:lnSpc>
              <a:spcBef>
                <a:spcPct val="0"/>
              </a:spcBef>
            </a:pPr>
            <a:r>
              <a:rPr lang="en-US" sz="2100">
                <a:solidFill>
                  <a:srgbClr val="000000"/>
                </a:solidFill>
                <a:latin typeface="HK Grotesk"/>
                <a:ea typeface="HK Grotesk"/>
                <a:cs typeface="HK Grotesk"/>
                <a:sym typeface="HK Grotesk"/>
              </a:rPr>
              <a:t>Acc actúa como un acumulador para llevar el resultado parcial.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1222573"/>
            <a:ext cx="15333028" cy="923925"/>
          </a:xfrm>
          <a:prstGeom prst="rect">
            <a:avLst/>
          </a:prstGeom>
        </p:spPr>
        <p:txBody>
          <a:bodyPr anchor="t" rtlCol="false" tIns="0" lIns="0" bIns="0" rIns="0">
            <a:spAutoFit/>
          </a:bodyPr>
          <a:lstStyle/>
          <a:p>
            <a:pPr algn="ctr">
              <a:lnSpc>
                <a:spcPts val="7200"/>
              </a:lnSpc>
            </a:pPr>
            <a:r>
              <a:rPr lang="en-US" b="true" sz="6000">
                <a:solidFill>
                  <a:srgbClr val="F4F6FC"/>
                </a:solidFill>
                <a:latin typeface="HK Grotesk Bold"/>
                <a:ea typeface="HK Grotesk Bold"/>
                <a:cs typeface="HK Grotesk Bold"/>
                <a:sym typeface="HK Grotesk Bold"/>
              </a:rPr>
              <a:t>Ventajas de la Recursión en Prolog</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496536" y="3088121"/>
            <a:ext cx="6973192" cy="1667255"/>
            <a:chOff x="0" y="0"/>
            <a:chExt cx="1836561" cy="439112"/>
          </a:xfrm>
        </p:grpSpPr>
        <p:sp>
          <p:nvSpPr>
            <p:cNvPr name="Freeform 15" id="15"/>
            <p:cNvSpPr/>
            <p:nvPr/>
          </p:nvSpPr>
          <p:spPr>
            <a:xfrm flipH="false" flipV="false" rot="0">
              <a:off x="0" y="0"/>
              <a:ext cx="1836561" cy="439112"/>
            </a:xfrm>
            <a:custGeom>
              <a:avLst/>
              <a:gdLst/>
              <a:ahLst/>
              <a:cxnLst/>
              <a:rect r="r" b="b" t="t" l="l"/>
              <a:pathLst>
                <a:path h="439112" w="1836561">
                  <a:moveTo>
                    <a:pt x="56622" y="0"/>
                  </a:moveTo>
                  <a:lnTo>
                    <a:pt x="1779938" y="0"/>
                  </a:lnTo>
                  <a:cubicBezTo>
                    <a:pt x="1811210" y="0"/>
                    <a:pt x="1836561" y="25351"/>
                    <a:pt x="1836561" y="56622"/>
                  </a:cubicBezTo>
                  <a:lnTo>
                    <a:pt x="1836561" y="382490"/>
                  </a:lnTo>
                  <a:cubicBezTo>
                    <a:pt x="1836561" y="413762"/>
                    <a:pt x="1811210" y="439112"/>
                    <a:pt x="1779938" y="439112"/>
                  </a:cubicBezTo>
                  <a:lnTo>
                    <a:pt x="56622" y="439112"/>
                  </a:lnTo>
                  <a:cubicBezTo>
                    <a:pt x="25351" y="439112"/>
                    <a:pt x="0" y="413762"/>
                    <a:pt x="0" y="382490"/>
                  </a:cubicBezTo>
                  <a:lnTo>
                    <a:pt x="0" y="56622"/>
                  </a:lnTo>
                  <a:cubicBezTo>
                    <a:pt x="0" y="25351"/>
                    <a:pt x="25351" y="0"/>
                    <a:pt x="56622" y="0"/>
                  </a:cubicBezTo>
                  <a:close/>
                </a:path>
              </a:pathLst>
            </a:custGeom>
            <a:solidFill>
              <a:srgbClr val="F4F6FC"/>
            </a:solidFill>
          </p:spPr>
        </p:sp>
        <p:sp>
          <p:nvSpPr>
            <p:cNvPr name="TextBox 16" id="16"/>
            <p:cNvSpPr txBox="true"/>
            <p:nvPr/>
          </p:nvSpPr>
          <p:spPr>
            <a:xfrm>
              <a:off x="0" y="-47625"/>
              <a:ext cx="1836561" cy="486737"/>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8" id="18"/>
          <p:cNvSpPr txBox="true"/>
          <p:nvPr/>
        </p:nvSpPr>
        <p:spPr>
          <a:xfrm rot="0">
            <a:off x="1897451" y="3219978"/>
            <a:ext cx="6301619" cy="1287146"/>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Se alinea con el paradigma declarativo</a:t>
            </a:r>
          </a:p>
        </p:txBody>
      </p:sp>
      <p:grpSp>
        <p:nvGrpSpPr>
          <p:cNvPr name="Group 19" id="19"/>
          <p:cNvGrpSpPr/>
          <p:nvPr/>
        </p:nvGrpSpPr>
        <p:grpSpPr>
          <a:xfrm rot="0">
            <a:off x="10033443" y="3088121"/>
            <a:ext cx="7070545" cy="1667255"/>
            <a:chOff x="0" y="0"/>
            <a:chExt cx="1862201" cy="439112"/>
          </a:xfrm>
        </p:grpSpPr>
        <p:sp>
          <p:nvSpPr>
            <p:cNvPr name="Freeform 20" id="20"/>
            <p:cNvSpPr/>
            <p:nvPr/>
          </p:nvSpPr>
          <p:spPr>
            <a:xfrm flipH="false" flipV="false" rot="0">
              <a:off x="0" y="0"/>
              <a:ext cx="1862201" cy="439112"/>
            </a:xfrm>
            <a:custGeom>
              <a:avLst/>
              <a:gdLst/>
              <a:ahLst/>
              <a:cxnLst/>
              <a:rect r="r" b="b" t="t" l="l"/>
              <a:pathLst>
                <a:path h="439112" w="1862201">
                  <a:moveTo>
                    <a:pt x="55843" y="0"/>
                  </a:moveTo>
                  <a:lnTo>
                    <a:pt x="1806359" y="0"/>
                  </a:lnTo>
                  <a:cubicBezTo>
                    <a:pt x="1821169" y="0"/>
                    <a:pt x="1835373" y="5883"/>
                    <a:pt x="1845845" y="16356"/>
                  </a:cubicBezTo>
                  <a:cubicBezTo>
                    <a:pt x="1856318" y="26828"/>
                    <a:pt x="1862201" y="41032"/>
                    <a:pt x="1862201" y="55843"/>
                  </a:cubicBezTo>
                  <a:lnTo>
                    <a:pt x="1862201" y="383270"/>
                  </a:lnTo>
                  <a:cubicBezTo>
                    <a:pt x="1862201" y="398080"/>
                    <a:pt x="1856318" y="412284"/>
                    <a:pt x="1845845" y="422756"/>
                  </a:cubicBezTo>
                  <a:cubicBezTo>
                    <a:pt x="1835373" y="433229"/>
                    <a:pt x="1821169" y="439112"/>
                    <a:pt x="1806359" y="439112"/>
                  </a:cubicBezTo>
                  <a:lnTo>
                    <a:pt x="55843" y="439112"/>
                  </a:lnTo>
                  <a:cubicBezTo>
                    <a:pt x="41032" y="439112"/>
                    <a:pt x="26828" y="433229"/>
                    <a:pt x="16356" y="422756"/>
                  </a:cubicBezTo>
                  <a:cubicBezTo>
                    <a:pt x="5883" y="412284"/>
                    <a:pt x="0" y="398080"/>
                    <a:pt x="0" y="383270"/>
                  </a:cubicBezTo>
                  <a:lnTo>
                    <a:pt x="0" y="55843"/>
                  </a:lnTo>
                  <a:cubicBezTo>
                    <a:pt x="0" y="41032"/>
                    <a:pt x="5883" y="26828"/>
                    <a:pt x="16356" y="16356"/>
                  </a:cubicBezTo>
                  <a:cubicBezTo>
                    <a:pt x="26828" y="5883"/>
                    <a:pt x="41032" y="0"/>
                    <a:pt x="55843" y="0"/>
                  </a:cubicBezTo>
                  <a:close/>
                </a:path>
              </a:pathLst>
            </a:custGeom>
            <a:solidFill>
              <a:srgbClr val="F4F6FC"/>
            </a:solidFill>
          </p:spPr>
        </p:sp>
        <p:sp>
          <p:nvSpPr>
            <p:cNvPr name="TextBox 21" id="21"/>
            <p:cNvSpPr txBox="true"/>
            <p:nvPr/>
          </p:nvSpPr>
          <p:spPr>
            <a:xfrm>
              <a:off x="0" y="-47625"/>
              <a:ext cx="1862201" cy="486737"/>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10417906" y="3219978"/>
            <a:ext cx="6301619" cy="1287146"/>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Permite expresar soluciones elegantes y concisas</a:t>
            </a:r>
          </a:p>
        </p:txBody>
      </p:sp>
      <p:grpSp>
        <p:nvGrpSpPr>
          <p:cNvPr name="Group 23" id="23"/>
          <p:cNvGrpSpPr/>
          <p:nvPr/>
        </p:nvGrpSpPr>
        <p:grpSpPr>
          <a:xfrm rot="0">
            <a:off x="5657404" y="6096223"/>
            <a:ext cx="6973192" cy="1667255"/>
            <a:chOff x="0" y="0"/>
            <a:chExt cx="1836561" cy="439112"/>
          </a:xfrm>
        </p:grpSpPr>
        <p:sp>
          <p:nvSpPr>
            <p:cNvPr name="Freeform 24" id="24"/>
            <p:cNvSpPr/>
            <p:nvPr/>
          </p:nvSpPr>
          <p:spPr>
            <a:xfrm flipH="false" flipV="false" rot="0">
              <a:off x="0" y="0"/>
              <a:ext cx="1836561" cy="439112"/>
            </a:xfrm>
            <a:custGeom>
              <a:avLst/>
              <a:gdLst/>
              <a:ahLst/>
              <a:cxnLst/>
              <a:rect r="r" b="b" t="t" l="l"/>
              <a:pathLst>
                <a:path h="439112" w="1836561">
                  <a:moveTo>
                    <a:pt x="56622" y="0"/>
                  </a:moveTo>
                  <a:lnTo>
                    <a:pt x="1779938" y="0"/>
                  </a:lnTo>
                  <a:cubicBezTo>
                    <a:pt x="1811210" y="0"/>
                    <a:pt x="1836561" y="25351"/>
                    <a:pt x="1836561" y="56622"/>
                  </a:cubicBezTo>
                  <a:lnTo>
                    <a:pt x="1836561" y="382490"/>
                  </a:lnTo>
                  <a:cubicBezTo>
                    <a:pt x="1836561" y="413762"/>
                    <a:pt x="1811210" y="439112"/>
                    <a:pt x="1779938" y="439112"/>
                  </a:cubicBezTo>
                  <a:lnTo>
                    <a:pt x="56622" y="439112"/>
                  </a:lnTo>
                  <a:cubicBezTo>
                    <a:pt x="25351" y="439112"/>
                    <a:pt x="0" y="413762"/>
                    <a:pt x="0" y="382490"/>
                  </a:cubicBezTo>
                  <a:lnTo>
                    <a:pt x="0" y="56622"/>
                  </a:lnTo>
                  <a:cubicBezTo>
                    <a:pt x="0" y="25351"/>
                    <a:pt x="25351" y="0"/>
                    <a:pt x="56622" y="0"/>
                  </a:cubicBezTo>
                  <a:close/>
                </a:path>
              </a:pathLst>
            </a:custGeom>
            <a:solidFill>
              <a:srgbClr val="F4F6FC"/>
            </a:solidFill>
          </p:spPr>
        </p:sp>
        <p:sp>
          <p:nvSpPr>
            <p:cNvPr name="TextBox 25" id="25"/>
            <p:cNvSpPr txBox="true"/>
            <p:nvPr/>
          </p:nvSpPr>
          <p:spPr>
            <a:xfrm>
              <a:off x="0" y="-47625"/>
              <a:ext cx="1836561" cy="486737"/>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6058320" y="6228080"/>
            <a:ext cx="6301619" cy="1287146"/>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Facilita el procesamiento de listas y estructuras anidadas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1222573"/>
            <a:ext cx="15333028" cy="923925"/>
          </a:xfrm>
          <a:prstGeom prst="rect">
            <a:avLst/>
          </a:prstGeom>
        </p:spPr>
        <p:txBody>
          <a:bodyPr anchor="t" rtlCol="false" tIns="0" lIns="0" bIns="0" rIns="0">
            <a:spAutoFit/>
          </a:bodyPr>
          <a:lstStyle/>
          <a:p>
            <a:pPr algn="ctr">
              <a:lnSpc>
                <a:spcPts val="7200"/>
              </a:lnSpc>
            </a:pPr>
            <a:r>
              <a:rPr lang="en-US" b="true" sz="6000">
                <a:solidFill>
                  <a:srgbClr val="F4F6FC"/>
                </a:solidFill>
                <a:latin typeface="HK Grotesk Bold"/>
                <a:ea typeface="HK Grotesk Bold"/>
                <a:cs typeface="HK Grotesk Bold"/>
                <a:sym typeface="HK Grotesk Bold"/>
              </a:rPr>
              <a:t>¿Cuándo usar recursión de cola?</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496536" y="3088121"/>
            <a:ext cx="6973192" cy="2202699"/>
            <a:chOff x="0" y="0"/>
            <a:chExt cx="1836561" cy="580135"/>
          </a:xfrm>
        </p:grpSpPr>
        <p:sp>
          <p:nvSpPr>
            <p:cNvPr name="Freeform 15" id="15"/>
            <p:cNvSpPr/>
            <p:nvPr/>
          </p:nvSpPr>
          <p:spPr>
            <a:xfrm flipH="false" flipV="false" rot="0">
              <a:off x="0" y="0"/>
              <a:ext cx="1836561" cy="580135"/>
            </a:xfrm>
            <a:custGeom>
              <a:avLst/>
              <a:gdLst/>
              <a:ahLst/>
              <a:cxnLst/>
              <a:rect r="r" b="b" t="t" l="l"/>
              <a:pathLst>
                <a:path h="580135" w="1836561">
                  <a:moveTo>
                    <a:pt x="56622" y="0"/>
                  </a:moveTo>
                  <a:lnTo>
                    <a:pt x="1779938" y="0"/>
                  </a:lnTo>
                  <a:cubicBezTo>
                    <a:pt x="1811210" y="0"/>
                    <a:pt x="1836561" y="25351"/>
                    <a:pt x="1836561" y="56622"/>
                  </a:cubicBezTo>
                  <a:lnTo>
                    <a:pt x="1836561" y="523512"/>
                  </a:lnTo>
                  <a:cubicBezTo>
                    <a:pt x="1836561" y="554784"/>
                    <a:pt x="1811210" y="580135"/>
                    <a:pt x="1779938" y="580135"/>
                  </a:cubicBezTo>
                  <a:lnTo>
                    <a:pt x="56622" y="580135"/>
                  </a:lnTo>
                  <a:cubicBezTo>
                    <a:pt x="25351" y="580135"/>
                    <a:pt x="0" y="554784"/>
                    <a:pt x="0" y="523512"/>
                  </a:cubicBezTo>
                  <a:lnTo>
                    <a:pt x="0" y="56622"/>
                  </a:lnTo>
                  <a:cubicBezTo>
                    <a:pt x="0" y="25351"/>
                    <a:pt x="25351" y="0"/>
                    <a:pt x="56622" y="0"/>
                  </a:cubicBezTo>
                  <a:close/>
                </a:path>
              </a:pathLst>
            </a:custGeom>
            <a:solidFill>
              <a:srgbClr val="F4F6FC"/>
            </a:solidFill>
          </p:spPr>
        </p:sp>
        <p:sp>
          <p:nvSpPr>
            <p:cNvPr name="TextBox 16" id="16"/>
            <p:cNvSpPr txBox="true"/>
            <p:nvPr/>
          </p:nvSpPr>
          <p:spPr>
            <a:xfrm>
              <a:off x="0" y="-47625"/>
              <a:ext cx="1836561" cy="627760"/>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8" id="18"/>
          <p:cNvSpPr txBox="true"/>
          <p:nvPr/>
        </p:nvSpPr>
        <p:spPr>
          <a:xfrm rot="0">
            <a:off x="1897451" y="3219978"/>
            <a:ext cx="6301619" cy="1944371"/>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Al procesar grandes volúmenes de datos o listas extensas.</a:t>
            </a:r>
          </a:p>
        </p:txBody>
      </p:sp>
      <p:grpSp>
        <p:nvGrpSpPr>
          <p:cNvPr name="Group 19" id="19"/>
          <p:cNvGrpSpPr/>
          <p:nvPr/>
        </p:nvGrpSpPr>
        <p:grpSpPr>
          <a:xfrm rot="0">
            <a:off x="10033443" y="3088121"/>
            <a:ext cx="7070545" cy="2202699"/>
            <a:chOff x="0" y="0"/>
            <a:chExt cx="1862201" cy="580135"/>
          </a:xfrm>
        </p:grpSpPr>
        <p:sp>
          <p:nvSpPr>
            <p:cNvPr name="Freeform 20" id="20"/>
            <p:cNvSpPr/>
            <p:nvPr/>
          </p:nvSpPr>
          <p:spPr>
            <a:xfrm flipH="false" flipV="false" rot="0">
              <a:off x="0" y="0"/>
              <a:ext cx="1862201" cy="580135"/>
            </a:xfrm>
            <a:custGeom>
              <a:avLst/>
              <a:gdLst/>
              <a:ahLst/>
              <a:cxnLst/>
              <a:rect r="r" b="b" t="t" l="l"/>
              <a:pathLst>
                <a:path h="580135" w="1862201">
                  <a:moveTo>
                    <a:pt x="55843" y="0"/>
                  </a:moveTo>
                  <a:lnTo>
                    <a:pt x="1806359" y="0"/>
                  </a:lnTo>
                  <a:cubicBezTo>
                    <a:pt x="1821169" y="0"/>
                    <a:pt x="1835373" y="5883"/>
                    <a:pt x="1845845" y="16356"/>
                  </a:cubicBezTo>
                  <a:cubicBezTo>
                    <a:pt x="1856318" y="26828"/>
                    <a:pt x="1862201" y="41032"/>
                    <a:pt x="1862201" y="55843"/>
                  </a:cubicBezTo>
                  <a:lnTo>
                    <a:pt x="1862201" y="524292"/>
                  </a:lnTo>
                  <a:cubicBezTo>
                    <a:pt x="1862201" y="539102"/>
                    <a:pt x="1856318" y="553306"/>
                    <a:pt x="1845845" y="563779"/>
                  </a:cubicBezTo>
                  <a:cubicBezTo>
                    <a:pt x="1835373" y="574251"/>
                    <a:pt x="1821169" y="580135"/>
                    <a:pt x="1806359" y="580135"/>
                  </a:cubicBezTo>
                  <a:lnTo>
                    <a:pt x="55843" y="580135"/>
                  </a:lnTo>
                  <a:cubicBezTo>
                    <a:pt x="41032" y="580135"/>
                    <a:pt x="26828" y="574251"/>
                    <a:pt x="16356" y="563779"/>
                  </a:cubicBezTo>
                  <a:cubicBezTo>
                    <a:pt x="5883" y="553306"/>
                    <a:pt x="0" y="539102"/>
                    <a:pt x="0" y="524292"/>
                  </a:cubicBezTo>
                  <a:lnTo>
                    <a:pt x="0" y="55843"/>
                  </a:lnTo>
                  <a:cubicBezTo>
                    <a:pt x="0" y="41032"/>
                    <a:pt x="5883" y="26828"/>
                    <a:pt x="16356" y="16356"/>
                  </a:cubicBezTo>
                  <a:cubicBezTo>
                    <a:pt x="26828" y="5883"/>
                    <a:pt x="41032" y="0"/>
                    <a:pt x="55843" y="0"/>
                  </a:cubicBezTo>
                  <a:close/>
                </a:path>
              </a:pathLst>
            </a:custGeom>
            <a:solidFill>
              <a:srgbClr val="F4F6FC"/>
            </a:solidFill>
          </p:spPr>
        </p:sp>
        <p:sp>
          <p:nvSpPr>
            <p:cNvPr name="TextBox 21" id="21"/>
            <p:cNvSpPr txBox="true"/>
            <p:nvPr/>
          </p:nvSpPr>
          <p:spPr>
            <a:xfrm>
              <a:off x="0" y="-47625"/>
              <a:ext cx="1862201" cy="62776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10417906" y="3548590"/>
            <a:ext cx="6301619" cy="1287146"/>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Para evitar el uso excesivo de pila.</a:t>
            </a:r>
          </a:p>
        </p:txBody>
      </p:sp>
      <p:grpSp>
        <p:nvGrpSpPr>
          <p:cNvPr name="Group 23" id="23"/>
          <p:cNvGrpSpPr/>
          <p:nvPr/>
        </p:nvGrpSpPr>
        <p:grpSpPr>
          <a:xfrm rot="0">
            <a:off x="5657404" y="6096223"/>
            <a:ext cx="6973192" cy="2173581"/>
            <a:chOff x="0" y="0"/>
            <a:chExt cx="1836561" cy="572466"/>
          </a:xfrm>
        </p:grpSpPr>
        <p:sp>
          <p:nvSpPr>
            <p:cNvPr name="Freeform 24" id="24"/>
            <p:cNvSpPr/>
            <p:nvPr/>
          </p:nvSpPr>
          <p:spPr>
            <a:xfrm flipH="false" flipV="false" rot="0">
              <a:off x="0" y="0"/>
              <a:ext cx="1836561" cy="572466"/>
            </a:xfrm>
            <a:custGeom>
              <a:avLst/>
              <a:gdLst/>
              <a:ahLst/>
              <a:cxnLst/>
              <a:rect r="r" b="b" t="t" l="l"/>
              <a:pathLst>
                <a:path h="572466" w="1836561">
                  <a:moveTo>
                    <a:pt x="56622" y="0"/>
                  </a:moveTo>
                  <a:lnTo>
                    <a:pt x="1779938" y="0"/>
                  </a:lnTo>
                  <a:cubicBezTo>
                    <a:pt x="1811210" y="0"/>
                    <a:pt x="1836561" y="25351"/>
                    <a:pt x="1836561" y="56622"/>
                  </a:cubicBezTo>
                  <a:lnTo>
                    <a:pt x="1836561" y="515844"/>
                  </a:lnTo>
                  <a:cubicBezTo>
                    <a:pt x="1836561" y="547115"/>
                    <a:pt x="1811210" y="572466"/>
                    <a:pt x="1779938" y="572466"/>
                  </a:cubicBezTo>
                  <a:lnTo>
                    <a:pt x="56622" y="572466"/>
                  </a:lnTo>
                  <a:cubicBezTo>
                    <a:pt x="25351" y="572466"/>
                    <a:pt x="0" y="547115"/>
                    <a:pt x="0" y="515844"/>
                  </a:cubicBezTo>
                  <a:lnTo>
                    <a:pt x="0" y="56622"/>
                  </a:lnTo>
                  <a:cubicBezTo>
                    <a:pt x="0" y="25351"/>
                    <a:pt x="25351" y="0"/>
                    <a:pt x="56622" y="0"/>
                  </a:cubicBezTo>
                  <a:close/>
                </a:path>
              </a:pathLst>
            </a:custGeom>
            <a:solidFill>
              <a:srgbClr val="F4F6FC"/>
            </a:solidFill>
          </p:spPr>
        </p:sp>
        <p:sp>
          <p:nvSpPr>
            <p:cNvPr name="TextBox 25" id="25"/>
            <p:cNvSpPr txBox="true"/>
            <p:nvPr/>
          </p:nvSpPr>
          <p:spPr>
            <a:xfrm>
              <a:off x="0" y="-47625"/>
              <a:ext cx="1836561" cy="620091"/>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6058320" y="6228080"/>
            <a:ext cx="6301619" cy="1944371"/>
          </a:xfrm>
          <a:prstGeom prst="rect">
            <a:avLst/>
          </a:prstGeom>
        </p:spPr>
        <p:txBody>
          <a:bodyPr anchor="t" rtlCol="false" tIns="0" lIns="0" bIns="0" rIns="0">
            <a:spAutoFit/>
          </a:bodyPr>
          <a:lstStyle/>
          <a:p>
            <a:pPr algn="ctr">
              <a:lnSpc>
                <a:spcPts val="5179"/>
              </a:lnSpc>
              <a:spcBef>
                <a:spcPct val="0"/>
              </a:spcBef>
            </a:pPr>
            <a:r>
              <a:rPr lang="en-US" b="true" sz="3699">
                <a:solidFill>
                  <a:srgbClr val="222222"/>
                </a:solidFill>
                <a:latin typeface="HK Grotesk Bold"/>
                <a:ea typeface="HK Grotesk Bold"/>
                <a:cs typeface="HK Grotesk Bold"/>
                <a:sym typeface="HK Grotesk Bold"/>
              </a:rPr>
              <a:t>Siempre que sea posible, ya que mejora el rendimiento y eficiencia.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705467"/>
            <a:ext cx="13503315" cy="994791"/>
          </a:xfrm>
          <a:prstGeom prst="rect">
            <a:avLst/>
          </a:prstGeom>
        </p:spPr>
        <p:txBody>
          <a:bodyPr anchor="t" rtlCol="false" tIns="0" lIns="0" bIns="0" rIns="0">
            <a:spAutoFit/>
          </a:bodyPr>
          <a:lstStyle/>
          <a:p>
            <a:pPr algn="ctr">
              <a:lnSpc>
                <a:spcPts val="7797"/>
              </a:lnSpc>
            </a:pPr>
            <a:r>
              <a:rPr lang="en-US" b="true" sz="6900">
                <a:solidFill>
                  <a:srgbClr val="050A30"/>
                </a:solidFill>
                <a:latin typeface="HK Grotesk Bold"/>
                <a:ea typeface="HK Grotesk Bold"/>
                <a:cs typeface="HK Grotesk Bold"/>
                <a:sym typeface="HK Grotesk Bold"/>
              </a:rPr>
              <a:t>Conceptos Clave Aprendidos </a:t>
            </a:r>
          </a:p>
        </p:txBody>
      </p:sp>
      <p:sp>
        <p:nvSpPr>
          <p:cNvPr name="TextBox 13" id="13"/>
          <p:cNvSpPr txBox="true"/>
          <p:nvPr/>
        </p:nvSpPr>
        <p:spPr>
          <a:xfrm rot="0">
            <a:off x="1264565" y="1795508"/>
            <a:ext cx="15758869" cy="7458074"/>
          </a:xfrm>
          <a:prstGeom prst="rect">
            <a:avLst/>
          </a:prstGeom>
        </p:spPr>
        <p:txBody>
          <a:bodyPr anchor="t" rtlCol="false" tIns="0" lIns="0" bIns="0" rIns="0">
            <a:spAutoFit/>
          </a:bodyPr>
          <a:lstStyle/>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Corte en Prolog: </a:t>
            </a:r>
            <a:r>
              <a:rPr lang="en-US" sz="3000" spc="240">
                <a:solidFill>
                  <a:srgbClr val="050A30"/>
                </a:solidFill>
                <a:latin typeface="HK Grotesk"/>
                <a:ea typeface="HK Grotesk"/>
                <a:cs typeface="HK Grotesk"/>
                <a:sym typeface="HK Grotesk"/>
              </a:rPr>
              <a:t>El corte (!) controla el retroceso en la ejecución. El cort</a:t>
            </a:r>
            <a:r>
              <a:rPr lang="en-US" sz="3000" spc="240">
                <a:solidFill>
                  <a:srgbClr val="050A30"/>
                </a:solidFill>
                <a:latin typeface="HK Grotesk"/>
                <a:ea typeface="HK Grotesk"/>
                <a:cs typeface="HK Grotesk"/>
                <a:sym typeface="HK Grotesk"/>
              </a:rPr>
              <a:t>e verde mejora la eficiencia sin cambiar la lógica. El corte rojo modifica la lógica del programa y debe usarse con precaución.</a:t>
            </a:r>
          </a:p>
          <a:p>
            <a:pPr algn="just">
              <a:lnSpc>
                <a:spcPts val="4200"/>
              </a:lnSpc>
            </a:pPr>
          </a:p>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Negació</a:t>
            </a:r>
            <a:r>
              <a:rPr lang="en-US" b="true" sz="3000" spc="240">
                <a:solidFill>
                  <a:srgbClr val="050A30"/>
                </a:solidFill>
                <a:latin typeface="HK Grotesk Bold"/>
                <a:ea typeface="HK Grotesk Bold"/>
                <a:cs typeface="HK Grotesk Bold"/>
                <a:sym typeface="HK Grotesk Bold"/>
              </a:rPr>
              <a:t>n como Falla: </a:t>
            </a:r>
            <a:r>
              <a:rPr lang="en-US" sz="3000" spc="240">
                <a:solidFill>
                  <a:srgbClr val="050A30"/>
                </a:solidFill>
                <a:latin typeface="HK Grotesk"/>
                <a:ea typeface="HK Grotesk"/>
                <a:cs typeface="HK Grotesk"/>
                <a:sym typeface="HK Grotesk"/>
              </a:rPr>
              <a:t>Prolog usa \+ para negar: algo es falso si no se puede probar como verdadero. No es lógica clásica y tiene limitaciones con variables no instanciadas.</a:t>
            </a:r>
          </a:p>
          <a:p>
            <a:pPr algn="just">
              <a:lnSpc>
                <a:spcPts val="4200"/>
              </a:lnSpc>
            </a:pPr>
          </a:p>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Recursión: </a:t>
            </a:r>
            <a:r>
              <a:rPr lang="en-US" sz="3000" spc="240">
                <a:solidFill>
                  <a:srgbClr val="050A30"/>
                </a:solidFill>
                <a:latin typeface="HK Grotesk"/>
                <a:ea typeface="HK Grotesk"/>
                <a:cs typeface="HK Grotesk"/>
                <a:sym typeface="HK Grotesk"/>
              </a:rPr>
              <a:t>Prolog utiliza recursión en lugar de bucles. La recursión directa es más simple, pero la de cola es más eficiente y evita problemas de memoria.</a:t>
            </a:r>
          </a:p>
          <a:p>
            <a:pPr algn="just">
              <a:lnSpc>
                <a:spcPts val="4200"/>
              </a:lnSpc>
            </a:pPr>
          </a:p>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Paradigma Declarativo</a:t>
            </a:r>
            <a:r>
              <a:rPr lang="en-US" b="true" sz="3000" spc="240">
                <a:solidFill>
                  <a:srgbClr val="050A30"/>
                </a:solidFill>
                <a:latin typeface="HK Grotesk Bold"/>
                <a:ea typeface="HK Grotesk Bold"/>
                <a:cs typeface="HK Grotesk Bold"/>
                <a:sym typeface="HK Grotesk Bold"/>
              </a:rPr>
              <a:t> y S</a:t>
            </a:r>
            <a:r>
              <a:rPr lang="en-US" b="true" sz="3000" spc="240">
                <a:solidFill>
                  <a:srgbClr val="050A30"/>
                </a:solidFill>
                <a:latin typeface="HK Grotesk Bold"/>
                <a:ea typeface="HK Grotesk Bold"/>
                <a:cs typeface="HK Grotesk Bold"/>
                <a:sym typeface="HK Grotesk Bold"/>
              </a:rPr>
              <a:t>imulación: </a:t>
            </a:r>
            <a:r>
              <a:rPr lang="en-US" sz="3000" spc="240">
                <a:solidFill>
                  <a:srgbClr val="050A30"/>
                </a:solidFill>
                <a:latin typeface="HK Grotesk"/>
                <a:ea typeface="HK Grotesk"/>
                <a:cs typeface="HK Grotesk"/>
                <a:sym typeface="HK Grotesk"/>
              </a:rPr>
              <a:t>Prolog describe lo que se quiere lograr, no cómo. Es útil en IA y simulaciones por su enfoque lógico y expresivo.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CAE8FF"/>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CAE8FF"/>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712826"/>
            <a:ext cx="13503315" cy="994791"/>
          </a:xfrm>
          <a:prstGeom prst="rect">
            <a:avLst/>
          </a:prstGeom>
        </p:spPr>
        <p:txBody>
          <a:bodyPr anchor="t" rtlCol="false" tIns="0" lIns="0" bIns="0" rIns="0">
            <a:spAutoFit/>
          </a:bodyPr>
          <a:lstStyle/>
          <a:p>
            <a:pPr algn="ctr">
              <a:lnSpc>
                <a:spcPts val="7797"/>
              </a:lnSpc>
            </a:pPr>
            <a:r>
              <a:rPr lang="en-US" b="true" sz="6900">
                <a:solidFill>
                  <a:srgbClr val="F4F6FC"/>
                </a:solidFill>
                <a:latin typeface="HK Grotesk Bold"/>
                <a:ea typeface="HK Grotesk Bold"/>
                <a:cs typeface="HK Grotesk Bold"/>
                <a:sym typeface="HK Grotesk Bold"/>
              </a:rPr>
              <a:t>Valores y Actitudes</a:t>
            </a:r>
          </a:p>
        </p:txBody>
      </p:sp>
      <p:sp>
        <p:nvSpPr>
          <p:cNvPr name="TextBox 13" id="13"/>
          <p:cNvSpPr txBox="true"/>
          <p:nvPr/>
        </p:nvSpPr>
        <p:spPr>
          <a:xfrm rot="0">
            <a:off x="2027167" y="2495114"/>
            <a:ext cx="14233665" cy="5434329"/>
          </a:xfrm>
          <a:prstGeom prst="rect">
            <a:avLst/>
          </a:prstGeom>
        </p:spPr>
        <p:txBody>
          <a:bodyPr anchor="t" rtlCol="false" tIns="0" lIns="0" bIns="0" rIns="0">
            <a:spAutoFit/>
          </a:bodyPr>
          <a:lstStyle/>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Responsabilidad Ética: </a:t>
            </a:r>
            <a:r>
              <a:rPr lang="en-US" sz="2800">
                <a:solidFill>
                  <a:srgbClr val="F4F6FC"/>
                </a:solidFill>
                <a:latin typeface="HK Grotesk"/>
                <a:ea typeface="HK Grotesk"/>
                <a:cs typeface="HK Grotesk"/>
                <a:sym typeface="HK Grotesk"/>
              </a:rPr>
              <a:t>Aplicar la lógica con conciencia del impacto tecnológico.</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Razonamiento Crítico: </a:t>
            </a:r>
            <a:r>
              <a:rPr lang="en-US" sz="2800">
                <a:solidFill>
                  <a:srgbClr val="F4F6FC"/>
                </a:solidFill>
                <a:latin typeface="HK Grotesk"/>
                <a:ea typeface="HK Grotesk"/>
                <a:cs typeface="HK Grotesk"/>
                <a:sym typeface="HK Grotesk"/>
              </a:rPr>
              <a:t>Pensar con lógica y coherencia para resolver problemas.</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Precaución Técnica: </a:t>
            </a:r>
            <a:r>
              <a:rPr lang="en-US" sz="2800">
                <a:solidFill>
                  <a:srgbClr val="F4F6FC"/>
                </a:solidFill>
                <a:latin typeface="HK Grotesk"/>
                <a:ea typeface="HK Grotesk"/>
                <a:cs typeface="HK Grotesk"/>
                <a:sym typeface="HK Grotesk"/>
              </a:rPr>
              <a:t>Usar herramientas como el cort</a:t>
            </a:r>
            <a:r>
              <a:rPr lang="en-US" sz="2800">
                <a:solidFill>
                  <a:srgbClr val="F4F6FC"/>
                </a:solidFill>
                <a:latin typeface="HK Grotesk"/>
                <a:ea typeface="HK Grotesk"/>
                <a:cs typeface="HK Grotesk"/>
                <a:sym typeface="HK Grotesk"/>
              </a:rPr>
              <a:t>e con responsabilidad.</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Curios</a:t>
            </a:r>
            <a:r>
              <a:rPr lang="en-US" b="true" sz="2800">
                <a:solidFill>
                  <a:srgbClr val="F4F6FC"/>
                </a:solidFill>
                <a:latin typeface="HK Grotesk Bold"/>
                <a:ea typeface="HK Grotesk Bold"/>
                <a:cs typeface="HK Grotesk Bold"/>
                <a:sym typeface="HK Grotesk Bold"/>
              </a:rPr>
              <a:t>idad y Aprendizaje: </a:t>
            </a:r>
            <a:r>
              <a:rPr lang="en-US" sz="2800">
                <a:solidFill>
                  <a:srgbClr val="F4F6FC"/>
                </a:solidFill>
                <a:latin typeface="HK Grotesk"/>
                <a:ea typeface="HK Grotesk"/>
                <a:cs typeface="HK Grotesk"/>
                <a:sym typeface="HK Grotesk"/>
              </a:rPr>
              <a:t>Explorar nuevos lenguajes y herramientas con iniciativa.</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Creatividad Lógica: </a:t>
            </a:r>
            <a:r>
              <a:rPr lang="en-US" sz="2800">
                <a:solidFill>
                  <a:srgbClr val="F4F6FC"/>
                </a:solidFill>
                <a:latin typeface="HK Grotesk"/>
                <a:ea typeface="HK Grotesk"/>
                <a:cs typeface="HK Grotesk"/>
                <a:sym typeface="HK Grotesk"/>
              </a:rPr>
              <a:t>Diseñar soluciones eficientes con reglas y recursión.</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Trabajo en Equipo: </a:t>
            </a:r>
            <a:r>
              <a:rPr lang="en-US" sz="2800">
                <a:solidFill>
                  <a:srgbClr val="F4F6FC"/>
                </a:solidFill>
                <a:latin typeface="HK Grotesk"/>
                <a:ea typeface="HK Grotesk"/>
                <a:cs typeface="HK Grotesk"/>
                <a:sym typeface="HK Grotesk"/>
              </a:rPr>
              <a:t>Colaborar activamente en entornos multidisciplinarios.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CAE8FF"/>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1673265"/>
            <a:ext cx="13503315" cy="994791"/>
          </a:xfrm>
          <a:prstGeom prst="rect">
            <a:avLst/>
          </a:prstGeom>
        </p:spPr>
        <p:txBody>
          <a:bodyPr anchor="t" rtlCol="false" tIns="0" lIns="0" bIns="0" rIns="0">
            <a:spAutoFit/>
          </a:bodyPr>
          <a:lstStyle/>
          <a:p>
            <a:pPr algn="ctr">
              <a:lnSpc>
                <a:spcPts val="7797"/>
              </a:lnSpc>
            </a:pPr>
            <a:r>
              <a:rPr lang="en-US" b="true" sz="6900">
                <a:solidFill>
                  <a:srgbClr val="050A30"/>
                </a:solidFill>
                <a:latin typeface="HK Grotesk Bold"/>
                <a:ea typeface="HK Grotesk Bold"/>
                <a:cs typeface="HK Grotesk Bold"/>
                <a:sym typeface="HK Grotesk Bold"/>
              </a:rPr>
              <a:t>Referencias</a:t>
            </a:r>
          </a:p>
        </p:txBody>
      </p:sp>
      <p:sp>
        <p:nvSpPr>
          <p:cNvPr name="TextBox 13" id="13"/>
          <p:cNvSpPr txBox="true"/>
          <p:nvPr/>
        </p:nvSpPr>
        <p:spPr>
          <a:xfrm rot="0">
            <a:off x="2027167" y="3745346"/>
            <a:ext cx="14233665" cy="2957829"/>
          </a:xfrm>
          <a:prstGeom prst="rect">
            <a:avLst/>
          </a:prstGeom>
        </p:spPr>
        <p:txBody>
          <a:bodyPr anchor="t" rtlCol="false" tIns="0" lIns="0" bIns="0" rIns="0">
            <a:spAutoFit/>
          </a:bodyPr>
          <a:lstStyle/>
          <a:p>
            <a:pPr algn="just" marL="604532" indent="-302266" lvl="1">
              <a:lnSpc>
                <a:spcPts val="3920"/>
              </a:lnSpc>
              <a:spcBef>
                <a:spcPct val="0"/>
              </a:spcBef>
              <a:buFont typeface="Arial"/>
              <a:buChar char="•"/>
            </a:pPr>
            <a:r>
              <a:rPr lang="en-US" b="true" sz="2800">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u</a:t>
            </a:r>
            <a:r>
              <a:rPr lang="en-US" b="true" sz="2800" strike="noStrike" u="none">
                <a:solidFill>
                  <a:srgbClr val="222222"/>
                </a:solidFill>
                <a:latin typeface="HK Grotesk Medium"/>
                <a:ea typeface="HK Grotesk Medium"/>
                <a:cs typeface="HK Grotesk Medium"/>
                <a:sym typeface="HK Grotesk Medium"/>
              </a:rPr>
              <a:t>ssell</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S., &amp; Norvig, P</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20</a:t>
            </a:r>
            <a:r>
              <a:rPr lang="en-US" b="true" sz="2800" strike="noStrike" u="none">
                <a:solidFill>
                  <a:srgbClr val="222222"/>
                </a:solidFill>
                <a:latin typeface="HK Grotesk Medium"/>
                <a:ea typeface="HK Grotesk Medium"/>
                <a:cs typeface="HK Grotesk Medium"/>
                <a:sym typeface="HK Grotesk Medium"/>
              </a:rPr>
              <a:t>1</a:t>
            </a:r>
            <a:r>
              <a:rPr lang="en-US" b="true" sz="2800" strike="noStrike" u="none">
                <a:solidFill>
                  <a:srgbClr val="222222"/>
                </a:solidFill>
                <a:latin typeface="HK Grotesk Medium"/>
                <a:ea typeface="HK Grotesk Medium"/>
                <a:cs typeface="HK Grotesk Medium"/>
                <a:sym typeface="HK Grotesk Medium"/>
              </a:rPr>
              <a:t>6</a:t>
            </a:r>
            <a:r>
              <a:rPr lang="en-US" b="true" sz="2800" strike="noStrike" u="none">
                <a:solidFill>
                  <a:srgbClr val="222222"/>
                </a:solidFill>
                <a:latin typeface="HK Grotesk Medium"/>
                <a:ea typeface="HK Grotesk Medium"/>
                <a:cs typeface="HK Grotesk Medium"/>
                <a:sym typeface="HK Grotesk Medium"/>
              </a:rPr>
              <a:t>). Ar</a:t>
            </a:r>
            <a:r>
              <a:rPr lang="en-US" b="true" sz="2800" strike="noStrike" u="none">
                <a:solidFill>
                  <a:srgbClr val="222222"/>
                </a:solidFill>
                <a:latin typeface="HK Grotesk Medium"/>
                <a:ea typeface="HK Grotesk Medium"/>
                <a:cs typeface="HK Grotesk Medium"/>
                <a:sym typeface="HK Grotesk Medium"/>
              </a:rPr>
              <a:t>ti</a:t>
            </a:r>
            <a:r>
              <a:rPr lang="en-US" b="true" sz="2800" strike="noStrike" u="none">
                <a:solidFill>
                  <a:srgbClr val="222222"/>
                </a:solidFill>
                <a:latin typeface="HK Grotesk Medium"/>
                <a:ea typeface="HK Grotesk Medium"/>
                <a:cs typeface="HK Grotesk Medium"/>
                <a:sym typeface="HK Grotesk Medium"/>
              </a:rPr>
              <a:t>f</a:t>
            </a:r>
            <a:r>
              <a:rPr lang="en-US" b="true" sz="2800" strike="noStrike" u="none">
                <a:solidFill>
                  <a:srgbClr val="222222"/>
                </a:solidFill>
                <a:latin typeface="HK Grotesk Medium"/>
                <a:ea typeface="HK Grotesk Medium"/>
                <a:cs typeface="HK Grotesk Medium"/>
                <a:sym typeface="HK Grotesk Medium"/>
              </a:rPr>
              <a:t>icial</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I</a:t>
            </a:r>
            <a:r>
              <a:rPr lang="en-US" b="true" sz="2800" strike="noStrike" u="none">
                <a:solidFill>
                  <a:srgbClr val="222222"/>
                </a:solidFill>
                <a:latin typeface="HK Grotesk Medium"/>
                <a:ea typeface="HK Grotesk Medium"/>
                <a:cs typeface="HK Grotesk Medium"/>
                <a:sym typeface="HK Grotesk Medium"/>
              </a:rPr>
              <a:t>nte</a:t>
            </a:r>
            <a:r>
              <a:rPr lang="en-US" b="true" sz="2800" strike="noStrike" u="none">
                <a:solidFill>
                  <a:srgbClr val="222222"/>
                </a:solidFill>
                <a:latin typeface="HK Grotesk Medium"/>
                <a:ea typeface="HK Grotesk Medium"/>
                <a:cs typeface="HK Grotesk Medium"/>
                <a:sym typeface="HK Grotesk Medium"/>
              </a:rPr>
              <a:t>l</a:t>
            </a:r>
            <a:r>
              <a:rPr lang="en-US" b="true" sz="2800" strike="noStrike" u="none">
                <a:solidFill>
                  <a:srgbClr val="222222"/>
                </a:solidFill>
                <a:latin typeface="HK Grotesk Medium"/>
                <a:ea typeface="HK Grotesk Medium"/>
                <a:cs typeface="HK Grotesk Medium"/>
                <a:sym typeface="HK Grotesk Medium"/>
              </a:rPr>
              <a:t>li</a:t>
            </a:r>
            <a:r>
              <a:rPr lang="en-US" b="true" sz="2800" strike="noStrike" u="none">
                <a:solidFill>
                  <a:srgbClr val="222222"/>
                </a:solidFill>
                <a:latin typeface="HK Grotesk Medium"/>
                <a:ea typeface="HK Grotesk Medium"/>
                <a:cs typeface="HK Grotesk Medium"/>
                <a:sym typeface="HK Grotesk Medium"/>
              </a:rPr>
              <a:t>g</a:t>
            </a:r>
            <a:r>
              <a:rPr lang="en-US" b="true" sz="2800" strike="noStrike" u="none">
                <a:solidFill>
                  <a:srgbClr val="222222"/>
                </a:solidFill>
                <a:latin typeface="HK Grotesk Medium"/>
                <a:ea typeface="HK Grotesk Medium"/>
                <a:cs typeface="HK Grotesk Medium"/>
                <a:sym typeface="HK Grotesk Medium"/>
              </a:rPr>
              <a:t>ence: </a:t>
            </a:r>
            <a:r>
              <a:rPr lang="en-US" b="true" sz="2800" strike="noStrike" u="none">
                <a:solidFill>
                  <a:srgbClr val="222222"/>
                </a:solidFill>
                <a:latin typeface="HK Grotesk Medium"/>
                <a:ea typeface="HK Grotesk Medium"/>
                <a:cs typeface="HK Grotesk Medium"/>
                <a:sym typeface="HK Grotesk Medium"/>
              </a:rPr>
              <a:t>A M</a:t>
            </a:r>
            <a:r>
              <a:rPr lang="en-US" b="true" sz="2800" strike="noStrike" u="none">
                <a:solidFill>
                  <a:srgbClr val="222222"/>
                </a:solidFill>
                <a:latin typeface="HK Grotesk Medium"/>
                <a:ea typeface="HK Grotesk Medium"/>
                <a:cs typeface="HK Grotesk Medium"/>
                <a:sym typeface="HK Grotesk Medium"/>
              </a:rPr>
              <a:t>o</a:t>
            </a:r>
            <a:r>
              <a:rPr lang="en-US" b="true" sz="2800" strike="noStrike" u="none">
                <a:solidFill>
                  <a:srgbClr val="222222"/>
                </a:solidFill>
                <a:latin typeface="HK Grotesk Medium"/>
                <a:ea typeface="HK Grotesk Medium"/>
                <a:cs typeface="HK Grotesk Medium"/>
                <a:sym typeface="HK Grotesk Medium"/>
              </a:rPr>
              <a:t>dern A</a:t>
            </a:r>
            <a:r>
              <a:rPr lang="en-US" b="true" sz="2800" strike="noStrike" u="none">
                <a:solidFill>
                  <a:srgbClr val="222222"/>
                </a:solidFill>
                <a:latin typeface="HK Grotesk Medium"/>
                <a:ea typeface="HK Grotesk Medium"/>
                <a:cs typeface="HK Grotesk Medium"/>
                <a:sym typeface="HK Grotesk Medium"/>
              </a:rPr>
              <a:t>p</a:t>
            </a:r>
            <a:r>
              <a:rPr lang="en-US" b="true" sz="2800" strike="noStrike" u="none">
                <a:solidFill>
                  <a:srgbClr val="222222"/>
                </a:solidFill>
                <a:latin typeface="HK Grotesk Medium"/>
                <a:ea typeface="HK Grotesk Medium"/>
                <a:cs typeface="HK Grotesk Medium"/>
                <a:sym typeface="HK Grotesk Medium"/>
              </a:rPr>
              <a:t>p</a:t>
            </a:r>
            <a:r>
              <a:rPr lang="en-US" b="true" sz="2800" strike="noStrike" u="none">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o</a:t>
            </a:r>
            <a:r>
              <a:rPr lang="en-US" b="true" sz="2800" strike="noStrike" u="none">
                <a:solidFill>
                  <a:srgbClr val="222222"/>
                </a:solidFill>
                <a:latin typeface="HK Grotesk Medium"/>
                <a:ea typeface="HK Grotesk Medium"/>
                <a:cs typeface="HK Grotesk Medium"/>
                <a:sym typeface="HK Grotesk Medium"/>
              </a:rPr>
              <a:t>a</a:t>
            </a:r>
            <a:r>
              <a:rPr lang="en-US" b="true" sz="2800" strike="noStrike" u="none">
                <a:solidFill>
                  <a:srgbClr val="222222"/>
                </a:solidFill>
                <a:latin typeface="HK Grotesk Medium"/>
                <a:ea typeface="HK Grotesk Medium"/>
                <a:cs typeface="HK Grotesk Medium"/>
                <a:sym typeface="HK Grotesk Medium"/>
              </a:rPr>
              <a:t>ch (3</a:t>
            </a:r>
            <a:r>
              <a:rPr lang="en-US" b="true" sz="2800" strike="noStrike" u="none">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d</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e</a:t>
            </a:r>
            <a:r>
              <a:rPr lang="en-US" b="true" sz="2800" strike="noStrike" u="none">
                <a:solidFill>
                  <a:srgbClr val="222222"/>
                </a:solidFill>
                <a:latin typeface="HK Grotesk Medium"/>
                <a:ea typeface="HK Grotesk Medium"/>
                <a:cs typeface="HK Grotesk Medium"/>
                <a:sym typeface="HK Grotesk Medium"/>
              </a:rPr>
              <a:t>d</a:t>
            </a:r>
            <a:r>
              <a:rPr lang="en-US" b="true" sz="2800" strike="noStrike" u="none">
                <a:solidFill>
                  <a:srgbClr val="222222"/>
                </a:solidFill>
                <a:latin typeface="HK Grotesk Medium"/>
                <a:ea typeface="HK Grotesk Medium"/>
                <a:cs typeface="HK Grotesk Medium"/>
                <a:sym typeface="HK Grotesk Medium"/>
              </a:rPr>
              <a:t>.).</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Pe</a:t>
            </a:r>
            <a:r>
              <a:rPr lang="en-US" b="true" sz="2800" strike="noStrike" u="none">
                <a:solidFill>
                  <a:srgbClr val="222222"/>
                </a:solidFill>
                <a:latin typeface="HK Grotesk Medium"/>
                <a:ea typeface="HK Grotesk Medium"/>
                <a:cs typeface="HK Grotesk Medium"/>
                <a:sym typeface="HK Grotesk Medium"/>
              </a:rPr>
              <a:t>ar</a:t>
            </a:r>
            <a:r>
              <a:rPr lang="en-US" b="true" sz="2800" strike="noStrike" u="none">
                <a:solidFill>
                  <a:srgbClr val="222222"/>
                </a:solidFill>
                <a:latin typeface="HK Grotesk Medium"/>
                <a:ea typeface="HK Grotesk Medium"/>
                <a:cs typeface="HK Grotesk Medium"/>
                <a:sym typeface="HK Grotesk Medium"/>
              </a:rPr>
              <a:t>s</a:t>
            </a:r>
            <a:r>
              <a:rPr lang="en-US" b="true" sz="2800" strike="noStrike" u="none">
                <a:solidFill>
                  <a:srgbClr val="222222"/>
                </a:solidFill>
                <a:latin typeface="HK Grotesk Medium"/>
                <a:ea typeface="HK Grotesk Medium"/>
                <a:cs typeface="HK Grotesk Medium"/>
                <a:sym typeface="HK Grotesk Medium"/>
              </a:rPr>
              <a:t>on.</a:t>
            </a:r>
          </a:p>
          <a:p>
            <a:pPr algn="just">
              <a:lnSpc>
                <a:spcPts val="3920"/>
              </a:lnSpc>
              <a:spcBef>
                <a:spcPct val="0"/>
              </a:spcBef>
            </a:pPr>
          </a:p>
          <a:p>
            <a:pPr algn="just" marL="604532" indent="-302266" lvl="1">
              <a:lnSpc>
                <a:spcPts val="3920"/>
              </a:lnSpc>
              <a:spcBef>
                <a:spcPct val="0"/>
              </a:spcBef>
              <a:buFont typeface="Arial"/>
              <a:buChar char="•"/>
            </a:pPr>
            <a:r>
              <a:rPr lang="en-US" b="true" sz="2800" strike="noStrike" u="none">
                <a:solidFill>
                  <a:srgbClr val="222222"/>
                </a:solidFill>
                <a:latin typeface="HK Grotesk Medium"/>
                <a:ea typeface="HK Grotesk Medium"/>
                <a:cs typeface="HK Grotesk Medium"/>
                <a:sym typeface="HK Grotesk Medium"/>
              </a:rPr>
              <a:t>Clocksin, W. F., &amp; Mellish, C. S. (2003). Programming in Prolog: Using the ISO Standard (5ª ed.). Springer-Verlag.</a:t>
            </a:r>
          </a:p>
          <a:p>
            <a:pPr algn="just">
              <a:lnSpc>
                <a:spcPts val="392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4437795" y="3446254"/>
            <a:ext cx="8658828" cy="2438527"/>
          </a:xfrm>
          <a:prstGeom prst="rect">
            <a:avLst/>
          </a:prstGeom>
        </p:spPr>
        <p:txBody>
          <a:bodyPr anchor="t" rtlCol="false" tIns="0" lIns="0" bIns="0" rIns="0">
            <a:spAutoFit/>
          </a:bodyPr>
          <a:lstStyle/>
          <a:p>
            <a:pPr algn="just">
              <a:lnSpc>
                <a:spcPts val="6343"/>
              </a:lnSpc>
            </a:pPr>
            <a:r>
              <a:rPr lang="en-US" b="true" sz="6099">
                <a:solidFill>
                  <a:srgbClr val="F4F6FC"/>
                </a:solidFill>
                <a:latin typeface="HK Grotesk Bold"/>
                <a:ea typeface="HK Grotesk Bold"/>
                <a:cs typeface="HK Grotesk Bold"/>
                <a:sym typeface="HK Grotesk Bold"/>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b="true" sz="5000" spc="400">
                <a:solidFill>
                  <a:srgbClr val="F4F6FC"/>
                </a:solidFill>
                <a:latin typeface="HK Grotesk Bold"/>
                <a:ea typeface="HK Grotesk Bold"/>
                <a:cs typeface="HK Grotesk Bold"/>
                <a:sym typeface="HK Grotesk Bold"/>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0210"/>
            <a:ext cx="13465804" cy="357505"/>
          </a:xfrm>
          <a:prstGeom prst="rect">
            <a:avLst/>
          </a:prstGeom>
        </p:spPr>
        <p:txBody>
          <a:bodyPr anchor="t" rtlCol="false" tIns="0" lIns="0" bIns="0" rIns="0">
            <a:spAutoFit/>
          </a:bodyPr>
          <a:lstStyle/>
          <a:p>
            <a:pPr algn="ctr">
              <a:lnSpc>
                <a:spcPts val="2960"/>
              </a:lnSpc>
            </a:pPr>
            <a:r>
              <a:rPr lang="en-US" b="true" sz="2000">
                <a:solidFill>
                  <a:srgbClr val="F4F6FC"/>
                </a:solidFill>
                <a:latin typeface="HK Grotesk Medium"/>
                <a:ea typeface="HK Grotesk Medium"/>
                <a:cs typeface="HK Grotesk Medium"/>
                <a:sym typeface="HK Grotesk Medium"/>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DAGn8r3GZIk</dc:identifier>
  <dcterms:modified xsi:type="dcterms:W3CDTF">2011-08-01T06:04:30Z</dcterms:modified>
  <cp:revision>1</cp:revision>
  <dc:title>Clase 03</dc:title>
</cp:coreProperties>
</file>