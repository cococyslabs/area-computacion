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al Bold" charset="1" panose="020B0802020202020204"/>
      <p:regular r:id="rId23"/>
    </p:embeddedFont>
    <p:embeddedFont>
      <p:font typeface="Arimo" charset="1" panose="020B0604020202020204"/>
      <p:regular r:id="rId24"/>
    </p:embeddedFont>
    <p:embeddedFont>
      <p:font typeface="Arial" charset="1" panose="020B0502020202020204"/>
      <p:regular r:id="rId25"/>
    </p:embeddedFont>
    <p:embeddedFont>
      <p:font typeface="HK Grotesk Medium" charset="1" panose="00000600000000000000"/>
      <p:regular r:id="rId26"/>
    </p:embeddedFont>
    <p:embeddedFont>
      <p:font typeface="HK Grotesk Bold" charset="1" panose="00000800000000000000"/>
      <p:regular r:id="rId27"/>
    </p:embeddedFont>
    <p:embeddedFont>
      <p:font typeface="HK Grotesk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https://threejs.org/docs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11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781821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Simulación de Robots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92177" y="3969202"/>
            <a:ext cx="1878699" cy="1878699"/>
          </a:xfrm>
          <a:custGeom>
            <a:avLst/>
            <a:gdLst/>
            <a:ahLst/>
            <a:cxnLst/>
            <a:rect r="r" b="b" t="t" l="l"/>
            <a:pathLst>
              <a:path h="1878699" w="1878699">
                <a:moveTo>
                  <a:pt x="0" y="0"/>
                </a:moveTo>
                <a:lnTo>
                  <a:pt x="1878699" y="0"/>
                </a:lnTo>
                <a:lnTo>
                  <a:pt x="1878699" y="1878699"/>
                </a:lnTo>
                <a:lnTo>
                  <a:pt x="0" y="18786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99395" y="3078596"/>
            <a:ext cx="6464263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Link del Video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Corto en UEDI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4003" y="3078596"/>
            <a:ext cx="6464263" cy="601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Programación de Acciones Robóticas</a:t>
            </a:r>
          </a:p>
          <a:p>
            <a:pPr algn="l">
              <a:lnSpc>
                <a:spcPts val="1199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Simulación en Entornos Robóticos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59214" y="1873251"/>
            <a:ext cx="12569573" cy="738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6" indent="-431803" lvl="1">
              <a:lnSpc>
                <a:spcPts val="5600"/>
              </a:lnSpc>
              <a:buFont typeface="Arial"/>
              <a:buChar char="•"/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 diseños 2D y 3D de robots 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utilizando librerías como p5.js y Three.js en simulaciones programadas que involucren acciones y comportamientos dinámicos </a:t>
            </a:r>
          </a:p>
          <a:p>
            <a:pPr algn="l">
              <a:lnSpc>
                <a:spcPts val="2800"/>
              </a:lnSpc>
            </a:pPr>
          </a:p>
          <a:p>
            <a:pPr algn="l" marL="863606" indent="-431803" lvl="1">
              <a:lnSpc>
                <a:spcPts val="5600"/>
              </a:lnSpc>
              <a:buFont typeface="Arial"/>
              <a:buChar char="•"/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Mejora la eficiencia y realismo en simulaciones robóticas mediante ajuste de parámetros, uso de bibliotecas de control y pruebas iterativas para aumentar la precisión, eficiencia y realismo de entornos virtuales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2096" y="606306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48413" y="4119245"/>
            <a:ext cx="13991174" cy="10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de Robots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67350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son las acciones?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25183" y="2088335"/>
            <a:ext cx="6822588" cy="5385450"/>
            <a:chOff x="0" y="0"/>
            <a:chExt cx="1796896" cy="14183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6896" cy="1418390"/>
            </a:xfrm>
            <a:custGeom>
              <a:avLst/>
              <a:gdLst/>
              <a:ahLst/>
              <a:cxnLst/>
              <a:rect r="r" b="b" t="t" l="l"/>
              <a:pathLst>
                <a:path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68829" y="3062554"/>
            <a:ext cx="6452889" cy="336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Una</a:t>
            </a: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acción es una actividad deliberada ejecutada por un agente con un objetivo específico.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63333" y="2088335"/>
            <a:ext cx="6822588" cy="5385450"/>
            <a:chOff x="0" y="0"/>
            <a:chExt cx="1796896" cy="14183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96896" cy="1418390"/>
            </a:xfrm>
            <a:custGeom>
              <a:avLst/>
              <a:gdLst/>
              <a:ahLst/>
              <a:cxnLst/>
              <a:rect r="r" b="b" t="t" l="l"/>
              <a:pathLst>
                <a:path h="1418390" w="1796896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862113" y="2419668"/>
            <a:ext cx="6425027" cy="4780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Son respuestas ante estímulos o situaciones.</a:t>
            </a:r>
          </a:p>
          <a:p>
            <a:pPr algn="ctr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Tienen un propósito o intención.</a:t>
            </a:r>
          </a:p>
          <a:p>
            <a:pPr algn="ctr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Son el resultado visible de un proceso de toma de decisiones.</a:t>
            </a:r>
          </a:p>
          <a:p>
            <a:pPr algn="ctr">
              <a:lnSpc>
                <a:spcPts val="476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605132" y="7781607"/>
            <a:ext cx="13077736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spc="272">
                <a:solidFill>
                  <a:srgbClr val="222222"/>
                </a:solidFill>
                <a:latin typeface="HK Grotesk"/>
                <a:ea typeface="HK Grotesk"/>
                <a:cs typeface="HK Grotesk"/>
                <a:sym typeface="HK Grotesk"/>
              </a:rPr>
              <a:t>"Las acciones convierten la teoría en práctica, y los algoritmos en comportamientos."</a:t>
            </a:r>
          </a:p>
          <a:p>
            <a:pPr algn="ctr">
              <a:lnSpc>
                <a:spcPts val="476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11414" y="2671762"/>
            <a:ext cx="4519025" cy="3086173"/>
            <a:chOff x="0" y="0"/>
            <a:chExt cx="1190196" cy="8128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0196" cy="812819"/>
            </a:xfrm>
            <a:custGeom>
              <a:avLst/>
              <a:gdLst/>
              <a:ahLst/>
              <a:cxnLst/>
              <a:rect r="r" b="b" t="t" l="l"/>
              <a:pathLst>
                <a:path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554434" y="471487"/>
            <a:ext cx="1317913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¿Cuáles son las caracteristicas de una acción?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0520" y="2800705"/>
            <a:ext cx="3684454" cy="262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AGENTE EJECUTOR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Quien realiza la acción (humano, robot, sistema)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33758" y="2671762"/>
            <a:ext cx="4519025" cy="3086173"/>
            <a:chOff x="0" y="0"/>
            <a:chExt cx="1190196" cy="8128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0196" cy="812819"/>
            </a:xfrm>
            <a:custGeom>
              <a:avLst/>
              <a:gdLst/>
              <a:ahLst/>
              <a:cxnLst/>
              <a:rect r="r" b="b" t="t" l="l"/>
              <a:pathLst>
                <a:path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32214" y="2774796"/>
            <a:ext cx="4025734" cy="263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9"/>
              </a:lnSpc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RESULTADO ESPERADO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CONSECUENCI</a:t>
            </a: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</a:t>
            </a: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o efecto que se busca lograr.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234941" y="6172127"/>
            <a:ext cx="4519025" cy="3086173"/>
            <a:chOff x="0" y="0"/>
            <a:chExt cx="1190196" cy="812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90196" cy="812819"/>
            </a:xfrm>
            <a:custGeom>
              <a:avLst/>
              <a:gdLst/>
              <a:ahLst/>
              <a:cxnLst/>
              <a:rect r="r" b="b" t="t" l="l"/>
              <a:pathLst>
                <a:path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0" y="6172127"/>
            <a:ext cx="4519025" cy="3086173"/>
            <a:chOff x="0" y="0"/>
            <a:chExt cx="1190196" cy="812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0196" cy="812819"/>
            </a:xfrm>
            <a:custGeom>
              <a:avLst/>
              <a:gdLst/>
              <a:ahLst/>
              <a:cxnLst/>
              <a:rect r="r" b="b" t="t" l="l"/>
              <a:pathLst>
                <a:path h="812819" w="1190196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624975" y="6590222"/>
            <a:ext cx="3684454" cy="195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9"/>
              </a:lnSpc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PROPÓSITO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</a:t>
            </a: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razón o meta detrás de la acción.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61286" y="6272293"/>
            <a:ext cx="3684454" cy="262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CONDICION DE ACTIVACIÓN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b="true" sz="2679" spc="21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Situación que inicia la acción.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997155" y="2764907"/>
            <a:ext cx="10293691" cy="5880618"/>
          </a:xfrm>
          <a:custGeom>
            <a:avLst/>
            <a:gdLst/>
            <a:ahLst/>
            <a:cxnLst/>
            <a:rect r="r" b="b" t="t" l="l"/>
            <a:pathLst>
              <a:path h="5880618" w="10293691">
                <a:moveTo>
                  <a:pt x="0" y="0"/>
                </a:moveTo>
                <a:lnTo>
                  <a:pt x="10293690" y="0"/>
                </a:lnTo>
                <a:lnTo>
                  <a:pt x="10293690" y="5880618"/>
                </a:lnTo>
                <a:lnTo>
                  <a:pt x="0" y="5880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47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¿Identificas las caracteristicas?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41715" y="573521"/>
            <a:ext cx="1317913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simular las acciones de un robot?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261" y="2811896"/>
            <a:ext cx="16856039" cy="694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561" indent="-327781" lvl="1">
              <a:lnSpc>
                <a:spcPts val="4250"/>
              </a:lnSpc>
              <a:buAutoNum type="arabicPeriod" startAt="1"/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Evita errores costosos en hardware real.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 el desarrollo de robótica, cualquier fallo en el código, lógica o estrategia de movimiento puede dañar piezas del robot (motores, sensores, estructuras). Con la simulación, los errores ocurren en un entorno virtual, lo que evita reparaciones costosas, desgaste del equipo, o incluso accidentes.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2. Permite pruebas rápidas y repetibles.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Una ventaja enorme de la simulación es que puedes:</a:t>
            </a:r>
          </a:p>
          <a:p>
            <a:pPr algn="just" marL="655561" indent="-327781" lvl="1">
              <a:lnSpc>
                <a:spcPts val="42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Reiniciar escenarios instantáneamente.</a:t>
            </a:r>
          </a:p>
          <a:p>
            <a:pPr algn="just" marL="655561" indent="-327781" lvl="1">
              <a:lnSpc>
                <a:spcPts val="42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Modificar parámetros en segundos.</a:t>
            </a:r>
          </a:p>
          <a:p>
            <a:pPr algn="just" marL="655561" indent="-327781" lvl="1">
              <a:lnSpc>
                <a:spcPts val="42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Repetir una prueba exacta varias veces.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Esto acelera el ciclo de desarrollo, ya que no hay que reconfigurar manualmente el robot o reconstruir el entorno físico cada vez.</a:t>
            </a:r>
          </a:p>
          <a:p>
            <a:pPr algn="just">
              <a:lnSpc>
                <a:spcPts val="45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41715" y="573521"/>
            <a:ext cx="1317913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simular las acciones de un robot?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981" y="3411106"/>
            <a:ext cx="16856039" cy="485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0"/>
              </a:lnSpc>
            </a:pPr>
            <a:r>
              <a:rPr lang="en-US" sz="3036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3. Facilita la validación de algoritmos.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La</a:t>
            </a: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simulación permite comprobar si los algoritmos de navegación, evasión de obstáculos, seguimiento de trayectorias, o manipulación de objetos funcionan como se espera.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2. Permite evaluar estrategias sin riesgo físico.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robots reales están expuestos a riesgos en entornos desconocidos (escaleras, líquidos, personas).</a:t>
            </a:r>
          </a:p>
          <a:p>
            <a:pPr algn="just">
              <a:lnSpc>
                <a:spcPts val="4530"/>
              </a:lnSpc>
              <a:spcBef>
                <a:spcPct val="0"/>
              </a:spcBef>
            </a:pPr>
            <a:r>
              <a:rPr lang="en-US" b="true" sz="323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Con la simulación puedes probar estrategias complejas o peligrosas de forma segura, como rescate en desastres, navegación en exteriores o interacción con humanos.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82985" y="2338109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77031" y="2338109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54434" y="867816"/>
            <a:ext cx="1317913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Beneficios de la simulación de robots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77566" y="6140863"/>
            <a:ext cx="533286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EFICIENCIA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6076" y="3735735"/>
            <a:ext cx="533286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SEGURIDAD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26433" y="3676437"/>
            <a:ext cx="533286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ECONOMIA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434179" y="1523965"/>
            <a:ext cx="5080522" cy="3744493"/>
            <a:chOff x="0" y="0"/>
            <a:chExt cx="1338080" cy="9862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8080" cy="986204"/>
            </a:xfrm>
            <a:custGeom>
              <a:avLst/>
              <a:gdLst/>
              <a:ahLst/>
              <a:cxnLst/>
              <a:rect r="r" b="b" t="t" l="l"/>
              <a:pathLst>
                <a:path h="986204" w="1338080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36232" y="5582783"/>
            <a:ext cx="5186840" cy="3675517"/>
            <a:chOff x="0" y="0"/>
            <a:chExt cx="1366081" cy="9680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6081" cy="968038"/>
            </a:xfrm>
            <a:custGeom>
              <a:avLst/>
              <a:gdLst/>
              <a:ahLst/>
              <a:cxnLst/>
              <a:rect r="r" b="b" t="t" l="l"/>
              <a:pathLst>
                <a:path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46726" y="5433558"/>
            <a:ext cx="5186840" cy="3675517"/>
            <a:chOff x="0" y="0"/>
            <a:chExt cx="1366081" cy="9680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6081" cy="968038"/>
            </a:xfrm>
            <a:custGeom>
              <a:avLst/>
              <a:gdLst/>
              <a:ahLst/>
              <a:cxnLst/>
              <a:rect r="r" b="b" t="t" l="l"/>
              <a:pathLst>
                <a:path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895915" y="2346150"/>
            <a:ext cx="4157050" cy="2540997"/>
          </a:xfrm>
          <a:custGeom>
            <a:avLst/>
            <a:gdLst/>
            <a:ahLst/>
            <a:cxnLst/>
            <a:rect r="r" b="b" t="t" l="l"/>
            <a:pathLst>
              <a:path h="2540997" w="4157050">
                <a:moveTo>
                  <a:pt x="0" y="0"/>
                </a:moveTo>
                <a:lnTo>
                  <a:pt x="4157049" y="0"/>
                </a:lnTo>
                <a:lnTo>
                  <a:pt x="4157049" y="2540997"/>
                </a:lnTo>
                <a:lnTo>
                  <a:pt x="0" y="2540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825126" y="6475323"/>
            <a:ext cx="3609053" cy="2531724"/>
          </a:xfrm>
          <a:custGeom>
            <a:avLst/>
            <a:gdLst/>
            <a:ahLst/>
            <a:cxnLst/>
            <a:rect r="r" b="b" t="t" l="l"/>
            <a:pathLst>
              <a:path h="2531724" w="3609053">
                <a:moveTo>
                  <a:pt x="0" y="0"/>
                </a:moveTo>
                <a:lnTo>
                  <a:pt x="3609053" y="0"/>
                </a:lnTo>
                <a:lnTo>
                  <a:pt x="3609053" y="2531723"/>
                </a:lnTo>
                <a:lnTo>
                  <a:pt x="0" y="25317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87426" y="6629565"/>
            <a:ext cx="4255004" cy="2223240"/>
          </a:xfrm>
          <a:custGeom>
            <a:avLst/>
            <a:gdLst/>
            <a:ahLst/>
            <a:cxnLst/>
            <a:rect r="r" b="b" t="t" l="l"/>
            <a:pathLst>
              <a:path h="2223240" w="4255004">
                <a:moveTo>
                  <a:pt x="0" y="0"/>
                </a:moveTo>
                <a:lnTo>
                  <a:pt x="4255004" y="0"/>
                </a:lnTo>
                <a:lnTo>
                  <a:pt x="4255004" y="2223239"/>
                </a:lnTo>
                <a:lnTo>
                  <a:pt x="0" y="2223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Ciclo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24453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71393" y="1265944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PERCEPCIÓN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26605" y="5429055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DECISIÓN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36336" y="5277015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48413" y="915441"/>
            <a:ext cx="13991174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¿Cómo se ejecutan las acciones en un simulador?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7842" y="2698088"/>
            <a:ext cx="4677404" cy="3240266"/>
            <a:chOff x="0" y="0"/>
            <a:chExt cx="1231909" cy="8534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1909" cy="853403"/>
            </a:xfrm>
            <a:custGeom>
              <a:avLst/>
              <a:gdLst/>
              <a:ahLst/>
              <a:cxnLst/>
              <a:rect r="r" b="b" t="t" l="l"/>
              <a:pathLst>
                <a:path h="853403" w="1231909">
                  <a:moveTo>
                    <a:pt x="84414" y="0"/>
                  </a:moveTo>
                  <a:lnTo>
                    <a:pt x="1147495" y="0"/>
                  </a:lnTo>
                  <a:cubicBezTo>
                    <a:pt x="1194115" y="0"/>
                    <a:pt x="1231909" y="37793"/>
                    <a:pt x="1231909" y="84414"/>
                  </a:cubicBezTo>
                  <a:lnTo>
                    <a:pt x="1231909" y="768989"/>
                  </a:lnTo>
                  <a:cubicBezTo>
                    <a:pt x="1231909" y="791377"/>
                    <a:pt x="1223015" y="812848"/>
                    <a:pt x="1207185" y="828679"/>
                  </a:cubicBezTo>
                  <a:cubicBezTo>
                    <a:pt x="1191354" y="844510"/>
                    <a:pt x="1169883" y="853403"/>
                    <a:pt x="1147495" y="853403"/>
                  </a:cubicBezTo>
                  <a:lnTo>
                    <a:pt x="84414" y="853403"/>
                  </a:lnTo>
                  <a:cubicBezTo>
                    <a:pt x="62026" y="853403"/>
                    <a:pt x="40555" y="844510"/>
                    <a:pt x="24724" y="828679"/>
                  </a:cubicBezTo>
                  <a:cubicBezTo>
                    <a:pt x="8894" y="812848"/>
                    <a:pt x="0" y="791377"/>
                    <a:pt x="0" y="768989"/>
                  </a:cubicBezTo>
                  <a:lnTo>
                    <a:pt x="0" y="84414"/>
                  </a:lnTo>
                  <a:cubicBezTo>
                    <a:pt x="0" y="62026"/>
                    <a:pt x="8894" y="40555"/>
                    <a:pt x="24724" y="24724"/>
                  </a:cubicBezTo>
                  <a:cubicBezTo>
                    <a:pt x="40555" y="8894"/>
                    <a:pt x="62026" y="0"/>
                    <a:pt x="84414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31909" cy="901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18267" y="3263671"/>
            <a:ext cx="5116554" cy="155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7"/>
              </a:lnSpc>
            </a:pPr>
            <a:r>
              <a:rPr lang="en-US" b="true" sz="2941" spc="23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Software de control: Programa que toma decisione</a:t>
            </a:r>
            <a:r>
              <a:rPr lang="en-US" b="true" sz="2941" spc="23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96205" y="4808551"/>
            <a:ext cx="4677404" cy="3240266"/>
            <a:chOff x="0" y="0"/>
            <a:chExt cx="1231909" cy="8534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1909" cy="853403"/>
            </a:xfrm>
            <a:custGeom>
              <a:avLst/>
              <a:gdLst/>
              <a:ahLst/>
              <a:cxnLst/>
              <a:rect r="r" b="b" t="t" l="l"/>
              <a:pathLst>
                <a:path h="853403" w="1231909">
                  <a:moveTo>
                    <a:pt x="84414" y="0"/>
                  </a:moveTo>
                  <a:lnTo>
                    <a:pt x="1147495" y="0"/>
                  </a:lnTo>
                  <a:cubicBezTo>
                    <a:pt x="1194115" y="0"/>
                    <a:pt x="1231909" y="37793"/>
                    <a:pt x="1231909" y="84414"/>
                  </a:cubicBezTo>
                  <a:lnTo>
                    <a:pt x="1231909" y="768989"/>
                  </a:lnTo>
                  <a:cubicBezTo>
                    <a:pt x="1231909" y="791377"/>
                    <a:pt x="1223015" y="812848"/>
                    <a:pt x="1207185" y="828679"/>
                  </a:cubicBezTo>
                  <a:cubicBezTo>
                    <a:pt x="1191354" y="844510"/>
                    <a:pt x="1169883" y="853403"/>
                    <a:pt x="1147495" y="853403"/>
                  </a:cubicBezTo>
                  <a:lnTo>
                    <a:pt x="84414" y="853403"/>
                  </a:lnTo>
                  <a:cubicBezTo>
                    <a:pt x="62026" y="853403"/>
                    <a:pt x="40555" y="844510"/>
                    <a:pt x="24724" y="828679"/>
                  </a:cubicBezTo>
                  <a:cubicBezTo>
                    <a:pt x="8894" y="812848"/>
                    <a:pt x="0" y="791377"/>
                    <a:pt x="0" y="768989"/>
                  </a:cubicBezTo>
                  <a:lnTo>
                    <a:pt x="0" y="84414"/>
                  </a:lnTo>
                  <a:cubicBezTo>
                    <a:pt x="0" y="62026"/>
                    <a:pt x="8894" y="40555"/>
                    <a:pt x="24724" y="24724"/>
                  </a:cubicBezTo>
                  <a:cubicBezTo>
                    <a:pt x="40555" y="8894"/>
                    <a:pt x="62026" y="0"/>
                    <a:pt x="84414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31909" cy="901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54568" y="5770207"/>
            <a:ext cx="4677404" cy="3240266"/>
            <a:chOff x="0" y="0"/>
            <a:chExt cx="1231909" cy="8534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1909" cy="853403"/>
            </a:xfrm>
            <a:custGeom>
              <a:avLst/>
              <a:gdLst/>
              <a:ahLst/>
              <a:cxnLst/>
              <a:rect r="r" b="b" t="t" l="l"/>
              <a:pathLst>
                <a:path h="853403" w="1231909">
                  <a:moveTo>
                    <a:pt x="84414" y="0"/>
                  </a:moveTo>
                  <a:lnTo>
                    <a:pt x="1147495" y="0"/>
                  </a:lnTo>
                  <a:cubicBezTo>
                    <a:pt x="1194115" y="0"/>
                    <a:pt x="1231909" y="37793"/>
                    <a:pt x="1231909" y="84414"/>
                  </a:cubicBezTo>
                  <a:lnTo>
                    <a:pt x="1231909" y="768989"/>
                  </a:lnTo>
                  <a:cubicBezTo>
                    <a:pt x="1231909" y="791377"/>
                    <a:pt x="1223015" y="812848"/>
                    <a:pt x="1207185" y="828679"/>
                  </a:cubicBezTo>
                  <a:cubicBezTo>
                    <a:pt x="1191354" y="844510"/>
                    <a:pt x="1169883" y="853403"/>
                    <a:pt x="1147495" y="853403"/>
                  </a:cubicBezTo>
                  <a:lnTo>
                    <a:pt x="84414" y="853403"/>
                  </a:lnTo>
                  <a:cubicBezTo>
                    <a:pt x="62026" y="853403"/>
                    <a:pt x="40555" y="844510"/>
                    <a:pt x="24724" y="828679"/>
                  </a:cubicBezTo>
                  <a:cubicBezTo>
                    <a:pt x="8894" y="812848"/>
                    <a:pt x="0" y="791377"/>
                    <a:pt x="0" y="768989"/>
                  </a:cubicBezTo>
                  <a:lnTo>
                    <a:pt x="0" y="84414"/>
                  </a:lnTo>
                  <a:cubicBezTo>
                    <a:pt x="0" y="62026"/>
                    <a:pt x="8894" y="40555"/>
                    <a:pt x="24724" y="24724"/>
                  </a:cubicBezTo>
                  <a:cubicBezTo>
                    <a:pt x="40555" y="8894"/>
                    <a:pt x="62026" y="0"/>
                    <a:pt x="84414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31909" cy="901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959403" y="5519828"/>
            <a:ext cx="4614206" cy="140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b="true" sz="2652" spc="212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Motor físico: Calcula efectos reales (gravedad, fricción, colisione</a:t>
            </a:r>
            <a:r>
              <a:rPr lang="en-US" b="true" sz="2652" spc="212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44781" y="6620808"/>
            <a:ext cx="4896979" cy="148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1"/>
              </a:lnSpc>
            </a:pPr>
            <a:r>
              <a:rPr lang="en-US" b="true" sz="2815" spc="22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Entorno virtual: Mapa o espacio donde </a:t>
            </a:r>
            <a:r>
              <a:rPr lang="en-US" b="true" sz="2815" spc="22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 mueve el robot.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855" y="2714626"/>
            <a:ext cx="15696291" cy="479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Ciclo Percepción – Decisión – Acción: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Es el proceso fundamental mediante el cual un robot percibe su entorno mediante sensores, procesa la información para tomar decisiones y ejecuta acciones a través de actuadores. Este ciclo permite la autonomía robótica tanto en entornos reales como simulados.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de robots: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Es la creación de un entorno virtual que imita el comportamiento físico de un robot, sus sensores y su entorno. La simulación permite probar algoritmos, evaluar estrategias y evitar errores costosos, todo sin necesidad de hardware físico.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922972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12826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50467"/>
            <a:ext cx="15647537" cy="741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1. </a:t>
            </a:r>
            <a:r>
              <a:rPr lang="en-US" sz="28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Responsabilidad en el uso de herramientas de simulación: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El estudiante debe usar las herramientas de simulación de manera ética, asegurándose de crear soluciones seguras, replicables y eficientes. La responsabilidad es clave al experimentar y validar resultados.</a:t>
            </a:r>
          </a:p>
          <a:p>
            <a:pPr algn="just">
              <a:lnSpc>
                <a:spcPts val="3920"/>
              </a:lnSpc>
            </a:pP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2. </a:t>
            </a:r>
            <a:r>
              <a:rPr lang="en-US" sz="28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Curiosidad e innovación: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Fomentar la búsqueda constante de nuevas soluciones, ideas y mejoras. Los estudiantes deben ser creativos y tener un enfoque exploratorio, buscando siempre optimizar los algoritmos y estrategias.</a:t>
            </a:r>
          </a:p>
          <a:p>
            <a:pPr algn="just">
              <a:lnSpc>
                <a:spcPts val="3920"/>
              </a:lnSpc>
            </a:pP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3. </a:t>
            </a:r>
            <a:r>
              <a:rPr lang="en-US" sz="28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Colaboración: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El trabajo en equipo es fundamental para el desarrollo de proyectos robóticos. Los estudiantes deben estar dispuestos a compartir conocimientos, integrar ideas y trabajar conjuntamente para lograr objetivos comunes.</a:t>
            </a:r>
          </a:p>
          <a:p>
            <a:pPr algn="just">
              <a:lnSpc>
                <a:spcPts val="3920"/>
              </a:lnSpc>
            </a:pPr>
          </a:p>
          <a:p>
            <a:pPr algn="just">
              <a:lnSpc>
                <a:spcPts val="3920"/>
              </a:lnSpc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4. </a:t>
            </a: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Perseverancia y adaptación: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La simulación puede involucrar desafíos y errores. Es importante que los estudiantes mantengan una actitud persistente frente a los problemas y sean capaces de adaptarse y mejorar sus enfoques conforme avanzan.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42215" y="3564371"/>
            <a:ext cx="14233665" cy="345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ssell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,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S., &amp; Norvig, 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 (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20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). 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icial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ence: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M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dern 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 (3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.).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P5.js.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p5.j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 Reference. Recuperado de: </a:t>
            </a:r>
            <a:r>
              <a:rPr lang="en-US" b="true" sz="2800" strike="noStrike" u="sng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https://p5js.org/reference/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Three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.js Documentation. three.js Docs. Recuperado de: </a:t>
            </a:r>
            <a:r>
              <a:rPr lang="en-US" b="true" sz="2800" strike="noStrike" u="sng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3" tooltip="https://threejs.org/docs/"/>
              </a:rPr>
              <a:t>https://threejs.org/docs/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DAGn8reBpg4</dc:identifier>
  <dcterms:modified xsi:type="dcterms:W3CDTF">2011-08-01T06:04:30Z</dcterms:modified>
  <cp:revision>1</cp:revision>
  <dc:title>Clase 11</dc:title>
</cp:coreProperties>
</file>