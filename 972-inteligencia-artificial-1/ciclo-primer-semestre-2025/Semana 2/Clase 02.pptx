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al Bold" charset="1" panose="020B0802020202020204"/>
      <p:regular r:id="rId26"/>
    </p:embeddedFont>
    <p:embeddedFont>
      <p:font typeface="Arimo" charset="1" panose="020B0604020202020204"/>
      <p:regular r:id="rId27"/>
    </p:embeddedFont>
    <p:embeddedFont>
      <p:font typeface="Arial" charset="1" panose="020B0502020202020204"/>
      <p:regular r:id="rId28"/>
    </p:embeddedFont>
    <p:embeddedFont>
      <p:font typeface="HK Grotesk Medium" charset="1" panose="00000600000000000000"/>
      <p:regular r:id="rId29"/>
    </p:embeddedFont>
    <p:embeddedFont>
      <p:font typeface="HK Grotesk Bold" charset="1" panose="00000800000000000000"/>
      <p:regular r:id="rId30"/>
    </p:embeddedFont>
    <p:embeddedFont>
      <p:font typeface="HK Grotesk" charset="1" panose="00000500000000000000"/>
      <p:regular r:id="rId31"/>
    </p:embeddedFont>
    <p:embeddedFont>
      <p:font typeface="HK Grotesk Italics" charset="1" panose="00000500000000000000"/>
      <p:regular r:id="rId32"/>
    </p:embeddedFont>
    <p:embeddedFont>
      <p:font typeface="HK Grotesk Medium Italics" charset="1" panose="000006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tau-prolog.org/documentation/prolog/builtin/%3E=/2" TargetMode="External" Type="http://schemas.openxmlformats.org/officeDocument/2006/relationships/hyperlink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https://tau-prolog.org/documentation/prolog/builtin/%3C/2" TargetMode="External" Type="http://schemas.openxmlformats.org/officeDocument/2006/relationships/hyperlink"/><Relationship Id="rId6" Target="https://tau-prolog.org/documentation/prolog/builtin/=:=/2" TargetMode="External" Type="http://schemas.openxmlformats.org/officeDocument/2006/relationships/hyperlink"/><Relationship Id="rId7" Target="https://tau-prolog.org/documentation/prolog/builtin/=%3C/2" TargetMode="External" Type="http://schemas.openxmlformats.org/officeDocument/2006/relationships/hyperlink"/><Relationship Id="rId8" Target="https://tau-prolog.org/documentation/prolog/builtin/=%5C=/2" TargetMode="External" Type="http://schemas.openxmlformats.org/officeDocument/2006/relationships/hyperlink"/><Relationship Id="rId9" Target="https://tau-prolog.org/documentation/prolog/builtin/%3E/2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02" y="0"/>
            <a:ext cx="18254198" cy="10287002"/>
          </a:xfrm>
          <a:custGeom>
            <a:avLst/>
            <a:gdLst/>
            <a:ahLst/>
            <a:cxnLst/>
            <a:rect r="r" b="b" t="t" l="l"/>
            <a:pathLst>
              <a:path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/>
                <a:gridCol w="4335832"/>
              </a:tblGrid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9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b="true" sz="284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864138" y="4529138"/>
            <a:ext cx="951329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</a:t>
            </a:r>
            <a:r>
              <a:rPr lang="en-US" b="true" sz="5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[A]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17834" y="5845971"/>
            <a:ext cx="700590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Robin Omar Buezo Díaz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050A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18001" y="6620396"/>
            <a:ext cx="922408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118001" y="3415707"/>
            <a:ext cx="11119114" cy="121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true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84676" y="2365657"/>
            <a:ext cx="11052439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b="true" sz="5500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18001" y="857436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18001" y="4721267"/>
            <a:ext cx="656308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Lógica e Inferencia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99395" y="3078596"/>
            <a:ext cx="646426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UEDI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9083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6974" y="8506847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4003" y="3078596"/>
            <a:ext cx="6464263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Expresiones y Clausulas</a:t>
            </a:r>
          </a:p>
          <a:p>
            <a:pPr algn="l">
              <a:lnSpc>
                <a:spcPts val="4200"/>
              </a:lnSpc>
            </a:pP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Predicados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08934" y="1511090"/>
            <a:ext cx="4271494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74889" y="1409214"/>
            <a:ext cx="13991174" cy="88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b="true" sz="6098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8326" y="3435564"/>
            <a:ext cx="12569573" cy="421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Desarrolla hechos, reglas, expresiones y predicados recursivos mediante el uso de cláusulas, ciclos, listas, unificació</a:t>
            </a:r>
            <a:r>
              <a:rPr lang="en-US" b="true" sz="4000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 y cortes en Tau Prolog para modelar bases de conocimiento y resolver problemas de inferencia lógica.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2338109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Constantes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509321"/>
            <a:ext cx="77096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31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ÁTOMOS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568184"/>
            <a:ext cx="7709623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átomos son las unidades más simples y pueden ser símbolos o cadenas de texto.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95266" y="4509321"/>
            <a:ext cx="77096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31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NÚMEROS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49677" y="5568184"/>
            <a:ext cx="7709623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número también son considerados como constantes.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53417" y="6829774"/>
            <a:ext cx="2107251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likes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“mary”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19686" y="6829774"/>
            <a:ext cx="2107251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:-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=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41558" y="6829774"/>
            <a:ext cx="2107251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-17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39645" y="6829774"/>
            <a:ext cx="2107251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512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6.2e-23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2338109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Variables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60151" y="4056965"/>
            <a:ext cx="14950363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Las variables son parecidas a los átomos pero estas inician con una letra mayúscula o con un guión bajo “_”.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85384" y="6047380"/>
            <a:ext cx="2107251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Answer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55199" y="6047380"/>
            <a:ext cx="2421177" cy="103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Y</a:t>
            </a: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_variable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2155356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Estructuras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77486" y="3810821"/>
            <a:ext cx="15333028" cy="20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Las estructura, también llamadas “términos compuestos” son un objeto compuesto por una colección de otros objetos llamados </a:t>
            </a:r>
            <a:r>
              <a:rPr lang="en-US" sz="2999" i="true">
                <a:solidFill>
                  <a:srgbClr val="050A30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componentes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. Su estructura es idéntica a un hecho, sin embargo su finalidad no es definir una verdad, si no mas bien poder agregar atributos a un objeto.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00540" y="6041386"/>
            <a:ext cx="932754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book(“El Alquimista”, “Paulo Coelho”)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00540" y="6698612"/>
            <a:ext cx="10583253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book(“El Alquimista”, author(paulo, coelho, Brasil),1988)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00540" y="7355837"/>
            <a:ext cx="12566924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owns(book(“El Alquimista”, author(paulo, coelho, Brasil),1988, john)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2155356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Caracteres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77486" y="3649199"/>
            <a:ext cx="15333028" cy="365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caracteres nos ayudan a formar los nombres de las constantes o variables. Aunque en cada uno de estos puede que tengamos reglas que nos permitan utilizar o no ciertos caracteres específicos. Estos están categorizados como </a:t>
            </a:r>
            <a:r>
              <a:rPr lang="en-US" b="true" sz="2999" i="true">
                <a:solidFill>
                  <a:srgbClr val="F4F6FC"/>
                </a:solidFill>
                <a:latin typeface="HK Grotesk Medium Italics"/>
                <a:ea typeface="HK Grotesk Medium Italics"/>
                <a:cs typeface="HK Grotesk Medium Italics"/>
                <a:sym typeface="HK Grotesk Medium Italics"/>
              </a:rPr>
              <a:t>imprimibles </a:t>
            </a:r>
            <a:r>
              <a:rPr lang="en-US" sz="29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 </a:t>
            </a:r>
            <a:r>
              <a:rPr lang="en-US" b="true" sz="2999" i="true">
                <a:solidFill>
                  <a:srgbClr val="F4F6FC"/>
                </a:solidFill>
                <a:latin typeface="HK Grotesk Medium Italics"/>
                <a:ea typeface="HK Grotesk Medium Italics"/>
                <a:cs typeface="HK Grotesk Medium Italics"/>
                <a:sym typeface="HK Grotesk Medium Italics"/>
              </a:rPr>
              <a:t>no imprimibles.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caracteres imprimibles son los que Prolog puede devolver en una respuesta y los no imprimibles son caracteres que no se visualizan como tal en una respuesta pero que si realizan una acción, como puede ser un salto de línea.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2616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06186" y="5367234"/>
            <a:ext cx="12642554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b c d e f g h i j k l m n o p q r s t u v x y 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6186" y="4424713"/>
            <a:ext cx="12642554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B C D E F G H I J K L M N O P Q R S T U V W X Y 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7486" y="2155356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Caracteres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06186" y="6308940"/>
            <a:ext cx="12642554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0 1 2 3 4 5 6 7 8 9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06186" y="7250646"/>
            <a:ext cx="12642554" cy="6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! “ # $ % &amp; ‘ ( ) - = ~ ^ | \ { } [ ] _ ’ @ + ; * : &lt; &gt; , . ? /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1806832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Operadores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77486" y="4149982"/>
            <a:ext cx="15333028" cy="20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En Prolog, las operaciones aritméticas se manejan en notación prefija, como +(x, *(y, z)), en lugar de la forma convencional x + y * z. Sin embargo, Prolog permite escribir las expresiones de manera estándar, y las interpretará internamente como estructuras prefijas para su evaluación.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2616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7486" y="3264157"/>
            <a:ext cx="153330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b="true" sz="5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+ - * /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01532" y="6940808"/>
            <a:ext cx="3099017" cy="103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3035" indent="-32151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 + y * z</a:t>
            </a:r>
          </a:p>
          <a:p>
            <a:pPr algn="just">
              <a:lnSpc>
                <a:spcPts val="4169"/>
              </a:lnSpc>
            </a:pPr>
          </a:p>
          <a:p>
            <a:pPr algn="just" marL="643035" indent="-32151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+(x, *(y, z))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96249" y="6940808"/>
            <a:ext cx="3099017" cy="155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3035" indent="-32151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(x + y) * z</a:t>
            </a:r>
          </a:p>
          <a:p>
            <a:pPr algn="just">
              <a:lnSpc>
                <a:spcPts val="4169"/>
              </a:lnSpc>
            </a:pPr>
          </a:p>
          <a:p>
            <a:pPr algn="just" marL="643035" indent="-32151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*(+(x, y), z)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95291" y="6940808"/>
            <a:ext cx="3099017" cy="155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3035" indent="-32151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 / y</a:t>
            </a:r>
          </a:p>
          <a:p>
            <a:pPr algn="just">
              <a:lnSpc>
                <a:spcPts val="4169"/>
              </a:lnSpc>
            </a:pPr>
          </a:p>
          <a:p>
            <a:pPr algn="just" marL="643035" indent="-32151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/(x, 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02616" y="6940808"/>
            <a:ext cx="3099017" cy="155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3035" indent="-32151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 - y</a:t>
            </a:r>
          </a:p>
          <a:p>
            <a:pPr algn="just">
              <a:lnSpc>
                <a:spcPts val="4169"/>
              </a:lnSpc>
            </a:pPr>
          </a:p>
          <a:p>
            <a:pPr algn="just" marL="643035" indent="-32151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-(x, y)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92199" y="3460304"/>
            <a:ext cx="2645219" cy="47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1537" indent="-485769" lvl="1">
              <a:lnSpc>
                <a:spcPts val="6299"/>
              </a:lnSpc>
              <a:buFont typeface="Arial"/>
              <a:buChar char="•"/>
            </a:pPr>
            <a:r>
              <a:rPr lang="en-US" b="true" sz="4499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5" tooltip="https://tau-prolog.org/documentation/prolog/builtin/%3C/2"/>
              </a:rPr>
              <a:t>&lt;</a:t>
            </a:r>
            <a:r>
              <a:rPr lang="en-US" b="true" sz="44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</a:p>
          <a:p>
            <a:pPr algn="just" marL="971537" indent="-485769" lvl="1">
              <a:lnSpc>
                <a:spcPts val="6299"/>
              </a:lnSpc>
              <a:buFont typeface="Arial"/>
              <a:buChar char="•"/>
            </a:pPr>
            <a:r>
              <a:rPr lang="en-US" b="true" sz="4499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6" tooltip="https://tau-prolog.org/documentation/prolog/builtin/=:=/2"/>
              </a:rPr>
              <a:t>=:=</a:t>
            </a:r>
          </a:p>
          <a:p>
            <a:pPr algn="just" marL="971537" indent="-485769" lvl="1">
              <a:lnSpc>
                <a:spcPts val="6299"/>
              </a:lnSpc>
              <a:buFont typeface="Arial"/>
              <a:buChar char="•"/>
            </a:pPr>
            <a:r>
              <a:rPr lang="en-US" b="true" sz="4499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7" tooltip="https://tau-prolog.org/documentation/prolog/builtin/=%3C/2"/>
              </a:rPr>
              <a:t>=&lt;</a:t>
            </a:r>
          </a:p>
          <a:p>
            <a:pPr algn="just" marL="971537" indent="-485769" lvl="1">
              <a:lnSpc>
                <a:spcPts val="6299"/>
              </a:lnSpc>
              <a:buFont typeface="Arial"/>
              <a:buChar char="•"/>
            </a:pPr>
            <a:r>
              <a:rPr lang="en-US" b="true" sz="4499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8" tooltip="https://tau-prolog.org/documentation/prolog/builtin/=%5C=/2"/>
              </a:rPr>
              <a:t>=\=</a:t>
            </a:r>
          </a:p>
          <a:p>
            <a:pPr algn="just" marL="971537" indent="-485769" lvl="1">
              <a:lnSpc>
                <a:spcPts val="6299"/>
              </a:lnSpc>
              <a:buFont typeface="Arial"/>
              <a:buChar char="•"/>
            </a:pPr>
            <a:r>
              <a:rPr lang="en-US" b="true" sz="4499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9" tooltip="https://tau-prolog.org/documentation/prolog/builtin/%3E/2"/>
              </a:rPr>
              <a:t>&gt;</a:t>
            </a:r>
          </a:p>
          <a:p>
            <a:pPr algn="just" marL="971537" indent="-485769" lvl="1">
              <a:lnSpc>
                <a:spcPts val="6299"/>
              </a:lnSpc>
              <a:buFont typeface="Arial"/>
              <a:buChar char="•"/>
            </a:pPr>
            <a:r>
              <a:rPr lang="en-US" b="true" sz="4499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10" tooltip="https://tau-prolog.org/documentation/prolog/builtin/%3E=/2"/>
              </a:rPr>
              <a:t>&gt;=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37418" y="3467644"/>
            <a:ext cx="4697812" cy="47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- Menor.</a:t>
            </a:r>
          </a:p>
          <a:p>
            <a:pPr algn="just">
              <a:lnSpc>
                <a:spcPts val="6299"/>
              </a:lnSpc>
            </a:pPr>
            <a:r>
              <a:rPr lang="en-US" sz="4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Igual.</a:t>
            </a:r>
          </a:p>
          <a:p>
            <a:pPr algn="just">
              <a:lnSpc>
                <a:spcPts val="6299"/>
              </a:lnSpc>
            </a:pPr>
            <a:r>
              <a:rPr lang="en-US" sz="4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Menor o igual.</a:t>
            </a:r>
          </a:p>
          <a:p>
            <a:pPr algn="just">
              <a:lnSpc>
                <a:spcPts val="6299"/>
              </a:lnSpc>
            </a:pPr>
            <a:r>
              <a:rPr lang="en-US" sz="4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No igual.</a:t>
            </a:r>
          </a:p>
          <a:p>
            <a:pPr algn="just">
              <a:lnSpc>
                <a:spcPts val="6299"/>
              </a:lnSpc>
            </a:pPr>
            <a:r>
              <a:rPr lang="en-US" sz="4499" b="true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Mayor.</a:t>
            </a:r>
          </a:p>
          <a:p>
            <a:pPr algn="just">
              <a:lnSpc>
                <a:spcPts val="6299"/>
              </a:lnSpc>
            </a:pPr>
            <a:r>
              <a:rPr lang="en-US" b="true" sz="4499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Mayor o igual.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695172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Aritméticos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1806832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Igualdad y Unificación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77486" y="3321307"/>
            <a:ext cx="15333028" cy="522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El predicado de igualdad en Prolog se escribe como "=". Este predicado se utiliza para unificar dos términos, es decir, para intentar hacer que sean iguales. Las reglas para definir si dos términos son iguales, son las siguientes: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Si uno de los términos es una variable no instanciada, y el otro término está instanciado en cualquier término, entonces los dos términos son iguales. Además, la variable no instanciada se instanciará en el término que sea el otro término.</a:t>
            </a:r>
          </a:p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Los números enteros y los átomos siempre son iguales a sí mismos.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502616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7486" y="1806832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Igualdad y Unificación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77486" y="3640266"/>
            <a:ext cx="15333028" cy="470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</a:p>
          <a:p>
            <a:pPr algn="just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Dos estructuras son iguales si tienen el mismo funtor y el mismo número de componentes, y si todos los componentes correspondientes son iguales o variables. Por ejemplo la siguiente igualdad tiene éxito y hace que X se instancie en bicicleta.</a:t>
            </a:r>
          </a:p>
          <a:p>
            <a:pPr algn="just">
              <a:lnSpc>
                <a:spcPts val="4199"/>
              </a:lnSpc>
            </a:pPr>
          </a:p>
          <a:p>
            <a:pPr algn="just" marL="1295390" indent="-431797" lvl="2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conduce(estudiante,bicicleta) = conduce(estudiante,X)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502616" y="8931275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695172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Resolución de Consultas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7486" y="2944451"/>
            <a:ext cx="15333028" cy="575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Cuando se presenta una pregunta, que consiste en una conjunción de objetivos, Prolog utiliza las cláusulas conocidas (hechos y reglas) para intentar satisfacerlos.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Es crucial mencionar que una cláusula solo se puede utilizar si unifica el objetivo en consideración. Si un objetivo no se puede satisfacer, Prolog inicia un proceso de </a:t>
            </a:r>
            <a:r>
              <a:rPr lang="en-US" sz="2999" i="true">
                <a:solidFill>
                  <a:srgbClr val="050A30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backtracking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El </a:t>
            </a:r>
            <a:r>
              <a:rPr lang="en-US" sz="2999" i="true">
                <a:solidFill>
                  <a:srgbClr val="050A30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backtracking 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implica revisar lo que se ha hecho y tratar de volver a satisfacer los objetivos encontrando una forma alternativa de satisfacerlos. Además, si no estás satisfecho con una respuesta, puedes iniciar el backtracking manualmente escribiendo un punto y coma (;).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9329" y="3345464"/>
            <a:ext cx="5136055" cy="2527902"/>
          </a:xfrm>
          <a:custGeom>
            <a:avLst/>
            <a:gdLst/>
            <a:ahLst/>
            <a:cxnLst/>
            <a:rect r="r" b="b" t="t" l="l"/>
            <a:pathLst>
              <a:path h="2527902" w="5136055">
                <a:moveTo>
                  <a:pt x="0" y="0"/>
                </a:moveTo>
                <a:lnTo>
                  <a:pt x="5136055" y="0"/>
                </a:lnTo>
                <a:lnTo>
                  <a:pt x="5136055" y="2527902"/>
                </a:lnTo>
                <a:lnTo>
                  <a:pt x="0" y="252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65842" y="3345464"/>
            <a:ext cx="10808300" cy="827588"/>
          </a:xfrm>
          <a:custGeom>
            <a:avLst/>
            <a:gdLst/>
            <a:ahLst/>
            <a:cxnLst/>
            <a:rect r="r" b="b" t="t" l="l"/>
            <a:pathLst>
              <a:path h="827588" w="10808300">
                <a:moveTo>
                  <a:pt x="0" y="0"/>
                </a:moveTo>
                <a:lnTo>
                  <a:pt x="10808300" y="0"/>
                </a:lnTo>
                <a:lnTo>
                  <a:pt x="10808300" y="827588"/>
                </a:lnTo>
                <a:lnTo>
                  <a:pt x="0" y="827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017108" y="4609415"/>
            <a:ext cx="3889303" cy="4416666"/>
          </a:xfrm>
          <a:custGeom>
            <a:avLst/>
            <a:gdLst/>
            <a:ahLst/>
            <a:cxnLst/>
            <a:rect r="r" b="b" t="t" l="l"/>
            <a:pathLst>
              <a:path h="4416666" w="3889303">
                <a:moveTo>
                  <a:pt x="0" y="0"/>
                </a:moveTo>
                <a:lnTo>
                  <a:pt x="3889303" y="0"/>
                </a:lnTo>
                <a:lnTo>
                  <a:pt x="3889303" y="4416666"/>
                </a:lnTo>
                <a:lnTo>
                  <a:pt x="0" y="44166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70770" y="4609415"/>
            <a:ext cx="4046770" cy="4416666"/>
          </a:xfrm>
          <a:custGeom>
            <a:avLst/>
            <a:gdLst/>
            <a:ahLst/>
            <a:cxnLst/>
            <a:rect r="r" b="b" t="t" l="l"/>
            <a:pathLst>
              <a:path h="4416666" w="4046770">
                <a:moveTo>
                  <a:pt x="0" y="0"/>
                </a:moveTo>
                <a:lnTo>
                  <a:pt x="4046770" y="0"/>
                </a:lnTo>
                <a:lnTo>
                  <a:pt x="4046770" y="4416666"/>
                </a:lnTo>
                <a:lnTo>
                  <a:pt x="0" y="4416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08308" y="4624434"/>
            <a:ext cx="3537824" cy="4401647"/>
          </a:xfrm>
          <a:custGeom>
            <a:avLst/>
            <a:gdLst/>
            <a:ahLst/>
            <a:cxnLst/>
            <a:rect r="r" b="b" t="t" l="l"/>
            <a:pathLst>
              <a:path h="4401647" w="3537824">
                <a:moveTo>
                  <a:pt x="0" y="0"/>
                </a:moveTo>
                <a:lnTo>
                  <a:pt x="3537823" y="0"/>
                </a:lnTo>
                <a:lnTo>
                  <a:pt x="3537823" y="4401647"/>
                </a:lnTo>
                <a:lnTo>
                  <a:pt x="0" y="44016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695172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Resolución de Consultas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2981047"/>
            <a:ext cx="5796826" cy="6323075"/>
          </a:xfrm>
          <a:custGeom>
            <a:avLst/>
            <a:gdLst/>
            <a:ahLst/>
            <a:cxnLst/>
            <a:rect r="r" b="b" t="t" l="l"/>
            <a:pathLst>
              <a:path h="6323075" w="5796826">
                <a:moveTo>
                  <a:pt x="0" y="0"/>
                </a:moveTo>
                <a:lnTo>
                  <a:pt x="5796826" y="0"/>
                </a:lnTo>
                <a:lnTo>
                  <a:pt x="5796826" y="6323074"/>
                </a:lnTo>
                <a:lnTo>
                  <a:pt x="0" y="63230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699056"/>
            <a:ext cx="4756684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00"/>
              </a:lnSpc>
              <a:spcBef>
                <a:spcPct val="0"/>
              </a:spcBef>
            </a:pPr>
            <a:r>
              <a:rPr lang="en-US" b="true" sz="200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695172"/>
            <a:ext cx="153330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b="true" sz="846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Backtracking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93024" y="5504771"/>
            <a:ext cx="6253323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¿Qué pasa si un objetivo falla?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555117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658622"/>
            <a:ext cx="16124539" cy="759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Constantes: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Valores fijos como nombr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es, números o átomos. Ejemplos: "mary", likes, 42, 3.14.</a:t>
            </a:r>
          </a:p>
          <a:p>
            <a:pPr algn="just">
              <a:lnSpc>
                <a:spcPts val="3220"/>
              </a:lnSpc>
            </a:pP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Variables: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Representan datos cambiantes; inician con mayúscula o guion bajo. Ejemplos: X, Y, _resultado.</a:t>
            </a:r>
          </a:p>
          <a:p>
            <a:pPr algn="just">
              <a:lnSpc>
                <a:spcPts val="3220"/>
              </a:lnSpc>
            </a:pP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Estructuras: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Agrupan datos relacionados mediante términos compuestos. Ejemplo: libro("1984", autor("George", "Orwell"), 1949).</a:t>
            </a:r>
          </a:p>
          <a:p>
            <a:pPr algn="just">
              <a:lnSpc>
                <a:spcPts val="3220"/>
              </a:lnSpc>
            </a:pP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Caracteres: 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Se usan para formar nombres de consta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ntes, variable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s y estructuras. Ejemplos: a, B, 9, _, +, :.</a:t>
            </a:r>
          </a:p>
          <a:p>
            <a:pPr algn="just">
              <a:lnSpc>
                <a:spcPts val="3220"/>
              </a:lnSpc>
            </a:pP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Operadores: 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Realizan cálculos o comparaciones; pueden escribirse de forma infija o prefija. Ejemplos: X + Y, +(X, Y), X =:= Y.</a:t>
            </a:r>
          </a:p>
          <a:p>
            <a:pPr algn="just">
              <a:lnSpc>
                <a:spcPts val="3220"/>
              </a:lnSpc>
            </a:pP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Ig</a:t>
            </a: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ualdad y Unificación: 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Prolog iguala términos mediante unificación; las variables se instancian si es posible. Ejemplo: padre(juan, X) = padre(juan, maria) da X = maria.</a:t>
            </a:r>
          </a:p>
          <a:p>
            <a:pPr algn="just">
              <a:lnSpc>
                <a:spcPts val="3220"/>
              </a:lnSpc>
            </a:pPr>
          </a:p>
          <a:p>
            <a:pPr algn="just" marL="496585" indent="-248293" lvl="1">
              <a:lnSpc>
                <a:spcPts val="3220"/>
              </a:lnSpc>
              <a:buFont typeface="Arial"/>
              <a:buChar char="•"/>
            </a:pP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Consultas</a:t>
            </a: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y Backtr</a:t>
            </a:r>
            <a:r>
              <a:rPr lang="en-US" b="true" sz="2300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acking: 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Prolog resuelve consultas buscando hechos o reglas. Si una opción falla, prueba otras (backtracking). Se puede forzar con ; para obtener más soluciones.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712826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Valores y Actitudes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1821917"/>
            <a:ext cx="14233665" cy="741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Precisión y Rigor:</a:t>
            </a: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Aplicar la lóg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ica de forma clara, correcta y consistente.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Responsabilidad</a:t>
            </a: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Ética: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Usar el conocimiento técnico considerando su impacto en el entorno.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Trabajo Colaborativo: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Contribuir en equipo respetando ideas y promoviendo la cooperación.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</a:t>
            </a: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nálisis y Razonamiento:</a:t>
            </a:r>
            <a:r>
              <a:rPr lang="en-US" b="true" sz="28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Evaluar problemas con pensamiento crítico y toma de decisiones lógicas.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Creatividad Aplicada: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Diseñar soluciones innovadoras mediante estructuras y reglas.</a:t>
            </a:r>
          </a:p>
          <a:p>
            <a:pPr algn="just">
              <a:lnSpc>
                <a:spcPts val="3920"/>
              </a:lnSpc>
            </a:pPr>
          </a:p>
          <a:p>
            <a:pPr algn="just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Autonomía y Curiosidad: </a:t>
            </a:r>
            <a:r>
              <a:rPr lang="en-US" sz="28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Explorar por cuenta propia nuevas herramientas como Tau-Prolog.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392343" y="1673265"/>
            <a:ext cx="13503315" cy="994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b="true" sz="690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67" y="3745346"/>
            <a:ext cx="14233665" cy="295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ssell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,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S., &amp; Norvig, 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 (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20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6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). 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icial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nte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ence: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M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dern 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 (3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.).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</a:t>
            </a: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  <a:p>
            <a:pPr algn="just" marL="604532" indent="-302266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Clocksin, W. F., &amp; Mellish, C. S. (2003). Programming in Prolog: Using the ISO Standard (5ª ed.). Springer-Verlag.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446254"/>
            <a:ext cx="8658828" cy="2438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b="true" sz="609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0210"/>
            <a:ext cx="13465804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b="true" sz="200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DAGn8pZzAJw</dc:identifier>
  <dcterms:modified xsi:type="dcterms:W3CDTF">2011-08-01T06:04:30Z</dcterms:modified>
  <cp:revision>1</cp:revision>
  <dc:title>Clase 02</dc:title>
</cp:coreProperties>
</file>