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802020202020204"/>
      <p:regular r:id="rId25"/>
    </p:embeddedFont>
    <p:embeddedFont>
      <p:font typeface="Arimo" charset="1" panose="020B0604020202020204"/>
      <p:regular r:id="rId26"/>
    </p:embeddedFont>
    <p:embeddedFont>
      <p:font typeface="Arial" charset="1" panose="020B0502020202020204"/>
      <p:regular r:id="rId27"/>
    </p:embeddedFont>
    <p:embeddedFont>
      <p:font typeface="HK Grotesk Medium" charset="1" panose="00000600000000000000"/>
      <p:regular r:id="rId28"/>
    </p:embeddedFont>
    <p:embeddedFont>
      <p:font typeface="HK Grotesk Bold" charset="1" panose="00000800000000000000"/>
      <p:regular r:id="rId29"/>
    </p:embeddedFont>
    <p:embeddedFont>
      <p:font typeface="HK Grotesk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https://threejs.org/docs/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02" y="0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64138" y="4529138"/>
            <a:ext cx="951329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</a:t>
            </a: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7834" y="5845971"/>
            <a:ext cx="70059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8001" y="6620396"/>
            <a:ext cx="92240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8001" y="3415707"/>
            <a:ext cx="1111911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76" y="2365657"/>
            <a:ext cx="110524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b="true" sz="5500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8001" y="857436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118001" y="4721267"/>
            <a:ext cx="781821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Simulación de Robots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19985" y="3897010"/>
            <a:ext cx="2023084" cy="2023084"/>
          </a:xfrm>
          <a:custGeom>
            <a:avLst/>
            <a:gdLst/>
            <a:ahLst/>
            <a:cxnLst/>
            <a:rect r="r" b="b" t="t" l="l"/>
            <a:pathLst>
              <a:path h="2023084" w="2023084">
                <a:moveTo>
                  <a:pt x="0" y="0"/>
                </a:moveTo>
                <a:lnTo>
                  <a:pt x="2023084" y="0"/>
                </a:lnTo>
                <a:lnTo>
                  <a:pt x="2023084" y="2023084"/>
                </a:lnTo>
                <a:lnTo>
                  <a:pt x="0" y="2023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99395" y="3078596"/>
            <a:ext cx="6464263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Link del Video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UEDI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89083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6974" y="8506847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4003" y="3078596"/>
            <a:ext cx="6464263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Introducción a la Simulación Robótica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08934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4889" y="1164153"/>
            <a:ext cx="13991174" cy="88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b="true" sz="6098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4552" y="3306849"/>
            <a:ext cx="12569573" cy="350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 diseños 2D y 3D de robots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utilizando librerías como p5.js y Three.js en simulaciones programadas que involucren acciones y comportamientos dinámicos </a:t>
            </a:r>
          </a:p>
          <a:p>
            <a:pPr algn="ctr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48413" y="4040298"/>
            <a:ext cx="13991174" cy="10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 Inteligencia Artificial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67350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es la Simulación?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25183" y="2088335"/>
            <a:ext cx="6822588" cy="5385450"/>
            <a:chOff x="0" y="0"/>
            <a:chExt cx="1796896" cy="14183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6896" cy="1418390"/>
            </a:xfrm>
            <a:custGeom>
              <a:avLst/>
              <a:gdLst/>
              <a:ahLst/>
              <a:cxnLst/>
              <a:rect r="r" b="b" t="t" l="l"/>
              <a:pathLst>
                <a:path h="1418390" w="1796896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0033" y="2288685"/>
            <a:ext cx="6452889" cy="471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es una técnica que permite recrear el comportamiento de sistemas reales o hipotéticos dentro de un entorno</a:t>
            </a: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virtual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63333" y="2088335"/>
            <a:ext cx="6822588" cy="5385450"/>
            <a:chOff x="0" y="0"/>
            <a:chExt cx="1796896" cy="14183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96896" cy="1418390"/>
            </a:xfrm>
            <a:custGeom>
              <a:avLst/>
              <a:gdLst/>
              <a:ahLst/>
              <a:cxnLst/>
              <a:rect r="r" b="b" t="t" l="l"/>
              <a:pathLst>
                <a:path h="1418390" w="1796896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834273" y="2859747"/>
            <a:ext cx="6480708" cy="358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spc="2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 utiliza para estudiar cómo se comportaría un sistema en condiciones específicas sin necesidad de llevar a cabo experimentos en el mundo físico.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95273" y="7901161"/>
            <a:ext cx="10079353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spc="272">
                <a:solidFill>
                  <a:srgbClr val="222222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puede ser matemática, lógica o visual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27453" y="3050549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21499" y="3050549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54434" y="471487"/>
            <a:ext cx="1317913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Los modelos de simulación pueden representar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6076" y="3360212"/>
            <a:ext cx="5332867" cy="307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3499" spc="27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Procesos Físicos</a:t>
            </a:r>
          </a:p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2999" spc="23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Como el movimiento de un robot o flujo de tráfico en una ciudad.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19057" y="3070011"/>
            <a:ext cx="5243932" cy="307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3499" spc="27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Procesos Sociales</a:t>
            </a:r>
          </a:p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2999" spc="23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Como la interacción de personas en una red o una emergencia.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88632" y="4876800"/>
            <a:ext cx="5332867" cy="38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3499" spc="27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Procesos Lógicos</a:t>
            </a:r>
          </a:p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2999" spc="23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Como el comportamiento de una Inteligencia Artificial ante ciertas decisiones.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671762"/>
            <a:ext cx="4519025" cy="3086173"/>
            <a:chOff x="0" y="0"/>
            <a:chExt cx="1190196" cy="8128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0196" cy="812819"/>
            </a:xfrm>
            <a:custGeom>
              <a:avLst/>
              <a:gdLst/>
              <a:ahLst/>
              <a:cxnLst/>
              <a:rect r="r" b="b" t="t" l="l"/>
              <a:pathLst>
                <a:path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92687" y="5470236"/>
            <a:ext cx="4405316" cy="3040878"/>
            <a:chOff x="0" y="0"/>
            <a:chExt cx="1160248" cy="800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0248" cy="800890"/>
            </a:xfrm>
            <a:custGeom>
              <a:avLst/>
              <a:gdLst/>
              <a:ahLst/>
              <a:cxnLst/>
              <a:rect r="r" b="b" t="t" l="l"/>
              <a:pathLst>
                <a:path h="800890" w="1160248">
                  <a:moveTo>
                    <a:pt x="89628" y="0"/>
                  </a:moveTo>
                  <a:lnTo>
                    <a:pt x="1070620" y="0"/>
                  </a:lnTo>
                  <a:cubicBezTo>
                    <a:pt x="1094391" y="0"/>
                    <a:pt x="1117188" y="9443"/>
                    <a:pt x="1133997" y="26251"/>
                  </a:cubicBezTo>
                  <a:cubicBezTo>
                    <a:pt x="1150805" y="43060"/>
                    <a:pt x="1160248" y="65857"/>
                    <a:pt x="1160248" y="89628"/>
                  </a:cubicBezTo>
                  <a:lnTo>
                    <a:pt x="1160248" y="711262"/>
                  </a:lnTo>
                  <a:cubicBezTo>
                    <a:pt x="1160248" y="735033"/>
                    <a:pt x="1150805" y="757830"/>
                    <a:pt x="1133997" y="774638"/>
                  </a:cubicBezTo>
                  <a:cubicBezTo>
                    <a:pt x="1117188" y="791447"/>
                    <a:pt x="1094391" y="800890"/>
                    <a:pt x="1070620" y="800890"/>
                  </a:cubicBezTo>
                  <a:lnTo>
                    <a:pt x="89628" y="800890"/>
                  </a:lnTo>
                  <a:cubicBezTo>
                    <a:pt x="65857" y="800890"/>
                    <a:pt x="43060" y="791447"/>
                    <a:pt x="26251" y="774638"/>
                  </a:cubicBezTo>
                  <a:cubicBezTo>
                    <a:pt x="9443" y="757830"/>
                    <a:pt x="0" y="735033"/>
                    <a:pt x="0" y="711262"/>
                  </a:cubicBezTo>
                  <a:lnTo>
                    <a:pt x="0" y="89628"/>
                  </a:lnTo>
                  <a:cubicBezTo>
                    <a:pt x="0" y="65857"/>
                    <a:pt x="9443" y="43060"/>
                    <a:pt x="26251" y="26251"/>
                  </a:cubicBezTo>
                  <a:cubicBezTo>
                    <a:pt x="43060" y="9443"/>
                    <a:pt x="65857" y="0"/>
                    <a:pt x="89628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60248" cy="848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554434" y="471487"/>
            <a:ext cx="1317913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¿Por qué es importante la simulación?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166" y="2867662"/>
            <a:ext cx="4006094" cy="227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PERMITE EXPERIMENTAR SIN RIESGO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114928" y="2671762"/>
            <a:ext cx="4519025" cy="3086173"/>
            <a:chOff x="0" y="0"/>
            <a:chExt cx="1190196" cy="8128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90196" cy="812819"/>
            </a:xfrm>
            <a:custGeom>
              <a:avLst/>
              <a:gdLst/>
              <a:ahLst/>
              <a:cxnLst/>
              <a:rect r="r" b="b" t="t" l="l"/>
              <a:pathLst>
                <a:path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371394" y="3648712"/>
            <a:ext cx="4006094" cy="71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REDUCE COSTOS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122340" y="5403059"/>
            <a:ext cx="4405316" cy="3040878"/>
            <a:chOff x="0" y="0"/>
            <a:chExt cx="1160248" cy="8008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60248" cy="800890"/>
            </a:xfrm>
            <a:custGeom>
              <a:avLst/>
              <a:gdLst/>
              <a:ahLst/>
              <a:cxnLst/>
              <a:rect r="r" b="b" t="t" l="l"/>
              <a:pathLst>
                <a:path h="800890" w="1160248">
                  <a:moveTo>
                    <a:pt x="89628" y="0"/>
                  </a:moveTo>
                  <a:lnTo>
                    <a:pt x="1070620" y="0"/>
                  </a:lnTo>
                  <a:cubicBezTo>
                    <a:pt x="1094391" y="0"/>
                    <a:pt x="1117188" y="9443"/>
                    <a:pt x="1133997" y="26251"/>
                  </a:cubicBezTo>
                  <a:cubicBezTo>
                    <a:pt x="1150805" y="43060"/>
                    <a:pt x="1160248" y="65857"/>
                    <a:pt x="1160248" y="89628"/>
                  </a:cubicBezTo>
                  <a:lnTo>
                    <a:pt x="1160248" y="711262"/>
                  </a:lnTo>
                  <a:cubicBezTo>
                    <a:pt x="1160248" y="735033"/>
                    <a:pt x="1150805" y="757830"/>
                    <a:pt x="1133997" y="774638"/>
                  </a:cubicBezTo>
                  <a:cubicBezTo>
                    <a:pt x="1117188" y="791447"/>
                    <a:pt x="1094391" y="800890"/>
                    <a:pt x="1070620" y="800890"/>
                  </a:cubicBezTo>
                  <a:lnTo>
                    <a:pt x="89628" y="800890"/>
                  </a:lnTo>
                  <a:cubicBezTo>
                    <a:pt x="65857" y="800890"/>
                    <a:pt x="43060" y="791447"/>
                    <a:pt x="26251" y="774638"/>
                  </a:cubicBezTo>
                  <a:cubicBezTo>
                    <a:pt x="9443" y="757830"/>
                    <a:pt x="0" y="735033"/>
                    <a:pt x="0" y="711262"/>
                  </a:cubicBezTo>
                  <a:lnTo>
                    <a:pt x="0" y="89628"/>
                  </a:lnTo>
                  <a:cubicBezTo>
                    <a:pt x="0" y="65857"/>
                    <a:pt x="9443" y="43060"/>
                    <a:pt x="26251" y="26251"/>
                  </a:cubicBezTo>
                  <a:cubicBezTo>
                    <a:pt x="43060" y="9443"/>
                    <a:pt x="65857" y="0"/>
                    <a:pt x="89628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60248" cy="848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492298" y="6119456"/>
            <a:ext cx="4006094" cy="149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FACILITA EL APRENDIZAJE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21951" y="6052279"/>
            <a:ext cx="4006094" cy="149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  <a:spcBef>
                <a:spcPct val="0"/>
              </a:spcBef>
            </a:pPr>
            <a:r>
              <a:rPr lang="en-US" b="true" sz="3100" spc="24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ACELERA EL DESARROLLO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48413" y="915441"/>
            <a:ext cx="13991174" cy="10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 Inteligencia Artificial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25183" y="2566495"/>
            <a:ext cx="6822588" cy="5385450"/>
            <a:chOff x="0" y="0"/>
            <a:chExt cx="1796896" cy="14183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6896" cy="1418390"/>
            </a:xfrm>
            <a:custGeom>
              <a:avLst/>
              <a:gdLst/>
              <a:ahLst/>
              <a:cxnLst/>
              <a:rect r="r" b="b" t="t" l="l"/>
              <a:pathLst>
                <a:path h="1418390" w="1796896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0033" y="2610757"/>
            <a:ext cx="6452889" cy="523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3"/>
              </a:lnSpc>
            </a:pPr>
            <a:r>
              <a:rPr lang="en-US" b="true" sz="3709" spc="29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La Inteligencia Artificial se integra con la simulación para crear agentes inteligentes que pueden interactuar, adaptarse y aprender dentro de un entorno</a:t>
            </a:r>
            <a:r>
              <a:rPr lang="en-US" b="true" sz="3709" spc="29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simulado.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63333" y="2566495"/>
            <a:ext cx="6822588" cy="5385450"/>
            <a:chOff x="0" y="0"/>
            <a:chExt cx="1796896" cy="14183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96896" cy="1418390"/>
            </a:xfrm>
            <a:custGeom>
              <a:avLst/>
              <a:gdLst/>
              <a:ahLst/>
              <a:cxnLst/>
              <a:rect r="r" b="b" t="t" l="l"/>
              <a:pathLst>
                <a:path h="1418390" w="1796896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834273" y="2601232"/>
            <a:ext cx="6480708" cy="580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 spc="26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 uso de IA en simulaciones permite que los entornos sean más realistas, dinámicos y que reaccionen de forma inteligente ante distintos escenarios, ofreciendo una plataforma ideal para el aprendizaje y la innovación.</a:t>
            </a:r>
          </a:p>
          <a:p>
            <a:pPr algn="ctr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3115" y="3088121"/>
            <a:ext cx="8930885" cy="5930699"/>
            <a:chOff x="0" y="0"/>
            <a:chExt cx="2352167" cy="15619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2167" cy="1561995"/>
            </a:xfrm>
            <a:custGeom>
              <a:avLst/>
              <a:gdLst/>
              <a:ahLst/>
              <a:cxnLst/>
              <a:rect r="r" b="b" t="t" l="l"/>
              <a:pathLst>
                <a:path h="1561995" w="2352167">
                  <a:moveTo>
                    <a:pt x="44210" y="0"/>
                  </a:moveTo>
                  <a:lnTo>
                    <a:pt x="2307957" y="0"/>
                  </a:lnTo>
                  <a:cubicBezTo>
                    <a:pt x="2319682" y="0"/>
                    <a:pt x="2330927" y="4658"/>
                    <a:pt x="2339218" y="12949"/>
                  </a:cubicBezTo>
                  <a:cubicBezTo>
                    <a:pt x="2347509" y="21240"/>
                    <a:pt x="2352167" y="32485"/>
                    <a:pt x="2352167" y="44210"/>
                  </a:cubicBezTo>
                  <a:lnTo>
                    <a:pt x="2352167" y="1517784"/>
                  </a:lnTo>
                  <a:cubicBezTo>
                    <a:pt x="2352167" y="1529510"/>
                    <a:pt x="2347509" y="1540755"/>
                    <a:pt x="2339218" y="1549046"/>
                  </a:cubicBezTo>
                  <a:cubicBezTo>
                    <a:pt x="2330927" y="1557337"/>
                    <a:pt x="2319682" y="1561995"/>
                    <a:pt x="2307957" y="1561995"/>
                  </a:cubicBezTo>
                  <a:lnTo>
                    <a:pt x="44210" y="1561995"/>
                  </a:lnTo>
                  <a:cubicBezTo>
                    <a:pt x="32485" y="1561995"/>
                    <a:pt x="21240" y="1557337"/>
                    <a:pt x="12949" y="1549046"/>
                  </a:cubicBezTo>
                  <a:cubicBezTo>
                    <a:pt x="4658" y="1540755"/>
                    <a:pt x="0" y="1529510"/>
                    <a:pt x="0" y="1517784"/>
                  </a:cubicBezTo>
                  <a:lnTo>
                    <a:pt x="0" y="44210"/>
                  </a:lnTo>
                  <a:cubicBezTo>
                    <a:pt x="0" y="32485"/>
                    <a:pt x="4658" y="21240"/>
                    <a:pt x="12949" y="12949"/>
                  </a:cubicBezTo>
                  <a:cubicBezTo>
                    <a:pt x="21240" y="4658"/>
                    <a:pt x="32485" y="0"/>
                    <a:pt x="4421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352167" cy="1609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906338" y="3953295"/>
            <a:ext cx="7920202" cy="3900742"/>
          </a:xfrm>
          <a:custGeom>
            <a:avLst/>
            <a:gdLst/>
            <a:ahLst/>
            <a:cxnLst/>
            <a:rect r="r" b="b" t="t" l="l"/>
            <a:pathLst>
              <a:path h="3900742" w="7920202">
                <a:moveTo>
                  <a:pt x="0" y="0"/>
                </a:moveTo>
                <a:lnTo>
                  <a:pt x="7920202" y="0"/>
                </a:lnTo>
                <a:lnTo>
                  <a:pt x="7920202" y="3900742"/>
                </a:lnTo>
                <a:lnTo>
                  <a:pt x="0" y="3900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92343" y="767350"/>
            <a:ext cx="13503315" cy="197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es una biblioteca (o librería) en programación robótica?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8245" y="3658690"/>
            <a:ext cx="8460625" cy="471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Una biblioteca es un conjunto de funciones, clases y módulos reutilizables que permiten a los desarrolladores interactuar con robots, sensores, entornos físicos y simuladores de forma más sencilla.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24453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2449" y="3321152"/>
            <a:ext cx="8749135" cy="5385450"/>
            <a:chOff x="0" y="0"/>
            <a:chExt cx="2304299" cy="14183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4299" cy="1418390"/>
            </a:xfrm>
            <a:custGeom>
              <a:avLst/>
              <a:gdLst/>
              <a:ahLst/>
              <a:cxnLst/>
              <a:rect r="r" b="b" t="t" l="l"/>
              <a:pathLst>
                <a:path h="1418390" w="2304299">
                  <a:moveTo>
                    <a:pt x="45129" y="0"/>
                  </a:moveTo>
                  <a:lnTo>
                    <a:pt x="2259170" y="0"/>
                  </a:lnTo>
                  <a:cubicBezTo>
                    <a:pt x="2284094" y="0"/>
                    <a:pt x="2304299" y="20205"/>
                    <a:pt x="2304299" y="45129"/>
                  </a:cubicBezTo>
                  <a:lnTo>
                    <a:pt x="2304299" y="1373261"/>
                  </a:lnTo>
                  <a:cubicBezTo>
                    <a:pt x="2304299" y="1385230"/>
                    <a:pt x="2299545" y="1396709"/>
                    <a:pt x="2291081" y="1405172"/>
                  </a:cubicBezTo>
                  <a:cubicBezTo>
                    <a:pt x="2282618" y="1413635"/>
                    <a:pt x="2271139" y="1418390"/>
                    <a:pt x="2259170" y="1418390"/>
                  </a:cubicBezTo>
                  <a:lnTo>
                    <a:pt x="45129" y="1418390"/>
                  </a:lnTo>
                  <a:cubicBezTo>
                    <a:pt x="20205" y="1418390"/>
                    <a:pt x="0" y="1398185"/>
                    <a:pt x="0" y="1373261"/>
                  </a:cubicBezTo>
                  <a:lnTo>
                    <a:pt x="0" y="45129"/>
                  </a:lnTo>
                  <a:cubicBezTo>
                    <a:pt x="0" y="20205"/>
                    <a:pt x="20205" y="0"/>
                    <a:pt x="45129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304299" cy="146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922929" y="3795653"/>
            <a:ext cx="7887019" cy="4436448"/>
          </a:xfrm>
          <a:custGeom>
            <a:avLst/>
            <a:gdLst/>
            <a:ahLst/>
            <a:cxnLst/>
            <a:rect r="r" b="b" t="t" l="l"/>
            <a:pathLst>
              <a:path h="4436448" w="7887019">
                <a:moveTo>
                  <a:pt x="0" y="0"/>
                </a:moveTo>
                <a:lnTo>
                  <a:pt x="7887020" y="0"/>
                </a:lnTo>
                <a:lnTo>
                  <a:pt x="7887020" y="4436448"/>
                </a:lnTo>
                <a:lnTo>
                  <a:pt x="0" y="443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48413" y="915441"/>
            <a:ext cx="13928806" cy="201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4"/>
              </a:lnSpc>
            </a:pPr>
            <a:r>
              <a:rPr lang="en-US" b="true" sz="696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¿Por qué son importantes las bibliotecas en la simulación?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2728" y="3459627"/>
            <a:ext cx="8373916" cy="504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1356" indent="-310678" lvl="1">
              <a:lnSpc>
                <a:spcPts val="4029"/>
              </a:lnSpc>
              <a:buFont typeface="Arial"/>
              <a:buChar char="•"/>
            </a:pPr>
            <a:r>
              <a:rPr lang="en-US" b="true" sz="2877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Simplifican el control de robots virtuales (movimiento, sensores, brazos).</a:t>
            </a:r>
          </a:p>
          <a:p>
            <a:pPr algn="just" marL="621356" indent="-310678" lvl="1">
              <a:lnSpc>
                <a:spcPts val="4029"/>
              </a:lnSpc>
              <a:buFont typeface="Arial"/>
              <a:buChar char="•"/>
            </a:pPr>
            <a:r>
              <a:rPr lang="en-US" b="true" sz="2877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Permiten simular entornos físicos como gravedad, colisiones y superficies.</a:t>
            </a:r>
          </a:p>
          <a:p>
            <a:pPr algn="just" marL="621356" indent="-310678" lvl="1">
              <a:lnSpc>
                <a:spcPts val="4029"/>
              </a:lnSpc>
              <a:buFont typeface="Arial"/>
              <a:buChar char="•"/>
            </a:pPr>
            <a:r>
              <a:rPr lang="en-US" b="true" sz="2877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Facilitan la conexión entre algoritmos de IA y los robots simulados.</a:t>
            </a:r>
          </a:p>
          <a:p>
            <a:pPr algn="just" marL="621356" indent="-310678" lvl="1">
              <a:lnSpc>
                <a:spcPts val="4029"/>
              </a:lnSpc>
              <a:buFont typeface="Arial"/>
              <a:buChar char="•"/>
            </a:pPr>
            <a:r>
              <a:rPr lang="en-US" b="true" sz="2877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Ayudan a implementar comportamientos complejos con</a:t>
            </a:r>
            <a:r>
              <a:rPr lang="en-US" b="true" sz="2877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pocas líneas de código.</a:t>
            </a:r>
          </a:p>
          <a:p>
            <a:pPr algn="just">
              <a:lnSpc>
                <a:spcPts val="402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17207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Biblioteca p5.js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181" y="2332321"/>
            <a:ext cx="16077219" cy="605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b="true" sz="31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p5.js es una biblioteca de JavaScript d</a:t>
            </a:r>
            <a:r>
              <a:rPr lang="en-US" b="true" sz="31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 código abierto diseñada para hacer más accesible la programación creativa. Fue creada por Lauren McCarthy como una evolución de Processing, y está orientada a artistas, educadores, diseñadores, y ahora también se usa en educación en tecnología.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</a:p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b="true" sz="31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Aunque p5.js no es un motor físico ni una librería robótica, puede ser muy útil en los siguientes aspectos: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b="true" sz="31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1. Visualización de algoritmos</a:t>
            </a:r>
          </a:p>
          <a:p>
            <a:pPr algn="l" marL="673603" indent="-336802" lvl="1">
              <a:lnSpc>
                <a:spcPts val="43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Algoritmos de navegación (como A*, línea recta, seguimiento de paredes)</a:t>
            </a:r>
          </a:p>
          <a:p>
            <a:pPr algn="l" marL="673603" indent="-336802" lvl="1">
              <a:lnSpc>
                <a:spcPts val="43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Diagramas de sensores (líneas de distancia, zonas de visión)</a:t>
            </a:r>
          </a:p>
          <a:p>
            <a:pPr algn="l" marL="673603" indent="-336802" lvl="1">
              <a:lnSpc>
                <a:spcPts val="43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Trayectorias de robot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Biblioteca p5.js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1743" y="2081654"/>
            <a:ext cx="16077219" cy="6381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sz="301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2. Prototipado de lógica de robots</a:t>
            </a:r>
          </a:p>
          <a:p>
            <a:pPr algn="just" marL="652012" indent="-326006" lvl="1">
              <a:lnSpc>
                <a:spcPts val="4227"/>
              </a:lnSpc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Simulación de movimiento de robots 2D</a:t>
            </a:r>
          </a:p>
          <a:p>
            <a:pPr algn="just" marL="652012" indent="-326006" lvl="1">
              <a:lnSpc>
                <a:spcPts val="4227"/>
              </a:lnSpc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Reacción ante obstáculos</a:t>
            </a:r>
          </a:p>
          <a:p>
            <a:pPr algn="just" marL="652012" indent="-326006" lvl="1">
              <a:lnSpc>
                <a:spcPts val="4227"/>
              </a:lnSpc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Comportamientos programados con condicionales (if, switch, etc.)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3. Interfaces interactivas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Control remoto con teclado, mouse o sensores externos (vía Web APIs)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Interfaz visual para simular señales de sensores (líneas, puntos, gráficos)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4. Educación y divulgación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Ideal para que los estudiantes vean de forma inmediata cómo se comporta un robot cuando cambian el código.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No se necesita hardware ni instalar programas pesados.</a:t>
            </a:r>
          </a:p>
          <a:p>
            <a:pPr algn="l">
              <a:lnSpc>
                <a:spcPts val="42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Biblioteca Three.js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1743" y="2081654"/>
            <a:ext cx="16077219" cy="744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Three.js es una b</a:t>
            </a: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iblioteca JavaScript que permite crear y mostrar esce</a:t>
            </a: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nas 3D interactivas en la web usando WebGL, sin necesidad de plugins.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Fu</a:t>
            </a: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 desarrollada por Ricardo Cabello (mrdoob) y tiene una comunidad enorme.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 como un “motor gráfico 3D” para navegadores: se puede usar para juegos, simulaciones, visualizaciones científicas, etc.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Aunque Three.js no es un simulador de física ni de robótica por sí solo, es ideal para: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Visualizar: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Robots en 3D (brazo robótico, robot móvil, drones)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Escenarios donde se mueve el robot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Trayectorias, sensores, cámaras y puntos de interés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Interacción hombre-máquina (UI en 3D)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</a:p>
          <a:p>
            <a:pPr algn="l">
              <a:lnSpc>
                <a:spcPts val="42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Biblioteca Three.js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1743" y="2081654"/>
            <a:ext cx="16077219" cy="798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sz="301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Integrarse con: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</a:t>
            </a: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lgoritmos de co</a:t>
            </a: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ntrol y simulación hechos en JavaScript o Python (vía WebSocket)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Motores de física como Ammo.js o Cannon.js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Información en tiempo real proveniente de simulaciones físicas (como ROS + WebBridge)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VentajaDescripción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Visualización rica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Renderiza modelos 3D con texturas, sombras, luces, cámaras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Interactivo y en tiempo real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Se puede controlar la cámara, mover objetos, detectar colisiones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Modular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Se integra con motores físicos, datos externos o interfaces gráficas (GUI)</a:t>
            </a:r>
          </a:p>
          <a:p>
            <a:pPr algn="just" marL="652012" indent="-326006" lvl="1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Corre en navegador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No requiere instalación, ideal para demos y educación</a:t>
            </a:r>
          </a:p>
          <a:p>
            <a:pPr algn="just">
              <a:lnSpc>
                <a:spcPts val="4227"/>
              </a:lnSpc>
              <a:spcBef>
                <a:spcPct val="0"/>
              </a:spcBef>
            </a:pPr>
          </a:p>
          <a:p>
            <a:pPr algn="l">
              <a:lnSpc>
                <a:spcPts val="42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7040" y="2147777"/>
            <a:ext cx="14233665" cy="692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Representación computacional de si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stemas reales o imaginarios, utilizada para analizar comportamientos y validar algoritmos sin necesidad de implementarlos físicamente.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 Inteligencia Artificial</a:t>
            </a: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Permite probar algoritmos de búsqueda, navegación y toma de decisiones en entornos controlados, facilitando el desarrollo de comportamientos inteligentes en los robots.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Plataformas y Librerías de Simulación: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Existe un buen número de plataformas para simulación de robots, tanto en local como en desarrollo web. Es necesario siempre evaluar los requerimientos para elegir la mejor opción.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12826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y Actitudes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1842771"/>
            <a:ext cx="14233665" cy="741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Responsabilidad</a:t>
            </a: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Al asumir el rol de desarrolladores de entornos simulados y agentes inteligentes, los estudiantes deben trabajar con ética, cumpliendo sus tareas con compromiso y seriedad.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Trabajo en equipo: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requiere colaboración multidisciplinaria (programación, lógica, diseño), fomentando la cooperación, el respeto y la escucha activa entre compañeros.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Pensamiento Crítico</a:t>
            </a: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</a:t>
            </a: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invita a analizar problemas complejos, evaluar decisiones del robot y mejorar algoritmos, promoviendo el cuestionamiento constante y la búsqueda de soluciones eficientes.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Creatividad: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Al construir escenarios, programar comportamientos y diseñar entornos visuales, los estudiantes ejercitan su capacidad para idear soluciones innovadoras y visualmente atractivas.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42215" y="3564371"/>
            <a:ext cx="14233665" cy="345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ssell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,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S., &amp; Norvig, 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 (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20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6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). 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icial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nte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ence: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M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dern 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 (3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.).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P5.js.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p5.j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 Reference. Recuperado de: </a:t>
            </a:r>
            <a:r>
              <a:rPr lang="en-US" b="true" sz="2800" strike="noStrike" u="sng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https://p5js.org/reference/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Three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.js Documentation. three.js Docs. Recuperado de: </a:t>
            </a:r>
            <a:r>
              <a:rPr lang="en-US" b="true" sz="2800" strike="noStrike" u="sng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3" tooltip="https://threejs.org/docs/"/>
              </a:rPr>
              <a:t>https://threejs.org/docs/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446254"/>
            <a:ext cx="8658828" cy="2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b="true" sz="60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0210"/>
            <a:ext cx="1346580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DAGobYpeQaQ</dc:identifier>
  <dcterms:modified xsi:type="dcterms:W3CDTF">2011-08-01T06:04:30Z</dcterms:modified>
  <cp:revision>1</cp:revision>
  <dc:title>Clase 9</dc:title>
</cp:coreProperties>
</file>