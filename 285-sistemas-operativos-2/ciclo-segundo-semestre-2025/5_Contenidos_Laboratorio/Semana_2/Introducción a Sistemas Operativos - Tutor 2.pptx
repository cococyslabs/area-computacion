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10287000" cx="18288000"/>
  <p:notesSz cx="6858000" cy="9144000"/>
  <p:embeddedFontLst>
    <p:embeddedFont>
      <p:font typeface="Montserrat"/>
      <p:regular r:id="rId36"/>
      <p:bold r:id="rId37"/>
      <p:italic r:id="rId38"/>
      <p:boldItalic r:id="rId39"/>
    </p:embeddedFont>
    <p:embeddedFont>
      <p:font typeface="Sanchez"/>
      <p:regular r:id="rId40"/>
      <p:italic r:id="rId41"/>
    </p:embeddedFont>
    <p:embeddedFont>
      <p:font typeface="Open Sans"/>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6" roundtripDataSignature="AMtx7mhPlwmsIZgG5Hs59h8VGVht/gFu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D3C56DF-111B-4D5C-8DBC-93711423EE30}">
  <a:tblStyle styleId="{FD3C56DF-111B-4D5C-8DBC-93711423EE30}"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anchez-regular.fntdata"/><Relationship Id="rId20" Type="http://schemas.openxmlformats.org/officeDocument/2006/relationships/slide" Target="slides/slide14.xml"/><Relationship Id="rId42" Type="http://schemas.openxmlformats.org/officeDocument/2006/relationships/font" Target="fonts/OpenSans-regular.fntdata"/><Relationship Id="rId41" Type="http://schemas.openxmlformats.org/officeDocument/2006/relationships/font" Target="fonts/Sanchez-italic.fntdata"/><Relationship Id="rId22" Type="http://schemas.openxmlformats.org/officeDocument/2006/relationships/slide" Target="slides/slide16.xml"/><Relationship Id="rId44" Type="http://schemas.openxmlformats.org/officeDocument/2006/relationships/font" Target="fonts/OpenSans-italic.fntdata"/><Relationship Id="rId21" Type="http://schemas.openxmlformats.org/officeDocument/2006/relationships/slide" Target="slides/slide15.xml"/><Relationship Id="rId43" Type="http://schemas.openxmlformats.org/officeDocument/2006/relationships/font" Target="fonts/OpenSans-bold.fntdata"/><Relationship Id="rId24" Type="http://schemas.openxmlformats.org/officeDocument/2006/relationships/slide" Target="slides/slide18.xml"/><Relationship Id="rId46" Type="http://customschemas.google.com/relationships/presentationmetadata" Target="metadata"/><Relationship Id="rId23" Type="http://schemas.openxmlformats.org/officeDocument/2006/relationships/slide" Target="slides/slide17.xml"/><Relationship Id="rId45" Type="http://schemas.openxmlformats.org/officeDocument/2006/relationships/font" Target="fonts/OpenSans-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Montserrat-bold.fntdata"/><Relationship Id="rId14" Type="http://schemas.openxmlformats.org/officeDocument/2006/relationships/slide" Target="slides/slide8.xml"/><Relationship Id="rId36" Type="http://schemas.openxmlformats.org/officeDocument/2006/relationships/font" Target="fonts/Montserrat-regular.fntdata"/><Relationship Id="rId17" Type="http://schemas.openxmlformats.org/officeDocument/2006/relationships/slide" Target="slides/slide11.xml"/><Relationship Id="rId39" Type="http://schemas.openxmlformats.org/officeDocument/2006/relationships/font" Target="fonts/Montserrat-boldItalic.fntdata"/><Relationship Id="rId16" Type="http://schemas.openxmlformats.org/officeDocument/2006/relationships/slide" Target="slides/slide10.xml"/><Relationship Id="rId38" Type="http://schemas.openxmlformats.org/officeDocument/2006/relationships/font" Target="fonts/Montserrat-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8b3e1836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68b3e1836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c3d042265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c3d042265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8b3e1836e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68b3e1836e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c3d042265_1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c3d042265_1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381058da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39381058da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9381058da4_0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 name="Google Shape;153;g39381058da4_0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5c3d042265_1_2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g35c3d042265_1_2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 name="Google Shape;19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6" name="Google Shape;27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7" name="Google Shape;28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6" name="Google Shape;29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5c3d042265_1_2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8" name="Google Shape;348;g35c3d042265_1_2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5c3d042265_1_3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1" name="Google Shape;361;g35c3d042265_1_3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5c3d042265_1_3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3" name="Google Shape;383;g35c3d042265_1_3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5c3d042265_1_3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3" name="Google Shape;393;g35c3d042265_1_3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5c3d042265_1_3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3" name="Google Shape;403;g35c3d042265_1_3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5c3d042265_1_3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7" name="Google Shape;417;g35c3d042265_1_3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5c3d042265_1_3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2" name="Google Shape;442;g35c3d042265_1_3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5c3d042265_1_4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6" name="Google Shape;476;g35c3d042265_1_4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5c3d042265_1_5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6" name="Google Shape;496;g35c3d042265_1_5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5c3d042265_1_5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7" name="Google Shape;507;g35c3d042265_1_5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5c3d042265_1_5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7" name="Google Shape;517;g35c3d042265_1_5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5ecdb00f6c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7" name="Google Shape;527;g35ecdb00f6c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7" name="Google Shape;53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6371945a8a_0_8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6371945a8a_0_8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6371945a8a_0_8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2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2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7"/>
          <p:cNvSpPr/>
          <p:nvPr>
            <p:ph idx="2" type="pic"/>
          </p:nvPr>
        </p:nvSpPr>
        <p:spPr>
          <a:xfrm>
            <a:off x="1792288" y="612775"/>
            <a:ext cx="5486400" cy="4114800"/>
          </a:xfrm>
          <a:prstGeom prst="rect">
            <a:avLst/>
          </a:prstGeom>
          <a:noFill/>
          <a:ln>
            <a:noFill/>
          </a:ln>
        </p:spPr>
      </p:sp>
      <p:sp>
        <p:nvSpPr>
          <p:cNvPr id="68" name="Google Shape;68;p2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5.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7.png"/><Relationship Id="rId4" Type="http://schemas.openxmlformats.org/officeDocument/2006/relationships/image" Target="../media/image3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9.png"/><Relationship Id="rId4" Type="http://schemas.openxmlformats.org/officeDocument/2006/relationships/image" Target="../media/image13.png"/><Relationship Id="rId5"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7.png"/><Relationship Id="rId5"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hyperlink" Target="http://www.youtube.com/watch?v=_ibJHTi1jSY" TargetMode="External"/><Relationship Id="rId5"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10.png"/><Relationship Id="rId5" Type="http://schemas.openxmlformats.org/officeDocument/2006/relationships/image" Target="../media/image21.png"/><Relationship Id="rId6" Type="http://schemas.openxmlformats.org/officeDocument/2006/relationships/image" Target="../media/image8.png"/><Relationship Id="rId7"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jp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27.png"/><Relationship Id="rId5" Type="http://schemas.openxmlformats.org/officeDocument/2006/relationships/image" Target="../media/image24.png"/><Relationship Id="rId6" Type="http://schemas.openxmlformats.org/officeDocument/2006/relationships/image" Target="../media/image4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39.png"/><Relationship Id="rId5" Type="http://schemas.openxmlformats.org/officeDocument/2006/relationships/image" Target="../media/image20.png"/><Relationship Id="rId6"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62.png"/><Relationship Id="rId5" Type="http://schemas.openxmlformats.org/officeDocument/2006/relationships/image" Target="../media/image24.png"/><Relationship Id="rId6"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4.jpg"/><Relationship Id="rId4" Type="http://schemas.openxmlformats.org/officeDocument/2006/relationships/image" Target="../media/image5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2.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6.png"/><Relationship Id="rId4" Type="http://schemas.openxmlformats.org/officeDocument/2006/relationships/image" Target="../media/image40.png"/><Relationship Id="rId5" Type="http://schemas.openxmlformats.org/officeDocument/2006/relationships/image" Target="../media/image49.png"/><Relationship Id="rId6" Type="http://schemas.openxmlformats.org/officeDocument/2006/relationships/image" Target="../media/image3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9.png"/><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2.png"/><Relationship Id="rId4" Type="http://schemas.openxmlformats.org/officeDocument/2006/relationships/image" Target="../media/image70.png"/><Relationship Id="rId5" Type="http://schemas.openxmlformats.org/officeDocument/2006/relationships/image" Target="../media/image43.png"/><Relationship Id="rId6" Type="http://schemas.openxmlformats.org/officeDocument/2006/relationships/image" Target="../media/image5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8.png"/><Relationship Id="rId4" Type="http://schemas.openxmlformats.org/officeDocument/2006/relationships/image" Target="../media/image6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2.png"/><Relationship Id="rId4" Type="http://schemas.openxmlformats.org/officeDocument/2006/relationships/image" Target="../media/image58.png"/><Relationship Id="rId5" Type="http://schemas.openxmlformats.org/officeDocument/2006/relationships/image" Target="../media/image66.png"/><Relationship Id="rId6" Type="http://schemas.openxmlformats.org/officeDocument/2006/relationships/image" Target="../media/image5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9.png"/><Relationship Id="rId4" Type="http://schemas.openxmlformats.org/officeDocument/2006/relationships/image" Target="../media/image58.png"/><Relationship Id="rId5" Type="http://schemas.openxmlformats.org/officeDocument/2006/relationships/image" Target="../media/image50.png"/><Relationship Id="rId6" Type="http://schemas.openxmlformats.org/officeDocument/2006/relationships/image" Target="../media/image55.png"/><Relationship Id="rId7" Type="http://schemas.openxmlformats.org/officeDocument/2006/relationships/image" Target="../media/image6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8.png"/><Relationship Id="rId4" Type="http://schemas.openxmlformats.org/officeDocument/2006/relationships/image" Target="../media/image58.png"/><Relationship Id="rId5" Type="http://schemas.openxmlformats.org/officeDocument/2006/relationships/image" Target="../media/image6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jpg"/><Relationship Id="rId4" Type="http://schemas.openxmlformats.org/officeDocument/2006/relationships/image" Target="../media/image69.png"/><Relationship Id="rId5" Type="http://schemas.openxmlformats.org/officeDocument/2006/relationships/image" Target="../media/image67.png"/><Relationship Id="rId6"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8.png"/><Relationship Id="rId4" Type="http://schemas.openxmlformats.org/officeDocument/2006/relationships/hyperlink" Target="https://www.techtarget.com/whatis/definition/operating-system-OS" TargetMode="External"/><Relationship Id="rId5" Type="http://schemas.openxmlformats.org/officeDocument/2006/relationships/hyperlink" Target="https://www.geeksforgeeks.org/types-of-operating-systems/" TargetMode="External"/><Relationship Id="rId6" Type="http://schemas.openxmlformats.org/officeDocument/2006/relationships/hyperlink" Target="https://mwiza.medium.com/linux-is-the-kernel-gnu-is-the-os-gnu-linux-explained-ee35795ea9ed"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jpg"/><Relationship Id="rId4" Type="http://schemas.openxmlformats.org/officeDocument/2006/relationships/image" Target="../media/image6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68b3e1836e_0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68b3e1836e_0_0"/>
          <p:cNvGraphicFramePr/>
          <p:nvPr/>
        </p:nvGraphicFramePr>
        <p:xfrm>
          <a:off x="10656400" y="1940050"/>
          <a:ext cx="3000000" cy="3000000"/>
        </p:xfrm>
        <a:graphic>
          <a:graphicData uri="http://schemas.openxmlformats.org/drawingml/2006/table">
            <a:tbl>
              <a:tblPr>
                <a:noFill/>
                <a:tableStyleId>{FD3C56DF-111B-4D5C-8DBC-93711423EE30}</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06/02/2026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17:20</a:t>
                      </a:r>
                      <a:endParaRPr sz="2800" u="none" cap="none" strike="noStrike"/>
                    </a:p>
                  </a:txBody>
                  <a:tcPr marT="182850" marB="182850" marR="182850" marL="182850"/>
                </a:tc>
              </a:tr>
            </a:tbl>
          </a:graphicData>
        </a:graphic>
      </p:graphicFrame>
      <p:sp>
        <p:nvSpPr>
          <p:cNvPr id="90" name="Google Shape;90;g368b3e1836e_0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68b3e1836e_0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lang="en-US" sz="4400"/>
              <a:t>Alan Rodrigo Pamal De León</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c3d042265_1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c3d042265_1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c3d042265_1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c3d042265_1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c3d042265_1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c3d042265_1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c3d042265_1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c3d042265_1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c3d042265_1_0"/>
          <p:cNvSpPr txBox="1"/>
          <p:nvPr/>
        </p:nvSpPr>
        <p:spPr>
          <a:xfrm>
            <a:off x="3601920" y="4217247"/>
            <a:ext cx="11280600" cy="25281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1: INTRODUCCION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68b3e1836e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68b3e1836e_0_7"/>
          <p:cNvGrpSpPr/>
          <p:nvPr/>
        </p:nvGrpSpPr>
        <p:grpSpPr>
          <a:xfrm>
            <a:off x="9975044" y="2453203"/>
            <a:ext cx="7764346" cy="662374"/>
            <a:chOff x="3095445" y="-87910"/>
            <a:chExt cx="5099400" cy="435000"/>
          </a:xfrm>
        </p:grpSpPr>
        <p:sp>
          <p:nvSpPr>
            <p:cNvPr id="111" name="Google Shape;111;g368b3e1836e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68b3e1836e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68b3e1836e_0_7"/>
          <p:cNvPicPr preferRelativeResize="0"/>
          <p:nvPr/>
        </p:nvPicPr>
        <p:blipFill rotWithShape="1">
          <a:blip r:embed="rId4">
            <a:alphaModFix/>
          </a:blip>
          <a:srcRect b="-136" l="-3870" r="3869" t="140"/>
          <a:stretch/>
        </p:blipFill>
        <p:spPr>
          <a:xfrm rot="-1769370">
            <a:off x="2487697" y="2265794"/>
            <a:ext cx="3499333" cy="3372288"/>
          </a:xfrm>
          <a:prstGeom prst="rect">
            <a:avLst/>
          </a:prstGeom>
          <a:noFill/>
          <a:ln>
            <a:noFill/>
          </a:ln>
        </p:spPr>
      </p:pic>
      <p:sp>
        <p:nvSpPr>
          <p:cNvPr id="114" name="Google Shape;114;g368b3e1836e_0_7"/>
          <p:cNvSpPr txBox="1"/>
          <p:nvPr/>
        </p:nvSpPr>
        <p:spPr>
          <a:xfrm>
            <a:off x="7327600" y="3550913"/>
            <a:ext cx="10411800" cy="21240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Horarios de Calificación Practica 1</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Lectura Practica 2</a:t>
            </a:r>
            <a:br>
              <a:rPr b="0" i="0" lang="en-US" sz="4200" u="none" cap="none" strike="noStrike">
                <a:solidFill>
                  <a:schemeClr val="lt1"/>
                </a:solidFill>
                <a:latin typeface="Calibri"/>
                <a:ea typeface="Calibri"/>
                <a:cs typeface="Calibri"/>
                <a:sym typeface="Calibri"/>
              </a:rPr>
            </a:br>
            <a:r>
              <a:rPr lang="en-US" sz="4200">
                <a:solidFill>
                  <a:schemeClr val="lt1"/>
                </a:solidFill>
                <a:latin typeface="Calibri"/>
                <a:ea typeface="Calibri"/>
                <a:cs typeface="Calibri"/>
                <a:sym typeface="Calibri"/>
              </a:rPr>
              <a:t>Calificaciones de proximas practicas</a:t>
            </a:r>
            <a:endParaRPr b="0" i="0" sz="42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5c3d042265_1_87"/>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5c3d042265_1_87"/>
          <p:cNvSpPr txBox="1"/>
          <p:nvPr/>
        </p:nvSpPr>
        <p:spPr>
          <a:xfrm>
            <a:off x="6730250" y="3428988"/>
            <a:ext cx="10411800" cy="5356500"/>
          </a:xfrm>
          <a:prstGeom prst="rect">
            <a:avLst/>
          </a:prstGeom>
          <a:noFill/>
          <a:ln>
            <a:noFill/>
          </a:ln>
        </p:spPr>
        <p:txBody>
          <a:bodyPr anchorCtr="0" anchor="t" bIns="91425" lIns="91425" spcFirstLastPara="1" rIns="91425" wrap="square" tIns="91425">
            <a:spAutoFit/>
          </a:bodyPr>
          <a:lstStyle/>
          <a:p>
            <a:pPr indent="-495300" lvl="0" marL="457200" rtl="0" algn="l">
              <a:spcBef>
                <a:spcPts val="0"/>
              </a:spcBef>
              <a:spcAft>
                <a:spcPts val="0"/>
              </a:spcAft>
              <a:buClr>
                <a:schemeClr val="lt1"/>
              </a:buClr>
              <a:buSzPts val="4200"/>
              <a:buFont typeface="Calibri"/>
              <a:buAutoNum type="arabicPeriod"/>
            </a:pPr>
            <a:r>
              <a:rPr lang="en-US" sz="4200">
                <a:solidFill>
                  <a:schemeClr val="lt1"/>
                </a:solidFill>
                <a:latin typeface="Calibri"/>
                <a:ea typeface="Calibri"/>
                <a:cs typeface="Calibri"/>
                <a:sym typeface="Calibri"/>
              </a:rPr>
              <a:t>Conociendo al Auxiliar</a:t>
            </a:r>
            <a:endParaRPr sz="4200">
              <a:solidFill>
                <a:schemeClr val="lt1"/>
              </a:solidFill>
              <a:latin typeface="Calibri"/>
              <a:ea typeface="Calibri"/>
              <a:cs typeface="Calibri"/>
              <a:sym typeface="Calibri"/>
            </a:endParaRPr>
          </a:p>
          <a:p>
            <a:pPr indent="-495300" lvl="0" marL="457200" rtl="0" algn="l">
              <a:spcBef>
                <a:spcPts val="0"/>
              </a:spcBef>
              <a:spcAft>
                <a:spcPts val="0"/>
              </a:spcAft>
              <a:buClr>
                <a:schemeClr val="lt1"/>
              </a:buClr>
              <a:buSzPts val="4200"/>
              <a:buFont typeface="Calibri"/>
              <a:buAutoNum type="arabicPeriod"/>
            </a:pPr>
            <a:r>
              <a:rPr lang="en-US" sz="4200">
                <a:solidFill>
                  <a:schemeClr val="lt1"/>
                </a:solidFill>
                <a:latin typeface="Calibri"/>
                <a:ea typeface="Calibri"/>
                <a:cs typeface="Calibri"/>
                <a:sym typeface="Calibri"/>
              </a:rPr>
              <a:t>Lectura Practica 2</a:t>
            </a:r>
            <a:endParaRPr sz="4200">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Introducción a los sistemas operativos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Introducción a Linux</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Introducción al kernel de Linux</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Arquitectura del kernel y estructura de código</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Escribir y compilar módulos del kernel</a:t>
            </a:r>
            <a:endParaRPr b="0" i="0" sz="4200" u="none" cap="none" strike="noStrike">
              <a:solidFill>
                <a:schemeClr val="lt1"/>
              </a:solidFill>
              <a:latin typeface="Calibri"/>
              <a:ea typeface="Calibri"/>
              <a:cs typeface="Calibri"/>
              <a:sym typeface="Calibri"/>
            </a:endParaRPr>
          </a:p>
        </p:txBody>
      </p:sp>
      <p:grpSp>
        <p:nvGrpSpPr>
          <p:cNvPr id="121" name="Google Shape;121;g35c3d042265_1_87"/>
          <p:cNvGrpSpPr/>
          <p:nvPr/>
        </p:nvGrpSpPr>
        <p:grpSpPr>
          <a:xfrm>
            <a:off x="5261819" y="1886650"/>
            <a:ext cx="7764346" cy="662377"/>
            <a:chOff x="5261919" y="2543550"/>
            <a:chExt cx="7764346" cy="662377"/>
          </a:xfrm>
        </p:grpSpPr>
        <p:grpSp>
          <p:nvGrpSpPr>
            <p:cNvPr id="122" name="Google Shape;122;g35c3d042265_1_87"/>
            <p:cNvGrpSpPr/>
            <p:nvPr/>
          </p:nvGrpSpPr>
          <p:grpSpPr>
            <a:xfrm>
              <a:off x="5261919" y="2543553"/>
              <a:ext cx="7764346" cy="662374"/>
              <a:chOff x="0" y="-28575"/>
              <a:chExt cx="5099400" cy="435000"/>
            </a:xfrm>
          </p:grpSpPr>
          <p:sp>
            <p:nvSpPr>
              <p:cNvPr id="123" name="Google Shape;123;g35c3d042265_1_87"/>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5c3d042265_1_87"/>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5c3d042265_1_87"/>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5c3d042265_1_87"/>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p2"/>
          <p:cNvGrpSpPr/>
          <p:nvPr/>
        </p:nvGrpSpPr>
        <p:grpSpPr>
          <a:xfrm>
            <a:off x="3300300" y="3865651"/>
            <a:ext cx="11687426" cy="2205573"/>
            <a:chOff x="0" y="-19050"/>
            <a:chExt cx="1876865" cy="1078889"/>
          </a:xfrm>
        </p:grpSpPr>
        <p:sp>
          <p:nvSpPr>
            <p:cNvPr id="132" name="Google Shape;132;p2"/>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2"/>
            <p:cNvSpPr txBox="1"/>
            <p:nvPr/>
          </p:nvSpPr>
          <p:spPr>
            <a:xfrm>
              <a:off x="0" y="-19050"/>
              <a:ext cx="1876865" cy="107888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p2"/>
          <p:cNvGrpSpPr/>
          <p:nvPr/>
        </p:nvGrpSpPr>
        <p:grpSpPr>
          <a:xfrm>
            <a:off x="3713601" y="4228767"/>
            <a:ext cx="1136538" cy="1136538"/>
            <a:chOff x="0" y="0"/>
            <a:chExt cx="812800" cy="812800"/>
          </a:xfrm>
        </p:grpSpPr>
        <p:sp>
          <p:nvSpPr>
            <p:cNvPr id="135" name="Google Shape;135;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p2"/>
          <p:cNvSpPr/>
          <p:nvPr/>
        </p:nvSpPr>
        <p:spPr>
          <a:xfrm>
            <a:off x="3925029" y="4396742"/>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p2"/>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p2"/>
          <p:cNvSpPr txBox="1"/>
          <p:nvPr/>
        </p:nvSpPr>
        <p:spPr>
          <a:xfrm>
            <a:off x="5040450" y="4336154"/>
            <a:ext cx="9287400" cy="11082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1400" u="none" cap="none" strike="noStrike">
              <a:solidFill>
                <a:srgbClr val="000000"/>
              </a:solidFill>
              <a:latin typeface="Arial"/>
              <a:ea typeface="Arial"/>
              <a:cs typeface="Arial"/>
              <a:sym typeface="Arial"/>
            </a:endParaRPr>
          </a:p>
        </p:txBody>
      </p:sp>
      <p:sp>
        <p:nvSpPr>
          <p:cNvPr id="140" name="Google Shape;140;p2"/>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1" name="Google Shape;141;p2"/>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45" name="Shape 145"/>
        <p:cNvGrpSpPr/>
        <p:nvPr/>
      </p:nvGrpSpPr>
      <p:grpSpPr>
        <a:xfrm>
          <a:off x="0" y="0"/>
          <a:ext cx="0" cy="0"/>
          <a:chOff x="0" y="0"/>
          <a:chExt cx="0" cy="0"/>
        </a:xfrm>
      </p:grpSpPr>
      <p:pic>
        <p:nvPicPr>
          <p:cNvPr id="146" name="Google Shape;146;g39381058da4_0_0"/>
          <p:cNvPicPr preferRelativeResize="0"/>
          <p:nvPr/>
        </p:nvPicPr>
        <p:blipFill>
          <a:blip r:embed="rId3">
            <a:alphaModFix/>
          </a:blip>
          <a:stretch>
            <a:fillRect/>
          </a:stretch>
        </p:blipFill>
        <p:spPr>
          <a:xfrm>
            <a:off x="2182525" y="8072737"/>
            <a:ext cx="1543575" cy="1538425"/>
          </a:xfrm>
          <a:prstGeom prst="rect">
            <a:avLst/>
          </a:prstGeom>
          <a:noFill/>
          <a:ln>
            <a:noFill/>
          </a:ln>
        </p:spPr>
      </p:pic>
      <p:pic>
        <p:nvPicPr>
          <p:cNvPr id="147" name="Google Shape;147;g39381058da4_0_0"/>
          <p:cNvPicPr preferRelativeResize="0"/>
          <p:nvPr/>
        </p:nvPicPr>
        <p:blipFill>
          <a:blip r:embed="rId4">
            <a:alphaModFix/>
          </a:blip>
          <a:stretch>
            <a:fillRect/>
          </a:stretch>
        </p:blipFill>
        <p:spPr>
          <a:xfrm>
            <a:off x="3878500" y="8072738"/>
            <a:ext cx="1543574" cy="1543574"/>
          </a:xfrm>
          <a:prstGeom prst="rect">
            <a:avLst/>
          </a:prstGeom>
          <a:noFill/>
          <a:ln>
            <a:noFill/>
          </a:ln>
        </p:spPr>
      </p:pic>
      <p:sp>
        <p:nvSpPr>
          <p:cNvPr id="148" name="Google Shape;148;g39381058da4_0_0"/>
          <p:cNvSpPr txBox="1"/>
          <p:nvPr/>
        </p:nvSpPr>
        <p:spPr>
          <a:xfrm>
            <a:off x="6074900" y="3540475"/>
            <a:ext cx="11010000" cy="26871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200"/>
              <a:buFont typeface="Arial"/>
              <a:buNone/>
            </a:pPr>
            <a:r>
              <a:rPr b="0" i="0" lang="en-US" sz="9800" u="none" cap="none" strike="noStrike">
                <a:solidFill>
                  <a:srgbClr val="FFFFFF"/>
                </a:solidFill>
                <a:latin typeface="Arial"/>
                <a:ea typeface="Arial"/>
                <a:cs typeface="Arial"/>
                <a:sym typeface="Arial"/>
              </a:rPr>
              <a:t>¿Quien Soy?</a:t>
            </a:r>
            <a:endParaRPr b="0" i="0" sz="56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4200"/>
              <a:buFont typeface="Arial"/>
              <a:buNone/>
            </a:pPr>
            <a:r>
              <a:rPr b="0" i="0" lang="en-US" sz="5600" u="none" cap="none" strike="noStrike">
                <a:solidFill>
                  <a:srgbClr val="FFFFFF"/>
                </a:solidFill>
                <a:latin typeface="Arial"/>
                <a:ea typeface="Arial"/>
                <a:cs typeface="Arial"/>
                <a:sym typeface="Arial"/>
              </a:rPr>
              <a:t>Conociendo al auxiliar</a:t>
            </a:r>
            <a:endParaRPr b="0" i="0" sz="5600" u="none" cap="none" strike="noStrike">
              <a:solidFill>
                <a:srgbClr val="FFFFFF"/>
              </a:solidFill>
              <a:latin typeface="Arial"/>
              <a:ea typeface="Arial"/>
              <a:cs typeface="Arial"/>
              <a:sym typeface="Arial"/>
            </a:endParaRPr>
          </a:p>
        </p:txBody>
      </p:sp>
      <p:sp>
        <p:nvSpPr>
          <p:cNvPr id="149" name="Google Shape;149;g39381058da4_0_0"/>
          <p:cNvSpPr txBox="1"/>
          <p:nvPr/>
        </p:nvSpPr>
        <p:spPr>
          <a:xfrm>
            <a:off x="6074900" y="8105000"/>
            <a:ext cx="11010000" cy="14739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200"/>
              <a:buFont typeface="Arial"/>
              <a:buNone/>
            </a:pPr>
            <a:r>
              <a:rPr lang="en-US" sz="5600">
                <a:solidFill>
                  <a:srgbClr val="FFFFFF"/>
                </a:solidFill>
              </a:rPr>
              <a:t>Alan Rodrigo Pamal De León</a:t>
            </a:r>
            <a:endParaRPr sz="5600">
              <a:solidFill>
                <a:srgbClr val="FFFFFF"/>
              </a:solidFill>
            </a:endParaRPr>
          </a:p>
          <a:p>
            <a:pPr indent="0" lvl="0" marL="0" marR="0" rtl="0" algn="ctr">
              <a:lnSpc>
                <a:spcPct val="121000"/>
              </a:lnSpc>
              <a:spcBef>
                <a:spcPts val="0"/>
              </a:spcBef>
              <a:spcAft>
                <a:spcPts val="0"/>
              </a:spcAft>
              <a:buClr>
                <a:srgbClr val="000000"/>
              </a:buClr>
              <a:buSzPts val="4200"/>
              <a:buFont typeface="Arial"/>
              <a:buNone/>
            </a:pPr>
            <a:r>
              <a:rPr lang="en-US" sz="2800">
                <a:solidFill>
                  <a:srgbClr val="FFFFFF"/>
                </a:solidFill>
              </a:rPr>
              <a:t>3011101580101@ingenieria.usac.edu.gt</a:t>
            </a:r>
            <a:endParaRPr sz="2800">
              <a:solidFill>
                <a:srgbClr val="FFFFFF"/>
              </a:solidFill>
            </a:endParaRPr>
          </a:p>
        </p:txBody>
      </p:sp>
      <p:pic>
        <p:nvPicPr>
          <p:cNvPr id="150" name="Google Shape;150;g39381058da4_0_0"/>
          <p:cNvPicPr preferRelativeResize="0"/>
          <p:nvPr/>
        </p:nvPicPr>
        <p:blipFill rotWithShape="1">
          <a:blip r:embed="rId5">
            <a:alphaModFix/>
          </a:blip>
          <a:srcRect b="9392" l="8062" r="0" t="21996"/>
          <a:stretch/>
        </p:blipFill>
        <p:spPr>
          <a:xfrm>
            <a:off x="2182525" y="3164875"/>
            <a:ext cx="3749275" cy="3438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54" name="Shape 154"/>
        <p:cNvGrpSpPr/>
        <p:nvPr/>
      </p:nvGrpSpPr>
      <p:grpSpPr>
        <a:xfrm>
          <a:off x="0" y="0"/>
          <a:ext cx="0" cy="0"/>
          <a:chOff x="0" y="0"/>
          <a:chExt cx="0" cy="0"/>
        </a:xfrm>
      </p:grpSpPr>
      <p:grpSp>
        <p:nvGrpSpPr>
          <p:cNvPr id="155" name="Google Shape;155;g39381058da4_0_87"/>
          <p:cNvGrpSpPr/>
          <p:nvPr/>
        </p:nvGrpSpPr>
        <p:grpSpPr>
          <a:xfrm>
            <a:off x="1320624" y="2196550"/>
            <a:ext cx="15625089" cy="7186803"/>
            <a:chOff x="0" y="-19050"/>
            <a:chExt cx="1876865" cy="1078889"/>
          </a:xfrm>
        </p:grpSpPr>
        <p:sp>
          <p:nvSpPr>
            <p:cNvPr id="156" name="Google Shape;156;g39381058da4_0_87"/>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101850" lIns="101850" spcFirstLastPara="1" rIns="101850" wrap="square" tIns="101850">
              <a:noAutofit/>
            </a:bodyPr>
            <a:lstStyle/>
            <a:p>
              <a:pPr indent="0" lvl="0" marL="0" marR="0" rtl="0" algn="l">
                <a:lnSpc>
                  <a:spcPct val="100000"/>
                </a:lnSpc>
                <a:spcBef>
                  <a:spcPts val="0"/>
                </a:spcBef>
                <a:spcAft>
                  <a:spcPts val="0"/>
                </a:spcAft>
                <a:buClr>
                  <a:srgbClr val="000000"/>
                </a:buClr>
                <a:buSzPts val="1560"/>
                <a:buFont typeface="Arial"/>
                <a:buNone/>
              </a:pPr>
              <a:r>
                <a:t/>
              </a:r>
              <a:endParaRPr b="0" i="0" sz="1559" u="none" cap="none" strike="noStrike">
                <a:solidFill>
                  <a:srgbClr val="000000"/>
                </a:solidFill>
                <a:latin typeface="Arial"/>
                <a:ea typeface="Arial"/>
                <a:cs typeface="Arial"/>
                <a:sym typeface="Arial"/>
              </a:endParaRPr>
            </a:p>
          </p:txBody>
        </p:sp>
        <p:sp>
          <p:nvSpPr>
            <p:cNvPr id="157" name="Google Shape;157;g39381058da4_0_87"/>
            <p:cNvSpPr txBox="1"/>
            <p:nvPr/>
          </p:nvSpPr>
          <p:spPr>
            <a:xfrm>
              <a:off x="0" y="-19050"/>
              <a:ext cx="1876800" cy="1078800"/>
            </a:xfrm>
            <a:prstGeom prst="rect">
              <a:avLst/>
            </a:prstGeom>
            <a:noFill/>
            <a:ln>
              <a:noFill/>
            </a:ln>
          </p:spPr>
          <p:txBody>
            <a:bodyPr anchorCtr="0" anchor="ctr" bIns="56600" lIns="56600" spcFirstLastPara="1" rIns="56600" wrap="square" tIns="56600">
              <a:noAutofit/>
            </a:bodyPr>
            <a:lstStyle/>
            <a:p>
              <a:pPr indent="0" lvl="0" marL="0" marR="0" rtl="0" algn="ctr">
                <a:lnSpc>
                  <a:spcPct val="167888"/>
                </a:lnSpc>
                <a:spcBef>
                  <a:spcPts val="0"/>
                </a:spcBef>
                <a:spcAft>
                  <a:spcPts val="0"/>
                </a:spcAft>
                <a:buClr>
                  <a:srgbClr val="000000"/>
                </a:buClr>
                <a:buSzPts val="2005"/>
                <a:buFont typeface="Arial"/>
                <a:buNone/>
              </a:pPr>
              <a:r>
                <a:t/>
              </a:r>
              <a:endParaRPr b="0" i="0" sz="2005" u="none" cap="none" strike="noStrike">
                <a:solidFill>
                  <a:schemeClr val="dk1"/>
                </a:solidFill>
                <a:latin typeface="Calibri"/>
                <a:ea typeface="Calibri"/>
                <a:cs typeface="Calibri"/>
                <a:sym typeface="Calibri"/>
              </a:endParaRPr>
            </a:p>
          </p:txBody>
        </p:sp>
      </p:grpSp>
      <p:sp>
        <p:nvSpPr>
          <p:cNvPr id="158" name="Google Shape;158;g39381058da4_0_87"/>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lang="en-US" sz="5000">
                <a:solidFill>
                  <a:srgbClr val="FFFFFF"/>
                </a:solidFill>
              </a:rPr>
              <a:t>INTRODUCCIÓN A SISTEMAS OPERATIVOS</a:t>
            </a:r>
            <a:endParaRPr b="0" i="0" sz="1400" u="none" cap="none" strike="noStrike">
              <a:solidFill>
                <a:srgbClr val="000000"/>
              </a:solidFill>
              <a:latin typeface="Arial"/>
              <a:ea typeface="Arial"/>
              <a:cs typeface="Arial"/>
              <a:sym typeface="Arial"/>
            </a:endParaRPr>
          </a:p>
        </p:txBody>
      </p:sp>
      <p:sp>
        <p:nvSpPr>
          <p:cNvPr id="159" name="Google Shape;159;g39381058da4_0_87"/>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sp>
      <p:sp>
        <p:nvSpPr>
          <p:cNvPr id="160" name="Google Shape;160;g39381058da4_0_87"/>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pic>
        <p:nvPicPr>
          <p:cNvPr id="161" name="Google Shape;161;g39381058da4_0_87" title="Introducción a Sistemas Operativos  - Sistemas Operativos 2">
            <a:hlinkClick r:id="rId4"/>
          </p:cNvPr>
          <p:cNvPicPr preferRelativeResize="0"/>
          <p:nvPr/>
        </p:nvPicPr>
        <p:blipFill>
          <a:blip r:embed="rId5">
            <a:alphaModFix/>
          </a:blip>
          <a:stretch>
            <a:fillRect/>
          </a:stretch>
        </p:blipFill>
        <p:spPr>
          <a:xfrm>
            <a:off x="3398400" y="2452750"/>
            <a:ext cx="11865600" cy="667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1000"/>
                                        <p:tgtEl>
                                          <p:spTgt spid="1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65" name="Shape 165"/>
        <p:cNvGrpSpPr/>
        <p:nvPr/>
      </p:nvGrpSpPr>
      <p:grpSpPr>
        <a:xfrm>
          <a:off x="0" y="0"/>
          <a:ext cx="0" cy="0"/>
          <a:chOff x="0" y="0"/>
          <a:chExt cx="0" cy="0"/>
        </a:xfrm>
      </p:grpSpPr>
      <p:grpSp>
        <p:nvGrpSpPr>
          <p:cNvPr id="166" name="Google Shape;166;g35c3d042265_1_258"/>
          <p:cNvGrpSpPr/>
          <p:nvPr/>
        </p:nvGrpSpPr>
        <p:grpSpPr>
          <a:xfrm>
            <a:off x="1028700" y="4384125"/>
            <a:ext cx="7126269" cy="4096434"/>
            <a:chOff x="0" y="-19050"/>
            <a:chExt cx="1876865" cy="1078889"/>
          </a:xfrm>
        </p:grpSpPr>
        <p:sp>
          <p:nvSpPr>
            <p:cNvPr id="167" name="Google Shape;167;g35c3d042265_1_258"/>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g35c3d042265_1_258"/>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9" name="Google Shape;169;g35c3d042265_1_258"/>
          <p:cNvSpPr/>
          <p:nvPr/>
        </p:nvSpPr>
        <p:spPr>
          <a:xfrm>
            <a:off x="7621025" y="3325525"/>
            <a:ext cx="3849859" cy="6486221"/>
          </a:xfrm>
          <a:custGeom>
            <a:rect b="b" l="l" r="r" t="t"/>
            <a:pathLst>
              <a:path extrusionOk="0" h="7370706" w="4277621">
                <a:moveTo>
                  <a:pt x="0" y="0"/>
                </a:moveTo>
                <a:lnTo>
                  <a:pt x="4277621" y="0"/>
                </a:lnTo>
                <a:lnTo>
                  <a:pt x="4277621" y="7370706"/>
                </a:lnTo>
                <a:lnTo>
                  <a:pt x="0" y="7370706"/>
                </a:lnTo>
                <a:lnTo>
                  <a:pt x="0" y="0"/>
                </a:lnTo>
                <a:close/>
              </a:path>
            </a:pathLst>
          </a:custGeom>
          <a:blipFill rotWithShape="1">
            <a:blip r:embed="rId3">
              <a:alphaModFix/>
            </a:blip>
            <a:stretch>
              <a:fillRect b="0" l="-64842" r="-64842" t="0"/>
            </a:stretch>
          </a:blipFill>
          <a:ln>
            <a:noFill/>
          </a:ln>
        </p:spPr>
      </p:sp>
      <p:grpSp>
        <p:nvGrpSpPr>
          <p:cNvPr id="170" name="Google Shape;170;g35c3d042265_1_258"/>
          <p:cNvGrpSpPr/>
          <p:nvPr/>
        </p:nvGrpSpPr>
        <p:grpSpPr>
          <a:xfrm>
            <a:off x="11063476" y="3574817"/>
            <a:ext cx="1136538" cy="1136538"/>
            <a:chOff x="0" y="0"/>
            <a:chExt cx="812800" cy="812800"/>
          </a:xfrm>
        </p:grpSpPr>
        <p:sp>
          <p:nvSpPr>
            <p:cNvPr id="171" name="Google Shape;171;g35c3d042265_1_25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g35c3d042265_1_258"/>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73" name="Google Shape;173;g35c3d042265_1_258"/>
          <p:cNvGrpSpPr/>
          <p:nvPr/>
        </p:nvGrpSpPr>
        <p:grpSpPr>
          <a:xfrm>
            <a:off x="11063476" y="5130800"/>
            <a:ext cx="1136538" cy="1136538"/>
            <a:chOff x="0" y="0"/>
            <a:chExt cx="812800" cy="812800"/>
          </a:xfrm>
        </p:grpSpPr>
        <p:sp>
          <p:nvSpPr>
            <p:cNvPr id="174" name="Google Shape;174;g35c3d042265_1_25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g35c3d042265_1_258"/>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76" name="Google Shape;176;g35c3d042265_1_258"/>
          <p:cNvGrpSpPr/>
          <p:nvPr/>
        </p:nvGrpSpPr>
        <p:grpSpPr>
          <a:xfrm>
            <a:off x="11063476" y="6661819"/>
            <a:ext cx="1136538" cy="1136538"/>
            <a:chOff x="0" y="0"/>
            <a:chExt cx="812800" cy="812800"/>
          </a:xfrm>
        </p:grpSpPr>
        <p:sp>
          <p:nvSpPr>
            <p:cNvPr id="177" name="Google Shape;177;g35c3d042265_1_25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g35c3d042265_1_258"/>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79" name="Google Shape;179;g35c3d042265_1_258"/>
          <p:cNvGrpSpPr/>
          <p:nvPr/>
        </p:nvGrpSpPr>
        <p:grpSpPr>
          <a:xfrm>
            <a:off x="11063476" y="8195713"/>
            <a:ext cx="1136538" cy="1136538"/>
            <a:chOff x="0" y="0"/>
            <a:chExt cx="812800" cy="812800"/>
          </a:xfrm>
        </p:grpSpPr>
        <p:sp>
          <p:nvSpPr>
            <p:cNvPr id="180" name="Google Shape;180;g35c3d042265_1_25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9349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g35c3d042265_1_258"/>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2" name="Google Shape;182;g35c3d042265_1_258"/>
          <p:cNvSpPr/>
          <p:nvPr/>
        </p:nvSpPr>
        <p:spPr>
          <a:xfrm>
            <a:off x="11274904" y="3742792"/>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4">
              <a:alphaModFix/>
            </a:blip>
            <a:stretch>
              <a:fillRect b="0" l="0" r="0" t="0"/>
            </a:stretch>
          </a:blipFill>
          <a:ln>
            <a:noFill/>
          </a:ln>
        </p:spPr>
      </p:sp>
      <p:sp>
        <p:nvSpPr>
          <p:cNvPr id="183" name="Google Shape;183;g35c3d042265_1_258"/>
          <p:cNvSpPr/>
          <p:nvPr/>
        </p:nvSpPr>
        <p:spPr>
          <a:xfrm>
            <a:off x="11274904" y="5291714"/>
            <a:ext cx="697702" cy="779556"/>
          </a:xfrm>
          <a:custGeom>
            <a:rect b="b" l="l" r="r" t="t"/>
            <a:pathLst>
              <a:path extrusionOk="0" h="779556" w="697702">
                <a:moveTo>
                  <a:pt x="0" y="0"/>
                </a:moveTo>
                <a:lnTo>
                  <a:pt x="697702" y="0"/>
                </a:lnTo>
                <a:lnTo>
                  <a:pt x="697702" y="779555"/>
                </a:lnTo>
                <a:lnTo>
                  <a:pt x="0" y="779555"/>
                </a:lnTo>
                <a:lnTo>
                  <a:pt x="0" y="0"/>
                </a:lnTo>
                <a:close/>
              </a:path>
            </a:pathLst>
          </a:custGeom>
          <a:blipFill rotWithShape="1">
            <a:blip r:embed="rId5">
              <a:alphaModFix/>
            </a:blip>
            <a:stretch>
              <a:fillRect b="0" l="0" r="0" t="0"/>
            </a:stretch>
          </a:blipFill>
          <a:ln>
            <a:noFill/>
          </a:ln>
        </p:spPr>
      </p:sp>
      <p:sp>
        <p:nvSpPr>
          <p:cNvPr id="184" name="Google Shape;184;g35c3d042265_1_258"/>
          <p:cNvSpPr/>
          <p:nvPr/>
        </p:nvSpPr>
        <p:spPr>
          <a:xfrm>
            <a:off x="11199152" y="6805476"/>
            <a:ext cx="849206" cy="849206"/>
          </a:xfrm>
          <a:custGeom>
            <a:rect b="b" l="l" r="r" t="t"/>
            <a:pathLst>
              <a:path extrusionOk="0" h="849206" w="849206">
                <a:moveTo>
                  <a:pt x="0" y="0"/>
                </a:moveTo>
                <a:lnTo>
                  <a:pt x="849206" y="0"/>
                </a:lnTo>
                <a:lnTo>
                  <a:pt x="849206" y="849206"/>
                </a:lnTo>
                <a:lnTo>
                  <a:pt x="0" y="849206"/>
                </a:lnTo>
                <a:lnTo>
                  <a:pt x="0" y="0"/>
                </a:lnTo>
                <a:close/>
              </a:path>
            </a:pathLst>
          </a:custGeom>
          <a:blipFill rotWithShape="1">
            <a:blip r:embed="rId6">
              <a:alphaModFix/>
            </a:blip>
            <a:stretch>
              <a:fillRect b="0" l="0" r="0" t="0"/>
            </a:stretch>
          </a:blipFill>
          <a:ln>
            <a:noFill/>
          </a:ln>
        </p:spPr>
      </p:sp>
      <p:sp>
        <p:nvSpPr>
          <p:cNvPr id="185" name="Google Shape;185;g35c3d042265_1_258"/>
          <p:cNvSpPr/>
          <p:nvPr/>
        </p:nvSpPr>
        <p:spPr>
          <a:xfrm>
            <a:off x="11274904" y="8388889"/>
            <a:ext cx="773454" cy="773454"/>
          </a:xfrm>
          <a:custGeom>
            <a:rect b="b" l="l" r="r" t="t"/>
            <a:pathLst>
              <a:path extrusionOk="0" h="773454" w="773454">
                <a:moveTo>
                  <a:pt x="0" y="0"/>
                </a:moveTo>
                <a:lnTo>
                  <a:pt x="773454" y="0"/>
                </a:lnTo>
                <a:lnTo>
                  <a:pt x="773454" y="773454"/>
                </a:lnTo>
                <a:lnTo>
                  <a:pt x="0" y="773454"/>
                </a:lnTo>
                <a:lnTo>
                  <a:pt x="0" y="0"/>
                </a:lnTo>
                <a:close/>
              </a:path>
            </a:pathLst>
          </a:custGeom>
          <a:blipFill rotWithShape="1">
            <a:blip r:embed="rId7">
              <a:alphaModFix/>
            </a:blip>
            <a:stretch>
              <a:fillRect b="0" l="0" r="0" t="0"/>
            </a:stretch>
          </a:blipFill>
          <a:ln>
            <a:noFill/>
          </a:ln>
        </p:spPr>
      </p:sp>
      <p:sp>
        <p:nvSpPr>
          <p:cNvPr id="186" name="Google Shape;186;g35c3d042265_1_258"/>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¿QUÉ ES UN SISTEMA OPERATIVO?</a:t>
            </a:r>
            <a:endParaRPr b="0" i="0" sz="1400" u="none" cap="none" strike="noStrike">
              <a:solidFill>
                <a:srgbClr val="000000"/>
              </a:solidFill>
              <a:latin typeface="Arial"/>
              <a:ea typeface="Arial"/>
              <a:cs typeface="Arial"/>
              <a:sym typeface="Arial"/>
            </a:endParaRPr>
          </a:p>
        </p:txBody>
      </p:sp>
      <p:sp>
        <p:nvSpPr>
          <p:cNvPr id="187" name="Google Shape;187;g35c3d042265_1_258"/>
          <p:cNvSpPr txBox="1"/>
          <p:nvPr/>
        </p:nvSpPr>
        <p:spPr>
          <a:xfrm>
            <a:off x="4500225" y="1906791"/>
            <a:ext cx="9287400" cy="7080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El sistema operativo es un sistema que se encarga de manejar todo el software y hardware en una computadora. </a:t>
            </a:r>
            <a:endParaRPr b="0" i="0" sz="1400" u="none" cap="none" strike="noStrike">
              <a:solidFill>
                <a:srgbClr val="000000"/>
              </a:solidFill>
              <a:latin typeface="Arial"/>
              <a:ea typeface="Arial"/>
              <a:cs typeface="Arial"/>
              <a:sym typeface="Arial"/>
            </a:endParaRPr>
          </a:p>
        </p:txBody>
      </p:sp>
      <p:sp>
        <p:nvSpPr>
          <p:cNvPr id="188" name="Google Shape;188;g35c3d042265_1_258"/>
          <p:cNvSpPr txBox="1"/>
          <p:nvPr/>
        </p:nvSpPr>
        <p:spPr>
          <a:xfrm>
            <a:off x="1397637" y="4677779"/>
            <a:ext cx="5670600" cy="32646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100"/>
              <a:buFont typeface="Arial"/>
              <a:buNone/>
            </a:pPr>
            <a:r>
              <a:rPr b="0" i="0" lang="en-US" sz="2100" u="none" cap="none" strike="noStrike">
                <a:solidFill>
                  <a:srgbClr val="FFFFFF"/>
                </a:solidFill>
                <a:latin typeface="Montserrat"/>
                <a:ea typeface="Montserrat"/>
                <a:cs typeface="Montserrat"/>
                <a:sym typeface="Montserrat"/>
              </a:rPr>
              <a:t>La mayor parte del tiempo diferentes programas se ejecutan </a:t>
            </a:r>
            <a:r>
              <a:rPr lang="en-US" sz="2100">
                <a:solidFill>
                  <a:srgbClr val="FFFFFF"/>
                </a:solidFill>
                <a:latin typeface="Montserrat"/>
                <a:ea typeface="Montserrat"/>
                <a:cs typeface="Montserrat"/>
                <a:sym typeface="Montserrat"/>
              </a:rPr>
              <a:t>simultáneamente</a:t>
            </a:r>
            <a:r>
              <a:rPr b="0" i="0" lang="en-US" sz="2100" u="none" cap="none" strike="noStrike">
                <a:solidFill>
                  <a:srgbClr val="FFFFFF"/>
                </a:solidFill>
                <a:latin typeface="Montserrat"/>
                <a:ea typeface="Montserrat"/>
                <a:cs typeface="Montserrat"/>
                <a:sym typeface="Montserrat"/>
              </a:rPr>
              <a:t>, cada uno requiriendo acceso a partes de la computadora como el CPU, memoria RAM o almacenamiento.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100"/>
              <a:buFont typeface="Arial"/>
              <a:buNone/>
            </a:pPr>
            <a:r>
              <a:t/>
            </a:r>
            <a:endParaRPr b="0" i="0" sz="21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100"/>
              <a:buFont typeface="Arial"/>
              <a:buNone/>
            </a:pPr>
            <a:r>
              <a:rPr b="0" i="0" lang="en-US" sz="2100" u="none" cap="none" strike="noStrike">
                <a:solidFill>
                  <a:srgbClr val="FFFFFF"/>
                </a:solidFill>
                <a:latin typeface="Montserrat"/>
                <a:ea typeface="Montserrat"/>
                <a:cs typeface="Montserrat"/>
                <a:sym typeface="Montserrat"/>
              </a:rPr>
              <a:t>Es responsabilidad del sistema brindarle a cada uno con los recursos que necesita. </a:t>
            </a:r>
            <a:endParaRPr b="0" i="0" sz="1400" u="none" cap="none" strike="noStrike">
              <a:solidFill>
                <a:srgbClr val="000000"/>
              </a:solidFill>
              <a:latin typeface="Arial"/>
              <a:ea typeface="Arial"/>
              <a:cs typeface="Arial"/>
              <a:sym typeface="Arial"/>
            </a:endParaRPr>
          </a:p>
        </p:txBody>
      </p:sp>
      <p:sp>
        <p:nvSpPr>
          <p:cNvPr id="189" name="Google Shape;189;g35c3d042265_1_258"/>
          <p:cNvSpPr txBox="1"/>
          <p:nvPr/>
        </p:nvSpPr>
        <p:spPr>
          <a:xfrm>
            <a:off x="12335865" y="4009540"/>
            <a:ext cx="4923300" cy="601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Manejar memoria, iniciar y controlar la ejecución de procesos</a:t>
            </a:r>
            <a:endParaRPr b="0" i="0" sz="1400" u="none" cap="none" strike="noStrike">
              <a:solidFill>
                <a:srgbClr val="000000"/>
              </a:solidFill>
              <a:latin typeface="Arial"/>
              <a:ea typeface="Arial"/>
              <a:cs typeface="Arial"/>
              <a:sym typeface="Arial"/>
            </a:endParaRPr>
          </a:p>
        </p:txBody>
      </p:sp>
      <p:sp>
        <p:nvSpPr>
          <p:cNvPr id="190" name="Google Shape;190;g35c3d042265_1_258"/>
          <p:cNvSpPr txBox="1"/>
          <p:nvPr/>
        </p:nvSpPr>
        <p:spPr>
          <a:xfrm>
            <a:off x="12335865" y="3670450"/>
            <a:ext cx="4923300" cy="277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FFFFFF"/>
                </a:solidFill>
                <a:latin typeface="Montserrat"/>
                <a:ea typeface="Montserrat"/>
                <a:cs typeface="Montserrat"/>
                <a:sym typeface="Montserrat"/>
              </a:rPr>
              <a:t>SUPERVISAR EL SISTEMA</a:t>
            </a:r>
            <a:endParaRPr b="0" i="0" sz="1400" u="none" cap="none" strike="noStrike">
              <a:solidFill>
                <a:srgbClr val="000000"/>
              </a:solidFill>
              <a:latin typeface="Arial"/>
              <a:ea typeface="Arial"/>
              <a:cs typeface="Arial"/>
              <a:sym typeface="Arial"/>
            </a:endParaRPr>
          </a:p>
        </p:txBody>
      </p:sp>
      <p:sp>
        <p:nvSpPr>
          <p:cNvPr id="191" name="Google Shape;191;g35c3d042265_1_258"/>
          <p:cNvSpPr txBox="1"/>
          <p:nvPr/>
        </p:nvSpPr>
        <p:spPr>
          <a:xfrm>
            <a:off x="12335865" y="5232769"/>
            <a:ext cx="4923300" cy="277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FFFFFF"/>
                </a:solidFill>
                <a:latin typeface="Montserrat"/>
                <a:ea typeface="Montserrat"/>
                <a:cs typeface="Montserrat"/>
                <a:sym typeface="Montserrat"/>
              </a:rPr>
              <a:t>SERVICIOS DE HARDWARE</a:t>
            </a:r>
            <a:endParaRPr b="0" i="0" sz="1400" u="none" cap="none" strike="noStrike">
              <a:solidFill>
                <a:srgbClr val="000000"/>
              </a:solidFill>
              <a:latin typeface="Arial"/>
              <a:ea typeface="Arial"/>
              <a:cs typeface="Arial"/>
              <a:sym typeface="Arial"/>
            </a:endParaRPr>
          </a:p>
        </p:txBody>
      </p:sp>
      <p:sp>
        <p:nvSpPr>
          <p:cNvPr id="192" name="Google Shape;192;g35c3d042265_1_258"/>
          <p:cNvSpPr txBox="1"/>
          <p:nvPr/>
        </p:nvSpPr>
        <p:spPr>
          <a:xfrm>
            <a:off x="12335865" y="6763788"/>
            <a:ext cx="4923300" cy="277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FFFFFF"/>
                </a:solidFill>
                <a:latin typeface="Montserrat"/>
                <a:ea typeface="Montserrat"/>
                <a:cs typeface="Montserrat"/>
                <a:sym typeface="Montserrat"/>
              </a:rPr>
              <a:t>SERVICIOS DE SOFTWARE</a:t>
            </a:r>
            <a:endParaRPr b="0" i="0" sz="1400" u="none" cap="none" strike="noStrike">
              <a:solidFill>
                <a:srgbClr val="000000"/>
              </a:solidFill>
              <a:latin typeface="Arial"/>
              <a:ea typeface="Arial"/>
              <a:cs typeface="Arial"/>
              <a:sym typeface="Arial"/>
            </a:endParaRPr>
          </a:p>
        </p:txBody>
      </p:sp>
      <p:sp>
        <p:nvSpPr>
          <p:cNvPr id="193" name="Google Shape;193;g35c3d042265_1_258"/>
          <p:cNvSpPr txBox="1"/>
          <p:nvPr/>
        </p:nvSpPr>
        <p:spPr>
          <a:xfrm>
            <a:off x="12333346" y="5571859"/>
            <a:ext cx="4923300" cy="942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Proveer los controladores para distintos dispositivos (displays, impresoras, etc)</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194" name="Google Shape;194;g35c3d042265_1_258"/>
          <p:cNvSpPr txBox="1"/>
          <p:nvPr/>
        </p:nvSpPr>
        <p:spPr>
          <a:xfrm>
            <a:off x="12335865" y="7102878"/>
            <a:ext cx="4923300" cy="942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Proveer programas como la interfaz de usuario (UI), sistemas de archivos, etc.</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195" name="Google Shape;195;g35c3d042265_1_258"/>
          <p:cNvSpPr txBox="1"/>
          <p:nvPr/>
        </p:nvSpPr>
        <p:spPr>
          <a:xfrm>
            <a:off x="12335865" y="8297682"/>
            <a:ext cx="4923300" cy="277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FFFFFF"/>
                </a:solidFill>
                <a:latin typeface="Montserrat"/>
                <a:ea typeface="Montserrat"/>
                <a:cs typeface="Montserrat"/>
                <a:sym typeface="Montserrat"/>
              </a:rPr>
              <a:t>SERVICIOS DE COMUNICACIONES</a:t>
            </a:r>
            <a:endParaRPr b="0" i="0" sz="1400" u="none" cap="none" strike="noStrike">
              <a:solidFill>
                <a:srgbClr val="000000"/>
              </a:solidFill>
              <a:latin typeface="Arial"/>
              <a:ea typeface="Arial"/>
              <a:cs typeface="Arial"/>
              <a:sym typeface="Arial"/>
            </a:endParaRPr>
          </a:p>
        </p:txBody>
      </p:sp>
      <p:sp>
        <p:nvSpPr>
          <p:cNvPr id="196" name="Google Shape;196;g35c3d042265_1_258"/>
          <p:cNvSpPr txBox="1"/>
          <p:nvPr/>
        </p:nvSpPr>
        <p:spPr>
          <a:xfrm>
            <a:off x="12335865" y="8636772"/>
            <a:ext cx="4923300" cy="942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Redirigir solicitudes de información del sistema local a uno externo</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00" name="Shape 200"/>
        <p:cNvGrpSpPr/>
        <p:nvPr/>
      </p:nvGrpSpPr>
      <p:grpSpPr>
        <a:xfrm>
          <a:off x="0" y="0"/>
          <a:ext cx="0" cy="0"/>
          <a:chOff x="0" y="0"/>
          <a:chExt cx="0" cy="0"/>
        </a:xfrm>
      </p:grpSpPr>
      <p:sp>
        <p:nvSpPr>
          <p:cNvPr id="201" name="Google Shape;201;p3"/>
          <p:cNvSpPr/>
          <p:nvPr/>
        </p:nvSpPr>
        <p:spPr>
          <a:xfrm>
            <a:off x="9894705" y="-724342"/>
            <a:ext cx="8090706" cy="11824878"/>
          </a:xfrm>
          <a:custGeom>
            <a:rect b="b" l="l" r="r" t="t"/>
            <a:pathLst>
              <a:path extrusionOk="0" h="11824878" w="8090706">
                <a:moveTo>
                  <a:pt x="0" y="0"/>
                </a:moveTo>
                <a:lnTo>
                  <a:pt x="8090706" y="0"/>
                </a:lnTo>
                <a:lnTo>
                  <a:pt x="8090706" y="11824878"/>
                </a:lnTo>
                <a:lnTo>
                  <a:pt x="0" y="11824878"/>
                </a:lnTo>
                <a:lnTo>
                  <a:pt x="0" y="0"/>
                </a:lnTo>
                <a:close/>
              </a:path>
            </a:pathLst>
          </a:custGeom>
          <a:blipFill rotWithShape="1">
            <a:blip r:embed="rId3">
              <a:alphaModFix/>
            </a:blip>
            <a:stretch>
              <a:fillRect b="10303" l="0" r="0" t="-10306"/>
            </a:stretch>
          </a:blipFill>
          <a:ln>
            <a:noFill/>
          </a:ln>
        </p:spPr>
      </p:sp>
      <p:grpSp>
        <p:nvGrpSpPr>
          <p:cNvPr id="202" name="Google Shape;202;p3"/>
          <p:cNvGrpSpPr/>
          <p:nvPr/>
        </p:nvGrpSpPr>
        <p:grpSpPr>
          <a:xfrm>
            <a:off x="10335576" y="861621"/>
            <a:ext cx="7013687" cy="8584676"/>
            <a:chOff x="0" y="-19050"/>
            <a:chExt cx="1956881" cy="2395201"/>
          </a:xfrm>
        </p:grpSpPr>
        <p:sp>
          <p:nvSpPr>
            <p:cNvPr id="203" name="Google Shape;203;p3"/>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3"/>
            <p:cNvSpPr txBox="1"/>
            <p:nvPr/>
          </p:nvSpPr>
          <p:spPr>
            <a:xfrm>
              <a:off x="0" y="-19050"/>
              <a:ext cx="1956881" cy="239520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5" name="Google Shape;205;p3"/>
          <p:cNvSpPr/>
          <p:nvPr/>
        </p:nvSpPr>
        <p:spPr>
          <a:xfrm>
            <a:off x="11172316" y="1187792"/>
            <a:ext cx="5340206" cy="7911417"/>
          </a:xfrm>
          <a:custGeom>
            <a:rect b="b" l="l" r="r" t="t"/>
            <a:pathLst>
              <a:path extrusionOk="0" h="7911417" w="5340206">
                <a:moveTo>
                  <a:pt x="0" y="0"/>
                </a:moveTo>
                <a:lnTo>
                  <a:pt x="5340206" y="0"/>
                </a:lnTo>
                <a:lnTo>
                  <a:pt x="5340206" y="7911416"/>
                </a:lnTo>
                <a:lnTo>
                  <a:pt x="0" y="7911416"/>
                </a:lnTo>
                <a:lnTo>
                  <a:pt x="0" y="0"/>
                </a:lnTo>
                <a:close/>
              </a:path>
            </a:pathLst>
          </a:custGeom>
          <a:blipFill rotWithShape="1">
            <a:blip r:embed="rId4">
              <a:alphaModFix/>
            </a:blip>
            <a:stretch>
              <a:fillRect b="0" l="0" r="0" t="0"/>
            </a:stretch>
          </a:blipFill>
          <a:ln>
            <a:noFill/>
          </a:ln>
        </p:spPr>
      </p:sp>
      <p:sp>
        <p:nvSpPr>
          <p:cNvPr id="206" name="Google Shape;206;p3"/>
          <p:cNvSpPr txBox="1"/>
          <p:nvPr/>
        </p:nvSpPr>
        <p:spPr>
          <a:xfrm>
            <a:off x="1597240" y="1666875"/>
            <a:ext cx="6429345" cy="69246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FFFFFF"/>
                </a:solidFill>
                <a:latin typeface="Montserrat"/>
                <a:ea typeface="Montserrat"/>
                <a:cs typeface="Montserrat"/>
                <a:sym typeface="Montserrat"/>
              </a:rPr>
              <a:t>El usuario interactúa con el software de sistema y de aplicación. El software de sistema y de aplicación interactúan con el sistema operativo. El sistema operativo interactúa con el hardware.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t/>
            </a:r>
            <a:endParaRPr b="0" i="0" sz="30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FFFFFF"/>
                </a:solidFill>
                <a:latin typeface="Montserrat"/>
                <a:ea typeface="Montserrat"/>
                <a:cs typeface="Montserrat"/>
                <a:sym typeface="Montserrat"/>
              </a:rPr>
              <a:t>Cada una de estas interfaces son transacciones bidireccionales y cada una envía y recibe datos.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t/>
            </a:r>
            <a:endParaRPr b="0" i="0" sz="3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10" name="Shape 210"/>
        <p:cNvGrpSpPr/>
        <p:nvPr/>
      </p:nvGrpSpPr>
      <p:grpSpPr>
        <a:xfrm>
          <a:off x="0" y="0"/>
          <a:ext cx="0" cy="0"/>
          <a:chOff x="0" y="0"/>
          <a:chExt cx="0" cy="0"/>
        </a:xfrm>
      </p:grpSpPr>
      <p:sp>
        <p:nvSpPr>
          <p:cNvPr id="211" name="Google Shape;211;p4"/>
          <p:cNvSpPr/>
          <p:nvPr/>
        </p:nvSpPr>
        <p:spPr>
          <a:xfrm>
            <a:off x="-971091" y="-3530240"/>
            <a:ext cx="21344773" cy="17347479"/>
          </a:xfrm>
          <a:custGeom>
            <a:rect b="b" l="l" r="r" t="t"/>
            <a:pathLst>
              <a:path extrusionOk="0" h="17347479" w="21344773">
                <a:moveTo>
                  <a:pt x="0" y="0"/>
                </a:moveTo>
                <a:lnTo>
                  <a:pt x="21344774" y="0"/>
                </a:lnTo>
                <a:lnTo>
                  <a:pt x="21344774" y="17347480"/>
                </a:lnTo>
                <a:lnTo>
                  <a:pt x="0" y="17347480"/>
                </a:lnTo>
                <a:lnTo>
                  <a:pt x="0" y="0"/>
                </a:lnTo>
                <a:close/>
              </a:path>
            </a:pathLst>
          </a:custGeom>
          <a:blipFill rotWithShape="1">
            <a:blip r:embed="rId3">
              <a:alphaModFix/>
            </a:blip>
            <a:stretch>
              <a:fillRect b="0" l="0" r="0" t="0"/>
            </a:stretch>
          </a:blipFill>
          <a:ln>
            <a:noFill/>
          </a:ln>
        </p:spPr>
      </p:sp>
      <p:sp>
        <p:nvSpPr>
          <p:cNvPr id="212" name="Google Shape;212;p4"/>
          <p:cNvSpPr/>
          <p:nvPr/>
        </p:nvSpPr>
        <p:spPr>
          <a:xfrm>
            <a:off x="1058325" y="2384384"/>
            <a:ext cx="7719861" cy="3570436"/>
          </a:xfrm>
          <a:custGeom>
            <a:rect b="b" l="l" r="r" t="t"/>
            <a:pathLst>
              <a:path extrusionOk="0" h="3570436" w="7719861">
                <a:moveTo>
                  <a:pt x="0" y="0"/>
                </a:moveTo>
                <a:lnTo>
                  <a:pt x="7719861" y="0"/>
                </a:lnTo>
                <a:lnTo>
                  <a:pt x="7719861" y="3570436"/>
                </a:lnTo>
                <a:lnTo>
                  <a:pt x="0" y="3570436"/>
                </a:lnTo>
                <a:lnTo>
                  <a:pt x="0" y="0"/>
                </a:lnTo>
                <a:close/>
              </a:path>
            </a:pathLst>
          </a:custGeom>
          <a:blipFill rotWithShape="1">
            <a:blip r:embed="rId4">
              <a:alphaModFix/>
            </a:blip>
            <a:stretch>
              <a:fillRect b="0" l="0" r="0" t="0"/>
            </a:stretch>
          </a:blipFill>
          <a:ln>
            <a:noFill/>
          </a:ln>
        </p:spPr>
      </p:sp>
      <p:grpSp>
        <p:nvGrpSpPr>
          <p:cNvPr id="213" name="Google Shape;213;p4"/>
          <p:cNvGrpSpPr/>
          <p:nvPr/>
        </p:nvGrpSpPr>
        <p:grpSpPr>
          <a:xfrm>
            <a:off x="4431563" y="5468126"/>
            <a:ext cx="973386" cy="973386"/>
            <a:chOff x="0" y="0"/>
            <a:chExt cx="812800" cy="812800"/>
          </a:xfrm>
        </p:grpSpPr>
        <p:sp>
          <p:nvSpPr>
            <p:cNvPr id="214" name="Google Shape;214;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6" name="Google Shape;216;p4"/>
          <p:cNvSpPr/>
          <p:nvPr/>
        </p:nvSpPr>
        <p:spPr>
          <a:xfrm rot="-5400000">
            <a:off x="4652421" y="5740823"/>
            <a:ext cx="531669" cy="427994"/>
          </a:xfrm>
          <a:custGeom>
            <a:rect b="b" l="l" r="r" t="t"/>
            <a:pathLst>
              <a:path extrusionOk="0" h="427994" w="531669">
                <a:moveTo>
                  <a:pt x="0" y="0"/>
                </a:moveTo>
                <a:lnTo>
                  <a:pt x="531669" y="0"/>
                </a:lnTo>
                <a:lnTo>
                  <a:pt x="531669" y="427993"/>
                </a:lnTo>
                <a:lnTo>
                  <a:pt x="0" y="427993"/>
                </a:lnTo>
                <a:lnTo>
                  <a:pt x="0" y="0"/>
                </a:lnTo>
                <a:close/>
              </a:path>
            </a:pathLst>
          </a:custGeom>
          <a:blipFill rotWithShape="1">
            <a:blip r:embed="rId5">
              <a:alphaModFix/>
            </a:blip>
            <a:stretch>
              <a:fillRect b="0" l="0" r="0" t="0"/>
            </a:stretch>
          </a:blipFill>
          <a:ln>
            <a:noFill/>
          </a:ln>
        </p:spPr>
      </p:sp>
      <p:sp>
        <p:nvSpPr>
          <p:cNvPr id="217" name="Google Shape;217;p4"/>
          <p:cNvSpPr/>
          <p:nvPr/>
        </p:nvSpPr>
        <p:spPr>
          <a:xfrm>
            <a:off x="9475766" y="5649693"/>
            <a:ext cx="7783534" cy="3181520"/>
          </a:xfrm>
          <a:custGeom>
            <a:rect b="b" l="l" r="r" t="t"/>
            <a:pathLst>
              <a:path extrusionOk="0" h="3181520" w="7783534">
                <a:moveTo>
                  <a:pt x="0" y="0"/>
                </a:moveTo>
                <a:lnTo>
                  <a:pt x="7783534" y="0"/>
                </a:lnTo>
                <a:lnTo>
                  <a:pt x="7783534" y="3181520"/>
                </a:lnTo>
                <a:lnTo>
                  <a:pt x="0" y="3181520"/>
                </a:lnTo>
                <a:lnTo>
                  <a:pt x="0" y="0"/>
                </a:lnTo>
                <a:close/>
              </a:path>
            </a:pathLst>
          </a:custGeom>
          <a:blipFill rotWithShape="1">
            <a:blip r:embed="rId6">
              <a:alphaModFix/>
            </a:blip>
            <a:stretch>
              <a:fillRect b="0" l="0" r="0" t="0"/>
            </a:stretch>
          </a:blipFill>
          <a:ln>
            <a:noFill/>
          </a:ln>
        </p:spPr>
      </p:sp>
      <p:grpSp>
        <p:nvGrpSpPr>
          <p:cNvPr id="218" name="Google Shape;218;p4"/>
          <p:cNvGrpSpPr/>
          <p:nvPr/>
        </p:nvGrpSpPr>
        <p:grpSpPr>
          <a:xfrm rot="10800000">
            <a:off x="12880840" y="5163000"/>
            <a:ext cx="973386" cy="973386"/>
            <a:chOff x="0" y="0"/>
            <a:chExt cx="812800" cy="812800"/>
          </a:xfrm>
        </p:grpSpPr>
        <p:sp>
          <p:nvSpPr>
            <p:cNvPr id="219" name="Google Shape;219;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1" name="Google Shape;221;p4"/>
          <p:cNvSpPr/>
          <p:nvPr/>
        </p:nvSpPr>
        <p:spPr>
          <a:xfrm rot="5400000">
            <a:off x="13101698" y="5435697"/>
            <a:ext cx="531669" cy="427994"/>
          </a:xfrm>
          <a:custGeom>
            <a:rect b="b" l="l" r="r" t="t"/>
            <a:pathLst>
              <a:path extrusionOk="0" h="427994" w="531669">
                <a:moveTo>
                  <a:pt x="0" y="0"/>
                </a:moveTo>
                <a:lnTo>
                  <a:pt x="531669" y="0"/>
                </a:lnTo>
                <a:lnTo>
                  <a:pt x="531669" y="427993"/>
                </a:lnTo>
                <a:lnTo>
                  <a:pt x="0" y="427993"/>
                </a:lnTo>
                <a:lnTo>
                  <a:pt x="0" y="0"/>
                </a:lnTo>
                <a:close/>
              </a:path>
            </a:pathLst>
          </a:custGeom>
          <a:blipFill rotWithShape="1">
            <a:blip r:embed="rId5">
              <a:alphaModFix/>
            </a:blip>
            <a:stretch>
              <a:fillRect b="0" l="0" r="0" t="0"/>
            </a:stretch>
          </a:blipFill>
          <a:ln>
            <a:noFill/>
          </a:ln>
        </p:spPr>
      </p:sp>
      <p:sp>
        <p:nvSpPr>
          <p:cNvPr id="222" name="Google Shape;222;p4"/>
          <p:cNvSpPr txBox="1"/>
          <p:nvPr/>
        </p:nvSpPr>
        <p:spPr>
          <a:xfrm>
            <a:off x="1479714" y="7131459"/>
            <a:ext cx="6877083" cy="193675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El procesamiento por lotes es un tipo de sistema operativo que procesa tipos similares de trabajos en un lote. En el sistema operativo de procesamiento por lotes, varios trabajos de tipos similares se convierten en un lote y se envían a la CPU para su ejecución.</a:t>
            </a:r>
            <a:endParaRPr b="0" i="0" sz="1400" u="none" cap="none" strike="noStrike">
              <a:solidFill>
                <a:srgbClr val="000000"/>
              </a:solidFill>
              <a:latin typeface="Arial"/>
              <a:ea typeface="Arial"/>
              <a:cs typeface="Arial"/>
              <a:sym typeface="Arial"/>
            </a:endParaRPr>
          </a:p>
        </p:txBody>
      </p:sp>
      <p:sp>
        <p:nvSpPr>
          <p:cNvPr id="223" name="Google Shape;223;p4"/>
          <p:cNvSpPr txBox="1"/>
          <p:nvPr/>
        </p:nvSpPr>
        <p:spPr>
          <a:xfrm>
            <a:off x="2636252" y="6723422"/>
            <a:ext cx="4564007" cy="27368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SISTEMA OPERATIVO POR LOTES</a:t>
            </a:r>
            <a:endParaRPr b="0" i="0" sz="1400" u="none" cap="none" strike="noStrike">
              <a:solidFill>
                <a:srgbClr val="000000"/>
              </a:solidFill>
              <a:latin typeface="Arial"/>
              <a:ea typeface="Arial"/>
              <a:cs typeface="Arial"/>
              <a:sym typeface="Arial"/>
            </a:endParaRPr>
          </a:p>
        </p:txBody>
      </p:sp>
      <p:sp>
        <p:nvSpPr>
          <p:cNvPr id="224" name="Google Shape;224;p4"/>
          <p:cNvSpPr txBox="1"/>
          <p:nvPr/>
        </p:nvSpPr>
        <p:spPr>
          <a:xfrm>
            <a:off x="3191023" y="1028700"/>
            <a:ext cx="11905955" cy="632841"/>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200"/>
              <a:buFont typeface="Arial"/>
              <a:buNone/>
            </a:pPr>
            <a:r>
              <a:rPr b="0" i="0" lang="en-US" sz="4200" u="none" cap="none" strike="noStrike">
                <a:solidFill>
                  <a:srgbClr val="FFFFFF"/>
                </a:solidFill>
                <a:latin typeface="Arial"/>
                <a:ea typeface="Arial"/>
                <a:cs typeface="Arial"/>
                <a:sym typeface="Arial"/>
              </a:rPr>
              <a:t>TIPOS DE SISTEMAS OPERATIVOS</a:t>
            </a:r>
            <a:endParaRPr b="0" i="0" sz="1400" u="none" cap="none" strike="noStrike">
              <a:solidFill>
                <a:srgbClr val="000000"/>
              </a:solidFill>
              <a:latin typeface="Arial"/>
              <a:ea typeface="Arial"/>
              <a:cs typeface="Arial"/>
              <a:sym typeface="Arial"/>
            </a:endParaRPr>
          </a:p>
        </p:txBody>
      </p:sp>
      <p:sp>
        <p:nvSpPr>
          <p:cNvPr id="225" name="Google Shape;225;p4"/>
          <p:cNvSpPr txBox="1"/>
          <p:nvPr/>
        </p:nvSpPr>
        <p:spPr>
          <a:xfrm>
            <a:off x="9928991" y="2694575"/>
            <a:ext cx="6877083" cy="16129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Se puede ilustrar como si más de un programa estuviera presente en la memoria principal y cualquiera de ellos se pudiera mantener en ejecución. Esto se utiliza básicamente para una mejor ejecución de los recursos.</a:t>
            </a:r>
            <a:endParaRPr b="0" i="0" sz="1400" u="none" cap="none" strike="noStrike">
              <a:solidFill>
                <a:srgbClr val="000000"/>
              </a:solidFill>
              <a:latin typeface="Arial"/>
              <a:ea typeface="Arial"/>
              <a:cs typeface="Arial"/>
              <a:sym typeface="Arial"/>
            </a:endParaRPr>
          </a:p>
        </p:txBody>
      </p:sp>
      <p:sp>
        <p:nvSpPr>
          <p:cNvPr id="226" name="Google Shape;226;p4"/>
          <p:cNvSpPr txBox="1"/>
          <p:nvPr/>
        </p:nvSpPr>
        <p:spPr>
          <a:xfrm>
            <a:off x="10027906" y="4484957"/>
            <a:ext cx="6679254" cy="27368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SISTEMA OPERATIVO MULTIPROGRAMACIÓN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30" name="Shape 230"/>
        <p:cNvGrpSpPr/>
        <p:nvPr/>
      </p:nvGrpSpPr>
      <p:grpSpPr>
        <a:xfrm>
          <a:off x="0" y="0"/>
          <a:ext cx="0" cy="0"/>
          <a:chOff x="0" y="0"/>
          <a:chExt cx="0" cy="0"/>
        </a:xfrm>
      </p:grpSpPr>
      <p:sp>
        <p:nvSpPr>
          <p:cNvPr id="231" name="Google Shape;231;p5"/>
          <p:cNvSpPr/>
          <p:nvPr/>
        </p:nvSpPr>
        <p:spPr>
          <a:xfrm>
            <a:off x="-971091" y="-3530240"/>
            <a:ext cx="21344773" cy="17347479"/>
          </a:xfrm>
          <a:custGeom>
            <a:rect b="b" l="l" r="r" t="t"/>
            <a:pathLst>
              <a:path extrusionOk="0" h="17347479" w="21344773">
                <a:moveTo>
                  <a:pt x="0" y="0"/>
                </a:moveTo>
                <a:lnTo>
                  <a:pt x="21344774" y="0"/>
                </a:lnTo>
                <a:lnTo>
                  <a:pt x="21344774" y="17347480"/>
                </a:lnTo>
                <a:lnTo>
                  <a:pt x="0" y="17347480"/>
                </a:lnTo>
                <a:lnTo>
                  <a:pt x="0" y="0"/>
                </a:lnTo>
                <a:close/>
              </a:path>
            </a:pathLst>
          </a:custGeom>
          <a:blipFill rotWithShape="1">
            <a:blip r:embed="rId3">
              <a:alphaModFix/>
            </a:blip>
            <a:stretch>
              <a:fillRect b="0" l="0" r="0" t="0"/>
            </a:stretch>
          </a:blipFill>
          <a:ln>
            <a:noFill/>
          </a:ln>
        </p:spPr>
      </p:sp>
      <p:sp>
        <p:nvSpPr>
          <p:cNvPr id="232" name="Google Shape;232;p5"/>
          <p:cNvSpPr/>
          <p:nvPr/>
        </p:nvSpPr>
        <p:spPr>
          <a:xfrm>
            <a:off x="1028700" y="5574026"/>
            <a:ext cx="7734554" cy="3258181"/>
          </a:xfrm>
          <a:custGeom>
            <a:rect b="b" l="l" r="r" t="t"/>
            <a:pathLst>
              <a:path extrusionOk="0" h="3258181" w="7734554">
                <a:moveTo>
                  <a:pt x="0" y="0"/>
                </a:moveTo>
                <a:lnTo>
                  <a:pt x="7734554" y="0"/>
                </a:lnTo>
                <a:lnTo>
                  <a:pt x="7734554" y="3258181"/>
                </a:lnTo>
                <a:lnTo>
                  <a:pt x="0" y="3258181"/>
                </a:lnTo>
                <a:lnTo>
                  <a:pt x="0" y="0"/>
                </a:lnTo>
                <a:close/>
              </a:path>
            </a:pathLst>
          </a:custGeom>
          <a:blipFill rotWithShape="1">
            <a:blip r:embed="rId4">
              <a:alphaModFix/>
            </a:blip>
            <a:stretch>
              <a:fillRect b="0" l="0" r="0" t="0"/>
            </a:stretch>
          </a:blipFill>
          <a:ln>
            <a:noFill/>
          </a:ln>
        </p:spPr>
      </p:sp>
      <p:grpSp>
        <p:nvGrpSpPr>
          <p:cNvPr id="233" name="Google Shape;233;p5"/>
          <p:cNvGrpSpPr/>
          <p:nvPr/>
        </p:nvGrpSpPr>
        <p:grpSpPr>
          <a:xfrm>
            <a:off x="4401938" y="4775078"/>
            <a:ext cx="973386" cy="973386"/>
            <a:chOff x="0" y="0"/>
            <a:chExt cx="812800" cy="812800"/>
          </a:xfrm>
        </p:grpSpPr>
        <p:sp>
          <p:nvSpPr>
            <p:cNvPr id="234" name="Google Shape;234;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5"/>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6" name="Google Shape;236;p5"/>
          <p:cNvSpPr/>
          <p:nvPr/>
        </p:nvSpPr>
        <p:spPr>
          <a:xfrm rot="5400000">
            <a:off x="4622796" y="5047774"/>
            <a:ext cx="531669" cy="427994"/>
          </a:xfrm>
          <a:custGeom>
            <a:rect b="b" l="l" r="r" t="t"/>
            <a:pathLst>
              <a:path extrusionOk="0" h="427994" w="531669">
                <a:moveTo>
                  <a:pt x="0" y="0"/>
                </a:moveTo>
                <a:lnTo>
                  <a:pt x="531669" y="0"/>
                </a:lnTo>
                <a:lnTo>
                  <a:pt x="531669" y="427994"/>
                </a:lnTo>
                <a:lnTo>
                  <a:pt x="0" y="427994"/>
                </a:lnTo>
                <a:lnTo>
                  <a:pt x="0" y="0"/>
                </a:lnTo>
                <a:close/>
              </a:path>
            </a:pathLst>
          </a:custGeom>
          <a:blipFill rotWithShape="1">
            <a:blip r:embed="rId5">
              <a:alphaModFix/>
            </a:blip>
            <a:stretch>
              <a:fillRect b="0" l="0" r="0" t="0"/>
            </a:stretch>
          </a:blipFill>
          <a:ln>
            <a:noFill/>
          </a:ln>
        </p:spPr>
      </p:sp>
      <p:sp>
        <p:nvSpPr>
          <p:cNvPr id="237" name="Google Shape;237;p5"/>
          <p:cNvSpPr/>
          <p:nvPr/>
        </p:nvSpPr>
        <p:spPr>
          <a:xfrm>
            <a:off x="10178021" y="2508751"/>
            <a:ext cx="6499514" cy="3103518"/>
          </a:xfrm>
          <a:custGeom>
            <a:rect b="b" l="l" r="r" t="t"/>
            <a:pathLst>
              <a:path extrusionOk="0" h="3103518" w="6499514">
                <a:moveTo>
                  <a:pt x="0" y="0"/>
                </a:moveTo>
                <a:lnTo>
                  <a:pt x="6499514" y="0"/>
                </a:lnTo>
                <a:lnTo>
                  <a:pt x="6499514" y="3103518"/>
                </a:lnTo>
                <a:lnTo>
                  <a:pt x="0" y="3103518"/>
                </a:lnTo>
                <a:lnTo>
                  <a:pt x="0" y="0"/>
                </a:lnTo>
                <a:close/>
              </a:path>
            </a:pathLst>
          </a:custGeom>
          <a:blipFill rotWithShape="1">
            <a:blip r:embed="rId6">
              <a:alphaModFix/>
            </a:blip>
            <a:stretch>
              <a:fillRect b="0" l="0" r="0" t="0"/>
            </a:stretch>
          </a:blipFill>
          <a:ln>
            <a:noFill/>
          </a:ln>
        </p:spPr>
      </p:sp>
      <p:grpSp>
        <p:nvGrpSpPr>
          <p:cNvPr id="238" name="Google Shape;238;p5"/>
          <p:cNvGrpSpPr/>
          <p:nvPr/>
        </p:nvGrpSpPr>
        <p:grpSpPr>
          <a:xfrm rot="10800000">
            <a:off x="14610284" y="4995936"/>
            <a:ext cx="973386" cy="973386"/>
            <a:chOff x="0" y="0"/>
            <a:chExt cx="812800" cy="812800"/>
          </a:xfrm>
        </p:grpSpPr>
        <p:sp>
          <p:nvSpPr>
            <p:cNvPr id="239" name="Google Shape;239;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5"/>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1" name="Google Shape;241;p5"/>
          <p:cNvSpPr/>
          <p:nvPr/>
        </p:nvSpPr>
        <p:spPr>
          <a:xfrm rot="-5400000">
            <a:off x="14831143" y="5268633"/>
            <a:ext cx="531669" cy="427994"/>
          </a:xfrm>
          <a:custGeom>
            <a:rect b="b" l="l" r="r" t="t"/>
            <a:pathLst>
              <a:path extrusionOk="0" h="427994" w="531669">
                <a:moveTo>
                  <a:pt x="0" y="0"/>
                </a:moveTo>
                <a:lnTo>
                  <a:pt x="531669" y="0"/>
                </a:lnTo>
                <a:lnTo>
                  <a:pt x="531669" y="427993"/>
                </a:lnTo>
                <a:lnTo>
                  <a:pt x="0" y="427993"/>
                </a:lnTo>
                <a:lnTo>
                  <a:pt x="0" y="0"/>
                </a:lnTo>
                <a:close/>
              </a:path>
            </a:pathLst>
          </a:custGeom>
          <a:blipFill rotWithShape="1">
            <a:blip r:embed="rId5">
              <a:alphaModFix/>
            </a:blip>
            <a:stretch>
              <a:fillRect b="0" l="0" r="0" t="0"/>
            </a:stretch>
          </a:blipFill>
          <a:ln>
            <a:noFill/>
          </a:ln>
        </p:spPr>
      </p:sp>
      <p:sp>
        <p:nvSpPr>
          <p:cNvPr id="242" name="Google Shape;242;p5"/>
          <p:cNvSpPr txBox="1"/>
          <p:nvPr/>
        </p:nvSpPr>
        <p:spPr>
          <a:xfrm>
            <a:off x="1450089" y="3095310"/>
            <a:ext cx="6877083" cy="9652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Es un tipo de sistema operativo en el que se utiliza más de una CPU para la ejecución de recursos.</a:t>
            </a:r>
            <a:endParaRPr b="0" i="0" sz="1400" u="none" cap="none" strike="noStrike">
              <a:solidFill>
                <a:srgbClr val="000000"/>
              </a:solidFill>
              <a:latin typeface="Arial"/>
              <a:ea typeface="Arial"/>
              <a:cs typeface="Arial"/>
              <a:sym typeface="Arial"/>
            </a:endParaRPr>
          </a:p>
        </p:txBody>
      </p:sp>
      <p:sp>
        <p:nvSpPr>
          <p:cNvPr id="243" name="Google Shape;243;p5"/>
          <p:cNvSpPr txBox="1"/>
          <p:nvPr/>
        </p:nvSpPr>
        <p:spPr>
          <a:xfrm>
            <a:off x="1701180" y="4206853"/>
            <a:ext cx="6374902" cy="27368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SISTEMA OPERATIVO MULTIPROCESAMIENTO</a:t>
            </a:r>
            <a:endParaRPr b="0" i="0" sz="1400" u="none" cap="none" strike="noStrike">
              <a:solidFill>
                <a:srgbClr val="000000"/>
              </a:solidFill>
              <a:latin typeface="Arial"/>
              <a:ea typeface="Arial"/>
              <a:cs typeface="Arial"/>
              <a:sym typeface="Arial"/>
            </a:endParaRPr>
          </a:p>
        </p:txBody>
      </p:sp>
      <p:sp>
        <p:nvSpPr>
          <p:cNvPr id="244" name="Google Shape;244;p5"/>
          <p:cNvSpPr txBox="1"/>
          <p:nvPr/>
        </p:nvSpPr>
        <p:spPr>
          <a:xfrm>
            <a:off x="3191023" y="1028700"/>
            <a:ext cx="11905955" cy="632841"/>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200"/>
              <a:buFont typeface="Arial"/>
              <a:buNone/>
            </a:pPr>
            <a:r>
              <a:rPr b="0" i="0" lang="en-US" sz="4200" u="none" cap="none" strike="noStrike">
                <a:solidFill>
                  <a:srgbClr val="FFFFFF"/>
                </a:solidFill>
                <a:latin typeface="Arial"/>
                <a:ea typeface="Arial"/>
                <a:cs typeface="Arial"/>
                <a:sym typeface="Arial"/>
              </a:rPr>
              <a:t>TIPOS DE SISTEMAS OPERATIVOS</a:t>
            </a:r>
            <a:endParaRPr b="0" i="0" sz="1400" u="none" cap="none" strike="noStrike">
              <a:solidFill>
                <a:srgbClr val="000000"/>
              </a:solidFill>
              <a:latin typeface="Arial"/>
              <a:ea typeface="Arial"/>
              <a:cs typeface="Arial"/>
              <a:sym typeface="Arial"/>
            </a:endParaRPr>
          </a:p>
        </p:txBody>
      </p:sp>
      <p:sp>
        <p:nvSpPr>
          <p:cNvPr id="245" name="Google Shape;245;p5"/>
          <p:cNvSpPr txBox="1"/>
          <p:nvPr/>
        </p:nvSpPr>
        <p:spPr>
          <a:xfrm>
            <a:off x="9899366" y="6658823"/>
            <a:ext cx="6877083" cy="16129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El sistema operativo multitarea es un sistema operativo multiprogramación que cuenta con un algoritmo de planificación Round-Robin que le permite ejecutar múltiples programas simultáneamente.</a:t>
            </a:r>
            <a:endParaRPr b="0" i="0" sz="1400" u="none" cap="none" strike="noStrike">
              <a:solidFill>
                <a:srgbClr val="000000"/>
              </a:solidFill>
              <a:latin typeface="Arial"/>
              <a:ea typeface="Arial"/>
              <a:cs typeface="Arial"/>
              <a:sym typeface="Arial"/>
            </a:endParaRPr>
          </a:p>
        </p:txBody>
      </p:sp>
      <p:sp>
        <p:nvSpPr>
          <p:cNvPr id="246" name="Google Shape;246;p5"/>
          <p:cNvSpPr txBox="1"/>
          <p:nvPr/>
        </p:nvSpPr>
        <p:spPr>
          <a:xfrm>
            <a:off x="9998281" y="6177230"/>
            <a:ext cx="6679254" cy="27368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SISTEMA OPERATIVO MULTITAREA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50" name="Shape 250"/>
        <p:cNvGrpSpPr/>
        <p:nvPr/>
      </p:nvGrpSpPr>
      <p:grpSpPr>
        <a:xfrm>
          <a:off x="0" y="0"/>
          <a:ext cx="0" cy="0"/>
          <a:chOff x="0" y="0"/>
          <a:chExt cx="0" cy="0"/>
        </a:xfrm>
      </p:grpSpPr>
      <p:sp>
        <p:nvSpPr>
          <p:cNvPr id="251" name="Google Shape;251;p6"/>
          <p:cNvSpPr/>
          <p:nvPr/>
        </p:nvSpPr>
        <p:spPr>
          <a:xfrm>
            <a:off x="-971091" y="-3530240"/>
            <a:ext cx="21344773" cy="17347479"/>
          </a:xfrm>
          <a:custGeom>
            <a:rect b="b" l="l" r="r" t="t"/>
            <a:pathLst>
              <a:path extrusionOk="0" h="17347479" w="21344773">
                <a:moveTo>
                  <a:pt x="0" y="0"/>
                </a:moveTo>
                <a:lnTo>
                  <a:pt x="21344774" y="0"/>
                </a:lnTo>
                <a:lnTo>
                  <a:pt x="21344774" y="17347480"/>
                </a:lnTo>
                <a:lnTo>
                  <a:pt x="0" y="17347480"/>
                </a:lnTo>
                <a:lnTo>
                  <a:pt x="0" y="0"/>
                </a:lnTo>
                <a:close/>
              </a:path>
            </a:pathLst>
          </a:custGeom>
          <a:blipFill rotWithShape="1">
            <a:blip r:embed="rId3">
              <a:alphaModFix/>
            </a:blip>
            <a:stretch>
              <a:fillRect b="0" l="0" r="0" t="0"/>
            </a:stretch>
          </a:blipFill>
          <a:ln>
            <a:noFill/>
          </a:ln>
        </p:spPr>
      </p:sp>
      <p:sp>
        <p:nvSpPr>
          <p:cNvPr id="252" name="Google Shape;252;p6"/>
          <p:cNvSpPr/>
          <p:nvPr/>
        </p:nvSpPr>
        <p:spPr>
          <a:xfrm>
            <a:off x="1215367" y="2314984"/>
            <a:ext cx="6755409" cy="3335483"/>
          </a:xfrm>
          <a:custGeom>
            <a:rect b="b" l="l" r="r" t="t"/>
            <a:pathLst>
              <a:path extrusionOk="0" h="3335483" w="6755409">
                <a:moveTo>
                  <a:pt x="0" y="0"/>
                </a:moveTo>
                <a:lnTo>
                  <a:pt x="6755409" y="0"/>
                </a:lnTo>
                <a:lnTo>
                  <a:pt x="6755409" y="3335483"/>
                </a:lnTo>
                <a:lnTo>
                  <a:pt x="0" y="3335483"/>
                </a:lnTo>
                <a:lnTo>
                  <a:pt x="0" y="0"/>
                </a:lnTo>
                <a:close/>
              </a:path>
            </a:pathLst>
          </a:custGeom>
          <a:blipFill rotWithShape="1">
            <a:blip r:embed="rId4">
              <a:alphaModFix/>
            </a:blip>
            <a:stretch>
              <a:fillRect b="0" l="0" r="0" t="0"/>
            </a:stretch>
          </a:blipFill>
          <a:ln>
            <a:noFill/>
          </a:ln>
        </p:spPr>
      </p:sp>
      <p:grpSp>
        <p:nvGrpSpPr>
          <p:cNvPr id="253" name="Google Shape;253;p6"/>
          <p:cNvGrpSpPr/>
          <p:nvPr/>
        </p:nvGrpSpPr>
        <p:grpSpPr>
          <a:xfrm>
            <a:off x="4045541" y="5163774"/>
            <a:ext cx="973386" cy="973386"/>
            <a:chOff x="0" y="0"/>
            <a:chExt cx="812800" cy="812800"/>
          </a:xfrm>
        </p:grpSpPr>
        <p:sp>
          <p:nvSpPr>
            <p:cNvPr id="254" name="Google Shape;254;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6"/>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6" name="Google Shape;256;p6"/>
          <p:cNvSpPr/>
          <p:nvPr/>
        </p:nvSpPr>
        <p:spPr>
          <a:xfrm rot="-5400000">
            <a:off x="4266400" y="5436471"/>
            <a:ext cx="531669" cy="427994"/>
          </a:xfrm>
          <a:custGeom>
            <a:rect b="b" l="l" r="r" t="t"/>
            <a:pathLst>
              <a:path extrusionOk="0" h="427994" w="531669">
                <a:moveTo>
                  <a:pt x="0" y="0"/>
                </a:moveTo>
                <a:lnTo>
                  <a:pt x="531669" y="0"/>
                </a:lnTo>
                <a:lnTo>
                  <a:pt x="531669" y="427993"/>
                </a:lnTo>
                <a:lnTo>
                  <a:pt x="0" y="427993"/>
                </a:lnTo>
                <a:lnTo>
                  <a:pt x="0" y="0"/>
                </a:lnTo>
                <a:close/>
              </a:path>
            </a:pathLst>
          </a:custGeom>
          <a:blipFill rotWithShape="1">
            <a:blip r:embed="rId5">
              <a:alphaModFix/>
            </a:blip>
            <a:stretch>
              <a:fillRect b="0" l="0" r="0" t="0"/>
            </a:stretch>
          </a:blipFill>
          <a:ln>
            <a:noFill/>
          </a:ln>
        </p:spPr>
      </p:sp>
      <p:sp>
        <p:nvSpPr>
          <p:cNvPr id="257" name="Google Shape;257;p6"/>
          <p:cNvSpPr/>
          <p:nvPr/>
        </p:nvSpPr>
        <p:spPr>
          <a:xfrm>
            <a:off x="8829553" y="5739689"/>
            <a:ext cx="8303917" cy="2179778"/>
          </a:xfrm>
          <a:custGeom>
            <a:rect b="b" l="l" r="r" t="t"/>
            <a:pathLst>
              <a:path extrusionOk="0" h="2179778" w="8303917">
                <a:moveTo>
                  <a:pt x="0" y="0"/>
                </a:moveTo>
                <a:lnTo>
                  <a:pt x="8303917" y="0"/>
                </a:lnTo>
                <a:lnTo>
                  <a:pt x="8303917" y="2179778"/>
                </a:lnTo>
                <a:lnTo>
                  <a:pt x="0" y="2179778"/>
                </a:lnTo>
                <a:lnTo>
                  <a:pt x="0" y="0"/>
                </a:lnTo>
                <a:close/>
              </a:path>
            </a:pathLst>
          </a:custGeom>
          <a:blipFill rotWithShape="1">
            <a:blip r:embed="rId6">
              <a:alphaModFix/>
            </a:blip>
            <a:stretch>
              <a:fillRect b="0" l="0" r="0" t="0"/>
            </a:stretch>
          </a:blipFill>
          <a:ln>
            <a:noFill/>
          </a:ln>
        </p:spPr>
      </p:sp>
      <p:grpSp>
        <p:nvGrpSpPr>
          <p:cNvPr id="258" name="Google Shape;258;p6"/>
          <p:cNvGrpSpPr/>
          <p:nvPr/>
        </p:nvGrpSpPr>
        <p:grpSpPr>
          <a:xfrm rot="10800000">
            <a:off x="12494819" y="4858648"/>
            <a:ext cx="973386" cy="973386"/>
            <a:chOff x="0" y="0"/>
            <a:chExt cx="812800" cy="812800"/>
          </a:xfrm>
        </p:grpSpPr>
        <p:sp>
          <p:nvSpPr>
            <p:cNvPr id="259" name="Google Shape;259;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9349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6"/>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1" name="Google Shape;261;p6"/>
          <p:cNvSpPr/>
          <p:nvPr/>
        </p:nvSpPr>
        <p:spPr>
          <a:xfrm rot="5400000">
            <a:off x="12715677" y="5131344"/>
            <a:ext cx="531669" cy="427994"/>
          </a:xfrm>
          <a:custGeom>
            <a:rect b="b" l="l" r="r" t="t"/>
            <a:pathLst>
              <a:path extrusionOk="0" h="427994" w="531669">
                <a:moveTo>
                  <a:pt x="0" y="0"/>
                </a:moveTo>
                <a:lnTo>
                  <a:pt x="531669" y="0"/>
                </a:lnTo>
                <a:lnTo>
                  <a:pt x="531669" y="427994"/>
                </a:lnTo>
                <a:lnTo>
                  <a:pt x="0" y="427994"/>
                </a:lnTo>
                <a:lnTo>
                  <a:pt x="0" y="0"/>
                </a:lnTo>
                <a:close/>
              </a:path>
            </a:pathLst>
          </a:custGeom>
          <a:blipFill rotWithShape="1">
            <a:blip r:embed="rId5">
              <a:alphaModFix/>
            </a:blip>
            <a:stretch>
              <a:fillRect b="0" l="0" r="0" t="0"/>
            </a:stretch>
          </a:blipFill>
          <a:ln>
            <a:noFill/>
          </a:ln>
        </p:spPr>
      </p:sp>
      <p:sp>
        <p:nvSpPr>
          <p:cNvPr id="262" name="Google Shape;262;p6"/>
          <p:cNvSpPr txBox="1"/>
          <p:nvPr/>
        </p:nvSpPr>
        <p:spPr>
          <a:xfrm>
            <a:off x="1154530" y="6810528"/>
            <a:ext cx="6877083" cy="258445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Estos sistemas se ejecutan en un servidor y brindan la capacidad de administrar datos, usuarios, grupos, seguridad, aplicaciones y otras funciones de red. Estos tipos de sistemas operativos permiten el acceso compartido a archivos, impresoras, seguridad, aplicaciones y otras funciones de red a través de una pequeña red privada.</a:t>
            </a:r>
            <a:endParaRPr b="0" i="0" sz="1400" u="none" cap="none" strike="noStrike">
              <a:solidFill>
                <a:srgbClr val="000000"/>
              </a:solidFill>
              <a:latin typeface="Arial"/>
              <a:ea typeface="Arial"/>
              <a:cs typeface="Arial"/>
              <a:sym typeface="Arial"/>
            </a:endParaRPr>
          </a:p>
        </p:txBody>
      </p:sp>
      <p:sp>
        <p:nvSpPr>
          <p:cNvPr id="263" name="Google Shape;263;p6"/>
          <p:cNvSpPr txBox="1"/>
          <p:nvPr/>
        </p:nvSpPr>
        <p:spPr>
          <a:xfrm>
            <a:off x="2250231" y="6390263"/>
            <a:ext cx="4564007" cy="27368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SISTEMA OPERATIVO DE RED</a:t>
            </a:r>
            <a:endParaRPr b="0" i="0" sz="1400" u="none" cap="none" strike="noStrike">
              <a:solidFill>
                <a:srgbClr val="000000"/>
              </a:solidFill>
              <a:latin typeface="Arial"/>
              <a:ea typeface="Arial"/>
              <a:cs typeface="Arial"/>
              <a:sym typeface="Arial"/>
            </a:endParaRPr>
          </a:p>
        </p:txBody>
      </p:sp>
      <p:sp>
        <p:nvSpPr>
          <p:cNvPr id="264" name="Google Shape;264;p6"/>
          <p:cNvSpPr txBox="1"/>
          <p:nvPr/>
        </p:nvSpPr>
        <p:spPr>
          <a:xfrm>
            <a:off x="3191023" y="1158268"/>
            <a:ext cx="11905955" cy="632841"/>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200"/>
              <a:buFont typeface="Arial"/>
              <a:buNone/>
            </a:pPr>
            <a:r>
              <a:rPr b="0" i="0" lang="en-US" sz="4200" u="none" cap="none" strike="noStrike">
                <a:solidFill>
                  <a:srgbClr val="FFFFFF"/>
                </a:solidFill>
                <a:latin typeface="Arial"/>
                <a:ea typeface="Arial"/>
                <a:cs typeface="Arial"/>
                <a:sym typeface="Arial"/>
              </a:rPr>
              <a:t>TIPOS DE SISTEMAS OPERATIVOS</a:t>
            </a:r>
            <a:endParaRPr b="0" i="0" sz="1400" u="none" cap="none" strike="noStrike">
              <a:solidFill>
                <a:srgbClr val="000000"/>
              </a:solidFill>
              <a:latin typeface="Arial"/>
              <a:ea typeface="Arial"/>
              <a:cs typeface="Arial"/>
              <a:sym typeface="Arial"/>
            </a:endParaRPr>
          </a:p>
        </p:txBody>
      </p:sp>
      <p:sp>
        <p:nvSpPr>
          <p:cNvPr id="265" name="Google Shape;265;p6"/>
          <p:cNvSpPr txBox="1"/>
          <p:nvPr/>
        </p:nvSpPr>
        <p:spPr>
          <a:xfrm>
            <a:off x="9542970" y="2402373"/>
            <a:ext cx="6877200" cy="19086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Varias computadoras autónomas interconectadas se comunican entre sí mediante una red de comunicación compartida. Los sistemas independientes poseen su propia unidad de memoria y CPU.</a:t>
            </a:r>
            <a:endParaRPr b="0" i="0" sz="1400" u="none" cap="none" strike="noStrike">
              <a:solidFill>
                <a:srgbClr val="000000"/>
              </a:solidFill>
              <a:latin typeface="Arial"/>
              <a:ea typeface="Arial"/>
              <a:cs typeface="Arial"/>
              <a:sym typeface="Arial"/>
            </a:endParaRPr>
          </a:p>
        </p:txBody>
      </p:sp>
      <p:sp>
        <p:nvSpPr>
          <p:cNvPr id="266" name="Google Shape;266;p6"/>
          <p:cNvSpPr txBox="1"/>
          <p:nvPr/>
        </p:nvSpPr>
        <p:spPr>
          <a:xfrm>
            <a:off x="9641884" y="4284518"/>
            <a:ext cx="6679254" cy="27368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SISTEMA OPERATIVO DISTRIBUIDO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70" name="Shape 270"/>
        <p:cNvGrpSpPr/>
        <p:nvPr/>
      </p:nvGrpSpPr>
      <p:grpSpPr>
        <a:xfrm>
          <a:off x="0" y="0"/>
          <a:ext cx="0" cy="0"/>
          <a:chOff x="0" y="0"/>
          <a:chExt cx="0" cy="0"/>
        </a:xfrm>
      </p:grpSpPr>
      <p:sp>
        <p:nvSpPr>
          <p:cNvPr id="271" name="Google Shape;271;p7"/>
          <p:cNvSpPr/>
          <p:nvPr/>
        </p:nvSpPr>
        <p:spPr>
          <a:xfrm>
            <a:off x="10006587" y="314796"/>
            <a:ext cx="7967362" cy="9657408"/>
          </a:xfrm>
          <a:custGeom>
            <a:rect b="b" l="l" r="r" t="t"/>
            <a:pathLst>
              <a:path extrusionOk="0" h="9657408" w="7967362">
                <a:moveTo>
                  <a:pt x="0" y="0"/>
                </a:moveTo>
                <a:lnTo>
                  <a:pt x="7967362" y="0"/>
                </a:lnTo>
                <a:lnTo>
                  <a:pt x="7967362" y="9657408"/>
                </a:lnTo>
                <a:lnTo>
                  <a:pt x="0" y="9657408"/>
                </a:lnTo>
                <a:lnTo>
                  <a:pt x="0" y="0"/>
                </a:lnTo>
                <a:close/>
              </a:path>
            </a:pathLst>
          </a:custGeom>
          <a:blipFill rotWithShape="1">
            <a:blip r:embed="rId3">
              <a:alphaModFix/>
            </a:blip>
            <a:stretch>
              <a:fillRect b="0" l="0" r="0" t="0"/>
            </a:stretch>
          </a:blipFill>
          <a:ln>
            <a:noFill/>
          </a:ln>
        </p:spPr>
      </p:sp>
      <p:sp>
        <p:nvSpPr>
          <p:cNvPr id="272" name="Google Shape;272;p7"/>
          <p:cNvSpPr txBox="1"/>
          <p:nvPr/>
        </p:nvSpPr>
        <p:spPr>
          <a:xfrm>
            <a:off x="1028700" y="948309"/>
            <a:ext cx="8115300" cy="906907"/>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LINUX KERNEL</a:t>
            </a:r>
            <a:endParaRPr b="0" i="0" sz="1400" u="none" cap="none" strike="noStrike">
              <a:solidFill>
                <a:srgbClr val="000000"/>
              </a:solidFill>
              <a:latin typeface="Arial"/>
              <a:ea typeface="Arial"/>
              <a:cs typeface="Arial"/>
              <a:sym typeface="Arial"/>
            </a:endParaRPr>
          </a:p>
        </p:txBody>
      </p:sp>
      <p:sp>
        <p:nvSpPr>
          <p:cNvPr id="273" name="Google Shape;273;p7"/>
          <p:cNvSpPr txBox="1"/>
          <p:nvPr/>
        </p:nvSpPr>
        <p:spPr>
          <a:xfrm>
            <a:off x="1028700" y="2028642"/>
            <a:ext cx="8512307" cy="740854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El kernel de Linux es un kernel de sistema operativo tipo Unix, monolítico, modular, multitarea, gratuito y de código abierto escrito originalmente en 1991 por Linus Torvalds.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Se encuentra dentro del sistema operativo y controla todas las funciones principales del hardware, ya sea un teléfono, una computadora portátil, un servidor o cualquier otro tipo de equipo.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Se puede adaptar a arquitecturas específicas y a varios escenarios de uso utilizando una familia de comandos simples (es decir, sin la necesidad de editar manualmente su código fuente antes de la compilación); los usuarios privilegiados también pueden ajustar los parámetros del kernel en tiempo de ejecución.</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77" name="Shape 277"/>
        <p:cNvGrpSpPr/>
        <p:nvPr/>
      </p:nvGrpSpPr>
      <p:grpSpPr>
        <a:xfrm>
          <a:off x="0" y="0"/>
          <a:ext cx="0" cy="0"/>
          <a:chOff x="0" y="0"/>
          <a:chExt cx="0" cy="0"/>
        </a:xfrm>
      </p:grpSpPr>
      <p:sp>
        <p:nvSpPr>
          <p:cNvPr id="278" name="Google Shape;278;p8"/>
          <p:cNvSpPr/>
          <p:nvPr/>
        </p:nvSpPr>
        <p:spPr>
          <a:xfrm>
            <a:off x="0" y="-303278"/>
            <a:ext cx="8238083" cy="10893557"/>
          </a:xfrm>
          <a:custGeom>
            <a:rect b="b" l="l" r="r" t="t"/>
            <a:pathLst>
              <a:path extrusionOk="0" h="10893557" w="8238083">
                <a:moveTo>
                  <a:pt x="0" y="0"/>
                </a:moveTo>
                <a:lnTo>
                  <a:pt x="8238083" y="0"/>
                </a:lnTo>
                <a:lnTo>
                  <a:pt x="8238083" y="10893556"/>
                </a:lnTo>
                <a:lnTo>
                  <a:pt x="0" y="10893556"/>
                </a:lnTo>
                <a:lnTo>
                  <a:pt x="0" y="0"/>
                </a:lnTo>
                <a:close/>
              </a:path>
            </a:pathLst>
          </a:custGeom>
          <a:blipFill rotWithShape="1">
            <a:blip r:embed="rId3">
              <a:alphaModFix/>
            </a:blip>
            <a:stretch>
              <a:fillRect b="-5303" l="0" r="0" t="-5305"/>
            </a:stretch>
          </a:blipFill>
          <a:ln>
            <a:noFill/>
          </a:ln>
        </p:spPr>
      </p:sp>
      <p:grpSp>
        <p:nvGrpSpPr>
          <p:cNvPr id="279" name="Google Shape;279;p8"/>
          <p:cNvGrpSpPr/>
          <p:nvPr/>
        </p:nvGrpSpPr>
        <p:grpSpPr>
          <a:xfrm>
            <a:off x="776098" y="1001997"/>
            <a:ext cx="6433974" cy="8210676"/>
            <a:chOff x="0" y="-19050"/>
            <a:chExt cx="1694545" cy="2162483"/>
          </a:xfrm>
        </p:grpSpPr>
        <p:sp>
          <p:nvSpPr>
            <p:cNvPr id="280" name="Google Shape;280;p8"/>
            <p:cNvSpPr/>
            <p:nvPr/>
          </p:nvSpPr>
          <p:spPr>
            <a:xfrm>
              <a:off x="0" y="0"/>
              <a:ext cx="1694545" cy="2143433"/>
            </a:xfrm>
            <a:custGeom>
              <a:rect b="b" l="l" r="r" t="t"/>
              <a:pathLst>
                <a:path extrusionOk="0" h="2143433" w="1694545">
                  <a:moveTo>
                    <a:pt x="61368" y="0"/>
                  </a:moveTo>
                  <a:lnTo>
                    <a:pt x="1633177" y="0"/>
                  </a:lnTo>
                  <a:cubicBezTo>
                    <a:pt x="1667069" y="0"/>
                    <a:pt x="1694545" y="27475"/>
                    <a:pt x="1694545" y="61368"/>
                  </a:cubicBezTo>
                  <a:lnTo>
                    <a:pt x="1694545" y="2082065"/>
                  </a:lnTo>
                  <a:cubicBezTo>
                    <a:pt x="1694545" y="2115957"/>
                    <a:pt x="1667069" y="2143433"/>
                    <a:pt x="1633177" y="2143433"/>
                  </a:cubicBezTo>
                  <a:lnTo>
                    <a:pt x="61368" y="2143433"/>
                  </a:lnTo>
                  <a:cubicBezTo>
                    <a:pt x="27475" y="2143433"/>
                    <a:pt x="0" y="2115957"/>
                    <a:pt x="0" y="2082065"/>
                  </a:cubicBezTo>
                  <a:lnTo>
                    <a:pt x="0" y="61368"/>
                  </a:lnTo>
                  <a:cubicBezTo>
                    <a:pt x="0" y="27475"/>
                    <a:pt x="27475" y="0"/>
                    <a:pt x="61368"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8"/>
            <p:cNvSpPr txBox="1"/>
            <p:nvPr/>
          </p:nvSpPr>
          <p:spPr>
            <a:xfrm>
              <a:off x="0" y="-19050"/>
              <a:ext cx="1694545" cy="216248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2" name="Google Shape;282;p8"/>
          <p:cNvSpPr/>
          <p:nvPr/>
        </p:nvSpPr>
        <p:spPr>
          <a:xfrm>
            <a:off x="1028700" y="1775545"/>
            <a:ext cx="5742363" cy="6735910"/>
          </a:xfrm>
          <a:custGeom>
            <a:rect b="b" l="l" r="r" t="t"/>
            <a:pathLst>
              <a:path extrusionOk="0" h="6735910" w="5742363">
                <a:moveTo>
                  <a:pt x="0" y="0"/>
                </a:moveTo>
                <a:lnTo>
                  <a:pt x="5742363" y="0"/>
                </a:lnTo>
                <a:lnTo>
                  <a:pt x="5742363" y="6735910"/>
                </a:lnTo>
                <a:lnTo>
                  <a:pt x="0" y="6735910"/>
                </a:lnTo>
                <a:lnTo>
                  <a:pt x="0" y="0"/>
                </a:lnTo>
                <a:close/>
              </a:path>
            </a:pathLst>
          </a:custGeom>
          <a:blipFill rotWithShape="1">
            <a:blip r:embed="rId4">
              <a:alphaModFix/>
            </a:blip>
            <a:stretch>
              <a:fillRect b="0" l="0" r="0" t="0"/>
            </a:stretch>
          </a:blipFill>
          <a:ln>
            <a:noFill/>
          </a:ln>
        </p:spPr>
      </p:sp>
      <p:sp>
        <p:nvSpPr>
          <p:cNvPr id="283" name="Google Shape;283;p8"/>
          <p:cNvSpPr txBox="1"/>
          <p:nvPr/>
        </p:nvSpPr>
        <p:spPr>
          <a:xfrm>
            <a:off x="8746993" y="2194653"/>
            <a:ext cx="8512307" cy="701802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Es una familia de sistemas operativos tipo Unix compuesto por software libre y de código abierto.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Usualmente se dice ‘Linux’ para referirse al sistema operativo, pero en realidad ese es el nombre del kernel, que representa menos del 50 por ciento de todo el código del sistema. El sistema completo está formado también por una gran cantidad de componentes del Proyecto GNU junto a componentes de terceros, que van desde compiladores hasta entornos de escritorio.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Cabe señalar que existen derivados que usan el núcleo Linux pero que no tienen componentes GNU, como el sistema operativo Android, asi como también existen distribuciones de software GNU donde el núcleo Linux está ausente como FreeBSD. </a:t>
            </a:r>
            <a:endParaRPr b="0" i="0" sz="1400" u="none" cap="none" strike="noStrike">
              <a:solidFill>
                <a:srgbClr val="000000"/>
              </a:solidFill>
              <a:latin typeface="Arial"/>
              <a:ea typeface="Arial"/>
              <a:cs typeface="Arial"/>
              <a:sym typeface="Arial"/>
            </a:endParaRPr>
          </a:p>
        </p:txBody>
      </p:sp>
      <p:sp>
        <p:nvSpPr>
          <p:cNvPr id="284" name="Google Shape;284;p8"/>
          <p:cNvSpPr txBox="1"/>
          <p:nvPr/>
        </p:nvSpPr>
        <p:spPr>
          <a:xfrm>
            <a:off x="8746993" y="1064802"/>
            <a:ext cx="8115300" cy="906907"/>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GNU/LINUX</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88" name="Shape 288"/>
        <p:cNvGrpSpPr/>
        <p:nvPr/>
      </p:nvGrpSpPr>
      <p:grpSpPr>
        <a:xfrm>
          <a:off x="0" y="0"/>
          <a:ext cx="0" cy="0"/>
          <a:chOff x="0" y="0"/>
          <a:chExt cx="0" cy="0"/>
        </a:xfrm>
      </p:grpSpPr>
      <p:sp>
        <p:nvSpPr>
          <p:cNvPr id="289" name="Google Shape;289;p9"/>
          <p:cNvSpPr/>
          <p:nvPr/>
        </p:nvSpPr>
        <p:spPr>
          <a:xfrm rot="836406">
            <a:off x="-1892364" y="-4330085"/>
            <a:ext cx="23395168" cy="20893934"/>
          </a:xfrm>
          <a:custGeom>
            <a:rect b="b" l="l" r="r" t="t"/>
            <a:pathLst>
              <a:path extrusionOk="0" h="20893934" w="23395168">
                <a:moveTo>
                  <a:pt x="0" y="0"/>
                </a:moveTo>
                <a:lnTo>
                  <a:pt x="23395168" y="0"/>
                </a:lnTo>
                <a:lnTo>
                  <a:pt x="23395168" y="20893934"/>
                </a:lnTo>
                <a:lnTo>
                  <a:pt x="0" y="20893934"/>
                </a:lnTo>
                <a:lnTo>
                  <a:pt x="0" y="0"/>
                </a:lnTo>
                <a:close/>
              </a:path>
            </a:pathLst>
          </a:custGeom>
          <a:blipFill rotWithShape="1">
            <a:blip r:embed="rId3">
              <a:alphaModFix/>
            </a:blip>
            <a:stretch>
              <a:fillRect b="0" l="0" r="0" t="0"/>
            </a:stretch>
          </a:blipFill>
          <a:ln>
            <a:noFill/>
          </a:ln>
        </p:spPr>
      </p:sp>
      <p:sp>
        <p:nvSpPr>
          <p:cNvPr id="290" name="Google Shape;290;p9"/>
          <p:cNvSpPr/>
          <p:nvPr/>
        </p:nvSpPr>
        <p:spPr>
          <a:xfrm>
            <a:off x="8369251" y="3996014"/>
            <a:ext cx="9320552" cy="5732139"/>
          </a:xfrm>
          <a:custGeom>
            <a:rect b="b" l="l" r="r" t="t"/>
            <a:pathLst>
              <a:path extrusionOk="0" h="5732139" w="9320552">
                <a:moveTo>
                  <a:pt x="0" y="0"/>
                </a:moveTo>
                <a:lnTo>
                  <a:pt x="9320552" y="0"/>
                </a:lnTo>
                <a:lnTo>
                  <a:pt x="9320552" y="5732139"/>
                </a:lnTo>
                <a:lnTo>
                  <a:pt x="0" y="5732139"/>
                </a:lnTo>
                <a:lnTo>
                  <a:pt x="0" y="0"/>
                </a:lnTo>
                <a:close/>
              </a:path>
            </a:pathLst>
          </a:custGeom>
          <a:blipFill rotWithShape="1">
            <a:blip r:embed="rId4">
              <a:alphaModFix/>
            </a:blip>
            <a:stretch>
              <a:fillRect b="0" l="0" r="0" t="0"/>
            </a:stretch>
          </a:blipFill>
          <a:ln>
            <a:noFill/>
          </a:ln>
        </p:spPr>
      </p:sp>
      <p:sp>
        <p:nvSpPr>
          <p:cNvPr id="291" name="Google Shape;291;p9"/>
          <p:cNvSpPr txBox="1"/>
          <p:nvPr/>
        </p:nvSpPr>
        <p:spPr>
          <a:xfrm>
            <a:off x="906959" y="1009713"/>
            <a:ext cx="11615350" cy="812419"/>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299"/>
              <a:buFont typeface="Arial"/>
              <a:buNone/>
            </a:pPr>
            <a:r>
              <a:rPr b="0" i="0" lang="en-US" sz="5299" u="none" cap="none" strike="noStrike">
                <a:solidFill>
                  <a:srgbClr val="FFFFFF"/>
                </a:solidFill>
                <a:latin typeface="Arial"/>
                <a:ea typeface="Arial"/>
                <a:cs typeface="Arial"/>
                <a:sym typeface="Arial"/>
              </a:rPr>
              <a:t>¿POR QUE USAR LINUX?</a:t>
            </a:r>
            <a:endParaRPr b="0" i="0" sz="1400" u="none" cap="none" strike="noStrike">
              <a:solidFill>
                <a:srgbClr val="000000"/>
              </a:solidFill>
              <a:latin typeface="Arial"/>
              <a:ea typeface="Arial"/>
              <a:cs typeface="Arial"/>
              <a:sym typeface="Arial"/>
            </a:endParaRPr>
          </a:p>
        </p:txBody>
      </p:sp>
      <p:sp>
        <p:nvSpPr>
          <p:cNvPr id="292" name="Google Shape;292;p9"/>
          <p:cNvSpPr txBox="1"/>
          <p:nvPr/>
        </p:nvSpPr>
        <p:spPr>
          <a:xfrm>
            <a:off x="906959" y="2148799"/>
            <a:ext cx="16105800" cy="21942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Actualmente, Linux se utiliza para gestionar múltiples servicios, cómo programación de procesos, programación de aplicaciones, dispositivos periféricos fundamentales y sistemas de archivos. Linux puede ejecutar cualquier tipo de programa que esté acostumbrado a ejecutar en Windows o macOS, desde calculadoras básicas hasta sofisticadas herramientas de edición de gráficos.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p:txBody>
      </p:sp>
      <p:sp>
        <p:nvSpPr>
          <p:cNvPr id="293" name="Google Shape;293;p9"/>
          <p:cNvSpPr txBox="1"/>
          <p:nvPr/>
        </p:nvSpPr>
        <p:spPr>
          <a:xfrm>
            <a:off x="906959" y="4113922"/>
            <a:ext cx="7431856" cy="481901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Kubernetes, Docker y Open Daylight (utilizados para acelerar la adopción virtualización de funciones de red) son ejemplos de productos basados ​​en Linux que han tenido un impacto significativo en la industria de TI y se han vuelto indispensables para las pilas tecnológicas de una gran cantidad de empresas. organizaciones. Además, los proveedores de servicios en la nube prefieren los sistemas operativos basados ​​en Linux debido a su naturaleza gratuita y de código abierto.</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97" name="Shape 297"/>
        <p:cNvGrpSpPr/>
        <p:nvPr/>
      </p:nvGrpSpPr>
      <p:grpSpPr>
        <a:xfrm>
          <a:off x="0" y="0"/>
          <a:ext cx="0" cy="0"/>
          <a:chOff x="0" y="0"/>
          <a:chExt cx="0" cy="0"/>
        </a:xfrm>
      </p:grpSpPr>
      <p:cxnSp>
        <p:nvCxnSpPr>
          <p:cNvPr id="298" name="Google Shape;298;p10"/>
          <p:cNvCxnSpPr/>
          <p:nvPr/>
        </p:nvCxnSpPr>
        <p:spPr>
          <a:xfrm>
            <a:off x="15434660" y="3207994"/>
            <a:ext cx="0" cy="2476378"/>
          </a:xfrm>
          <a:prstGeom prst="straightConnector1">
            <a:avLst/>
          </a:prstGeom>
          <a:noFill/>
          <a:ln cap="flat" cmpd="sng" w="38100">
            <a:solidFill>
              <a:srgbClr val="675688"/>
            </a:solidFill>
            <a:prstDash val="solid"/>
            <a:round/>
            <a:headEnd len="sm" w="sm" type="none"/>
            <a:tailEnd len="lg" w="lg" type="oval"/>
          </a:ln>
        </p:spPr>
      </p:cxnSp>
      <p:grpSp>
        <p:nvGrpSpPr>
          <p:cNvPr id="299" name="Google Shape;299;p10"/>
          <p:cNvGrpSpPr/>
          <p:nvPr/>
        </p:nvGrpSpPr>
        <p:grpSpPr>
          <a:xfrm>
            <a:off x="14280688" y="2872292"/>
            <a:ext cx="2307945" cy="2307945"/>
            <a:chOff x="0" y="0"/>
            <a:chExt cx="812800" cy="812800"/>
          </a:xfrm>
        </p:grpSpPr>
        <p:sp>
          <p:nvSpPr>
            <p:cNvPr id="300" name="Google Shape;300;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2" name="Google Shape;302;p10"/>
          <p:cNvGrpSpPr/>
          <p:nvPr/>
        </p:nvGrpSpPr>
        <p:grpSpPr>
          <a:xfrm>
            <a:off x="15069234" y="2506865"/>
            <a:ext cx="730852" cy="730852"/>
            <a:chOff x="0" y="0"/>
            <a:chExt cx="812800" cy="812800"/>
          </a:xfrm>
        </p:grpSpPr>
        <p:sp>
          <p:nvSpPr>
            <p:cNvPr id="303" name="Google Shape;303;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5" name="Google Shape;305;p10"/>
          <p:cNvGrpSpPr/>
          <p:nvPr/>
        </p:nvGrpSpPr>
        <p:grpSpPr>
          <a:xfrm>
            <a:off x="1699367" y="2872292"/>
            <a:ext cx="2307945" cy="2307945"/>
            <a:chOff x="0" y="0"/>
            <a:chExt cx="812800" cy="812800"/>
          </a:xfrm>
        </p:grpSpPr>
        <p:sp>
          <p:nvSpPr>
            <p:cNvPr id="306" name="Google Shape;306;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08" name="Google Shape;308;p10"/>
          <p:cNvCxnSpPr/>
          <p:nvPr/>
        </p:nvCxnSpPr>
        <p:spPr>
          <a:xfrm>
            <a:off x="2853340" y="3207994"/>
            <a:ext cx="0" cy="2476378"/>
          </a:xfrm>
          <a:prstGeom prst="straightConnector1">
            <a:avLst/>
          </a:prstGeom>
          <a:noFill/>
          <a:ln cap="flat" cmpd="sng" w="38100">
            <a:solidFill>
              <a:srgbClr val="5CD9C1"/>
            </a:solidFill>
            <a:prstDash val="solid"/>
            <a:round/>
            <a:headEnd len="sm" w="sm" type="none"/>
            <a:tailEnd len="lg" w="lg" type="oval"/>
          </a:ln>
        </p:spPr>
      </p:cxnSp>
      <p:grpSp>
        <p:nvGrpSpPr>
          <p:cNvPr id="309" name="Google Shape;309;p10"/>
          <p:cNvGrpSpPr/>
          <p:nvPr/>
        </p:nvGrpSpPr>
        <p:grpSpPr>
          <a:xfrm>
            <a:off x="2487914" y="2506865"/>
            <a:ext cx="730852" cy="730852"/>
            <a:chOff x="0" y="0"/>
            <a:chExt cx="812800" cy="812800"/>
          </a:xfrm>
        </p:grpSpPr>
        <p:sp>
          <p:nvSpPr>
            <p:cNvPr id="310" name="Google Shape;310;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2" name="Google Shape;312;p10"/>
          <p:cNvGrpSpPr/>
          <p:nvPr/>
        </p:nvGrpSpPr>
        <p:grpSpPr>
          <a:xfrm>
            <a:off x="5872807" y="2872292"/>
            <a:ext cx="2307945" cy="2307945"/>
            <a:chOff x="0" y="0"/>
            <a:chExt cx="812800" cy="812800"/>
          </a:xfrm>
        </p:grpSpPr>
        <p:sp>
          <p:nvSpPr>
            <p:cNvPr id="313" name="Google Shape;313;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15" name="Google Shape;315;p10"/>
          <p:cNvCxnSpPr/>
          <p:nvPr/>
        </p:nvCxnSpPr>
        <p:spPr>
          <a:xfrm>
            <a:off x="7026780" y="3207994"/>
            <a:ext cx="0" cy="2476378"/>
          </a:xfrm>
          <a:prstGeom prst="straightConnector1">
            <a:avLst/>
          </a:prstGeom>
          <a:noFill/>
          <a:ln cap="flat" cmpd="sng" w="38100">
            <a:solidFill>
              <a:srgbClr val="ACFDDB"/>
            </a:solidFill>
            <a:prstDash val="solid"/>
            <a:round/>
            <a:headEnd len="sm" w="sm" type="none"/>
            <a:tailEnd len="lg" w="lg" type="oval"/>
          </a:ln>
        </p:spPr>
      </p:cxnSp>
      <p:grpSp>
        <p:nvGrpSpPr>
          <p:cNvPr id="316" name="Google Shape;316;p10"/>
          <p:cNvGrpSpPr/>
          <p:nvPr/>
        </p:nvGrpSpPr>
        <p:grpSpPr>
          <a:xfrm>
            <a:off x="6661354" y="2506865"/>
            <a:ext cx="730852" cy="730852"/>
            <a:chOff x="0" y="0"/>
            <a:chExt cx="812800" cy="812800"/>
          </a:xfrm>
        </p:grpSpPr>
        <p:sp>
          <p:nvSpPr>
            <p:cNvPr id="317" name="Google Shape;317;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9" name="Google Shape;319;p10"/>
          <p:cNvGrpSpPr/>
          <p:nvPr/>
        </p:nvGrpSpPr>
        <p:grpSpPr>
          <a:xfrm>
            <a:off x="10107248" y="2872292"/>
            <a:ext cx="2307945" cy="2307945"/>
            <a:chOff x="0" y="0"/>
            <a:chExt cx="812800" cy="812800"/>
          </a:xfrm>
        </p:grpSpPr>
        <p:sp>
          <p:nvSpPr>
            <p:cNvPr id="320" name="Google Shape;320;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22" name="Google Shape;322;p10"/>
          <p:cNvCxnSpPr/>
          <p:nvPr/>
        </p:nvCxnSpPr>
        <p:spPr>
          <a:xfrm>
            <a:off x="11261220" y="3207994"/>
            <a:ext cx="0" cy="2476378"/>
          </a:xfrm>
          <a:prstGeom prst="straightConnector1">
            <a:avLst/>
          </a:prstGeom>
          <a:noFill/>
          <a:ln cap="flat" cmpd="sng" w="38100">
            <a:solidFill>
              <a:srgbClr val="B084CC"/>
            </a:solidFill>
            <a:prstDash val="solid"/>
            <a:round/>
            <a:headEnd len="sm" w="sm" type="none"/>
            <a:tailEnd len="lg" w="lg" type="oval"/>
          </a:ln>
        </p:spPr>
      </p:cxnSp>
      <p:grpSp>
        <p:nvGrpSpPr>
          <p:cNvPr id="323" name="Google Shape;323;p10"/>
          <p:cNvGrpSpPr/>
          <p:nvPr/>
        </p:nvGrpSpPr>
        <p:grpSpPr>
          <a:xfrm>
            <a:off x="10895794" y="2506865"/>
            <a:ext cx="730852" cy="730852"/>
            <a:chOff x="0" y="0"/>
            <a:chExt cx="812800" cy="812800"/>
          </a:xfrm>
        </p:grpSpPr>
        <p:sp>
          <p:nvSpPr>
            <p:cNvPr id="324" name="Google Shape;324;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26" name="Google Shape;326;p10"/>
          <p:cNvCxnSpPr/>
          <p:nvPr/>
        </p:nvCxnSpPr>
        <p:spPr>
          <a:xfrm rot="10800000">
            <a:off x="5012189" y="2507945"/>
            <a:ext cx="0" cy="5659939"/>
          </a:xfrm>
          <a:prstGeom prst="straightConnector1">
            <a:avLst/>
          </a:prstGeom>
          <a:noFill/>
          <a:ln cap="flat" cmpd="sng" w="9525">
            <a:solidFill>
              <a:srgbClr val="FFFFFF"/>
            </a:solidFill>
            <a:prstDash val="lgDash"/>
            <a:round/>
            <a:headEnd len="sm" w="sm" type="none"/>
            <a:tailEnd len="sm" w="sm" type="none"/>
          </a:ln>
        </p:spPr>
      </p:cxnSp>
      <p:cxnSp>
        <p:nvCxnSpPr>
          <p:cNvPr id="327" name="Google Shape;327;p10"/>
          <p:cNvCxnSpPr/>
          <p:nvPr/>
        </p:nvCxnSpPr>
        <p:spPr>
          <a:xfrm rot="10800000">
            <a:off x="9100243" y="2507945"/>
            <a:ext cx="0" cy="5659939"/>
          </a:xfrm>
          <a:prstGeom prst="straightConnector1">
            <a:avLst/>
          </a:prstGeom>
          <a:noFill/>
          <a:ln cap="flat" cmpd="sng" w="9525">
            <a:solidFill>
              <a:srgbClr val="FFFFFF"/>
            </a:solidFill>
            <a:prstDash val="lgDash"/>
            <a:round/>
            <a:headEnd len="sm" w="sm" type="none"/>
            <a:tailEnd len="sm" w="sm" type="none"/>
          </a:ln>
        </p:spPr>
      </p:cxnSp>
      <p:cxnSp>
        <p:nvCxnSpPr>
          <p:cNvPr id="328" name="Google Shape;328;p10"/>
          <p:cNvCxnSpPr/>
          <p:nvPr/>
        </p:nvCxnSpPr>
        <p:spPr>
          <a:xfrm rot="10800000">
            <a:off x="13345459" y="2507945"/>
            <a:ext cx="0" cy="5659939"/>
          </a:xfrm>
          <a:prstGeom prst="straightConnector1">
            <a:avLst/>
          </a:prstGeom>
          <a:noFill/>
          <a:ln cap="flat" cmpd="sng" w="9525">
            <a:solidFill>
              <a:srgbClr val="FFFFFF"/>
            </a:solidFill>
            <a:prstDash val="lgDash"/>
            <a:round/>
            <a:headEnd len="sm" w="sm" type="none"/>
            <a:tailEnd len="sm" w="sm" type="none"/>
          </a:ln>
        </p:spPr>
      </p:cxnSp>
      <p:sp>
        <p:nvSpPr>
          <p:cNvPr id="329" name="Google Shape;329;p10"/>
          <p:cNvSpPr/>
          <p:nvPr/>
        </p:nvSpPr>
        <p:spPr>
          <a:xfrm>
            <a:off x="2073503" y="3447402"/>
            <a:ext cx="1559673" cy="1169755"/>
          </a:xfrm>
          <a:custGeom>
            <a:rect b="b" l="l" r="r" t="t"/>
            <a:pathLst>
              <a:path extrusionOk="0" h="1169755" w="1559673">
                <a:moveTo>
                  <a:pt x="0" y="0"/>
                </a:moveTo>
                <a:lnTo>
                  <a:pt x="1559673" y="0"/>
                </a:lnTo>
                <a:lnTo>
                  <a:pt x="1559673" y="1169755"/>
                </a:lnTo>
                <a:lnTo>
                  <a:pt x="0" y="1169755"/>
                </a:lnTo>
                <a:lnTo>
                  <a:pt x="0" y="0"/>
                </a:lnTo>
                <a:close/>
              </a:path>
            </a:pathLst>
          </a:custGeom>
          <a:blipFill rotWithShape="1">
            <a:blip r:embed="rId3">
              <a:alphaModFix/>
            </a:blip>
            <a:stretch>
              <a:fillRect b="0" l="0" r="0" t="0"/>
            </a:stretch>
          </a:blipFill>
          <a:ln>
            <a:noFill/>
          </a:ln>
        </p:spPr>
      </p:sp>
      <p:sp>
        <p:nvSpPr>
          <p:cNvPr id="330" name="Google Shape;330;p10"/>
          <p:cNvSpPr/>
          <p:nvPr/>
        </p:nvSpPr>
        <p:spPr>
          <a:xfrm>
            <a:off x="10476605" y="3239121"/>
            <a:ext cx="1604366" cy="1586317"/>
          </a:xfrm>
          <a:custGeom>
            <a:rect b="b" l="l" r="r" t="t"/>
            <a:pathLst>
              <a:path extrusionOk="0" h="1586317" w="1604366">
                <a:moveTo>
                  <a:pt x="0" y="0"/>
                </a:moveTo>
                <a:lnTo>
                  <a:pt x="1604366" y="0"/>
                </a:lnTo>
                <a:lnTo>
                  <a:pt x="1604366" y="1586317"/>
                </a:lnTo>
                <a:lnTo>
                  <a:pt x="0" y="1586317"/>
                </a:lnTo>
                <a:lnTo>
                  <a:pt x="0" y="0"/>
                </a:lnTo>
                <a:close/>
              </a:path>
            </a:pathLst>
          </a:custGeom>
          <a:blipFill rotWithShape="1">
            <a:blip r:embed="rId4">
              <a:alphaModFix/>
            </a:blip>
            <a:stretch>
              <a:fillRect b="0" l="0" r="0" t="0"/>
            </a:stretch>
          </a:blipFill>
          <a:ln>
            <a:noFill/>
          </a:ln>
        </p:spPr>
      </p:sp>
      <p:sp>
        <p:nvSpPr>
          <p:cNvPr id="331" name="Google Shape;331;p10"/>
          <p:cNvSpPr/>
          <p:nvPr/>
        </p:nvSpPr>
        <p:spPr>
          <a:xfrm>
            <a:off x="6159974" y="3409263"/>
            <a:ext cx="1733611" cy="1246033"/>
          </a:xfrm>
          <a:custGeom>
            <a:rect b="b" l="l" r="r" t="t"/>
            <a:pathLst>
              <a:path extrusionOk="0" h="1246033" w="1733611">
                <a:moveTo>
                  <a:pt x="0" y="0"/>
                </a:moveTo>
                <a:lnTo>
                  <a:pt x="1733612" y="0"/>
                </a:lnTo>
                <a:lnTo>
                  <a:pt x="1733612" y="1246033"/>
                </a:lnTo>
                <a:lnTo>
                  <a:pt x="0" y="1246033"/>
                </a:lnTo>
                <a:lnTo>
                  <a:pt x="0" y="0"/>
                </a:lnTo>
                <a:close/>
              </a:path>
            </a:pathLst>
          </a:custGeom>
          <a:blipFill rotWithShape="1">
            <a:blip r:embed="rId5">
              <a:alphaModFix/>
            </a:blip>
            <a:stretch>
              <a:fillRect b="0" l="0" r="0" t="0"/>
            </a:stretch>
          </a:blipFill>
          <a:ln>
            <a:noFill/>
          </a:ln>
        </p:spPr>
      </p:sp>
      <p:sp>
        <p:nvSpPr>
          <p:cNvPr id="332" name="Google Shape;332;p10"/>
          <p:cNvSpPr/>
          <p:nvPr/>
        </p:nvSpPr>
        <p:spPr>
          <a:xfrm>
            <a:off x="14810256" y="3409263"/>
            <a:ext cx="1248809" cy="1416175"/>
          </a:xfrm>
          <a:custGeom>
            <a:rect b="b" l="l" r="r" t="t"/>
            <a:pathLst>
              <a:path extrusionOk="0" h="1416175" w="1248809">
                <a:moveTo>
                  <a:pt x="0" y="0"/>
                </a:moveTo>
                <a:lnTo>
                  <a:pt x="1248809" y="0"/>
                </a:lnTo>
                <a:lnTo>
                  <a:pt x="1248809" y="1416175"/>
                </a:lnTo>
                <a:lnTo>
                  <a:pt x="0" y="1416175"/>
                </a:lnTo>
                <a:lnTo>
                  <a:pt x="0" y="0"/>
                </a:lnTo>
                <a:close/>
              </a:path>
            </a:pathLst>
          </a:custGeom>
          <a:blipFill rotWithShape="1">
            <a:blip r:embed="rId6">
              <a:alphaModFix/>
            </a:blip>
            <a:stretch>
              <a:fillRect b="0" l="0" r="0" t="0"/>
            </a:stretch>
          </a:blipFill>
          <a:ln>
            <a:noFill/>
          </a:ln>
        </p:spPr>
      </p:sp>
      <p:sp>
        <p:nvSpPr>
          <p:cNvPr id="333" name="Google Shape;333;p10"/>
          <p:cNvSpPr txBox="1"/>
          <p:nvPr/>
        </p:nvSpPr>
        <p:spPr>
          <a:xfrm>
            <a:off x="1028700" y="1089979"/>
            <a:ext cx="16230600" cy="765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CONTEXTOS QUE UTILIZAN LINUX</a:t>
            </a:r>
            <a:endParaRPr b="0" i="0" sz="1400" u="none" cap="none" strike="noStrike">
              <a:solidFill>
                <a:srgbClr val="000000"/>
              </a:solidFill>
              <a:latin typeface="Arial"/>
              <a:ea typeface="Arial"/>
              <a:cs typeface="Arial"/>
              <a:sym typeface="Arial"/>
            </a:endParaRPr>
          </a:p>
        </p:txBody>
      </p:sp>
      <p:sp>
        <p:nvSpPr>
          <p:cNvPr id="334" name="Google Shape;334;p10"/>
          <p:cNvSpPr txBox="1"/>
          <p:nvPr/>
        </p:nvSpPr>
        <p:spPr>
          <a:xfrm>
            <a:off x="15144562" y="2672473"/>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482B66"/>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
        <p:nvSpPr>
          <p:cNvPr id="335" name="Google Shape;335;p10"/>
          <p:cNvSpPr txBox="1"/>
          <p:nvPr/>
        </p:nvSpPr>
        <p:spPr>
          <a:xfrm>
            <a:off x="13769321" y="5982701"/>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SERVIDORES</a:t>
            </a:r>
            <a:endParaRPr b="0" i="0" sz="1400" u="none" cap="none" strike="noStrike">
              <a:solidFill>
                <a:srgbClr val="000000"/>
              </a:solidFill>
              <a:latin typeface="Arial"/>
              <a:ea typeface="Arial"/>
              <a:cs typeface="Arial"/>
              <a:sym typeface="Arial"/>
            </a:endParaRPr>
          </a:p>
        </p:txBody>
      </p:sp>
      <p:sp>
        <p:nvSpPr>
          <p:cNvPr id="336" name="Google Shape;336;p10"/>
          <p:cNvSpPr txBox="1"/>
          <p:nvPr/>
        </p:nvSpPr>
        <p:spPr>
          <a:xfrm>
            <a:off x="1119988" y="6586193"/>
            <a:ext cx="3468339" cy="303593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Linux se utiliza para sistemas de servidores sin cabeza que no necesitan una interfaz gráfica de usuario (GUI) o una terminal y un teclado directamente vinculados. Los sistemas sin cabeza se utilizan a menudo para servidores de red y otros dispositivos operados de forma remota</a:t>
            </a:r>
            <a:endParaRPr b="0" i="0" sz="1400" u="none" cap="none" strike="noStrike">
              <a:solidFill>
                <a:srgbClr val="000000"/>
              </a:solidFill>
              <a:latin typeface="Arial"/>
              <a:ea typeface="Arial"/>
              <a:cs typeface="Arial"/>
              <a:sym typeface="Arial"/>
            </a:endParaRPr>
          </a:p>
        </p:txBody>
      </p:sp>
      <p:sp>
        <p:nvSpPr>
          <p:cNvPr id="337" name="Google Shape;337;p10"/>
          <p:cNvSpPr txBox="1"/>
          <p:nvPr/>
        </p:nvSpPr>
        <p:spPr>
          <a:xfrm>
            <a:off x="1119170" y="5982701"/>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SISTEMAS SIN CABEZA</a:t>
            </a:r>
            <a:endParaRPr b="0" i="0" sz="1400" u="none" cap="none" strike="noStrike">
              <a:solidFill>
                <a:srgbClr val="000000"/>
              </a:solidFill>
              <a:latin typeface="Arial"/>
              <a:ea typeface="Arial"/>
              <a:cs typeface="Arial"/>
              <a:sym typeface="Arial"/>
            </a:endParaRPr>
          </a:p>
        </p:txBody>
      </p:sp>
      <p:sp>
        <p:nvSpPr>
          <p:cNvPr id="338" name="Google Shape;338;p10"/>
          <p:cNvSpPr txBox="1"/>
          <p:nvPr/>
        </p:nvSpPr>
        <p:spPr>
          <a:xfrm>
            <a:off x="2563241" y="2672473"/>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24B296"/>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339" name="Google Shape;339;p10"/>
          <p:cNvSpPr txBox="1"/>
          <p:nvPr/>
        </p:nvSpPr>
        <p:spPr>
          <a:xfrm>
            <a:off x="5292610" y="5982701"/>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DISPOSITIVOS DE RED</a:t>
            </a:r>
            <a:endParaRPr b="0" i="0" sz="1400" u="none" cap="none" strike="noStrike">
              <a:solidFill>
                <a:srgbClr val="000000"/>
              </a:solidFill>
              <a:latin typeface="Arial"/>
              <a:ea typeface="Arial"/>
              <a:cs typeface="Arial"/>
              <a:sym typeface="Arial"/>
            </a:endParaRPr>
          </a:p>
        </p:txBody>
      </p:sp>
      <p:sp>
        <p:nvSpPr>
          <p:cNvPr id="340" name="Google Shape;340;p10"/>
          <p:cNvSpPr txBox="1"/>
          <p:nvPr/>
        </p:nvSpPr>
        <p:spPr>
          <a:xfrm>
            <a:off x="6736681" y="2672473"/>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67D3CD"/>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341" name="Google Shape;341;p10"/>
          <p:cNvSpPr txBox="1"/>
          <p:nvPr/>
        </p:nvSpPr>
        <p:spPr>
          <a:xfrm>
            <a:off x="9527051" y="5865347"/>
            <a:ext cx="3468339" cy="64159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DISPOSITIVOS INTEGRADOS</a:t>
            </a:r>
            <a:endParaRPr b="0" i="0" sz="1400" u="none" cap="none" strike="noStrike">
              <a:solidFill>
                <a:srgbClr val="000000"/>
              </a:solidFill>
              <a:latin typeface="Arial"/>
              <a:ea typeface="Arial"/>
              <a:cs typeface="Arial"/>
              <a:sym typeface="Arial"/>
            </a:endParaRPr>
          </a:p>
        </p:txBody>
      </p:sp>
      <p:sp>
        <p:nvSpPr>
          <p:cNvPr id="342" name="Google Shape;342;p10"/>
          <p:cNvSpPr txBox="1"/>
          <p:nvPr/>
        </p:nvSpPr>
        <p:spPr>
          <a:xfrm>
            <a:off x="10971122" y="2672473"/>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675688"/>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343" name="Google Shape;343;p10"/>
          <p:cNvSpPr txBox="1"/>
          <p:nvPr/>
        </p:nvSpPr>
        <p:spPr>
          <a:xfrm>
            <a:off x="5292610" y="6640392"/>
            <a:ext cx="3468339" cy="303593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Linux es un sistema operativo de red común para enrutadores, conmutadores, servidores DNS, dispositivos de red domésticos y más. Cisco, por ejemplo, proporciona una versión del sistema operativo Cisco Internetwork (IOS) que emplea el kernel de Linux.</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344" name="Google Shape;344;p10"/>
          <p:cNvSpPr txBox="1"/>
          <p:nvPr/>
        </p:nvSpPr>
        <p:spPr>
          <a:xfrm>
            <a:off x="9488681" y="6640392"/>
            <a:ext cx="3468339" cy="275971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Linux se utiliza como sistema operativo integrado para una variedad de aplicaciones, como electrodomésticos, sistemas de entretenimiento para automóviles y dispositivos de sistemas de archivos en red con necesidades informáticas modestas.</a:t>
            </a:r>
            <a:endParaRPr b="0" i="0" sz="1400" u="none" cap="none" strike="noStrike">
              <a:solidFill>
                <a:srgbClr val="000000"/>
              </a:solidFill>
              <a:latin typeface="Arial"/>
              <a:ea typeface="Arial"/>
              <a:cs typeface="Arial"/>
              <a:sym typeface="Arial"/>
            </a:endParaRPr>
          </a:p>
        </p:txBody>
      </p:sp>
      <p:sp>
        <p:nvSpPr>
          <p:cNvPr id="345" name="Google Shape;345;p10"/>
          <p:cNvSpPr txBox="1"/>
          <p:nvPr/>
        </p:nvSpPr>
        <p:spPr>
          <a:xfrm>
            <a:off x="13790961" y="6640392"/>
            <a:ext cx="3468339" cy="220726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 Linux es adecuado para todo tipo de aplicaciones de servidor debido a su capacidad para ejecutar aplicaciones de gran volumen y subprocesos múltiples.</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49" name="Shape 349"/>
        <p:cNvGrpSpPr/>
        <p:nvPr/>
      </p:nvGrpSpPr>
      <p:grpSpPr>
        <a:xfrm>
          <a:off x="0" y="0"/>
          <a:ext cx="0" cy="0"/>
          <a:chOff x="0" y="0"/>
          <a:chExt cx="0" cy="0"/>
        </a:xfrm>
      </p:grpSpPr>
      <p:sp>
        <p:nvSpPr>
          <p:cNvPr id="350" name="Google Shape;350;g35c3d042265_1_295"/>
          <p:cNvSpPr/>
          <p:nvPr/>
        </p:nvSpPr>
        <p:spPr>
          <a:xfrm rot="-6500666">
            <a:off x="-3315875" y="-3954132"/>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351" name="Google Shape;351;g35c3d042265_1_295"/>
          <p:cNvGrpSpPr/>
          <p:nvPr/>
        </p:nvGrpSpPr>
        <p:grpSpPr>
          <a:xfrm>
            <a:off x="684792" y="596982"/>
            <a:ext cx="7289038" cy="8925753"/>
            <a:chOff x="0" y="-28575"/>
            <a:chExt cx="1919734" cy="2350800"/>
          </a:xfrm>
        </p:grpSpPr>
        <p:sp>
          <p:nvSpPr>
            <p:cNvPr id="352" name="Google Shape;352;g35c3d042265_1_295"/>
            <p:cNvSpPr/>
            <p:nvPr/>
          </p:nvSpPr>
          <p:spPr>
            <a:xfrm>
              <a:off x="0" y="0"/>
              <a:ext cx="1919734" cy="2322170"/>
            </a:xfrm>
            <a:custGeom>
              <a:rect b="b" l="l" r="r" t="t"/>
              <a:pathLst>
                <a:path extrusionOk="0" h="2322170" w="1919734">
                  <a:moveTo>
                    <a:pt x="54169" y="0"/>
                  </a:moveTo>
                  <a:lnTo>
                    <a:pt x="1865564" y="0"/>
                  </a:lnTo>
                  <a:cubicBezTo>
                    <a:pt x="1895481" y="0"/>
                    <a:pt x="1919734" y="24252"/>
                    <a:pt x="1919734" y="54169"/>
                  </a:cubicBezTo>
                  <a:lnTo>
                    <a:pt x="1919734" y="2268001"/>
                  </a:lnTo>
                  <a:cubicBezTo>
                    <a:pt x="1919734" y="2282367"/>
                    <a:pt x="1914027" y="2296146"/>
                    <a:pt x="1903868" y="2306304"/>
                  </a:cubicBezTo>
                  <a:cubicBezTo>
                    <a:pt x="1893709" y="2316463"/>
                    <a:pt x="1879931" y="2322170"/>
                    <a:pt x="1865564" y="2322170"/>
                  </a:cubicBezTo>
                  <a:lnTo>
                    <a:pt x="54169" y="2322170"/>
                  </a:lnTo>
                  <a:cubicBezTo>
                    <a:pt x="24252" y="2322170"/>
                    <a:pt x="0" y="2297918"/>
                    <a:pt x="0" y="2268001"/>
                  </a:cubicBezTo>
                  <a:lnTo>
                    <a:pt x="0" y="54169"/>
                  </a:lnTo>
                  <a:cubicBezTo>
                    <a:pt x="0" y="24252"/>
                    <a:pt x="24252" y="0"/>
                    <a:pt x="5416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g35c3d042265_1_295"/>
            <p:cNvSpPr txBox="1"/>
            <p:nvPr/>
          </p:nvSpPr>
          <p:spPr>
            <a:xfrm>
              <a:off x="0" y="-28575"/>
              <a:ext cx="1919700" cy="2350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4" name="Google Shape;354;g35c3d042265_1_295"/>
          <p:cNvSpPr/>
          <p:nvPr/>
        </p:nvSpPr>
        <p:spPr>
          <a:xfrm>
            <a:off x="1440255" y="2224941"/>
            <a:ext cx="5778062" cy="5778062"/>
          </a:xfrm>
          <a:custGeom>
            <a:rect b="b" l="l" r="r" t="t"/>
            <a:pathLst>
              <a:path extrusionOk="0" h="5778062" w="5778062">
                <a:moveTo>
                  <a:pt x="0" y="0"/>
                </a:moveTo>
                <a:lnTo>
                  <a:pt x="5778063" y="0"/>
                </a:lnTo>
                <a:lnTo>
                  <a:pt x="5778063" y="5778063"/>
                </a:lnTo>
                <a:lnTo>
                  <a:pt x="0" y="5778063"/>
                </a:lnTo>
                <a:lnTo>
                  <a:pt x="0" y="0"/>
                </a:lnTo>
                <a:close/>
              </a:path>
            </a:pathLst>
          </a:custGeom>
          <a:blipFill rotWithShape="1">
            <a:blip r:embed="rId4">
              <a:alphaModFix/>
            </a:blip>
            <a:stretch>
              <a:fillRect b="0" l="0" r="0" t="0"/>
            </a:stretch>
          </a:blipFill>
          <a:ln>
            <a:noFill/>
          </a:ln>
        </p:spPr>
      </p:sp>
      <p:sp>
        <p:nvSpPr>
          <p:cNvPr id="355" name="Google Shape;355;g35c3d042265_1_295"/>
          <p:cNvSpPr txBox="1"/>
          <p:nvPr/>
        </p:nvSpPr>
        <p:spPr>
          <a:xfrm>
            <a:off x="8804898" y="2085896"/>
            <a:ext cx="8454300" cy="80532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El kernel de Linux es el núcleo esencial de los </a:t>
            </a:r>
            <a:r>
              <a:rPr b="0" i="0" lang="en-US" sz="2400" u="none" cap="none" strike="noStrike">
                <a:solidFill>
                  <a:srgbClr val="67D3CD"/>
                </a:solidFill>
                <a:latin typeface="Montserrat"/>
                <a:ea typeface="Montserrat"/>
                <a:cs typeface="Montserrat"/>
                <a:sym typeface="Montserrat"/>
              </a:rPr>
              <a:t>sistemas operativos Linux</a:t>
            </a:r>
            <a:r>
              <a:rPr b="0" i="0" lang="en-US" sz="2400" u="none" cap="none" strike="noStrike">
                <a:solidFill>
                  <a:srgbClr val="FFFFFF"/>
                </a:solidFill>
                <a:latin typeface="Montserrat"/>
                <a:ea typeface="Montserrat"/>
                <a:cs typeface="Montserrat"/>
                <a:sym typeface="Montserrat"/>
              </a:rPr>
              <a:t> y actúa como la interfaz principal entre el hardware de una computadora y sus procesos. Su función es permitir la comunicación eficiente entre ambos y gestionar de forma óptima los recursos del sistema.</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Llamado "kernel" debido a su posición interna dentro del sistema operativo —similar a una semilla en el centro de una fruta de cáscara dura—, este componente controla todas las funciones esenciales del hardware, ya sea en teléfonos, computadoras portátiles, servidores u otros dispositivos. Como corazón del sistema, el kernel asegura que cada componente del hardware responda adecuadamente a las necesidades de los procesos y aplicaciones, optimizando el rendimiento y la estabilidad del equipo.</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p:txBody>
      </p:sp>
      <p:sp>
        <p:nvSpPr>
          <p:cNvPr id="356" name="Google Shape;356;g35c3d042265_1_295"/>
          <p:cNvSpPr txBox="1"/>
          <p:nvPr/>
        </p:nvSpPr>
        <p:spPr>
          <a:xfrm>
            <a:off x="8804898" y="1297115"/>
            <a:ext cx="84543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KERNEL LINUX</a:t>
            </a:r>
            <a:endParaRPr b="0" i="0" sz="1400" u="none" cap="none" strike="noStrike">
              <a:solidFill>
                <a:srgbClr val="000000"/>
              </a:solidFill>
              <a:latin typeface="Arial"/>
              <a:ea typeface="Arial"/>
              <a:cs typeface="Arial"/>
              <a:sym typeface="Arial"/>
            </a:endParaRPr>
          </a:p>
        </p:txBody>
      </p:sp>
      <p:cxnSp>
        <p:nvCxnSpPr>
          <p:cNvPr id="357" name="Google Shape;357;g35c3d042265_1_295"/>
          <p:cNvCxnSpPr/>
          <p:nvPr/>
        </p:nvCxnSpPr>
        <p:spPr>
          <a:xfrm>
            <a:off x="1083167" y="1703515"/>
            <a:ext cx="6492300" cy="0"/>
          </a:xfrm>
          <a:prstGeom prst="straightConnector1">
            <a:avLst/>
          </a:prstGeom>
          <a:noFill/>
          <a:ln cap="flat" cmpd="sng" w="38100">
            <a:solidFill>
              <a:srgbClr val="FFFFFF"/>
            </a:solidFill>
            <a:prstDash val="solid"/>
            <a:round/>
            <a:headEnd len="sm" w="sm" type="none"/>
            <a:tailEnd len="sm" w="sm" type="none"/>
          </a:ln>
        </p:spPr>
      </p:cxnSp>
      <p:cxnSp>
        <p:nvCxnSpPr>
          <p:cNvPr id="358" name="Google Shape;358;g35c3d042265_1_295"/>
          <p:cNvCxnSpPr/>
          <p:nvPr/>
        </p:nvCxnSpPr>
        <p:spPr>
          <a:xfrm>
            <a:off x="1083167" y="8394780"/>
            <a:ext cx="6492300"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62" name="Shape 362"/>
        <p:cNvGrpSpPr/>
        <p:nvPr/>
      </p:nvGrpSpPr>
      <p:grpSpPr>
        <a:xfrm>
          <a:off x="0" y="0"/>
          <a:ext cx="0" cy="0"/>
          <a:chOff x="0" y="0"/>
          <a:chExt cx="0" cy="0"/>
        </a:xfrm>
      </p:grpSpPr>
      <p:sp>
        <p:nvSpPr>
          <p:cNvPr id="363" name="Google Shape;363;g35c3d042265_1_307"/>
          <p:cNvSpPr/>
          <p:nvPr/>
        </p:nvSpPr>
        <p:spPr>
          <a:xfrm rot="-10160180">
            <a:off x="-2228267" y="-3853807"/>
            <a:ext cx="25058689" cy="17085470"/>
          </a:xfrm>
          <a:custGeom>
            <a:rect b="b" l="l" r="r" t="t"/>
            <a:pathLst>
              <a:path extrusionOk="0" h="17089476" w="25064564">
                <a:moveTo>
                  <a:pt x="0" y="0"/>
                </a:moveTo>
                <a:lnTo>
                  <a:pt x="25064564" y="0"/>
                </a:lnTo>
                <a:lnTo>
                  <a:pt x="25064564" y="17089476"/>
                </a:lnTo>
                <a:lnTo>
                  <a:pt x="0" y="17089476"/>
                </a:lnTo>
                <a:lnTo>
                  <a:pt x="0" y="0"/>
                </a:lnTo>
                <a:close/>
              </a:path>
            </a:pathLst>
          </a:custGeom>
          <a:blipFill rotWithShape="1">
            <a:blip r:embed="rId3">
              <a:alphaModFix/>
            </a:blip>
            <a:stretch>
              <a:fillRect b="0" l="0" r="0" t="0"/>
            </a:stretch>
          </a:blipFill>
          <a:ln>
            <a:noFill/>
          </a:ln>
        </p:spPr>
      </p:sp>
      <p:grpSp>
        <p:nvGrpSpPr>
          <p:cNvPr id="364" name="Google Shape;364;g35c3d042265_1_307"/>
          <p:cNvGrpSpPr/>
          <p:nvPr/>
        </p:nvGrpSpPr>
        <p:grpSpPr>
          <a:xfrm>
            <a:off x="1028700" y="2657726"/>
            <a:ext cx="5104200" cy="6424430"/>
            <a:chOff x="0" y="-19050"/>
            <a:chExt cx="1029031" cy="1132617"/>
          </a:xfrm>
        </p:grpSpPr>
        <p:sp>
          <p:nvSpPr>
            <p:cNvPr id="365" name="Google Shape;365;g35c3d042265_1_307"/>
            <p:cNvSpPr/>
            <p:nvPr/>
          </p:nvSpPr>
          <p:spPr>
            <a:xfrm>
              <a:off x="0" y="0"/>
              <a:ext cx="1029031" cy="1113567"/>
            </a:xfrm>
            <a:custGeom>
              <a:rect b="b" l="l" r="r" t="t"/>
              <a:pathLst>
                <a:path extrusionOk="0" h="1113567" w="1029031">
                  <a:moveTo>
                    <a:pt x="75839" y="0"/>
                  </a:moveTo>
                  <a:lnTo>
                    <a:pt x="953191" y="0"/>
                  </a:lnTo>
                  <a:cubicBezTo>
                    <a:pt x="995076" y="0"/>
                    <a:pt x="1029031" y="33954"/>
                    <a:pt x="1029031" y="75839"/>
                  </a:cubicBezTo>
                  <a:lnTo>
                    <a:pt x="1029031" y="1037728"/>
                  </a:lnTo>
                  <a:cubicBezTo>
                    <a:pt x="1029031" y="1079613"/>
                    <a:pt x="995076" y="1113567"/>
                    <a:pt x="953191" y="1113567"/>
                  </a:cubicBezTo>
                  <a:lnTo>
                    <a:pt x="75839" y="1113567"/>
                  </a:lnTo>
                  <a:cubicBezTo>
                    <a:pt x="33954" y="1113567"/>
                    <a:pt x="0" y="1079613"/>
                    <a:pt x="0" y="1037728"/>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g35c3d042265_1_307"/>
            <p:cNvSpPr txBox="1"/>
            <p:nvPr/>
          </p:nvSpPr>
          <p:spPr>
            <a:xfrm>
              <a:off x="0" y="-19050"/>
              <a:ext cx="1029000" cy="1132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7" name="Google Shape;367;g35c3d042265_1_307"/>
          <p:cNvSpPr txBox="1"/>
          <p:nvPr/>
        </p:nvSpPr>
        <p:spPr>
          <a:xfrm>
            <a:off x="1028700" y="3155689"/>
            <a:ext cx="4825500" cy="6561600"/>
          </a:xfrm>
          <a:prstGeom prst="rect">
            <a:avLst/>
          </a:prstGeom>
          <a:noFill/>
          <a:ln>
            <a:noFill/>
          </a:ln>
        </p:spPr>
        <p:txBody>
          <a:bodyPr anchorCtr="0" anchor="t" bIns="0" lIns="0" spcFirstLastPara="1" rIns="0" wrap="square" tIns="0">
            <a:spAutoFit/>
          </a:bodyPr>
          <a:lstStyle/>
          <a:p>
            <a:pPr indent="0" lvl="0" marL="0" marR="0" rtl="0" algn="l">
              <a:lnSpc>
                <a:spcPct val="141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41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211153" lvl="1" marL="422308" marR="0" rtl="0" algn="l">
              <a:lnSpc>
                <a:spcPct val="129959"/>
              </a:lnSpc>
              <a:spcBef>
                <a:spcPts val="0"/>
              </a:spcBef>
              <a:spcAft>
                <a:spcPts val="0"/>
              </a:spcAft>
              <a:buClr>
                <a:srgbClr val="FFFFFF"/>
              </a:buClr>
              <a:buSzPts val="1956"/>
              <a:buFont typeface="Arial"/>
              <a:buChar char="•"/>
            </a:pPr>
            <a:r>
              <a:rPr b="1" i="0" lang="en-US" sz="1956" u="none" cap="none" strike="noStrike">
                <a:solidFill>
                  <a:srgbClr val="FFFFFF"/>
                </a:solidFill>
                <a:latin typeface="Montserrat"/>
                <a:ea typeface="Montserrat"/>
                <a:cs typeface="Montserrat"/>
                <a:sym typeface="Montserrat"/>
              </a:rPr>
              <a:t>Gestor de Procesos </a:t>
            </a:r>
            <a:r>
              <a:rPr b="0" i="0" lang="en-US" sz="1956" u="none" cap="none" strike="noStrike">
                <a:solidFill>
                  <a:srgbClr val="FFFFFF"/>
                </a:solidFill>
                <a:latin typeface="Montserrat"/>
                <a:ea typeface="Montserrat"/>
                <a:cs typeface="Montserrat"/>
                <a:sym typeface="Montserrat"/>
              </a:rPr>
              <a:t> Administra la creación, planificación y finalización de procesos. Implementa algoritmos para la multitarea y optimiza el uso de la CPU.</a:t>
            </a:r>
            <a:endParaRPr b="0" i="0" sz="1400" u="none" cap="none" strike="noStrike">
              <a:solidFill>
                <a:srgbClr val="000000"/>
              </a:solidFill>
              <a:latin typeface="Arial"/>
              <a:ea typeface="Arial"/>
              <a:cs typeface="Arial"/>
              <a:sym typeface="Arial"/>
            </a:endParaRPr>
          </a:p>
          <a:p>
            <a:pPr indent="0" lvl="0" marL="0" marR="0" rtl="0" algn="l">
              <a:lnSpc>
                <a:spcPct val="129959"/>
              </a:lnSpc>
              <a:spcBef>
                <a:spcPts val="0"/>
              </a:spcBef>
              <a:spcAft>
                <a:spcPts val="0"/>
              </a:spcAft>
              <a:buClr>
                <a:srgbClr val="000000"/>
              </a:buClr>
              <a:buSzPts val="1956"/>
              <a:buFont typeface="Arial"/>
              <a:buNone/>
            </a:pPr>
            <a:r>
              <a:t/>
            </a:r>
            <a:endParaRPr b="0" i="0" sz="1956" u="none" cap="none" strike="noStrike">
              <a:solidFill>
                <a:srgbClr val="FFFFFF"/>
              </a:solidFill>
              <a:latin typeface="Montserrat"/>
              <a:ea typeface="Montserrat"/>
              <a:cs typeface="Montserrat"/>
              <a:sym typeface="Montserrat"/>
            </a:endParaRPr>
          </a:p>
          <a:p>
            <a:pPr indent="-211153" lvl="1" marL="422308" marR="0" rtl="0" algn="l">
              <a:lnSpc>
                <a:spcPct val="129959"/>
              </a:lnSpc>
              <a:spcBef>
                <a:spcPts val="0"/>
              </a:spcBef>
              <a:spcAft>
                <a:spcPts val="0"/>
              </a:spcAft>
              <a:buClr>
                <a:srgbClr val="FFFFFF"/>
              </a:buClr>
              <a:buSzPts val="1956"/>
              <a:buFont typeface="Arial"/>
              <a:buChar char="•"/>
            </a:pPr>
            <a:r>
              <a:rPr b="1" i="0" lang="en-US" sz="1956" u="none" cap="none" strike="noStrike">
                <a:solidFill>
                  <a:srgbClr val="FFFFFF"/>
                </a:solidFill>
                <a:latin typeface="Montserrat"/>
                <a:ea typeface="Montserrat"/>
                <a:cs typeface="Montserrat"/>
                <a:sym typeface="Montserrat"/>
              </a:rPr>
              <a:t>Gestión de Memoria </a:t>
            </a:r>
            <a:r>
              <a:rPr b="0" i="0" lang="en-US" sz="1956" u="none" cap="none" strike="noStrike">
                <a:solidFill>
                  <a:srgbClr val="FFFFFF"/>
                </a:solidFill>
                <a:latin typeface="Montserrat"/>
                <a:ea typeface="Montserrat"/>
                <a:cs typeface="Montserrat"/>
                <a:sym typeface="Montserrat"/>
              </a:rPr>
              <a:t> Controla la asignación y organización de la memoria del sistema (virtual y física) mediante paginación y segmentación, asegurando un uso eficiente entre procesos.</a:t>
            </a:r>
            <a:endParaRPr b="0" i="0" sz="1400" u="none" cap="none" strike="noStrike">
              <a:solidFill>
                <a:srgbClr val="000000"/>
              </a:solidFill>
              <a:latin typeface="Arial"/>
              <a:ea typeface="Arial"/>
              <a:cs typeface="Arial"/>
              <a:sym typeface="Arial"/>
            </a:endParaRPr>
          </a:p>
          <a:p>
            <a:pPr indent="0" lvl="0" marL="0" marR="0" rtl="0" algn="l">
              <a:lnSpc>
                <a:spcPct val="129959"/>
              </a:lnSpc>
              <a:spcBef>
                <a:spcPts val="0"/>
              </a:spcBef>
              <a:spcAft>
                <a:spcPts val="0"/>
              </a:spcAft>
              <a:buClr>
                <a:srgbClr val="000000"/>
              </a:buClr>
              <a:buSzPts val="1956"/>
              <a:buFont typeface="Arial"/>
              <a:buNone/>
            </a:pPr>
            <a:r>
              <a:t/>
            </a:r>
            <a:endParaRPr b="0" i="0" sz="1956" u="none" cap="none" strike="noStrike">
              <a:solidFill>
                <a:srgbClr val="FFFFFF"/>
              </a:solidFill>
              <a:latin typeface="Montserrat"/>
              <a:ea typeface="Montserrat"/>
              <a:cs typeface="Montserrat"/>
              <a:sym typeface="Montserrat"/>
            </a:endParaRPr>
          </a:p>
          <a:p>
            <a:pPr indent="0" lvl="0" marL="0" marR="0" rtl="0" algn="l">
              <a:lnSpc>
                <a:spcPct val="129959"/>
              </a:lnSpc>
              <a:spcBef>
                <a:spcPts val="0"/>
              </a:spcBef>
              <a:spcAft>
                <a:spcPts val="0"/>
              </a:spcAft>
              <a:buClr>
                <a:srgbClr val="000000"/>
              </a:buClr>
              <a:buSzPts val="1956"/>
              <a:buFont typeface="Arial"/>
              <a:buNone/>
            </a:pPr>
            <a:r>
              <a:t/>
            </a:r>
            <a:endParaRPr b="0" i="0" sz="1956" u="none" cap="none" strike="noStrike">
              <a:solidFill>
                <a:srgbClr val="FFFFFF"/>
              </a:solidFill>
              <a:latin typeface="Montserrat"/>
              <a:ea typeface="Montserrat"/>
              <a:cs typeface="Montserrat"/>
              <a:sym typeface="Montserrat"/>
            </a:endParaRPr>
          </a:p>
        </p:txBody>
      </p:sp>
      <p:sp>
        <p:nvSpPr>
          <p:cNvPr id="368" name="Google Shape;368;g35c3d042265_1_307"/>
          <p:cNvSpPr/>
          <p:nvPr/>
        </p:nvSpPr>
        <p:spPr>
          <a:xfrm>
            <a:off x="2931568" y="2376756"/>
            <a:ext cx="1095241" cy="868227"/>
          </a:xfrm>
          <a:custGeom>
            <a:rect b="b" l="l" r="r" t="t"/>
            <a:pathLst>
              <a:path extrusionOk="0" h="868227" w="1095241">
                <a:moveTo>
                  <a:pt x="0" y="0"/>
                </a:moveTo>
                <a:lnTo>
                  <a:pt x="1095241" y="0"/>
                </a:lnTo>
                <a:lnTo>
                  <a:pt x="1095241" y="868227"/>
                </a:lnTo>
                <a:lnTo>
                  <a:pt x="0" y="868227"/>
                </a:lnTo>
                <a:lnTo>
                  <a:pt x="0" y="0"/>
                </a:lnTo>
                <a:close/>
              </a:path>
            </a:pathLst>
          </a:custGeom>
          <a:blipFill rotWithShape="1">
            <a:blip r:embed="rId4">
              <a:alphaModFix/>
            </a:blip>
            <a:stretch>
              <a:fillRect b="0" l="0" r="0" t="0"/>
            </a:stretch>
          </a:blipFill>
          <a:ln>
            <a:noFill/>
          </a:ln>
        </p:spPr>
      </p:sp>
      <p:grpSp>
        <p:nvGrpSpPr>
          <p:cNvPr id="369" name="Google Shape;369;g35c3d042265_1_307"/>
          <p:cNvGrpSpPr/>
          <p:nvPr/>
        </p:nvGrpSpPr>
        <p:grpSpPr>
          <a:xfrm>
            <a:off x="6883973" y="2963153"/>
            <a:ext cx="4358528" cy="4531143"/>
            <a:chOff x="0" y="-19050"/>
            <a:chExt cx="878700" cy="913500"/>
          </a:xfrm>
        </p:grpSpPr>
        <p:sp>
          <p:nvSpPr>
            <p:cNvPr id="370" name="Google Shape;370;g35c3d042265_1_307"/>
            <p:cNvSpPr/>
            <p:nvPr/>
          </p:nvSpPr>
          <p:spPr>
            <a:xfrm>
              <a:off x="0" y="0"/>
              <a:ext cx="878558" cy="894400"/>
            </a:xfrm>
            <a:custGeom>
              <a:rect b="b" l="l" r="r" t="t"/>
              <a:pathLst>
                <a:path extrusionOk="0" h="894400" w="878558">
                  <a:moveTo>
                    <a:pt x="88828" y="0"/>
                  </a:moveTo>
                  <a:lnTo>
                    <a:pt x="789729" y="0"/>
                  </a:lnTo>
                  <a:cubicBezTo>
                    <a:pt x="813288" y="0"/>
                    <a:pt x="835882" y="9359"/>
                    <a:pt x="852541" y="26017"/>
                  </a:cubicBezTo>
                  <a:cubicBezTo>
                    <a:pt x="869199" y="42676"/>
                    <a:pt x="878558" y="65270"/>
                    <a:pt x="878558" y="88828"/>
                  </a:cubicBezTo>
                  <a:lnTo>
                    <a:pt x="878558" y="805572"/>
                  </a:lnTo>
                  <a:cubicBezTo>
                    <a:pt x="878558" y="854630"/>
                    <a:pt x="838788" y="894400"/>
                    <a:pt x="789729" y="894400"/>
                  </a:cubicBezTo>
                  <a:lnTo>
                    <a:pt x="88828" y="894400"/>
                  </a:lnTo>
                  <a:cubicBezTo>
                    <a:pt x="65270" y="894400"/>
                    <a:pt x="42676" y="885042"/>
                    <a:pt x="26017" y="868383"/>
                  </a:cubicBezTo>
                  <a:cubicBezTo>
                    <a:pt x="9359" y="851724"/>
                    <a:pt x="0" y="829131"/>
                    <a:pt x="0" y="805572"/>
                  </a:cubicBezTo>
                  <a:lnTo>
                    <a:pt x="0" y="88828"/>
                  </a:lnTo>
                  <a:cubicBezTo>
                    <a:pt x="0" y="65270"/>
                    <a:pt x="9359" y="42676"/>
                    <a:pt x="26017" y="26017"/>
                  </a:cubicBezTo>
                  <a:cubicBezTo>
                    <a:pt x="42676" y="9359"/>
                    <a:pt x="65270" y="0"/>
                    <a:pt x="88828"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g35c3d042265_1_307"/>
            <p:cNvSpPr txBox="1"/>
            <p:nvPr/>
          </p:nvSpPr>
          <p:spPr>
            <a:xfrm>
              <a:off x="0" y="-19050"/>
              <a:ext cx="878700" cy="91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2" name="Google Shape;372;g35c3d042265_1_307"/>
          <p:cNvSpPr/>
          <p:nvPr/>
        </p:nvSpPr>
        <p:spPr>
          <a:xfrm>
            <a:off x="8511462" y="2869259"/>
            <a:ext cx="1102822" cy="918350"/>
          </a:xfrm>
          <a:custGeom>
            <a:rect b="b" l="l" r="r" t="t"/>
            <a:pathLst>
              <a:path extrusionOk="0" h="918350" w="1102822">
                <a:moveTo>
                  <a:pt x="0" y="0"/>
                </a:moveTo>
                <a:lnTo>
                  <a:pt x="1102822" y="0"/>
                </a:lnTo>
                <a:lnTo>
                  <a:pt x="1102822" y="918350"/>
                </a:lnTo>
                <a:lnTo>
                  <a:pt x="0" y="918350"/>
                </a:lnTo>
                <a:lnTo>
                  <a:pt x="0" y="0"/>
                </a:lnTo>
                <a:close/>
              </a:path>
            </a:pathLst>
          </a:custGeom>
          <a:blipFill rotWithShape="1">
            <a:blip r:embed="rId5">
              <a:alphaModFix/>
            </a:blip>
            <a:stretch>
              <a:fillRect b="0" l="0" r="0" t="0"/>
            </a:stretch>
          </a:blipFill>
          <a:ln>
            <a:noFill/>
          </a:ln>
        </p:spPr>
      </p:sp>
      <p:sp>
        <p:nvSpPr>
          <p:cNvPr id="373" name="Google Shape;373;g35c3d042265_1_307"/>
          <p:cNvSpPr txBox="1"/>
          <p:nvPr/>
        </p:nvSpPr>
        <p:spPr>
          <a:xfrm>
            <a:off x="1028700" y="1009650"/>
            <a:ext cx="16068300" cy="822900"/>
          </a:xfrm>
          <a:prstGeom prst="rect">
            <a:avLst/>
          </a:prstGeom>
          <a:noFill/>
          <a:ln>
            <a:noFill/>
          </a:ln>
        </p:spPr>
        <p:txBody>
          <a:bodyPr anchorCtr="0" anchor="t" bIns="0" lIns="0" spcFirstLastPara="1" rIns="0" wrap="square" tIns="0">
            <a:spAutoFit/>
          </a:bodyPr>
          <a:lstStyle/>
          <a:p>
            <a:pPr indent="0" lvl="0" marL="0" marR="0" rtl="0" algn="ctr">
              <a:lnSpc>
                <a:spcPct val="129978"/>
              </a:lnSpc>
              <a:spcBef>
                <a:spcPts val="0"/>
              </a:spcBef>
              <a:spcAft>
                <a:spcPts val="0"/>
              </a:spcAft>
              <a:buClr>
                <a:srgbClr val="000000"/>
              </a:buClr>
              <a:buSzPts val="2325"/>
              <a:buFont typeface="Arial"/>
              <a:buNone/>
            </a:pPr>
            <a:r>
              <a:rPr b="0" i="0" lang="en-US" sz="2325" u="none" cap="none" strike="noStrike">
                <a:solidFill>
                  <a:srgbClr val="FFFFFF"/>
                </a:solidFill>
                <a:latin typeface="Sanchez"/>
                <a:ea typeface="Sanchez"/>
                <a:cs typeface="Sanchez"/>
                <a:sym typeface="Sanchez"/>
              </a:rPr>
              <a:t>La arquitectura del kernel de Linux sigue un </a:t>
            </a:r>
            <a:r>
              <a:rPr b="0" i="0" lang="en-US" sz="2325" u="none" cap="none" strike="noStrike">
                <a:solidFill>
                  <a:srgbClr val="67D3CD"/>
                </a:solidFill>
                <a:latin typeface="Sanchez"/>
                <a:ea typeface="Sanchez"/>
                <a:cs typeface="Sanchez"/>
                <a:sym typeface="Sanchez"/>
              </a:rPr>
              <a:t>modelo de capas</a:t>
            </a:r>
            <a:r>
              <a:rPr b="0" i="0" lang="en-US" sz="2325" u="none" cap="none" strike="noStrike">
                <a:solidFill>
                  <a:srgbClr val="FFFFFF"/>
                </a:solidFill>
                <a:latin typeface="Sanchez"/>
                <a:ea typeface="Sanchez"/>
                <a:cs typeface="Sanchez"/>
                <a:sym typeface="Sanchez"/>
              </a:rPr>
              <a:t> en el que cada capa tiene responsabilidades específicas y comunica con las capas adyacentes</a:t>
            </a:r>
            <a:endParaRPr b="0" i="0" sz="1400" u="none" cap="none" strike="noStrike">
              <a:solidFill>
                <a:srgbClr val="000000"/>
              </a:solidFill>
              <a:latin typeface="Arial"/>
              <a:ea typeface="Arial"/>
              <a:cs typeface="Arial"/>
              <a:sym typeface="Arial"/>
            </a:endParaRPr>
          </a:p>
        </p:txBody>
      </p:sp>
      <p:sp>
        <p:nvSpPr>
          <p:cNvPr id="374" name="Google Shape;374;g35c3d042265_1_307"/>
          <p:cNvSpPr txBox="1"/>
          <p:nvPr/>
        </p:nvSpPr>
        <p:spPr>
          <a:xfrm>
            <a:off x="7187400" y="4871999"/>
            <a:ext cx="3750900" cy="25737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900"/>
              <a:buFont typeface="Arial"/>
              <a:buNone/>
            </a:pPr>
            <a:r>
              <a:rPr b="0" i="0" lang="en-US" sz="1900" u="none" cap="none" strike="noStrike">
                <a:solidFill>
                  <a:srgbClr val="1A0A33"/>
                </a:solidFill>
                <a:latin typeface="Montserrat"/>
                <a:ea typeface="Montserrat"/>
                <a:cs typeface="Montserrat"/>
                <a:sym typeface="Montserrat"/>
              </a:rPr>
              <a:t>Ofrece una interfaz común para manipular archivos y soporta múltiples sistemas de archivos (ext4, FAT32, NTFS), facilitando la gestión de datos en distintos medios de almacenamiento.</a:t>
            </a:r>
            <a:endParaRPr b="0" i="0" sz="1400" u="none" cap="none" strike="noStrike">
              <a:solidFill>
                <a:srgbClr val="000000"/>
              </a:solidFill>
              <a:latin typeface="Arial"/>
              <a:ea typeface="Arial"/>
              <a:cs typeface="Arial"/>
              <a:sym typeface="Arial"/>
            </a:endParaRPr>
          </a:p>
        </p:txBody>
      </p:sp>
      <p:sp>
        <p:nvSpPr>
          <p:cNvPr id="375" name="Google Shape;375;g35c3d042265_1_307"/>
          <p:cNvSpPr txBox="1"/>
          <p:nvPr/>
        </p:nvSpPr>
        <p:spPr>
          <a:xfrm>
            <a:off x="7187400" y="4011332"/>
            <a:ext cx="3750900" cy="3048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1A0A33"/>
                </a:solidFill>
                <a:latin typeface="Montserrat"/>
                <a:ea typeface="Montserrat"/>
                <a:cs typeface="Montserrat"/>
                <a:sym typeface="Montserrat"/>
              </a:rPr>
              <a:t>SUBSISTEMA DE ARCHIVOS</a:t>
            </a:r>
            <a:endParaRPr b="0" i="0" sz="1400" u="none" cap="none" strike="noStrike">
              <a:solidFill>
                <a:srgbClr val="000000"/>
              </a:solidFill>
              <a:latin typeface="Arial"/>
              <a:ea typeface="Arial"/>
              <a:cs typeface="Arial"/>
              <a:sym typeface="Arial"/>
            </a:endParaRPr>
          </a:p>
        </p:txBody>
      </p:sp>
      <p:grpSp>
        <p:nvGrpSpPr>
          <p:cNvPr id="376" name="Google Shape;376;g35c3d042265_1_307"/>
          <p:cNvGrpSpPr/>
          <p:nvPr/>
        </p:nvGrpSpPr>
        <p:grpSpPr>
          <a:xfrm>
            <a:off x="11992874" y="2716377"/>
            <a:ext cx="5104200" cy="5559392"/>
            <a:chOff x="0" y="-19050"/>
            <a:chExt cx="1029031" cy="1120800"/>
          </a:xfrm>
        </p:grpSpPr>
        <p:sp>
          <p:nvSpPr>
            <p:cNvPr id="377" name="Google Shape;377;g35c3d042265_1_307"/>
            <p:cNvSpPr/>
            <p:nvPr/>
          </p:nvSpPr>
          <p:spPr>
            <a:xfrm>
              <a:off x="0" y="0"/>
              <a:ext cx="1029031" cy="1101742"/>
            </a:xfrm>
            <a:custGeom>
              <a:rect b="b" l="l" r="r" t="t"/>
              <a:pathLst>
                <a:path extrusionOk="0" h="1101742" w="1029031">
                  <a:moveTo>
                    <a:pt x="75839" y="0"/>
                  </a:moveTo>
                  <a:lnTo>
                    <a:pt x="953191" y="0"/>
                  </a:lnTo>
                  <a:cubicBezTo>
                    <a:pt x="995076" y="0"/>
                    <a:pt x="1029031" y="33954"/>
                    <a:pt x="1029031" y="75839"/>
                  </a:cubicBezTo>
                  <a:lnTo>
                    <a:pt x="1029031" y="1025903"/>
                  </a:lnTo>
                  <a:cubicBezTo>
                    <a:pt x="1029031" y="1067787"/>
                    <a:pt x="995076" y="1101742"/>
                    <a:pt x="953191" y="1101742"/>
                  </a:cubicBezTo>
                  <a:lnTo>
                    <a:pt x="75839" y="1101742"/>
                  </a:lnTo>
                  <a:cubicBezTo>
                    <a:pt x="33954" y="1101742"/>
                    <a:pt x="0" y="1067787"/>
                    <a:pt x="0" y="1025903"/>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g35c3d042265_1_307"/>
            <p:cNvSpPr txBox="1"/>
            <p:nvPr/>
          </p:nvSpPr>
          <p:spPr>
            <a:xfrm>
              <a:off x="0" y="-19050"/>
              <a:ext cx="1029000" cy="1120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9" name="Google Shape;379;g35c3d042265_1_307"/>
          <p:cNvSpPr txBox="1"/>
          <p:nvPr/>
        </p:nvSpPr>
        <p:spPr>
          <a:xfrm>
            <a:off x="12049250" y="3038595"/>
            <a:ext cx="4991400" cy="5037600"/>
          </a:xfrm>
          <a:prstGeom prst="rect">
            <a:avLst/>
          </a:prstGeom>
          <a:noFill/>
          <a:ln>
            <a:noFill/>
          </a:ln>
        </p:spPr>
        <p:txBody>
          <a:bodyPr anchorCtr="0" anchor="t" bIns="0" lIns="0" spcFirstLastPara="1" rIns="0" wrap="square" tIns="0">
            <a:spAutoFit/>
          </a:bodyPr>
          <a:lstStyle/>
          <a:p>
            <a:pPr indent="0" lvl="0" marL="0" marR="0" rtl="0" algn="l">
              <a:lnSpc>
                <a:spcPct val="142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212772" lvl="1" marL="425544" marR="0" rtl="0" algn="l">
              <a:lnSpc>
                <a:spcPct val="130050"/>
              </a:lnSpc>
              <a:spcBef>
                <a:spcPts val="0"/>
              </a:spcBef>
              <a:spcAft>
                <a:spcPts val="0"/>
              </a:spcAft>
              <a:buClr>
                <a:srgbClr val="FFFFFF"/>
              </a:buClr>
              <a:buSzPts val="1970"/>
              <a:buFont typeface="Arial"/>
              <a:buChar char="•"/>
            </a:pPr>
            <a:r>
              <a:rPr b="1" i="0" lang="en-US" sz="1970" u="none" cap="none" strike="noStrike">
                <a:solidFill>
                  <a:srgbClr val="FFFFFF"/>
                </a:solidFill>
                <a:latin typeface="Montserrat"/>
                <a:ea typeface="Montserrat"/>
                <a:cs typeface="Montserrat"/>
                <a:sym typeface="Montserrat"/>
              </a:rPr>
              <a:t>Redes y Protocolo</a:t>
            </a:r>
            <a:r>
              <a:rPr b="0" i="0" lang="en-US" sz="1970" u="none" cap="none" strike="noStrike">
                <a:solidFill>
                  <a:srgbClr val="FFFFFF"/>
                </a:solidFill>
                <a:latin typeface="Montserrat"/>
                <a:ea typeface="Montserrat"/>
                <a:cs typeface="Montserrat"/>
                <a:sym typeface="Montserrat"/>
              </a:rPr>
              <a:t> Maneja la comunicación de red, soportando protocolos como TCP/IP y UDP para la transmisión de datos y conexión a Internet.</a:t>
            </a:r>
            <a:endParaRPr b="0" i="0" sz="1400" u="none" cap="none" strike="noStrike">
              <a:solidFill>
                <a:srgbClr val="000000"/>
              </a:solidFill>
              <a:latin typeface="Arial"/>
              <a:ea typeface="Arial"/>
              <a:cs typeface="Arial"/>
              <a:sym typeface="Arial"/>
            </a:endParaRPr>
          </a:p>
          <a:p>
            <a:pPr indent="0" lvl="0" marL="0" marR="0" rtl="0" algn="l">
              <a:lnSpc>
                <a:spcPct val="129983"/>
              </a:lnSpc>
              <a:spcBef>
                <a:spcPts val="0"/>
              </a:spcBef>
              <a:spcAft>
                <a:spcPts val="0"/>
              </a:spcAft>
              <a:buClr>
                <a:srgbClr val="000000"/>
              </a:buClr>
              <a:buSzPts val="1970"/>
              <a:buFont typeface="Arial"/>
              <a:buNone/>
            </a:pPr>
            <a:r>
              <a:t/>
            </a:r>
            <a:endParaRPr b="0" i="0" sz="1970" u="none" cap="none" strike="noStrike">
              <a:solidFill>
                <a:srgbClr val="FFFFFF"/>
              </a:solidFill>
              <a:latin typeface="Montserrat"/>
              <a:ea typeface="Montserrat"/>
              <a:cs typeface="Montserrat"/>
              <a:sym typeface="Montserrat"/>
            </a:endParaRPr>
          </a:p>
          <a:p>
            <a:pPr indent="-212772" lvl="1" marL="425544" marR="0" rtl="0" algn="l">
              <a:lnSpc>
                <a:spcPct val="130050"/>
              </a:lnSpc>
              <a:spcBef>
                <a:spcPts val="0"/>
              </a:spcBef>
              <a:spcAft>
                <a:spcPts val="0"/>
              </a:spcAft>
              <a:buClr>
                <a:srgbClr val="FFFFFF"/>
              </a:buClr>
              <a:buSzPts val="1970"/>
              <a:buFont typeface="Arial"/>
              <a:buChar char="•"/>
            </a:pPr>
            <a:r>
              <a:rPr b="1" i="0" lang="en-US" sz="1970" u="none" cap="none" strike="noStrike">
                <a:solidFill>
                  <a:srgbClr val="FFFFFF"/>
                </a:solidFill>
                <a:latin typeface="Montserrat"/>
                <a:ea typeface="Montserrat"/>
                <a:cs typeface="Montserrat"/>
                <a:sym typeface="Montserrat"/>
              </a:rPr>
              <a:t>Interfaz de Llamadas al Sistema (Syscalls) </a:t>
            </a:r>
            <a:r>
              <a:rPr b="0" i="0" lang="en-US" sz="1970" u="none" cap="none" strike="noStrike">
                <a:solidFill>
                  <a:srgbClr val="FFFFFF"/>
                </a:solidFill>
                <a:latin typeface="Montserrat"/>
                <a:ea typeface="Montserrat"/>
                <a:cs typeface="Montserrat"/>
                <a:sym typeface="Montserrat"/>
              </a:rPr>
              <a:t>Proporciona una API para que las aplicaciones soliciten servicios del kernel, como acceso a archivos, operaciones de red y gestión de memoria.</a:t>
            </a:r>
            <a:endParaRPr b="0" i="0" sz="1400" u="none" cap="none" strike="noStrike">
              <a:solidFill>
                <a:srgbClr val="000000"/>
              </a:solidFill>
              <a:latin typeface="Arial"/>
              <a:ea typeface="Arial"/>
              <a:cs typeface="Arial"/>
              <a:sym typeface="Arial"/>
            </a:endParaRPr>
          </a:p>
        </p:txBody>
      </p:sp>
      <p:sp>
        <p:nvSpPr>
          <p:cNvPr id="380" name="Google Shape;380;g35c3d042265_1_307"/>
          <p:cNvSpPr/>
          <p:nvPr/>
        </p:nvSpPr>
        <p:spPr>
          <a:xfrm>
            <a:off x="14110846" y="2376756"/>
            <a:ext cx="868227" cy="868227"/>
          </a:xfrm>
          <a:custGeom>
            <a:rect b="b" l="l" r="r" t="t"/>
            <a:pathLst>
              <a:path extrusionOk="0" h="868227" w="868227">
                <a:moveTo>
                  <a:pt x="0" y="0"/>
                </a:moveTo>
                <a:lnTo>
                  <a:pt x="868227" y="0"/>
                </a:lnTo>
                <a:lnTo>
                  <a:pt x="868227" y="868227"/>
                </a:lnTo>
                <a:lnTo>
                  <a:pt x="0" y="868227"/>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84" name="Shape 384"/>
        <p:cNvGrpSpPr/>
        <p:nvPr/>
      </p:nvGrpSpPr>
      <p:grpSpPr>
        <a:xfrm>
          <a:off x="0" y="0"/>
          <a:ext cx="0" cy="0"/>
          <a:chOff x="0" y="0"/>
          <a:chExt cx="0" cy="0"/>
        </a:xfrm>
      </p:grpSpPr>
      <p:sp>
        <p:nvSpPr>
          <p:cNvPr id="385" name="Google Shape;385;g35c3d042265_1_328"/>
          <p:cNvSpPr/>
          <p:nvPr/>
        </p:nvSpPr>
        <p:spPr>
          <a:xfrm>
            <a:off x="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blip>
            <a:stretch>
              <a:fillRect b="0" l="0" r="0" t="0"/>
            </a:stretch>
          </a:blipFill>
          <a:ln>
            <a:noFill/>
          </a:ln>
        </p:spPr>
      </p:sp>
      <p:grpSp>
        <p:nvGrpSpPr>
          <p:cNvPr id="386" name="Google Shape;386;g35c3d042265_1_328"/>
          <p:cNvGrpSpPr/>
          <p:nvPr/>
        </p:nvGrpSpPr>
        <p:grpSpPr>
          <a:xfrm>
            <a:off x="2112277" y="7207753"/>
            <a:ext cx="14584223" cy="2468712"/>
            <a:chOff x="0" y="-28575"/>
            <a:chExt cx="4393500" cy="743700"/>
          </a:xfrm>
        </p:grpSpPr>
        <p:sp>
          <p:nvSpPr>
            <p:cNvPr id="387" name="Google Shape;387;g35c3d042265_1_328"/>
            <p:cNvSpPr/>
            <p:nvPr/>
          </p:nvSpPr>
          <p:spPr>
            <a:xfrm>
              <a:off x="0" y="0"/>
              <a:ext cx="4393358" cy="715125"/>
            </a:xfrm>
            <a:custGeom>
              <a:rect b="b" l="l" r="r" t="t"/>
              <a:pathLst>
                <a:path extrusionOk="0" h="715125" w="4393358">
                  <a:moveTo>
                    <a:pt x="27074" y="0"/>
                  </a:moveTo>
                  <a:lnTo>
                    <a:pt x="4366284" y="0"/>
                  </a:lnTo>
                  <a:cubicBezTo>
                    <a:pt x="4381236" y="0"/>
                    <a:pt x="4393358" y="12121"/>
                    <a:pt x="4393358" y="27074"/>
                  </a:cubicBezTo>
                  <a:lnTo>
                    <a:pt x="4393358" y="688052"/>
                  </a:lnTo>
                  <a:cubicBezTo>
                    <a:pt x="4393358" y="703004"/>
                    <a:pt x="4381236" y="715125"/>
                    <a:pt x="4366284" y="715125"/>
                  </a:cubicBezTo>
                  <a:lnTo>
                    <a:pt x="27074" y="715125"/>
                  </a:lnTo>
                  <a:cubicBezTo>
                    <a:pt x="19893" y="715125"/>
                    <a:pt x="13007" y="712273"/>
                    <a:pt x="7930" y="707195"/>
                  </a:cubicBezTo>
                  <a:cubicBezTo>
                    <a:pt x="2852" y="702118"/>
                    <a:pt x="0" y="695232"/>
                    <a:pt x="0" y="688052"/>
                  </a:cubicBezTo>
                  <a:lnTo>
                    <a:pt x="0" y="27074"/>
                  </a:lnTo>
                  <a:cubicBezTo>
                    <a:pt x="0" y="12121"/>
                    <a:pt x="12121" y="0"/>
                    <a:pt x="2707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g35c3d042265_1_328"/>
            <p:cNvSpPr txBox="1"/>
            <p:nvPr/>
          </p:nvSpPr>
          <p:spPr>
            <a:xfrm>
              <a:off x="0" y="-28575"/>
              <a:ext cx="4393500" cy="743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89" name="Google Shape;389;g35c3d042265_1_328"/>
          <p:cNvSpPr/>
          <p:nvPr/>
        </p:nvSpPr>
        <p:spPr>
          <a:xfrm>
            <a:off x="4931589" y="408132"/>
            <a:ext cx="8424822" cy="6624016"/>
          </a:xfrm>
          <a:custGeom>
            <a:rect b="b" l="l" r="r" t="t"/>
            <a:pathLst>
              <a:path extrusionOk="0" h="6624016" w="8424822">
                <a:moveTo>
                  <a:pt x="0" y="0"/>
                </a:moveTo>
                <a:lnTo>
                  <a:pt x="8424822" y="0"/>
                </a:lnTo>
                <a:lnTo>
                  <a:pt x="8424822" y="6624015"/>
                </a:lnTo>
                <a:lnTo>
                  <a:pt x="0" y="6624015"/>
                </a:lnTo>
                <a:lnTo>
                  <a:pt x="0" y="0"/>
                </a:lnTo>
                <a:close/>
              </a:path>
            </a:pathLst>
          </a:custGeom>
          <a:blipFill rotWithShape="1">
            <a:blip r:embed="rId4">
              <a:alphaModFix/>
            </a:blip>
            <a:stretch>
              <a:fillRect b="0" l="0" r="0" t="0"/>
            </a:stretch>
          </a:blipFill>
          <a:ln>
            <a:noFill/>
          </a:ln>
        </p:spPr>
      </p:sp>
      <p:sp>
        <p:nvSpPr>
          <p:cNvPr id="390" name="Google Shape;390;g35c3d042265_1_328"/>
          <p:cNvSpPr txBox="1"/>
          <p:nvPr/>
        </p:nvSpPr>
        <p:spPr>
          <a:xfrm>
            <a:off x="2617846" y="7525257"/>
            <a:ext cx="13572900" cy="1714500"/>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Clr>
                <a:srgbClr val="000000"/>
              </a:buClr>
              <a:buSzPts val="2273"/>
              <a:buFont typeface="Arial"/>
              <a:buNone/>
            </a:pPr>
            <a:r>
              <a:rPr b="0" i="0" lang="en-US" sz="2273" u="none" cap="none" strike="noStrike">
                <a:solidFill>
                  <a:srgbClr val="FFFFFF"/>
                </a:solidFill>
                <a:latin typeface="Montserrat"/>
                <a:ea typeface="Montserrat"/>
                <a:cs typeface="Montserrat"/>
                <a:sym typeface="Montserrat"/>
              </a:rPr>
              <a:t>Imagina que el kernel es el asistente personal ocupado de un alto ejecutivo, que en este caso es el hardware. Su tarea es transmitir mensajes y solicitudes (procesos) de los empleados y del público (usuarios) al ejecutivo, recordar qué elementos están almacenados y en qué lugar (memoria), y decidir quién puede acceder al ejecutivo en cada momento y por cuánto tiempo.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94" name="Shape 394"/>
        <p:cNvGrpSpPr/>
        <p:nvPr/>
      </p:nvGrpSpPr>
      <p:grpSpPr>
        <a:xfrm>
          <a:off x="0" y="0"/>
          <a:ext cx="0" cy="0"/>
          <a:chOff x="0" y="0"/>
          <a:chExt cx="0" cy="0"/>
        </a:xfrm>
      </p:grpSpPr>
      <p:grpSp>
        <p:nvGrpSpPr>
          <p:cNvPr id="395" name="Google Shape;395;g35c3d042265_1_337"/>
          <p:cNvGrpSpPr/>
          <p:nvPr/>
        </p:nvGrpSpPr>
        <p:grpSpPr>
          <a:xfrm>
            <a:off x="9144000" y="2296226"/>
            <a:ext cx="8267530" cy="6612301"/>
            <a:chOff x="0" y="-28575"/>
            <a:chExt cx="2177442" cy="1741500"/>
          </a:xfrm>
        </p:grpSpPr>
        <p:sp>
          <p:nvSpPr>
            <p:cNvPr id="396" name="Google Shape;396;g35c3d042265_1_337"/>
            <p:cNvSpPr/>
            <p:nvPr/>
          </p:nvSpPr>
          <p:spPr>
            <a:xfrm>
              <a:off x="0" y="0"/>
              <a:ext cx="2177442" cy="1712875"/>
            </a:xfrm>
            <a:custGeom>
              <a:rect b="b" l="l" r="r" t="t"/>
              <a:pathLst>
                <a:path extrusionOk="0" h="1712875" w="2177442">
                  <a:moveTo>
                    <a:pt x="47758" y="0"/>
                  </a:moveTo>
                  <a:lnTo>
                    <a:pt x="2129684" y="0"/>
                  </a:lnTo>
                  <a:cubicBezTo>
                    <a:pt x="2142350" y="0"/>
                    <a:pt x="2154498" y="5032"/>
                    <a:pt x="2163454" y="13988"/>
                  </a:cubicBezTo>
                  <a:cubicBezTo>
                    <a:pt x="2172411" y="22944"/>
                    <a:pt x="2177442" y="35092"/>
                    <a:pt x="2177442" y="47758"/>
                  </a:cubicBezTo>
                  <a:lnTo>
                    <a:pt x="2177442" y="1665117"/>
                  </a:lnTo>
                  <a:cubicBezTo>
                    <a:pt x="2177442" y="1677783"/>
                    <a:pt x="2172411" y="1689931"/>
                    <a:pt x="2163454" y="1698887"/>
                  </a:cubicBezTo>
                  <a:cubicBezTo>
                    <a:pt x="2154498" y="1707844"/>
                    <a:pt x="2142350" y="1712875"/>
                    <a:pt x="2129684" y="1712875"/>
                  </a:cubicBezTo>
                  <a:lnTo>
                    <a:pt x="47758" y="1712875"/>
                  </a:lnTo>
                  <a:cubicBezTo>
                    <a:pt x="35092" y="1712875"/>
                    <a:pt x="22944" y="1707844"/>
                    <a:pt x="13988" y="1698887"/>
                  </a:cubicBezTo>
                  <a:cubicBezTo>
                    <a:pt x="5032" y="1689931"/>
                    <a:pt x="0" y="1677783"/>
                    <a:pt x="0" y="1665117"/>
                  </a:cubicBezTo>
                  <a:lnTo>
                    <a:pt x="0" y="47758"/>
                  </a:lnTo>
                  <a:cubicBezTo>
                    <a:pt x="0" y="35092"/>
                    <a:pt x="5032" y="22944"/>
                    <a:pt x="13988" y="13988"/>
                  </a:cubicBezTo>
                  <a:cubicBezTo>
                    <a:pt x="22944" y="5032"/>
                    <a:pt x="35092" y="0"/>
                    <a:pt x="4775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g35c3d042265_1_337"/>
            <p:cNvSpPr txBox="1"/>
            <p:nvPr/>
          </p:nvSpPr>
          <p:spPr>
            <a:xfrm>
              <a:off x="0" y="-28575"/>
              <a:ext cx="2177400" cy="1741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8" name="Google Shape;398;g35c3d042265_1_337"/>
          <p:cNvSpPr/>
          <p:nvPr/>
        </p:nvSpPr>
        <p:spPr>
          <a:xfrm>
            <a:off x="9393922" y="2772036"/>
            <a:ext cx="7767633" cy="5768944"/>
          </a:xfrm>
          <a:custGeom>
            <a:rect b="b" l="l" r="r" t="t"/>
            <a:pathLst>
              <a:path extrusionOk="0" h="5768944" w="7767633">
                <a:moveTo>
                  <a:pt x="0" y="0"/>
                </a:moveTo>
                <a:lnTo>
                  <a:pt x="7767632" y="0"/>
                </a:lnTo>
                <a:lnTo>
                  <a:pt x="7767632" y="5768944"/>
                </a:lnTo>
                <a:lnTo>
                  <a:pt x="0" y="5768944"/>
                </a:lnTo>
                <a:lnTo>
                  <a:pt x="0" y="0"/>
                </a:lnTo>
                <a:close/>
              </a:path>
            </a:pathLst>
          </a:custGeom>
          <a:blipFill rotWithShape="1">
            <a:blip r:embed="rId3">
              <a:alphaModFix/>
            </a:blip>
            <a:stretch>
              <a:fillRect b="0" l="0" r="0" t="0"/>
            </a:stretch>
          </a:blipFill>
          <a:ln>
            <a:noFill/>
          </a:ln>
        </p:spPr>
      </p:sp>
      <p:sp>
        <p:nvSpPr>
          <p:cNvPr id="399" name="Google Shape;399;g35c3d042265_1_337"/>
          <p:cNvSpPr txBox="1"/>
          <p:nvPr/>
        </p:nvSpPr>
        <p:spPr>
          <a:xfrm>
            <a:off x="876524" y="1019175"/>
            <a:ext cx="8137500" cy="26322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ESTRUCTURA DEL CÓDIGO DEL KERNEL DE LINUX</a:t>
            </a:r>
            <a:endParaRPr b="0" i="0" sz="1400" u="none" cap="none" strike="noStrike">
              <a:solidFill>
                <a:srgbClr val="000000"/>
              </a:solidFill>
              <a:latin typeface="Arial"/>
              <a:ea typeface="Arial"/>
              <a:cs typeface="Arial"/>
              <a:sym typeface="Arial"/>
            </a:endParaRPr>
          </a:p>
        </p:txBody>
      </p:sp>
      <p:sp>
        <p:nvSpPr>
          <p:cNvPr id="400" name="Google Shape;400;g35c3d042265_1_337"/>
          <p:cNvSpPr txBox="1"/>
          <p:nvPr/>
        </p:nvSpPr>
        <p:spPr>
          <a:xfrm>
            <a:off x="876524" y="4177620"/>
            <a:ext cx="7721100" cy="4885500"/>
          </a:xfrm>
          <a:prstGeom prst="rect">
            <a:avLst/>
          </a:prstGeom>
          <a:noFill/>
          <a:ln>
            <a:noFill/>
          </a:ln>
        </p:spPr>
        <p:txBody>
          <a:bodyPr anchorCtr="0" anchor="t" bIns="0" lIns="0" spcFirstLastPara="1" rIns="0" wrap="square" tIns="0">
            <a:spAutoFit/>
          </a:bodyPr>
          <a:lstStyle/>
          <a:p>
            <a:pPr indent="0" lvl="0" marL="0" marR="0" rtl="0" algn="just">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El código fuente del kernel de Linux está organizado en varios subdirectorios dentro del árbol de código principal, cada uno dedicado a un subsistema específico. Esta estructura modular permite mantener el código bien organizado y facilita el mantenimiento y desarrollo de nuevas características. Los principales directorios y archivos son:</a:t>
            </a:r>
            <a:endParaRPr b="0" i="0" sz="1400" u="none" cap="none" strike="noStrike">
              <a:solidFill>
                <a:srgbClr val="000000"/>
              </a:solidFill>
              <a:latin typeface="Arial"/>
              <a:ea typeface="Arial"/>
              <a:cs typeface="Arial"/>
              <a:sym typeface="Arial"/>
            </a:endParaRPr>
          </a:p>
          <a:p>
            <a:pPr indent="0" lvl="0" marL="0" marR="0" rtl="0" algn="just">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just">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04" name="Shape 404"/>
        <p:cNvGrpSpPr/>
        <p:nvPr/>
      </p:nvGrpSpPr>
      <p:grpSpPr>
        <a:xfrm>
          <a:off x="0" y="0"/>
          <a:ext cx="0" cy="0"/>
          <a:chOff x="0" y="0"/>
          <a:chExt cx="0" cy="0"/>
        </a:xfrm>
      </p:grpSpPr>
      <p:cxnSp>
        <p:nvCxnSpPr>
          <p:cNvPr id="405" name="Google Shape;405;g35c3d042265_1_346"/>
          <p:cNvCxnSpPr/>
          <p:nvPr/>
        </p:nvCxnSpPr>
        <p:spPr>
          <a:xfrm>
            <a:off x="0" y="0"/>
            <a:ext cx="15952800" cy="10948800"/>
          </a:xfrm>
          <a:prstGeom prst="straightConnector1">
            <a:avLst/>
          </a:prstGeom>
          <a:noFill/>
          <a:ln cap="flat" cmpd="sng" w="38100">
            <a:solidFill>
              <a:srgbClr val="FFFFFF"/>
            </a:solidFill>
            <a:prstDash val="solid"/>
            <a:round/>
            <a:headEnd len="sm" w="sm" type="none"/>
            <a:tailEnd len="sm" w="sm" type="none"/>
          </a:ln>
        </p:spPr>
      </p:cxnSp>
      <p:grpSp>
        <p:nvGrpSpPr>
          <p:cNvPr id="406" name="Google Shape;406;g35c3d042265_1_346"/>
          <p:cNvGrpSpPr/>
          <p:nvPr/>
        </p:nvGrpSpPr>
        <p:grpSpPr>
          <a:xfrm>
            <a:off x="1158600" y="956375"/>
            <a:ext cx="8131000" cy="8900270"/>
            <a:chOff x="0" y="-19050"/>
            <a:chExt cx="2149807" cy="2063400"/>
          </a:xfrm>
        </p:grpSpPr>
        <p:sp>
          <p:nvSpPr>
            <p:cNvPr id="407" name="Google Shape;407;g35c3d042265_1_346"/>
            <p:cNvSpPr/>
            <p:nvPr/>
          </p:nvSpPr>
          <p:spPr>
            <a:xfrm>
              <a:off x="0" y="0"/>
              <a:ext cx="2149807" cy="2044279"/>
            </a:xfrm>
            <a:custGeom>
              <a:rect b="b" l="l" r="r" t="t"/>
              <a:pathLst>
                <a:path extrusionOk="0" h="2044279" w="2149807">
                  <a:moveTo>
                    <a:pt x="48372" y="0"/>
                  </a:moveTo>
                  <a:lnTo>
                    <a:pt x="2101435" y="0"/>
                  </a:lnTo>
                  <a:cubicBezTo>
                    <a:pt x="2128151" y="0"/>
                    <a:pt x="2149807" y="21657"/>
                    <a:pt x="2149807" y="48372"/>
                  </a:cubicBezTo>
                  <a:lnTo>
                    <a:pt x="2149807" y="1995907"/>
                  </a:lnTo>
                  <a:cubicBezTo>
                    <a:pt x="2149807" y="2008736"/>
                    <a:pt x="2144711" y="2021040"/>
                    <a:pt x="2135640" y="2030111"/>
                  </a:cubicBezTo>
                  <a:cubicBezTo>
                    <a:pt x="2126568" y="2039183"/>
                    <a:pt x="2114265" y="2044279"/>
                    <a:pt x="2101435" y="2044279"/>
                  </a:cubicBezTo>
                  <a:lnTo>
                    <a:pt x="48372" y="2044279"/>
                  </a:lnTo>
                  <a:cubicBezTo>
                    <a:pt x="35543" y="2044279"/>
                    <a:pt x="23239" y="2039183"/>
                    <a:pt x="14168" y="2030111"/>
                  </a:cubicBezTo>
                  <a:cubicBezTo>
                    <a:pt x="5096" y="2021040"/>
                    <a:pt x="0" y="2008736"/>
                    <a:pt x="0" y="1995907"/>
                  </a:cubicBezTo>
                  <a:lnTo>
                    <a:pt x="0" y="48372"/>
                  </a:lnTo>
                  <a:cubicBezTo>
                    <a:pt x="0" y="35543"/>
                    <a:pt x="5096" y="23239"/>
                    <a:pt x="14168" y="14168"/>
                  </a:cubicBezTo>
                  <a:cubicBezTo>
                    <a:pt x="23239" y="5096"/>
                    <a:pt x="35543" y="0"/>
                    <a:pt x="48372"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g35c3d042265_1_346"/>
            <p:cNvSpPr txBox="1"/>
            <p:nvPr/>
          </p:nvSpPr>
          <p:spPr>
            <a:xfrm>
              <a:off x="0" y="-19050"/>
              <a:ext cx="2149800" cy="2063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9" name="Google Shape;409;g35c3d042265_1_346"/>
          <p:cNvGrpSpPr/>
          <p:nvPr/>
        </p:nvGrpSpPr>
        <p:grpSpPr>
          <a:xfrm>
            <a:off x="9926629" y="304539"/>
            <a:ext cx="8000828" cy="7834523"/>
            <a:chOff x="0" y="-19050"/>
            <a:chExt cx="2107200" cy="2063400"/>
          </a:xfrm>
        </p:grpSpPr>
        <p:sp>
          <p:nvSpPr>
            <p:cNvPr id="410" name="Google Shape;410;g35c3d042265_1_346"/>
            <p:cNvSpPr/>
            <p:nvPr/>
          </p:nvSpPr>
          <p:spPr>
            <a:xfrm>
              <a:off x="0" y="0"/>
              <a:ext cx="2107074" cy="2044279"/>
            </a:xfrm>
            <a:custGeom>
              <a:rect b="b" l="l" r="r" t="t"/>
              <a:pathLst>
                <a:path extrusionOk="0" h="2044279" w="2107074">
                  <a:moveTo>
                    <a:pt x="49353" y="0"/>
                  </a:moveTo>
                  <a:lnTo>
                    <a:pt x="2057721" y="0"/>
                  </a:lnTo>
                  <a:cubicBezTo>
                    <a:pt x="2070810" y="0"/>
                    <a:pt x="2083363" y="5200"/>
                    <a:pt x="2092618" y="14455"/>
                  </a:cubicBezTo>
                  <a:cubicBezTo>
                    <a:pt x="2101874" y="23711"/>
                    <a:pt x="2107074" y="36264"/>
                    <a:pt x="2107074" y="49353"/>
                  </a:cubicBezTo>
                  <a:lnTo>
                    <a:pt x="2107074" y="1994926"/>
                  </a:lnTo>
                  <a:cubicBezTo>
                    <a:pt x="2107074" y="2022183"/>
                    <a:pt x="2084977" y="2044279"/>
                    <a:pt x="2057721" y="2044279"/>
                  </a:cubicBezTo>
                  <a:lnTo>
                    <a:pt x="49353" y="2044279"/>
                  </a:lnTo>
                  <a:cubicBezTo>
                    <a:pt x="22096" y="2044279"/>
                    <a:pt x="0" y="2022183"/>
                    <a:pt x="0" y="1994926"/>
                  </a:cubicBezTo>
                  <a:lnTo>
                    <a:pt x="0" y="49353"/>
                  </a:lnTo>
                  <a:cubicBezTo>
                    <a:pt x="0" y="22096"/>
                    <a:pt x="22096" y="0"/>
                    <a:pt x="4935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g35c3d042265_1_346"/>
            <p:cNvSpPr txBox="1"/>
            <p:nvPr/>
          </p:nvSpPr>
          <p:spPr>
            <a:xfrm>
              <a:off x="0" y="-19050"/>
              <a:ext cx="2107200" cy="2063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2" name="Google Shape;412;g35c3d042265_1_346"/>
          <p:cNvSpPr/>
          <p:nvPr/>
        </p:nvSpPr>
        <p:spPr>
          <a:xfrm>
            <a:off x="14560135" y="7674240"/>
            <a:ext cx="3366789" cy="2369378"/>
          </a:xfrm>
          <a:custGeom>
            <a:rect b="b" l="l" r="r" t="t"/>
            <a:pathLst>
              <a:path extrusionOk="0" h="2369378" w="3366789">
                <a:moveTo>
                  <a:pt x="0" y="0"/>
                </a:moveTo>
                <a:lnTo>
                  <a:pt x="3366789" y="0"/>
                </a:lnTo>
                <a:lnTo>
                  <a:pt x="3366789" y="2369378"/>
                </a:lnTo>
                <a:lnTo>
                  <a:pt x="0" y="2369378"/>
                </a:lnTo>
                <a:lnTo>
                  <a:pt x="0" y="0"/>
                </a:lnTo>
                <a:close/>
              </a:path>
            </a:pathLst>
          </a:custGeom>
          <a:blipFill rotWithShape="1">
            <a:blip r:embed="rId3">
              <a:alphaModFix/>
            </a:blip>
            <a:stretch>
              <a:fillRect b="0" l="0" r="0" t="0"/>
            </a:stretch>
          </a:blipFill>
          <a:ln>
            <a:noFill/>
          </a:ln>
        </p:spPr>
      </p:sp>
      <p:sp>
        <p:nvSpPr>
          <p:cNvPr id="413" name="Google Shape;413;g35c3d042265_1_346"/>
          <p:cNvSpPr txBox="1"/>
          <p:nvPr/>
        </p:nvSpPr>
        <p:spPr>
          <a:xfrm>
            <a:off x="1459919" y="1259365"/>
            <a:ext cx="7700400" cy="8665800"/>
          </a:xfrm>
          <a:prstGeom prst="rect">
            <a:avLst/>
          </a:prstGeom>
          <a:noFill/>
          <a:ln>
            <a:noFill/>
          </a:ln>
        </p:spPr>
        <p:txBody>
          <a:bodyPr anchorCtr="0" anchor="t" bIns="0" lIns="0" spcFirstLastPara="1" rIns="0" wrap="square" tIns="0">
            <a:spAutoFit/>
          </a:bodyPr>
          <a:lstStyle/>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/arch: </a:t>
            </a:r>
            <a:r>
              <a:rPr b="0" i="0" lang="en-US" sz="1723" u="none" cap="none" strike="noStrike">
                <a:solidFill>
                  <a:srgbClr val="FFFFFF"/>
                </a:solidFill>
                <a:latin typeface="Montserrat"/>
                <a:ea typeface="Montserrat"/>
                <a:cs typeface="Montserrat"/>
                <a:sym typeface="Montserrat"/>
              </a:rPr>
              <a:t>Contiene el código específico para diferentes arquitecturas de hardware (como </a:t>
            </a:r>
            <a:r>
              <a:rPr b="0" i="0" lang="en-US" sz="1723" u="none" cap="none" strike="noStrike">
                <a:solidFill>
                  <a:srgbClr val="ACFDDB"/>
                </a:solidFill>
                <a:latin typeface="Montserrat"/>
                <a:ea typeface="Montserrat"/>
                <a:cs typeface="Montserrat"/>
                <a:sym typeface="Montserrat"/>
              </a:rPr>
              <a:t>x86</a:t>
            </a:r>
            <a:r>
              <a:rPr b="0" i="0" lang="en-US" sz="1723" u="none" cap="none" strike="noStrike">
                <a:solidFill>
                  <a:srgbClr val="FFFFFF"/>
                </a:solidFill>
                <a:latin typeface="Montserrat"/>
                <a:ea typeface="Montserrat"/>
                <a:cs typeface="Montserrat"/>
                <a:sym typeface="Montserrat"/>
              </a:rPr>
              <a:t>, ARM, MIPS, etc.). Aquí se encuentran las configuraciones y adaptaciones del kernel para funcionar en diferentes plataformas.</a:t>
            </a:r>
            <a:endParaRPr b="0" i="0" sz="1400" u="none" cap="none" strike="noStrike">
              <a:solidFill>
                <a:srgbClr val="000000"/>
              </a:solidFill>
              <a:latin typeface="Arial"/>
              <a:ea typeface="Arial"/>
              <a:cs typeface="Arial"/>
              <a:sym typeface="Arial"/>
            </a:endParaRPr>
          </a:p>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/kernel:</a:t>
            </a:r>
            <a:r>
              <a:rPr b="0" i="0" lang="en-US" sz="1723" u="none" cap="none" strike="noStrike">
                <a:solidFill>
                  <a:srgbClr val="FFFFFF"/>
                </a:solidFill>
                <a:latin typeface="Montserrat"/>
                <a:ea typeface="Montserrat"/>
                <a:cs typeface="Montserrat"/>
                <a:sym typeface="Montserrat"/>
              </a:rPr>
              <a:t> Incluye el núcleo del código del sistema operativo, con funcionalidades como la gestión de procesos, sincronización, y planificación. </a:t>
            </a:r>
            <a:r>
              <a:rPr b="0" i="0" lang="en-US" sz="1723" u="none" cap="none" strike="noStrike">
                <a:solidFill>
                  <a:srgbClr val="ACFDDB"/>
                </a:solidFill>
                <a:latin typeface="Montserrat"/>
                <a:ea typeface="Montserrat"/>
                <a:cs typeface="Montserrat"/>
                <a:sym typeface="Montserrat"/>
              </a:rPr>
              <a:t>Es el corazón del sistema y maneja la lógica central del kernel</a:t>
            </a:r>
            <a:r>
              <a:rPr b="0" i="0" lang="en-US" sz="1723"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/include</a:t>
            </a:r>
            <a:r>
              <a:rPr b="0" i="0" lang="en-US" sz="1723" u="none" cap="none" strike="noStrike">
                <a:solidFill>
                  <a:srgbClr val="FFFFFF"/>
                </a:solidFill>
                <a:latin typeface="Montserrat"/>
                <a:ea typeface="Montserrat"/>
                <a:cs typeface="Montserrat"/>
                <a:sym typeface="Montserrat"/>
              </a:rPr>
              <a:t>: Contiene los archivos de cabecera utilizados por el resto del kernel. Estos archivos definen estructuras de datos, funciones, y constantes usadas a lo largo del código.</a:t>
            </a:r>
            <a:endParaRPr b="0" i="0" sz="1400" u="none" cap="none" strike="noStrike">
              <a:solidFill>
                <a:srgbClr val="000000"/>
              </a:solidFill>
              <a:latin typeface="Arial"/>
              <a:ea typeface="Arial"/>
              <a:cs typeface="Arial"/>
              <a:sym typeface="Arial"/>
            </a:endParaRPr>
          </a:p>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/fs:</a:t>
            </a:r>
            <a:r>
              <a:rPr b="0" i="0" lang="en-US" sz="1723" u="none" cap="none" strike="noStrike">
                <a:solidFill>
                  <a:srgbClr val="FFFFFF"/>
                </a:solidFill>
                <a:latin typeface="Montserrat"/>
                <a:ea typeface="Montserrat"/>
                <a:cs typeface="Montserrat"/>
                <a:sym typeface="Montserrat"/>
              </a:rPr>
              <a:t> Código relacionado con los sistemas de archivos soportados por Linux. Aquí se implementan los diferentes tipos de sistemas de archivos y el VFS (Virtual File System).</a:t>
            </a:r>
            <a:endParaRPr b="0" i="0" sz="1400" u="none" cap="none" strike="noStrike">
              <a:solidFill>
                <a:srgbClr val="000000"/>
              </a:solidFill>
              <a:latin typeface="Arial"/>
              <a:ea typeface="Arial"/>
              <a:cs typeface="Arial"/>
              <a:sym typeface="Arial"/>
            </a:endParaRPr>
          </a:p>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/drivers: </a:t>
            </a:r>
            <a:r>
              <a:rPr b="0" i="0" lang="en-US" sz="1723" u="none" cap="none" strike="noStrike">
                <a:solidFill>
                  <a:srgbClr val="FFFFFF"/>
                </a:solidFill>
                <a:latin typeface="Montserrat"/>
                <a:ea typeface="Montserrat"/>
                <a:cs typeface="Montserrat"/>
                <a:sym typeface="Montserrat"/>
              </a:rPr>
              <a:t>Contiene los controladores de dispositivos para el hardware, como controladores de red, de almacenamiento, de video, y otros periféricos. Esta estructura modular permite que los drivers se carguen y descarguen dinámicamente, </a:t>
            </a:r>
            <a:r>
              <a:rPr b="0" i="0" lang="en-US" sz="1723" u="none" cap="none" strike="noStrike">
                <a:solidFill>
                  <a:srgbClr val="ACFDDB"/>
                </a:solidFill>
                <a:latin typeface="Montserrat"/>
                <a:ea typeface="Montserrat"/>
                <a:cs typeface="Montserrat"/>
                <a:sym typeface="Montserrat"/>
              </a:rPr>
              <a:t>mejorando la adaptabilidad del kernel</a:t>
            </a:r>
            <a:r>
              <a:rPr b="0" i="0" lang="en-US" sz="1723"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p:txBody>
      </p:sp>
      <p:sp>
        <p:nvSpPr>
          <p:cNvPr id="414" name="Google Shape;414;g35c3d042265_1_346"/>
          <p:cNvSpPr txBox="1"/>
          <p:nvPr/>
        </p:nvSpPr>
        <p:spPr>
          <a:xfrm>
            <a:off x="10076624" y="281620"/>
            <a:ext cx="7700400" cy="7265700"/>
          </a:xfrm>
          <a:prstGeom prst="rect">
            <a:avLst/>
          </a:prstGeom>
          <a:noFill/>
          <a:ln>
            <a:noFill/>
          </a:ln>
        </p:spPr>
        <p:txBody>
          <a:bodyPr anchorCtr="0" anchor="t" bIns="0" lIns="0" spcFirstLastPara="1" rIns="0" wrap="square" tIns="0">
            <a:spAutoFit/>
          </a:bodyPr>
          <a:lstStyle/>
          <a:p>
            <a:pPr indent="0" lvl="0" marL="0" marR="0" rtl="0" algn="l">
              <a:lnSpc>
                <a:spcPct val="1684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/net:</a:t>
            </a:r>
            <a:r>
              <a:rPr b="0" i="0" lang="en-US" sz="1723" u="none" cap="none" strike="noStrike">
                <a:solidFill>
                  <a:srgbClr val="FFFFFF"/>
                </a:solidFill>
                <a:latin typeface="Montserrat"/>
                <a:ea typeface="Montserrat"/>
                <a:cs typeface="Montserrat"/>
                <a:sym typeface="Montserrat"/>
              </a:rPr>
              <a:t> Incluye el código para la pila de redes y los protocolos de comunicación, como TCP/IP, IPv4, IPv6, y otros. Este directorio es fundamental para todas las funcionalidades de red del kernel.</a:t>
            </a:r>
            <a:endParaRPr b="0" i="0" sz="1400" u="none" cap="none" strike="noStrike">
              <a:solidFill>
                <a:srgbClr val="000000"/>
              </a:solidFill>
              <a:latin typeface="Arial"/>
              <a:ea typeface="Arial"/>
              <a:cs typeface="Arial"/>
              <a:sym typeface="Arial"/>
            </a:endParaRPr>
          </a:p>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/mm:</a:t>
            </a:r>
            <a:r>
              <a:rPr b="0" i="0" lang="en-US" sz="1723" u="none" cap="none" strike="noStrike">
                <a:solidFill>
                  <a:srgbClr val="FFFFFF"/>
                </a:solidFill>
                <a:latin typeface="Montserrat"/>
                <a:ea typeface="Montserrat"/>
                <a:cs typeface="Montserrat"/>
                <a:sym typeface="Montserrat"/>
              </a:rPr>
              <a:t> Contiene el código de gestión de memoria, incluyendo algoritmos de administración de memoria virtual, paginación, intercambio (swapping) y asignación de memoria. Esta sección es crucial para optimizar el uso de recursos y evitar cuellos de botella.</a:t>
            </a:r>
            <a:endParaRPr b="0" i="0" sz="1400" u="none" cap="none" strike="noStrike">
              <a:solidFill>
                <a:srgbClr val="000000"/>
              </a:solidFill>
              <a:latin typeface="Arial"/>
              <a:ea typeface="Arial"/>
              <a:cs typeface="Arial"/>
              <a:sym typeface="Arial"/>
            </a:endParaRPr>
          </a:p>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/security:</a:t>
            </a:r>
            <a:r>
              <a:rPr b="0" i="0" lang="en-US" sz="1723" u="none" cap="none" strike="noStrike">
                <a:solidFill>
                  <a:srgbClr val="FFFFFF"/>
                </a:solidFill>
                <a:latin typeface="Montserrat"/>
                <a:ea typeface="Montserrat"/>
                <a:cs typeface="Montserrat"/>
                <a:sym typeface="Montserrat"/>
              </a:rPr>
              <a:t> Código relacionado con la seguridad del sistema, como el módulo SELinux, AppArmor, y otros mecanismos de control de acceso. También se ocupa de la implementación de políticas de seguridad para proteger el sistema de amenazas.</a:t>
            </a:r>
            <a:endParaRPr b="0" i="0" sz="1400" u="none" cap="none" strike="noStrike">
              <a:solidFill>
                <a:srgbClr val="000000"/>
              </a:solidFill>
              <a:latin typeface="Arial"/>
              <a:ea typeface="Arial"/>
              <a:cs typeface="Arial"/>
              <a:sym typeface="Arial"/>
            </a:endParaRPr>
          </a:p>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/init:</a:t>
            </a:r>
            <a:r>
              <a:rPr b="0" i="0" lang="en-US" sz="1723" u="none" cap="none" strike="noStrike">
                <a:solidFill>
                  <a:srgbClr val="FFFFFF"/>
                </a:solidFill>
                <a:latin typeface="Montserrat"/>
                <a:ea typeface="Montserrat"/>
                <a:cs typeface="Montserrat"/>
                <a:sym typeface="Montserrat"/>
              </a:rPr>
              <a:t> Contiene el código de inicialización del kernel que se ejecuta al inicio del sistema. Este código </a:t>
            </a:r>
            <a:r>
              <a:rPr b="0" i="0" lang="en-US" sz="1723" u="none" cap="none" strike="noStrike">
                <a:solidFill>
                  <a:srgbClr val="ACFDDB"/>
                </a:solidFill>
                <a:latin typeface="Montserrat"/>
                <a:ea typeface="Montserrat"/>
                <a:cs typeface="Montserrat"/>
                <a:sym typeface="Montserrat"/>
              </a:rPr>
              <a:t>prepara el entorno</a:t>
            </a:r>
            <a:r>
              <a:rPr b="0" i="0" lang="en-US" sz="1723" u="none" cap="none" strike="noStrike">
                <a:solidFill>
                  <a:srgbClr val="FFFFFF"/>
                </a:solidFill>
                <a:latin typeface="Montserrat"/>
                <a:ea typeface="Montserrat"/>
                <a:cs typeface="Montserrat"/>
                <a:sym typeface="Montserrat"/>
              </a:rPr>
              <a:t> y carga las configuraciones necesarias para que el kernel pueda iniciar correctamente.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18" name="Shape 418"/>
        <p:cNvGrpSpPr/>
        <p:nvPr/>
      </p:nvGrpSpPr>
      <p:grpSpPr>
        <a:xfrm>
          <a:off x="0" y="0"/>
          <a:ext cx="0" cy="0"/>
          <a:chOff x="0" y="0"/>
          <a:chExt cx="0" cy="0"/>
        </a:xfrm>
      </p:grpSpPr>
      <p:sp>
        <p:nvSpPr>
          <p:cNvPr id="419" name="Google Shape;419;g35c3d042265_1_359"/>
          <p:cNvSpPr/>
          <p:nvPr/>
        </p:nvSpPr>
        <p:spPr>
          <a:xfrm rot="-10160180">
            <a:off x="-11890406" y="-5668260"/>
            <a:ext cx="25058689" cy="17085470"/>
          </a:xfrm>
          <a:custGeom>
            <a:rect b="b" l="l" r="r" t="t"/>
            <a:pathLst>
              <a:path extrusionOk="0" h="17089476" w="25064564">
                <a:moveTo>
                  <a:pt x="0" y="0"/>
                </a:moveTo>
                <a:lnTo>
                  <a:pt x="25064564" y="0"/>
                </a:lnTo>
                <a:lnTo>
                  <a:pt x="25064564" y="17089475"/>
                </a:lnTo>
                <a:lnTo>
                  <a:pt x="0" y="17089475"/>
                </a:lnTo>
                <a:lnTo>
                  <a:pt x="0" y="0"/>
                </a:lnTo>
                <a:close/>
              </a:path>
            </a:pathLst>
          </a:custGeom>
          <a:blipFill rotWithShape="1">
            <a:blip r:embed="rId3">
              <a:alphaModFix amt="46000"/>
            </a:blip>
            <a:stretch>
              <a:fillRect b="0" l="0" r="0" t="0"/>
            </a:stretch>
          </a:blipFill>
          <a:ln>
            <a:noFill/>
          </a:ln>
        </p:spPr>
      </p:sp>
      <p:grpSp>
        <p:nvGrpSpPr>
          <p:cNvPr id="420" name="Google Shape;420;g35c3d042265_1_359"/>
          <p:cNvGrpSpPr/>
          <p:nvPr/>
        </p:nvGrpSpPr>
        <p:grpSpPr>
          <a:xfrm>
            <a:off x="486289" y="4569255"/>
            <a:ext cx="7034933" cy="3339291"/>
            <a:chOff x="0" y="-19050"/>
            <a:chExt cx="2214123" cy="1050984"/>
          </a:xfrm>
        </p:grpSpPr>
        <p:sp>
          <p:nvSpPr>
            <p:cNvPr id="421" name="Google Shape;421;g35c3d042265_1_359"/>
            <p:cNvSpPr/>
            <p:nvPr/>
          </p:nvSpPr>
          <p:spPr>
            <a:xfrm>
              <a:off x="0" y="0"/>
              <a:ext cx="2214123" cy="1031934"/>
            </a:xfrm>
            <a:custGeom>
              <a:rect b="b" l="l" r="r" t="t"/>
              <a:pathLst>
                <a:path extrusionOk="0" h="1031934" w="2214123">
                  <a:moveTo>
                    <a:pt x="56125" y="0"/>
                  </a:moveTo>
                  <a:lnTo>
                    <a:pt x="2157998" y="0"/>
                  </a:lnTo>
                  <a:cubicBezTo>
                    <a:pt x="2172883" y="0"/>
                    <a:pt x="2187159" y="5913"/>
                    <a:pt x="2197684" y="16439"/>
                  </a:cubicBezTo>
                  <a:cubicBezTo>
                    <a:pt x="2208210" y="26964"/>
                    <a:pt x="2214123" y="41239"/>
                    <a:pt x="2214123" y="56125"/>
                  </a:cubicBezTo>
                  <a:lnTo>
                    <a:pt x="2214123" y="975810"/>
                  </a:lnTo>
                  <a:cubicBezTo>
                    <a:pt x="2214123" y="990695"/>
                    <a:pt x="2208210" y="1004970"/>
                    <a:pt x="2197684" y="1015496"/>
                  </a:cubicBezTo>
                  <a:cubicBezTo>
                    <a:pt x="2187159" y="1026021"/>
                    <a:pt x="2172883" y="1031934"/>
                    <a:pt x="2157998" y="1031934"/>
                  </a:cubicBezTo>
                  <a:lnTo>
                    <a:pt x="56125" y="1031934"/>
                  </a:lnTo>
                  <a:cubicBezTo>
                    <a:pt x="41239" y="1031934"/>
                    <a:pt x="26964" y="1026021"/>
                    <a:pt x="16439" y="1015496"/>
                  </a:cubicBezTo>
                  <a:cubicBezTo>
                    <a:pt x="5913" y="1004970"/>
                    <a:pt x="0" y="990695"/>
                    <a:pt x="0" y="975810"/>
                  </a:cubicBezTo>
                  <a:lnTo>
                    <a:pt x="0" y="56125"/>
                  </a:lnTo>
                  <a:cubicBezTo>
                    <a:pt x="0" y="41239"/>
                    <a:pt x="5913" y="26964"/>
                    <a:pt x="16439" y="16439"/>
                  </a:cubicBezTo>
                  <a:cubicBezTo>
                    <a:pt x="26964" y="5913"/>
                    <a:pt x="41239" y="0"/>
                    <a:pt x="561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g35c3d042265_1_359"/>
            <p:cNvSpPr txBox="1"/>
            <p:nvPr/>
          </p:nvSpPr>
          <p:spPr>
            <a:xfrm>
              <a:off x="0" y="-19050"/>
              <a:ext cx="2214000" cy="1050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23" name="Google Shape;423;g35c3d042265_1_359"/>
          <p:cNvSpPr/>
          <p:nvPr/>
        </p:nvSpPr>
        <p:spPr>
          <a:xfrm>
            <a:off x="5609476" y="7136013"/>
            <a:ext cx="3338174" cy="2958457"/>
          </a:xfrm>
          <a:custGeom>
            <a:rect b="b" l="l" r="r" t="t"/>
            <a:pathLst>
              <a:path extrusionOk="0" h="2958457" w="3338174">
                <a:moveTo>
                  <a:pt x="0" y="0"/>
                </a:moveTo>
                <a:lnTo>
                  <a:pt x="3338174" y="0"/>
                </a:lnTo>
                <a:lnTo>
                  <a:pt x="3338174" y="2958456"/>
                </a:lnTo>
                <a:lnTo>
                  <a:pt x="0" y="2958456"/>
                </a:lnTo>
                <a:lnTo>
                  <a:pt x="0" y="0"/>
                </a:lnTo>
                <a:close/>
              </a:path>
            </a:pathLst>
          </a:custGeom>
          <a:blipFill rotWithShape="1">
            <a:blip r:embed="rId4">
              <a:alphaModFix amt="94000"/>
            </a:blip>
            <a:stretch>
              <a:fillRect b="0" l="0" r="0" t="0"/>
            </a:stretch>
          </a:blipFill>
          <a:ln>
            <a:noFill/>
          </a:ln>
        </p:spPr>
      </p:sp>
      <p:sp>
        <p:nvSpPr>
          <p:cNvPr id="424" name="Google Shape;424;g35c3d042265_1_359"/>
          <p:cNvSpPr txBox="1"/>
          <p:nvPr/>
        </p:nvSpPr>
        <p:spPr>
          <a:xfrm>
            <a:off x="1028700" y="1019175"/>
            <a:ext cx="6198900" cy="27213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MODULOS DE KERNEL</a:t>
            </a:r>
            <a:endParaRPr b="0" i="0" sz="1400" u="none" cap="none" strike="noStrike">
              <a:solidFill>
                <a:srgbClr val="000000"/>
              </a:solidFill>
              <a:latin typeface="Arial"/>
              <a:ea typeface="Arial"/>
              <a:cs typeface="Arial"/>
              <a:sym typeface="Arial"/>
            </a:endParaRPr>
          </a:p>
        </p:txBody>
      </p:sp>
      <p:sp>
        <p:nvSpPr>
          <p:cNvPr id="425" name="Google Shape;425;g35c3d042265_1_359"/>
          <p:cNvSpPr txBox="1"/>
          <p:nvPr/>
        </p:nvSpPr>
        <p:spPr>
          <a:xfrm>
            <a:off x="943490" y="4763041"/>
            <a:ext cx="6120600" cy="3204900"/>
          </a:xfrm>
          <a:prstGeom prst="rect">
            <a:avLst/>
          </a:prstGeom>
          <a:noFill/>
          <a:ln>
            <a:noFill/>
          </a:ln>
        </p:spPr>
        <p:txBody>
          <a:bodyPr anchorCtr="0" anchor="t" bIns="0" lIns="0" spcFirstLastPara="1" rIns="0" wrap="square" tIns="0">
            <a:spAutoFit/>
          </a:bodyPr>
          <a:lstStyle/>
          <a:p>
            <a:pPr indent="0" lvl="0" marL="0" marR="0" rtl="0" algn="l">
              <a:lnSpc>
                <a:spcPct val="130034"/>
              </a:lnSpc>
              <a:spcBef>
                <a:spcPts val="0"/>
              </a:spcBef>
              <a:spcAft>
                <a:spcPts val="0"/>
              </a:spcAft>
              <a:buClr>
                <a:srgbClr val="000000"/>
              </a:buClr>
              <a:buSzPts val="2061"/>
              <a:buFont typeface="Arial"/>
              <a:buNone/>
            </a:pPr>
            <a:r>
              <a:rPr b="0" i="0" lang="en-US" sz="2061" u="none" cap="none" strike="noStrike">
                <a:solidFill>
                  <a:srgbClr val="FFFFFF"/>
                </a:solidFill>
                <a:latin typeface="Montserrat"/>
                <a:ea typeface="Montserrat"/>
                <a:cs typeface="Montserrat"/>
                <a:sym typeface="Montserrat"/>
              </a:rPr>
              <a:t>Los módulos del kernel son componentes de código que se pueden cargar y descargar en tiempo de ejecución, lo que permite </a:t>
            </a:r>
            <a:r>
              <a:rPr b="0" i="0" lang="en-US" sz="2061" u="none" cap="none" strike="noStrike">
                <a:solidFill>
                  <a:srgbClr val="67D3CD"/>
                </a:solidFill>
                <a:latin typeface="Montserrat"/>
                <a:ea typeface="Montserrat"/>
                <a:cs typeface="Montserrat"/>
                <a:sym typeface="Montserrat"/>
              </a:rPr>
              <a:t>extender las funcionalidades del kernel</a:t>
            </a:r>
            <a:r>
              <a:rPr b="0" i="0" lang="en-US" sz="2061" u="none" cap="none" strike="noStrike">
                <a:solidFill>
                  <a:srgbClr val="FFFFFF"/>
                </a:solidFill>
                <a:latin typeface="Montserrat"/>
                <a:ea typeface="Montserrat"/>
                <a:cs typeface="Montserrat"/>
                <a:sym typeface="Montserrat"/>
              </a:rPr>
              <a:t> sin necesidad de recompilar el sistema. Esto proporciona flexibilidad y facilidad de mantenimiento al sistema operativo.</a:t>
            </a:r>
            <a:r>
              <a:rPr b="0" i="0" lang="en-US" sz="2061" u="none" cap="none" strike="noStrike">
                <a:solidFill>
                  <a:srgbClr val="67D3CD"/>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34"/>
              </a:lnSpc>
              <a:spcBef>
                <a:spcPts val="0"/>
              </a:spcBef>
              <a:spcAft>
                <a:spcPts val="0"/>
              </a:spcAft>
              <a:buClr>
                <a:srgbClr val="000000"/>
              </a:buClr>
              <a:buSzPts val="2061"/>
              <a:buFont typeface="Arial"/>
              <a:buNone/>
            </a:pPr>
            <a:r>
              <a:t/>
            </a:r>
            <a:endParaRPr b="0" i="0" sz="2061" u="none" cap="none" strike="noStrike">
              <a:solidFill>
                <a:srgbClr val="67D3CD"/>
              </a:solidFill>
              <a:latin typeface="Montserrat"/>
              <a:ea typeface="Montserrat"/>
              <a:cs typeface="Montserrat"/>
              <a:sym typeface="Montserrat"/>
            </a:endParaRPr>
          </a:p>
        </p:txBody>
      </p:sp>
      <p:sp>
        <p:nvSpPr>
          <p:cNvPr id="426" name="Google Shape;426;g35c3d042265_1_359"/>
          <p:cNvSpPr txBox="1"/>
          <p:nvPr/>
        </p:nvSpPr>
        <p:spPr>
          <a:xfrm>
            <a:off x="9197578" y="1723345"/>
            <a:ext cx="8094900" cy="357900"/>
          </a:xfrm>
          <a:prstGeom prst="rect">
            <a:avLst/>
          </a:prstGeom>
          <a:noFill/>
          <a:ln>
            <a:noFill/>
          </a:ln>
        </p:spPr>
        <p:txBody>
          <a:bodyPr anchorCtr="0" anchor="t" bIns="0" lIns="0" spcFirstLastPara="1" rIns="0" wrap="square" tIns="0">
            <a:spAutoFit/>
          </a:bodyPr>
          <a:lstStyle/>
          <a:p>
            <a:pPr indent="0" lvl="0" marL="0" marR="0" rtl="0" algn="ctr">
              <a:lnSpc>
                <a:spcPct val="129978"/>
              </a:lnSpc>
              <a:spcBef>
                <a:spcPts val="0"/>
              </a:spcBef>
              <a:spcAft>
                <a:spcPts val="0"/>
              </a:spcAft>
              <a:buClr>
                <a:srgbClr val="000000"/>
              </a:buClr>
              <a:buSzPts val="2325"/>
              <a:buFont typeface="Arial"/>
              <a:buNone/>
            </a:pPr>
            <a:r>
              <a:rPr b="0" i="0" lang="en-US" sz="2325" u="none" cap="none" strike="noStrike">
                <a:solidFill>
                  <a:srgbClr val="FFFFFF"/>
                </a:solidFill>
                <a:latin typeface="Sanchez"/>
                <a:ea typeface="Sanchez"/>
                <a:cs typeface="Sanchez"/>
                <a:sym typeface="Sanchez"/>
              </a:rPr>
              <a:t>ESPACIO DE </a:t>
            </a:r>
            <a:r>
              <a:rPr b="0" i="0" lang="en-US" sz="2325" u="none" cap="none" strike="noStrike">
                <a:solidFill>
                  <a:srgbClr val="5CD9C1"/>
                </a:solidFill>
                <a:latin typeface="Sanchez"/>
                <a:ea typeface="Sanchez"/>
                <a:cs typeface="Sanchez"/>
                <a:sym typeface="Sanchez"/>
              </a:rPr>
              <a:t>KERNEL</a:t>
            </a:r>
            <a:r>
              <a:rPr b="0" i="0" lang="en-US" sz="2325" u="none" cap="none" strike="noStrike">
                <a:solidFill>
                  <a:srgbClr val="FFFFFF"/>
                </a:solidFill>
                <a:latin typeface="Sanchez"/>
                <a:ea typeface="Sanchez"/>
                <a:cs typeface="Sanchez"/>
                <a:sym typeface="Sanchez"/>
              </a:rPr>
              <a:t>VS. ESPACIO DEL </a:t>
            </a:r>
            <a:r>
              <a:rPr b="0" i="0" lang="en-US" sz="2325" u="none" cap="none" strike="noStrike">
                <a:solidFill>
                  <a:srgbClr val="5CD9C1"/>
                </a:solidFill>
                <a:latin typeface="Sanchez"/>
                <a:ea typeface="Sanchez"/>
                <a:cs typeface="Sanchez"/>
                <a:sym typeface="Sanchez"/>
              </a:rPr>
              <a:t>USUARIO</a:t>
            </a:r>
            <a:endParaRPr b="0" i="0" sz="1400" u="none" cap="none" strike="noStrike">
              <a:solidFill>
                <a:srgbClr val="000000"/>
              </a:solidFill>
              <a:latin typeface="Arial"/>
              <a:ea typeface="Arial"/>
              <a:cs typeface="Arial"/>
              <a:sym typeface="Arial"/>
            </a:endParaRPr>
          </a:p>
        </p:txBody>
      </p:sp>
      <p:grpSp>
        <p:nvGrpSpPr>
          <p:cNvPr id="427" name="Google Shape;427;g35c3d042265_1_359"/>
          <p:cNvGrpSpPr/>
          <p:nvPr/>
        </p:nvGrpSpPr>
        <p:grpSpPr>
          <a:xfrm>
            <a:off x="9885750" y="2303865"/>
            <a:ext cx="2307946" cy="2307946"/>
            <a:chOff x="0" y="0"/>
            <a:chExt cx="812800" cy="812800"/>
          </a:xfrm>
        </p:grpSpPr>
        <p:sp>
          <p:nvSpPr>
            <p:cNvPr id="428" name="Google Shape;428;g35c3d042265_1_35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g35c3d042265_1_359"/>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30" name="Google Shape;430;g35c3d042265_1_359"/>
          <p:cNvSpPr/>
          <p:nvPr/>
        </p:nvSpPr>
        <p:spPr>
          <a:xfrm rot="1517095">
            <a:off x="10206502" y="2584092"/>
            <a:ext cx="1691604" cy="1691604"/>
          </a:xfrm>
          <a:custGeom>
            <a:rect b="b" l="l" r="r" t="t"/>
            <a:pathLst>
              <a:path extrusionOk="0" h="1690099" w="1690099">
                <a:moveTo>
                  <a:pt x="0" y="0"/>
                </a:moveTo>
                <a:lnTo>
                  <a:pt x="1690099" y="0"/>
                </a:lnTo>
                <a:lnTo>
                  <a:pt x="1690099" y="1690099"/>
                </a:lnTo>
                <a:lnTo>
                  <a:pt x="0" y="1690099"/>
                </a:lnTo>
                <a:lnTo>
                  <a:pt x="0" y="0"/>
                </a:lnTo>
                <a:close/>
              </a:path>
            </a:pathLst>
          </a:custGeom>
          <a:blipFill rotWithShape="1">
            <a:blip r:embed="rId5">
              <a:alphaModFix/>
            </a:blip>
            <a:stretch>
              <a:fillRect b="0" l="0" r="0" t="0"/>
            </a:stretch>
          </a:blipFill>
          <a:ln>
            <a:noFill/>
          </a:ln>
        </p:spPr>
      </p:sp>
      <p:cxnSp>
        <p:nvCxnSpPr>
          <p:cNvPr id="431" name="Google Shape;431;g35c3d042265_1_359"/>
          <p:cNvCxnSpPr/>
          <p:nvPr/>
        </p:nvCxnSpPr>
        <p:spPr>
          <a:xfrm rot="10800000">
            <a:off x="13143302" y="2304004"/>
            <a:ext cx="0" cy="5659800"/>
          </a:xfrm>
          <a:prstGeom prst="straightConnector1">
            <a:avLst/>
          </a:prstGeom>
          <a:noFill/>
          <a:ln cap="flat" cmpd="sng" w="9525">
            <a:solidFill>
              <a:srgbClr val="FFFFFF"/>
            </a:solidFill>
            <a:prstDash val="lgDash"/>
            <a:round/>
            <a:headEnd len="sm" w="sm" type="none"/>
            <a:tailEnd len="sm" w="sm" type="none"/>
          </a:ln>
        </p:spPr>
      </p:cxnSp>
      <p:sp>
        <p:nvSpPr>
          <p:cNvPr id="432" name="Google Shape;432;g35c3d042265_1_359"/>
          <p:cNvSpPr txBox="1"/>
          <p:nvPr/>
        </p:nvSpPr>
        <p:spPr>
          <a:xfrm>
            <a:off x="9309600" y="5530207"/>
            <a:ext cx="3468300" cy="19626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Es el entorno donde se ejecuta el código del kernel, que tiene acceso completo al hardware. Este espacio es privilegiado y permite la gestión directa de los recursos del sistema.</a:t>
            </a:r>
            <a:endParaRPr b="0" i="0" sz="1400" u="none" cap="none" strike="noStrike">
              <a:solidFill>
                <a:srgbClr val="000000"/>
              </a:solidFill>
              <a:latin typeface="Arial"/>
              <a:ea typeface="Arial"/>
              <a:cs typeface="Arial"/>
              <a:sym typeface="Arial"/>
            </a:endParaRPr>
          </a:p>
        </p:txBody>
      </p:sp>
      <p:sp>
        <p:nvSpPr>
          <p:cNvPr id="433" name="Google Shape;433;g35c3d042265_1_359"/>
          <p:cNvSpPr txBox="1"/>
          <p:nvPr/>
        </p:nvSpPr>
        <p:spPr>
          <a:xfrm>
            <a:off x="9262792" y="4976706"/>
            <a:ext cx="3468300" cy="3048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ESPACIO DEL KERNEL</a:t>
            </a:r>
            <a:endParaRPr b="0" i="0" sz="1400" u="none" cap="none" strike="noStrike">
              <a:solidFill>
                <a:srgbClr val="000000"/>
              </a:solidFill>
              <a:latin typeface="Arial"/>
              <a:ea typeface="Arial"/>
              <a:cs typeface="Arial"/>
              <a:sym typeface="Arial"/>
            </a:endParaRPr>
          </a:p>
        </p:txBody>
      </p:sp>
      <p:grpSp>
        <p:nvGrpSpPr>
          <p:cNvPr id="434" name="Google Shape;434;g35c3d042265_1_359"/>
          <p:cNvGrpSpPr/>
          <p:nvPr/>
        </p:nvGrpSpPr>
        <p:grpSpPr>
          <a:xfrm>
            <a:off x="14512751" y="2303865"/>
            <a:ext cx="2307946" cy="2307946"/>
            <a:chOff x="0" y="0"/>
            <a:chExt cx="812800" cy="812800"/>
          </a:xfrm>
        </p:grpSpPr>
        <p:sp>
          <p:nvSpPr>
            <p:cNvPr id="435" name="Google Shape;435;g35c3d042265_1_35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g35c3d042265_1_359"/>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37" name="Google Shape;437;g35c3d042265_1_359"/>
          <p:cNvSpPr/>
          <p:nvPr/>
        </p:nvSpPr>
        <p:spPr>
          <a:xfrm>
            <a:off x="14873747" y="2600400"/>
            <a:ext cx="1585953" cy="1641349"/>
          </a:xfrm>
          <a:custGeom>
            <a:rect b="b" l="l" r="r" t="t"/>
            <a:pathLst>
              <a:path extrusionOk="0" h="1641349" w="1585953">
                <a:moveTo>
                  <a:pt x="0" y="0"/>
                </a:moveTo>
                <a:lnTo>
                  <a:pt x="1585953" y="0"/>
                </a:lnTo>
                <a:lnTo>
                  <a:pt x="1585953" y="1641348"/>
                </a:lnTo>
                <a:lnTo>
                  <a:pt x="0" y="1641348"/>
                </a:lnTo>
                <a:lnTo>
                  <a:pt x="0" y="0"/>
                </a:lnTo>
                <a:close/>
              </a:path>
            </a:pathLst>
          </a:custGeom>
          <a:blipFill rotWithShape="1">
            <a:blip r:embed="rId6">
              <a:alphaModFix/>
            </a:blip>
            <a:stretch>
              <a:fillRect b="0" l="0" r="0" t="0"/>
            </a:stretch>
          </a:blipFill>
          <a:ln>
            <a:noFill/>
          </a:ln>
        </p:spPr>
      </p:sp>
      <p:sp>
        <p:nvSpPr>
          <p:cNvPr id="438" name="Google Shape;438;g35c3d042265_1_359"/>
          <p:cNvSpPr txBox="1"/>
          <p:nvPr/>
        </p:nvSpPr>
        <p:spPr>
          <a:xfrm>
            <a:off x="13932554" y="4980401"/>
            <a:ext cx="3468300" cy="3048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ESPACIO DE USUARIO</a:t>
            </a:r>
            <a:endParaRPr b="0" i="0" sz="1400" u="none" cap="none" strike="noStrike">
              <a:solidFill>
                <a:srgbClr val="000000"/>
              </a:solidFill>
              <a:latin typeface="Arial"/>
              <a:ea typeface="Arial"/>
              <a:cs typeface="Arial"/>
              <a:sym typeface="Arial"/>
            </a:endParaRPr>
          </a:p>
        </p:txBody>
      </p:sp>
      <p:sp>
        <p:nvSpPr>
          <p:cNvPr id="439" name="Google Shape;439;g35c3d042265_1_359"/>
          <p:cNvSpPr txBox="1"/>
          <p:nvPr/>
        </p:nvSpPr>
        <p:spPr>
          <a:xfrm>
            <a:off x="13443206" y="5626756"/>
            <a:ext cx="4446900" cy="26430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Aquí se ejecutan las aplicaciones de usuario, las cuales tienen un acceso limitado al hardware. Esta restricción garantiza la seguridad y estabilidad del sistema, impidiendo que las aplicaciones interfieran directamente con el funcionamiento del kernel y de otros procesos del sistema.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43" name="Shape 443"/>
        <p:cNvGrpSpPr/>
        <p:nvPr/>
      </p:nvGrpSpPr>
      <p:grpSpPr>
        <a:xfrm>
          <a:off x="0" y="0"/>
          <a:ext cx="0" cy="0"/>
          <a:chOff x="0" y="0"/>
          <a:chExt cx="0" cy="0"/>
        </a:xfrm>
      </p:grpSpPr>
      <p:sp>
        <p:nvSpPr>
          <p:cNvPr id="444" name="Google Shape;444;g35c3d042265_1_383"/>
          <p:cNvSpPr/>
          <p:nvPr/>
        </p:nvSpPr>
        <p:spPr>
          <a:xfrm rot="-8859637">
            <a:off x="-729867" y="-6571994"/>
            <a:ext cx="22754852" cy="18865841"/>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445" name="Google Shape;445;g35c3d042265_1_383"/>
          <p:cNvGrpSpPr/>
          <p:nvPr/>
        </p:nvGrpSpPr>
        <p:grpSpPr>
          <a:xfrm>
            <a:off x="1297782" y="2045423"/>
            <a:ext cx="5982303" cy="958909"/>
            <a:chOff x="0" y="-19050"/>
            <a:chExt cx="1882826" cy="301800"/>
          </a:xfrm>
        </p:grpSpPr>
        <p:sp>
          <p:nvSpPr>
            <p:cNvPr id="446" name="Google Shape;446;g35c3d042265_1_383"/>
            <p:cNvSpPr/>
            <p:nvPr/>
          </p:nvSpPr>
          <p:spPr>
            <a:xfrm>
              <a:off x="0" y="0"/>
              <a:ext cx="1882826" cy="282712"/>
            </a:xfrm>
            <a:custGeom>
              <a:rect b="b" l="l" r="r" t="t"/>
              <a:pathLst>
                <a:path extrusionOk="0" h="282712" w="1882826">
                  <a:moveTo>
                    <a:pt x="66000" y="0"/>
                  </a:moveTo>
                  <a:lnTo>
                    <a:pt x="1816825" y="0"/>
                  </a:lnTo>
                  <a:cubicBezTo>
                    <a:pt x="1853276" y="0"/>
                    <a:pt x="1882826" y="29549"/>
                    <a:pt x="1882826" y="66000"/>
                  </a:cubicBezTo>
                  <a:lnTo>
                    <a:pt x="1882826" y="216712"/>
                  </a:lnTo>
                  <a:cubicBezTo>
                    <a:pt x="1882826" y="253163"/>
                    <a:pt x="1853276" y="282712"/>
                    <a:pt x="1816825" y="282712"/>
                  </a:cubicBezTo>
                  <a:lnTo>
                    <a:pt x="66000" y="282712"/>
                  </a:lnTo>
                  <a:cubicBezTo>
                    <a:pt x="29549" y="282712"/>
                    <a:pt x="0" y="253163"/>
                    <a:pt x="0" y="216712"/>
                  </a:cubicBezTo>
                  <a:lnTo>
                    <a:pt x="0" y="66000"/>
                  </a:lnTo>
                  <a:cubicBezTo>
                    <a:pt x="0" y="29549"/>
                    <a:pt x="29549" y="0"/>
                    <a:pt x="6600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g35c3d042265_1_383"/>
            <p:cNvSpPr txBox="1"/>
            <p:nvPr/>
          </p:nvSpPr>
          <p:spPr>
            <a:xfrm>
              <a:off x="0" y="-19050"/>
              <a:ext cx="1882800" cy="301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48" name="Google Shape;448;g35c3d042265_1_383"/>
          <p:cNvGrpSpPr/>
          <p:nvPr/>
        </p:nvGrpSpPr>
        <p:grpSpPr>
          <a:xfrm>
            <a:off x="420592" y="3004223"/>
            <a:ext cx="7684209" cy="6682233"/>
            <a:chOff x="0" y="0"/>
            <a:chExt cx="10245612" cy="8909645"/>
          </a:xfrm>
        </p:grpSpPr>
        <p:grpSp>
          <p:nvGrpSpPr>
            <p:cNvPr id="449" name="Google Shape;449;g35c3d042265_1_383"/>
            <p:cNvGrpSpPr/>
            <p:nvPr/>
          </p:nvGrpSpPr>
          <p:grpSpPr>
            <a:xfrm>
              <a:off x="745174" y="235635"/>
              <a:ext cx="9500438" cy="1163719"/>
              <a:chOff x="0" y="-19050"/>
              <a:chExt cx="1637188" cy="200541"/>
            </a:xfrm>
          </p:grpSpPr>
          <p:sp>
            <p:nvSpPr>
              <p:cNvPr id="450" name="Google Shape;450;g35c3d042265_1_383"/>
              <p:cNvSpPr/>
              <p:nvPr/>
            </p:nvSpPr>
            <p:spPr>
              <a:xfrm>
                <a:off x="0" y="0"/>
                <a:ext cx="1637188" cy="181491"/>
              </a:xfrm>
              <a:custGeom>
                <a:rect b="b" l="l" r="r" t="t"/>
                <a:pathLst>
                  <a:path extrusionOk="0" h="181491" w="1637188">
                    <a:moveTo>
                      <a:pt x="24990" y="0"/>
                    </a:moveTo>
                    <a:lnTo>
                      <a:pt x="1612197" y="0"/>
                    </a:lnTo>
                    <a:cubicBezTo>
                      <a:pt x="1618825" y="0"/>
                      <a:pt x="1625182" y="2633"/>
                      <a:pt x="1629868" y="7319"/>
                    </a:cubicBezTo>
                    <a:cubicBezTo>
                      <a:pt x="1634555" y="12006"/>
                      <a:pt x="1637188" y="18362"/>
                      <a:pt x="1637188" y="24990"/>
                    </a:cubicBezTo>
                    <a:lnTo>
                      <a:pt x="1637188" y="156500"/>
                    </a:lnTo>
                    <a:cubicBezTo>
                      <a:pt x="1637188" y="163128"/>
                      <a:pt x="1634555" y="169485"/>
                      <a:pt x="1629868" y="174171"/>
                    </a:cubicBezTo>
                    <a:cubicBezTo>
                      <a:pt x="1625182" y="178858"/>
                      <a:pt x="1618825" y="181491"/>
                      <a:pt x="1612197" y="181491"/>
                    </a:cubicBezTo>
                    <a:lnTo>
                      <a:pt x="24990" y="181491"/>
                    </a:lnTo>
                    <a:cubicBezTo>
                      <a:pt x="18362" y="181491"/>
                      <a:pt x="12006" y="178858"/>
                      <a:pt x="7319" y="174171"/>
                    </a:cubicBezTo>
                    <a:cubicBezTo>
                      <a:pt x="2633" y="169485"/>
                      <a:pt x="0" y="163128"/>
                      <a:pt x="0" y="156500"/>
                    </a:cubicBezTo>
                    <a:lnTo>
                      <a:pt x="0" y="24990"/>
                    </a:lnTo>
                    <a:cubicBezTo>
                      <a:pt x="0" y="18362"/>
                      <a:pt x="2633" y="12006"/>
                      <a:pt x="7319" y="7319"/>
                    </a:cubicBezTo>
                    <a:cubicBezTo>
                      <a:pt x="12006" y="2633"/>
                      <a:pt x="18362" y="0"/>
                      <a:pt x="2499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g35c3d042265_1_383"/>
              <p:cNvSpPr txBox="1"/>
              <p:nvPr/>
            </p:nvSpPr>
            <p:spPr>
              <a:xfrm>
                <a:off x="0" y="-19050"/>
                <a:ext cx="1637100" cy="200400"/>
              </a:xfrm>
              <a:prstGeom prst="rect">
                <a:avLst/>
              </a:prstGeom>
              <a:noFill/>
              <a:ln>
                <a:noFill/>
              </a:ln>
            </p:spPr>
            <p:txBody>
              <a:bodyPr anchorCtr="0" anchor="ctr" bIns="58225" lIns="58225" spcFirstLastPara="1" rIns="58225" wrap="square" tIns="582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52" name="Google Shape;452;g35c3d042265_1_383"/>
            <p:cNvSpPr/>
            <p:nvPr/>
          </p:nvSpPr>
          <p:spPr>
            <a:xfrm>
              <a:off x="0" y="0"/>
              <a:ext cx="5101868" cy="4521531"/>
            </a:xfrm>
            <a:custGeom>
              <a:rect b="b" l="l" r="r" t="t"/>
              <a:pathLst>
                <a:path extrusionOk="0" h="4521531" w="5101868">
                  <a:moveTo>
                    <a:pt x="0" y="0"/>
                  </a:moveTo>
                  <a:lnTo>
                    <a:pt x="5101868" y="0"/>
                  </a:lnTo>
                  <a:lnTo>
                    <a:pt x="5101868" y="4521531"/>
                  </a:lnTo>
                  <a:lnTo>
                    <a:pt x="0" y="4521531"/>
                  </a:lnTo>
                  <a:lnTo>
                    <a:pt x="0" y="0"/>
                  </a:lnTo>
                  <a:close/>
                </a:path>
              </a:pathLst>
            </a:custGeom>
            <a:blipFill rotWithShape="1">
              <a:blip r:embed="rId4">
                <a:alphaModFix amt="94000"/>
              </a:blip>
              <a:stretch>
                <a:fillRect b="0" l="0" r="0" t="0"/>
              </a:stretch>
            </a:blipFill>
            <a:ln>
              <a:noFill/>
            </a:ln>
          </p:spPr>
        </p:sp>
        <p:grpSp>
          <p:nvGrpSpPr>
            <p:cNvPr id="453" name="Google Shape;453;g35c3d042265_1_383"/>
            <p:cNvGrpSpPr/>
            <p:nvPr/>
          </p:nvGrpSpPr>
          <p:grpSpPr>
            <a:xfrm>
              <a:off x="654918" y="805895"/>
              <a:ext cx="9590691" cy="8103750"/>
              <a:chOff x="0" y="-19050"/>
              <a:chExt cx="1652741" cy="1396500"/>
            </a:xfrm>
          </p:grpSpPr>
          <p:sp>
            <p:nvSpPr>
              <p:cNvPr id="454" name="Google Shape;454;g35c3d042265_1_383"/>
              <p:cNvSpPr/>
              <p:nvPr/>
            </p:nvSpPr>
            <p:spPr>
              <a:xfrm>
                <a:off x="0" y="0"/>
                <a:ext cx="1652741" cy="1377377"/>
              </a:xfrm>
              <a:custGeom>
                <a:rect b="b" l="l" r="r" t="t"/>
                <a:pathLst>
                  <a:path extrusionOk="0" h="1377377" w="1652741">
                    <a:moveTo>
                      <a:pt x="24755" y="0"/>
                    </a:moveTo>
                    <a:lnTo>
                      <a:pt x="1627986" y="0"/>
                    </a:lnTo>
                    <a:cubicBezTo>
                      <a:pt x="1634552" y="0"/>
                      <a:pt x="1640848" y="2608"/>
                      <a:pt x="1645491" y="7251"/>
                    </a:cubicBezTo>
                    <a:cubicBezTo>
                      <a:pt x="1650133" y="11893"/>
                      <a:pt x="1652741" y="18190"/>
                      <a:pt x="1652741" y="24755"/>
                    </a:cubicBezTo>
                    <a:lnTo>
                      <a:pt x="1652741" y="1352622"/>
                    </a:lnTo>
                    <a:cubicBezTo>
                      <a:pt x="1652741" y="1359188"/>
                      <a:pt x="1650133" y="1365484"/>
                      <a:pt x="1645491" y="1370127"/>
                    </a:cubicBezTo>
                    <a:cubicBezTo>
                      <a:pt x="1640848" y="1374769"/>
                      <a:pt x="1634552" y="1377377"/>
                      <a:pt x="1627986" y="1377377"/>
                    </a:cubicBezTo>
                    <a:lnTo>
                      <a:pt x="24755" y="1377377"/>
                    </a:lnTo>
                    <a:cubicBezTo>
                      <a:pt x="11083" y="1377377"/>
                      <a:pt x="0" y="1366294"/>
                      <a:pt x="0" y="1352622"/>
                    </a:cubicBezTo>
                    <a:lnTo>
                      <a:pt x="0" y="24755"/>
                    </a:lnTo>
                    <a:cubicBezTo>
                      <a:pt x="0" y="18190"/>
                      <a:pt x="2608" y="11893"/>
                      <a:pt x="7251" y="7251"/>
                    </a:cubicBezTo>
                    <a:cubicBezTo>
                      <a:pt x="11893" y="2608"/>
                      <a:pt x="18190" y="0"/>
                      <a:pt x="2475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g35c3d042265_1_383"/>
              <p:cNvSpPr txBox="1"/>
              <p:nvPr/>
            </p:nvSpPr>
            <p:spPr>
              <a:xfrm>
                <a:off x="0" y="-19050"/>
                <a:ext cx="1652700" cy="1396500"/>
              </a:xfrm>
              <a:prstGeom prst="rect">
                <a:avLst/>
              </a:prstGeom>
              <a:noFill/>
              <a:ln>
                <a:noFill/>
              </a:ln>
            </p:spPr>
            <p:txBody>
              <a:bodyPr anchorCtr="0" anchor="ctr" bIns="58225" lIns="58225" spcFirstLastPara="1" rIns="58225" wrap="square" tIns="582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456" name="Google Shape;456;g35c3d042265_1_383"/>
            <p:cNvCxnSpPr/>
            <p:nvPr/>
          </p:nvCxnSpPr>
          <p:spPr>
            <a:xfrm>
              <a:off x="1056478" y="1158628"/>
              <a:ext cx="8656200" cy="0"/>
            </a:xfrm>
            <a:prstGeom prst="straightConnector1">
              <a:avLst/>
            </a:prstGeom>
            <a:noFill/>
            <a:ln cap="flat" cmpd="sng" w="12700">
              <a:solidFill>
                <a:srgbClr val="FFFFFF"/>
              </a:solidFill>
              <a:prstDash val="solid"/>
              <a:round/>
              <a:headEnd len="sm" w="sm" type="none"/>
              <a:tailEnd len="sm" w="sm" type="none"/>
            </a:ln>
          </p:spPr>
        </p:cxnSp>
      </p:grpSp>
      <p:sp>
        <p:nvSpPr>
          <p:cNvPr id="457" name="Google Shape;457;g35c3d042265_1_383"/>
          <p:cNvSpPr/>
          <p:nvPr/>
        </p:nvSpPr>
        <p:spPr>
          <a:xfrm>
            <a:off x="1260691" y="4038154"/>
            <a:ext cx="6458132" cy="5373688"/>
          </a:xfrm>
          <a:custGeom>
            <a:rect b="b" l="l" r="r" t="t"/>
            <a:pathLst>
              <a:path extrusionOk="0" h="5373688" w="6458132">
                <a:moveTo>
                  <a:pt x="0" y="0"/>
                </a:moveTo>
                <a:lnTo>
                  <a:pt x="6458132" y="0"/>
                </a:lnTo>
                <a:lnTo>
                  <a:pt x="6458132" y="5373688"/>
                </a:lnTo>
                <a:lnTo>
                  <a:pt x="0" y="5373688"/>
                </a:lnTo>
                <a:lnTo>
                  <a:pt x="0" y="0"/>
                </a:lnTo>
                <a:close/>
              </a:path>
            </a:pathLst>
          </a:custGeom>
          <a:blipFill rotWithShape="1">
            <a:blip r:embed="rId5">
              <a:alphaModFix/>
            </a:blip>
            <a:stretch>
              <a:fillRect b="0" l="0" r="-2232" t="0"/>
            </a:stretch>
          </a:blipFill>
          <a:ln>
            <a:noFill/>
          </a:ln>
        </p:spPr>
      </p:sp>
      <p:grpSp>
        <p:nvGrpSpPr>
          <p:cNvPr id="458" name="Google Shape;458;g35c3d042265_1_383"/>
          <p:cNvGrpSpPr/>
          <p:nvPr/>
        </p:nvGrpSpPr>
        <p:grpSpPr>
          <a:xfrm>
            <a:off x="10048796" y="2045423"/>
            <a:ext cx="5982303" cy="958909"/>
            <a:chOff x="0" y="-19050"/>
            <a:chExt cx="1882826" cy="301800"/>
          </a:xfrm>
        </p:grpSpPr>
        <p:sp>
          <p:nvSpPr>
            <p:cNvPr id="459" name="Google Shape;459;g35c3d042265_1_383"/>
            <p:cNvSpPr/>
            <p:nvPr/>
          </p:nvSpPr>
          <p:spPr>
            <a:xfrm>
              <a:off x="0" y="0"/>
              <a:ext cx="1882826" cy="282712"/>
            </a:xfrm>
            <a:custGeom>
              <a:rect b="b" l="l" r="r" t="t"/>
              <a:pathLst>
                <a:path extrusionOk="0" h="282712" w="1882826">
                  <a:moveTo>
                    <a:pt x="66000" y="0"/>
                  </a:moveTo>
                  <a:lnTo>
                    <a:pt x="1816825" y="0"/>
                  </a:lnTo>
                  <a:cubicBezTo>
                    <a:pt x="1853276" y="0"/>
                    <a:pt x="1882826" y="29549"/>
                    <a:pt x="1882826" y="66000"/>
                  </a:cubicBezTo>
                  <a:lnTo>
                    <a:pt x="1882826" y="216712"/>
                  </a:lnTo>
                  <a:cubicBezTo>
                    <a:pt x="1882826" y="253163"/>
                    <a:pt x="1853276" y="282712"/>
                    <a:pt x="1816825" y="282712"/>
                  </a:cubicBezTo>
                  <a:lnTo>
                    <a:pt x="66000" y="282712"/>
                  </a:lnTo>
                  <a:cubicBezTo>
                    <a:pt x="29549" y="282712"/>
                    <a:pt x="0" y="253163"/>
                    <a:pt x="0" y="216712"/>
                  </a:cubicBezTo>
                  <a:lnTo>
                    <a:pt x="0" y="66000"/>
                  </a:lnTo>
                  <a:cubicBezTo>
                    <a:pt x="0" y="29549"/>
                    <a:pt x="29549" y="0"/>
                    <a:pt x="6600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g35c3d042265_1_383"/>
            <p:cNvSpPr txBox="1"/>
            <p:nvPr/>
          </p:nvSpPr>
          <p:spPr>
            <a:xfrm>
              <a:off x="0" y="-19050"/>
              <a:ext cx="1882800" cy="301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61" name="Google Shape;461;g35c3d042265_1_383"/>
          <p:cNvGrpSpPr/>
          <p:nvPr/>
        </p:nvGrpSpPr>
        <p:grpSpPr>
          <a:xfrm>
            <a:off x="9756749" y="3180949"/>
            <a:ext cx="7125370" cy="872795"/>
            <a:chOff x="0" y="-19050"/>
            <a:chExt cx="1637188" cy="200541"/>
          </a:xfrm>
        </p:grpSpPr>
        <p:sp>
          <p:nvSpPr>
            <p:cNvPr id="462" name="Google Shape;462;g35c3d042265_1_383"/>
            <p:cNvSpPr/>
            <p:nvPr/>
          </p:nvSpPr>
          <p:spPr>
            <a:xfrm>
              <a:off x="0" y="0"/>
              <a:ext cx="1637188" cy="181491"/>
            </a:xfrm>
            <a:custGeom>
              <a:rect b="b" l="l" r="r" t="t"/>
              <a:pathLst>
                <a:path extrusionOk="0" h="181491" w="1637188">
                  <a:moveTo>
                    <a:pt x="24990" y="0"/>
                  </a:moveTo>
                  <a:lnTo>
                    <a:pt x="1612197" y="0"/>
                  </a:lnTo>
                  <a:cubicBezTo>
                    <a:pt x="1618825" y="0"/>
                    <a:pt x="1625182" y="2633"/>
                    <a:pt x="1629868" y="7319"/>
                  </a:cubicBezTo>
                  <a:cubicBezTo>
                    <a:pt x="1634555" y="12006"/>
                    <a:pt x="1637188" y="18362"/>
                    <a:pt x="1637188" y="24990"/>
                  </a:cubicBezTo>
                  <a:lnTo>
                    <a:pt x="1637188" y="156500"/>
                  </a:lnTo>
                  <a:cubicBezTo>
                    <a:pt x="1637188" y="163128"/>
                    <a:pt x="1634555" y="169485"/>
                    <a:pt x="1629868" y="174171"/>
                  </a:cubicBezTo>
                  <a:cubicBezTo>
                    <a:pt x="1625182" y="178858"/>
                    <a:pt x="1618825" y="181491"/>
                    <a:pt x="1612197" y="181491"/>
                  </a:cubicBezTo>
                  <a:lnTo>
                    <a:pt x="24990" y="181491"/>
                  </a:lnTo>
                  <a:cubicBezTo>
                    <a:pt x="18362" y="181491"/>
                    <a:pt x="12006" y="178858"/>
                    <a:pt x="7319" y="174171"/>
                  </a:cubicBezTo>
                  <a:cubicBezTo>
                    <a:pt x="2633" y="169485"/>
                    <a:pt x="0" y="163128"/>
                    <a:pt x="0" y="156500"/>
                  </a:cubicBezTo>
                  <a:lnTo>
                    <a:pt x="0" y="24990"/>
                  </a:lnTo>
                  <a:cubicBezTo>
                    <a:pt x="0" y="18362"/>
                    <a:pt x="2633" y="12006"/>
                    <a:pt x="7319" y="7319"/>
                  </a:cubicBezTo>
                  <a:cubicBezTo>
                    <a:pt x="12006" y="2633"/>
                    <a:pt x="18362" y="0"/>
                    <a:pt x="2499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g35c3d042265_1_383"/>
            <p:cNvSpPr txBox="1"/>
            <p:nvPr/>
          </p:nvSpPr>
          <p:spPr>
            <a:xfrm>
              <a:off x="0" y="-19050"/>
              <a:ext cx="1637100" cy="200400"/>
            </a:xfrm>
            <a:prstGeom prst="rect">
              <a:avLst/>
            </a:prstGeom>
            <a:noFill/>
            <a:ln>
              <a:noFill/>
            </a:ln>
          </p:spPr>
          <p:txBody>
            <a:bodyPr anchorCtr="0" anchor="ctr" bIns="58225" lIns="58225" spcFirstLastPara="1" rIns="58225" wrap="square" tIns="582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64" name="Google Shape;464;g35c3d042265_1_383"/>
          <p:cNvSpPr/>
          <p:nvPr/>
        </p:nvSpPr>
        <p:spPr>
          <a:xfrm>
            <a:off x="9197868" y="3004223"/>
            <a:ext cx="3826401" cy="3391148"/>
          </a:xfrm>
          <a:custGeom>
            <a:rect b="b" l="l" r="r" t="t"/>
            <a:pathLst>
              <a:path extrusionOk="0" h="3391148" w="3826401">
                <a:moveTo>
                  <a:pt x="0" y="0"/>
                </a:moveTo>
                <a:lnTo>
                  <a:pt x="3826402" y="0"/>
                </a:lnTo>
                <a:lnTo>
                  <a:pt x="3826402" y="3391148"/>
                </a:lnTo>
                <a:lnTo>
                  <a:pt x="0" y="3391148"/>
                </a:lnTo>
                <a:lnTo>
                  <a:pt x="0" y="0"/>
                </a:lnTo>
                <a:close/>
              </a:path>
            </a:pathLst>
          </a:custGeom>
          <a:blipFill rotWithShape="1">
            <a:blip r:embed="rId4">
              <a:alphaModFix amt="94000"/>
            </a:blip>
            <a:stretch>
              <a:fillRect b="0" l="0" r="0" t="0"/>
            </a:stretch>
          </a:blipFill>
          <a:ln>
            <a:noFill/>
          </a:ln>
        </p:spPr>
      </p:sp>
      <p:grpSp>
        <p:nvGrpSpPr>
          <p:cNvPr id="465" name="Google Shape;465;g35c3d042265_1_383"/>
          <p:cNvGrpSpPr/>
          <p:nvPr/>
        </p:nvGrpSpPr>
        <p:grpSpPr>
          <a:xfrm>
            <a:off x="9689057" y="3608644"/>
            <a:ext cx="7193059" cy="3431514"/>
            <a:chOff x="0" y="-19050"/>
            <a:chExt cx="1652741" cy="788455"/>
          </a:xfrm>
        </p:grpSpPr>
        <p:sp>
          <p:nvSpPr>
            <p:cNvPr id="466" name="Google Shape;466;g35c3d042265_1_383"/>
            <p:cNvSpPr/>
            <p:nvPr/>
          </p:nvSpPr>
          <p:spPr>
            <a:xfrm>
              <a:off x="0" y="0"/>
              <a:ext cx="1652741" cy="769405"/>
            </a:xfrm>
            <a:custGeom>
              <a:rect b="b" l="l" r="r" t="t"/>
              <a:pathLst>
                <a:path extrusionOk="0" h="769405" w="1652741">
                  <a:moveTo>
                    <a:pt x="24755" y="0"/>
                  </a:moveTo>
                  <a:lnTo>
                    <a:pt x="1627986" y="0"/>
                  </a:lnTo>
                  <a:cubicBezTo>
                    <a:pt x="1634552" y="0"/>
                    <a:pt x="1640848" y="2608"/>
                    <a:pt x="1645491" y="7251"/>
                  </a:cubicBezTo>
                  <a:cubicBezTo>
                    <a:pt x="1650133" y="11893"/>
                    <a:pt x="1652741" y="18190"/>
                    <a:pt x="1652741" y="24755"/>
                  </a:cubicBezTo>
                  <a:lnTo>
                    <a:pt x="1652741" y="744650"/>
                  </a:lnTo>
                  <a:cubicBezTo>
                    <a:pt x="1652741" y="758321"/>
                    <a:pt x="1641658" y="769405"/>
                    <a:pt x="1627986" y="769405"/>
                  </a:cubicBezTo>
                  <a:lnTo>
                    <a:pt x="24755" y="769405"/>
                  </a:lnTo>
                  <a:cubicBezTo>
                    <a:pt x="18190" y="769405"/>
                    <a:pt x="11893" y="766797"/>
                    <a:pt x="7251" y="762154"/>
                  </a:cubicBezTo>
                  <a:cubicBezTo>
                    <a:pt x="2608" y="757512"/>
                    <a:pt x="0" y="751215"/>
                    <a:pt x="0" y="744650"/>
                  </a:cubicBezTo>
                  <a:lnTo>
                    <a:pt x="0" y="24755"/>
                  </a:lnTo>
                  <a:cubicBezTo>
                    <a:pt x="0" y="18190"/>
                    <a:pt x="2608" y="11893"/>
                    <a:pt x="7251" y="7251"/>
                  </a:cubicBezTo>
                  <a:cubicBezTo>
                    <a:pt x="11893" y="2608"/>
                    <a:pt x="18190" y="0"/>
                    <a:pt x="2475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g35c3d042265_1_383"/>
            <p:cNvSpPr txBox="1"/>
            <p:nvPr/>
          </p:nvSpPr>
          <p:spPr>
            <a:xfrm>
              <a:off x="0" y="-19050"/>
              <a:ext cx="1652700" cy="788400"/>
            </a:xfrm>
            <a:prstGeom prst="rect">
              <a:avLst/>
            </a:prstGeom>
            <a:noFill/>
            <a:ln>
              <a:noFill/>
            </a:ln>
          </p:spPr>
          <p:txBody>
            <a:bodyPr anchorCtr="0" anchor="ctr" bIns="58225" lIns="58225" spcFirstLastPara="1" rIns="58225" wrap="square" tIns="582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468" name="Google Shape;468;g35c3d042265_1_383"/>
          <p:cNvCxnSpPr/>
          <p:nvPr/>
        </p:nvCxnSpPr>
        <p:spPr>
          <a:xfrm>
            <a:off x="9990227" y="3873194"/>
            <a:ext cx="6492300" cy="0"/>
          </a:xfrm>
          <a:prstGeom prst="straightConnector1">
            <a:avLst/>
          </a:prstGeom>
          <a:noFill/>
          <a:ln cap="flat" cmpd="sng" w="9525">
            <a:solidFill>
              <a:srgbClr val="FFFFFF"/>
            </a:solidFill>
            <a:prstDash val="solid"/>
            <a:round/>
            <a:headEnd len="sm" w="sm" type="none"/>
            <a:tailEnd len="sm" w="sm" type="none"/>
          </a:ln>
        </p:spPr>
      </p:cxnSp>
      <p:sp>
        <p:nvSpPr>
          <p:cNvPr id="469" name="Google Shape;469;g35c3d042265_1_383"/>
          <p:cNvSpPr/>
          <p:nvPr/>
        </p:nvSpPr>
        <p:spPr>
          <a:xfrm>
            <a:off x="10018170" y="4177565"/>
            <a:ext cx="6602509" cy="2323325"/>
          </a:xfrm>
          <a:custGeom>
            <a:rect b="b" l="l" r="r" t="t"/>
            <a:pathLst>
              <a:path extrusionOk="0" h="2323325" w="6602509">
                <a:moveTo>
                  <a:pt x="0" y="0"/>
                </a:moveTo>
                <a:lnTo>
                  <a:pt x="6602509" y="0"/>
                </a:lnTo>
                <a:lnTo>
                  <a:pt x="6602509" y="2323324"/>
                </a:lnTo>
                <a:lnTo>
                  <a:pt x="0" y="2323324"/>
                </a:lnTo>
                <a:lnTo>
                  <a:pt x="0" y="0"/>
                </a:lnTo>
                <a:close/>
              </a:path>
            </a:pathLst>
          </a:custGeom>
          <a:blipFill rotWithShape="1">
            <a:blip r:embed="rId6">
              <a:alphaModFix/>
            </a:blip>
            <a:stretch>
              <a:fillRect b="0" l="0" r="0" t="0"/>
            </a:stretch>
          </a:blipFill>
          <a:ln>
            <a:noFill/>
          </a:ln>
        </p:spPr>
      </p:sp>
      <p:sp>
        <p:nvSpPr>
          <p:cNvPr id="470" name="Google Shape;470;g35c3d042265_1_383"/>
          <p:cNvSpPr/>
          <p:nvPr/>
        </p:nvSpPr>
        <p:spPr>
          <a:xfrm>
            <a:off x="13285579" y="7485711"/>
            <a:ext cx="3420833" cy="2388364"/>
          </a:xfrm>
          <a:custGeom>
            <a:rect b="b" l="l" r="r" t="t"/>
            <a:pathLst>
              <a:path extrusionOk="0" h="2388364" w="3420833">
                <a:moveTo>
                  <a:pt x="0" y="0"/>
                </a:moveTo>
                <a:lnTo>
                  <a:pt x="3420833" y="0"/>
                </a:lnTo>
                <a:lnTo>
                  <a:pt x="3420833" y="2388364"/>
                </a:lnTo>
                <a:lnTo>
                  <a:pt x="0" y="2388364"/>
                </a:lnTo>
                <a:lnTo>
                  <a:pt x="0" y="0"/>
                </a:lnTo>
                <a:close/>
              </a:path>
            </a:pathLst>
          </a:custGeom>
          <a:blipFill rotWithShape="1">
            <a:blip r:embed="rId7">
              <a:alphaModFix/>
            </a:blip>
            <a:stretch>
              <a:fillRect b="0" l="0" r="0" t="0"/>
            </a:stretch>
          </a:blipFill>
          <a:ln>
            <a:noFill/>
          </a:ln>
        </p:spPr>
      </p:sp>
      <p:sp>
        <p:nvSpPr>
          <p:cNvPr id="471" name="Google Shape;471;g35c3d042265_1_383"/>
          <p:cNvSpPr txBox="1"/>
          <p:nvPr/>
        </p:nvSpPr>
        <p:spPr>
          <a:xfrm>
            <a:off x="1598207" y="2346786"/>
            <a:ext cx="6120600" cy="317100"/>
          </a:xfrm>
          <a:prstGeom prst="rect">
            <a:avLst/>
          </a:prstGeom>
          <a:noFill/>
          <a:ln>
            <a:noFill/>
          </a:ln>
        </p:spPr>
        <p:txBody>
          <a:bodyPr anchorCtr="0" anchor="t" bIns="0" lIns="0" spcFirstLastPara="1" rIns="0" wrap="square" tIns="0">
            <a:spAutoFit/>
          </a:bodyPr>
          <a:lstStyle/>
          <a:p>
            <a:pPr indent="0" lvl="0" marL="0" marR="0" rtl="0" algn="l">
              <a:lnSpc>
                <a:spcPct val="130034"/>
              </a:lnSpc>
              <a:spcBef>
                <a:spcPts val="0"/>
              </a:spcBef>
              <a:spcAft>
                <a:spcPts val="0"/>
              </a:spcAft>
              <a:buClr>
                <a:srgbClr val="000000"/>
              </a:buClr>
              <a:buSzPts val="2061"/>
              <a:buFont typeface="Arial"/>
              <a:buNone/>
            </a:pPr>
            <a:r>
              <a:rPr b="0" i="0" lang="en-US" sz="2061" u="none" cap="none" strike="noStrike">
                <a:solidFill>
                  <a:srgbClr val="FFFFFF"/>
                </a:solidFill>
                <a:latin typeface="Montserrat"/>
                <a:ea typeface="Montserrat"/>
                <a:cs typeface="Montserrat"/>
                <a:sym typeface="Montserrat"/>
              </a:rPr>
              <a:t>Usando de base un archivo </a:t>
            </a:r>
            <a:r>
              <a:rPr b="0" i="1" lang="en-US" sz="2061" u="sng" cap="none" strike="noStrike">
                <a:solidFill>
                  <a:srgbClr val="67D3CD"/>
                </a:solidFill>
                <a:latin typeface="Montserrat"/>
                <a:ea typeface="Montserrat"/>
                <a:cs typeface="Montserrat"/>
                <a:sym typeface="Montserrat"/>
              </a:rPr>
              <a:t>hello.c</a:t>
            </a:r>
            <a:endParaRPr b="0" i="0" sz="1400" u="none" cap="none" strike="noStrike">
              <a:solidFill>
                <a:srgbClr val="000000"/>
              </a:solidFill>
              <a:latin typeface="Arial"/>
              <a:ea typeface="Arial"/>
              <a:cs typeface="Arial"/>
              <a:sym typeface="Arial"/>
            </a:endParaRPr>
          </a:p>
        </p:txBody>
      </p:sp>
      <p:sp>
        <p:nvSpPr>
          <p:cNvPr id="472" name="Google Shape;472;g35c3d042265_1_383"/>
          <p:cNvSpPr txBox="1"/>
          <p:nvPr/>
        </p:nvSpPr>
        <p:spPr>
          <a:xfrm>
            <a:off x="3111590" y="1019175"/>
            <a:ext cx="13701900" cy="7542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ESCRIBIR UN </a:t>
            </a:r>
            <a:r>
              <a:rPr b="0" i="0" lang="en-US" sz="4900" u="none" cap="none" strike="noStrike">
                <a:solidFill>
                  <a:srgbClr val="02FF76"/>
                </a:solidFill>
                <a:latin typeface="Arial"/>
                <a:ea typeface="Arial"/>
                <a:cs typeface="Arial"/>
                <a:sym typeface="Arial"/>
              </a:rPr>
              <a:t>MODULO </a:t>
            </a:r>
            <a:r>
              <a:rPr b="0" i="0" lang="en-US" sz="4900" u="none" cap="none" strike="noStrike">
                <a:solidFill>
                  <a:srgbClr val="FFFFFF"/>
                </a:solidFill>
                <a:latin typeface="Arial"/>
                <a:ea typeface="Arial"/>
                <a:cs typeface="Arial"/>
                <a:sym typeface="Arial"/>
              </a:rPr>
              <a:t>DE KERNEL</a:t>
            </a:r>
            <a:endParaRPr b="0" i="0" sz="1400" u="none" cap="none" strike="noStrike">
              <a:solidFill>
                <a:srgbClr val="000000"/>
              </a:solidFill>
              <a:latin typeface="Arial"/>
              <a:ea typeface="Arial"/>
              <a:cs typeface="Arial"/>
              <a:sym typeface="Arial"/>
            </a:endParaRPr>
          </a:p>
        </p:txBody>
      </p:sp>
      <p:sp>
        <p:nvSpPr>
          <p:cNvPr id="473" name="Google Shape;473;g35c3d042265_1_383"/>
          <p:cNvSpPr txBox="1"/>
          <p:nvPr/>
        </p:nvSpPr>
        <p:spPr>
          <a:xfrm>
            <a:off x="10349221" y="2346786"/>
            <a:ext cx="6120600" cy="317100"/>
          </a:xfrm>
          <a:prstGeom prst="rect">
            <a:avLst/>
          </a:prstGeom>
          <a:noFill/>
          <a:ln>
            <a:noFill/>
          </a:ln>
        </p:spPr>
        <p:txBody>
          <a:bodyPr anchorCtr="0" anchor="t" bIns="0" lIns="0" spcFirstLastPara="1" rIns="0" wrap="square" tIns="0">
            <a:spAutoFit/>
          </a:bodyPr>
          <a:lstStyle/>
          <a:p>
            <a:pPr indent="0" lvl="0" marL="0" marR="0" rtl="0" algn="l">
              <a:lnSpc>
                <a:spcPct val="130034"/>
              </a:lnSpc>
              <a:spcBef>
                <a:spcPts val="0"/>
              </a:spcBef>
              <a:spcAft>
                <a:spcPts val="0"/>
              </a:spcAft>
              <a:buClr>
                <a:srgbClr val="000000"/>
              </a:buClr>
              <a:buSzPts val="2061"/>
              <a:buFont typeface="Arial"/>
              <a:buNone/>
            </a:pPr>
            <a:r>
              <a:rPr b="0" i="0" lang="en-US" sz="2061" u="none" cap="none" strike="noStrike">
                <a:solidFill>
                  <a:srgbClr val="FFFFFF"/>
                </a:solidFill>
                <a:latin typeface="Montserrat"/>
                <a:ea typeface="Montserrat"/>
                <a:cs typeface="Montserrat"/>
                <a:sym typeface="Montserrat"/>
              </a:rPr>
              <a:t>Se necesita cear un archivo </a:t>
            </a:r>
            <a:r>
              <a:rPr b="0" i="1" lang="en-US" sz="2061" u="sng" cap="none" strike="noStrike">
                <a:solidFill>
                  <a:srgbClr val="67D3CD"/>
                </a:solidFill>
                <a:latin typeface="Montserrat"/>
                <a:ea typeface="Montserrat"/>
                <a:cs typeface="Montserrat"/>
                <a:sym typeface="Montserrat"/>
              </a:rPr>
              <a:t>Makefile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77" name="Shape 477"/>
        <p:cNvGrpSpPr/>
        <p:nvPr/>
      </p:nvGrpSpPr>
      <p:grpSpPr>
        <a:xfrm>
          <a:off x="0" y="0"/>
          <a:ext cx="0" cy="0"/>
          <a:chOff x="0" y="0"/>
          <a:chExt cx="0" cy="0"/>
        </a:xfrm>
      </p:grpSpPr>
      <p:sp>
        <p:nvSpPr>
          <p:cNvPr id="478" name="Google Shape;478;g35c3d042265_1_416"/>
          <p:cNvSpPr/>
          <p:nvPr/>
        </p:nvSpPr>
        <p:spPr>
          <a:xfrm>
            <a:off x="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grpSp>
        <p:nvGrpSpPr>
          <p:cNvPr id="479" name="Google Shape;479;g35c3d042265_1_416"/>
          <p:cNvGrpSpPr/>
          <p:nvPr/>
        </p:nvGrpSpPr>
        <p:grpSpPr>
          <a:xfrm>
            <a:off x="3111590" y="2840020"/>
            <a:ext cx="5336053" cy="4546716"/>
            <a:chOff x="0" y="-19050"/>
            <a:chExt cx="1679430" cy="1431000"/>
          </a:xfrm>
        </p:grpSpPr>
        <p:sp>
          <p:nvSpPr>
            <p:cNvPr id="480" name="Google Shape;480;g35c3d042265_1_416"/>
            <p:cNvSpPr/>
            <p:nvPr/>
          </p:nvSpPr>
          <p:spPr>
            <a:xfrm>
              <a:off x="0" y="0"/>
              <a:ext cx="1679430" cy="1411843"/>
            </a:xfrm>
            <a:custGeom>
              <a:rect b="b" l="l" r="r" t="t"/>
              <a:pathLst>
                <a:path extrusionOk="0" h="1411843" w="1679430">
                  <a:moveTo>
                    <a:pt x="73993" y="0"/>
                  </a:moveTo>
                  <a:lnTo>
                    <a:pt x="1605437" y="0"/>
                  </a:lnTo>
                  <a:cubicBezTo>
                    <a:pt x="1646302" y="0"/>
                    <a:pt x="1679430" y="33128"/>
                    <a:pt x="1679430" y="73993"/>
                  </a:cubicBezTo>
                  <a:lnTo>
                    <a:pt x="1679430" y="1337850"/>
                  </a:lnTo>
                  <a:cubicBezTo>
                    <a:pt x="1679430" y="1378715"/>
                    <a:pt x="1646302" y="1411843"/>
                    <a:pt x="1605437" y="1411843"/>
                  </a:cubicBezTo>
                  <a:lnTo>
                    <a:pt x="73993" y="1411843"/>
                  </a:lnTo>
                  <a:cubicBezTo>
                    <a:pt x="33128" y="1411843"/>
                    <a:pt x="0" y="1378715"/>
                    <a:pt x="0" y="1337850"/>
                  </a:cubicBezTo>
                  <a:lnTo>
                    <a:pt x="0" y="73993"/>
                  </a:lnTo>
                  <a:cubicBezTo>
                    <a:pt x="0" y="33128"/>
                    <a:pt x="33128" y="0"/>
                    <a:pt x="7399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g35c3d042265_1_416"/>
            <p:cNvSpPr txBox="1"/>
            <p:nvPr/>
          </p:nvSpPr>
          <p:spPr>
            <a:xfrm>
              <a:off x="0" y="-19050"/>
              <a:ext cx="1679400" cy="1431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82" name="Google Shape;482;g35c3d042265_1_416"/>
          <p:cNvGrpSpPr/>
          <p:nvPr/>
        </p:nvGrpSpPr>
        <p:grpSpPr>
          <a:xfrm>
            <a:off x="9236335" y="2600102"/>
            <a:ext cx="5988394" cy="998133"/>
            <a:chOff x="0" y="-19050"/>
            <a:chExt cx="1203141" cy="200541"/>
          </a:xfrm>
        </p:grpSpPr>
        <p:sp>
          <p:nvSpPr>
            <p:cNvPr id="483" name="Google Shape;483;g35c3d042265_1_416"/>
            <p:cNvSpPr/>
            <p:nvPr/>
          </p:nvSpPr>
          <p:spPr>
            <a:xfrm>
              <a:off x="0" y="0"/>
              <a:ext cx="1203141" cy="181491"/>
            </a:xfrm>
            <a:custGeom>
              <a:rect b="b" l="l" r="r" t="t"/>
              <a:pathLst>
                <a:path extrusionOk="0" h="181491" w="1203141">
                  <a:moveTo>
                    <a:pt x="29735" y="0"/>
                  </a:moveTo>
                  <a:lnTo>
                    <a:pt x="1173406" y="0"/>
                  </a:lnTo>
                  <a:cubicBezTo>
                    <a:pt x="1181292" y="0"/>
                    <a:pt x="1188856" y="3133"/>
                    <a:pt x="1194432" y="8709"/>
                  </a:cubicBezTo>
                  <a:cubicBezTo>
                    <a:pt x="1200009" y="14286"/>
                    <a:pt x="1203141" y="21849"/>
                    <a:pt x="1203141" y="29735"/>
                  </a:cubicBezTo>
                  <a:lnTo>
                    <a:pt x="1203141" y="151756"/>
                  </a:lnTo>
                  <a:cubicBezTo>
                    <a:pt x="1203141" y="159642"/>
                    <a:pt x="1200009" y="167205"/>
                    <a:pt x="1194432" y="172781"/>
                  </a:cubicBezTo>
                  <a:cubicBezTo>
                    <a:pt x="1188856" y="178358"/>
                    <a:pt x="1181292" y="181491"/>
                    <a:pt x="1173406" y="181491"/>
                  </a:cubicBezTo>
                  <a:lnTo>
                    <a:pt x="29735" y="181491"/>
                  </a:lnTo>
                  <a:cubicBezTo>
                    <a:pt x="21849" y="181491"/>
                    <a:pt x="14286" y="178358"/>
                    <a:pt x="8709" y="172781"/>
                  </a:cubicBezTo>
                  <a:cubicBezTo>
                    <a:pt x="3133" y="167205"/>
                    <a:pt x="0" y="159642"/>
                    <a:pt x="0" y="151756"/>
                  </a:cubicBezTo>
                  <a:lnTo>
                    <a:pt x="0" y="29735"/>
                  </a:lnTo>
                  <a:cubicBezTo>
                    <a:pt x="0" y="21849"/>
                    <a:pt x="3133" y="14286"/>
                    <a:pt x="8709" y="8709"/>
                  </a:cubicBezTo>
                  <a:cubicBezTo>
                    <a:pt x="14286" y="3133"/>
                    <a:pt x="21849" y="0"/>
                    <a:pt x="2973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g35c3d042265_1_416"/>
            <p:cNvSpPr txBox="1"/>
            <p:nvPr/>
          </p:nvSpPr>
          <p:spPr>
            <a:xfrm>
              <a:off x="0" y="-19050"/>
              <a:ext cx="1203000" cy="200400"/>
            </a:xfrm>
            <a:prstGeom prst="rect">
              <a:avLst/>
            </a:prstGeom>
            <a:noFill/>
            <a:ln>
              <a:noFill/>
            </a:ln>
          </p:spPr>
          <p:txBody>
            <a:bodyPr anchorCtr="0" anchor="ctr" bIns="58225" lIns="58225" spcFirstLastPara="1" rIns="58225" wrap="square" tIns="582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85" name="Google Shape;485;g35c3d042265_1_416"/>
          <p:cNvSpPr/>
          <p:nvPr/>
        </p:nvSpPr>
        <p:spPr>
          <a:xfrm>
            <a:off x="8617712" y="2397994"/>
            <a:ext cx="4375947" cy="3878183"/>
          </a:xfrm>
          <a:custGeom>
            <a:rect b="b" l="l" r="r" t="t"/>
            <a:pathLst>
              <a:path extrusionOk="0" h="3878183" w="4375947">
                <a:moveTo>
                  <a:pt x="0" y="0"/>
                </a:moveTo>
                <a:lnTo>
                  <a:pt x="4375947" y="0"/>
                </a:lnTo>
                <a:lnTo>
                  <a:pt x="4375947" y="3878184"/>
                </a:lnTo>
                <a:lnTo>
                  <a:pt x="0" y="3878184"/>
                </a:lnTo>
                <a:lnTo>
                  <a:pt x="0" y="0"/>
                </a:lnTo>
                <a:close/>
              </a:path>
            </a:pathLst>
          </a:custGeom>
          <a:blipFill rotWithShape="1">
            <a:blip r:embed="rId4">
              <a:alphaModFix amt="94000"/>
            </a:blip>
            <a:stretch>
              <a:fillRect b="0" l="0" r="0" t="0"/>
            </a:stretch>
          </a:blipFill>
          <a:ln>
            <a:noFill/>
          </a:ln>
        </p:spPr>
      </p:sp>
      <p:grpSp>
        <p:nvGrpSpPr>
          <p:cNvPr id="486" name="Google Shape;486;g35c3d042265_1_416"/>
          <p:cNvGrpSpPr/>
          <p:nvPr/>
        </p:nvGrpSpPr>
        <p:grpSpPr>
          <a:xfrm>
            <a:off x="9179445" y="3089223"/>
            <a:ext cx="6045926" cy="5370897"/>
            <a:chOff x="0" y="-19050"/>
            <a:chExt cx="1214700" cy="1079100"/>
          </a:xfrm>
        </p:grpSpPr>
        <p:sp>
          <p:nvSpPr>
            <p:cNvPr id="487" name="Google Shape;487;g35c3d042265_1_416"/>
            <p:cNvSpPr/>
            <p:nvPr/>
          </p:nvSpPr>
          <p:spPr>
            <a:xfrm>
              <a:off x="0" y="0"/>
              <a:ext cx="1214571" cy="1060045"/>
            </a:xfrm>
            <a:custGeom>
              <a:rect b="b" l="l" r="r" t="t"/>
              <a:pathLst>
                <a:path extrusionOk="0" h="1060045" w="1214571">
                  <a:moveTo>
                    <a:pt x="29455" y="0"/>
                  </a:moveTo>
                  <a:lnTo>
                    <a:pt x="1185116" y="0"/>
                  </a:lnTo>
                  <a:cubicBezTo>
                    <a:pt x="1201384" y="0"/>
                    <a:pt x="1214571" y="13188"/>
                    <a:pt x="1214571" y="29455"/>
                  </a:cubicBezTo>
                  <a:lnTo>
                    <a:pt x="1214571" y="1030589"/>
                  </a:lnTo>
                  <a:cubicBezTo>
                    <a:pt x="1214571" y="1038401"/>
                    <a:pt x="1211468" y="1045893"/>
                    <a:pt x="1205944" y="1051417"/>
                  </a:cubicBezTo>
                  <a:cubicBezTo>
                    <a:pt x="1200420" y="1056941"/>
                    <a:pt x="1192928" y="1060045"/>
                    <a:pt x="1185116" y="1060045"/>
                  </a:cubicBezTo>
                  <a:lnTo>
                    <a:pt x="29455" y="1060045"/>
                  </a:lnTo>
                  <a:cubicBezTo>
                    <a:pt x="21643" y="1060045"/>
                    <a:pt x="14151" y="1056941"/>
                    <a:pt x="8627" y="1051417"/>
                  </a:cubicBezTo>
                  <a:cubicBezTo>
                    <a:pt x="3103" y="1045893"/>
                    <a:pt x="0" y="1038401"/>
                    <a:pt x="0" y="1030589"/>
                  </a:cubicBezTo>
                  <a:lnTo>
                    <a:pt x="0" y="29455"/>
                  </a:lnTo>
                  <a:cubicBezTo>
                    <a:pt x="0" y="21643"/>
                    <a:pt x="3103" y="14151"/>
                    <a:pt x="8627" y="8627"/>
                  </a:cubicBezTo>
                  <a:cubicBezTo>
                    <a:pt x="14151" y="3103"/>
                    <a:pt x="21643" y="0"/>
                    <a:pt x="2945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g35c3d042265_1_416"/>
            <p:cNvSpPr txBox="1"/>
            <p:nvPr/>
          </p:nvSpPr>
          <p:spPr>
            <a:xfrm>
              <a:off x="0" y="-19050"/>
              <a:ext cx="1214700" cy="1079100"/>
            </a:xfrm>
            <a:prstGeom prst="rect">
              <a:avLst/>
            </a:prstGeom>
            <a:noFill/>
            <a:ln>
              <a:noFill/>
            </a:ln>
          </p:spPr>
          <p:txBody>
            <a:bodyPr anchorCtr="0" anchor="ctr" bIns="58225" lIns="58225" spcFirstLastPara="1" rIns="58225" wrap="square" tIns="582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489" name="Google Shape;489;g35c3d042265_1_416"/>
          <p:cNvCxnSpPr/>
          <p:nvPr/>
        </p:nvCxnSpPr>
        <p:spPr>
          <a:xfrm>
            <a:off x="9432556" y="3391766"/>
            <a:ext cx="5456400" cy="0"/>
          </a:xfrm>
          <a:prstGeom prst="straightConnector1">
            <a:avLst/>
          </a:prstGeom>
          <a:noFill/>
          <a:ln cap="flat" cmpd="sng" w="9525">
            <a:solidFill>
              <a:srgbClr val="FFFFFF"/>
            </a:solidFill>
            <a:prstDash val="solid"/>
            <a:round/>
            <a:headEnd len="sm" w="sm" type="none"/>
            <a:tailEnd len="sm" w="sm" type="none"/>
          </a:ln>
        </p:spPr>
      </p:cxnSp>
      <p:sp>
        <p:nvSpPr>
          <p:cNvPr id="490" name="Google Shape;490;g35c3d042265_1_416"/>
          <p:cNvSpPr/>
          <p:nvPr/>
        </p:nvSpPr>
        <p:spPr>
          <a:xfrm>
            <a:off x="4441447" y="7597403"/>
            <a:ext cx="2676406" cy="2151162"/>
          </a:xfrm>
          <a:custGeom>
            <a:rect b="b" l="l" r="r" t="t"/>
            <a:pathLst>
              <a:path extrusionOk="0" h="2151162" w="2676406">
                <a:moveTo>
                  <a:pt x="0" y="0"/>
                </a:moveTo>
                <a:lnTo>
                  <a:pt x="2676406" y="0"/>
                </a:lnTo>
                <a:lnTo>
                  <a:pt x="2676406" y="2151161"/>
                </a:lnTo>
                <a:lnTo>
                  <a:pt x="0" y="2151161"/>
                </a:lnTo>
                <a:lnTo>
                  <a:pt x="0" y="0"/>
                </a:lnTo>
                <a:close/>
              </a:path>
            </a:pathLst>
          </a:custGeom>
          <a:blipFill rotWithShape="1">
            <a:blip r:embed="rId5">
              <a:alphaModFix/>
            </a:blip>
            <a:stretch>
              <a:fillRect b="0" l="0" r="0" t="0"/>
            </a:stretch>
          </a:blipFill>
          <a:ln>
            <a:noFill/>
          </a:ln>
        </p:spPr>
      </p:sp>
      <p:sp>
        <p:nvSpPr>
          <p:cNvPr id="491" name="Google Shape;491;g35c3d042265_1_416"/>
          <p:cNvSpPr txBox="1"/>
          <p:nvPr/>
        </p:nvSpPr>
        <p:spPr>
          <a:xfrm>
            <a:off x="3542006" y="3330343"/>
            <a:ext cx="4475400" cy="3829200"/>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Clr>
                <a:srgbClr val="000000"/>
              </a:buClr>
              <a:buSzPts val="2463"/>
              <a:buFont typeface="Arial"/>
              <a:buNone/>
            </a:pPr>
            <a:r>
              <a:rPr b="0" i="0" lang="en-US" sz="2463" u="none" cap="none" strike="noStrike">
                <a:solidFill>
                  <a:srgbClr val="FFFFFF"/>
                </a:solidFill>
                <a:latin typeface="Montserrat"/>
                <a:ea typeface="Montserrat"/>
                <a:cs typeface="Montserrat"/>
                <a:sym typeface="Montserrat"/>
              </a:rPr>
              <a:t>Para compilar el nuevo modulo se necesita abrir una terminal y navegar al directorio donde se alojan los archivos </a:t>
            </a:r>
            <a:r>
              <a:rPr b="1" i="0" lang="en-US" sz="2463" u="none" cap="none" strike="noStrike">
                <a:solidFill>
                  <a:srgbClr val="FFFFFF"/>
                </a:solidFill>
                <a:latin typeface="Montserrat"/>
                <a:ea typeface="Montserrat"/>
                <a:cs typeface="Montserrat"/>
                <a:sym typeface="Montserrat"/>
              </a:rPr>
              <a:t>hello.c y Makefile</a:t>
            </a:r>
            <a:r>
              <a:rPr b="0" i="0" lang="en-US" sz="2463" u="none" cap="none" strike="noStrike">
                <a:solidFill>
                  <a:srgbClr val="FFFFFF"/>
                </a:solidFill>
                <a:latin typeface="Montserrat"/>
                <a:ea typeface="Montserrat"/>
                <a:cs typeface="Montserrat"/>
                <a:sym typeface="Montserrat"/>
              </a:rPr>
              <a:t>. Luego, ejecutar los siguientes comando para compilar el módulo</a:t>
            </a:r>
            <a:endParaRPr b="0" i="0" sz="1400" u="none" cap="none" strike="noStrike">
              <a:solidFill>
                <a:srgbClr val="000000"/>
              </a:solidFill>
              <a:latin typeface="Arial"/>
              <a:ea typeface="Arial"/>
              <a:cs typeface="Arial"/>
              <a:sym typeface="Arial"/>
            </a:endParaRPr>
          </a:p>
        </p:txBody>
      </p:sp>
      <p:sp>
        <p:nvSpPr>
          <p:cNvPr id="492" name="Google Shape;492;g35c3d042265_1_416"/>
          <p:cNvSpPr txBox="1"/>
          <p:nvPr/>
        </p:nvSpPr>
        <p:spPr>
          <a:xfrm>
            <a:off x="3111590" y="1019175"/>
            <a:ext cx="13701900" cy="7542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COMPILAR UN </a:t>
            </a:r>
            <a:r>
              <a:rPr b="0" i="0" lang="en-US" sz="4900" u="none" cap="none" strike="noStrike">
                <a:solidFill>
                  <a:srgbClr val="02FF76"/>
                </a:solidFill>
                <a:latin typeface="Arial"/>
                <a:ea typeface="Arial"/>
                <a:cs typeface="Arial"/>
                <a:sym typeface="Arial"/>
              </a:rPr>
              <a:t>MODULO </a:t>
            </a:r>
            <a:r>
              <a:rPr b="0" i="0" lang="en-US" sz="4900" u="none" cap="none" strike="noStrike">
                <a:solidFill>
                  <a:srgbClr val="FFFFFF"/>
                </a:solidFill>
                <a:latin typeface="Arial"/>
                <a:ea typeface="Arial"/>
                <a:cs typeface="Arial"/>
                <a:sym typeface="Arial"/>
              </a:rPr>
              <a:t>DE KERNEL</a:t>
            </a:r>
            <a:endParaRPr b="0" i="0" sz="1400" u="none" cap="none" strike="noStrike">
              <a:solidFill>
                <a:srgbClr val="000000"/>
              </a:solidFill>
              <a:latin typeface="Arial"/>
              <a:ea typeface="Arial"/>
              <a:cs typeface="Arial"/>
              <a:sym typeface="Arial"/>
            </a:endParaRPr>
          </a:p>
        </p:txBody>
      </p:sp>
      <p:sp>
        <p:nvSpPr>
          <p:cNvPr id="493" name="Google Shape;493;g35c3d042265_1_416"/>
          <p:cNvSpPr txBox="1"/>
          <p:nvPr/>
        </p:nvSpPr>
        <p:spPr>
          <a:xfrm>
            <a:off x="9391117" y="3502665"/>
            <a:ext cx="5609700" cy="6162900"/>
          </a:xfrm>
          <a:prstGeom prst="rect">
            <a:avLst/>
          </a:prstGeom>
          <a:noFill/>
          <a:ln>
            <a:noFill/>
          </a:ln>
        </p:spPr>
        <p:txBody>
          <a:bodyPr anchorCtr="0" anchor="t" bIns="0" lIns="0" spcFirstLastPara="1" rIns="0" wrap="square" tIns="0">
            <a:spAutoFit/>
          </a:bodyPr>
          <a:lstStyle/>
          <a:p>
            <a:pPr indent="0" lvl="0" marL="0" marR="0" rtl="0" algn="l">
              <a:lnSpc>
                <a:spcPct val="139969"/>
              </a:lnSpc>
              <a:spcBef>
                <a:spcPts val="0"/>
              </a:spcBef>
              <a:spcAft>
                <a:spcPts val="0"/>
              </a:spcAft>
              <a:buClr>
                <a:srgbClr val="000000"/>
              </a:buClr>
              <a:buSzPts val="1944"/>
              <a:buFont typeface="Arial"/>
              <a:buNone/>
            </a:pPr>
            <a:r>
              <a:rPr b="0" i="0" lang="en-US" sz="1944" u="none" cap="none" strike="noStrike">
                <a:solidFill>
                  <a:srgbClr val="FFFFFF"/>
                </a:solidFill>
                <a:latin typeface="Consolas"/>
                <a:ea typeface="Consolas"/>
                <a:cs typeface="Consolas"/>
                <a:sym typeface="Consolas"/>
              </a:rPr>
              <a:t>&gt; Compilar el modulo</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 </a:t>
            </a:r>
            <a:r>
              <a:rPr b="1" i="1" lang="en-US" sz="1944" u="none" cap="none" strike="noStrike">
                <a:solidFill>
                  <a:srgbClr val="FFFFFF"/>
                </a:solidFill>
                <a:latin typeface="Consolas"/>
                <a:ea typeface="Consolas"/>
                <a:cs typeface="Consolas"/>
                <a:sym typeface="Consolas"/>
              </a:rPr>
              <a:t>make</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FFFFF"/>
              </a:solidFill>
              <a:latin typeface="Consolas"/>
              <a:ea typeface="Consolas"/>
              <a:cs typeface="Consolas"/>
              <a:sym typeface="Consolas"/>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&gt; </a:t>
            </a:r>
            <a:r>
              <a:rPr b="0" i="0" lang="en-US" sz="1944" u="none" cap="none" strike="noStrike">
                <a:solidFill>
                  <a:srgbClr val="FFFFFF"/>
                </a:solidFill>
                <a:latin typeface="Consolas"/>
                <a:ea typeface="Consolas"/>
                <a:cs typeface="Consolas"/>
                <a:sym typeface="Consolas"/>
              </a:rPr>
              <a:t>Cargar el modulo</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 </a:t>
            </a:r>
            <a:r>
              <a:rPr b="1" i="1" lang="en-US" sz="1944" u="none" cap="none" strike="noStrike">
                <a:solidFill>
                  <a:srgbClr val="FFFFFF"/>
                </a:solidFill>
                <a:latin typeface="Consolas"/>
                <a:ea typeface="Consolas"/>
                <a:cs typeface="Consolas"/>
                <a:sym typeface="Consolas"/>
              </a:rPr>
              <a:t>sudo insmod hello.ko</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FFFFF"/>
              </a:solidFill>
              <a:latin typeface="Consolas"/>
              <a:ea typeface="Consolas"/>
              <a:cs typeface="Consolas"/>
              <a:sym typeface="Consolas"/>
            </a:endParaRPr>
          </a:p>
          <a:p>
            <a:pPr indent="0" lvl="0" marL="0" marR="0" rtl="0" algn="l">
              <a:lnSpc>
                <a:spcPct val="139969"/>
              </a:lnSpc>
              <a:spcBef>
                <a:spcPts val="0"/>
              </a:spcBef>
              <a:spcAft>
                <a:spcPts val="0"/>
              </a:spcAft>
              <a:buClr>
                <a:srgbClr val="000000"/>
              </a:buClr>
              <a:buSzPts val="1944"/>
              <a:buFont typeface="Arial"/>
              <a:buNone/>
            </a:pPr>
            <a:r>
              <a:rPr b="1" i="1" lang="en-US" sz="1944" u="none" cap="none" strike="noStrike">
                <a:solidFill>
                  <a:srgbClr val="FFFFFF"/>
                </a:solidFill>
                <a:latin typeface="Consolas"/>
                <a:ea typeface="Consolas"/>
                <a:cs typeface="Consolas"/>
                <a:sym typeface="Consolas"/>
              </a:rPr>
              <a:t>&gt; </a:t>
            </a:r>
            <a:r>
              <a:rPr b="0" i="0" lang="en-US" sz="1944" u="none" cap="none" strike="noStrike">
                <a:solidFill>
                  <a:srgbClr val="FFFFFF"/>
                </a:solidFill>
                <a:latin typeface="Consolas"/>
                <a:ea typeface="Consolas"/>
                <a:cs typeface="Consolas"/>
                <a:sym typeface="Consolas"/>
              </a:rPr>
              <a:t>Verificar el Mensaje del Kernel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a:t>
            </a:r>
            <a:r>
              <a:rPr b="1" i="1" lang="en-US" sz="1944" u="none" cap="none" strike="noStrike">
                <a:solidFill>
                  <a:srgbClr val="FFFFFF"/>
                </a:solidFill>
                <a:latin typeface="Consolas"/>
                <a:ea typeface="Consolas"/>
                <a:cs typeface="Consolas"/>
                <a:sym typeface="Consolas"/>
              </a:rPr>
              <a:t> dmesg | </a:t>
            </a:r>
            <a:r>
              <a:rPr b="1" i="1" lang="en-US" sz="1944" u="none" cap="none" strike="noStrike">
                <a:solidFill>
                  <a:srgbClr val="F7B401"/>
                </a:solidFill>
                <a:latin typeface="Consolas"/>
                <a:ea typeface="Consolas"/>
                <a:cs typeface="Consolas"/>
                <a:sym typeface="Consolas"/>
              </a:rPr>
              <a:t>tail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7B401"/>
              </a:solidFill>
              <a:latin typeface="Consolas"/>
              <a:ea typeface="Consolas"/>
              <a:cs typeface="Consolas"/>
              <a:sym typeface="Consolas"/>
            </a:endParaRPr>
          </a:p>
          <a:p>
            <a:pPr indent="0" lvl="0" marL="0" marR="0" rtl="0" algn="l">
              <a:lnSpc>
                <a:spcPct val="139969"/>
              </a:lnSpc>
              <a:spcBef>
                <a:spcPts val="0"/>
              </a:spcBef>
              <a:spcAft>
                <a:spcPts val="0"/>
              </a:spcAft>
              <a:buClr>
                <a:srgbClr val="000000"/>
              </a:buClr>
              <a:buSzPts val="1944"/>
              <a:buFont typeface="Arial"/>
              <a:buNone/>
            </a:pPr>
            <a:r>
              <a:rPr b="1" i="1" lang="en-US" sz="1944" u="none" cap="none" strike="noStrike">
                <a:solidFill>
                  <a:srgbClr val="FFFFFF"/>
                </a:solidFill>
                <a:latin typeface="Consolas"/>
                <a:ea typeface="Consolas"/>
                <a:cs typeface="Consolas"/>
                <a:sym typeface="Consolas"/>
              </a:rPr>
              <a:t>&gt;</a:t>
            </a:r>
            <a:r>
              <a:rPr b="0" i="0" lang="en-US" sz="1944" u="none" cap="none" strike="noStrike">
                <a:solidFill>
                  <a:srgbClr val="FFFFFF"/>
                </a:solidFill>
                <a:latin typeface="Consolas"/>
                <a:ea typeface="Consolas"/>
                <a:cs typeface="Consolas"/>
                <a:sym typeface="Consolas"/>
              </a:rPr>
              <a:t> Descargar el modulo</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1" lang="en-US" sz="1944" u="none" cap="none" strike="noStrike">
                <a:solidFill>
                  <a:srgbClr val="FFFFFF"/>
                </a:solidFill>
                <a:latin typeface="Consolas"/>
                <a:ea typeface="Consolas"/>
                <a:cs typeface="Consolas"/>
                <a:sym typeface="Consolas"/>
              </a:rPr>
              <a:t>$ sudo rmmod hello.ko</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FFFFF"/>
              </a:solidFill>
              <a:latin typeface="Consolas"/>
              <a:ea typeface="Consolas"/>
              <a:cs typeface="Consolas"/>
              <a:sym typeface="Consolas"/>
            </a:endParaRPr>
          </a:p>
          <a:p>
            <a:pPr indent="0" lvl="0" marL="0" marR="0" rtl="0" algn="l">
              <a:lnSpc>
                <a:spcPct val="139969"/>
              </a:lnSpc>
              <a:spcBef>
                <a:spcPts val="0"/>
              </a:spcBef>
              <a:spcAft>
                <a:spcPts val="0"/>
              </a:spcAft>
              <a:buClr>
                <a:srgbClr val="000000"/>
              </a:buClr>
              <a:buSzPts val="1944"/>
              <a:buFont typeface="Arial"/>
              <a:buNone/>
            </a:pPr>
            <a:r>
              <a:rPr b="0" i="0" lang="en-US" sz="1944" u="none" cap="none" strike="noStrike">
                <a:solidFill>
                  <a:srgbClr val="FFFFFF"/>
                </a:solidFill>
                <a:latin typeface="Consolas"/>
                <a:ea typeface="Consolas"/>
                <a:cs typeface="Consolas"/>
                <a:sym typeface="Consolas"/>
              </a:rPr>
              <a:t>&gt; Verificar el Mensaje del Kernel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1" lang="en-US" sz="1944" u="none" cap="none" strike="noStrike">
                <a:solidFill>
                  <a:srgbClr val="FFFFFF"/>
                </a:solidFill>
                <a:latin typeface="Consolas"/>
                <a:ea typeface="Consolas"/>
                <a:cs typeface="Consolas"/>
                <a:sym typeface="Consolas"/>
              </a:rPr>
              <a:t>$ dmesg | </a:t>
            </a:r>
            <a:r>
              <a:rPr b="1" i="1" lang="en-US" sz="1944" u="none" cap="none" strike="noStrike">
                <a:solidFill>
                  <a:srgbClr val="F7B401"/>
                </a:solidFill>
                <a:latin typeface="Consolas"/>
                <a:ea typeface="Consolas"/>
                <a:cs typeface="Consolas"/>
                <a:sym typeface="Consolas"/>
              </a:rPr>
              <a:t>tail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7B401"/>
              </a:solidFill>
              <a:latin typeface="Consolas"/>
              <a:ea typeface="Consolas"/>
              <a:cs typeface="Consolas"/>
              <a:sym typeface="Consola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g35c3d042265_1_5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499" name="Google Shape;499;g35c3d042265_1_510"/>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500" name="Google Shape;500;g35c3d042265_1_510"/>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501" name="Google Shape;501;g35c3d042265_1_510"/>
          <p:cNvSpPr txBox="1"/>
          <p:nvPr/>
        </p:nvSpPr>
        <p:spPr>
          <a:xfrm>
            <a:off x="4335525" y="2594750"/>
            <a:ext cx="12042600" cy="46017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r>
              <a:rPr b="0" i="0" lang="en-US" sz="9000" u="none" cap="none" strike="noStrike">
                <a:solidFill>
                  <a:srgbClr val="FFFFFF"/>
                </a:solidFill>
                <a:latin typeface="Arial"/>
                <a:ea typeface="Arial"/>
                <a:cs typeface="Arial"/>
                <a:sym typeface="Arial"/>
              </a:rPr>
              <a:t> </a:t>
            </a:r>
            <a:r>
              <a:rPr b="0" i="0" lang="en-US" sz="8600" u="none" cap="none" strike="noStrike">
                <a:solidFill>
                  <a:srgbClr val="FFFFFF"/>
                </a:solidFill>
                <a:latin typeface="Arial"/>
                <a:ea typeface="Arial"/>
                <a:cs typeface="Arial"/>
                <a:sym typeface="Arial"/>
              </a:rPr>
              <a:t>Crear un módulo de Kernel</a:t>
            </a:r>
            <a:endParaRPr b="0" i="0" sz="8600" u="none" cap="none" strike="noStrike">
              <a:solidFill>
                <a:srgbClr val="FFFFFF"/>
              </a:solidFill>
              <a:latin typeface="Arial"/>
              <a:ea typeface="Arial"/>
              <a:cs typeface="Arial"/>
              <a:sym typeface="Arial"/>
            </a:endParaRPr>
          </a:p>
        </p:txBody>
      </p:sp>
      <p:pic>
        <p:nvPicPr>
          <p:cNvPr id="502" name="Google Shape;502;g35c3d042265_1_510"/>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503" name="Google Shape;503;g35c3d042265_1_510"/>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504" name="Google Shape;504;g35c3d042265_1_510"/>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08" name="Shape 508"/>
        <p:cNvGrpSpPr/>
        <p:nvPr/>
      </p:nvGrpSpPr>
      <p:grpSpPr>
        <a:xfrm>
          <a:off x="0" y="0"/>
          <a:ext cx="0" cy="0"/>
          <a:chOff x="0" y="0"/>
          <a:chExt cx="0" cy="0"/>
        </a:xfrm>
      </p:grpSpPr>
      <p:sp>
        <p:nvSpPr>
          <p:cNvPr id="509" name="Google Shape;509;g35c3d042265_1_524"/>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510" name="Google Shape;510;g35c3d042265_1_524"/>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511" name="Google Shape;511;g35c3d042265_1_524"/>
          <p:cNvGrpSpPr/>
          <p:nvPr/>
        </p:nvGrpSpPr>
        <p:grpSpPr>
          <a:xfrm>
            <a:off x="2695525" y="2304374"/>
            <a:ext cx="12896949" cy="6162134"/>
            <a:chOff x="0" y="-19050"/>
            <a:chExt cx="1956900" cy="2395201"/>
          </a:xfrm>
        </p:grpSpPr>
        <p:sp>
          <p:nvSpPr>
            <p:cNvPr id="512" name="Google Shape;512;g35c3d042265_1_524"/>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g35c3d042265_1_524"/>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14" name="Google Shape;514;g35c3d042265_1_524"/>
          <p:cNvSpPr txBox="1"/>
          <p:nvPr/>
        </p:nvSpPr>
        <p:spPr>
          <a:xfrm>
            <a:off x="3032850" y="2891838"/>
            <a:ext cx="12222300" cy="49872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¿Qué es un Sistema Operativo?</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Un sistema operativo es el software principal que gestiona el hardware y software de una computadora, asignando recursos como la CPU, la memoria y el almacenamiento, y controlando procesos, dispositivos e interfaz de usuario.</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Tipos de Sistemas Operativos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Existen sistemas operativos por lotes, multiprogramados, multiprocesamiento, multitarea, de red y distribuidos, cada uno diseñado para administrar diferentes formas de ejecución y distribución de tareas entre usuarios y dispositivos.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GNU/Linux y el Kernel</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GNU/Linux es un sistema operativo libre y de código abierto basado en Unix, cuyo núcleo es el kernel de Linux, que actúa como intermediario entre el hardware y los procesos del sistema.</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18" name="Shape 518"/>
        <p:cNvGrpSpPr/>
        <p:nvPr/>
      </p:nvGrpSpPr>
      <p:grpSpPr>
        <a:xfrm>
          <a:off x="0" y="0"/>
          <a:ext cx="0" cy="0"/>
          <a:chOff x="0" y="0"/>
          <a:chExt cx="0" cy="0"/>
        </a:xfrm>
      </p:grpSpPr>
      <p:sp>
        <p:nvSpPr>
          <p:cNvPr id="519" name="Google Shape;519;g35c3d042265_1_547"/>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520" name="Google Shape;520;g35c3d042265_1_547"/>
          <p:cNvSpPr txBox="1"/>
          <p:nvPr/>
        </p:nvSpPr>
        <p:spPr>
          <a:xfrm>
            <a:off x="3111590" y="101917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521" name="Google Shape;521;g35c3d042265_1_547"/>
          <p:cNvGrpSpPr/>
          <p:nvPr/>
        </p:nvGrpSpPr>
        <p:grpSpPr>
          <a:xfrm>
            <a:off x="2613274" y="3052875"/>
            <a:ext cx="13701822" cy="4860102"/>
            <a:chOff x="0" y="-19050"/>
            <a:chExt cx="1956900" cy="2395201"/>
          </a:xfrm>
        </p:grpSpPr>
        <p:sp>
          <p:nvSpPr>
            <p:cNvPr id="522" name="Google Shape;522;g35c3d042265_1_547"/>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g35c3d042265_1_547"/>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24" name="Google Shape;524;g35c3d042265_1_547"/>
          <p:cNvSpPr txBox="1"/>
          <p:nvPr/>
        </p:nvSpPr>
        <p:spPr>
          <a:xfrm>
            <a:off x="3106888" y="4405475"/>
            <a:ext cx="12714600" cy="21549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Responsabilidad:</a:t>
            </a:r>
            <a:r>
              <a:rPr b="0" i="0" lang="en-US" sz="3200" u="none" cap="none" strike="noStrike">
                <a:solidFill>
                  <a:schemeClr val="lt1"/>
                </a:solidFill>
                <a:latin typeface="Arial"/>
                <a:ea typeface="Arial"/>
                <a:cs typeface="Arial"/>
                <a:sym typeface="Arial"/>
              </a:rPr>
              <a:t> en contexto de programas libres como linux, se trata de código fuente de un sistema crítico como linux, por lo que las modificaciones deben ser responsables y nunca con fines negativos.</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28" name="Shape 528"/>
        <p:cNvGrpSpPr/>
        <p:nvPr/>
      </p:nvGrpSpPr>
      <p:grpSpPr>
        <a:xfrm>
          <a:off x="0" y="0"/>
          <a:ext cx="0" cy="0"/>
          <a:chOff x="0" y="0"/>
          <a:chExt cx="0" cy="0"/>
        </a:xfrm>
      </p:grpSpPr>
      <p:sp>
        <p:nvSpPr>
          <p:cNvPr id="529" name="Google Shape;529;g35ecdb00f6c_0_1"/>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530" name="Google Shape;530;g35ecdb00f6c_0_1"/>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531" name="Google Shape;531;g35ecdb00f6c_0_1"/>
          <p:cNvGrpSpPr/>
          <p:nvPr/>
        </p:nvGrpSpPr>
        <p:grpSpPr>
          <a:xfrm>
            <a:off x="2695525" y="2304374"/>
            <a:ext cx="12896949" cy="6162134"/>
            <a:chOff x="0" y="-19050"/>
            <a:chExt cx="1956900" cy="2395201"/>
          </a:xfrm>
        </p:grpSpPr>
        <p:sp>
          <p:nvSpPr>
            <p:cNvPr id="532" name="Google Shape;532;g35ecdb00f6c_0_1"/>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g35ecdb00f6c_0_1"/>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34" name="Google Shape;534;g35ecdb00f6c_0_1"/>
          <p:cNvSpPr txBox="1"/>
          <p:nvPr/>
        </p:nvSpPr>
        <p:spPr>
          <a:xfrm>
            <a:off x="3032850" y="3292025"/>
            <a:ext cx="12222300" cy="41868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What is an operating system</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4"/>
              </a:rPr>
              <a:t>https://www.techtarget.com/whatis/definition/operating-system-OS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Types of operating systems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5"/>
              </a:rPr>
              <a:t>https://www.geeksforgeeks.org/types-of-operating-systems/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Linux is the Kernel, GNU is the OS</a:t>
            </a:r>
            <a:br>
              <a:rPr b="1" i="0" lang="en-US" sz="2600" u="none" cap="none" strike="noStrike">
                <a:solidFill>
                  <a:schemeClr val="lt1"/>
                </a:solidFill>
                <a:latin typeface="Arial"/>
                <a:ea typeface="Arial"/>
                <a:cs typeface="Arial"/>
                <a:sym typeface="Arial"/>
              </a:rPr>
            </a:br>
            <a:r>
              <a:rPr b="1" i="0" lang="en-US" sz="2600" u="sng" cap="none" strike="noStrike">
                <a:solidFill>
                  <a:schemeClr val="hlink"/>
                </a:solidFill>
                <a:latin typeface="Arial"/>
                <a:ea typeface="Arial"/>
                <a:cs typeface="Arial"/>
                <a:sym typeface="Arial"/>
                <a:hlinkClick r:id="rId6"/>
              </a:rPr>
              <a:t>https://mwiza.medium.com/linux-is-the-kernel-gnu-is-the-os-gnu-linux-explained-ee35795ea9ed</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540" name="Google Shape;540;p17"/>
          <p:cNvSpPr/>
          <p:nvPr/>
        </p:nvSpPr>
        <p:spPr>
          <a:xfrm rot="933090">
            <a:off x="-5940312" y="-3090567"/>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541" name="Google Shape;541;p17"/>
          <p:cNvSpPr/>
          <p:nvPr/>
        </p:nvSpPr>
        <p:spPr>
          <a:xfrm rot="933090">
            <a:off x="16283036" y="5632972"/>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grpSp>
        <p:nvGrpSpPr>
          <p:cNvPr id="542" name="Google Shape;542;p17"/>
          <p:cNvGrpSpPr/>
          <p:nvPr/>
        </p:nvGrpSpPr>
        <p:grpSpPr>
          <a:xfrm>
            <a:off x="6725937" y="6354796"/>
            <a:ext cx="4836125" cy="1241011"/>
            <a:chOff x="0" y="-19050"/>
            <a:chExt cx="1273712" cy="326851"/>
          </a:xfrm>
        </p:grpSpPr>
        <p:sp>
          <p:nvSpPr>
            <p:cNvPr id="543" name="Google Shape;543;p17"/>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17"/>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45" name="Google Shape;545;p17"/>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546" name="Google Shape;546;p17"/>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