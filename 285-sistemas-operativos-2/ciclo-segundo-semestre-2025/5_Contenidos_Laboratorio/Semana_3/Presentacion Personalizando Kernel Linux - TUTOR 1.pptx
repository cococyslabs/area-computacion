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10287000" cx="18288000"/>
  <p:notesSz cx="6858000" cy="9144000"/>
  <p:embeddedFontLst>
    <p:embeddedFont>
      <p:font typeface="Montserrat"/>
      <p:regular r:id="rId40"/>
      <p:bold r:id="rId41"/>
      <p:italic r:id="rId42"/>
      <p:boldItalic r:id="rId43"/>
    </p:embeddedFont>
    <p:embeddedFont>
      <p:font typeface="Open Sans"/>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8" roundtripDataSignature="AMtx7mhTWq5RDPYb84g/InsLp4NnyiYEJ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65DEEF8-577D-4E6E-8546-92FC9658F852}">
  <a:tblStyle styleId="{F65DEEF8-577D-4E6E-8546-92FC9658F852}"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C13E3B60-D3E3-4679-9A44-24BEF137AF0A}"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regular.fntdata"/><Relationship Id="rId20" Type="http://schemas.openxmlformats.org/officeDocument/2006/relationships/slide" Target="slides/slide14.xml"/><Relationship Id="rId42" Type="http://schemas.openxmlformats.org/officeDocument/2006/relationships/font" Target="fonts/Montserrat-italic.fntdata"/><Relationship Id="rId41" Type="http://schemas.openxmlformats.org/officeDocument/2006/relationships/font" Target="fonts/Montserrat-bold.fntdata"/><Relationship Id="rId22" Type="http://schemas.openxmlformats.org/officeDocument/2006/relationships/slide" Target="slides/slide16.xml"/><Relationship Id="rId44" Type="http://schemas.openxmlformats.org/officeDocument/2006/relationships/font" Target="fonts/OpenSans-regular.fntdata"/><Relationship Id="rId21" Type="http://schemas.openxmlformats.org/officeDocument/2006/relationships/slide" Target="slides/slide15.xml"/><Relationship Id="rId43" Type="http://schemas.openxmlformats.org/officeDocument/2006/relationships/font" Target="fonts/Montserrat-boldItalic.fntdata"/><Relationship Id="rId24" Type="http://schemas.openxmlformats.org/officeDocument/2006/relationships/slide" Target="slides/slide18.xml"/><Relationship Id="rId46" Type="http://schemas.openxmlformats.org/officeDocument/2006/relationships/font" Target="fonts/OpenSans-italic.fntdata"/><Relationship Id="rId23" Type="http://schemas.openxmlformats.org/officeDocument/2006/relationships/slide" Target="slides/slide17.xml"/><Relationship Id="rId45" Type="http://schemas.openxmlformats.org/officeDocument/2006/relationships/font" Target="fonts/OpenSans-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48" Type="http://customschemas.google.com/relationships/presentationmetadata" Target="metadata"/><Relationship Id="rId25" Type="http://schemas.openxmlformats.org/officeDocument/2006/relationships/slide" Target="slides/slide19.xml"/><Relationship Id="rId47" Type="http://schemas.openxmlformats.org/officeDocument/2006/relationships/font" Target="fonts/OpenSans-boldItalic.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88fd72d90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88fd72d90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5c3d30e88a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g35c3d30e88a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88fd72d901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g388fd72d901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5c3d30e88a_1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 name="Google Shape;118;g35c3d30e88a_1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5c3d30e88a_1_1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0" name="Google Shape;130;g35c3d30e88a_1_1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a10fbbb497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5" name="Google Shape;145;g3a10fbbb497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UNIX fue desarrollado en Bell Labs, parte de AT&amp;T.</a:t>
            </a:r>
            <a:br>
              <a:rPr lang="en-US"/>
            </a:br>
            <a:r>
              <a:rPr lang="en-US"/>
              <a:t> Ahí nacieron conceptos que hoy siguen vivos en Linux: procesos, archivos y programas pequeños conectados entre sí.</a:t>
            </a:r>
            <a:endParaRPr/>
          </a:p>
          <a:p>
            <a:pPr indent="0" lvl="0" marL="0" rtl="0" algn="l">
              <a:lnSpc>
                <a:spcPct val="115000"/>
              </a:lnSpc>
              <a:spcBef>
                <a:spcPts val="1200"/>
              </a:spcBef>
              <a:spcAft>
                <a:spcPts val="0"/>
              </a:spcAft>
              <a:buClr>
                <a:schemeClr val="dk1"/>
              </a:buClr>
              <a:buSzPts val="1100"/>
              <a:buFont typeface="Arial"/>
              <a:buNone/>
            </a:pPr>
            <a:r>
              <a:rPr lang="en-US"/>
              <a:t>Linux no nació de la nada. Hereda toda esa arquitectura.</a:t>
            </a:r>
            <a:endParaRPr/>
          </a:p>
          <a:p>
            <a:pPr indent="0" lvl="0" marL="0" rtl="0" algn="l">
              <a:lnSpc>
                <a:spcPct val="115000"/>
              </a:lnSpc>
              <a:spcBef>
                <a:spcPts val="1200"/>
              </a:spcBef>
              <a:spcAft>
                <a:spcPts val="1200"/>
              </a:spcAft>
              <a:buSzPts val="1100"/>
              <a:buNone/>
            </a:pPr>
            <a:r>
              <a:rPr lang="en-US"/>
              <a:t>Por eso cuando hoy modificamos el kernel, estamos modificando una idea que existe desde hace más de 50 años.</a:t>
            </a:r>
            <a:endParaRPr/>
          </a:p>
        </p:txBody>
      </p:sp>
      <p:sp>
        <p:nvSpPr>
          <p:cNvPr id="159" name="Google Shape;15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c7d660d2a9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3" name="Google Shape;173;g3c7d660d2a9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c7d660d2a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7" name="Google Shape;187;g3c7d660d2a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5c3d30e88a_1_1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0" name="Google Shape;200;g35c3d30e88a_1_1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3" name="Google Shape;21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5c3d30e88a_1_2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5" name="Google Shape;225;g35c3d30e88a_1_2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5c3d30e88a_1_2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6" name="Google Shape;236;g35c3d30e88a_1_2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5c3d30e88a_1_2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2" name="Google Shape;252;g35c3d30e88a_1_2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5c3d30e88a_1_3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6" name="Google Shape;266;g35c3d30e88a_1_3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5c3d30e88a_1_4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7" name="Google Shape;277;g35c3d30e88a_1_4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5c3d30e88a_1_4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5" name="Google Shape;285;g35c3d30e88a_1_4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5c3d30e88a_1_5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5" name="Google Shape;295;g35c3d30e88a_1_5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5c3d30e88a_1_5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3" name="Google Shape;303;g35c3d30e88a_1_5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5c3d30e88a_1_5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8" name="Google Shape;318;g35c3d30e88a_1_5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5c3d30e88a_1_5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2" name="Google Shape;332;g35c3d30e88a_1_5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5c3d30e88a_1_9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2" name="Google Shape;352;g35c3d30e88a_1_9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5c3d30e88a_1_10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2" name="Google Shape;372;g35c3d30e88a_1_10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5c3d30e88a_1_8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8" name="Google Shape;388;g35c3d30e88a_1_8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5c3d30e88a_1_9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2" name="Google Shape;402;g35c3d30e88a_1_9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5c3d30e88a_1_5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6" name="Google Shape;416;g35c3d30e88a_1_5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0" name="Google Shape;43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1" name="Google Shape;45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5c3d30e88a_1_7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6" name="Google Shape;466;g35c3d30e88a_1_7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5c8c29614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8" name="Google Shape;478;g35c8c29614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5c3d30e88a_1_8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8" name="Google Shape;488;g35c3d30e88a_1_8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5c8c296148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8" name="Google Shape;498;g35c8c296148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8" name="Google Shape;50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g363a7354637_0_86"/>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3" name="Google Shape;13;g363a7354637_0_86"/>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SzPts val="3600"/>
              <a:buChar char="●"/>
              <a:defRPr/>
            </a:lvl1pPr>
            <a:lvl2pPr indent="-406400" lvl="1" marL="914400" algn="l">
              <a:lnSpc>
                <a:spcPct val="115000"/>
              </a:lnSpc>
              <a:spcBef>
                <a:spcPts val="0"/>
              </a:spcBef>
              <a:spcAft>
                <a:spcPts val="0"/>
              </a:spcAft>
              <a:buSzPts val="2800"/>
              <a:buChar char="○"/>
              <a:defRPr/>
            </a:lvl2pPr>
            <a:lvl3pPr indent="-406400" lvl="2" marL="1371600" algn="l">
              <a:lnSpc>
                <a:spcPct val="115000"/>
              </a:lnSpc>
              <a:spcBef>
                <a:spcPts val="0"/>
              </a:spcBef>
              <a:spcAft>
                <a:spcPts val="0"/>
              </a:spcAft>
              <a:buSzPts val="2800"/>
              <a:buChar char="■"/>
              <a:defRPr/>
            </a:lvl3pPr>
            <a:lvl4pPr indent="-406400" lvl="3" marL="1828800" algn="l">
              <a:lnSpc>
                <a:spcPct val="115000"/>
              </a:lnSpc>
              <a:spcBef>
                <a:spcPts val="0"/>
              </a:spcBef>
              <a:spcAft>
                <a:spcPts val="0"/>
              </a:spcAft>
              <a:buSzPts val="2800"/>
              <a:buChar char="●"/>
              <a:defRPr/>
            </a:lvl4pPr>
            <a:lvl5pPr indent="-406400" lvl="4" marL="2286000" algn="l">
              <a:lnSpc>
                <a:spcPct val="115000"/>
              </a:lnSpc>
              <a:spcBef>
                <a:spcPts val="0"/>
              </a:spcBef>
              <a:spcAft>
                <a:spcPts val="0"/>
              </a:spcAft>
              <a:buSzPts val="2800"/>
              <a:buChar char="○"/>
              <a:defRPr/>
            </a:lvl5pPr>
            <a:lvl6pPr indent="-406400" lvl="5" marL="2743200" algn="l">
              <a:lnSpc>
                <a:spcPct val="115000"/>
              </a:lnSpc>
              <a:spcBef>
                <a:spcPts val="0"/>
              </a:spcBef>
              <a:spcAft>
                <a:spcPts val="0"/>
              </a:spcAft>
              <a:buSzPts val="2800"/>
              <a:buChar char="■"/>
              <a:defRPr/>
            </a:lvl6pPr>
            <a:lvl7pPr indent="-406400" lvl="6" marL="3200400" algn="l">
              <a:lnSpc>
                <a:spcPct val="115000"/>
              </a:lnSpc>
              <a:spcBef>
                <a:spcPts val="0"/>
              </a:spcBef>
              <a:spcAft>
                <a:spcPts val="0"/>
              </a:spcAft>
              <a:buSzPts val="2800"/>
              <a:buChar char="●"/>
              <a:defRPr/>
            </a:lvl7pPr>
            <a:lvl8pPr indent="-406400" lvl="7" marL="3657600" algn="l">
              <a:lnSpc>
                <a:spcPct val="115000"/>
              </a:lnSpc>
              <a:spcBef>
                <a:spcPts val="0"/>
              </a:spcBef>
              <a:spcAft>
                <a:spcPts val="0"/>
              </a:spcAft>
              <a:buSzPts val="2800"/>
              <a:buChar char="○"/>
              <a:defRPr/>
            </a:lvl8pPr>
            <a:lvl9pPr indent="-406400" lvl="8" marL="4114800" algn="l">
              <a:lnSpc>
                <a:spcPct val="115000"/>
              </a:lnSpc>
              <a:spcBef>
                <a:spcPts val="0"/>
              </a:spcBef>
              <a:spcAft>
                <a:spcPts val="0"/>
              </a:spcAft>
              <a:buSzPts val="2800"/>
              <a:buChar char="■"/>
              <a:defRPr/>
            </a:lvl9pPr>
          </a:lstStyle>
          <a:p/>
        </p:txBody>
      </p:sp>
      <p:sp>
        <p:nvSpPr>
          <p:cNvPr id="14" name="Google Shape;14;g363a7354637_0_86"/>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1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1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1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1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1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1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2"/>
          <p:cNvSpPr/>
          <p:nvPr>
            <p:ph idx="2" type="pic"/>
          </p:nvPr>
        </p:nvSpPr>
        <p:spPr>
          <a:xfrm>
            <a:off x="1792288" y="612775"/>
            <a:ext cx="5486400" cy="4114800"/>
          </a:xfrm>
          <a:prstGeom prst="rect">
            <a:avLst/>
          </a:prstGeom>
          <a:noFill/>
          <a:ln>
            <a:noFill/>
          </a:ln>
        </p:spPr>
      </p:sp>
      <p:sp>
        <p:nvSpPr>
          <p:cNvPr id="68" name="Google Shape;68;p2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jpg"/><Relationship Id="rId4" Type="http://schemas.openxmlformats.org/officeDocument/2006/relationships/image" Target="../media/image13.png"/><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21.png"/><Relationship Id="rId5" Type="http://schemas.openxmlformats.org/officeDocument/2006/relationships/image" Target="../media/image2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7.png"/><Relationship Id="rId4" Type="http://schemas.openxmlformats.org/officeDocument/2006/relationships/image" Target="../media/image2.png"/><Relationship Id="rId5"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youtu.be/RAFiXfWLUMI" TargetMode="External"/><Relationship Id="rId4" Type="http://schemas.openxmlformats.org/officeDocument/2006/relationships/image" Target="../media/image3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www.youtube.com/watch?v=tc4ROCJYbm0" TargetMode="External"/><Relationship Id="rId4" Type="http://schemas.openxmlformats.org/officeDocument/2006/relationships/image" Target="../media/image3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14.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4.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9.jpg"/><Relationship Id="rId4" Type="http://schemas.openxmlformats.org/officeDocument/2006/relationships/image" Target="../media/image15.png"/><Relationship Id="rId5" Type="http://schemas.openxmlformats.org/officeDocument/2006/relationships/image" Target="../media/image13.png"/><Relationship Id="rId6"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4.png"/><Relationship Id="rId4" Type="http://schemas.openxmlformats.org/officeDocument/2006/relationships/image" Target="../media/image5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8.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9.png"/><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7.png"/><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2.png"/><Relationship Id="rId4" Type="http://schemas.openxmlformats.org/officeDocument/2006/relationships/image" Target="../media/image23.png"/><Relationship Id="rId5" Type="http://schemas.openxmlformats.org/officeDocument/2006/relationships/image" Target="../media/image4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9.png"/><Relationship Id="rId4" Type="http://schemas.openxmlformats.org/officeDocument/2006/relationships/image" Target="../media/image38.png"/><Relationship Id="rId5" Type="http://schemas.openxmlformats.org/officeDocument/2006/relationships/image" Target="../media/image4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8.png"/><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40.png"/><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52.png"/><Relationship Id="rId4" Type="http://schemas.openxmlformats.org/officeDocument/2006/relationships/image" Target="../media/image5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41.png"/><Relationship Id="rId4" Type="http://schemas.openxmlformats.org/officeDocument/2006/relationships/image" Target="../media/image5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4.png"/><Relationship Id="rId4" Type="http://schemas.openxmlformats.org/officeDocument/2006/relationships/hyperlink" Target="https://www.kernel.org" TargetMode="External"/><Relationship Id="rId5" Type="http://schemas.openxmlformats.org/officeDocument/2006/relationships/image" Target="../media/image45.png"/><Relationship Id="rId6" Type="http://schemas.openxmlformats.org/officeDocument/2006/relationships/image" Target="../media/image46.gif"/><Relationship Id="rId7" Type="http://schemas.openxmlformats.org/officeDocument/2006/relationships/image" Target="../media/image5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45.png"/><Relationship Id="rId4" Type="http://schemas.openxmlformats.org/officeDocument/2006/relationships/image" Target="../media/image5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9.jpg"/><Relationship Id="rId4" Type="http://schemas.openxmlformats.org/officeDocument/2006/relationships/image" Target="../media/image50.png"/><Relationship Id="rId5" Type="http://schemas.openxmlformats.org/officeDocument/2006/relationships/image" Target="../media/image58.png"/><Relationship Id="rId6" Type="http://schemas.openxmlformats.org/officeDocument/2006/relationships/image" Target="../media/image7.png"/><Relationship Id="rId7" Type="http://schemas.openxmlformats.org/officeDocument/2006/relationships/image" Target="../media/image5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8.png"/><Relationship Id="rId4" Type="http://schemas.openxmlformats.org/officeDocument/2006/relationships/hyperlink" Target="https://www.linux.org/threads/how-to-install-a-higher-version-of-the-kernel-build-compile-and-make-the-system-used-it.54879/" TargetMode="External"/><Relationship Id="rId5" Type="http://schemas.openxmlformats.org/officeDocument/2006/relationships/hyperlink" Target="https://www.geeksforgeeks.org/linux-system-call-in-detail/" TargetMode="External"/><Relationship Id="rId6" Type="http://schemas.openxmlformats.org/officeDocument/2006/relationships/hyperlink" Target="https://vitux.com/fork-exec-wait-and-exit-system-call-explained-in-linux/"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9.jpg"/><Relationship Id="rId4" Type="http://schemas.openxmlformats.org/officeDocument/2006/relationships/image" Target="../media/image50.png"/><Relationship Id="rId5" Type="http://schemas.openxmlformats.org/officeDocument/2006/relationships/image" Target="../media/image6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88fd72d901_0_0"/>
          <p:cNvPicPr preferRelativeResize="0"/>
          <p:nvPr/>
        </p:nvPicPr>
        <p:blipFill rotWithShape="1">
          <a:blip r:embed="rId3">
            <a:alphaModFix amt="62000"/>
          </a:blip>
          <a:srcRect b="0" l="0" r="0" t="0"/>
          <a:stretch/>
        </p:blipFill>
        <p:spPr>
          <a:xfrm>
            <a:off x="16902" y="0"/>
            <a:ext cx="18254198" cy="10287001"/>
          </a:xfrm>
          <a:prstGeom prst="rect">
            <a:avLst/>
          </a:prstGeom>
          <a:noFill/>
          <a:ln>
            <a:noFill/>
          </a:ln>
        </p:spPr>
      </p:pic>
      <p:graphicFrame>
        <p:nvGraphicFramePr>
          <p:cNvPr id="89" name="Google Shape;89;g388fd72d901_0_0"/>
          <p:cNvGraphicFramePr/>
          <p:nvPr/>
        </p:nvGraphicFramePr>
        <p:xfrm>
          <a:off x="10656400" y="1940050"/>
          <a:ext cx="3000000" cy="3000000"/>
        </p:xfrm>
        <a:graphic>
          <a:graphicData uri="http://schemas.openxmlformats.org/drawingml/2006/table">
            <a:tbl>
              <a:tblPr>
                <a:noFill/>
                <a:tableStyleId>{F65DEEF8-577D-4E6E-8546-92FC9658F852}</a:tableStyleId>
              </a:tblPr>
              <a:tblGrid>
                <a:gridCol w="3036400"/>
                <a:gridCol w="43447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Día, Fecha:</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DIA, </a:t>
                      </a:r>
                      <a:r>
                        <a:rPr lang="en-US" sz="2800"/>
                        <a:t>13</a:t>
                      </a:r>
                      <a:r>
                        <a:rPr lang="en-US" sz="2800" u="none" cap="none" strike="noStrike"/>
                        <a:t>/</a:t>
                      </a:r>
                      <a:r>
                        <a:rPr lang="en-US" sz="2800"/>
                        <a:t>02</a:t>
                      </a:r>
                      <a:r>
                        <a:rPr lang="en-US" sz="2800" u="none" cap="none" strike="noStrike"/>
                        <a:t>/2026</a:t>
                      </a:r>
                      <a:endParaRPr sz="2800" u="none" cap="none" strike="noStrike"/>
                    </a:p>
                  </a:txBody>
                  <a:tcPr marT="182850" marB="182850" marR="182850" marL="182850"/>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inicio:</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a:t>17</a:t>
                      </a:r>
                      <a:r>
                        <a:rPr lang="en-US" sz="2800" u="none" cap="none" strike="noStrike"/>
                        <a:t>:</a:t>
                      </a:r>
                      <a:r>
                        <a:rPr lang="en-US" sz="2800"/>
                        <a:t>20</a:t>
                      </a:r>
                      <a:endParaRPr sz="2800" u="none" cap="none" strike="noStrike"/>
                    </a:p>
                  </a:txBody>
                  <a:tcPr marT="182850" marB="182850" marR="182850" marL="182850"/>
                </a:tc>
              </a:tr>
            </a:tbl>
          </a:graphicData>
        </a:graphic>
      </p:graphicFrame>
      <p:sp>
        <p:nvSpPr>
          <p:cNvPr id="90" name="Google Shape;90;g388fd72d901_0_0"/>
          <p:cNvSpPr txBox="1"/>
          <p:nvPr/>
        </p:nvSpPr>
        <p:spPr>
          <a:xfrm>
            <a:off x="2880350" y="4516600"/>
            <a:ext cx="13584000" cy="11853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5000"/>
              <a:buFont typeface="Arial"/>
              <a:buNone/>
            </a:pPr>
            <a:r>
              <a:rPr b="1" i="0" lang="en-US" sz="5300" u="none" cap="none" strike="noStrike">
                <a:solidFill>
                  <a:srgbClr val="000000"/>
                </a:solidFill>
                <a:latin typeface="Arial"/>
                <a:ea typeface="Arial"/>
                <a:cs typeface="Arial"/>
                <a:sym typeface="Arial"/>
              </a:rPr>
              <a:t>Sistemas Operativos 2 [A]</a:t>
            </a:r>
            <a:endParaRPr b="1" i="0" sz="5300" u="none" cap="none" strike="noStrike">
              <a:solidFill>
                <a:srgbClr val="000000"/>
              </a:solidFill>
              <a:latin typeface="Arial"/>
              <a:ea typeface="Arial"/>
              <a:cs typeface="Arial"/>
              <a:sym typeface="Arial"/>
            </a:endParaRPr>
          </a:p>
        </p:txBody>
      </p:sp>
      <p:sp>
        <p:nvSpPr>
          <p:cNvPr id="91" name="Google Shape;91;g388fd72d901_0_0"/>
          <p:cNvSpPr txBox="1"/>
          <p:nvPr/>
        </p:nvSpPr>
        <p:spPr>
          <a:xfrm>
            <a:off x="3557400" y="5801500"/>
            <a:ext cx="11173200" cy="10467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4000"/>
              <a:buFont typeface="Arial"/>
              <a:buNone/>
            </a:pPr>
            <a:r>
              <a:rPr lang="en-US" sz="4400"/>
              <a:t>Javier Alejandro Avila Flores</a:t>
            </a:r>
            <a:endParaRPr b="0" i="0" sz="4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95" name="Shape 95"/>
        <p:cNvGrpSpPr/>
        <p:nvPr/>
      </p:nvGrpSpPr>
      <p:grpSpPr>
        <a:xfrm>
          <a:off x="0" y="0"/>
          <a:ext cx="0" cy="0"/>
          <a:chOff x="0" y="0"/>
          <a:chExt cx="0" cy="0"/>
        </a:xfrm>
      </p:grpSpPr>
      <p:sp>
        <p:nvSpPr>
          <p:cNvPr id="96" name="Google Shape;96;g35c3d30e88a_1_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97" name="Google Shape;97;g35c3d30e88a_1_0"/>
          <p:cNvSpPr/>
          <p:nvPr/>
        </p:nvSpPr>
        <p:spPr>
          <a:xfrm rot="1574698">
            <a:off x="13952973" y="5983878"/>
            <a:ext cx="5913343" cy="5868994"/>
          </a:xfrm>
          <a:custGeom>
            <a:rect b="b" l="l" r="r" t="t"/>
            <a:pathLst>
              <a:path extrusionOk="0" h="5865146" w="5909466">
                <a:moveTo>
                  <a:pt x="0" y="0"/>
                </a:moveTo>
                <a:lnTo>
                  <a:pt x="5909467" y="0"/>
                </a:lnTo>
                <a:lnTo>
                  <a:pt x="5909467" y="5865146"/>
                </a:lnTo>
                <a:lnTo>
                  <a:pt x="0" y="5865146"/>
                </a:lnTo>
                <a:lnTo>
                  <a:pt x="0" y="0"/>
                </a:lnTo>
                <a:close/>
              </a:path>
            </a:pathLst>
          </a:custGeom>
          <a:blipFill rotWithShape="1">
            <a:blip r:embed="rId4">
              <a:alphaModFix/>
            </a:blip>
            <a:stretch>
              <a:fillRect b="0" l="0" r="0" t="0"/>
            </a:stretch>
          </a:blipFill>
          <a:ln>
            <a:noFill/>
          </a:ln>
        </p:spPr>
      </p:sp>
      <p:sp>
        <p:nvSpPr>
          <p:cNvPr id="98" name="Google Shape;98;g35c3d30e88a_1_0"/>
          <p:cNvSpPr/>
          <p:nvPr/>
        </p:nvSpPr>
        <p:spPr>
          <a:xfrm rot="-9060061">
            <a:off x="-1778531" y="-1773691"/>
            <a:ext cx="5911977" cy="5867638"/>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4">
              <a:alphaModFix/>
            </a:blip>
            <a:stretch>
              <a:fillRect b="0" l="0" r="0" t="0"/>
            </a:stretch>
          </a:blipFill>
          <a:ln>
            <a:noFill/>
          </a:ln>
        </p:spPr>
      </p:sp>
      <p:sp>
        <p:nvSpPr>
          <p:cNvPr id="99" name="Google Shape;99;g35c3d30e88a_1_0"/>
          <p:cNvSpPr/>
          <p:nvPr/>
        </p:nvSpPr>
        <p:spPr>
          <a:xfrm>
            <a:off x="14405107" y="0"/>
            <a:ext cx="3898945" cy="1161388"/>
          </a:xfrm>
          <a:custGeom>
            <a:rect b="b" l="l" r="r" t="t"/>
            <a:pathLst>
              <a:path extrusionOk="0" h="1161388" w="3898945">
                <a:moveTo>
                  <a:pt x="0" y="0"/>
                </a:moveTo>
                <a:lnTo>
                  <a:pt x="3898945" y="0"/>
                </a:lnTo>
                <a:lnTo>
                  <a:pt x="3898945" y="1161388"/>
                </a:lnTo>
                <a:lnTo>
                  <a:pt x="0" y="1161388"/>
                </a:lnTo>
                <a:lnTo>
                  <a:pt x="0" y="0"/>
                </a:lnTo>
                <a:close/>
              </a:path>
            </a:pathLst>
          </a:custGeom>
          <a:blipFill rotWithShape="1">
            <a:blip r:embed="rId5">
              <a:alphaModFix/>
            </a:blip>
            <a:stretch>
              <a:fillRect b="0" l="0" r="0" t="0"/>
            </a:stretch>
          </a:blipFill>
          <a:ln>
            <a:noFill/>
          </a:ln>
        </p:spPr>
      </p:sp>
      <p:sp>
        <p:nvSpPr>
          <p:cNvPr id="100" name="Google Shape;100;g35c3d30e88a_1_0"/>
          <p:cNvSpPr txBox="1"/>
          <p:nvPr/>
        </p:nvSpPr>
        <p:spPr>
          <a:xfrm>
            <a:off x="1028700" y="7876900"/>
            <a:ext cx="80154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g35c3d30e88a_1_0"/>
          <p:cNvSpPr txBox="1"/>
          <p:nvPr/>
        </p:nvSpPr>
        <p:spPr>
          <a:xfrm>
            <a:off x="1028700" y="8740489"/>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Escuela de Ingeniería de Ciencias Y Sistemas</a:t>
            </a:r>
            <a:endParaRPr b="0" i="0" sz="1400" u="none" cap="none" strike="noStrike">
              <a:solidFill>
                <a:srgbClr val="000000"/>
              </a:solidFill>
              <a:latin typeface="Arial"/>
              <a:ea typeface="Arial"/>
              <a:cs typeface="Arial"/>
              <a:sym typeface="Arial"/>
            </a:endParaRPr>
          </a:p>
        </p:txBody>
      </p:sp>
      <p:sp>
        <p:nvSpPr>
          <p:cNvPr id="102" name="Google Shape;102;g35c3d30e88a_1_0"/>
          <p:cNvSpPr txBox="1"/>
          <p:nvPr/>
        </p:nvSpPr>
        <p:spPr>
          <a:xfrm>
            <a:off x="1028700" y="9165288"/>
            <a:ext cx="3525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Facultad de Ingeniería</a:t>
            </a:r>
            <a:endParaRPr b="0" i="0" sz="1400" u="none" cap="none" strike="noStrike">
              <a:solidFill>
                <a:srgbClr val="000000"/>
              </a:solidFill>
              <a:latin typeface="Arial"/>
              <a:ea typeface="Arial"/>
              <a:cs typeface="Arial"/>
              <a:sym typeface="Arial"/>
            </a:endParaRPr>
          </a:p>
        </p:txBody>
      </p:sp>
      <p:sp>
        <p:nvSpPr>
          <p:cNvPr id="103" name="Google Shape;103;g35c3d30e88a_1_0"/>
          <p:cNvSpPr txBox="1"/>
          <p:nvPr/>
        </p:nvSpPr>
        <p:spPr>
          <a:xfrm>
            <a:off x="1028700" y="9585325"/>
            <a:ext cx="64080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
        <p:nvSpPr>
          <p:cNvPr id="104" name="Google Shape;104;g35c3d30e88a_1_0"/>
          <p:cNvSpPr txBox="1"/>
          <p:nvPr/>
        </p:nvSpPr>
        <p:spPr>
          <a:xfrm>
            <a:off x="3601920" y="4217247"/>
            <a:ext cx="11280600" cy="2528100"/>
          </a:xfrm>
          <a:prstGeom prst="rect">
            <a:avLst/>
          </a:prstGeom>
          <a:noFill/>
          <a:ln>
            <a:noFill/>
          </a:ln>
        </p:spPr>
        <p:txBody>
          <a:bodyPr anchorCtr="0" anchor="t" bIns="0" lIns="0" spcFirstLastPara="1" rIns="0" wrap="square" tIns="0">
            <a:spAutoFit/>
          </a:bodyPr>
          <a:lstStyle/>
          <a:p>
            <a:pPr indent="-317500" lvl="0" marL="457200" marR="0" rtl="0" algn="ctr">
              <a:lnSpc>
                <a:spcPct val="107021"/>
              </a:lnSpc>
              <a:spcBef>
                <a:spcPts val="0"/>
              </a:spcBef>
              <a:spcAft>
                <a:spcPts val="0"/>
              </a:spcAft>
              <a:buClr>
                <a:srgbClr val="000000"/>
              </a:buClr>
              <a:buSzPts val="1400"/>
              <a:buFont typeface="Arial"/>
              <a:buAutoNum type="arabicPeriod"/>
            </a:pPr>
            <a:r>
              <a:rPr b="0" i="0" lang="en-US" sz="7933" u="none" cap="none" strike="noStrike">
                <a:solidFill>
                  <a:srgbClr val="FFFFFF"/>
                </a:solidFill>
                <a:latin typeface="Arial"/>
                <a:ea typeface="Arial"/>
                <a:cs typeface="Arial"/>
                <a:sym typeface="Arial"/>
              </a:rPr>
              <a:t>UNIDAD 1: INTRODUCCION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g388fd72d901_0_7"/>
          <p:cNvPicPr preferRelativeResize="0"/>
          <p:nvPr/>
        </p:nvPicPr>
        <p:blipFill rotWithShape="1">
          <a:blip r:embed="rId3">
            <a:alphaModFix/>
          </a:blip>
          <a:srcRect b="0" l="0" r="0" t="0"/>
          <a:stretch/>
        </p:blipFill>
        <p:spPr>
          <a:xfrm>
            <a:off x="-13" y="0"/>
            <a:ext cx="18288000" cy="10286970"/>
          </a:xfrm>
          <a:prstGeom prst="rect">
            <a:avLst/>
          </a:prstGeom>
          <a:noFill/>
          <a:ln>
            <a:noFill/>
          </a:ln>
        </p:spPr>
      </p:pic>
      <p:pic>
        <p:nvPicPr>
          <p:cNvPr id="110" name="Google Shape;110;g388fd72d901_0_7"/>
          <p:cNvPicPr preferRelativeResize="0"/>
          <p:nvPr/>
        </p:nvPicPr>
        <p:blipFill>
          <a:blip r:embed="rId4">
            <a:alphaModFix/>
          </a:blip>
          <a:stretch>
            <a:fillRect/>
          </a:stretch>
        </p:blipFill>
        <p:spPr>
          <a:xfrm>
            <a:off x="0" y="0"/>
            <a:ext cx="18288000" cy="10287000"/>
          </a:xfrm>
          <a:prstGeom prst="rect">
            <a:avLst/>
          </a:prstGeom>
          <a:noFill/>
          <a:ln>
            <a:noFill/>
          </a:ln>
        </p:spPr>
      </p:pic>
      <p:grpSp>
        <p:nvGrpSpPr>
          <p:cNvPr id="111" name="Google Shape;111;g388fd72d901_0_7"/>
          <p:cNvGrpSpPr/>
          <p:nvPr/>
        </p:nvGrpSpPr>
        <p:grpSpPr>
          <a:xfrm>
            <a:off x="9975044" y="2453203"/>
            <a:ext cx="7764346" cy="662374"/>
            <a:chOff x="3095445" y="-87910"/>
            <a:chExt cx="5099400" cy="435000"/>
          </a:xfrm>
        </p:grpSpPr>
        <p:sp>
          <p:nvSpPr>
            <p:cNvPr id="112" name="Google Shape;112;g388fd72d901_0_7"/>
            <p:cNvSpPr/>
            <p:nvPr/>
          </p:nvSpPr>
          <p:spPr>
            <a:xfrm>
              <a:off x="3095511" y="-73611"/>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FF313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g388fd72d901_0_7"/>
            <p:cNvSpPr txBox="1"/>
            <p:nvPr/>
          </p:nvSpPr>
          <p:spPr>
            <a:xfrm>
              <a:off x="3095445" y="-87910"/>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chemeClr val="lt1"/>
                  </a:solidFill>
                  <a:latin typeface="Montserrat"/>
                  <a:ea typeface="Montserrat"/>
                  <a:cs typeface="Montserrat"/>
                  <a:sym typeface="Montserrat"/>
                </a:rPr>
                <a:t>Anuncios Importantes</a:t>
              </a:r>
              <a:endParaRPr b="0" i="0" sz="1400" u="none" cap="none" strike="noStrike">
                <a:solidFill>
                  <a:schemeClr val="lt1"/>
                </a:solidFill>
                <a:latin typeface="Arial"/>
                <a:ea typeface="Arial"/>
                <a:cs typeface="Arial"/>
                <a:sym typeface="Arial"/>
              </a:endParaRPr>
            </a:p>
          </p:txBody>
        </p:sp>
      </p:grpSp>
      <p:sp>
        <p:nvSpPr>
          <p:cNvPr id="114" name="Google Shape;114;g388fd72d901_0_7"/>
          <p:cNvSpPr txBox="1"/>
          <p:nvPr/>
        </p:nvSpPr>
        <p:spPr>
          <a:xfrm>
            <a:off x="7327600" y="3550913"/>
            <a:ext cx="10411800" cy="4710000"/>
          </a:xfrm>
          <a:prstGeom prst="rect">
            <a:avLst/>
          </a:prstGeom>
          <a:noFill/>
          <a:ln>
            <a:noFill/>
          </a:ln>
        </p:spPr>
        <p:txBody>
          <a:bodyPr anchorCtr="0" anchor="t" bIns="91425" lIns="91425" spcFirstLastPara="1" rIns="91425" wrap="square" tIns="91425">
            <a:spAutoFit/>
          </a:bodyPr>
          <a:lstStyle/>
          <a:p>
            <a:pPr indent="0" lvl="0" marL="457200" marR="0" rtl="0" algn="r">
              <a:lnSpc>
                <a:spcPct val="100000"/>
              </a:lnSpc>
              <a:spcBef>
                <a:spcPts val="0"/>
              </a:spcBef>
              <a:spcAft>
                <a:spcPts val="0"/>
              </a:spcAft>
              <a:buClr>
                <a:srgbClr val="000000"/>
              </a:buClr>
              <a:buSzPts val="4200"/>
              <a:buFont typeface="Arial"/>
              <a:buNone/>
            </a:pPr>
            <a:r>
              <a:rPr lang="en-US" sz="4200">
                <a:solidFill>
                  <a:schemeClr val="lt1"/>
                </a:solidFill>
                <a:latin typeface="Calibri"/>
                <a:ea typeface="Calibri"/>
                <a:cs typeface="Calibri"/>
                <a:sym typeface="Calibri"/>
              </a:rPr>
              <a:t>Lectura Practica 3</a:t>
            </a:r>
            <a:endParaRPr sz="4200">
              <a:solidFill>
                <a:schemeClr val="lt1"/>
              </a:solidFill>
              <a:latin typeface="Calibri"/>
              <a:ea typeface="Calibri"/>
              <a:cs typeface="Calibri"/>
              <a:sym typeface="Calibri"/>
            </a:endParaRPr>
          </a:p>
          <a:p>
            <a:pPr indent="0" lvl="0" marL="457200" marR="0" rtl="0" algn="r">
              <a:lnSpc>
                <a:spcPct val="100000"/>
              </a:lnSpc>
              <a:spcBef>
                <a:spcPts val="0"/>
              </a:spcBef>
              <a:spcAft>
                <a:spcPts val="0"/>
              </a:spcAft>
              <a:buClr>
                <a:srgbClr val="000000"/>
              </a:buClr>
              <a:buSzPts val="4200"/>
              <a:buFont typeface="Arial"/>
              <a:buNone/>
            </a:pPr>
            <a:r>
              <a:t/>
            </a:r>
            <a:endParaRPr sz="4200">
              <a:solidFill>
                <a:schemeClr val="lt1"/>
              </a:solidFill>
              <a:latin typeface="Calibri"/>
              <a:ea typeface="Calibri"/>
              <a:cs typeface="Calibri"/>
              <a:sym typeface="Calibri"/>
            </a:endParaRPr>
          </a:p>
          <a:p>
            <a:pPr indent="0" lvl="0" marL="457200" marR="0" rtl="0" algn="r">
              <a:lnSpc>
                <a:spcPct val="100000"/>
              </a:lnSpc>
              <a:spcBef>
                <a:spcPts val="0"/>
              </a:spcBef>
              <a:spcAft>
                <a:spcPts val="0"/>
              </a:spcAft>
              <a:buClr>
                <a:srgbClr val="000000"/>
              </a:buClr>
              <a:buSzPts val="4200"/>
              <a:buFont typeface="Arial"/>
              <a:buNone/>
            </a:pPr>
            <a:r>
              <a:t/>
            </a:r>
            <a:endParaRPr sz="4200">
              <a:solidFill>
                <a:schemeClr val="lt1"/>
              </a:solidFill>
              <a:latin typeface="Calibri"/>
              <a:ea typeface="Calibri"/>
              <a:cs typeface="Calibri"/>
              <a:sym typeface="Calibri"/>
            </a:endParaRPr>
          </a:p>
          <a:p>
            <a:pPr indent="0" lvl="0" marL="457200" marR="0" rtl="0" algn="r">
              <a:lnSpc>
                <a:spcPct val="100000"/>
              </a:lnSpc>
              <a:spcBef>
                <a:spcPts val="0"/>
              </a:spcBef>
              <a:spcAft>
                <a:spcPts val="0"/>
              </a:spcAft>
              <a:buClr>
                <a:srgbClr val="000000"/>
              </a:buClr>
              <a:buSzPts val="4200"/>
              <a:buFont typeface="Arial"/>
              <a:buNone/>
            </a:pPr>
            <a:r>
              <a:t/>
            </a:r>
            <a:endParaRPr sz="4200">
              <a:solidFill>
                <a:schemeClr val="lt1"/>
              </a:solidFill>
              <a:latin typeface="Calibri"/>
              <a:ea typeface="Calibri"/>
              <a:cs typeface="Calibri"/>
              <a:sym typeface="Calibri"/>
            </a:endParaRPr>
          </a:p>
          <a:p>
            <a:pPr indent="0" lvl="0" marL="457200" marR="0" rtl="0" algn="r">
              <a:lnSpc>
                <a:spcPct val="100000"/>
              </a:lnSpc>
              <a:spcBef>
                <a:spcPts val="0"/>
              </a:spcBef>
              <a:spcAft>
                <a:spcPts val="0"/>
              </a:spcAft>
              <a:buClr>
                <a:srgbClr val="000000"/>
              </a:buClr>
              <a:buSzPts val="4200"/>
              <a:buFont typeface="Arial"/>
              <a:buNone/>
            </a:pPr>
            <a:r>
              <a:rPr lang="en-US" sz="4200">
                <a:solidFill>
                  <a:schemeClr val="lt1"/>
                </a:solidFill>
                <a:latin typeface="Calibri"/>
                <a:ea typeface="Calibri"/>
                <a:cs typeface="Calibri"/>
                <a:sym typeface="Calibri"/>
              </a:rPr>
              <a:t>Horarios de calificación Practica 2 </a:t>
            </a:r>
            <a:endParaRPr sz="4200">
              <a:solidFill>
                <a:schemeClr val="lt1"/>
              </a:solidFill>
              <a:latin typeface="Calibri"/>
              <a:ea typeface="Calibri"/>
              <a:cs typeface="Calibri"/>
              <a:sym typeface="Calibri"/>
            </a:endParaRPr>
          </a:p>
          <a:p>
            <a:pPr indent="0" lvl="0" marL="457200" marR="0" rtl="0" algn="r">
              <a:lnSpc>
                <a:spcPct val="100000"/>
              </a:lnSpc>
              <a:spcBef>
                <a:spcPts val="0"/>
              </a:spcBef>
              <a:spcAft>
                <a:spcPts val="0"/>
              </a:spcAft>
              <a:buClr>
                <a:srgbClr val="000000"/>
              </a:buClr>
              <a:buSzPts val="4200"/>
              <a:buFont typeface="Arial"/>
              <a:buNone/>
            </a:pPr>
            <a:r>
              <a:rPr lang="en-US" sz="4200">
                <a:solidFill>
                  <a:schemeClr val="lt1"/>
                </a:solidFill>
                <a:latin typeface="Calibri"/>
                <a:ea typeface="Calibri"/>
                <a:cs typeface="Calibri"/>
                <a:sym typeface="Calibri"/>
              </a:rPr>
              <a:t>Asignación DTT (</a:t>
            </a:r>
            <a:r>
              <a:rPr lang="en-US" sz="4200">
                <a:solidFill>
                  <a:schemeClr val="lt1"/>
                </a:solidFill>
                <a:latin typeface="Calibri"/>
                <a:ea typeface="Calibri"/>
                <a:cs typeface="Calibri"/>
                <a:sym typeface="Calibri"/>
              </a:rPr>
              <a:t>Ultimo</a:t>
            </a:r>
            <a:r>
              <a:rPr lang="en-US" sz="4200">
                <a:solidFill>
                  <a:schemeClr val="lt1"/>
                </a:solidFill>
                <a:latin typeface="Calibri"/>
                <a:ea typeface="Calibri"/>
                <a:cs typeface="Calibri"/>
                <a:sym typeface="Calibri"/>
              </a:rPr>
              <a:t> día 13/02)</a:t>
            </a:r>
            <a:br>
              <a:rPr lang="en-US" sz="4200">
                <a:solidFill>
                  <a:schemeClr val="lt1"/>
                </a:solidFill>
                <a:latin typeface="Calibri"/>
                <a:ea typeface="Calibri"/>
                <a:cs typeface="Calibri"/>
                <a:sym typeface="Calibri"/>
              </a:rPr>
            </a:br>
            <a:r>
              <a:rPr lang="en-US" sz="4200">
                <a:solidFill>
                  <a:schemeClr val="lt1"/>
                </a:solidFill>
                <a:latin typeface="Calibri"/>
                <a:ea typeface="Calibri"/>
                <a:cs typeface="Calibri"/>
                <a:sym typeface="Calibri"/>
              </a:rPr>
              <a:t>Calificaciones practica 3 (v</a:t>
            </a:r>
            <a:r>
              <a:rPr lang="en-US" sz="4200">
                <a:solidFill>
                  <a:schemeClr val="lt1"/>
                </a:solidFill>
                <a:latin typeface="Calibri"/>
                <a:ea typeface="Calibri"/>
                <a:cs typeface="Calibri"/>
                <a:sym typeface="Calibri"/>
              </a:rPr>
              <a:t>iernes</a:t>
            </a:r>
            <a:r>
              <a:rPr lang="en-US" sz="4200">
                <a:solidFill>
                  <a:schemeClr val="lt1"/>
                </a:solidFill>
                <a:latin typeface="Calibri"/>
                <a:ea typeface="Calibri"/>
                <a:cs typeface="Calibri"/>
                <a:sym typeface="Calibri"/>
              </a:rPr>
              <a:t> y </a:t>
            </a:r>
            <a:r>
              <a:rPr lang="en-US" sz="4200">
                <a:solidFill>
                  <a:schemeClr val="lt1"/>
                </a:solidFill>
                <a:latin typeface="Calibri"/>
                <a:ea typeface="Calibri"/>
                <a:cs typeface="Calibri"/>
                <a:sym typeface="Calibri"/>
              </a:rPr>
              <a:t>sábado</a:t>
            </a:r>
            <a:r>
              <a:rPr lang="en-US" sz="4200">
                <a:solidFill>
                  <a:schemeClr val="lt1"/>
                </a:solidFill>
                <a:latin typeface="Calibri"/>
                <a:ea typeface="Calibri"/>
                <a:cs typeface="Calibri"/>
                <a:sym typeface="Calibri"/>
              </a:rPr>
              <a:t>)</a:t>
            </a:r>
            <a:endParaRPr sz="4200">
              <a:solidFill>
                <a:schemeClr val="lt1"/>
              </a:solidFill>
              <a:latin typeface="Calibri"/>
              <a:ea typeface="Calibri"/>
              <a:cs typeface="Calibri"/>
              <a:sym typeface="Calibri"/>
            </a:endParaRPr>
          </a:p>
        </p:txBody>
      </p:sp>
      <p:pic>
        <p:nvPicPr>
          <p:cNvPr id="115" name="Google Shape;115;g388fd72d901_0_7"/>
          <p:cNvPicPr preferRelativeResize="0"/>
          <p:nvPr/>
        </p:nvPicPr>
        <p:blipFill>
          <a:blip r:embed="rId5">
            <a:alphaModFix/>
          </a:blip>
          <a:stretch>
            <a:fillRect/>
          </a:stretch>
        </p:blipFill>
        <p:spPr>
          <a:xfrm>
            <a:off x="14479500" y="4082038"/>
            <a:ext cx="2616125" cy="26161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id="120" name="Google Shape;120;g35c3d30e88a_1_21"/>
          <p:cNvPicPr preferRelativeResize="0"/>
          <p:nvPr/>
        </p:nvPicPr>
        <p:blipFill>
          <a:blip r:embed="rId3">
            <a:alphaModFix/>
          </a:blip>
          <a:stretch>
            <a:fillRect/>
          </a:stretch>
        </p:blipFill>
        <p:spPr>
          <a:xfrm>
            <a:off x="70925" y="445950"/>
            <a:ext cx="18288000" cy="10287000"/>
          </a:xfrm>
          <a:prstGeom prst="rect">
            <a:avLst/>
          </a:prstGeom>
          <a:noFill/>
          <a:ln>
            <a:noFill/>
          </a:ln>
        </p:spPr>
      </p:pic>
      <p:sp>
        <p:nvSpPr>
          <p:cNvPr id="121" name="Google Shape;121;g35c3d30e88a_1_21"/>
          <p:cNvSpPr txBox="1"/>
          <p:nvPr/>
        </p:nvSpPr>
        <p:spPr>
          <a:xfrm>
            <a:off x="6730250" y="3429000"/>
            <a:ext cx="11755800" cy="4063500"/>
          </a:xfrm>
          <a:prstGeom prst="rect">
            <a:avLst/>
          </a:prstGeom>
          <a:noFill/>
          <a:ln>
            <a:noFill/>
          </a:ln>
        </p:spPr>
        <p:txBody>
          <a:bodyPr anchorCtr="0" anchor="t" bIns="91425" lIns="91425" spcFirstLastPara="1" rIns="91425" wrap="square" tIns="91425">
            <a:spAutoFit/>
          </a:bodyPr>
          <a:lstStyle/>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Personalizando el kernel de Linux</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Depuración y prueba del kernel</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Definición y función de las llamadas al sistema</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Flujo de llamadas del sistema</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Llamadas comunes al sistema en Linux</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Desarrollo de llamadas al sistema</a:t>
            </a:r>
            <a:endParaRPr b="0" i="0" sz="4200" u="none" cap="none" strike="noStrike">
              <a:solidFill>
                <a:schemeClr val="lt1"/>
              </a:solidFill>
              <a:latin typeface="Calibri"/>
              <a:ea typeface="Calibri"/>
              <a:cs typeface="Calibri"/>
              <a:sym typeface="Calibri"/>
            </a:endParaRPr>
          </a:p>
        </p:txBody>
      </p:sp>
      <p:grpSp>
        <p:nvGrpSpPr>
          <p:cNvPr id="122" name="Google Shape;122;g35c3d30e88a_1_21"/>
          <p:cNvGrpSpPr/>
          <p:nvPr/>
        </p:nvGrpSpPr>
        <p:grpSpPr>
          <a:xfrm>
            <a:off x="5261819" y="1886650"/>
            <a:ext cx="7764346" cy="707977"/>
            <a:chOff x="5261919" y="2543550"/>
            <a:chExt cx="7764346" cy="707977"/>
          </a:xfrm>
        </p:grpSpPr>
        <p:grpSp>
          <p:nvGrpSpPr>
            <p:cNvPr id="123" name="Google Shape;123;g35c3d30e88a_1_21"/>
            <p:cNvGrpSpPr/>
            <p:nvPr/>
          </p:nvGrpSpPr>
          <p:grpSpPr>
            <a:xfrm>
              <a:off x="5261919" y="2587064"/>
              <a:ext cx="7764346" cy="664463"/>
              <a:chOff x="0" y="0"/>
              <a:chExt cx="5099400" cy="436372"/>
            </a:xfrm>
          </p:grpSpPr>
          <p:sp>
            <p:nvSpPr>
              <p:cNvPr id="124" name="Google Shape;124;g35c3d30e88a_1_2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g35c3d30e88a_1_21"/>
              <p:cNvSpPr txBox="1"/>
              <p:nvPr/>
            </p:nvSpPr>
            <p:spPr>
              <a:xfrm>
                <a:off x="0" y="1372"/>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AGENDA</a:t>
                </a:r>
                <a:endParaRPr b="0" i="0" sz="1400" u="none" cap="none" strike="noStrike">
                  <a:solidFill>
                    <a:srgbClr val="000000"/>
                  </a:solidFill>
                  <a:latin typeface="Arial"/>
                  <a:ea typeface="Arial"/>
                  <a:cs typeface="Arial"/>
                  <a:sym typeface="Arial"/>
                </a:endParaRPr>
              </a:p>
            </p:txBody>
          </p:sp>
        </p:grpSp>
        <p:pic>
          <p:nvPicPr>
            <p:cNvPr id="126" name="Google Shape;126;g35c3d30e88a_1_21"/>
            <p:cNvPicPr preferRelativeResize="0"/>
            <p:nvPr/>
          </p:nvPicPr>
          <p:blipFill rotWithShape="1">
            <a:blip r:embed="rId4">
              <a:alphaModFix/>
            </a:blip>
            <a:srcRect b="0" l="0" r="0" t="0"/>
            <a:stretch/>
          </p:blipFill>
          <p:spPr>
            <a:xfrm>
              <a:off x="7758125" y="2543550"/>
              <a:ext cx="662374" cy="662374"/>
            </a:xfrm>
            <a:prstGeom prst="rect">
              <a:avLst/>
            </a:prstGeom>
            <a:noFill/>
            <a:ln>
              <a:noFill/>
            </a:ln>
          </p:spPr>
        </p:pic>
      </p:grpSp>
      <p:pic>
        <p:nvPicPr>
          <p:cNvPr id="127" name="Google Shape;127;g35c3d30e88a_1_21"/>
          <p:cNvPicPr preferRelativeResize="0"/>
          <p:nvPr/>
        </p:nvPicPr>
        <p:blipFill rotWithShape="1">
          <a:blip r:embed="rId5">
            <a:alphaModFix/>
          </a:blip>
          <a:srcRect b="0" l="0" r="0" t="0"/>
          <a:stretch/>
        </p:blipFill>
        <p:spPr>
          <a:xfrm>
            <a:off x="1264525" y="3317240"/>
            <a:ext cx="3652525" cy="3652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31" name="Shape 131"/>
        <p:cNvGrpSpPr/>
        <p:nvPr/>
      </p:nvGrpSpPr>
      <p:grpSpPr>
        <a:xfrm>
          <a:off x="0" y="0"/>
          <a:ext cx="0" cy="0"/>
          <a:chOff x="0" y="0"/>
          <a:chExt cx="0" cy="0"/>
        </a:xfrm>
      </p:grpSpPr>
      <p:grpSp>
        <p:nvGrpSpPr>
          <p:cNvPr id="132" name="Google Shape;132;g35c3d30e88a_1_108"/>
          <p:cNvGrpSpPr/>
          <p:nvPr/>
        </p:nvGrpSpPr>
        <p:grpSpPr>
          <a:xfrm>
            <a:off x="3300300" y="3865649"/>
            <a:ext cx="11687426" cy="2780189"/>
            <a:chOff x="0" y="-19050"/>
            <a:chExt cx="1876865" cy="1078889"/>
          </a:xfrm>
        </p:grpSpPr>
        <p:sp>
          <p:nvSpPr>
            <p:cNvPr id="133" name="Google Shape;133;g35c3d30e88a_1_108"/>
            <p:cNvSpPr/>
            <p:nvPr/>
          </p:nvSpPr>
          <p:spPr>
            <a:xfrm>
              <a:off x="0" y="0"/>
              <a:ext cx="1876865" cy="1059839"/>
            </a:xfrm>
            <a:custGeom>
              <a:rect b="b" l="l" r="r" t="t"/>
              <a:pathLst>
                <a:path extrusionOk="0" h="1059839" w="1876865">
                  <a:moveTo>
                    <a:pt x="55406" y="0"/>
                  </a:moveTo>
                  <a:lnTo>
                    <a:pt x="1821459" y="0"/>
                  </a:lnTo>
                  <a:cubicBezTo>
                    <a:pt x="1852059" y="0"/>
                    <a:pt x="1876865" y="24806"/>
                    <a:pt x="1876865" y="55406"/>
                  </a:cubicBezTo>
                  <a:lnTo>
                    <a:pt x="1876865" y="1004433"/>
                  </a:lnTo>
                  <a:cubicBezTo>
                    <a:pt x="1876865" y="1019128"/>
                    <a:pt x="1871027" y="1033220"/>
                    <a:pt x="1860637" y="1043611"/>
                  </a:cubicBezTo>
                  <a:cubicBezTo>
                    <a:pt x="1850246" y="1054002"/>
                    <a:pt x="1836153" y="1059839"/>
                    <a:pt x="1821459" y="1059839"/>
                  </a:cubicBezTo>
                  <a:lnTo>
                    <a:pt x="55406" y="1059839"/>
                  </a:lnTo>
                  <a:cubicBezTo>
                    <a:pt x="24806" y="1059839"/>
                    <a:pt x="0" y="1035033"/>
                    <a:pt x="0" y="1004433"/>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g35c3d30e88a_1_108"/>
            <p:cNvSpPr txBox="1"/>
            <p:nvPr/>
          </p:nvSpPr>
          <p:spPr>
            <a:xfrm>
              <a:off x="0" y="-19050"/>
              <a:ext cx="1876800" cy="1078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35" name="Google Shape;135;g35c3d30e88a_1_108"/>
          <p:cNvGrpSpPr/>
          <p:nvPr/>
        </p:nvGrpSpPr>
        <p:grpSpPr>
          <a:xfrm>
            <a:off x="3713601" y="4575230"/>
            <a:ext cx="1136538" cy="1136538"/>
            <a:chOff x="0" y="0"/>
            <a:chExt cx="812800" cy="812800"/>
          </a:xfrm>
        </p:grpSpPr>
        <p:sp>
          <p:nvSpPr>
            <p:cNvPr id="136" name="Google Shape;136;g35c3d30e88a_1_10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g35c3d30e88a_1_108"/>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8" name="Google Shape;138;g35c3d30e88a_1_108"/>
          <p:cNvSpPr/>
          <p:nvPr/>
        </p:nvSpPr>
        <p:spPr>
          <a:xfrm>
            <a:off x="3925029" y="4743205"/>
            <a:ext cx="713664" cy="713664"/>
          </a:xfrm>
          <a:custGeom>
            <a:rect b="b" l="l" r="r" t="t"/>
            <a:pathLst>
              <a:path extrusionOk="0" h="713664" w="713664">
                <a:moveTo>
                  <a:pt x="0" y="0"/>
                </a:moveTo>
                <a:lnTo>
                  <a:pt x="713664" y="0"/>
                </a:lnTo>
                <a:lnTo>
                  <a:pt x="713664" y="713664"/>
                </a:lnTo>
                <a:lnTo>
                  <a:pt x="0" y="713664"/>
                </a:lnTo>
                <a:lnTo>
                  <a:pt x="0" y="0"/>
                </a:lnTo>
                <a:close/>
              </a:path>
            </a:pathLst>
          </a:custGeom>
          <a:blipFill rotWithShape="1">
            <a:blip r:embed="rId3">
              <a:alphaModFix/>
            </a:blip>
            <a:stretch>
              <a:fillRect b="0" l="0" r="0" t="0"/>
            </a:stretch>
          </a:blipFill>
          <a:ln>
            <a:noFill/>
          </a:ln>
        </p:spPr>
      </p:sp>
      <p:sp>
        <p:nvSpPr>
          <p:cNvPr id="139" name="Google Shape;139;g35c3d30e88a_1_108"/>
          <p:cNvSpPr txBox="1"/>
          <p:nvPr/>
        </p:nvSpPr>
        <p:spPr>
          <a:xfrm>
            <a:off x="1028700" y="1089979"/>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COMPETENCIA(S) QUE DESARROLLAREMOS</a:t>
            </a:r>
            <a:endParaRPr b="0" i="0" sz="1400" u="none" cap="none" strike="noStrike">
              <a:solidFill>
                <a:srgbClr val="000000"/>
              </a:solidFill>
              <a:latin typeface="Arial"/>
              <a:ea typeface="Arial"/>
              <a:cs typeface="Arial"/>
              <a:sym typeface="Arial"/>
            </a:endParaRPr>
          </a:p>
        </p:txBody>
      </p:sp>
      <p:sp>
        <p:nvSpPr>
          <p:cNvPr id="140" name="Google Shape;140;g35c3d30e88a_1_108"/>
          <p:cNvSpPr/>
          <p:nvPr/>
        </p:nvSpPr>
        <p:spPr>
          <a:xfrm>
            <a:off x="18996545" y="55242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4">
              <a:alphaModFix/>
            </a:blip>
            <a:stretch>
              <a:fillRect b="0" l="0" r="0" t="0"/>
            </a:stretch>
          </a:blipFill>
          <a:ln>
            <a:noFill/>
          </a:ln>
        </p:spPr>
      </p:sp>
      <p:sp>
        <p:nvSpPr>
          <p:cNvPr id="141" name="Google Shape;141;g35c3d30e88a_1_108"/>
          <p:cNvSpPr txBox="1"/>
          <p:nvPr/>
        </p:nvSpPr>
        <p:spPr>
          <a:xfrm>
            <a:off x="19409211" y="6071282"/>
            <a:ext cx="3428400" cy="3725100"/>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En el programa del curso encontrarás la competencia o competencias que debe cumplir el curso que estás impartiendo.</a:t>
            </a:r>
            <a:endParaRPr b="0" i="0" sz="1400" u="none" cap="none" strike="noStrike">
              <a:solidFill>
                <a:srgbClr val="000000"/>
              </a:solidFill>
              <a:latin typeface="Arial"/>
              <a:ea typeface="Arial"/>
              <a:cs typeface="Arial"/>
              <a:sym typeface="Arial"/>
            </a:endParaRPr>
          </a:p>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Colocala(s) en este apartado </a:t>
            </a:r>
            <a:endParaRPr b="0" i="0" sz="1400" u="none" cap="none" strike="noStrike">
              <a:solidFill>
                <a:srgbClr val="000000"/>
              </a:solidFill>
              <a:latin typeface="Arial"/>
              <a:ea typeface="Arial"/>
              <a:cs typeface="Arial"/>
              <a:sym typeface="Arial"/>
            </a:endParaRPr>
          </a:p>
        </p:txBody>
      </p:sp>
      <p:sp>
        <p:nvSpPr>
          <p:cNvPr id="142" name="Google Shape;142;g35c3d30e88a_1_108"/>
          <p:cNvSpPr txBox="1"/>
          <p:nvPr/>
        </p:nvSpPr>
        <p:spPr>
          <a:xfrm>
            <a:off x="5040450" y="4336154"/>
            <a:ext cx="9287400" cy="1908600"/>
          </a:xfrm>
          <a:prstGeom prst="rect">
            <a:avLst/>
          </a:prstGeom>
          <a:noFill/>
          <a:ln>
            <a:noFill/>
          </a:ln>
        </p:spPr>
        <p:txBody>
          <a:bodyPr anchorCtr="0" anchor="t" bIns="0" lIns="0" spcFirstLastPara="1" rIns="0" wrap="square" tIns="0">
            <a:spAutoFit/>
          </a:bodyPr>
          <a:lstStyle/>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Entender el marco de referencia o estructura lógica general de un sistema operativo, que le permita la utilización, análisis y diseño de sistemas operativos.</a:t>
            </a:r>
            <a:endParaRPr b="0" i="0" sz="2000" u="none" cap="none" strike="noStrike">
              <a:solidFill>
                <a:srgbClr val="FFFFFF"/>
              </a:solidFill>
              <a:latin typeface="Montserrat"/>
              <a:ea typeface="Montserrat"/>
              <a:cs typeface="Montserrat"/>
              <a:sym typeface="Montserrat"/>
            </a:endParaRPr>
          </a:p>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Desarrollar e implementar nuevos sistemas operativos y modificar funcionalidades de sistemas operativos existentes</a:t>
            </a:r>
            <a:endParaRPr b="0" i="0" sz="20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46" name="Shape 146"/>
        <p:cNvGrpSpPr/>
        <p:nvPr/>
      </p:nvGrpSpPr>
      <p:grpSpPr>
        <a:xfrm>
          <a:off x="0" y="0"/>
          <a:ext cx="0" cy="0"/>
          <a:chOff x="0" y="0"/>
          <a:chExt cx="0" cy="0"/>
        </a:xfrm>
      </p:grpSpPr>
      <p:grpSp>
        <p:nvGrpSpPr>
          <p:cNvPr id="147" name="Google Shape;147;g3a10fbbb497_0_3"/>
          <p:cNvGrpSpPr/>
          <p:nvPr/>
        </p:nvGrpSpPr>
        <p:grpSpPr>
          <a:xfrm>
            <a:off x="3300300" y="3865649"/>
            <a:ext cx="11687426" cy="2780189"/>
            <a:chOff x="0" y="-19050"/>
            <a:chExt cx="1876865" cy="1078889"/>
          </a:xfrm>
        </p:grpSpPr>
        <p:sp>
          <p:nvSpPr>
            <p:cNvPr id="148" name="Google Shape;148;g3a10fbbb497_0_3"/>
            <p:cNvSpPr/>
            <p:nvPr/>
          </p:nvSpPr>
          <p:spPr>
            <a:xfrm>
              <a:off x="0" y="0"/>
              <a:ext cx="1876865" cy="1059839"/>
            </a:xfrm>
            <a:custGeom>
              <a:rect b="b" l="l" r="r" t="t"/>
              <a:pathLst>
                <a:path extrusionOk="0" h="1059839" w="1876865">
                  <a:moveTo>
                    <a:pt x="55406" y="0"/>
                  </a:moveTo>
                  <a:lnTo>
                    <a:pt x="1821459" y="0"/>
                  </a:lnTo>
                  <a:cubicBezTo>
                    <a:pt x="1852059" y="0"/>
                    <a:pt x="1876865" y="24806"/>
                    <a:pt x="1876865" y="55406"/>
                  </a:cubicBezTo>
                  <a:lnTo>
                    <a:pt x="1876865" y="1004433"/>
                  </a:lnTo>
                  <a:cubicBezTo>
                    <a:pt x="1876865" y="1019128"/>
                    <a:pt x="1871027" y="1033220"/>
                    <a:pt x="1860637" y="1043611"/>
                  </a:cubicBezTo>
                  <a:cubicBezTo>
                    <a:pt x="1850246" y="1054002"/>
                    <a:pt x="1836153" y="1059839"/>
                    <a:pt x="1821459" y="1059839"/>
                  </a:cubicBezTo>
                  <a:lnTo>
                    <a:pt x="55406" y="1059839"/>
                  </a:lnTo>
                  <a:cubicBezTo>
                    <a:pt x="24806" y="1059839"/>
                    <a:pt x="0" y="1035033"/>
                    <a:pt x="0" y="1004433"/>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g3a10fbbb497_0_3"/>
            <p:cNvSpPr txBox="1"/>
            <p:nvPr/>
          </p:nvSpPr>
          <p:spPr>
            <a:xfrm>
              <a:off x="0" y="-19050"/>
              <a:ext cx="1876800" cy="1078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50" name="Google Shape;150;g3a10fbbb497_0_3"/>
          <p:cNvGrpSpPr/>
          <p:nvPr/>
        </p:nvGrpSpPr>
        <p:grpSpPr>
          <a:xfrm>
            <a:off x="3713601" y="4575230"/>
            <a:ext cx="1136538" cy="1136538"/>
            <a:chOff x="0" y="0"/>
            <a:chExt cx="812800" cy="812800"/>
          </a:xfrm>
        </p:grpSpPr>
        <p:sp>
          <p:nvSpPr>
            <p:cNvPr id="151" name="Google Shape;151;g3a10fbbb497_0_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g3a10fbbb497_0_3"/>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53" name="Google Shape;153;g3a10fbbb497_0_3"/>
          <p:cNvSpPr txBox="1"/>
          <p:nvPr/>
        </p:nvSpPr>
        <p:spPr>
          <a:xfrm>
            <a:off x="1028700" y="1089979"/>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Video Tutorial: Preparar Kernel USAX</a:t>
            </a:r>
            <a:endParaRPr b="0" i="0" sz="1400" u="none" cap="none" strike="noStrike">
              <a:solidFill>
                <a:srgbClr val="000000"/>
              </a:solidFill>
              <a:latin typeface="Arial"/>
              <a:ea typeface="Arial"/>
              <a:cs typeface="Arial"/>
              <a:sym typeface="Arial"/>
            </a:endParaRPr>
          </a:p>
        </p:txBody>
      </p:sp>
      <p:sp>
        <p:nvSpPr>
          <p:cNvPr id="154" name="Google Shape;154;g3a10fbbb497_0_3"/>
          <p:cNvSpPr txBox="1"/>
          <p:nvPr/>
        </p:nvSpPr>
        <p:spPr>
          <a:xfrm>
            <a:off x="5119100" y="4978702"/>
            <a:ext cx="9287400" cy="5541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3600"/>
              <a:buFont typeface="Arial"/>
              <a:buNone/>
            </a:pPr>
            <a:r>
              <a:rPr b="1" i="0" lang="en-US" sz="3600" u="sng" cap="none" strike="noStrike">
                <a:solidFill>
                  <a:schemeClr val="lt1"/>
                </a:solidFill>
                <a:latin typeface="Montserrat"/>
                <a:ea typeface="Montserrat"/>
                <a:cs typeface="Montserrat"/>
                <a:sym typeface="Montserrat"/>
                <a:hlinkClick r:id="rId3">
                  <a:extLst>
                    <a:ext uri="{A12FA001-AC4F-418D-AE19-62706E023703}">
                      <ahyp:hlinkClr val="tx"/>
                    </a:ext>
                  </a:extLst>
                </a:hlinkClick>
              </a:rPr>
              <a:t>https://youtu.be/RAFiXfWLUMI</a:t>
            </a:r>
            <a:endParaRPr b="1" i="0" sz="3600" u="none" cap="none" strike="noStrike">
              <a:solidFill>
                <a:schemeClr val="lt1"/>
              </a:solidFill>
              <a:latin typeface="Montserrat"/>
              <a:ea typeface="Montserrat"/>
              <a:cs typeface="Montserrat"/>
              <a:sym typeface="Montserrat"/>
            </a:endParaRPr>
          </a:p>
        </p:txBody>
      </p:sp>
      <p:pic>
        <p:nvPicPr>
          <p:cNvPr id="155" name="Google Shape;155;g3a10fbbb497_0_3"/>
          <p:cNvPicPr preferRelativeResize="0"/>
          <p:nvPr/>
        </p:nvPicPr>
        <p:blipFill rotWithShape="1">
          <a:blip r:embed="rId4">
            <a:alphaModFix/>
          </a:blip>
          <a:srcRect b="0" l="0" r="0" t="0"/>
          <a:stretch/>
        </p:blipFill>
        <p:spPr>
          <a:xfrm>
            <a:off x="3949113" y="4810738"/>
            <a:ext cx="665524" cy="665524"/>
          </a:xfrm>
          <a:prstGeom prst="rect">
            <a:avLst/>
          </a:prstGeom>
          <a:noFill/>
          <a:ln>
            <a:noFill/>
          </a:ln>
        </p:spPr>
      </p:pic>
      <p:sp>
        <p:nvSpPr>
          <p:cNvPr id="156" name="Google Shape;156;g3a10fbbb497_0_3"/>
          <p:cNvSpPr txBox="1"/>
          <p:nvPr/>
        </p:nvSpPr>
        <p:spPr>
          <a:xfrm>
            <a:off x="3300300" y="1859475"/>
            <a:ext cx="11687400" cy="3540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2300" u="none" cap="none" strike="noStrike">
                <a:solidFill>
                  <a:srgbClr val="FFFFFF"/>
                </a:solidFill>
                <a:latin typeface="Arial"/>
                <a:ea typeface="Arial"/>
                <a:cs typeface="Arial"/>
                <a:sym typeface="Arial"/>
              </a:rPr>
              <a:t>Puedes ver este material de manera asíncrona cuando quieras.</a:t>
            </a:r>
            <a:endParaRPr b="0" i="0" sz="1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60" name="Shape 160"/>
        <p:cNvGrpSpPr/>
        <p:nvPr/>
      </p:nvGrpSpPr>
      <p:grpSpPr>
        <a:xfrm>
          <a:off x="0" y="0"/>
          <a:ext cx="0" cy="0"/>
          <a:chOff x="0" y="0"/>
          <a:chExt cx="0" cy="0"/>
        </a:xfrm>
      </p:grpSpPr>
      <p:sp>
        <p:nvSpPr>
          <p:cNvPr id="161" name="Google Shape;161;p2"/>
          <p:cNvSpPr/>
          <p:nvPr/>
        </p:nvSpPr>
        <p:spPr>
          <a:xfrm rot="-6500666">
            <a:off x="-2895725" y="-3724982"/>
            <a:ext cx="22771623" cy="18879746"/>
          </a:xfrm>
          <a:custGeom>
            <a:rect b="b" l="l" r="r" t="t"/>
            <a:pathLst>
              <a:path extrusionOk="0" h="18863483" w="22752008">
                <a:moveTo>
                  <a:pt x="0" y="0"/>
                </a:moveTo>
                <a:lnTo>
                  <a:pt x="22752007" y="0"/>
                </a:lnTo>
                <a:lnTo>
                  <a:pt x="22752007" y="18863483"/>
                </a:lnTo>
                <a:lnTo>
                  <a:pt x="0" y="18863483"/>
                </a:lnTo>
                <a:lnTo>
                  <a:pt x="0" y="0"/>
                </a:lnTo>
                <a:close/>
              </a:path>
            </a:pathLst>
          </a:custGeom>
          <a:blipFill rotWithShape="1">
            <a:blip r:embed="rId3">
              <a:alphaModFix/>
            </a:blip>
            <a:stretch>
              <a:fillRect b="0" l="0" r="0" t="0"/>
            </a:stretch>
          </a:blipFill>
          <a:ln>
            <a:noFill/>
          </a:ln>
        </p:spPr>
      </p:sp>
      <p:grpSp>
        <p:nvGrpSpPr>
          <p:cNvPr id="162" name="Google Shape;162;p2"/>
          <p:cNvGrpSpPr/>
          <p:nvPr/>
        </p:nvGrpSpPr>
        <p:grpSpPr>
          <a:xfrm>
            <a:off x="684792" y="596981"/>
            <a:ext cx="7289038" cy="8925544"/>
            <a:chOff x="0" y="-28575"/>
            <a:chExt cx="1919734" cy="2350745"/>
          </a:xfrm>
        </p:grpSpPr>
        <p:sp>
          <p:nvSpPr>
            <p:cNvPr id="163" name="Google Shape;163;p2"/>
            <p:cNvSpPr/>
            <p:nvPr/>
          </p:nvSpPr>
          <p:spPr>
            <a:xfrm>
              <a:off x="0" y="0"/>
              <a:ext cx="1919734" cy="2322170"/>
            </a:xfrm>
            <a:custGeom>
              <a:rect b="b" l="l" r="r" t="t"/>
              <a:pathLst>
                <a:path extrusionOk="0" h="2322170" w="1919734">
                  <a:moveTo>
                    <a:pt x="54169" y="0"/>
                  </a:moveTo>
                  <a:lnTo>
                    <a:pt x="1865564" y="0"/>
                  </a:lnTo>
                  <a:cubicBezTo>
                    <a:pt x="1895481" y="0"/>
                    <a:pt x="1919734" y="24252"/>
                    <a:pt x="1919734" y="54169"/>
                  </a:cubicBezTo>
                  <a:lnTo>
                    <a:pt x="1919734" y="2268001"/>
                  </a:lnTo>
                  <a:cubicBezTo>
                    <a:pt x="1919734" y="2282367"/>
                    <a:pt x="1914027" y="2296146"/>
                    <a:pt x="1903868" y="2306304"/>
                  </a:cubicBezTo>
                  <a:cubicBezTo>
                    <a:pt x="1893709" y="2316463"/>
                    <a:pt x="1879931" y="2322170"/>
                    <a:pt x="1865564" y="2322170"/>
                  </a:cubicBezTo>
                  <a:lnTo>
                    <a:pt x="54169" y="2322170"/>
                  </a:lnTo>
                  <a:cubicBezTo>
                    <a:pt x="24252" y="2322170"/>
                    <a:pt x="0" y="2297918"/>
                    <a:pt x="0" y="2268001"/>
                  </a:cubicBezTo>
                  <a:lnTo>
                    <a:pt x="0" y="54169"/>
                  </a:lnTo>
                  <a:cubicBezTo>
                    <a:pt x="0" y="24252"/>
                    <a:pt x="24252" y="0"/>
                    <a:pt x="5416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2"/>
            <p:cNvSpPr txBox="1"/>
            <p:nvPr/>
          </p:nvSpPr>
          <p:spPr>
            <a:xfrm>
              <a:off x="0" y="-28575"/>
              <a:ext cx="1919734" cy="235074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5" name="Google Shape;165;p2"/>
          <p:cNvSpPr txBox="1"/>
          <p:nvPr/>
        </p:nvSpPr>
        <p:spPr>
          <a:xfrm>
            <a:off x="8804950" y="3636175"/>
            <a:ext cx="8454300" cy="4359000"/>
          </a:xfrm>
          <a:prstGeom prst="rect">
            <a:avLst/>
          </a:prstGeom>
          <a:noFill/>
          <a:ln>
            <a:noFill/>
          </a:ln>
        </p:spPr>
        <p:txBody>
          <a:bodyPr anchorCtr="0" anchor="t" bIns="0" lIns="0" spcFirstLastPara="1" rIns="0" wrap="square" tIns="0">
            <a:spAutoFit/>
          </a:bodyPr>
          <a:lstStyle/>
          <a:p>
            <a:pPr indent="-381000" lvl="0" marL="457200" rtl="0" algn="just">
              <a:lnSpc>
                <a:spcPct val="130000"/>
              </a:lnSpc>
              <a:spcBef>
                <a:spcPts val="0"/>
              </a:spcBef>
              <a:spcAft>
                <a:spcPts val="0"/>
              </a:spcAft>
              <a:buClr>
                <a:srgbClr val="FFFFFF"/>
              </a:buClr>
              <a:buSzPts val="2400"/>
              <a:buFont typeface="Montserrat"/>
              <a:buChar char="●"/>
            </a:pPr>
            <a:r>
              <a:rPr b="1" lang="en-US" sz="2400">
                <a:solidFill>
                  <a:srgbClr val="FFFFFF"/>
                </a:solidFill>
                <a:latin typeface="Montserrat"/>
                <a:ea typeface="Montserrat"/>
                <a:cs typeface="Montserrat"/>
                <a:sym typeface="Montserrat"/>
              </a:rPr>
              <a:t>1969: Creación de UNIX en AT&amp;T Bell Laboratories</a:t>
            </a:r>
            <a:endParaRPr b="1" sz="2400">
              <a:solidFill>
                <a:srgbClr val="FFFFFF"/>
              </a:solidFill>
              <a:latin typeface="Montserrat"/>
              <a:ea typeface="Montserrat"/>
              <a:cs typeface="Montserrat"/>
              <a:sym typeface="Montserrat"/>
            </a:endParaRPr>
          </a:p>
          <a:p>
            <a:pPr indent="-381000" lvl="0" marL="457200" rtl="0" algn="just">
              <a:lnSpc>
                <a:spcPct val="130000"/>
              </a:lnSpc>
              <a:spcBef>
                <a:spcPts val="0"/>
              </a:spcBef>
              <a:spcAft>
                <a:spcPts val="0"/>
              </a:spcAft>
              <a:buClr>
                <a:srgbClr val="FFFFFF"/>
              </a:buClr>
              <a:buSzPts val="2400"/>
              <a:buFont typeface="Montserrat"/>
              <a:buChar char="●"/>
            </a:pPr>
            <a:r>
              <a:rPr b="1" lang="en-US" sz="2400">
                <a:solidFill>
                  <a:srgbClr val="FFFFFF"/>
                </a:solidFill>
                <a:latin typeface="Montserrat"/>
                <a:ea typeface="Montserrat"/>
                <a:cs typeface="Montserrat"/>
                <a:sym typeface="Montserrat"/>
              </a:rPr>
              <a:t>Creadores: Ken Thompson y Dennis Ritchie</a:t>
            </a:r>
            <a:endParaRPr b="1" sz="2400">
              <a:solidFill>
                <a:srgbClr val="FFFFFF"/>
              </a:solidFill>
              <a:latin typeface="Montserrat"/>
              <a:ea typeface="Montserrat"/>
              <a:cs typeface="Montserrat"/>
              <a:sym typeface="Montserrat"/>
            </a:endParaRPr>
          </a:p>
          <a:p>
            <a:pPr indent="-381000" lvl="0" marL="457200" rtl="0" algn="just">
              <a:lnSpc>
                <a:spcPct val="130000"/>
              </a:lnSpc>
              <a:spcBef>
                <a:spcPts val="0"/>
              </a:spcBef>
              <a:spcAft>
                <a:spcPts val="0"/>
              </a:spcAft>
              <a:buClr>
                <a:srgbClr val="FFFFFF"/>
              </a:buClr>
              <a:buSzPts val="2400"/>
              <a:buFont typeface="Montserrat"/>
              <a:buChar char="●"/>
            </a:pPr>
            <a:r>
              <a:rPr b="1" lang="en-US" sz="2400">
                <a:solidFill>
                  <a:srgbClr val="FFFFFF"/>
                </a:solidFill>
                <a:latin typeface="Montserrat"/>
                <a:ea typeface="Montserrat"/>
                <a:cs typeface="Montserrat"/>
                <a:sym typeface="Montserrat"/>
              </a:rPr>
              <a:t>UNIX introduce:</a:t>
            </a:r>
            <a:endParaRPr b="1" sz="2400">
              <a:solidFill>
                <a:srgbClr val="FFFFFF"/>
              </a:solidFill>
              <a:latin typeface="Montserrat"/>
              <a:ea typeface="Montserrat"/>
              <a:cs typeface="Montserrat"/>
              <a:sym typeface="Montserrat"/>
            </a:endParaRPr>
          </a:p>
          <a:p>
            <a:pPr indent="-298450" lvl="1" marL="914400" rtl="0" algn="l">
              <a:lnSpc>
                <a:spcPct val="115000"/>
              </a:lnSpc>
              <a:spcBef>
                <a:spcPts val="0"/>
              </a:spcBef>
              <a:spcAft>
                <a:spcPts val="0"/>
              </a:spcAft>
              <a:buClr>
                <a:schemeClr val="lt1"/>
              </a:buClr>
              <a:buSzPts val="1100"/>
              <a:buAutoNum type="alphaLcPeriod"/>
            </a:pPr>
            <a:r>
              <a:rPr b="1" lang="en-US" sz="2400">
                <a:solidFill>
                  <a:schemeClr val="lt1"/>
                </a:solidFill>
                <a:latin typeface="Montserrat"/>
                <a:ea typeface="Montserrat"/>
                <a:cs typeface="Montserrat"/>
                <a:sym typeface="Montserrat"/>
              </a:rPr>
              <a:t>Procesos</a:t>
            </a:r>
            <a:br>
              <a:rPr b="1" lang="en-US" sz="2400">
                <a:solidFill>
                  <a:schemeClr val="lt1"/>
                </a:solidFill>
                <a:latin typeface="Montserrat"/>
                <a:ea typeface="Montserrat"/>
                <a:cs typeface="Montserrat"/>
                <a:sym typeface="Montserrat"/>
              </a:rPr>
            </a:br>
            <a:endParaRPr b="1" sz="2400">
              <a:solidFill>
                <a:schemeClr val="lt1"/>
              </a:solidFill>
              <a:latin typeface="Montserrat"/>
              <a:ea typeface="Montserrat"/>
              <a:cs typeface="Montserrat"/>
              <a:sym typeface="Montserrat"/>
            </a:endParaRPr>
          </a:p>
          <a:p>
            <a:pPr indent="-298450" lvl="1" marL="914400" rtl="0" algn="l">
              <a:lnSpc>
                <a:spcPct val="115000"/>
              </a:lnSpc>
              <a:spcBef>
                <a:spcPts val="0"/>
              </a:spcBef>
              <a:spcAft>
                <a:spcPts val="0"/>
              </a:spcAft>
              <a:buClr>
                <a:schemeClr val="lt1"/>
              </a:buClr>
              <a:buSzPts val="1100"/>
              <a:buAutoNum type="alphaLcPeriod"/>
            </a:pPr>
            <a:r>
              <a:rPr b="1" lang="en-US" sz="2400">
                <a:solidFill>
                  <a:schemeClr val="lt1"/>
                </a:solidFill>
                <a:latin typeface="Montserrat"/>
                <a:ea typeface="Montserrat"/>
                <a:cs typeface="Montserrat"/>
                <a:sym typeface="Montserrat"/>
              </a:rPr>
              <a:t>Sistema de archivos jerárquico</a:t>
            </a:r>
            <a:br>
              <a:rPr b="1" lang="en-US" sz="2400">
                <a:solidFill>
                  <a:schemeClr val="lt1"/>
                </a:solidFill>
                <a:latin typeface="Montserrat"/>
                <a:ea typeface="Montserrat"/>
                <a:cs typeface="Montserrat"/>
                <a:sym typeface="Montserrat"/>
              </a:rPr>
            </a:br>
            <a:endParaRPr b="1" sz="2400">
              <a:solidFill>
                <a:schemeClr val="lt1"/>
              </a:solidFill>
              <a:latin typeface="Montserrat"/>
              <a:ea typeface="Montserrat"/>
              <a:cs typeface="Montserrat"/>
              <a:sym typeface="Montserrat"/>
            </a:endParaRPr>
          </a:p>
          <a:p>
            <a:pPr indent="-298450" lvl="1" marL="914400" rtl="0" algn="l">
              <a:lnSpc>
                <a:spcPct val="115000"/>
              </a:lnSpc>
              <a:spcBef>
                <a:spcPts val="0"/>
              </a:spcBef>
              <a:spcAft>
                <a:spcPts val="0"/>
              </a:spcAft>
              <a:buClr>
                <a:schemeClr val="lt1"/>
              </a:buClr>
              <a:buSzPts val="1100"/>
              <a:buAutoNum type="alphaLcPeriod"/>
            </a:pPr>
            <a:r>
              <a:rPr b="1" lang="en-US" sz="2400">
                <a:solidFill>
                  <a:schemeClr val="lt1"/>
                </a:solidFill>
                <a:latin typeface="Montserrat"/>
                <a:ea typeface="Montserrat"/>
                <a:cs typeface="Montserrat"/>
                <a:sym typeface="Montserrat"/>
              </a:rPr>
              <a:t>Filosofía modular</a:t>
            </a:r>
            <a:endParaRPr b="1" sz="2400">
              <a:solidFill>
                <a:schemeClr val="lt1"/>
              </a:solidFill>
              <a:latin typeface="Montserrat"/>
              <a:ea typeface="Montserrat"/>
              <a:cs typeface="Montserrat"/>
              <a:sym typeface="Montserrat"/>
            </a:endParaRPr>
          </a:p>
          <a:p>
            <a:pPr indent="-381000" lvl="0" marL="457200" rtl="0" algn="l">
              <a:lnSpc>
                <a:spcPct val="115000"/>
              </a:lnSpc>
              <a:spcBef>
                <a:spcPts val="0"/>
              </a:spcBef>
              <a:spcAft>
                <a:spcPts val="0"/>
              </a:spcAft>
              <a:buClr>
                <a:srgbClr val="FFFFFF"/>
              </a:buClr>
              <a:buSzPts val="2400"/>
              <a:buFont typeface="Montserrat"/>
              <a:buChar char="●"/>
            </a:pPr>
            <a:r>
              <a:rPr b="1" lang="en-US" sz="2400">
                <a:solidFill>
                  <a:srgbClr val="FFFFFF"/>
                </a:solidFill>
                <a:latin typeface="Montserrat"/>
                <a:ea typeface="Montserrat"/>
                <a:cs typeface="Montserrat"/>
                <a:sym typeface="Montserrat"/>
              </a:rPr>
              <a:t>1991: Linus Torvalds crea Linux inspirado en UNIX</a:t>
            </a:r>
            <a:endParaRPr b="1" sz="2400">
              <a:solidFill>
                <a:srgbClr val="FFFFFF"/>
              </a:solidFill>
              <a:latin typeface="Montserrat"/>
              <a:ea typeface="Montserrat"/>
              <a:cs typeface="Montserrat"/>
              <a:sym typeface="Montserrat"/>
            </a:endParaRPr>
          </a:p>
          <a:p>
            <a:pPr indent="0" lvl="0" marL="0" marR="0" rtl="0" algn="just">
              <a:lnSpc>
                <a:spcPct val="130000"/>
              </a:lnSpc>
              <a:spcBef>
                <a:spcPts val="0"/>
              </a:spcBef>
              <a:spcAft>
                <a:spcPts val="0"/>
              </a:spcAft>
              <a:buClr>
                <a:srgbClr val="000000"/>
              </a:buClr>
              <a:buSzPts val="2400"/>
              <a:buFont typeface="Arial"/>
              <a:buNone/>
            </a:pPr>
            <a:r>
              <a:t/>
            </a:r>
            <a:endParaRPr b="1" sz="2400">
              <a:solidFill>
                <a:srgbClr val="FFFFFF"/>
              </a:solidFill>
              <a:latin typeface="Montserrat"/>
              <a:ea typeface="Montserrat"/>
              <a:cs typeface="Montserrat"/>
              <a:sym typeface="Montserrat"/>
            </a:endParaRPr>
          </a:p>
        </p:txBody>
      </p:sp>
      <p:sp>
        <p:nvSpPr>
          <p:cNvPr id="166" name="Google Shape;166;p2"/>
          <p:cNvSpPr txBox="1"/>
          <p:nvPr/>
        </p:nvSpPr>
        <p:spPr>
          <a:xfrm>
            <a:off x="8804948" y="1053015"/>
            <a:ext cx="8454300" cy="17010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5000"/>
              <a:buFont typeface="Arial"/>
              <a:buNone/>
            </a:pPr>
            <a:r>
              <a:rPr lang="en-US" sz="5000">
                <a:solidFill>
                  <a:srgbClr val="FFFFFF"/>
                </a:solidFill>
              </a:rPr>
              <a:t>Origen de Linux y del concepto de Kernel moderno</a:t>
            </a:r>
            <a:endParaRPr b="0" i="0" sz="1400" u="none" cap="none" strike="noStrike">
              <a:solidFill>
                <a:srgbClr val="000000"/>
              </a:solidFill>
              <a:latin typeface="Arial"/>
              <a:ea typeface="Arial"/>
              <a:cs typeface="Arial"/>
              <a:sym typeface="Arial"/>
            </a:endParaRPr>
          </a:p>
        </p:txBody>
      </p:sp>
      <p:cxnSp>
        <p:nvCxnSpPr>
          <p:cNvPr id="167" name="Google Shape;167;p2"/>
          <p:cNvCxnSpPr/>
          <p:nvPr/>
        </p:nvCxnSpPr>
        <p:spPr>
          <a:xfrm>
            <a:off x="1083167" y="1703515"/>
            <a:ext cx="6492300" cy="0"/>
          </a:xfrm>
          <a:prstGeom prst="straightConnector1">
            <a:avLst/>
          </a:prstGeom>
          <a:noFill/>
          <a:ln cap="flat" cmpd="sng" w="38100">
            <a:solidFill>
              <a:srgbClr val="FFFFFF"/>
            </a:solidFill>
            <a:prstDash val="solid"/>
            <a:round/>
            <a:headEnd len="sm" w="sm" type="none"/>
            <a:tailEnd len="sm" w="sm" type="none"/>
          </a:ln>
        </p:spPr>
      </p:cxnSp>
      <p:cxnSp>
        <p:nvCxnSpPr>
          <p:cNvPr id="168" name="Google Shape;168;p2"/>
          <p:cNvCxnSpPr/>
          <p:nvPr/>
        </p:nvCxnSpPr>
        <p:spPr>
          <a:xfrm>
            <a:off x="1083167" y="8394780"/>
            <a:ext cx="6492300" cy="0"/>
          </a:xfrm>
          <a:prstGeom prst="straightConnector1">
            <a:avLst/>
          </a:prstGeom>
          <a:noFill/>
          <a:ln cap="flat" cmpd="sng" w="38100">
            <a:solidFill>
              <a:srgbClr val="FFFFFF"/>
            </a:solidFill>
            <a:prstDash val="solid"/>
            <a:round/>
            <a:headEnd len="sm" w="sm" type="none"/>
            <a:tailEnd len="sm" w="sm" type="none"/>
          </a:ln>
        </p:spPr>
      </p:cxnSp>
      <p:pic>
        <p:nvPicPr>
          <p:cNvPr descr="mejor si dejale el fondo blanco o ponle un fondo como de oficina" id="169" name="Google Shape;169;p2"/>
          <p:cNvPicPr preferRelativeResize="0"/>
          <p:nvPr/>
        </p:nvPicPr>
        <p:blipFill>
          <a:blip r:embed="rId4">
            <a:alphaModFix/>
          </a:blip>
          <a:stretch>
            <a:fillRect/>
          </a:stretch>
        </p:blipFill>
        <p:spPr>
          <a:xfrm>
            <a:off x="1083175" y="2297978"/>
            <a:ext cx="6592401" cy="5382075"/>
          </a:xfrm>
          <a:prstGeom prst="rect">
            <a:avLst/>
          </a:prstGeom>
          <a:noFill/>
          <a:ln>
            <a:noFill/>
          </a:ln>
        </p:spPr>
      </p:pic>
      <p:sp>
        <p:nvSpPr>
          <p:cNvPr id="170" name="Google Shape;170;p2"/>
          <p:cNvSpPr txBox="1"/>
          <p:nvPr/>
        </p:nvSpPr>
        <p:spPr>
          <a:xfrm>
            <a:off x="8756650" y="8465725"/>
            <a:ext cx="88479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600">
                <a:solidFill>
                  <a:schemeClr val="lt1"/>
                </a:solidFill>
              </a:rPr>
              <a:t>“Linux hereda la arquitectura y filosofía de UNIX”</a:t>
            </a:r>
            <a:endParaRPr b="1" sz="2600">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74" name="Shape 174"/>
        <p:cNvGrpSpPr/>
        <p:nvPr/>
      </p:nvGrpSpPr>
      <p:grpSpPr>
        <a:xfrm>
          <a:off x="0" y="0"/>
          <a:ext cx="0" cy="0"/>
          <a:chOff x="0" y="0"/>
          <a:chExt cx="0" cy="0"/>
        </a:xfrm>
      </p:grpSpPr>
      <p:grpSp>
        <p:nvGrpSpPr>
          <p:cNvPr id="175" name="Google Shape;175;g3c7d660d2a9_0_21"/>
          <p:cNvGrpSpPr/>
          <p:nvPr/>
        </p:nvGrpSpPr>
        <p:grpSpPr>
          <a:xfrm>
            <a:off x="3300300" y="3865649"/>
            <a:ext cx="11687426" cy="2780189"/>
            <a:chOff x="0" y="-19050"/>
            <a:chExt cx="1876865" cy="1078889"/>
          </a:xfrm>
        </p:grpSpPr>
        <p:sp>
          <p:nvSpPr>
            <p:cNvPr id="176" name="Google Shape;176;g3c7d660d2a9_0_21"/>
            <p:cNvSpPr/>
            <p:nvPr/>
          </p:nvSpPr>
          <p:spPr>
            <a:xfrm>
              <a:off x="0" y="0"/>
              <a:ext cx="1876865" cy="1059839"/>
            </a:xfrm>
            <a:custGeom>
              <a:rect b="b" l="l" r="r" t="t"/>
              <a:pathLst>
                <a:path extrusionOk="0" h="1059839" w="1876865">
                  <a:moveTo>
                    <a:pt x="55406" y="0"/>
                  </a:moveTo>
                  <a:lnTo>
                    <a:pt x="1821459" y="0"/>
                  </a:lnTo>
                  <a:cubicBezTo>
                    <a:pt x="1852059" y="0"/>
                    <a:pt x="1876865" y="24806"/>
                    <a:pt x="1876865" y="55406"/>
                  </a:cubicBezTo>
                  <a:lnTo>
                    <a:pt x="1876865" y="1004433"/>
                  </a:lnTo>
                  <a:cubicBezTo>
                    <a:pt x="1876865" y="1019128"/>
                    <a:pt x="1871027" y="1033220"/>
                    <a:pt x="1860637" y="1043611"/>
                  </a:cubicBezTo>
                  <a:cubicBezTo>
                    <a:pt x="1850246" y="1054002"/>
                    <a:pt x="1836153" y="1059839"/>
                    <a:pt x="1821459" y="1059839"/>
                  </a:cubicBezTo>
                  <a:lnTo>
                    <a:pt x="55406" y="1059839"/>
                  </a:lnTo>
                  <a:cubicBezTo>
                    <a:pt x="24806" y="1059839"/>
                    <a:pt x="0" y="1035033"/>
                    <a:pt x="0" y="1004433"/>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g3c7d660d2a9_0_21"/>
            <p:cNvSpPr txBox="1"/>
            <p:nvPr/>
          </p:nvSpPr>
          <p:spPr>
            <a:xfrm>
              <a:off x="0" y="-19050"/>
              <a:ext cx="1876800" cy="1078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78" name="Google Shape;178;g3c7d660d2a9_0_21"/>
          <p:cNvGrpSpPr/>
          <p:nvPr/>
        </p:nvGrpSpPr>
        <p:grpSpPr>
          <a:xfrm>
            <a:off x="3713601" y="4575230"/>
            <a:ext cx="1136538" cy="1136538"/>
            <a:chOff x="0" y="0"/>
            <a:chExt cx="812800" cy="812800"/>
          </a:xfrm>
        </p:grpSpPr>
        <p:sp>
          <p:nvSpPr>
            <p:cNvPr id="179" name="Google Shape;179;g3c7d660d2a9_0_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g3c7d660d2a9_0_21"/>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1" name="Google Shape;181;g3c7d660d2a9_0_21"/>
          <p:cNvSpPr txBox="1"/>
          <p:nvPr/>
        </p:nvSpPr>
        <p:spPr>
          <a:xfrm>
            <a:off x="1028700" y="1089979"/>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lang="en-US" sz="5000">
                <a:solidFill>
                  <a:srgbClr val="FFFFFF"/>
                </a:solidFill>
              </a:rPr>
              <a:t>Video: AT&amp;T Archives: The UNIX Operating System</a:t>
            </a:r>
            <a:endParaRPr b="0" i="0" sz="1400" u="none" cap="none" strike="noStrike">
              <a:solidFill>
                <a:srgbClr val="000000"/>
              </a:solidFill>
              <a:latin typeface="Arial"/>
              <a:ea typeface="Arial"/>
              <a:cs typeface="Arial"/>
              <a:sym typeface="Arial"/>
            </a:endParaRPr>
          </a:p>
        </p:txBody>
      </p:sp>
      <p:sp>
        <p:nvSpPr>
          <p:cNvPr id="182" name="Google Shape;182;g3c7d660d2a9_0_21"/>
          <p:cNvSpPr txBox="1"/>
          <p:nvPr/>
        </p:nvSpPr>
        <p:spPr>
          <a:xfrm>
            <a:off x="5149500" y="4810752"/>
            <a:ext cx="9287400" cy="12744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3600"/>
              <a:buFont typeface="Arial"/>
              <a:buNone/>
            </a:pPr>
            <a:r>
              <a:rPr b="1" lang="en-US" sz="3600" u="sng">
                <a:solidFill>
                  <a:schemeClr val="lt1"/>
                </a:solidFill>
                <a:latin typeface="Montserrat"/>
                <a:ea typeface="Montserrat"/>
                <a:cs typeface="Montserrat"/>
                <a:sym typeface="Montserrat"/>
                <a:hlinkClick r:id="rId3">
                  <a:extLst>
                    <a:ext uri="{A12FA001-AC4F-418D-AE19-62706E023703}">
                      <ahyp:hlinkClr val="tx"/>
                    </a:ext>
                  </a:extLst>
                </a:hlinkClick>
              </a:rPr>
              <a:t>https://www.youtube.com/watch?v=tc4ROCJYbm0</a:t>
            </a:r>
            <a:endParaRPr b="1" i="0" sz="3600" u="none" cap="none" strike="noStrike">
              <a:solidFill>
                <a:schemeClr val="lt1"/>
              </a:solidFill>
              <a:latin typeface="Montserrat"/>
              <a:ea typeface="Montserrat"/>
              <a:cs typeface="Montserrat"/>
              <a:sym typeface="Montserrat"/>
            </a:endParaRPr>
          </a:p>
        </p:txBody>
      </p:sp>
      <p:pic>
        <p:nvPicPr>
          <p:cNvPr id="183" name="Google Shape;183;g3c7d660d2a9_0_21"/>
          <p:cNvPicPr preferRelativeResize="0"/>
          <p:nvPr/>
        </p:nvPicPr>
        <p:blipFill rotWithShape="1">
          <a:blip r:embed="rId4">
            <a:alphaModFix/>
          </a:blip>
          <a:srcRect b="0" l="0" r="0" t="0"/>
          <a:stretch/>
        </p:blipFill>
        <p:spPr>
          <a:xfrm>
            <a:off x="3949113" y="4810738"/>
            <a:ext cx="665524" cy="665524"/>
          </a:xfrm>
          <a:prstGeom prst="rect">
            <a:avLst/>
          </a:prstGeom>
          <a:noFill/>
          <a:ln>
            <a:noFill/>
          </a:ln>
        </p:spPr>
      </p:pic>
      <p:sp>
        <p:nvSpPr>
          <p:cNvPr id="184" name="Google Shape;184;g3c7d660d2a9_0_21"/>
          <p:cNvSpPr txBox="1"/>
          <p:nvPr/>
        </p:nvSpPr>
        <p:spPr>
          <a:xfrm>
            <a:off x="3300300" y="1859475"/>
            <a:ext cx="11687400" cy="3540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2300" u="none" cap="none" strike="noStrike">
                <a:solidFill>
                  <a:srgbClr val="FFFFFF"/>
                </a:solidFill>
                <a:latin typeface="Arial"/>
                <a:ea typeface="Arial"/>
                <a:cs typeface="Arial"/>
                <a:sym typeface="Arial"/>
              </a:rPr>
              <a:t>Puedes ver este material de manera asíncrona cuando quieras.</a:t>
            </a:r>
            <a:endParaRPr b="0" i="0" sz="1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88" name="Shape 188"/>
        <p:cNvGrpSpPr/>
        <p:nvPr/>
      </p:nvGrpSpPr>
      <p:grpSpPr>
        <a:xfrm>
          <a:off x="0" y="0"/>
          <a:ext cx="0" cy="0"/>
          <a:chOff x="0" y="0"/>
          <a:chExt cx="0" cy="0"/>
        </a:xfrm>
      </p:grpSpPr>
      <p:sp>
        <p:nvSpPr>
          <p:cNvPr id="189" name="Google Shape;189;g3c7d660d2a9_0_0"/>
          <p:cNvSpPr/>
          <p:nvPr/>
        </p:nvSpPr>
        <p:spPr>
          <a:xfrm rot="-6500666">
            <a:off x="-2895725" y="-3724982"/>
            <a:ext cx="22771623" cy="18879746"/>
          </a:xfrm>
          <a:custGeom>
            <a:rect b="b" l="l" r="r" t="t"/>
            <a:pathLst>
              <a:path extrusionOk="0" h="18863483" w="22752008">
                <a:moveTo>
                  <a:pt x="0" y="0"/>
                </a:moveTo>
                <a:lnTo>
                  <a:pt x="22752007" y="0"/>
                </a:lnTo>
                <a:lnTo>
                  <a:pt x="22752007" y="18863483"/>
                </a:lnTo>
                <a:lnTo>
                  <a:pt x="0" y="18863483"/>
                </a:lnTo>
                <a:lnTo>
                  <a:pt x="0" y="0"/>
                </a:lnTo>
                <a:close/>
              </a:path>
            </a:pathLst>
          </a:custGeom>
          <a:blipFill rotWithShape="1">
            <a:blip r:embed="rId3">
              <a:alphaModFix/>
            </a:blip>
            <a:stretch>
              <a:fillRect b="0" l="0" r="0" t="0"/>
            </a:stretch>
          </a:blipFill>
          <a:ln>
            <a:noFill/>
          </a:ln>
        </p:spPr>
      </p:sp>
      <p:grpSp>
        <p:nvGrpSpPr>
          <p:cNvPr id="190" name="Google Shape;190;g3c7d660d2a9_0_0"/>
          <p:cNvGrpSpPr/>
          <p:nvPr/>
        </p:nvGrpSpPr>
        <p:grpSpPr>
          <a:xfrm>
            <a:off x="684792" y="596981"/>
            <a:ext cx="7289038" cy="8925753"/>
            <a:chOff x="0" y="-28575"/>
            <a:chExt cx="1919734" cy="2350800"/>
          </a:xfrm>
        </p:grpSpPr>
        <p:sp>
          <p:nvSpPr>
            <p:cNvPr id="191" name="Google Shape;191;g3c7d660d2a9_0_0"/>
            <p:cNvSpPr/>
            <p:nvPr/>
          </p:nvSpPr>
          <p:spPr>
            <a:xfrm>
              <a:off x="0" y="0"/>
              <a:ext cx="1919734" cy="2322170"/>
            </a:xfrm>
            <a:custGeom>
              <a:rect b="b" l="l" r="r" t="t"/>
              <a:pathLst>
                <a:path extrusionOk="0" h="2322170" w="1919734">
                  <a:moveTo>
                    <a:pt x="54169" y="0"/>
                  </a:moveTo>
                  <a:lnTo>
                    <a:pt x="1865564" y="0"/>
                  </a:lnTo>
                  <a:cubicBezTo>
                    <a:pt x="1895481" y="0"/>
                    <a:pt x="1919734" y="24252"/>
                    <a:pt x="1919734" y="54169"/>
                  </a:cubicBezTo>
                  <a:lnTo>
                    <a:pt x="1919734" y="2268001"/>
                  </a:lnTo>
                  <a:cubicBezTo>
                    <a:pt x="1919734" y="2282367"/>
                    <a:pt x="1914027" y="2296146"/>
                    <a:pt x="1903868" y="2306304"/>
                  </a:cubicBezTo>
                  <a:cubicBezTo>
                    <a:pt x="1893709" y="2316463"/>
                    <a:pt x="1879931" y="2322170"/>
                    <a:pt x="1865564" y="2322170"/>
                  </a:cubicBezTo>
                  <a:lnTo>
                    <a:pt x="54169" y="2322170"/>
                  </a:lnTo>
                  <a:cubicBezTo>
                    <a:pt x="24252" y="2322170"/>
                    <a:pt x="0" y="2297918"/>
                    <a:pt x="0" y="2268001"/>
                  </a:cubicBezTo>
                  <a:lnTo>
                    <a:pt x="0" y="54169"/>
                  </a:lnTo>
                  <a:cubicBezTo>
                    <a:pt x="0" y="24252"/>
                    <a:pt x="24252" y="0"/>
                    <a:pt x="5416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g3c7d660d2a9_0_0"/>
            <p:cNvSpPr txBox="1"/>
            <p:nvPr/>
          </p:nvSpPr>
          <p:spPr>
            <a:xfrm>
              <a:off x="0" y="-28575"/>
              <a:ext cx="1919700" cy="2350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93" name="Google Shape;193;g3c7d660d2a9_0_0"/>
          <p:cNvSpPr/>
          <p:nvPr/>
        </p:nvSpPr>
        <p:spPr>
          <a:xfrm>
            <a:off x="1440255" y="2224941"/>
            <a:ext cx="5778062" cy="5778062"/>
          </a:xfrm>
          <a:custGeom>
            <a:rect b="b" l="l" r="r" t="t"/>
            <a:pathLst>
              <a:path extrusionOk="0" h="5778062" w="5778062">
                <a:moveTo>
                  <a:pt x="0" y="0"/>
                </a:moveTo>
                <a:lnTo>
                  <a:pt x="5778063" y="0"/>
                </a:lnTo>
                <a:lnTo>
                  <a:pt x="5778063" y="5778063"/>
                </a:lnTo>
                <a:lnTo>
                  <a:pt x="0" y="5778063"/>
                </a:lnTo>
                <a:lnTo>
                  <a:pt x="0" y="0"/>
                </a:lnTo>
                <a:close/>
              </a:path>
            </a:pathLst>
          </a:custGeom>
          <a:blipFill rotWithShape="1">
            <a:blip r:embed="rId4">
              <a:alphaModFix/>
            </a:blip>
            <a:stretch>
              <a:fillRect b="0" l="0" r="0" t="0"/>
            </a:stretch>
          </a:blipFill>
          <a:ln>
            <a:noFill/>
          </a:ln>
        </p:spPr>
      </p:sp>
      <p:sp>
        <p:nvSpPr>
          <p:cNvPr id="194" name="Google Shape;194;g3c7d660d2a9_0_0"/>
          <p:cNvSpPr txBox="1"/>
          <p:nvPr/>
        </p:nvSpPr>
        <p:spPr>
          <a:xfrm>
            <a:off x="8804950" y="2683500"/>
            <a:ext cx="8454300" cy="75732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Clr>
                <a:srgbClr val="000000"/>
              </a:buClr>
              <a:buSzPts val="2400"/>
              <a:buFont typeface="Arial"/>
              <a:buNone/>
            </a:pPr>
            <a:r>
              <a:rPr b="1" i="0" lang="en-US" sz="2400" u="none" cap="none" strike="noStrike">
                <a:solidFill>
                  <a:srgbClr val="FFFFFF"/>
                </a:solidFill>
                <a:latin typeface="Montserrat"/>
                <a:ea typeface="Montserrat"/>
                <a:cs typeface="Montserrat"/>
                <a:sym typeface="Montserrat"/>
              </a:rPr>
              <a:t>Configuración:</a:t>
            </a:r>
            <a:endParaRPr b="1" i="0" sz="2400" u="none" cap="none" strike="noStrike">
              <a:solidFill>
                <a:srgbClr val="FFFFFF"/>
              </a:solidFill>
              <a:latin typeface="Montserrat"/>
              <a:ea typeface="Montserrat"/>
              <a:cs typeface="Montserrat"/>
              <a:sym typeface="Montserrat"/>
            </a:endParaRPr>
          </a:p>
          <a:p>
            <a:pPr indent="0" lvl="0" marL="0" marR="0" rtl="0" algn="just">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El proceso comienza con la configuración, un paso que determina las características y módulos que incluirá el kernel. Herramientas como make menuconfig ofrecen una interfaz gráfica para alternar opciones, guiando a los usuarios a través de la infinidad de posibilidades.</a:t>
            </a:r>
            <a:endParaRPr b="0" i="0" sz="2400" u="none" cap="none" strike="noStrike">
              <a:solidFill>
                <a:srgbClr val="FFFFFF"/>
              </a:solidFill>
              <a:latin typeface="Montserrat"/>
              <a:ea typeface="Montserrat"/>
              <a:cs typeface="Montserrat"/>
              <a:sym typeface="Montserrat"/>
            </a:endParaRPr>
          </a:p>
          <a:p>
            <a:pPr indent="0" lvl="0" marL="0" marR="0" rtl="0" algn="just">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just">
              <a:lnSpc>
                <a:spcPct val="130000"/>
              </a:lnSpc>
              <a:spcBef>
                <a:spcPts val="0"/>
              </a:spcBef>
              <a:spcAft>
                <a:spcPts val="0"/>
              </a:spcAft>
              <a:buClr>
                <a:srgbClr val="000000"/>
              </a:buClr>
              <a:buSzPts val="2400"/>
              <a:buFont typeface="Arial"/>
              <a:buNone/>
            </a:pPr>
            <a:r>
              <a:rPr b="1" i="0" lang="en-US" sz="2400" u="none" cap="none" strike="noStrike">
                <a:solidFill>
                  <a:srgbClr val="FFFFFF"/>
                </a:solidFill>
                <a:latin typeface="Montserrat"/>
                <a:ea typeface="Montserrat"/>
                <a:cs typeface="Montserrat"/>
                <a:sym typeface="Montserrat"/>
              </a:rPr>
              <a:t>Compilar el kernel:</a:t>
            </a:r>
            <a:endParaRPr b="1" i="0" sz="2400" u="none" cap="none" strike="noStrike">
              <a:solidFill>
                <a:srgbClr val="FFFFFF"/>
              </a:solidFill>
              <a:latin typeface="Montserrat"/>
              <a:ea typeface="Montserrat"/>
              <a:cs typeface="Montserrat"/>
              <a:sym typeface="Montserrat"/>
            </a:endParaRPr>
          </a:p>
          <a:p>
            <a:pPr indent="0" lvl="0" marL="0" marR="0" rtl="0" algn="just">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Con la configuración establecida, la siguiente fase es la compilación, que transforma el código fuente en un kernel ejecutable. Este proceso se inicia con comandos como make y make modules_install, un procedimiento meticuloso que puede llevar tiempo, dependiendo de las capacidades del sistema y la complejidad del kernel.</a:t>
            </a:r>
            <a:endParaRPr b="0" i="0" sz="2400" u="none" cap="none" strike="noStrike">
              <a:solidFill>
                <a:srgbClr val="FFFFFF"/>
              </a:solidFill>
              <a:latin typeface="Montserrat"/>
              <a:ea typeface="Montserrat"/>
              <a:cs typeface="Montserrat"/>
              <a:sym typeface="Montserrat"/>
            </a:endParaRPr>
          </a:p>
          <a:p>
            <a:pPr indent="0" lvl="0" marL="0" marR="0" rtl="0" algn="just">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just">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p:txBody>
      </p:sp>
      <p:sp>
        <p:nvSpPr>
          <p:cNvPr id="195" name="Google Shape;195;g3c7d660d2a9_0_0"/>
          <p:cNvSpPr txBox="1"/>
          <p:nvPr/>
        </p:nvSpPr>
        <p:spPr>
          <a:xfrm>
            <a:off x="8804948" y="596965"/>
            <a:ext cx="8454300" cy="17010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PERSONALIZAR EL KERNEL DE LINUX</a:t>
            </a:r>
            <a:endParaRPr b="0" i="0" sz="1400" u="none" cap="none" strike="noStrike">
              <a:solidFill>
                <a:srgbClr val="000000"/>
              </a:solidFill>
              <a:latin typeface="Arial"/>
              <a:ea typeface="Arial"/>
              <a:cs typeface="Arial"/>
              <a:sym typeface="Arial"/>
            </a:endParaRPr>
          </a:p>
        </p:txBody>
      </p:sp>
      <p:cxnSp>
        <p:nvCxnSpPr>
          <p:cNvPr id="196" name="Google Shape;196;g3c7d660d2a9_0_0"/>
          <p:cNvCxnSpPr/>
          <p:nvPr/>
        </p:nvCxnSpPr>
        <p:spPr>
          <a:xfrm>
            <a:off x="1083167" y="1703515"/>
            <a:ext cx="6492300" cy="0"/>
          </a:xfrm>
          <a:prstGeom prst="straightConnector1">
            <a:avLst/>
          </a:prstGeom>
          <a:noFill/>
          <a:ln cap="flat" cmpd="sng" w="38100">
            <a:solidFill>
              <a:srgbClr val="FFFFFF"/>
            </a:solidFill>
            <a:prstDash val="solid"/>
            <a:round/>
            <a:headEnd len="sm" w="sm" type="none"/>
            <a:tailEnd len="sm" w="sm" type="none"/>
          </a:ln>
        </p:spPr>
      </p:cxnSp>
      <p:cxnSp>
        <p:nvCxnSpPr>
          <p:cNvPr id="197" name="Google Shape;197;g3c7d660d2a9_0_0"/>
          <p:cNvCxnSpPr/>
          <p:nvPr/>
        </p:nvCxnSpPr>
        <p:spPr>
          <a:xfrm>
            <a:off x="1083167" y="8394780"/>
            <a:ext cx="6492300" cy="0"/>
          </a:xfrm>
          <a:prstGeom prst="straightConnector1">
            <a:avLst/>
          </a:prstGeom>
          <a:noFill/>
          <a:ln cap="flat" cmpd="sng" w="38100">
            <a:solidFill>
              <a:srgbClr val="FFFFFF"/>
            </a:solidFill>
            <a:prstDash val="solid"/>
            <a:round/>
            <a:headEnd len="sm" w="sm" type="none"/>
            <a:tailEnd len="sm" w="sm"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01" name="Shape 201"/>
        <p:cNvGrpSpPr/>
        <p:nvPr/>
      </p:nvGrpSpPr>
      <p:grpSpPr>
        <a:xfrm>
          <a:off x="0" y="0"/>
          <a:ext cx="0" cy="0"/>
          <a:chOff x="0" y="0"/>
          <a:chExt cx="0" cy="0"/>
        </a:xfrm>
      </p:grpSpPr>
      <p:sp>
        <p:nvSpPr>
          <p:cNvPr id="202" name="Google Shape;202;g35c3d30e88a_1_199"/>
          <p:cNvSpPr/>
          <p:nvPr/>
        </p:nvSpPr>
        <p:spPr>
          <a:xfrm rot="-6500666">
            <a:off x="-2895725" y="-3724982"/>
            <a:ext cx="22771623" cy="18879746"/>
          </a:xfrm>
          <a:custGeom>
            <a:rect b="b" l="l" r="r" t="t"/>
            <a:pathLst>
              <a:path extrusionOk="0" h="18863483" w="22752008">
                <a:moveTo>
                  <a:pt x="0" y="0"/>
                </a:moveTo>
                <a:lnTo>
                  <a:pt x="22752007" y="0"/>
                </a:lnTo>
                <a:lnTo>
                  <a:pt x="22752007" y="18863483"/>
                </a:lnTo>
                <a:lnTo>
                  <a:pt x="0" y="18863483"/>
                </a:lnTo>
                <a:lnTo>
                  <a:pt x="0" y="0"/>
                </a:lnTo>
                <a:close/>
              </a:path>
            </a:pathLst>
          </a:custGeom>
          <a:blipFill rotWithShape="1">
            <a:blip r:embed="rId3">
              <a:alphaModFix/>
            </a:blip>
            <a:stretch>
              <a:fillRect b="0" l="0" r="0" t="0"/>
            </a:stretch>
          </a:blipFill>
          <a:ln>
            <a:noFill/>
          </a:ln>
        </p:spPr>
      </p:sp>
      <p:grpSp>
        <p:nvGrpSpPr>
          <p:cNvPr id="203" name="Google Shape;203;g35c3d30e88a_1_199"/>
          <p:cNvGrpSpPr/>
          <p:nvPr/>
        </p:nvGrpSpPr>
        <p:grpSpPr>
          <a:xfrm>
            <a:off x="684792" y="596982"/>
            <a:ext cx="7289038" cy="8925753"/>
            <a:chOff x="0" y="-28575"/>
            <a:chExt cx="1919734" cy="2350800"/>
          </a:xfrm>
        </p:grpSpPr>
        <p:sp>
          <p:nvSpPr>
            <p:cNvPr id="204" name="Google Shape;204;g35c3d30e88a_1_199"/>
            <p:cNvSpPr/>
            <p:nvPr/>
          </p:nvSpPr>
          <p:spPr>
            <a:xfrm>
              <a:off x="0" y="0"/>
              <a:ext cx="1919734" cy="2322170"/>
            </a:xfrm>
            <a:custGeom>
              <a:rect b="b" l="l" r="r" t="t"/>
              <a:pathLst>
                <a:path extrusionOk="0" h="2322170" w="1919734">
                  <a:moveTo>
                    <a:pt x="54169" y="0"/>
                  </a:moveTo>
                  <a:lnTo>
                    <a:pt x="1865564" y="0"/>
                  </a:lnTo>
                  <a:cubicBezTo>
                    <a:pt x="1895481" y="0"/>
                    <a:pt x="1919734" y="24252"/>
                    <a:pt x="1919734" y="54169"/>
                  </a:cubicBezTo>
                  <a:lnTo>
                    <a:pt x="1919734" y="2268001"/>
                  </a:lnTo>
                  <a:cubicBezTo>
                    <a:pt x="1919734" y="2282367"/>
                    <a:pt x="1914027" y="2296146"/>
                    <a:pt x="1903868" y="2306304"/>
                  </a:cubicBezTo>
                  <a:cubicBezTo>
                    <a:pt x="1893709" y="2316463"/>
                    <a:pt x="1879931" y="2322170"/>
                    <a:pt x="1865564" y="2322170"/>
                  </a:cubicBezTo>
                  <a:lnTo>
                    <a:pt x="54169" y="2322170"/>
                  </a:lnTo>
                  <a:cubicBezTo>
                    <a:pt x="24252" y="2322170"/>
                    <a:pt x="0" y="2297918"/>
                    <a:pt x="0" y="2268001"/>
                  </a:cubicBezTo>
                  <a:lnTo>
                    <a:pt x="0" y="54169"/>
                  </a:lnTo>
                  <a:cubicBezTo>
                    <a:pt x="0" y="24252"/>
                    <a:pt x="24252" y="0"/>
                    <a:pt x="5416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g35c3d30e88a_1_199"/>
            <p:cNvSpPr txBox="1"/>
            <p:nvPr/>
          </p:nvSpPr>
          <p:spPr>
            <a:xfrm>
              <a:off x="0" y="-28575"/>
              <a:ext cx="1919700" cy="2350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6" name="Google Shape;206;g35c3d30e88a_1_199"/>
          <p:cNvSpPr txBox="1"/>
          <p:nvPr/>
        </p:nvSpPr>
        <p:spPr>
          <a:xfrm>
            <a:off x="8804950" y="2683500"/>
            <a:ext cx="8454300" cy="66126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Clr>
                <a:srgbClr val="000000"/>
              </a:buClr>
              <a:buSzPts val="2400"/>
              <a:buFont typeface="Arial"/>
              <a:buNone/>
            </a:pPr>
            <a:r>
              <a:rPr b="1" i="0" lang="en-US" sz="2400" u="none" cap="none" strike="noStrike">
                <a:solidFill>
                  <a:srgbClr val="FFFFFF"/>
                </a:solidFill>
                <a:latin typeface="Montserrat"/>
                <a:ea typeface="Montserrat"/>
                <a:cs typeface="Montserrat"/>
                <a:sym typeface="Montserrat"/>
              </a:rPr>
              <a:t>Instalación del kernel personalizado</a:t>
            </a:r>
            <a:endParaRPr b="1" i="0" sz="2400" u="none" cap="none" strike="noStrike">
              <a:solidFill>
                <a:srgbClr val="FFFFFF"/>
              </a:solidFill>
              <a:latin typeface="Montserrat"/>
              <a:ea typeface="Montserrat"/>
              <a:cs typeface="Montserrat"/>
              <a:sym typeface="Montserrat"/>
            </a:endParaRPr>
          </a:p>
          <a:p>
            <a:pPr indent="0" lvl="0" marL="0" marR="0" rtl="0" algn="just">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Tras la compilación, se instala el nuevo kernel. Esto implica copiar la imagen del kernel al directorio de arranque y, posiblemente, actualizar la configuración del gestor de arranque para incluir el nuevo kernel como opción de arranque, garantizando así que el sistema pueda arrancar con este núcleo personalizado.</a:t>
            </a:r>
            <a:endParaRPr b="0" i="0" sz="2400" u="none" cap="none" strike="noStrike">
              <a:solidFill>
                <a:srgbClr val="FFFFFF"/>
              </a:solidFill>
              <a:latin typeface="Montserrat"/>
              <a:ea typeface="Montserrat"/>
              <a:cs typeface="Montserrat"/>
              <a:sym typeface="Montserrat"/>
            </a:endParaRPr>
          </a:p>
          <a:p>
            <a:pPr indent="0" lvl="0" marL="0" marR="0" rtl="0" algn="just">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just">
              <a:lnSpc>
                <a:spcPct val="130000"/>
              </a:lnSpc>
              <a:spcBef>
                <a:spcPts val="0"/>
              </a:spcBef>
              <a:spcAft>
                <a:spcPts val="0"/>
              </a:spcAft>
              <a:buClr>
                <a:srgbClr val="000000"/>
              </a:buClr>
              <a:buSzPts val="2400"/>
              <a:buFont typeface="Arial"/>
              <a:buNone/>
            </a:pPr>
            <a:r>
              <a:rPr b="1" i="0" lang="en-US" sz="2400" u="none" cap="none" strike="noStrike">
                <a:solidFill>
                  <a:srgbClr val="FFFFFF"/>
                </a:solidFill>
                <a:latin typeface="Montserrat"/>
                <a:ea typeface="Montserrat"/>
                <a:cs typeface="Montserrat"/>
                <a:sym typeface="Montserrat"/>
              </a:rPr>
              <a:t>Pruebas y validación</a:t>
            </a:r>
            <a:endParaRPr b="1" i="0" sz="2400" u="none" cap="none" strike="noStrike">
              <a:solidFill>
                <a:srgbClr val="FFFFFF"/>
              </a:solidFill>
              <a:latin typeface="Montserrat"/>
              <a:ea typeface="Montserrat"/>
              <a:cs typeface="Montserrat"/>
              <a:sym typeface="Montserrat"/>
            </a:endParaRPr>
          </a:p>
          <a:p>
            <a:pPr indent="0" lvl="0" marL="0" marR="0" rtl="0" algn="just">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El último paso es la prueba, donde se reinicia el sistema con el nuevo kernel. Esta fase es crucial para verificar que el sistema funciona como se espera, con todo el hardware reconocido y funcionando correctamente.</a:t>
            </a:r>
            <a:endParaRPr b="0" i="0" sz="2400" u="none" cap="none" strike="noStrike">
              <a:solidFill>
                <a:srgbClr val="FFFFFF"/>
              </a:solidFill>
              <a:latin typeface="Montserrat"/>
              <a:ea typeface="Montserrat"/>
              <a:cs typeface="Montserrat"/>
              <a:sym typeface="Montserrat"/>
            </a:endParaRPr>
          </a:p>
        </p:txBody>
      </p:sp>
      <p:sp>
        <p:nvSpPr>
          <p:cNvPr id="207" name="Google Shape;207;g35c3d30e88a_1_199"/>
          <p:cNvSpPr txBox="1"/>
          <p:nvPr/>
        </p:nvSpPr>
        <p:spPr>
          <a:xfrm>
            <a:off x="8804948" y="596965"/>
            <a:ext cx="8454300" cy="17010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PERSONALIZAR EL KERNEL DE LINUX</a:t>
            </a:r>
            <a:endParaRPr b="0" i="0" sz="1400" u="none" cap="none" strike="noStrike">
              <a:solidFill>
                <a:srgbClr val="000000"/>
              </a:solidFill>
              <a:latin typeface="Arial"/>
              <a:ea typeface="Arial"/>
              <a:cs typeface="Arial"/>
              <a:sym typeface="Arial"/>
            </a:endParaRPr>
          </a:p>
        </p:txBody>
      </p:sp>
      <p:cxnSp>
        <p:nvCxnSpPr>
          <p:cNvPr id="208" name="Google Shape;208;g35c3d30e88a_1_199"/>
          <p:cNvCxnSpPr/>
          <p:nvPr/>
        </p:nvCxnSpPr>
        <p:spPr>
          <a:xfrm>
            <a:off x="1083167" y="1703515"/>
            <a:ext cx="6492300" cy="0"/>
          </a:xfrm>
          <a:prstGeom prst="straightConnector1">
            <a:avLst/>
          </a:prstGeom>
          <a:noFill/>
          <a:ln cap="flat" cmpd="sng" w="38100">
            <a:solidFill>
              <a:srgbClr val="FFFFFF"/>
            </a:solidFill>
            <a:prstDash val="solid"/>
            <a:round/>
            <a:headEnd len="sm" w="sm" type="none"/>
            <a:tailEnd len="sm" w="sm" type="none"/>
          </a:ln>
        </p:spPr>
      </p:cxnSp>
      <p:cxnSp>
        <p:nvCxnSpPr>
          <p:cNvPr id="209" name="Google Shape;209;g35c3d30e88a_1_199"/>
          <p:cNvCxnSpPr/>
          <p:nvPr/>
        </p:nvCxnSpPr>
        <p:spPr>
          <a:xfrm>
            <a:off x="1083167" y="8394780"/>
            <a:ext cx="6492300" cy="0"/>
          </a:xfrm>
          <a:prstGeom prst="straightConnector1">
            <a:avLst/>
          </a:prstGeom>
          <a:noFill/>
          <a:ln cap="flat" cmpd="sng" w="38100">
            <a:solidFill>
              <a:srgbClr val="FFFFFF"/>
            </a:solidFill>
            <a:prstDash val="solid"/>
            <a:round/>
            <a:headEnd len="sm" w="sm" type="none"/>
            <a:tailEnd len="sm" w="sm" type="none"/>
          </a:ln>
        </p:spPr>
      </p:cxnSp>
      <p:pic>
        <p:nvPicPr>
          <p:cNvPr id="210" name="Google Shape;210;g35c3d30e88a_1_199" title="bae30e0c7acfec296e5a30d0a75af0f1.gif"/>
          <p:cNvPicPr preferRelativeResize="0"/>
          <p:nvPr/>
        </p:nvPicPr>
        <p:blipFill>
          <a:blip r:embed="rId4">
            <a:alphaModFix/>
          </a:blip>
          <a:stretch>
            <a:fillRect/>
          </a:stretch>
        </p:blipFill>
        <p:spPr>
          <a:xfrm>
            <a:off x="1364275" y="2638750"/>
            <a:ext cx="5639650" cy="41212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14" name="Shape 214"/>
        <p:cNvGrpSpPr/>
        <p:nvPr/>
      </p:nvGrpSpPr>
      <p:grpSpPr>
        <a:xfrm>
          <a:off x="0" y="0"/>
          <a:ext cx="0" cy="0"/>
          <a:chOff x="0" y="0"/>
          <a:chExt cx="0" cy="0"/>
        </a:xfrm>
      </p:grpSpPr>
      <p:grpSp>
        <p:nvGrpSpPr>
          <p:cNvPr id="215" name="Google Shape;215;p5"/>
          <p:cNvGrpSpPr/>
          <p:nvPr/>
        </p:nvGrpSpPr>
        <p:grpSpPr>
          <a:xfrm>
            <a:off x="876525" y="2296225"/>
            <a:ext cx="9578350" cy="7675267"/>
            <a:chOff x="0" y="-28575"/>
            <a:chExt cx="2177442" cy="1741450"/>
          </a:xfrm>
        </p:grpSpPr>
        <p:sp>
          <p:nvSpPr>
            <p:cNvPr id="216" name="Google Shape;216;p5"/>
            <p:cNvSpPr/>
            <p:nvPr/>
          </p:nvSpPr>
          <p:spPr>
            <a:xfrm>
              <a:off x="0" y="0"/>
              <a:ext cx="2177442" cy="1712875"/>
            </a:xfrm>
            <a:custGeom>
              <a:rect b="b" l="l" r="r" t="t"/>
              <a:pathLst>
                <a:path extrusionOk="0" h="1712875" w="2177442">
                  <a:moveTo>
                    <a:pt x="47758" y="0"/>
                  </a:moveTo>
                  <a:lnTo>
                    <a:pt x="2129684" y="0"/>
                  </a:lnTo>
                  <a:cubicBezTo>
                    <a:pt x="2142350" y="0"/>
                    <a:pt x="2154498" y="5032"/>
                    <a:pt x="2163454" y="13988"/>
                  </a:cubicBezTo>
                  <a:cubicBezTo>
                    <a:pt x="2172411" y="22944"/>
                    <a:pt x="2177442" y="35092"/>
                    <a:pt x="2177442" y="47758"/>
                  </a:cubicBezTo>
                  <a:lnTo>
                    <a:pt x="2177442" y="1665117"/>
                  </a:lnTo>
                  <a:cubicBezTo>
                    <a:pt x="2177442" y="1677783"/>
                    <a:pt x="2172411" y="1689931"/>
                    <a:pt x="2163454" y="1698887"/>
                  </a:cubicBezTo>
                  <a:cubicBezTo>
                    <a:pt x="2154498" y="1707844"/>
                    <a:pt x="2142350" y="1712875"/>
                    <a:pt x="2129684" y="1712875"/>
                  </a:cubicBezTo>
                  <a:lnTo>
                    <a:pt x="47758" y="1712875"/>
                  </a:lnTo>
                  <a:cubicBezTo>
                    <a:pt x="35092" y="1712875"/>
                    <a:pt x="22944" y="1707844"/>
                    <a:pt x="13988" y="1698887"/>
                  </a:cubicBezTo>
                  <a:cubicBezTo>
                    <a:pt x="5032" y="1689931"/>
                    <a:pt x="0" y="1677783"/>
                    <a:pt x="0" y="1665117"/>
                  </a:cubicBezTo>
                  <a:lnTo>
                    <a:pt x="0" y="47758"/>
                  </a:lnTo>
                  <a:cubicBezTo>
                    <a:pt x="0" y="35092"/>
                    <a:pt x="5032" y="22944"/>
                    <a:pt x="13988" y="13988"/>
                  </a:cubicBezTo>
                  <a:cubicBezTo>
                    <a:pt x="22944" y="5032"/>
                    <a:pt x="35092" y="0"/>
                    <a:pt x="4775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5"/>
            <p:cNvSpPr txBox="1"/>
            <p:nvPr/>
          </p:nvSpPr>
          <p:spPr>
            <a:xfrm>
              <a:off x="0" y="-28575"/>
              <a:ext cx="2177442" cy="1741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18" name="Google Shape;218;p5"/>
          <p:cNvSpPr txBox="1"/>
          <p:nvPr/>
        </p:nvSpPr>
        <p:spPr>
          <a:xfrm>
            <a:off x="876524" y="1019175"/>
            <a:ext cx="8137500" cy="769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Depuración y Prueba</a:t>
            </a:r>
            <a:endParaRPr b="0" i="0" sz="1400" u="none" cap="none" strike="noStrike">
              <a:solidFill>
                <a:srgbClr val="000000"/>
              </a:solidFill>
              <a:latin typeface="Arial"/>
              <a:ea typeface="Arial"/>
              <a:cs typeface="Arial"/>
              <a:sym typeface="Arial"/>
            </a:endParaRPr>
          </a:p>
        </p:txBody>
      </p:sp>
      <p:sp>
        <p:nvSpPr>
          <p:cNvPr id="219" name="Google Shape;219;p5"/>
          <p:cNvSpPr txBox="1"/>
          <p:nvPr/>
        </p:nvSpPr>
        <p:spPr>
          <a:xfrm>
            <a:off x="1352925" y="2645600"/>
            <a:ext cx="8368500" cy="4617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Los logs del kernel son mensajes que el sistema operativo genera en tiempo de ejecución para informar sobre eventos importantes, advertencias, errores, o simplemente para ayudar en el seguimiento del estado del sistema. En el contexto de desarrollo del kernel, los logs son vitales para entender qué está ocurriendo dentro del núcleo sin necesidad de herramientas invasivas.</a:t>
            </a:r>
            <a:endParaRPr b="0" i="0" sz="3200" u="none" cap="none" strike="noStrike">
              <a:solidFill>
                <a:schemeClr val="lt1"/>
              </a:solidFill>
              <a:latin typeface="Calibri"/>
              <a:ea typeface="Calibri"/>
              <a:cs typeface="Calibri"/>
              <a:sym typeface="Calibri"/>
            </a:endParaRPr>
          </a:p>
        </p:txBody>
      </p:sp>
      <p:pic>
        <p:nvPicPr>
          <p:cNvPr id="220" name="Google Shape;220;p5"/>
          <p:cNvPicPr preferRelativeResize="0"/>
          <p:nvPr/>
        </p:nvPicPr>
        <p:blipFill rotWithShape="1">
          <a:blip r:embed="rId3">
            <a:alphaModFix/>
          </a:blip>
          <a:srcRect b="0" l="0" r="0" t="0"/>
          <a:stretch/>
        </p:blipFill>
        <p:spPr>
          <a:xfrm>
            <a:off x="10561923" y="2883300"/>
            <a:ext cx="7528327" cy="5064954"/>
          </a:xfrm>
          <a:prstGeom prst="rect">
            <a:avLst/>
          </a:prstGeom>
          <a:noFill/>
          <a:ln>
            <a:noFill/>
          </a:ln>
        </p:spPr>
      </p:pic>
      <p:sp>
        <p:nvSpPr>
          <p:cNvPr id="221" name="Google Shape;221;p5"/>
          <p:cNvSpPr txBox="1"/>
          <p:nvPr/>
        </p:nvSpPr>
        <p:spPr>
          <a:xfrm>
            <a:off x="1352925" y="7140225"/>
            <a:ext cx="8368500" cy="1169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Se utiliza la función printk(), análoga a printf() en espacio de usuario:</a:t>
            </a:r>
            <a:endParaRPr b="0" i="0" sz="3200" u="none" cap="none" strike="noStrike">
              <a:solidFill>
                <a:schemeClr val="lt1"/>
              </a:solidFill>
              <a:latin typeface="Calibri"/>
              <a:ea typeface="Calibri"/>
              <a:cs typeface="Calibri"/>
              <a:sym typeface="Calibri"/>
            </a:endParaRPr>
          </a:p>
        </p:txBody>
      </p:sp>
      <p:sp>
        <p:nvSpPr>
          <p:cNvPr id="222" name="Google Shape;222;p5"/>
          <p:cNvSpPr txBox="1"/>
          <p:nvPr/>
        </p:nvSpPr>
        <p:spPr>
          <a:xfrm>
            <a:off x="1352925" y="8449225"/>
            <a:ext cx="8368500" cy="1169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highlight>
                  <a:schemeClr val="dk1"/>
                </a:highlight>
                <a:latin typeface="Calibri"/>
                <a:ea typeface="Calibri"/>
                <a:cs typeface="Calibri"/>
                <a:sym typeface="Calibri"/>
              </a:rPr>
              <a:t>printk(KERN_INFO "Este es un mensaje de prueba: %d\n", variable);</a:t>
            </a:r>
            <a:endParaRPr b="0" i="0" sz="3200" u="none" cap="none" strike="noStrike">
              <a:solidFill>
                <a:schemeClr val="lt1"/>
              </a:solidFill>
              <a:highlight>
                <a:schemeClr val="dk1"/>
              </a:highlight>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26" name="Shape 226"/>
        <p:cNvGrpSpPr/>
        <p:nvPr/>
      </p:nvGrpSpPr>
      <p:grpSpPr>
        <a:xfrm>
          <a:off x="0" y="0"/>
          <a:ext cx="0" cy="0"/>
          <a:chOff x="0" y="0"/>
          <a:chExt cx="0" cy="0"/>
        </a:xfrm>
      </p:grpSpPr>
      <p:sp>
        <p:nvSpPr>
          <p:cNvPr id="227" name="Google Shape;227;g35c3d30e88a_1_224"/>
          <p:cNvSpPr/>
          <p:nvPr/>
        </p:nvSpPr>
        <p:spPr>
          <a:xfrm rot="-10160180">
            <a:off x="-11890406" y="-5668260"/>
            <a:ext cx="25058689" cy="17085470"/>
          </a:xfrm>
          <a:custGeom>
            <a:rect b="b" l="l" r="r" t="t"/>
            <a:pathLst>
              <a:path extrusionOk="0" h="17089476" w="25064564">
                <a:moveTo>
                  <a:pt x="0" y="0"/>
                </a:moveTo>
                <a:lnTo>
                  <a:pt x="25064564" y="0"/>
                </a:lnTo>
                <a:lnTo>
                  <a:pt x="25064564" y="17089475"/>
                </a:lnTo>
                <a:lnTo>
                  <a:pt x="0" y="17089475"/>
                </a:lnTo>
                <a:lnTo>
                  <a:pt x="0" y="0"/>
                </a:lnTo>
                <a:close/>
              </a:path>
            </a:pathLst>
          </a:custGeom>
          <a:blipFill rotWithShape="1">
            <a:blip r:embed="rId3">
              <a:alphaModFix amt="46000"/>
            </a:blip>
            <a:stretch>
              <a:fillRect b="0" l="0" r="0" t="0"/>
            </a:stretch>
          </a:blipFill>
          <a:ln>
            <a:noFill/>
          </a:ln>
        </p:spPr>
      </p:sp>
      <p:grpSp>
        <p:nvGrpSpPr>
          <p:cNvPr id="228" name="Google Shape;228;g35c3d30e88a_1_224"/>
          <p:cNvGrpSpPr/>
          <p:nvPr/>
        </p:nvGrpSpPr>
        <p:grpSpPr>
          <a:xfrm>
            <a:off x="486300" y="4569250"/>
            <a:ext cx="7519162" cy="4592905"/>
            <a:chOff x="0" y="-19050"/>
            <a:chExt cx="2214123" cy="1050984"/>
          </a:xfrm>
        </p:grpSpPr>
        <p:sp>
          <p:nvSpPr>
            <p:cNvPr id="229" name="Google Shape;229;g35c3d30e88a_1_224"/>
            <p:cNvSpPr/>
            <p:nvPr/>
          </p:nvSpPr>
          <p:spPr>
            <a:xfrm>
              <a:off x="0" y="0"/>
              <a:ext cx="2214123" cy="1031934"/>
            </a:xfrm>
            <a:custGeom>
              <a:rect b="b" l="l" r="r" t="t"/>
              <a:pathLst>
                <a:path extrusionOk="0" h="1031934" w="2214123">
                  <a:moveTo>
                    <a:pt x="56125" y="0"/>
                  </a:moveTo>
                  <a:lnTo>
                    <a:pt x="2157998" y="0"/>
                  </a:lnTo>
                  <a:cubicBezTo>
                    <a:pt x="2172883" y="0"/>
                    <a:pt x="2187159" y="5913"/>
                    <a:pt x="2197684" y="16439"/>
                  </a:cubicBezTo>
                  <a:cubicBezTo>
                    <a:pt x="2208210" y="26964"/>
                    <a:pt x="2214123" y="41239"/>
                    <a:pt x="2214123" y="56125"/>
                  </a:cubicBezTo>
                  <a:lnTo>
                    <a:pt x="2214123" y="975810"/>
                  </a:lnTo>
                  <a:cubicBezTo>
                    <a:pt x="2214123" y="990695"/>
                    <a:pt x="2208210" y="1004970"/>
                    <a:pt x="2197684" y="1015496"/>
                  </a:cubicBezTo>
                  <a:cubicBezTo>
                    <a:pt x="2187159" y="1026021"/>
                    <a:pt x="2172883" y="1031934"/>
                    <a:pt x="2157998" y="1031934"/>
                  </a:cubicBezTo>
                  <a:lnTo>
                    <a:pt x="56125" y="1031934"/>
                  </a:lnTo>
                  <a:cubicBezTo>
                    <a:pt x="41239" y="1031934"/>
                    <a:pt x="26964" y="1026021"/>
                    <a:pt x="16439" y="1015496"/>
                  </a:cubicBezTo>
                  <a:cubicBezTo>
                    <a:pt x="5913" y="1004970"/>
                    <a:pt x="0" y="990695"/>
                    <a:pt x="0" y="975810"/>
                  </a:cubicBezTo>
                  <a:lnTo>
                    <a:pt x="0" y="56125"/>
                  </a:lnTo>
                  <a:cubicBezTo>
                    <a:pt x="0" y="41239"/>
                    <a:pt x="5913" y="26964"/>
                    <a:pt x="16439" y="16439"/>
                  </a:cubicBezTo>
                  <a:cubicBezTo>
                    <a:pt x="26964" y="5913"/>
                    <a:pt x="41239" y="0"/>
                    <a:pt x="5612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g35c3d30e88a_1_224"/>
            <p:cNvSpPr txBox="1"/>
            <p:nvPr/>
          </p:nvSpPr>
          <p:spPr>
            <a:xfrm>
              <a:off x="0" y="-19050"/>
              <a:ext cx="2214000" cy="1050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1" name="Google Shape;231;g35c3d30e88a_1_224"/>
          <p:cNvSpPr txBox="1"/>
          <p:nvPr/>
        </p:nvSpPr>
        <p:spPr>
          <a:xfrm>
            <a:off x="1028700" y="1019175"/>
            <a:ext cx="6198900" cy="27213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8000"/>
              <a:buFont typeface="Arial"/>
              <a:buNone/>
            </a:pPr>
            <a:r>
              <a:rPr b="0" i="0" lang="en-US" sz="8000" u="none" cap="none" strike="noStrike">
                <a:solidFill>
                  <a:srgbClr val="FFFFFF"/>
                </a:solidFill>
                <a:latin typeface="Arial"/>
                <a:ea typeface="Arial"/>
                <a:cs typeface="Arial"/>
                <a:sym typeface="Arial"/>
              </a:rPr>
              <a:t>NIVELES DE SEVERIDAD</a:t>
            </a:r>
            <a:endParaRPr b="0" i="0" sz="1400" u="none" cap="none" strike="noStrike">
              <a:solidFill>
                <a:srgbClr val="000000"/>
              </a:solidFill>
              <a:latin typeface="Arial"/>
              <a:ea typeface="Arial"/>
              <a:cs typeface="Arial"/>
              <a:sym typeface="Arial"/>
            </a:endParaRPr>
          </a:p>
        </p:txBody>
      </p:sp>
      <p:pic>
        <p:nvPicPr>
          <p:cNvPr id="232" name="Google Shape;232;g35c3d30e88a_1_224"/>
          <p:cNvPicPr preferRelativeResize="0"/>
          <p:nvPr/>
        </p:nvPicPr>
        <p:blipFill rotWithShape="1">
          <a:blip r:embed="rId4">
            <a:alphaModFix/>
          </a:blip>
          <a:srcRect b="0" l="0" r="0" t="0"/>
          <a:stretch/>
        </p:blipFill>
        <p:spPr>
          <a:xfrm>
            <a:off x="955594" y="4910400"/>
            <a:ext cx="6580550" cy="3910588"/>
          </a:xfrm>
          <a:prstGeom prst="rect">
            <a:avLst/>
          </a:prstGeom>
          <a:noFill/>
          <a:ln>
            <a:noFill/>
          </a:ln>
        </p:spPr>
      </p:pic>
      <p:graphicFrame>
        <p:nvGraphicFramePr>
          <p:cNvPr id="233" name="Google Shape;233;g35c3d30e88a_1_224"/>
          <p:cNvGraphicFramePr/>
          <p:nvPr/>
        </p:nvGraphicFramePr>
        <p:xfrm>
          <a:off x="8293300" y="1019175"/>
          <a:ext cx="3000000" cy="3000000"/>
        </p:xfrm>
        <a:graphic>
          <a:graphicData uri="http://schemas.openxmlformats.org/drawingml/2006/table">
            <a:tbl>
              <a:tblPr>
                <a:noFill/>
                <a:tableStyleId>{C13E3B60-D3E3-4679-9A44-24BEF137AF0A}</a:tableStyleId>
              </a:tblPr>
              <a:tblGrid>
                <a:gridCol w="1038550"/>
                <a:gridCol w="2405075"/>
                <a:gridCol w="5602725"/>
              </a:tblGrid>
              <a:tr h="1150025">
                <a:tc>
                  <a:txBody>
                    <a:bodyPr/>
                    <a:lstStyle/>
                    <a:p>
                      <a:pPr indent="0" lvl="0" marL="0" marR="0" rtl="0" algn="ctr">
                        <a:lnSpc>
                          <a:spcPct val="115000"/>
                        </a:lnSpc>
                        <a:spcBef>
                          <a:spcPts val="0"/>
                        </a:spcBef>
                        <a:spcAft>
                          <a:spcPts val="0"/>
                        </a:spcAft>
                        <a:buClr>
                          <a:srgbClr val="000000"/>
                        </a:buClr>
                        <a:buSzPts val="1800"/>
                        <a:buFont typeface="Arial"/>
                        <a:buNone/>
                      </a:pPr>
                      <a:r>
                        <a:rPr b="1" lang="en-US" sz="1800" u="none" cap="none" strike="noStrike">
                          <a:solidFill>
                            <a:schemeClr val="lt1"/>
                          </a:solidFill>
                        </a:rPr>
                        <a:t>Nivel</a:t>
                      </a:r>
                      <a:endParaRPr b="1"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ctr">
                        <a:lnSpc>
                          <a:spcPct val="115000"/>
                        </a:lnSpc>
                        <a:spcBef>
                          <a:spcPts val="0"/>
                        </a:spcBef>
                        <a:spcAft>
                          <a:spcPts val="0"/>
                        </a:spcAft>
                        <a:buClr>
                          <a:srgbClr val="000000"/>
                        </a:buClr>
                        <a:buSzPts val="1800"/>
                        <a:buFont typeface="Arial"/>
                        <a:buNone/>
                      </a:pPr>
                      <a:r>
                        <a:rPr b="1" lang="en-US" sz="1800" u="none" cap="none" strike="noStrike">
                          <a:solidFill>
                            <a:schemeClr val="lt1"/>
                          </a:solidFill>
                        </a:rPr>
                        <a:t>Constante</a:t>
                      </a:r>
                      <a:endParaRPr b="1"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ctr">
                        <a:lnSpc>
                          <a:spcPct val="115000"/>
                        </a:lnSpc>
                        <a:spcBef>
                          <a:spcPts val="0"/>
                        </a:spcBef>
                        <a:spcAft>
                          <a:spcPts val="0"/>
                        </a:spcAft>
                        <a:buClr>
                          <a:srgbClr val="000000"/>
                        </a:buClr>
                        <a:buSzPts val="1800"/>
                        <a:buFont typeface="Arial"/>
                        <a:buNone/>
                      </a:pPr>
                      <a:r>
                        <a:rPr b="1" lang="en-US" sz="1800" u="none" cap="none" strike="noStrike">
                          <a:solidFill>
                            <a:schemeClr val="lt1"/>
                          </a:solidFill>
                        </a:rPr>
                        <a:t>Descripción</a:t>
                      </a:r>
                      <a:endParaRPr b="1"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r>
              <a:tr h="91767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0</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KERN_EMERG</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Emergencia, el sistema no sirve</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r>
              <a:tr h="91767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1</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KERN_ALERT</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Se requiere acción inmediata</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r>
              <a:tr h="91767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2</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KERN_CRIT</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Estado crítico del sistema</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r>
              <a:tr h="8015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3</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KERN_ERR</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Error</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r>
              <a:tr h="8015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4</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KERN_WARNING</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Advertencia</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r>
              <a:tr h="91767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5</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KERN_NOTICE</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Información importante</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r>
              <a:tr h="8015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6</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KERN_INFO</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Información general</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r>
              <a:tr h="91767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7</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KERN_DEBUG</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Información para depuración</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37" name="Shape 237"/>
        <p:cNvGrpSpPr/>
        <p:nvPr/>
      </p:nvGrpSpPr>
      <p:grpSpPr>
        <a:xfrm>
          <a:off x="0" y="0"/>
          <a:ext cx="0" cy="0"/>
          <a:chOff x="0" y="0"/>
          <a:chExt cx="0" cy="0"/>
        </a:xfrm>
      </p:grpSpPr>
      <p:grpSp>
        <p:nvGrpSpPr>
          <p:cNvPr id="238" name="Google Shape;238;g35c3d30e88a_1_251"/>
          <p:cNvGrpSpPr/>
          <p:nvPr/>
        </p:nvGrpSpPr>
        <p:grpSpPr>
          <a:xfrm>
            <a:off x="876525" y="2296226"/>
            <a:ext cx="9578350" cy="7109674"/>
            <a:chOff x="0" y="-28575"/>
            <a:chExt cx="2177442" cy="1741500"/>
          </a:xfrm>
        </p:grpSpPr>
        <p:sp>
          <p:nvSpPr>
            <p:cNvPr id="239" name="Google Shape;239;g35c3d30e88a_1_251"/>
            <p:cNvSpPr/>
            <p:nvPr/>
          </p:nvSpPr>
          <p:spPr>
            <a:xfrm>
              <a:off x="0" y="0"/>
              <a:ext cx="2177442" cy="1712875"/>
            </a:xfrm>
            <a:custGeom>
              <a:rect b="b" l="l" r="r" t="t"/>
              <a:pathLst>
                <a:path extrusionOk="0" h="1712875" w="2177442">
                  <a:moveTo>
                    <a:pt x="47758" y="0"/>
                  </a:moveTo>
                  <a:lnTo>
                    <a:pt x="2129684" y="0"/>
                  </a:lnTo>
                  <a:cubicBezTo>
                    <a:pt x="2142350" y="0"/>
                    <a:pt x="2154498" y="5032"/>
                    <a:pt x="2163454" y="13988"/>
                  </a:cubicBezTo>
                  <a:cubicBezTo>
                    <a:pt x="2172411" y="22944"/>
                    <a:pt x="2177442" y="35092"/>
                    <a:pt x="2177442" y="47758"/>
                  </a:cubicBezTo>
                  <a:lnTo>
                    <a:pt x="2177442" y="1665117"/>
                  </a:lnTo>
                  <a:cubicBezTo>
                    <a:pt x="2177442" y="1677783"/>
                    <a:pt x="2172411" y="1689931"/>
                    <a:pt x="2163454" y="1698887"/>
                  </a:cubicBezTo>
                  <a:cubicBezTo>
                    <a:pt x="2154498" y="1707844"/>
                    <a:pt x="2142350" y="1712875"/>
                    <a:pt x="2129684" y="1712875"/>
                  </a:cubicBezTo>
                  <a:lnTo>
                    <a:pt x="47758" y="1712875"/>
                  </a:lnTo>
                  <a:cubicBezTo>
                    <a:pt x="35092" y="1712875"/>
                    <a:pt x="22944" y="1707844"/>
                    <a:pt x="13988" y="1698887"/>
                  </a:cubicBezTo>
                  <a:cubicBezTo>
                    <a:pt x="5032" y="1689931"/>
                    <a:pt x="0" y="1677783"/>
                    <a:pt x="0" y="1665117"/>
                  </a:cubicBezTo>
                  <a:lnTo>
                    <a:pt x="0" y="47758"/>
                  </a:lnTo>
                  <a:cubicBezTo>
                    <a:pt x="0" y="35092"/>
                    <a:pt x="5032" y="22944"/>
                    <a:pt x="13988" y="13988"/>
                  </a:cubicBezTo>
                  <a:cubicBezTo>
                    <a:pt x="22944" y="5032"/>
                    <a:pt x="35092" y="0"/>
                    <a:pt x="4775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g35c3d30e88a_1_251"/>
            <p:cNvSpPr txBox="1"/>
            <p:nvPr/>
          </p:nvSpPr>
          <p:spPr>
            <a:xfrm>
              <a:off x="0" y="-28575"/>
              <a:ext cx="2177400" cy="1741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41" name="Google Shape;241;g35c3d30e88a_1_251"/>
          <p:cNvSpPr txBox="1"/>
          <p:nvPr/>
        </p:nvSpPr>
        <p:spPr>
          <a:xfrm>
            <a:off x="876525" y="1019175"/>
            <a:ext cx="9578400" cy="769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¿Donde ver estos mensajes?</a:t>
            </a:r>
            <a:endParaRPr b="0" i="0" sz="1400" u="none" cap="none" strike="noStrike">
              <a:solidFill>
                <a:srgbClr val="000000"/>
              </a:solidFill>
              <a:latin typeface="Arial"/>
              <a:ea typeface="Arial"/>
              <a:cs typeface="Arial"/>
              <a:sym typeface="Arial"/>
            </a:endParaRPr>
          </a:p>
        </p:txBody>
      </p:sp>
      <p:sp>
        <p:nvSpPr>
          <p:cNvPr id="242" name="Google Shape;242;g35c3d30e88a_1_251"/>
          <p:cNvSpPr txBox="1"/>
          <p:nvPr/>
        </p:nvSpPr>
        <p:spPr>
          <a:xfrm>
            <a:off x="1338025" y="3106975"/>
            <a:ext cx="8368500" cy="31401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Los logs del kernel se almacenan en un buffer circular de memoria accesible mediante herramientas del espacio de usuario:</a:t>
            </a:r>
            <a:endParaRPr b="0" i="0" sz="32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3200"/>
              <a:buFont typeface="Arial"/>
              <a:buNone/>
            </a:pPr>
            <a:r>
              <a:t/>
            </a:r>
            <a:endParaRPr b="0" i="0" sz="32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dmesg</a:t>
            </a:r>
            <a:endParaRPr b="0" i="0" sz="32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Muestra el buffer de logs del kernel:</a:t>
            </a:r>
            <a:endParaRPr b="0" i="0" sz="3200" u="none" cap="none" strike="noStrike">
              <a:solidFill>
                <a:schemeClr val="lt1"/>
              </a:solidFill>
              <a:latin typeface="Calibri"/>
              <a:ea typeface="Calibri"/>
              <a:cs typeface="Calibri"/>
              <a:sym typeface="Calibri"/>
            </a:endParaRPr>
          </a:p>
        </p:txBody>
      </p:sp>
      <p:sp>
        <p:nvSpPr>
          <p:cNvPr id="243" name="Google Shape;243;g35c3d30e88a_1_251"/>
          <p:cNvSpPr txBox="1"/>
          <p:nvPr/>
        </p:nvSpPr>
        <p:spPr>
          <a:xfrm>
            <a:off x="1338025" y="6247075"/>
            <a:ext cx="8368500" cy="6771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highlight>
                  <a:schemeClr val="dk1"/>
                </a:highlight>
                <a:latin typeface="Calibri"/>
                <a:ea typeface="Calibri"/>
                <a:cs typeface="Calibri"/>
                <a:sym typeface="Calibri"/>
              </a:rPr>
              <a:t>dmesg | grep mi_syscall</a:t>
            </a:r>
            <a:endParaRPr b="0" i="0" sz="3200" u="none" cap="none" strike="noStrike">
              <a:solidFill>
                <a:schemeClr val="lt1"/>
              </a:solidFill>
              <a:highlight>
                <a:schemeClr val="dk1"/>
              </a:highlight>
              <a:latin typeface="Calibri"/>
              <a:ea typeface="Calibri"/>
              <a:cs typeface="Calibri"/>
              <a:sym typeface="Calibri"/>
            </a:endParaRPr>
          </a:p>
        </p:txBody>
      </p:sp>
      <p:sp>
        <p:nvSpPr>
          <p:cNvPr id="244" name="Google Shape;244;g35c3d30e88a_1_251"/>
          <p:cNvSpPr txBox="1"/>
          <p:nvPr/>
        </p:nvSpPr>
        <p:spPr>
          <a:xfrm>
            <a:off x="1338025" y="6924175"/>
            <a:ext cx="8368500" cy="6771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3200"/>
              <a:buFont typeface="Arial"/>
              <a:buNone/>
            </a:pPr>
            <a:r>
              <a:t/>
            </a:r>
            <a:endParaRPr b="0" i="0" sz="3200" u="none" cap="none" strike="noStrike">
              <a:solidFill>
                <a:schemeClr val="lt1"/>
              </a:solidFill>
              <a:latin typeface="Calibri"/>
              <a:ea typeface="Calibri"/>
              <a:cs typeface="Calibri"/>
              <a:sym typeface="Calibri"/>
            </a:endParaRPr>
          </a:p>
        </p:txBody>
      </p:sp>
      <p:grpSp>
        <p:nvGrpSpPr>
          <p:cNvPr id="245" name="Google Shape;245;g35c3d30e88a_1_251"/>
          <p:cNvGrpSpPr/>
          <p:nvPr/>
        </p:nvGrpSpPr>
        <p:grpSpPr>
          <a:xfrm>
            <a:off x="10894225" y="1019175"/>
            <a:ext cx="7203196" cy="8386716"/>
            <a:chOff x="0" y="-28575"/>
            <a:chExt cx="2177442" cy="1741500"/>
          </a:xfrm>
        </p:grpSpPr>
        <p:sp>
          <p:nvSpPr>
            <p:cNvPr id="246" name="Google Shape;246;g35c3d30e88a_1_251"/>
            <p:cNvSpPr/>
            <p:nvPr/>
          </p:nvSpPr>
          <p:spPr>
            <a:xfrm>
              <a:off x="0" y="0"/>
              <a:ext cx="2177442" cy="1712875"/>
            </a:xfrm>
            <a:custGeom>
              <a:rect b="b" l="l" r="r" t="t"/>
              <a:pathLst>
                <a:path extrusionOk="0" h="1712875" w="2177442">
                  <a:moveTo>
                    <a:pt x="47758" y="0"/>
                  </a:moveTo>
                  <a:lnTo>
                    <a:pt x="2129684" y="0"/>
                  </a:lnTo>
                  <a:cubicBezTo>
                    <a:pt x="2142350" y="0"/>
                    <a:pt x="2154498" y="5032"/>
                    <a:pt x="2163454" y="13988"/>
                  </a:cubicBezTo>
                  <a:cubicBezTo>
                    <a:pt x="2172411" y="22944"/>
                    <a:pt x="2177442" y="35092"/>
                    <a:pt x="2177442" y="47758"/>
                  </a:cubicBezTo>
                  <a:lnTo>
                    <a:pt x="2177442" y="1665117"/>
                  </a:lnTo>
                  <a:cubicBezTo>
                    <a:pt x="2177442" y="1677783"/>
                    <a:pt x="2172411" y="1689931"/>
                    <a:pt x="2163454" y="1698887"/>
                  </a:cubicBezTo>
                  <a:cubicBezTo>
                    <a:pt x="2154498" y="1707844"/>
                    <a:pt x="2142350" y="1712875"/>
                    <a:pt x="2129684" y="1712875"/>
                  </a:cubicBezTo>
                  <a:lnTo>
                    <a:pt x="47758" y="1712875"/>
                  </a:lnTo>
                  <a:cubicBezTo>
                    <a:pt x="35092" y="1712875"/>
                    <a:pt x="22944" y="1707844"/>
                    <a:pt x="13988" y="1698887"/>
                  </a:cubicBezTo>
                  <a:cubicBezTo>
                    <a:pt x="5032" y="1689931"/>
                    <a:pt x="0" y="1677783"/>
                    <a:pt x="0" y="1665117"/>
                  </a:cubicBezTo>
                  <a:lnTo>
                    <a:pt x="0" y="47758"/>
                  </a:lnTo>
                  <a:cubicBezTo>
                    <a:pt x="0" y="35092"/>
                    <a:pt x="5032" y="22944"/>
                    <a:pt x="13988" y="13988"/>
                  </a:cubicBezTo>
                  <a:cubicBezTo>
                    <a:pt x="22944" y="5032"/>
                    <a:pt x="35092" y="0"/>
                    <a:pt x="4775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g35c3d30e88a_1_251"/>
            <p:cNvSpPr txBox="1"/>
            <p:nvPr/>
          </p:nvSpPr>
          <p:spPr>
            <a:xfrm>
              <a:off x="0" y="-28575"/>
              <a:ext cx="2177400" cy="1741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48" name="Google Shape;248;g35c3d30e88a_1_251"/>
          <p:cNvSpPr txBox="1"/>
          <p:nvPr/>
        </p:nvSpPr>
        <p:spPr>
          <a:xfrm>
            <a:off x="11191875" y="1547850"/>
            <a:ext cx="6183000" cy="5110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chemeClr val="dk1"/>
              </a:buClr>
              <a:buSzPts val="1100"/>
              <a:buFont typeface="Arial"/>
              <a:buNone/>
            </a:pPr>
            <a:r>
              <a:rPr b="0" i="0" lang="en-US" sz="3200" u="none" cap="none" strike="noStrike">
                <a:solidFill>
                  <a:schemeClr val="lt1"/>
                </a:solidFill>
                <a:latin typeface="Calibri"/>
                <a:ea typeface="Calibri"/>
                <a:cs typeface="Calibri"/>
                <a:sym typeface="Calibri"/>
              </a:rPr>
              <a:t>b. /var/log/kern.log o /var/log/messages</a:t>
            </a:r>
            <a:endParaRPr b="0" i="0" sz="32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1100"/>
              <a:buFont typeface="Arial"/>
              <a:buNone/>
            </a:pPr>
            <a:r>
              <a:rPr b="0" i="0" lang="en-US" sz="3200" u="none" cap="none" strike="noStrike">
                <a:solidFill>
                  <a:schemeClr val="lt1"/>
                </a:solidFill>
                <a:latin typeface="Calibri"/>
                <a:ea typeface="Calibri"/>
                <a:cs typeface="Calibri"/>
                <a:sym typeface="Calibri"/>
              </a:rPr>
              <a:t>Dependiendo de la configuración del sistema (y de rsyslog o journald), los logs del kernel también se guardan en archivos persistentes.</a:t>
            </a:r>
            <a:endParaRPr b="0" i="0" sz="32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3200"/>
              <a:buFont typeface="Arial"/>
              <a:buNone/>
            </a:pPr>
            <a:r>
              <a:t/>
            </a:r>
            <a:endParaRPr b="0" i="0" sz="32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3200"/>
              <a:buFont typeface="Arial"/>
              <a:buNone/>
            </a:pPr>
            <a:r>
              <a:t/>
            </a:r>
            <a:endParaRPr b="0" i="0" sz="32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journalctl (para sistemas con systemd)</a:t>
            </a:r>
            <a:endParaRPr b="0" i="0" sz="3200" u="none" cap="none" strike="noStrike">
              <a:solidFill>
                <a:schemeClr val="lt1"/>
              </a:solidFill>
              <a:latin typeface="Calibri"/>
              <a:ea typeface="Calibri"/>
              <a:cs typeface="Calibri"/>
              <a:sym typeface="Calibri"/>
            </a:endParaRPr>
          </a:p>
        </p:txBody>
      </p:sp>
      <p:sp>
        <p:nvSpPr>
          <p:cNvPr id="249" name="Google Shape;249;g35c3d30e88a_1_251"/>
          <p:cNvSpPr txBox="1"/>
          <p:nvPr/>
        </p:nvSpPr>
        <p:spPr>
          <a:xfrm>
            <a:off x="11001225" y="6924175"/>
            <a:ext cx="7096200" cy="1169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chemeClr val="dk1"/>
              </a:buClr>
              <a:buSzPts val="1100"/>
              <a:buFont typeface="Arial"/>
              <a:buNone/>
            </a:pPr>
            <a:r>
              <a:rPr b="0" i="0" lang="en-US" sz="3200" u="none" cap="none" strike="noStrike">
                <a:solidFill>
                  <a:schemeClr val="lt1"/>
                </a:solidFill>
                <a:highlight>
                  <a:schemeClr val="dk1"/>
                </a:highlight>
                <a:latin typeface="Calibri"/>
                <a:ea typeface="Calibri"/>
                <a:cs typeface="Calibri"/>
                <a:sym typeface="Calibri"/>
              </a:rPr>
              <a:t>journalctl -k    # Solo logs del kernel</a:t>
            </a:r>
            <a:endParaRPr b="0" i="0" sz="3200" u="none" cap="none" strike="noStrike">
              <a:solidFill>
                <a:schemeClr val="lt1"/>
              </a:solidFill>
              <a:highlight>
                <a:schemeClr val="dk1"/>
              </a:highlight>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highlight>
                  <a:schemeClr val="dk1"/>
                </a:highlight>
                <a:latin typeface="Calibri"/>
                <a:ea typeface="Calibri"/>
                <a:cs typeface="Calibri"/>
                <a:sym typeface="Calibri"/>
              </a:rPr>
              <a:t>journalctl -k -p debug  # Solo nivel debug</a:t>
            </a:r>
            <a:endParaRPr b="0" i="0" sz="3200" u="none" cap="none" strike="noStrike">
              <a:solidFill>
                <a:schemeClr val="lt1"/>
              </a:solidFill>
              <a:highlight>
                <a:schemeClr val="dk1"/>
              </a:highlight>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35c3d30e88a_1_27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255" name="Google Shape;255;g35c3d30e88a_1_270"/>
          <p:cNvSpPr/>
          <p:nvPr/>
        </p:nvSpPr>
        <p:spPr>
          <a:xfrm>
            <a:off x="-2977714" y="-2836398"/>
            <a:ext cx="8314346" cy="8314346"/>
          </a:xfrm>
          <a:custGeom>
            <a:rect b="b" l="l" r="r" t="t"/>
            <a:pathLst>
              <a:path extrusionOk="0" h="8314346" w="8314346">
                <a:moveTo>
                  <a:pt x="0" y="0"/>
                </a:moveTo>
                <a:lnTo>
                  <a:pt x="8314346" y="0"/>
                </a:lnTo>
                <a:lnTo>
                  <a:pt x="8314346" y="8314346"/>
                </a:lnTo>
                <a:lnTo>
                  <a:pt x="0" y="8314346"/>
                </a:lnTo>
                <a:lnTo>
                  <a:pt x="0" y="0"/>
                </a:lnTo>
                <a:close/>
              </a:path>
            </a:pathLst>
          </a:custGeom>
          <a:blipFill rotWithShape="1">
            <a:blip r:embed="rId4">
              <a:alphaModFix/>
            </a:blip>
            <a:stretch>
              <a:fillRect b="0" l="0" r="0" t="0"/>
            </a:stretch>
          </a:blipFill>
          <a:ln>
            <a:noFill/>
          </a:ln>
        </p:spPr>
      </p:sp>
      <p:sp>
        <p:nvSpPr>
          <p:cNvPr id="256" name="Google Shape;256;g35c3d30e88a_1_270"/>
          <p:cNvSpPr/>
          <p:nvPr/>
        </p:nvSpPr>
        <p:spPr>
          <a:xfrm>
            <a:off x="12197407" y="5143500"/>
            <a:ext cx="8314346" cy="8314346"/>
          </a:xfrm>
          <a:custGeom>
            <a:rect b="b" l="l" r="r" t="t"/>
            <a:pathLst>
              <a:path extrusionOk="0" h="8314346" w="8314346">
                <a:moveTo>
                  <a:pt x="0" y="0"/>
                </a:moveTo>
                <a:lnTo>
                  <a:pt x="8314345" y="0"/>
                </a:lnTo>
                <a:lnTo>
                  <a:pt x="8314345" y="8314346"/>
                </a:lnTo>
                <a:lnTo>
                  <a:pt x="0" y="8314346"/>
                </a:lnTo>
                <a:lnTo>
                  <a:pt x="0" y="0"/>
                </a:lnTo>
                <a:close/>
              </a:path>
            </a:pathLst>
          </a:custGeom>
          <a:blipFill rotWithShape="1">
            <a:blip r:embed="rId4">
              <a:alphaModFix/>
            </a:blip>
            <a:stretch>
              <a:fillRect b="0" l="0" r="0" t="0"/>
            </a:stretch>
          </a:blipFill>
          <a:ln>
            <a:noFill/>
          </a:ln>
        </p:spPr>
      </p:sp>
      <p:sp>
        <p:nvSpPr>
          <p:cNvPr id="257" name="Google Shape;257;g35c3d30e88a_1_270"/>
          <p:cNvSpPr txBox="1"/>
          <p:nvPr/>
        </p:nvSpPr>
        <p:spPr>
          <a:xfrm>
            <a:off x="2177865" y="4125486"/>
            <a:ext cx="13932300" cy="3122400"/>
          </a:xfrm>
          <a:prstGeom prst="rect">
            <a:avLst/>
          </a:prstGeom>
          <a:noFill/>
          <a:ln>
            <a:noFill/>
          </a:ln>
        </p:spPr>
        <p:txBody>
          <a:bodyPr anchorCtr="0" anchor="t" bIns="0" lIns="0" spcFirstLastPara="1" rIns="0" wrap="square" tIns="0">
            <a:spAutoFit/>
          </a:bodyPr>
          <a:lstStyle/>
          <a:p>
            <a:pPr indent="0" lvl="0" marL="0" marR="0" rtl="0" algn="ctr">
              <a:lnSpc>
                <a:spcPct val="107000"/>
              </a:lnSpc>
              <a:spcBef>
                <a:spcPts val="0"/>
              </a:spcBef>
              <a:spcAft>
                <a:spcPts val="0"/>
              </a:spcAft>
              <a:buClr>
                <a:srgbClr val="000000"/>
              </a:buClr>
              <a:buSzPts val="9800"/>
              <a:buFont typeface="Arial"/>
              <a:buNone/>
            </a:pPr>
            <a:r>
              <a:rPr b="0" i="0" lang="en-US" sz="9800" u="none" cap="none" strike="noStrike">
                <a:solidFill>
                  <a:srgbClr val="FFFFFF"/>
                </a:solidFill>
                <a:latin typeface="Arial"/>
                <a:ea typeface="Arial"/>
                <a:cs typeface="Arial"/>
                <a:sym typeface="Arial"/>
              </a:rPr>
              <a:t>LLAMADAS AL SISTEMA</a:t>
            </a:r>
            <a:endParaRPr b="0" i="0" sz="1400" u="none" cap="none" strike="noStrike">
              <a:solidFill>
                <a:srgbClr val="000000"/>
              </a:solidFill>
              <a:latin typeface="Arial"/>
              <a:ea typeface="Arial"/>
              <a:cs typeface="Arial"/>
              <a:sym typeface="Arial"/>
            </a:endParaRPr>
          </a:p>
        </p:txBody>
      </p:sp>
      <p:sp>
        <p:nvSpPr>
          <p:cNvPr id="258" name="Google Shape;258;g35c3d30e88a_1_270"/>
          <p:cNvSpPr/>
          <p:nvPr/>
        </p:nvSpPr>
        <p:spPr>
          <a:xfrm rot="1574698">
            <a:off x="13952973" y="5983878"/>
            <a:ext cx="5913343" cy="5868994"/>
          </a:xfrm>
          <a:custGeom>
            <a:rect b="b" l="l" r="r" t="t"/>
            <a:pathLst>
              <a:path extrusionOk="0" h="5865146" w="5909466">
                <a:moveTo>
                  <a:pt x="0" y="0"/>
                </a:moveTo>
                <a:lnTo>
                  <a:pt x="5909467" y="0"/>
                </a:lnTo>
                <a:lnTo>
                  <a:pt x="5909467" y="5865146"/>
                </a:lnTo>
                <a:lnTo>
                  <a:pt x="0" y="5865146"/>
                </a:lnTo>
                <a:lnTo>
                  <a:pt x="0" y="0"/>
                </a:lnTo>
                <a:close/>
              </a:path>
            </a:pathLst>
          </a:custGeom>
          <a:blipFill rotWithShape="1">
            <a:blip r:embed="rId5">
              <a:alphaModFix/>
            </a:blip>
            <a:stretch>
              <a:fillRect b="0" l="0" r="0" t="0"/>
            </a:stretch>
          </a:blipFill>
          <a:ln>
            <a:noFill/>
          </a:ln>
        </p:spPr>
      </p:sp>
      <p:grpSp>
        <p:nvGrpSpPr>
          <p:cNvPr id="259" name="Google Shape;259;g35c3d30e88a_1_270"/>
          <p:cNvGrpSpPr/>
          <p:nvPr/>
        </p:nvGrpSpPr>
        <p:grpSpPr>
          <a:xfrm>
            <a:off x="5261794" y="3102922"/>
            <a:ext cx="7764346" cy="662375"/>
            <a:chOff x="0" y="-28575"/>
            <a:chExt cx="5099400" cy="435000"/>
          </a:xfrm>
        </p:grpSpPr>
        <p:sp>
          <p:nvSpPr>
            <p:cNvPr id="260" name="Google Shape;260;g35c3d30e88a_1_270"/>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g35c3d30e88a_1_270"/>
            <p:cNvSpPr txBox="1"/>
            <p:nvPr/>
          </p:nvSpPr>
          <p:spPr>
            <a:xfrm>
              <a:off x="0" y="-28575"/>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LABORATORIO SISTEMAS OPERATIVOS 2</a:t>
              </a:r>
              <a:endParaRPr b="0" i="0" sz="1400" u="none" cap="none" strike="noStrike">
                <a:solidFill>
                  <a:srgbClr val="000000"/>
                </a:solidFill>
                <a:latin typeface="Arial"/>
                <a:ea typeface="Arial"/>
                <a:cs typeface="Arial"/>
                <a:sym typeface="Arial"/>
              </a:endParaRPr>
            </a:p>
          </p:txBody>
        </p:sp>
      </p:grpSp>
      <p:sp>
        <p:nvSpPr>
          <p:cNvPr id="262" name="Google Shape;262;g35c3d30e88a_1_270"/>
          <p:cNvSpPr/>
          <p:nvPr/>
        </p:nvSpPr>
        <p:spPr>
          <a:xfrm rot="-9060061">
            <a:off x="-1778531" y="-1773691"/>
            <a:ext cx="5911977" cy="5867638"/>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5">
              <a:alphaModFix/>
            </a:blip>
            <a:stretch>
              <a:fillRect b="0" l="0" r="0" t="0"/>
            </a:stretch>
          </a:blipFill>
          <a:ln>
            <a:noFill/>
          </a:ln>
        </p:spPr>
      </p:sp>
      <p:pic>
        <p:nvPicPr>
          <p:cNvPr id="263" name="Google Shape;263;g35c3d30e88a_1_270"/>
          <p:cNvPicPr preferRelativeResize="0"/>
          <p:nvPr/>
        </p:nvPicPr>
        <p:blipFill>
          <a:blip r:embed="rId6">
            <a:alphaModFix/>
          </a:blip>
          <a:stretch>
            <a:fillRect/>
          </a:stretch>
        </p:blipFill>
        <p:spPr>
          <a:xfrm>
            <a:off x="11642275" y="7408650"/>
            <a:ext cx="2262925" cy="22629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67" name="Shape 267"/>
        <p:cNvGrpSpPr/>
        <p:nvPr/>
      </p:nvGrpSpPr>
      <p:grpSpPr>
        <a:xfrm>
          <a:off x="0" y="0"/>
          <a:ext cx="0" cy="0"/>
          <a:chOff x="0" y="0"/>
          <a:chExt cx="0" cy="0"/>
        </a:xfrm>
      </p:grpSpPr>
      <p:sp>
        <p:nvSpPr>
          <p:cNvPr id="268" name="Google Shape;268;g35c3d30e88a_1_367"/>
          <p:cNvSpPr/>
          <p:nvPr/>
        </p:nvSpPr>
        <p:spPr>
          <a:xfrm rot="-6500666">
            <a:off x="-3315875" y="-3954132"/>
            <a:ext cx="22771623" cy="18879746"/>
          </a:xfrm>
          <a:custGeom>
            <a:rect b="b" l="l" r="r" t="t"/>
            <a:pathLst>
              <a:path extrusionOk="0" h="18863483" w="22752008">
                <a:moveTo>
                  <a:pt x="0" y="0"/>
                </a:moveTo>
                <a:lnTo>
                  <a:pt x="22752007" y="0"/>
                </a:lnTo>
                <a:lnTo>
                  <a:pt x="22752007" y="18863483"/>
                </a:lnTo>
                <a:lnTo>
                  <a:pt x="0" y="18863483"/>
                </a:lnTo>
                <a:lnTo>
                  <a:pt x="0" y="0"/>
                </a:lnTo>
                <a:close/>
              </a:path>
            </a:pathLst>
          </a:custGeom>
          <a:blipFill rotWithShape="1">
            <a:blip r:embed="rId3">
              <a:alphaModFix/>
            </a:blip>
            <a:stretch>
              <a:fillRect b="0" l="0" r="0" t="0"/>
            </a:stretch>
          </a:blipFill>
          <a:ln>
            <a:noFill/>
          </a:ln>
        </p:spPr>
      </p:sp>
      <p:grpSp>
        <p:nvGrpSpPr>
          <p:cNvPr id="269" name="Google Shape;269;g35c3d30e88a_1_367"/>
          <p:cNvGrpSpPr/>
          <p:nvPr/>
        </p:nvGrpSpPr>
        <p:grpSpPr>
          <a:xfrm>
            <a:off x="684792" y="596982"/>
            <a:ext cx="7289038" cy="8925753"/>
            <a:chOff x="0" y="-28575"/>
            <a:chExt cx="1919734" cy="2350800"/>
          </a:xfrm>
        </p:grpSpPr>
        <p:sp>
          <p:nvSpPr>
            <p:cNvPr id="270" name="Google Shape;270;g35c3d30e88a_1_367"/>
            <p:cNvSpPr/>
            <p:nvPr/>
          </p:nvSpPr>
          <p:spPr>
            <a:xfrm>
              <a:off x="0" y="0"/>
              <a:ext cx="1919734" cy="2322170"/>
            </a:xfrm>
            <a:custGeom>
              <a:rect b="b" l="l" r="r" t="t"/>
              <a:pathLst>
                <a:path extrusionOk="0" h="2322170" w="1919734">
                  <a:moveTo>
                    <a:pt x="54169" y="0"/>
                  </a:moveTo>
                  <a:lnTo>
                    <a:pt x="1865564" y="0"/>
                  </a:lnTo>
                  <a:cubicBezTo>
                    <a:pt x="1895481" y="0"/>
                    <a:pt x="1919734" y="24252"/>
                    <a:pt x="1919734" y="54169"/>
                  </a:cubicBezTo>
                  <a:lnTo>
                    <a:pt x="1919734" y="2268001"/>
                  </a:lnTo>
                  <a:cubicBezTo>
                    <a:pt x="1919734" y="2282367"/>
                    <a:pt x="1914027" y="2296146"/>
                    <a:pt x="1903868" y="2306304"/>
                  </a:cubicBezTo>
                  <a:cubicBezTo>
                    <a:pt x="1893709" y="2316463"/>
                    <a:pt x="1879931" y="2322170"/>
                    <a:pt x="1865564" y="2322170"/>
                  </a:cubicBezTo>
                  <a:lnTo>
                    <a:pt x="54169" y="2322170"/>
                  </a:lnTo>
                  <a:cubicBezTo>
                    <a:pt x="24252" y="2322170"/>
                    <a:pt x="0" y="2297918"/>
                    <a:pt x="0" y="2268001"/>
                  </a:cubicBezTo>
                  <a:lnTo>
                    <a:pt x="0" y="54169"/>
                  </a:lnTo>
                  <a:cubicBezTo>
                    <a:pt x="0" y="24252"/>
                    <a:pt x="24252" y="0"/>
                    <a:pt x="5416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g35c3d30e88a_1_367"/>
            <p:cNvSpPr txBox="1"/>
            <p:nvPr/>
          </p:nvSpPr>
          <p:spPr>
            <a:xfrm>
              <a:off x="0" y="-28575"/>
              <a:ext cx="1919700" cy="2350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72" name="Google Shape;272;g35c3d30e88a_1_367"/>
          <p:cNvSpPr txBox="1"/>
          <p:nvPr/>
        </p:nvSpPr>
        <p:spPr>
          <a:xfrm>
            <a:off x="8804898" y="2374224"/>
            <a:ext cx="8454300" cy="70929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Una llamada al sistema, o syscall,es una rutina que permite a una aplicación de usuario solicitar acciones que requieren privilegios especiales. La adición de llamadas al sistema es una de varias maneras de ampliar las funciones proporcionadas por el kernel.</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En los sistemas operativos modernos, este método se utiliza si una aplicación o proceso de usuario necesita pasar información al hardware, a otros procesos o al propio kernel, o si necesita leer información de estas fuentes.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Esto hace que estas llamadas sean un vínculo entre el modo de usuario y el modo kernel</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p:txBody>
      </p:sp>
      <p:sp>
        <p:nvSpPr>
          <p:cNvPr id="273" name="Google Shape;273;g35c3d30e88a_1_367"/>
          <p:cNvSpPr/>
          <p:nvPr/>
        </p:nvSpPr>
        <p:spPr>
          <a:xfrm>
            <a:off x="1381716" y="1124029"/>
            <a:ext cx="5895141" cy="7979887"/>
          </a:xfrm>
          <a:custGeom>
            <a:rect b="b" l="l" r="r" t="t"/>
            <a:pathLst>
              <a:path extrusionOk="0" h="7979887" w="5895141">
                <a:moveTo>
                  <a:pt x="0" y="0"/>
                </a:moveTo>
                <a:lnTo>
                  <a:pt x="5895141" y="0"/>
                </a:lnTo>
                <a:lnTo>
                  <a:pt x="5895141" y="7979887"/>
                </a:lnTo>
                <a:lnTo>
                  <a:pt x="0" y="7979887"/>
                </a:lnTo>
                <a:lnTo>
                  <a:pt x="0" y="0"/>
                </a:lnTo>
                <a:close/>
              </a:path>
            </a:pathLst>
          </a:custGeom>
          <a:blipFill rotWithShape="1">
            <a:blip r:embed="rId4">
              <a:alphaModFix/>
            </a:blip>
            <a:stretch>
              <a:fillRect b="0" l="0" r="0" t="0"/>
            </a:stretch>
          </a:blipFill>
          <a:ln>
            <a:noFill/>
          </a:ln>
        </p:spPr>
      </p:sp>
      <p:sp>
        <p:nvSpPr>
          <p:cNvPr id="274" name="Google Shape;274;g35c3d30e88a_1_367"/>
          <p:cNvSpPr txBox="1"/>
          <p:nvPr/>
        </p:nvSpPr>
        <p:spPr>
          <a:xfrm>
            <a:off x="8804898" y="1297115"/>
            <a:ext cx="8454300" cy="769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LLAMADAS AL SISTEMA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78" name="Shape 278"/>
        <p:cNvGrpSpPr/>
        <p:nvPr/>
      </p:nvGrpSpPr>
      <p:grpSpPr>
        <a:xfrm>
          <a:off x="0" y="0"/>
          <a:ext cx="0" cy="0"/>
          <a:chOff x="0" y="0"/>
          <a:chExt cx="0" cy="0"/>
        </a:xfrm>
      </p:grpSpPr>
      <p:sp>
        <p:nvSpPr>
          <p:cNvPr id="279" name="Google Shape;279;g35c3d30e88a_1_456"/>
          <p:cNvSpPr/>
          <p:nvPr/>
        </p:nvSpPr>
        <p:spPr>
          <a:xfrm rot="-10160180">
            <a:off x="-4561866" y="-3719076"/>
            <a:ext cx="25058689" cy="17085470"/>
          </a:xfrm>
          <a:custGeom>
            <a:rect b="b" l="l" r="r" t="t"/>
            <a:pathLst>
              <a:path extrusionOk="0" h="17089476" w="25064564">
                <a:moveTo>
                  <a:pt x="0" y="0"/>
                </a:moveTo>
                <a:lnTo>
                  <a:pt x="25064564" y="0"/>
                </a:lnTo>
                <a:lnTo>
                  <a:pt x="25064564" y="17089476"/>
                </a:lnTo>
                <a:lnTo>
                  <a:pt x="0" y="17089476"/>
                </a:lnTo>
                <a:lnTo>
                  <a:pt x="0" y="0"/>
                </a:lnTo>
                <a:close/>
              </a:path>
            </a:pathLst>
          </a:custGeom>
          <a:blipFill rotWithShape="1">
            <a:blip r:embed="rId3">
              <a:alphaModFix/>
            </a:blip>
            <a:stretch>
              <a:fillRect b="0" l="0" r="0" t="0"/>
            </a:stretch>
          </a:blipFill>
          <a:ln>
            <a:noFill/>
          </a:ln>
        </p:spPr>
      </p:sp>
      <p:sp>
        <p:nvSpPr>
          <p:cNvPr id="280" name="Google Shape;280;g35c3d30e88a_1_456"/>
          <p:cNvSpPr/>
          <p:nvPr/>
        </p:nvSpPr>
        <p:spPr>
          <a:xfrm>
            <a:off x="7951782" y="1197682"/>
            <a:ext cx="9200973" cy="5750608"/>
          </a:xfrm>
          <a:custGeom>
            <a:rect b="b" l="l" r="r" t="t"/>
            <a:pathLst>
              <a:path extrusionOk="0" h="5750608" w="9200973">
                <a:moveTo>
                  <a:pt x="0" y="0"/>
                </a:moveTo>
                <a:lnTo>
                  <a:pt x="9200972" y="0"/>
                </a:lnTo>
                <a:lnTo>
                  <a:pt x="9200972" y="5750608"/>
                </a:lnTo>
                <a:lnTo>
                  <a:pt x="0" y="5750608"/>
                </a:lnTo>
                <a:lnTo>
                  <a:pt x="0" y="0"/>
                </a:lnTo>
                <a:close/>
              </a:path>
            </a:pathLst>
          </a:custGeom>
          <a:blipFill rotWithShape="1">
            <a:blip r:embed="rId4">
              <a:alphaModFix/>
            </a:blip>
            <a:stretch>
              <a:fillRect b="0" l="0" r="0" t="0"/>
            </a:stretch>
          </a:blipFill>
          <a:ln>
            <a:noFill/>
          </a:ln>
        </p:spPr>
      </p:sp>
      <p:sp>
        <p:nvSpPr>
          <p:cNvPr id="281" name="Google Shape;281;g35c3d30e88a_1_456"/>
          <p:cNvSpPr txBox="1"/>
          <p:nvPr/>
        </p:nvSpPr>
        <p:spPr>
          <a:xfrm>
            <a:off x="754783" y="1226940"/>
            <a:ext cx="6923100" cy="58857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La necesidad de</a:t>
            </a:r>
            <a:r>
              <a:rPr b="0" i="0" lang="en-US" sz="2499" u="none" cap="none" strike="noStrike">
                <a:solidFill>
                  <a:srgbClr val="67D3CD"/>
                </a:solidFill>
                <a:latin typeface="Montserrat"/>
                <a:ea typeface="Montserrat"/>
                <a:cs typeface="Montserrat"/>
                <a:sym typeface="Montserrat"/>
              </a:rPr>
              <a:t> llamadas al sistema</a:t>
            </a:r>
            <a:r>
              <a:rPr b="0" i="0" lang="en-US" sz="2499" u="none" cap="none" strike="noStrike">
                <a:solidFill>
                  <a:srgbClr val="FFFFFF"/>
                </a:solidFill>
                <a:latin typeface="Montserrat"/>
                <a:ea typeface="Montserrat"/>
                <a:cs typeface="Montserrat"/>
                <a:sym typeface="Montserrat"/>
              </a:rPr>
              <a:t> está estrechamente ligada al modelo de sistema operativo moderno con modo de usuario y modo kernel (monolítico).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Procesos en </a:t>
            </a:r>
            <a:r>
              <a:rPr b="0" i="0" lang="en-US" sz="2499" u="none" cap="none" strike="noStrike">
                <a:solidFill>
                  <a:srgbClr val="67D3CD"/>
                </a:solidFill>
                <a:latin typeface="Montserrat"/>
                <a:ea typeface="Montserrat"/>
                <a:cs typeface="Montserrat"/>
                <a:sym typeface="Montserrat"/>
              </a:rPr>
              <a:t>modo usuario</a:t>
            </a:r>
            <a:r>
              <a:rPr b="0" i="0" lang="en-US" sz="2499" u="none" cap="none" strike="noStrike">
                <a:solidFill>
                  <a:srgbClr val="FFFFFF"/>
                </a:solidFill>
                <a:latin typeface="Montserrat"/>
                <a:ea typeface="Montserrat"/>
                <a:cs typeface="Montserrat"/>
                <a:sym typeface="Montserrat"/>
              </a:rPr>
              <a:t> se utilizan normalmente para realizar cálculos, acceder a recursos a nivel de usuario, como archivos y memoria, y gestionar el control de procesos. Estas tienen acceso limitado a los recursos del sistema y garantiza que los procesos no puedan interferir entre sí.</a:t>
            </a:r>
            <a:endParaRPr b="0" i="0" sz="1400" u="none" cap="none" strike="noStrike">
              <a:solidFill>
                <a:srgbClr val="000000"/>
              </a:solidFill>
              <a:latin typeface="Arial"/>
              <a:ea typeface="Arial"/>
              <a:cs typeface="Arial"/>
              <a:sym typeface="Arial"/>
            </a:endParaRPr>
          </a:p>
        </p:txBody>
      </p:sp>
      <p:sp>
        <p:nvSpPr>
          <p:cNvPr id="282" name="Google Shape;282;g35c3d30e88a_1_456"/>
          <p:cNvSpPr txBox="1"/>
          <p:nvPr/>
        </p:nvSpPr>
        <p:spPr>
          <a:xfrm>
            <a:off x="754783" y="7391856"/>
            <a:ext cx="16860300" cy="23850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El </a:t>
            </a:r>
            <a:r>
              <a:rPr b="0" i="0" lang="en-US" sz="2499" u="none" cap="none" strike="noStrike">
                <a:solidFill>
                  <a:srgbClr val="67D3CD"/>
                </a:solidFill>
                <a:latin typeface="Montserrat"/>
                <a:ea typeface="Montserrat"/>
                <a:cs typeface="Montserrat"/>
                <a:sym typeface="Montserrat"/>
              </a:rPr>
              <a:t>modo kernel</a:t>
            </a:r>
            <a:r>
              <a:rPr b="0" i="0" lang="en-US" sz="2499" u="none" cap="none" strike="noStrike">
                <a:solidFill>
                  <a:srgbClr val="FFFFFF"/>
                </a:solidFill>
                <a:latin typeface="Montserrat"/>
                <a:ea typeface="Montserrat"/>
                <a:cs typeface="Montserrat"/>
                <a:sym typeface="Montserrat"/>
              </a:rPr>
              <a:t> es el sistema de control fundamental donde se ejecutan todoslos servicios y procesos del sistema, asicomo realizar las acciones críticas del sistema por parte de los programas de aplicación que están bloqueados en el modo de usuario, comoconfigurar asignaciones de memoria o acceder a dispositivos de E/S</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86" name="Shape 286"/>
        <p:cNvGrpSpPr/>
        <p:nvPr/>
      </p:nvGrpSpPr>
      <p:grpSpPr>
        <a:xfrm>
          <a:off x="0" y="0"/>
          <a:ext cx="0" cy="0"/>
          <a:chOff x="0" y="0"/>
          <a:chExt cx="0" cy="0"/>
        </a:xfrm>
      </p:grpSpPr>
      <p:sp>
        <p:nvSpPr>
          <p:cNvPr id="287" name="Google Shape;287;g35c3d30e88a_1_463"/>
          <p:cNvSpPr/>
          <p:nvPr/>
        </p:nvSpPr>
        <p:spPr>
          <a:xfrm>
            <a:off x="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blip>
            <a:stretch>
              <a:fillRect b="0" l="0" r="0" t="0"/>
            </a:stretch>
          </a:blipFill>
          <a:ln>
            <a:noFill/>
          </a:ln>
        </p:spPr>
      </p:sp>
      <p:grpSp>
        <p:nvGrpSpPr>
          <p:cNvPr id="288" name="Google Shape;288;g35c3d30e88a_1_463"/>
          <p:cNvGrpSpPr/>
          <p:nvPr/>
        </p:nvGrpSpPr>
        <p:grpSpPr>
          <a:xfrm>
            <a:off x="803485" y="6690498"/>
            <a:ext cx="16681680" cy="2823755"/>
            <a:chOff x="0" y="-28575"/>
            <a:chExt cx="4393500" cy="743700"/>
          </a:xfrm>
        </p:grpSpPr>
        <p:sp>
          <p:nvSpPr>
            <p:cNvPr id="289" name="Google Shape;289;g35c3d30e88a_1_463"/>
            <p:cNvSpPr/>
            <p:nvPr/>
          </p:nvSpPr>
          <p:spPr>
            <a:xfrm>
              <a:off x="0" y="0"/>
              <a:ext cx="4393358" cy="715125"/>
            </a:xfrm>
            <a:custGeom>
              <a:rect b="b" l="l" r="r" t="t"/>
              <a:pathLst>
                <a:path extrusionOk="0" h="715125" w="4393358">
                  <a:moveTo>
                    <a:pt x="23670" y="0"/>
                  </a:moveTo>
                  <a:lnTo>
                    <a:pt x="4369688" y="0"/>
                  </a:lnTo>
                  <a:cubicBezTo>
                    <a:pt x="4382760" y="0"/>
                    <a:pt x="4393358" y="10597"/>
                    <a:pt x="4393358" y="23670"/>
                  </a:cubicBezTo>
                  <a:lnTo>
                    <a:pt x="4393358" y="691455"/>
                  </a:lnTo>
                  <a:cubicBezTo>
                    <a:pt x="4393358" y="704528"/>
                    <a:pt x="4382760" y="715125"/>
                    <a:pt x="4369688" y="715125"/>
                  </a:cubicBezTo>
                  <a:lnTo>
                    <a:pt x="23670" y="715125"/>
                  </a:lnTo>
                  <a:cubicBezTo>
                    <a:pt x="17392" y="715125"/>
                    <a:pt x="11372" y="712631"/>
                    <a:pt x="6933" y="708192"/>
                  </a:cubicBezTo>
                  <a:cubicBezTo>
                    <a:pt x="2494" y="703753"/>
                    <a:pt x="0" y="697733"/>
                    <a:pt x="0" y="691455"/>
                  </a:cubicBezTo>
                  <a:lnTo>
                    <a:pt x="0" y="23670"/>
                  </a:lnTo>
                  <a:cubicBezTo>
                    <a:pt x="0" y="10597"/>
                    <a:pt x="10597" y="0"/>
                    <a:pt x="23670"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g35c3d30e88a_1_463"/>
            <p:cNvSpPr txBox="1"/>
            <p:nvPr/>
          </p:nvSpPr>
          <p:spPr>
            <a:xfrm>
              <a:off x="0" y="-28575"/>
              <a:ext cx="4393500" cy="7437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1" name="Google Shape;291;g35c3d30e88a_1_463"/>
          <p:cNvSpPr/>
          <p:nvPr/>
        </p:nvSpPr>
        <p:spPr>
          <a:xfrm>
            <a:off x="4118348" y="772765"/>
            <a:ext cx="9381730" cy="5722855"/>
          </a:xfrm>
          <a:custGeom>
            <a:rect b="b" l="l" r="r" t="t"/>
            <a:pathLst>
              <a:path extrusionOk="0" h="5722855" w="9381730">
                <a:moveTo>
                  <a:pt x="0" y="0"/>
                </a:moveTo>
                <a:lnTo>
                  <a:pt x="9381729" y="0"/>
                </a:lnTo>
                <a:lnTo>
                  <a:pt x="9381729" y="5722855"/>
                </a:lnTo>
                <a:lnTo>
                  <a:pt x="0" y="5722855"/>
                </a:lnTo>
                <a:lnTo>
                  <a:pt x="0" y="0"/>
                </a:lnTo>
                <a:close/>
              </a:path>
            </a:pathLst>
          </a:custGeom>
          <a:blipFill rotWithShape="1">
            <a:blip r:embed="rId4">
              <a:alphaModFix/>
            </a:blip>
            <a:stretch>
              <a:fillRect b="0" l="0" r="0" t="0"/>
            </a:stretch>
          </a:blipFill>
          <a:ln>
            <a:noFill/>
          </a:ln>
        </p:spPr>
      </p:sp>
      <p:sp>
        <p:nvSpPr>
          <p:cNvPr id="292" name="Google Shape;292;g35c3d30e88a_1_463"/>
          <p:cNvSpPr txBox="1"/>
          <p:nvPr/>
        </p:nvSpPr>
        <p:spPr>
          <a:xfrm>
            <a:off x="1381750" y="7067301"/>
            <a:ext cx="15524400" cy="24804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En Linux, realizar una llamada al sistema implica transferir el control del modo de usuario sin privilegios al modo de kernel privilegiado; Los detalles de esta transferencia varían de una arquitectura a otra. Las bibliotecas se encargan de recopilar los argumentos de la llamada al sistema y, si es necesario, de organizarlos en la forma especial necesaria para realizar la llamada al sistema.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96" name="Shape 296"/>
        <p:cNvGrpSpPr/>
        <p:nvPr/>
      </p:nvGrpSpPr>
      <p:grpSpPr>
        <a:xfrm>
          <a:off x="0" y="0"/>
          <a:ext cx="0" cy="0"/>
          <a:chOff x="0" y="0"/>
          <a:chExt cx="0" cy="0"/>
        </a:xfrm>
      </p:grpSpPr>
      <p:grpSp>
        <p:nvGrpSpPr>
          <p:cNvPr id="297" name="Google Shape;297;g35c3d30e88a_1_551"/>
          <p:cNvGrpSpPr/>
          <p:nvPr/>
        </p:nvGrpSpPr>
        <p:grpSpPr>
          <a:xfrm>
            <a:off x="4873272" y="3255538"/>
            <a:ext cx="8541452" cy="3775920"/>
            <a:chOff x="0" y="-28575"/>
            <a:chExt cx="2177442" cy="1741500"/>
          </a:xfrm>
        </p:grpSpPr>
        <p:sp>
          <p:nvSpPr>
            <p:cNvPr id="298" name="Google Shape;298;g35c3d30e88a_1_551"/>
            <p:cNvSpPr/>
            <p:nvPr/>
          </p:nvSpPr>
          <p:spPr>
            <a:xfrm>
              <a:off x="0" y="0"/>
              <a:ext cx="2177442" cy="1712875"/>
            </a:xfrm>
            <a:custGeom>
              <a:rect b="b" l="l" r="r" t="t"/>
              <a:pathLst>
                <a:path extrusionOk="0" h="1712875" w="2177442">
                  <a:moveTo>
                    <a:pt x="47758" y="0"/>
                  </a:moveTo>
                  <a:lnTo>
                    <a:pt x="2129684" y="0"/>
                  </a:lnTo>
                  <a:cubicBezTo>
                    <a:pt x="2142350" y="0"/>
                    <a:pt x="2154498" y="5032"/>
                    <a:pt x="2163454" y="13988"/>
                  </a:cubicBezTo>
                  <a:cubicBezTo>
                    <a:pt x="2172411" y="22944"/>
                    <a:pt x="2177442" y="35092"/>
                    <a:pt x="2177442" y="47758"/>
                  </a:cubicBezTo>
                  <a:lnTo>
                    <a:pt x="2177442" y="1665117"/>
                  </a:lnTo>
                  <a:cubicBezTo>
                    <a:pt x="2177442" y="1677783"/>
                    <a:pt x="2172411" y="1689931"/>
                    <a:pt x="2163454" y="1698887"/>
                  </a:cubicBezTo>
                  <a:cubicBezTo>
                    <a:pt x="2154498" y="1707844"/>
                    <a:pt x="2142350" y="1712875"/>
                    <a:pt x="2129684" y="1712875"/>
                  </a:cubicBezTo>
                  <a:lnTo>
                    <a:pt x="47758" y="1712875"/>
                  </a:lnTo>
                  <a:cubicBezTo>
                    <a:pt x="35092" y="1712875"/>
                    <a:pt x="22944" y="1707844"/>
                    <a:pt x="13988" y="1698887"/>
                  </a:cubicBezTo>
                  <a:cubicBezTo>
                    <a:pt x="5032" y="1689931"/>
                    <a:pt x="0" y="1677783"/>
                    <a:pt x="0" y="1665117"/>
                  </a:cubicBezTo>
                  <a:lnTo>
                    <a:pt x="0" y="47758"/>
                  </a:lnTo>
                  <a:cubicBezTo>
                    <a:pt x="0" y="35092"/>
                    <a:pt x="5032" y="22944"/>
                    <a:pt x="13988" y="13988"/>
                  </a:cubicBezTo>
                  <a:cubicBezTo>
                    <a:pt x="22944" y="5032"/>
                    <a:pt x="35092" y="0"/>
                    <a:pt x="4775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g35c3d30e88a_1_551"/>
            <p:cNvSpPr txBox="1"/>
            <p:nvPr/>
          </p:nvSpPr>
          <p:spPr>
            <a:xfrm>
              <a:off x="0" y="-28575"/>
              <a:ext cx="2177400" cy="1741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00" name="Google Shape;300;g35c3d30e88a_1_551"/>
          <p:cNvSpPr txBox="1"/>
          <p:nvPr/>
        </p:nvSpPr>
        <p:spPr>
          <a:xfrm>
            <a:off x="5075261" y="4292997"/>
            <a:ext cx="8137500" cy="17010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LLAMADAS COMUNES AL SISTEMA DE LINUX</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04" name="Shape 304"/>
        <p:cNvGrpSpPr/>
        <p:nvPr/>
      </p:nvGrpSpPr>
      <p:grpSpPr>
        <a:xfrm>
          <a:off x="0" y="0"/>
          <a:ext cx="0" cy="0"/>
          <a:chOff x="0" y="0"/>
          <a:chExt cx="0" cy="0"/>
        </a:xfrm>
      </p:grpSpPr>
      <p:grpSp>
        <p:nvGrpSpPr>
          <p:cNvPr id="305" name="Google Shape;305;g35c3d30e88a_1_560"/>
          <p:cNvGrpSpPr/>
          <p:nvPr/>
        </p:nvGrpSpPr>
        <p:grpSpPr>
          <a:xfrm>
            <a:off x="914568" y="2540112"/>
            <a:ext cx="7126269" cy="7087294"/>
            <a:chOff x="0" y="-19050"/>
            <a:chExt cx="1876865" cy="1866600"/>
          </a:xfrm>
        </p:grpSpPr>
        <p:sp>
          <p:nvSpPr>
            <p:cNvPr id="306" name="Google Shape;306;g35c3d30e88a_1_560"/>
            <p:cNvSpPr/>
            <p:nvPr/>
          </p:nvSpPr>
          <p:spPr>
            <a:xfrm>
              <a:off x="0" y="0"/>
              <a:ext cx="1876865" cy="1847444"/>
            </a:xfrm>
            <a:custGeom>
              <a:rect b="b" l="l" r="r" t="t"/>
              <a:pathLst>
                <a:path extrusionOk="0" h="1847444" w="1876865">
                  <a:moveTo>
                    <a:pt x="55406" y="0"/>
                  </a:moveTo>
                  <a:lnTo>
                    <a:pt x="1821459" y="0"/>
                  </a:lnTo>
                  <a:cubicBezTo>
                    <a:pt x="1852059" y="0"/>
                    <a:pt x="1876865" y="24806"/>
                    <a:pt x="1876865" y="55406"/>
                  </a:cubicBezTo>
                  <a:lnTo>
                    <a:pt x="1876865" y="1792038"/>
                  </a:lnTo>
                  <a:cubicBezTo>
                    <a:pt x="1876865" y="1806733"/>
                    <a:pt x="1871027" y="1820825"/>
                    <a:pt x="1860637" y="1831216"/>
                  </a:cubicBezTo>
                  <a:cubicBezTo>
                    <a:pt x="1850246" y="1841607"/>
                    <a:pt x="1836153" y="1847444"/>
                    <a:pt x="1821459" y="1847444"/>
                  </a:cubicBezTo>
                  <a:lnTo>
                    <a:pt x="55406" y="1847444"/>
                  </a:lnTo>
                  <a:cubicBezTo>
                    <a:pt x="24806" y="1847444"/>
                    <a:pt x="0" y="1822638"/>
                    <a:pt x="0" y="1792038"/>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g35c3d30e88a_1_560"/>
            <p:cNvSpPr txBox="1"/>
            <p:nvPr/>
          </p:nvSpPr>
          <p:spPr>
            <a:xfrm>
              <a:off x="0" y="-19050"/>
              <a:ext cx="1876800" cy="18666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08" name="Google Shape;308;g35c3d30e88a_1_560"/>
          <p:cNvGrpSpPr/>
          <p:nvPr/>
        </p:nvGrpSpPr>
        <p:grpSpPr>
          <a:xfrm>
            <a:off x="8632863" y="828891"/>
            <a:ext cx="8740627" cy="8798177"/>
            <a:chOff x="0" y="-19050"/>
            <a:chExt cx="2302043" cy="2317200"/>
          </a:xfrm>
        </p:grpSpPr>
        <p:sp>
          <p:nvSpPr>
            <p:cNvPr id="309" name="Google Shape;309;g35c3d30e88a_1_560"/>
            <p:cNvSpPr/>
            <p:nvPr/>
          </p:nvSpPr>
          <p:spPr>
            <a:xfrm>
              <a:off x="0" y="0"/>
              <a:ext cx="2302043" cy="2298136"/>
            </a:xfrm>
            <a:custGeom>
              <a:rect b="b" l="l" r="r" t="t"/>
              <a:pathLst>
                <a:path extrusionOk="0" h="2298136" w="2302043">
                  <a:moveTo>
                    <a:pt x="45173" y="0"/>
                  </a:moveTo>
                  <a:lnTo>
                    <a:pt x="2256870" y="0"/>
                  </a:lnTo>
                  <a:cubicBezTo>
                    <a:pt x="2281818" y="0"/>
                    <a:pt x="2302043" y="20225"/>
                    <a:pt x="2302043" y="45173"/>
                  </a:cubicBezTo>
                  <a:lnTo>
                    <a:pt x="2302043" y="2252963"/>
                  </a:lnTo>
                  <a:cubicBezTo>
                    <a:pt x="2302043" y="2277911"/>
                    <a:pt x="2281818" y="2298136"/>
                    <a:pt x="2256870" y="2298136"/>
                  </a:cubicBezTo>
                  <a:lnTo>
                    <a:pt x="45173" y="2298136"/>
                  </a:lnTo>
                  <a:cubicBezTo>
                    <a:pt x="20225" y="2298136"/>
                    <a:pt x="0" y="2277911"/>
                    <a:pt x="0" y="2252963"/>
                  </a:cubicBezTo>
                  <a:lnTo>
                    <a:pt x="0" y="45173"/>
                  </a:lnTo>
                  <a:cubicBezTo>
                    <a:pt x="0" y="20225"/>
                    <a:pt x="20225" y="0"/>
                    <a:pt x="45173"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g35c3d30e88a_1_560"/>
            <p:cNvSpPr txBox="1"/>
            <p:nvPr/>
          </p:nvSpPr>
          <p:spPr>
            <a:xfrm>
              <a:off x="0" y="-19050"/>
              <a:ext cx="2301900" cy="2317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11" name="Google Shape;311;g35c3d30e88a_1_560"/>
          <p:cNvSpPr/>
          <p:nvPr/>
        </p:nvSpPr>
        <p:spPr>
          <a:xfrm rot="-474430">
            <a:off x="5922774" y="816245"/>
            <a:ext cx="1509393" cy="1509393"/>
          </a:xfrm>
          <a:custGeom>
            <a:rect b="b" l="l" r="r" t="t"/>
            <a:pathLst>
              <a:path extrusionOk="0" h="1510144" w="1510144">
                <a:moveTo>
                  <a:pt x="0" y="0"/>
                </a:moveTo>
                <a:lnTo>
                  <a:pt x="1510144" y="0"/>
                </a:lnTo>
                <a:lnTo>
                  <a:pt x="1510144" y="1510145"/>
                </a:lnTo>
                <a:lnTo>
                  <a:pt x="0" y="1510145"/>
                </a:lnTo>
                <a:lnTo>
                  <a:pt x="0" y="0"/>
                </a:lnTo>
                <a:close/>
              </a:path>
            </a:pathLst>
          </a:custGeom>
          <a:blipFill rotWithShape="1">
            <a:blip r:embed="rId3">
              <a:alphaModFix/>
            </a:blip>
            <a:stretch>
              <a:fillRect b="0" l="0" r="0" t="0"/>
            </a:stretch>
          </a:blipFill>
          <a:ln>
            <a:noFill/>
          </a:ln>
        </p:spPr>
      </p:sp>
      <p:sp>
        <p:nvSpPr>
          <p:cNvPr id="312" name="Google Shape;312;g35c3d30e88a_1_560"/>
          <p:cNvSpPr/>
          <p:nvPr/>
        </p:nvSpPr>
        <p:spPr>
          <a:xfrm>
            <a:off x="9286230" y="5095352"/>
            <a:ext cx="7433836" cy="4162948"/>
          </a:xfrm>
          <a:custGeom>
            <a:rect b="b" l="l" r="r" t="t"/>
            <a:pathLst>
              <a:path extrusionOk="0" h="4162948" w="7433836">
                <a:moveTo>
                  <a:pt x="0" y="0"/>
                </a:moveTo>
                <a:lnTo>
                  <a:pt x="7433836" y="0"/>
                </a:lnTo>
                <a:lnTo>
                  <a:pt x="7433836" y="4162948"/>
                </a:lnTo>
                <a:lnTo>
                  <a:pt x="0" y="4162948"/>
                </a:lnTo>
                <a:lnTo>
                  <a:pt x="0" y="0"/>
                </a:lnTo>
                <a:close/>
              </a:path>
            </a:pathLst>
          </a:custGeom>
          <a:blipFill rotWithShape="1">
            <a:blip r:embed="rId4">
              <a:alphaModFix/>
            </a:blip>
            <a:stretch>
              <a:fillRect b="0" l="0" r="0" t="0"/>
            </a:stretch>
          </a:blipFill>
          <a:ln>
            <a:noFill/>
          </a:ln>
        </p:spPr>
      </p:sp>
      <p:sp>
        <p:nvSpPr>
          <p:cNvPr id="313" name="Google Shape;313;g35c3d30e88a_1_560"/>
          <p:cNvSpPr txBox="1"/>
          <p:nvPr/>
        </p:nvSpPr>
        <p:spPr>
          <a:xfrm>
            <a:off x="1426918" y="1090220"/>
            <a:ext cx="4193400" cy="1231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8000"/>
              <a:buFont typeface="Arial"/>
              <a:buNone/>
            </a:pPr>
            <a:r>
              <a:rPr b="0" i="0" lang="en-US" sz="8000" u="none" cap="none" strike="noStrike">
                <a:solidFill>
                  <a:srgbClr val="FFFFFF"/>
                </a:solidFill>
                <a:latin typeface="Arial"/>
                <a:ea typeface="Arial"/>
                <a:cs typeface="Arial"/>
                <a:sym typeface="Arial"/>
              </a:rPr>
              <a:t>FORK( )</a:t>
            </a:r>
            <a:endParaRPr b="0" i="0" sz="1400" u="none" cap="none" strike="noStrike">
              <a:solidFill>
                <a:srgbClr val="000000"/>
              </a:solidFill>
              <a:latin typeface="Arial"/>
              <a:ea typeface="Arial"/>
              <a:cs typeface="Arial"/>
              <a:sym typeface="Arial"/>
            </a:endParaRPr>
          </a:p>
        </p:txBody>
      </p:sp>
      <p:sp>
        <p:nvSpPr>
          <p:cNvPr id="314" name="Google Shape;314;g35c3d30e88a_1_560"/>
          <p:cNvSpPr txBox="1"/>
          <p:nvPr/>
        </p:nvSpPr>
        <p:spPr>
          <a:xfrm>
            <a:off x="1431967" y="3219020"/>
            <a:ext cx="6173100" cy="64995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El kernel crea un nuevo proceso (proceso hijo) realizando una copia del proceso que realiza la llamada al sistema fork (proceso padre). Así, salvo el PID y el PPID los dos procesos serán inicialmente idénticos. De esta forma los nuevos procesos obtienen una copia de los recursos del padre (heredan el entorno).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El proceso hijo tendrá copias de los descriptores, si los utiliza el proceso padre. Sin embargo, las copias de los descriptores harán referencia a los mismos objetos subyacentes.</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p:txBody>
      </p:sp>
      <p:sp>
        <p:nvSpPr>
          <p:cNvPr id="315" name="Google Shape;315;g35c3d30e88a_1_560"/>
          <p:cNvSpPr txBox="1"/>
          <p:nvPr/>
        </p:nvSpPr>
        <p:spPr>
          <a:xfrm>
            <a:off x="9003469" y="1242706"/>
            <a:ext cx="7999500" cy="42990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Su sintaxis es:</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int pid = fork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Este retornará un valor diferente dependiendo de donde sea ejecutado, sus posibles valores son:</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FFFFFF"/>
              </a:buClr>
              <a:buSzPts val="2199"/>
              <a:buFont typeface="Arial"/>
              <a:buChar char="•"/>
            </a:pPr>
            <a:r>
              <a:rPr b="0" i="0" lang="en-US" sz="2199" u="none" cap="none" strike="noStrike">
                <a:solidFill>
                  <a:srgbClr val="FFFFFF"/>
                </a:solidFill>
                <a:latin typeface="Montserrat"/>
                <a:ea typeface="Montserrat"/>
                <a:cs typeface="Montserrat"/>
                <a:sym typeface="Montserrat"/>
              </a:rPr>
              <a:t>0 cuando se ejecuta desde el proceso hijo</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FFFFFF"/>
              </a:buClr>
              <a:buSzPts val="2199"/>
              <a:buFont typeface="Arial"/>
              <a:buChar char="•"/>
            </a:pPr>
            <a:r>
              <a:rPr b="0" i="0" lang="en-US" sz="2199" u="none" cap="none" strike="noStrike">
                <a:solidFill>
                  <a:srgbClr val="FFFFFF"/>
                </a:solidFill>
                <a:latin typeface="Montserrat"/>
                <a:ea typeface="Montserrat"/>
                <a:cs typeface="Montserrat"/>
                <a:sym typeface="Montserrat"/>
              </a:rPr>
              <a:t>PID del nuevo proceso cuando se ejecuta del proceso padre</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FFFFFF"/>
              </a:buClr>
              <a:buSzPts val="2199"/>
              <a:buFont typeface="Arial"/>
              <a:buChar char="•"/>
            </a:pPr>
            <a:r>
              <a:rPr b="0" i="0" lang="en-US" sz="2199" u="none" cap="none" strike="noStrike">
                <a:solidFill>
                  <a:srgbClr val="FFFFFF"/>
                </a:solidFill>
                <a:latin typeface="Montserrat"/>
                <a:ea typeface="Montserrat"/>
                <a:cs typeface="Montserrat"/>
                <a:sym typeface="Montserrat"/>
              </a:rPr>
              <a:t>-1 si ocurre un error al crear el nuevo proceso</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19" name="Shape 319"/>
        <p:cNvGrpSpPr/>
        <p:nvPr/>
      </p:nvGrpSpPr>
      <p:grpSpPr>
        <a:xfrm>
          <a:off x="0" y="0"/>
          <a:ext cx="0" cy="0"/>
          <a:chOff x="0" y="0"/>
          <a:chExt cx="0" cy="0"/>
        </a:xfrm>
      </p:grpSpPr>
      <p:grpSp>
        <p:nvGrpSpPr>
          <p:cNvPr id="320" name="Google Shape;320;g35c3d30e88a_1_574"/>
          <p:cNvGrpSpPr/>
          <p:nvPr/>
        </p:nvGrpSpPr>
        <p:grpSpPr>
          <a:xfrm>
            <a:off x="971634" y="5462937"/>
            <a:ext cx="16344838" cy="3418349"/>
            <a:chOff x="0" y="-19050"/>
            <a:chExt cx="4304785" cy="900300"/>
          </a:xfrm>
        </p:grpSpPr>
        <p:sp>
          <p:nvSpPr>
            <p:cNvPr id="321" name="Google Shape;321;g35c3d30e88a_1_574"/>
            <p:cNvSpPr/>
            <p:nvPr/>
          </p:nvSpPr>
          <p:spPr>
            <a:xfrm>
              <a:off x="0" y="0"/>
              <a:ext cx="4304785" cy="881115"/>
            </a:xfrm>
            <a:custGeom>
              <a:rect b="b" l="l" r="r" t="t"/>
              <a:pathLst>
                <a:path extrusionOk="0" h="881115" w="4304785">
                  <a:moveTo>
                    <a:pt x="24157" y="0"/>
                  </a:moveTo>
                  <a:lnTo>
                    <a:pt x="4280628" y="0"/>
                  </a:lnTo>
                  <a:cubicBezTo>
                    <a:pt x="4287035" y="0"/>
                    <a:pt x="4293180" y="2545"/>
                    <a:pt x="4297710" y="7075"/>
                  </a:cubicBezTo>
                  <a:cubicBezTo>
                    <a:pt x="4302240" y="11606"/>
                    <a:pt x="4304785" y="17750"/>
                    <a:pt x="4304785" y="24157"/>
                  </a:cubicBezTo>
                  <a:lnTo>
                    <a:pt x="4304785" y="856958"/>
                  </a:lnTo>
                  <a:cubicBezTo>
                    <a:pt x="4304785" y="863365"/>
                    <a:pt x="4302240" y="869509"/>
                    <a:pt x="4297710" y="874040"/>
                  </a:cubicBezTo>
                  <a:cubicBezTo>
                    <a:pt x="4293180" y="878570"/>
                    <a:pt x="4287035" y="881115"/>
                    <a:pt x="4280628" y="881115"/>
                  </a:cubicBezTo>
                  <a:lnTo>
                    <a:pt x="24157" y="881115"/>
                  </a:lnTo>
                  <a:cubicBezTo>
                    <a:pt x="17750" y="881115"/>
                    <a:pt x="11606" y="878570"/>
                    <a:pt x="7075" y="874040"/>
                  </a:cubicBezTo>
                  <a:cubicBezTo>
                    <a:pt x="2545" y="869509"/>
                    <a:pt x="0" y="863365"/>
                    <a:pt x="0" y="856958"/>
                  </a:cubicBezTo>
                  <a:lnTo>
                    <a:pt x="0" y="24157"/>
                  </a:lnTo>
                  <a:cubicBezTo>
                    <a:pt x="0" y="17750"/>
                    <a:pt x="2545" y="11606"/>
                    <a:pt x="7075" y="7075"/>
                  </a:cubicBezTo>
                  <a:cubicBezTo>
                    <a:pt x="11606" y="2545"/>
                    <a:pt x="17750" y="0"/>
                    <a:pt x="2415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g35c3d30e88a_1_574"/>
            <p:cNvSpPr txBox="1"/>
            <p:nvPr/>
          </p:nvSpPr>
          <p:spPr>
            <a:xfrm>
              <a:off x="0" y="-19050"/>
              <a:ext cx="4304700" cy="9003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23" name="Google Shape;323;g35c3d30e88a_1_574"/>
          <p:cNvGrpSpPr/>
          <p:nvPr/>
        </p:nvGrpSpPr>
        <p:grpSpPr>
          <a:xfrm>
            <a:off x="7643292" y="1006081"/>
            <a:ext cx="9673138" cy="4115657"/>
            <a:chOff x="0" y="-19050"/>
            <a:chExt cx="2547641" cy="1083952"/>
          </a:xfrm>
        </p:grpSpPr>
        <p:sp>
          <p:nvSpPr>
            <p:cNvPr id="324" name="Google Shape;324;g35c3d30e88a_1_574"/>
            <p:cNvSpPr/>
            <p:nvPr/>
          </p:nvSpPr>
          <p:spPr>
            <a:xfrm>
              <a:off x="0" y="0"/>
              <a:ext cx="2547641" cy="1064902"/>
            </a:xfrm>
            <a:custGeom>
              <a:rect b="b" l="l" r="r" t="t"/>
              <a:pathLst>
                <a:path extrusionOk="0" h="1064902" w="2547641">
                  <a:moveTo>
                    <a:pt x="40818" y="0"/>
                  </a:moveTo>
                  <a:lnTo>
                    <a:pt x="2506823" y="0"/>
                  </a:lnTo>
                  <a:cubicBezTo>
                    <a:pt x="2529366" y="0"/>
                    <a:pt x="2547641" y="18275"/>
                    <a:pt x="2547641" y="40818"/>
                  </a:cubicBezTo>
                  <a:lnTo>
                    <a:pt x="2547641" y="1024083"/>
                  </a:lnTo>
                  <a:cubicBezTo>
                    <a:pt x="2547641" y="1034909"/>
                    <a:pt x="2543340" y="1045291"/>
                    <a:pt x="2535686" y="1052946"/>
                  </a:cubicBezTo>
                  <a:cubicBezTo>
                    <a:pt x="2528031" y="1060601"/>
                    <a:pt x="2517648" y="1064902"/>
                    <a:pt x="2506823" y="1064902"/>
                  </a:cubicBezTo>
                  <a:lnTo>
                    <a:pt x="40818" y="1064902"/>
                  </a:lnTo>
                  <a:cubicBezTo>
                    <a:pt x="29993" y="1064902"/>
                    <a:pt x="19610" y="1060601"/>
                    <a:pt x="11955" y="1052946"/>
                  </a:cubicBezTo>
                  <a:cubicBezTo>
                    <a:pt x="4300" y="1045291"/>
                    <a:pt x="0" y="1034909"/>
                    <a:pt x="0" y="1024083"/>
                  </a:cubicBezTo>
                  <a:lnTo>
                    <a:pt x="0" y="40818"/>
                  </a:lnTo>
                  <a:cubicBezTo>
                    <a:pt x="0" y="29993"/>
                    <a:pt x="4300" y="19610"/>
                    <a:pt x="11955" y="11955"/>
                  </a:cubicBezTo>
                  <a:cubicBezTo>
                    <a:pt x="19610" y="4300"/>
                    <a:pt x="29993" y="0"/>
                    <a:pt x="4081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g35c3d30e88a_1_574"/>
            <p:cNvSpPr txBox="1"/>
            <p:nvPr/>
          </p:nvSpPr>
          <p:spPr>
            <a:xfrm>
              <a:off x="0" y="-19050"/>
              <a:ext cx="2547600" cy="1083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26" name="Google Shape;326;g35c3d30e88a_1_574"/>
          <p:cNvSpPr/>
          <p:nvPr/>
        </p:nvSpPr>
        <p:spPr>
          <a:xfrm>
            <a:off x="5477066" y="2472060"/>
            <a:ext cx="1816963" cy="1812421"/>
          </a:xfrm>
          <a:custGeom>
            <a:rect b="b" l="l" r="r" t="t"/>
            <a:pathLst>
              <a:path extrusionOk="0" h="1812421" w="1816963">
                <a:moveTo>
                  <a:pt x="0" y="0"/>
                </a:moveTo>
                <a:lnTo>
                  <a:pt x="1816963" y="0"/>
                </a:lnTo>
                <a:lnTo>
                  <a:pt x="1816963" y="1812421"/>
                </a:lnTo>
                <a:lnTo>
                  <a:pt x="0" y="1812421"/>
                </a:lnTo>
                <a:lnTo>
                  <a:pt x="0" y="0"/>
                </a:lnTo>
                <a:close/>
              </a:path>
            </a:pathLst>
          </a:custGeom>
          <a:blipFill rotWithShape="1">
            <a:blip r:embed="rId3">
              <a:alphaModFix/>
            </a:blip>
            <a:stretch>
              <a:fillRect b="0" l="0" r="0" t="0"/>
            </a:stretch>
          </a:blipFill>
          <a:ln>
            <a:noFill/>
          </a:ln>
        </p:spPr>
      </p:sp>
      <p:sp>
        <p:nvSpPr>
          <p:cNvPr id="327" name="Google Shape;327;g35c3d30e88a_1_574"/>
          <p:cNvSpPr/>
          <p:nvPr/>
        </p:nvSpPr>
        <p:spPr>
          <a:xfrm>
            <a:off x="8018286" y="1406248"/>
            <a:ext cx="8993193" cy="3282515"/>
          </a:xfrm>
          <a:custGeom>
            <a:rect b="b" l="l" r="r" t="t"/>
            <a:pathLst>
              <a:path extrusionOk="0" h="3282515" w="8993193">
                <a:moveTo>
                  <a:pt x="0" y="0"/>
                </a:moveTo>
                <a:lnTo>
                  <a:pt x="8993192" y="0"/>
                </a:lnTo>
                <a:lnTo>
                  <a:pt x="8993192" y="3282515"/>
                </a:lnTo>
                <a:lnTo>
                  <a:pt x="0" y="3282515"/>
                </a:lnTo>
                <a:lnTo>
                  <a:pt x="0" y="0"/>
                </a:lnTo>
                <a:close/>
              </a:path>
            </a:pathLst>
          </a:custGeom>
          <a:blipFill rotWithShape="1">
            <a:blip r:embed="rId4">
              <a:alphaModFix/>
            </a:blip>
            <a:stretch>
              <a:fillRect b="0" l="0" r="0" t="0"/>
            </a:stretch>
          </a:blipFill>
          <a:ln>
            <a:noFill/>
          </a:ln>
        </p:spPr>
      </p:sp>
      <p:sp>
        <p:nvSpPr>
          <p:cNvPr id="328" name="Google Shape;328;g35c3d30e88a_1_574"/>
          <p:cNvSpPr txBox="1"/>
          <p:nvPr/>
        </p:nvSpPr>
        <p:spPr>
          <a:xfrm>
            <a:off x="1283595" y="2759463"/>
            <a:ext cx="4193400" cy="1231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8000"/>
              <a:buFont typeface="Arial"/>
              <a:buNone/>
            </a:pPr>
            <a:r>
              <a:rPr b="0" i="0" lang="en-US" sz="8000" u="none" cap="none" strike="noStrike">
                <a:solidFill>
                  <a:srgbClr val="FFFFFF"/>
                </a:solidFill>
                <a:latin typeface="Arial"/>
                <a:ea typeface="Arial"/>
                <a:cs typeface="Arial"/>
                <a:sym typeface="Arial"/>
              </a:rPr>
              <a:t>EXEC( )</a:t>
            </a:r>
            <a:endParaRPr b="0" i="0" sz="1400" u="none" cap="none" strike="noStrike">
              <a:solidFill>
                <a:srgbClr val="000000"/>
              </a:solidFill>
              <a:latin typeface="Arial"/>
              <a:ea typeface="Arial"/>
              <a:cs typeface="Arial"/>
              <a:sym typeface="Arial"/>
            </a:endParaRPr>
          </a:p>
        </p:txBody>
      </p:sp>
      <p:sp>
        <p:nvSpPr>
          <p:cNvPr id="329" name="Google Shape;329;g35c3d30e88a_1_574"/>
          <p:cNvSpPr txBox="1"/>
          <p:nvPr/>
        </p:nvSpPr>
        <p:spPr>
          <a:xfrm>
            <a:off x="1511117" y="5959928"/>
            <a:ext cx="15379800" cy="38589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La llamada al sistema exec permite remplazarlos segmentos de instrucciones y de datos de usuario por otros nuevos a partir de un archivo ejecutable en disco, con lo que se consigue que un proceso deje de ejecutar instrucciones de un programa y comience a ejecutar instrucciones de un nuevo programa.</a:t>
            </a:r>
            <a:r>
              <a:rPr b="0" i="0" lang="en-US" sz="2199" u="none" cap="none" strike="noStrike">
                <a:solidFill>
                  <a:srgbClr val="67D3CD"/>
                </a:solidFill>
                <a:latin typeface="Montserrat"/>
                <a:ea typeface="Montserrat"/>
                <a:cs typeface="Montserrat"/>
                <a:sym typeface="Montserrat"/>
              </a:rPr>
              <a:t> exec() no crea ningún proceso nuevo.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67D3CD"/>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El programa que se está ejecutando actualmente finaliza inmediatamente y el nuevo programa comienza aejecutarse en el contexto del proceso existente.</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33" name="Shape 333"/>
        <p:cNvGrpSpPr/>
        <p:nvPr/>
      </p:nvGrpSpPr>
      <p:grpSpPr>
        <a:xfrm>
          <a:off x="0" y="0"/>
          <a:ext cx="0" cy="0"/>
          <a:chOff x="0" y="0"/>
          <a:chExt cx="0" cy="0"/>
        </a:xfrm>
      </p:grpSpPr>
      <p:grpSp>
        <p:nvGrpSpPr>
          <p:cNvPr id="334" name="Google Shape;334;g35c3d30e88a_1_599"/>
          <p:cNvGrpSpPr/>
          <p:nvPr/>
        </p:nvGrpSpPr>
        <p:grpSpPr>
          <a:xfrm>
            <a:off x="7891842" y="3046614"/>
            <a:ext cx="9238169" cy="2316868"/>
            <a:chOff x="0" y="-19050"/>
            <a:chExt cx="2433082" cy="610200"/>
          </a:xfrm>
        </p:grpSpPr>
        <p:sp>
          <p:nvSpPr>
            <p:cNvPr id="335" name="Google Shape;335;g35c3d30e88a_1_599"/>
            <p:cNvSpPr/>
            <p:nvPr/>
          </p:nvSpPr>
          <p:spPr>
            <a:xfrm>
              <a:off x="0" y="0"/>
              <a:ext cx="2433082" cy="591142"/>
            </a:xfrm>
            <a:custGeom>
              <a:rect b="b" l="l" r="r" t="t"/>
              <a:pathLst>
                <a:path extrusionOk="0" h="591142" w="2433082">
                  <a:moveTo>
                    <a:pt x="42740" y="0"/>
                  </a:moveTo>
                  <a:lnTo>
                    <a:pt x="2390342" y="0"/>
                  </a:lnTo>
                  <a:cubicBezTo>
                    <a:pt x="2413947" y="0"/>
                    <a:pt x="2433082" y="19135"/>
                    <a:pt x="2433082" y="42740"/>
                  </a:cubicBezTo>
                  <a:lnTo>
                    <a:pt x="2433082" y="548401"/>
                  </a:lnTo>
                  <a:cubicBezTo>
                    <a:pt x="2433082" y="572006"/>
                    <a:pt x="2413947" y="591142"/>
                    <a:pt x="2390342" y="591142"/>
                  </a:cubicBezTo>
                  <a:lnTo>
                    <a:pt x="42740" y="591142"/>
                  </a:lnTo>
                  <a:cubicBezTo>
                    <a:pt x="19135" y="591142"/>
                    <a:pt x="0" y="572006"/>
                    <a:pt x="0" y="548401"/>
                  </a:cubicBezTo>
                  <a:lnTo>
                    <a:pt x="0" y="42740"/>
                  </a:lnTo>
                  <a:cubicBezTo>
                    <a:pt x="0" y="19135"/>
                    <a:pt x="19135" y="0"/>
                    <a:pt x="4274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g35c3d30e88a_1_599"/>
            <p:cNvSpPr txBox="1"/>
            <p:nvPr/>
          </p:nvSpPr>
          <p:spPr>
            <a:xfrm>
              <a:off x="0" y="-19050"/>
              <a:ext cx="2433000" cy="610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7" name="Google Shape;337;g35c3d30e88a_1_599"/>
          <p:cNvSpPr/>
          <p:nvPr/>
        </p:nvSpPr>
        <p:spPr>
          <a:xfrm>
            <a:off x="13345080" y="808764"/>
            <a:ext cx="1677369" cy="1700755"/>
          </a:xfrm>
          <a:custGeom>
            <a:rect b="b" l="l" r="r" t="t"/>
            <a:pathLst>
              <a:path extrusionOk="0" h="1700755" w="1677369">
                <a:moveTo>
                  <a:pt x="0" y="0"/>
                </a:moveTo>
                <a:lnTo>
                  <a:pt x="1677369" y="0"/>
                </a:lnTo>
                <a:lnTo>
                  <a:pt x="1677369" y="1700755"/>
                </a:lnTo>
                <a:lnTo>
                  <a:pt x="0" y="1700755"/>
                </a:lnTo>
                <a:lnTo>
                  <a:pt x="0" y="0"/>
                </a:lnTo>
                <a:close/>
              </a:path>
            </a:pathLst>
          </a:custGeom>
          <a:blipFill rotWithShape="1">
            <a:blip r:embed="rId3">
              <a:alphaModFix/>
            </a:blip>
            <a:stretch>
              <a:fillRect b="0" l="0" r="0" t="0"/>
            </a:stretch>
          </a:blipFill>
          <a:ln>
            <a:noFill/>
          </a:ln>
        </p:spPr>
      </p:sp>
      <p:grpSp>
        <p:nvGrpSpPr>
          <p:cNvPr id="338" name="Google Shape;338;g35c3d30e88a_1_599"/>
          <p:cNvGrpSpPr/>
          <p:nvPr/>
        </p:nvGrpSpPr>
        <p:grpSpPr>
          <a:xfrm>
            <a:off x="1158050" y="3016179"/>
            <a:ext cx="6418659" cy="6462100"/>
            <a:chOff x="0" y="-19050"/>
            <a:chExt cx="1690500" cy="1701941"/>
          </a:xfrm>
        </p:grpSpPr>
        <p:sp>
          <p:nvSpPr>
            <p:cNvPr id="339" name="Google Shape;339;g35c3d30e88a_1_599"/>
            <p:cNvSpPr/>
            <p:nvPr/>
          </p:nvSpPr>
          <p:spPr>
            <a:xfrm>
              <a:off x="0" y="0"/>
              <a:ext cx="1690420" cy="1682891"/>
            </a:xfrm>
            <a:custGeom>
              <a:rect b="b" l="l" r="r" t="t"/>
              <a:pathLst>
                <a:path extrusionOk="0" h="1682891" w="1690420">
                  <a:moveTo>
                    <a:pt x="61517" y="0"/>
                  </a:moveTo>
                  <a:lnTo>
                    <a:pt x="1628903" y="0"/>
                  </a:lnTo>
                  <a:cubicBezTo>
                    <a:pt x="1662878" y="0"/>
                    <a:pt x="1690420" y="27542"/>
                    <a:pt x="1690420" y="61517"/>
                  </a:cubicBezTo>
                  <a:lnTo>
                    <a:pt x="1690420" y="1621373"/>
                  </a:lnTo>
                  <a:cubicBezTo>
                    <a:pt x="1690420" y="1637689"/>
                    <a:pt x="1683939" y="1653336"/>
                    <a:pt x="1672402" y="1664873"/>
                  </a:cubicBezTo>
                  <a:cubicBezTo>
                    <a:pt x="1660865" y="1676409"/>
                    <a:pt x="1645218" y="1682891"/>
                    <a:pt x="1628903" y="1682891"/>
                  </a:cubicBezTo>
                  <a:lnTo>
                    <a:pt x="61517" y="1682891"/>
                  </a:lnTo>
                  <a:cubicBezTo>
                    <a:pt x="45202" y="1682891"/>
                    <a:pt x="29555" y="1676409"/>
                    <a:pt x="18018" y="1664873"/>
                  </a:cubicBezTo>
                  <a:cubicBezTo>
                    <a:pt x="6481" y="1653336"/>
                    <a:pt x="0" y="1637689"/>
                    <a:pt x="0" y="1621373"/>
                  </a:cubicBezTo>
                  <a:lnTo>
                    <a:pt x="0" y="61517"/>
                  </a:lnTo>
                  <a:cubicBezTo>
                    <a:pt x="0" y="27542"/>
                    <a:pt x="27542" y="0"/>
                    <a:pt x="6151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g35c3d30e88a_1_599"/>
            <p:cNvSpPr txBox="1"/>
            <p:nvPr/>
          </p:nvSpPr>
          <p:spPr>
            <a:xfrm>
              <a:off x="0" y="-19050"/>
              <a:ext cx="1690500" cy="1701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41" name="Google Shape;341;g35c3d30e88a_1_599"/>
          <p:cNvSpPr/>
          <p:nvPr/>
        </p:nvSpPr>
        <p:spPr>
          <a:xfrm>
            <a:off x="5572750" y="1069344"/>
            <a:ext cx="1749247" cy="1661785"/>
          </a:xfrm>
          <a:custGeom>
            <a:rect b="b" l="l" r="r" t="t"/>
            <a:pathLst>
              <a:path extrusionOk="0" h="1661785" w="1749247">
                <a:moveTo>
                  <a:pt x="0" y="0"/>
                </a:moveTo>
                <a:lnTo>
                  <a:pt x="1749247" y="0"/>
                </a:lnTo>
                <a:lnTo>
                  <a:pt x="1749247" y="1661785"/>
                </a:lnTo>
                <a:lnTo>
                  <a:pt x="0" y="1661785"/>
                </a:lnTo>
                <a:lnTo>
                  <a:pt x="0" y="0"/>
                </a:lnTo>
                <a:close/>
              </a:path>
            </a:pathLst>
          </a:custGeom>
          <a:blipFill rotWithShape="1">
            <a:blip r:embed="rId4">
              <a:alphaModFix/>
            </a:blip>
            <a:stretch>
              <a:fillRect b="0" l="0" r="0" t="0"/>
            </a:stretch>
          </a:blipFill>
          <a:ln>
            <a:noFill/>
          </a:ln>
        </p:spPr>
      </p:sp>
      <p:grpSp>
        <p:nvGrpSpPr>
          <p:cNvPr id="342" name="Google Shape;342;g35c3d30e88a_1_599"/>
          <p:cNvGrpSpPr/>
          <p:nvPr/>
        </p:nvGrpSpPr>
        <p:grpSpPr>
          <a:xfrm>
            <a:off x="7891842" y="5567330"/>
            <a:ext cx="9238169" cy="3910932"/>
            <a:chOff x="0" y="-19050"/>
            <a:chExt cx="2433082" cy="1030033"/>
          </a:xfrm>
        </p:grpSpPr>
        <p:sp>
          <p:nvSpPr>
            <p:cNvPr id="343" name="Google Shape;343;g35c3d30e88a_1_599"/>
            <p:cNvSpPr/>
            <p:nvPr/>
          </p:nvSpPr>
          <p:spPr>
            <a:xfrm>
              <a:off x="0" y="0"/>
              <a:ext cx="2433082" cy="1010983"/>
            </a:xfrm>
            <a:custGeom>
              <a:rect b="b" l="l" r="r" t="t"/>
              <a:pathLst>
                <a:path extrusionOk="0" h="1010983" w="2433082">
                  <a:moveTo>
                    <a:pt x="42740" y="0"/>
                  </a:moveTo>
                  <a:lnTo>
                    <a:pt x="2390342" y="0"/>
                  </a:lnTo>
                  <a:cubicBezTo>
                    <a:pt x="2413947" y="0"/>
                    <a:pt x="2433082" y="19135"/>
                    <a:pt x="2433082" y="42740"/>
                  </a:cubicBezTo>
                  <a:lnTo>
                    <a:pt x="2433082" y="968243"/>
                  </a:lnTo>
                  <a:cubicBezTo>
                    <a:pt x="2433082" y="991847"/>
                    <a:pt x="2413947" y="1010983"/>
                    <a:pt x="2390342" y="1010983"/>
                  </a:cubicBezTo>
                  <a:lnTo>
                    <a:pt x="42740" y="1010983"/>
                  </a:lnTo>
                  <a:cubicBezTo>
                    <a:pt x="19135" y="1010983"/>
                    <a:pt x="0" y="991847"/>
                    <a:pt x="0" y="968243"/>
                  </a:cubicBezTo>
                  <a:lnTo>
                    <a:pt x="0" y="42740"/>
                  </a:lnTo>
                  <a:cubicBezTo>
                    <a:pt x="0" y="19135"/>
                    <a:pt x="19135" y="0"/>
                    <a:pt x="4274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g35c3d30e88a_1_599"/>
            <p:cNvSpPr txBox="1"/>
            <p:nvPr/>
          </p:nvSpPr>
          <p:spPr>
            <a:xfrm>
              <a:off x="0" y="-19050"/>
              <a:ext cx="2433000" cy="1029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45" name="Google Shape;345;g35c3d30e88a_1_599"/>
          <p:cNvSpPr/>
          <p:nvPr/>
        </p:nvSpPr>
        <p:spPr>
          <a:xfrm>
            <a:off x="8442683" y="5973036"/>
            <a:ext cx="8136426" cy="3152865"/>
          </a:xfrm>
          <a:custGeom>
            <a:rect b="b" l="l" r="r" t="t"/>
            <a:pathLst>
              <a:path extrusionOk="0" h="3152865" w="8136426">
                <a:moveTo>
                  <a:pt x="0" y="0"/>
                </a:moveTo>
                <a:lnTo>
                  <a:pt x="8136426" y="0"/>
                </a:lnTo>
                <a:lnTo>
                  <a:pt x="8136426" y="3152865"/>
                </a:lnTo>
                <a:lnTo>
                  <a:pt x="0" y="3152865"/>
                </a:lnTo>
                <a:lnTo>
                  <a:pt x="0" y="0"/>
                </a:lnTo>
                <a:close/>
              </a:path>
            </a:pathLst>
          </a:custGeom>
          <a:blipFill rotWithShape="1">
            <a:blip r:embed="rId5">
              <a:alphaModFix/>
            </a:blip>
            <a:stretch>
              <a:fillRect b="0" l="0" r="0" t="0"/>
            </a:stretch>
          </a:blipFill>
          <a:ln>
            <a:noFill/>
          </a:ln>
        </p:spPr>
      </p:sp>
      <p:sp>
        <p:nvSpPr>
          <p:cNvPr id="346" name="Google Shape;346;g35c3d30e88a_1_599"/>
          <p:cNvSpPr txBox="1"/>
          <p:nvPr/>
        </p:nvSpPr>
        <p:spPr>
          <a:xfrm>
            <a:off x="8381867" y="3498138"/>
            <a:ext cx="8258100" cy="16587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Un programa utiliza la llamada al sistema exit() para finalizar su ejecución. El sistema operativo recupera recursos que fueron utilizados por el proceso después de la llamada al sistema exit().</a:t>
            </a:r>
            <a:endParaRPr b="0" i="0" sz="1400" u="none" cap="none" strike="noStrike">
              <a:solidFill>
                <a:srgbClr val="000000"/>
              </a:solidFill>
              <a:latin typeface="Arial"/>
              <a:ea typeface="Arial"/>
              <a:cs typeface="Arial"/>
              <a:sym typeface="Arial"/>
            </a:endParaRPr>
          </a:p>
        </p:txBody>
      </p:sp>
      <p:sp>
        <p:nvSpPr>
          <p:cNvPr id="347" name="Google Shape;347;g35c3d30e88a_1_599"/>
          <p:cNvSpPr txBox="1"/>
          <p:nvPr/>
        </p:nvSpPr>
        <p:spPr>
          <a:xfrm>
            <a:off x="9273350" y="1281429"/>
            <a:ext cx="4193400" cy="1231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8000"/>
              <a:buFont typeface="Arial"/>
              <a:buNone/>
            </a:pPr>
            <a:r>
              <a:rPr b="0" i="0" lang="en-US" sz="8000" u="none" cap="none" strike="noStrike">
                <a:solidFill>
                  <a:srgbClr val="FFFFFF"/>
                </a:solidFill>
                <a:latin typeface="Arial"/>
                <a:ea typeface="Arial"/>
                <a:cs typeface="Arial"/>
                <a:sym typeface="Arial"/>
              </a:rPr>
              <a:t>EXIT( )</a:t>
            </a:r>
            <a:endParaRPr b="0" i="0" sz="1400" u="none" cap="none" strike="noStrike">
              <a:solidFill>
                <a:srgbClr val="000000"/>
              </a:solidFill>
              <a:latin typeface="Arial"/>
              <a:ea typeface="Arial"/>
              <a:cs typeface="Arial"/>
              <a:sym typeface="Arial"/>
            </a:endParaRPr>
          </a:p>
        </p:txBody>
      </p:sp>
      <p:sp>
        <p:nvSpPr>
          <p:cNvPr id="348" name="Google Shape;348;g35c3d30e88a_1_599"/>
          <p:cNvSpPr txBox="1"/>
          <p:nvPr/>
        </p:nvSpPr>
        <p:spPr>
          <a:xfrm>
            <a:off x="1531085" y="3615281"/>
            <a:ext cx="5672100" cy="51792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La llamada al sistema wait() suspende la ejecución del hilo que lo llama hasta que uno de sus hijos termine.</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Se utiliza un parámetro ‘status’ para comunicar al proceso padre la forma en que el proceso hijo termina. Por convenio, este valor suele ser 0 si el proceso termina correctamente y cualquier otro valor en caso de terminación anormal.</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p:txBody>
      </p:sp>
      <p:sp>
        <p:nvSpPr>
          <p:cNvPr id="349" name="Google Shape;349;g35c3d30e88a_1_599"/>
          <p:cNvSpPr txBox="1"/>
          <p:nvPr/>
        </p:nvSpPr>
        <p:spPr>
          <a:xfrm>
            <a:off x="1412415" y="1406490"/>
            <a:ext cx="4193400" cy="1231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8000"/>
              <a:buFont typeface="Arial"/>
              <a:buNone/>
            </a:pPr>
            <a:r>
              <a:rPr b="0" i="0" lang="en-US" sz="8000" u="none" cap="none" strike="noStrike">
                <a:solidFill>
                  <a:srgbClr val="FFFFFF"/>
                </a:solidFill>
                <a:latin typeface="Arial"/>
                <a:ea typeface="Arial"/>
                <a:cs typeface="Arial"/>
                <a:sym typeface="Arial"/>
              </a:rPr>
              <a:t>WAIT(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53" name="Shape 353"/>
        <p:cNvGrpSpPr/>
        <p:nvPr/>
      </p:nvGrpSpPr>
      <p:grpSpPr>
        <a:xfrm>
          <a:off x="0" y="0"/>
          <a:ext cx="0" cy="0"/>
          <a:chOff x="0" y="0"/>
          <a:chExt cx="0" cy="0"/>
        </a:xfrm>
      </p:grpSpPr>
      <p:grpSp>
        <p:nvGrpSpPr>
          <p:cNvPr id="354" name="Google Shape;354;g35c3d30e88a_1_993"/>
          <p:cNvGrpSpPr/>
          <p:nvPr/>
        </p:nvGrpSpPr>
        <p:grpSpPr>
          <a:xfrm>
            <a:off x="1158050" y="3016179"/>
            <a:ext cx="7636325" cy="6462100"/>
            <a:chOff x="0" y="-19050"/>
            <a:chExt cx="2011200" cy="1701941"/>
          </a:xfrm>
        </p:grpSpPr>
        <p:sp>
          <p:nvSpPr>
            <p:cNvPr id="355" name="Google Shape;355;g35c3d30e88a_1_993"/>
            <p:cNvSpPr/>
            <p:nvPr/>
          </p:nvSpPr>
          <p:spPr>
            <a:xfrm>
              <a:off x="0" y="0"/>
              <a:ext cx="2011054" cy="1682891"/>
            </a:xfrm>
            <a:custGeom>
              <a:rect b="b" l="l" r="r" t="t"/>
              <a:pathLst>
                <a:path extrusionOk="0" h="1682891" w="2011054">
                  <a:moveTo>
                    <a:pt x="51709" y="0"/>
                  </a:moveTo>
                  <a:lnTo>
                    <a:pt x="1959345" y="0"/>
                  </a:lnTo>
                  <a:cubicBezTo>
                    <a:pt x="1987903" y="0"/>
                    <a:pt x="2011054" y="23151"/>
                    <a:pt x="2011054" y="51709"/>
                  </a:cubicBezTo>
                  <a:lnTo>
                    <a:pt x="2011054" y="1631181"/>
                  </a:lnTo>
                  <a:cubicBezTo>
                    <a:pt x="2011054" y="1659740"/>
                    <a:pt x="1987903" y="1682891"/>
                    <a:pt x="1959345" y="1682891"/>
                  </a:cubicBezTo>
                  <a:lnTo>
                    <a:pt x="51709" y="1682891"/>
                  </a:lnTo>
                  <a:cubicBezTo>
                    <a:pt x="23151" y="1682891"/>
                    <a:pt x="0" y="1659740"/>
                    <a:pt x="0" y="1631181"/>
                  </a:cubicBezTo>
                  <a:lnTo>
                    <a:pt x="0" y="51709"/>
                  </a:lnTo>
                  <a:cubicBezTo>
                    <a:pt x="0" y="23151"/>
                    <a:pt x="23151" y="0"/>
                    <a:pt x="51709"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g35c3d30e88a_1_993"/>
            <p:cNvSpPr txBox="1"/>
            <p:nvPr/>
          </p:nvSpPr>
          <p:spPr>
            <a:xfrm>
              <a:off x="0" y="-19050"/>
              <a:ext cx="2011200" cy="1701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57" name="Google Shape;357;g35c3d30e88a_1_993"/>
          <p:cNvSpPr/>
          <p:nvPr/>
        </p:nvSpPr>
        <p:spPr>
          <a:xfrm>
            <a:off x="6631353" y="784518"/>
            <a:ext cx="1110037" cy="1850062"/>
          </a:xfrm>
          <a:custGeom>
            <a:rect b="b" l="l" r="r" t="t"/>
            <a:pathLst>
              <a:path extrusionOk="0" h="1850062" w="1110037">
                <a:moveTo>
                  <a:pt x="0" y="0"/>
                </a:moveTo>
                <a:lnTo>
                  <a:pt x="1110037" y="0"/>
                </a:lnTo>
                <a:lnTo>
                  <a:pt x="1110037" y="1850062"/>
                </a:lnTo>
                <a:lnTo>
                  <a:pt x="0" y="1850062"/>
                </a:lnTo>
                <a:lnTo>
                  <a:pt x="0" y="0"/>
                </a:lnTo>
                <a:close/>
              </a:path>
            </a:pathLst>
          </a:custGeom>
          <a:blipFill rotWithShape="1">
            <a:blip r:embed="rId3">
              <a:alphaModFix/>
            </a:blip>
            <a:stretch>
              <a:fillRect b="0" l="0" r="0" t="0"/>
            </a:stretch>
          </a:blipFill>
          <a:ln>
            <a:noFill/>
          </a:ln>
        </p:spPr>
      </p:sp>
      <p:grpSp>
        <p:nvGrpSpPr>
          <p:cNvPr id="358" name="Google Shape;358;g35c3d30e88a_1_993"/>
          <p:cNvGrpSpPr/>
          <p:nvPr/>
        </p:nvGrpSpPr>
        <p:grpSpPr>
          <a:xfrm>
            <a:off x="9144000" y="3016179"/>
            <a:ext cx="7636325" cy="4701056"/>
            <a:chOff x="0" y="-19050"/>
            <a:chExt cx="2011200" cy="1238130"/>
          </a:xfrm>
        </p:grpSpPr>
        <p:sp>
          <p:nvSpPr>
            <p:cNvPr id="359" name="Google Shape;359;g35c3d30e88a_1_993"/>
            <p:cNvSpPr/>
            <p:nvPr/>
          </p:nvSpPr>
          <p:spPr>
            <a:xfrm>
              <a:off x="0" y="0"/>
              <a:ext cx="2011054" cy="1219080"/>
            </a:xfrm>
            <a:custGeom>
              <a:rect b="b" l="l" r="r" t="t"/>
              <a:pathLst>
                <a:path extrusionOk="0" h="1219080" w="2011054">
                  <a:moveTo>
                    <a:pt x="51709" y="0"/>
                  </a:moveTo>
                  <a:lnTo>
                    <a:pt x="1959345" y="0"/>
                  </a:lnTo>
                  <a:cubicBezTo>
                    <a:pt x="1987903" y="0"/>
                    <a:pt x="2011054" y="23151"/>
                    <a:pt x="2011054" y="51709"/>
                  </a:cubicBezTo>
                  <a:lnTo>
                    <a:pt x="2011054" y="1167370"/>
                  </a:lnTo>
                  <a:cubicBezTo>
                    <a:pt x="2011054" y="1195929"/>
                    <a:pt x="1987903" y="1219080"/>
                    <a:pt x="1959345" y="1219080"/>
                  </a:cubicBezTo>
                  <a:lnTo>
                    <a:pt x="51709" y="1219080"/>
                  </a:lnTo>
                  <a:cubicBezTo>
                    <a:pt x="23151" y="1219080"/>
                    <a:pt x="0" y="1195929"/>
                    <a:pt x="0" y="1167370"/>
                  </a:cubicBezTo>
                  <a:lnTo>
                    <a:pt x="0" y="51709"/>
                  </a:lnTo>
                  <a:cubicBezTo>
                    <a:pt x="0" y="23151"/>
                    <a:pt x="23151" y="0"/>
                    <a:pt x="51709"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g35c3d30e88a_1_993"/>
            <p:cNvSpPr txBox="1"/>
            <p:nvPr/>
          </p:nvSpPr>
          <p:spPr>
            <a:xfrm>
              <a:off x="0" y="-19050"/>
              <a:ext cx="2011200" cy="12381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61" name="Google Shape;361;g35c3d30e88a_1_993"/>
          <p:cNvSpPr/>
          <p:nvPr/>
        </p:nvSpPr>
        <p:spPr>
          <a:xfrm>
            <a:off x="14680142" y="627359"/>
            <a:ext cx="1502906" cy="2007220"/>
          </a:xfrm>
          <a:custGeom>
            <a:rect b="b" l="l" r="r" t="t"/>
            <a:pathLst>
              <a:path extrusionOk="0" h="2007220" w="1502906">
                <a:moveTo>
                  <a:pt x="0" y="0"/>
                </a:moveTo>
                <a:lnTo>
                  <a:pt x="1502907" y="0"/>
                </a:lnTo>
                <a:lnTo>
                  <a:pt x="1502907" y="2007221"/>
                </a:lnTo>
                <a:lnTo>
                  <a:pt x="0" y="2007221"/>
                </a:lnTo>
                <a:lnTo>
                  <a:pt x="0" y="0"/>
                </a:lnTo>
                <a:close/>
              </a:path>
            </a:pathLst>
          </a:custGeom>
          <a:blipFill rotWithShape="1">
            <a:blip r:embed="rId4">
              <a:alphaModFix/>
            </a:blip>
            <a:stretch>
              <a:fillRect b="0" l="0" r="0" t="0"/>
            </a:stretch>
          </a:blipFill>
          <a:ln>
            <a:noFill/>
          </a:ln>
        </p:spPr>
      </p:sp>
      <p:grpSp>
        <p:nvGrpSpPr>
          <p:cNvPr id="362" name="Google Shape;362;g35c3d30e88a_1_993"/>
          <p:cNvGrpSpPr/>
          <p:nvPr/>
        </p:nvGrpSpPr>
        <p:grpSpPr>
          <a:xfrm>
            <a:off x="9144000" y="7931467"/>
            <a:ext cx="7636325" cy="1546857"/>
            <a:chOff x="0" y="-19050"/>
            <a:chExt cx="2011200" cy="407400"/>
          </a:xfrm>
        </p:grpSpPr>
        <p:sp>
          <p:nvSpPr>
            <p:cNvPr id="363" name="Google Shape;363;g35c3d30e88a_1_993"/>
            <p:cNvSpPr/>
            <p:nvPr/>
          </p:nvSpPr>
          <p:spPr>
            <a:xfrm>
              <a:off x="0" y="0"/>
              <a:ext cx="2011054" cy="388329"/>
            </a:xfrm>
            <a:custGeom>
              <a:rect b="b" l="l" r="r" t="t"/>
              <a:pathLst>
                <a:path extrusionOk="0" h="388329" w="2011054">
                  <a:moveTo>
                    <a:pt x="51709" y="0"/>
                  </a:moveTo>
                  <a:lnTo>
                    <a:pt x="1959345" y="0"/>
                  </a:lnTo>
                  <a:cubicBezTo>
                    <a:pt x="1987903" y="0"/>
                    <a:pt x="2011054" y="23151"/>
                    <a:pt x="2011054" y="51709"/>
                  </a:cubicBezTo>
                  <a:lnTo>
                    <a:pt x="2011054" y="336620"/>
                  </a:lnTo>
                  <a:cubicBezTo>
                    <a:pt x="2011054" y="365178"/>
                    <a:pt x="1987903" y="388329"/>
                    <a:pt x="1959345" y="388329"/>
                  </a:cubicBezTo>
                  <a:lnTo>
                    <a:pt x="51709" y="388329"/>
                  </a:lnTo>
                  <a:cubicBezTo>
                    <a:pt x="23151" y="388329"/>
                    <a:pt x="0" y="365178"/>
                    <a:pt x="0" y="336620"/>
                  </a:cubicBezTo>
                  <a:lnTo>
                    <a:pt x="0" y="51709"/>
                  </a:lnTo>
                  <a:cubicBezTo>
                    <a:pt x="0" y="23151"/>
                    <a:pt x="23151" y="0"/>
                    <a:pt x="51709"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g35c3d30e88a_1_993"/>
            <p:cNvSpPr txBox="1"/>
            <p:nvPr/>
          </p:nvSpPr>
          <p:spPr>
            <a:xfrm>
              <a:off x="0" y="-19050"/>
              <a:ext cx="2011200" cy="4074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65" name="Google Shape;365;g35c3d30e88a_1_993"/>
          <p:cNvSpPr/>
          <p:nvPr/>
        </p:nvSpPr>
        <p:spPr>
          <a:xfrm>
            <a:off x="9634883" y="8283354"/>
            <a:ext cx="6653956" cy="881649"/>
          </a:xfrm>
          <a:custGeom>
            <a:rect b="b" l="l" r="r" t="t"/>
            <a:pathLst>
              <a:path extrusionOk="0" h="881649" w="6653956">
                <a:moveTo>
                  <a:pt x="0" y="0"/>
                </a:moveTo>
                <a:lnTo>
                  <a:pt x="6653956" y="0"/>
                </a:lnTo>
                <a:lnTo>
                  <a:pt x="6653956" y="881649"/>
                </a:lnTo>
                <a:lnTo>
                  <a:pt x="0" y="881649"/>
                </a:lnTo>
                <a:lnTo>
                  <a:pt x="0" y="0"/>
                </a:lnTo>
                <a:close/>
              </a:path>
            </a:pathLst>
          </a:custGeom>
          <a:blipFill rotWithShape="1">
            <a:blip r:embed="rId5">
              <a:alphaModFix/>
            </a:blip>
            <a:stretch>
              <a:fillRect b="0" l="0" r="0" t="0"/>
            </a:stretch>
          </a:blipFill>
          <a:ln>
            <a:noFill/>
          </a:ln>
        </p:spPr>
      </p:sp>
      <p:sp>
        <p:nvSpPr>
          <p:cNvPr id="366" name="Google Shape;366;g35c3d30e88a_1_993"/>
          <p:cNvSpPr txBox="1"/>
          <p:nvPr/>
        </p:nvSpPr>
        <p:spPr>
          <a:xfrm>
            <a:off x="1447388" y="3382693"/>
            <a:ext cx="7056900" cy="64995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La llamada al sistema open es el primer paso que debe ejecutar todo proceso que quiera acceder a los datos de un archivo. Su sintaxis es:</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ctr">
              <a:lnSpc>
                <a:spcPct val="130013"/>
              </a:lnSpc>
              <a:spcBef>
                <a:spcPts val="0"/>
              </a:spcBef>
              <a:spcAft>
                <a:spcPts val="0"/>
              </a:spcAft>
              <a:buClr>
                <a:srgbClr val="000000"/>
              </a:buClr>
              <a:buSzPts val="2199"/>
              <a:buFont typeface="Arial"/>
              <a:buNone/>
            </a:pPr>
            <a:r>
              <a:rPr b="0" i="0" lang="en-US" sz="2199" u="none" cap="none" strike="noStrike">
                <a:solidFill>
                  <a:srgbClr val="8C52FF"/>
                </a:solidFill>
                <a:latin typeface="Montserrat"/>
                <a:ea typeface="Montserrat"/>
                <a:cs typeface="Montserrat"/>
                <a:sym typeface="Montserrat"/>
              </a:rPr>
              <a:t>fd </a:t>
            </a:r>
            <a:r>
              <a:rPr b="0" i="0" lang="en-US" sz="2199" u="none" cap="none" strike="noStrike">
                <a:solidFill>
                  <a:srgbClr val="FFFFFF"/>
                </a:solidFill>
                <a:latin typeface="Montserrat"/>
                <a:ea typeface="Montserrat"/>
                <a:cs typeface="Montserrat"/>
                <a:sym typeface="Montserrat"/>
              </a:rPr>
              <a:t>= open(</a:t>
            </a:r>
            <a:r>
              <a:rPr b="0" i="0" lang="en-US" sz="2199" u="none" cap="none" strike="noStrike">
                <a:solidFill>
                  <a:srgbClr val="43A1E0"/>
                </a:solidFill>
                <a:latin typeface="Montserrat"/>
                <a:ea typeface="Montserrat"/>
                <a:cs typeface="Montserrat"/>
                <a:sym typeface="Montserrat"/>
              </a:rPr>
              <a:t>pathname</a:t>
            </a:r>
            <a:r>
              <a:rPr b="0" i="0" lang="en-US" sz="2199" u="none" cap="none" strike="noStrike">
                <a:solidFill>
                  <a:srgbClr val="FFFFFF"/>
                </a:solidFill>
                <a:latin typeface="Montserrat"/>
                <a:ea typeface="Montserrat"/>
                <a:cs typeface="Montserrat"/>
                <a:sym typeface="Montserrat"/>
              </a:rPr>
              <a:t>, </a:t>
            </a:r>
            <a:r>
              <a:rPr b="0" i="0" lang="en-US" sz="2199" u="none" cap="none" strike="noStrike">
                <a:solidFill>
                  <a:srgbClr val="B084CC"/>
                </a:solidFill>
                <a:latin typeface="Montserrat"/>
                <a:ea typeface="Montserrat"/>
                <a:cs typeface="Montserrat"/>
                <a:sym typeface="Montserrat"/>
              </a:rPr>
              <a:t>flags</a:t>
            </a:r>
            <a:r>
              <a:rPr b="0" i="0" lang="en-US" sz="2199" u="none" cap="none" strike="noStrike">
                <a:solidFill>
                  <a:srgbClr val="FFFFFF"/>
                </a:solidFill>
                <a:latin typeface="Montserrat"/>
                <a:ea typeface="Montserrat"/>
                <a:cs typeface="Montserrat"/>
                <a:sym typeface="Montserrat"/>
              </a:rPr>
              <a:t>, </a:t>
            </a:r>
            <a:r>
              <a:rPr b="0" i="0" lang="en-US" sz="2199" u="none" cap="none" strike="noStrike">
                <a:solidFill>
                  <a:srgbClr val="5CD9C1"/>
                </a:solidFill>
                <a:latin typeface="Montserrat"/>
                <a:ea typeface="Montserrat"/>
                <a:cs typeface="Montserrat"/>
                <a:sym typeface="Montserrat"/>
              </a:rPr>
              <a:t>modes</a:t>
            </a:r>
            <a:r>
              <a:rPr b="0" i="0" lang="en-US" sz="2199" u="none" cap="none" strike="noStrike">
                <a:solidFill>
                  <a:srgbClr val="FFFFFF"/>
                </a:solidFill>
                <a:latin typeface="Montserrat"/>
                <a:ea typeface="Montserrat"/>
                <a:cs typeface="Montserrat"/>
                <a:sym typeface="Montserrat"/>
              </a:rPr>
              <a:t>);</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donde:</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43A1E0"/>
              </a:buClr>
              <a:buSzPts val="2199"/>
              <a:buFont typeface="Arial"/>
              <a:buChar char="•"/>
            </a:pPr>
            <a:r>
              <a:rPr b="0" i="0" lang="en-US" sz="2199" u="none" cap="none" strike="noStrike">
                <a:solidFill>
                  <a:srgbClr val="43A1E0"/>
                </a:solidFill>
                <a:latin typeface="Montserrat"/>
                <a:ea typeface="Montserrat"/>
                <a:cs typeface="Montserrat"/>
                <a:sym typeface="Montserrat"/>
              </a:rPr>
              <a:t>pathname</a:t>
            </a:r>
            <a:r>
              <a:rPr b="0" i="0" lang="en-US" sz="2199" u="none" cap="none" strike="noStrike">
                <a:solidFill>
                  <a:srgbClr val="FFFFFF"/>
                </a:solidFill>
                <a:latin typeface="Montserrat"/>
                <a:ea typeface="Montserrat"/>
                <a:cs typeface="Montserrat"/>
                <a:sym typeface="Montserrat"/>
              </a:rPr>
              <a:t>: ruta y nombre del archivo.</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B084CC"/>
              </a:buClr>
              <a:buSzPts val="2199"/>
              <a:buFont typeface="Arial"/>
              <a:buChar char="•"/>
            </a:pPr>
            <a:r>
              <a:rPr b="0" i="0" lang="en-US" sz="2199" u="none" cap="none" strike="noStrike">
                <a:solidFill>
                  <a:srgbClr val="B084CC"/>
                </a:solidFill>
                <a:latin typeface="Montserrat"/>
                <a:ea typeface="Montserrat"/>
                <a:cs typeface="Montserrat"/>
                <a:sym typeface="Montserrat"/>
              </a:rPr>
              <a:t>flags</a:t>
            </a:r>
            <a:r>
              <a:rPr b="0" i="0" lang="en-US" sz="2199" u="none" cap="none" strike="noStrike">
                <a:solidFill>
                  <a:srgbClr val="FFFFFF"/>
                </a:solidFill>
                <a:latin typeface="Montserrat"/>
                <a:ea typeface="Montserrat"/>
                <a:cs typeface="Montserrat"/>
                <a:sym typeface="Montserrat"/>
              </a:rPr>
              <a:t>: modo de apertura, para lectura, escritura, etc.</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5CD9C1"/>
              </a:buClr>
              <a:buSzPts val="2199"/>
              <a:buFont typeface="Arial"/>
              <a:buChar char="•"/>
            </a:pPr>
            <a:r>
              <a:rPr b="0" i="0" lang="en-US" sz="2199" u="none" cap="none" strike="noStrike">
                <a:solidFill>
                  <a:srgbClr val="5CD9C1"/>
                </a:solidFill>
                <a:latin typeface="Montserrat"/>
                <a:ea typeface="Montserrat"/>
                <a:cs typeface="Montserrat"/>
                <a:sym typeface="Montserrat"/>
              </a:rPr>
              <a:t>modes</a:t>
            </a:r>
            <a:r>
              <a:rPr b="0" i="0" lang="en-US" sz="2199" u="none" cap="none" strike="noStrike">
                <a:solidFill>
                  <a:srgbClr val="FFFFFF"/>
                </a:solidFill>
                <a:latin typeface="Montserrat"/>
                <a:ea typeface="Montserrat"/>
                <a:cs typeface="Montserrat"/>
                <a:sym typeface="Montserrat"/>
              </a:rPr>
              <a:t>: permisos del archivo en caso de que se deba crear.</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8C52FF"/>
              </a:buClr>
              <a:buSzPts val="2199"/>
              <a:buFont typeface="Arial"/>
              <a:buChar char="•"/>
            </a:pPr>
            <a:r>
              <a:rPr b="0" i="0" lang="en-US" sz="2199" u="none" cap="none" strike="noStrike">
                <a:solidFill>
                  <a:srgbClr val="8C52FF"/>
                </a:solidFill>
                <a:latin typeface="Montserrat"/>
                <a:ea typeface="Montserrat"/>
                <a:cs typeface="Montserrat"/>
                <a:sym typeface="Montserrat"/>
              </a:rPr>
              <a:t>fd</a:t>
            </a:r>
            <a:r>
              <a:rPr b="0" i="0" lang="en-US" sz="2199" u="none" cap="none" strike="noStrike">
                <a:solidFill>
                  <a:srgbClr val="FFFFFF"/>
                </a:solidFill>
                <a:latin typeface="Montserrat"/>
                <a:ea typeface="Montserrat"/>
                <a:cs typeface="Montserrat"/>
                <a:sym typeface="Montserrat"/>
              </a:rPr>
              <a:t>: entero que representa el descriptor del archivo.</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p:txBody>
      </p:sp>
      <p:sp>
        <p:nvSpPr>
          <p:cNvPr id="367" name="Google Shape;367;g35c3d30e88a_1_993"/>
          <p:cNvSpPr txBox="1"/>
          <p:nvPr/>
        </p:nvSpPr>
        <p:spPr>
          <a:xfrm>
            <a:off x="2210430" y="1090741"/>
            <a:ext cx="4193400" cy="1231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8000"/>
              <a:buFont typeface="Arial"/>
              <a:buNone/>
            </a:pPr>
            <a:r>
              <a:rPr b="0" i="0" lang="en-US" sz="8000" u="none" cap="none" strike="noStrike">
                <a:solidFill>
                  <a:srgbClr val="FFFFFF"/>
                </a:solidFill>
                <a:latin typeface="Arial"/>
                <a:ea typeface="Arial"/>
                <a:cs typeface="Arial"/>
                <a:sym typeface="Arial"/>
              </a:rPr>
              <a:t>OPEN( )</a:t>
            </a:r>
            <a:endParaRPr b="0" i="0" sz="1400" u="none" cap="none" strike="noStrike">
              <a:solidFill>
                <a:srgbClr val="000000"/>
              </a:solidFill>
              <a:latin typeface="Arial"/>
              <a:ea typeface="Arial"/>
              <a:cs typeface="Arial"/>
              <a:sym typeface="Arial"/>
            </a:endParaRPr>
          </a:p>
        </p:txBody>
      </p:sp>
      <p:sp>
        <p:nvSpPr>
          <p:cNvPr id="368" name="Google Shape;368;g35c3d30e88a_1_993"/>
          <p:cNvSpPr txBox="1"/>
          <p:nvPr/>
        </p:nvSpPr>
        <p:spPr>
          <a:xfrm>
            <a:off x="9740673" y="1090741"/>
            <a:ext cx="4619700" cy="1231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8000"/>
              <a:buFont typeface="Arial"/>
              <a:buNone/>
            </a:pPr>
            <a:r>
              <a:rPr b="0" i="0" lang="en-US" sz="8000" u="none" cap="none" strike="noStrike">
                <a:solidFill>
                  <a:srgbClr val="FFFFFF"/>
                </a:solidFill>
                <a:latin typeface="Arial"/>
                <a:ea typeface="Arial"/>
                <a:cs typeface="Arial"/>
                <a:sym typeface="Arial"/>
              </a:rPr>
              <a:t>CLOSE( )</a:t>
            </a:r>
            <a:endParaRPr b="0" i="0" sz="1400" u="none" cap="none" strike="noStrike">
              <a:solidFill>
                <a:srgbClr val="000000"/>
              </a:solidFill>
              <a:latin typeface="Arial"/>
              <a:ea typeface="Arial"/>
              <a:cs typeface="Arial"/>
              <a:sym typeface="Arial"/>
            </a:endParaRPr>
          </a:p>
        </p:txBody>
      </p:sp>
      <p:sp>
        <p:nvSpPr>
          <p:cNvPr id="369" name="Google Shape;369;g35c3d30e88a_1_993"/>
          <p:cNvSpPr txBox="1"/>
          <p:nvPr/>
        </p:nvSpPr>
        <p:spPr>
          <a:xfrm>
            <a:off x="9433339" y="3382693"/>
            <a:ext cx="7056900" cy="51792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Se utiliza para cerrar un archivo abierto, liberan do los recursos asociados. Una vez que un archivo ya no es necesario, se debe cerrar para liberar recursos del sistema.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Su sintaxis es:</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ctr">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close(</a:t>
            </a:r>
            <a:r>
              <a:rPr b="0" i="0" lang="en-US" sz="2199" u="none" cap="none" strike="noStrike">
                <a:solidFill>
                  <a:srgbClr val="8C52FF"/>
                </a:solidFill>
                <a:latin typeface="Montserrat"/>
                <a:ea typeface="Montserrat"/>
                <a:cs typeface="Montserrat"/>
                <a:sym typeface="Montserrat"/>
              </a:rPr>
              <a:t>fd</a:t>
            </a:r>
            <a:r>
              <a:rPr b="0" i="0" lang="en-US" sz="2199" u="none" cap="none" strike="noStrike">
                <a:solidFill>
                  <a:srgbClr val="FFFFFF"/>
                </a:solidFill>
                <a:latin typeface="Montserrat"/>
                <a:ea typeface="Montserrat"/>
                <a:cs typeface="Montserrat"/>
                <a:sym typeface="Montserrat"/>
              </a:rPr>
              <a:t>);</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donde:</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8C52FF"/>
              </a:buClr>
              <a:buSzPts val="2199"/>
              <a:buFont typeface="Arial"/>
              <a:buChar char="•"/>
            </a:pPr>
            <a:r>
              <a:rPr b="0" i="0" lang="en-US" sz="2199" u="none" cap="none" strike="noStrike">
                <a:solidFill>
                  <a:srgbClr val="8C52FF"/>
                </a:solidFill>
                <a:latin typeface="Montserrat"/>
                <a:ea typeface="Montserrat"/>
                <a:cs typeface="Montserrat"/>
                <a:sym typeface="Montserrat"/>
              </a:rPr>
              <a:t>fd</a:t>
            </a:r>
            <a:r>
              <a:rPr b="0" i="0" lang="en-US" sz="2199" u="none" cap="none" strike="noStrike">
                <a:solidFill>
                  <a:srgbClr val="FFFFFF"/>
                </a:solidFill>
                <a:latin typeface="Montserrat"/>
                <a:ea typeface="Montserrat"/>
                <a:cs typeface="Montserrat"/>
                <a:sym typeface="Montserrat"/>
              </a:rPr>
              <a:t>: descriptor de archivo que devuelve la llamada open</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73" name="Shape 373"/>
        <p:cNvGrpSpPr/>
        <p:nvPr/>
      </p:nvGrpSpPr>
      <p:grpSpPr>
        <a:xfrm>
          <a:off x="0" y="0"/>
          <a:ext cx="0" cy="0"/>
          <a:chOff x="0" y="0"/>
          <a:chExt cx="0" cy="0"/>
        </a:xfrm>
      </p:grpSpPr>
      <p:grpSp>
        <p:nvGrpSpPr>
          <p:cNvPr id="374" name="Google Shape;374;g35c3d30e88a_1_1012"/>
          <p:cNvGrpSpPr/>
          <p:nvPr/>
        </p:nvGrpSpPr>
        <p:grpSpPr>
          <a:xfrm>
            <a:off x="1333164" y="3109227"/>
            <a:ext cx="7636325" cy="6462100"/>
            <a:chOff x="0" y="-19050"/>
            <a:chExt cx="2011200" cy="1701941"/>
          </a:xfrm>
        </p:grpSpPr>
        <p:sp>
          <p:nvSpPr>
            <p:cNvPr id="375" name="Google Shape;375;g35c3d30e88a_1_1012"/>
            <p:cNvSpPr/>
            <p:nvPr/>
          </p:nvSpPr>
          <p:spPr>
            <a:xfrm>
              <a:off x="0" y="0"/>
              <a:ext cx="2011054" cy="1682891"/>
            </a:xfrm>
            <a:custGeom>
              <a:rect b="b" l="l" r="r" t="t"/>
              <a:pathLst>
                <a:path extrusionOk="0" h="1682891" w="2011054">
                  <a:moveTo>
                    <a:pt x="51709" y="0"/>
                  </a:moveTo>
                  <a:lnTo>
                    <a:pt x="1959345" y="0"/>
                  </a:lnTo>
                  <a:cubicBezTo>
                    <a:pt x="1987903" y="0"/>
                    <a:pt x="2011054" y="23151"/>
                    <a:pt x="2011054" y="51709"/>
                  </a:cubicBezTo>
                  <a:lnTo>
                    <a:pt x="2011054" y="1631181"/>
                  </a:lnTo>
                  <a:cubicBezTo>
                    <a:pt x="2011054" y="1659740"/>
                    <a:pt x="1987903" y="1682891"/>
                    <a:pt x="1959345" y="1682891"/>
                  </a:cubicBezTo>
                  <a:lnTo>
                    <a:pt x="51709" y="1682891"/>
                  </a:lnTo>
                  <a:cubicBezTo>
                    <a:pt x="23151" y="1682891"/>
                    <a:pt x="0" y="1659740"/>
                    <a:pt x="0" y="1631181"/>
                  </a:cubicBezTo>
                  <a:lnTo>
                    <a:pt x="0" y="51709"/>
                  </a:lnTo>
                  <a:cubicBezTo>
                    <a:pt x="0" y="23151"/>
                    <a:pt x="23151" y="0"/>
                    <a:pt x="51709"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g35c3d30e88a_1_1012"/>
            <p:cNvSpPr txBox="1"/>
            <p:nvPr/>
          </p:nvSpPr>
          <p:spPr>
            <a:xfrm>
              <a:off x="0" y="-19050"/>
              <a:ext cx="2011200" cy="1701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77" name="Google Shape;377;g35c3d30e88a_1_1012"/>
          <p:cNvGrpSpPr/>
          <p:nvPr/>
        </p:nvGrpSpPr>
        <p:grpSpPr>
          <a:xfrm>
            <a:off x="9319114" y="3109227"/>
            <a:ext cx="7636325" cy="6462100"/>
            <a:chOff x="0" y="-19050"/>
            <a:chExt cx="2011200" cy="1701941"/>
          </a:xfrm>
        </p:grpSpPr>
        <p:sp>
          <p:nvSpPr>
            <p:cNvPr id="378" name="Google Shape;378;g35c3d30e88a_1_1012"/>
            <p:cNvSpPr/>
            <p:nvPr/>
          </p:nvSpPr>
          <p:spPr>
            <a:xfrm>
              <a:off x="0" y="0"/>
              <a:ext cx="2011054" cy="1682891"/>
            </a:xfrm>
            <a:custGeom>
              <a:rect b="b" l="l" r="r" t="t"/>
              <a:pathLst>
                <a:path extrusionOk="0" h="1682891" w="2011054">
                  <a:moveTo>
                    <a:pt x="51709" y="0"/>
                  </a:moveTo>
                  <a:lnTo>
                    <a:pt x="1959345" y="0"/>
                  </a:lnTo>
                  <a:cubicBezTo>
                    <a:pt x="1987903" y="0"/>
                    <a:pt x="2011054" y="23151"/>
                    <a:pt x="2011054" y="51709"/>
                  </a:cubicBezTo>
                  <a:lnTo>
                    <a:pt x="2011054" y="1631181"/>
                  </a:lnTo>
                  <a:cubicBezTo>
                    <a:pt x="2011054" y="1659740"/>
                    <a:pt x="1987903" y="1682891"/>
                    <a:pt x="1959345" y="1682891"/>
                  </a:cubicBezTo>
                  <a:lnTo>
                    <a:pt x="51709" y="1682891"/>
                  </a:lnTo>
                  <a:cubicBezTo>
                    <a:pt x="23151" y="1682891"/>
                    <a:pt x="0" y="1659740"/>
                    <a:pt x="0" y="1631181"/>
                  </a:cubicBezTo>
                  <a:lnTo>
                    <a:pt x="0" y="51709"/>
                  </a:lnTo>
                  <a:cubicBezTo>
                    <a:pt x="0" y="23151"/>
                    <a:pt x="23151" y="0"/>
                    <a:pt x="51709"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g35c3d30e88a_1_1012"/>
            <p:cNvSpPr txBox="1"/>
            <p:nvPr/>
          </p:nvSpPr>
          <p:spPr>
            <a:xfrm>
              <a:off x="0" y="-19050"/>
              <a:ext cx="2011200" cy="1701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80" name="Google Shape;380;g35c3d30e88a_1_1012"/>
          <p:cNvSpPr/>
          <p:nvPr/>
        </p:nvSpPr>
        <p:spPr>
          <a:xfrm>
            <a:off x="6291513" y="846522"/>
            <a:ext cx="2006513" cy="1881106"/>
          </a:xfrm>
          <a:custGeom>
            <a:rect b="b" l="l" r="r" t="t"/>
            <a:pathLst>
              <a:path extrusionOk="0" h="1881106" w="2006513">
                <a:moveTo>
                  <a:pt x="0" y="0"/>
                </a:moveTo>
                <a:lnTo>
                  <a:pt x="2006513" y="0"/>
                </a:lnTo>
                <a:lnTo>
                  <a:pt x="2006513" y="1881106"/>
                </a:lnTo>
                <a:lnTo>
                  <a:pt x="0" y="1881106"/>
                </a:lnTo>
                <a:lnTo>
                  <a:pt x="0" y="0"/>
                </a:lnTo>
                <a:close/>
              </a:path>
            </a:pathLst>
          </a:custGeom>
          <a:blipFill rotWithShape="1">
            <a:blip r:embed="rId3">
              <a:alphaModFix/>
            </a:blip>
            <a:stretch>
              <a:fillRect b="0" l="0" r="0" t="0"/>
            </a:stretch>
          </a:blipFill>
          <a:ln>
            <a:noFill/>
          </a:ln>
        </p:spPr>
      </p:sp>
      <p:sp>
        <p:nvSpPr>
          <p:cNvPr id="381" name="Google Shape;381;g35c3d30e88a_1_1012"/>
          <p:cNvSpPr/>
          <p:nvPr/>
        </p:nvSpPr>
        <p:spPr>
          <a:xfrm>
            <a:off x="14578633" y="715716"/>
            <a:ext cx="1998086" cy="2142719"/>
          </a:xfrm>
          <a:custGeom>
            <a:rect b="b" l="l" r="r" t="t"/>
            <a:pathLst>
              <a:path extrusionOk="0" h="2142719" w="1998086">
                <a:moveTo>
                  <a:pt x="0" y="0"/>
                </a:moveTo>
                <a:lnTo>
                  <a:pt x="1998086" y="0"/>
                </a:lnTo>
                <a:lnTo>
                  <a:pt x="1998086" y="2142719"/>
                </a:lnTo>
                <a:lnTo>
                  <a:pt x="0" y="2142719"/>
                </a:lnTo>
                <a:lnTo>
                  <a:pt x="0" y="0"/>
                </a:lnTo>
                <a:close/>
              </a:path>
            </a:pathLst>
          </a:custGeom>
          <a:blipFill rotWithShape="1">
            <a:blip r:embed="rId4">
              <a:alphaModFix/>
            </a:blip>
            <a:stretch>
              <a:fillRect b="0" l="0" r="0" t="0"/>
            </a:stretch>
          </a:blipFill>
          <a:ln>
            <a:noFill/>
          </a:ln>
        </p:spPr>
      </p:sp>
      <p:sp>
        <p:nvSpPr>
          <p:cNvPr id="382" name="Google Shape;382;g35c3d30e88a_1_1012"/>
          <p:cNvSpPr txBox="1"/>
          <p:nvPr/>
        </p:nvSpPr>
        <p:spPr>
          <a:xfrm>
            <a:off x="1622503" y="3475741"/>
            <a:ext cx="7056900" cy="69396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Permite que un programa lea datos de un archivo abierto. Su sintaxis es:</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ctr">
              <a:lnSpc>
                <a:spcPct val="130013"/>
              </a:lnSpc>
              <a:spcBef>
                <a:spcPts val="0"/>
              </a:spcBef>
              <a:spcAft>
                <a:spcPts val="0"/>
              </a:spcAft>
              <a:buClr>
                <a:srgbClr val="000000"/>
              </a:buClr>
              <a:buSzPts val="2199"/>
              <a:buFont typeface="Arial"/>
              <a:buNone/>
            </a:pPr>
            <a:r>
              <a:rPr b="0" i="0" lang="en-US" sz="2199" u="none" cap="none" strike="noStrike">
                <a:solidFill>
                  <a:srgbClr val="B084CC"/>
                </a:solidFill>
                <a:latin typeface="Montserrat"/>
                <a:ea typeface="Montserrat"/>
                <a:cs typeface="Montserrat"/>
                <a:sym typeface="Montserrat"/>
              </a:rPr>
              <a:t>number </a:t>
            </a:r>
            <a:r>
              <a:rPr b="0" i="0" lang="en-US" sz="2199" u="none" cap="none" strike="noStrike">
                <a:solidFill>
                  <a:srgbClr val="FFFFFF"/>
                </a:solidFill>
                <a:latin typeface="Montserrat"/>
                <a:ea typeface="Montserrat"/>
                <a:cs typeface="Montserrat"/>
                <a:sym typeface="Montserrat"/>
              </a:rPr>
              <a:t>= read (</a:t>
            </a:r>
            <a:r>
              <a:rPr b="0" i="0" lang="en-US" sz="2199" u="none" cap="none" strike="noStrike">
                <a:solidFill>
                  <a:srgbClr val="5CD9C1"/>
                </a:solidFill>
                <a:latin typeface="Montserrat"/>
                <a:ea typeface="Montserrat"/>
                <a:cs typeface="Montserrat"/>
                <a:sym typeface="Montserrat"/>
              </a:rPr>
              <a:t>fd</a:t>
            </a:r>
            <a:r>
              <a:rPr b="0" i="0" lang="en-US" sz="2199" u="none" cap="none" strike="noStrike">
                <a:solidFill>
                  <a:srgbClr val="FFFFFF"/>
                </a:solidFill>
                <a:latin typeface="Montserrat"/>
                <a:ea typeface="Montserrat"/>
                <a:cs typeface="Montserrat"/>
                <a:sym typeface="Montserrat"/>
              </a:rPr>
              <a:t>, </a:t>
            </a:r>
            <a:r>
              <a:rPr b="0" i="0" lang="en-US" sz="2199" u="none" cap="none" strike="noStrike">
                <a:solidFill>
                  <a:srgbClr val="ACFDDB"/>
                </a:solidFill>
                <a:latin typeface="Montserrat"/>
                <a:ea typeface="Montserrat"/>
                <a:cs typeface="Montserrat"/>
                <a:sym typeface="Montserrat"/>
              </a:rPr>
              <a:t>buffer</a:t>
            </a:r>
            <a:r>
              <a:rPr b="0" i="0" lang="en-US" sz="2199" u="none" cap="none" strike="noStrike">
                <a:solidFill>
                  <a:srgbClr val="FFFFFF"/>
                </a:solidFill>
                <a:latin typeface="Montserrat"/>
                <a:ea typeface="Montserrat"/>
                <a:cs typeface="Montserrat"/>
                <a:sym typeface="Montserrat"/>
              </a:rPr>
              <a:t>, </a:t>
            </a:r>
            <a:r>
              <a:rPr b="0" i="0" lang="en-US" sz="2199" u="none" cap="none" strike="noStrike">
                <a:solidFill>
                  <a:srgbClr val="5271FF"/>
                </a:solidFill>
                <a:latin typeface="Montserrat"/>
                <a:ea typeface="Montserrat"/>
                <a:cs typeface="Montserrat"/>
                <a:sym typeface="Montserrat"/>
              </a:rPr>
              <a:t>count</a:t>
            </a:r>
            <a:r>
              <a:rPr b="0" i="0" lang="en-US" sz="2199" u="none" cap="none" strike="noStrike">
                <a:solidFill>
                  <a:srgbClr val="FFFFFF"/>
                </a:solidFill>
                <a:latin typeface="Montserrat"/>
                <a:ea typeface="Montserrat"/>
                <a:cs typeface="Montserrat"/>
                <a:sym typeface="Montserrat"/>
              </a:rPr>
              <a:t>);</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donde:</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5CD9C1"/>
              </a:buClr>
              <a:buSzPts val="2199"/>
              <a:buFont typeface="Arial"/>
              <a:buChar char="•"/>
            </a:pPr>
            <a:r>
              <a:rPr b="0" i="0" lang="en-US" sz="2199" u="none" cap="none" strike="noStrike">
                <a:solidFill>
                  <a:srgbClr val="5CD9C1"/>
                </a:solidFill>
                <a:latin typeface="Montserrat"/>
                <a:ea typeface="Montserrat"/>
                <a:cs typeface="Montserrat"/>
                <a:sym typeface="Montserrat"/>
              </a:rPr>
              <a:t>fd</a:t>
            </a:r>
            <a:r>
              <a:rPr b="0" i="0" lang="en-US" sz="2199" u="none" cap="none" strike="noStrike">
                <a:solidFill>
                  <a:srgbClr val="FFFFFF"/>
                </a:solidFill>
                <a:latin typeface="Montserrat"/>
                <a:ea typeface="Montserrat"/>
                <a:cs typeface="Montserrat"/>
                <a:sym typeface="Montserrat"/>
              </a:rPr>
              <a:t>: descriptor de archivo que devuelve la llamada open</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ACFDDB"/>
              </a:buClr>
              <a:buSzPts val="2199"/>
              <a:buFont typeface="Arial"/>
              <a:buChar char="•"/>
            </a:pPr>
            <a:r>
              <a:rPr b="0" i="0" lang="en-US" sz="2199" u="none" cap="none" strike="noStrike">
                <a:solidFill>
                  <a:srgbClr val="ACFDDB"/>
                </a:solidFill>
                <a:latin typeface="Montserrat"/>
                <a:ea typeface="Montserrat"/>
                <a:cs typeface="Montserrat"/>
                <a:sym typeface="Montserrat"/>
              </a:rPr>
              <a:t>buffer</a:t>
            </a:r>
            <a:r>
              <a:rPr b="0" i="0" lang="en-US" sz="2199" u="none" cap="none" strike="noStrike">
                <a:solidFill>
                  <a:srgbClr val="FFFFFF"/>
                </a:solidFill>
                <a:latin typeface="Montserrat"/>
                <a:ea typeface="Montserrat"/>
                <a:cs typeface="Montserrat"/>
                <a:sym typeface="Montserrat"/>
              </a:rPr>
              <a:t>: dirección del buffer donde se van a colocar los datos leídos</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5271FF"/>
              </a:buClr>
              <a:buSzPts val="2199"/>
              <a:buFont typeface="Arial"/>
              <a:buChar char="•"/>
            </a:pPr>
            <a:r>
              <a:rPr b="0" i="0" lang="en-US" sz="2199" u="none" cap="none" strike="noStrike">
                <a:solidFill>
                  <a:srgbClr val="5271FF"/>
                </a:solidFill>
                <a:latin typeface="Montserrat"/>
                <a:ea typeface="Montserrat"/>
                <a:cs typeface="Montserrat"/>
                <a:sym typeface="Montserrat"/>
              </a:rPr>
              <a:t>count</a:t>
            </a:r>
            <a:r>
              <a:rPr b="0" i="0" lang="en-US" sz="2199" u="none" cap="none" strike="noStrike">
                <a:solidFill>
                  <a:srgbClr val="FFFFFF"/>
                </a:solidFill>
                <a:latin typeface="Montserrat"/>
                <a:ea typeface="Montserrat"/>
                <a:cs typeface="Montserrat"/>
                <a:sym typeface="Montserrat"/>
              </a:rPr>
              <a:t>: número de bytes que el usuario quiere leer</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B084CC"/>
              </a:buClr>
              <a:buSzPts val="2199"/>
              <a:buFont typeface="Arial"/>
              <a:buChar char="•"/>
            </a:pPr>
            <a:r>
              <a:rPr b="0" i="0" lang="en-US" sz="2199" u="none" cap="none" strike="noStrike">
                <a:solidFill>
                  <a:srgbClr val="B084CC"/>
                </a:solidFill>
                <a:latin typeface="Montserrat"/>
                <a:ea typeface="Montserrat"/>
                <a:cs typeface="Montserrat"/>
                <a:sym typeface="Montserrat"/>
              </a:rPr>
              <a:t>number</a:t>
            </a:r>
            <a:r>
              <a:rPr b="0" i="0" lang="en-US" sz="2199" u="none" cap="none" strike="noStrike">
                <a:solidFill>
                  <a:srgbClr val="FFFFFF"/>
                </a:solidFill>
                <a:latin typeface="Montserrat"/>
                <a:ea typeface="Montserrat"/>
                <a:cs typeface="Montserrat"/>
                <a:sym typeface="Montserrat"/>
              </a:rPr>
              <a:t>: número de bytes leídos si es positivo en caso contrario la ejecución no ha sido correcta</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p:txBody>
      </p:sp>
      <p:sp>
        <p:nvSpPr>
          <p:cNvPr id="383" name="Google Shape;383;g35c3d30e88a_1_1012"/>
          <p:cNvSpPr txBox="1"/>
          <p:nvPr/>
        </p:nvSpPr>
        <p:spPr>
          <a:xfrm>
            <a:off x="2004024" y="1246847"/>
            <a:ext cx="4193400" cy="1231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8000"/>
              <a:buFont typeface="Arial"/>
              <a:buNone/>
            </a:pPr>
            <a:r>
              <a:rPr b="0" i="0" lang="en-US" sz="8000" u="none" cap="none" strike="noStrike">
                <a:solidFill>
                  <a:srgbClr val="FFFFFF"/>
                </a:solidFill>
                <a:latin typeface="Arial"/>
                <a:ea typeface="Arial"/>
                <a:cs typeface="Arial"/>
                <a:sym typeface="Arial"/>
              </a:rPr>
              <a:t>READ( )</a:t>
            </a:r>
            <a:endParaRPr b="0" i="0" sz="1400" u="none" cap="none" strike="noStrike">
              <a:solidFill>
                <a:srgbClr val="000000"/>
              </a:solidFill>
              <a:latin typeface="Arial"/>
              <a:ea typeface="Arial"/>
              <a:cs typeface="Arial"/>
              <a:sym typeface="Arial"/>
            </a:endParaRPr>
          </a:p>
        </p:txBody>
      </p:sp>
      <p:sp>
        <p:nvSpPr>
          <p:cNvPr id="384" name="Google Shape;384;g35c3d30e88a_1_1012"/>
          <p:cNvSpPr txBox="1"/>
          <p:nvPr/>
        </p:nvSpPr>
        <p:spPr>
          <a:xfrm>
            <a:off x="9697231" y="1183790"/>
            <a:ext cx="4619700" cy="1231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8000"/>
              <a:buFont typeface="Arial"/>
              <a:buNone/>
            </a:pPr>
            <a:r>
              <a:rPr b="0" i="0" lang="en-US" sz="8000" u="none" cap="none" strike="noStrike">
                <a:solidFill>
                  <a:srgbClr val="FFFFFF"/>
                </a:solidFill>
                <a:latin typeface="Arial"/>
                <a:ea typeface="Arial"/>
                <a:cs typeface="Arial"/>
                <a:sym typeface="Arial"/>
              </a:rPr>
              <a:t>WRITE( )</a:t>
            </a:r>
            <a:endParaRPr b="0" i="0" sz="1400" u="none" cap="none" strike="noStrike">
              <a:solidFill>
                <a:srgbClr val="000000"/>
              </a:solidFill>
              <a:latin typeface="Arial"/>
              <a:ea typeface="Arial"/>
              <a:cs typeface="Arial"/>
              <a:sym typeface="Arial"/>
            </a:endParaRPr>
          </a:p>
        </p:txBody>
      </p:sp>
      <p:sp>
        <p:nvSpPr>
          <p:cNvPr id="385" name="Google Shape;385;g35c3d30e88a_1_1012"/>
          <p:cNvSpPr txBox="1"/>
          <p:nvPr/>
        </p:nvSpPr>
        <p:spPr>
          <a:xfrm>
            <a:off x="9608453" y="3475741"/>
            <a:ext cx="7056900" cy="64995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Permite que un programa escriba datos en un archivo abierto. La sintaxis es:</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ctr">
              <a:lnSpc>
                <a:spcPct val="130013"/>
              </a:lnSpc>
              <a:spcBef>
                <a:spcPts val="0"/>
              </a:spcBef>
              <a:spcAft>
                <a:spcPts val="0"/>
              </a:spcAft>
              <a:buClr>
                <a:srgbClr val="000000"/>
              </a:buClr>
              <a:buSzPts val="2199"/>
              <a:buFont typeface="Arial"/>
              <a:buNone/>
            </a:pPr>
            <a:r>
              <a:rPr b="0" i="0" lang="en-US" sz="2199" u="none" cap="none" strike="noStrike">
                <a:solidFill>
                  <a:srgbClr val="B084CC"/>
                </a:solidFill>
                <a:latin typeface="Montserrat"/>
                <a:ea typeface="Montserrat"/>
                <a:cs typeface="Montserrat"/>
                <a:sym typeface="Montserrat"/>
              </a:rPr>
              <a:t>number </a:t>
            </a:r>
            <a:r>
              <a:rPr b="0" i="0" lang="en-US" sz="2199" u="none" cap="none" strike="noStrike">
                <a:solidFill>
                  <a:srgbClr val="FFFFFF"/>
                </a:solidFill>
                <a:latin typeface="Montserrat"/>
                <a:ea typeface="Montserrat"/>
                <a:cs typeface="Montserrat"/>
                <a:sym typeface="Montserrat"/>
              </a:rPr>
              <a:t>= write (</a:t>
            </a:r>
            <a:r>
              <a:rPr b="0" i="0" lang="en-US" sz="2199" u="none" cap="none" strike="noStrike">
                <a:solidFill>
                  <a:srgbClr val="5CD9C1"/>
                </a:solidFill>
                <a:latin typeface="Montserrat"/>
                <a:ea typeface="Montserrat"/>
                <a:cs typeface="Montserrat"/>
                <a:sym typeface="Montserrat"/>
              </a:rPr>
              <a:t>fd</a:t>
            </a:r>
            <a:r>
              <a:rPr b="0" i="0" lang="en-US" sz="2199" u="none" cap="none" strike="noStrike">
                <a:solidFill>
                  <a:srgbClr val="FFFFFF"/>
                </a:solidFill>
                <a:latin typeface="Montserrat"/>
                <a:ea typeface="Montserrat"/>
                <a:cs typeface="Montserrat"/>
                <a:sym typeface="Montserrat"/>
              </a:rPr>
              <a:t>, </a:t>
            </a:r>
            <a:r>
              <a:rPr b="0" i="0" lang="en-US" sz="2199" u="none" cap="none" strike="noStrike">
                <a:solidFill>
                  <a:srgbClr val="ACFDDB"/>
                </a:solidFill>
                <a:latin typeface="Montserrat"/>
                <a:ea typeface="Montserrat"/>
                <a:cs typeface="Montserrat"/>
                <a:sym typeface="Montserrat"/>
              </a:rPr>
              <a:t>buffer</a:t>
            </a:r>
            <a:r>
              <a:rPr b="0" i="0" lang="en-US" sz="2199" u="none" cap="none" strike="noStrike">
                <a:solidFill>
                  <a:srgbClr val="FFFFFF"/>
                </a:solidFill>
                <a:latin typeface="Montserrat"/>
                <a:ea typeface="Montserrat"/>
                <a:cs typeface="Montserrat"/>
                <a:sym typeface="Montserrat"/>
              </a:rPr>
              <a:t>, </a:t>
            </a:r>
            <a:r>
              <a:rPr b="0" i="0" lang="en-US" sz="2199" u="none" cap="none" strike="noStrike">
                <a:solidFill>
                  <a:srgbClr val="5271FF"/>
                </a:solidFill>
                <a:latin typeface="Montserrat"/>
                <a:ea typeface="Montserrat"/>
                <a:cs typeface="Montserrat"/>
                <a:sym typeface="Montserrat"/>
              </a:rPr>
              <a:t>count</a:t>
            </a:r>
            <a:r>
              <a:rPr b="0" i="0" lang="en-US" sz="2199" u="none" cap="none" strike="noStrike">
                <a:solidFill>
                  <a:srgbClr val="FFFFFF"/>
                </a:solidFill>
                <a:latin typeface="Montserrat"/>
                <a:ea typeface="Montserrat"/>
                <a:cs typeface="Montserrat"/>
                <a:sym typeface="Montserrat"/>
              </a:rPr>
              <a:t>);</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donde:</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5CD9C1"/>
              </a:buClr>
              <a:buSzPts val="2199"/>
              <a:buFont typeface="Arial"/>
              <a:buChar char="•"/>
            </a:pPr>
            <a:r>
              <a:rPr b="0" i="0" lang="en-US" sz="2199" u="none" cap="none" strike="noStrike">
                <a:solidFill>
                  <a:srgbClr val="5CD9C1"/>
                </a:solidFill>
                <a:latin typeface="Montserrat"/>
                <a:ea typeface="Montserrat"/>
                <a:cs typeface="Montserrat"/>
                <a:sym typeface="Montserrat"/>
              </a:rPr>
              <a:t>fd</a:t>
            </a:r>
            <a:r>
              <a:rPr b="0" i="0" lang="en-US" sz="2199" u="none" cap="none" strike="noStrike">
                <a:solidFill>
                  <a:srgbClr val="FFFFFF"/>
                </a:solidFill>
                <a:latin typeface="Montserrat"/>
                <a:ea typeface="Montserrat"/>
                <a:cs typeface="Montserrat"/>
                <a:sym typeface="Montserrat"/>
              </a:rPr>
              <a:t>: descriptor de archivo que devuelve la llamada open</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ACFDDB"/>
              </a:buClr>
              <a:buSzPts val="2199"/>
              <a:buFont typeface="Arial"/>
              <a:buChar char="•"/>
            </a:pPr>
            <a:r>
              <a:rPr b="0" i="0" lang="en-US" sz="2199" u="none" cap="none" strike="noStrike">
                <a:solidFill>
                  <a:srgbClr val="ACFDDB"/>
                </a:solidFill>
                <a:latin typeface="Montserrat"/>
                <a:ea typeface="Montserrat"/>
                <a:cs typeface="Montserrat"/>
                <a:sym typeface="Montserrat"/>
              </a:rPr>
              <a:t>buffer</a:t>
            </a:r>
            <a:r>
              <a:rPr b="0" i="0" lang="en-US" sz="2199" u="none" cap="none" strike="noStrike">
                <a:solidFill>
                  <a:srgbClr val="FFFFFF"/>
                </a:solidFill>
                <a:latin typeface="Montserrat"/>
                <a:ea typeface="Montserrat"/>
                <a:cs typeface="Montserrat"/>
                <a:sym typeface="Montserrat"/>
              </a:rPr>
              <a:t>: dirección del buffer donde se encuentran los datos a escribir</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5271FF"/>
              </a:buClr>
              <a:buSzPts val="2199"/>
              <a:buFont typeface="Arial"/>
              <a:buChar char="•"/>
            </a:pPr>
            <a:r>
              <a:rPr b="0" i="0" lang="en-US" sz="2199" u="none" cap="none" strike="noStrike">
                <a:solidFill>
                  <a:srgbClr val="5271FF"/>
                </a:solidFill>
                <a:latin typeface="Montserrat"/>
                <a:ea typeface="Montserrat"/>
                <a:cs typeface="Montserrat"/>
                <a:sym typeface="Montserrat"/>
              </a:rPr>
              <a:t>count</a:t>
            </a:r>
            <a:r>
              <a:rPr b="0" i="0" lang="en-US" sz="2199" u="none" cap="none" strike="noStrike">
                <a:solidFill>
                  <a:srgbClr val="FFFFFF"/>
                </a:solidFill>
                <a:latin typeface="Montserrat"/>
                <a:ea typeface="Montserrat"/>
                <a:cs typeface="Montserrat"/>
                <a:sym typeface="Montserrat"/>
              </a:rPr>
              <a:t>: número de bytes que el usuario quiere escribir</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B084CC"/>
              </a:buClr>
              <a:buSzPts val="2199"/>
              <a:buFont typeface="Arial"/>
              <a:buChar char="•"/>
            </a:pPr>
            <a:r>
              <a:rPr b="0" i="0" lang="en-US" sz="2199" u="none" cap="none" strike="noStrike">
                <a:solidFill>
                  <a:srgbClr val="B084CC"/>
                </a:solidFill>
                <a:latin typeface="Montserrat"/>
                <a:ea typeface="Montserrat"/>
                <a:cs typeface="Montserrat"/>
                <a:sym typeface="Montserrat"/>
              </a:rPr>
              <a:t>number</a:t>
            </a:r>
            <a:r>
              <a:rPr b="0" i="0" lang="en-US" sz="2199" u="none" cap="none" strike="noStrike">
                <a:solidFill>
                  <a:srgbClr val="FFFFFF"/>
                </a:solidFill>
                <a:latin typeface="Montserrat"/>
                <a:ea typeface="Montserrat"/>
                <a:cs typeface="Montserrat"/>
                <a:sym typeface="Montserrat"/>
              </a:rPr>
              <a:t>: número de bytes escritos si es positivo en caso contrario la ejecución no ha sido correcta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89" name="Shape 389"/>
        <p:cNvGrpSpPr/>
        <p:nvPr/>
      </p:nvGrpSpPr>
      <p:grpSpPr>
        <a:xfrm>
          <a:off x="0" y="0"/>
          <a:ext cx="0" cy="0"/>
          <a:chOff x="0" y="0"/>
          <a:chExt cx="0" cy="0"/>
        </a:xfrm>
      </p:grpSpPr>
      <p:grpSp>
        <p:nvGrpSpPr>
          <p:cNvPr id="390" name="Google Shape;390;g35c3d30e88a_1_888"/>
          <p:cNvGrpSpPr/>
          <p:nvPr/>
        </p:nvGrpSpPr>
        <p:grpSpPr>
          <a:xfrm>
            <a:off x="1203703" y="3417211"/>
            <a:ext cx="5817546" cy="5565496"/>
            <a:chOff x="0" y="-19050"/>
            <a:chExt cx="1532183" cy="1465800"/>
          </a:xfrm>
        </p:grpSpPr>
        <p:sp>
          <p:nvSpPr>
            <p:cNvPr id="391" name="Google Shape;391;g35c3d30e88a_1_888"/>
            <p:cNvSpPr/>
            <p:nvPr/>
          </p:nvSpPr>
          <p:spPr>
            <a:xfrm>
              <a:off x="0" y="0"/>
              <a:ext cx="1532183" cy="1446651"/>
            </a:xfrm>
            <a:custGeom>
              <a:rect b="b" l="l" r="r" t="t"/>
              <a:pathLst>
                <a:path extrusionOk="0" h="1446651" w="1532183">
                  <a:moveTo>
                    <a:pt x="67871" y="0"/>
                  </a:moveTo>
                  <a:lnTo>
                    <a:pt x="1464312" y="0"/>
                  </a:lnTo>
                  <a:cubicBezTo>
                    <a:pt x="1482313" y="0"/>
                    <a:pt x="1499576" y="7151"/>
                    <a:pt x="1512304" y="19879"/>
                  </a:cubicBezTo>
                  <a:cubicBezTo>
                    <a:pt x="1525032" y="32607"/>
                    <a:pt x="1532183" y="49870"/>
                    <a:pt x="1532183" y="67871"/>
                  </a:cubicBezTo>
                  <a:lnTo>
                    <a:pt x="1532183" y="1378781"/>
                  </a:lnTo>
                  <a:cubicBezTo>
                    <a:pt x="1532183" y="1396781"/>
                    <a:pt x="1525032" y="1414044"/>
                    <a:pt x="1512304" y="1426772"/>
                  </a:cubicBezTo>
                  <a:cubicBezTo>
                    <a:pt x="1499576" y="1439501"/>
                    <a:pt x="1482313" y="1446651"/>
                    <a:pt x="1464312" y="1446651"/>
                  </a:cubicBezTo>
                  <a:lnTo>
                    <a:pt x="67871" y="1446651"/>
                  </a:lnTo>
                  <a:cubicBezTo>
                    <a:pt x="49870" y="1446651"/>
                    <a:pt x="32607" y="1439501"/>
                    <a:pt x="19879" y="1426772"/>
                  </a:cubicBezTo>
                  <a:cubicBezTo>
                    <a:pt x="7151" y="1414044"/>
                    <a:pt x="0" y="1396781"/>
                    <a:pt x="0" y="1378781"/>
                  </a:cubicBezTo>
                  <a:lnTo>
                    <a:pt x="0" y="67871"/>
                  </a:lnTo>
                  <a:cubicBezTo>
                    <a:pt x="0" y="49870"/>
                    <a:pt x="7151" y="32607"/>
                    <a:pt x="19879" y="19879"/>
                  </a:cubicBezTo>
                  <a:cubicBezTo>
                    <a:pt x="32607" y="7151"/>
                    <a:pt x="49870" y="0"/>
                    <a:pt x="6787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g35c3d30e88a_1_888"/>
            <p:cNvSpPr txBox="1"/>
            <p:nvPr/>
          </p:nvSpPr>
          <p:spPr>
            <a:xfrm>
              <a:off x="0" y="-19050"/>
              <a:ext cx="1532100" cy="1465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93" name="Google Shape;393;g35c3d30e88a_1_888"/>
          <p:cNvGrpSpPr/>
          <p:nvPr/>
        </p:nvGrpSpPr>
        <p:grpSpPr>
          <a:xfrm>
            <a:off x="7367854" y="3417211"/>
            <a:ext cx="9716506" cy="5565496"/>
            <a:chOff x="0" y="-19050"/>
            <a:chExt cx="2559063" cy="1465800"/>
          </a:xfrm>
        </p:grpSpPr>
        <p:sp>
          <p:nvSpPr>
            <p:cNvPr id="394" name="Google Shape;394;g35c3d30e88a_1_888"/>
            <p:cNvSpPr/>
            <p:nvPr/>
          </p:nvSpPr>
          <p:spPr>
            <a:xfrm>
              <a:off x="0" y="0"/>
              <a:ext cx="2559063" cy="1446651"/>
            </a:xfrm>
            <a:custGeom>
              <a:rect b="b" l="l" r="r" t="t"/>
              <a:pathLst>
                <a:path extrusionOk="0" h="1446651" w="2559063">
                  <a:moveTo>
                    <a:pt x="40636" y="0"/>
                  </a:moveTo>
                  <a:lnTo>
                    <a:pt x="2518427" y="0"/>
                  </a:lnTo>
                  <a:cubicBezTo>
                    <a:pt x="2529205" y="0"/>
                    <a:pt x="2539541" y="4281"/>
                    <a:pt x="2547161" y="11902"/>
                  </a:cubicBezTo>
                  <a:cubicBezTo>
                    <a:pt x="2554782" y="19523"/>
                    <a:pt x="2559063" y="29859"/>
                    <a:pt x="2559063" y="40636"/>
                  </a:cubicBezTo>
                  <a:lnTo>
                    <a:pt x="2559063" y="1406015"/>
                  </a:lnTo>
                  <a:cubicBezTo>
                    <a:pt x="2559063" y="1416793"/>
                    <a:pt x="2554782" y="1427128"/>
                    <a:pt x="2547161" y="1434749"/>
                  </a:cubicBezTo>
                  <a:cubicBezTo>
                    <a:pt x="2539541" y="1442370"/>
                    <a:pt x="2529205" y="1446651"/>
                    <a:pt x="2518427" y="1446651"/>
                  </a:cubicBezTo>
                  <a:lnTo>
                    <a:pt x="40636" y="1446651"/>
                  </a:lnTo>
                  <a:cubicBezTo>
                    <a:pt x="29859" y="1446651"/>
                    <a:pt x="19523" y="1442370"/>
                    <a:pt x="11902" y="1434749"/>
                  </a:cubicBezTo>
                  <a:cubicBezTo>
                    <a:pt x="4281" y="1427128"/>
                    <a:pt x="0" y="1416793"/>
                    <a:pt x="0" y="1406015"/>
                  </a:cubicBezTo>
                  <a:lnTo>
                    <a:pt x="0" y="40636"/>
                  </a:lnTo>
                  <a:cubicBezTo>
                    <a:pt x="0" y="29859"/>
                    <a:pt x="4281" y="19523"/>
                    <a:pt x="11902" y="11902"/>
                  </a:cubicBezTo>
                  <a:cubicBezTo>
                    <a:pt x="19523" y="4281"/>
                    <a:pt x="29859" y="0"/>
                    <a:pt x="4063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g35c3d30e88a_1_888"/>
            <p:cNvSpPr txBox="1"/>
            <p:nvPr/>
          </p:nvSpPr>
          <p:spPr>
            <a:xfrm>
              <a:off x="0" y="-19050"/>
              <a:ext cx="2559000" cy="1465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96" name="Google Shape;396;g35c3d30e88a_1_888"/>
          <p:cNvSpPr/>
          <p:nvPr/>
        </p:nvSpPr>
        <p:spPr>
          <a:xfrm>
            <a:off x="11251074" y="1304704"/>
            <a:ext cx="1763679" cy="1763679"/>
          </a:xfrm>
          <a:custGeom>
            <a:rect b="b" l="l" r="r" t="t"/>
            <a:pathLst>
              <a:path extrusionOk="0" h="1763679" w="1763679">
                <a:moveTo>
                  <a:pt x="0" y="0"/>
                </a:moveTo>
                <a:lnTo>
                  <a:pt x="1763679" y="0"/>
                </a:lnTo>
                <a:lnTo>
                  <a:pt x="1763679" y="1763679"/>
                </a:lnTo>
                <a:lnTo>
                  <a:pt x="0" y="1763679"/>
                </a:lnTo>
                <a:lnTo>
                  <a:pt x="0" y="0"/>
                </a:lnTo>
                <a:close/>
              </a:path>
            </a:pathLst>
          </a:custGeom>
          <a:blipFill rotWithShape="1">
            <a:blip r:embed="rId3">
              <a:alphaModFix/>
            </a:blip>
            <a:stretch>
              <a:fillRect b="0" l="0" r="0" t="0"/>
            </a:stretch>
          </a:blipFill>
          <a:ln>
            <a:noFill/>
          </a:ln>
        </p:spPr>
      </p:sp>
      <p:sp>
        <p:nvSpPr>
          <p:cNvPr id="397" name="Google Shape;397;g35c3d30e88a_1_888"/>
          <p:cNvSpPr/>
          <p:nvPr/>
        </p:nvSpPr>
        <p:spPr>
          <a:xfrm>
            <a:off x="7829377" y="4037570"/>
            <a:ext cx="8793397" cy="4396698"/>
          </a:xfrm>
          <a:custGeom>
            <a:rect b="b" l="l" r="r" t="t"/>
            <a:pathLst>
              <a:path extrusionOk="0" h="4396698" w="8793397">
                <a:moveTo>
                  <a:pt x="0" y="0"/>
                </a:moveTo>
                <a:lnTo>
                  <a:pt x="8793397" y="0"/>
                </a:lnTo>
                <a:lnTo>
                  <a:pt x="8793397" y="4396698"/>
                </a:lnTo>
                <a:lnTo>
                  <a:pt x="0" y="4396698"/>
                </a:lnTo>
                <a:lnTo>
                  <a:pt x="0" y="0"/>
                </a:lnTo>
                <a:close/>
              </a:path>
            </a:pathLst>
          </a:custGeom>
          <a:blipFill rotWithShape="1">
            <a:blip r:embed="rId4">
              <a:alphaModFix/>
            </a:blip>
            <a:stretch>
              <a:fillRect b="0" l="0" r="0" t="0"/>
            </a:stretch>
          </a:blipFill>
          <a:ln>
            <a:noFill/>
          </a:ln>
        </p:spPr>
      </p:sp>
      <p:sp>
        <p:nvSpPr>
          <p:cNvPr id="398" name="Google Shape;398;g35c3d30e88a_1_888"/>
          <p:cNvSpPr txBox="1"/>
          <p:nvPr/>
        </p:nvSpPr>
        <p:spPr>
          <a:xfrm>
            <a:off x="5061367" y="1840293"/>
            <a:ext cx="5852100" cy="1231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8000"/>
              <a:buFont typeface="Arial"/>
              <a:buNone/>
            </a:pPr>
            <a:r>
              <a:rPr b="0" i="0" lang="en-US" sz="8000" u="none" cap="none" strike="noStrike">
                <a:solidFill>
                  <a:srgbClr val="FFFFFF"/>
                </a:solidFill>
                <a:latin typeface="Arial"/>
                <a:ea typeface="Arial"/>
                <a:cs typeface="Arial"/>
                <a:sym typeface="Arial"/>
              </a:rPr>
              <a:t>SHMGET( )</a:t>
            </a:r>
            <a:endParaRPr b="0" i="0" sz="1400" u="none" cap="none" strike="noStrike">
              <a:solidFill>
                <a:srgbClr val="000000"/>
              </a:solidFill>
              <a:latin typeface="Arial"/>
              <a:ea typeface="Arial"/>
              <a:cs typeface="Arial"/>
              <a:sym typeface="Arial"/>
            </a:endParaRPr>
          </a:p>
        </p:txBody>
      </p:sp>
      <p:sp>
        <p:nvSpPr>
          <p:cNvPr id="399" name="Google Shape;399;g35c3d30e88a_1_888"/>
          <p:cNvSpPr txBox="1"/>
          <p:nvPr/>
        </p:nvSpPr>
        <p:spPr>
          <a:xfrm>
            <a:off x="1680191" y="3878164"/>
            <a:ext cx="4788300" cy="51792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Es una llamada al sistema que se utiliza para obtener un segmento de memoria compartida.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La memoria compartida es un mecanismo que permite que múltiples procesos compartan una región de memoria, lo cual es particularmente útil para la comunicación entre procesos (IPC).</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03" name="Shape 403"/>
        <p:cNvGrpSpPr/>
        <p:nvPr/>
      </p:nvGrpSpPr>
      <p:grpSpPr>
        <a:xfrm>
          <a:off x="0" y="0"/>
          <a:ext cx="0" cy="0"/>
          <a:chOff x="0" y="0"/>
          <a:chExt cx="0" cy="0"/>
        </a:xfrm>
      </p:grpSpPr>
      <p:grpSp>
        <p:nvGrpSpPr>
          <p:cNvPr id="404" name="Google Shape;404;g35c3d30e88a_1_901"/>
          <p:cNvGrpSpPr/>
          <p:nvPr/>
        </p:nvGrpSpPr>
        <p:grpSpPr>
          <a:xfrm>
            <a:off x="1203700" y="3588399"/>
            <a:ext cx="7156777" cy="6059472"/>
            <a:chOff x="0" y="-19050"/>
            <a:chExt cx="1884900" cy="1543500"/>
          </a:xfrm>
        </p:grpSpPr>
        <p:sp>
          <p:nvSpPr>
            <p:cNvPr id="405" name="Google Shape;405;g35c3d30e88a_1_901"/>
            <p:cNvSpPr/>
            <p:nvPr/>
          </p:nvSpPr>
          <p:spPr>
            <a:xfrm>
              <a:off x="0" y="0"/>
              <a:ext cx="1884881" cy="1524354"/>
            </a:xfrm>
            <a:custGeom>
              <a:rect b="b" l="l" r="r" t="t"/>
              <a:pathLst>
                <a:path extrusionOk="0" h="1524354" w="1884881">
                  <a:moveTo>
                    <a:pt x="55171" y="0"/>
                  </a:moveTo>
                  <a:lnTo>
                    <a:pt x="1829710" y="0"/>
                  </a:lnTo>
                  <a:cubicBezTo>
                    <a:pt x="1860180" y="0"/>
                    <a:pt x="1884881" y="24701"/>
                    <a:pt x="1884881" y="55171"/>
                  </a:cubicBezTo>
                  <a:lnTo>
                    <a:pt x="1884881" y="1469183"/>
                  </a:lnTo>
                  <a:cubicBezTo>
                    <a:pt x="1884881" y="1499653"/>
                    <a:pt x="1860180" y="1524354"/>
                    <a:pt x="1829710" y="1524354"/>
                  </a:cubicBezTo>
                  <a:lnTo>
                    <a:pt x="55171" y="1524354"/>
                  </a:lnTo>
                  <a:cubicBezTo>
                    <a:pt x="24701" y="1524354"/>
                    <a:pt x="0" y="1499653"/>
                    <a:pt x="0" y="1469183"/>
                  </a:cubicBezTo>
                  <a:lnTo>
                    <a:pt x="0" y="55171"/>
                  </a:lnTo>
                  <a:cubicBezTo>
                    <a:pt x="0" y="24701"/>
                    <a:pt x="24701" y="0"/>
                    <a:pt x="5517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g35c3d30e88a_1_901"/>
            <p:cNvSpPr txBox="1"/>
            <p:nvPr/>
          </p:nvSpPr>
          <p:spPr>
            <a:xfrm>
              <a:off x="0" y="-19050"/>
              <a:ext cx="1884900" cy="1543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07" name="Google Shape;407;g35c3d30e88a_1_901"/>
          <p:cNvGrpSpPr/>
          <p:nvPr/>
        </p:nvGrpSpPr>
        <p:grpSpPr>
          <a:xfrm>
            <a:off x="8657036" y="3588409"/>
            <a:ext cx="8427318" cy="5860515"/>
            <a:chOff x="0" y="-19050"/>
            <a:chExt cx="2219526" cy="1543500"/>
          </a:xfrm>
        </p:grpSpPr>
        <p:sp>
          <p:nvSpPr>
            <p:cNvPr id="408" name="Google Shape;408;g35c3d30e88a_1_901"/>
            <p:cNvSpPr/>
            <p:nvPr/>
          </p:nvSpPr>
          <p:spPr>
            <a:xfrm>
              <a:off x="0" y="0"/>
              <a:ext cx="2219526" cy="1524354"/>
            </a:xfrm>
            <a:custGeom>
              <a:rect b="b" l="l" r="r" t="t"/>
              <a:pathLst>
                <a:path extrusionOk="0" h="1524354" w="2219526">
                  <a:moveTo>
                    <a:pt x="46852" y="0"/>
                  </a:moveTo>
                  <a:lnTo>
                    <a:pt x="2172673" y="0"/>
                  </a:lnTo>
                  <a:cubicBezTo>
                    <a:pt x="2185099" y="0"/>
                    <a:pt x="2197016" y="4936"/>
                    <a:pt x="2205803" y="13723"/>
                  </a:cubicBezTo>
                  <a:cubicBezTo>
                    <a:pt x="2214589" y="22509"/>
                    <a:pt x="2219526" y="34426"/>
                    <a:pt x="2219526" y="46852"/>
                  </a:cubicBezTo>
                  <a:lnTo>
                    <a:pt x="2219526" y="1477501"/>
                  </a:lnTo>
                  <a:cubicBezTo>
                    <a:pt x="2219526" y="1489927"/>
                    <a:pt x="2214589" y="1501844"/>
                    <a:pt x="2205803" y="1510631"/>
                  </a:cubicBezTo>
                  <a:cubicBezTo>
                    <a:pt x="2197016" y="1519417"/>
                    <a:pt x="2185099" y="1524354"/>
                    <a:pt x="2172673" y="1524354"/>
                  </a:cubicBezTo>
                  <a:lnTo>
                    <a:pt x="46852" y="1524354"/>
                  </a:lnTo>
                  <a:cubicBezTo>
                    <a:pt x="34426" y="1524354"/>
                    <a:pt x="22509" y="1519417"/>
                    <a:pt x="13723" y="1510631"/>
                  </a:cubicBezTo>
                  <a:cubicBezTo>
                    <a:pt x="4936" y="1501844"/>
                    <a:pt x="0" y="1489927"/>
                    <a:pt x="0" y="1477501"/>
                  </a:cubicBezTo>
                  <a:lnTo>
                    <a:pt x="0" y="46852"/>
                  </a:lnTo>
                  <a:cubicBezTo>
                    <a:pt x="0" y="34426"/>
                    <a:pt x="4936" y="22509"/>
                    <a:pt x="13723" y="13723"/>
                  </a:cubicBezTo>
                  <a:cubicBezTo>
                    <a:pt x="22509" y="4936"/>
                    <a:pt x="34426" y="0"/>
                    <a:pt x="46852"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g35c3d30e88a_1_901"/>
            <p:cNvSpPr txBox="1"/>
            <p:nvPr/>
          </p:nvSpPr>
          <p:spPr>
            <a:xfrm>
              <a:off x="0" y="-19050"/>
              <a:ext cx="2219400" cy="1543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10" name="Google Shape;410;g35c3d30e88a_1_901"/>
          <p:cNvSpPr/>
          <p:nvPr/>
        </p:nvSpPr>
        <p:spPr>
          <a:xfrm rot="823435">
            <a:off x="10873753" y="1017581"/>
            <a:ext cx="1753110" cy="2021406"/>
          </a:xfrm>
          <a:custGeom>
            <a:rect b="b" l="l" r="r" t="t"/>
            <a:pathLst>
              <a:path extrusionOk="0" h="2019224" w="1751218">
                <a:moveTo>
                  <a:pt x="0" y="0"/>
                </a:moveTo>
                <a:lnTo>
                  <a:pt x="1751218" y="0"/>
                </a:lnTo>
                <a:lnTo>
                  <a:pt x="1751218" y="2019225"/>
                </a:lnTo>
                <a:lnTo>
                  <a:pt x="0" y="2019225"/>
                </a:lnTo>
                <a:lnTo>
                  <a:pt x="0" y="0"/>
                </a:lnTo>
                <a:close/>
              </a:path>
            </a:pathLst>
          </a:custGeom>
          <a:blipFill rotWithShape="1">
            <a:blip r:embed="rId3">
              <a:alphaModFix/>
            </a:blip>
            <a:stretch>
              <a:fillRect b="0" l="0" r="0" t="0"/>
            </a:stretch>
          </a:blipFill>
          <a:ln>
            <a:noFill/>
          </a:ln>
        </p:spPr>
      </p:sp>
      <p:sp>
        <p:nvSpPr>
          <p:cNvPr id="411" name="Google Shape;411;g35c3d30e88a_1_901"/>
          <p:cNvSpPr/>
          <p:nvPr/>
        </p:nvSpPr>
        <p:spPr>
          <a:xfrm>
            <a:off x="9200405" y="4107299"/>
            <a:ext cx="7278307" cy="4894662"/>
          </a:xfrm>
          <a:custGeom>
            <a:rect b="b" l="l" r="r" t="t"/>
            <a:pathLst>
              <a:path extrusionOk="0" h="4894662" w="7278307">
                <a:moveTo>
                  <a:pt x="0" y="0"/>
                </a:moveTo>
                <a:lnTo>
                  <a:pt x="7278307" y="0"/>
                </a:lnTo>
                <a:lnTo>
                  <a:pt x="7278307" y="4894662"/>
                </a:lnTo>
                <a:lnTo>
                  <a:pt x="0" y="4894662"/>
                </a:lnTo>
                <a:lnTo>
                  <a:pt x="0" y="0"/>
                </a:lnTo>
                <a:close/>
              </a:path>
            </a:pathLst>
          </a:custGeom>
          <a:blipFill rotWithShape="1">
            <a:blip r:embed="rId4">
              <a:alphaModFix/>
            </a:blip>
            <a:stretch>
              <a:fillRect b="0" l="0" r="0" t="0"/>
            </a:stretch>
          </a:blipFill>
          <a:ln>
            <a:noFill/>
          </a:ln>
        </p:spPr>
      </p:sp>
      <p:sp>
        <p:nvSpPr>
          <p:cNvPr id="412" name="Google Shape;412;g35c3d30e88a_1_901"/>
          <p:cNvSpPr txBox="1"/>
          <p:nvPr/>
        </p:nvSpPr>
        <p:spPr>
          <a:xfrm>
            <a:off x="5448442" y="1596421"/>
            <a:ext cx="5000100" cy="1231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8000"/>
              <a:buFont typeface="Arial"/>
              <a:buNone/>
            </a:pPr>
            <a:r>
              <a:rPr b="0" i="0" lang="en-US" sz="8000" u="none" cap="none" strike="noStrike">
                <a:solidFill>
                  <a:srgbClr val="FFFFFF"/>
                </a:solidFill>
                <a:latin typeface="Arial"/>
                <a:ea typeface="Arial"/>
                <a:cs typeface="Arial"/>
                <a:sym typeface="Arial"/>
              </a:rPr>
              <a:t>MMAP( )</a:t>
            </a:r>
            <a:endParaRPr b="0" i="0" sz="1400" u="none" cap="none" strike="noStrike">
              <a:solidFill>
                <a:srgbClr val="000000"/>
              </a:solidFill>
              <a:latin typeface="Arial"/>
              <a:ea typeface="Arial"/>
              <a:cs typeface="Arial"/>
              <a:sym typeface="Arial"/>
            </a:endParaRPr>
          </a:p>
        </p:txBody>
      </p:sp>
      <p:sp>
        <p:nvSpPr>
          <p:cNvPr id="413" name="Google Shape;413;g35c3d30e88a_1_901"/>
          <p:cNvSpPr txBox="1"/>
          <p:nvPr/>
        </p:nvSpPr>
        <p:spPr>
          <a:xfrm>
            <a:off x="1614298" y="3930206"/>
            <a:ext cx="6173100" cy="60594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Es una llamada que proporciona una forma para que los procesos asigne archivos o dispositivos a la memoria.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Permite establecer un mapeo entre una región del espacio de direcciones virtuales del proceso y un objeto externo como un archivo, un dispositivo o un segmento de memoria anónimo. Este mapeo permite que el proceso lea o escriba en la región de la memoria como si fuera una matriz, y los cambios podrían afectar el objeto subyacente.</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17" name="Shape 417"/>
        <p:cNvGrpSpPr/>
        <p:nvPr/>
      </p:nvGrpSpPr>
      <p:grpSpPr>
        <a:xfrm>
          <a:off x="0" y="0"/>
          <a:ext cx="0" cy="0"/>
          <a:chOff x="0" y="0"/>
          <a:chExt cx="0" cy="0"/>
        </a:xfrm>
      </p:grpSpPr>
      <p:grpSp>
        <p:nvGrpSpPr>
          <p:cNvPr id="418" name="Google Shape;418;g35c3d30e88a_1_587"/>
          <p:cNvGrpSpPr/>
          <p:nvPr/>
        </p:nvGrpSpPr>
        <p:grpSpPr>
          <a:xfrm>
            <a:off x="783317" y="125238"/>
            <a:ext cx="13879572" cy="3570012"/>
            <a:chOff x="0" y="-19050"/>
            <a:chExt cx="3655501" cy="940244"/>
          </a:xfrm>
        </p:grpSpPr>
        <p:sp>
          <p:nvSpPr>
            <p:cNvPr id="419" name="Google Shape;419;g35c3d30e88a_1_587"/>
            <p:cNvSpPr/>
            <p:nvPr/>
          </p:nvSpPr>
          <p:spPr>
            <a:xfrm>
              <a:off x="0" y="0"/>
              <a:ext cx="3655501" cy="921194"/>
            </a:xfrm>
            <a:custGeom>
              <a:rect b="b" l="l" r="r" t="t"/>
              <a:pathLst>
                <a:path extrusionOk="0" h="921194" w="3655501">
                  <a:moveTo>
                    <a:pt x="28448" y="0"/>
                  </a:moveTo>
                  <a:lnTo>
                    <a:pt x="3627053" y="0"/>
                  </a:lnTo>
                  <a:cubicBezTo>
                    <a:pt x="3634598" y="0"/>
                    <a:pt x="3641834" y="2997"/>
                    <a:pt x="3647169" y="8332"/>
                  </a:cubicBezTo>
                  <a:cubicBezTo>
                    <a:pt x="3652504" y="13667"/>
                    <a:pt x="3655501" y="20903"/>
                    <a:pt x="3655501" y="28448"/>
                  </a:cubicBezTo>
                  <a:lnTo>
                    <a:pt x="3655501" y="892747"/>
                  </a:lnTo>
                  <a:cubicBezTo>
                    <a:pt x="3655501" y="900292"/>
                    <a:pt x="3652504" y="907527"/>
                    <a:pt x="3647169" y="912862"/>
                  </a:cubicBezTo>
                  <a:cubicBezTo>
                    <a:pt x="3641834" y="918197"/>
                    <a:pt x="3634598" y="921194"/>
                    <a:pt x="3627053" y="921194"/>
                  </a:cubicBezTo>
                  <a:lnTo>
                    <a:pt x="28448" y="921194"/>
                  </a:lnTo>
                  <a:cubicBezTo>
                    <a:pt x="20903" y="921194"/>
                    <a:pt x="13667" y="918197"/>
                    <a:pt x="8332" y="912862"/>
                  </a:cubicBezTo>
                  <a:cubicBezTo>
                    <a:pt x="2997" y="907527"/>
                    <a:pt x="0" y="900292"/>
                    <a:pt x="0" y="892747"/>
                  </a:cubicBezTo>
                  <a:lnTo>
                    <a:pt x="0" y="28448"/>
                  </a:lnTo>
                  <a:cubicBezTo>
                    <a:pt x="0" y="20903"/>
                    <a:pt x="2997" y="13667"/>
                    <a:pt x="8332" y="8332"/>
                  </a:cubicBezTo>
                  <a:cubicBezTo>
                    <a:pt x="13667" y="2997"/>
                    <a:pt x="20903" y="0"/>
                    <a:pt x="2844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g35c3d30e88a_1_587"/>
            <p:cNvSpPr txBox="1"/>
            <p:nvPr/>
          </p:nvSpPr>
          <p:spPr>
            <a:xfrm>
              <a:off x="0" y="-19050"/>
              <a:ext cx="3655500" cy="940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21" name="Google Shape;421;g35c3d30e88a_1_587"/>
          <p:cNvGrpSpPr/>
          <p:nvPr/>
        </p:nvGrpSpPr>
        <p:grpSpPr>
          <a:xfrm>
            <a:off x="906625" y="3945073"/>
            <a:ext cx="16721548" cy="6218612"/>
            <a:chOff x="0" y="-19050"/>
            <a:chExt cx="4404000" cy="1228562"/>
          </a:xfrm>
        </p:grpSpPr>
        <p:sp>
          <p:nvSpPr>
            <p:cNvPr id="422" name="Google Shape;422;g35c3d30e88a_1_587"/>
            <p:cNvSpPr/>
            <p:nvPr/>
          </p:nvSpPr>
          <p:spPr>
            <a:xfrm>
              <a:off x="0" y="0"/>
              <a:ext cx="4403982" cy="1209512"/>
            </a:xfrm>
            <a:custGeom>
              <a:rect b="b" l="l" r="r" t="t"/>
              <a:pathLst>
                <a:path extrusionOk="0" h="1209512" w="4403982">
                  <a:moveTo>
                    <a:pt x="23613" y="0"/>
                  </a:moveTo>
                  <a:lnTo>
                    <a:pt x="4380369" y="0"/>
                  </a:lnTo>
                  <a:cubicBezTo>
                    <a:pt x="4393410" y="0"/>
                    <a:pt x="4403982" y="10572"/>
                    <a:pt x="4403982" y="23613"/>
                  </a:cubicBezTo>
                  <a:lnTo>
                    <a:pt x="4403982" y="1185900"/>
                  </a:lnTo>
                  <a:cubicBezTo>
                    <a:pt x="4403982" y="1198941"/>
                    <a:pt x="4393410" y="1209512"/>
                    <a:pt x="4380369" y="1209512"/>
                  </a:cubicBezTo>
                  <a:lnTo>
                    <a:pt x="23613" y="1209512"/>
                  </a:lnTo>
                  <a:cubicBezTo>
                    <a:pt x="10572" y="1209512"/>
                    <a:pt x="0" y="1198941"/>
                    <a:pt x="0" y="1185900"/>
                  </a:cubicBezTo>
                  <a:lnTo>
                    <a:pt x="0" y="23613"/>
                  </a:lnTo>
                  <a:cubicBezTo>
                    <a:pt x="0" y="10572"/>
                    <a:pt x="10572" y="0"/>
                    <a:pt x="23613"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g35c3d30e88a_1_587"/>
            <p:cNvSpPr txBox="1"/>
            <p:nvPr/>
          </p:nvSpPr>
          <p:spPr>
            <a:xfrm>
              <a:off x="0" y="-19050"/>
              <a:ext cx="4404000" cy="1228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24" name="Google Shape;424;g35c3d30e88a_1_587"/>
          <p:cNvSpPr/>
          <p:nvPr/>
        </p:nvSpPr>
        <p:spPr>
          <a:xfrm rot="1517095">
            <a:off x="14798341" y="554093"/>
            <a:ext cx="2588738" cy="2588738"/>
          </a:xfrm>
          <a:custGeom>
            <a:rect b="b" l="l" r="r" t="t"/>
            <a:pathLst>
              <a:path extrusionOk="0" h="2586435" w="2586435">
                <a:moveTo>
                  <a:pt x="0" y="0"/>
                </a:moveTo>
                <a:lnTo>
                  <a:pt x="2586435" y="0"/>
                </a:lnTo>
                <a:lnTo>
                  <a:pt x="2586435" y="2586435"/>
                </a:lnTo>
                <a:lnTo>
                  <a:pt x="0" y="2586435"/>
                </a:lnTo>
                <a:lnTo>
                  <a:pt x="0" y="0"/>
                </a:lnTo>
                <a:close/>
              </a:path>
            </a:pathLst>
          </a:custGeom>
          <a:blipFill rotWithShape="1">
            <a:blip r:embed="rId3">
              <a:alphaModFix/>
            </a:blip>
            <a:stretch>
              <a:fillRect b="0" l="0" r="0" t="0"/>
            </a:stretch>
          </a:blipFill>
          <a:ln>
            <a:noFill/>
          </a:ln>
        </p:spPr>
      </p:sp>
      <p:sp>
        <p:nvSpPr>
          <p:cNvPr id="425" name="Google Shape;425;g35c3d30e88a_1_587"/>
          <p:cNvSpPr txBox="1"/>
          <p:nvPr/>
        </p:nvSpPr>
        <p:spPr>
          <a:xfrm>
            <a:off x="1048883" y="656343"/>
            <a:ext cx="13371300" cy="34188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Hay 6 formas de realizar una llamada al sistema exec:</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FFFFFF"/>
              </a:buClr>
              <a:buSzPts val="2199"/>
              <a:buFont typeface="Arial"/>
              <a:buChar char="•"/>
            </a:pPr>
            <a:r>
              <a:rPr b="0" i="0" lang="en-US" sz="2199" u="none" cap="none" strike="noStrike">
                <a:solidFill>
                  <a:srgbClr val="FFFFFF"/>
                </a:solidFill>
                <a:latin typeface="Montserrat"/>
                <a:ea typeface="Montserrat"/>
                <a:cs typeface="Montserrat"/>
                <a:sym typeface="Montserrat"/>
              </a:rPr>
              <a:t>int execl (</a:t>
            </a:r>
            <a:r>
              <a:rPr b="0" i="0" lang="en-US" sz="2199" u="none" cap="none" strike="noStrike">
                <a:solidFill>
                  <a:srgbClr val="FF3131"/>
                </a:solidFill>
                <a:latin typeface="Montserrat"/>
                <a:ea typeface="Montserrat"/>
                <a:cs typeface="Montserrat"/>
                <a:sym typeface="Montserrat"/>
              </a:rPr>
              <a:t>char *path</a:t>
            </a:r>
            <a:r>
              <a:rPr b="0" i="0" lang="en-US" sz="2199" u="none" cap="none" strike="noStrike">
                <a:solidFill>
                  <a:srgbClr val="FFFFFF"/>
                </a:solidFill>
                <a:latin typeface="Montserrat"/>
                <a:ea typeface="Montserrat"/>
                <a:cs typeface="Montserrat"/>
                <a:sym typeface="Montserrat"/>
              </a:rPr>
              <a:t>, </a:t>
            </a:r>
            <a:r>
              <a:rPr b="0" i="0" lang="en-US" sz="2199" u="none" cap="none" strike="noStrike">
                <a:solidFill>
                  <a:srgbClr val="FF66C4"/>
                </a:solidFill>
                <a:latin typeface="Montserrat"/>
                <a:ea typeface="Montserrat"/>
                <a:cs typeface="Montserrat"/>
                <a:sym typeface="Montserrat"/>
              </a:rPr>
              <a:t>char *arg0</a:t>
            </a:r>
            <a:r>
              <a:rPr b="0" i="0" lang="en-US" sz="2199" u="none" cap="none" strike="noStrike">
                <a:solidFill>
                  <a:srgbClr val="FFFFFF"/>
                </a:solidFill>
                <a:latin typeface="Montserrat"/>
                <a:ea typeface="Montserrat"/>
                <a:cs typeface="Montserrat"/>
                <a:sym typeface="Montserrat"/>
              </a:rPr>
              <a:t>, </a:t>
            </a:r>
            <a:r>
              <a:rPr b="0" i="0" lang="en-US" sz="2199" u="none" cap="none" strike="noStrike">
                <a:solidFill>
                  <a:srgbClr val="38B6FF"/>
                </a:solidFill>
                <a:latin typeface="Montserrat"/>
                <a:ea typeface="Montserrat"/>
                <a:cs typeface="Montserrat"/>
                <a:sym typeface="Montserrat"/>
              </a:rPr>
              <a:t>char *arg1, . . . ,char *argN</a:t>
            </a:r>
            <a:r>
              <a:rPr b="0" i="0" lang="en-US" sz="2199" u="none" cap="none" strike="noStrike">
                <a:solidFill>
                  <a:srgbClr val="FFFFFF"/>
                </a:solidFill>
                <a:latin typeface="Montserrat"/>
                <a:ea typeface="Montserrat"/>
                <a:cs typeface="Montserrat"/>
                <a:sym typeface="Montserrat"/>
              </a:rPr>
              <a:t>, char *null)</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FFFFFF"/>
              </a:buClr>
              <a:buSzPts val="2199"/>
              <a:buFont typeface="Arial"/>
              <a:buChar char="•"/>
            </a:pPr>
            <a:r>
              <a:rPr b="0" i="0" lang="en-US" sz="2199" u="none" cap="none" strike="noStrike">
                <a:solidFill>
                  <a:srgbClr val="FFFFFF"/>
                </a:solidFill>
                <a:latin typeface="Montserrat"/>
                <a:ea typeface="Montserrat"/>
                <a:cs typeface="Montserrat"/>
                <a:sym typeface="Montserrat"/>
              </a:rPr>
              <a:t>int execlp (</a:t>
            </a:r>
            <a:r>
              <a:rPr b="0" i="0" lang="en-US" sz="2199" u="none" cap="none" strike="noStrike">
                <a:solidFill>
                  <a:srgbClr val="0CC0DF"/>
                </a:solidFill>
                <a:latin typeface="Montserrat"/>
                <a:ea typeface="Montserrat"/>
                <a:cs typeface="Montserrat"/>
                <a:sym typeface="Montserrat"/>
              </a:rPr>
              <a:t>char *file</a:t>
            </a:r>
            <a:r>
              <a:rPr b="0" i="0" lang="en-US" sz="2199" u="none" cap="none" strike="noStrike">
                <a:solidFill>
                  <a:srgbClr val="FFFFFF"/>
                </a:solidFill>
                <a:latin typeface="Montserrat"/>
                <a:ea typeface="Montserrat"/>
                <a:cs typeface="Montserrat"/>
                <a:sym typeface="Montserrat"/>
              </a:rPr>
              <a:t>, </a:t>
            </a:r>
            <a:r>
              <a:rPr b="0" i="0" lang="en-US" sz="2199" u="none" cap="none" strike="noStrike">
                <a:solidFill>
                  <a:srgbClr val="FF66C4"/>
                </a:solidFill>
                <a:latin typeface="Montserrat"/>
                <a:ea typeface="Montserrat"/>
                <a:cs typeface="Montserrat"/>
                <a:sym typeface="Montserrat"/>
              </a:rPr>
              <a:t>char *arg0</a:t>
            </a:r>
            <a:r>
              <a:rPr b="0" i="0" lang="en-US" sz="2199" u="none" cap="none" strike="noStrike">
                <a:solidFill>
                  <a:srgbClr val="FFFFFF"/>
                </a:solidFill>
                <a:latin typeface="Montserrat"/>
                <a:ea typeface="Montserrat"/>
                <a:cs typeface="Montserrat"/>
                <a:sym typeface="Montserrat"/>
              </a:rPr>
              <a:t>, </a:t>
            </a:r>
            <a:r>
              <a:rPr b="0" i="0" lang="en-US" sz="2199" u="none" cap="none" strike="noStrike">
                <a:solidFill>
                  <a:srgbClr val="38B6FF"/>
                </a:solidFill>
                <a:latin typeface="Montserrat"/>
                <a:ea typeface="Montserrat"/>
                <a:cs typeface="Montserrat"/>
                <a:sym typeface="Montserrat"/>
              </a:rPr>
              <a:t>char *arg1, . . . ,char *argN</a:t>
            </a:r>
            <a:r>
              <a:rPr b="0" i="0" lang="en-US" sz="2199" u="none" cap="none" strike="noStrike">
                <a:solidFill>
                  <a:srgbClr val="FFFFFF"/>
                </a:solidFill>
                <a:latin typeface="Montserrat"/>
                <a:ea typeface="Montserrat"/>
                <a:cs typeface="Montserrat"/>
                <a:sym typeface="Montserrat"/>
              </a:rPr>
              <a:t>, char *null)</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FFFFFF"/>
              </a:buClr>
              <a:buSzPts val="2199"/>
              <a:buFont typeface="Arial"/>
              <a:buChar char="•"/>
            </a:pPr>
            <a:r>
              <a:rPr b="0" i="0" lang="en-US" sz="2199" u="none" cap="none" strike="noStrike">
                <a:solidFill>
                  <a:srgbClr val="FFFFFF"/>
                </a:solidFill>
                <a:latin typeface="Montserrat"/>
                <a:ea typeface="Montserrat"/>
                <a:cs typeface="Montserrat"/>
                <a:sym typeface="Montserrat"/>
              </a:rPr>
              <a:t>int execle (</a:t>
            </a:r>
            <a:r>
              <a:rPr b="0" i="0" lang="en-US" sz="2199" u="none" cap="none" strike="noStrike">
                <a:solidFill>
                  <a:srgbClr val="FF3131"/>
                </a:solidFill>
                <a:latin typeface="Montserrat"/>
                <a:ea typeface="Montserrat"/>
                <a:cs typeface="Montserrat"/>
                <a:sym typeface="Montserrat"/>
              </a:rPr>
              <a:t>char *path</a:t>
            </a:r>
            <a:r>
              <a:rPr b="0" i="0" lang="en-US" sz="2199" u="none" cap="none" strike="noStrike">
                <a:solidFill>
                  <a:srgbClr val="FFFFFF"/>
                </a:solidFill>
                <a:latin typeface="Montserrat"/>
                <a:ea typeface="Montserrat"/>
                <a:cs typeface="Montserrat"/>
                <a:sym typeface="Montserrat"/>
              </a:rPr>
              <a:t>,</a:t>
            </a:r>
            <a:r>
              <a:rPr b="0" i="0" lang="en-US" sz="2199" u="none" cap="none" strike="noStrike">
                <a:solidFill>
                  <a:srgbClr val="FF66C4"/>
                </a:solidFill>
                <a:latin typeface="Montserrat"/>
                <a:ea typeface="Montserrat"/>
                <a:cs typeface="Montserrat"/>
                <a:sym typeface="Montserrat"/>
              </a:rPr>
              <a:t> char *arg0</a:t>
            </a:r>
            <a:r>
              <a:rPr b="0" i="0" lang="en-US" sz="2199" u="none" cap="none" strike="noStrike">
                <a:solidFill>
                  <a:srgbClr val="FFFFFF"/>
                </a:solidFill>
                <a:latin typeface="Montserrat"/>
                <a:ea typeface="Montserrat"/>
                <a:cs typeface="Montserrat"/>
                <a:sym typeface="Montserrat"/>
              </a:rPr>
              <a:t>, </a:t>
            </a:r>
            <a:r>
              <a:rPr b="0" i="0" lang="en-US" sz="2199" u="none" cap="none" strike="noStrike">
                <a:solidFill>
                  <a:srgbClr val="38B6FF"/>
                </a:solidFill>
                <a:latin typeface="Montserrat"/>
                <a:ea typeface="Montserrat"/>
                <a:cs typeface="Montserrat"/>
                <a:sym typeface="Montserrat"/>
              </a:rPr>
              <a:t>char *arg1, . . . ,char *argN</a:t>
            </a:r>
            <a:r>
              <a:rPr b="0" i="0" lang="en-US" sz="2199" u="none" cap="none" strike="noStrike">
                <a:solidFill>
                  <a:srgbClr val="FFFFFF"/>
                </a:solidFill>
                <a:latin typeface="Montserrat"/>
                <a:ea typeface="Montserrat"/>
                <a:cs typeface="Montserrat"/>
                <a:sym typeface="Montserrat"/>
              </a:rPr>
              <a:t>, char *null,</a:t>
            </a:r>
            <a:r>
              <a:rPr b="0" i="0" lang="en-US" sz="2199" u="none" cap="none" strike="noStrike">
                <a:solidFill>
                  <a:srgbClr val="5271FF"/>
                </a:solidFill>
                <a:latin typeface="Montserrat"/>
                <a:ea typeface="Montserrat"/>
                <a:cs typeface="Montserrat"/>
                <a:sym typeface="Montserrat"/>
              </a:rPr>
              <a:t> char *envp[]</a:t>
            </a:r>
            <a:r>
              <a:rPr b="0" i="0" lang="en-US" sz="2199" u="none" cap="none" strike="noStrike">
                <a:solidFill>
                  <a:srgbClr val="FFFFFF"/>
                </a:solidFill>
                <a:latin typeface="Montserrat"/>
                <a:ea typeface="Montserrat"/>
                <a:cs typeface="Montserrat"/>
                <a:sym typeface="Montserrat"/>
              </a:rPr>
              <a:t>)</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FFFFFF"/>
              </a:buClr>
              <a:buSzPts val="2199"/>
              <a:buFont typeface="Arial"/>
              <a:buChar char="•"/>
            </a:pPr>
            <a:r>
              <a:rPr b="0" i="0" lang="en-US" sz="2199" u="none" cap="none" strike="noStrike">
                <a:solidFill>
                  <a:srgbClr val="FFFFFF"/>
                </a:solidFill>
                <a:latin typeface="Montserrat"/>
                <a:ea typeface="Montserrat"/>
                <a:cs typeface="Montserrat"/>
                <a:sym typeface="Montserrat"/>
              </a:rPr>
              <a:t>int execv (</a:t>
            </a:r>
            <a:r>
              <a:rPr b="0" i="0" lang="en-US" sz="2199" u="none" cap="none" strike="noStrike">
                <a:solidFill>
                  <a:srgbClr val="FF3131"/>
                </a:solidFill>
                <a:latin typeface="Montserrat"/>
                <a:ea typeface="Montserrat"/>
                <a:cs typeface="Montserrat"/>
                <a:sym typeface="Montserrat"/>
              </a:rPr>
              <a:t>char *path</a:t>
            </a:r>
            <a:r>
              <a:rPr b="0" i="0" lang="en-US" sz="2199" u="none" cap="none" strike="noStrike">
                <a:solidFill>
                  <a:srgbClr val="FFFFFF"/>
                </a:solidFill>
                <a:latin typeface="Montserrat"/>
                <a:ea typeface="Montserrat"/>
                <a:cs typeface="Montserrat"/>
                <a:sym typeface="Montserrat"/>
              </a:rPr>
              <a:t>, </a:t>
            </a:r>
            <a:r>
              <a:rPr b="0" i="0" lang="en-US" sz="2199" u="none" cap="none" strike="noStrike">
                <a:solidFill>
                  <a:srgbClr val="8C52FF"/>
                </a:solidFill>
                <a:latin typeface="Montserrat"/>
                <a:ea typeface="Montserrat"/>
                <a:cs typeface="Montserrat"/>
                <a:sym typeface="Montserrat"/>
              </a:rPr>
              <a:t>char *argv[]</a:t>
            </a:r>
            <a:r>
              <a:rPr b="0" i="0" lang="en-US" sz="2199" u="none" cap="none" strike="noStrike">
                <a:solidFill>
                  <a:srgbClr val="FFFFFF"/>
                </a:solidFill>
                <a:latin typeface="Montserrat"/>
                <a:ea typeface="Montserrat"/>
                <a:cs typeface="Montserrat"/>
                <a:sym typeface="Montserrat"/>
              </a:rPr>
              <a:t>)</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FFFFFF"/>
              </a:buClr>
              <a:buSzPts val="2199"/>
              <a:buFont typeface="Arial"/>
              <a:buChar char="•"/>
            </a:pPr>
            <a:r>
              <a:rPr b="0" i="0" lang="en-US" sz="2199" u="none" cap="none" strike="noStrike">
                <a:solidFill>
                  <a:srgbClr val="FFFFFF"/>
                </a:solidFill>
                <a:latin typeface="Montserrat"/>
                <a:ea typeface="Montserrat"/>
                <a:cs typeface="Montserrat"/>
                <a:sym typeface="Montserrat"/>
              </a:rPr>
              <a:t>int execvp (</a:t>
            </a:r>
            <a:r>
              <a:rPr b="0" i="0" lang="en-US" sz="2199" u="none" cap="none" strike="noStrike">
                <a:solidFill>
                  <a:srgbClr val="0CC0DF"/>
                </a:solidFill>
                <a:latin typeface="Montserrat"/>
                <a:ea typeface="Montserrat"/>
                <a:cs typeface="Montserrat"/>
                <a:sym typeface="Montserrat"/>
              </a:rPr>
              <a:t>char *file</a:t>
            </a:r>
            <a:r>
              <a:rPr b="0" i="0" lang="en-US" sz="2199" u="none" cap="none" strike="noStrike">
                <a:solidFill>
                  <a:srgbClr val="FFFFFF"/>
                </a:solidFill>
                <a:latin typeface="Montserrat"/>
                <a:ea typeface="Montserrat"/>
                <a:cs typeface="Montserrat"/>
                <a:sym typeface="Montserrat"/>
              </a:rPr>
              <a:t>,</a:t>
            </a:r>
            <a:r>
              <a:rPr b="0" i="0" lang="en-US" sz="2199" u="none" cap="none" strike="noStrike">
                <a:solidFill>
                  <a:srgbClr val="8C52FF"/>
                </a:solidFill>
                <a:latin typeface="Montserrat"/>
                <a:ea typeface="Montserrat"/>
                <a:cs typeface="Montserrat"/>
                <a:sym typeface="Montserrat"/>
              </a:rPr>
              <a:t> char *argv[]</a:t>
            </a:r>
            <a:r>
              <a:rPr b="0" i="0" lang="en-US" sz="2199" u="none" cap="none" strike="noStrike">
                <a:solidFill>
                  <a:srgbClr val="FFFFFF"/>
                </a:solidFill>
                <a:latin typeface="Montserrat"/>
                <a:ea typeface="Montserrat"/>
                <a:cs typeface="Montserrat"/>
                <a:sym typeface="Montserrat"/>
              </a:rPr>
              <a:t>)</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FFFFFF"/>
              </a:buClr>
              <a:buSzPts val="2199"/>
              <a:buFont typeface="Arial"/>
              <a:buChar char="•"/>
            </a:pPr>
            <a:r>
              <a:rPr b="0" i="0" lang="en-US" sz="2199" u="none" cap="none" strike="noStrike">
                <a:solidFill>
                  <a:srgbClr val="FFFFFF"/>
                </a:solidFill>
                <a:latin typeface="Montserrat"/>
                <a:ea typeface="Montserrat"/>
                <a:cs typeface="Montserrat"/>
                <a:sym typeface="Montserrat"/>
              </a:rPr>
              <a:t>int execve (</a:t>
            </a:r>
            <a:r>
              <a:rPr b="0" i="0" lang="en-US" sz="2199" u="none" cap="none" strike="noStrike">
                <a:solidFill>
                  <a:srgbClr val="FF3131"/>
                </a:solidFill>
                <a:latin typeface="Montserrat"/>
                <a:ea typeface="Montserrat"/>
                <a:cs typeface="Montserrat"/>
                <a:sym typeface="Montserrat"/>
              </a:rPr>
              <a:t>char *path</a:t>
            </a:r>
            <a:r>
              <a:rPr b="0" i="0" lang="en-US" sz="2199" u="none" cap="none" strike="noStrike">
                <a:solidFill>
                  <a:srgbClr val="FFFFFF"/>
                </a:solidFill>
                <a:latin typeface="Montserrat"/>
                <a:ea typeface="Montserrat"/>
                <a:cs typeface="Montserrat"/>
                <a:sym typeface="Montserrat"/>
              </a:rPr>
              <a:t>, </a:t>
            </a:r>
            <a:r>
              <a:rPr b="0" i="0" lang="en-US" sz="2199" u="none" cap="none" strike="noStrike">
                <a:solidFill>
                  <a:srgbClr val="8C52FF"/>
                </a:solidFill>
                <a:latin typeface="Montserrat"/>
                <a:ea typeface="Montserrat"/>
                <a:cs typeface="Montserrat"/>
                <a:sym typeface="Montserrat"/>
              </a:rPr>
              <a:t>char *argv[]</a:t>
            </a:r>
            <a:r>
              <a:rPr b="0" i="0" lang="en-US" sz="2199" u="none" cap="none" strike="noStrike">
                <a:solidFill>
                  <a:srgbClr val="FFFFFF"/>
                </a:solidFill>
                <a:latin typeface="Montserrat"/>
                <a:ea typeface="Montserrat"/>
                <a:cs typeface="Montserrat"/>
                <a:sym typeface="Montserrat"/>
              </a:rPr>
              <a:t>, </a:t>
            </a:r>
            <a:r>
              <a:rPr b="0" i="0" lang="en-US" sz="2199" u="none" cap="none" strike="noStrike">
                <a:solidFill>
                  <a:srgbClr val="5271FF"/>
                </a:solidFill>
                <a:latin typeface="Montserrat"/>
                <a:ea typeface="Montserrat"/>
                <a:cs typeface="Montserrat"/>
                <a:sym typeface="Montserrat"/>
              </a:rPr>
              <a:t>char *envp[]</a:t>
            </a:r>
            <a:r>
              <a:rPr b="0" i="0" lang="en-US" sz="2199" u="none" cap="none" strike="noStrike">
                <a:solidFill>
                  <a:srgbClr val="FFFFFF"/>
                </a:solidFill>
                <a:latin typeface="Montserrat"/>
                <a:ea typeface="Montserrat"/>
                <a:cs typeface="Montserrat"/>
                <a:sym typeface="Montserrat"/>
              </a:rPr>
              <a:t>)</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p:txBody>
      </p:sp>
      <p:sp>
        <p:nvSpPr>
          <p:cNvPr id="426" name="Google Shape;426;g35c3d30e88a_1_587"/>
          <p:cNvSpPr txBox="1"/>
          <p:nvPr/>
        </p:nvSpPr>
        <p:spPr>
          <a:xfrm>
            <a:off x="1195000" y="4075150"/>
            <a:ext cx="16243500" cy="64995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Donde:</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FF3131"/>
              </a:buClr>
              <a:buSzPts val="2199"/>
              <a:buFont typeface="Arial"/>
              <a:buChar char="•"/>
            </a:pPr>
            <a:r>
              <a:rPr b="0" i="0" lang="en-US" sz="2199" u="none" cap="none" strike="noStrike">
                <a:solidFill>
                  <a:srgbClr val="FF3131"/>
                </a:solidFill>
                <a:latin typeface="Montserrat"/>
                <a:ea typeface="Montserrat"/>
                <a:cs typeface="Montserrat"/>
                <a:sym typeface="Montserrat"/>
              </a:rPr>
              <a:t>path </a:t>
            </a:r>
            <a:r>
              <a:rPr b="0" i="0" lang="en-US" sz="2199" u="none" cap="none" strike="noStrike">
                <a:solidFill>
                  <a:srgbClr val="FFFFFF"/>
                </a:solidFill>
                <a:latin typeface="Montserrat"/>
                <a:ea typeface="Montserrat"/>
                <a:cs typeface="Montserrat"/>
                <a:sym typeface="Montserrat"/>
              </a:rPr>
              <a:t>= ruta del ejecutable del nuevo programa a ejecutar.</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0CC0DF"/>
              </a:buClr>
              <a:buSzPts val="2199"/>
              <a:buFont typeface="Arial"/>
              <a:buChar char="•"/>
            </a:pPr>
            <a:r>
              <a:rPr b="0" i="0" lang="en-US" sz="2199" u="none" cap="none" strike="noStrike">
                <a:solidFill>
                  <a:srgbClr val="0CC0DF"/>
                </a:solidFill>
                <a:latin typeface="Montserrat"/>
                <a:ea typeface="Montserrat"/>
                <a:cs typeface="Montserrat"/>
                <a:sym typeface="Montserrat"/>
              </a:rPr>
              <a:t>file </a:t>
            </a:r>
            <a:r>
              <a:rPr b="0" i="0" lang="en-US" sz="2199" u="none" cap="none" strike="noStrike">
                <a:solidFill>
                  <a:srgbClr val="FFFFFF"/>
                </a:solidFill>
                <a:latin typeface="Montserrat"/>
                <a:ea typeface="Montserrat"/>
                <a:cs typeface="Montserrat"/>
                <a:sym typeface="Montserrat"/>
              </a:rPr>
              <a:t>= nombre del nuevo programa a ejecutar. </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FF66C4"/>
              </a:buClr>
              <a:buSzPts val="2199"/>
              <a:buFont typeface="Arial"/>
              <a:buChar char="•"/>
            </a:pPr>
            <a:r>
              <a:rPr b="0" i="0" lang="en-US" sz="2199" u="none" cap="none" strike="noStrike">
                <a:solidFill>
                  <a:srgbClr val="FF66C4"/>
                </a:solidFill>
                <a:latin typeface="Montserrat"/>
                <a:ea typeface="Montserrat"/>
                <a:cs typeface="Montserrat"/>
                <a:sym typeface="Montserrat"/>
              </a:rPr>
              <a:t>arg0 </a:t>
            </a:r>
            <a:r>
              <a:rPr b="0" i="0" lang="en-US" sz="2199" u="none" cap="none" strike="noStrike">
                <a:solidFill>
                  <a:srgbClr val="FFFFFF"/>
                </a:solidFill>
                <a:latin typeface="Montserrat"/>
                <a:ea typeface="Montserrat"/>
                <a:cs typeface="Montserrat"/>
                <a:sym typeface="Montserrat"/>
              </a:rPr>
              <a:t>= primer argumento del programa. Por convención suele asignarse el nombre del programa sin la trayectoria. </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43A1E0"/>
              </a:buClr>
              <a:buSzPts val="2199"/>
              <a:buFont typeface="Arial"/>
              <a:buChar char="•"/>
            </a:pPr>
            <a:r>
              <a:rPr b="0" i="0" lang="en-US" sz="2199" u="none" cap="none" strike="noStrike">
                <a:solidFill>
                  <a:srgbClr val="43A1E0"/>
                </a:solidFill>
                <a:latin typeface="Montserrat"/>
                <a:ea typeface="Montserrat"/>
                <a:cs typeface="Montserrat"/>
                <a:sym typeface="Montserrat"/>
              </a:rPr>
              <a:t>arg1 ... argN</a:t>
            </a:r>
            <a:r>
              <a:rPr b="0" i="0" lang="en-US" sz="2199" u="none" cap="none" strike="noStrike">
                <a:solidFill>
                  <a:srgbClr val="FFFFFF"/>
                </a:solidFill>
                <a:latin typeface="Montserrat"/>
                <a:ea typeface="Montserrat"/>
                <a:cs typeface="Montserrat"/>
                <a:sym typeface="Montserrat"/>
              </a:rPr>
              <a:t> = Conjunto de parámetros que recibe el programa para su ejecución. </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8C52FF"/>
              </a:buClr>
              <a:buSzPts val="2199"/>
              <a:buFont typeface="Arial"/>
              <a:buChar char="•"/>
            </a:pPr>
            <a:r>
              <a:rPr b="0" i="0" lang="en-US" sz="2199" u="none" cap="none" strike="noStrike">
                <a:solidFill>
                  <a:srgbClr val="8C52FF"/>
                </a:solidFill>
                <a:latin typeface="Montserrat"/>
                <a:ea typeface="Montserrat"/>
                <a:cs typeface="Montserrat"/>
                <a:sym typeface="Montserrat"/>
              </a:rPr>
              <a:t>argv </a:t>
            </a:r>
            <a:r>
              <a:rPr b="0" i="0" lang="en-US" sz="2199" u="none" cap="none" strike="noStrike">
                <a:solidFill>
                  <a:srgbClr val="FFFFFF"/>
                </a:solidFill>
                <a:latin typeface="Montserrat"/>
                <a:ea typeface="Montserrat"/>
                <a:cs typeface="Montserrat"/>
                <a:sym typeface="Montserrat"/>
              </a:rPr>
              <a:t>= Matriz de punteros a cadenas de caracteres. Estas cadenas de caracteres constituyen la lista de argumentos disponibles para el nuevo programa. </a:t>
            </a:r>
            <a:endParaRPr b="0" i="0" sz="1400" u="none" cap="none" strike="noStrike">
              <a:solidFill>
                <a:srgbClr val="000000"/>
              </a:solidFill>
              <a:latin typeface="Arial"/>
              <a:ea typeface="Arial"/>
              <a:cs typeface="Arial"/>
              <a:sym typeface="Arial"/>
            </a:endParaRPr>
          </a:p>
          <a:p>
            <a:pPr indent="-237488" lvl="1" marL="474977" marR="0" rtl="0" algn="l">
              <a:lnSpc>
                <a:spcPct val="130013"/>
              </a:lnSpc>
              <a:spcBef>
                <a:spcPts val="0"/>
              </a:spcBef>
              <a:spcAft>
                <a:spcPts val="0"/>
              </a:spcAft>
              <a:buClr>
                <a:srgbClr val="5271FF"/>
              </a:buClr>
              <a:buSzPts val="2199"/>
              <a:buFont typeface="Arial"/>
              <a:buChar char="•"/>
            </a:pPr>
            <a:r>
              <a:rPr b="0" i="0" lang="en-US" sz="2199" u="none" cap="none" strike="noStrike">
                <a:solidFill>
                  <a:srgbClr val="5271FF"/>
                </a:solidFill>
                <a:latin typeface="Montserrat"/>
                <a:ea typeface="Montserrat"/>
                <a:cs typeface="Montserrat"/>
                <a:sym typeface="Montserrat"/>
              </a:rPr>
              <a:t>envp </a:t>
            </a:r>
            <a:r>
              <a:rPr b="0" i="0" lang="en-US" sz="2199" u="none" cap="none" strike="noStrike">
                <a:solidFill>
                  <a:srgbClr val="FFFFFF"/>
                </a:solidFill>
                <a:latin typeface="Montserrat"/>
                <a:ea typeface="Montserrat"/>
                <a:cs typeface="Montserrat"/>
                <a:sym typeface="Montserrat"/>
              </a:rPr>
              <a:t>= Matriz de punteros a cadenas de caracteres. Estas cadenas de caracteres constituyenelentorno de ejecución del nuevo programa.</a:t>
            </a:r>
            <a:endParaRPr b="0" i="0" sz="2199" u="none" cap="none" strike="noStrike">
              <a:solidFill>
                <a:srgbClr val="FFFFFF"/>
              </a:solidFill>
              <a:latin typeface="Montserrat"/>
              <a:ea typeface="Montserrat"/>
              <a:cs typeface="Montserrat"/>
              <a:sym typeface="Montserrat"/>
            </a:endParaRPr>
          </a:p>
          <a:p>
            <a:pPr indent="0" lvl="0" marL="45720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45720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char *args[] = {"ls", "-l", NULL};</a:t>
            </a:r>
            <a:endParaRPr b="0" i="0" sz="2199" u="none" cap="none" strike="noStrike">
              <a:solidFill>
                <a:srgbClr val="FFFFFF"/>
              </a:solidFill>
              <a:latin typeface="Montserrat"/>
              <a:ea typeface="Montserrat"/>
              <a:cs typeface="Montserrat"/>
              <a:sym typeface="Montserrat"/>
            </a:endParaRPr>
          </a:p>
          <a:p>
            <a:pPr indent="0" lvl="0" marL="45720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char *env[] = {"HOME=/tmp", NULL};</a:t>
            </a:r>
            <a:endParaRPr b="0" i="0" sz="2199" u="none" cap="none" strike="noStrike">
              <a:solidFill>
                <a:srgbClr val="FFFFFF"/>
              </a:solidFill>
              <a:latin typeface="Montserrat"/>
              <a:ea typeface="Montserrat"/>
              <a:cs typeface="Montserrat"/>
              <a:sym typeface="Montserrat"/>
            </a:endParaRPr>
          </a:p>
          <a:p>
            <a:pPr indent="0" lvl="0" marL="45720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execve("/bin/ls", args, env);</a:t>
            </a:r>
            <a:endParaRPr b="0" i="0" sz="2199" u="none" cap="none" strike="noStrike">
              <a:solidFill>
                <a:srgbClr val="FFFFFF"/>
              </a:solidFill>
              <a:latin typeface="Montserrat"/>
              <a:ea typeface="Montserrat"/>
              <a:cs typeface="Montserrat"/>
              <a:sym typeface="Montserrat"/>
            </a:endParaRPr>
          </a:p>
          <a:p>
            <a:pPr indent="-368236" lvl="0" marL="457200" marR="0" rtl="0" algn="l">
              <a:lnSpc>
                <a:spcPct val="130013"/>
              </a:lnSpc>
              <a:spcBef>
                <a:spcPts val="0"/>
              </a:spcBef>
              <a:spcAft>
                <a:spcPts val="0"/>
              </a:spcAft>
              <a:buClr>
                <a:srgbClr val="FFFFFF"/>
              </a:buClr>
              <a:buSzPts val="2199"/>
              <a:buFont typeface="Montserrat"/>
              <a:buChar char="●"/>
            </a:pPr>
            <a:r>
              <a:t/>
            </a:r>
            <a:endParaRPr b="0" i="0" sz="2199" u="none" cap="none" strike="noStrike">
              <a:solidFill>
                <a:srgbClr val="FFFFFF"/>
              </a:solidFill>
              <a:latin typeface="Montserrat"/>
              <a:ea typeface="Montserrat"/>
              <a:cs typeface="Montserrat"/>
              <a:sym typeface="Montserrat"/>
            </a:endParaRPr>
          </a:p>
        </p:txBody>
      </p:sp>
      <p:pic>
        <p:nvPicPr>
          <p:cNvPr id="427" name="Google Shape;427;g35c3d30e88a_1_587"/>
          <p:cNvPicPr preferRelativeResize="0"/>
          <p:nvPr/>
        </p:nvPicPr>
        <p:blipFill>
          <a:blip r:embed="rId4">
            <a:alphaModFix/>
          </a:blip>
          <a:stretch>
            <a:fillRect/>
          </a:stretch>
        </p:blipFill>
        <p:spPr>
          <a:xfrm>
            <a:off x="14994777" y="420590"/>
            <a:ext cx="2633400" cy="29793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31" name="Shape 431"/>
        <p:cNvGrpSpPr/>
        <p:nvPr/>
      </p:nvGrpSpPr>
      <p:grpSpPr>
        <a:xfrm>
          <a:off x="0" y="0"/>
          <a:ext cx="0" cy="0"/>
          <a:chOff x="0" y="0"/>
          <a:chExt cx="0" cy="0"/>
        </a:xfrm>
      </p:grpSpPr>
      <p:sp>
        <p:nvSpPr>
          <p:cNvPr id="432" name="Google Shape;432;p10"/>
          <p:cNvSpPr/>
          <p:nvPr/>
        </p:nvSpPr>
        <p:spPr>
          <a:xfrm rot="-1473672">
            <a:off x="8514703" y="-4062449"/>
            <a:ext cx="25064564" cy="17089476"/>
          </a:xfrm>
          <a:custGeom>
            <a:rect b="b" l="l" r="r" t="t"/>
            <a:pathLst>
              <a:path extrusionOk="0" h="17089476" w="25064564">
                <a:moveTo>
                  <a:pt x="0" y="0"/>
                </a:moveTo>
                <a:lnTo>
                  <a:pt x="25064564" y="0"/>
                </a:lnTo>
                <a:lnTo>
                  <a:pt x="25064564" y="17089475"/>
                </a:lnTo>
                <a:lnTo>
                  <a:pt x="0" y="17089475"/>
                </a:lnTo>
                <a:lnTo>
                  <a:pt x="0" y="0"/>
                </a:lnTo>
                <a:close/>
              </a:path>
            </a:pathLst>
          </a:custGeom>
          <a:blipFill rotWithShape="1">
            <a:blip r:embed="rId3">
              <a:alphaModFix amt="46000"/>
            </a:blip>
            <a:stretch>
              <a:fillRect b="0" l="0" r="0" t="0"/>
            </a:stretch>
          </a:blipFill>
          <a:ln>
            <a:noFill/>
          </a:ln>
        </p:spPr>
      </p:sp>
      <p:sp>
        <p:nvSpPr>
          <p:cNvPr id="433" name="Google Shape;433;p10"/>
          <p:cNvSpPr txBox="1"/>
          <p:nvPr/>
        </p:nvSpPr>
        <p:spPr>
          <a:xfrm>
            <a:off x="2923601" y="957000"/>
            <a:ext cx="5822400" cy="17010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MODIFICANDO EL KERNEL</a:t>
            </a:r>
            <a:endParaRPr b="0" i="0" sz="1400" u="none" cap="none" strike="noStrike">
              <a:solidFill>
                <a:srgbClr val="000000"/>
              </a:solidFill>
              <a:latin typeface="Arial"/>
              <a:ea typeface="Arial"/>
              <a:cs typeface="Arial"/>
              <a:sym typeface="Arial"/>
            </a:endParaRPr>
          </a:p>
        </p:txBody>
      </p:sp>
      <p:grpSp>
        <p:nvGrpSpPr>
          <p:cNvPr id="434" name="Google Shape;434;p10"/>
          <p:cNvGrpSpPr/>
          <p:nvPr/>
        </p:nvGrpSpPr>
        <p:grpSpPr>
          <a:xfrm>
            <a:off x="1426120" y="2762781"/>
            <a:ext cx="8563960" cy="4201194"/>
            <a:chOff x="0" y="-28575"/>
            <a:chExt cx="2579868" cy="1265597"/>
          </a:xfrm>
        </p:grpSpPr>
        <p:sp>
          <p:nvSpPr>
            <p:cNvPr id="435" name="Google Shape;435;p10"/>
            <p:cNvSpPr/>
            <p:nvPr/>
          </p:nvSpPr>
          <p:spPr>
            <a:xfrm>
              <a:off x="0" y="0"/>
              <a:ext cx="2579868" cy="1237022"/>
            </a:xfrm>
            <a:custGeom>
              <a:rect b="b" l="l" r="r" t="t"/>
              <a:pathLst>
                <a:path extrusionOk="0" h="1237022" w="2579868">
                  <a:moveTo>
                    <a:pt x="46105" y="0"/>
                  </a:moveTo>
                  <a:lnTo>
                    <a:pt x="2533764" y="0"/>
                  </a:lnTo>
                  <a:cubicBezTo>
                    <a:pt x="2559227" y="0"/>
                    <a:pt x="2579868" y="20642"/>
                    <a:pt x="2579868" y="46105"/>
                  </a:cubicBezTo>
                  <a:lnTo>
                    <a:pt x="2579868" y="1190918"/>
                  </a:lnTo>
                  <a:cubicBezTo>
                    <a:pt x="2579868" y="1216381"/>
                    <a:pt x="2559227" y="1237022"/>
                    <a:pt x="2533764" y="1237022"/>
                  </a:cubicBezTo>
                  <a:lnTo>
                    <a:pt x="46105" y="1237022"/>
                  </a:lnTo>
                  <a:cubicBezTo>
                    <a:pt x="20642" y="1237022"/>
                    <a:pt x="0" y="1216381"/>
                    <a:pt x="0" y="1190918"/>
                  </a:cubicBezTo>
                  <a:lnTo>
                    <a:pt x="0" y="46105"/>
                  </a:lnTo>
                  <a:cubicBezTo>
                    <a:pt x="0" y="20642"/>
                    <a:pt x="20642" y="0"/>
                    <a:pt x="4610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10"/>
            <p:cNvSpPr txBox="1"/>
            <p:nvPr/>
          </p:nvSpPr>
          <p:spPr>
            <a:xfrm>
              <a:off x="0" y="-28575"/>
              <a:ext cx="2579868" cy="126559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37" name="Google Shape;437;p10"/>
          <p:cNvSpPr txBox="1"/>
          <p:nvPr/>
        </p:nvSpPr>
        <p:spPr>
          <a:xfrm>
            <a:off x="1670239" y="3231882"/>
            <a:ext cx="8045699" cy="3597161"/>
          </a:xfrm>
          <a:prstGeom prst="rect">
            <a:avLst/>
          </a:prstGeom>
          <a:noFill/>
          <a:ln>
            <a:noFill/>
          </a:ln>
        </p:spPr>
        <p:txBody>
          <a:bodyPr anchorCtr="0" anchor="t" bIns="0" lIns="0" spcFirstLastPara="1" rIns="0" wrap="square" tIns="0">
            <a:spAutoFit/>
          </a:bodyPr>
          <a:lstStyle/>
          <a:p>
            <a:pPr indent="0" lvl="0" marL="0" marR="0" rtl="0" algn="just">
              <a:lnSpc>
                <a:spcPct val="129989"/>
              </a:lnSpc>
              <a:spcBef>
                <a:spcPts val="0"/>
              </a:spcBef>
              <a:spcAft>
                <a:spcPts val="0"/>
              </a:spcAft>
              <a:buClr>
                <a:srgbClr val="000000"/>
              </a:buClr>
              <a:buSzPts val="1884"/>
              <a:buFont typeface="Arial"/>
              <a:buNone/>
            </a:pPr>
            <a:r>
              <a:rPr b="1" i="0" lang="en-US" sz="1884" u="none" cap="none" strike="noStrike">
                <a:solidFill>
                  <a:srgbClr val="FFFFFF"/>
                </a:solidFill>
                <a:latin typeface="Montserrat"/>
                <a:ea typeface="Montserrat"/>
                <a:cs typeface="Montserrat"/>
                <a:sym typeface="Montserrat"/>
              </a:rPr>
              <a:t>Obtener el Código Fuente del Kernel</a:t>
            </a:r>
            <a:endParaRPr b="0" i="0" sz="1400" u="none" cap="none" strike="noStrike">
              <a:solidFill>
                <a:srgbClr val="000000"/>
              </a:solidFill>
              <a:latin typeface="Arial"/>
              <a:ea typeface="Arial"/>
              <a:cs typeface="Arial"/>
              <a:sym typeface="Arial"/>
            </a:endParaRPr>
          </a:p>
          <a:p>
            <a:pPr indent="-203378" lvl="1" marL="406756" marR="0" rtl="0" algn="just">
              <a:lnSpc>
                <a:spcPct val="129989"/>
              </a:lnSpc>
              <a:spcBef>
                <a:spcPts val="0"/>
              </a:spcBef>
              <a:spcAft>
                <a:spcPts val="0"/>
              </a:spcAft>
              <a:buClr>
                <a:srgbClr val="FFFFFF"/>
              </a:buClr>
              <a:buSzPts val="1884"/>
              <a:buFont typeface="Arial"/>
              <a:buChar char="•"/>
            </a:pPr>
            <a:r>
              <a:rPr b="0" i="0" lang="en-US" sz="1884" u="none" cap="none" strike="noStrike">
                <a:solidFill>
                  <a:srgbClr val="FFFFFF"/>
                </a:solidFill>
                <a:latin typeface="Montserrat"/>
                <a:ea typeface="Montserrat"/>
                <a:cs typeface="Montserrat"/>
                <a:sym typeface="Montserrat"/>
              </a:rPr>
              <a:t>Comenzar descargando la versión más reciente del código fuente del kernel desde </a:t>
            </a:r>
            <a:r>
              <a:rPr b="1" i="1" lang="en-US" sz="1884" u="sng" cap="none" strike="noStrike">
                <a:solidFill>
                  <a:srgbClr val="ACFDDB"/>
                </a:solidFill>
                <a:latin typeface="Montserrat"/>
                <a:ea typeface="Montserrat"/>
                <a:cs typeface="Montserrat"/>
                <a:sym typeface="Montserrat"/>
                <a:hlinkClick r:id="rId4">
                  <a:extLst>
                    <a:ext uri="{A12FA001-AC4F-418D-AE19-62706E023703}">
                      <ahyp:hlinkClr val="tx"/>
                    </a:ext>
                  </a:extLst>
                </a:hlinkClick>
              </a:rPr>
              <a:t>kernel.org</a:t>
            </a:r>
            <a:r>
              <a:rPr b="0" i="0" lang="en-US" sz="1884" u="none" cap="none" strike="noStrike">
                <a:solidFill>
                  <a:srgbClr val="FFFFFF"/>
                </a:solidFill>
                <a:latin typeface="Montserrat"/>
                <a:ea typeface="Montserrat"/>
                <a:cs typeface="Montserrat"/>
                <a:sym typeface="Montserrat"/>
              </a:rPr>
              <a:t>. Esto se puede hacer mediante comandos de terminal o desde el navegador. Una vez descargado, se debe descomprimir el archivo para acceder a los archivos de código fuente.</a:t>
            </a:r>
            <a:endParaRPr b="0" i="0" sz="1400" u="none" cap="none" strike="noStrike">
              <a:solidFill>
                <a:srgbClr val="000000"/>
              </a:solidFill>
              <a:latin typeface="Arial"/>
              <a:ea typeface="Arial"/>
              <a:cs typeface="Arial"/>
              <a:sym typeface="Arial"/>
            </a:endParaRPr>
          </a:p>
          <a:p>
            <a:pPr indent="0" lvl="0" marL="0" marR="0" rtl="0" algn="just">
              <a:lnSpc>
                <a:spcPct val="129989"/>
              </a:lnSpc>
              <a:spcBef>
                <a:spcPts val="0"/>
              </a:spcBef>
              <a:spcAft>
                <a:spcPts val="0"/>
              </a:spcAft>
              <a:buClr>
                <a:srgbClr val="000000"/>
              </a:buClr>
              <a:buSzPts val="1884"/>
              <a:buFont typeface="Arial"/>
              <a:buNone/>
            </a:pPr>
            <a:r>
              <a:t/>
            </a:r>
            <a:endParaRPr b="0" i="0" sz="1884" u="none" cap="none" strike="noStrike">
              <a:solidFill>
                <a:srgbClr val="FFFFFF"/>
              </a:solidFill>
              <a:latin typeface="Montserrat"/>
              <a:ea typeface="Montserrat"/>
              <a:cs typeface="Montserrat"/>
              <a:sym typeface="Montserrat"/>
            </a:endParaRPr>
          </a:p>
          <a:p>
            <a:pPr indent="0" lvl="0" marL="0" marR="0" rtl="0" algn="just">
              <a:lnSpc>
                <a:spcPct val="129989"/>
              </a:lnSpc>
              <a:spcBef>
                <a:spcPts val="0"/>
              </a:spcBef>
              <a:spcAft>
                <a:spcPts val="0"/>
              </a:spcAft>
              <a:buClr>
                <a:srgbClr val="000000"/>
              </a:buClr>
              <a:buSzPts val="1884"/>
              <a:buFont typeface="Arial"/>
              <a:buNone/>
            </a:pPr>
            <a:r>
              <a:rPr b="1" i="0" lang="en-US" sz="1884" u="none" cap="none" strike="noStrike">
                <a:solidFill>
                  <a:srgbClr val="FFFFFF"/>
                </a:solidFill>
                <a:latin typeface="Montserrat"/>
                <a:ea typeface="Montserrat"/>
                <a:cs typeface="Montserrat"/>
                <a:sym typeface="Montserrat"/>
              </a:rPr>
              <a:t>Instalar Dependencias Necesarias:</a:t>
            </a:r>
            <a:endParaRPr b="0" i="0" sz="1400" u="none" cap="none" strike="noStrike">
              <a:solidFill>
                <a:srgbClr val="000000"/>
              </a:solidFill>
              <a:latin typeface="Arial"/>
              <a:ea typeface="Arial"/>
              <a:cs typeface="Arial"/>
              <a:sym typeface="Arial"/>
            </a:endParaRPr>
          </a:p>
          <a:p>
            <a:pPr indent="-203378" lvl="1" marL="406756" marR="0" rtl="0" algn="just">
              <a:lnSpc>
                <a:spcPct val="129989"/>
              </a:lnSpc>
              <a:spcBef>
                <a:spcPts val="0"/>
              </a:spcBef>
              <a:spcAft>
                <a:spcPts val="0"/>
              </a:spcAft>
              <a:buClr>
                <a:srgbClr val="FFFFFF"/>
              </a:buClr>
              <a:buSzPts val="1884"/>
              <a:buFont typeface="Arial"/>
              <a:buChar char="•"/>
            </a:pPr>
            <a:r>
              <a:rPr b="0" i="0" lang="en-US" sz="1884" u="none" cap="none" strike="noStrike">
                <a:solidFill>
                  <a:srgbClr val="FFFFFF"/>
                </a:solidFill>
                <a:latin typeface="Montserrat"/>
                <a:ea typeface="Montserrat"/>
                <a:cs typeface="Montserrat"/>
                <a:sym typeface="Montserrat"/>
              </a:rPr>
              <a:t>Antes de compilar el kernel, es esencial contar con todas las herramientas necesarias, incluyendo compiladores y bibliotecas</a:t>
            </a:r>
            <a:endParaRPr b="0" i="0" sz="1400" u="none" cap="none" strike="noStrike">
              <a:solidFill>
                <a:srgbClr val="000000"/>
              </a:solidFill>
              <a:latin typeface="Arial"/>
              <a:ea typeface="Arial"/>
              <a:cs typeface="Arial"/>
              <a:sym typeface="Arial"/>
            </a:endParaRPr>
          </a:p>
          <a:p>
            <a:pPr indent="0" lvl="0" marL="0" marR="0" rtl="0" algn="just">
              <a:lnSpc>
                <a:spcPct val="102388"/>
              </a:lnSpc>
              <a:spcBef>
                <a:spcPts val="0"/>
              </a:spcBef>
              <a:spcAft>
                <a:spcPts val="0"/>
              </a:spcAft>
              <a:buClr>
                <a:srgbClr val="000000"/>
              </a:buClr>
              <a:buSzPts val="1884"/>
              <a:buFont typeface="Arial"/>
              <a:buNone/>
            </a:pPr>
            <a:r>
              <a:t/>
            </a:r>
            <a:endParaRPr b="0" i="0" sz="1884" u="none" cap="none" strike="noStrike">
              <a:solidFill>
                <a:srgbClr val="FFFFFF"/>
              </a:solidFill>
              <a:latin typeface="Montserrat"/>
              <a:ea typeface="Montserrat"/>
              <a:cs typeface="Montserrat"/>
              <a:sym typeface="Montserrat"/>
            </a:endParaRPr>
          </a:p>
        </p:txBody>
      </p:sp>
      <p:grpSp>
        <p:nvGrpSpPr>
          <p:cNvPr id="438" name="Google Shape;438;p10"/>
          <p:cNvGrpSpPr/>
          <p:nvPr/>
        </p:nvGrpSpPr>
        <p:grpSpPr>
          <a:xfrm>
            <a:off x="1466369" y="7211738"/>
            <a:ext cx="9973061" cy="706174"/>
            <a:chOff x="0" y="-19050"/>
            <a:chExt cx="2832171" cy="200541"/>
          </a:xfrm>
        </p:grpSpPr>
        <p:sp>
          <p:nvSpPr>
            <p:cNvPr id="439" name="Google Shape;439;p10"/>
            <p:cNvSpPr/>
            <p:nvPr/>
          </p:nvSpPr>
          <p:spPr>
            <a:xfrm>
              <a:off x="0" y="0"/>
              <a:ext cx="2832171" cy="181491"/>
            </a:xfrm>
            <a:custGeom>
              <a:rect b="b" l="l" r="r" t="t"/>
              <a:pathLst>
                <a:path extrusionOk="0" h="181491" w="2832171">
                  <a:moveTo>
                    <a:pt x="17855" y="0"/>
                  </a:moveTo>
                  <a:lnTo>
                    <a:pt x="2814316" y="0"/>
                  </a:lnTo>
                  <a:cubicBezTo>
                    <a:pt x="2819052" y="0"/>
                    <a:pt x="2823593" y="1881"/>
                    <a:pt x="2826941" y="5229"/>
                  </a:cubicBezTo>
                  <a:cubicBezTo>
                    <a:pt x="2830290" y="8578"/>
                    <a:pt x="2832171" y="13119"/>
                    <a:pt x="2832171" y="17855"/>
                  </a:cubicBezTo>
                  <a:lnTo>
                    <a:pt x="2832171" y="163636"/>
                  </a:lnTo>
                  <a:cubicBezTo>
                    <a:pt x="2832171" y="168371"/>
                    <a:pt x="2830290" y="172913"/>
                    <a:pt x="2826941" y="176261"/>
                  </a:cubicBezTo>
                  <a:cubicBezTo>
                    <a:pt x="2823593" y="179610"/>
                    <a:pt x="2819052" y="181491"/>
                    <a:pt x="2814316" y="181491"/>
                  </a:cubicBezTo>
                  <a:lnTo>
                    <a:pt x="17855" y="181491"/>
                  </a:lnTo>
                  <a:cubicBezTo>
                    <a:pt x="13119" y="181491"/>
                    <a:pt x="8578" y="179610"/>
                    <a:pt x="5229" y="176261"/>
                  </a:cubicBezTo>
                  <a:cubicBezTo>
                    <a:pt x="1881" y="172913"/>
                    <a:pt x="0" y="168371"/>
                    <a:pt x="0" y="163636"/>
                  </a:cubicBezTo>
                  <a:lnTo>
                    <a:pt x="0" y="17855"/>
                  </a:lnTo>
                  <a:cubicBezTo>
                    <a:pt x="0" y="13119"/>
                    <a:pt x="1881" y="8578"/>
                    <a:pt x="5229" y="5229"/>
                  </a:cubicBezTo>
                  <a:cubicBezTo>
                    <a:pt x="8578" y="1881"/>
                    <a:pt x="13119" y="0"/>
                    <a:pt x="17855"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10"/>
            <p:cNvSpPr txBox="1"/>
            <p:nvPr/>
          </p:nvSpPr>
          <p:spPr>
            <a:xfrm>
              <a:off x="0" y="-19050"/>
              <a:ext cx="2832171" cy="200541"/>
            </a:xfrm>
            <a:prstGeom prst="rect">
              <a:avLst/>
            </a:prstGeom>
            <a:noFill/>
            <a:ln>
              <a:noFill/>
            </a:ln>
          </p:spPr>
          <p:txBody>
            <a:bodyPr anchorCtr="0" anchor="ctr" bIns="33825" lIns="33825" spcFirstLastPara="1" rIns="33825" wrap="square" tIns="33825">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41" name="Google Shape;441;p10"/>
          <p:cNvSpPr/>
          <p:nvPr/>
        </p:nvSpPr>
        <p:spPr>
          <a:xfrm>
            <a:off x="1028700" y="7068750"/>
            <a:ext cx="3095934" cy="2743771"/>
          </a:xfrm>
          <a:custGeom>
            <a:rect b="b" l="l" r="r" t="t"/>
            <a:pathLst>
              <a:path extrusionOk="0" h="2743771" w="3095934">
                <a:moveTo>
                  <a:pt x="0" y="0"/>
                </a:moveTo>
                <a:lnTo>
                  <a:pt x="3095934" y="0"/>
                </a:lnTo>
                <a:lnTo>
                  <a:pt x="3095934" y="2743771"/>
                </a:lnTo>
                <a:lnTo>
                  <a:pt x="0" y="2743771"/>
                </a:lnTo>
                <a:lnTo>
                  <a:pt x="0" y="0"/>
                </a:lnTo>
                <a:close/>
              </a:path>
            </a:pathLst>
          </a:custGeom>
          <a:blipFill rotWithShape="1">
            <a:blip r:embed="rId5">
              <a:alphaModFix amt="94000"/>
            </a:blip>
            <a:stretch>
              <a:fillRect b="0" l="0" r="0" t="0"/>
            </a:stretch>
          </a:blipFill>
          <a:ln>
            <a:noFill/>
          </a:ln>
        </p:spPr>
      </p:sp>
      <p:grpSp>
        <p:nvGrpSpPr>
          <p:cNvPr id="442" name="Google Shape;442;p10"/>
          <p:cNvGrpSpPr/>
          <p:nvPr/>
        </p:nvGrpSpPr>
        <p:grpSpPr>
          <a:xfrm>
            <a:off x="1426120" y="7557785"/>
            <a:ext cx="10013310" cy="1998411"/>
            <a:chOff x="0" y="-19050"/>
            <a:chExt cx="2843601" cy="567513"/>
          </a:xfrm>
        </p:grpSpPr>
        <p:sp>
          <p:nvSpPr>
            <p:cNvPr id="443" name="Google Shape;443;p10"/>
            <p:cNvSpPr/>
            <p:nvPr/>
          </p:nvSpPr>
          <p:spPr>
            <a:xfrm>
              <a:off x="0" y="0"/>
              <a:ext cx="2843601" cy="548463"/>
            </a:xfrm>
            <a:custGeom>
              <a:rect b="b" l="l" r="r" t="t"/>
              <a:pathLst>
                <a:path extrusionOk="0" h="548463" w="2843601">
                  <a:moveTo>
                    <a:pt x="17783" y="0"/>
                  </a:moveTo>
                  <a:lnTo>
                    <a:pt x="2825818" y="0"/>
                  </a:lnTo>
                  <a:cubicBezTo>
                    <a:pt x="2835640" y="0"/>
                    <a:pt x="2843601" y="7962"/>
                    <a:pt x="2843601" y="17783"/>
                  </a:cubicBezTo>
                  <a:lnTo>
                    <a:pt x="2843601" y="530680"/>
                  </a:lnTo>
                  <a:cubicBezTo>
                    <a:pt x="2843601" y="540501"/>
                    <a:pt x="2835640" y="548463"/>
                    <a:pt x="2825818" y="548463"/>
                  </a:cubicBezTo>
                  <a:lnTo>
                    <a:pt x="17783" y="548463"/>
                  </a:lnTo>
                  <a:cubicBezTo>
                    <a:pt x="7962" y="548463"/>
                    <a:pt x="0" y="540501"/>
                    <a:pt x="0" y="530680"/>
                  </a:cubicBezTo>
                  <a:lnTo>
                    <a:pt x="0" y="17783"/>
                  </a:lnTo>
                  <a:cubicBezTo>
                    <a:pt x="0" y="7962"/>
                    <a:pt x="7962" y="0"/>
                    <a:pt x="1778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10"/>
            <p:cNvSpPr txBox="1"/>
            <p:nvPr/>
          </p:nvSpPr>
          <p:spPr>
            <a:xfrm>
              <a:off x="0" y="-19050"/>
              <a:ext cx="2843601" cy="567513"/>
            </a:xfrm>
            <a:prstGeom prst="rect">
              <a:avLst/>
            </a:prstGeom>
            <a:noFill/>
            <a:ln>
              <a:noFill/>
            </a:ln>
          </p:spPr>
          <p:txBody>
            <a:bodyPr anchorCtr="0" anchor="ctr" bIns="33825" lIns="33825" spcFirstLastPara="1" rIns="33825" wrap="square" tIns="33825">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445" name="Google Shape;445;p10"/>
          <p:cNvCxnSpPr/>
          <p:nvPr/>
        </p:nvCxnSpPr>
        <p:spPr>
          <a:xfrm>
            <a:off x="1605193" y="7771832"/>
            <a:ext cx="9030504" cy="18080"/>
          </a:xfrm>
          <a:prstGeom prst="straightConnector1">
            <a:avLst/>
          </a:prstGeom>
          <a:noFill/>
          <a:ln cap="flat" cmpd="sng" w="9525">
            <a:solidFill>
              <a:srgbClr val="FFFFFF"/>
            </a:solidFill>
            <a:prstDash val="solid"/>
            <a:round/>
            <a:headEnd len="sm" w="sm" type="none"/>
            <a:tailEnd len="sm" w="sm" type="none"/>
          </a:ln>
        </p:spPr>
      </p:cxnSp>
      <p:sp>
        <p:nvSpPr>
          <p:cNvPr id="446" name="Google Shape;446;p10"/>
          <p:cNvSpPr txBox="1"/>
          <p:nvPr/>
        </p:nvSpPr>
        <p:spPr>
          <a:xfrm>
            <a:off x="1575875" y="7837527"/>
            <a:ext cx="9586210" cy="1131558"/>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575"/>
              <a:buFont typeface="Arial"/>
              <a:buNone/>
            </a:pPr>
            <a:r>
              <a:rPr b="0" i="0" lang="en-US" sz="1575" u="none" cap="none" strike="noStrike">
                <a:solidFill>
                  <a:srgbClr val="FFFFFF"/>
                </a:solidFill>
                <a:latin typeface="Consolas"/>
                <a:ea typeface="Consolas"/>
                <a:cs typeface="Consolas"/>
                <a:sym typeface="Consolas"/>
              </a:rPr>
              <a:t>&gt; Instalar dependencias</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1575"/>
              <a:buFont typeface="Arial"/>
              <a:buNone/>
            </a:pPr>
            <a:r>
              <a:rPr b="1" i="0" lang="en-US" sz="1575" u="none" cap="none" strike="noStrike">
                <a:solidFill>
                  <a:srgbClr val="FFFFFF"/>
                </a:solidFill>
                <a:latin typeface="Consolas"/>
                <a:ea typeface="Consolas"/>
                <a:cs typeface="Consolas"/>
                <a:sym typeface="Consolas"/>
              </a:rPr>
              <a:t>$ </a:t>
            </a:r>
            <a:r>
              <a:rPr b="1" i="1" lang="en-US" sz="1575" u="none" cap="none" strike="noStrike">
                <a:solidFill>
                  <a:srgbClr val="FFFFFF"/>
                </a:solidFill>
                <a:latin typeface="Consolas"/>
                <a:ea typeface="Consolas"/>
                <a:cs typeface="Consolas"/>
                <a:sym typeface="Consolas"/>
              </a:rPr>
              <a:t>sudo apt-get install build-essential libncurses-dev bison flex libssl-dev libelf-dev</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1575"/>
              <a:buFont typeface="Arial"/>
              <a:buNone/>
            </a:pPr>
            <a:r>
              <a:t/>
            </a:r>
            <a:endParaRPr b="1" i="1" sz="1575" u="none" cap="none" strike="noStrike">
              <a:solidFill>
                <a:srgbClr val="FFFFFF"/>
              </a:solidFill>
              <a:latin typeface="Consolas"/>
              <a:ea typeface="Consolas"/>
              <a:cs typeface="Consolas"/>
              <a:sym typeface="Consolas"/>
            </a:endParaRPr>
          </a:p>
          <a:p>
            <a:pPr indent="0" lvl="0" marL="0" marR="0" rtl="0" algn="l">
              <a:lnSpc>
                <a:spcPct val="140000"/>
              </a:lnSpc>
              <a:spcBef>
                <a:spcPts val="0"/>
              </a:spcBef>
              <a:spcAft>
                <a:spcPts val="0"/>
              </a:spcAft>
              <a:buClr>
                <a:srgbClr val="000000"/>
              </a:buClr>
              <a:buSzPts val="1575"/>
              <a:buFont typeface="Arial"/>
              <a:buNone/>
            </a:pPr>
            <a:r>
              <a:t/>
            </a:r>
            <a:endParaRPr b="1" i="1" sz="1575" u="none" cap="none" strike="noStrike">
              <a:solidFill>
                <a:srgbClr val="FFFFFF"/>
              </a:solidFill>
              <a:latin typeface="Consolas"/>
              <a:ea typeface="Consolas"/>
              <a:cs typeface="Consolas"/>
              <a:sym typeface="Consolas"/>
            </a:endParaRPr>
          </a:p>
        </p:txBody>
      </p:sp>
      <p:pic>
        <p:nvPicPr>
          <p:cNvPr id="447" name="Google Shape;447;p10" title="what-whaaat.gif"/>
          <p:cNvPicPr preferRelativeResize="0"/>
          <p:nvPr/>
        </p:nvPicPr>
        <p:blipFill>
          <a:blip r:embed="rId6">
            <a:alphaModFix/>
          </a:blip>
          <a:stretch>
            <a:fillRect/>
          </a:stretch>
        </p:blipFill>
        <p:spPr>
          <a:xfrm>
            <a:off x="383200" y="1199375"/>
            <a:ext cx="2480600" cy="1792800"/>
          </a:xfrm>
          <a:prstGeom prst="rect">
            <a:avLst/>
          </a:prstGeom>
          <a:noFill/>
          <a:ln>
            <a:noFill/>
          </a:ln>
        </p:spPr>
      </p:pic>
      <p:pic>
        <p:nvPicPr>
          <p:cNvPr id="448" name="Google Shape;448;p10"/>
          <p:cNvPicPr preferRelativeResize="0"/>
          <p:nvPr/>
        </p:nvPicPr>
        <p:blipFill>
          <a:blip r:embed="rId7">
            <a:alphaModFix/>
          </a:blip>
          <a:stretch>
            <a:fillRect/>
          </a:stretch>
        </p:blipFill>
        <p:spPr>
          <a:xfrm>
            <a:off x="11562500" y="1431396"/>
            <a:ext cx="5606842" cy="529535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52" name="Shape 452"/>
        <p:cNvGrpSpPr/>
        <p:nvPr/>
      </p:nvGrpSpPr>
      <p:grpSpPr>
        <a:xfrm>
          <a:off x="0" y="0"/>
          <a:ext cx="0" cy="0"/>
          <a:chOff x="0" y="0"/>
          <a:chExt cx="0" cy="0"/>
        </a:xfrm>
      </p:grpSpPr>
      <p:grpSp>
        <p:nvGrpSpPr>
          <p:cNvPr id="453" name="Google Shape;453;p11"/>
          <p:cNvGrpSpPr/>
          <p:nvPr/>
        </p:nvGrpSpPr>
        <p:grpSpPr>
          <a:xfrm>
            <a:off x="623125" y="741874"/>
            <a:ext cx="8415951" cy="8701501"/>
            <a:chOff x="0" y="-19050"/>
            <a:chExt cx="1696696" cy="1572371"/>
          </a:xfrm>
        </p:grpSpPr>
        <p:sp>
          <p:nvSpPr>
            <p:cNvPr id="454" name="Google Shape;454;p11"/>
            <p:cNvSpPr/>
            <p:nvPr/>
          </p:nvSpPr>
          <p:spPr>
            <a:xfrm>
              <a:off x="0" y="0"/>
              <a:ext cx="1696696" cy="1553321"/>
            </a:xfrm>
            <a:custGeom>
              <a:rect b="b" l="l" r="r" t="t"/>
              <a:pathLst>
                <a:path extrusionOk="0" h="1553321" w="1696696">
                  <a:moveTo>
                    <a:pt x="45996" y="0"/>
                  </a:moveTo>
                  <a:lnTo>
                    <a:pt x="1650700" y="0"/>
                  </a:lnTo>
                  <a:cubicBezTo>
                    <a:pt x="1676103" y="0"/>
                    <a:pt x="1696696" y="20593"/>
                    <a:pt x="1696696" y="45996"/>
                  </a:cubicBezTo>
                  <a:lnTo>
                    <a:pt x="1696696" y="1507325"/>
                  </a:lnTo>
                  <a:cubicBezTo>
                    <a:pt x="1696696" y="1532728"/>
                    <a:pt x="1676103" y="1553321"/>
                    <a:pt x="1650700" y="1553321"/>
                  </a:cubicBezTo>
                  <a:lnTo>
                    <a:pt x="45996" y="1553321"/>
                  </a:lnTo>
                  <a:cubicBezTo>
                    <a:pt x="20593" y="1553321"/>
                    <a:pt x="0" y="1532728"/>
                    <a:pt x="0" y="1507325"/>
                  </a:cubicBezTo>
                  <a:lnTo>
                    <a:pt x="0" y="45996"/>
                  </a:lnTo>
                  <a:cubicBezTo>
                    <a:pt x="0" y="20593"/>
                    <a:pt x="20593" y="0"/>
                    <a:pt x="45996"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11"/>
            <p:cNvSpPr txBox="1"/>
            <p:nvPr/>
          </p:nvSpPr>
          <p:spPr>
            <a:xfrm>
              <a:off x="0" y="-19050"/>
              <a:ext cx="1696696" cy="157237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56" name="Google Shape;456;p11"/>
          <p:cNvSpPr/>
          <p:nvPr/>
        </p:nvSpPr>
        <p:spPr>
          <a:xfrm>
            <a:off x="8809220" y="1028700"/>
            <a:ext cx="4375947" cy="3878183"/>
          </a:xfrm>
          <a:custGeom>
            <a:rect b="b" l="l" r="r" t="t"/>
            <a:pathLst>
              <a:path extrusionOk="0" h="3878183" w="4375947">
                <a:moveTo>
                  <a:pt x="0" y="0"/>
                </a:moveTo>
                <a:lnTo>
                  <a:pt x="4375947" y="0"/>
                </a:lnTo>
                <a:lnTo>
                  <a:pt x="4375947" y="3878183"/>
                </a:lnTo>
                <a:lnTo>
                  <a:pt x="0" y="3878183"/>
                </a:lnTo>
                <a:lnTo>
                  <a:pt x="0" y="0"/>
                </a:lnTo>
                <a:close/>
              </a:path>
            </a:pathLst>
          </a:custGeom>
          <a:blipFill rotWithShape="1">
            <a:blip r:embed="rId3">
              <a:alphaModFix amt="94000"/>
            </a:blip>
            <a:stretch>
              <a:fillRect b="0" l="0" r="0" t="0"/>
            </a:stretch>
          </a:blipFill>
          <a:ln>
            <a:noFill/>
          </a:ln>
        </p:spPr>
      </p:sp>
      <p:grpSp>
        <p:nvGrpSpPr>
          <p:cNvPr id="457" name="Google Shape;457;p11"/>
          <p:cNvGrpSpPr/>
          <p:nvPr/>
        </p:nvGrpSpPr>
        <p:grpSpPr>
          <a:xfrm>
            <a:off x="9370950" y="1719925"/>
            <a:ext cx="8488984" cy="7018941"/>
            <a:chOff x="0" y="-19050"/>
            <a:chExt cx="1705540" cy="1221918"/>
          </a:xfrm>
        </p:grpSpPr>
        <p:sp>
          <p:nvSpPr>
            <p:cNvPr id="458" name="Google Shape;458;p11"/>
            <p:cNvSpPr/>
            <p:nvPr/>
          </p:nvSpPr>
          <p:spPr>
            <a:xfrm>
              <a:off x="0" y="0"/>
              <a:ext cx="1705540" cy="1202868"/>
            </a:xfrm>
            <a:custGeom>
              <a:rect b="b" l="l" r="r" t="t"/>
              <a:pathLst>
                <a:path extrusionOk="0" h="1202868" w="1705540">
                  <a:moveTo>
                    <a:pt x="20976" y="0"/>
                  </a:moveTo>
                  <a:lnTo>
                    <a:pt x="1684564" y="0"/>
                  </a:lnTo>
                  <a:cubicBezTo>
                    <a:pt x="1696149" y="0"/>
                    <a:pt x="1705540" y="9391"/>
                    <a:pt x="1705540" y="20976"/>
                  </a:cubicBezTo>
                  <a:lnTo>
                    <a:pt x="1705540" y="1181892"/>
                  </a:lnTo>
                  <a:cubicBezTo>
                    <a:pt x="1705540" y="1193477"/>
                    <a:pt x="1696149" y="1202868"/>
                    <a:pt x="1684564" y="1202868"/>
                  </a:cubicBezTo>
                  <a:lnTo>
                    <a:pt x="20976" y="1202868"/>
                  </a:lnTo>
                  <a:cubicBezTo>
                    <a:pt x="9391" y="1202868"/>
                    <a:pt x="0" y="1193477"/>
                    <a:pt x="0" y="1181892"/>
                  </a:cubicBezTo>
                  <a:lnTo>
                    <a:pt x="0" y="20976"/>
                  </a:lnTo>
                  <a:cubicBezTo>
                    <a:pt x="0" y="9391"/>
                    <a:pt x="9391" y="0"/>
                    <a:pt x="20976"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11"/>
            <p:cNvSpPr txBox="1"/>
            <p:nvPr/>
          </p:nvSpPr>
          <p:spPr>
            <a:xfrm>
              <a:off x="0" y="-19050"/>
              <a:ext cx="1705540" cy="1221918"/>
            </a:xfrm>
            <a:prstGeom prst="rect">
              <a:avLst/>
            </a:prstGeom>
            <a:noFill/>
            <a:ln>
              <a:noFill/>
            </a:ln>
          </p:spPr>
          <p:txBody>
            <a:bodyPr anchorCtr="0" anchor="ctr" bIns="58225" lIns="58225" spcFirstLastPara="1" rIns="58225" wrap="square" tIns="58225">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460" name="Google Shape;460;p11"/>
          <p:cNvCxnSpPr/>
          <p:nvPr/>
        </p:nvCxnSpPr>
        <p:spPr>
          <a:xfrm>
            <a:off x="9624064" y="2022472"/>
            <a:ext cx="7530888" cy="0"/>
          </a:xfrm>
          <a:prstGeom prst="straightConnector1">
            <a:avLst/>
          </a:prstGeom>
          <a:noFill/>
          <a:ln cap="flat" cmpd="sng" w="9525">
            <a:solidFill>
              <a:srgbClr val="FFFFFF"/>
            </a:solidFill>
            <a:prstDash val="solid"/>
            <a:round/>
            <a:headEnd len="sm" w="sm" type="none"/>
            <a:tailEnd len="sm" w="sm" type="none"/>
          </a:ln>
        </p:spPr>
      </p:cxnSp>
      <p:sp>
        <p:nvSpPr>
          <p:cNvPr id="461" name="Google Shape;461;p11"/>
          <p:cNvSpPr/>
          <p:nvPr/>
        </p:nvSpPr>
        <p:spPr>
          <a:xfrm>
            <a:off x="15414121" y="7411835"/>
            <a:ext cx="2258546" cy="2258546"/>
          </a:xfrm>
          <a:custGeom>
            <a:rect b="b" l="l" r="r" t="t"/>
            <a:pathLst>
              <a:path extrusionOk="0" h="2258546" w="2258546">
                <a:moveTo>
                  <a:pt x="0" y="0"/>
                </a:moveTo>
                <a:lnTo>
                  <a:pt x="2258546" y="0"/>
                </a:lnTo>
                <a:lnTo>
                  <a:pt x="2258546" y="2258547"/>
                </a:lnTo>
                <a:lnTo>
                  <a:pt x="0" y="2258547"/>
                </a:lnTo>
                <a:lnTo>
                  <a:pt x="0" y="0"/>
                </a:lnTo>
                <a:close/>
              </a:path>
            </a:pathLst>
          </a:custGeom>
          <a:blipFill rotWithShape="1">
            <a:blip r:embed="rId4">
              <a:alphaModFix/>
            </a:blip>
            <a:stretch>
              <a:fillRect b="0" l="0" r="0" t="0"/>
            </a:stretch>
          </a:blipFill>
          <a:ln>
            <a:noFill/>
          </a:ln>
        </p:spPr>
      </p:sp>
      <p:sp>
        <p:nvSpPr>
          <p:cNvPr id="462" name="Google Shape;462;p11"/>
          <p:cNvSpPr txBox="1"/>
          <p:nvPr/>
        </p:nvSpPr>
        <p:spPr>
          <a:xfrm>
            <a:off x="1028700" y="862149"/>
            <a:ext cx="7780520" cy="8070418"/>
          </a:xfrm>
          <a:prstGeom prst="rect">
            <a:avLst/>
          </a:prstGeom>
          <a:noFill/>
          <a:ln>
            <a:noFill/>
          </a:ln>
        </p:spPr>
        <p:txBody>
          <a:bodyPr anchorCtr="0" anchor="t" bIns="0" lIns="0" spcFirstLastPara="1" rIns="0" wrap="square" tIns="0">
            <a:spAutoFit/>
          </a:bodyPr>
          <a:lstStyle/>
          <a:p>
            <a:pPr indent="0" lvl="0" marL="0" marR="0" rtl="0" algn="l">
              <a:lnSpc>
                <a:spcPct val="1071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29988"/>
              </a:lnSpc>
              <a:spcBef>
                <a:spcPts val="0"/>
              </a:spcBef>
              <a:spcAft>
                <a:spcPts val="0"/>
              </a:spcAft>
              <a:buClr>
                <a:srgbClr val="000000"/>
              </a:buClr>
              <a:buSzPts val="1684"/>
              <a:buFont typeface="Arial"/>
              <a:buNone/>
            </a:pPr>
            <a:r>
              <a:rPr b="1" i="0" lang="en-US" sz="1684" u="none" cap="none" strike="noStrike">
                <a:solidFill>
                  <a:srgbClr val="FFFFFF"/>
                </a:solidFill>
                <a:latin typeface="Montserrat"/>
                <a:ea typeface="Montserrat"/>
                <a:cs typeface="Montserrat"/>
                <a:sym typeface="Montserrat"/>
              </a:rPr>
              <a:t>Configurar el Kernel:</a:t>
            </a:r>
            <a:endParaRPr b="0" i="0" sz="1400" u="none" cap="none" strike="noStrike">
              <a:solidFill>
                <a:srgbClr val="000000"/>
              </a:solidFill>
              <a:latin typeface="Arial"/>
              <a:ea typeface="Arial"/>
              <a:cs typeface="Arial"/>
              <a:sym typeface="Arial"/>
            </a:endParaRPr>
          </a:p>
          <a:p>
            <a:pPr indent="0" lvl="0" marL="0" marR="0" rtl="0" algn="l">
              <a:lnSpc>
                <a:spcPct val="114548"/>
              </a:lnSpc>
              <a:spcBef>
                <a:spcPts val="0"/>
              </a:spcBef>
              <a:spcAft>
                <a:spcPts val="0"/>
              </a:spcAft>
              <a:buClr>
                <a:srgbClr val="000000"/>
              </a:buClr>
              <a:buSzPts val="1684"/>
              <a:buFont typeface="Arial"/>
              <a:buNone/>
            </a:pPr>
            <a:r>
              <a:t/>
            </a:r>
            <a:endParaRPr b="1" i="0" sz="1684" u="none" cap="none" strike="noStrike">
              <a:solidFill>
                <a:srgbClr val="FFFFFF"/>
              </a:solidFill>
              <a:latin typeface="Montserrat"/>
              <a:ea typeface="Montserrat"/>
              <a:cs typeface="Montserrat"/>
              <a:sym typeface="Montserrat"/>
            </a:endParaRPr>
          </a:p>
          <a:p>
            <a:pPr indent="0" lvl="0" marL="0" marR="0" rtl="0" algn="l">
              <a:lnSpc>
                <a:spcPct val="129985"/>
              </a:lnSpc>
              <a:spcBef>
                <a:spcPts val="0"/>
              </a:spcBef>
              <a:spcAft>
                <a:spcPts val="0"/>
              </a:spcAft>
              <a:buClr>
                <a:srgbClr val="000000"/>
              </a:buClr>
              <a:buSzPts val="1484"/>
              <a:buFont typeface="Arial"/>
              <a:buNone/>
            </a:pPr>
            <a:r>
              <a:rPr b="0" i="0" lang="en-US" sz="1484" u="none" cap="none" strike="noStrike">
                <a:solidFill>
                  <a:srgbClr val="FFFFFF"/>
                </a:solidFill>
                <a:latin typeface="Montserrat"/>
                <a:ea typeface="Montserrat"/>
                <a:cs typeface="Montserrat"/>
                <a:sym typeface="Montserrat"/>
              </a:rPr>
              <a:t>Se gestiona a través de un archivo </a:t>
            </a:r>
            <a:r>
              <a:rPr b="0" i="0" lang="en-US" sz="1484" u="none" cap="none" strike="noStrike">
                <a:solidFill>
                  <a:srgbClr val="ACFDDB"/>
                </a:solidFill>
                <a:latin typeface="Montserrat"/>
                <a:ea typeface="Montserrat"/>
                <a:cs typeface="Montserrat"/>
                <a:sym typeface="Montserrat"/>
              </a:rPr>
              <a:t>.config</a:t>
            </a:r>
            <a:r>
              <a:rPr b="0" i="0" lang="en-US" sz="1484" u="none" cap="none" strike="noStrike">
                <a:solidFill>
                  <a:srgbClr val="FFFFFF"/>
                </a:solidFill>
                <a:latin typeface="Montserrat"/>
                <a:ea typeface="Montserrat"/>
                <a:cs typeface="Montserrat"/>
                <a:sym typeface="Montserrat"/>
              </a:rPr>
              <a:t>. Para facilitar este proceso, se puede utilizar el comando </a:t>
            </a:r>
            <a:r>
              <a:rPr b="0" i="0" lang="en-US" sz="1484" u="none" cap="none" strike="noStrike">
                <a:solidFill>
                  <a:srgbClr val="ACFDDB"/>
                </a:solidFill>
                <a:latin typeface="Montserrat"/>
                <a:ea typeface="Montserrat"/>
                <a:cs typeface="Montserrat"/>
                <a:sym typeface="Montserrat"/>
              </a:rPr>
              <a:t>localmodconfig</a:t>
            </a:r>
            <a:r>
              <a:rPr b="0" i="0" lang="en-US" sz="1484" u="none" cap="none" strike="noStrike">
                <a:solidFill>
                  <a:srgbClr val="FFFFFF"/>
                </a:solidFill>
                <a:latin typeface="Montserrat"/>
                <a:ea typeface="Montserrat"/>
                <a:cs typeface="Montserrat"/>
                <a:sym typeface="Montserrat"/>
              </a:rPr>
              <a:t>, que ajusta automáticamente el archivo para incluir solo los módulos del kernel actualmente cargados en el sistema. Sin embargo, es importante destacar que esta configuración hará que el kernel compilado sea específico para la máquina utilizada.</a:t>
            </a:r>
            <a:endParaRPr b="0" i="0" sz="1400" u="none" cap="none" strike="noStrike">
              <a:solidFill>
                <a:srgbClr val="000000"/>
              </a:solidFill>
              <a:latin typeface="Arial"/>
              <a:ea typeface="Arial"/>
              <a:cs typeface="Arial"/>
              <a:sym typeface="Arial"/>
            </a:endParaRPr>
          </a:p>
          <a:p>
            <a:pPr indent="0" lvl="0" marL="0" marR="0" rtl="0" algn="l">
              <a:lnSpc>
                <a:spcPct val="129985"/>
              </a:lnSpc>
              <a:spcBef>
                <a:spcPts val="0"/>
              </a:spcBef>
              <a:spcAft>
                <a:spcPts val="0"/>
              </a:spcAft>
              <a:buClr>
                <a:srgbClr val="000000"/>
              </a:buClr>
              <a:buSzPts val="1484"/>
              <a:buFont typeface="Arial"/>
              <a:buNone/>
            </a:pPr>
            <a:r>
              <a:t/>
            </a:r>
            <a:endParaRPr b="0" i="0" sz="1484" u="none" cap="none" strike="noStrike">
              <a:solidFill>
                <a:srgbClr val="FFFFFF"/>
              </a:solidFill>
              <a:latin typeface="Montserrat"/>
              <a:ea typeface="Montserrat"/>
              <a:cs typeface="Montserrat"/>
              <a:sym typeface="Montserrat"/>
            </a:endParaRPr>
          </a:p>
          <a:p>
            <a:pPr indent="0" lvl="0" marL="0" marR="0" rtl="0" algn="l">
              <a:lnSpc>
                <a:spcPct val="129985"/>
              </a:lnSpc>
              <a:spcBef>
                <a:spcPts val="0"/>
              </a:spcBef>
              <a:spcAft>
                <a:spcPts val="0"/>
              </a:spcAft>
              <a:buClr>
                <a:srgbClr val="000000"/>
              </a:buClr>
              <a:buSzPts val="1484"/>
              <a:buFont typeface="Arial"/>
              <a:buNone/>
            </a:pPr>
            <a:r>
              <a:rPr b="1" i="0" lang="en-US" sz="1484" u="none" cap="none" strike="noStrike">
                <a:solidFill>
                  <a:srgbClr val="FFFFFF"/>
                </a:solidFill>
                <a:latin typeface="Montserrat"/>
                <a:ea typeface="Montserrat"/>
                <a:cs typeface="Montserrat"/>
                <a:sym typeface="Montserrat"/>
              </a:rPr>
              <a:t>Compilar el Kernel:</a:t>
            </a:r>
            <a:endParaRPr b="0" i="0" sz="1400" u="none" cap="none" strike="noStrike">
              <a:solidFill>
                <a:srgbClr val="000000"/>
              </a:solidFill>
              <a:latin typeface="Arial"/>
              <a:ea typeface="Arial"/>
              <a:cs typeface="Arial"/>
              <a:sym typeface="Arial"/>
            </a:endParaRPr>
          </a:p>
          <a:p>
            <a:pPr indent="0" lvl="0" marL="0" marR="0" rtl="0" algn="l">
              <a:lnSpc>
                <a:spcPct val="129985"/>
              </a:lnSpc>
              <a:spcBef>
                <a:spcPts val="0"/>
              </a:spcBef>
              <a:spcAft>
                <a:spcPts val="0"/>
              </a:spcAft>
              <a:buClr>
                <a:srgbClr val="000000"/>
              </a:buClr>
              <a:buSzPts val="1484"/>
              <a:buFont typeface="Arial"/>
              <a:buNone/>
            </a:pPr>
            <a:r>
              <a:t/>
            </a:r>
            <a:endParaRPr b="1" i="0" sz="1484" u="none" cap="none" strike="noStrike">
              <a:solidFill>
                <a:srgbClr val="FFFFFF"/>
              </a:solidFill>
              <a:latin typeface="Montserrat"/>
              <a:ea typeface="Montserrat"/>
              <a:cs typeface="Montserrat"/>
              <a:sym typeface="Montserrat"/>
            </a:endParaRPr>
          </a:p>
          <a:p>
            <a:pPr indent="0" lvl="0" marL="0" marR="0" rtl="0" algn="l">
              <a:lnSpc>
                <a:spcPct val="129985"/>
              </a:lnSpc>
              <a:spcBef>
                <a:spcPts val="0"/>
              </a:spcBef>
              <a:spcAft>
                <a:spcPts val="0"/>
              </a:spcAft>
              <a:buClr>
                <a:srgbClr val="000000"/>
              </a:buClr>
              <a:buSzPts val="1484"/>
              <a:buFont typeface="Arial"/>
              <a:buNone/>
            </a:pPr>
            <a:r>
              <a:rPr b="0" i="0" lang="en-US" sz="1484" u="none" cap="none" strike="noStrike">
                <a:solidFill>
                  <a:srgbClr val="FFFFFF"/>
                </a:solidFill>
                <a:latin typeface="Montserrat"/>
                <a:ea typeface="Montserrat"/>
                <a:cs typeface="Montserrat"/>
                <a:sym typeface="Montserrat"/>
              </a:rPr>
              <a:t>Usar el comando:</a:t>
            </a:r>
            <a:endParaRPr b="0" i="0" sz="1400" u="none" cap="none" strike="noStrike">
              <a:solidFill>
                <a:srgbClr val="000000"/>
              </a:solidFill>
              <a:latin typeface="Arial"/>
              <a:ea typeface="Arial"/>
              <a:cs typeface="Arial"/>
              <a:sym typeface="Arial"/>
            </a:endParaRPr>
          </a:p>
          <a:p>
            <a:pPr indent="0" lvl="0" marL="0" marR="0" rtl="0" algn="l">
              <a:lnSpc>
                <a:spcPct val="129985"/>
              </a:lnSpc>
              <a:spcBef>
                <a:spcPts val="0"/>
              </a:spcBef>
              <a:spcAft>
                <a:spcPts val="0"/>
              </a:spcAft>
              <a:buClr>
                <a:srgbClr val="000000"/>
              </a:buClr>
              <a:buSzPts val="1484"/>
              <a:buFont typeface="Arial"/>
              <a:buNone/>
            </a:pPr>
            <a:r>
              <a:rPr b="0" i="0" lang="en-US" sz="1484" u="none" cap="none" strike="noStrike">
                <a:solidFill>
                  <a:srgbClr val="FFFFFF"/>
                </a:solidFill>
                <a:latin typeface="Montserrat"/>
                <a:ea typeface="Montserrat"/>
                <a:cs typeface="Montserrat"/>
                <a:sym typeface="Montserrat"/>
              </a:rPr>
              <a:t>$ fakeroot make</a:t>
            </a:r>
            <a:endParaRPr b="0" i="0" sz="1400" u="none" cap="none" strike="noStrike">
              <a:solidFill>
                <a:srgbClr val="000000"/>
              </a:solidFill>
              <a:latin typeface="Arial"/>
              <a:ea typeface="Arial"/>
              <a:cs typeface="Arial"/>
              <a:sym typeface="Arial"/>
            </a:endParaRPr>
          </a:p>
          <a:p>
            <a:pPr indent="0" lvl="0" marL="0" marR="0" rtl="0" algn="l">
              <a:lnSpc>
                <a:spcPct val="129985"/>
              </a:lnSpc>
              <a:spcBef>
                <a:spcPts val="0"/>
              </a:spcBef>
              <a:spcAft>
                <a:spcPts val="0"/>
              </a:spcAft>
              <a:buClr>
                <a:srgbClr val="000000"/>
              </a:buClr>
              <a:buSzPts val="1484"/>
              <a:buFont typeface="Arial"/>
              <a:buNone/>
            </a:pPr>
            <a:r>
              <a:t/>
            </a:r>
            <a:endParaRPr b="0" i="0" sz="1484" u="none" cap="none" strike="noStrike">
              <a:solidFill>
                <a:srgbClr val="FFFFFF"/>
              </a:solidFill>
              <a:latin typeface="Montserrat"/>
              <a:ea typeface="Montserrat"/>
              <a:cs typeface="Montserrat"/>
              <a:sym typeface="Montserrat"/>
            </a:endParaRPr>
          </a:p>
          <a:p>
            <a:pPr indent="0" lvl="0" marL="0" marR="0" rtl="0" algn="l">
              <a:lnSpc>
                <a:spcPct val="129985"/>
              </a:lnSpc>
              <a:spcBef>
                <a:spcPts val="0"/>
              </a:spcBef>
              <a:spcAft>
                <a:spcPts val="0"/>
              </a:spcAft>
              <a:buClr>
                <a:srgbClr val="000000"/>
              </a:buClr>
              <a:buSzPts val="1484"/>
              <a:buFont typeface="Arial"/>
              <a:buNone/>
            </a:pPr>
            <a:r>
              <a:rPr b="1" i="0" lang="en-US" sz="1484" u="none" cap="none" strike="noStrike">
                <a:solidFill>
                  <a:srgbClr val="ACFDDB"/>
                </a:solidFill>
                <a:latin typeface="Montserrat"/>
                <a:ea typeface="Montserrat"/>
                <a:cs typeface="Montserrat"/>
                <a:sym typeface="Montserrat"/>
              </a:rPr>
              <a:t>fakeroot </a:t>
            </a:r>
            <a:r>
              <a:rPr b="0" i="0" lang="en-US" sz="1484" u="none" cap="none" strike="noStrike">
                <a:solidFill>
                  <a:srgbClr val="FFFFFF"/>
                </a:solidFill>
                <a:latin typeface="Montserrat"/>
                <a:ea typeface="Montserrat"/>
                <a:cs typeface="Montserrat"/>
                <a:sym typeface="Montserrat"/>
              </a:rPr>
              <a:t>es una herramienta esencial que permite ejecutar comandos en un entorno simulado con permisos de superusuario, sin necesidad de tener realmente dichos permisos. Esto es particularmente útil al usar make, ya que facilita la creación de archivos con las propiedades y permisos de superusuario, simplificando así el proceso de construcción y empaquetado de software.</a:t>
            </a:r>
            <a:endParaRPr b="0" i="0" sz="1400" u="none" cap="none" strike="noStrike">
              <a:solidFill>
                <a:srgbClr val="000000"/>
              </a:solidFill>
              <a:latin typeface="Arial"/>
              <a:ea typeface="Arial"/>
              <a:cs typeface="Arial"/>
              <a:sym typeface="Arial"/>
            </a:endParaRPr>
          </a:p>
          <a:p>
            <a:pPr indent="0" lvl="0" marL="0" marR="0" rtl="0" algn="l">
              <a:lnSpc>
                <a:spcPct val="129985"/>
              </a:lnSpc>
              <a:spcBef>
                <a:spcPts val="0"/>
              </a:spcBef>
              <a:spcAft>
                <a:spcPts val="0"/>
              </a:spcAft>
              <a:buClr>
                <a:srgbClr val="000000"/>
              </a:buClr>
              <a:buSzPts val="1484"/>
              <a:buFont typeface="Arial"/>
              <a:buNone/>
            </a:pPr>
            <a:r>
              <a:t/>
            </a:r>
            <a:endParaRPr b="0" i="0" sz="1484" u="none" cap="none" strike="noStrike">
              <a:solidFill>
                <a:srgbClr val="FFFFFF"/>
              </a:solidFill>
              <a:latin typeface="Montserrat"/>
              <a:ea typeface="Montserrat"/>
              <a:cs typeface="Montserrat"/>
              <a:sym typeface="Montserrat"/>
            </a:endParaRPr>
          </a:p>
          <a:p>
            <a:pPr indent="0" lvl="0" marL="0" marR="0" rtl="0" algn="l">
              <a:lnSpc>
                <a:spcPct val="129985"/>
              </a:lnSpc>
              <a:spcBef>
                <a:spcPts val="0"/>
              </a:spcBef>
              <a:spcAft>
                <a:spcPts val="0"/>
              </a:spcAft>
              <a:buClr>
                <a:srgbClr val="000000"/>
              </a:buClr>
              <a:buSzPts val="1484"/>
              <a:buFont typeface="Arial"/>
              <a:buNone/>
            </a:pPr>
            <a:r>
              <a:rPr b="1" i="0" lang="en-US" sz="1484" u="none" cap="none" strike="noStrike">
                <a:solidFill>
                  <a:srgbClr val="FFFFFF"/>
                </a:solidFill>
                <a:latin typeface="Montserrat"/>
                <a:ea typeface="Montserrat"/>
                <a:cs typeface="Montserrat"/>
                <a:sym typeface="Montserrat"/>
              </a:rPr>
              <a:t>Instalar el Kernel:</a:t>
            </a:r>
            <a:endParaRPr b="0" i="0" sz="1400" u="none" cap="none" strike="noStrike">
              <a:solidFill>
                <a:srgbClr val="000000"/>
              </a:solidFill>
              <a:latin typeface="Arial"/>
              <a:ea typeface="Arial"/>
              <a:cs typeface="Arial"/>
              <a:sym typeface="Arial"/>
            </a:endParaRPr>
          </a:p>
          <a:p>
            <a:pPr indent="0" lvl="0" marL="0" marR="0" rtl="0" algn="l">
              <a:lnSpc>
                <a:spcPct val="129985"/>
              </a:lnSpc>
              <a:spcBef>
                <a:spcPts val="0"/>
              </a:spcBef>
              <a:spcAft>
                <a:spcPts val="0"/>
              </a:spcAft>
              <a:buClr>
                <a:srgbClr val="000000"/>
              </a:buClr>
              <a:buSzPts val="1484"/>
              <a:buFont typeface="Arial"/>
              <a:buNone/>
            </a:pPr>
            <a:r>
              <a:t/>
            </a:r>
            <a:endParaRPr b="1" i="0" sz="1484" u="none" cap="none" strike="noStrike">
              <a:solidFill>
                <a:srgbClr val="FFFFFF"/>
              </a:solidFill>
              <a:latin typeface="Montserrat"/>
              <a:ea typeface="Montserrat"/>
              <a:cs typeface="Montserrat"/>
              <a:sym typeface="Montserrat"/>
            </a:endParaRPr>
          </a:p>
          <a:p>
            <a:pPr indent="0" lvl="0" marL="0" marR="0" rtl="0" algn="l">
              <a:lnSpc>
                <a:spcPct val="129985"/>
              </a:lnSpc>
              <a:spcBef>
                <a:spcPts val="0"/>
              </a:spcBef>
              <a:spcAft>
                <a:spcPts val="0"/>
              </a:spcAft>
              <a:buClr>
                <a:srgbClr val="000000"/>
              </a:buClr>
              <a:buSzPts val="1484"/>
              <a:buFont typeface="Arial"/>
              <a:buNone/>
            </a:pPr>
            <a:r>
              <a:rPr b="0" i="0" lang="en-US" sz="1484" u="none" cap="none" strike="noStrike">
                <a:solidFill>
                  <a:srgbClr val="FFFFFF"/>
                </a:solidFill>
                <a:latin typeface="Montserrat"/>
                <a:ea typeface="Montserrat"/>
                <a:cs typeface="Montserrat"/>
                <a:sym typeface="Montserrat"/>
              </a:rPr>
              <a:t>Primero se </a:t>
            </a:r>
            <a:r>
              <a:rPr b="0" i="0" lang="en-US" sz="1484" u="none" cap="none" strike="noStrike">
                <a:solidFill>
                  <a:srgbClr val="ACFDDB"/>
                </a:solidFill>
                <a:latin typeface="Montserrat"/>
                <a:ea typeface="Montserrat"/>
                <a:cs typeface="Montserrat"/>
                <a:sym typeface="Montserrat"/>
              </a:rPr>
              <a:t>instalan los módulos</a:t>
            </a:r>
            <a:r>
              <a:rPr b="0" i="0" lang="en-US" sz="1484" u="none" cap="none" strike="noStrike">
                <a:solidFill>
                  <a:srgbClr val="FFFFFF"/>
                </a:solidFill>
                <a:latin typeface="Montserrat"/>
                <a:ea typeface="Montserrat"/>
                <a:cs typeface="Montserrat"/>
                <a:sym typeface="Montserrat"/>
              </a:rPr>
              <a:t> del kernel ejecutando:</a:t>
            </a:r>
            <a:endParaRPr b="0" i="0" sz="1400" u="none" cap="none" strike="noStrike">
              <a:solidFill>
                <a:srgbClr val="000000"/>
              </a:solidFill>
              <a:latin typeface="Arial"/>
              <a:ea typeface="Arial"/>
              <a:cs typeface="Arial"/>
              <a:sym typeface="Arial"/>
            </a:endParaRPr>
          </a:p>
          <a:p>
            <a:pPr indent="0" lvl="0" marL="0" marR="0" rtl="0" algn="l">
              <a:lnSpc>
                <a:spcPct val="129985"/>
              </a:lnSpc>
              <a:spcBef>
                <a:spcPts val="0"/>
              </a:spcBef>
              <a:spcAft>
                <a:spcPts val="0"/>
              </a:spcAft>
              <a:buClr>
                <a:srgbClr val="000000"/>
              </a:buClr>
              <a:buSzPts val="1484"/>
              <a:buFont typeface="Arial"/>
              <a:buNone/>
            </a:pPr>
            <a:r>
              <a:rPr b="0" i="0" lang="en-US" sz="1484" u="none" cap="none" strike="noStrike">
                <a:solidFill>
                  <a:srgbClr val="FFFFFF"/>
                </a:solidFill>
                <a:latin typeface="Montserrat"/>
                <a:ea typeface="Montserrat"/>
                <a:cs typeface="Montserrat"/>
                <a:sym typeface="Montserrat"/>
              </a:rPr>
              <a:t>$ sudo make modules_install</a:t>
            </a:r>
            <a:endParaRPr b="0" i="0" sz="1400" u="none" cap="none" strike="noStrike">
              <a:solidFill>
                <a:srgbClr val="000000"/>
              </a:solidFill>
              <a:latin typeface="Arial"/>
              <a:ea typeface="Arial"/>
              <a:cs typeface="Arial"/>
              <a:sym typeface="Arial"/>
            </a:endParaRPr>
          </a:p>
          <a:p>
            <a:pPr indent="0" lvl="0" marL="0" marR="0" rtl="0" algn="l">
              <a:lnSpc>
                <a:spcPct val="129985"/>
              </a:lnSpc>
              <a:spcBef>
                <a:spcPts val="0"/>
              </a:spcBef>
              <a:spcAft>
                <a:spcPts val="0"/>
              </a:spcAft>
              <a:buClr>
                <a:srgbClr val="000000"/>
              </a:buClr>
              <a:buSzPts val="1484"/>
              <a:buFont typeface="Arial"/>
              <a:buNone/>
            </a:pPr>
            <a:r>
              <a:t/>
            </a:r>
            <a:endParaRPr b="0" i="0" sz="1484" u="none" cap="none" strike="noStrike">
              <a:solidFill>
                <a:srgbClr val="FFFFFF"/>
              </a:solidFill>
              <a:latin typeface="Montserrat"/>
              <a:ea typeface="Montserrat"/>
              <a:cs typeface="Montserrat"/>
              <a:sym typeface="Montserrat"/>
            </a:endParaRPr>
          </a:p>
          <a:p>
            <a:pPr indent="0" lvl="0" marL="0" marR="0" rtl="0" algn="l">
              <a:lnSpc>
                <a:spcPct val="129985"/>
              </a:lnSpc>
              <a:spcBef>
                <a:spcPts val="0"/>
              </a:spcBef>
              <a:spcAft>
                <a:spcPts val="0"/>
              </a:spcAft>
              <a:buClr>
                <a:srgbClr val="000000"/>
              </a:buClr>
              <a:buSzPts val="1484"/>
              <a:buFont typeface="Arial"/>
              <a:buNone/>
            </a:pPr>
            <a:r>
              <a:rPr b="0" i="0" lang="en-US" sz="1484" u="none" cap="none" strike="noStrike">
                <a:solidFill>
                  <a:srgbClr val="FFFFFF"/>
                </a:solidFill>
                <a:latin typeface="Montserrat"/>
                <a:ea typeface="Montserrat"/>
                <a:cs typeface="Montserrat"/>
                <a:sym typeface="Montserrat"/>
              </a:rPr>
              <a:t>Luego instalamos el kernel:</a:t>
            </a:r>
            <a:endParaRPr b="0" i="0" sz="1400" u="none" cap="none" strike="noStrike">
              <a:solidFill>
                <a:srgbClr val="000000"/>
              </a:solidFill>
              <a:latin typeface="Arial"/>
              <a:ea typeface="Arial"/>
              <a:cs typeface="Arial"/>
              <a:sym typeface="Arial"/>
            </a:endParaRPr>
          </a:p>
          <a:p>
            <a:pPr indent="0" lvl="0" marL="0" marR="0" rtl="0" algn="l">
              <a:lnSpc>
                <a:spcPct val="129985"/>
              </a:lnSpc>
              <a:spcBef>
                <a:spcPts val="0"/>
              </a:spcBef>
              <a:spcAft>
                <a:spcPts val="0"/>
              </a:spcAft>
              <a:buClr>
                <a:srgbClr val="000000"/>
              </a:buClr>
              <a:buSzPts val="1484"/>
              <a:buFont typeface="Arial"/>
              <a:buNone/>
            </a:pPr>
            <a:r>
              <a:rPr b="0" i="0" lang="en-US" sz="1484" u="none" cap="none" strike="noStrike">
                <a:solidFill>
                  <a:srgbClr val="FFFFFF"/>
                </a:solidFill>
                <a:latin typeface="Montserrat"/>
                <a:ea typeface="Montserrat"/>
                <a:cs typeface="Montserrat"/>
                <a:sym typeface="Montserrat"/>
              </a:rPr>
              <a:t>$ sudo make install</a:t>
            </a:r>
            <a:endParaRPr b="0" i="0" sz="1400" u="none" cap="none" strike="noStrike">
              <a:solidFill>
                <a:srgbClr val="000000"/>
              </a:solidFill>
              <a:latin typeface="Arial"/>
              <a:ea typeface="Arial"/>
              <a:cs typeface="Arial"/>
              <a:sym typeface="Arial"/>
            </a:endParaRPr>
          </a:p>
          <a:p>
            <a:pPr indent="0" lvl="0" marL="0" marR="0" rtl="0" algn="l">
              <a:lnSpc>
                <a:spcPct val="129985"/>
              </a:lnSpc>
              <a:spcBef>
                <a:spcPts val="0"/>
              </a:spcBef>
              <a:spcAft>
                <a:spcPts val="0"/>
              </a:spcAft>
              <a:buClr>
                <a:srgbClr val="000000"/>
              </a:buClr>
              <a:buSzPts val="1484"/>
              <a:buFont typeface="Arial"/>
              <a:buNone/>
            </a:pPr>
            <a:r>
              <a:t/>
            </a:r>
            <a:endParaRPr b="0" i="0" sz="1484" u="none" cap="none" strike="noStrike">
              <a:solidFill>
                <a:srgbClr val="FFFFFF"/>
              </a:solidFill>
              <a:latin typeface="Montserrat"/>
              <a:ea typeface="Montserrat"/>
              <a:cs typeface="Montserrat"/>
              <a:sym typeface="Montserrat"/>
            </a:endParaRPr>
          </a:p>
          <a:p>
            <a:pPr indent="0" lvl="0" marL="0" marR="0" rtl="0" algn="l">
              <a:lnSpc>
                <a:spcPct val="129985"/>
              </a:lnSpc>
              <a:spcBef>
                <a:spcPts val="0"/>
              </a:spcBef>
              <a:spcAft>
                <a:spcPts val="0"/>
              </a:spcAft>
              <a:buClr>
                <a:srgbClr val="000000"/>
              </a:buClr>
              <a:buSzPts val="1484"/>
              <a:buFont typeface="Arial"/>
              <a:buNone/>
            </a:pPr>
            <a:r>
              <a:rPr b="0" i="0" lang="en-US" sz="1484" u="none" cap="none" strike="noStrike">
                <a:solidFill>
                  <a:srgbClr val="FFFFFF"/>
                </a:solidFill>
                <a:latin typeface="Montserrat"/>
                <a:ea typeface="Montserrat"/>
                <a:cs typeface="Montserrat"/>
                <a:sym typeface="Montserrat"/>
              </a:rPr>
              <a:t>Después de eso, reiniciamos la computadora para que se </a:t>
            </a:r>
            <a:r>
              <a:rPr b="0" i="0" lang="en-US" sz="1484" u="none" cap="none" strike="noStrike">
                <a:solidFill>
                  <a:srgbClr val="ACFDDB"/>
                </a:solidFill>
                <a:latin typeface="Montserrat"/>
                <a:ea typeface="Montserrat"/>
                <a:cs typeface="Montserrat"/>
                <a:sym typeface="Montserrat"/>
              </a:rPr>
              <a:t>complete </a:t>
            </a:r>
            <a:r>
              <a:rPr b="0" i="0" lang="en-US" sz="1484" u="none" cap="none" strike="noStrike">
                <a:solidFill>
                  <a:srgbClr val="FFFFFF"/>
                </a:solidFill>
                <a:latin typeface="Montserrat"/>
                <a:ea typeface="Montserrat"/>
                <a:cs typeface="Montserrat"/>
                <a:sym typeface="Montserrat"/>
              </a:rPr>
              <a:t>la instalación.</a:t>
            </a:r>
            <a:endParaRPr b="0" i="0" sz="1400" u="none" cap="none" strike="noStrike">
              <a:solidFill>
                <a:srgbClr val="000000"/>
              </a:solidFill>
              <a:latin typeface="Arial"/>
              <a:ea typeface="Arial"/>
              <a:cs typeface="Arial"/>
              <a:sym typeface="Arial"/>
            </a:endParaRPr>
          </a:p>
          <a:p>
            <a:pPr indent="0" lvl="0" marL="0" marR="0" rtl="0" algn="l">
              <a:lnSpc>
                <a:spcPct val="129985"/>
              </a:lnSpc>
              <a:spcBef>
                <a:spcPts val="0"/>
              </a:spcBef>
              <a:spcAft>
                <a:spcPts val="0"/>
              </a:spcAft>
              <a:buClr>
                <a:srgbClr val="000000"/>
              </a:buClr>
              <a:buSzPts val="1484"/>
              <a:buFont typeface="Arial"/>
              <a:buNone/>
            </a:pPr>
            <a:r>
              <a:t/>
            </a:r>
            <a:endParaRPr b="0" i="0" sz="1484" u="none" cap="none" strike="noStrike">
              <a:solidFill>
                <a:srgbClr val="FFFFFF"/>
              </a:solidFill>
              <a:latin typeface="Montserrat"/>
              <a:ea typeface="Montserrat"/>
              <a:cs typeface="Montserrat"/>
              <a:sym typeface="Montserrat"/>
            </a:endParaRPr>
          </a:p>
          <a:p>
            <a:pPr indent="0" lvl="0" marL="0" marR="0" rtl="0" algn="l">
              <a:lnSpc>
                <a:spcPct val="129985"/>
              </a:lnSpc>
              <a:spcBef>
                <a:spcPts val="0"/>
              </a:spcBef>
              <a:spcAft>
                <a:spcPts val="0"/>
              </a:spcAft>
              <a:buClr>
                <a:srgbClr val="000000"/>
              </a:buClr>
              <a:buSzPts val="1484"/>
              <a:buFont typeface="Arial"/>
              <a:buNone/>
            </a:pPr>
            <a:r>
              <a:t/>
            </a:r>
            <a:endParaRPr b="0" i="0" sz="1484" u="none" cap="none" strike="noStrike">
              <a:solidFill>
                <a:srgbClr val="FFFFFF"/>
              </a:solidFill>
              <a:latin typeface="Montserrat"/>
              <a:ea typeface="Montserrat"/>
              <a:cs typeface="Montserrat"/>
              <a:sym typeface="Montserrat"/>
            </a:endParaRPr>
          </a:p>
          <a:p>
            <a:pPr indent="0" lvl="0" marL="0" marR="0" rtl="0" algn="l">
              <a:lnSpc>
                <a:spcPct val="94946"/>
              </a:lnSpc>
              <a:spcBef>
                <a:spcPts val="0"/>
              </a:spcBef>
              <a:spcAft>
                <a:spcPts val="0"/>
              </a:spcAft>
              <a:buClr>
                <a:srgbClr val="000000"/>
              </a:buClr>
              <a:buSzPts val="1484"/>
              <a:buFont typeface="Arial"/>
              <a:buNone/>
            </a:pPr>
            <a:r>
              <a:t/>
            </a:r>
            <a:endParaRPr b="0" i="0" sz="1484" u="none" cap="none" strike="noStrike">
              <a:solidFill>
                <a:srgbClr val="FFFFFF"/>
              </a:solidFill>
              <a:latin typeface="Montserrat"/>
              <a:ea typeface="Montserrat"/>
              <a:cs typeface="Montserrat"/>
              <a:sym typeface="Montserrat"/>
            </a:endParaRPr>
          </a:p>
        </p:txBody>
      </p:sp>
      <p:sp>
        <p:nvSpPr>
          <p:cNvPr id="463" name="Google Shape;463;p11"/>
          <p:cNvSpPr txBox="1"/>
          <p:nvPr/>
        </p:nvSpPr>
        <p:spPr>
          <a:xfrm>
            <a:off x="9582625" y="2133371"/>
            <a:ext cx="8090100" cy="6198900"/>
          </a:xfrm>
          <a:prstGeom prst="rect">
            <a:avLst/>
          </a:prstGeom>
          <a:noFill/>
          <a:ln>
            <a:noFill/>
          </a:ln>
        </p:spPr>
        <p:txBody>
          <a:bodyPr anchorCtr="0" anchor="t" bIns="0" lIns="0" spcFirstLastPara="1" rIns="0" wrap="square" tIns="0">
            <a:spAutoFit/>
          </a:bodyPr>
          <a:lstStyle/>
          <a:p>
            <a:pPr indent="0" lvl="0" marL="0" marR="0" rtl="0" algn="l">
              <a:lnSpc>
                <a:spcPct val="139969"/>
              </a:lnSpc>
              <a:spcBef>
                <a:spcPts val="0"/>
              </a:spcBef>
              <a:spcAft>
                <a:spcPts val="0"/>
              </a:spcAft>
              <a:buClr>
                <a:srgbClr val="000000"/>
              </a:buClr>
              <a:buSzPts val="1944"/>
              <a:buFont typeface="Arial"/>
              <a:buNone/>
            </a:pPr>
            <a:r>
              <a:rPr b="0" i="0" lang="en-US" sz="1944" u="none" cap="none" strike="noStrike">
                <a:solidFill>
                  <a:srgbClr val="FFFFFF"/>
                </a:solidFill>
                <a:latin typeface="Consolas"/>
                <a:ea typeface="Consolas"/>
                <a:cs typeface="Consolas"/>
                <a:sym typeface="Consolas"/>
              </a:rPr>
              <a:t>&gt; Configurar el kernel</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rPr b="1" i="0" lang="en-US" sz="1944" u="none" cap="none" strike="noStrike">
                <a:solidFill>
                  <a:srgbClr val="FFFFFF"/>
                </a:solidFill>
                <a:latin typeface="Consolas"/>
                <a:ea typeface="Consolas"/>
                <a:cs typeface="Consolas"/>
                <a:sym typeface="Consolas"/>
              </a:rPr>
              <a:t>$ </a:t>
            </a:r>
            <a:r>
              <a:rPr b="1" i="1" lang="en-US" sz="1944" u="none" cap="none" strike="noStrike">
                <a:solidFill>
                  <a:srgbClr val="FFFFFF"/>
                </a:solidFill>
                <a:latin typeface="Consolas"/>
                <a:ea typeface="Consolas"/>
                <a:cs typeface="Consolas"/>
                <a:sym typeface="Consolas"/>
              </a:rPr>
              <a:t>make localmodconfig</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t/>
            </a:r>
            <a:endParaRPr b="1" i="1" sz="1944" u="none" cap="none" strike="noStrike">
              <a:solidFill>
                <a:srgbClr val="FFFFFF"/>
              </a:solidFill>
              <a:latin typeface="Consolas"/>
              <a:ea typeface="Consolas"/>
              <a:cs typeface="Consolas"/>
              <a:sym typeface="Consolas"/>
            </a:endParaRPr>
          </a:p>
          <a:p>
            <a:pPr indent="0" lvl="0" marL="0" marR="0" rtl="0" algn="l">
              <a:lnSpc>
                <a:spcPct val="139969"/>
              </a:lnSpc>
              <a:spcBef>
                <a:spcPts val="0"/>
              </a:spcBef>
              <a:spcAft>
                <a:spcPts val="0"/>
              </a:spcAft>
              <a:buClr>
                <a:srgbClr val="000000"/>
              </a:buClr>
              <a:buSzPts val="1944"/>
              <a:buFont typeface="Arial"/>
              <a:buNone/>
            </a:pPr>
            <a:r>
              <a:rPr b="1" i="0" lang="en-US" sz="1944" u="none" cap="none" strike="noStrike">
                <a:solidFill>
                  <a:srgbClr val="FFFFFF"/>
                </a:solidFill>
                <a:latin typeface="Consolas"/>
                <a:ea typeface="Consolas"/>
                <a:cs typeface="Consolas"/>
                <a:sym typeface="Consolas"/>
              </a:rPr>
              <a:t>&gt; </a:t>
            </a:r>
            <a:r>
              <a:rPr b="0" i="0" lang="en-US" sz="1944" u="none" cap="none" strike="noStrike">
                <a:solidFill>
                  <a:srgbClr val="FFFFFF"/>
                </a:solidFill>
                <a:latin typeface="Consolas"/>
                <a:ea typeface="Consolas"/>
                <a:cs typeface="Consolas"/>
                <a:sym typeface="Consolas"/>
              </a:rPr>
              <a:t>Deshabilitar llaves privadas</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rPr b="1" i="0" lang="en-US" sz="1944" u="none" cap="none" strike="noStrike">
                <a:solidFill>
                  <a:srgbClr val="FFFFFF"/>
                </a:solidFill>
                <a:latin typeface="Consolas"/>
                <a:ea typeface="Consolas"/>
                <a:cs typeface="Consolas"/>
                <a:sym typeface="Consolas"/>
              </a:rPr>
              <a:t>$ </a:t>
            </a:r>
            <a:r>
              <a:rPr b="1" i="1" lang="en-US" sz="1944" u="none" cap="none" strike="noStrike">
                <a:solidFill>
                  <a:srgbClr val="FFFFFF"/>
                </a:solidFill>
                <a:latin typeface="Consolas"/>
                <a:ea typeface="Consolas"/>
                <a:cs typeface="Consolas"/>
                <a:sym typeface="Consolas"/>
              </a:rPr>
              <a:t>scripts/config --disable SYSTEM_TRUSTED_KEYS</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rPr b="1" i="0" lang="en-US" sz="1944" u="none" cap="none" strike="noStrike">
                <a:solidFill>
                  <a:srgbClr val="FFFFFF"/>
                </a:solidFill>
                <a:latin typeface="Consolas"/>
                <a:ea typeface="Consolas"/>
                <a:cs typeface="Consolas"/>
                <a:sym typeface="Consolas"/>
              </a:rPr>
              <a:t>$ </a:t>
            </a:r>
            <a:r>
              <a:rPr b="1" i="1" lang="en-US" sz="1944" u="none" cap="none" strike="noStrike">
                <a:solidFill>
                  <a:srgbClr val="FFFFFF"/>
                </a:solidFill>
                <a:latin typeface="Consolas"/>
                <a:ea typeface="Consolas"/>
                <a:cs typeface="Consolas"/>
                <a:sym typeface="Consolas"/>
              </a:rPr>
              <a:t>scripts/config --disable SYSTEM_REVOCATION_KEYS</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rPr b="1" i="0" lang="en-US" sz="1944" u="none" cap="none" strike="noStrike">
                <a:solidFill>
                  <a:srgbClr val="FFFFFF"/>
                </a:solidFill>
                <a:latin typeface="Consolas"/>
                <a:ea typeface="Consolas"/>
                <a:cs typeface="Consolas"/>
                <a:sym typeface="Consolas"/>
              </a:rPr>
              <a:t>$ </a:t>
            </a:r>
            <a:r>
              <a:rPr b="1" i="1" lang="en-US" sz="1944" u="none" cap="none" strike="noStrike">
                <a:solidFill>
                  <a:srgbClr val="FFFFFF"/>
                </a:solidFill>
                <a:latin typeface="Consolas"/>
                <a:ea typeface="Consolas"/>
                <a:cs typeface="Consolas"/>
                <a:sym typeface="Consolas"/>
              </a:rPr>
              <a:t>scripts/config --set-str CONFIG_SYSTEM_TRUSTED_KEYS ""</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rPr b="1" i="0" lang="en-US" sz="1944" u="none" cap="none" strike="noStrike">
                <a:solidFill>
                  <a:srgbClr val="FFFFFF"/>
                </a:solidFill>
                <a:latin typeface="Consolas"/>
                <a:ea typeface="Consolas"/>
                <a:cs typeface="Consolas"/>
                <a:sym typeface="Consolas"/>
              </a:rPr>
              <a:t>$</a:t>
            </a:r>
            <a:r>
              <a:rPr b="1" i="1" lang="en-US" sz="1944" u="none" cap="none" strike="noStrike">
                <a:solidFill>
                  <a:srgbClr val="FFFFFF"/>
                </a:solidFill>
                <a:latin typeface="Consolas"/>
                <a:ea typeface="Consolas"/>
                <a:cs typeface="Consolas"/>
                <a:sym typeface="Consolas"/>
              </a:rPr>
              <a:t> scripts/config --set-str CONFIG_SYSTEM_REVOCATION_KEYS ""</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t/>
            </a:r>
            <a:endParaRPr b="1" i="1" sz="1944" u="none" cap="none" strike="noStrike">
              <a:solidFill>
                <a:srgbClr val="FFFFFF"/>
              </a:solidFill>
              <a:latin typeface="Consolas"/>
              <a:ea typeface="Consolas"/>
              <a:cs typeface="Consolas"/>
              <a:sym typeface="Consolas"/>
            </a:endParaRPr>
          </a:p>
          <a:p>
            <a:pPr indent="0" lvl="0" marL="0" marR="0" rtl="0" algn="l">
              <a:lnSpc>
                <a:spcPct val="139969"/>
              </a:lnSpc>
              <a:spcBef>
                <a:spcPts val="0"/>
              </a:spcBef>
              <a:spcAft>
                <a:spcPts val="0"/>
              </a:spcAft>
              <a:buClr>
                <a:srgbClr val="000000"/>
              </a:buClr>
              <a:buSzPts val="1944"/>
              <a:buFont typeface="Arial"/>
              <a:buNone/>
            </a:pPr>
            <a:r>
              <a:rPr b="1" i="0" lang="en-US" sz="1944" u="none" cap="none" strike="noStrike">
                <a:solidFill>
                  <a:srgbClr val="FFFFFF"/>
                </a:solidFill>
                <a:latin typeface="Consolas"/>
                <a:ea typeface="Consolas"/>
                <a:cs typeface="Consolas"/>
                <a:sym typeface="Consolas"/>
              </a:rPr>
              <a:t>&gt; </a:t>
            </a:r>
            <a:r>
              <a:rPr b="0" i="0" lang="en-US" sz="1944" u="none" cap="none" strike="noStrike">
                <a:solidFill>
                  <a:srgbClr val="FFFFFF"/>
                </a:solidFill>
                <a:latin typeface="Consolas"/>
                <a:ea typeface="Consolas"/>
                <a:cs typeface="Consolas"/>
                <a:sym typeface="Consolas"/>
              </a:rPr>
              <a:t>Compilar el kernel</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rPr b="1" i="0" lang="en-US" sz="1944" u="none" cap="none" strike="noStrike">
                <a:solidFill>
                  <a:srgbClr val="FFFFFF"/>
                </a:solidFill>
                <a:latin typeface="Consolas"/>
                <a:ea typeface="Consolas"/>
                <a:cs typeface="Consolas"/>
                <a:sym typeface="Consolas"/>
              </a:rPr>
              <a:t>$ </a:t>
            </a:r>
            <a:r>
              <a:rPr b="1" i="1" lang="en-US" sz="1944" u="none" cap="none" strike="noStrike">
                <a:solidFill>
                  <a:srgbClr val="FFFFFF"/>
                </a:solidFill>
                <a:latin typeface="Consolas"/>
                <a:ea typeface="Consolas"/>
                <a:cs typeface="Consolas"/>
                <a:sym typeface="Consolas"/>
              </a:rPr>
              <a:t>fakeroot make -j4</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t/>
            </a:r>
            <a:endParaRPr b="1" i="1" sz="1944" u="none" cap="none" strike="noStrike">
              <a:solidFill>
                <a:srgbClr val="FFFFFF"/>
              </a:solidFill>
              <a:latin typeface="Consolas"/>
              <a:ea typeface="Consolas"/>
              <a:cs typeface="Consolas"/>
              <a:sym typeface="Consolas"/>
            </a:endParaRPr>
          </a:p>
          <a:p>
            <a:pPr indent="0" lvl="0" marL="0" marR="0" rtl="0" algn="l">
              <a:lnSpc>
                <a:spcPct val="139969"/>
              </a:lnSpc>
              <a:spcBef>
                <a:spcPts val="0"/>
              </a:spcBef>
              <a:spcAft>
                <a:spcPts val="0"/>
              </a:spcAft>
              <a:buClr>
                <a:srgbClr val="000000"/>
              </a:buClr>
              <a:buSzPts val="1944"/>
              <a:buFont typeface="Arial"/>
              <a:buNone/>
            </a:pPr>
            <a:r>
              <a:rPr b="0" i="0" lang="en-US" sz="1944" u="none" cap="none" strike="noStrike">
                <a:solidFill>
                  <a:srgbClr val="FFFFFF"/>
                </a:solidFill>
                <a:latin typeface="Consolas"/>
                <a:ea typeface="Consolas"/>
                <a:cs typeface="Consolas"/>
                <a:sym typeface="Consolas"/>
              </a:rPr>
              <a:t>&gt; Instalar el kernel</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rPr b="1" i="1" lang="en-US" sz="1944" u="none" cap="none" strike="noStrike">
                <a:solidFill>
                  <a:srgbClr val="FFFFFF"/>
                </a:solidFill>
                <a:latin typeface="Consolas"/>
                <a:ea typeface="Consolas"/>
                <a:cs typeface="Consolas"/>
                <a:sym typeface="Consolas"/>
              </a:rPr>
              <a:t>$ sudo make modules_install</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rPr b="1" i="1" lang="en-US" sz="1944" u="none" cap="none" strike="noStrike">
                <a:solidFill>
                  <a:srgbClr val="FFFFFF"/>
                </a:solidFill>
                <a:latin typeface="Consolas"/>
                <a:ea typeface="Consolas"/>
                <a:cs typeface="Consolas"/>
                <a:sym typeface="Consolas"/>
              </a:rPr>
              <a:t>$ sudo make install</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rPr b="1" i="1" lang="en-US" sz="1944" u="none" cap="none" strike="noStrike">
                <a:solidFill>
                  <a:srgbClr val="FFFFFF"/>
                </a:solidFill>
                <a:latin typeface="Consolas"/>
                <a:ea typeface="Consolas"/>
                <a:cs typeface="Consolas"/>
                <a:sym typeface="Consolas"/>
              </a:rPr>
              <a:t>$ sudo reboot</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t/>
            </a:r>
            <a:endParaRPr b="1" i="1" sz="1944" u="none" cap="none" strike="noStrike">
              <a:solidFill>
                <a:srgbClr val="FFFFFF"/>
              </a:solidFill>
              <a:latin typeface="Consolas"/>
              <a:ea typeface="Consolas"/>
              <a:cs typeface="Consolas"/>
              <a:sym typeface="Consolas"/>
            </a:endParaRPr>
          </a:p>
          <a:p>
            <a:pPr indent="0" lvl="0" marL="0" marR="0" rtl="0" algn="l">
              <a:lnSpc>
                <a:spcPct val="139969"/>
              </a:lnSpc>
              <a:spcBef>
                <a:spcPts val="0"/>
              </a:spcBef>
              <a:spcAft>
                <a:spcPts val="0"/>
              </a:spcAft>
              <a:buClr>
                <a:srgbClr val="000000"/>
              </a:buClr>
              <a:buSzPts val="1944"/>
              <a:buFont typeface="Arial"/>
              <a:buNone/>
            </a:pPr>
            <a:r>
              <a:t/>
            </a:r>
            <a:endParaRPr b="1" i="1" sz="1944" u="none" cap="none" strike="noStrike">
              <a:solidFill>
                <a:srgbClr val="FFFFFF"/>
              </a:solidFill>
              <a:latin typeface="Consolas"/>
              <a:ea typeface="Consolas"/>
              <a:cs typeface="Consolas"/>
              <a:sym typeface="Consola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g35c3d30e88a_1_78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469" name="Google Shape;469;g35c3d30e88a_1_782"/>
          <p:cNvSpPr/>
          <p:nvPr/>
        </p:nvSpPr>
        <p:spPr>
          <a:xfrm rot="931907">
            <a:off x="-5937582" y="-3092614"/>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470" name="Google Shape;470;g35c3d30e88a_1_782"/>
          <p:cNvSpPr/>
          <p:nvPr/>
        </p:nvSpPr>
        <p:spPr>
          <a:xfrm rot="931907">
            <a:off x="16285766" y="5630925"/>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471" name="Google Shape;471;g35c3d30e88a_1_782"/>
          <p:cNvSpPr txBox="1"/>
          <p:nvPr/>
        </p:nvSpPr>
        <p:spPr>
          <a:xfrm>
            <a:off x="4335525" y="2594750"/>
            <a:ext cx="12042600" cy="46017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9000"/>
              <a:buFont typeface="Arial"/>
              <a:buNone/>
            </a:pPr>
            <a:r>
              <a:rPr b="1" i="0" lang="en-US" sz="9000" u="none" cap="none" strike="noStrike">
                <a:solidFill>
                  <a:srgbClr val="FFFFFF"/>
                </a:solidFill>
                <a:latin typeface="Arial"/>
                <a:ea typeface="Arial"/>
                <a:cs typeface="Arial"/>
                <a:sym typeface="Arial"/>
              </a:rPr>
              <a:t>Ejemplo Guiado:</a:t>
            </a:r>
            <a:r>
              <a:rPr b="0" i="0" lang="en-US" sz="9000" u="none" cap="none" strike="noStrike">
                <a:solidFill>
                  <a:srgbClr val="FFFFFF"/>
                </a:solidFill>
                <a:latin typeface="Arial"/>
                <a:ea typeface="Arial"/>
                <a:cs typeface="Arial"/>
                <a:sym typeface="Arial"/>
              </a:rPr>
              <a:t> </a:t>
            </a:r>
            <a:endParaRPr b="0" i="0" sz="8600" u="none" cap="none" strike="noStrike">
              <a:solidFill>
                <a:srgbClr val="FFFFFF"/>
              </a:solidFill>
              <a:latin typeface="Arial"/>
              <a:ea typeface="Arial"/>
              <a:cs typeface="Arial"/>
              <a:sym typeface="Arial"/>
            </a:endParaRPr>
          </a:p>
          <a:p>
            <a:pPr indent="0" lvl="0" marL="0" marR="0" rtl="0" algn="ctr">
              <a:lnSpc>
                <a:spcPct val="121000"/>
              </a:lnSpc>
              <a:spcBef>
                <a:spcPts val="0"/>
              </a:spcBef>
              <a:spcAft>
                <a:spcPts val="0"/>
              </a:spcAft>
              <a:buClr>
                <a:srgbClr val="000000"/>
              </a:buClr>
              <a:buSzPts val="8600"/>
              <a:buFont typeface="Arial"/>
              <a:buNone/>
            </a:pPr>
            <a:r>
              <a:rPr b="0" i="0" lang="en-US" sz="8600" u="none" cap="none" strike="noStrike">
                <a:solidFill>
                  <a:srgbClr val="FFFFFF"/>
                </a:solidFill>
                <a:latin typeface="Arial"/>
                <a:ea typeface="Arial"/>
                <a:cs typeface="Arial"/>
                <a:sym typeface="Arial"/>
              </a:rPr>
              <a:t>Compilar Kernel de Linux</a:t>
            </a:r>
            <a:endParaRPr b="0" i="0" sz="8600" u="none" cap="none" strike="noStrike">
              <a:solidFill>
                <a:srgbClr val="FFFFFF"/>
              </a:solidFill>
              <a:latin typeface="Arial"/>
              <a:ea typeface="Arial"/>
              <a:cs typeface="Arial"/>
              <a:sym typeface="Arial"/>
            </a:endParaRPr>
          </a:p>
        </p:txBody>
      </p:sp>
      <p:pic>
        <p:nvPicPr>
          <p:cNvPr id="472" name="Google Shape;472;g35c3d30e88a_1_782"/>
          <p:cNvPicPr preferRelativeResize="0"/>
          <p:nvPr/>
        </p:nvPicPr>
        <p:blipFill rotWithShape="1">
          <a:blip r:embed="rId5">
            <a:alphaModFix/>
          </a:blip>
          <a:srcRect b="0" l="0" r="0" t="0"/>
          <a:stretch/>
        </p:blipFill>
        <p:spPr>
          <a:xfrm>
            <a:off x="1782825" y="3924300"/>
            <a:ext cx="2438400" cy="2438400"/>
          </a:xfrm>
          <a:prstGeom prst="rect">
            <a:avLst/>
          </a:prstGeom>
          <a:noFill/>
          <a:ln>
            <a:noFill/>
          </a:ln>
        </p:spPr>
      </p:pic>
      <p:sp>
        <p:nvSpPr>
          <p:cNvPr id="473" name="Google Shape;473;g35c3d30e88a_1_782"/>
          <p:cNvSpPr/>
          <p:nvPr/>
        </p:nvSpPr>
        <p:spPr>
          <a:xfrm>
            <a:off x="19015645" y="-4"/>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6">
              <a:alphaModFix/>
            </a:blip>
            <a:stretch>
              <a:fillRect b="0" l="0" r="0" t="0"/>
            </a:stretch>
          </a:blipFill>
          <a:ln>
            <a:noFill/>
          </a:ln>
        </p:spPr>
      </p:sp>
      <p:sp>
        <p:nvSpPr>
          <p:cNvPr id="474" name="Google Shape;474;g35c3d30e88a_1_782"/>
          <p:cNvSpPr txBox="1"/>
          <p:nvPr/>
        </p:nvSpPr>
        <p:spPr>
          <a:xfrm>
            <a:off x="19709761" y="1108428"/>
            <a:ext cx="3238200" cy="29145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014"/>
              <a:buFont typeface="Arial"/>
              <a:buNone/>
            </a:pPr>
            <a:r>
              <a:rPr b="0" i="0" lang="en-US" sz="2014" u="none" cap="none" strike="noStrike">
                <a:solidFill>
                  <a:srgbClr val="131416"/>
                </a:solidFill>
                <a:latin typeface="Open Sans"/>
                <a:ea typeface="Open Sans"/>
                <a:cs typeface="Open Sans"/>
                <a:sym typeface="Open Sans"/>
              </a:rPr>
              <a:t>Parte de la Taxonomía de Bloom nos habla de la parte de crear (llevar a la realidad la teoría aprendida) trata de dar ejemplos de este estilo, si aplican </a:t>
            </a:r>
            <a:endParaRPr b="0" i="0" sz="1400" u="none" cap="none" strike="noStrike">
              <a:solidFill>
                <a:srgbClr val="000000"/>
              </a:solidFill>
              <a:latin typeface="Arial"/>
              <a:ea typeface="Arial"/>
              <a:cs typeface="Arial"/>
              <a:sym typeface="Arial"/>
            </a:endParaRPr>
          </a:p>
        </p:txBody>
      </p:sp>
      <p:pic>
        <p:nvPicPr>
          <p:cNvPr id="475" name="Google Shape;475;g35c3d30e88a_1_782"/>
          <p:cNvPicPr preferRelativeResize="0"/>
          <p:nvPr/>
        </p:nvPicPr>
        <p:blipFill>
          <a:blip r:embed="rId7">
            <a:alphaModFix/>
          </a:blip>
          <a:stretch>
            <a:fillRect/>
          </a:stretch>
        </p:blipFill>
        <p:spPr>
          <a:xfrm>
            <a:off x="13263300" y="6638400"/>
            <a:ext cx="2614825" cy="26148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79" name="Shape 479"/>
        <p:cNvGrpSpPr/>
        <p:nvPr/>
      </p:nvGrpSpPr>
      <p:grpSpPr>
        <a:xfrm>
          <a:off x="0" y="0"/>
          <a:ext cx="0" cy="0"/>
          <a:chOff x="0" y="0"/>
          <a:chExt cx="0" cy="0"/>
        </a:xfrm>
      </p:grpSpPr>
      <p:sp>
        <p:nvSpPr>
          <p:cNvPr id="480" name="Google Shape;480;g35c8c296148_0_0"/>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481" name="Google Shape;481;g35c8c296148_0_0"/>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CONCEPTOS CLAVE APRENDIDOS</a:t>
            </a:r>
            <a:endParaRPr b="0" i="0" sz="4900" u="none" cap="none" strike="noStrike">
              <a:solidFill>
                <a:srgbClr val="FFFFFF"/>
              </a:solidFill>
              <a:latin typeface="Arial"/>
              <a:ea typeface="Arial"/>
              <a:cs typeface="Arial"/>
              <a:sym typeface="Arial"/>
            </a:endParaRPr>
          </a:p>
        </p:txBody>
      </p:sp>
      <p:grpSp>
        <p:nvGrpSpPr>
          <p:cNvPr id="482" name="Google Shape;482;g35c8c296148_0_0"/>
          <p:cNvGrpSpPr/>
          <p:nvPr/>
        </p:nvGrpSpPr>
        <p:grpSpPr>
          <a:xfrm>
            <a:off x="2695525" y="2304374"/>
            <a:ext cx="12896949" cy="6162134"/>
            <a:chOff x="0" y="-19050"/>
            <a:chExt cx="1956900" cy="2395201"/>
          </a:xfrm>
        </p:grpSpPr>
        <p:sp>
          <p:nvSpPr>
            <p:cNvPr id="483" name="Google Shape;483;g35c8c296148_0_0"/>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g35c8c296148_0_0"/>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85" name="Google Shape;485;g35c8c296148_0_0"/>
          <p:cNvSpPr txBox="1"/>
          <p:nvPr/>
        </p:nvSpPr>
        <p:spPr>
          <a:xfrm>
            <a:off x="3032850" y="2891838"/>
            <a:ext cx="12222300" cy="4987200"/>
          </a:xfrm>
          <a:prstGeom prst="rect">
            <a:avLst/>
          </a:prstGeom>
          <a:noFill/>
          <a:ln>
            <a:noFill/>
          </a:ln>
        </p:spPr>
        <p:txBody>
          <a:bodyPr anchorCtr="0" anchor="t" bIns="91425" lIns="91425" spcFirstLastPara="1" rIns="91425" wrap="square" tIns="91425">
            <a:spAutoFit/>
          </a:bodyPr>
          <a:lstStyle/>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Personalización, Compilación e Instalación del Kernel de Linux</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0" i="0" lang="en-US" sz="2600" u="none" cap="none" strike="noStrike">
                <a:solidFill>
                  <a:schemeClr val="lt1"/>
                </a:solidFill>
                <a:latin typeface="Arial"/>
                <a:ea typeface="Arial"/>
                <a:cs typeface="Arial"/>
                <a:sym typeface="Arial"/>
              </a:rPr>
              <a:t>Personalizar el kernel de Linux implica obtener su código fuente, configurar las opciones deseadas, compilarlo y luego instalarlo para adaptar el sistema a necesidades específicas.</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Llamadas al Sistema (Syscalls)</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0" i="0" lang="en-US" sz="2600" u="none" cap="none" strike="noStrike">
                <a:solidFill>
                  <a:schemeClr val="lt1"/>
                </a:solidFill>
                <a:latin typeface="Arial"/>
                <a:ea typeface="Arial"/>
                <a:cs typeface="Arial"/>
                <a:sym typeface="Arial"/>
              </a:rPr>
              <a:t>Las llamadas al sistema son interfaces que permiten a los programas de usuario solicitar servicios al kernel, cómo acceder a archivos o gestionar procesos.</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Llamadas Comunes para Gestión de Procesos en Linux</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0" i="0" lang="en-US" sz="2600" u="none" cap="none" strike="noStrike">
                <a:solidFill>
                  <a:schemeClr val="lt1"/>
                </a:solidFill>
                <a:latin typeface="Arial"/>
                <a:ea typeface="Arial"/>
                <a:cs typeface="Arial"/>
                <a:sym typeface="Arial"/>
              </a:rPr>
              <a:t>Funciones como fork(), exec(), wait() y exit() son esenciales para la creación y gestión de procesos en Linux, permitiendo la ejecución y control de programas.</a:t>
            </a:r>
            <a:endParaRPr b="0" i="0" sz="2600" u="none" cap="none" strike="noStrike">
              <a:solidFill>
                <a:schemeClr val="lt1"/>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89" name="Shape 489"/>
        <p:cNvGrpSpPr/>
        <p:nvPr/>
      </p:nvGrpSpPr>
      <p:grpSpPr>
        <a:xfrm>
          <a:off x="0" y="0"/>
          <a:ext cx="0" cy="0"/>
          <a:chOff x="0" y="0"/>
          <a:chExt cx="0" cy="0"/>
        </a:xfrm>
      </p:grpSpPr>
      <p:sp>
        <p:nvSpPr>
          <p:cNvPr id="490" name="Google Shape;490;g35c3d30e88a_1_801"/>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491" name="Google Shape;491;g35c3d30e88a_1_801"/>
          <p:cNvSpPr txBox="1"/>
          <p:nvPr/>
        </p:nvSpPr>
        <p:spPr>
          <a:xfrm>
            <a:off x="3111590" y="101917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VALOR DE LA SEMANA</a:t>
            </a:r>
            <a:endParaRPr b="0" i="0" sz="4900" u="none" cap="none" strike="noStrike">
              <a:solidFill>
                <a:srgbClr val="FFFFFF"/>
              </a:solidFill>
              <a:latin typeface="Arial"/>
              <a:ea typeface="Arial"/>
              <a:cs typeface="Arial"/>
              <a:sym typeface="Arial"/>
            </a:endParaRPr>
          </a:p>
        </p:txBody>
      </p:sp>
      <p:grpSp>
        <p:nvGrpSpPr>
          <p:cNvPr id="492" name="Google Shape;492;g35c3d30e88a_1_801"/>
          <p:cNvGrpSpPr/>
          <p:nvPr/>
        </p:nvGrpSpPr>
        <p:grpSpPr>
          <a:xfrm>
            <a:off x="2613274" y="3052875"/>
            <a:ext cx="13701822" cy="4860102"/>
            <a:chOff x="0" y="-19050"/>
            <a:chExt cx="1956900" cy="2395201"/>
          </a:xfrm>
        </p:grpSpPr>
        <p:sp>
          <p:nvSpPr>
            <p:cNvPr id="493" name="Google Shape;493;g35c3d30e88a_1_801"/>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g35c3d30e88a_1_801"/>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95" name="Google Shape;495;g35c3d30e88a_1_801"/>
          <p:cNvSpPr txBox="1"/>
          <p:nvPr/>
        </p:nvSpPr>
        <p:spPr>
          <a:xfrm>
            <a:off x="3106888" y="4405475"/>
            <a:ext cx="12714600" cy="2647500"/>
          </a:xfrm>
          <a:prstGeom prst="rect">
            <a:avLst/>
          </a:prstGeom>
          <a:noFill/>
          <a:ln>
            <a:noFill/>
          </a:ln>
        </p:spPr>
        <p:txBody>
          <a:bodyPr anchorCtr="0" anchor="t" bIns="91425" lIns="91425" spcFirstLastPara="1" rIns="91425" wrap="square" tIns="91425">
            <a:spAutoFit/>
          </a:bodyPr>
          <a:lstStyle/>
          <a:p>
            <a:pPr indent="-431800" lvl="0" marL="457200" marR="0" rtl="0" algn="l">
              <a:lnSpc>
                <a:spcPct val="100000"/>
              </a:lnSpc>
              <a:spcBef>
                <a:spcPts val="0"/>
              </a:spcBef>
              <a:spcAft>
                <a:spcPts val="0"/>
              </a:spcAft>
              <a:buClr>
                <a:schemeClr val="lt1"/>
              </a:buClr>
              <a:buSzPts val="3200"/>
              <a:buFont typeface="Arial"/>
              <a:buChar char="●"/>
            </a:pPr>
            <a:r>
              <a:rPr b="1" i="0" lang="en-US" sz="3200" u="none" cap="none" strike="noStrike">
                <a:solidFill>
                  <a:schemeClr val="lt1"/>
                </a:solidFill>
                <a:latin typeface="Arial"/>
                <a:ea typeface="Arial"/>
                <a:cs typeface="Arial"/>
                <a:sym typeface="Arial"/>
              </a:rPr>
              <a:t>Pensamiento Crítico:</a:t>
            </a:r>
            <a:r>
              <a:rPr b="0" i="0" lang="en-US" sz="3200" u="none" cap="none" strike="noStrike">
                <a:solidFill>
                  <a:schemeClr val="lt1"/>
                </a:solidFill>
                <a:latin typeface="Arial"/>
                <a:ea typeface="Arial"/>
                <a:cs typeface="Arial"/>
                <a:sym typeface="Arial"/>
              </a:rPr>
              <a:t> Es posible que como estudiante nos enfrentemos por primera vez al reto de explorar y modificar el código del kernel de linux, o bien a modificarlo tan a fondo, es importante que fortalecer el pensamiento crítico para este nuevo reto.</a:t>
            </a:r>
            <a:endParaRPr b="0" i="0" sz="3200" u="none" cap="none" strike="noStrike">
              <a:solidFill>
                <a:schemeClr val="lt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99" name="Shape 499"/>
        <p:cNvGrpSpPr/>
        <p:nvPr/>
      </p:nvGrpSpPr>
      <p:grpSpPr>
        <a:xfrm>
          <a:off x="0" y="0"/>
          <a:ext cx="0" cy="0"/>
          <a:chOff x="0" y="0"/>
          <a:chExt cx="0" cy="0"/>
        </a:xfrm>
      </p:grpSpPr>
      <p:sp>
        <p:nvSpPr>
          <p:cNvPr id="500" name="Google Shape;500;g35c8c296148_0_9"/>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501" name="Google Shape;501;g35c8c296148_0_9"/>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REFERENCIAS</a:t>
            </a:r>
            <a:endParaRPr b="0" i="0" sz="4900" u="none" cap="none" strike="noStrike">
              <a:solidFill>
                <a:srgbClr val="FFFFFF"/>
              </a:solidFill>
              <a:latin typeface="Arial"/>
              <a:ea typeface="Arial"/>
              <a:cs typeface="Arial"/>
              <a:sym typeface="Arial"/>
            </a:endParaRPr>
          </a:p>
        </p:txBody>
      </p:sp>
      <p:grpSp>
        <p:nvGrpSpPr>
          <p:cNvPr id="502" name="Google Shape;502;g35c8c296148_0_9"/>
          <p:cNvGrpSpPr/>
          <p:nvPr/>
        </p:nvGrpSpPr>
        <p:grpSpPr>
          <a:xfrm>
            <a:off x="2695525" y="2304374"/>
            <a:ext cx="12896949" cy="6162134"/>
            <a:chOff x="0" y="-19050"/>
            <a:chExt cx="1956900" cy="2395201"/>
          </a:xfrm>
        </p:grpSpPr>
        <p:sp>
          <p:nvSpPr>
            <p:cNvPr id="503" name="Google Shape;503;g35c8c296148_0_9"/>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g35c8c296148_0_9"/>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05" name="Google Shape;505;g35c8c296148_0_9"/>
          <p:cNvSpPr txBox="1"/>
          <p:nvPr/>
        </p:nvSpPr>
        <p:spPr>
          <a:xfrm>
            <a:off x="3032850" y="3292025"/>
            <a:ext cx="12222300" cy="41868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How to install a higher version of the kernel</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4"/>
              </a:rPr>
              <a:t>https://www.linux.org/threads/how-to-install-a-higher-version-of-the-kernel-build-compile-and-make-the-system-used-it.54879/</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Linux system call in detail</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5"/>
              </a:rPr>
              <a:t>https://www.geeksforgeeks.org/linux-system-call-in-detail/</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Fork,exec,wait and exit system call</a:t>
            </a:r>
            <a:br>
              <a:rPr b="1" i="0" lang="en-US" sz="2600" u="none" cap="none" strike="noStrike">
                <a:solidFill>
                  <a:schemeClr val="lt1"/>
                </a:solidFill>
                <a:latin typeface="Arial"/>
                <a:ea typeface="Arial"/>
                <a:cs typeface="Arial"/>
                <a:sym typeface="Arial"/>
              </a:rPr>
            </a:br>
            <a:r>
              <a:rPr b="1" i="0" lang="en-US" sz="2600" u="sng" cap="none" strike="noStrike">
                <a:solidFill>
                  <a:schemeClr val="hlink"/>
                </a:solidFill>
                <a:latin typeface="Arial"/>
                <a:ea typeface="Arial"/>
                <a:cs typeface="Arial"/>
                <a:sym typeface="Arial"/>
                <a:hlinkClick r:id="rId6"/>
              </a:rPr>
              <a:t>https://vitux.com/fork-exec-wait-and-exit-system-call-explained-in-linux/</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1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511" name="Google Shape;511;p12"/>
          <p:cNvSpPr/>
          <p:nvPr/>
        </p:nvSpPr>
        <p:spPr>
          <a:xfrm rot="933090">
            <a:off x="-5940312" y="-3090567"/>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512" name="Google Shape;512;p12"/>
          <p:cNvSpPr/>
          <p:nvPr/>
        </p:nvSpPr>
        <p:spPr>
          <a:xfrm rot="933090">
            <a:off x="16283036" y="5632972"/>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grpSp>
        <p:nvGrpSpPr>
          <p:cNvPr id="513" name="Google Shape;513;p12"/>
          <p:cNvGrpSpPr/>
          <p:nvPr/>
        </p:nvGrpSpPr>
        <p:grpSpPr>
          <a:xfrm>
            <a:off x="6725937" y="6354796"/>
            <a:ext cx="4836125" cy="1241011"/>
            <a:chOff x="0" y="-19050"/>
            <a:chExt cx="1273712" cy="326851"/>
          </a:xfrm>
        </p:grpSpPr>
        <p:sp>
          <p:nvSpPr>
            <p:cNvPr id="514" name="Google Shape;514;p12"/>
            <p:cNvSpPr/>
            <p:nvPr/>
          </p:nvSpPr>
          <p:spPr>
            <a:xfrm>
              <a:off x="0" y="0"/>
              <a:ext cx="1273712" cy="307801"/>
            </a:xfrm>
            <a:custGeom>
              <a:rect b="b" l="l" r="r" t="t"/>
              <a:pathLst>
                <a:path extrusionOk="0" h="307801" w="1273712">
                  <a:moveTo>
                    <a:pt x="81643" y="0"/>
                  </a:moveTo>
                  <a:lnTo>
                    <a:pt x="1192069" y="0"/>
                  </a:lnTo>
                  <a:cubicBezTo>
                    <a:pt x="1237159" y="0"/>
                    <a:pt x="1273712" y="36553"/>
                    <a:pt x="1273712" y="81643"/>
                  </a:cubicBezTo>
                  <a:lnTo>
                    <a:pt x="1273712" y="226157"/>
                  </a:lnTo>
                  <a:cubicBezTo>
                    <a:pt x="1273712" y="271248"/>
                    <a:pt x="1237159" y="307801"/>
                    <a:pt x="1192069" y="307801"/>
                  </a:cubicBezTo>
                  <a:lnTo>
                    <a:pt x="81643" y="307801"/>
                  </a:lnTo>
                  <a:cubicBezTo>
                    <a:pt x="36553" y="307801"/>
                    <a:pt x="0" y="271248"/>
                    <a:pt x="0" y="226157"/>
                  </a:cubicBezTo>
                  <a:lnTo>
                    <a:pt x="0" y="81643"/>
                  </a:lnTo>
                  <a:cubicBezTo>
                    <a:pt x="0" y="36553"/>
                    <a:pt x="36553" y="0"/>
                    <a:pt x="81643"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12"/>
            <p:cNvSpPr txBox="1"/>
            <p:nvPr/>
          </p:nvSpPr>
          <p:spPr>
            <a:xfrm>
              <a:off x="0" y="-19050"/>
              <a:ext cx="1273712" cy="326851"/>
            </a:xfrm>
            <a:prstGeom prst="rect">
              <a:avLst/>
            </a:prstGeom>
            <a:noFill/>
            <a:ln>
              <a:noFill/>
            </a:ln>
          </p:spPr>
          <p:txBody>
            <a:bodyPr anchorCtr="0" anchor="ctr" bIns="50800" lIns="50800" spcFirstLastPara="1" rIns="50800" wrap="square" tIns="50800">
              <a:noAutofit/>
            </a:bodyPr>
            <a:lstStyle/>
            <a:p>
              <a:pPr indent="0" lvl="0" marL="0" marR="0" rtl="0" algn="ctr">
                <a:lnSpc>
                  <a:spcPct val="1227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16" name="Google Shape;516;p12"/>
          <p:cNvSpPr txBox="1"/>
          <p:nvPr/>
        </p:nvSpPr>
        <p:spPr>
          <a:xfrm>
            <a:off x="3937269" y="2564169"/>
            <a:ext cx="10413462" cy="321564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10500"/>
              <a:buFont typeface="Arial"/>
              <a:buNone/>
            </a:pPr>
            <a:r>
              <a:rPr b="0" i="0" lang="en-US" sz="10500" u="none" cap="none" strike="noStrike">
                <a:solidFill>
                  <a:srgbClr val="FFFFFF"/>
                </a:solidFill>
                <a:latin typeface="Arial"/>
                <a:ea typeface="Arial"/>
                <a:cs typeface="Arial"/>
                <a:sym typeface="Arial"/>
              </a:rPr>
              <a:t>¡GRACIAS POR LA ATENCIÓN!</a:t>
            </a:r>
            <a:endParaRPr b="0" i="0" sz="1400" u="none" cap="none" strike="noStrike">
              <a:solidFill>
                <a:srgbClr val="000000"/>
              </a:solidFill>
              <a:latin typeface="Arial"/>
              <a:ea typeface="Arial"/>
              <a:cs typeface="Arial"/>
              <a:sym typeface="Arial"/>
            </a:endParaRPr>
          </a:p>
        </p:txBody>
      </p:sp>
      <p:sp>
        <p:nvSpPr>
          <p:cNvPr id="517" name="Google Shape;517;p12"/>
          <p:cNvSpPr txBox="1"/>
          <p:nvPr/>
        </p:nvSpPr>
        <p:spPr>
          <a:xfrm>
            <a:off x="7689503" y="6520294"/>
            <a:ext cx="2908995"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0" i="0" lang="en-US" sz="5199" u="none" cap="none" strike="noStrike">
                <a:solidFill>
                  <a:srgbClr val="FFFFFF"/>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pic>
        <p:nvPicPr>
          <p:cNvPr id="518" name="Google Shape;518;p12"/>
          <p:cNvPicPr preferRelativeResize="0"/>
          <p:nvPr/>
        </p:nvPicPr>
        <p:blipFill>
          <a:blip r:embed="rId5">
            <a:alphaModFix/>
          </a:blip>
          <a:stretch>
            <a:fillRect/>
          </a:stretch>
        </p:blipFill>
        <p:spPr>
          <a:xfrm>
            <a:off x="12617675" y="6172224"/>
            <a:ext cx="3220850" cy="315522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