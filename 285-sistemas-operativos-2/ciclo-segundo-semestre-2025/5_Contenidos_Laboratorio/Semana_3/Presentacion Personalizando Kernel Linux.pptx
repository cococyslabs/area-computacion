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10287000" cx="18288000"/>
  <p:notesSz cx="6858000" cy="9144000"/>
  <p:embeddedFontLst>
    <p:embeddedFont>
      <p:font typeface="Montserrat"/>
      <p:regular r:id="rId38"/>
      <p:bold r:id="rId39"/>
      <p:italic r:id="rId40"/>
      <p:boldItalic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6" roundtripDataSignature="AMtx7mj3ls6Q2dGEqsh7gpgmQQhvbvww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CEC97B-47BC-4D2B-A9B4-B2C5A820C380}">
  <a:tblStyle styleId="{6ACEC97B-47BC-4D2B-A9B4-B2C5A820C38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EBE2853-C5B4-4195-B51D-B07BE8C7FD5C}"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4.xml"/><Relationship Id="rId42" Type="http://schemas.openxmlformats.org/officeDocument/2006/relationships/font" Target="fonts/OpenSans-regular.fntdata"/><Relationship Id="rId41" Type="http://schemas.openxmlformats.org/officeDocument/2006/relationships/font" Target="fonts/Montserrat-boldItalic.fntdata"/><Relationship Id="rId22" Type="http://schemas.openxmlformats.org/officeDocument/2006/relationships/slide" Target="slides/slide16.xml"/><Relationship Id="rId44" Type="http://schemas.openxmlformats.org/officeDocument/2006/relationships/font" Target="fonts/OpenSans-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bold.fntdata"/><Relationship Id="rId16" Type="http://schemas.openxmlformats.org/officeDocument/2006/relationships/slide" Target="slides/slide10.xml"/><Relationship Id="rId38" Type="http://schemas.openxmlformats.org/officeDocument/2006/relationships/font" Target="fonts/Montserra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72d9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72d9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30e88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30e88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72d90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72d90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3d30e88a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3d30e88a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3d30e88a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3d30e88a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10fbbb497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a10fbbb49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c3d30e88a_1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5c3d30e88a_1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5c3d30e88a_1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5c3d30e88a_1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c3d30e88a_1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35c3d30e88a_1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5c3d30e88a_1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5c3d30e88a_1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5c3d30e88a_1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5c3d30e88a_1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c3d30e88a_1_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c3d30e88a_1_4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c3d30e88a_1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5c3d30e88a_1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5c3d30e88a_1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g35c3d30e88a_1_5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5c3d30e88a_1_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5c3d30e88a_1_5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5c3d30e88a_1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35c3d30e88a_1_5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5c3d30e88a_1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g35c3d30e88a_1_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5c3d30e88a_1_9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g35c3d30e88a_1_9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c3d30e88a_1_10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5c3d30e88a_1_10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5c3d30e88a_1_8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5c3d30e88a_1_8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5c3d30e88a_1_9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35c3d30e88a_1_9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c3d30e88a_1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g35c3d30e88a_1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c3d30e88a_1_7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c3d30e88a_1_7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c8c2961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35c8c29614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5c3d30e88a_1_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g35c3d30e88a_1_8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5c8c29614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5" name="Google Shape;465;g35c8c29614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a735463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a735463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a735463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16.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youtu.be/RAFiXfWLUMI" TargetMode="Externa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22.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42.png"/><Relationship Id="rId5" Type="http://schemas.openxmlformats.org/officeDocument/2006/relationships/hyperlink" Target="https://www.kernel.org" TargetMode="External"/><Relationship Id="rId6"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jpg"/><Relationship Id="rId4" Type="http://schemas.openxmlformats.org/officeDocument/2006/relationships/image" Target="../media/image52.png"/><Relationship Id="rId5" Type="http://schemas.openxmlformats.org/officeDocument/2006/relationships/image" Target="../media/image50.png"/><Relationship Id="rId6"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hyperlink" Target="https://www.linux.org/threads/how-to-install-a-higher-version-of-the-kernel-build-compile-and-make-the-system-used-it.54879/" TargetMode="External"/><Relationship Id="rId5" Type="http://schemas.openxmlformats.org/officeDocument/2006/relationships/hyperlink" Target="https://www.geeksforgeeks.org/linux-system-call-in-detail/" TargetMode="External"/><Relationship Id="rId6" Type="http://schemas.openxmlformats.org/officeDocument/2006/relationships/hyperlink" Target="https://vitux.com/fork-exec-wait-and-exit-system-call-explained-in-linux/"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jp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72d901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72d901_0_0"/>
          <p:cNvGraphicFramePr/>
          <p:nvPr/>
        </p:nvGraphicFramePr>
        <p:xfrm>
          <a:off x="10656400" y="1940050"/>
          <a:ext cx="3000000" cy="3000000"/>
        </p:xfrm>
        <a:graphic>
          <a:graphicData uri="http://schemas.openxmlformats.org/drawingml/2006/table">
            <a:tbl>
              <a:tblPr>
                <a:noFill/>
                <a:tableStyleId>{6ACEC97B-47BC-4D2B-A9B4-B2C5A820C380}</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8fd72d901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72d901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30e88a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30e88a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30e88a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30e88a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30e88a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30e88a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30e88a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30e88a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30e88a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72d901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72d901_0_7"/>
          <p:cNvGrpSpPr/>
          <p:nvPr/>
        </p:nvGrpSpPr>
        <p:grpSpPr>
          <a:xfrm>
            <a:off x="9975044" y="2453203"/>
            <a:ext cx="7764346" cy="662374"/>
            <a:chOff x="3095445" y="-87910"/>
            <a:chExt cx="5099400" cy="435000"/>
          </a:xfrm>
        </p:grpSpPr>
        <p:sp>
          <p:nvSpPr>
            <p:cNvPr id="111" name="Google Shape;111;g388fd72d901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72d901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72d901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72d901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3d30e88a_1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3d30e88a_1_21"/>
          <p:cNvSpPr txBox="1"/>
          <p:nvPr/>
        </p:nvSpPr>
        <p:spPr>
          <a:xfrm>
            <a:off x="6730250" y="342898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Personalizando el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Depuración y prueba del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Definición y función de las llamadas al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Flujo de llamadas del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Llamadas comunes al sistema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Desarrollo de llamadas al sistema</a:t>
            </a:r>
            <a:endParaRPr b="0" i="0" sz="4200" u="none" cap="none" strike="noStrike">
              <a:solidFill>
                <a:schemeClr val="lt1"/>
              </a:solidFill>
              <a:latin typeface="Calibri"/>
              <a:ea typeface="Calibri"/>
              <a:cs typeface="Calibri"/>
              <a:sym typeface="Calibri"/>
            </a:endParaRPr>
          </a:p>
        </p:txBody>
      </p:sp>
      <p:grpSp>
        <p:nvGrpSpPr>
          <p:cNvPr id="121" name="Google Shape;121;g35c3d30e88a_1_21"/>
          <p:cNvGrpSpPr/>
          <p:nvPr/>
        </p:nvGrpSpPr>
        <p:grpSpPr>
          <a:xfrm>
            <a:off x="5261819" y="1886650"/>
            <a:ext cx="7764346" cy="662377"/>
            <a:chOff x="5261919" y="2543550"/>
            <a:chExt cx="7764346" cy="662377"/>
          </a:xfrm>
        </p:grpSpPr>
        <p:grpSp>
          <p:nvGrpSpPr>
            <p:cNvPr id="122" name="Google Shape;122;g35c3d30e88a_1_21"/>
            <p:cNvGrpSpPr/>
            <p:nvPr/>
          </p:nvGrpSpPr>
          <p:grpSpPr>
            <a:xfrm>
              <a:off x="5261919" y="2543553"/>
              <a:ext cx="7764346" cy="662374"/>
              <a:chOff x="0" y="-28575"/>
              <a:chExt cx="5099400" cy="435000"/>
            </a:xfrm>
          </p:grpSpPr>
          <p:sp>
            <p:nvSpPr>
              <p:cNvPr id="123" name="Google Shape;123;g35c3d30e88a_1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3d30e88a_1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3d30e88a_1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3d30e88a_1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3d30e88a_1_108"/>
          <p:cNvGrpSpPr/>
          <p:nvPr/>
        </p:nvGrpSpPr>
        <p:grpSpPr>
          <a:xfrm>
            <a:off x="3300300" y="3865649"/>
            <a:ext cx="11687426" cy="2780189"/>
            <a:chOff x="0" y="-19050"/>
            <a:chExt cx="1876865" cy="1078889"/>
          </a:xfrm>
        </p:grpSpPr>
        <p:sp>
          <p:nvSpPr>
            <p:cNvPr id="132" name="Google Shape;132;g35c3d30e88a_1_10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3d30e88a_1_10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3d30e88a_1_108"/>
          <p:cNvGrpSpPr/>
          <p:nvPr/>
        </p:nvGrpSpPr>
        <p:grpSpPr>
          <a:xfrm>
            <a:off x="3713601" y="4575230"/>
            <a:ext cx="1136538" cy="1136538"/>
            <a:chOff x="0" y="0"/>
            <a:chExt cx="812800" cy="812800"/>
          </a:xfrm>
        </p:grpSpPr>
        <p:sp>
          <p:nvSpPr>
            <p:cNvPr id="135" name="Google Shape;135;g35c3d30e88a_1_10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3d30e88a_1_10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3d30e88a_1_108"/>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3d30e88a_1_10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3d30e88a_1_108"/>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3d30e88a_1_108"/>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3d30e88a_1_108"/>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grpSp>
        <p:nvGrpSpPr>
          <p:cNvPr id="146" name="Google Shape;146;g3a10fbbb497_0_3"/>
          <p:cNvGrpSpPr/>
          <p:nvPr/>
        </p:nvGrpSpPr>
        <p:grpSpPr>
          <a:xfrm>
            <a:off x="3300300" y="3865649"/>
            <a:ext cx="11687426" cy="2780189"/>
            <a:chOff x="0" y="-19050"/>
            <a:chExt cx="1876865" cy="1078889"/>
          </a:xfrm>
        </p:grpSpPr>
        <p:sp>
          <p:nvSpPr>
            <p:cNvPr id="147" name="Google Shape;147;g3a10fbbb497_0_3"/>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a10fbbb497_0_3"/>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g3a10fbbb497_0_3"/>
          <p:cNvGrpSpPr/>
          <p:nvPr/>
        </p:nvGrpSpPr>
        <p:grpSpPr>
          <a:xfrm>
            <a:off x="3713601" y="4575230"/>
            <a:ext cx="1136538" cy="1136538"/>
            <a:chOff x="0" y="0"/>
            <a:chExt cx="812800" cy="812800"/>
          </a:xfrm>
        </p:grpSpPr>
        <p:sp>
          <p:nvSpPr>
            <p:cNvPr id="150" name="Google Shape;150;g3a10fbbb497_0_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a10fbbb497_0_3"/>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a10fbbb497_0_3"/>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lang="en-US" sz="5000">
                <a:solidFill>
                  <a:srgbClr val="FFFFFF"/>
                </a:solidFill>
              </a:rPr>
              <a:t>Video Tutorial: Preparar Kernel USAX</a:t>
            </a:r>
            <a:endParaRPr b="0" i="0" sz="1400" u="none" cap="none" strike="noStrike">
              <a:solidFill>
                <a:srgbClr val="000000"/>
              </a:solidFill>
              <a:latin typeface="Arial"/>
              <a:ea typeface="Arial"/>
              <a:cs typeface="Arial"/>
              <a:sym typeface="Arial"/>
            </a:endParaRPr>
          </a:p>
        </p:txBody>
      </p:sp>
      <p:sp>
        <p:nvSpPr>
          <p:cNvPr id="153" name="Google Shape;153;g3a10fbbb497_0_3"/>
          <p:cNvSpPr txBox="1"/>
          <p:nvPr/>
        </p:nvSpPr>
        <p:spPr>
          <a:xfrm>
            <a:off x="5119100" y="4978702"/>
            <a:ext cx="9287400" cy="5541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lang="en-US" sz="3600" u="sng">
                <a:solidFill>
                  <a:schemeClr val="hlink"/>
                </a:solidFill>
                <a:latin typeface="Montserrat"/>
                <a:ea typeface="Montserrat"/>
                <a:cs typeface="Montserrat"/>
                <a:sym typeface="Montserrat"/>
                <a:hlinkClick r:id="rId3"/>
              </a:rPr>
              <a:t>https://youtu.be/RAFiXfWLUMI</a:t>
            </a:r>
            <a:endParaRPr b="1" i="0" sz="3600" u="none" cap="none" strike="noStrike">
              <a:solidFill>
                <a:srgbClr val="FFFFFF"/>
              </a:solidFill>
              <a:latin typeface="Montserrat"/>
              <a:ea typeface="Montserrat"/>
              <a:cs typeface="Montserrat"/>
              <a:sym typeface="Montserrat"/>
            </a:endParaRPr>
          </a:p>
        </p:txBody>
      </p:sp>
      <p:pic>
        <p:nvPicPr>
          <p:cNvPr id="154" name="Google Shape;154;g3a10fbbb497_0_3"/>
          <p:cNvPicPr preferRelativeResize="0"/>
          <p:nvPr/>
        </p:nvPicPr>
        <p:blipFill>
          <a:blip r:embed="rId4">
            <a:alphaModFix/>
          </a:blip>
          <a:stretch>
            <a:fillRect/>
          </a:stretch>
        </p:blipFill>
        <p:spPr>
          <a:xfrm>
            <a:off x="3949113" y="4810738"/>
            <a:ext cx="665524" cy="665524"/>
          </a:xfrm>
          <a:prstGeom prst="rect">
            <a:avLst/>
          </a:prstGeom>
          <a:noFill/>
          <a:ln>
            <a:noFill/>
          </a:ln>
        </p:spPr>
      </p:pic>
      <p:sp>
        <p:nvSpPr>
          <p:cNvPr id="155" name="Google Shape;155;g3a10fbbb497_0_3"/>
          <p:cNvSpPr txBox="1"/>
          <p:nvPr/>
        </p:nvSpPr>
        <p:spPr>
          <a:xfrm>
            <a:off x="3300300" y="1859475"/>
            <a:ext cx="11687400" cy="354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lang="en-US" sz="2300">
                <a:solidFill>
                  <a:srgbClr val="FFFFFF"/>
                </a:solidFill>
              </a:rPr>
              <a:t>Puedes ver este material de manera </a:t>
            </a:r>
            <a:r>
              <a:rPr lang="en-US" sz="2300">
                <a:solidFill>
                  <a:srgbClr val="FFFFFF"/>
                </a:solidFill>
              </a:rPr>
              <a:t>asíncrona</a:t>
            </a:r>
            <a:r>
              <a:rPr lang="en-US" sz="2300">
                <a:solidFill>
                  <a:srgbClr val="FFFFFF"/>
                </a:solidFill>
              </a:rPr>
              <a:t> cuando quieras.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9" name="Shape 159"/>
        <p:cNvGrpSpPr/>
        <p:nvPr/>
      </p:nvGrpSpPr>
      <p:grpSpPr>
        <a:xfrm>
          <a:off x="0" y="0"/>
          <a:ext cx="0" cy="0"/>
          <a:chOff x="0" y="0"/>
          <a:chExt cx="0" cy="0"/>
        </a:xfrm>
      </p:grpSpPr>
      <p:sp>
        <p:nvSpPr>
          <p:cNvPr id="160" name="Google Shape;160;p2"/>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1" name="Google Shape;161;p2"/>
          <p:cNvGrpSpPr/>
          <p:nvPr/>
        </p:nvGrpSpPr>
        <p:grpSpPr>
          <a:xfrm>
            <a:off x="684792" y="596982"/>
            <a:ext cx="7288988" cy="8925485"/>
            <a:chOff x="0" y="-28575"/>
            <a:chExt cx="1919734" cy="2350745"/>
          </a:xfrm>
        </p:grpSpPr>
        <p:sp>
          <p:nvSpPr>
            <p:cNvPr id="162" name="Google Shape;162;p2"/>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2"/>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165" name="Google Shape;165;p2"/>
          <p:cNvSpPr txBox="1"/>
          <p:nvPr/>
        </p:nvSpPr>
        <p:spPr>
          <a:xfrm>
            <a:off x="8804950" y="2683500"/>
            <a:ext cx="8454300" cy="757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Configuración: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proceso comienza con la configuración, un paso que determina las características y módulos que incluirá el kernel. Herramientas como make menuconfig ofrecen una interfaz gráfica para alternar opciones, guiando a los usuarios a través de la infinidad de posibilidades.</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Compilar el kernel:</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Con la configuración establecida, la siguiente fase es la compilación, que transforma el código fuente en un kernel ejecutable. Este proceso se inicia con comandos como make y make modules_install, un procedimiento meticuloso que puede llevar tiempo, dependiendo de las capacidades del sistema y la complejidad del kernel.</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166" name="Google Shape;166;p2"/>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167" name="Google Shape;167;p2"/>
          <p:cNvCxnSpPr/>
          <p:nvPr/>
        </p:nvCxnSpPr>
        <p:spPr>
          <a:xfrm>
            <a:off x="1083167" y="1703515"/>
            <a:ext cx="6492240" cy="0"/>
          </a:xfrm>
          <a:prstGeom prst="straightConnector1">
            <a:avLst/>
          </a:prstGeom>
          <a:noFill/>
          <a:ln cap="flat" cmpd="sng" w="38100">
            <a:solidFill>
              <a:srgbClr val="FFFFFF"/>
            </a:solidFill>
            <a:prstDash val="solid"/>
            <a:round/>
            <a:headEnd len="sm" w="sm" type="none"/>
            <a:tailEnd len="sm" w="sm" type="none"/>
          </a:ln>
        </p:spPr>
      </p:cxnSp>
      <p:cxnSp>
        <p:nvCxnSpPr>
          <p:cNvPr id="168" name="Google Shape;168;p2"/>
          <p:cNvCxnSpPr/>
          <p:nvPr/>
        </p:nvCxnSpPr>
        <p:spPr>
          <a:xfrm>
            <a:off x="1083167" y="8394780"/>
            <a:ext cx="649224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2" name="Shape 172"/>
        <p:cNvGrpSpPr/>
        <p:nvPr/>
      </p:nvGrpSpPr>
      <p:grpSpPr>
        <a:xfrm>
          <a:off x="0" y="0"/>
          <a:ext cx="0" cy="0"/>
          <a:chOff x="0" y="0"/>
          <a:chExt cx="0" cy="0"/>
        </a:xfrm>
      </p:grpSpPr>
      <p:sp>
        <p:nvSpPr>
          <p:cNvPr id="173" name="Google Shape;173;g35c3d30e88a_1_199"/>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4" name="Google Shape;174;g35c3d30e88a_1_199"/>
          <p:cNvGrpSpPr/>
          <p:nvPr/>
        </p:nvGrpSpPr>
        <p:grpSpPr>
          <a:xfrm>
            <a:off x="684792" y="596982"/>
            <a:ext cx="7289038" cy="8925753"/>
            <a:chOff x="0" y="-28575"/>
            <a:chExt cx="1919734" cy="2350800"/>
          </a:xfrm>
        </p:grpSpPr>
        <p:sp>
          <p:nvSpPr>
            <p:cNvPr id="175" name="Google Shape;175;g35c3d30e88a_1_199"/>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5c3d30e88a_1_199"/>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g35c3d30e88a_1_199"/>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178" name="Google Shape;178;g35c3d30e88a_1_199"/>
          <p:cNvSpPr txBox="1"/>
          <p:nvPr/>
        </p:nvSpPr>
        <p:spPr>
          <a:xfrm>
            <a:off x="8804950" y="2683500"/>
            <a:ext cx="8454300" cy="66126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Instalación del kernel personalizado</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Tras la compilación, se instala el nuevo kernel. Esto implica copiar la imagen del kernel al directorio de arranque y, posiblemente, actualizar la configuración del gestor de arranque para incluir el nuevo kernel como opción de arranque, garantizando así que el sistema pueda arrancar con este núcleo personalizado.</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Pruebas y validación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último paso es la prueba, donde se reinicia el sistema con el nuevo kernel. Esta fase es crucial para verificar que el sistema funciona como se espera, con todo el hardware reconocido y funcionando correctamente.</a:t>
            </a:r>
            <a:endParaRPr b="0" i="0" sz="2400" u="none" cap="none" strike="noStrike">
              <a:solidFill>
                <a:srgbClr val="FFFFFF"/>
              </a:solidFill>
              <a:latin typeface="Montserrat"/>
              <a:ea typeface="Montserrat"/>
              <a:cs typeface="Montserrat"/>
              <a:sym typeface="Montserrat"/>
            </a:endParaRPr>
          </a:p>
        </p:txBody>
      </p:sp>
      <p:sp>
        <p:nvSpPr>
          <p:cNvPr id="179" name="Google Shape;179;g35c3d30e88a_1_199"/>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180" name="Google Shape;180;g35c3d30e88a_1_199"/>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181" name="Google Shape;181;g35c3d30e88a_1_199"/>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5" name="Shape 185"/>
        <p:cNvGrpSpPr/>
        <p:nvPr/>
      </p:nvGrpSpPr>
      <p:grpSpPr>
        <a:xfrm>
          <a:off x="0" y="0"/>
          <a:ext cx="0" cy="0"/>
          <a:chOff x="0" y="0"/>
          <a:chExt cx="0" cy="0"/>
        </a:xfrm>
      </p:grpSpPr>
      <p:grpSp>
        <p:nvGrpSpPr>
          <p:cNvPr id="186" name="Google Shape;186;p5"/>
          <p:cNvGrpSpPr/>
          <p:nvPr/>
        </p:nvGrpSpPr>
        <p:grpSpPr>
          <a:xfrm>
            <a:off x="876525" y="2296225"/>
            <a:ext cx="9578350" cy="7675267"/>
            <a:chOff x="0" y="-28575"/>
            <a:chExt cx="2177442" cy="1741450"/>
          </a:xfrm>
        </p:grpSpPr>
        <p:sp>
          <p:nvSpPr>
            <p:cNvPr id="187" name="Google Shape;187;p5"/>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txBox="1"/>
            <p:nvPr/>
          </p:nvSpPr>
          <p:spPr>
            <a:xfrm>
              <a:off x="0" y="-28575"/>
              <a:ext cx="2177442" cy="1741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5"/>
          <p:cNvSpPr txBox="1"/>
          <p:nvPr/>
        </p:nvSpPr>
        <p:spPr>
          <a:xfrm>
            <a:off x="876524" y="1019175"/>
            <a:ext cx="81375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Depuración y Prueba</a:t>
            </a:r>
            <a:endParaRPr b="0" i="0" sz="1400" u="none" cap="none" strike="noStrike">
              <a:solidFill>
                <a:srgbClr val="000000"/>
              </a:solidFill>
              <a:latin typeface="Arial"/>
              <a:ea typeface="Arial"/>
              <a:cs typeface="Arial"/>
              <a:sym typeface="Arial"/>
            </a:endParaRPr>
          </a:p>
        </p:txBody>
      </p:sp>
      <p:sp>
        <p:nvSpPr>
          <p:cNvPr id="190" name="Google Shape;190;p5"/>
          <p:cNvSpPr txBox="1"/>
          <p:nvPr/>
        </p:nvSpPr>
        <p:spPr>
          <a:xfrm>
            <a:off x="1352925" y="2645600"/>
            <a:ext cx="8368500" cy="4617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son mensajes que el sistema operativo genera en tiempo de ejecución para informar sobre eventos importantes, advertencias, errores, o simplemente para ayudar en el seguimiento del estado del sistema. En el contexto de desarrollo del kernel, los logs son vitales para entender qué está ocurriendo dentro del núcleo sin necesidad de herramientas invasivas.</a:t>
            </a:r>
            <a:endParaRPr b="0" i="0" sz="3200" u="none" cap="none" strike="noStrike">
              <a:solidFill>
                <a:schemeClr val="lt1"/>
              </a:solidFill>
              <a:latin typeface="Calibri"/>
              <a:ea typeface="Calibri"/>
              <a:cs typeface="Calibri"/>
              <a:sym typeface="Calibri"/>
            </a:endParaRPr>
          </a:p>
        </p:txBody>
      </p:sp>
      <p:pic>
        <p:nvPicPr>
          <p:cNvPr id="191" name="Google Shape;191;p5"/>
          <p:cNvPicPr preferRelativeResize="0"/>
          <p:nvPr/>
        </p:nvPicPr>
        <p:blipFill rotWithShape="1">
          <a:blip r:embed="rId3">
            <a:alphaModFix/>
          </a:blip>
          <a:srcRect b="0" l="0" r="0" t="0"/>
          <a:stretch/>
        </p:blipFill>
        <p:spPr>
          <a:xfrm>
            <a:off x="10561923" y="2883300"/>
            <a:ext cx="7528327" cy="5064954"/>
          </a:xfrm>
          <a:prstGeom prst="rect">
            <a:avLst/>
          </a:prstGeom>
          <a:noFill/>
          <a:ln>
            <a:noFill/>
          </a:ln>
        </p:spPr>
      </p:pic>
      <p:sp>
        <p:nvSpPr>
          <p:cNvPr id="192" name="Google Shape;192;p5"/>
          <p:cNvSpPr txBox="1"/>
          <p:nvPr/>
        </p:nvSpPr>
        <p:spPr>
          <a:xfrm>
            <a:off x="1352925" y="7140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Se utiliza la función printk(), análoga a printf() en espacio de usuario:</a:t>
            </a:r>
            <a:endParaRPr b="0" i="0" sz="3200" u="none" cap="none" strike="noStrike">
              <a:solidFill>
                <a:schemeClr val="lt1"/>
              </a:solidFill>
              <a:latin typeface="Calibri"/>
              <a:ea typeface="Calibri"/>
              <a:cs typeface="Calibri"/>
              <a:sym typeface="Calibri"/>
            </a:endParaRPr>
          </a:p>
        </p:txBody>
      </p:sp>
      <p:sp>
        <p:nvSpPr>
          <p:cNvPr id="193" name="Google Shape;193;p5"/>
          <p:cNvSpPr txBox="1"/>
          <p:nvPr/>
        </p:nvSpPr>
        <p:spPr>
          <a:xfrm>
            <a:off x="1352925" y="8449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printk(KERN_INFO "Este es un mensaje de prueba: %d\n", variable);</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7" name="Shape 197"/>
        <p:cNvGrpSpPr/>
        <p:nvPr/>
      </p:nvGrpSpPr>
      <p:grpSpPr>
        <a:xfrm>
          <a:off x="0" y="0"/>
          <a:ext cx="0" cy="0"/>
          <a:chOff x="0" y="0"/>
          <a:chExt cx="0" cy="0"/>
        </a:xfrm>
      </p:grpSpPr>
      <p:sp>
        <p:nvSpPr>
          <p:cNvPr id="198" name="Google Shape;198;g35c3d30e88a_1_224"/>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199" name="Google Shape;199;g35c3d30e88a_1_224"/>
          <p:cNvGrpSpPr/>
          <p:nvPr/>
        </p:nvGrpSpPr>
        <p:grpSpPr>
          <a:xfrm>
            <a:off x="486300" y="4569250"/>
            <a:ext cx="7519162" cy="4592905"/>
            <a:chOff x="0" y="-19050"/>
            <a:chExt cx="2214123" cy="1050984"/>
          </a:xfrm>
        </p:grpSpPr>
        <p:sp>
          <p:nvSpPr>
            <p:cNvPr id="200" name="Google Shape;200;g35c3d30e88a_1_224"/>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5c3d30e88a_1_224"/>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g35c3d30e88a_1_224"/>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NIVELES DE SEVERIDAD</a:t>
            </a:r>
            <a:endParaRPr b="0" i="0" sz="1400" u="none" cap="none" strike="noStrike">
              <a:solidFill>
                <a:srgbClr val="000000"/>
              </a:solidFill>
              <a:latin typeface="Arial"/>
              <a:ea typeface="Arial"/>
              <a:cs typeface="Arial"/>
              <a:sym typeface="Arial"/>
            </a:endParaRPr>
          </a:p>
        </p:txBody>
      </p:sp>
      <p:pic>
        <p:nvPicPr>
          <p:cNvPr id="203" name="Google Shape;203;g35c3d30e88a_1_224"/>
          <p:cNvPicPr preferRelativeResize="0"/>
          <p:nvPr/>
        </p:nvPicPr>
        <p:blipFill rotWithShape="1">
          <a:blip r:embed="rId4">
            <a:alphaModFix/>
          </a:blip>
          <a:srcRect b="0" l="0" r="0" t="0"/>
          <a:stretch/>
        </p:blipFill>
        <p:spPr>
          <a:xfrm>
            <a:off x="969495" y="4924301"/>
            <a:ext cx="6580550" cy="3910588"/>
          </a:xfrm>
          <a:prstGeom prst="rect">
            <a:avLst/>
          </a:prstGeom>
          <a:noFill/>
          <a:ln>
            <a:noFill/>
          </a:ln>
        </p:spPr>
      </p:pic>
      <p:graphicFrame>
        <p:nvGraphicFramePr>
          <p:cNvPr id="204" name="Google Shape;204;g35c3d30e88a_1_224"/>
          <p:cNvGraphicFramePr/>
          <p:nvPr/>
        </p:nvGraphicFramePr>
        <p:xfrm>
          <a:off x="8293300" y="1019175"/>
          <a:ext cx="3000000" cy="3000000"/>
        </p:xfrm>
        <a:graphic>
          <a:graphicData uri="http://schemas.openxmlformats.org/drawingml/2006/table">
            <a:tbl>
              <a:tblPr>
                <a:noFill/>
                <a:tableStyleId>{FEBE2853-C5B4-4195-B51D-B07BE8C7FD5C}</a:tableStyleId>
              </a:tblPr>
              <a:tblGrid>
                <a:gridCol w="1038550"/>
                <a:gridCol w="2405075"/>
                <a:gridCol w="5602725"/>
              </a:tblGrid>
              <a:tr h="1150025">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Nivel</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Constante</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Descripción</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0</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KERN_EMERG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Emergencia, el sistema no sirve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1</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KERN_ALERT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Se requiere acción inmediata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2</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KERN_CRIT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Estado crítico del sistema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3</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KERN_ERR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Error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4</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KERN_WARNING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Advertencia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5</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KERN_NOTICE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importante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6</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KERN_INFO</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general</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7</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KERN_DEBUG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para depuración</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8" name="Shape 208"/>
        <p:cNvGrpSpPr/>
        <p:nvPr/>
      </p:nvGrpSpPr>
      <p:grpSpPr>
        <a:xfrm>
          <a:off x="0" y="0"/>
          <a:ext cx="0" cy="0"/>
          <a:chOff x="0" y="0"/>
          <a:chExt cx="0" cy="0"/>
        </a:xfrm>
      </p:grpSpPr>
      <p:grpSp>
        <p:nvGrpSpPr>
          <p:cNvPr id="209" name="Google Shape;209;g35c3d30e88a_1_251"/>
          <p:cNvGrpSpPr/>
          <p:nvPr/>
        </p:nvGrpSpPr>
        <p:grpSpPr>
          <a:xfrm>
            <a:off x="876525" y="2296226"/>
            <a:ext cx="9578350" cy="7109674"/>
            <a:chOff x="0" y="-28575"/>
            <a:chExt cx="2177442" cy="1741500"/>
          </a:xfrm>
        </p:grpSpPr>
        <p:sp>
          <p:nvSpPr>
            <p:cNvPr id="210" name="Google Shape;210;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2" name="Google Shape;212;g35c3d30e88a_1_251"/>
          <p:cNvSpPr txBox="1"/>
          <p:nvPr/>
        </p:nvSpPr>
        <p:spPr>
          <a:xfrm>
            <a:off x="876525" y="1019175"/>
            <a:ext cx="95784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¿Donde ver estos mensajes?</a:t>
            </a:r>
            <a:endParaRPr b="0" i="0" sz="1400" u="none" cap="none" strike="noStrike">
              <a:solidFill>
                <a:srgbClr val="000000"/>
              </a:solidFill>
              <a:latin typeface="Arial"/>
              <a:ea typeface="Arial"/>
              <a:cs typeface="Arial"/>
              <a:sym typeface="Arial"/>
            </a:endParaRPr>
          </a:p>
        </p:txBody>
      </p:sp>
      <p:sp>
        <p:nvSpPr>
          <p:cNvPr id="213" name="Google Shape;213;g35c3d30e88a_1_251"/>
          <p:cNvSpPr txBox="1"/>
          <p:nvPr/>
        </p:nvSpPr>
        <p:spPr>
          <a:xfrm>
            <a:off x="1338025" y="3106975"/>
            <a:ext cx="8368500" cy="3140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se almacenan en un buffer circular de memoria accesible mediante herramientas del espacio de usuario:</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dmesg</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Muestra el buffer de logs del kernel:</a:t>
            </a:r>
            <a:endParaRPr b="0" i="0" sz="3200" u="none" cap="none" strike="noStrike">
              <a:solidFill>
                <a:schemeClr val="lt1"/>
              </a:solidFill>
              <a:latin typeface="Calibri"/>
              <a:ea typeface="Calibri"/>
              <a:cs typeface="Calibri"/>
              <a:sym typeface="Calibri"/>
            </a:endParaRPr>
          </a:p>
        </p:txBody>
      </p:sp>
      <p:sp>
        <p:nvSpPr>
          <p:cNvPr id="214" name="Google Shape;214;g35c3d30e88a_1_251"/>
          <p:cNvSpPr txBox="1"/>
          <p:nvPr/>
        </p:nvSpPr>
        <p:spPr>
          <a:xfrm>
            <a:off x="1338025" y="62470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dmesg | grep mi_syscall</a:t>
            </a:r>
            <a:endParaRPr b="0" i="0" sz="3200" u="none" cap="none" strike="noStrike">
              <a:solidFill>
                <a:schemeClr val="lt1"/>
              </a:solidFill>
              <a:highlight>
                <a:schemeClr val="dk1"/>
              </a:highlight>
              <a:latin typeface="Calibri"/>
              <a:ea typeface="Calibri"/>
              <a:cs typeface="Calibri"/>
              <a:sym typeface="Calibri"/>
            </a:endParaRPr>
          </a:p>
        </p:txBody>
      </p:sp>
      <p:sp>
        <p:nvSpPr>
          <p:cNvPr id="215" name="Google Shape;215;g35c3d30e88a_1_251"/>
          <p:cNvSpPr txBox="1"/>
          <p:nvPr/>
        </p:nvSpPr>
        <p:spPr>
          <a:xfrm>
            <a:off x="1338025" y="69241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grpSp>
        <p:nvGrpSpPr>
          <p:cNvPr id="216" name="Google Shape;216;g35c3d30e88a_1_251"/>
          <p:cNvGrpSpPr/>
          <p:nvPr/>
        </p:nvGrpSpPr>
        <p:grpSpPr>
          <a:xfrm>
            <a:off x="10894225" y="1019175"/>
            <a:ext cx="7203196" cy="8386716"/>
            <a:chOff x="0" y="-28575"/>
            <a:chExt cx="2177442" cy="1741500"/>
          </a:xfrm>
        </p:grpSpPr>
        <p:sp>
          <p:nvSpPr>
            <p:cNvPr id="217" name="Google Shape;217;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9" name="Google Shape;219;g35c3d30e88a_1_251"/>
          <p:cNvSpPr txBox="1"/>
          <p:nvPr/>
        </p:nvSpPr>
        <p:spPr>
          <a:xfrm>
            <a:off x="11191875" y="1547850"/>
            <a:ext cx="6183000" cy="511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b. /var/log/kern.log o /var/log/messages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Dependiendo de la configuración del sistema (y de rsyslog o journald), los logs del kernel también se guardan en archivos persistentes.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journalctl (para sistemas con systemd)</a:t>
            </a:r>
            <a:endParaRPr b="0" i="0" sz="3200" u="none" cap="none" strike="noStrike">
              <a:solidFill>
                <a:schemeClr val="lt1"/>
              </a:solidFill>
              <a:latin typeface="Calibri"/>
              <a:ea typeface="Calibri"/>
              <a:cs typeface="Calibri"/>
              <a:sym typeface="Calibri"/>
            </a:endParaRPr>
          </a:p>
        </p:txBody>
      </p:sp>
      <p:sp>
        <p:nvSpPr>
          <p:cNvPr id="220" name="Google Shape;220;g35c3d30e88a_1_251"/>
          <p:cNvSpPr txBox="1"/>
          <p:nvPr/>
        </p:nvSpPr>
        <p:spPr>
          <a:xfrm>
            <a:off x="11001225" y="6924175"/>
            <a:ext cx="70962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 Solo logs del kernel</a:t>
            </a:r>
            <a:endParaRPr b="0" i="0" sz="3200" u="none" cap="none" strike="noStrike">
              <a:solidFill>
                <a:schemeClr val="lt1"/>
              </a:solidFill>
              <a:highlight>
                <a:schemeClr val="dk1"/>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-p debug  # Solo nivel debug</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5c3d30e88a_1_27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26" name="Google Shape;226;g35c3d30e88a_1_270"/>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27" name="Google Shape;227;g35c3d30e88a_1_270"/>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228" name="Google Shape;228;g35c3d30e88a_1_270"/>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
        <p:nvSpPr>
          <p:cNvPr id="229" name="Google Shape;229;g35c3d30e88a_1_27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230" name="Google Shape;230;g35c3d30e88a_1_270"/>
          <p:cNvGrpSpPr/>
          <p:nvPr/>
        </p:nvGrpSpPr>
        <p:grpSpPr>
          <a:xfrm>
            <a:off x="5261794" y="3102922"/>
            <a:ext cx="7764346" cy="662375"/>
            <a:chOff x="0" y="-28575"/>
            <a:chExt cx="5099400" cy="435000"/>
          </a:xfrm>
        </p:grpSpPr>
        <p:sp>
          <p:nvSpPr>
            <p:cNvPr id="231" name="Google Shape;231;g35c3d30e88a_1_270"/>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35c3d30e88a_1_270"/>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233" name="Google Shape;233;g35c3d30e88a_1_27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7" name="Shape 237"/>
        <p:cNvGrpSpPr/>
        <p:nvPr/>
      </p:nvGrpSpPr>
      <p:grpSpPr>
        <a:xfrm>
          <a:off x="0" y="0"/>
          <a:ext cx="0" cy="0"/>
          <a:chOff x="0" y="0"/>
          <a:chExt cx="0" cy="0"/>
        </a:xfrm>
      </p:grpSpPr>
      <p:sp>
        <p:nvSpPr>
          <p:cNvPr id="238" name="Google Shape;238;g35c3d30e88a_1_367"/>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239" name="Google Shape;239;g35c3d30e88a_1_367"/>
          <p:cNvGrpSpPr/>
          <p:nvPr/>
        </p:nvGrpSpPr>
        <p:grpSpPr>
          <a:xfrm>
            <a:off x="684792" y="596982"/>
            <a:ext cx="7289038" cy="8925753"/>
            <a:chOff x="0" y="-28575"/>
            <a:chExt cx="1919734" cy="2350800"/>
          </a:xfrm>
        </p:grpSpPr>
        <p:sp>
          <p:nvSpPr>
            <p:cNvPr id="240" name="Google Shape;240;g35c3d30e88a_1_367"/>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5c3d30e88a_1_367"/>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5c3d30e88a_1_367"/>
          <p:cNvSpPr txBox="1"/>
          <p:nvPr/>
        </p:nvSpPr>
        <p:spPr>
          <a:xfrm>
            <a:off x="8804898" y="2374224"/>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Una llamada al sistema, o syscall,es una rutina que permite a una aplicación de usuario solicitar acciones que requieren privilegios especiales. La adición de llamadas al sistema es una de varias maneras de ampliar las funciones proporcionadas por el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En los sistemas operativos modernos, este método se utiliza si una aplicación o proceso de usuario necesita pasar información al hardware, a otros procesos o al propio kernel, o si necesita leer información de estas fuentes.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Esto hace que estas llamadas sean un vínculo entre el modo de usuario y el modo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243" name="Google Shape;243;g35c3d30e88a_1_367"/>
          <p:cNvSpPr/>
          <p:nvPr/>
        </p:nvSpPr>
        <p:spPr>
          <a:xfrm>
            <a:off x="1381716" y="1124029"/>
            <a:ext cx="5895141" cy="7979887"/>
          </a:xfrm>
          <a:custGeom>
            <a:rect b="b" l="l" r="r" t="t"/>
            <a:pathLst>
              <a:path extrusionOk="0" h="7979887" w="5895141">
                <a:moveTo>
                  <a:pt x="0" y="0"/>
                </a:moveTo>
                <a:lnTo>
                  <a:pt x="5895141" y="0"/>
                </a:lnTo>
                <a:lnTo>
                  <a:pt x="5895141" y="7979887"/>
                </a:lnTo>
                <a:lnTo>
                  <a:pt x="0" y="7979887"/>
                </a:lnTo>
                <a:lnTo>
                  <a:pt x="0" y="0"/>
                </a:lnTo>
                <a:close/>
              </a:path>
            </a:pathLst>
          </a:custGeom>
          <a:blipFill rotWithShape="1">
            <a:blip r:embed="rId4">
              <a:alphaModFix/>
            </a:blip>
            <a:stretch>
              <a:fillRect b="0" l="0" r="0" t="0"/>
            </a:stretch>
          </a:blipFill>
          <a:ln>
            <a:noFill/>
          </a:ln>
        </p:spPr>
      </p:sp>
      <p:sp>
        <p:nvSpPr>
          <p:cNvPr id="244" name="Google Shape;244;g35c3d30e88a_1_367"/>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8" name="Shape 248"/>
        <p:cNvGrpSpPr/>
        <p:nvPr/>
      </p:nvGrpSpPr>
      <p:grpSpPr>
        <a:xfrm>
          <a:off x="0" y="0"/>
          <a:ext cx="0" cy="0"/>
          <a:chOff x="0" y="0"/>
          <a:chExt cx="0" cy="0"/>
        </a:xfrm>
      </p:grpSpPr>
      <p:sp>
        <p:nvSpPr>
          <p:cNvPr id="249" name="Google Shape;249;g35c3d30e88a_1_456"/>
          <p:cNvSpPr/>
          <p:nvPr/>
        </p:nvSpPr>
        <p:spPr>
          <a:xfrm rot="-10160180">
            <a:off x="-4561866" y="-3719076"/>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sp>
        <p:nvSpPr>
          <p:cNvPr id="250" name="Google Shape;250;g35c3d30e88a_1_456"/>
          <p:cNvSpPr/>
          <p:nvPr/>
        </p:nvSpPr>
        <p:spPr>
          <a:xfrm>
            <a:off x="7951782" y="1197682"/>
            <a:ext cx="9200973" cy="5750608"/>
          </a:xfrm>
          <a:custGeom>
            <a:rect b="b" l="l" r="r" t="t"/>
            <a:pathLst>
              <a:path extrusionOk="0" h="5750608" w="9200973">
                <a:moveTo>
                  <a:pt x="0" y="0"/>
                </a:moveTo>
                <a:lnTo>
                  <a:pt x="9200972" y="0"/>
                </a:lnTo>
                <a:lnTo>
                  <a:pt x="9200972" y="5750608"/>
                </a:lnTo>
                <a:lnTo>
                  <a:pt x="0" y="5750608"/>
                </a:lnTo>
                <a:lnTo>
                  <a:pt x="0" y="0"/>
                </a:lnTo>
                <a:close/>
              </a:path>
            </a:pathLst>
          </a:custGeom>
          <a:blipFill rotWithShape="1">
            <a:blip r:embed="rId4">
              <a:alphaModFix/>
            </a:blip>
            <a:stretch>
              <a:fillRect b="0" l="0" r="0" t="0"/>
            </a:stretch>
          </a:blipFill>
          <a:ln>
            <a:noFill/>
          </a:ln>
        </p:spPr>
      </p:sp>
      <p:sp>
        <p:nvSpPr>
          <p:cNvPr id="251" name="Google Shape;251;g35c3d30e88a_1_456"/>
          <p:cNvSpPr txBox="1"/>
          <p:nvPr/>
        </p:nvSpPr>
        <p:spPr>
          <a:xfrm>
            <a:off x="754783" y="1226940"/>
            <a:ext cx="6923100" cy="5885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necesidad de</a:t>
            </a:r>
            <a:r>
              <a:rPr b="0" i="0" lang="en-US" sz="2499" u="none" cap="none" strike="noStrike">
                <a:solidFill>
                  <a:srgbClr val="67D3CD"/>
                </a:solidFill>
                <a:latin typeface="Montserrat"/>
                <a:ea typeface="Montserrat"/>
                <a:cs typeface="Montserrat"/>
                <a:sym typeface="Montserrat"/>
              </a:rPr>
              <a:t> llamadas al sistema</a:t>
            </a:r>
            <a:r>
              <a:rPr b="0" i="0" lang="en-US" sz="2499" u="none" cap="none" strike="noStrike">
                <a:solidFill>
                  <a:srgbClr val="FFFFFF"/>
                </a:solidFill>
                <a:latin typeface="Montserrat"/>
                <a:ea typeface="Montserrat"/>
                <a:cs typeface="Montserrat"/>
                <a:sym typeface="Montserrat"/>
              </a:rPr>
              <a:t> está estrechamente ligada al modelo de sistema operativo moderno con modo de usuario y modo kernel (monolítico).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Procesos en </a:t>
            </a:r>
            <a:r>
              <a:rPr b="0" i="0" lang="en-US" sz="2499" u="none" cap="none" strike="noStrike">
                <a:solidFill>
                  <a:srgbClr val="67D3CD"/>
                </a:solidFill>
                <a:latin typeface="Montserrat"/>
                <a:ea typeface="Montserrat"/>
                <a:cs typeface="Montserrat"/>
                <a:sym typeface="Montserrat"/>
              </a:rPr>
              <a:t>modo usuario</a:t>
            </a:r>
            <a:r>
              <a:rPr b="0" i="0" lang="en-US" sz="2499" u="none" cap="none" strike="noStrike">
                <a:solidFill>
                  <a:srgbClr val="FFFFFF"/>
                </a:solidFill>
                <a:latin typeface="Montserrat"/>
                <a:ea typeface="Montserrat"/>
                <a:cs typeface="Montserrat"/>
                <a:sym typeface="Montserrat"/>
              </a:rPr>
              <a:t> se utilizan normalmente para realizar cálculos, acceder a recursos a nivel de usuario, como archivos y memoria, y gestionar el control de procesos. Estas tienen acceso limitado a los recursos del sistema y garantiza que los procesos no puedan interferir entre sí.</a:t>
            </a:r>
            <a:endParaRPr b="0" i="0" sz="1400" u="none" cap="none" strike="noStrike">
              <a:solidFill>
                <a:srgbClr val="000000"/>
              </a:solidFill>
              <a:latin typeface="Arial"/>
              <a:ea typeface="Arial"/>
              <a:cs typeface="Arial"/>
              <a:sym typeface="Arial"/>
            </a:endParaRPr>
          </a:p>
        </p:txBody>
      </p:sp>
      <p:sp>
        <p:nvSpPr>
          <p:cNvPr id="252" name="Google Shape;252;g35c3d30e88a_1_456"/>
          <p:cNvSpPr txBox="1"/>
          <p:nvPr/>
        </p:nvSpPr>
        <p:spPr>
          <a:xfrm>
            <a:off x="754783" y="7391856"/>
            <a:ext cx="16860300" cy="2385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modo kernel</a:t>
            </a:r>
            <a:r>
              <a:rPr b="0" i="0" lang="en-US" sz="2499" u="none" cap="none" strike="noStrike">
                <a:solidFill>
                  <a:srgbClr val="FFFFFF"/>
                </a:solidFill>
                <a:latin typeface="Montserrat"/>
                <a:ea typeface="Montserrat"/>
                <a:cs typeface="Montserrat"/>
                <a:sym typeface="Montserrat"/>
              </a:rPr>
              <a:t> es el sistema de control fundamental donde se ejecutan todoslos servicios y procesos del sistema, asicomo realizar las acciones críticas del sistema por parte de los programas de aplicación que están bloqueados en el modo de usuario, comoconfigurar asignaciones de memoria o acceder a dispositivos de 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g35c3d30e88a_1_463"/>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258" name="Google Shape;258;g35c3d30e88a_1_463"/>
          <p:cNvGrpSpPr/>
          <p:nvPr/>
        </p:nvGrpSpPr>
        <p:grpSpPr>
          <a:xfrm>
            <a:off x="803485" y="6690498"/>
            <a:ext cx="16681680" cy="2823755"/>
            <a:chOff x="0" y="-28575"/>
            <a:chExt cx="4393500" cy="743700"/>
          </a:xfrm>
        </p:grpSpPr>
        <p:sp>
          <p:nvSpPr>
            <p:cNvPr id="259" name="Google Shape;259;g35c3d30e88a_1_463"/>
            <p:cNvSpPr/>
            <p:nvPr/>
          </p:nvSpPr>
          <p:spPr>
            <a:xfrm>
              <a:off x="0" y="0"/>
              <a:ext cx="4393358" cy="715125"/>
            </a:xfrm>
            <a:custGeom>
              <a:rect b="b" l="l" r="r" t="t"/>
              <a:pathLst>
                <a:path extrusionOk="0" h="715125" w="4393358">
                  <a:moveTo>
                    <a:pt x="23670" y="0"/>
                  </a:moveTo>
                  <a:lnTo>
                    <a:pt x="4369688" y="0"/>
                  </a:lnTo>
                  <a:cubicBezTo>
                    <a:pt x="4382760" y="0"/>
                    <a:pt x="4393358" y="10597"/>
                    <a:pt x="4393358" y="23670"/>
                  </a:cubicBezTo>
                  <a:lnTo>
                    <a:pt x="4393358" y="691455"/>
                  </a:lnTo>
                  <a:cubicBezTo>
                    <a:pt x="4393358" y="704528"/>
                    <a:pt x="4382760" y="715125"/>
                    <a:pt x="4369688" y="715125"/>
                  </a:cubicBezTo>
                  <a:lnTo>
                    <a:pt x="23670" y="715125"/>
                  </a:lnTo>
                  <a:cubicBezTo>
                    <a:pt x="17392" y="715125"/>
                    <a:pt x="11372" y="712631"/>
                    <a:pt x="6933" y="708192"/>
                  </a:cubicBezTo>
                  <a:cubicBezTo>
                    <a:pt x="2494" y="703753"/>
                    <a:pt x="0" y="697733"/>
                    <a:pt x="0" y="691455"/>
                  </a:cubicBezTo>
                  <a:lnTo>
                    <a:pt x="0" y="23670"/>
                  </a:lnTo>
                  <a:cubicBezTo>
                    <a:pt x="0" y="10597"/>
                    <a:pt x="10597" y="0"/>
                    <a:pt x="236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5c3d30e88a_1_463"/>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1" name="Google Shape;261;g35c3d30e88a_1_463"/>
          <p:cNvSpPr/>
          <p:nvPr/>
        </p:nvSpPr>
        <p:spPr>
          <a:xfrm>
            <a:off x="4118348" y="772765"/>
            <a:ext cx="9381730" cy="5722855"/>
          </a:xfrm>
          <a:custGeom>
            <a:rect b="b" l="l" r="r" t="t"/>
            <a:pathLst>
              <a:path extrusionOk="0" h="5722855" w="9381730">
                <a:moveTo>
                  <a:pt x="0" y="0"/>
                </a:moveTo>
                <a:lnTo>
                  <a:pt x="9381729" y="0"/>
                </a:lnTo>
                <a:lnTo>
                  <a:pt x="9381729" y="5722855"/>
                </a:lnTo>
                <a:lnTo>
                  <a:pt x="0" y="5722855"/>
                </a:lnTo>
                <a:lnTo>
                  <a:pt x="0" y="0"/>
                </a:lnTo>
                <a:close/>
              </a:path>
            </a:pathLst>
          </a:custGeom>
          <a:blipFill rotWithShape="1">
            <a:blip r:embed="rId4">
              <a:alphaModFix/>
            </a:blip>
            <a:stretch>
              <a:fillRect b="0" l="0" r="0" t="0"/>
            </a:stretch>
          </a:blipFill>
          <a:ln>
            <a:noFill/>
          </a:ln>
        </p:spPr>
      </p:sp>
      <p:sp>
        <p:nvSpPr>
          <p:cNvPr id="262" name="Google Shape;262;g35c3d30e88a_1_463"/>
          <p:cNvSpPr txBox="1"/>
          <p:nvPr/>
        </p:nvSpPr>
        <p:spPr>
          <a:xfrm>
            <a:off x="1381750" y="7067301"/>
            <a:ext cx="15524400" cy="2480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Linux, realizar una llamada al sistema implica transferir el control del modo de usuario sin privilegios al modo de kernel privilegiado; Los detalles de esta transferencia varían de una arquitectura a otra. Las bibliotecas se encargan de recopilar los argumentos de la llamada al sistema y, si es necesario, de organizarlos en la forma especial necesaria para realizar la llamada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6" name="Shape 266"/>
        <p:cNvGrpSpPr/>
        <p:nvPr/>
      </p:nvGrpSpPr>
      <p:grpSpPr>
        <a:xfrm>
          <a:off x="0" y="0"/>
          <a:ext cx="0" cy="0"/>
          <a:chOff x="0" y="0"/>
          <a:chExt cx="0" cy="0"/>
        </a:xfrm>
      </p:grpSpPr>
      <p:grpSp>
        <p:nvGrpSpPr>
          <p:cNvPr id="267" name="Google Shape;267;g35c3d30e88a_1_551"/>
          <p:cNvGrpSpPr/>
          <p:nvPr/>
        </p:nvGrpSpPr>
        <p:grpSpPr>
          <a:xfrm>
            <a:off x="4873272" y="3255538"/>
            <a:ext cx="8541452" cy="3775920"/>
            <a:chOff x="0" y="-28575"/>
            <a:chExt cx="2177442" cy="1741500"/>
          </a:xfrm>
        </p:grpSpPr>
        <p:sp>
          <p:nvSpPr>
            <p:cNvPr id="268" name="Google Shape;268;g35c3d30e88a_1_5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35c3d30e88a_1_5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0" name="Google Shape;270;g35c3d30e88a_1_551"/>
          <p:cNvSpPr txBox="1"/>
          <p:nvPr/>
        </p:nvSpPr>
        <p:spPr>
          <a:xfrm>
            <a:off x="5075261" y="4292997"/>
            <a:ext cx="8137500" cy="1701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COMUNES AL SISTEMA DE 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4" name="Shape 274"/>
        <p:cNvGrpSpPr/>
        <p:nvPr/>
      </p:nvGrpSpPr>
      <p:grpSpPr>
        <a:xfrm>
          <a:off x="0" y="0"/>
          <a:ext cx="0" cy="0"/>
          <a:chOff x="0" y="0"/>
          <a:chExt cx="0" cy="0"/>
        </a:xfrm>
      </p:grpSpPr>
      <p:grpSp>
        <p:nvGrpSpPr>
          <p:cNvPr id="275" name="Google Shape;275;g35c3d30e88a_1_560"/>
          <p:cNvGrpSpPr/>
          <p:nvPr/>
        </p:nvGrpSpPr>
        <p:grpSpPr>
          <a:xfrm>
            <a:off x="914568" y="2540112"/>
            <a:ext cx="7126269" cy="7087294"/>
            <a:chOff x="0" y="-19050"/>
            <a:chExt cx="1876865" cy="1866600"/>
          </a:xfrm>
        </p:grpSpPr>
        <p:sp>
          <p:nvSpPr>
            <p:cNvPr id="276" name="Google Shape;276;g35c3d30e88a_1_560"/>
            <p:cNvSpPr/>
            <p:nvPr/>
          </p:nvSpPr>
          <p:spPr>
            <a:xfrm>
              <a:off x="0" y="0"/>
              <a:ext cx="1876865" cy="1847444"/>
            </a:xfrm>
            <a:custGeom>
              <a:rect b="b" l="l" r="r" t="t"/>
              <a:pathLst>
                <a:path extrusionOk="0" h="1847444" w="1876865">
                  <a:moveTo>
                    <a:pt x="55406" y="0"/>
                  </a:moveTo>
                  <a:lnTo>
                    <a:pt x="1821459" y="0"/>
                  </a:lnTo>
                  <a:cubicBezTo>
                    <a:pt x="1852059" y="0"/>
                    <a:pt x="1876865" y="24806"/>
                    <a:pt x="1876865" y="55406"/>
                  </a:cubicBezTo>
                  <a:lnTo>
                    <a:pt x="1876865" y="1792038"/>
                  </a:lnTo>
                  <a:cubicBezTo>
                    <a:pt x="1876865" y="1806733"/>
                    <a:pt x="1871027" y="1820825"/>
                    <a:pt x="1860637" y="1831216"/>
                  </a:cubicBezTo>
                  <a:cubicBezTo>
                    <a:pt x="1850246" y="1841607"/>
                    <a:pt x="1836153" y="1847444"/>
                    <a:pt x="1821459" y="1847444"/>
                  </a:cubicBezTo>
                  <a:lnTo>
                    <a:pt x="55406" y="1847444"/>
                  </a:lnTo>
                  <a:cubicBezTo>
                    <a:pt x="24806" y="1847444"/>
                    <a:pt x="0" y="1822638"/>
                    <a:pt x="0" y="1792038"/>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5c3d30e88a_1_560"/>
            <p:cNvSpPr txBox="1"/>
            <p:nvPr/>
          </p:nvSpPr>
          <p:spPr>
            <a:xfrm>
              <a:off x="0" y="-19050"/>
              <a:ext cx="1876800" cy="1866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8" name="Google Shape;278;g35c3d30e88a_1_560"/>
          <p:cNvGrpSpPr/>
          <p:nvPr/>
        </p:nvGrpSpPr>
        <p:grpSpPr>
          <a:xfrm>
            <a:off x="8632863" y="828891"/>
            <a:ext cx="8740627" cy="8798177"/>
            <a:chOff x="0" y="-19050"/>
            <a:chExt cx="2302043" cy="2317200"/>
          </a:xfrm>
        </p:grpSpPr>
        <p:sp>
          <p:nvSpPr>
            <p:cNvPr id="279" name="Google Shape;279;g35c3d30e88a_1_560"/>
            <p:cNvSpPr/>
            <p:nvPr/>
          </p:nvSpPr>
          <p:spPr>
            <a:xfrm>
              <a:off x="0" y="0"/>
              <a:ext cx="2302043" cy="2298136"/>
            </a:xfrm>
            <a:custGeom>
              <a:rect b="b" l="l" r="r" t="t"/>
              <a:pathLst>
                <a:path extrusionOk="0" h="2298136" w="2302043">
                  <a:moveTo>
                    <a:pt x="45173" y="0"/>
                  </a:moveTo>
                  <a:lnTo>
                    <a:pt x="2256870" y="0"/>
                  </a:lnTo>
                  <a:cubicBezTo>
                    <a:pt x="2281818" y="0"/>
                    <a:pt x="2302043" y="20225"/>
                    <a:pt x="2302043" y="45173"/>
                  </a:cubicBezTo>
                  <a:lnTo>
                    <a:pt x="2302043" y="2252963"/>
                  </a:lnTo>
                  <a:cubicBezTo>
                    <a:pt x="2302043" y="2277911"/>
                    <a:pt x="2281818" y="2298136"/>
                    <a:pt x="2256870" y="2298136"/>
                  </a:cubicBezTo>
                  <a:lnTo>
                    <a:pt x="45173" y="2298136"/>
                  </a:lnTo>
                  <a:cubicBezTo>
                    <a:pt x="20225" y="2298136"/>
                    <a:pt x="0" y="2277911"/>
                    <a:pt x="0" y="2252963"/>
                  </a:cubicBezTo>
                  <a:lnTo>
                    <a:pt x="0" y="45173"/>
                  </a:lnTo>
                  <a:cubicBezTo>
                    <a:pt x="0" y="20225"/>
                    <a:pt x="20225" y="0"/>
                    <a:pt x="4517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5c3d30e88a_1_560"/>
            <p:cNvSpPr txBox="1"/>
            <p:nvPr/>
          </p:nvSpPr>
          <p:spPr>
            <a:xfrm>
              <a:off x="0" y="-19050"/>
              <a:ext cx="2301900" cy="2317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1" name="Google Shape;281;g35c3d30e88a_1_560"/>
          <p:cNvSpPr/>
          <p:nvPr/>
        </p:nvSpPr>
        <p:spPr>
          <a:xfrm rot="-474430">
            <a:off x="5922774" y="816245"/>
            <a:ext cx="1509393" cy="1509393"/>
          </a:xfrm>
          <a:custGeom>
            <a:rect b="b" l="l" r="r" t="t"/>
            <a:pathLst>
              <a:path extrusionOk="0" h="1510144" w="1510144">
                <a:moveTo>
                  <a:pt x="0" y="0"/>
                </a:moveTo>
                <a:lnTo>
                  <a:pt x="1510144" y="0"/>
                </a:lnTo>
                <a:lnTo>
                  <a:pt x="1510144" y="1510145"/>
                </a:lnTo>
                <a:lnTo>
                  <a:pt x="0" y="1510145"/>
                </a:lnTo>
                <a:lnTo>
                  <a:pt x="0" y="0"/>
                </a:lnTo>
                <a:close/>
              </a:path>
            </a:pathLst>
          </a:custGeom>
          <a:blipFill rotWithShape="1">
            <a:blip r:embed="rId3">
              <a:alphaModFix/>
            </a:blip>
            <a:stretch>
              <a:fillRect b="0" l="0" r="0" t="0"/>
            </a:stretch>
          </a:blipFill>
          <a:ln>
            <a:noFill/>
          </a:ln>
        </p:spPr>
      </p:sp>
      <p:sp>
        <p:nvSpPr>
          <p:cNvPr id="282" name="Google Shape;282;g35c3d30e88a_1_560"/>
          <p:cNvSpPr/>
          <p:nvPr/>
        </p:nvSpPr>
        <p:spPr>
          <a:xfrm>
            <a:off x="9286230" y="5095352"/>
            <a:ext cx="7433836" cy="4162948"/>
          </a:xfrm>
          <a:custGeom>
            <a:rect b="b" l="l" r="r" t="t"/>
            <a:pathLst>
              <a:path extrusionOk="0" h="4162948" w="7433836">
                <a:moveTo>
                  <a:pt x="0" y="0"/>
                </a:moveTo>
                <a:lnTo>
                  <a:pt x="7433836" y="0"/>
                </a:lnTo>
                <a:lnTo>
                  <a:pt x="7433836" y="4162948"/>
                </a:lnTo>
                <a:lnTo>
                  <a:pt x="0" y="4162948"/>
                </a:lnTo>
                <a:lnTo>
                  <a:pt x="0" y="0"/>
                </a:lnTo>
                <a:close/>
              </a:path>
            </a:pathLst>
          </a:custGeom>
          <a:blipFill rotWithShape="1">
            <a:blip r:embed="rId4">
              <a:alphaModFix/>
            </a:blip>
            <a:stretch>
              <a:fillRect b="0" l="0" r="0" t="0"/>
            </a:stretch>
          </a:blipFill>
          <a:ln>
            <a:noFill/>
          </a:ln>
        </p:spPr>
      </p:sp>
      <p:sp>
        <p:nvSpPr>
          <p:cNvPr id="283" name="Google Shape;283;g35c3d30e88a_1_560"/>
          <p:cNvSpPr txBox="1"/>
          <p:nvPr/>
        </p:nvSpPr>
        <p:spPr>
          <a:xfrm>
            <a:off x="1426918" y="109022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FORK( )</a:t>
            </a:r>
            <a:endParaRPr b="0" i="0" sz="1400" u="none" cap="none" strike="noStrike">
              <a:solidFill>
                <a:srgbClr val="000000"/>
              </a:solidFill>
              <a:latin typeface="Arial"/>
              <a:ea typeface="Arial"/>
              <a:cs typeface="Arial"/>
              <a:sym typeface="Arial"/>
            </a:endParaRPr>
          </a:p>
        </p:txBody>
      </p:sp>
      <p:sp>
        <p:nvSpPr>
          <p:cNvPr id="284" name="Google Shape;284;g35c3d30e88a_1_560"/>
          <p:cNvSpPr txBox="1"/>
          <p:nvPr/>
        </p:nvSpPr>
        <p:spPr>
          <a:xfrm>
            <a:off x="1431967" y="3219020"/>
            <a:ext cx="61731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kernel crea un nuevo proceso (proceso hijo) realizando una copia del proceso que realiza la llamada al sistema fork (proceso padre). Así, salvo el PID y el PPID los dos procesos serán inicialmente idénticos. De esta forma los nuevos procesos obtienen una copia de los recursos del padre (heredan el entorno).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proceso hijo tendrá copias de los descriptores, si los utiliza el proceso padre. Sin embargo, las copias de los descriptores harán referencia a los mismos objetos subyacentes.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285" name="Google Shape;285;g35c3d30e88a_1_560"/>
          <p:cNvSpPr txBox="1"/>
          <p:nvPr/>
        </p:nvSpPr>
        <p:spPr>
          <a:xfrm>
            <a:off x="9003469" y="1242706"/>
            <a:ext cx="7999500" cy="429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int pid = fork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Este retornará un valor diferente dependiendo de donde sea ejecutado, sus posibles valores son: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0 cuando se ejecuta desde el proceso hijo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PID del nuevo proceso cuando se ejecuta del proceso padre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-1 si ocurre un error al crear el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9" name="Shape 289"/>
        <p:cNvGrpSpPr/>
        <p:nvPr/>
      </p:nvGrpSpPr>
      <p:grpSpPr>
        <a:xfrm>
          <a:off x="0" y="0"/>
          <a:ext cx="0" cy="0"/>
          <a:chOff x="0" y="0"/>
          <a:chExt cx="0" cy="0"/>
        </a:xfrm>
      </p:grpSpPr>
      <p:grpSp>
        <p:nvGrpSpPr>
          <p:cNvPr id="290" name="Google Shape;290;g35c3d30e88a_1_574"/>
          <p:cNvGrpSpPr/>
          <p:nvPr/>
        </p:nvGrpSpPr>
        <p:grpSpPr>
          <a:xfrm>
            <a:off x="971634" y="5462937"/>
            <a:ext cx="16344838" cy="3418349"/>
            <a:chOff x="0" y="-19050"/>
            <a:chExt cx="4304785" cy="900300"/>
          </a:xfrm>
        </p:grpSpPr>
        <p:sp>
          <p:nvSpPr>
            <p:cNvPr id="291" name="Google Shape;291;g35c3d30e88a_1_574"/>
            <p:cNvSpPr/>
            <p:nvPr/>
          </p:nvSpPr>
          <p:spPr>
            <a:xfrm>
              <a:off x="0" y="0"/>
              <a:ext cx="4304785" cy="881115"/>
            </a:xfrm>
            <a:custGeom>
              <a:rect b="b" l="l" r="r" t="t"/>
              <a:pathLst>
                <a:path extrusionOk="0" h="881115" w="4304785">
                  <a:moveTo>
                    <a:pt x="24157" y="0"/>
                  </a:moveTo>
                  <a:lnTo>
                    <a:pt x="4280628" y="0"/>
                  </a:lnTo>
                  <a:cubicBezTo>
                    <a:pt x="4287035" y="0"/>
                    <a:pt x="4293180" y="2545"/>
                    <a:pt x="4297710" y="7075"/>
                  </a:cubicBezTo>
                  <a:cubicBezTo>
                    <a:pt x="4302240" y="11606"/>
                    <a:pt x="4304785" y="17750"/>
                    <a:pt x="4304785" y="24157"/>
                  </a:cubicBezTo>
                  <a:lnTo>
                    <a:pt x="4304785" y="856958"/>
                  </a:lnTo>
                  <a:cubicBezTo>
                    <a:pt x="4304785" y="863365"/>
                    <a:pt x="4302240" y="869509"/>
                    <a:pt x="4297710" y="874040"/>
                  </a:cubicBezTo>
                  <a:cubicBezTo>
                    <a:pt x="4293180" y="878570"/>
                    <a:pt x="4287035" y="881115"/>
                    <a:pt x="4280628" y="881115"/>
                  </a:cubicBezTo>
                  <a:lnTo>
                    <a:pt x="24157" y="881115"/>
                  </a:lnTo>
                  <a:cubicBezTo>
                    <a:pt x="17750" y="881115"/>
                    <a:pt x="11606" y="878570"/>
                    <a:pt x="7075" y="874040"/>
                  </a:cubicBezTo>
                  <a:cubicBezTo>
                    <a:pt x="2545" y="869509"/>
                    <a:pt x="0" y="863365"/>
                    <a:pt x="0" y="856958"/>
                  </a:cubicBezTo>
                  <a:lnTo>
                    <a:pt x="0" y="24157"/>
                  </a:lnTo>
                  <a:cubicBezTo>
                    <a:pt x="0" y="17750"/>
                    <a:pt x="2545" y="11606"/>
                    <a:pt x="7075" y="7075"/>
                  </a:cubicBezTo>
                  <a:cubicBezTo>
                    <a:pt x="11606" y="2545"/>
                    <a:pt x="17750" y="0"/>
                    <a:pt x="2415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35c3d30e88a_1_574"/>
            <p:cNvSpPr txBox="1"/>
            <p:nvPr/>
          </p:nvSpPr>
          <p:spPr>
            <a:xfrm>
              <a:off x="0" y="-19050"/>
              <a:ext cx="4304700" cy="90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g35c3d30e88a_1_574"/>
          <p:cNvGrpSpPr/>
          <p:nvPr/>
        </p:nvGrpSpPr>
        <p:grpSpPr>
          <a:xfrm>
            <a:off x="7643292" y="1006081"/>
            <a:ext cx="9673138" cy="4115657"/>
            <a:chOff x="0" y="-19050"/>
            <a:chExt cx="2547641" cy="1083952"/>
          </a:xfrm>
        </p:grpSpPr>
        <p:sp>
          <p:nvSpPr>
            <p:cNvPr id="294" name="Google Shape;294;g35c3d30e88a_1_574"/>
            <p:cNvSpPr/>
            <p:nvPr/>
          </p:nvSpPr>
          <p:spPr>
            <a:xfrm>
              <a:off x="0" y="0"/>
              <a:ext cx="2547641" cy="1064902"/>
            </a:xfrm>
            <a:custGeom>
              <a:rect b="b" l="l" r="r" t="t"/>
              <a:pathLst>
                <a:path extrusionOk="0" h="1064902" w="2547641">
                  <a:moveTo>
                    <a:pt x="40818" y="0"/>
                  </a:moveTo>
                  <a:lnTo>
                    <a:pt x="2506823" y="0"/>
                  </a:lnTo>
                  <a:cubicBezTo>
                    <a:pt x="2529366" y="0"/>
                    <a:pt x="2547641" y="18275"/>
                    <a:pt x="2547641" y="40818"/>
                  </a:cubicBezTo>
                  <a:lnTo>
                    <a:pt x="2547641" y="1024083"/>
                  </a:lnTo>
                  <a:cubicBezTo>
                    <a:pt x="2547641" y="1034909"/>
                    <a:pt x="2543340" y="1045291"/>
                    <a:pt x="2535686" y="1052946"/>
                  </a:cubicBezTo>
                  <a:cubicBezTo>
                    <a:pt x="2528031" y="1060601"/>
                    <a:pt x="2517648" y="1064902"/>
                    <a:pt x="2506823" y="1064902"/>
                  </a:cubicBezTo>
                  <a:lnTo>
                    <a:pt x="40818" y="1064902"/>
                  </a:lnTo>
                  <a:cubicBezTo>
                    <a:pt x="29993" y="1064902"/>
                    <a:pt x="19610" y="1060601"/>
                    <a:pt x="11955" y="1052946"/>
                  </a:cubicBezTo>
                  <a:cubicBezTo>
                    <a:pt x="4300" y="1045291"/>
                    <a:pt x="0" y="1034909"/>
                    <a:pt x="0" y="1024083"/>
                  </a:cubicBezTo>
                  <a:lnTo>
                    <a:pt x="0" y="40818"/>
                  </a:lnTo>
                  <a:cubicBezTo>
                    <a:pt x="0" y="29993"/>
                    <a:pt x="4300" y="19610"/>
                    <a:pt x="11955" y="11955"/>
                  </a:cubicBezTo>
                  <a:cubicBezTo>
                    <a:pt x="19610" y="4300"/>
                    <a:pt x="29993" y="0"/>
                    <a:pt x="408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5c3d30e88a_1_574"/>
            <p:cNvSpPr txBox="1"/>
            <p:nvPr/>
          </p:nvSpPr>
          <p:spPr>
            <a:xfrm>
              <a:off x="0" y="-19050"/>
              <a:ext cx="2547600" cy="108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g35c3d30e88a_1_574"/>
          <p:cNvSpPr/>
          <p:nvPr/>
        </p:nvSpPr>
        <p:spPr>
          <a:xfrm>
            <a:off x="5477066" y="2472060"/>
            <a:ext cx="1816963" cy="1812421"/>
          </a:xfrm>
          <a:custGeom>
            <a:rect b="b" l="l" r="r" t="t"/>
            <a:pathLst>
              <a:path extrusionOk="0" h="1812421" w="1816963">
                <a:moveTo>
                  <a:pt x="0" y="0"/>
                </a:moveTo>
                <a:lnTo>
                  <a:pt x="1816963" y="0"/>
                </a:lnTo>
                <a:lnTo>
                  <a:pt x="1816963" y="1812421"/>
                </a:lnTo>
                <a:lnTo>
                  <a:pt x="0" y="1812421"/>
                </a:lnTo>
                <a:lnTo>
                  <a:pt x="0" y="0"/>
                </a:lnTo>
                <a:close/>
              </a:path>
            </a:pathLst>
          </a:custGeom>
          <a:blipFill rotWithShape="1">
            <a:blip r:embed="rId3">
              <a:alphaModFix/>
            </a:blip>
            <a:stretch>
              <a:fillRect b="0" l="0" r="0" t="0"/>
            </a:stretch>
          </a:blipFill>
          <a:ln>
            <a:noFill/>
          </a:ln>
        </p:spPr>
      </p:sp>
      <p:sp>
        <p:nvSpPr>
          <p:cNvPr id="297" name="Google Shape;297;g35c3d30e88a_1_574"/>
          <p:cNvSpPr/>
          <p:nvPr/>
        </p:nvSpPr>
        <p:spPr>
          <a:xfrm>
            <a:off x="8018286" y="1406248"/>
            <a:ext cx="8993193" cy="3282515"/>
          </a:xfrm>
          <a:custGeom>
            <a:rect b="b" l="l" r="r" t="t"/>
            <a:pathLst>
              <a:path extrusionOk="0" h="3282515" w="8993193">
                <a:moveTo>
                  <a:pt x="0" y="0"/>
                </a:moveTo>
                <a:lnTo>
                  <a:pt x="8993192" y="0"/>
                </a:lnTo>
                <a:lnTo>
                  <a:pt x="8993192" y="3282515"/>
                </a:lnTo>
                <a:lnTo>
                  <a:pt x="0" y="3282515"/>
                </a:lnTo>
                <a:lnTo>
                  <a:pt x="0" y="0"/>
                </a:lnTo>
                <a:close/>
              </a:path>
            </a:pathLst>
          </a:custGeom>
          <a:blipFill rotWithShape="1">
            <a:blip r:embed="rId4">
              <a:alphaModFix/>
            </a:blip>
            <a:stretch>
              <a:fillRect b="0" l="0" r="0" t="0"/>
            </a:stretch>
          </a:blipFill>
          <a:ln>
            <a:noFill/>
          </a:ln>
        </p:spPr>
      </p:sp>
      <p:sp>
        <p:nvSpPr>
          <p:cNvPr id="298" name="Google Shape;298;g35c3d30e88a_1_574"/>
          <p:cNvSpPr txBox="1"/>
          <p:nvPr/>
        </p:nvSpPr>
        <p:spPr>
          <a:xfrm>
            <a:off x="1283595" y="2759463"/>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EXEC( )</a:t>
            </a:r>
            <a:endParaRPr b="0" i="0" sz="1400" u="none" cap="none" strike="noStrike">
              <a:solidFill>
                <a:srgbClr val="000000"/>
              </a:solidFill>
              <a:latin typeface="Arial"/>
              <a:ea typeface="Arial"/>
              <a:cs typeface="Arial"/>
              <a:sym typeface="Arial"/>
            </a:endParaRPr>
          </a:p>
        </p:txBody>
      </p:sp>
      <p:sp>
        <p:nvSpPr>
          <p:cNvPr id="299" name="Google Shape;299;g35c3d30e88a_1_574"/>
          <p:cNvSpPr txBox="1"/>
          <p:nvPr/>
        </p:nvSpPr>
        <p:spPr>
          <a:xfrm>
            <a:off x="1511117" y="5959928"/>
            <a:ext cx="153798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exec permite remplazarlos segmentos de instrucciones y de datos de usuario por otros nuevos a partir de un archivo ejecutable en disco, con lo que se consigue que un proceso deje de ejecutar instrucciones de un programa y comience a ejecutar instrucciones de un nuevo programa.</a:t>
            </a:r>
            <a:r>
              <a:rPr b="0" i="0" lang="en-US" sz="2199" u="none" cap="none" strike="noStrike">
                <a:solidFill>
                  <a:srgbClr val="67D3CD"/>
                </a:solidFill>
                <a:latin typeface="Montserrat"/>
                <a:ea typeface="Montserrat"/>
                <a:cs typeface="Montserrat"/>
                <a:sym typeface="Montserrat"/>
              </a:rPr>
              <a:t> exec() no crea ningún proceso nuevo.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programa que se está ejecutando actualmente finaliza inmediatamente y el nuevo programa comienza aejecutarse en el contexto del proceso existente.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3" name="Shape 303"/>
        <p:cNvGrpSpPr/>
        <p:nvPr/>
      </p:nvGrpSpPr>
      <p:grpSpPr>
        <a:xfrm>
          <a:off x="0" y="0"/>
          <a:ext cx="0" cy="0"/>
          <a:chOff x="0" y="0"/>
          <a:chExt cx="0" cy="0"/>
        </a:xfrm>
      </p:grpSpPr>
      <p:grpSp>
        <p:nvGrpSpPr>
          <p:cNvPr id="304" name="Google Shape;304;g35c3d30e88a_1_599"/>
          <p:cNvGrpSpPr/>
          <p:nvPr/>
        </p:nvGrpSpPr>
        <p:grpSpPr>
          <a:xfrm>
            <a:off x="7891842" y="3046614"/>
            <a:ext cx="9238169" cy="2316868"/>
            <a:chOff x="0" y="-19050"/>
            <a:chExt cx="2433082" cy="610200"/>
          </a:xfrm>
        </p:grpSpPr>
        <p:sp>
          <p:nvSpPr>
            <p:cNvPr id="305" name="Google Shape;305;g35c3d30e88a_1_599"/>
            <p:cNvSpPr/>
            <p:nvPr/>
          </p:nvSpPr>
          <p:spPr>
            <a:xfrm>
              <a:off x="0" y="0"/>
              <a:ext cx="2433082" cy="591142"/>
            </a:xfrm>
            <a:custGeom>
              <a:rect b="b" l="l" r="r" t="t"/>
              <a:pathLst>
                <a:path extrusionOk="0" h="591142" w="2433082">
                  <a:moveTo>
                    <a:pt x="42740" y="0"/>
                  </a:moveTo>
                  <a:lnTo>
                    <a:pt x="2390342" y="0"/>
                  </a:lnTo>
                  <a:cubicBezTo>
                    <a:pt x="2413947" y="0"/>
                    <a:pt x="2433082" y="19135"/>
                    <a:pt x="2433082" y="42740"/>
                  </a:cubicBezTo>
                  <a:lnTo>
                    <a:pt x="2433082" y="548401"/>
                  </a:lnTo>
                  <a:cubicBezTo>
                    <a:pt x="2433082" y="572006"/>
                    <a:pt x="2413947" y="591142"/>
                    <a:pt x="2390342" y="591142"/>
                  </a:cubicBezTo>
                  <a:lnTo>
                    <a:pt x="42740" y="591142"/>
                  </a:lnTo>
                  <a:cubicBezTo>
                    <a:pt x="19135" y="591142"/>
                    <a:pt x="0" y="572006"/>
                    <a:pt x="0" y="548401"/>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35c3d30e88a_1_599"/>
            <p:cNvSpPr txBox="1"/>
            <p:nvPr/>
          </p:nvSpPr>
          <p:spPr>
            <a:xfrm>
              <a:off x="0" y="-19050"/>
              <a:ext cx="2433000" cy="61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7" name="Google Shape;307;g35c3d30e88a_1_599"/>
          <p:cNvSpPr/>
          <p:nvPr/>
        </p:nvSpPr>
        <p:spPr>
          <a:xfrm>
            <a:off x="13345080" y="808764"/>
            <a:ext cx="1677369" cy="1700755"/>
          </a:xfrm>
          <a:custGeom>
            <a:rect b="b" l="l" r="r" t="t"/>
            <a:pathLst>
              <a:path extrusionOk="0" h="1700755" w="1677369">
                <a:moveTo>
                  <a:pt x="0" y="0"/>
                </a:moveTo>
                <a:lnTo>
                  <a:pt x="1677369" y="0"/>
                </a:lnTo>
                <a:lnTo>
                  <a:pt x="1677369" y="1700755"/>
                </a:lnTo>
                <a:lnTo>
                  <a:pt x="0" y="1700755"/>
                </a:lnTo>
                <a:lnTo>
                  <a:pt x="0" y="0"/>
                </a:lnTo>
                <a:close/>
              </a:path>
            </a:pathLst>
          </a:custGeom>
          <a:blipFill rotWithShape="1">
            <a:blip r:embed="rId3">
              <a:alphaModFix/>
            </a:blip>
            <a:stretch>
              <a:fillRect b="0" l="0" r="0" t="0"/>
            </a:stretch>
          </a:blipFill>
          <a:ln>
            <a:noFill/>
          </a:ln>
        </p:spPr>
      </p:sp>
      <p:grpSp>
        <p:nvGrpSpPr>
          <p:cNvPr id="308" name="Google Shape;308;g35c3d30e88a_1_599"/>
          <p:cNvGrpSpPr/>
          <p:nvPr/>
        </p:nvGrpSpPr>
        <p:grpSpPr>
          <a:xfrm>
            <a:off x="1158050" y="3016179"/>
            <a:ext cx="6418659" cy="6462100"/>
            <a:chOff x="0" y="-19050"/>
            <a:chExt cx="1690500" cy="1701941"/>
          </a:xfrm>
        </p:grpSpPr>
        <p:sp>
          <p:nvSpPr>
            <p:cNvPr id="309" name="Google Shape;309;g35c3d30e88a_1_599"/>
            <p:cNvSpPr/>
            <p:nvPr/>
          </p:nvSpPr>
          <p:spPr>
            <a:xfrm>
              <a:off x="0" y="0"/>
              <a:ext cx="1690420" cy="1682891"/>
            </a:xfrm>
            <a:custGeom>
              <a:rect b="b" l="l" r="r" t="t"/>
              <a:pathLst>
                <a:path extrusionOk="0" h="1682891" w="1690420">
                  <a:moveTo>
                    <a:pt x="61517" y="0"/>
                  </a:moveTo>
                  <a:lnTo>
                    <a:pt x="1628903" y="0"/>
                  </a:lnTo>
                  <a:cubicBezTo>
                    <a:pt x="1662878" y="0"/>
                    <a:pt x="1690420" y="27542"/>
                    <a:pt x="1690420" y="61517"/>
                  </a:cubicBezTo>
                  <a:lnTo>
                    <a:pt x="1690420" y="1621373"/>
                  </a:lnTo>
                  <a:cubicBezTo>
                    <a:pt x="1690420" y="1637689"/>
                    <a:pt x="1683939" y="1653336"/>
                    <a:pt x="1672402" y="1664873"/>
                  </a:cubicBezTo>
                  <a:cubicBezTo>
                    <a:pt x="1660865" y="1676409"/>
                    <a:pt x="1645218" y="1682891"/>
                    <a:pt x="1628903" y="1682891"/>
                  </a:cubicBezTo>
                  <a:lnTo>
                    <a:pt x="61517" y="1682891"/>
                  </a:lnTo>
                  <a:cubicBezTo>
                    <a:pt x="45202" y="1682891"/>
                    <a:pt x="29555" y="1676409"/>
                    <a:pt x="18018" y="1664873"/>
                  </a:cubicBezTo>
                  <a:cubicBezTo>
                    <a:pt x="6481" y="1653336"/>
                    <a:pt x="0" y="1637689"/>
                    <a:pt x="0" y="1621373"/>
                  </a:cubicBezTo>
                  <a:lnTo>
                    <a:pt x="0" y="61517"/>
                  </a:lnTo>
                  <a:cubicBezTo>
                    <a:pt x="0" y="27542"/>
                    <a:pt x="27542" y="0"/>
                    <a:pt x="615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5c3d30e88a_1_599"/>
            <p:cNvSpPr txBox="1"/>
            <p:nvPr/>
          </p:nvSpPr>
          <p:spPr>
            <a:xfrm>
              <a:off x="0" y="-19050"/>
              <a:ext cx="16905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1" name="Google Shape;311;g35c3d30e88a_1_599"/>
          <p:cNvSpPr/>
          <p:nvPr/>
        </p:nvSpPr>
        <p:spPr>
          <a:xfrm>
            <a:off x="5572750" y="1069344"/>
            <a:ext cx="1749247" cy="1661785"/>
          </a:xfrm>
          <a:custGeom>
            <a:rect b="b" l="l" r="r" t="t"/>
            <a:pathLst>
              <a:path extrusionOk="0" h="1661785" w="1749247">
                <a:moveTo>
                  <a:pt x="0" y="0"/>
                </a:moveTo>
                <a:lnTo>
                  <a:pt x="1749247" y="0"/>
                </a:lnTo>
                <a:lnTo>
                  <a:pt x="1749247" y="1661785"/>
                </a:lnTo>
                <a:lnTo>
                  <a:pt x="0" y="1661785"/>
                </a:lnTo>
                <a:lnTo>
                  <a:pt x="0" y="0"/>
                </a:lnTo>
                <a:close/>
              </a:path>
            </a:pathLst>
          </a:custGeom>
          <a:blipFill rotWithShape="1">
            <a:blip r:embed="rId4">
              <a:alphaModFix/>
            </a:blip>
            <a:stretch>
              <a:fillRect b="0" l="0" r="0" t="0"/>
            </a:stretch>
          </a:blipFill>
          <a:ln>
            <a:noFill/>
          </a:ln>
        </p:spPr>
      </p:sp>
      <p:grpSp>
        <p:nvGrpSpPr>
          <p:cNvPr id="312" name="Google Shape;312;g35c3d30e88a_1_599"/>
          <p:cNvGrpSpPr/>
          <p:nvPr/>
        </p:nvGrpSpPr>
        <p:grpSpPr>
          <a:xfrm>
            <a:off x="7891842" y="5567330"/>
            <a:ext cx="9238169" cy="3910932"/>
            <a:chOff x="0" y="-19050"/>
            <a:chExt cx="2433082" cy="1030033"/>
          </a:xfrm>
        </p:grpSpPr>
        <p:sp>
          <p:nvSpPr>
            <p:cNvPr id="313" name="Google Shape;313;g35c3d30e88a_1_599"/>
            <p:cNvSpPr/>
            <p:nvPr/>
          </p:nvSpPr>
          <p:spPr>
            <a:xfrm>
              <a:off x="0" y="0"/>
              <a:ext cx="2433082" cy="1010983"/>
            </a:xfrm>
            <a:custGeom>
              <a:rect b="b" l="l" r="r" t="t"/>
              <a:pathLst>
                <a:path extrusionOk="0" h="1010983" w="2433082">
                  <a:moveTo>
                    <a:pt x="42740" y="0"/>
                  </a:moveTo>
                  <a:lnTo>
                    <a:pt x="2390342" y="0"/>
                  </a:lnTo>
                  <a:cubicBezTo>
                    <a:pt x="2413947" y="0"/>
                    <a:pt x="2433082" y="19135"/>
                    <a:pt x="2433082" y="42740"/>
                  </a:cubicBezTo>
                  <a:lnTo>
                    <a:pt x="2433082" y="968243"/>
                  </a:lnTo>
                  <a:cubicBezTo>
                    <a:pt x="2433082" y="991847"/>
                    <a:pt x="2413947" y="1010983"/>
                    <a:pt x="2390342" y="1010983"/>
                  </a:cubicBezTo>
                  <a:lnTo>
                    <a:pt x="42740" y="1010983"/>
                  </a:lnTo>
                  <a:cubicBezTo>
                    <a:pt x="19135" y="1010983"/>
                    <a:pt x="0" y="991847"/>
                    <a:pt x="0" y="968243"/>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5c3d30e88a_1_599"/>
            <p:cNvSpPr txBox="1"/>
            <p:nvPr/>
          </p:nvSpPr>
          <p:spPr>
            <a:xfrm>
              <a:off x="0" y="-19050"/>
              <a:ext cx="2433000" cy="1029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5" name="Google Shape;315;g35c3d30e88a_1_599"/>
          <p:cNvSpPr/>
          <p:nvPr/>
        </p:nvSpPr>
        <p:spPr>
          <a:xfrm>
            <a:off x="8442683" y="5973036"/>
            <a:ext cx="8136426" cy="3152865"/>
          </a:xfrm>
          <a:custGeom>
            <a:rect b="b" l="l" r="r" t="t"/>
            <a:pathLst>
              <a:path extrusionOk="0" h="3152865" w="8136426">
                <a:moveTo>
                  <a:pt x="0" y="0"/>
                </a:moveTo>
                <a:lnTo>
                  <a:pt x="8136426" y="0"/>
                </a:lnTo>
                <a:lnTo>
                  <a:pt x="8136426" y="3152865"/>
                </a:lnTo>
                <a:lnTo>
                  <a:pt x="0" y="3152865"/>
                </a:lnTo>
                <a:lnTo>
                  <a:pt x="0" y="0"/>
                </a:lnTo>
                <a:close/>
              </a:path>
            </a:pathLst>
          </a:custGeom>
          <a:blipFill rotWithShape="1">
            <a:blip r:embed="rId5">
              <a:alphaModFix/>
            </a:blip>
            <a:stretch>
              <a:fillRect b="0" l="0" r="0" t="0"/>
            </a:stretch>
          </a:blipFill>
          <a:ln>
            <a:noFill/>
          </a:ln>
        </p:spPr>
      </p:sp>
      <p:sp>
        <p:nvSpPr>
          <p:cNvPr id="316" name="Google Shape;316;g35c3d30e88a_1_599"/>
          <p:cNvSpPr txBox="1"/>
          <p:nvPr/>
        </p:nvSpPr>
        <p:spPr>
          <a:xfrm>
            <a:off x="8381867" y="3498138"/>
            <a:ext cx="8258100" cy="1658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programa utiliza la llamada al sistema exit() para finalizar su ejecución. El sistema operativo recupera recursos que fueron utilizados por el proceso después de la llamada al sistema exit().</a:t>
            </a:r>
            <a:endParaRPr b="0" i="0" sz="1400" u="none" cap="none" strike="noStrike">
              <a:solidFill>
                <a:srgbClr val="000000"/>
              </a:solidFill>
              <a:latin typeface="Arial"/>
              <a:ea typeface="Arial"/>
              <a:cs typeface="Arial"/>
              <a:sym typeface="Arial"/>
            </a:endParaRPr>
          </a:p>
        </p:txBody>
      </p:sp>
      <p:sp>
        <p:nvSpPr>
          <p:cNvPr id="317" name="Google Shape;317;g35c3d30e88a_1_599"/>
          <p:cNvSpPr txBox="1"/>
          <p:nvPr/>
        </p:nvSpPr>
        <p:spPr>
          <a:xfrm>
            <a:off x="9273350" y="1281429"/>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EXIT( )</a:t>
            </a:r>
            <a:endParaRPr b="0" i="0" sz="1400" u="none" cap="none" strike="noStrike">
              <a:solidFill>
                <a:srgbClr val="000000"/>
              </a:solidFill>
              <a:latin typeface="Arial"/>
              <a:ea typeface="Arial"/>
              <a:cs typeface="Arial"/>
              <a:sym typeface="Arial"/>
            </a:endParaRPr>
          </a:p>
        </p:txBody>
      </p:sp>
      <p:sp>
        <p:nvSpPr>
          <p:cNvPr id="318" name="Google Shape;318;g35c3d30e88a_1_599"/>
          <p:cNvSpPr txBox="1"/>
          <p:nvPr/>
        </p:nvSpPr>
        <p:spPr>
          <a:xfrm>
            <a:off x="1531085" y="3615281"/>
            <a:ext cx="56721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wait() suspende la ejecución del hilo que lo llama hasta que uno de sus hijos termine.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un parámetro ‘status’ para comunicar al proceso padre la forma en que el proceso hijo termina. Por convenio, este valor suele ser 0 si el proceso termina correctamente y cualquier otro valor en caso de terminación anormal.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19" name="Google Shape;319;g35c3d30e88a_1_599"/>
          <p:cNvSpPr txBox="1"/>
          <p:nvPr/>
        </p:nvSpPr>
        <p:spPr>
          <a:xfrm>
            <a:off x="1412415" y="140649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WAIT(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3" name="Shape 323"/>
        <p:cNvGrpSpPr/>
        <p:nvPr/>
      </p:nvGrpSpPr>
      <p:grpSpPr>
        <a:xfrm>
          <a:off x="0" y="0"/>
          <a:ext cx="0" cy="0"/>
          <a:chOff x="0" y="0"/>
          <a:chExt cx="0" cy="0"/>
        </a:xfrm>
      </p:grpSpPr>
      <p:grpSp>
        <p:nvGrpSpPr>
          <p:cNvPr id="324" name="Google Shape;324;g35c3d30e88a_1_993"/>
          <p:cNvGrpSpPr/>
          <p:nvPr/>
        </p:nvGrpSpPr>
        <p:grpSpPr>
          <a:xfrm>
            <a:off x="1158050" y="3016179"/>
            <a:ext cx="7636325" cy="6462100"/>
            <a:chOff x="0" y="-19050"/>
            <a:chExt cx="2011200" cy="1701941"/>
          </a:xfrm>
        </p:grpSpPr>
        <p:sp>
          <p:nvSpPr>
            <p:cNvPr id="325" name="Google Shape;325;g35c3d30e88a_1_993"/>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5c3d30e88a_1_993"/>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7" name="Google Shape;327;g35c3d30e88a_1_993"/>
          <p:cNvSpPr/>
          <p:nvPr/>
        </p:nvSpPr>
        <p:spPr>
          <a:xfrm>
            <a:off x="6631353" y="784518"/>
            <a:ext cx="1110037" cy="1850062"/>
          </a:xfrm>
          <a:custGeom>
            <a:rect b="b" l="l" r="r" t="t"/>
            <a:pathLst>
              <a:path extrusionOk="0" h="1850062" w="1110037">
                <a:moveTo>
                  <a:pt x="0" y="0"/>
                </a:moveTo>
                <a:lnTo>
                  <a:pt x="1110037" y="0"/>
                </a:lnTo>
                <a:lnTo>
                  <a:pt x="1110037" y="1850062"/>
                </a:lnTo>
                <a:lnTo>
                  <a:pt x="0" y="1850062"/>
                </a:lnTo>
                <a:lnTo>
                  <a:pt x="0" y="0"/>
                </a:lnTo>
                <a:close/>
              </a:path>
            </a:pathLst>
          </a:custGeom>
          <a:blipFill rotWithShape="1">
            <a:blip r:embed="rId3">
              <a:alphaModFix/>
            </a:blip>
            <a:stretch>
              <a:fillRect b="0" l="0" r="0" t="0"/>
            </a:stretch>
          </a:blipFill>
          <a:ln>
            <a:noFill/>
          </a:ln>
        </p:spPr>
      </p:sp>
      <p:grpSp>
        <p:nvGrpSpPr>
          <p:cNvPr id="328" name="Google Shape;328;g35c3d30e88a_1_993"/>
          <p:cNvGrpSpPr/>
          <p:nvPr/>
        </p:nvGrpSpPr>
        <p:grpSpPr>
          <a:xfrm>
            <a:off x="9144000" y="3016179"/>
            <a:ext cx="7636325" cy="4701056"/>
            <a:chOff x="0" y="-19050"/>
            <a:chExt cx="2011200" cy="1238130"/>
          </a:xfrm>
        </p:grpSpPr>
        <p:sp>
          <p:nvSpPr>
            <p:cNvPr id="329" name="Google Shape;329;g35c3d30e88a_1_993"/>
            <p:cNvSpPr/>
            <p:nvPr/>
          </p:nvSpPr>
          <p:spPr>
            <a:xfrm>
              <a:off x="0" y="0"/>
              <a:ext cx="2011054" cy="1219080"/>
            </a:xfrm>
            <a:custGeom>
              <a:rect b="b" l="l" r="r" t="t"/>
              <a:pathLst>
                <a:path extrusionOk="0" h="1219080" w="2011054">
                  <a:moveTo>
                    <a:pt x="51709" y="0"/>
                  </a:moveTo>
                  <a:lnTo>
                    <a:pt x="1959345" y="0"/>
                  </a:lnTo>
                  <a:cubicBezTo>
                    <a:pt x="1987903" y="0"/>
                    <a:pt x="2011054" y="23151"/>
                    <a:pt x="2011054" y="51709"/>
                  </a:cubicBezTo>
                  <a:lnTo>
                    <a:pt x="2011054" y="1167370"/>
                  </a:lnTo>
                  <a:cubicBezTo>
                    <a:pt x="2011054" y="1195929"/>
                    <a:pt x="1987903" y="1219080"/>
                    <a:pt x="1959345" y="1219080"/>
                  </a:cubicBezTo>
                  <a:lnTo>
                    <a:pt x="51709" y="1219080"/>
                  </a:lnTo>
                  <a:cubicBezTo>
                    <a:pt x="23151" y="1219080"/>
                    <a:pt x="0" y="1195929"/>
                    <a:pt x="0" y="116737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5c3d30e88a_1_993"/>
            <p:cNvSpPr txBox="1"/>
            <p:nvPr/>
          </p:nvSpPr>
          <p:spPr>
            <a:xfrm>
              <a:off x="0" y="-19050"/>
              <a:ext cx="2011200" cy="1238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1" name="Google Shape;331;g35c3d30e88a_1_993"/>
          <p:cNvSpPr/>
          <p:nvPr/>
        </p:nvSpPr>
        <p:spPr>
          <a:xfrm>
            <a:off x="14680142" y="627359"/>
            <a:ext cx="1502906" cy="2007220"/>
          </a:xfrm>
          <a:custGeom>
            <a:rect b="b" l="l" r="r" t="t"/>
            <a:pathLst>
              <a:path extrusionOk="0" h="2007220" w="1502906">
                <a:moveTo>
                  <a:pt x="0" y="0"/>
                </a:moveTo>
                <a:lnTo>
                  <a:pt x="1502907" y="0"/>
                </a:lnTo>
                <a:lnTo>
                  <a:pt x="1502907" y="2007221"/>
                </a:lnTo>
                <a:lnTo>
                  <a:pt x="0" y="2007221"/>
                </a:lnTo>
                <a:lnTo>
                  <a:pt x="0" y="0"/>
                </a:lnTo>
                <a:close/>
              </a:path>
            </a:pathLst>
          </a:custGeom>
          <a:blipFill rotWithShape="1">
            <a:blip r:embed="rId4">
              <a:alphaModFix/>
            </a:blip>
            <a:stretch>
              <a:fillRect b="0" l="0" r="0" t="0"/>
            </a:stretch>
          </a:blipFill>
          <a:ln>
            <a:noFill/>
          </a:ln>
        </p:spPr>
      </p:sp>
      <p:grpSp>
        <p:nvGrpSpPr>
          <p:cNvPr id="332" name="Google Shape;332;g35c3d30e88a_1_993"/>
          <p:cNvGrpSpPr/>
          <p:nvPr/>
        </p:nvGrpSpPr>
        <p:grpSpPr>
          <a:xfrm>
            <a:off x="9144000" y="7931467"/>
            <a:ext cx="7636325" cy="1546857"/>
            <a:chOff x="0" y="-19050"/>
            <a:chExt cx="2011200" cy="407400"/>
          </a:xfrm>
        </p:grpSpPr>
        <p:sp>
          <p:nvSpPr>
            <p:cNvPr id="333" name="Google Shape;333;g35c3d30e88a_1_993"/>
            <p:cNvSpPr/>
            <p:nvPr/>
          </p:nvSpPr>
          <p:spPr>
            <a:xfrm>
              <a:off x="0" y="0"/>
              <a:ext cx="2011054" cy="388329"/>
            </a:xfrm>
            <a:custGeom>
              <a:rect b="b" l="l" r="r" t="t"/>
              <a:pathLst>
                <a:path extrusionOk="0" h="388329" w="2011054">
                  <a:moveTo>
                    <a:pt x="51709" y="0"/>
                  </a:moveTo>
                  <a:lnTo>
                    <a:pt x="1959345" y="0"/>
                  </a:lnTo>
                  <a:cubicBezTo>
                    <a:pt x="1987903" y="0"/>
                    <a:pt x="2011054" y="23151"/>
                    <a:pt x="2011054" y="51709"/>
                  </a:cubicBezTo>
                  <a:lnTo>
                    <a:pt x="2011054" y="336620"/>
                  </a:lnTo>
                  <a:cubicBezTo>
                    <a:pt x="2011054" y="365178"/>
                    <a:pt x="1987903" y="388329"/>
                    <a:pt x="1959345" y="388329"/>
                  </a:cubicBezTo>
                  <a:lnTo>
                    <a:pt x="51709" y="388329"/>
                  </a:lnTo>
                  <a:cubicBezTo>
                    <a:pt x="23151" y="388329"/>
                    <a:pt x="0" y="365178"/>
                    <a:pt x="0" y="33662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35c3d30e88a_1_993"/>
            <p:cNvSpPr txBox="1"/>
            <p:nvPr/>
          </p:nvSpPr>
          <p:spPr>
            <a:xfrm>
              <a:off x="0" y="-19050"/>
              <a:ext cx="2011200" cy="407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5" name="Google Shape;335;g35c3d30e88a_1_993"/>
          <p:cNvSpPr/>
          <p:nvPr/>
        </p:nvSpPr>
        <p:spPr>
          <a:xfrm>
            <a:off x="9634883" y="8283354"/>
            <a:ext cx="6653956" cy="881649"/>
          </a:xfrm>
          <a:custGeom>
            <a:rect b="b" l="l" r="r" t="t"/>
            <a:pathLst>
              <a:path extrusionOk="0" h="881649" w="6653956">
                <a:moveTo>
                  <a:pt x="0" y="0"/>
                </a:moveTo>
                <a:lnTo>
                  <a:pt x="6653956" y="0"/>
                </a:lnTo>
                <a:lnTo>
                  <a:pt x="6653956" y="881649"/>
                </a:lnTo>
                <a:lnTo>
                  <a:pt x="0" y="881649"/>
                </a:lnTo>
                <a:lnTo>
                  <a:pt x="0" y="0"/>
                </a:lnTo>
                <a:close/>
              </a:path>
            </a:pathLst>
          </a:custGeom>
          <a:blipFill rotWithShape="1">
            <a:blip r:embed="rId5">
              <a:alphaModFix/>
            </a:blip>
            <a:stretch>
              <a:fillRect b="0" l="0" r="0" t="0"/>
            </a:stretch>
          </a:blipFill>
          <a:ln>
            <a:noFill/>
          </a:ln>
        </p:spPr>
      </p:sp>
      <p:sp>
        <p:nvSpPr>
          <p:cNvPr id="336" name="Google Shape;336;g35c3d30e88a_1_993"/>
          <p:cNvSpPr txBox="1"/>
          <p:nvPr/>
        </p:nvSpPr>
        <p:spPr>
          <a:xfrm>
            <a:off x="1447388" y="3382693"/>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open es el primer paso que debe ejecutar todo proceso que quiera acceder a los datos de un archivo.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8C52FF"/>
                </a:solidFill>
                <a:latin typeface="Montserrat"/>
                <a:ea typeface="Montserrat"/>
                <a:cs typeface="Montserrat"/>
                <a:sym typeface="Montserrat"/>
              </a:rPr>
              <a:t>fd </a:t>
            </a:r>
            <a:r>
              <a:rPr b="0" i="0" lang="en-US" sz="2199" u="none" cap="none" strike="noStrike">
                <a:solidFill>
                  <a:srgbClr val="FFFFFF"/>
                </a:solidFill>
                <a:latin typeface="Montserrat"/>
                <a:ea typeface="Montserrat"/>
                <a:cs typeface="Montserrat"/>
                <a:sym typeface="Montserrat"/>
              </a:rPr>
              <a:t>= open(</a:t>
            </a: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ruta y nombre del archivo.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modo de apertura, para lectura, escritura, etc.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 permisos del archivo en caso de que se deba crear.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entero que representa el descriptor del archivo.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37" name="Google Shape;337;g35c3d30e88a_1_993"/>
          <p:cNvSpPr txBox="1"/>
          <p:nvPr/>
        </p:nvSpPr>
        <p:spPr>
          <a:xfrm>
            <a:off x="2210430" y="1090741"/>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OPEN( )</a:t>
            </a:r>
            <a:endParaRPr b="0" i="0" sz="1400" u="none" cap="none" strike="noStrike">
              <a:solidFill>
                <a:srgbClr val="000000"/>
              </a:solidFill>
              <a:latin typeface="Arial"/>
              <a:ea typeface="Arial"/>
              <a:cs typeface="Arial"/>
              <a:sym typeface="Arial"/>
            </a:endParaRPr>
          </a:p>
        </p:txBody>
      </p:sp>
      <p:sp>
        <p:nvSpPr>
          <p:cNvPr id="338" name="Google Shape;338;g35c3d30e88a_1_993"/>
          <p:cNvSpPr txBox="1"/>
          <p:nvPr/>
        </p:nvSpPr>
        <p:spPr>
          <a:xfrm>
            <a:off x="9740673" y="1090741"/>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CLOSE( )</a:t>
            </a:r>
            <a:endParaRPr b="0" i="0" sz="1400" u="none" cap="none" strike="noStrike">
              <a:solidFill>
                <a:srgbClr val="000000"/>
              </a:solidFill>
              <a:latin typeface="Arial"/>
              <a:ea typeface="Arial"/>
              <a:cs typeface="Arial"/>
              <a:sym typeface="Arial"/>
            </a:endParaRPr>
          </a:p>
        </p:txBody>
      </p:sp>
      <p:sp>
        <p:nvSpPr>
          <p:cNvPr id="339" name="Google Shape;339;g35c3d30e88a_1_993"/>
          <p:cNvSpPr txBox="1"/>
          <p:nvPr/>
        </p:nvSpPr>
        <p:spPr>
          <a:xfrm>
            <a:off x="9433339" y="3382693"/>
            <a:ext cx="70569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para cerrar un archivo abierto, liberan do los recursos asociados. Una vez que un archivo ya no es necesario, se debe cerrar para liberar recursos del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close(</a:t>
            </a: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3" name="Shape 343"/>
        <p:cNvGrpSpPr/>
        <p:nvPr/>
      </p:nvGrpSpPr>
      <p:grpSpPr>
        <a:xfrm>
          <a:off x="0" y="0"/>
          <a:ext cx="0" cy="0"/>
          <a:chOff x="0" y="0"/>
          <a:chExt cx="0" cy="0"/>
        </a:xfrm>
      </p:grpSpPr>
      <p:grpSp>
        <p:nvGrpSpPr>
          <p:cNvPr id="344" name="Google Shape;344;g35c3d30e88a_1_1012"/>
          <p:cNvGrpSpPr/>
          <p:nvPr/>
        </p:nvGrpSpPr>
        <p:grpSpPr>
          <a:xfrm>
            <a:off x="1333164" y="3109227"/>
            <a:ext cx="7636325" cy="6462100"/>
            <a:chOff x="0" y="-19050"/>
            <a:chExt cx="2011200" cy="1701941"/>
          </a:xfrm>
        </p:grpSpPr>
        <p:sp>
          <p:nvSpPr>
            <p:cNvPr id="345" name="Google Shape;345;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7" name="Google Shape;347;g35c3d30e88a_1_1012"/>
          <p:cNvGrpSpPr/>
          <p:nvPr/>
        </p:nvGrpSpPr>
        <p:grpSpPr>
          <a:xfrm>
            <a:off x="9319114" y="3109227"/>
            <a:ext cx="7636325" cy="6462100"/>
            <a:chOff x="0" y="-19050"/>
            <a:chExt cx="2011200" cy="1701941"/>
          </a:xfrm>
        </p:grpSpPr>
        <p:sp>
          <p:nvSpPr>
            <p:cNvPr id="348" name="Google Shape;348;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0" name="Google Shape;350;g35c3d30e88a_1_1012"/>
          <p:cNvSpPr/>
          <p:nvPr/>
        </p:nvSpPr>
        <p:spPr>
          <a:xfrm>
            <a:off x="6291513" y="846522"/>
            <a:ext cx="2006513" cy="1881106"/>
          </a:xfrm>
          <a:custGeom>
            <a:rect b="b" l="l" r="r" t="t"/>
            <a:pathLst>
              <a:path extrusionOk="0" h="1881106" w="2006513">
                <a:moveTo>
                  <a:pt x="0" y="0"/>
                </a:moveTo>
                <a:lnTo>
                  <a:pt x="2006513" y="0"/>
                </a:lnTo>
                <a:lnTo>
                  <a:pt x="2006513" y="1881106"/>
                </a:lnTo>
                <a:lnTo>
                  <a:pt x="0" y="1881106"/>
                </a:lnTo>
                <a:lnTo>
                  <a:pt x="0" y="0"/>
                </a:lnTo>
                <a:close/>
              </a:path>
            </a:pathLst>
          </a:custGeom>
          <a:blipFill rotWithShape="1">
            <a:blip r:embed="rId3">
              <a:alphaModFix/>
            </a:blip>
            <a:stretch>
              <a:fillRect b="0" l="0" r="0" t="0"/>
            </a:stretch>
          </a:blipFill>
          <a:ln>
            <a:noFill/>
          </a:ln>
        </p:spPr>
      </p:sp>
      <p:sp>
        <p:nvSpPr>
          <p:cNvPr id="351" name="Google Shape;351;g35c3d30e88a_1_1012"/>
          <p:cNvSpPr/>
          <p:nvPr/>
        </p:nvSpPr>
        <p:spPr>
          <a:xfrm>
            <a:off x="14578633" y="715716"/>
            <a:ext cx="1998086" cy="2142719"/>
          </a:xfrm>
          <a:custGeom>
            <a:rect b="b" l="l" r="r" t="t"/>
            <a:pathLst>
              <a:path extrusionOk="0" h="2142719" w="1998086">
                <a:moveTo>
                  <a:pt x="0" y="0"/>
                </a:moveTo>
                <a:lnTo>
                  <a:pt x="1998086" y="0"/>
                </a:lnTo>
                <a:lnTo>
                  <a:pt x="1998086" y="2142719"/>
                </a:lnTo>
                <a:lnTo>
                  <a:pt x="0" y="2142719"/>
                </a:lnTo>
                <a:lnTo>
                  <a:pt x="0" y="0"/>
                </a:lnTo>
                <a:close/>
              </a:path>
            </a:pathLst>
          </a:custGeom>
          <a:blipFill rotWithShape="1">
            <a:blip r:embed="rId4">
              <a:alphaModFix/>
            </a:blip>
            <a:stretch>
              <a:fillRect b="0" l="0" r="0" t="0"/>
            </a:stretch>
          </a:blipFill>
          <a:ln>
            <a:noFill/>
          </a:ln>
        </p:spPr>
      </p:sp>
      <p:sp>
        <p:nvSpPr>
          <p:cNvPr id="352" name="Google Shape;352;g35c3d30e88a_1_1012"/>
          <p:cNvSpPr txBox="1"/>
          <p:nvPr/>
        </p:nvSpPr>
        <p:spPr>
          <a:xfrm>
            <a:off x="1622503" y="3475741"/>
            <a:ext cx="7056900" cy="693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lea datos de un archivo abierto.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read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van a colocar los datos leídos</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leer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leídos si es positivo en caso contrario la ejecución no ha sido correcta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53" name="Google Shape;353;g35c3d30e88a_1_1012"/>
          <p:cNvSpPr txBox="1"/>
          <p:nvPr/>
        </p:nvSpPr>
        <p:spPr>
          <a:xfrm>
            <a:off x="2004024" y="1246847"/>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READ( )</a:t>
            </a:r>
            <a:endParaRPr b="0" i="0" sz="1400" u="none" cap="none" strike="noStrike">
              <a:solidFill>
                <a:srgbClr val="000000"/>
              </a:solidFill>
              <a:latin typeface="Arial"/>
              <a:ea typeface="Arial"/>
              <a:cs typeface="Arial"/>
              <a:sym typeface="Arial"/>
            </a:endParaRPr>
          </a:p>
        </p:txBody>
      </p:sp>
      <p:sp>
        <p:nvSpPr>
          <p:cNvPr id="354" name="Google Shape;354;g35c3d30e88a_1_1012"/>
          <p:cNvSpPr txBox="1"/>
          <p:nvPr/>
        </p:nvSpPr>
        <p:spPr>
          <a:xfrm>
            <a:off x="9697231" y="1183790"/>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WRITE( )</a:t>
            </a:r>
            <a:endParaRPr b="0" i="0" sz="1400" u="none" cap="none" strike="noStrike">
              <a:solidFill>
                <a:srgbClr val="000000"/>
              </a:solidFill>
              <a:latin typeface="Arial"/>
              <a:ea typeface="Arial"/>
              <a:cs typeface="Arial"/>
              <a:sym typeface="Arial"/>
            </a:endParaRPr>
          </a:p>
        </p:txBody>
      </p:sp>
      <p:sp>
        <p:nvSpPr>
          <p:cNvPr id="355" name="Google Shape;355;g35c3d30e88a_1_1012"/>
          <p:cNvSpPr txBox="1"/>
          <p:nvPr/>
        </p:nvSpPr>
        <p:spPr>
          <a:xfrm>
            <a:off x="9608453" y="3475741"/>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escriba datos en un archivo abierto. La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write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encuentran los datos a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escritos si es positivo en caso contrario la ejecución no ha sido correcta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9" name="Shape 359"/>
        <p:cNvGrpSpPr/>
        <p:nvPr/>
      </p:nvGrpSpPr>
      <p:grpSpPr>
        <a:xfrm>
          <a:off x="0" y="0"/>
          <a:ext cx="0" cy="0"/>
          <a:chOff x="0" y="0"/>
          <a:chExt cx="0" cy="0"/>
        </a:xfrm>
      </p:grpSpPr>
      <p:grpSp>
        <p:nvGrpSpPr>
          <p:cNvPr id="360" name="Google Shape;360;g35c3d30e88a_1_888"/>
          <p:cNvGrpSpPr/>
          <p:nvPr/>
        </p:nvGrpSpPr>
        <p:grpSpPr>
          <a:xfrm>
            <a:off x="1203703" y="3417211"/>
            <a:ext cx="5817546" cy="5565496"/>
            <a:chOff x="0" y="-19050"/>
            <a:chExt cx="1532183" cy="1465800"/>
          </a:xfrm>
        </p:grpSpPr>
        <p:sp>
          <p:nvSpPr>
            <p:cNvPr id="361" name="Google Shape;361;g35c3d30e88a_1_888"/>
            <p:cNvSpPr/>
            <p:nvPr/>
          </p:nvSpPr>
          <p:spPr>
            <a:xfrm>
              <a:off x="0" y="0"/>
              <a:ext cx="1532183" cy="1446651"/>
            </a:xfrm>
            <a:custGeom>
              <a:rect b="b" l="l" r="r" t="t"/>
              <a:pathLst>
                <a:path extrusionOk="0" h="1446651" w="1532183">
                  <a:moveTo>
                    <a:pt x="67871" y="0"/>
                  </a:moveTo>
                  <a:lnTo>
                    <a:pt x="1464312" y="0"/>
                  </a:lnTo>
                  <a:cubicBezTo>
                    <a:pt x="1482313" y="0"/>
                    <a:pt x="1499576" y="7151"/>
                    <a:pt x="1512304" y="19879"/>
                  </a:cubicBezTo>
                  <a:cubicBezTo>
                    <a:pt x="1525032" y="32607"/>
                    <a:pt x="1532183" y="49870"/>
                    <a:pt x="1532183" y="67871"/>
                  </a:cubicBezTo>
                  <a:lnTo>
                    <a:pt x="1532183" y="1378781"/>
                  </a:lnTo>
                  <a:cubicBezTo>
                    <a:pt x="1532183" y="1396781"/>
                    <a:pt x="1525032" y="1414044"/>
                    <a:pt x="1512304" y="1426772"/>
                  </a:cubicBezTo>
                  <a:cubicBezTo>
                    <a:pt x="1499576" y="1439501"/>
                    <a:pt x="1482313" y="1446651"/>
                    <a:pt x="1464312" y="1446651"/>
                  </a:cubicBezTo>
                  <a:lnTo>
                    <a:pt x="67871" y="1446651"/>
                  </a:lnTo>
                  <a:cubicBezTo>
                    <a:pt x="49870" y="1446651"/>
                    <a:pt x="32607" y="1439501"/>
                    <a:pt x="19879" y="1426772"/>
                  </a:cubicBezTo>
                  <a:cubicBezTo>
                    <a:pt x="7151" y="1414044"/>
                    <a:pt x="0" y="1396781"/>
                    <a:pt x="0" y="1378781"/>
                  </a:cubicBezTo>
                  <a:lnTo>
                    <a:pt x="0" y="67871"/>
                  </a:lnTo>
                  <a:cubicBezTo>
                    <a:pt x="0" y="49870"/>
                    <a:pt x="7151" y="32607"/>
                    <a:pt x="19879" y="19879"/>
                  </a:cubicBezTo>
                  <a:cubicBezTo>
                    <a:pt x="32607" y="7151"/>
                    <a:pt x="49870" y="0"/>
                    <a:pt x="678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35c3d30e88a_1_888"/>
            <p:cNvSpPr txBox="1"/>
            <p:nvPr/>
          </p:nvSpPr>
          <p:spPr>
            <a:xfrm>
              <a:off x="0" y="-19050"/>
              <a:ext cx="15321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g35c3d30e88a_1_888"/>
          <p:cNvGrpSpPr/>
          <p:nvPr/>
        </p:nvGrpSpPr>
        <p:grpSpPr>
          <a:xfrm>
            <a:off x="7367854" y="3417211"/>
            <a:ext cx="9716506" cy="5565496"/>
            <a:chOff x="0" y="-19050"/>
            <a:chExt cx="2559063" cy="1465800"/>
          </a:xfrm>
        </p:grpSpPr>
        <p:sp>
          <p:nvSpPr>
            <p:cNvPr id="364" name="Google Shape;364;g35c3d30e88a_1_888"/>
            <p:cNvSpPr/>
            <p:nvPr/>
          </p:nvSpPr>
          <p:spPr>
            <a:xfrm>
              <a:off x="0" y="0"/>
              <a:ext cx="2559063" cy="1446651"/>
            </a:xfrm>
            <a:custGeom>
              <a:rect b="b" l="l" r="r" t="t"/>
              <a:pathLst>
                <a:path extrusionOk="0" h="1446651" w="2559063">
                  <a:moveTo>
                    <a:pt x="40636" y="0"/>
                  </a:moveTo>
                  <a:lnTo>
                    <a:pt x="2518427" y="0"/>
                  </a:lnTo>
                  <a:cubicBezTo>
                    <a:pt x="2529205" y="0"/>
                    <a:pt x="2539541" y="4281"/>
                    <a:pt x="2547161" y="11902"/>
                  </a:cubicBezTo>
                  <a:cubicBezTo>
                    <a:pt x="2554782" y="19523"/>
                    <a:pt x="2559063" y="29859"/>
                    <a:pt x="2559063" y="40636"/>
                  </a:cubicBezTo>
                  <a:lnTo>
                    <a:pt x="2559063" y="1406015"/>
                  </a:lnTo>
                  <a:cubicBezTo>
                    <a:pt x="2559063" y="1416793"/>
                    <a:pt x="2554782" y="1427128"/>
                    <a:pt x="2547161" y="1434749"/>
                  </a:cubicBezTo>
                  <a:cubicBezTo>
                    <a:pt x="2539541" y="1442370"/>
                    <a:pt x="2529205" y="1446651"/>
                    <a:pt x="2518427" y="1446651"/>
                  </a:cubicBezTo>
                  <a:lnTo>
                    <a:pt x="40636" y="1446651"/>
                  </a:lnTo>
                  <a:cubicBezTo>
                    <a:pt x="29859" y="1446651"/>
                    <a:pt x="19523" y="1442370"/>
                    <a:pt x="11902" y="1434749"/>
                  </a:cubicBezTo>
                  <a:cubicBezTo>
                    <a:pt x="4281" y="1427128"/>
                    <a:pt x="0" y="1416793"/>
                    <a:pt x="0" y="1406015"/>
                  </a:cubicBezTo>
                  <a:lnTo>
                    <a:pt x="0" y="40636"/>
                  </a:lnTo>
                  <a:cubicBezTo>
                    <a:pt x="0" y="29859"/>
                    <a:pt x="4281" y="19523"/>
                    <a:pt x="11902" y="11902"/>
                  </a:cubicBezTo>
                  <a:cubicBezTo>
                    <a:pt x="19523" y="4281"/>
                    <a:pt x="29859" y="0"/>
                    <a:pt x="406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5c3d30e88a_1_888"/>
            <p:cNvSpPr txBox="1"/>
            <p:nvPr/>
          </p:nvSpPr>
          <p:spPr>
            <a:xfrm>
              <a:off x="0" y="-19050"/>
              <a:ext cx="25590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6" name="Google Shape;366;g35c3d30e88a_1_888"/>
          <p:cNvSpPr/>
          <p:nvPr/>
        </p:nvSpPr>
        <p:spPr>
          <a:xfrm>
            <a:off x="11251074" y="1304704"/>
            <a:ext cx="1763679" cy="1763679"/>
          </a:xfrm>
          <a:custGeom>
            <a:rect b="b" l="l" r="r" t="t"/>
            <a:pathLst>
              <a:path extrusionOk="0" h="1763679" w="1763679">
                <a:moveTo>
                  <a:pt x="0" y="0"/>
                </a:moveTo>
                <a:lnTo>
                  <a:pt x="1763679" y="0"/>
                </a:lnTo>
                <a:lnTo>
                  <a:pt x="1763679" y="1763679"/>
                </a:lnTo>
                <a:lnTo>
                  <a:pt x="0" y="1763679"/>
                </a:lnTo>
                <a:lnTo>
                  <a:pt x="0" y="0"/>
                </a:lnTo>
                <a:close/>
              </a:path>
            </a:pathLst>
          </a:custGeom>
          <a:blipFill rotWithShape="1">
            <a:blip r:embed="rId3">
              <a:alphaModFix/>
            </a:blip>
            <a:stretch>
              <a:fillRect b="0" l="0" r="0" t="0"/>
            </a:stretch>
          </a:blipFill>
          <a:ln>
            <a:noFill/>
          </a:ln>
        </p:spPr>
      </p:sp>
      <p:sp>
        <p:nvSpPr>
          <p:cNvPr id="367" name="Google Shape;367;g35c3d30e88a_1_888"/>
          <p:cNvSpPr/>
          <p:nvPr/>
        </p:nvSpPr>
        <p:spPr>
          <a:xfrm>
            <a:off x="7829377" y="4037570"/>
            <a:ext cx="8793397" cy="4396698"/>
          </a:xfrm>
          <a:custGeom>
            <a:rect b="b" l="l" r="r" t="t"/>
            <a:pathLst>
              <a:path extrusionOk="0" h="4396698" w="8793397">
                <a:moveTo>
                  <a:pt x="0" y="0"/>
                </a:moveTo>
                <a:lnTo>
                  <a:pt x="8793397" y="0"/>
                </a:lnTo>
                <a:lnTo>
                  <a:pt x="8793397" y="4396698"/>
                </a:lnTo>
                <a:lnTo>
                  <a:pt x="0" y="4396698"/>
                </a:lnTo>
                <a:lnTo>
                  <a:pt x="0" y="0"/>
                </a:lnTo>
                <a:close/>
              </a:path>
            </a:pathLst>
          </a:custGeom>
          <a:blipFill rotWithShape="1">
            <a:blip r:embed="rId4">
              <a:alphaModFix/>
            </a:blip>
            <a:stretch>
              <a:fillRect b="0" l="0" r="0" t="0"/>
            </a:stretch>
          </a:blipFill>
          <a:ln>
            <a:noFill/>
          </a:ln>
        </p:spPr>
      </p:sp>
      <p:sp>
        <p:nvSpPr>
          <p:cNvPr id="368" name="Google Shape;368;g35c3d30e88a_1_888"/>
          <p:cNvSpPr txBox="1"/>
          <p:nvPr/>
        </p:nvSpPr>
        <p:spPr>
          <a:xfrm>
            <a:off x="5061367" y="1840293"/>
            <a:ext cx="5852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SHMGET( )</a:t>
            </a:r>
            <a:endParaRPr b="0" i="0" sz="1400" u="none" cap="none" strike="noStrike">
              <a:solidFill>
                <a:srgbClr val="000000"/>
              </a:solidFill>
              <a:latin typeface="Arial"/>
              <a:ea typeface="Arial"/>
              <a:cs typeface="Arial"/>
              <a:sym typeface="Arial"/>
            </a:endParaRPr>
          </a:p>
        </p:txBody>
      </p:sp>
      <p:sp>
        <p:nvSpPr>
          <p:cNvPr id="369" name="Google Shape;369;g35c3d30e88a_1_888"/>
          <p:cNvSpPr txBox="1"/>
          <p:nvPr/>
        </p:nvSpPr>
        <p:spPr>
          <a:xfrm>
            <a:off x="1680191" y="3878164"/>
            <a:ext cx="47883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al sistema que se utiliza para obtener un segmento de memoria compartida.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memoria compartida es un mecanismo que permite que múltiples procesos compartan una región de memoria, lo cual es particularmente útil para la comunicación entre procesos (IPC).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3" name="Shape 373"/>
        <p:cNvGrpSpPr/>
        <p:nvPr/>
      </p:nvGrpSpPr>
      <p:grpSpPr>
        <a:xfrm>
          <a:off x="0" y="0"/>
          <a:ext cx="0" cy="0"/>
          <a:chOff x="0" y="0"/>
          <a:chExt cx="0" cy="0"/>
        </a:xfrm>
      </p:grpSpPr>
      <p:grpSp>
        <p:nvGrpSpPr>
          <p:cNvPr id="374" name="Google Shape;374;g35c3d30e88a_1_901"/>
          <p:cNvGrpSpPr/>
          <p:nvPr/>
        </p:nvGrpSpPr>
        <p:grpSpPr>
          <a:xfrm>
            <a:off x="1203703" y="3588409"/>
            <a:ext cx="7156777" cy="5860515"/>
            <a:chOff x="0" y="-19050"/>
            <a:chExt cx="1884900" cy="1543500"/>
          </a:xfrm>
        </p:grpSpPr>
        <p:sp>
          <p:nvSpPr>
            <p:cNvPr id="375" name="Google Shape;375;g35c3d30e88a_1_901"/>
            <p:cNvSpPr/>
            <p:nvPr/>
          </p:nvSpPr>
          <p:spPr>
            <a:xfrm>
              <a:off x="0" y="0"/>
              <a:ext cx="1884881" cy="1524354"/>
            </a:xfrm>
            <a:custGeom>
              <a:rect b="b" l="l" r="r" t="t"/>
              <a:pathLst>
                <a:path extrusionOk="0" h="1524354" w="1884881">
                  <a:moveTo>
                    <a:pt x="55171" y="0"/>
                  </a:moveTo>
                  <a:lnTo>
                    <a:pt x="1829710" y="0"/>
                  </a:lnTo>
                  <a:cubicBezTo>
                    <a:pt x="1860180" y="0"/>
                    <a:pt x="1884881" y="24701"/>
                    <a:pt x="1884881" y="55171"/>
                  </a:cubicBezTo>
                  <a:lnTo>
                    <a:pt x="1884881" y="1469183"/>
                  </a:lnTo>
                  <a:cubicBezTo>
                    <a:pt x="1884881" y="1499653"/>
                    <a:pt x="1860180" y="1524354"/>
                    <a:pt x="1829710" y="1524354"/>
                  </a:cubicBezTo>
                  <a:lnTo>
                    <a:pt x="55171" y="1524354"/>
                  </a:lnTo>
                  <a:cubicBezTo>
                    <a:pt x="24701" y="1524354"/>
                    <a:pt x="0" y="1499653"/>
                    <a:pt x="0" y="1469183"/>
                  </a:cubicBezTo>
                  <a:lnTo>
                    <a:pt x="0" y="55171"/>
                  </a:lnTo>
                  <a:cubicBezTo>
                    <a:pt x="0" y="24701"/>
                    <a:pt x="24701" y="0"/>
                    <a:pt x="551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5c3d30e88a_1_901"/>
            <p:cNvSpPr txBox="1"/>
            <p:nvPr/>
          </p:nvSpPr>
          <p:spPr>
            <a:xfrm>
              <a:off x="0" y="-19050"/>
              <a:ext cx="18849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g35c3d30e88a_1_901"/>
          <p:cNvGrpSpPr/>
          <p:nvPr/>
        </p:nvGrpSpPr>
        <p:grpSpPr>
          <a:xfrm>
            <a:off x="8657036" y="3588409"/>
            <a:ext cx="8427318" cy="5860515"/>
            <a:chOff x="0" y="-19050"/>
            <a:chExt cx="2219526" cy="1543500"/>
          </a:xfrm>
        </p:grpSpPr>
        <p:sp>
          <p:nvSpPr>
            <p:cNvPr id="378" name="Google Shape;378;g35c3d30e88a_1_901"/>
            <p:cNvSpPr/>
            <p:nvPr/>
          </p:nvSpPr>
          <p:spPr>
            <a:xfrm>
              <a:off x="0" y="0"/>
              <a:ext cx="2219526" cy="1524354"/>
            </a:xfrm>
            <a:custGeom>
              <a:rect b="b" l="l" r="r" t="t"/>
              <a:pathLst>
                <a:path extrusionOk="0" h="1524354" w="2219526">
                  <a:moveTo>
                    <a:pt x="46852" y="0"/>
                  </a:moveTo>
                  <a:lnTo>
                    <a:pt x="2172673" y="0"/>
                  </a:lnTo>
                  <a:cubicBezTo>
                    <a:pt x="2185099" y="0"/>
                    <a:pt x="2197016" y="4936"/>
                    <a:pt x="2205803" y="13723"/>
                  </a:cubicBezTo>
                  <a:cubicBezTo>
                    <a:pt x="2214589" y="22509"/>
                    <a:pt x="2219526" y="34426"/>
                    <a:pt x="2219526" y="46852"/>
                  </a:cubicBezTo>
                  <a:lnTo>
                    <a:pt x="2219526" y="1477501"/>
                  </a:lnTo>
                  <a:cubicBezTo>
                    <a:pt x="2219526" y="1489927"/>
                    <a:pt x="2214589" y="1501844"/>
                    <a:pt x="2205803" y="1510631"/>
                  </a:cubicBezTo>
                  <a:cubicBezTo>
                    <a:pt x="2197016" y="1519417"/>
                    <a:pt x="2185099" y="1524354"/>
                    <a:pt x="2172673" y="1524354"/>
                  </a:cubicBezTo>
                  <a:lnTo>
                    <a:pt x="46852" y="1524354"/>
                  </a:lnTo>
                  <a:cubicBezTo>
                    <a:pt x="34426" y="1524354"/>
                    <a:pt x="22509" y="1519417"/>
                    <a:pt x="13723" y="1510631"/>
                  </a:cubicBezTo>
                  <a:cubicBezTo>
                    <a:pt x="4936" y="1501844"/>
                    <a:pt x="0" y="1489927"/>
                    <a:pt x="0" y="1477501"/>
                  </a:cubicBezTo>
                  <a:lnTo>
                    <a:pt x="0" y="46852"/>
                  </a:lnTo>
                  <a:cubicBezTo>
                    <a:pt x="0" y="34426"/>
                    <a:pt x="4936" y="22509"/>
                    <a:pt x="13723" y="13723"/>
                  </a:cubicBezTo>
                  <a:cubicBezTo>
                    <a:pt x="22509" y="4936"/>
                    <a:pt x="34426" y="0"/>
                    <a:pt x="4685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35c3d30e88a_1_901"/>
            <p:cNvSpPr txBox="1"/>
            <p:nvPr/>
          </p:nvSpPr>
          <p:spPr>
            <a:xfrm>
              <a:off x="0" y="-19050"/>
              <a:ext cx="22194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0" name="Google Shape;380;g35c3d30e88a_1_901"/>
          <p:cNvSpPr/>
          <p:nvPr/>
        </p:nvSpPr>
        <p:spPr>
          <a:xfrm rot="823435">
            <a:off x="10873753" y="1017581"/>
            <a:ext cx="1753110" cy="2021406"/>
          </a:xfrm>
          <a:custGeom>
            <a:rect b="b" l="l" r="r" t="t"/>
            <a:pathLst>
              <a:path extrusionOk="0" h="2019224" w="1751218">
                <a:moveTo>
                  <a:pt x="0" y="0"/>
                </a:moveTo>
                <a:lnTo>
                  <a:pt x="1751218" y="0"/>
                </a:lnTo>
                <a:lnTo>
                  <a:pt x="1751218" y="2019225"/>
                </a:lnTo>
                <a:lnTo>
                  <a:pt x="0" y="2019225"/>
                </a:lnTo>
                <a:lnTo>
                  <a:pt x="0" y="0"/>
                </a:lnTo>
                <a:close/>
              </a:path>
            </a:pathLst>
          </a:custGeom>
          <a:blipFill rotWithShape="1">
            <a:blip r:embed="rId3">
              <a:alphaModFix/>
            </a:blip>
            <a:stretch>
              <a:fillRect b="0" l="0" r="0" t="0"/>
            </a:stretch>
          </a:blipFill>
          <a:ln>
            <a:noFill/>
          </a:ln>
        </p:spPr>
      </p:sp>
      <p:sp>
        <p:nvSpPr>
          <p:cNvPr id="381" name="Google Shape;381;g35c3d30e88a_1_901"/>
          <p:cNvSpPr/>
          <p:nvPr/>
        </p:nvSpPr>
        <p:spPr>
          <a:xfrm>
            <a:off x="9200405" y="4107299"/>
            <a:ext cx="7278307" cy="4894662"/>
          </a:xfrm>
          <a:custGeom>
            <a:rect b="b" l="l" r="r" t="t"/>
            <a:pathLst>
              <a:path extrusionOk="0" h="4894662" w="7278307">
                <a:moveTo>
                  <a:pt x="0" y="0"/>
                </a:moveTo>
                <a:lnTo>
                  <a:pt x="7278307" y="0"/>
                </a:lnTo>
                <a:lnTo>
                  <a:pt x="7278307" y="4894662"/>
                </a:lnTo>
                <a:lnTo>
                  <a:pt x="0" y="4894662"/>
                </a:lnTo>
                <a:lnTo>
                  <a:pt x="0" y="0"/>
                </a:lnTo>
                <a:close/>
              </a:path>
            </a:pathLst>
          </a:custGeom>
          <a:blipFill rotWithShape="1">
            <a:blip r:embed="rId4">
              <a:alphaModFix/>
            </a:blip>
            <a:stretch>
              <a:fillRect b="0" l="0" r="0" t="0"/>
            </a:stretch>
          </a:blipFill>
          <a:ln>
            <a:noFill/>
          </a:ln>
        </p:spPr>
      </p:sp>
      <p:sp>
        <p:nvSpPr>
          <p:cNvPr id="382" name="Google Shape;382;g35c3d30e88a_1_901"/>
          <p:cNvSpPr txBox="1"/>
          <p:nvPr/>
        </p:nvSpPr>
        <p:spPr>
          <a:xfrm>
            <a:off x="5448442" y="1596421"/>
            <a:ext cx="5000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MMAP( )</a:t>
            </a:r>
            <a:endParaRPr b="0" i="0" sz="1400" u="none" cap="none" strike="noStrike">
              <a:solidFill>
                <a:srgbClr val="000000"/>
              </a:solidFill>
              <a:latin typeface="Arial"/>
              <a:ea typeface="Arial"/>
              <a:cs typeface="Arial"/>
              <a:sym typeface="Arial"/>
            </a:endParaRPr>
          </a:p>
        </p:txBody>
      </p:sp>
      <p:sp>
        <p:nvSpPr>
          <p:cNvPr id="383" name="Google Shape;383;g35c3d30e88a_1_901"/>
          <p:cNvSpPr txBox="1"/>
          <p:nvPr/>
        </p:nvSpPr>
        <p:spPr>
          <a:xfrm>
            <a:off x="1664973" y="4173431"/>
            <a:ext cx="6173100" cy="60594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que proporciona una forma para que los procesos asigne archivos o dispositivos a la memoria.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establecer un mapeo entre una región del espacio de direcciones virtuales del proceso y un objeto externo como un archivo, un dispositivo o un segmento de memoria anónimo. Este mapeo permite que el proceso lea o escriba en la región de la memoria como si fuera una matriz, y los cambios podrían afectar el objeto subyacente.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grpSp>
        <p:nvGrpSpPr>
          <p:cNvPr id="388" name="Google Shape;388;g35c3d30e88a_1_587"/>
          <p:cNvGrpSpPr/>
          <p:nvPr/>
        </p:nvGrpSpPr>
        <p:grpSpPr>
          <a:xfrm>
            <a:off x="783317" y="125238"/>
            <a:ext cx="13879572" cy="3570012"/>
            <a:chOff x="0" y="-19050"/>
            <a:chExt cx="3655501" cy="940244"/>
          </a:xfrm>
        </p:grpSpPr>
        <p:sp>
          <p:nvSpPr>
            <p:cNvPr id="389" name="Google Shape;389;g35c3d30e88a_1_587"/>
            <p:cNvSpPr/>
            <p:nvPr/>
          </p:nvSpPr>
          <p:spPr>
            <a:xfrm>
              <a:off x="0" y="0"/>
              <a:ext cx="3655501" cy="921194"/>
            </a:xfrm>
            <a:custGeom>
              <a:rect b="b" l="l" r="r" t="t"/>
              <a:pathLst>
                <a:path extrusionOk="0" h="921194" w="3655501">
                  <a:moveTo>
                    <a:pt x="28448" y="0"/>
                  </a:moveTo>
                  <a:lnTo>
                    <a:pt x="3627053" y="0"/>
                  </a:lnTo>
                  <a:cubicBezTo>
                    <a:pt x="3634598" y="0"/>
                    <a:pt x="3641834" y="2997"/>
                    <a:pt x="3647169" y="8332"/>
                  </a:cubicBezTo>
                  <a:cubicBezTo>
                    <a:pt x="3652504" y="13667"/>
                    <a:pt x="3655501" y="20903"/>
                    <a:pt x="3655501" y="28448"/>
                  </a:cubicBezTo>
                  <a:lnTo>
                    <a:pt x="3655501" y="892747"/>
                  </a:lnTo>
                  <a:cubicBezTo>
                    <a:pt x="3655501" y="900292"/>
                    <a:pt x="3652504" y="907527"/>
                    <a:pt x="3647169" y="912862"/>
                  </a:cubicBezTo>
                  <a:cubicBezTo>
                    <a:pt x="3641834" y="918197"/>
                    <a:pt x="3634598" y="921194"/>
                    <a:pt x="3627053" y="921194"/>
                  </a:cubicBezTo>
                  <a:lnTo>
                    <a:pt x="28448" y="921194"/>
                  </a:lnTo>
                  <a:cubicBezTo>
                    <a:pt x="20903" y="921194"/>
                    <a:pt x="13667" y="918197"/>
                    <a:pt x="8332" y="912862"/>
                  </a:cubicBezTo>
                  <a:cubicBezTo>
                    <a:pt x="2997" y="907527"/>
                    <a:pt x="0" y="900292"/>
                    <a:pt x="0" y="892747"/>
                  </a:cubicBezTo>
                  <a:lnTo>
                    <a:pt x="0" y="28448"/>
                  </a:lnTo>
                  <a:cubicBezTo>
                    <a:pt x="0" y="20903"/>
                    <a:pt x="2997" y="13667"/>
                    <a:pt x="8332" y="8332"/>
                  </a:cubicBezTo>
                  <a:cubicBezTo>
                    <a:pt x="13667" y="2997"/>
                    <a:pt x="20903" y="0"/>
                    <a:pt x="284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5c3d30e88a_1_587"/>
            <p:cNvSpPr txBox="1"/>
            <p:nvPr/>
          </p:nvSpPr>
          <p:spPr>
            <a:xfrm>
              <a:off x="0" y="-19050"/>
              <a:ext cx="3655500" cy="94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g35c3d30e88a_1_587"/>
          <p:cNvGrpSpPr/>
          <p:nvPr/>
        </p:nvGrpSpPr>
        <p:grpSpPr>
          <a:xfrm>
            <a:off x="906625" y="3945073"/>
            <a:ext cx="16721548" cy="6218612"/>
            <a:chOff x="0" y="-19050"/>
            <a:chExt cx="4404000" cy="1228562"/>
          </a:xfrm>
        </p:grpSpPr>
        <p:sp>
          <p:nvSpPr>
            <p:cNvPr id="392" name="Google Shape;392;g35c3d30e88a_1_587"/>
            <p:cNvSpPr/>
            <p:nvPr/>
          </p:nvSpPr>
          <p:spPr>
            <a:xfrm>
              <a:off x="0" y="0"/>
              <a:ext cx="4403982" cy="1209512"/>
            </a:xfrm>
            <a:custGeom>
              <a:rect b="b" l="l" r="r" t="t"/>
              <a:pathLst>
                <a:path extrusionOk="0" h="1209512" w="4403982">
                  <a:moveTo>
                    <a:pt x="23613" y="0"/>
                  </a:moveTo>
                  <a:lnTo>
                    <a:pt x="4380369" y="0"/>
                  </a:lnTo>
                  <a:cubicBezTo>
                    <a:pt x="4393410" y="0"/>
                    <a:pt x="4403982" y="10572"/>
                    <a:pt x="4403982" y="23613"/>
                  </a:cubicBezTo>
                  <a:lnTo>
                    <a:pt x="4403982" y="1185900"/>
                  </a:lnTo>
                  <a:cubicBezTo>
                    <a:pt x="4403982" y="1198941"/>
                    <a:pt x="4393410" y="1209512"/>
                    <a:pt x="4380369" y="1209512"/>
                  </a:cubicBezTo>
                  <a:lnTo>
                    <a:pt x="23613" y="1209512"/>
                  </a:lnTo>
                  <a:cubicBezTo>
                    <a:pt x="10572" y="1209512"/>
                    <a:pt x="0" y="1198941"/>
                    <a:pt x="0" y="1185900"/>
                  </a:cubicBezTo>
                  <a:lnTo>
                    <a:pt x="0" y="23613"/>
                  </a:lnTo>
                  <a:cubicBezTo>
                    <a:pt x="0" y="10572"/>
                    <a:pt x="10572" y="0"/>
                    <a:pt x="2361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5c3d30e88a_1_587"/>
            <p:cNvSpPr txBox="1"/>
            <p:nvPr/>
          </p:nvSpPr>
          <p:spPr>
            <a:xfrm>
              <a:off x="0" y="-19050"/>
              <a:ext cx="4404000" cy="1228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4" name="Google Shape;394;g35c3d30e88a_1_587"/>
          <p:cNvSpPr/>
          <p:nvPr/>
        </p:nvSpPr>
        <p:spPr>
          <a:xfrm rot="1517095">
            <a:off x="14870341" y="1457543"/>
            <a:ext cx="2588738" cy="2588738"/>
          </a:xfrm>
          <a:custGeom>
            <a:rect b="b" l="l" r="r" t="t"/>
            <a:pathLst>
              <a:path extrusionOk="0" h="2586435" w="2586435">
                <a:moveTo>
                  <a:pt x="0" y="0"/>
                </a:moveTo>
                <a:lnTo>
                  <a:pt x="2586435" y="0"/>
                </a:lnTo>
                <a:lnTo>
                  <a:pt x="2586435" y="2586435"/>
                </a:lnTo>
                <a:lnTo>
                  <a:pt x="0" y="2586435"/>
                </a:lnTo>
                <a:lnTo>
                  <a:pt x="0" y="0"/>
                </a:lnTo>
                <a:close/>
              </a:path>
            </a:pathLst>
          </a:custGeom>
          <a:blipFill rotWithShape="1">
            <a:blip r:embed="rId3">
              <a:alphaModFix/>
            </a:blip>
            <a:stretch>
              <a:fillRect b="0" l="0" r="0" t="0"/>
            </a:stretch>
          </a:blipFill>
          <a:ln>
            <a:noFill/>
          </a:ln>
        </p:spPr>
      </p:sp>
      <p:sp>
        <p:nvSpPr>
          <p:cNvPr id="395" name="Google Shape;395;g35c3d30e88a_1_587"/>
          <p:cNvSpPr txBox="1"/>
          <p:nvPr/>
        </p:nvSpPr>
        <p:spPr>
          <a:xfrm>
            <a:off x="1048883" y="656343"/>
            <a:ext cx="13371300" cy="3418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Hay 6 formas de realizar una llamada al sistema exec: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FF66C4"/>
                </a:solidFill>
                <a:latin typeface="Montserrat"/>
                <a:ea typeface="Montserrat"/>
                <a:cs typeface="Montserrat"/>
                <a:sym typeface="Montserrat"/>
              </a:rPr>
              <a:t> 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r>
              <a:rPr b="0" i="0" lang="en-US" sz="2199" u="none" cap="none" strike="noStrike">
                <a:solidFill>
                  <a:srgbClr val="5271FF"/>
                </a:solidFill>
                <a:latin typeface="Montserrat"/>
                <a:ea typeface="Montserrat"/>
                <a:cs typeface="Montserrat"/>
                <a:sym typeface="Montserrat"/>
              </a:rPr>
              <a:t> 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8C52FF"/>
                </a:solidFill>
                <a:latin typeface="Montserrat"/>
                <a:ea typeface="Montserrat"/>
                <a:cs typeface="Montserrat"/>
                <a:sym typeface="Montserrat"/>
              </a:rPr>
              <a:t> 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96" name="Google Shape;396;g35c3d30e88a_1_587"/>
          <p:cNvSpPr txBox="1"/>
          <p:nvPr/>
        </p:nvSpPr>
        <p:spPr>
          <a:xfrm>
            <a:off x="1195000" y="4075150"/>
            <a:ext cx="162435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3131"/>
              </a:buClr>
              <a:buSzPts val="2199"/>
              <a:buFont typeface="Arial"/>
              <a:buChar char="•"/>
            </a:pPr>
            <a:r>
              <a:rPr b="0" i="0" lang="en-US" sz="2199" u="none" cap="none" strike="noStrike">
                <a:solidFill>
                  <a:srgbClr val="FF3131"/>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 ruta del ejecutable del nuevo programa a ejecutar.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0CC0DF"/>
              </a:buClr>
              <a:buSzPts val="2199"/>
              <a:buFont typeface="Arial"/>
              <a:buChar char="•"/>
            </a:pPr>
            <a:r>
              <a:rPr b="0" i="0" lang="en-US" sz="2199" u="none" cap="none" strike="noStrike">
                <a:solidFill>
                  <a:srgbClr val="0CC0DF"/>
                </a:solidFill>
                <a:latin typeface="Montserrat"/>
                <a:ea typeface="Montserrat"/>
                <a:cs typeface="Montserrat"/>
                <a:sym typeface="Montserrat"/>
              </a:rPr>
              <a:t>file </a:t>
            </a:r>
            <a:r>
              <a:rPr b="0" i="0" lang="en-US" sz="2199" u="none" cap="none" strike="noStrike">
                <a:solidFill>
                  <a:srgbClr val="FFFFFF"/>
                </a:solidFill>
                <a:latin typeface="Montserrat"/>
                <a:ea typeface="Montserrat"/>
                <a:cs typeface="Montserrat"/>
                <a:sym typeface="Montserrat"/>
              </a:rPr>
              <a:t>= nombre del nuevo programa a ejecutar.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66C4"/>
              </a:buClr>
              <a:buSzPts val="2199"/>
              <a:buFont typeface="Arial"/>
              <a:buChar char="•"/>
            </a:pPr>
            <a:r>
              <a:rPr b="0" i="0" lang="en-US" sz="2199" u="none" cap="none" strike="noStrike">
                <a:solidFill>
                  <a:srgbClr val="FF66C4"/>
                </a:solidFill>
                <a:latin typeface="Montserrat"/>
                <a:ea typeface="Montserrat"/>
                <a:cs typeface="Montserrat"/>
                <a:sym typeface="Montserrat"/>
              </a:rPr>
              <a:t>arg0 </a:t>
            </a:r>
            <a:r>
              <a:rPr b="0" i="0" lang="en-US" sz="2199" u="none" cap="none" strike="noStrike">
                <a:solidFill>
                  <a:srgbClr val="FFFFFF"/>
                </a:solidFill>
                <a:latin typeface="Montserrat"/>
                <a:ea typeface="Montserrat"/>
                <a:cs typeface="Montserrat"/>
                <a:sym typeface="Montserrat"/>
              </a:rPr>
              <a:t>= primer argumento del programa. Por convención suele asignarse el nombre del programa sin la trayectoria.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arg1 ... argN</a:t>
            </a:r>
            <a:r>
              <a:rPr b="0" i="0" lang="en-US" sz="2199" u="none" cap="none" strike="noStrike">
                <a:solidFill>
                  <a:srgbClr val="FFFFFF"/>
                </a:solidFill>
                <a:latin typeface="Montserrat"/>
                <a:ea typeface="Montserrat"/>
                <a:cs typeface="Montserrat"/>
                <a:sym typeface="Montserrat"/>
              </a:rPr>
              <a:t> = Conjunto de parámetros que recibe el programa para su ejecución.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argv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 la lista de argumentos disponibles para el nuevo programa. </a:t>
            </a:r>
            <a:endParaRPr b="0" i="0" sz="1400" u="none" cap="none" strike="noStrike">
              <a:solidFill>
                <a:srgbClr val="000000"/>
              </a:solidFill>
              <a:latin typeface="Arial"/>
              <a:ea typeface="Arial"/>
              <a:cs typeface="Arial"/>
              <a:sym typeface="Arial"/>
            </a:endParaRPr>
          </a:p>
          <a:p>
            <a:pPr indent="-237488" lvl="1" marL="474977"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envp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constituyenelentorno de ejecución del nuevo programa.</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*args[] = {"ls", "-l",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*env[] = {"HOME=/tmp",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execve("/bin/ls", args, env);</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0" name="Shape 400"/>
        <p:cNvGrpSpPr/>
        <p:nvPr/>
      </p:nvGrpSpPr>
      <p:grpSpPr>
        <a:xfrm>
          <a:off x="0" y="0"/>
          <a:ext cx="0" cy="0"/>
          <a:chOff x="0" y="0"/>
          <a:chExt cx="0" cy="0"/>
        </a:xfrm>
      </p:grpSpPr>
      <p:sp>
        <p:nvSpPr>
          <p:cNvPr id="401" name="Google Shape;401;p10"/>
          <p:cNvSpPr/>
          <p:nvPr/>
        </p:nvSpPr>
        <p:spPr>
          <a:xfrm rot="-1470904">
            <a:off x="8526929" y="-4051384"/>
            <a:ext cx="25068637" cy="17092253"/>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sp>
        <p:nvSpPr>
          <p:cNvPr id="402" name="Google Shape;402;p10"/>
          <p:cNvSpPr/>
          <p:nvPr/>
        </p:nvSpPr>
        <p:spPr>
          <a:xfrm>
            <a:off x="10635698" y="2000602"/>
            <a:ext cx="7103216" cy="4963372"/>
          </a:xfrm>
          <a:custGeom>
            <a:rect b="b" l="l" r="r" t="t"/>
            <a:pathLst>
              <a:path extrusionOk="0" h="4963372" w="7103216">
                <a:moveTo>
                  <a:pt x="0" y="0"/>
                </a:moveTo>
                <a:lnTo>
                  <a:pt x="7103216" y="0"/>
                </a:lnTo>
                <a:lnTo>
                  <a:pt x="7103216" y="4963373"/>
                </a:lnTo>
                <a:lnTo>
                  <a:pt x="0" y="4963373"/>
                </a:lnTo>
                <a:lnTo>
                  <a:pt x="0" y="0"/>
                </a:lnTo>
                <a:close/>
              </a:path>
            </a:pathLst>
          </a:custGeom>
          <a:blipFill rotWithShape="1">
            <a:blip r:embed="rId4">
              <a:alphaModFix/>
            </a:blip>
            <a:stretch>
              <a:fillRect b="0" l="0" r="0" t="0"/>
            </a:stretch>
          </a:blipFill>
          <a:ln cap="sq" cmpd="sng" w="38100">
            <a:solidFill>
              <a:srgbClr val="FFFFFF"/>
            </a:solidFill>
            <a:prstDash val="solid"/>
            <a:miter lim="8000"/>
            <a:headEnd len="sm" w="sm" type="none"/>
            <a:tailEnd len="sm" w="sm" type="none"/>
          </a:ln>
        </p:spPr>
      </p:sp>
      <p:sp>
        <p:nvSpPr>
          <p:cNvPr id="403" name="Google Shape;403;p10"/>
          <p:cNvSpPr txBox="1"/>
          <p:nvPr/>
        </p:nvSpPr>
        <p:spPr>
          <a:xfrm>
            <a:off x="1535678" y="1019175"/>
            <a:ext cx="8454402"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MODIFICANDO EL KERNEL</a:t>
            </a:r>
            <a:endParaRPr b="0" i="0" sz="1400" u="none" cap="none" strike="noStrike">
              <a:solidFill>
                <a:srgbClr val="000000"/>
              </a:solidFill>
              <a:latin typeface="Arial"/>
              <a:ea typeface="Arial"/>
              <a:cs typeface="Arial"/>
              <a:sym typeface="Arial"/>
            </a:endParaRPr>
          </a:p>
        </p:txBody>
      </p:sp>
      <p:grpSp>
        <p:nvGrpSpPr>
          <p:cNvPr id="404" name="Google Shape;404;p10"/>
          <p:cNvGrpSpPr/>
          <p:nvPr/>
        </p:nvGrpSpPr>
        <p:grpSpPr>
          <a:xfrm>
            <a:off x="1426120" y="2762781"/>
            <a:ext cx="8563960" cy="4201194"/>
            <a:chOff x="0" y="-28575"/>
            <a:chExt cx="2579868" cy="1265597"/>
          </a:xfrm>
        </p:grpSpPr>
        <p:sp>
          <p:nvSpPr>
            <p:cNvPr id="405" name="Google Shape;405;p10"/>
            <p:cNvSpPr/>
            <p:nvPr/>
          </p:nvSpPr>
          <p:spPr>
            <a:xfrm>
              <a:off x="0" y="0"/>
              <a:ext cx="2579868" cy="1237022"/>
            </a:xfrm>
            <a:custGeom>
              <a:rect b="b" l="l" r="r" t="t"/>
              <a:pathLst>
                <a:path extrusionOk="0" h="1237022" w="2579868">
                  <a:moveTo>
                    <a:pt x="46105" y="0"/>
                  </a:moveTo>
                  <a:lnTo>
                    <a:pt x="2533764" y="0"/>
                  </a:lnTo>
                  <a:cubicBezTo>
                    <a:pt x="2559227" y="0"/>
                    <a:pt x="2579868" y="20642"/>
                    <a:pt x="2579868" y="46105"/>
                  </a:cubicBezTo>
                  <a:lnTo>
                    <a:pt x="2579868" y="1190918"/>
                  </a:lnTo>
                  <a:cubicBezTo>
                    <a:pt x="2579868" y="1216381"/>
                    <a:pt x="2559227" y="1237022"/>
                    <a:pt x="2533764" y="1237022"/>
                  </a:cubicBezTo>
                  <a:lnTo>
                    <a:pt x="46105" y="1237022"/>
                  </a:lnTo>
                  <a:cubicBezTo>
                    <a:pt x="20642" y="1237022"/>
                    <a:pt x="0" y="1216381"/>
                    <a:pt x="0" y="1190918"/>
                  </a:cubicBezTo>
                  <a:lnTo>
                    <a:pt x="0" y="46105"/>
                  </a:lnTo>
                  <a:cubicBezTo>
                    <a:pt x="0" y="20642"/>
                    <a:pt x="20642" y="0"/>
                    <a:pt x="461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0"/>
            <p:cNvSpPr txBox="1"/>
            <p:nvPr/>
          </p:nvSpPr>
          <p:spPr>
            <a:xfrm>
              <a:off x="0" y="-28575"/>
              <a:ext cx="2579868" cy="12655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10"/>
          <p:cNvSpPr txBox="1"/>
          <p:nvPr/>
        </p:nvSpPr>
        <p:spPr>
          <a:xfrm>
            <a:off x="1670239" y="3231882"/>
            <a:ext cx="8045699" cy="3597161"/>
          </a:xfrm>
          <a:prstGeom prst="rect">
            <a:avLst/>
          </a:prstGeom>
          <a:noFill/>
          <a:ln>
            <a:noFill/>
          </a:ln>
        </p:spPr>
        <p:txBody>
          <a:bodyPr anchorCtr="0" anchor="t" bIns="0" lIns="0" spcFirstLastPara="1" rIns="0" wrap="square" tIns="0">
            <a:spAutoFit/>
          </a:bodyPr>
          <a:lstStyle/>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Obtener el Código Fuente del Kernel</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Comenzar descargando la versión más reciente del código fuente del kernel desde </a:t>
            </a:r>
            <a:r>
              <a:rPr b="1" i="1" lang="en-US" sz="1884" u="sng" cap="none" strike="noStrike">
                <a:solidFill>
                  <a:srgbClr val="ACFDDB"/>
                </a:solidFill>
                <a:latin typeface="Montserrat"/>
                <a:ea typeface="Montserrat"/>
                <a:cs typeface="Montserrat"/>
                <a:sym typeface="Montserrat"/>
                <a:hlinkClick r:id="rId5">
                  <a:extLst>
                    <a:ext uri="{A12FA001-AC4F-418D-AE19-62706E023703}">
                      <ahyp:hlinkClr val="tx"/>
                    </a:ext>
                  </a:extLst>
                </a:hlinkClick>
              </a:rPr>
              <a:t>kernel.org</a:t>
            </a:r>
            <a:r>
              <a:rPr b="0" i="0" lang="en-US" sz="1884" u="none" cap="none" strike="noStrike">
                <a:solidFill>
                  <a:srgbClr val="FFFFFF"/>
                </a:solidFill>
                <a:latin typeface="Montserrat"/>
                <a:ea typeface="Montserrat"/>
                <a:cs typeface="Montserrat"/>
                <a:sym typeface="Montserrat"/>
              </a:rPr>
              <a:t>. Esto se puede hacer mediante comandos de terminal o desde el navegador. Una vez descargado, se debe descomprimir el archivo para acceder a los archivos de código fuente.</a:t>
            </a:r>
            <a:endParaRPr b="0" i="0" sz="1400" u="none" cap="none" strike="noStrike">
              <a:solidFill>
                <a:srgbClr val="000000"/>
              </a:solidFill>
              <a:latin typeface="Arial"/>
              <a:ea typeface="Arial"/>
              <a:cs typeface="Arial"/>
              <a:sym typeface="Arial"/>
            </a:endParaRPr>
          </a:p>
          <a:p>
            <a:pPr indent="0" lvl="0" marL="0" marR="0" rtl="0" algn="just">
              <a:lnSpc>
                <a:spcPct val="129989"/>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Instalar Dependencias Necesarias:</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Antes de compilar el kernel, es esencial contar con todas las herramientas necesarias, incluyendo compiladores y bibliotecas</a:t>
            </a:r>
            <a:endParaRPr b="0" i="0" sz="1400" u="none" cap="none" strike="noStrike">
              <a:solidFill>
                <a:srgbClr val="000000"/>
              </a:solidFill>
              <a:latin typeface="Arial"/>
              <a:ea typeface="Arial"/>
              <a:cs typeface="Arial"/>
              <a:sym typeface="Arial"/>
            </a:endParaRPr>
          </a:p>
          <a:p>
            <a:pPr indent="0" lvl="0" marL="0" marR="0" rtl="0" algn="just">
              <a:lnSpc>
                <a:spcPct val="102388"/>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p:txBody>
      </p:sp>
      <p:grpSp>
        <p:nvGrpSpPr>
          <p:cNvPr id="408" name="Google Shape;408;p10"/>
          <p:cNvGrpSpPr/>
          <p:nvPr/>
        </p:nvGrpSpPr>
        <p:grpSpPr>
          <a:xfrm>
            <a:off x="1466369" y="7211738"/>
            <a:ext cx="9973061" cy="706174"/>
            <a:chOff x="0" y="-19050"/>
            <a:chExt cx="2832171" cy="200541"/>
          </a:xfrm>
        </p:grpSpPr>
        <p:sp>
          <p:nvSpPr>
            <p:cNvPr id="409" name="Google Shape;409;p10"/>
            <p:cNvSpPr/>
            <p:nvPr/>
          </p:nvSpPr>
          <p:spPr>
            <a:xfrm>
              <a:off x="0" y="0"/>
              <a:ext cx="2832171" cy="181491"/>
            </a:xfrm>
            <a:custGeom>
              <a:rect b="b" l="l" r="r" t="t"/>
              <a:pathLst>
                <a:path extrusionOk="0" h="181491" w="2832171">
                  <a:moveTo>
                    <a:pt x="17855" y="0"/>
                  </a:moveTo>
                  <a:lnTo>
                    <a:pt x="2814316" y="0"/>
                  </a:lnTo>
                  <a:cubicBezTo>
                    <a:pt x="2819052" y="0"/>
                    <a:pt x="2823593" y="1881"/>
                    <a:pt x="2826941" y="5229"/>
                  </a:cubicBezTo>
                  <a:cubicBezTo>
                    <a:pt x="2830290" y="8578"/>
                    <a:pt x="2832171" y="13119"/>
                    <a:pt x="2832171" y="17855"/>
                  </a:cubicBezTo>
                  <a:lnTo>
                    <a:pt x="2832171" y="163636"/>
                  </a:lnTo>
                  <a:cubicBezTo>
                    <a:pt x="2832171" y="168371"/>
                    <a:pt x="2830290" y="172913"/>
                    <a:pt x="2826941" y="176261"/>
                  </a:cubicBezTo>
                  <a:cubicBezTo>
                    <a:pt x="2823593" y="179610"/>
                    <a:pt x="2819052" y="181491"/>
                    <a:pt x="2814316" y="181491"/>
                  </a:cubicBezTo>
                  <a:lnTo>
                    <a:pt x="17855" y="181491"/>
                  </a:lnTo>
                  <a:cubicBezTo>
                    <a:pt x="13119" y="181491"/>
                    <a:pt x="8578" y="179610"/>
                    <a:pt x="5229" y="176261"/>
                  </a:cubicBezTo>
                  <a:cubicBezTo>
                    <a:pt x="1881" y="172913"/>
                    <a:pt x="0" y="168371"/>
                    <a:pt x="0" y="163636"/>
                  </a:cubicBezTo>
                  <a:lnTo>
                    <a:pt x="0" y="17855"/>
                  </a:lnTo>
                  <a:cubicBezTo>
                    <a:pt x="0" y="13119"/>
                    <a:pt x="1881" y="8578"/>
                    <a:pt x="5229" y="5229"/>
                  </a:cubicBezTo>
                  <a:cubicBezTo>
                    <a:pt x="8578" y="1881"/>
                    <a:pt x="13119" y="0"/>
                    <a:pt x="178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10"/>
            <p:cNvSpPr txBox="1"/>
            <p:nvPr/>
          </p:nvSpPr>
          <p:spPr>
            <a:xfrm>
              <a:off x="0" y="-19050"/>
              <a:ext cx="2832171" cy="200541"/>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1" name="Google Shape;411;p10"/>
          <p:cNvSpPr/>
          <p:nvPr/>
        </p:nvSpPr>
        <p:spPr>
          <a:xfrm>
            <a:off x="1028700" y="7068750"/>
            <a:ext cx="3095934" cy="2743771"/>
          </a:xfrm>
          <a:custGeom>
            <a:rect b="b" l="l" r="r" t="t"/>
            <a:pathLst>
              <a:path extrusionOk="0" h="2743771" w="3095934">
                <a:moveTo>
                  <a:pt x="0" y="0"/>
                </a:moveTo>
                <a:lnTo>
                  <a:pt x="3095934" y="0"/>
                </a:lnTo>
                <a:lnTo>
                  <a:pt x="3095934" y="2743771"/>
                </a:lnTo>
                <a:lnTo>
                  <a:pt x="0" y="2743771"/>
                </a:lnTo>
                <a:lnTo>
                  <a:pt x="0" y="0"/>
                </a:lnTo>
                <a:close/>
              </a:path>
            </a:pathLst>
          </a:custGeom>
          <a:blipFill rotWithShape="1">
            <a:blip r:embed="rId6">
              <a:alphaModFix amt="94000"/>
            </a:blip>
            <a:stretch>
              <a:fillRect b="0" l="0" r="0" t="0"/>
            </a:stretch>
          </a:blipFill>
          <a:ln>
            <a:noFill/>
          </a:ln>
        </p:spPr>
      </p:sp>
      <p:grpSp>
        <p:nvGrpSpPr>
          <p:cNvPr id="412" name="Google Shape;412;p10"/>
          <p:cNvGrpSpPr/>
          <p:nvPr/>
        </p:nvGrpSpPr>
        <p:grpSpPr>
          <a:xfrm>
            <a:off x="1426120" y="7557785"/>
            <a:ext cx="10013310" cy="1998411"/>
            <a:chOff x="0" y="-19050"/>
            <a:chExt cx="2843601" cy="567513"/>
          </a:xfrm>
        </p:grpSpPr>
        <p:sp>
          <p:nvSpPr>
            <p:cNvPr id="413" name="Google Shape;413;p10"/>
            <p:cNvSpPr/>
            <p:nvPr/>
          </p:nvSpPr>
          <p:spPr>
            <a:xfrm>
              <a:off x="0" y="0"/>
              <a:ext cx="2843601" cy="548463"/>
            </a:xfrm>
            <a:custGeom>
              <a:rect b="b" l="l" r="r" t="t"/>
              <a:pathLst>
                <a:path extrusionOk="0" h="548463" w="2843601">
                  <a:moveTo>
                    <a:pt x="17783" y="0"/>
                  </a:moveTo>
                  <a:lnTo>
                    <a:pt x="2825818" y="0"/>
                  </a:lnTo>
                  <a:cubicBezTo>
                    <a:pt x="2835640" y="0"/>
                    <a:pt x="2843601" y="7962"/>
                    <a:pt x="2843601" y="17783"/>
                  </a:cubicBezTo>
                  <a:lnTo>
                    <a:pt x="2843601" y="530680"/>
                  </a:lnTo>
                  <a:cubicBezTo>
                    <a:pt x="2843601" y="540501"/>
                    <a:pt x="2835640" y="548463"/>
                    <a:pt x="2825818" y="548463"/>
                  </a:cubicBezTo>
                  <a:lnTo>
                    <a:pt x="17783" y="548463"/>
                  </a:lnTo>
                  <a:cubicBezTo>
                    <a:pt x="7962" y="548463"/>
                    <a:pt x="0" y="540501"/>
                    <a:pt x="0" y="530680"/>
                  </a:cubicBezTo>
                  <a:lnTo>
                    <a:pt x="0" y="17783"/>
                  </a:lnTo>
                  <a:cubicBezTo>
                    <a:pt x="0" y="7962"/>
                    <a:pt x="7962" y="0"/>
                    <a:pt x="1778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0"/>
            <p:cNvSpPr txBox="1"/>
            <p:nvPr/>
          </p:nvSpPr>
          <p:spPr>
            <a:xfrm>
              <a:off x="0" y="-19050"/>
              <a:ext cx="2843601" cy="567513"/>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15" name="Google Shape;415;p10"/>
          <p:cNvCxnSpPr/>
          <p:nvPr/>
        </p:nvCxnSpPr>
        <p:spPr>
          <a:xfrm>
            <a:off x="1605193" y="7771832"/>
            <a:ext cx="9030504" cy="18080"/>
          </a:xfrm>
          <a:prstGeom prst="straightConnector1">
            <a:avLst/>
          </a:prstGeom>
          <a:noFill/>
          <a:ln cap="flat" cmpd="sng" w="9525">
            <a:solidFill>
              <a:srgbClr val="FFFFFF"/>
            </a:solidFill>
            <a:prstDash val="solid"/>
            <a:round/>
            <a:headEnd len="sm" w="sm" type="none"/>
            <a:tailEnd len="sm" w="sm" type="none"/>
          </a:ln>
        </p:spPr>
      </p:cxnSp>
      <p:sp>
        <p:nvSpPr>
          <p:cNvPr id="416" name="Google Shape;416;p10"/>
          <p:cNvSpPr txBox="1"/>
          <p:nvPr/>
        </p:nvSpPr>
        <p:spPr>
          <a:xfrm>
            <a:off x="1575875" y="7837527"/>
            <a:ext cx="9586210" cy="11315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75"/>
              <a:buFont typeface="Arial"/>
              <a:buNone/>
            </a:pPr>
            <a:r>
              <a:rPr b="0" i="0" lang="en-US" sz="1575" u="none" cap="none" strike="noStrike">
                <a:solidFill>
                  <a:srgbClr val="FFFFFF"/>
                </a:solidFill>
                <a:latin typeface="Consolas"/>
                <a:ea typeface="Consolas"/>
                <a:cs typeface="Consolas"/>
                <a:sym typeface="Consolas"/>
              </a:rPr>
              <a:t>&gt; Instalar dependencias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rPr b="1" i="0" lang="en-US" sz="1575" u="none" cap="none" strike="noStrike">
                <a:solidFill>
                  <a:srgbClr val="FFFFFF"/>
                </a:solidFill>
                <a:latin typeface="Consolas"/>
                <a:ea typeface="Consolas"/>
                <a:cs typeface="Consolas"/>
                <a:sym typeface="Consolas"/>
              </a:rPr>
              <a:t>$ </a:t>
            </a:r>
            <a:r>
              <a:rPr b="1" i="1" lang="en-US" sz="1575" u="none" cap="none" strike="noStrike">
                <a:solidFill>
                  <a:srgbClr val="FFFFFF"/>
                </a:solidFill>
                <a:latin typeface="Consolas"/>
                <a:ea typeface="Consolas"/>
                <a:cs typeface="Consolas"/>
                <a:sym typeface="Consolas"/>
              </a:rPr>
              <a:t>sudo apt-get install build-essential libncurses-dev bison flex libssl-dev libelf-dev</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0" name="Shape 420"/>
        <p:cNvGrpSpPr/>
        <p:nvPr/>
      </p:nvGrpSpPr>
      <p:grpSpPr>
        <a:xfrm>
          <a:off x="0" y="0"/>
          <a:ext cx="0" cy="0"/>
          <a:chOff x="0" y="0"/>
          <a:chExt cx="0" cy="0"/>
        </a:xfrm>
      </p:grpSpPr>
      <p:grpSp>
        <p:nvGrpSpPr>
          <p:cNvPr id="421" name="Google Shape;421;p11"/>
          <p:cNvGrpSpPr/>
          <p:nvPr/>
        </p:nvGrpSpPr>
        <p:grpSpPr>
          <a:xfrm>
            <a:off x="623125" y="741874"/>
            <a:ext cx="8415951" cy="8701501"/>
            <a:chOff x="0" y="-19050"/>
            <a:chExt cx="1696696" cy="1572371"/>
          </a:xfrm>
        </p:grpSpPr>
        <p:sp>
          <p:nvSpPr>
            <p:cNvPr id="422" name="Google Shape;422;p11"/>
            <p:cNvSpPr/>
            <p:nvPr/>
          </p:nvSpPr>
          <p:spPr>
            <a:xfrm>
              <a:off x="0" y="0"/>
              <a:ext cx="1696696" cy="1553321"/>
            </a:xfrm>
            <a:custGeom>
              <a:rect b="b" l="l" r="r" t="t"/>
              <a:pathLst>
                <a:path extrusionOk="0" h="1553321" w="1696696">
                  <a:moveTo>
                    <a:pt x="45996" y="0"/>
                  </a:moveTo>
                  <a:lnTo>
                    <a:pt x="1650700" y="0"/>
                  </a:lnTo>
                  <a:cubicBezTo>
                    <a:pt x="1676103" y="0"/>
                    <a:pt x="1696696" y="20593"/>
                    <a:pt x="1696696" y="45996"/>
                  </a:cubicBezTo>
                  <a:lnTo>
                    <a:pt x="1696696" y="1507325"/>
                  </a:lnTo>
                  <a:cubicBezTo>
                    <a:pt x="1696696" y="1532728"/>
                    <a:pt x="1676103" y="1553321"/>
                    <a:pt x="1650700" y="1553321"/>
                  </a:cubicBezTo>
                  <a:lnTo>
                    <a:pt x="45996" y="1553321"/>
                  </a:lnTo>
                  <a:cubicBezTo>
                    <a:pt x="20593" y="1553321"/>
                    <a:pt x="0" y="1532728"/>
                    <a:pt x="0" y="1507325"/>
                  </a:cubicBezTo>
                  <a:lnTo>
                    <a:pt x="0" y="45996"/>
                  </a:lnTo>
                  <a:cubicBezTo>
                    <a:pt x="0" y="20593"/>
                    <a:pt x="20593" y="0"/>
                    <a:pt x="4599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1"/>
            <p:cNvSpPr txBox="1"/>
            <p:nvPr/>
          </p:nvSpPr>
          <p:spPr>
            <a:xfrm>
              <a:off x="0" y="-19050"/>
              <a:ext cx="1696696" cy="15723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4" name="Google Shape;424;p11"/>
          <p:cNvSpPr/>
          <p:nvPr/>
        </p:nvSpPr>
        <p:spPr>
          <a:xfrm>
            <a:off x="8809220" y="1028700"/>
            <a:ext cx="4375947" cy="3878183"/>
          </a:xfrm>
          <a:custGeom>
            <a:rect b="b" l="l" r="r" t="t"/>
            <a:pathLst>
              <a:path extrusionOk="0" h="3878183" w="4375947">
                <a:moveTo>
                  <a:pt x="0" y="0"/>
                </a:moveTo>
                <a:lnTo>
                  <a:pt x="4375947" y="0"/>
                </a:lnTo>
                <a:lnTo>
                  <a:pt x="4375947" y="3878183"/>
                </a:lnTo>
                <a:lnTo>
                  <a:pt x="0" y="3878183"/>
                </a:lnTo>
                <a:lnTo>
                  <a:pt x="0" y="0"/>
                </a:lnTo>
                <a:close/>
              </a:path>
            </a:pathLst>
          </a:custGeom>
          <a:blipFill rotWithShape="1">
            <a:blip r:embed="rId3">
              <a:alphaModFix amt="94000"/>
            </a:blip>
            <a:stretch>
              <a:fillRect b="0" l="0" r="0" t="0"/>
            </a:stretch>
          </a:blipFill>
          <a:ln>
            <a:noFill/>
          </a:ln>
        </p:spPr>
      </p:sp>
      <p:grpSp>
        <p:nvGrpSpPr>
          <p:cNvPr id="425" name="Google Shape;425;p11"/>
          <p:cNvGrpSpPr/>
          <p:nvPr/>
        </p:nvGrpSpPr>
        <p:grpSpPr>
          <a:xfrm>
            <a:off x="9370950" y="1719925"/>
            <a:ext cx="8488984" cy="7018941"/>
            <a:chOff x="0" y="-19050"/>
            <a:chExt cx="1705540" cy="1221918"/>
          </a:xfrm>
        </p:grpSpPr>
        <p:sp>
          <p:nvSpPr>
            <p:cNvPr id="426" name="Google Shape;426;p11"/>
            <p:cNvSpPr/>
            <p:nvPr/>
          </p:nvSpPr>
          <p:spPr>
            <a:xfrm>
              <a:off x="0" y="0"/>
              <a:ext cx="1705540" cy="1202868"/>
            </a:xfrm>
            <a:custGeom>
              <a:rect b="b" l="l" r="r" t="t"/>
              <a:pathLst>
                <a:path extrusionOk="0" h="1202868" w="1705540">
                  <a:moveTo>
                    <a:pt x="20976" y="0"/>
                  </a:moveTo>
                  <a:lnTo>
                    <a:pt x="1684564" y="0"/>
                  </a:lnTo>
                  <a:cubicBezTo>
                    <a:pt x="1696149" y="0"/>
                    <a:pt x="1705540" y="9391"/>
                    <a:pt x="1705540" y="20976"/>
                  </a:cubicBezTo>
                  <a:lnTo>
                    <a:pt x="1705540" y="1181892"/>
                  </a:lnTo>
                  <a:cubicBezTo>
                    <a:pt x="1705540" y="1193477"/>
                    <a:pt x="1696149" y="1202868"/>
                    <a:pt x="1684564" y="1202868"/>
                  </a:cubicBezTo>
                  <a:lnTo>
                    <a:pt x="20976" y="1202868"/>
                  </a:lnTo>
                  <a:cubicBezTo>
                    <a:pt x="9391" y="1202868"/>
                    <a:pt x="0" y="1193477"/>
                    <a:pt x="0" y="1181892"/>
                  </a:cubicBezTo>
                  <a:lnTo>
                    <a:pt x="0" y="20976"/>
                  </a:lnTo>
                  <a:cubicBezTo>
                    <a:pt x="0" y="9391"/>
                    <a:pt x="9391" y="0"/>
                    <a:pt x="2097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1"/>
            <p:cNvSpPr txBox="1"/>
            <p:nvPr/>
          </p:nvSpPr>
          <p:spPr>
            <a:xfrm>
              <a:off x="0" y="-19050"/>
              <a:ext cx="1705540" cy="1221918"/>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28" name="Google Shape;428;p11"/>
          <p:cNvCxnSpPr/>
          <p:nvPr/>
        </p:nvCxnSpPr>
        <p:spPr>
          <a:xfrm>
            <a:off x="9624064" y="2022472"/>
            <a:ext cx="7530888" cy="0"/>
          </a:xfrm>
          <a:prstGeom prst="straightConnector1">
            <a:avLst/>
          </a:prstGeom>
          <a:noFill/>
          <a:ln cap="flat" cmpd="sng" w="9525">
            <a:solidFill>
              <a:srgbClr val="FFFFFF"/>
            </a:solidFill>
            <a:prstDash val="solid"/>
            <a:round/>
            <a:headEnd len="sm" w="sm" type="none"/>
            <a:tailEnd len="sm" w="sm" type="none"/>
          </a:ln>
        </p:spPr>
      </p:cxnSp>
      <p:sp>
        <p:nvSpPr>
          <p:cNvPr id="429" name="Google Shape;429;p11"/>
          <p:cNvSpPr/>
          <p:nvPr/>
        </p:nvSpPr>
        <p:spPr>
          <a:xfrm>
            <a:off x="15414121" y="7411835"/>
            <a:ext cx="2258546" cy="2258546"/>
          </a:xfrm>
          <a:custGeom>
            <a:rect b="b" l="l" r="r" t="t"/>
            <a:pathLst>
              <a:path extrusionOk="0" h="2258546" w="2258546">
                <a:moveTo>
                  <a:pt x="0" y="0"/>
                </a:moveTo>
                <a:lnTo>
                  <a:pt x="2258546" y="0"/>
                </a:lnTo>
                <a:lnTo>
                  <a:pt x="2258546" y="2258547"/>
                </a:lnTo>
                <a:lnTo>
                  <a:pt x="0" y="2258547"/>
                </a:lnTo>
                <a:lnTo>
                  <a:pt x="0" y="0"/>
                </a:lnTo>
                <a:close/>
              </a:path>
            </a:pathLst>
          </a:custGeom>
          <a:blipFill rotWithShape="1">
            <a:blip r:embed="rId4">
              <a:alphaModFix/>
            </a:blip>
            <a:stretch>
              <a:fillRect b="0" l="0" r="0" t="0"/>
            </a:stretch>
          </a:blipFill>
          <a:ln>
            <a:noFill/>
          </a:ln>
        </p:spPr>
      </p:sp>
      <p:sp>
        <p:nvSpPr>
          <p:cNvPr id="430" name="Google Shape;430;p11"/>
          <p:cNvSpPr txBox="1"/>
          <p:nvPr/>
        </p:nvSpPr>
        <p:spPr>
          <a:xfrm>
            <a:off x="1028700" y="862149"/>
            <a:ext cx="7780520" cy="8070418"/>
          </a:xfrm>
          <a:prstGeom prst="rect">
            <a:avLst/>
          </a:prstGeom>
          <a:noFill/>
          <a:ln>
            <a:noFill/>
          </a:ln>
        </p:spPr>
        <p:txBody>
          <a:bodyPr anchorCtr="0" anchor="t" bIns="0" lIns="0" spcFirstLastPara="1" rIns="0" wrap="square" tIns="0">
            <a:spAutoFit/>
          </a:bodyPr>
          <a:lstStyle/>
          <a:p>
            <a:pPr indent="0" lvl="0" marL="0" marR="0" rtl="0" algn="l">
              <a:lnSpc>
                <a:spcPct val="1071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88"/>
              </a:lnSpc>
              <a:spcBef>
                <a:spcPts val="0"/>
              </a:spcBef>
              <a:spcAft>
                <a:spcPts val="0"/>
              </a:spcAft>
              <a:buClr>
                <a:srgbClr val="000000"/>
              </a:buClr>
              <a:buSzPts val="1684"/>
              <a:buFont typeface="Arial"/>
              <a:buNone/>
            </a:pPr>
            <a:r>
              <a:rPr b="1" i="0" lang="en-US" sz="1684" u="none" cap="none" strike="noStrike">
                <a:solidFill>
                  <a:srgbClr val="FFFFFF"/>
                </a:solidFill>
                <a:latin typeface="Montserrat"/>
                <a:ea typeface="Montserrat"/>
                <a:cs typeface="Montserrat"/>
                <a:sym typeface="Montserrat"/>
              </a:rPr>
              <a:t>Configurar el Kernel:</a:t>
            </a:r>
            <a:endParaRPr b="0" i="0" sz="1400" u="none" cap="none" strike="noStrike">
              <a:solidFill>
                <a:srgbClr val="000000"/>
              </a:solidFill>
              <a:latin typeface="Arial"/>
              <a:ea typeface="Arial"/>
              <a:cs typeface="Arial"/>
              <a:sym typeface="Arial"/>
            </a:endParaRPr>
          </a:p>
          <a:p>
            <a:pPr indent="0" lvl="0" marL="0" marR="0" rtl="0" algn="l">
              <a:lnSpc>
                <a:spcPct val="114548"/>
              </a:lnSpc>
              <a:spcBef>
                <a:spcPts val="0"/>
              </a:spcBef>
              <a:spcAft>
                <a:spcPts val="0"/>
              </a:spcAft>
              <a:buClr>
                <a:srgbClr val="000000"/>
              </a:buClr>
              <a:buSzPts val="1684"/>
              <a:buFont typeface="Arial"/>
              <a:buNone/>
            </a:pPr>
            <a:r>
              <a:t/>
            </a:r>
            <a:endParaRPr b="1" i="0" sz="16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Se gestiona a través de un archivo </a:t>
            </a:r>
            <a:r>
              <a:rPr b="0" i="0" lang="en-US" sz="1484" u="none" cap="none" strike="noStrike">
                <a:solidFill>
                  <a:srgbClr val="ACFDDB"/>
                </a:solidFill>
                <a:latin typeface="Montserrat"/>
                <a:ea typeface="Montserrat"/>
                <a:cs typeface="Montserrat"/>
                <a:sym typeface="Montserrat"/>
              </a:rPr>
              <a:t>.config</a:t>
            </a:r>
            <a:r>
              <a:rPr b="0" i="0" lang="en-US" sz="1484" u="none" cap="none" strike="noStrike">
                <a:solidFill>
                  <a:srgbClr val="FFFFFF"/>
                </a:solidFill>
                <a:latin typeface="Montserrat"/>
                <a:ea typeface="Montserrat"/>
                <a:cs typeface="Montserrat"/>
                <a:sym typeface="Montserrat"/>
              </a:rPr>
              <a:t>. Para facilitar este proceso, se puede utilizar el comando </a:t>
            </a:r>
            <a:r>
              <a:rPr b="0" i="0" lang="en-US" sz="1484" u="none" cap="none" strike="noStrike">
                <a:solidFill>
                  <a:srgbClr val="ACFDDB"/>
                </a:solidFill>
                <a:latin typeface="Montserrat"/>
                <a:ea typeface="Montserrat"/>
                <a:cs typeface="Montserrat"/>
                <a:sym typeface="Montserrat"/>
              </a:rPr>
              <a:t>localmodconfig</a:t>
            </a:r>
            <a:r>
              <a:rPr b="0" i="0" lang="en-US" sz="1484" u="none" cap="none" strike="noStrike">
                <a:solidFill>
                  <a:srgbClr val="FFFFFF"/>
                </a:solidFill>
                <a:latin typeface="Montserrat"/>
                <a:ea typeface="Montserrat"/>
                <a:cs typeface="Montserrat"/>
                <a:sym typeface="Montserrat"/>
              </a:rPr>
              <a:t>, que ajusta automáticamente el archivo para incluir solo los módulos del kernel actualmente cargados en el sistema. Sin embargo, es importante destacar que esta configuración hará que el kernel compilado sea específico para la máquina utilizada.</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Usar el comando: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fakeroot make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ACFDDB"/>
                </a:solidFill>
                <a:latin typeface="Montserrat"/>
                <a:ea typeface="Montserrat"/>
                <a:cs typeface="Montserrat"/>
                <a:sym typeface="Montserrat"/>
              </a:rPr>
              <a:t>fakeroot </a:t>
            </a:r>
            <a:r>
              <a:rPr b="0" i="0" lang="en-US" sz="1484" u="none" cap="none" strike="noStrike">
                <a:solidFill>
                  <a:srgbClr val="FFFFFF"/>
                </a:solidFill>
                <a:latin typeface="Montserrat"/>
                <a:ea typeface="Montserrat"/>
                <a:cs typeface="Montserrat"/>
                <a:sym typeface="Montserrat"/>
              </a:rPr>
              <a:t>es una herramienta esencial que permite ejecutar comandos en un entorno simulado con permisos de superusuario, sin necesidad de tener realmente dichos permisos. Esto es particularmente útil al usar make, ya que facilita la creación de archivos con las propiedades y permisos de superusuario, simplificando así el proceso de construcción y empaquetado de software.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Instalar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Primero se </a:t>
            </a:r>
            <a:r>
              <a:rPr b="0" i="0" lang="en-US" sz="1484" u="none" cap="none" strike="noStrike">
                <a:solidFill>
                  <a:srgbClr val="ACFDDB"/>
                </a:solidFill>
                <a:latin typeface="Montserrat"/>
                <a:ea typeface="Montserrat"/>
                <a:cs typeface="Montserrat"/>
                <a:sym typeface="Montserrat"/>
              </a:rPr>
              <a:t>instalan los módulos</a:t>
            </a:r>
            <a:r>
              <a:rPr b="0" i="0" lang="en-US" sz="1484" u="none" cap="none" strike="noStrike">
                <a:solidFill>
                  <a:srgbClr val="FFFFFF"/>
                </a:solidFill>
                <a:latin typeface="Montserrat"/>
                <a:ea typeface="Montserrat"/>
                <a:cs typeface="Montserrat"/>
                <a:sym typeface="Montserrat"/>
              </a:rPr>
              <a:t> del kernel ejecutando: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Luego instalamos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Después de eso, reiniciamos la computadora para que se </a:t>
            </a:r>
            <a:r>
              <a:rPr b="0" i="0" lang="en-US" sz="1484" u="none" cap="none" strike="noStrike">
                <a:solidFill>
                  <a:srgbClr val="ACFDDB"/>
                </a:solidFill>
                <a:latin typeface="Montserrat"/>
                <a:ea typeface="Montserrat"/>
                <a:cs typeface="Montserrat"/>
                <a:sym typeface="Montserrat"/>
              </a:rPr>
              <a:t>complete </a:t>
            </a:r>
            <a:r>
              <a:rPr b="0" i="0" lang="en-US" sz="1484" u="none" cap="none" strike="noStrike">
                <a:solidFill>
                  <a:srgbClr val="FFFFFF"/>
                </a:solidFill>
                <a:latin typeface="Montserrat"/>
                <a:ea typeface="Montserrat"/>
                <a:cs typeface="Montserrat"/>
                <a:sym typeface="Montserrat"/>
              </a:rPr>
              <a:t>la instalación.</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94946"/>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p:txBody>
      </p:sp>
      <p:sp>
        <p:nvSpPr>
          <p:cNvPr id="431" name="Google Shape;431;p11"/>
          <p:cNvSpPr txBox="1"/>
          <p:nvPr/>
        </p:nvSpPr>
        <p:spPr>
          <a:xfrm>
            <a:off x="9582625" y="2133371"/>
            <a:ext cx="8090100" cy="61989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Configurar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 localmodconfig</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Deshabilitar llaves privadas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SYSTEM_TRUSTED_KEYS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SYSTEM_REVOCATION_KEYS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--set-str CONFIG_SYSTEM_TRUSTED_KEYS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scripts/config --set-str CONFIG_SYSTEM_REVOCATION_KEYS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fakeroot make -j4</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Instalar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reboot</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5c3d30e88a_1_7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37" name="Google Shape;437;g35c3d30e88a_1_7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38" name="Google Shape;438;g35c3d30e88a_1_7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39" name="Google Shape;439;g35c3d30e88a_1_7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Compilar Kernel de Linux</a:t>
            </a:r>
            <a:endParaRPr b="0" i="0" sz="8600" u="none" cap="none" strike="noStrike">
              <a:solidFill>
                <a:srgbClr val="FFFFFF"/>
              </a:solidFill>
              <a:latin typeface="Arial"/>
              <a:ea typeface="Arial"/>
              <a:cs typeface="Arial"/>
              <a:sym typeface="Arial"/>
            </a:endParaRPr>
          </a:p>
        </p:txBody>
      </p:sp>
      <p:pic>
        <p:nvPicPr>
          <p:cNvPr id="440" name="Google Shape;440;g35c3d30e88a_1_7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41" name="Google Shape;441;g35c3d30e88a_1_7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42" name="Google Shape;442;g35c3d30e88a_1_7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g35c8c296148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48" name="Google Shape;448;g35c8c296148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49" name="Google Shape;449;g35c8c296148_0_0"/>
          <p:cNvGrpSpPr/>
          <p:nvPr/>
        </p:nvGrpSpPr>
        <p:grpSpPr>
          <a:xfrm>
            <a:off x="2695525" y="2304374"/>
            <a:ext cx="12896949" cy="6162134"/>
            <a:chOff x="0" y="-19050"/>
            <a:chExt cx="1956900" cy="2395201"/>
          </a:xfrm>
        </p:grpSpPr>
        <p:sp>
          <p:nvSpPr>
            <p:cNvPr id="450" name="Google Shape;450;g35c8c296148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35c8c296148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2" name="Google Shape;452;g35c8c296148_0_0"/>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Personalización, Compilación e Instalación del Kernel de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Personalizar el kernel de Linux implica obtener su código fuente, configurar las opciones deseadas, compilarlo y luego instalarlo para adaptar el sistema a necesidades específicas.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al Sistema (Syscalls)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Las llamadas al sistema son interfaces que permiten a los programas de usuario solicitar servicios al kernel, cómo acceder a archivos o gestionar procesos.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Comunes para Gestión de Procesos en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Funciones como fork(), exec(), wait() y exit() son esenciales para la creación y gestión de procesos en Linux, permitiendo la ejecución y control de programas.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6" name="Shape 456"/>
        <p:cNvGrpSpPr/>
        <p:nvPr/>
      </p:nvGrpSpPr>
      <p:grpSpPr>
        <a:xfrm>
          <a:off x="0" y="0"/>
          <a:ext cx="0" cy="0"/>
          <a:chOff x="0" y="0"/>
          <a:chExt cx="0" cy="0"/>
        </a:xfrm>
      </p:grpSpPr>
      <p:sp>
        <p:nvSpPr>
          <p:cNvPr id="457" name="Google Shape;457;g35c3d30e88a_1_8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58" name="Google Shape;458;g35c3d30e88a_1_8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59" name="Google Shape;459;g35c3d30e88a_1_801"/>
          <p:cNvGrpSpPr/>
          <p:nvPr/>
        </p:nvGrpSpPr>
        <p:grpSpPr>
          <a:xfrm>
            <a:off x="2613274" y="3052875"/>
            <a:ext cx="13701822" cy="4860102"/>
            <a:chOff x="0" y="-19050"/>
            <a:chExt cx="1956900" cy="2395201"/>
          </a:xfrm>
        </p:grpSpPr>
        <p:sp>
          <p:nvSpPr>
            <p:cNvPr id="460" name="Google Shape;460;g35c3d30e88a_1_8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g35c3d30e88a_1_8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2" name="Google Shape;462;g35c3d30e88a_1_801"/>
          <p:cNvSpPr txBox="1"/>
          <p:nvPr/>
        </p:nvSpPr>
        <p:spPr>
          <a:xfrm>
            <a:off x="3106888"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Pensamiento Crítico:</a:t>
            </a:r>
            <a:r>
              <a:rPr b="0" i="0" lang="en-US" sz="3200" u="none" cap="none" strike="noStrike">
                <a:solidFill>
                  <a:schemeClr val="lt1"/>
                </a:solidFill>
                <a:latin typeface="Arial"/>
                <a:ea typeface="Arial"/>
                <a:cs typeface="Arial"/>
                <a:sym typeface="Arial"/>
              </a:rPr>
              <a:t> Es posible que como estudiante nos enfrentemos por primera vez al reto de explorar y modificar el código del kernel de linux, o bien a modificarlo tan a fondo, es importante que fortalecer el pensamiento crítico para este nuevo reto.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6" name="Shape 466"/>
        <p:cNvGrpSpPr/>
        <p:nvPr/>
      </p:nvGrpSpPr>
      <p:grpSpPr>
        <a:xfrm>
          <a:off x="0" y="0"/>
          <a:ext cx="0" cy="0"/>
          <a:chOff x="0" y="0"/>
          <a:chExt cx="0" cy="0"/>
        </a:xfrm>
      </p:grpSpPr>
      <p:sp>
        <p:nvSpPr>
          <p:cNvPr id="467" name="Google Shape;467;g35c8c296148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68" name="Google Shape;468;g35c8c296148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469" name="Google Shape;469;g35c8c296148_0_9"/>
          <p:cNvGrpSpPr/>
          <p:nvPr/>
        </p:nvGrpSpPr>
        <p:grpSpPr>
          <a:xfrm>
            <a:off x="2695525" y="2304374"/>
            <a:ext cx="12896949" cy="6162134"/>
            <a:chOff x="0" y="-19050"/>
            <a:chExt cx="1956900" cy="2395201"/>
          </a:xfrm>
        </p:grpSpPr>
        <p:sp>
          <p:nvSpPr>
            <p:cNvPr id="470" name="Google Shape;470;g35c8c296148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5c8c296148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g35c8c296148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How to install a higher version of the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https://www.linux.org/threads/how-to-install-a-higher-version-of-the-kernel-build-compile-and-make-the-system-used-it.54879/</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system call in 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https://www.geeksforgeeks.org/linux-system-call-in-detail/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Fork,exec,wait and exit system call</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https://vitux.com/fork-exec-wait-and-exit-system-call-explained-in-linux/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78" name="Google Shape;478;p1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79" name="Google Shape;479;p1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80" name="Google Shape;480;p12"/>
          <p:cNvGrpSpPr/>
          <p:nvPr/>
        </p:nvGrpSpPr>
        <p:grpSpPr>
          <a:xfrm>
            <a:off x="6725937" y="6354796"/>
            <a:ext cx="4836125" cy="1241011"/>
            <a:chOff x="0" y="-19050"/>
            <a:chExt cx="1273712" cy="326851"/>
          </a:xfrm>
        </p:grpSpPr>
        <p:sp>
          <p:nvSpPr>
            <p:cNvPr id="481" name="Google Shape;481;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3" name="Google Shape;483;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84" name="Google Shape;484;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