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gA5yKq3oFwdTxSZ6XwIENEN8od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E7B5F1-82CD-494F-B8C0-E61CF5E99D1E}">
  <a:tblStyle styleId="{14E7B5F1-82CD-494F-B8C0-E61CF5E99D1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OpenSans-bold.fntdata"/><Relationship Id="rId14" Type="http://schemas.openxmlformats.org/officeDocument/2006/relationships/slide" Target="slides/slide8.xml"/><Relationship Id="rId36" Type="http://schemas.openxmlformats.org/officeDocument/2006/relationships/font" Target="fonts/OpenSans-regular.fntdata"/><Relationship Id="rId17" Type="http://schemas.openxmlformats.org/officeDocument/2006/relationships/slide" Target="slides/slide11.xml"/><Relationship Id="rId39" Type="http://schemas.openxmlformats.org/officeDocument/2006/relationships/font" Target="fonts/OpenSans-boldItalic.fntdata"/><Relationship Id="rId16" Type="http://schemas.openxmlformats.org/officeDocument/2006/relationships/slide" Target="slides/slide10.xml"/><Relationship Id="rId38" Type="http://schemas.openxmlformats.org/officeDocument/2006/relationships/font" Target="fonts/OpenSans-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0fef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0fef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1a134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1a134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0fef6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0fef6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1a13495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1a13495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1a13495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1a13495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5d01a13495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5d01a13495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d01a13495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g35d01a13495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d01a13495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5d01a13495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d01a13495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35d01a13495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5d01a13495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g35d01a13495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5d01a13495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5d01a13495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cb8403e9f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cb8403e9f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5d01a13495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5d01a13495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c8c16e5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g35c8c16e50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5d01a13495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g35d01a13495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c8c16e50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9" name="Google Shape;389;g35c8c16e50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abe18fbc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abe18fbc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abe18fbc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5.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1.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youtube.com/watch?v=lGY4hXyU5tc" TargetMode="External"/><Relationship Id="rId4"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40.png"/><Relationship Id="rId5"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jpg"/><Relationship Id="rId4" Type="http://schemas.openxmlformats.org/officeDocument/2006/relationships/image" Target="../media/image45.png"/><Relationship Id="rId5" Type="http://schemas.openxmlformats.org/officeDocument/2006/relationships/image" Target="../media/image42.png"/><Relationship Id="rId6"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hyperlink" Target="https://www.geeksforgeeks.org/thread-in-operating-system/?utm_source=chatgpt.com" TargetMode="External"/><Relationship Id="rId5" Type="http://schemas.openxmlformats.org/officeDocument/2006/relationships/hyperlink" Target="https://www.geeksforgeeks.org/difference-between-concurrency-and-parallelis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jp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0fef64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0fef64_0_0"/>
          <p:cNvGraphicFramePr/>
          <p:nvPr/>
        </p:nvGraphicFramePr>
        <p:xfrm>
          <a:off x="10656400" y="1940050"/>
          <a:ext cx="3000000" cy="3000000"/>
        </p:xfrm>
        <a:graphic>
          <a:graphicData uri="http://schemas.openxmlformats.org/drawingml/2006/table">
            <a:tbl>
              <a:tblPr>
                <a:noFill/>
                <a:tableStyleId>{14E7B5F1-82CD-494F-B8C0-E61CF5E99D1E}</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27</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:20</a:t>
                      </a:r>
                      <a:endParaRPr sz="2800" u="none" cap="none" strike="noStrike"/>
                    </a:p>
                  </a:txBody>
                  <a:tcPr marT="182850" marB="182850" marR="182850" marL="182850"/>
                </a:tc>
              </a:tr>
            </a:tbl>
          </a:graphicData>
        </a:graphic>
      </p:graphicFrame>
      <p:sp>
        <p:nvSpPr>
          <p:cNvPr id="90" name="Google Shape;90;g388fd0fef64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0fef64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1a13495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1a13495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1a13495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1a13495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1a13495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1a13495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1a13495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1a13495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1a13495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0fef64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0fef64_0_7"/>
          <p:cNvGrpSpPr/>
          <p:nvPr/>
        </p:nvGrpSpPr>
        <p:grpSpPr>
          <a:xfrm>
            <a:off x="9975044" y="2453203"/>
            <a:ext cx="7764346" cy="662374"/>
            <a:chOff x="3095445" y="-87910"/>
            <a:chExt cx="5099400" cy="435000"/>
          </a:xfrm>
        </p:grpSpPr>
        <p:sp>
          <p:nvSpPr>
            <p:cNvPr id="111" name="Google Shape;111;g388fd0fef64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0fef64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0fef64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88fd0fef64_0_7"/>
          <p:cNvSpPr txBox="1"/>
          <p:nvPr/>
        </p:nvSpPr>
        <p:spPr>
          <a:xfrm>
            <a:off x="7327600" y="35509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práctica #5</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1a13495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1a13495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Concurrencia y Paralelismo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Creación, gestión y terminación de 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PThreads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Consideraciones de diseño de subprocesos</a:t>
            </a:r>
            <a:endParaRPr b="0" i="0" sz="4200" u="none" cap="none" strike="noStrike">
              <a:solidFill>
                <a:schemeClr val="lt1"/>
              </a:solidFill>
              <a:latin typeface="Calibri"/>
              <a:ea typeface="Calibri"/>
              <a:cs typeface="Calibri"/>
              <a:sym typeface="Calibri"/>
            </a:endParaRPr>
          </a:p>
        </p:txBody>
      </p:sp>
      <p:grpSp>
        <p:nvGrpSpPr>
          <p:cNvPr id="121" name="Google Shape;121;g35d01a13495_0_21"/>
          <p:cNvGrpSpPr/>
          <p:nvPr/>
        </p:nvGrpSpPr>
        <p:grpSpPr>
          <a:xfrm>
            <a:off x="5261819" y="1886650"/>
            <a:ext cx="7764346" cy="662377"/>
            <a:chOff x="5261919" y="2543550"/>
            <a:chExt cx="7764346" cy="662377"/>
          </a:xfrm>
        </p:grpSpPr>
        <p:grpSp>
          <p:nvGrpSpPr>
            <p:cNvPr id="122" name="Google Shape;122;g35d01a13495_0_21"/>
            <p:cNvGrpSpPr/>
            <p:nvPr/>
          </p:nvGrpSpPr>
          <p:grpSpPr>
            <a:xfrm>
              <a:off x="5261919" y="2543553"/>
              <a:ext cx="7764346" cy="662374"/>
              <a:chOff x="0" y="-28575"/>
              <a:chExt cx="5099400" cy="435000"/>
            </a:xfrm>
          </p:grpSpPr>
          <p:sp>
            <p:nvSpPr>
              <p:cNvPr id="123" name="Google Shape;123;g35d01a13495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1a13495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1a13495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1a13495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1a13495_0_32"/>
          <p:cNvGrpSpPr/>
          <p:nvPr/>
        </p:nvGrpSpPr>
        <p:grpSpPr>
          <a:xfrm>
            <a:off x="3300300" y="3865649"/>
            <a:ext cx="11687426" cy="2780189"/>
            <a:chOff x="0" y="-19050"/>
            <a:chExt cx="1876865" cy="1078889"/>
          </a:xfrm>
        </p:grpSpPr>
        <p:sp>
          <p:nvSpPr>
            <p:cNvPr id="132" name="Google Shape;132;g35d01a13495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1a13495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1a13495_0_32"/>
          <p:cNvGrpSpPr/>
          <p:nvPr/>
        </p:nvGrpSpPr>
        <p:grpSpPr>
          <a:xfrm>
            <a:off x="3713601" y="4575230"/>
            <a:ext cx="1136538" cy="1136538"/>
            <a:chOff x="0" y="0"/>
            <a:chExt cx="812800" cy="812800"/>
          </a:xfrm>
        </p:grpSpPr>
        <p:sp>
          <p:nvSpPr>
            <p:cNvPr id="135" name="Google Shape;135;g35d01a13495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1a13495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1a13495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1a13495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1a13495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1a13495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1a13495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125486"/>
            <a:ext cx="13932300" cy="1508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1578452">
            <a:off x="13949724" y="5984695"/>
            <a:ext cx="5909466" cy="5865146"/>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102923"/>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8"/>
          <p:cNvSpPr/>
          <p:nvPr/>
        </p:nvSpPr>
        <p:spPr>
          <a:xfrm rot="-6497710">
            <a:off x="-2948858" y="-4051249"/>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8"/>
          <p:cNvGrpSpPr/>
          <p:nvPr/>
        </p:nvGrpSpPr>
        <p:grpSpPr>
          <a:xfrm>
            <a:off x="1028700" y="2257935"/>
            <a:ext cx="8247698" cy="7000365"/>
            <a:chOff x="0" y="-28575"/>
            <a:chExt cx="2172233" cy="1843718"/>
          </a:xfrm>
        </p:grpSpPr>
        <p:sp>
          <p:nvSpPr>
            <p:cNvPr id="161" name="Google Shape;161;p8"/>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0" y="-28575"/>
              <a:ext cx="2172233" cy="18437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8"/>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164" name="Google Shape;164;p8"/>
          <p:cNvSpPr txBox="1"/>
          <p:nvPr/>
        </p:nvSpPr>
        <p:spPr>
          <a:xfrm>
            <a:off x="9740781" y="2311477"/>
            <a:ext cx="7518519"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165" name="Google Shape;165;p8"/>
          <p:cNvSpPr txBox="1"/>
          <p:nvPr/>
        </p:nvSpPr>
        <p:spPr>
          <a:xfrm>
            <a:off x="1161098" y="1176573"/>
            <a:ext cx="8454402"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9"/>
          <p:cNvSpPr/>
          <p:nvPr/>
        </p:nvSpPr>
        <p:spPr>
          <a:xfrm rot="-6497710">
            <a:off x="-3298863" y="-3929508"/>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1" name="Google Shape;171;p9"/>
          <p:cNvGrpSpPr/>
          <p:nvPr/>
        </p:nvGrpSpPr>
        <p:grpSpPr>
          <a:xfrm>
            <a:off x="955661" y="554372"/>
            <a:ext cx="6010709" cy="9069759"/>
            <a:chOff x="0" y="-28575"/>
            <a:chExt cx="1583067" cy="2388743"/>
          </a:xfrm>
        </p:grpSpPr>
        <p:sp>
          <p:nvSpPr>
            <p:cNvPr id="172" name="Google Shape;172;p9"/>
            <p:cNvSpPr/>
            <p:nvPr/>
          </p:nvSpPr>
          <p:spPr>
            <a:xfrm>
              <a:off x="0" y="0"/>
              <a:ext cx="1583067" cy="2360168"/>
            </a:xfrm>
            <a:custGeom>
              <a:rect b="b" l="l" r="r" t="t"/>
              <a:pathLst>
                <a:path extrusionOk="0" h="2360168" w="1583067">
                  <a:moveTo>
                    <a:pt x="65689" y="0"/>
                  </a:moveTo>
                  <a:lnTo>
                    <a:pt x="1517378" y="0"/>
                  </a:lnTo>
                  <a:cubicBezTo>
                    <a:pt x="1534800" y="0"/>
                    <a:pt x="1551508" y="6921"/>
                    <a:pt x="1563828" y="19240"/>
                  </a:cubicBezTo>
                  <a:cubicBezTo>
                    <a:pt x="1576147" y="31559"/>
                    <a:pt x="1583067" y="48267"/>
                    <a:pt x="1583067" y="65689"/>
                  </a:cubicBezTo>
                  <a:lnTo>
                    <a:pt x="1583067" y="2294479"/>
                  </a:lnTo>
                  <a:cubicBezTo>
                    <a:pt x="1583067" y="2311901"/>
                    <a:pt x="1576147" y="2328609"/>
                    <a:pt x="1563828" y="2340928"/>
                  </a:cubicBezTo>
                  <a:cubicBezTo>
                    <a:pt x="1551508" y="2353247"/>
                    <a:pt x="1534800" y="2360168"/>
                    <a:pt x="1517378" y="2360168"/>
                  </a:cubicBezTo>
                  <a:lnTo>
                    <a:pt x="65689" y="2360168"/>
                  </a:lnTo>
                  <a:cubicBezTo>
                    <a:pt x="48267" y="2360168"/>
                    <a:pt x="31559" y="2353247"/>
                    <a:pt x="19240" y="2340928"/>
                  </a:cubicBezTo>
                  <a:cubicBezTo>
                    <a:pt x="6921" y="2328609"/>
                    <a:pt x="0" y="2311901"/>
                    <a:pt x="0" y="2294479"/>
                  </a:cubicBezTo>
                  <a:lnTo>
                    <a:pt x="0" y="65689"/>
                  </a:lnTo>
                  <a:cubicBezTo>
                    <a:pt x="0" y="48267"/>
                    <a:pt x="6921" y="31559"/>
                    <a:pt x="19240" y="19240"/>
                  </a:cubicBezTo>
                  <a:cubicBezTo>
                    <a:pt x="31559" y="6921"/>
                    <a:pt x="48267" y="0"/>
                    <a:pt x="656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9"/>
            <p:cNvSpPr txBox="1"/>
            <p:nvPr/>
          </p:nvSpPr>
          <p:spPr>
            <a:xfrm>
              <a:off x="0" y="-28575"/>
              <a:ext cx="1583067" cy="23887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9"/>
          <p:cNvSpPr/>
          <p:nvPr/>
        </p:nvSpPr>
        <p:spPr>
          <a:xfrm rot="-5400000">
            <a:off x="-27743" y="2531805"/>
            <a:ext cx="7977516" cy="5079115"/>
          </a:xfrm>
          <a:custGeom>
            <a:rect b="b" l="l" r="r" t="t"/>
            <a:pathLst>
              <a:path extrusionOk="0" h="5079115" w="7977516">
                <a:moveTo>
                  <a:pt x="0" y="0"/>
                </a:moveTo>
                <a:lnTo>
                  <a:pt x="7977516" y="0"/>
                </a:lnTo>
                <a:lnTo>
                  <a:pt x="7977516" y="5079116"/>
                </a:lnTo>
                <a:lnTo>
                  <a:pt x="0" y="5079116"/>
                </a:lnTo>
                <a:lnTo>
                  <a:pt x="0" y="0"/>
                </a:lnTo>
                <a:close/>
              </a:path>
            </a:pathLst>
          </a:custGeom>
          <a:blipFill rotWithShape="1">
            <a:blip r:embed="rId4">
              <a:alphaModFix/>
            </a:blip>
            <a:stretch>
              <a:fillRect b="-9654" l="0" r="0" t="-8137"/>
            </a:stretch>
          </a:blipFill>
          <a:ln>
            <a:noFill/>
          </a:ln>
        </p:spPr>
      </p:sp>
      <p:sp>
        <p:nvSpPr>
          <p:cNvPr id="175" name="Google Shape;175;p9"/>
          <p:cNvSpPr txBox="1"/>
          <p:nvPr/>
        </p:nvSpPr>
        <p:spPr>
          <a:xfrm>
            <a:off x="7462700" y="2062500"/>
            <a:ext cx="9869700" cy="7382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 Un hilo es la entidad programable. Sólo tiene aquellas propiedades que se requieren para garantizar su control independiente del flujo. Estos incluyen las siguientes propiedades: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Pila</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Propiedades de programación (como política o prioridad)</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Conjunto de señales pendientes y bloqueadas.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Algunos datos específicos del hilo como indicadores de error</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Los hilos dentro de un proceso no deben considerarse como un grupo de procesos. Todos los hilos comparten el mismo espacio de direcciones. Esto significa que dos punteros que tienen el mismo valor en dos hilos hacen referencia a los mismos datos.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Además, si algún hilo cambia uno de los recursos compartidos del sistema, todos los hilos dentro del proceso se ven afectados. Por ejemplo, si un hilo cierra un archivo, el archivo se cierra para todos los hilos.</a:t>
            </a:r>
            <a:endParaRPr b="0" i="0" sz="1400" u="none" cap="none" strike="noStrike">
              <a:solidFill>
                <a:srgbClr val="000000"/>
              </a:solidFill>
              <a:latin typeface="Arial"/>
              <a:ea typeface="Arial"/>
              <a:cs typeface="Arial"/>
              <a:sym typeface="Arial"/>
            </a:endParaRPr>
          </a:p>
        </p:txBody>
      </p:sp>
      <p:sp>
        <p:nvSpPr>
          <p:cNvPr id="176" name="Google Shape;176;p9"/>
          <p:cNvSpPr txBox="1"/>
          <p:nvPr/>
        </p:nvSpPr>
        <p:spPr>
          <a:xfrm>
            <a:off x="7462700" y="947050"/>
            <a:ext cx="95082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CARACTERISTICAS DE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12"/>
          <p:cNvSpPr/>
          <p:nvPr/>
        </p:nvSpPr>
        <p:spPr>
          <a:xfrm rot="-6497710">
            <a:off x="-3146738" y="-3959943"/>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82" name="Google Shape;182;p12"/>
          <p:cNvGrpSpPr/>
          <p:nvPr/>
        </p:nvGrpSpPr>
        <p:grpSpPr>
          <a:xfrm>
            <a:off x="8229266" y="944404"/>
            <a:ext cx="9226185" cy="8303701"/>
            <a:chOff x="0" y="-19050"/>
            <a:chExt cx="1860053" cy="1674075"/>
          </a:xfrm>
        </p:grpSpPr>
        <p:sp>
          <p:nvSpPr>
            <p:cNvPr id="183" name="Google Shape;183;p12"/>
            <p:cNvSpPr/>
            <p:nvPr/>
          </p:nvSpPr>
          <p:spPr>
            <a:xfrm>
              <a:off x="0" y="0"/>
              <a:ext cx="1860053" cy="1655025"/>
            </a:xfrm>
            <a:custGeom>
              <a:rect b="b" l="l" r="r" t="t"/>
              <a:pathLst>
                <a:path extrusionOk="0" h="1655025" w="1860053">
                  <a:moveTo>
                    <a:pt x="41956" y="0"/>
                  </a:moveTo>
                  <a:lnTo>
                    <a:pt x="1818096" y="0"/>
                  </a:lnTo>
                  <a:cubicBezTo>
                    <a:pt x="1829224" y="0"/>
                    <a:pt x="1839896" y="4420"/>
                    <a:pt x="1847764" y="12289"/>
                  </a:cubicBezTo>
                  <a:cubicBezTo>
                    <a:pt x="1855632" y="20157"/>
                    <a:pt x="1860053" y="30829"/>
                    <a:pt x="1860053" y="41956"/>
                  </a:cubicBezTo>
                  <a:lnTo>
                    <a:pt x="1860053" y="1613068"/>
                  </a:lnTo>
                  <a:cubicBezTo>
                    <a:pt x="1860053" y="1624196"/>
                    <a:pt x="1855632" y="1634867"/>
                    <a:pt x="1847764" y="1642736"/>
                  </a:cubicBezTo>
                  <a:cubicBezTo>
                    <a:pt x="1839896" y="1650604"/>
                    <a:pt x="1829224" y="1655025"/>
                    <a:pt x="1818096" y="1655025"/>
                  </a:cubicBezTo>
                  <a:lnTo>
                    <a:pt x="41956" y="1655025"/>
                  </a:lnTo>
                  <a:cubicBezTo>
                    <a:pt x="30829" y="1655025"/>
                    <a:pt x="20157" y="1650604"/>
                    <a:pt x="12289" y="1642736"/>
                  </a:cubicBezTo>
                  <a:cubicBezTo>
                    <a:pt x="4420" y="1634867"/>
                    <a:pt x="0" y="1624196"/>
                    <a:pt x="0" y="1613068"/>
                  </a:cubicBezTo>
                  <a:lnTo>
                    <a:pt x="0" y="41956"/>
                  </a:lnTo>
                  <a:cubicBezTo>
                    <a:pt x="0" y="30829"/>
                    <a:pt x="4420" y="20157"/>
                    <a:pt x="12289" y="12289"/>
                  </a:cubicBezTo>
                  <a:cubicBezTo>
                    <a:pt x="20157" y="4420"/>
                    <a:pt x="30829" y="0"/>
                    <a:pt x="4195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0" y="-19050"/>
              <a:ext cx="1860053" cy="16740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12"/>
          <p:cNvSpPr/>
          <p:nvPr/>
        </p:nvSpPr>
        <p:spPr>
          <a:xfrm>
            <a:off x="8728273" y="1314329"/>
            <a:ext cx="8335611" cy="7658342"/>
          </a:xfrm>
          <a:custGeom>
            <a:rect b="b" l="l" r="r" t="t"/>
            <a:pathLst>
              <a:path extrusionOk="0" h="7658342" w="8335611">
                <a:moveTo>
                  <a:pt x="0" y="0"/>
                </a:moveTo>
                <a:lnTo>
                  <a:pt x="8335611" y="0"/>
                </a:lnTo>
                <a:lnTo>
                  <a:pt x="8335611" y="7658342"/>
                </a:lnTo>
                <a:lnTo>
                  <a:pt x="0" y="7658342"/>
                </a:lnTo>
                <a:lnTo>
                  <a:pt x="0" y="0"/>
                </a:lnTo>
                <a:close/>
              </a:path>
            </a:pathLst>
          </a:custGeom>
          <a:blipFill rotWithShape="1">
            <a:blip r:embed="rId4">
              <a:alphaModFix/>
            </a:blip>
            <a:stretch>
              <a:fillRect b="0" l="0" r="0" t="0"/>
            </a:stretch>
          </a:blipFill>
          <a:ln>
            <a:noFill/>
          </a:ln>
        </p:spPr>
      </p:sp>
      <p:sp>
        <p:nvSpPr>
          <p:cNvPr id="186" name="Google Shape;186;p12"/>
          <p:cNvSpPr txBox="1"/>
          <p:nvPr/>
        </p:nvSpPr>
        <p:spPr>
          <a:xfrm>
            <a:off x="832549" y="1532187"/>
            <a:ext cx="7066755" cy="84074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MULTITHREADING</a:t>
            </a:r>
            <a:endParaRPr b="0" i="0" sz="1400" u="none" cap="none" strike="noStrike">
              <a:solidFill>
                <a:srgbClr val="000000"/>
              </a:solidFill>
              <a:latin typeface="Arial"/>
              <a:ea typeface="Arial"/>
              <a:cs typeface="Arial"/>
              <a:sym typeface="Arial"/>
            </a:endParaRPr>
          </a:p>
        </p:txBody>
      </p:sp>
      <p:sp>
        <p:nvSpPr>
          <p:cNvPr id="187" name="Google Shape;187;p12"/>
          <p:cNvSpPr txBox="1"/>
          <p:nvPr/>
        </p:nvSpPr>
        <p:spPr>
          <a:xfrm>
            <a:off x="832549" y="2626011"/>
            <a:ext cx="6855000" cy="6356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Multithreading es una técnica utilizada en los sistemas operativos para mejorar el rendimiento y la capacidad de respuesta de los sistemas informáticos al permitir que un solo proceso ejecute múltiples tareas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El multithreading permite que varios hilos comparten los mismos recursos de un único proceso, como la CPU, la memoria y los dispositivos de E/S.</a:t>
            </a:r>
            <a:endParaRPr b="0" i="0" sz="1400" u="none" cap="none" strike="noStrike">
              <a:solidFill>
                <a:srgbClr val="000000"/>
              </a:solidFill>
              <a:latin typeface="Arial"/>
              <a:ea typeface="Arial"/>
              <a:cs typeface="Arial"/>
              <a:sym typeface="Arial"/>
            </a:endParaRPr>
          </a:p>
          <a:p>
            <a:pPr indent="0" lvl="0" marL="0" marR="0" rtl="0" algn="l">
              <a:lnSpc>
                <a:spcPct val="115598"/>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1" name="Shape 191"/>
        <p:cNvGrpSpPr/>
        <p:nvPr/>
      </p:nvGrpSpPr>
      <p:grpSpPr>
        <a:xfrm>
          <a:off x="0" y="0"/>
          <a:ext cx="0" cy="0"/>
          <a:chOff x="0" y="0"/>
          <a:chExt cx="0" cy="0"/>
        </a:xfrm>
      </p:grpSpPr>
      <p:grpSp>
        <p:nvGrpSpPr>
          <p:cNvPr id="192" name="Google Shape;192;p13"/>
          <p:cNvGrpSpPr/>
          <p:nvPr/>
        </p:nvGrpSpPr>
        <p:grpSpPr>
          <a:xfrm>
            <a:off x="6591914" y="2958851"/>
            <a:ext cx="5104171" cy="6299449"/>
            <a:chOff x="0" y="-19050"/>
            <a:chExt cx="1029031" cy="1270006"/>
          </a:xfrm>
        </p:grpSpPr>
        <p:sp>
          <p:nvSpPr>
            <p:cNvPr id="193" name="Google Shape;193;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p13"/>
          <p:cNvGrpSpPr/>
          <p:nvPr/>
        </p:nvGrpSpPr>
        <p:grpSpPr>
          <a:xfrm>
            <a:off x="12155129" y="2958851"/>
            <a:ext cx="5104171" cy="6299449"/>
            <a:chOff x="0" y="-19050"/>
            <a:chExt cx="1029031" cy="1270006"/>
          </a:xfrm>
        </p:grpSpPr>
        <p:sp>
          <p:nvSpPr>
            <p:cNvPr id="196" name="Google Shape;196;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13"/>
          <p:cNvGrpSpPr/>
          <p:nvPr/>
        </p:nvGrpSpPr>
        <p:grpSpPr>
          <a:xfrm>
            <a:off x="1028700" y="2958851"/>
            <a:ext cx="5104171" cy="6299449"/>
            <a:chOff x="0" y="-19050"/>
            <a:chExt cx="1029031" cy="1270006"/>
          </a:xfrm>
        </p:grpSpPr>
        <p:sp>
          <p:nvSpPr>
            <p:cNvPr id="199" name="Google Shape;199;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p13"/>
          <p:cNvSpPr/>
          <p:nvPr/>
        </p:nvSpPr>
        <p:spPr>
          <a:xfrm>
            <a:off x="2757982" y="3571193"/>
            <a:ext cx="1522059" cy="1522059"/>
          </a:xfrm>
          <a:custGeom>
            <a:rect b="b" l="l" r="r" t="t"/>
            <a:pathLst>
              <a:path extrusionOk="0" h="1522059" w="1522059">
                <a:moveTo>
                  <a:pt x="0" y="0"/>
                </a:moveTo>
                <a:lnTo>
                  <a:pt x="1522059" y="0"/>
                </a:lnTo>
                <a:lnTo>
                  <a:pt x="1522059" y="1522059"/>
                </a:lnTo>
                <a:lnTo>
                  <a:pt x="0" y="1522059"/>
                </a:lnTo>
                <a:lnTo>
                  <a:pt x="0" y="0"/>
                </a:lnTo>
                <a:close/>
              </a:path>
            </a:pathLst>
          </a:custGeom>
          <a:blipFill rotWithShape="1">
            <a:blip r:embed="rId3">
              <a:alphaModFix/>
            </a:blip>
            <a:stretch>
              <a:fillRect b="0" l="0" r="0" t="0"/>
            </a:stretch>
          </a:blipFill>
          <a:ln>
            <a:noFill/>
          </a:ln>
        </p:spPr>
      </p:sp>
      <p:sp>
        <p:nvSpPr>
          <p:cNvPr id="202" name="Google Shape;202;p13"/>
          <p:cNvSpPr/>
          <p:nvPr/>
        </p:nvSpPr>
        <p:spPr>
          <a:xfrm>
            <a:off x="8315346" y="3503568"/>
            <a:ext cx="1657309" cy="1657309"/>
          </a:xfrm>
          <a:custGeom>
            <a:rect b="b" l="l" r="r" t="t"/>
            <a:pathLst>
              <a:path extrusionOk="0" h="1657309" w="1657309">
                <a:moveTo>
                  <a:pt x="0" y="0"/>
                </a:moveTo>
                <a:lnTo>
                  <a:pt x="1657308" y="0"/>
                </a:lnTo>
                <a:lnTo>
                  <a:pt x="1657308" y="1657309"/>
                </a:lnTo>
                <a:lnTo>
                  <a:pt x="0" y="1657309"/>
                </a:lnTo>
                <a:lnTo>
                  <a:pt x="0" y="0"/>
                </a:lnTo>
                <a:close/>
              </a:path>
            </a:pathLst>
          </a:custGeom>
          <a:blipFill rotWithShape="1">
            <a:blip r:embed="rId4">
              <a:alphaModFix/>
            </a:blip>
            <a:stretch>
              <a:fillRect b="0" l="0" r="0" t="0"/>
            </a:stretch>
          </a:blipFill>
          <a:ln>
            <a:noFill/>
          </a:ln>
        </p:spPr>
      </p:sp>
      <p:sp>
        <p:nvSpPr>
          <p:cNvPr id="203" name="Google Shape;203;p13"/>
          <p:cNvSpPr/>
          <p:nvPr/>
        </p:nvSpPr>
        <p:spPr>
          <a:xfrm>
            <a:off x="13766127" y="3393317"/>
            <a:ext cx="1877811" cy="1877811"/>
          </a:xfrm>
          <a:custGeom>
            <a:rect b="b" l="l" r="r" t="t"/>
            <a:pathLst>
              <a:path extrusionOk="0" h="1877811" w="1877811">
                <a:moveTo>
                  <a:pt x="0" y="0"/>
                </a:moveTo>
                <a:lnTo>
                  <a:pt x="1877812" y="0"/>
                </a:lnTo>
                <a:lnTo>
                  <a:pt x="1877812" y="1877811"/>
                </a:lnTo>
                <a:lnTo>
                  <a:pt x="0" y="1877811"/>
                </a:lnTo>
                <a:lnTo>
                  <a:pt x="0" y="0"/>
                </a:lnTo>
                <a:close/>
              </a:path>
            </a:pathLst>
          </a:custGeom>
          <a:blipFill rotWithShape="1">
            <a:blip r:embed="rId5">
              <a:alphaModFix/>
            </a:blip>
            <a:stretch>
              <a:fillRect b="0" l="0" r="0" t="0"/>
            </a:stretch>
          </a:blipFill>
          <a:ln>
            <a:noFill/>
          </a:ln>
        </p:spPr>
      </p:sp>
      <p:sp>
        <p:nvSpPr>
          <p:cNvPr id="204" name="Google Shape;204;p13"/>
          <p:cNvSpPr txBox="1"/>
          <p:nvPr/>
        </p:nvSpPr>
        <p:spPr>
          <a:xfrm>
            <a:off x="3519011" y="916567"/>
            <a:ext cx="11249978"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¿POR QUÉ USAR MULTITHREADING?</a:t>
            </a:r>
            <a:endParaRPr b="0" i="0" sz="1400" u="none" cap="none" strike="noStrike">
              <a:solidFill>
                <a:srgbClr val="000000"/>
              </a:solidFill>
              <a:latin typeface="Arial"/>
              <a:ea typeface="Arial"/>
              <a:cs typeface="Arial"/>
              <a:sym typeface="Arial"/>
            </a:endParaRPr>
          </a:p>
        </p:txBody>
      </p:sp>
      <p:sp>
        <p:nvSpPr>
          <p:cNvPr id="205" name="Google Shape;205;p13"/>
          <p:cNvSpPr txBox="1"/>
          <p:nvPr/>
        </p:nvSpPr>
        <p:spPr>
          <a:xfrm>
            <a:off x="1705313" y="5508300"/>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Los hilos se ejecutan en paralelo mejorando el rendimiento de la aplicación. Cada uno de estos subprocesos tiene su propio estado de CPU y pila, pero comparten el espacio de direcciones del proceso y el entorno.</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p:txBody>
      </p:sp>
      <p:sp>
        <p:nvSpPr>
          <p:cNvPr id="206" name="Google Shape;206;p13"/>
          <p:cNvSpPr txBox="1"/>
          <p:nvPr/>
        </p:nvSpPr>
        <p:spPr>
          <a:xfrm>
            <a:off x="7268527" y="5574924"/>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Los hilos pueden compartir datos comunes, por lo que no necesitan utilizar comunicación entre procesos. Al igual que los procesos, los hilos también tienen estados como listo, en ejecución, bloqueado, etc.</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07" name="Google Shape;207;p13"/>
          <p:cNvSpPr txBox="1"/>
          <p:nvPr/>
        </p:nvSpPr>
        <p:spPr>
          <a:xfrm>
            <a:off x="12829561" y="5574924"/>
            <a:ext cx="3750945" cy="2260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asignar prioridad a los hilos al igual que los procesos, de esta manera los hilos de mayor prioridad seran programados y ejecutados primero.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1" name="Shape 211"/>
        <p:cNvGrpSpPr/>
        <p:nvPr/>
      </p:nvGrpSpPr>
      <p:grpSpPr>
        <a:xfrm>
          <a:off x="0" y="0"/>
          <a:ext cx="0" cy="0"/>
          <a:chOff x="0" y="0"/>
          <a:chExt cx="0" cy="0"/>
        </a:xfrm>
      </p:grpSpPr>
      <p:grpSp>
        <p:nvGrpSpPr>
          <p:cNvPr id="212" name="Google Shape;212;p14"/>
          <p:cNvGrpSpPr/>
          <p:nvPr/>
        </p:nvGrpSpPr>
        <p:grpSpPr>
          <a:xfrm>
            <a:off x="6591914" y="2776240"/>
            <a:ext cx="5104171" cy="6482060"/>
            <a:chOff x="0" y="-19050"/>
            <a:chExt cx="1029031" cy="1306821"/>
          </a:xfrm>
        </p:grpSpPr>
        <p:sp>
          <p:nvSpPr>
            <p:cNvPr id="213" name="Google Shape;213;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5CE1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14"/>
          <p:cNvGrpSpPr/>
          <p:nvPr/>
        </p:nvGrpSpPr>
        <p:grpSpPr>
          <a:xfrm>
            <a:off x="12155129" y="2776240"/>
            <a:ext cx="5104171" cy="6482060"/>
            <a:chOff x="0" y="-19050"/>
            <a:chExt cx="1029031" cy="1306821"/>
          </a:xfrm>
        </p:grpSpPr>
        <p:sp>
          <p:nvSpPr>
            <p:cNvPr id="216" name="Google Shape;216;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14"/>
          <p:cNvGrpSpPr/>
          <p:nvPr/>
        </p:nvGrpSpPr>
        <p:grpSpPr>
          <a:xfrm>
            <a:off x="1028700" y="2776240"/>
            <a:ext cx="5104171" cy="6482060"/>
            <a:chOff x="0" y="-19050"/>
            <a:chExt cx="1029031" cy="1306821"/>
          </a:xfrm>
        </p:grpSpPr>
        <p:sp>
          <p:nvSpPr>
            <p:cNvPr id="219" name="Google Shape;219;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4"/>
            <p:cNvSpPr txBox="1"/>
            <p:nvPr/>
          </p:nvSpPr>
          <p:spPr>
            <a:xfrm>
              <a:off x="0" y="-19050"/>
              <a:ext cx="1029031" cy="13068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14"/>
          <p:cNvSpPr/>
          <p:nvPr/>
        </p:nvSpPr>
        <p:spPr>
          <a:xfrm rot="-5400000">
            <a:off x="2690712" y="3030599"/>
            <a:ext cx="1780148" cy="2140360"/>
          </a:xfrm>
          <a:custGeom>
            <a:rect b="b" l="l" r="r" t="t"/>
            <a:pathLst>
              <a:path extrusionOk="0" h="2140360" w="1780148">
                <a:moveTo>
                  <a:pt x="0" y="0"/>
                </a:moveTo>
                <a:lnTo>
                  <a:pt x="1780147" y="0"/>
                </a:lnTo>
                <a:lnTo>
                  <a:pt x="1780147" y="2140360"/>
                </a:lnTo>
                <a:lnTo>
                  <a:pt x="0" y="2140360"/>
                </a:lnTo>
                <a:lnTo>
                  <a:pt x="0" y="0"/>
                </a:lnTo>
                <a:close/>
              </a:path>
            </a:pathLst>
          </a:custGeom>
          <a:blipFill rotWithShape="1">
            <a:blip r:embed="rId3">
              <a:alphaModFix/>
            </a:blip>
            <a:stretch>
              <a:fillRect b="0" l="0" r="0" t="0"/>
            </a:stretch>
          </a:blipFill>
          <a:ln>
            <a:noFill/>
          </a:ln>
        </p:spPr>
      </p:sp>
      <p:sp>
        <p:nvSpPr>
          <p:cNvPr id="222" name="Google Shape;222;p14"/>
          <p:cNvSpPr/>
          <p:nvPr/>
        </p:nvSpPr>
        <p:spPr>
          <a:xfrm>
            <a:off x="8068483" y="3391021"/>
            <a:ext cx="2151034" cy="1599832"/>
          </a:xfrm>
          <a:custGeom>
            <a:rect b="b" l="l" r="r" t="t"/>
            <a:pathLst>
              <a:path extrusionOk="0" h="1599832" w="2151034">
                <a:moveTo>
                  <a:pt x="0" y="0"/>
                </a:moveTo>
                <a:lnTo>
                  <a:pt x="2151034" y="0"/>
                </a:lnTo>
                <a:lnTo>
                  <a:pt x="2151034" y="1599832"/>
                </a:lnTo>
                <a:lnTo>
                  <a:pt x="0" y="1599832"/>
                </a:lnTo>
                <a:lnTo>
                  <a:pt x="0" y="0"/>
                </a:lnTo>
                <a:close/>
              </a:path>
            </a:pathLst>
          </a:custGeom>
          <a:blipFill rotWithShape="1">
            <a:blip r:embed="rId4">
              <a:alphaModFix/>
            </a:blip>
            <a:stretch>
              <a:fillRect b="0" l="0" r="0" t="0"/>
            </a:stretch>
          </a:blipFill>
          <a:ln>
            <a:noFill/>
          </a:ln>
        </p:spPr>
      </p:sp>
      <p:sp>
        <p:nvSpPr>
          <p:cNvPr id="223" name="Google Shape;223;p14"/>
          <p:cNvSpPr/>
          <p:nvPr/>
        </p:nvSpPr>
        <p:spPr>
          <a:xfrm>
            <a:off x="13929430" y="3337510"/>
            <a:ext cx="1679118" cy="1706854"/>
          </a:xfrm>
          <a:custGeom>
            <a:rect b="b" l="l" r="r" t="t"/>
            <a:pathLst>
              <a:path extrusionOk="0" h="1706854" w="1679118">
                <a:moveTo>
                  <a:pt x="0" y="0"/>
                </a:moveTo>
                <a:lnTo>
                  <a:pt x="1679118" y="0"/>
                </a:lnTo>
                <a:lnTo>
                  <a:pt x="1679118" y="1706854"/>
                </a:lnTo>
                <a:lnTo>
                  <a:pt x="0" y="1706854"/>
                </a:lnTo>
                <a:lnTo>
                  <a:pt x="0" y="0"/>
                </a:lnTo>
                <a:close/>
              </a:path>
            </a:pathLst>
          </a:custGeom>
          <a:blipFill rotWithShape="1">
            <a:blip r:embed="rId5">
              <a:alphaModFix/>
            </a:blip>
            <a:stretch>
              <a:fillRect b="0" l="0" r="0" t="0"/>
            </a:stretch>
          </a:blipFill>
          <a:ln>
            <a:noFill/>
          </a:ln>
        </p:spPr>
      </p:sp>
      <p:sp>
        <p:nvSpPr>
          <p:cNvPr id="224" name="Google Shape;224;p14"/>
          <p:cNvSpPr txBox="1"/>
          <p:nvPr/>
        </p:nvSpPr>
        <p:spPr>
          <a:xfrm>
            <a:off x="3519011" y="825262"/>
            <a:ext cx="11249978"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¿CUANDO NO USAR MULTITHREADING?</a:t>
            </a:r>
            <a:endParaRPr b="0" i="0" sz="1400" u="none" cap="none" strike="noStrike">
              <a:solidFill>
                <a:srgbClr val="000000"/>
              </a:solidFill>
              <a:latin typeface="Arial"/>
              <a:ea typeface="Arial"/>
              <a:cs typeface="Arial"/>
              <a:sym typeface="Arial"/>
            </a:endParaRPr>
          </a:p>
        </p:txBody>
      </p:sp>
      <p:sp>
        <p:nvSpPr>
          <p:cNvPr id="225" name="Google Shape;225;p14"/>
          <p:cNvSpPr txBox="1"/>
          <p:nvPr/>
        </p:nvSpPr>
        <p:spPr>
          <a:xfrm>
            <a:off x="1286829" y="5392313"/>
            <a:ext cx="4587914" cy="3556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Para programas pequeños y sencillos con flujos de ejecución lineal, la introducción de multiples hilos puede agregar complejidad innecesaria sin proporcionar mejoras significativas en el rendimiento. En tales casos, la sobrecarga de administrar subprocesos puede superar cualquier beneficio potencial.</a:t>
            </a:r>
            <a:endParaRPr b="0" i="0" sz="1400" u="none" cap="none" strike="noStrike">
              <a:solidFill>
                <a:srgbClr val="000000"/>
              </a:solidFill>
              <a:latin typeface="Arial"/>
              <a:ea typeface="Arial"/>
              <a:cs typeface="Arial"/>
              <a:sym typeface="Arial"/>
            </a:endParaRPr>
          </a:p>
        </p:txBody>
      </p:sp>
      <p:sp>
        <p:nvSpPr>
          <p:cNvPr id="226" name="Google Shape;226;p14"/>
          <p:cNvSpPr txBox="1"/>
          <p:nvPr/>
        </p:nvSpPr>
        <p:spPr>
          <a:xfrm>
            <a:off x="6700699" y="5392313"/>
            <a:ext cx="4886601" cy="3556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Si la aplicación está principalmente vinculada a E/S (por ejemplo, comunicación de red, operaciones de archivos), agregar más hilos no necesariamente mejorará el rendimiento. De hecho, podría incluso degradar el rendimiento debido a la sobrecarga del cambio de contexto entre hilos.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27" name="Google Shape;227;p14"/>
          <p:cNvSpPr txBox="1"/>
          <p:nvPr/>
        </p:nvSpPr>
        <p:spPr>
          <a:xfrm>
            <a:off x="12634817" y="5392313"/>
            <a:ext cx="4268344"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No todas las plataformas y lenguajes de programación admiten multithreading por igual. Si la aplicación necesita ser portátil en diferentes plataformas o lenguajes que carecen de soporte sólido para multithreading, podría ser mejor evitar depender en gran medida de este.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1" name="Shape 231"/>
        <p:cNvGrpSpPr/>
        <p:nvPr/>
      </p:nvGrpSpPr>
      <p:grpSpPr>
        <a:xfrm>
          <a:off x="0" y="0"/>
          <a:ext cx="0" cy="0"/>
          <a:chOff x="0" y="0"/>
          <a:chExt cx="0" cy="0"/>
        </a:xfrm>
      </p:grpSpPr>
      <p:grpSp>
        <p:nvGrpSpPr>
          <p:cNvPr id="232" name="Google Shape;232;g35d01a13495_0_121"/>
          <p:cNvGrpSpPr/>
          <p:nvPr/>
        </p:nvGrpSpPr>
        <p:grpSpPr>
          <a:xfrm>
            <a:off x="6889135" y="5762283"/>
            <a:ext cx="10094659" cy="3860316"/>
            <a:chOff x="0" y="-19050"/>
            <a:chExt cx="2658658" cy="1016702"/>
          </a:xfrm>
        </p:grpSpPr>
        <p:sp>
          <p:nvSpPr>
            <p:cNvPr id="233" name="Google Shape;233;g35d01a13495_0_121"/>
            <p:cNvSpPr/>
            <p:nvPr/>
          </p:nvSpPr>
          <p:spPr>
            <a:xfrm>
              <a:off x="0" y="0"/>
              <a:ext cx="2658658" cy="997652"/>
            </a:xfrm>
            <a:custGeom>
              <a:rect b="b" l="l" r="r" t="t"/>
              <a:pathLst>
                <a:path extrusionOk="0" h="997652" w="2658658">
                  <a:moveTo>
                    <a:pt x="39114" y="0"/>
                  </a:moveTo>
                  <a:lnTo>
                    <a:pt x="2619545" y="0"/>
                  </a:lnTo>
                  <a:cubicBezTo>
                    <a:pt x="2629918" y="0"/>
                    <a:pt x="2639867" y="4121"/>
                    <a:pt x="2647202" y="11456"/>
                  </a:cubicBezTo>
                  <a:cubicBezTo>
                    <a:pt x="2654537" y="18791"/>
                    <a:pt x="2658658" y="28740"/>
                    <a:pt x="2658658" y="39114"/>
                  </a:cubicBezTo>
                  <a:lnTo>
                    <a:pt x="2658658" y="958538"/>
                  </a:lnTo>
                  <a:cubicBezTo>
                    <a:pt x="2658658" y="980140"/>
                    <a:pt x="2641146" y="997652"/>
                    <a:pt x="2619545" y="997652"/>
                  </a:cubicBezTo>
                  <a:lnTo>
                    <a:pt x="39114" y="997652"/>
                  </a:lnTo>
                  <a:cubicBezTo>
                    <a:pt x="17512" y="997652"/>
                    <a:pt x="0" y="980140"/>
                    <a:pt x="0" y="958538"/>
                  </a:cubicBezTo>
                  <a:lnTo>
                    <a:pt x="0" y="39114"/>
                  </a:lnTo>
                  <a:cubicBezTo>
                    <a:pt x="0" y="17512"/>
                    <a:pt x="17512" y="0"/>
                    <a:pt x="3911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5d01a13495_0_121"/>
            <p:cNvSpPr txBox="1"/>
            <p:nvPr/>
          </p:nvSpPr>
          <p:spPr>
            <a:xfrm>
              <a:off x="0" y="-19050"/>
              <a:ext cx="26586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5" name="Google Shape;235;g35d01a13495_0_121"/>
          <p:cNvSpPr/>
          <p:nvPr/>
        </p:nvSpPr>
        <p:spPr>
          <a:xfrm>
            <a:off x="7242573" y="6280679"/>
            <a:ext cx="9334947" cy="3022189"/>
          </a:xfrm>
          <a:custGeom>
            <a:rect b="b" l="l" r="r" t="t"/>
            <a:pathLst>
              <a:path extrusionOk="0" h="3022189" w="9334947">
                <a:moveTo>
                  <a:pt x="0" y="0"/>
                </a:moveTo>
                <a:lnTo>
                  <a:pt x="9334947" y="0"/>
                </a:lnTo>
                <a:lnTo>
                  <a:pt x="9334947" y="3022190"/>
                </a:lnTo>
                <a:lnTo>
                  <a:pt x="0" y="3022190"/>
                </a:lnTo>
                <a:lnTo>
                  <a:pt x="0" y="0"/>
                </a:lnTo>
                <a:close/>
              </a:path>
            </a:pathLst>
          </a:custGeom>
          <a:blipFill rotWithShape="1">
            <a:blip r:embed="rId3">
              <a:alphaModFix/>
            </a:blip>
            <a:stretch>
              <a:fillRect b="0" l="0" r="0" t="0"/>
            </a:stretch>
          </a:blipFill>
          <a:ln>
            <a:noFill/>
          </a:ln>
        </p:spPr>
      </p:sp>
      <p:grpSp>
        <p:nvGrpSpPr>
          <p:cNvPr id="236" name="Google Shape;236;g35d01a13495_0_121"/>
          <p:cNvGrpSpPr/>
          <p:nvPr/>
        </p:nvGrpSpPr>
        <p:grpSpPr>
          <a:xfrm>
            <a:off x="1304272" y="2823683"/>
            <a:ext cx="15679557" cy="2752248"/>
            <a:chOff x="0" y="-19050"/>
            <a:chExt cx="4129568" cy="724867"/>
          </a:xfrm>
        </p:grpSpPr>
        <p:sp>
          <p:nvSpPr>
            <p:cNvPr id="237" name="Google Shape;237;g35d01a13495_0_121"/>
            <p:cNvSpPr/>
            <p:nvPr/>
          </p:nvSpPr>
          <p:spPr>
            <a:xfrm>
              <a:off x="0" y="0"/>
              <a:ext cx="4129568" cy="705817"/>
            </a:xfrm>
            <a:custGeom>
              <a:rect b="b" l="l" r="r" t="t"/>
              <a:pathLst>
                <a:path extrusionOk="0" h="705817" w="4129568">
                  <a:moveTo>
                    <a:pt x="25182" y="0"/>
                  </a:moveTo>
                  <a:lnTo>
                    <a:pt x="4104387" y="0"/>
                  </a:lnTo>
                  <a:cubicBezTo>
                    <a:pt x="4118294" y="0"/>
                    <a:pt x="4129568" y="11274"/>
                    <a:pt x="4129568" y="25182"/>
                  </a:cubicBezTo>
                  <a:lnTo>
                    <a:pt x="4129568" y="680636"/>
                  </a:lnTo>
                  <a:cubicBezTo>
                    <a:pt x="4129568" y="687314"/>
                    <a:pt x="4126916" y="693719"/>
                    <a:pt x="4122193" y="698442"/>
                  </a:cubicBezTo>
                  <a:cubicBezTo>
                    <a:pt x="4117470" y="703164"/>
                    <a:pt x="4111065" y="705817"/>
                    <a:pt x="4104387" y="705817"/>
                  </a:cubicBezTo>
                  <a:lnTo>
                    <a:pt x="25182" y="705817"/>
                  </a:lnTo>
                  <a:cubicBezTo>
                    <a:pt x="18503" y="705817"/>
                    <a:pt x="12098" y="703164"/>
                    <a:pt x="7376" y="698442"/>
                  </a:cubicBezTo>
                  <a:cubicBezTo>
                    <a:pt x="2653" y="693719"/>
                    <a:pt x="0" y="687314"/>
                    <a:pt x="0" y="680636"/>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5d01a13495_0_121"/>
            <p:cNvSpPr txBox="1"/>
            <p:nvPr/>
          </p:nvSpPr>
          <p:spPr>
            <a:xfrm>
              <a:off x="0" y="-19050"/>
              <a:ext cx="4129500" cy="724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9" name="Google Shape;239;g35d01a13495_0_121"/>
          <p:cNvGrpSpPr/>
          <p:nvPr/>
        </p:nvGrpSpPr>
        <p:grpSpPr>
          <a:xfrm>
            <a:off x="1304272" y="5762283"/>
            <a:ext cx="5317179" cy="3860316"/>
            <a:chOff x="0" y="-19050"/>
            <a:chExt cx="1400400" cy="1016702"/>
          </a:xfrm>
        </p:grpSpPr>
        <p:sp>
          <p:nvSpPr>
            <p:cNvPr id="240" name="Google Shape;240;g35d01a13495_0_121"/>
            <p:cNvSpPr/>
            <p:nvPr/>
          </p:nvSpPr>
          <p:spPr>
            <a:xfrm>
              <a:off x="0" y="0"/>
              <a:ext cx="1400261" cy="997652"/>
            </a:xfrm>
            <a:custGeom>
              <a:rect b="b" l="l" r="r" t="t"/>
              <a:pathLst>
                <a:path extrusionOk="0" h="997652" w="1400261">
                  <a:moveTo>
                    <a:pt x="74265" y="0"/>
                  </a:moveTo>
                  <a:lnTo>
                    <a:pt x="1325996" y="0"/>
                  </a:lnTo>
                  <a:cubicBezTo>
                    <a:pt x="1345692" y="0"/>
                    <a:pt x="1364582" y="7824"/>
                    <a:pt x="1378509" y="21752"/>
                  </a:cubicBezTo>
                  <a:cubicBezTo>
                    <a:pt x="1392437" y="35679"/>
                    <a:pt x="1400261" y="54569"/>
                    <a:pt x="1400261" y="74265"/>
                  </a:cubicBezTo>
                  <a:lnTo>
                    <a:pt x="1400261" y="923387"/>
                  </a:lnTo>
                  <a:cubicBezTo>
                    <a:pt x="1400261" y="943083"/>
                    <a:pt x="1392437" y="961972"/>
                    <a:pt x="1378509" y="975900"/>
                  </a:cubicBezTo>
                  <a:cubicBezTo>
                    <a:pt x="1364582" y="989827"/>
                    <a:pt x="1345692" y="997652"/>
                    <a:pt x="1325996" y="997652"/>
                  </a:cubicBezTo>
                  <a:lnTo>
                    <a:pt x="74265" y="997652"/>
                  </a:lnTo>
                  <a:cubicBezTo>
                    <a:pt x="54569" y="997652"/>
                    <a:pt x="35679" y="989827"/>
                    <a:pt x="21752" y="975900"/>
                  </a:cubicBezTo>
                  <a:cubicBezTo>
                    <a:pt x="7824" y="961972"/>
                    <a:pt x="0" y="943083"/>
                    <a:pt x="0" y="923387"/>
                  </a:cubicBezTo>
                  <a:lnTo>
                    <a:pt x="0" y="74265"/>
                  </a:lnTo>
                  <a:cubicBezTo>
                    <a:pt x="0" y="54569"/>
                    <a:pt x="7824" y="35679"/>
                    <a:pt x="21752" y="21752"/>
                  </a:cubicBezTo>
                  <a:cubicBezTo>
                    <a:pt x="35679" y="7824"/>
                    <a:pt x="54569" y="0"/>
                    <a:pt x="7426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5d01a13495_0_121"/>
            <p:cNvSpPr txBox="1"/>
            <p:nvPr/>
          </p:nvSpPr>
          <p:spPr>
            <a:xfrm>
              <a:off x="0" y="-19050"/>
              <a:ext cx="14004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2" name="Google Shape;242;g35d01a13495_0_121"/>
          <p:cNvSpPr/>
          <p:nvPr/>
        </p:nvSpPr>
        <p:spPr>
          <a:xfrm>
            <a:off x="3645695" y="664428"/>
            <a:ext cx="1440234" cy="1805937"/>
          </a:xfrm>
          <a:custGeom>
            <a:rect b="b" l="l" r="r" t="t"/>
            <a:pathLst>
              <a:path extrusionOk="0" h="1805937" w="1440234">
                <a:moveTo>
                  <a:pt x="0" y="0"/>
                </a:moveTo>
                <a:lnTo>
                  <a:pt x="1440234" y="0"/>
                </a:lnTo>
                <a:lnTo>
                  <a:pt x="1440234" y="1805936"/>
                </a:lnTo>
                <a:lnTo>
                  <a:pt x="0" y="1805936"/>
                </a:lnTo>
                <a:lnTo>
                  <a:pt x="0" y="0"/>
                </a:lnTo>
                <a:close/>
              </a:path>
            </a:pathLst>
          </a:custGeom>
          <a:blipFill rotWithShape="1">
            <a:blip r:embed="rId4">
              <a:alphaModFix/>
            </a:blip>
            <a:stretch>
              <a:fillRect b="0" l="0" r="0" t="0"/>
            </a:stretch>
          </a:blipFill>
          <a:ln>
            <a:noFill/>
          </a:ln>
        </p:spPr>
      </p:sp>
      <p:sp>
        <p:nvSpPr>
          <p:cNvPr id="243" name="Google Shape;243;g35d01a13495_0_121"/>
          <p:cNvSpPr txBox="1"/>
          <p:nvPr/>
        </p:nvSpPr>
        <p:spPr>
          <a:xfrm>
            <a:off x="5440884" y="948588"/>
            <a:ext cx="92013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CONCURRENCIA</a:t>
            </a:r>
            <a:endParaRPr b="0" i="0" sz="1400" u="none" cap="none" strike="noStrike">
              <a:solidFill>
                <a:srgbClr val="000000"/>
              </a:solidFill>
              <a:latin typeface="Arial"/>
              <a:ea typeface="Arial"/>
              <a:cs typeface="Arial"/>
              <a:sym typeface="Arial"/>
            </a:endParaRPr>
          </a:p>
        </p:txBody>
      </p:sp>
      <p:sp>
        <p:nvSpPr>
          <p:cNvPr id="244" name="Google Shape;244;g35d01a13495_0_121"/>
          <p:cNvSpPr txBox="1"/>
          <p:nvPr/>
        </p:nvSpPr>
        <p:spPr>
          <a:xfrm>
            <a:off x="1744683" y="3298929"/>
            <a:ext cx="14798700" cy="18096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Una Unidad Central de Procesamiento (CPU, o simplemente un procesador) puede trabajar en una sola tarea a la vez. Si se le asignan varias tareas, por ejemplo, reproducir una canción y escribir código, simplemente cambia entre estas tareas. Este cambio es tan rápido y fluido que, para un usuario, se siente como una multitarea.</a:t>
            </a:r>
            <a:endParaRPr b="0" i="0" sz="1400" u="none" cap="none" strike="noStrike">
              <a:solidFill>
                <a:srgbClr val="000000"/>
              </a:solidFill>
              <a:latin typeface="Arial"/>
              <a:ea typeface="Arial"/>
              <a:cs typeface="Arial"/>
              <a:sym typeface="Arial"/>
            </a:endParaRPr>
          </a:p>
        </p:txBody>
      </p:sp>
      <p:sp>
        <p:nvSpPr>
          <p:cNvPr id="245" name="Google Shape;245;g35d01a13495_0_121"/>
          <p:cNvSpPr txBox="1"/>
          <p:nvPr/>
        </p:nvSpPr>
        <p:spPr>
          <a:xfrm>
            <a:off x="1738523" y="6225852"/>
            <a:ext cx="4630800" cy="3247800"/>
          </a:xfrm>
          <a:prstGeom prst="rect">
            <a:avLst/>
          </a:prstGeom>
          <a:noFill/>
          <a:ln>
            <a:noFill/>
          </a:ln>
        </p:spPr>
        <p:txBody>
          <a:bodyPr anchorCtr="0" anchor="t" bIns="0" lIns="0" spcFirstLastPara="1" rIns="0" wrap="square" tIns="0">
            <a:spAutoFit/>
          </a:bodyPr>
          <a:lstStyle/>
          <a:p>
            <a:pPr indent="0" lvl="0" marL="0" marR="0" rtl="0" algn="l">
              <a:lnSpc>
                <a:spcPct val="129983"/>
              </a:lnSpc>
              <a:spcBef>
                <a:spcPts val="0"/>
              </a:spcBef>
              <a:spcAft>
                <a:spcPts val="0"/>
              </a:spcAft>
              <a:buClr>
                <a:srgbClr val="000000"/>
              </a:buClr>
              <a:buSzPts val="2398"/>
              <a:buFont typeface="Arial"/>
              <a:buNone/>
            </a:pPr>
            <a:r>
              <a:rPr b="0" i="0" lang="en-US" sz="2398" u="none" cap="none" strike="noStrike">
                <a:solidFill>
                  <a:srgbClr val="FFFFFF"/>
                </a:solidFill>
                <a:latin typeface="Montserrat"/>
                <a:ea typeface="Montserrat"/>
                <a:cs typeface="Montserrat"/>
                <a:sym typeface="Montserrat"/>
              </a:rPr>
              <a:t>Esta capacidad de las CPU modernas para pausar y reanudar tareas tan rápido da la ilusión de que las tareas se ejecutan en paralelo. Sin embargo, esto no es paralelo. Esto es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9" name="Shape 249"/>
        <p:cNvGrpSpPr/>
        <p:nvPr/>
      </p:nvGrpSpPr>
      <p:grpSpPr>
        <a:xfrm>
          <a:off x="0" y="0"/>
          <a:ext cx="0" cy="0"/>
          <a:chOff x="0" y="0"/>
          <a:chExt cx="0" cy="0"/>
        </a:xfrm>
      </p:grpSpPr>
      <p:grpSp>
        <p:nvGrpSpPr>
          <p:cNvPr id="250" name="Google Shape;250;g35d01a13495_0_138"/>
          <p:cNvGrpSpPr/>
          <p:nvPr/>
        </p:nvGrpSpPr>
        <p:grpSpPr>
          <a:xfrm>
            <a:off x="1304272" y="5071169"/>
            <a:ext cx="12118615" cy="4313658"/>
            <a:chOff x="0" y="-19050"/>
            <a:chExt cx="3191713" cy="1136100"/>
          </a:xfrm>
        </p:grpSpPr>
        <p:sp>
          <p:nvSpPr>
            <p:cNvPr id="251" name="Google Shape;251;g35d01a13495_0_138"/>
            <p:cNvSpPr/>
            <p:nvPr/>
          </p:nvSpPr>
          <p:spPr>
            <a:xfrm>
              <a:off x="0" y="0"/>
              <a:ext cx="3191713" cy="1116914"/>
            </a:xfrm>
            <a:custGeom>
              <a:rect b="b" l="l" r="r" t="t"/>
              <a:pathLst>
                <a:path extrusionOk="0" h="1116914" w="3191713">
                  <a:moveTo>
                    <a:pt x="32581" y="0"/>
                  </a:moveTo>
                  <a:lnTo>
                    <a:pt x="3159132" y="0"/>
                  </a:lnTo>
                  <a:cubicBezTo>
                    <a:pt x="3177126" y="0"/>
                    <a:pt x="3191713" y="14587"/>
                    <a:pt x="3191713" y="32581"/>
                  </a:cubicBezTo>
                  <a:lnTo>
                    <a:pt x="3191713" y="1084333"/>
                  </a:lnTo>
                  <a:cubicBezTo>
                    <a:pt x="3191713" y="1092974"/>
                    <a:pt x="3188280" y="1101261"/>
                    <a:pt x="3182170" y="1107371"/>
                  </a:cubicBezTo>
                  <a:cubicBezTo>
                    <a:pt x="3176060" y="1113481"/>
                    <a:pt x="3167773" y="1116914"/>
                    <a:pt x="3159132" y="1116914"/>
                  </a:cubicBezTo>
                  <a:lnTo>
                    <a:pt x="32581" y="1116914"/>
                  </a:lnTo>
                  <a:cubicBezTo>
                    <a:pt x="23940" y="1116914"/>
                    <a:pt x="15653" y="1113481"/>
                    <a:pt x="9543" y="1107371"/>
                  </a:cubicBezTo>
                  <a:cubicBezTo>
                    <a:pt x="3433" y="1101261"/>
                    <a:pt x="0" y="1092974"/>
                    <a:pt x="0" y="1084333"/>
                  </a:cubicBezTo>
                  <a:lnTo>
                    <a:pt x="0" y="32581"/>
                  </a:lnTo>
                  <a:cubicBezTo>
                    <a:pt x="0" y="23940"/>
                    <a:pt x="3433" y="15653"/>
                    <a:pt x="9543" y="9543"/>
                  </a:cubicBezTo>
                  <a:cubicBezTo>
                    <a:pt x="15653" y="3433"/>
                    <a:pt x="23940" y="0"/>
                    <a:pt x="32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5d01a13495_0_138"/>
            <p:cNvSpPr txBox="1"/>
            <p:nvPr/>
          </p:nvSpPr>
          <p:spPr>
            <a:xfrm>
              <a:off x="0" y="-19050"/>
              <a:ext cx="31917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g35d01a13495_0_138"/>
          <p:cNvGrpSpPr/>
          <p:nvPr/>
        </p:nvGrpSpPr>
        <p:grpSpPr>
          <a:xfrm>
            <a:off x="1304272" y="1104094"/>
            <a:ext cx="15679557" cy="3756653"/>
            <a:chOff x="0" y="-19050"/>
            <a:chExt cx="4129568" cy="989400"/>
          </a:xfrm>
        </p:grpSpPr>
        <p:sp>
          <p:nvSpPr>
            <p:cNvPr id="254" name="Google Shape;254;g35d01a13495_0_138"/>
            <p:cNvSpPr/>
            <p:nvPr/>
          </p:nvSpPr>
          <p:spPr>
            <a:xfrm>
              <a:off x="0" y="0"/>
              <a:ext cx="4129568" cy="970341"/>
            </a:xfrm>
            <a:custGeom>
              <a:rect b="b" l="l" r="r" t="t"/>
              <a:pathLst>
                <a:path extrusionOk="0" h="970341" w="4129568">
                  <a:moveTo>
                    <a:pt x="25182" y="0"/>
                  </a:moveTo>
                  <a:lnTo>
                    <a:pt x="4104387" y="0"/>
                  </a:lnTo>
                  <a:cubicBezTo>
                    <a:pt x="4118294" y="0"/>
                    <a:pt x="4129568" y="11274"/>
                    <a:pt x="4129568" y="25182"/>
                  </a:cubicBezTo>
                  <a:lnTo>
                    <a:pt x="4129568" y="945159"/>
                  </a:lnTo>
                  <a:cubicBezTo>
                    <a:pt x="4129568" y="951838"/>
                    <a:pt x="4126916" y="958243"/>
                    <a:pt x="4122193" y="962965"/>
                  </a:cubicBezTo>
                  <a:cubicBezTo>
                    <a:pt x="4117470" y="967688"/>
                    <a:pt x="4111065" y="970341"/>
                    <a:pt x="4104387" y="970341"/>
                  </a:cubicBezTo>
                  <a:lnTo>
                    <a:pt x="25182" y="970341"/>
                  </a:lnTo>
                  <a:cubicBezTo>
                    <a:pt x="18503" y="970341"/>
                    <a:pt x="12098" y="967688"/>
                    <a:pt x="7376" y="962965"/>
                  </a:cubicBezTo>
                  <a:cubicBezTo>
                    <a:pt x="2653" y="958243"/>
                    <a:pt x="0" y="951838"/>
                    <a:pt x="0" y="945159"/>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35d01a13495_0_138"/>
            <p:cNvSpPr txBox="1"/>
            <p:nvPr/>
          </p:nvSpPr>
          <p:spPr>
            <a:xfrm>
              <a:off x="0" y="-19050"/>
              <a:ext cx="4129500" cy="989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g35d01a13495_0_138"/>
          <p:cNvSpPr/>
          <p:nvPr/>
        </p:nvSpPr>
        <p:spPr>
          <a:xfrm>
            <a:off x="1681138" y="5484377"/>
            <a:ext cx="11301259" cy="3489264"/>
          </a:xfrm>
          <a:custGeom>
            <a:rect b="b" l="l" r="r" t="t"/>
            <a:pathLst>
              <a:path extrusionOk="0" h="3489264" w="11301259">
                <a:moveTo>
                  <a:pt x="0" y="0"/>
                </a:moveTo>
                <a:lnTo>
                  <a:pt x="11301259" y="0"/>
                </a:lnTo>
                <a:lnTo>
                  <a:pt x="11301259" y="3489263"/>
                </a:lnTo>
                <a:lnTo>
                  <a:pt x="0" y="3489263"/>
                </a:lnTo>
                <a:lnTo>
                  <a:pt x="0" y="0"/>
                </a:lnTo>
                <a:close/>
              </a:path>
            </a:pathLst>
          </a:custGeom>
          <a:blipFill rotWithShape="1">
            <a:blip r:embed="rId3">
              <a:alphaModFix/>
            </a:blip>
            <a:stretch>
              <a:fillRect b="0" l="0" r="0" t="0"/>
            </a:stretch>
          </a:blipFill>
          <a:ln>
            <a:noFill/>
          </a:ln>
        </p:spPr>
      </p:sp>
      <p:grpSp>
        <p:nvGrpSpPr>
          <p:cNvPr id="257" name="Google Shape;257;g35d01a13495_0_138"/>
          <p:cNvGrpSpPr/>
          <p:nvPr/>
        </p:nvGrpSpPr>
        <p:grpSpPr>
          <a:xfrm>
            <a:off x="13737283" y="5071169"/>
            <a:ext cx="3246467" cy="4313658"/>
            <a:chOff x="0" y="-19050"/>
            <a:chExt cx="855031" cy="1136100"/>
          </a:xfrm>
        </p:grpSpPr>
        <p:sp>
          <p:nvSpPr>
            <p:cNvPr id="258" name="Google Shape;258;g35d01a13495_0_138"/>
            <p:cNvSpPr/>
            <p:nvPr/>
          </p:nvSpPr>
          <p:spPr>
            <a:xfrm>
              <a:off x="0" y="0"/>
              <a:ext cx="855031" cy="1116914"/>
            </a:xfrm>
            <a:custGeom>
              <a:rect b="b" l="l" r="r" t="t"/>
              <a:pathLst>
                <a:path extrusionOk="0" h="1116914" w="855031">
                  <a:moveTo>
                    <a:pt x="121622" y="0"/>
                  </a:moveTo>
                  <a:lnTo>
                    <a:pt x="733409" y="0"/>
                  </a:lnTo>
                  <a:cubicBezTo>
                    <a:pt x="800579" y="0"/>
                    <a:pt x="855031" y="54452"/>
                    <a:pt x="855031" y="121622"/>
                  </a:cubicBezTo>
                  <a:lnTo>
                    <a:pt x="855031" y="995292"/>
                  </a:lnTo>
                  <a:cubicBezTo>
                    <a:pt x="855031" y="1062462"/>
                    <a:pt x="800579" y="1116914"/>
                    <a:pt x="733409" y="1116914"/>
                  </a:cubicBezTo>
                  <a:lnTo>
                    <a:pt x="121622" y="1116914"/>
                  </a:lnTo>
                  <a:cubicBezTo>
                    <a:pt x="54452" y="1116914"/>
                    <a:pt x="0" y="1062462"/>
                    <a:pt x="0" y="995292"/>
                  </a:cubicBezTo>
                  <a:lnTo>
                    <a:pt x="0" y="121622"/>
                  </a:lnTo>
                  <a:cubicBezTo>
                    <a:pt x="0" y="54452"/>
                    <a:pt x="54452" y="0"/>
                    <a:pt x="12162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35d01a13495_0_138"/>
            <p:cNvSpPr txBox="1"/>
            <p:nvPr/>
          </p:nvSpPr>
          <p:spPr>
            <a:xfrm>
              <a:off x="0" y="-19050"/>
              <a:ext cx="8550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0" name="Google Shape;260;g35d01a13495_0_138"/>
          <p:cNvSpPr/>
          <p:nvPr/>
        </p:nvSpPr>
        <p:spPr>
          <a:xfrm rot="5400000">
            <a:off x="13742295" y="6152899"/>
            <a:ext cx="3236420" cy="2152219"/>
          </a:xfrm>
          <a:custGeom>
            <a:rect b="b" l="l" r="r" t="t"/>
            <a:pathLst>
              <a:path extrusionOk="0" h="2152219" w="3236420">
                <a:moveTo>
                  <a:pt x="0" y="0"/>
                </a:moveTo>
                <a:lnTo>
                  <a:pt x="3236420" y="0"/>
                </a:lnTo>
                <a:lnTo>
                  <a:pt x="3236420" y="2152219"/>
                </a:lnTo>
                <a:lnTo>
                  <a:pt x="0" y="2152219"/>
                </a:lnTo>
                <a:lnTo>
                  <a:pt x="0" y="0"/>
                </a:lnTo>
                <a:close/>
              </a:path>
            </a:pathLst>
          </a:custGeom>
          <a:blipFill rotWithShape="1">
            <a:blip r:embed="rId4">
              <a:alphaModFix/>
            </a:blip>
            <a:stretch>
              <a:fillRect b="0" l="0" r="0" t="0"/>
            </a:stretch>
          </a:blipFill>
          <a:ln>
            <a:noFill/>
          </a:ln>
        </p:spPr>
      </p:sp>
      <p:sp>
        <p:nvSpPr>
          <p:cNvPr id="261" name="Google Shape;261;g35d01a13495_0_138"/>
          <p:cNvSpPr txBox="1"/>
          <p:nvPr/>
        </p:nvSpPr>
        <p:spPr>
          <a:xfrm>
            <a:off x="1744683" y="1452646"/>
            <a:ext cx="14798700" cy="37299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 concurrencia significa ejecutar múltiples tareas al mismo tiempo, pero no necesariamente simultáneamente.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Si hay dos tareas que se ejecutarán simultáneamente en una CPU de 1 núcleo, la CPU decidirá ejecutar una tarea primero y luego la otra tarea o ejecutar la mitad de una tarea y la otra mitad, etc. De esta manera pueden comenzar dos tareas, ejecutar y completar en períodos de tiempo superpuestos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grpSp>
        <p:nvGrpSpPr>
          <p:cNvPr id="266" name="Google Shape;266;g35d01a13495_0_153"/>
          <p:cNvGrpSpPr/>
          <p:nvPr/>
        </p:nvGrpSpPr>
        <p:grpSpPr>
          <a:xfrm>
            <a:off x="8525028" y="3549395"/>
            <a:ext cx="8421145" cy="5084053"/>
            <a:chOff x="0" y="-19050"/>
            <a:chExt cx="2217900" cy="1339001"/>
          </a:xfrm>
        </p:grpSpPr>
        <p:sp>
          <p:nvSpPr>
            <p:cNvPr id="267" name="Google Shape;267;g35d01a13495_0_153"/>
            <p:cNvSpPr/>
            <p:nvPr/>
          </p:nvSpPr>
          <p:spPr>
            <a:xfrm>
              <a:off x="0" y="0"/>
              <a:ext cx="2217786" cy="1319951"/>
            </a:xfrm>
            <a:custGeom>
              <a:rect b="b" l="l" r="r" t="t"/>
              <a:pathLst>
                <a:path extrusionOk="0" h="1319951" w="2217786">
                  <a:moveTo>
                    <a:pt x="46889" y="0"/>
                  </a:moveTo>
                  <a:lnTo>
                    <a:pt x="2170897" y="0"/>
                  </a:lnTo>
                  <a:cubicBezTo>
                    <a:pt x="2183333" y="0"/>
                    <a:pt x="2195259" y="4940"/>
                    <a:pt x="2204052" y="13734"/>
                  </a:cubicBezTo>
                  <a:cubicBezTo>
                    <a:pt x="2212846" y="22527"/>
                    <a:pt x="2217786" y="34453"/>
                    <a:pt x="2217786" y="46889"/>
                  </a:cubicBezTo>
                  <a:lnTo>
                    <a:pt x="2217786" y="1273062"/>
                  </a:lnTo>
                  <a:cubicBezTo>
                    <a:pt x="2217786" y="1285498"/>
                    <a:pt x="2212846" y="1297424"/>
                    <a:pt x="2204052" y="1306217"/>
                  </a:cubicBezTo>
                  <a:cubicBezTo>
                    <a:pt x="2195259" y="1315011"/>
                    <a:pt x="2183333" y="1319951"/>
                    <a:pt x="2170897" y="1319951"/>
                  </a:cubicBezTo>
                  <a:lnTo>
                    <a:pt x="46889" y="1319951"/>
                  </a:lnTo>
                  <a:cubicBezTo>
                    <a:pt x="34453" y="1319951"/>
                    <a:pt x="22527" y="1315011"/>
                    <a:pt x="13734" y="1306217"/>
                  </a:cubicBezTo>
                  <a:cubicBezTo>
                    <a:pt x="4940" y="1297424"/>
                    <a:pt x="0" y="1285498"/>
                    <a:pt x="0" y="1273062"/>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35d01a13495_0_153"/>
            <p:cNvSpPr txBox="1"/>
            <p:nvPr/>
          </p:nvSpPr>
          <p:spPr>
            <a:xfrm>
              <a:off x="0" y="-19050"/>
              <a:ext cx="2217900" cy="1338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g35d01a13495_0_153"/>
          <p:cNvGrpSpPr/>
          <p:nvPr/>
        </p:nvGrpSpPr>
        <p:grpSpPr>
          <a:xfrm>
            <a:off x="1342316" y="3549395"/>
            <a:ext cx="6807633" cy="5191065"/>
            <a:chOff x="0" y="-19050"/>
            <a:chExt cx="1792945" cy="1367185"/>
          </a:xfrm>
        </p:grpSpPr>
        <p:sp>
          <p:nvSpPr>
            <p:cNvPr id="270" name="Google Shape;270;g35d01a13495_0_153"/>
            <p:cNvSpPr/>
            <p:nvPr/>
          </p:nvSpPr>
          <p:spPr>
            <a:xfrm>
              <a:off x="0" y="0"/>
              <a:ext cx="1792945" cy="1348135"/>
            </a:xfrm>
            <a:custGeom>
              <a:rect b="b" l="l" r="r" t="t"/>
              <a:pathLst>
                <a:path extrusionOk="0" h="1348135" w="1792945">
                  <a:moveTo>
                    <a:pt x="58000" y="0"/>
                  </a:moveTo>
                  <a:lnTo>
                    <a:pt x="1734945" y="0"/>
                  </a:lnTo>
                  <a:cubicBezTo>
                    <a:pt x="1750328" y="0"/>
                    <a:pt x="1765080" y="6111"/>
                    <a:pt x="1775957" y="16988"/>
                  </a:cubicBezTo>
                  <a:cubicBezTo>
                    <a:pt x="1786835" y="27865"/>
                    <a:pt x="1792945" y="42617"/>
                    <a:pt x="1792945" y="58000"/>
                  </a:cubicBezTo>
                  <a:lnTo>
                    <a:pt x="1792945" y="1290135"/>
                  </a:lnTo>
                  <a:cubicBezTo>
                    <a:pt x="1792945" y="1305518"/>
                    <a:pt x="1786835" y="1320270"/>
                    <a:pt x="1775957" y="1331147"/>
                  </a:cubicBezTo>
                  <a:cubicBezTo>
                    <a:pt x="1765080" y="1342024"/>
                    <a:pt x="1750328" y="1348135"/>
                    <a:pt x="1734945" y="1348135"/>
                  </a:cubicBezTo>
                  <a:lnTo>
                    <a:pt x="58000" y="1348135"/>
                  </a:lnTo>
                  <a:cubicBezTo>
                    <a:pt x="42617" y="1348135"/>
                    <a:pt x="27865" y="1342024"/>
                    <a:pt x="16988" y="1331147"/>
                  </a:cubicBezTo>
                  <a:cubicBezTo>
                    <a:pt x="6111" y="1320270"/>
                    <a:pt x="0" y="1305518"/>
                    <a:pt x="0" y="1290135"/>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d01a13495_0_153"/>
            <p:cNvSpPr txBox="1"/>
            <p:nvPr/>
          </p:nvSpPr>
          <p:spPr>
            <a:xfrm>
              <a:off x="0" y="-19050"/>
              <a:ext cx="1792800" cy="1367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5d01a13495_0_153"/>
          <p:cNvSpPr/>
          <p:nvPr/>
        </p:nvSpPr>
        <p:spPr>
          <a:xfrm>
            <a:off x="2337197" y="1440051"/>
            <a:ext cx="1440234" cy="1805937"/>
          </a:xfrm>
          <a:custGeom>
            <a:rect b="b" l="l" r="r" t="t"/>
            <a:pathLst>
              <a:path extrusionOk="0" h="1805937" w="1440234">
                <a:moveTo>
                  <a:pt x="0" y="0"/>
                </a:moveTo>
                <a:lnTo>
                  <a:pt x="1440235" y="0"/>
                </a:lnTo>
                <a:lnTo>
                  <a:pt x="1440235" y="1805936"/>
                </a:lnTo>
                <a:lnTo>
                  <a:pt x="0" y="1805936"/>
                </a:lnTo>
                <a:lnTo>
                  <a:pt x="0" y="0"/>
                </a:lnTo>
                <a:close/>
              </a:path>
            </a:pathLst>
          </a:custGeom>
          <a:blipFill rotWithShape="1">
            <a:blip r:embed="rId3">
              <a:alphaModFix/>
            </a:blip>
            <a:stretch>
              <a:fillRect b="0" l="0" r="0" t="0"/>
            </a:stretch>
          </a:blipFill>
          <a:ln>
            <a:noFill/>
          </a:ln>
        </p:spPr>
      </p:sp>
      <p:sp>
        <p:nvSpPr>
          <p:cNvPr id="273" name="Google Shape;273;g35d01a13495_0_153"/>
          <p:cNvSpPr/>
          <p:nvPr/>
        </p:nvSpPr>
        <p:spPr>
          <a:xfrm>
            <a:off x="9014848" y="4017944"/>
            <a:ext cx="7608410" cy="4251199"/>
          </a:xfrm>
          <a:custGeom>
            <a:rect b="b" l="l" r="r" t="t"/>
            <a:pathLst>
              <a:path extrusionOk="0" h="4251199" w="7608410">
                <a:moveTo>
                  <a:pt x="0" y="0"/>
                </a:moveTo>
                <a:lnTo>
                  <a:pt x="7608410" y="0"/>
                </a:lnTo>
                <a:lnTo>
                  <a:pt x="7608410" y="4251199"/>
                </a:lnTo>
                <a:lnTo>
                  <a:pt x="0" y="4251199"/>
                </a:lnTo>
                <a:lnTo>
                  <a:pt x="0" y="0"/>
                </a:lnTo>
                <a:close/>
              </a:path>
            </a:pathLst>
          </a:custGeom>
          <a:blipFill rotWithShape="1">
            <a:blip r:embed="rId4">
              <a:alphaModFix/>
            </a:blip>
            <a:stretch>
              <a:fillRect b="0" l="0" r="0" t="0"/>
            </a:stretch>
          </a:blipFill>
          <a:ln>
            <a:noFill/>
          </a:ln>
        </p:spPr>
      </p:sp>
      <p:sp>
        <p:nvSpPr>
          <p:cNvPr id="274" name="Google Shape;274;g35d01a13495_0_153"/>
          <p:cNvSpPr txBox="1"/>
          <p:nvPr/>
        </p:nvSpPr>
        <p:spPr>
          <a:xfrm>
            <a:off x="4132387" y="1761994"/>
            <a:ext cx="11818500" cy="11544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PARALELA</a:t>
            </a:r>
            <a:endParaRPr b="0" i="0" sz="1400" u="none" cap="none" strike="noStrike">
              <a:solidFill>
                <a:srgbClr val="000000"/>
              </a:solidFill>
              <a:latin typeface="Arial"/>
              <a:ea typeface="Arial"/>
              <a:cs typeface="Arial"/>
              <a:sym typeface="Arial"/>
            </a:endParaRPr>
          </a:p>
        </p:txBody>
      </p:sp>
      <p:sp>
        <p:nvSpPr>
          <p:cNvPr id="275" name="Google Shape;275;g35d01a13495_0_153"/>
          <p:cNvSpPr txBox="1"/>
          <p:nvPr/>
        </p:nvSpPr>
        <p:spPr>
          <a:xfrm>
            <a:off x="1752292" y="3998362"/>
            <a:ext cx="5987700" cy="4351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FFFFFF"/>
                </a:solidFill>
                <a:latin typeface="Montserrat"/>
                <a:ea typeface="Montserrat"/>
                <a:cs typeface="Montserrat"/>
                <a:sym typeface="Montserrat"/>
              </a:rPr>
              <a:t>La ejecución paralela es cuando una computadora tiene más de una CPU o núcleo de CPU y avanza en más de una tarea simultáneamente. Sin embargo, la ejecución paralela no se refiere al mismo fenómeno que el paralelismo.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9" name="Shape 279"/>
        <p:cNvGrpSpPr/>
        <p:nvPr/>
      </p:nvGrpSpPr>
      <p:grpSpPr>
        <a:xfrm>
          <a:off x="0" y="0"/>
          <a:ext cx="0" cy="0"/>
          <a:chOff x="0" y="0"/>
          <a:chExt cx="0" cy="0"/>
        </a:xfrm>
      </p:grpSpPr>
      <p:grpSp>
        <p:nvGrpSpPr>
          <p:cNvPr id="280" name="Google Shape;280;g35d01a13495_0_166"/>
          <p:cNvGrpSpPr/>
          <p:nvPr/>
        </p:nvGrpSpPr>
        <p:grpSpPr>
          <a:xfrm>
            <a:off x="8525028" y="3792530"/>
            <a:ext cx="8421145" cy="5541576"/>
            <a:chOff x="0" y="-19050"/>
            <a:chExt cx="2217900" cy="1459500"/>
          </a:xfrm>
        </p:grpSpPr>
        <p:sp>
          <p:nvSpPr>
            <p:cNvPr id="281" name="Google Shape;281;g35d01a13495_0_166"/>
            <p:cNvSpPr/>
            <p:nvPr/>
          </p:nvSpPr>
          <p:spPr>
            <a:xfrm>
              <a:off x="0" y="0"/>
              <a:ext cx="2217786" cy="1440317"/>
            </a:xfrm>
            <a:custGeom>
              <a:rect b="b" l="l" r="r" t="t"/>
              <a:pathLst>
                <a:path extrusionOk="0" h="1440317" w="2217786">
                  <a:moveTo>
                    <a:pt x="46889" y="0"/>
                  </a:moveTo>
                  <a:lnTo>
                    <a:pt x="2170897" y="0"/>
                  </a:lnTo>
                  <a:cubicBezTo>
                    <a:pt x="2183333" y="0"/>
                    <a:pt x="2195259" y="4940"/>
                    <a:pt x="2204052" y="13734"/>
                  </a:cubicBezTo>
                  <a:cubicBezTo>
                    <a:pt x="2212846" y="22527"/>
                    <a:pt x="2217786" y="34453"/>
                    <a:pt x="2217786" y="46889"/>
                  </a:cubicBezTo>
                  <a:lnTo>
                    <a:pt x="2217786" y="1393428"/>
                  </a:lnTo>
                  <a:cubicBezTo>
                    <a:pt x="2217786" y="1405864"/>
                    <a:pt x="2212846" y="1417790"/>
                    <a:pt x="2204052" y="1426584"/>
                  </a:cubicBezTo>
                  <a:cubicBezTo>
                    <a:pt x="2195259" y="1435377"/>
                    <a:pt x="2183333" y="1440317"/>
                    <a:pt x="2170897" y="1440317"/>
                  </a:cubicBezTo>
                  <a:lnTo>
                    <a:pt x="46889" y="1440317"/>
                  </a:lnTo>
                  <a:cubicBezTo>
                    <a:pt x="34453" y="1440317"/>
                    <a:pt x="22527" y="1435377"/>
                    <a:pt x="13734" y="1426584"/>
                  </a:cubicBezTo>
                  <a:cubicBezTo>
                    <a:pt x="4940" y="1417790"/>
                    <a:pt x="0" y="1405864"/>
                    <a:pt x="0" y="1393428"/>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35d01a13495_0_166"/>
            <p:cNvSpPr txBox="1"/>
            <p:nvPr/>
          </p:nvSpPr>
          <p:spPr>
            <a:xfrm>
              <a:off x="0" y="-19050"/>
              <a:ext cx="22179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g35d01a13495_0_166"/>
          <p:cNvGrpSpPr/>
          <p:nvPr/>
        </p:nvGrpSpPr>
        <p:grpSpPr>
          <a:xfrm>
            <a:off x="1342325" y="3944925"/>
            <a:ext cx="6807633" cy="5956657"/>
            <a:chOff x="0" y="-19050"/>
            <a:chExt cx="1792945" cy="1459500"/>
          </a:xfrm>
        </p:grpSpPr>
        <p:sp>
          <p:nvSpPr>
            <p:cNvPr id="284" name="Google Shape;284;g35d01a13495_0_166"/>
            <p:cNvSpPr/>
            <p:nvPr/>
          </p:nvSpPr>
          <p:spPr>
            <a:xfrm>
              <a:off x="0" y="0"/>
              <a:ext cx="1792945" cy="1440317"/>
            </a:xfrm>
            <a:custGeom>
              <a:rect b="b" l="l" r="r" t="t"/>
              <a:pathLst>
                <a:path extrusionOk="0" h="1440317" w="1792945">
                  <a:moveTo>
                    <a:pt x="58000" y="0"/>
                  </a:moveTo>
                  <a:lnTo>
                    <a:pt x="1734945" y="0"/>
                  </a:lnTo>
                  <a:cubicBezTo>
                    <a:pt x="1750328" y="0"/>
                    <a:pt x="1765080" y="6111"/>
                    <a:pt x="1775957" y="16988"/>
                  </a:cubicBezTo>
                  <a:cubicBezTo>
                    <a:pt x="1786835" y="27865"/>
                    <a:pt x="1792945" y="42617"/>
                    <a:pt x="1792945" y="58000"/>
                  </a:cubicBezTo>
                  <a:lnTo>
                    <a:pt x="1792945" y="1382318"/>
                  </a:lnTo>
                  <a:cubicBezTo>
                    <a:pt x="1792945" y="1397700"/>
                    <a:pt x="1786835" y="1412453"/>
                    <a:pt x="1775957" y="1423330"/>
                  </a:cubicBezTo>
                  <a:cubicBezTo>
                    <a:pt x="1765080" y="1434207"/>
                    <a:pt x="1750328" y="1440317"/>
                    <a:pt x="1734945" y="1440317"/>
                  </a:cubicBezTo>
                  <a:lnTo>
                    <a:pt x="58000" y="1440317"/>
                  </a:lnTo>
                  <a:cubicBezTo>
                    <a:pt x="42617" y="1440317"/>
                    <a:pt x="27865" y="1434207"/>
                    <a:pt x="16988" y="1423330"/>
                  </a:cubicBezTo>
                  <a:cubicBezTo>
                    <a:pt x="6111" y="1412453"/>
                    <a:pt x="0" y="1397700"/>
                    <a:pt x="0" y="1382318"/>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5d01a13495_0_166"/>
            <p:cNvSpPr txBox="1"/>
            <p:nvPr/>
          </p:nvSpPr>
          <p:spPr>
            <a:xfrm>
              <a:off x="0" y="-19050"/>
              <a:ext cx="17928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g35d01a13495_0_166"/>
          <p:cNvSpPr/>
          <p:nvPr/>
        </p:nvSpPr>
        <p:spPr>
          <a:xfrm>
            <a:off x="1363270" y="1198228"/>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sp>
        <p:nvSpPr>
          <p:cNvPr id="287" name="Google Shape;287;g35d01a13495_0_166"/>
          <p:cNvSpPr/>
          <p:nvPr/>
        </p:nvSpPr>
        <p:spPr>
          <a:xfrm>
            <a:off x="8887950" y="4334286"/>
            <a:ext cx="7569786" cy="4399938"/>
          </a:xfrm>
          <a:custGeom>
            <a:rect b="b" l="l" r="r" t="t"/>
            <a:pathLst>
              <a:path extrusionOk="0" h="4399938" w="7569786">
                <a:moveTo>
                  <a:pt x="0" y="0"/>
                </a:moveTo>
                <a:lnTo>
                  <a:pt x="7569786" y="0"/>
                </a:lnTo>
                <a:lnTo>
                  <a:pt x="7569786" y="4399938"/>
                </a:lnTo>
                <a:lnTo>
                  <a:pt x="0" y="4399938"/>
                </a:lnTo>
                <a:lnTo>
                  <a:pt x="0" y="0"/>
                </a:lnTo>
                <a:close/>
              </a:path>
            </a:pathLst>
          </a:custGeom>
          <a:blipFill rotWithShape="1">
            <a:blip r:embed="rId4">
              <a:alphaModFix/>
            </a:blip>
            <a:stretch>
              <a:fillRect b="0" l="0" r="0" t="0"/>
            </a:stretch>
          </a:blipFill>
          <a:ln>
            <a:noFill/>
          </a:ln>
        </p:spPr>
      </p:sp>
      <p:sp>
        <p:nvSpPr>
          <p:cNvPr id="288" name="Google Shape;288;g35d01a13495_0_166"/>
          <p:cNvSpPr txBox="1"/>
          <p:nvPr/>
        </p:nvSpPr>
        <p:spPr>
          <a:xfrm>
            <a:off x="3264983" y="943909"/>
            <a:ext cx="13416300" cy="2551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CONCURRENTE PARALELA</a:t>
            </a:r>
            <a:endParaRPr b="0" i="0" sz="1400" u="none" cap="none" strike="noStrike">
              <a:solidFill>
                <a:srgbClr val="000000"/>
              </a:solidFill>
              <a:latin typeface="Arial"/>
              <a:ea typeface="Arial"/>
              <a:cs typeface="Arial"/>
              <a:sym typeface="Arial"/>
            </a:endParaRPr>
          </a:p>
        </p:txBody>
      </p:sp>
      <p:sp>
        <p:nvSpPr>
          <p:cNvPr id="289" name="Google Shape;289;g35d01a13495_0_166"/>
          <p:cNvSpPr txBox="1"/>
          <p:nvPr/>
        </p:nvSpPr>
        <p:spPr>
          <a:xfrm>
            <a:off x="1752292" y="4175645"/>
            <a:ext cx="5987700" cy="5601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Es posible tener una ejecución concurrente paralela, donde los subprocesos se distribuyen entre varias CPU.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lo tanto, los subprocesos ejecutados en una misma CPU se ejecutan concurrentemente, mientras que los subprocesos ejecutados en diferentes CPU se ejecutan en paralelo.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3" name="Shape 293"/>
        <p:cNvGrpSpPr/>
        <p:nvPr/>
      </p:nvGrpSpPr>
      <p:grpSpPr>
        <a:xfrm>
          <a:off x="0" y="0"/>
          <a:ext cx="0" cy="0"/>
          <a:chOff x="0" y="0"/>
          <a:chExt cx="0" cy="0"/>
        </a:xfrm>
      </p:grpSpPr>
      <p:grpSp>
        <p:nvGrpSpPr>
          <p:cNvPr id="294" name="Google Shape;294;g35d01a13495_0_179"/>
          <p:cNvGrpSpPr/>
          <p:nvPr/>
        </p:nvGrpSpPr>
        <p:grpSpPr>
          <a:xfrm>
            <a:off x="1243290" y="3203510"/>
            <a:ext cx="7720696" cy="5993786"/>
            <a:chOff x="0" y="-19050"/>
            <a:chExt cx="2033421" cy="1578600"/>
          </a:xfrm>
        </p:grpSpPr>
        <p:sp>
          <p:nvSpPr>
            <p:cNvPr id="295" name="Google Shape;295;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g35d01a13495_0_179"/>
          <p:cNvSpPr/>
          <p:nvPr/>
        </p:nvSpPr>
        <p:spPr>
          <a:xfrm>
            <a:off x="4155372" y="1089907"/>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grpSp>
        <p:nvGrpSpPr>
          <p:cNvPr id="298" name="Google Shape;298;g35d01a13495_0_179"/>
          <p:cNvGrpSpPr/>
          <p:nvPr/>
        </p:nvGrpSpPr>
        <p:grpSpPr>
          <a:xfrm>
            <a:off x="9324064" y="3203510"/>
            <a:ext cx="7720696" cy="5993786"/>
            <a:chOff x="0" y="-19050"/>
            <a:chExt cx="2033421" cy="1578600"/>
          </a:xfrm>
        </p:grpSpPr>
        <p:sp>
          <p:nvSpPr>
            <p:cNvPr id="299" name="Google Shape;299;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1" name="Google Shape;301;g35d01a13495_0_179"/>
          <p:cNvSpPr/>
          <p:nvPr/>
        </p:nvSpPr>
        <p:spPr>
          <a:xfrm>
            <a:off x="9699772" y="3830925"/>
            <a:ext cx="6969231" cy="4887173"/>
          </a:xfrm>
          <a:custGeom>
            <a:rect b="b" l="l" r="r" t="t"/>
            <a:pathLst>
              <a:path extrusionOk="0" h="4887173" w="6969231">
                <a:moveTo>
                  <a:pt x="0" y="0"/>
                </a:moveTo>
                <a:lnTo>
                  <a:pt x="6969231" y="0"/>
                </a:lnTo>
                <a:lnTo>
                  <a:pt x="6969231" y="4887173"/>
                </a:lnTo>
                <a:lnTo>
                  <a:pt x="0" y="4887173"/>
                </a:lnTo>
                <a:lnTo>
                  <a:pt x="0" y="0"/>
                </a:lnTo>
                <a:close/>
              </a:path>
            </a:pathLst>
          </a:custGeom>
          <a:blipFill rotWithShape="1">
            <a:blip r:embed="rId4">
              <a:alphaModFix/>
            </a:blip>
            <a:stretch>
              <a:fillRect b="0" l="0" r="0" t="0"/>
            </a:stretch>
          </a:blipFill>
          <a:ln>
            <a:noFill/>
          </a:ln>
        </p:spPr>
      </p:sp>
      <p:sp>
        <p:nvSpPr>
          <p:cNvPr id="302" name="Google Shape;302;g35d01a13495_0_179"/>
          <p:cNvSpPr txBox="1"/>
          <p:nvPr/>
        </p:nvSpPr>
        <p:spPr>
          <a:xfrm>
            <a:off x="5950562" y="1374068"/>
            <a:ext cx="80601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PARALELISMO</a:t>
            </a:r>
            <a:endParaRPr b="0" i="0" sz="1400" u="none" cap="none" strike="noStrike">
              <a:solidFill>
                <a:srgbClr val="000000"/>
              </a:solidFill>
              <a:latin typeface="Arial"/>
              <a:ea typeface="Arial"/>
              <a:cs typeface="Arial"/>
              <a:sym typeface="Arial"/>
            </a:endParaRPr>
          </a:p>
        </p:txBody>
      </p:sp>
      <p:sp>
        <p:nvSpPr>
          <p:cNvPr id="303" name="Google Shape;303;g35d01a13495_0_179"/>
          <p:cNvSpPr txBox="1"/>
          <p:nvPr/>
        </p:nvSpPr>
        <p:spPr>
          <a:xfrm>
            <a:off x="1554351" y="3732289"/>
            <a:ext cx="7098600" cy="517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significa que una aplicación divide sus tareas en subtareas más pequeñas que pueden procesarse en paralelo, por ejemplo, en varias CPU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no requiere que existan dos tareas, es capaz de ejecutas físicamente partes de tareas o múltiples tareas al mismo tiempo utilizando la infraestructura multinúcleo del CPU, asignando un núcleo a cada tarea o subtarea.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7" name="Shape 307"/>
        <p:cNvGrpSpPr/>
        <p:nvPr/>
      </p:nvGrpSpPr>
      <p:grpSpPr>
        <a:xfrm>
          <a:off x="0" y="0"/>
          <a:ext cx="0" cy="0"/>
          <a:chOff x="0" y="0"/>
          <a:chExt cx="0" cy="0"/>
        </a:xfrm>
      </p:grpSpPr>
      <p:grpSp>
        <p:nvGrpSpPr>
          <p:cNvPr id="308" name="Google Shape;308;g35d01a13495_0_192"/>
          <p:cNvGrpSpPr/>
          <p:nvPr/>
        </p:nvGrpSpPr>
        <p:grpSpPr>
          <a:xfrm>
            <a:off x="1243300" y="1094775"/>
            <a:ext cx="7720696" cy="7964349"/>
            <a:chOff x="0" y="-19050"/>
            <a:chExt cx="2033421" cy="1616700"/>
          </a:xfrm>
        </p:grpSpPr>
        <p:sp>
          <p:nvSpPr>
            <p:cNvPr id="309" name="Google Shape;309;g35d01a13495_0_192"/>
            <p:cNvSpPr/>
            <p:nvPr/>
          </p:nvSpPr>
          <p:spPr>
            <a:xfrm>
              <a:off x="0" y="0"/>
              <a:ext cx="2033421" cy="1597576"/>
            </a:xfrm>
            <a:custGeom>
              <a:rect b="b" l="l" r="r" t="t"/>
              <a:pathLst>
                <a:path extrusionOk="0" h="1597576" w="2033421">
                  <a:moveTo>
                    <a:pt x="51141" y="0"/>
                  </a:moveTo>
                  <a:lnTo>
                    <a:pt x="1982281" y="0"/>
                  </a:lnTo>
                  <a:cubicBezTo>
                    <a:pt x="1995844" y="0"/>
                    <a:pt x="2008852" y="5388"/>
                    <a:pt x="2018442" y="14979"/>
                  </a:cubicBezTo>
                  <a:cubicBezTo>
                    <a:pt x="2028033" y="24569"/>
                    <a:pt x="2033421" y="37577"/>
                    <a:pt x="2033421" y="51141"/>
                  </a:cubicBezTo>
                  <a:lnTo>
                    <a:pt x="2033421" y="1546435"/>
                  </a:lnTo>
                  <a:cubicBezTo>
                    <a:pt x="2033421" y="1559999"/>
                    <a:pt x="2028033" y="1573007"/>
                    <a:pt x="2018442" y="1582597"/>
                  </a:cubicBezTo>
                  <a:cubicBezTo>
                    <a:pt x="2008852" y="1592188"/>
                    <a:pt x="1995844" y="1597576"/>
                    <a:pt x="1982281" y="1597576"/>
                  </a:cubicBezTo>
                  <a:lnTo>
                    <a:pt x="51141" y="1597576"/>
                  </a:lnTo>
                  <a:cubicBezTo>
                    <a:pt x="22896" y="1597576"/>
                    <a:pt x="0" y="1574680"/>
                    <a:pt x="0" y="1546435"/>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5d01a13495_0_192"/>
            <p:cNvSpPr txBox="1"/>
            <p:nvPr/>
          </p:nvSpPr>
          <p:spPr>
            <a:xfrm>
              <a:off x="0" y="-19050"/>
              <a:ext cx="2033400" cy="16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1" name="Google Shape;311;g35d01a13495_0_192"/>
          <p:cNvGrpSpPr/>
          <p:nvPr/>
        </p:nvGrpSpPr>
        <p:grpSpPr>
          <a:xfrm>
            <a:off x="9324064" y="1094779"/>
            <a:ext cx="7720696" cy="7964377"/>
            <a:chOff x="0" y="-19050"/>
            <a:chExt cx="2033421" cy="2097600"/>
          </a:xfrm>
        </p:grpSpPr>
        <p:sp>
          <p:nvSpPr>
            <p:cNvPr id="312" name="Google Shape;312;g35d01a13495_0_192"/>
            <p:cNvSpPr/>
            <p:nvPr/>
          </p:nvSpPr>
          <p:spPr>
            <a:xfrm>
              <a:off x="0" y="0"/>
              <a:ext cx="2033421" cy="2078439"/>
            </a:xfrm>
            <a:custGeom>
              <a:rect b="b" l="l" r="r" t="t"/>
              <a:pathLst>
                <a:path extrusionOk="0" h="2078439" w="2033421">
                  <a:moveTo>
                    <a:pt x="51141" y="0"/>
                  </a:moveTo>
                  <a:lnTo>
                    <a:pt x="1982281" y="0"/>
                  </a:lnTo>
                  <a:cubicBezTo>
                    <a:pt x="1995844" y="0"/>
                    <a:pt x="2008852" y="5388"/>
                    <a:pt x="2018442" y="14979"/>
                  </a:cubicBezTo>
                  <a:cubicBezTo>
                    <a:pt x="2028033" y="24569"/>
                    <a:pt x="2033421" y="37577"/>
                    <a:pt x="2033421" y="51141"/>
                  </a:cubicBezTo>
                  <a:lnTo>
                    <a:pt x="2033421" y="2027298"/>
                  </a:lnTo>
                  <a:cubicBezTo>
                    <a:pt x="2033421" y="2055542"/>
                    <a:pt x="2010525" y="2078439"/>
                    <a:pt x="1982281" y="2078439"/>
                  </a:cubicBezTo>
                  <a:lnTo>
                    <a:pt x="51141" y="2078439"/>
                  </a:lnTo>
                  <a:cubicBezTo>
                    <a:pt x="37577" y="2078439"/>
                    <a:pt x="24569" y="2073051"/>
                    <a:pt x="14979" y="2063460"/>
                  </a:cubicBezTo>
                  <a:cubicBezTo>
                    <a:pt x="5388" y="2053869"/>
                    <a:pt x="0" y="2040862"/>
                    <a:pt x="0" y="2027298"/>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5d01a13495_0_192"/>
            <p:cNvSpPr txBox="1"/>
            <p:nvPr/>
          </p:nvSpPr>
          <p:spPr>
            <a:xfrm>
              <a:off x="0" y="-19050"/>
              <a:ext cx="2033400" cy="2097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4" name="Google Shape;314;g35d01a13495_0_192"/>
          <p:cNvSpPr/>
          <p:nvPr/>
        </p:nvSpPr>
        <p:spPr>
          <a:xfrm>
            <a:off x="9688294" y="1795978"/>
            <a:ext cx="6992186" cy="6633837"/>
          </a:xfrm>
          <a:custGeom>
            <a:rect b="b" l="l" r="r" t="t"/>
            <a:pathLst>
              <a:path extrusionOk="0" h="6633837" w="6992186">
                <a:moveTo>
                  <a:pt x="0" y="0"/>
                </a:moveTo>
                <a:lnTo>
                  <a:pt x="6992186" y="0"/>
                </a:lnTo>
                <a:lnTo>
                  <a:pt x="6992186" y="6633837"/>
                </a:lnTo>
                <a:lnTo>
                  <a:pt x="0" y="6633837"/>
                </a:lnTo>
                <a:lnTo>
                  <a:pt x="0" y="0"/>
                </a:lnTo>
                <a:close/>
              </a:path>
            </a:pathLst>
          </a:custGeom>
          <a:blipFill rotWithShape="1">
            <a:blip r:embed="rId3">
              <a:alphaModFix/>
            </a:blip>
            <a:stretch>
              <a:fillRect b="0" l="0" r="0" t="0"/>
            </a:stretch>
          </a:blipFill>
          <a:ln>
            <a:noFill/>
          </a:ln>
        </p:spPr>
      </p:sp>
      <p:sp>
        <p:nvSpPr>
          <p:cNvPr id="315" name="Google Shape;315;g35d01a13495_0_192"/>
          <p:cNvSpPr txBox="1"/>
          <p:nvPr/>
        </p:nvSpPr>
        <p:spPr>
          <a:xfrm>
            <a:off x="1554350" y="2011849"/>
            <a:ext cx="7098600" cy="613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su forma más básica, hay dos marcas que se pueden codificar en una función. La primera es paralela, lo que sugiere al compilador que la función se complete al mismo tiempo que otras funciones paralelas. El otro es secuencial, lo que significa que la función debe completarse individualmente (de forma concurrente).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sz="2399">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Las funciones paralelas pueden acelerar significativamente las operaciones porque utilizan automáticamente más recursos de la CPU de la computadora.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grpSp>
        <p:nvGrpSpPr>
          <p:cNvPr id="320" name="Google Shape;320;g3cb8403e9f2_0_0"/>
          <p:cNvGrpSpPr/>
          <p:nvPr/>
        </p:nvGrpSpPr>
        <p:grpSpPr>
          <a:xfrm>
            <a:off x="1894975" y="812125"/>
            <a:ext cx="14528183" cy="9113897"/>
            <a:chOff x="0" y="-19050"/>
            <a:chExt cx="2033421" cy="2241600"/>
          </a:xfrm>
        </p:grpSpPr>
        <p:sp>
          <p:nvSpPr>
            <p:cNvPr id="321" name="Google Shape;321;g3cb8403e9f2_0_0"/>
            <p:cNvSpPr/>
            <p:nvPr/>
          </p:nvSpPr>
          <p:spPr>
            <a:xfrm>
              <a:off x="0" y="0"/>
              <a:ext cx="2033421" cy="2078439"/>
            </a:xfrm>
            <a:custGeom>
              <a:rect b="b" l="l" r="r" t="t"/>
              <a:pathLst>
                <a:path extrusionOk="0" h="2078439" w="2033421">
                  <a:moveTo>
                    <a:pt x="51141" y="0"/>
                  </a:moveTo>
                  <a:lnTo>
                    <a:pt x="1982281" y="0"/>
                  </a:lnTo>
                  <a:cubicBezTo>
                    <a:pt x="1995844" y="0"/>
                    <a:pt x="2008852" y="5388"/>
                    <a:pt x="2018442" y="14979"/>
                  </a:cubicBezTo>
                  <a:cubicBezTo>
                    <a:pt x="2028033" y="24569"/>
                    <a:pt x="2033421" y="37577"/>
                    <a:pt x="2033421" y="51141"/>
                  </a:cubicBezTo>
                  <a:lnTo>
                    <a:pt x="2033421" y="2027298"/>
                  </a:lnTo>
                  <a:cubicBezTo>
                    <a:pt x="2033421" y="2055542"/>
                    <a:pt x="2010525" y="2078439"/>
                    <a:pt x="1982281" y="2078439"/>
                  </a:cubicBezTo>
                  <a:lnTo>
                    <a:pt x="51141" y="2078439"/>
                  </a:lnTo>
                  <a:cubicBezTo>
                    <a:pt x="37577" y="2078439"/>
                    <a:pt x="24569" y="2073051"/>
                    <a:pt x="14979" y="2063460"/>
                  </a:cubicBezTo>
                  <a:cubicBezTo>
                    <a:pt x="5388" y="2053869"/>
                    <a:pt x="0" y="2040862"/>
                    <a:pt x="0" y="2027298"/>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3cb8403e9f2_0_0"/>
            <p:cNvSpPr txBox="1"/>
            <p:nvPr/>
          </p:nvSpPr>
          <p:spPr>
            <a:xfrm>
              <a:off x="46597" y="-19050"/>
              <a:ext cx="1918200" cy="224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323" name="Google Shape;323;g3cb8403e9f2_0_0" title="Concurrencia vs Paralelismo  - Sistemas Operativos 2">
            <a:hlinkClick r:id="rId3"/>
          </p:cNvPr>
          <p:cNvPicPr preferRelativeResize="0"/>
          <p:nvPr/>
        </p:nvPicPr>
        <p:blipFill>
          <a:blip r:embed="rId4">
            <a:alphaModFix/>
          </a:blip>
          <a:stretch>
            <a:fillRect/>
          </a:stretch>
        </p:blipFill>
        <p:spPr>
          <a:xfrm>
            <a:off x="2524963" y="1420288"/>
            <a:ext cx="13238075" cy="7446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7" name="Shape 327"/>
        <p:cNvGrpSpPr/>
        <p:nvPr/>
      </p:nvGrpSpPr>
      <p:grpSpPr>
        <a:xfrm>
          <a:off x="0" y="0"/>
          <a:ext cx="0" cy="0"/>
          <a:chOff x="0" y="0"/>
          <a:chExt cx="0" cy="0"/>
        </a:xfrm>
      </p:grpSpPr>
      <p:grpSp>
        <p:nvGrpSpPr>
          <p:cNvPr id="328" name="Google Shape;328;p10"/>
          <p:cNvGrpSpPr/>
          <p:nvPr/>
        </p:nvGrpSpPr>
        <p:grpSpPr>
          <a:xfrm>
            <a:off x="9560817" y="661115"/>
            <a:ext cx="7698483" cy="7676542"/>
            <a:chOff x="0" y="-19050"/>
            <a:chExt cx="2027584" cy="2021805"/>
          </a:xfrm>
        </p:grpSpPr>
        <p:sp>
          <p:nvSpPr>
            <p:cNvPr id="329" name="Google Shape;329;p10"/>
            <p:cNvSpPr/>
            <p:nvPr/>
          </p:nvSpPr>
          <p:spPr>
            <a:xfrm>
              <a:off x="0" y="0"/>
              <a:ext cx="2027584" cy="2002755"/>
            </a:xfrm>
            <a:custGeom>
              <a:rect b="b" l="l" r="r" t="t"/>
              <a:pathLst>
                <a:path extrusionOk="0" h="2002755" w="2027584">
                  <a:moveTo>
                    <a:pt x="51288" y="0"/>
                  </a:moveTo>
                  <a:lnTo>
                    <a:pt x="1976296" y="0"/>
                  </a:lnTo>
                  <a:cubicBezTo>
                    <a:pt x="2004622" y="0"/>
                    <a:pt x="2027584" y="22962"/>
                    <a:pt x="2027584" y="51288"/>
                  </a:cubicBezTo>
                  <a:lnTo>
                    <a:pt x="2027584" y="1951468"/>
                  </a:lnTo>
                  <a:cubicBezTo>
                    <a:pt x="2027584" y="1965070"/>
                    <a:pt x="2022180" y="1978115"/>
                    <a:pt x="2012562" y="1987734"/>
                  </a:cubicBezTo>
                  <a:cubicBezTo>
                    <a:pt x="2002944" y="1997352"/>
                    <a:pt x="1989899" y="2002755"/>
                    <a:pt x="1976296" y="2002755"/>
                  </a:cubicBezTo>
                  <a:lnTo>
                    <a:pt x="51288" y="2002755"/>
                  </a:lnTo>
                  <a:cubicBezTo>
                    <a:pt x="37685" y="2002755"/>
                    <a:pt x="24640" y="1997352"/>
                    <a:pt x="15022" y="1987734"/>
                  </a:cubicBezTo>
                  <a:cubicBezTo>
                    <a:pt x="5404" y="1978115"/>
                    <a:pt x="0" y="1965070"/>
                    <a:pt x="0" y="1951468"/>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0"/>
            <p:cNvSpPr txBox="1"/>
            <p:nvPr/>
          </p:nvSpPr>
          <p:spPr>
            <a:xfrm>
              <a:off x="0" y="-19050"/>
              <a:ext cx="2027584" cy="202180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10"/>
          <p:cNvGrpSpPr/>
          <p:nvPr/>
        </p:nvGrpSpPr>
        <p:grpSpPr>
          <a:xfrm>
            <a:off x="1028700" y="4080200"/>
            <a:ext cx="8314132" cy="5473355"/>
            <a:chOff x="0" y="-19050"/>
            <a:chExt cx="2189730" cy="1441542"/>
          </a:xfrm>
        </p:grpSpPr>
        <p:sp>
          <p:nvSpPr>
            <p:cNvPr id="332" name="Google Shape;332;p10"/>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0"/>
          <p:cNvSpPr/>
          <p:nvPr/>
        </p:nvSpPr>
        <p:spPr>
          <a:xfrm>
            <a:off x="6589309" y="1126597"/>
            <a:ext cx="2255296" cy="2453029"/>
          </a:xfrm>
          <a:custGeom>
            <a:rect b="b" l="l" r="r" t="t"/>
            <a:pathLst>
              <a:path extrusionOk="0" h="2453029" w="2255296">
                <a:moveTo>
                  <a:pt x="0" y="0"/>
                </a:moveTo>
                <a:lnTo>
                  <a:pt x="2255296" y="0"/>
                </a:lnTo>
                <a:lnTo>
                  <a:pt x="2255296" y="2453029"/>
                </a:lnTo>
                <a:lnTo>
                  <a:pt x="0" y="2453029"/>
                </a:lnTo>
                <a:lnTo>
                  <a:pt x="0" y="0"/>
                </a:lnTo>
                <a:close/>
              </a:path>
            </a:pathLst>
          </a:custGeom>
          <a:blipFill rotWithShape="1">
            <a:blip r:embed="rId3">
              <a:alphaModFix/>
            </a:blip>
            <a:stretch>
              <a:fillRect b="0" l="0" r="0" t="0"/>
            </a:stretch>
          </a:blipFill>
          <a:ln>
            <a:noFill/>
          </a:ln>
        </p:spPr>
      </p:sp>
      <p:sp>
        <p:nvSpPr>
          <p:cNvPr id="335" name="Google Shape;335;p10"/>
          <p:cNvSpPr/>
          <p:nvPr/>
        </p:nvSpPr>
        <p:spPr>
          <a:xfrm>
            <a:off x="1419208" y="4453746"/>
            <a:ext cx="7312141" cy="4798593"/>
          </a:xfrm>
          <a:custGeom>
            <a:rect b="b" l="l" r="r" t="t"/>
            <a:pathLst>
              <a:path extrusionOk="0" h="4798593" w="7312141">
                <a:moveTo>
                  <a:pt x="0" y="0"/>
                </a:moveTo>
                <a:lnTo>
                  <a:pt x="7312141" y="0"/>
                </a:lnTo>
                <a:lnTo>
                  <a:pt x="7312141" y="4798593"/>
                </a:lnTo>
                <a:lnTo>
                  <a:pt x="0" y="4798593"/>
                </a:lnTo>
                <a:lnTo>
                  <a:pt x="0" y="0"/>
                </a:lnTo>
                <a:close/>
              </a:path>
            </a:pathLst>
          </a:custGeom>
          <a:blipFill rotWithShape="1">
            <a:blip r:embed="rId4">
              <a:alphaModFix/>
            </a:blip>
            <a:stretch>
              <a:fillRect b="0" l="0" r="0" t="0"/>
            </a:stretch>
          </a:blipFill>
          <a:ln>
            <a:noFill/>
          </a:ln>
        </p:spPr>
      </p:sp>
      <p:grpSp>
        <p:nvGrpSpPr>
          <p:cNvPr id="336" name="Google Shape;336;p10"/>
          <p:cNvGrpSpPr/>
          <p:nvPr/>
        </p:nvGrpSpPr>
        <p:grpSpPr>
          <a:xfrm>
            <a:off x="9560817" y="8481455"/>
            <a:ext cx="7698483" cy="1072100"/>
            <a:chOff x="0" y="-19050"/>
            <a:chExt cx="2027584" cy="282364"/>
          </a:xfrm>
        </p:grpSpPr>
        <p:sp>
          <p:nvSpPr>
            <p:cNvPr id="337" name="Google Shape;337;p10"/>
            <p:cNvSpPr/>
            <p:nvPr/>
          </p:nvSpPr>
          <p:spPr>
            <a:xfrm>
              <a:off x="0" y="0"/>
              <a:ext cx="2027584" cy="263314"/>
            </a:xfrm>
            <a:custGeom>
              <a:rect b="b" l="l" r="r" t="t"/>
              <a:pathLst>
                <a:path extrusionOk="0" h="263314" w="2027584">
                  <a:moveTo>
                    <a:pt x="51288" y="0"/>
                  </a:moveTo>
                  <a:lnTo>
                    <a:pt x="1976296" y="0"/>
                  </a:lnTo>
                  <a:cubicBezTo>
                    <a:pt x="2004622" y="0"/>
                    <a:pt x="2027584" y="22962"/>
                    <a:pt x="2027584" y="51288"/>
                  </a:cubicBezTo>
                  <a:lnTo>
                    <a:pt x="2027584" y="212026"/>
                  </a:lnTo>
                  <a:cubicBezTo>
                    <a:pt x="2027584" y="225628"/>
                    <a:pt x="2022180" y="238674"/>
                    <a:pt x="2012562" y="248292"/>
                  </a:cubicBezTo>
                  <a:cubicBezTo>
                    <a:pt x="2002944" y="257910"/>
                    <a:pt x="1989899" y="263314"/>
                    <a:pt x="1976296" y="263314"/>
                  </a:cubicBezTo>
                  <a:lnTo>
                    <a:pt x="51288" y="263314"/>
                  </a:lnTo>
                  <a:cubicBezTo>
                    <a:pt x="22962" y="263314"/>
                    <a:pt x="0" y="240351"/>
                    <a:pt x="0" y="212026"/>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0" y="-19050"/>
              <a:ext cx="2027584" cy="28236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0"/>
          <p:cNvSpPr/>
          <p:nvPr/>
        </p:nvSpPr>
        <p:spPr>
          <a:xfrm>
            <a:off x="10728683" y="8708443"/>
            <a:ext cx="5362751" cy="690454"/>
          </a:xfrm>
          <a:custGeom>
            <a:rect b="b" l="l" r="r" t="t"/>
            <a:pathLst>
              <a:path extrusionOk="0" h="690454" w="5362751">
                <a:moveTo>
                  <a:pt x="0" y="0"/>
                </a:moveTo>
                <a:lnTo>
                  <a:pt x="5362751" y="0"/>
                </a:lnTo>
                <a:lnTo>
                  <a:pt x="5362751" y="690454"/>
                </a:lnTo>
                <a:lnTo>
                  <a:pt x="0" y="690454"/>
                </a:lnTo>
                <a:lnTo>
                  <a:pt x="0" y="0"/>
                </a:lnTo>
                <a:close/>
              </a:path>
            </a:pathLst>
          </a:custGeom>
          <a:blipFill rotWithShape="1">
            <a:blip r:embed="rId5">
              <a:alphaModFix/>
            </a:blip>
            <a:stretch>
              <a:fillRect b="0" l="0" r="0" t="0"/>
            </a:stretch>
          </a:blipFill>
          <a:ln>
            <a:noFill/>
          </a:ln>
        </p:spPr>
      </p:sp>
      <p:sp>
        <p:nvSpPr>
          <p:cNvPr id="340" name="Google Shape;340;p10"/>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USUARIO</a:t>
            </a:r>
            <a:endParaRPr b="0" i="0" sz="1400" u="none" cap="none" strike="noStrike">
              <a:solidFill>
                <a:srgbClr val="000000"/>
              </a:solidFill>
              <a:latin typeface="Arial"/>
              <a:ea typeface="Arial"/>
              <a:cs typeface="Arial"/>
              <a:sym typeface="Arial"/>
            </a:endParaRPr>
          </a:p>
        </p:txBody>
      </p:sp>
      <p:sp>
        <p:nvSpPr>
          <p:cNvPr id="341" name="Google Shape;341;p10"/>
          <p:cNvSpPr txBox="1"/>
          <p:nvPr/>
        </p:nvSpPr>
        <p:spPr>
          <a:xfrm>
            <a:off x="10003277" y="1091946"/>
            <a:ext cx="6813562" cy="68681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hilo de nivel de usuario es un tipo de hilo que no se crea mediante llamadas al sistema. El kernel no interviene en la creacion ni gestión de estos hilos, si no que es el usuario quien se encarga de gestionarlos.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Estos suelen ser livianos porque se administran completamente en el espacio del usuario, sin involucrar al kernel. Esto significa que las operaciones de creación de hilos, cambio de contexto y sincronización pueden ser más rápidas en comparación con los subprocesos a nivel de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Al no estan vinculados con el kernel, estos hilos funcionan de manera consistente en diferentes sistemas operativos y plataformas.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5" name="Shape 345"/>
        <p:cNvGrpSpPr/>
        <p:nvPr/>
      </p:nvGrpSpPr>
      <p:grpSpPr>
        <a:xfrm>
          <a:off x="0" y="0"/>
          <a:ext cx="0" cy="0"/>
          <a:chOff x="0" y="0"/>
          <a:chExt cx="0" cy="0"/>
        </a:xfrm>
      </p:grpSpPr>
      <p:grpSp>
        <p:nvGrpSpPr>
          <p:cNvPr id="346" name="Google Shape;346;p11"/>
          <p:cNvGrpSpPr/>
          <p:nvPr/>
        </p:nvGrpSpPr>
        <p:grpSpPr>
          <a:xfrm>
            <a:off x="9560817" y="661115"/>
            <a:ext cx="7698483" cy="8892440"/>
            <a:chOff x="0" y="-19050"/>
            <a:chExt cx="2027584" cy="2342042"/>
          </a:xfrm>
        </p:grpSpPr>
        <p:sp>
          <p:nvSpPr>
            <p:cNvPr id="347" name="Google Shape;347;p11"/>
            <p:cNvSpPr/>
            <p:nvPr/>
          </p:nvSpPr>
          <p:spPr>
            <a:xfrm>
              <a:off x="0" y="0"/>
              <a:ext cx="2027584" cy="2322992"/>
            </a:xfrm>
            <a:custGeom>
              <a:rect b="b" l="l" r="r" t="t"/>
              <a:pathLst>
                <a:path extrusionOk="0" h="2322992" w="2027584">
                  <a:moveTo>
                    <a:pt x="51288" y="0"/>
                  </a:moveTo>
                  <a:lnTo>
                    <a:pt x="1976296" y="0"/>
                  </a:lnTo>
                  <a:cubicBezTo>
                    <a:pt x="2004622" y="0"/>
                    <a:pt x="2027584" y="22962"/>
                    <a:pt x="2027584" y="51288"/>
                  </a:cubicBezTo>
                  <a:lnTo>
                    <a:pt x="2027584" y="2271704"/>
                  </a:lnTo>
                  <a:cubicBezTo>
                    <a:pt x="2027584" y="2285306"/>
                    <a:pt x="2022180" y="2298352"/>
                    <a:pt x="2012562" y="2307970"/>
                  </a:cubicBezTo>
                  <a:cubicBezTo>
                    <a:pt x="2002944" y="2317588"/>
                    <a:pt x="1989899" y="2322992"/>
                    <a:pt x="1976296" y="2322992"/>
                  </a:cubicBezTo>
                  <a:lnTo>
                    <a:pt x="51288" y="2322992"/>
                  </a:lnTo>
                  <a:cubicBezTo>
                    <a:pt x="37685" y="2322992"/>
                    <a:pt x="24640" y="2317588"/>
                    <a:pt x="15022" y="2307970"/>
                  </a:cubicBezTo>
                  <a:cubicBezTo>
                    <a:pt x="5404" y="2298352"/>
                    <a:pt x="0" y="2285306"/>
                    <a:pt x="0" y="2271704"/>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1"/>
            <p:cNvSpPr txBox="1"/>
            <p:nvPr/>
          </p:nvSpPr>
          <p:spPr>
            <a:xfrm>
              <a:off x="0" y="-19050"/>
              <a:ext cx="2027584" cy="2342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11"/>
          <p:cNvGrpSpPr/>
          <p:nvPr/>
        </p:nvGrpSpPr>
        <p:grpSpPr>
          <a:xfrm>
            <a:off x="1028700" y="4080200"/>
            <a:ext cx="8314132" cy="5473355"/>
            <a:chOff x="0" y="-19050"/>
            <a:chExt cx="2189730" cy="1441542"/>
          </a:xfrm>
        </p:grpSpPr>
        <p:sp>
          <p:nvSpPr>
            <p:cNvPr id="350" name="Google Shape;350;p11"/>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1"/>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11"/>
          <p:cNvSpPr/>
          <p:nvPr/>
        </p:nvSpPr>
        <p:spPr>
          <a:xfrm>
            <a:off x="6222007" y="1098441"/>
            <a:ext cx="2509342" cy="2509342"/>
          </a:xfrm>
          <a:custGeom>
            <a:rect b="b" l="l" r="r" t="t"/>
            <a:pathLst>
              <a:path extrusionOk="0" h="2509342" w="2509342">
                <a:moveTo>
                  <a:pt x="0" y="0"/>
                </a:moveTo>
                <a:lnTo>
                  <a:pt x="2509342" y="0"/>
                </a:lnTo>
                <a:lnTo>
                  <a:pt x="2509342" y="2509342"/>
                </a:lnTo>
                <a:lnTo>
                  <a:pt x="0" y="2509342"/>
                </a:lnTo>
                <a:lnTo>
                  <a:pt x="0" y="0"/>
                </a:lnTo>
                <a:close/>
              </a:path>
            </a:pathLst>
          </a:custGeom>
          <a:blipFill rotWithShape="1">
            <a:blip r:embed="rId3">
              <a:alphaModFix/>
            </a:blip>
            <a:stretch>
              <a:fillRect b="0" l="0" r="0" t="0"/>
            </a:stretch>
          </a:blipFill>
          <a:ln>
            <a:noFill/>
          </a:ln>
        </p:spPr>
      </p:sp>
      <p:sp>
        <p:nvSpPr>
          <p:cNvPr id="353" name="Google Shape;353;p11"/>
          <p:cNvSpPr/>
          <p:nvPr/>
        </p:nvSpPr>
        <p:spPr>
          <a:xfrm>
            <a:off x="1991792" y="4525434"/>
            <a:ext cx="6387949" cy="4655218"/>
          </a:xfrm>
          <a:custGeom>
            <a:rect b="b" l="l" r="r" t="t"/>
            <a:pathLst>
              <a:path extrusionOk="0" h="4655218" w="6387949">
                <a:moveTo>
                  <a:pt x="0" y="0"/>
                </a:moveTo>
                <a:lnTo>
                  <a:pt x="6387949" y="0"/>
                </a:lnTo>
                <a:lnTo>
                  <a:pt x="6387949" y="4655217"/>
                </a:lnTo>
                <a:lnTo>
                  <a:pt x="0" y="4655217"/>
                </a:lnTo>
                <a:lnTo>
                  <a:pt x="0" y="0"/>
                </a:lnTo>
                <a:close/>
              </a:path>
            </a:pathLst>
          </a:custGeom>
          <a:blipFill rotWithShape="1">
            <a:blip r:embed="rId4">
              <a:alphaModFix/>
            </a:blip>
            <a:stretch>
              <a:fillRect b="0" l="0" r="0" t="0"/>
            </a:stretch>
          </a:blipFill>
          <a:ln>
            <a:noFill/>
          </a:ln>
        </p:spPr>
      </p:sp>
      <p:sp>
        <p:nvSpPr>
          <p:cNvPr id="354" name="Google Shape;354;p11"/>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KERNEL</a:t>
            </a:r>
            <a:endParaRPr b="0" i="0" sz="1400" u="none" cap="none" strike="noStrike">
              <a:solidFill>
                <a:srgbClr val="000000"/>
              </a:solidFill>
              <a:latin typeface="Arial"/>
              <a:ea typeface="Arial"/>
              <a:cs typeface="Arial"/>
              <a:sym typeface="Arial"/>
            </a:endParaRPr>
          </a:p>
        </p:txBody>
      </p:sp>
      <p:sp>
        <p:nvSpPr>
          <p:cNvPr id="355" name="Google Shape;355;p11"/>
          <p:cNvSpPr txBox="1"/>
          <p:nvPr/>
        </p:nvSpPr>
        <p:spPr>
          <a:xfrm>
            <a:off x="10071750" y="1018525"/>
            <a:ext cx="6676500" cy="825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 diferencia de los hilos a nivel de usuario que se administran completamente en el espacio del usuario mediante una biblioteca de hilos o un entorno de ejecución, los hilos a nivel de kernel son visibles y administrados por el propio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hilos a nivel de kernel son compatibles directamente con el kernel del sistema operativo, que proporciona scheduling, cambio de contexto y otras funcionalidades de gestión de subprocesos por medio de llamadas de sistema.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Sin embargo, pueden generar una mayor sobrecarga en comparación con los hilos a nivel de usuario y requieren consideraciones específicas de la plataforma con respecto a la portabilidad y la compatibilidad.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5d01a13495_0_2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61" name="Google Shape;361;g35d01a13495_0_2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62" name="Google Shape;362;g35d01a13495_0_2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63" name="Google Shape;363;g35d01a13495_0_2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Ejecución Concurrente, Paralela + Hilos</a:t>
            </a:r>
            <a:endParaRPr b="0" i="0" sz="8600" u="none" cap="none" strike="noStrike">
              <a:solidFill>
                <a:srgbClr val="FFFFFF"/>
              </a:solidFill>
              <a:latin typeface="Arial"/>
              <a:ea typeface="Arial"/>
              <a:cs typeface="Arial"/>
              <a:sym typeface="Arial"/>
            </a:endParaRPr>
          </a:p>
        </p:txBody>
      </p:sp>
      <p:pic>
        <p:nvPicPr>
          <p:cNvPr id="364" name="Google Shape;364;g35d01a13495_0_2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65" name="Google Shape;365;g35d01a13495_0_2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66" name="Google Shape;366;g35d01a13495_0_2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g35c8c16e50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2" name="Google Shape;372;g35c8c16e50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73" name="Google Shape;373;g35c8c16e50e_0_0"/>
          <p:cNvGrpSpPr/>
          <p:nvPr/>
        </p:nvGrpSpPr>
        <p:grpSpPr>
          <a:xfrm>
            <a:off x="2695525" y="2304374"/>
            <a:ext cx="12896949" cy="6162134"/>
            <a:chOff x="0" y="-19050"/>
            <a:chExt cx="1956900" cy="2395201"/>
          </a:xfrm>
        </p:grpSpPr>
        <p:sp>
          <p:nvSpPr>
            <p:cNvPr id="374" name="Google Shape;374;g35c8c16e50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g35c8c16e50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6" name="Google Shape;376;g35c8c16e50e_0_0"/>
          <p:cNvSpPr txBox="1"/>
          <p:nvPr/>
        </p:nvSpPr>
        <p:spPr>
          <a:xfrm>
            <a:off x="3032850" y="2891838"/>
            <a:ext cx="12222300" cy="5787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Hilos (Threads)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hilo es la unidad más pequeña de ejecución dentro de un proceso, compartiendo recursos como memoria y archivos abiertos, lo que permite realizar múltiples tareas simultáneamente dentro de una aplicación. </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Concurrencia vs. Paralelismo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 concurrencia permite que múltiples tareas progresen al mismo tiempo mediante la intercalación de su ejecución, mientras que el paralelismo implica la ejecución simultánea de tareas en múltiples núcleos o procesadores.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Hilos: Nivel de Usuario y Nivel de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Los hilos de nivel de usuario son gestionados por bibliotecas en espacio de usuario y son más rápidos de crear, pero menos eficientes en sistemas multiprocesador; los hilos de nivel de kernel son gestionados por el sistema operativo, permitiendo una mejor utilización de múltiples núcleos, aunque con mayor sobrecarga.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0" name="Shape 380"/>
        <p:cNvGrpSpPr/>
        <p:nvPr/>
      </p:nvGrpSpPr>
      <p:grpSpPr>
        <a:xfrm>
          <a:off x="0" y="0"/>
          <a:ext cx="0" cy="0"/>
          <a:chOff x="0" y="0"/>
          <a:chExt cx="0" cy="0"/>
        </a:xfrm>
      </p:grpSpPr>
      <p:sp>
        <p:nvSpPr>
          <p:cNvPr id="381" name="Google Shape;381;g35d01a13495_0_3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82" name="Google Shape;382;g35d01a13495_0_3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83" name="Google Shape;383;g35d01a13495_0_301"/>
          <p:cNvGrpSpPr/>
          <p:nvPr/>
        </p:nvGrpSpPr>
        <p:grpSpPr>
          <a:xfrm>
            <a:off x="2613274" y="3052875"/>
            <a:ext cx="13701822" cy="4860102"/>
            <a:chOff x="0" y="-19050"/>
            <a:chExt cx="1956900" cy="2395201"/>
          </a:xfrm>
        </p:grpSpPr>
        <p:sp>
          <p:nvSpPr>
            <p:cNvPr id="384" name="Google Shape;384;g35d01a13495_0_3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5d01a13495_0_3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6" name="Google Shape;386;g35d01a13495_0_301"/>
          <p:cNvSpPr txBox="1"/>
          <p:nvPr/>
        </p:nvSpPr>
        <p:spPr>
          <a:xfrm>
            <a:off x="3106888"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Disciplina: </a:t>
            </a:r>
            <a:r>
              <a:rPr b="0" i="0" lang="en-US" sz="3200" u="none" cap="none" strike="noStrike">
                <a:solidFill>
                  <a:schemeClr val="lt1"/>
                </a:solidFill>
                <a:latin typeface="Arial"/>
                <a:ea typeface="Arial"/>
                <a:cs typeface="Arial"/>
                <a:sym typeface="Arial"/>
              </a:rPr>
              <a:t>Al</a:t>
            </a:r>
            <a:r>
              <a:rPr b="1" i="0" lang="en-US" sz="3200" u="none" cap="none" strike="noStrike">
                <a:solidFill>
                  <a:schemeClr val="lt1"/>
                </a:solidFill>
                <a:latin typeface="Arial"/>
                <a:ea typeface="Arial"/>
                <a:cs typeface="Arial"/>
                <a:sym typeface="Arial"/>
              </a:rPr>
              <a:t> </a:t>
            </a:r>
            <a:r>
              <a:rPr b="0" i="0" lang="en-US" sz="3200" u="none" cap="none" strike="noStrike">
                <a:solidFill>
                  <a:schemeClr val="lt1"/>
                </a:solidFill>
                <a:latin typeface="Arial"/>
                <a:ea typeface="Arial"/>
                <a:cs typeface="Arial"/>
                <a:sym typeface="Arial"/>
              </a:rPr>
              <a:t>trabajar con hilos y estructuras concurrentes, se cultiva la disciplina que lleva a un pensamiento ordenado, que es fundamental para el diseño de sistemas.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0" name="Shape 390"/>
        <p:cNvGrpSpPr/>
        <p:nvPr/>
      </p:nvGrpSpPr>
      <p:grpSpPr>
        <a:xfrm>
          <a:off x="0" y="0"/>
          <a:ext cx="0" cy="0"/>
          <a:chOff x="0" y="0"/>
          <a:chExt cx="0" cy="0"/>
        </a:xfrm>
      </p:grpSpPr>
      <p:sp>
        <p:nvSpPr>
          <p:cNvPr id="391" name="Google Shape;391;g35c8c16e50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92" name="Google Shape;392;g35c8c16e50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93" name="Google Shape;393;g35c8c16e50e_0_9"/>
          <p:cNvGrpSpPr/>
          <p:nvPr/>
        </p:nvGrpSpPr>
        <p:grpSpPr>
          <a:xfrm>
            <a:off x="2695525" y="2304374"/>
            <a:ext cx="12896949" cy="6162134"/>
            <a:chOff x="0" y="-19050"/>
            <a:chExt cx="1956900" cy="2395201"/>
          </a:xfrm>
        </p:grpSpPr>
        <p:sp>
          <p:nvSpPr>
            <p:cNvPr id="394" name="Google Shape;394;g35c8c16e50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5c8c16e50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g35c8c16e50e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Thread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https://www.geeksforgeeks.org/thread-in-operating-system</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Concurrency vs Parallelism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https://www.geeksforgeeks.org/difference-between-concurrency-and-parallelism</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02" name="Google Shape;402;p15"/>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03" name="Google Shape;403;p15"/>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04" name="Google Shape;404;p15"/>
          <p:cNvGrpSpPr/>
          <p:nvPr/>
        </p:nvGrpSpPr>
        <p:grpSpPr>
          <a:xfrm>
            <a:off x="6725937" y="6354796"/>
            <a:ext cx="4836125" cy="1241011"/>
            <a:chOff x="0" y="-19050"/>
            <a:chExt cx="1273712" cy="326851"/>
          </a:xfrm>
        </p:grpSpPr>
        <p:sp>
          <p:nvSpPr>
            <p:cNvPr id="405" name="Google Shape;405;p15"/>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5"/>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15"/>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08" name="Google Shape;408;p15"/>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