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10287000" cx="18288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i72tjm7dGzKK0ZtkU9HiQAG+om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AEE0E2-EB2A-49A7-AA53-DEF181B2863E}">
  <a:tblStyle styleId="{02AEE0E2-EB2A-49A7-AA53-DEF181B2863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OpenSans-bold.fntdata"/><Relationship Id="rId21" Type="http://schemas.openxmlformats.org/officeDocument/2006/relationships/font" Target="fonts/OpenSans-regular.fntdata"/><Relationship Id="rId24" Type="http://schemas.openxmlformats.org/officeDocument/2006/relationships/font" Target="fonts/OpenSans-boldItalic.fntdata"/><Relationship Id="rId23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0.xml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0a0385c4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70a0385c4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c3cb9688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5c3cb96888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c3cb96888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5c3cb96888_0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c3cb96888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35c3cb96888_0_1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c3cb96888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5c3cb96888_0_2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c3cb96888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5c3cb96888_0_3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c3cb96888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g35c3cb96888_0_3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c3cb96888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5c3cb96888_0_3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c3cb96888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35c3cb96888_0_3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70a0385c46_0_88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3" name="Google Shape;13;g370a0385c46_0_88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4" name="Google Shape;14;g370a0385c46_0_8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Relationship Id="rId4" Type="http://schemas.openxmlformats.org/officeDocument/2006/relationships/image" Target="../media/image16.png"/><Relationship Id="rId5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70a0385c46_0_2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g370a0385c46_0_2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{02AEE0E2-EB2A-49A7-AA53-DEF181B2863E}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DIA, DD/MM/2026</a:t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00:00</a:t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90" name="Google Shape;90;g370a0385c46_0_2"/>
          <p:cNvSpPr txBox="1"/>
          <p:nvPr/>
        </p:nvSpPr>
        <p:spPr>
          <a:xfrm>
            <a:off x="2880350" y="4516600"/>
            <a:ext cx="135840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Operativos 2 [A]</a:t>
            </a:r>
            <a:endParaRPr b="1" i="0" sz="5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70a0385c46_0_2"/>
          <p:cNvSpPr txBox="1"/>
          <p:nvPr/>
        </p:nvSpPr>
        <p:spPr>
          <a:xfrm>
            <a:off x="3557400" y="5801500"/>
            <a:ext cx="11173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NOMBRE_ESTUDIANTE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A33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"/>
          <p:cNvSpPr/>
          <p:nvPr/>
        </p:nvSpPr>
        <p:spPr>
          <a:xfrm rot="1574698">
            <a:off x="13952973" y="5983878"/>
            <a:ext cx="5913343" cy="5868994"/>
          </a:xfrm>
          <a:custGeom>
            <a:rect b="b" l="l" r="r" t="t"/>
            <a:pathLst>
              <a:path extrusionOk="0" h="5865146" w="5909466">
                <a:moveTo>
                  <a:pt x="0" y="0"/>
                </a:moveTo>
                <a:lnTo>
                  <a:pt x="5909467" y="0"/>
                </a:lnTo>
                <a:lnTo>
                  <a:pt x="5909467" y="5865146"/>
                </a:lnTo>
                <a:lnTo>
                  <a:pt x="0" y="58651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1"/>
          <p:cNvSpPr/>
          <p:nvPr/>
        </p:nvSpPr>
        <p:spPr>
          <a:xfrm rot="-9060061">
            <a:off x="-1778531" y="-1773691"/>
            <a:ext cx="5911977" cy="5867638"/>
          </a:xfrm>
          <a:custGeom>
            <a:rect b="b" l="l" r="r" t="t"/>
            <a:pathLst>
              <a:path extrusionOk="0" h="5865146" w="5909466">
                <a:moveTo>
                  <a:pt x="0" y="0"/>
                </a:moveTo>
                <a:lnTo>
                  <a:pt x="5909466" y="0"/>
                </a:lnTo>
                <a:lnTo>
                  <a:pt x="5909466" y="5865146"/>
                </a:lnTo>
                <a:lnTo>
                  <a:pt x="0" y="58651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"/>
          <p:cNvSpPr/>
          <p:nvPr/>
        </p:nvSpPr>
        <p:spPr>
          <a:xfrm>
            <a:off x="14405107" y="0"/>
            <a:ext cx="3898945" cy="1161388"/>
          </a:xfrm>
          <a:custGeom>
            <a:rect b="b" l="l" r="r" t="t"/>
            <a:pathLst>
              <a:path extrusionOk="0" h="1161388" w="3898945">
                <a:moveTo>
                  <a:pt x="0" y="0"/>
                </a:moveTo>
                <a:lnTo>
                  <a:pt x="3898945" y="0"/>
                </a:lnTo>
                <a:lnTo>
                  <a:pt x="3898945" y="1161388"/>
                </a:lnTo>
                <a:lnTo>
                  <a:pt x="0" y="11613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1"/>
          <p:cNvSpPr txBox="1"/>
          <p:nvPr/>
        </p:nvSpPr>
        <p:spPr>
          <a:xfrm>
            <a:off x="1028700" y="7876900"/>
            <a:ext cx="801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1028700" y="8740489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028700" y="9165288"/>
            <a:ext cx="3525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3601920" y="4217247"/>
            <a:ext cx="11280600" cy="25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33"/>
              <a:buFont typeface="Arial"/>
              <a:buNone/>
            </a:pPr>
            <a:r>
              <a:rPr b="0" i="0" lang="en-US" sz="793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SISTEMAS OPERATIVOS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35c3cb96888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" y="0"/>
            <a:ext cx="18288000" cy="102869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" name="Google Shape;110;g35c3cb96888_0_10"/>
          <p:cNvGrpSpPr/>
          <p:nvPr/>
        </p:nvGrpSpPr>
        <p:grpSpPr>
          <a:xfrm>
            <a:off x="9975044" y="2453203"/>
            <a:ext cx="7764346" cy="662374"/>
            <a:chOff x="3095445" y="-87910"/>
            <a:chExt cx="5099400" cy="435000"/>
          </a:xfrm>
        </p:grpSpPr>
        <p:sp>
          <p:nvSpPr>
            <p:cNvPr id="111" name="Google Shape;111;g35c3cb96888_0_10"/>
            <p:cNvSpPr/>
            <p:nvPr/>
          </p:nvSpPr>
          <p:spPr>
            <a:xfrm>
              <a:off x="3095511" y="-73611"/>
              <a:ext cx="5099278" cy="406400"/>
            </a:xfrm>
            <a:custGeom>
              <a:rect b="b" l="l" r="r" t="t"/>
              <a:pathLst>
                <a:path extrusionOk="0" h="406400" w="5099278">
                  <a:moveTo>
                    <a:pt x="4896078" y="0"/>
                  </a:moveTo>
                  <a:cubicBezTo>
                    <a:pt x="5008302" y="0"/>
                    <a:pt x="5099278" y="90976"/>
                    <a:pt x="5099278" y="203200"/>
                  </a:cubicBezTo>
                  <a:cubicBezTo>
                    <a:pt x="5099278" y="315424"/>
                    <a:pt x="5008302" y="406400"/>
                    <a:pt x="489607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7D3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35c3cb96888_0_10"/>
            <p:cNvSpPr txBox="1"/>
            <p:nvPr/>
          </p:nvSpPr>
          <p:spPr>
            <a:xfrm>
              <a:off x="3095445" y="-87910"/>
              <a:ext cx="5099400" cy="4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997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25"/>
                <a:buFont typeface="Arial"/>
                <a:buNone/>
              </a:pPr>
              <a:r>
                <a:rPr b="1" i="0" lang="en-US" sz="2325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Anuncios Importantes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3" name="Google Shape;113;g35c3cb96888_0_10"/>
          <p:cNvPicPr preferRelativeResize="0"/>
          <p:nvPr/>
        </p:nvPicPr>
        <p:blipFill rotWithShape="1">
          <a:blip r:embed="rId4">
            <a:alphaModFix/>
          </a:blip>
          <a:srcRect b="-138" l="-3870" r="3869" t="140"/>
          <a:stretch/>
        </p:blipFill>
        <p:spPr>
          <a:xfrm rot="-1769370">
            <a:off x="2487697" y="2265794"/>
            <a:ext cx="3499333" cy="3372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5c3cb96888_0_10"/>
          <p:cNvSpPr txBox="1"/>
          <p:nvPr/>
        </p:nvSpPr>
        <p:spPr>
          <a:xfrm>
            <a:off x="7327600" y="3550913"/>
            <a:ext cx="10411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Tema 1</a:t>
            </a:r>
            <a:endParaRPr b="0" i="0" sz="4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Tema 2</a:t>
            </a:r>
            <a:endParaRPr b="0" i="0" sz="4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Tema 3</a:t>
            </a:r>
            <a:endParaRPr b="0" i="0" sz="4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g35c3cb96888_0_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58437" y="-2602448"/>
            <a:ext cx="20604868" cy="1288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5c3cb96888_0_98"/>
          <p:cNvSpPr txBox="1"/>
          <p:nvPr/>
        </p:nvSpPr>
        <p:spPr>
          <a:xfrm>
            <a:off x="6730250" y="3428988"/>
            <a:ext cx="104118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AutoNum type="arabicPeriod"/>
            </a:pPr>
            <a:r>
              <a:rPr b="0" i="0" lang="en-US" sz="4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Conociendo al Auxiliar</a:t>
            </a:r>
            <a:endParaRPr b="0" i="0" sz="4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AutoNum type="arabicPeriod"/>
            </a:pPr>
            <a:r>
              <a:rPr b="0" i="0" lang="en-US" sz="4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¿Quienes son tus compañeros?</a:t>
            </a:r>
            <a:endParaRPr b="0" i="0" sz="4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AutoNum type="arabicPeriod"/>
            </a:pPr>
            <a:r>
              <a:rPr b="0" i="0" lang="en-US" sz="4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Evaluación de Conocimientos Previos</a:t>
            </a:r>
            <a:endParaRPr b="0" i="0" sz="4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AutoNum type="arabicPeriod"/>
            </a:pPr>
            <a:r>
              <a:rPr b="0" i="0" lang="en-US" sz="4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Lectura del Programa</a:t>
            </a:r>
            <a:endParaRPr b="0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AutoNum type="arabicPeriod"/>
            </a:pPr>
            <a:r>
              <a:rPr b="0" i="0" lang="en-US" sz="4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Evaluación de Conocimientos Nuevos</a:t>
            </a:r>
            <a:endParaRPr b="0" i="0" sz="4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" name="Google Shape;121;g35c3cb96888_0_98"/>
          <p:cNvGrpSpPr/>
          <p:nvPr/>
        </p:nvGrpSpPr>
        <p:grpSpPr>
          <a:xfrm>
            <a:off x="5261819" y="1886650"/>
            <a:ext cx="7764346" cy="662377"/>
            <a:chOff x="5261919" y="2543550"/>
            <a:chExt cx="7764346" cy="662377"/>
          </a:xfrm>
        </p:grpSpPr>
        <p:grpSp>
          <p:nvGrpSpPr>
            <p:cNvPr id="122" name="Google Shape;122;g35c3cb96888_0_98"/>
            <p:cNvGrpSpPr/>
            <p:nvPr/>
          </p:nvGrpSpPr>
          <p:grpSpPr>
            <a:xfrm>
              <a:off x="5261919" y="2543553"/>
              <a:ext cx="7764346" cy="662374"/>
              <a:chOff x="0" y="-28575"/>
              <a:chExt cx="5099400" cy="435000"/>
            </a:xfrm>
          </p:grpSpPr>
          <p:sp>
            <p:nvSpPr>
              <p:cNvPr id="123" name="Google Shape;123;g35c3cb96888_0_98"/>
              <p:cNvSpPr/>
              <p:nvPr/>
            </p:nvSpPr>
            <p:spPr>
              <a:xfrm>
                <a:off x="0" y="0"/>
                <a:ext cx="5099278" cy="406400"/>
              </a:xfrm>
              <a:custGeom>
                <a:rect b="b" l="l" r="r" t="t"/>
                <a:pathLst>
                  <a:path extrusionOk="0" h="406400" w="5099278">
                    <a:moveTo>
                      <a:pt x="4896078" y="0"/>
                    </a:moveTo>
                    <a:cubicBezTo>
                      <a:pt x="5008302" y="0"/>
                      <a:pt x="5099278" y="90976"/>
                      <a:pt x="5099278" y="203200"/>
                    </a:cubicBezTo>
                    <a:cubicBezTo>
                      <a:pt x="5099278" y="315424"/>
                      <a:pt x="5008302" y="406400"/>
                      <a:pt x="4896078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7D3C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g35c3cb96888_0_98"/>
              <p:cNvSpPr txBox="1"/>
              <p:nvPr/>
            </p:nvSpPr>
            <p:spPr>
              <a:xfrm>
                <a:off x="0" y="-28575"/>
                <a:ext cx="5099400" cy="43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997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325"/>
                  <a:buFont typeface="Arial"/>
                  <a:buNone/>
                </a:pPr>
                <a:r>
                  <a:rPr b="1" i="0" lang="en-US" sz="2325" u="none" cap="none" strike="noStrike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AGENDA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5" name="Google Shape;125;g35c3cb96888_0_9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758125" y="2543550"/>
              <a:ext cx="662374" cy="66237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6" name="Google Shape;126;g35c3cb96888_0_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64525" y="3317240"/>
            <a:ext cx="3652525" cy="36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A33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c3cb96888_0_188"/>
          <p:cNvSpPr txBox="1"/>
          <p:nvPr/>
        </p:nvSpPr>
        <p:spPr>
          <a:xfrm>
            <a:off x="4063423" y="3799950"/>
            <a:ext cx="11906100" cy="26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9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¿Quien Soy?</a:t>
            </a:r>
            <a:endParaRPr b="0" i="0" sz="5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5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Conociendo al auxiliar</a:t>
            </a:r>
            <a:endParaRPr b="0" i="0" sz="5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g35c3cb96888_0_1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375" y="2705100"/>
            <a:ext cx="48768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5c3cb96888_0_188"/>
          <p:cNvSpPr/>
          <p:nvPr/>
        </p:nvSpPr>
        <p:spPr>
          <a:xfrm>
            <a:off x="18838145" y="59991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g35c3cb96888_0_188"/>
          <p:cNvSpPr txBox="1"/>
          <p:nvPr/>
        </p:nvSpPr>
        <p:spPr>
          <a:xfrm>
            <a:off x="19437161" y="6765736"/>
            <a:ext cx="3428400" cy="4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Saludo inicial y presentación personal.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dar una breve descripción de su experiencia ácademica y profesional.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Explicación del rol del auxiliar dentro del curso.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t/>
            </a:r>
            <a:endParaRPr b="0" i="0" sz="2241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g35c3cb96888_0_188"/>
          <p:cNvSpPr txBox="1"/>
          <p:nvPr/>
        </p:nvSpPr>
        <p:spPr>
          <a:xfrm>
            <a:off x="18836782" y="10659275"/>
            <a:ext cx="50796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10 minutos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A33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c3cb96888_0_289"/>
          <p:cNvSpPr/>
          <p:nvPr/>
        </p:nvSpPr>
        <p:spPr>
          <a:xfrm>
            <a:off x="-971091" y="-3530240"/>
            <a:ext cx="21344773" cy="17347479"/>
          </a:xfrm>
          <a:custGeom>
            <a:rect b="b" l="l" r="r" t="t"/>
            <a:pathLst>
              <a:path extrusionOk="0" h="17347479" w="21344773">
                <a:moveTo>
                  <a:pt x="0" y="0"/>
                </a:moveTo>
                <a:lnTo>
                  <a:pt x="21344774" y="0"/>
                </a:lnTo>
                <a:lnTo>
                  <a:pt x="21344774" y="17347480"/>
                </a:lnTo>
                <a:lnTo>
                  <a:pt x="0" y="173474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g35c3cb96888_0_289"/>
          <p:cNvSpPr txBox="1"/>
          <p:nvPr/>
        </p:nvSpPr>
        <p:spPr>
          <a:xfrm>
            <a:off x="5940125" y="3628200"/>
            <a:ext cx="10944900" cy="39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8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¿Quienes son tus compañeros de curso?</a:t>
            </a:r>
            <a:endParaRPr b="0" i="0" sz="4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5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5c3cb96888_0_289"/>
          <p:cNvSpPr/>
          <p:nvPr/>
        </p:nvSpPr>
        <p:spPr>
          <a:xfrm>
            <a:off x="18609972" y="5916594"/>
            <a:ext cx="4815461" cy="4762929"/>
          </a:xfrm>
          <a:custGeom>
            <a:rect b="b" l="l" r="r" t="t"/>
            <a:pathLst>
              <a:path extrusionOk="0" h="4762929" w="4815461">
                <a:moveTo>
                  <a:pt x="0" y="0"/>
                </a:moveTo>
                <a:lnTo>
                  <a:pt x="4815461" y="0"/>
                </a:lnTo>
                <a:lnTo>
                  <a:pt x="4815461" y="4762929"/>
                </a:lnTo>
                <a:lnTo>
                  <a:pt x="0" y="47629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g35c3cb96888_0_289"/>
          <p:cNvSpPr txBox="1"/>
          <p:nvPr/>
        </p:nvSpPr>
        <p:spPr>
          <a:xfrm>
            <a:off x="19113550" y="6818853"/>
            <a:ext cx="3808200" cy="3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7"/>
              <a:buFont typeface="Arial"/>
              <a:buNone/>
            </a:pPr>
            <a:r>
              <a:rPr b="0" i="0" lang="en-US" sz="1637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¡Es tu turno! Conociendo a algunos compañeros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7"/>
              <a:buFont typeface="Arial"/>
              <a:buNone/>
            </a:pPr>
            <a:r>
              <a:rPr b="0" i="0" lang="en-US" sz="1637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Para fomentar un ambiente dinámico y participativo, cinco estudiantes serán seleccionados al azar para presentarse ante la clase.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7"/>
              <a:buFont typeface="Arial"/>
              <a:buNone/>
            </a:pPr>
            <a:r>
              <a:rPr b="0" i="0" lang="en-US" sz="1637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Cada estudiante deberá compartir: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2390" lvl="1" marL="33208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38"/>
              <a:buFont typeface="Arial"/>
              <a:buChar char="•"/>
            </a:pPr>
            <a:r>
              <a:rPr b="0" i="0" lang="en-US" sz="1637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Nombre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2390" lvl="1" marL="33208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38"/>
              <a:buFont typeface="Arial"/>
              <a:buChar char="•"/>
            </a:pPr>
            <a:r>
              <a:rPr b="0" i="0" lang="en-US" sz="1637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Intereses o expectativas sobre el curso.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2390" lvl="1" marL="33208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38"/>
              <a:buFont typeface="Arial"/>
              <a:buChar char="•"/>
            </a:pPr>
            <a:r>
              <a:rPr b="0" i="0" lang="en-US" sz="1637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Experiencia previa relacionada con el tema (si aplica).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2390" lvl="1" marL="33208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38"/>
              <a:buFont typeface="Arial"/>
              <a:buChar char="•"/>
            </a:pPr>
            <a:r>
              <a:rPr b="0" i="0" lang="en-US" sz="1637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Un dato curioso sobre sí mismo.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8"/>
              <a:buFont typeface="Arial"/>
              <a:buNone/>
            </a:pPr>
            <a:r>
              <a:t/>
            </a:r>
            <a:endParaRPr b="0" i="0" sz="1538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4" name="Google Shape;144;g35c3cb96888_0_28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9150" y="2705100"/>
            <a:ext cx="48768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5c3cb96888_0_289"/>
          <p:cNvSpPr txBox="1"/>
          <p:nvPr/>
        </p:nvSpPr>
        <p:spPr>
          <a:xfrm>
            <a:off x="18609905" y="10812225"/>
            <a:ext cx="48156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25 minutos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A33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c3cb96888_0_305"/>
          <p:cNvSpPr/>
          <p:nvPr/>
        </p:nvSpPr>
        <p:spPr>
          <a:xfrm>
            <a:off x="-971091" y="-3530240"/>
            <a:ext cx="21344773" cy="17347479"/>
          </a:xfrm>
          <a:custGeom>
            <a:rect b="b" l="l" r="r" t="t"/>
            <a:pathLst>
              <a:path extrusionOk="0" h="17347479" w="21344773">
                <a:moveTo>
                  <a:pt x="0" y="0"/>
                </a:moveTo>
                <a:lnTo>
                  <a:pt x="21344774" y="0"/>
                </a:lnTo>
                <a:lnTo>
                  <a:pt x="21344774" y="17347480"/>
                </a:lnTo>
                <a:lnTo>
                  <a:pt x="0" y="173474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g35c3cb96888_0_305"/>
          <p:cNvSpPr txBox="1"/>
          <p:nvPr/>
        </p:nvSpPr>
        <p:spPr>
          <a:xfrm>
            <a:off x="5472525" y="3166650"/>
            <a:ext cx="10944900" cy="39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8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Evaluación de Conocimientos Previos</a:t>
            </a:r>
            <a:endParaRPr b="0" i="0" sz="4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5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g35c3cb96888_0_3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000" y="2705100"/>
            <a:ext cx="48768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5c3cb96888_0_305"/>
          <p:cNvSpPr/>
          <p:nvPr/>
        </p:nvSpPr>
        <p:spPr>
          <a:xfrm>
            <a:off x="18971695" y="6556046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g35c3cb96888_0_305"/>
          <p:cNvSpPr txBox="1"/>
          <p:nvPr/>
        </p:nvSpPr>
        <p:spPr>
          <a:xfrm>
            <a:off x="19545564" y="7042593"/>
            <a:ext cx="3238200" cy="40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4"/>
              <a:buFont typeface="Arial"/>
              <a:buNone/>
            </a:pPr>
            <a:r>
              <a:rPr b="0" i="0" lang="en-US" sz="19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📌 Objetivos de la actividad: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4"/>
              <a:buFont typeface="Arial"/>
              <a:buNone/>
            </a:pPr>
            <a:r>
              <a:rPr b="0" i="0" lang="en-US" sz="19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Identificar cuánto recuerdan del curso anterior.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4"/>
              <a:buFont typeface="Arial"/>
              <a:buNone/>
            </a:pPr>
            <a:r>
              <a:rPr b="0" i="0" lang="en-US" sz="19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Explorar conocimientos previos sobre el nuevo curso.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4"/>
              <a:buFont typeface="Arial"/>
              <a:buNone/>
            </a:pPr>
            <a:r>
              <a:rPr b="0" i="0" lang="en-US" sz="19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Adaptar el enfoque del curso según el nivel del grupo.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5c3cb96888_0_305"/>
          <p:cNvSpPr txBox="1"/>
          <p:nvPr/>
        </p:nvSpPr>
        <p:spPr>
          <a:xfrm>
            <a:off x="18971698" y="5660462"/>
            <a:ext cx="14365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15 minutos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A33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5c3cb96888_0_322"/>
          <p:cNvSpPr/>
          <p:nvPr/>
        </p:nvSpPr>
        <p:spPr>
          <a:xfrm>
            <a:off x="-971091" y="-3530240"/>
            <a:ext cx="21344773" cy="17347479"/>
          </a:xfrm>
          <a:custGeom>
            <a:rect b="b" l="l" r="r" t="t"/>
            <a:pathLst>
              <a:path extrusionOk="0" h="17347479" w="21344773">
                <a:moveTo>
                  <a:pt x="0" y="0"/>
                </a:moveTo>
                <a:lnTo>
                  <a:pt x="21344774" y="0"/>
                </a:lnTo>
                <a:lnTo>
                  <a:pt x="21344774" y="17347480"/>
                </a:lnTo>
                <a:lnTo>
                  <a:pt x="0" y="173474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g35c3cb96888_0_322"/>
          <p:cNvSpPr txBox="1"/>
          <p:nvPr/>
        </p:nvSpPr>
        <p:spPr>
          <a:xfrm>
            <a:off x="4315425" y="1629638"/>
            <a:ext cx="10944900" cy="12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8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Programa del Curso</a:t>
            </a:r>
            <a:endParaRPr b="0" i="0" sz="5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g35c3cb96888_0_3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03425" y="1575775"/>
            <a:ext cx="1385450" cy="138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5c3cb96888_0_322"/>
          <p:cNvSpPr txBox="1"/>
          <p:nvPr/>
        </p:nvSpPr>
        <p:spPr>
          <a:xfrm>
            <a:off x="4228838" y="2907338"/>
            <a:ext cx="10944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Disponible en UEDI</a:t>
            </a:r>
            <a:endParaRPr b="0" i="0" sz="2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5c3cb96888_0_322"/>
          <p:cNvSpPr txBox="1"/>
          <p:nvPr/>
        </p:nvSpPr>
        <p:spPr>
          <a:xfrm>
            <a:off x="6348825" y="4721250"/>
            <a:ext cx="12129600" cy="18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720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26"/>
              <a:buFont typeface="Arial"/>
              <a:buChar char="●"/>
            </a:pPr>
            <a:r>
              <a:rPr b="0" i="0" lang="en-US" sz="39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Competencias y objetivos del curso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26"/>
              <a:buFont typeface="Arial"/>
              <a:buChar char="●"/>
            </a:pPr>
            <a:r>
              <a:rPr b="0" i="0" lang="en-US" sz="39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Temarios y Contenidos Principales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5c3cb96888_0_322"/>
          <p:cNvSpPr/>
          <p:nvPr/>
        </p:nvSpPr>
        <p:spPr>
          <a:xfrm>
            <a:off x="18677295" y="8486346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g35c3cb96888_0_322"/>
          <p:cNvSpPr txBox="1"/>
          <p:nvPr/>
        </p:nvSpPr>
        <p:spPr>
          <a:xfrm>
            <a:off x="19371411" y="9613828"/>
            <a:ext cx="3238200" cy="26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b="0" i="0" lang="en-US" sz="1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explicar el propósito del curso y su relevancia en la formación profesional.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b="0" i="0" lang="en-US" sz="1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desglosar las competencias generales y específicas que se trabajarán a lo largo del laboratorio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5c3cb96888_0_322"/>
          <p:cNvSpPr/>
          <p:nvPr/>
        </p:nvSpPr>
        <p:spPr>
          <a:xfrm>
            <a:off x="24040239" y="8116627"/>
            <a:ext cx="5365079" cy="5306551"/>
          </a:xfrm>
          <a:custGeom>
            <a:rect b="b" l="l" r="r" t="t"/>
            <a:pathLst>
              <a:path extrusionOk="0" h="5306551" w="5365079">
                <a:moveTo>
                  <a:pt x="0" y="0"/>
                </a:moveTo>
                <a:lnTo>
                  <a:pt x="5365078" y="0"/>
                </a:lnTo>
                <a:lnTo>
                  <a:pt x="5365078" y="5306551"/>
                </a:lnTo>
                <a:lnTo>
                  <a:pt x="0" y="53065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g35c3cb96888_0_322"/>
          <p:cNvSpPr txBox="1"/>
          <p:nvPr/>
        </p:nvSpPr>
        <p:spPr>
          <a:xfrm>
            <a:off x="24527060" y="9313119"/>
            <a:ext cx="4171200" cy="4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14"/>
              <a:buFont typeface="Arial"/>
              <a:buNone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explicar lo siguiente: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Nombre del curso y su propósito dentro del plan de estudios.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Competencias y objetivos a desarrollar (enfoque en la Taxonomía de Bloom).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Temas principales que se abordarán a lo largo del curso.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Metodología de enseñanza (teoría, práctica, proyectos, estudios de caso).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Recursos y herramientas que se utilizarán (plataformas, software, libros, etc.).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14"/>
              <a:buFont typeface="Arial"/>
              <a:buNone/>
            </a:pPr>
            <a:r>
              <a:t/>
            </a:r>
            <a:endParaRPr b="0" i="0" sz="161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g35c3cb96888_0_322"/>
          <p:cNvSpPr txBox="1"/>
          <p:nvPr/>
        </p:nvSpPr>
        <p:spPr>
          <a:xfrm>
            <a:off x="18677298" y="7566114"/>
            <a:ext cx="14365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20 minutos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A33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c3cb96888_0_341"/>
          <p:cNvSpPr/>
          <p:nvPr/>
        </p:nvSpPr>
        <p:spPr>
          <a:xfrm>
            <a:off x="-971091" y="-3530240"/>
            <a:ext cx="21344773" cy="17347479"/>
          </a:xfrm>
          <a:custGeom>
            <a:rect b="b" l="l" r="r" t="t"/>
            <a:pathLst>
              <a:path extrusionOk="0" h="17347479" w="21344773">
                <a:moveTo>
                  <a:pt x="0" y="0"/>
                </a:moveTo>
                <a:lnTo>
                  <a:pt x="21344774" y="0"/>
                </a:lnTo>
                <a:lnTo>
                  <a:pt x="21344774" y="17347480"/>
                </a:lnTo>
                <a:lnTo>
                  <a:pt x="0" y="173474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g35c3cb96888_0_341"/>
          <p:cNvSpPr txBox="1"/>
          <p:nvPr/>
        </p:nvSpPr>
        <p:spPr>
          <a:xfrm>
            <a:off x="5472525" y="3166650"/>
            <a:ext cx="10944900" cy="39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8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Evaluación de Conocimientos Nuevos</a:t>
            </a:r>
            <a:endParaRPr b="0" i="0" sz="4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5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g35c3cb96888_0_3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000" y="2705100"/>
            <a:ext cx="48768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5c3cb96888_0_341"/>
          <p:cNvSpPr txBox="1"/>
          <p:nvPr/>
        </p:nvSpPr>
        <p:spPr>
          <a:xfrm>
            <a:off x="18971698" y="5660462"/>
            <a:ext cx="14365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15 minutos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5c3cb96888_0_341"/>
          <p:cNvSpPr/>
          <p:nvPr/>
        </p:nvSpPr>
        <p:spPr>
          <a:xfrm>
            <a:off x="18914271" y="7111752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9" y="0"/>
                </a:lnTo>
                <a:lnTo>
                  <a:pt x="4626469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g35c3cb96888_0_341"/>
          <p:cNvSpPr txBox="1"/>
          <p:nvPr/>
        </p:nvSpPr>
        <p:spPr>
          <a:xfrm>
            <a:off x="19608387" y="8220184"/>
            <a:ext cx="3238200" cy="29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deben considerar los conocimientos previos de los estudiantes sobre los temas a impartir para ajustar el tiempo asignado a cada uno de ellos de manera adecuada.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A33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c3cb96888_0_35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g35c3cb96888_0_353"/>
          <p:cNvSpPr/>
          <p:nvPr/>
        </p:nvSpPr>
        <p:spPr>
          <a:xfrm rot="1574698">
            <a:off x="13952973" y="5983878"/>
            <a:ext cx="5913343" cy="5868994"/>
          </a:xfrm>
          <a:custGeom>
            <a:rect b="b" l="l" r="r" t="t"/>
            <a:pathLst>
              <a:path extrusionOk="0" h="5865146" w="5909466">
                <a:moveTo>
                  <a:pt x="0" y="0"/>
                </a:moveTo>
                <a:lnTo>
                  <a:pt x="5909467" y="0"/>
                </a:lnTo>
                <a:lnTo>
                  <a:pt x="5909467" y="5865146"/>
                </a:lnTo>
                <a:lnTo>
                  <a:pt x="0" y="58651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g35c3cb96888_0_353"/>
          <p:cNvSpPr/>
          <p:nvPr/>
        </p:nvSpPr>
        <p:spPr>
          <a:xfrm rot="-9060061">
            <a:off x="-1778531" y="-1773691"/>
            <a:ext cx="5911977" cy="5867638"/>
          </a:xfrm>
          <a:custGeom>
            <a:rect b="b" l="l" r="r" t="t"/>
            <a:pathLst>
              <a:path extrusionOk="0" h="5865146" w="5909466">
                <a:moveTo>
                  <a:pt x="0" y="0"/>
                </a:moveTo>
                <a:lnTo>
                  <a:pt x="5909466" y="0"/>
                </a:lnTo>
                <a:lnTo>
                  <a:pt x="5909466" y="5865146"/>
                </a:lnTo>
                <a:lnTo>
                  <a:pt x="0" y="58651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g35c3cb96888_0_353"/>
          <p:cNvSpPr txBox="1"/>
          <p:nvPr/>
        </p:nvSpPr>
        <p:spPr>
          <a:xfrm>
            <a:off x="1028700" y="7876900"/>
            <a:ext cx="801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5c3cb96888_0_353"/>
          <p:cNvSpPr txBox="1"/>
          <p:nvPr/>
        </p:nvSpPr>
        <p:spPr>
          <a:xfrm>
            <a:off x="3601920" y="4217247"/>
            <a:ext cx="11280600" cy="12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33"/>
              <a:buFont typeface="Arial"/>
              <a:buNone/>
            </a:pPr>
            <a:r>
              <a:rPr b="0" i="0" lang="en-US" sz="793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¡Gracias por su atencion!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