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10287000" cx="18288000"/>
  <p:notesSz cx="6858000" cy="9144000"/>
  <p:embeddedFontLst>
    <p:embeddedFont>
      <p:font typeface="Montserrat"/>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i43FNy3OexGFCRFmpeWS6x1aqS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21DA36-17BA-4103-B4F3-802818E1AC91}">
  <a:tblStyle styleId="{A121DA36-17BA-4103-B4F3-802818E1AC9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Montserrat-italic.fntdata"/><Relationship Id="rId12" Type="http://schemas.openxmlformats.org/officeDocument/2006/relationships/slide" Target="slides/slide6.xml"/><Relationship Id="rId34" Type="http://schemas.openxmlformats.org/officeDocument/2006/relationships/font" Target="fonts/Montserrat-bold.fntdata"/><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font" Target="fonts/Montserrat-boldItalic.fntdata"/><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c3d0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c3d06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362f9fe69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362f9fe69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c3d06a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c3d06a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362f9fe692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362f9fe692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362f9fe692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362f9fe692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362f9fe692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362f9fe692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62f9fe692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362f9fe692_0_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62f9fe692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g3362f9fe692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362f9fe692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g3362f9fe692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362f9fe692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3362f9fe692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362f9fe692_0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g3362f9fe692_0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362f9fe692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g3362f9fe692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362f9fe692_0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g3362f9fe692_0_2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362f9fe692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g3362f9fe692_0_3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362f9fe692_0_3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g3362f9fe692_0_3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362f9fe692_0_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362f9fe692_0_3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362f9fe692_0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3362f9fe692_0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362f9fe692_0_3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g3362f9fe692_0_3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362f9fe692_0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3362f9fe692_0_3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362f9fe692_0_5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g3362f9fe692_0_5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362f9fe692_0_5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g3362f9fe692_0_5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362f9fe692_0_4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g3362f9fe692_0_4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5ece58d4c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g35ece58d4c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362f9fe692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g3362f9fe692_0_4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5ece58d4c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2" name="Google Shape;372;g35ece58d4cb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3ecaf70f2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3ecaf70f2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3ecaf70f2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p:nvPr>
            <p:ph idx="2" type="pic"/>
          </p:nvPr>
        </p:nvSpPr>
        <p:spPr>
          <a:xfrm>
            <a:off x="1792288" y="612775"/>
            <a:ext cx="5486400" cy="4114800"/>
          </a:xfrm>
          <a:prstGeom prst="rect">
            <a:avLst/>
          </a:prstGeom>
          <a:noFill/>
          <a:ln>
            <a:noFill/>
          </a:ln>
        </p:spPr>
      </p:sp>
      <p:sp>
        <p:nvSpPr>
          <p:cNvPr id="68" name="Google Shape;68;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jpg"/><Relationship Id="rId4" Type="http://schemas.openxmlformats.org/officeDocument/2006/relationships/image" Target="../media/image19.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jpg"/><Relationship Id="rId4" Type="http://schemas.openxmlformats.org/officeDocument/2006/relationships/image" Target="../media/image15.png"/><Relationship Id="rId5"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jpg"/><Relationship Id="rId4" Type="http://schemas.openxmlformats.org/officeDocument/2006/relationships/image" Target="../media/image15.png"/><Relationship Id="rId5"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jpg"/><Relationship Id="rId4" Type="http://schemas.openxmlformats.org/officeDocument/2006/relationships/image" Target="../media/image39.png"/><Relationship Id="rId5" Type="http://schemas.openxmlformats.org/officeDocument/2006/relationships/image" Target="../media/image31.png"/><Relationship Id="rId6"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7.png"/><Relationship Id="rId4" Type="http://schemas.openxmlformats.org/officeDocument/2006/relationships/hyperlink" Target="https://www.geeksforgeeks.org/process-in-operating-system/" TargetMode="External"/><Relationship Id="rId5" Type="http://schemas.openxmlformats.org/officeDocument/2006/relationships/hyperlink" Target="https://www.geeksforgeeks.org/process-states-and-transitions-in-a-unix-process/" TargetMode="External"/><Relationship Id="rId6" Type="http://schemas.openxmlformats.org/officeDocument/2006/relationships/hyperlink" Target="https://www.baeldung.com/linux/pcb"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jp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c3d06a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c3d06a_0_0"/>
          <p:cNvGraphicFramePr/>
          <p:nvPr/>
        </p:nvGraphicFramePr>
        <p:xfrm>
          <a:off x="10656400" y="1940050"/>
          <a:ext cx="3000000" cy="3000000"/>
        </p:xfrm>
        <a:graphic>
          <a:graphicData uri="http://schemas.openxmlformats.org/drawingml/2006/table">
            <a:tbl>
              <a:tblPr>
                <a:noFill/>
                <a:tableStyleId>{A121DA36-17BA-4103-B4F3-802818E1AC91}</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DD/MM/2026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00:00</a:t>
                      </a:r>
                      <a:endParaRPr sz="2800" u="none" cap="none" strike="noStrike"/>
                    </a:p>
                  </a:txBody>
                  <a:tcPr marT="182850" marB="182850" marR="182850" marL="182850"/>
                </a:tc>
              </a:tr>
            </a:tbl>
          </a:graphicData>
        </a:graphic>
      </p:graphicFrame>
      <p:sp>
        <p:nvSpPr>
          <p:cNvPr id="90" name="Google Shape;90;g388fdc3d06a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c3d06a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400" u="none" cap="none" strike="noStrike">
                <a:solidFill>
                  <a:srgbClr val="000000"/>
                </a:solidFill>
                <a:latin typeface="Arial"/>
                <a:ea typeface="Arial"/>
                <a:cs typeface="Arial"/>
                <a:sym typeface="Arial"/>
              </a:rPr>
              <a:t>NOMBRE_ESTUDIANTE</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362f9fe692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362f9fe692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362f9fe692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362f9fe692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362f9fe692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362f9fe692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362f9fe692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362f9fe692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362f9fe692_0_0"/>
          <p:cNvSpPr txBox="1"/>
          <p:nvPr/>
        </p:nvSpPr>
        <p:spPr>
          <a:xfrm>
            <a:off x="3601920" y="4217247"/>
            <a:ext cx="11280600" cy="25281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c3d06a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dc3d06a_0_7"/>
          <p:cNvGrpSpPr/>
          <p:nvPr/>
        </p:nvGrpSpPr>
        <p:grpSpPr>
          <a:xfrm>
            <a:off x="9975044" y="2453203"/>
            <a:ext cx="7764346" cy="662374"/>
            <a:chOff x="3095445" y="-87910"/>
            <a:chExt cx="5099400" cy="435000"/>
          </a:xfrm>
        </p:grpSpPr>
        <p:sp>
          <p:nvSpPr>
            <p:cNvPr id="111" name="Google Shape;111;g388fdc3d06a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dc3d06a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dc3d06a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88fdc3d06a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1</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2</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3</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362f9fe692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362f9fe692_0_21"/>
          <p:cNvSpPr txBox="1"/>
          <p:nvPr/>
        </p:nvSpPr>
        <p:spPr>
          <a:xfrm>
            <a:off x="5991825" y="3758238"/>
            <a:ext cx="10411800" cy="27705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Procesos y Gestión de Procesos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Estados de proceso y transiciones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Bloques de control de procesos (PCB)</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 hilos</a:t>
            </a:r>
            <a:endParaRPr b="0" i="0" sz="4200" u="none" cap="none" strike="noStrike">
              <a:solidFill>
                <a:schemeClr val="lt1"/>
              </a:solidFill>
              <a:latin typeface="Calibri"/>
              <a:ea typeface="Calibri"/>
              <a:cs typeface="Calibri"/>
              <a:sym typeface="Calibri"/>
            </a:endParaRPr>
          </a:p>
        </p:txBody>
      </p:sp>
      <p:grpSp>
        <p:nvGrpSpPr>
          <p:cNvPr id="121" name="Google Shape;121;g3362f9fe692_0_21"/>
          <p:cNvGrpSpPr/>
          <p:nvPr/>
        </p:nvGrpSpPr>
        <p:grpSpPr>
          <a:xfrm>
            <a:off x="5261819" y="1886650"/>
            <a:ext cx="7764346" cy="662377"/>
            <a:chOff x="5261919" y="2543550"/>
            <a:chExt cx="7764346" cy="662377"/>
          </a:xfrm>
        </p:grpSpPr>
        <p:grpSp>
          <p:nvGrpSpPr>
            <p:cNvPr id="122" name="Google Shape;122;g3362f9fe692_0_21"/>
            <p:cNvGrpSpPr/>
            <p:nvPr/>
          </p:nvGrpSpPr>
          <p:grpSpPr>
            <a:xfrm>
              <a:off x="5261919" y="2543553"/>
              <a:ext cx="7764346" cy="662374"/>
              <a:chOff x="0" y="-28575"/>
              <a:chExt cx="5099400" cy="435000"/>
            </a:xfrm>
          </p:grpSpPr>
          <p:sp>
            <p:nvSpPr>
              <p:cNvPr id="123" name="Google Shape;123;g3362f9fe692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362f9fe692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362f9fe692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362f9fe692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362f9fe692_0_32"/>
          <p:cNvGrpSpPr/>
          <p:nvPr/>
        </p:nvGrpSpPr>
        <p:grpSpPr>
          <a:xfrm>
            <a:off x="3300300" y="3865649"/>
            <a:ext cx="11687426" cy="2780189"/>
            <a:chOff x="0" y="-19050"/>
            <a:chExt cx="1876865" cy="1078889"/>
          </a:xfrm>
        </p:grpSpPr>
        <p:sp>
          <p:nvSpPr>
            <p:cNvPr id="132" name="Google Shape;132;g3362f9fe692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362f9fe692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362f9fe692_0_32"/>
          <p:cNvGrpSpPr/>
          <p:nvPr/>
        </p:nvGrpSpPr>
        <p:grpSpPr>
          <a:xfrm>
            <a:off x="3713601" y="4575230"/>
            <a:ext cx="1136538" cy="1136538"/>
            <a:chOff x="0" y="0"/>
            <a:chExt cx="812800" cy="812800"/>
          </a:xfrm>
        </p:grpSpPr>
        <p:sp>
          <p:nvSpPr>
            <p:cNvPr id="135" name="Google Shape;135;g3362f9fe692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362f9fe692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362f9fe692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362f9fe692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362f9fe692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362f9fe692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362f9fe692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Desarrollar e implementar nuevos sistemas operativos y modificar funcionalidades de sistemas operativos existentes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362f9fe692_0_1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g3362f9fe692_0_12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g3362f9fe692_0_12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g3362f9fe692_0_121"/>
          <p:cNvSpPr txBox="1"/>
          <p:nvPr/>
        </p:nvSpPr>
        <p:spPr>
          <a:xfrm>
            <a:off x="2177865" y="4125486"/>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GESTIÓN DE PROCESOS</a:t>
            </a:r>
            <a:endParaRPr b="0" i="0" sz="1400" u="none" cap="none" strike="noStrike">
              <a:solidFill>
                <a:srgbClr val="000000"/>
              </a:solidFill>
              <a:latin typeface="Arial"/>
              <a:ea typeface="Arial"/>
              <a:cs typeface="Arial"/>
              <a:sym typeface="Arial"/>
            </a:endParaRPr>
          </a:p>
        </p:txBody>
      </p:sp>
      <p:sp>
        <p:nvSpPr>
          <p:cNvPr id="150" name="Google Shape;150;g3362f9fe692_0_121"/>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g3362f9fe692_0_121"/>
          <p:cNvGrpSpPr/>
          <p:nvPr/>
        </p:nvGrpSpPr>
        <p:grpSpPr>
          <a:xfrm>
            <a:off x="5261794" y="3102922"/>
            <a:ext cx="7764346" cy="662375"/>
            <a:chOff x="0" y="-28575"/>
            <a:chExt cx="5099400" cy="435000"/>
          </a:xfrm>
        </p:grpSpPr>
        <p:sp>
          <p:nvSpPr>
            <p:cNvPr id="152" name="Google Shape;152;g3362f9fe692_0_1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3362f9fe692_0_1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g3362f9fe692_0_121"/>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362f9fe692_0_13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60" name="Google Shape;160;g3362f9fe692_0_133"/>
          <p:cNvSpPr/>
          <p:nvPr/>
        </p:nvSpPr>
        <p:spPr>
          <a:xfrm>
            <a:off x="3348599" y="5355572"/>
            <a:ext cx="11615796" cy="11449621"/>
          </a:xfrm>
          <a:custGeom>
            <a:rect b="b" l="l" r="r" t="t"/>
            <a:pathLst>
              <a:path extrusionOk="0" h="11449621" w="11615796">
                <a:moveTo>
                  <a:pt x="0" y="0"/>
                </a:moveTo>
                <a:lnTo>
                  <a:pt x="11615796" y="0"/>
                </a:lnTo>
                <a:lnTo>
                  <a:pt x="11615796" y="11449621"/>
                </a:lnTo>
                <a:lnTo>
                  <a:pt x="0" y="11449621"/>
                </a:lnTo>
                <a:lnTo>
                  <a:pt x="0" y="0"/>
                </a:lnTo>
                <a:close/>
              </a:path>
            </a:pathLst>
          </a:custGeom>
          <a:blipFill rotWithShape="1">
            <a:blip r:embed="rId4">
              <a:alphaModFix/>
            </a:blip>
            <a:stretch>
              <a:fillRect b="-1566" l="-207" r="0" t="0"/>
            </a:stretch>
          </a:blipFill>
          <a:ln>
            <a:noFill/>
          </a:ln>
        </p:spPr>
      </p:sp>
      <p:sp>
        <p:nvSpPr>
          <p:cNvPr id="161" name="Google Shape;161;g3362f9fe692_0_133"/>
          <p:cNvSpPr txBox="1"/>
          <p:nvPr/>
        </p:nvSpPr>
        <p:spPr>
          <a:xfrm>
            <a:off x="2009557" y="2496423"/>
            <a:ext cx="14268900" cy="10773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999"/>
              <a:buFont typeface="Arial"/>
              <a:buNone/>
            </a:pPr>
            <a:r>
              <a:rPr b="0" i="0" lang="en-US" sz="6999" u="none" cap="none" strike="noStrike">
                <a:solidFill>
                  <a:srgbClr val="FFFFFF"/>
                </a:solidFill>
                <a:latin typeface="Arial"/>
                <a:ea typeface="Arial"/>
                <a:cs typeface="Arial"/>
                <a:sym typeface="Arial"/>
              </a:rPr>
              <a:t>¿QUÉ ES UN PROGRAMA?</a:t>
            </a:r>
            <a:endParaRPr b="0" i="0" sz="1400" u="none" cap="none" strike="noStrike">
              <a:solidFill>
                <a:srgbClr val="000000"/>
              </a:solidFill>
              <a:latin typeface="Arial"/>
              <a:ea typeface="Arial"/>
              <a:cs typeface="Arial"/>
              <a:sym typeface="Arial"/>
            </a:endParaRPr>
          </a:p>
        </p:txBody>
      </p:sp>
      <p:sp>
        <p:nvSpPr>
          <p:cNvPr id="162" name="Google Shape;162;g3362f9fe692_0_133"/>
          <p:cNvSpPr txBox="1"/>
          <p:nvPr/>
        </p:nvSpPr>
        <p:spPr>
          <a:xfrm>
            <a:off x="1905715" y="3808449"/>
            <a:ext cx="14268600" cy="449700"/>
          </a:xfrm>
          <a:prstGeom prst="rect">
            <a:avLst/>
          </a:prstGeom>
          <a:noFill/>
          <a:ln>
            <a:noFill/>
          </a:ln>
        </p:spPr>
        <p:txBody>
          <a:bodyPr anchorCtr="0" anchor="t" bIns="0" lIns="0" spcFirstLastPara="1" rIns="0" wrap="square" tIns="0">
            <a:spAutoFit/>
          </a:bodyPr>
          <a:lstStyle/>
          <a:p>
            <a:pPr indent="0" lvl="0" marL="0" marR="0" rtl="0" algn="ctr">
              <a:lnSpc>
                <a:spcPct val="130024"/>
              </a:lnSpc>
              <a:spcBef>
                <a:spcPts val="0"/>
              </a:spcBef>
              <a:spcAft>
                <a:spcPts val="0"/>
              </a:spcAft>
              <a:buClr>
                <a:srgbClr val="000000"/>
              </a:buClr>
              <a:buSzPts val="2921"/>
              <a:buFont typeface="Arial"/>
              <a:buNone/>
            </a:pPr>
            <a:r>
              <a:rPr b="0" i="0" lang="en-US" sz="2921" u="none" cap="none" strike="noStrike">
                <a:solidFill>
                  <a:srgbClr val="67D3CD"/>
                </a:solidFill>
                <a:latin typeface="Montserrat"/>
                <a:ea typeface="Montserrat"/>
                <a:cs typeface="Montserrat"/>
                <a:sym typeface="Montserrat"/>
              </a:rPr>
              <a:t>video: https://www.youtube.com/watch?v=qgK0z08_Is4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6" name="Shape 166"/>
        <p:cNvGrpSpPr/>
        <p:nvPr/>
      </p:nvGrpSpPr>
      <p:grpSpPr>
        <a:xfrm>
          <a:off x="0" y="0"/>
          <a:ext cx="0" cy="0"/>
          <a:chOff x="0" y="0"/>
          <a:chExt cx="0" cy="0"/>
        </a:xfrm>
      </p:grpSpPr>
      <p:sp>
        <p:nvSpPr>
          <p:cNvPr id="167" name="Google Shape;167;g3362f9fe692_0_140"/>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68" name="Google Shape;168;g3362f9fe692_0_140"/>
          <p:cNvGrpSpPr/>
          <p:nvPr/>
        </p:nvGrpSpPr>
        <p:grpSpPr>
          <a:xfrm>
            <a:off x="1001314" y="626509"/>
            <a:ext cx="7289038" cy="8925753"/>
            <a:chOff x="0" y="-28575"/>
            <a:chExt cx="1919734" cy="2350800"/>
          </a:xfrm>
        </p:grpSpPr>
        <p:sp>
          <p:nvSpPr>
            <p:cNvPr id="169" name="Google Shape;169;g3362f9fe692_0_140"/>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3362f9fe692_0_140"/>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1" name="Google Shape;171;g3362f9fe692_0_140"/>
          <p:cNvSpPr/>
          <p:nvPr/>
        </p:nvSpPr>
        <p:spPr>
          <a:xfrm>
            <a:off x="1379983" y="1214452"/>
            <a:ext cx="6531649" cy="7917150"/>
          </a:xfrm>
          <a:custGeom>
            <a:rect b="b" l="l" r="r" t="t"/>
            <a:pathLst>
              <a:path extrusionOk="0" h="7917150" w="6531649">
                <a:moveTo>
                  <a:pt x="0" y="0"/>
                </a:moveTo>
                <a:lnTo>
                  <a:pt x="6531649" y="0"/>
                </a:lnTo>
                <a:lnTo>
                  <a:pt x="6531649" y="7917151"/>
                </a:lnTo>
                <a:lnTo>
                  <a:pt x="0" y="7917151"/>
                </a:lnTo>
                <a:lnTo>
                  <a:pt x="0" y="0"/>
                </a:lnTo>
                <a:close/>
              </a:path>
            </a:pathLst>
          </a:custGeom>
          <a:blipFill rotWithShape="1">
            <a:blip r:embed="rId4">
              <a:alphaModFix/>
            </a:blip>
            <a:stretch>
              <a:fillRect b="0" l="0" r="0" t="0"/>
            </a:stretch>
          </a:blipFill>
          <a:ln>
            <a:noFill/>
          </a:ln>
        </p:spPr>
      </p:sp>
      <p:sp>
        <p:nvSpPr>
          <p:cNvPr id="172" name="Google Shape;172;g3362f9fe692_0_140"/>
          <p:cNvSpPr txBox="1"/>
          <p:nvPr/>
        </p:nvSpPr>
        <p:spPr>
          <a:xfrm>
            <a:off x="8832285" y="2767466"/>
            <a:ext cx="8454300" cy="7092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 Todo proceso sin importar el sistema operativo debe de tener las siguientes características fundamentales:</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ID de proceso, ID de grupo de proceso, ID de usuario e ID de grupo</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Ambiente</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Directorio de trabajo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Un proceso también proporciona un espacio de direcciones común y recursos comunes del sistema:</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Descriptores de archivos</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Acciones de señal</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Bibliotecas compartidas</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Herramientas de comunicación entre procesos (como colas de mensajes, pipes, semáforos o memoria compartida)</a:t>
            </a:r>
            <a:endParaRPr b="0" i="0" sz="1400" u="none" cap="none" strike="noStrike">
              <a:solidFill>
                <a:srgbClr val="000000"/>
              </a:solidFill>
              <a:latin typeface="Arial"/>
              <a:ea typeface="Arial"/>
              <a:cs typeface="Arial"/>
              <a:sym typeface="Arial"/>
            </a:endParaRPr>
          </a:p>
        </p:txBody>
      </p:sp>
      <p:sp>
        <p:nvSpPr>
          <p:cNvPr id="173" name="Google Shape;173;g3362f9fe692_0_140"/>
          <p:cNvSpPr txBox="1"/>
          <p:nvPr/>
        </p:nvSpPr>
        <p:spPr>
          <a:xfrm>
            <a:off x="8832285" y="941569"/>
            <a:ext cx="8454300" cy="170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CARACTERÍSTICAS DE UN PROCESO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7" name="Shape 177"/>
        <p:cNvGrpSpPr/>
        <p:nvPr/>
      </p:nvGrpSpPr>
      <p:grpSpPr>
        <a:xfrm>
          <a:off x="0" y="0"/>
          <a:ext cx="0" cy="0"/>
          <a:chOff x="0" y="0"/>
          <a:chExt cx="0" cy="0"/>
        </a:xfrm>
      </p:grpSpPr>
      <p:sp>
        <p:nvSpPr>
          <p:cNvPr id="178" name="Google Shape;178;g3362f9fe692_0_150"/>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79" name="Google Shape;179;g3362f9fe692_0_150"/>
          <p:cNvGrpSpPr/>
          <p:nvPr/>
        </p:nvGrpSpPr>
        <p:grpSpPr>
          <a:xfrm>
            <a:off x="9970312" y="626509"/>
            <a:ext cx="7289038" cy="8925753"/>
            <a:chOff x="0" y="-28575"/>
            <a:chExt cx="1919734" cy="2350800"/>
          </a:xfrm>
        </p:grpSpPr>
        <p:sp>
          <p:nvSpPr>
            <p:cNvPr id="180" name="Google Shape;180;g3362f9fe692_0_150"/>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3362f9fe692_0_150"/>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2" name="Google Shape;182;g3362f9fe692_0_150"/>
          <p:cNvSpPr/>
          <p:nvPr/>
        </p:nvSpPr>
        <p:spPr>
          <a:xfrm>
            <a:off x="10557127" y="1093594"/>
            <a:ext cx="6115358" cy="8099812"/>
          </a:xfrm>
          <a:custGeom>
            <a:rect b="b" l="l" r="r" t="t"/>
            <a:pathLst>
              <a:path extrusionOk="0" h="8099812" w="6115358">
                <a:moveTo>
                  <a:pt x="0" y="0"/>
                </a:moveTo>
                <a:lnTo>
                  <a:pt x="6115358" y="0"/>
                </a:lnTo>
                <a:lnTo>
                  <a:pt x="6115358" y="8099812"/>
                </a:lnTo>
                <a:lnTo>
                  <a:pt x="0" y="8099812"/>
                </a:lnTo>
                <a:lnTo>
                  <a:pt x="0" y="0"/>
                </a:lnTo>
                <a:close/>
              </a:path>
            </a:pathLst>
          </a:custGeom>
          <a:blipFill rotWithShape="1">
            <a:blip r:embed="rId4">
              <a:alphaModFix/>
            </a:blip>
            <a:stretch>
              <a:fillRect b="0" l="0" r="0" t="0"/>
            </a:stretch>
          </a:blipFill>
          <a:ln>
            <a:noFill/>
          </a:ln>
        </p:spPr>
      </p:sp>
      <p:sp>
        <p:nvSpPr>
          <p:cNvPr id="183" name="Google Shape;183;g3362f9fe692_0_150"/>
          <p:cNvSpPr txBox="1"/>
          <p:nvPr/>
        </p:nvSpPr>
        <p:spPr>
          <a:xfrm>
            <a:off x="1028700" y="1234440"/>
            <a:ext cx="8424000" cy="853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Cuando un programa se carga en la memoria y se convierte en un proceso, se puede dividir en cuatro secciones: pila (stack), montón (heap), texto y datos.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La "stack" es una estructura de datos que almacena información sobre las subrutinas activas de un programa de computadora y se utiliza como espacio temporal para el proceso.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Se distingue de la memoria asignada dinámicamente para el proceso que se conoce como "heap".</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La seccion de texto o codigo incluye la actividad actual representada por el valor del contador de programa y el contenido de los registros del procesador, que pueden contener una instrucción, una dirección de almacenamiento u otro tipo de datos necesarios para el proceso.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7" name="Shape 187"/>
        <p:cNvGrpSpPr/>
        <p:nvPr/>
      </p:nvGrpSpPr>
      <p:grpSpPr>
        <a:xfrm>
          <a:off x="0" y="0"/>
          <a:ext cx="0" cy="0"/>
          <a:chOff x="0" y="0"/>
          <a:chExt cx="0" cy="0"/>
        </a:xfrm>
      </p:grpSpPr>
      <p:grpSp>
        <p:nvGrpSpPr>
          <p:cNvPr id="188" name="Google Shape;188;g3362f9fe692_0_159"/>
          <p:cNvGrpSpPr/>
          <p:nvPr/>
        </p:nvGrpSpPr>
        <p:grpSpPr>
          <a:xfrm>
            <a:off x="7815754" y="4493244"/>
            <a:ext cx="9600729" cy="5130256"/>
            <a:chOff x="0" y="-19050"/>
            <a:chExt cx="2678700" cy="1431393"/>
          </a:xfrm>
        </p:grpSpPr>
        <p:sp>
          <p:nvSpPr>
            <p:cNvPr id="189" name="Google Shape;189;g3362f9fe692_0_159"/>
            <p:cNvSpPr/>
            <p:nvPr/>
          </p:nvSpPr>
          <p:spPr>
            <a:xfrm>
              <a:off x="0" y="0"/>
              <a:ext cx="2678675" cy="1412343"/>
            </a:xfrm>
            <a:custGeom>
              <a:rect b="b" l="l" r="r" t="t"/>
              <a:pathLst>
                <a:path extrusionOk="0" h="1412343" w="2678675">
                  <a:moveTo>
                    <a:pt x="40320" y="0"/>
                  </a:moveTo>
                  <a:lnTo>
                    <a:pt x="2638355" y="0"/>
                  </a:lnTo>
                  <a:cubicBezTo>
                    <a:pt x="2649049" y="0"/>
                    <a:pt x="2659304" y="4248"/>
                    <a:pt x="2666866" y="11809"/>
                  </a:cubicBezTo>
                  <a:cubicBezTo>
                    <a:pt x="2674427" y="19371"/>
                    <a:pt x="2678675" y="29626"/>
                    <a:pt x="2678675" y="40320"/>
                  </a:cubicBezTo>
                  <a:lnTo>
                    <a:pt x="2678675" y="1372024"/>
                  </a:lnTo>
                  <a:cubicBezTo>
                    <a:pt x="2678675" y="1394292"/>
                    <a:pt x="2660623" y="1412343"/>
                    <a:pt x="2638355" y="1412343"/>
                  </a:cubicBezTo>
                  <a:lnTo>
                    <a:pt x="40320" y="1412343"/>
                  </a:lnTo>
                  <a:cubicBezTo>
                    <a:pt x="29626" y="1412343"/>
                    <a:pt x="19371" y="1408095"/>
                    <a:pt x="11809" y="1400534"/>
                  </a:cubicBezTo>
                  <a:cubicBezTo>
                    <a:pt x="4248" y="1392973"/>
                    <a:pt x="0" y="1382717"/>
                    <a:pt x="0" y="1372024"/>
                  </a:cubicBezTo>
                  <a:lnTo>
                    <a:pt x="0" y="40320"/>
                  </a:lnTo>
                  <a:cubicBezTo>
                    <a:pt x="0" y="18052"/>
                    <a:pt x="18052" y="0"/>
                    <a:pt x="40320"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362f9fe692_0_159"/>
            <p:cNvSpPr txBox="1"/>
            <p:nvPr/>
          </p:nvSpPr>
          <p:spPr>
            <a:xfrm>
              <a:off x="0" y="-19050"/>
              <a:ext cx="2678700" cy="1431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1" name="Google Shape;191;g3362f9fe692_0_159"/>
          <p:cNvSpPr/>
          <p:nvPr/>
        </p:nvSpPr>
        <p:spPr>
          <a:xfrm>
            <a:off x="8149943" y="4993431"/>
            <a:ext cx="8932303" cy="4198182"/>
          </a:xfrm>
          <a:custGeom>
            <a:rect b="b" l="l" r="r" t="t"/>
            <a:pathLst>
              <a:path extrusionOk="0" h="4198182" w="8932303">
                <a:moveTo>
                  <a:pt x="0" y="0"/>
                </a:moveTo>
                <a:lnTo>
                  <a:pt x="8932302" y="0"/>
                </a:lnTo>
                <a:lnTo>
                  <a:pt x="8932302" y="4198182"/>
                </a:lnTo>
                <a:lnTo>
                  <a:pt x="0" y="4198182"/>
                </a:lnTo>
                <a:lnTo>
                  <a:pt x="0" y="0"/>
                </a:lnTo>
                <a:close/>
              </a:path>
            </a:pathLst>
          </a:custGeom>
          <a:blipFill rotWithShape="1">
            <a:blip r:embed="rId3">
              <a:alphaModFix/>
            </a:blip>
            <a:stretch>
              <a:fillRect b="0" l="0" r="0" t="0"/>
            </a:stretch>
          </a:blipFill>
          <a:ln>
            <a:noFill/>
          </a:ln>
        </p:spPr>
      </p:sp>
      <p:grpSp>
        <p:nvGrpSpPr>
          <p:cNvPr id="192" name="Google Shape;192;g3362f9fe692_0_159"/>
          <p:cNvGrpSpPr/>
          <p:nvPr/>
        </p:nvGrpSpPr>
        <p:grpSpPr>
          <a:xfrm>
            <a:off x="1028700" y="795589"/>
            <a:ext cx="16230597" cy="3441109"/>
            <a:chOff x="0" y="-19050"/>
            <a:chExt cx="4528500" cy="960104"/>
          </a:xfrm>
        </p:grpSpPr>
        <p:sp>
          <p:nvSpPr>
            <p:cNvPr id="193" name="Google Shape;193;g3362f9fe692_0_159"/>
            <p:cNvSpPr/>
            <p:nvPr/>
          </p:nvSpPr>
          <p:spPr>
            <a:xfrm>
              <a:off x="0" y="0"/>
              <a:ext cx="4528481" cy="941054"/>
            </a:xfrm>
            <a:custGeom>
              <a:rect b="b" l="l" r="r" t="t"/>
              <a:pathLst>
                <a:path extrusionOk="0" h="941054" w="4528481">
                  <a:moveTo>
                    <a:pt x="23850" y="0"/>
                  </a:moveTo>
                  <a:lnTo>
                    <a:pt x="4504632" y="0"/>
                  </a:lnTo>
                  <a:cubicBezTo>
                    <a:pt x="4510957" y="0"/>
                    <a:pt x="4517023" y="2513"/>
                    <a:pt x="4521496" y="6985"/>
                  </a:cubicBezTo>
                  <a:cubicBezTo>
                    <a:pt x="4525969" y="11458"/>
                    <a:pt x="4528481" y="17524"/>
                    <a:pt x="4528481" y="23850"/>
                  </a:cubicBezTo>
                  <a:lnTo>
                    <a:pt x="4528481" y="917204"/>
                  </a:lnTo>
                  <a:cubicBezTo>
                    <a:pt x="4528481" y="930376"/>
                    <a:pt x="4517803" y="941054"/>
                    <a:pt x="4504632" y="941054"/>
                  </a:cubicBezTo>
                  <a:lnTo>
                    <a:pt x="23850" y="941054"/>
                  </a:lnTo>
                  <a:cubicBezTo>
                    <a:pt x="17524" y="941054"/>
                    <a:pt x="11458" y="938541"/>
                    <a:pt x="6985" y="934069"/>
                  </a:cubicBezTo>
                  <a:cubicBezTo>
                    <a:pt x="2513" y="929596"/>
                    <a:pt x="0" y="923530"/>
                    <a:pt x="0" y="917204"/>
                  </a:cubicBezTo>
                  <a:lnTo>
                    <a:pt x="0" y="23850"/>
                  </a:lnTo>
                  <a:cubicBezTo>
                    <a:pt x="0" y="17524"/>
                    <a:pt x="2513" y="11458"/>
                    <a:pt x="6985" y="6985"/>
                  </a:cubicBezTo>
                  <a:cubicBezTo>
                    <a:pt x="11458" y="2513"/>
                    <a:pt x="17524" y="0"/>
                    <a:pt x="23850"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3362f9fe692_0_159"/>
            <p:cNvSpPr txBox="1"/>
            <p:nvPr/>
          </p:nvSpPr>
          <p:spPr>
            <a:xfrm>
              <a:off x="0" y="-19050"/>
              <a:ext cx="4528500" cy="960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5" name="Google Shape;195;g3362f9fe692_0_159"/>
          <p:cNvGrpSpPr/>
          <p:nvPr/>
        </p:nvGrpSpPr>
        <p:grpSpPr>
          <a:xfrm>
            <a:off x="1028700" y="4493244"/>
            <a:ext cx="6465824" cy="3334586"/>
            <a:chOff x="0" y="-19050"/>
            <a:chExt cx="1804030" cy="930383"/>
          </a:xfrm>
        </p:grpSpPr>
        <p:sp>
          <p:nvSpPr>
            <p:cNvPr id="196" name="Google Shape;196;g3362f9fe692_0_159"/>
            <p:cNvSpPr/>
            <p:nvPr/>
          </p:nvSpPr>
          <p:spPr>
            <a:xfrm>
              <a:off x="0" y="0"/>
              <a:ext cx="1804030" cy="911333"/>
            </a:xfrm>
            <a:custGeom>
              <a:rect b="b" l="l" r="r" t="t"/>
              <a:pathLst>
                <a:path extrusionOk="0" h="911333" w="1804030">
                  <a:moveTo>
                    <a:pt x="59868" y="0"/>
                  </a:moveTo>
                  <a:lnTo>
                    <a:pt x="1744163" y="0"/>
                  </a:lnTo>
                  <a:cubicBezTo>
                    <a:pt x="1777226" y="0"/>
                    <a:pt x="1804030" y="26804"/>
                    <a:pt x="1804030" y="59868"/>
                  </a:cubicBezTo>
                  <a:lnTo>
                    <a:pt x="1804030" y="851465"/>
                  </a:lnTo>
                  <a:cubicBezTo>
                    <a:pt x="1804030" y="884530"/>
                    <a:pt x="1777226" y="911333"/>
                    <a:pt x="1744163" y="911333"/>
                  </a:cubicBezTo>
                  <a:lnTo>
                    <a:pt x="59868" y="911333"/>
                  </a:lnTo>
                  <a:cubicBezTo>
                    <a:pt x="26804" y="911333"/>
                    <a:pt x="0" y="884530"/>
                    <a:pt x="0" y="851465"/>
                  </a:cubicBezTo>
                  <a:lnTo>
                    <a:pt x="0" y="59868"/>
                  </a:lnTo>
                  <a:cubicBezTo>
                    <a:pt x="0" y="26804"/>
                    <a:pt x="26804" y="0"/>
                    <a:pt x="59868"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3362f9fe692_0_159"/>
            <p:cNvSpPr txBox="1"/>
            <p:nvPr/>
          </p:nvSpPr>
          <p:spPr>
            <a:xfrm>
              <a:off x="0" y="-19050"/>
              <a:ext cx="1803900" cy="930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8" name="Google Shape;198;g3362f9fe692_0_159"/>
          <p:cNvGrpSpPr/>
          <p:nvPr/>
        </p:nvGrpSpPr>
        <p:grpSpPr>
          <a:xfrm>
            <a:off x="1028700" y="8083418"/>
            <a:ext cx="6465824" cy="1540099"/>
            <a:chOff x="0" y="-19050"/>
            <a:chExt cx="1804030" cy="429703"/>
          </a:xfrm>
        </p:grpSpPr>
        <p:sp>
          <p:nvSpPr>
            <p:cNvPr id="199" name="Google Shape;199;g3362f9fe692_0_159"/>
            <p:cNvSpPr/>
            <p:nvPr/>
          </p:nvSpPr>
          <p:spPr>
            <a:xfrm>
              <a:off x="0" y="0"/>
              <a:ext cx="1804030" cy="410653"/>
            </a:xfrm>
            <a:custGeom>
              <a:rect b="b" l="l" r="r" t="t"/>
              <a:pathLst>
                <a:path extrusionOk="0" h="410653" w="1804030">
                  <a:moveTo>
                    <a:pt x="59868" y="0"/>
                  </a:moveTo>
                  <a:lnTo>
                    <a:pt x="1744163" y="0"/>
                  </a:lnTo>
                  <a:cubicBezTo>
                    <a:pt x="1777226" y="0"/>
                    <a:pt x="1804030" y="26804"/>
                    <a:pt x="1804030" y="59868"/>
                  </a:cubicBezTo>
                  <a:lnTo>
                    <a:pt x="1804030" y="350785"/>
                  </a:lnTo>
                  <a:cubicBezTo>
                    <a:pt x="1804030" y="383849"/>
                    <a:pt x="1777226" y="410653"/>
                    <a:pt x="1744163" y="410653"/>
                  </a:cubicBezTo>
                  <a:lnTo>
                    <a:pt x="59868" y="410653"/>
                  </a:lnTo>
                  <a:cubicBezTo>
                    <a:pt x="26804" y="410653"/>
                    <a:pt x="0" y="383849"/>
                    <a:pt x="0" y="350785"/>
                  </a:cubicBezTo>
                  <a:lnTo>
                    <a:pt x="0" y="59868"/>
                  </a:lnTo>
                  <a:cubicBezTo>
                    <a:pt x="0" y="26804"/>
                    <a:pt x="26804" y="0"/>
                    <a:pt x="59868"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3362f9fe692_0_159"/>
            <p:cNvSpPr txBox="1"/>
            <p:nvPr/>
          </p:nvSpPr>
          <p:spPr>
            <a:xfrm>
              <a:off x="0" y="-19050"/>
              <a:ext cx="1803900" cy="429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1" name="Google Shape;201;g3362f9fe692_0_159"/>
          <p:cNvSpPr/>
          <p:nvPr/>
        </p:nvSpPr>
        <p:spPr>
          <a:xfrm>
            <a:off x="1956831" y="8559175"/>
            <a:ext cx="4609590" cy="656867"/>
          </a:xfrm>
          <a:custGeom>
            <a:rect b="b" l="l" r="r" t="t"/>
            <a:pathLst>
              <a:path extrusionOk="0" h="656867" w="4609590">
                <a:moveTo>
                  <a:pt x="0" y="0"/>
                </a:moveTo>
                <a:lnTo>
                  <a:pt x="4609590" y="0"/>
                </a:lnTo>
                <a:lnTo>
                  <a:pt x="4609590" y="656867"/>
                </a:lnTo>
                <a:lnTo>
                  <a:pt x="0" y="656867"/>
                </a:lnTo>
                <a:lnTo>
                  <a:pt x="0" y="0"/>
                </a:lnTo>
                <a:close/>
              </a:path>
            </a:pathLst>
          </a:custGeom>
          <a:blipFill rotWithShape="1">
            <a:blip r:embed="rId4">
              <a:alphaModFix/>
            </a:blip>
            <a:stretch>
              <a:fillRect b="0" l="0" r="0" t="0"/>
            </a:stretch>
          </a:blipFill>
          <a:ln>
            <a:noFill/>
          </a:ln>
        </p:spPr>
      </p:sp>
      <p:sp>
        <p:nvSpPr>
          <p:cNvPr id="202" name="Google Shape;202;g3362f9fe692_0_159"/>
          <p:cNvSpPr txBox="1"/>
          <p:nvPr/>
        </p:nvSpPr>
        <p:spPr>
          <a:xfrm>
            <a:off x="1742596" y="1459359"/>
            <a:ext cx="14802900" cy="253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Puede haber varias instancias de un solo programa y cada instancia de ese programa en ejecución es un proceso.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Cada proceso tiene un espacio de direcciones de memoria independiente, lo que significa que un proceso se ejecuta de forma independiente y está aislado de otros procesos. No puede acceder directamente a datos compartidos en otros procesos. </a:t>
            </a:r>
            <a:endParaRPr b="0" i="0" sz="1400" u="none" cap="none" strike="noStrike">
              <a:solidFill>
                <a:srgbClr val="000000"/>
              </a:solidFill>
              <a:latin typeface="Arial"/>
              <a:ea typeface="Arial"/>
              <a:cs typeface="Arial"/>
              <a:sym typeface="Arial"/>
            </a:endParaRPr>
          </a:p>
        </p:txBody>
      </p:sp>
      <p:sp>
        <p:nvSpPr>
          <p:cNvPr id="203" name="Google Shape;203;g3362f9fe692_0_159"/>
          <p:cNvSpPr txBox="1"/>
          <p:nvPr/>
        </p:nvSpPr>
        <p:spPr>
          <a:xfrm>
            <a:off x="1417897" y="4922778"/>
            <a:ext cx="5687400" cy="253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Esta independencia de los procesos es valiosa porque el sistema operativo hace todo lo posible por aislar los procesos para que un problema con un proceso no corrompa ni cause estragos en otro proceso.1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7" name="Shape 207"/>
        <p:cNvGrpSpPr/>
        <p:nvPr/>
      </p:nvGrpSpPr>
      <p:grpSpPr>
        <a:xfrm>
          <a:off x="0" y="0"/>
          <a:ext cx="0" cy="0"/>
          <a:chOff x="0" y="0"/>
          <a:chExt cx="0" cy="0"/>
        </a:xfrm>
      </p:grpSpPr>
      <p:grpSp>
        <p:nvGrpSpPr>
          <p:cNvPr id="208" name="Google Shape;208;g3362f9fe692_0_178"/>
          <p:cNvGrpSpPr/>
          <p:nvPr/>
        </p:nvGrpSpPr>
        <p:grpSpPr>
          <a:xfrm>
            <a:off x="10553400" y="1271049"/>
            <a:ext cx="6859669" cy="6431495"/>
            <a:chOff x="0" y="-19050"/>
            <a:chExt cx="1806650" cy="1611944"/>
          </a:xfrm>
        </p:grpSpPr>
        <p:sp>
          <p:nvSpPr>
            <p:cNvPr id="209" name="Google Shape;209;g3362f9fe692_0_178"/>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3362f9fe692_0_178"/>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1" name="Google Shape;211;g3362f9fe692_0_178"/>
          <p:cNvGrpSpPr/>
          <p:nvPr/>
        </p:nvGrpSpPr>
        <p:grpSpPr>
          <a:xfrm>
            <a:off x="874989" y="3881127"/>
            <a:ext cx="9328983" cy="5062513"/>
            <a:chOff x="0" y="-19050"/>
            <a:chExt cx="2457000" cy="1333328"/>
          </a:xfrm>
        </p:grpSpPr>
        <p:sp>
          <p:nvSpPr>
            <p:cNvPr id="212" name="Google Shape;212;g3362f9fe692_0_178"/>
            <p:cNvSpPr/>
            <p:nvPr/>
          </p:nvSpPr>
          <p:spPr>
            <a:xfrm>
              <a:off x="0" y="0"/>
              <a:ext cx="2456974" cy="1314278"/>
            </a:xfrm>
            <a:custGeom>
              <a:rect b="b" l="l" r="r" t="t"/>
              <a:pathLst>
                <a:path extrusionOk="0" h="1314278" w="2456974">
                  <a:moveTo>
                    <a:pt x="42325" y="0"/>
                  </a:moveTo>
                  <a:lnTo>
                    <a:pt x="2414649" y="0"/>
                  </a:lnTo>
                  <a:cubicBezTo>
                    <a:pt x="2425875" y="0"/>
                    <a:pt x="2436640" y="4459"/>
                    <a:pt x="2444577" y="12397"/>
                  </a:cubicBezTo>
                  <a:cubicBezTo>
                    <a:pt x="2452515" y="20334"/>
                    <a:pt x="2456974" y="31099"/>
                    <a:pt x="2456974" y="42325"/>
                  </a:cubicBezTo>
                  <a:lnTo>
                    <a:pt x="2456974" y="1271953"/>
                  </a:lnTo>
                  <a:cubicBezTo>
                    <a:pt x="2456974" y="1295329"/>
                    <a:pt x="2438024" y="1314278"/>
                    <a:pt x="2414649" y="1314278"/>
                  </a:cubicBezTo>
                  <a:lnTo>
                    <a:pt x="42325" y="1314278"/>
                  </a:lnTo>
                  <a:cubicBezTo>
                    <a:pt x="18949" y="1314278"/>
                    <a:pt x="0" y="1295329"/>
                    <a:pt x="0" y="1271953"/>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3362f9fe692_0_178"/>
            <p:cNvSpPr txBox="1"/>
            <p:nvPr/>
          </p:nvSpPr>
          <p:spPr>
            <a:xfrm>
              <a:off x="0" y="-19050"/>
              <a:ext cx="2457000" cy="1333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4" name="Google Shape;214;g3362f9fe692_0_178"/>
          <p:cNvSpPr/>
          <p:nvPr/>
        </p:nvSpPr>
        <p:spPr>
          <a:xfrm>
            <a:off x="1311484" y="4360999"/>
            <a:ext cx="8455831" cy="4175067"/>
          </a:xfrm>
          <a:custGeom>
            <a:rect b="b" l="l" r="r" t="t"/>
            <a:pathLst>
              <a:path extrusionOk="0" h="4175067" w="8455831">
                <a:moveTo>
                  <a:pt x="0" y="0"/>
                </a:moveTo>
                <a:lnTo>
                  <a:pt x="8455831" y="0"/>
                </a:lnTo>
                <a:lnTo>
                  <a:pt x="8455831" y="4175067"/>
                </a:lnTo>
                <a:lnTo>
                  <a:pt x="0" y="4175067"/>
                </a:lnTo>
                <a:lnTo>
                  <a:pt x="0" y="0"/>
                </a:lnTo>
                <a:close/>
              </a:path>
            </a:pathLst>
          </a:custGeom>
          <a:blipFill rotWithShape="1">
            <a:blip r:embed="rId3">
              <a:alphaModFix/>
            </a:blip>
            <a:stretch>
              <a:fillRect b="0" l="0" r="0" t="0"/>
            </a:stretch>
          </a:blipFill>
          <a:ln>
            <a:noFill/>
          </a:ln>
        </p:spPr>
      </p:sp>
      <p:sp>
        <p:nvSpPr>
          <p:cNvPr id="215" name="Google Shape;215;g3362f9fe692_0_178"/>
          <p:cNvSpPr/>
          <p:nvPr/>
        </p:nvSpPr>
        <p:spPr>
          <a:xfrm>
            <a:off x="8014250" y="1668352"/>
            <a:ext cx="1938682" cy="1938682"/>
          </a:xfrm>
          <a:custGeom>
            <a:rect b="b" l="l" r="r" t="t"/>
            <a:pathLst>
              <a:path extrusionOk="0" h="1938682" w="1938682">
                <a:moveTo>
                  <a:pt x="0" y="0"/>
                </a:moveTo>
                <a:lnTo>
                  <a:pt x="1938682" y="0"/>
                </a:lnTo>
                <a:lnTo>
                  <a:pt x="1938682" y="1938682"/>
                </a:lnTo>
                <a:lnTo>
                  <a:pt x="0" y="1938682"/>
                </a:lnTo>
                <a:lnTo>
                  <a:pt x="0" y="0"/>
                </a:lnTo>
                <a:close/>
              </a:path>
            </a:pathLst>
          </a:custGeom>
          <a:blipFill rotWithShape="1">
            <a:blip r:embed="rId4">
              <a:alphaModFix/>
            </a:blip>
            <a:stretch>
              <a:fillRect b="0" l="0" r="0" t="0"/>
            </a:stretch>
          </a:blipFill>
          <a:ln>
            <a:noFill/>
          </a:ln>
        </p:spPr>
      </p:sp>
      <p:sp>
        <p:nvSpPr>
          <p:cNvPr id="216" name="Google Shape;216;g3362f9fe692_0_178"/>
          <p:cNvSpPr txBox="1"/>
          <p:nvPr/>
        </p:nvSpPr>
        <p:spPr>
          <a:xfrm>
            <a:off x="1141085" y="2113373"/>
            <a:ext cx="65523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ENVIROMENT</a:t>
            </a:r>
            <a:endParaRPr b="0" i="0" sz="1400" u="none" cap="none" strike="noStrike">
              <a:solidFill>
                <a:srgbClr val="000000"/>
              </a:solidFill>
              <a:latin typeface="Arial"/>
              <a:ea typeface="Arial"/>
              <a:cs typeface="Arial"/>
              <a:sym typeface="Arial"/>
            </a:endParaRPr>
          </a:p>
        </p:txBody>
      </p:sp>
      <p:sp>
        <p:nvSpPr>
          <p:cNvPr id="217" name="Google Shape;217;g3362f9fe692_0_178"/>
          <p:cNvSpPr txBox="1"/>
          <p:nvPr/>
        </p:nvSpPr>
        <p:spPr>
          <a:xfrm>
            <a:off x="10987294" y="1822269"/>
            <a:ext cx="5991900" cy="56193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entorno o enviroment es una lista de variables de entorno heredadas del proceso principal que ejecuta una función exec.</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Una variable de entorno contiene una cadena de caracteres de longitud variable. Por ejemplo, </a:t>
            </a:r>
            <a:r>
              <a:rPr b="0" i="0" lang="en-US" sz="2199" u="none" cap="none" strike="noStrike">
                <a:solidFill>
                  <a:srgbClr val="67D3CD"/>
                </a:solidFill>
                <a:latin typeface="Montserrat"/>
                <a:ea typeface="Montserrat"/>
                <a:cs typeface="Montserrat"/>
                <a:sym typeface="Montserrat"/>
              </a:rPr>
              <a:t>PATH </a:t>
            </a:r>
            <a:r>
              <a:rPr b="0" i="0" lang="en-US" sz="2199" u="none" cap="none" strike="noStrike">
                <a:solidFill>
                  <a:srgbClr val="FFFFFF"/>
                </a:solidFill>
                <a:latin typeface="Montserrat"/>
                <a:ea typeface="Montserrat"/>
                <a:cs typeface="Montserrat"/>
                <a:sym typeface="Montserrat"/>
              </a:rPr>
              <a:t>es una variable del sistema exportada en </a:t>
            </a:r>
            <a:r>
              <a:rPr b="0" i="0" lang="en-US" sz="2199" u="none" cap="none" strike="noStrike">
                <a:solidFill>
                  <a:srgbClr val="67D3CD"/>
                </a:solidFill>
                <a:latin typeface="Montserrat"/>
                <a:ea typeface="Montserrat"/>
                <a:cs typeface="Montserrat"/>
                <a:sym typeface="Montserrat"/>
              </a:rPr>
              <a:t>/etc/environment</a:t>
            </a:r>
            <a:r>
              <a:rPr b="0" i="0" lang="en-US" sz="2199" u="none" cap="none" strike="noStrike">
                <a:solidFill>
                  <a:srgbClr val="FFFFFF"/>
                </a:solidFill>
                <a:latin typeface="Montserrat"/>
                <a:ea typeface="Montserrat"/>
                <a:cs typeface="Montserrat"/>
                <a:sym typeface="Montserrat"/>
              </a:rPr>
              <a:t> que contiene una lista de directorios que utiliza el shell para buscar archivos ejecutables binarios al intentar ejecutar un programa.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1" name="Shape 221"/>
        <p:cNvGrpSpPr/>
        <p:nvPr/>
      </p:nvGrpSpPr>
      <p:grpSpPr>
        <a:xfrm>
          <a:off x="0" y="0"/>
          <a:ext cx="0" cy="0"/>
          <a:chOff x="0" y="0"/>
          <a:chExt cx="0" cy="0"/>
        </a:xfrm>
      </p:grpSpPr>
      <p:grpSp>
        <p:nvGrpSpPr>
          <p:cNvPr id="222" name="Google Shape;222;g3362f9fe692_0_194"/>
          <p:cNvGrpSpPr/>
          <p:nvPr/>
        </p:nvGrpSpPr>
        <p:grpSpPr>
          <a:xfrm>
            <a:off x="10554812" y="1271062"/>
            <a:ext cx="6859669" cy="6120390"/>
            <a:chOff x="0" y="-19050"/>
            <a:chExt cx="1806650" cy="1611944"/>
          </a:xfrm>
        </p:grpSpPr>
        <p:sp>
          <p:nvSpPr>
            <p:cNvPr id="223" name="Google Shape;223;g3362f9fe692_0_194"/>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3362f9fe692_0_194"/>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5" name="Google Shape;225;g3362f9fe692_0_194"/>
          <p:cNvGrpSpPr/>
          <p:nvPr/>
        </p:nvGrpSpPr>
        <p:grpSpPr>
          <a:xfrm>
            <a:off x="873565" y="3652863"/>
            <a:ext cx="9328983" cy="5290980"/>
            <a:chOff x="0" y="-19050"/>
            <a:chExt cx="2457000" cy="1393500"/>
          </a:xfrm>
        </p:grpSpPr>
        <p:sp>
          <p:nvSpPr>
            <p:cNvPr id="226" name="Google Shape;226;g3362f9fe692_0_194"/>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3362f9fe692_0_194"/>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g3362f9fe692_0_194"/>
          <p:cNvGrpSpPr/>
          <p:nvPr/>
        </p:nvGrpSpPr>
        <p:grpSpPr>
          <a:xfrm>
            <a:off x="10554812" y="7593386"/>
            <a:ext cx="6859669" cy="1350231"/>
            <a:chOff x="0" y="-19050"/>
            <a:chExt cx="1806650" cy="355614"/>
          </a:xfrm>
        </p:grpSpPr>
        <p:sp>
          <p:nvSpPr>
            <p:cNvPr id="229" name="Google Shape;229;g3362f9fe692_0_194"/>
            <p:cNvSpPr/>
            <p:nvPr/>
          </p:nvSpPr>
          <p:spPr>
            <a:xfrm>
              <a:off x="0" y="0"/>
              <a:ext cx="1806650" cy="336564"/>
            </a:xfrm>
            <a:custGeom>
              <a:rect b="b" l="l" r="r" t="t"/>
              <a:pathLst>
                <a:path extrusionOk="0" h="336564" w="1806650">
                  <a:moveTo>
                    <a:pt x="57560" y="0"/>
                  </a:moveTo>
                  <a:lnTo>
                    <a:pt x="1749090" y="0"/>
                  </a:lnTo>
                  <a:cubicBezTo>
                    <a:pt x="1764356" y="0"/>
                    <a:pt x="1778996" y="6064"/>
                    <a:pt x="1789791" y="16859"/>
                  </a:cubicBezTo>
                  <a:cubicBezTo>
                    <a:pt x="1800585" y="27653"/>
                    <a:pt x="1806650" y="42294"/>
                    <a:pt x="1806650" y="57560"/>
                  </a:cubicBezTo>
                  <a:lnTo>
                    <a:pt x="1806650" y="279004"/>
                  </a:lnTo>
                  <a:cubicBezTo>
                    <a:pt x="1806650" y="294270"/>
                    <a:pt x="1800585" y="308910"/>
                    <a:pt x="1789791" y="319705"/>
                  </a:cubicBezTo>
                  <a:cubicBezTo>
                    <a:pt x="1778996" y="330499"/>
                    <a:pt x="1764356" y="336564"/>
                    <a:pt x="1749090" y="336564"/>
                  </a:cubicBezTo>
                  <a:lnTo>
                    <a:pt x="57560" y="336564"/>
                  </a:lnTo>
                  <a:cubicBezTo>
                    <a:pt x="42294" y="336564"/>
                    <a:pt x="27653" y="330499"/>
                    <a:pt x="16859" y="319705"/>
                  </a:cubicBezTo>
                  <a:cubicBezTo>
                    <a:pt x="6064" y="308910"/>
                    <a:pt x="0" y="294270"/>
                    <a:pt x="0" y="27900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g3362f9fe692_0_194"/>
            <p:cNvSpPr txBox="1"/>
            <p:nvPr/>
          </p:nvSpPr>
          <p:spPr>
            <a:xfrm>
              <a:off x="0" y="-19050"/>
              <a:ext cx="1806600" cy="355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1" name="Google Shape;231;g3362f9fe692_0_194"/>
          <p:cNvSpPr/>
          <p:nvPr/>
        </p:nvSpPr>
        <p:spPr>
          <a:xfrm>
            <a:off x="7804968" y="1441534"/>
            <a:ext cx="1885420" cy="1885420"/>
          </a:xfrm>
          <a:custGeom>
            <a:rect b="b" l="l" r="r" t="t"/>
            <a:pathLst>
              <a:path extrusionOk="0" h="1885420" w="1885420">
                <a:moveTo>
                  <a:pt x="0" y="0"/>
                </a:moveTo>
                <a:lnTo>
                  <a:pt x="1885420" y="0"/>
                </a:lnTo>
                <a:lnTo>
                  <a:pt x="1885420" y="1885420"/>
                </a:lnTo>
                <a:lnTo>
                  <a:pt x="0" y="1885420"/>
                </a:lnTo>
                <a:lnTo>
                  <a:pt x="0" y="0"/>
                </a:lnTo>
                <a:close/>
              </a:path>
            </a:pathLst>
          </a:custGeom>
          <a:blipFill rotWithShape="1">
            <a:blip r:embed="rId3">
              <a:alphaModFix/>
            </a:blip>
            <a:stretch>
              <a:fillRect b="0" l="0" r="0" t="0"/>
            </a:stretch>
          </a:blipFill>
          <a:ln>
            <a:noFill/>
          </a:ln>
        </p:spPr>
      </p:sp>
      <p:sp>
        <p:nvSpPr>
          <p:cNvPr id="232" name="Google Shape;232;g3362f9fe692_0_194"/>
          <p:cNvSpPr/>
          <p:nvPr/>
        </p:nvSpPr>
        <p:spPr>
          <a:xfrm>
            <a:off x="1390833" y="4140180"/>
            <a:ext cx="8158048" cy="4395148"/>
          </a:xfrm>
          <a:custGeom>
            <a:rect b="b" l="l" r="r" t="t"/>
            <a:pathLst>
              <a:path extrusionOk="0" h="4395148" w="8158048">
                <a:moveTo>
                  <a:pt x="0" y="0"/>
                </a:moveTo>
                <a:lnTo>
                  <a:pt x="8158048" y="0"/>
                </a:lnTo>
                <a:lnTo>
                  <a:pt x="8158048" y="4395149"/>
                </a:lnTo>
                <a:lnTo>
                  <a:pt x="0" y="4395149"/>
                </a:lnTo>
                <a:lnTo>
                  <a:pt x="0" y="0"/>
                </a:lnTo>
                <a:close/>
              </a:path>
            </a:pathLst>
          </a:custGeom>
          <a:blipFill rotWithShape="1">
            <a:blip r:embed="rId4">
              <a:alphaModFix/>
            </a:blip>
            <a:stretch>
              <a:fillRect b="0" l="0" r="0" t="0"/>
            </a:stretch>
          </a:blipFill>
          <a:ln>
            <a:noFill/>
          </a:ln>
        </p:spPr>
      </p:sp>
      <p:sp>
        <p:nvSpPr>
          <p:cNvPr id="233" name="Google Shape;233;g3362f9fe692_0_194"/>
          <p:cNvSpPr txBox="1"/>
          <p:nvPr/>
        </p:nvSpPr>
        <p:spPr>
          <a:xfrm>
            <a:off x="1249326" y="1859925"/>
            <a:ext cx="62022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ARGUMENTS</a:t>
            </a:r>
            <a:endParaRPr b="0" i="0" sz="1400" u="none" cap="none" strike="noStrike">
              <a:solidFill>
                <a:srgbClr val="000000"/>
              </a:solidFill>
              <a:latin typeface="Arial"/>
              <a:ea typeface="Arial"/>
              <a:cs typeface="Arial"/>
              <a:sym typeface="Arial"/>
            </a:endParaRPr>
          </a:p>
        </p:txBody>
      </p:sp>
      <p:sp>
        <p:nvSpPr>
          <p:cNvPr id="234" name="Google Shape;234;g3362f9fe692_0_194"/>
          <p:cNvSpPr txBox="1"/>
          <p:nvPr/>
        </p:nvSpPr>
        <p:spPr>
          <a:xfrm>
            <a:off x="10988718" y="2365194"/>
            <a:ext cx="5991900" cy="385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Los argumentos son una lista de valores de datos pasados ​​a un nuevo proceso.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Los argumentos se ingresan en la terminal o consola después de ingresar el comando. Se puede escribir más de un argumento juntos, estos se procesarán en el ordenen que se escriban.</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8" name="Shape 238"/>
        <p:cNvGrpSpPr/>
        <p:nvPr/>
      </p:nvGrpSpPr>
      <p:grpSpPr>
        <a:xfrm>
          <a:off x="0" y="0"/>
          <a:ext cx="0" cy="0"/>
          <a:chOff x="0" y="0"/>
          <a:chExt cx="0" cy="0"/>
        </a:xfrm>
      </p:grpSpPr>
      <p:grpSp>
        <p:nvGrpSpPr>
          <p:cNvPr id="239" name="Google Shape;239;g3362f9fe692_0_289"/>
          <p:cNvGrpSpPr/>
          <p:nvPr/>
        </p:nvGrpSpPr>
        <p:grpSpPr>
          <a:xfrm>
            <a:off x="921975" y="1850025"/>
            <a:ext cx="16570991" cy="7748278"/>
            <a:chOff x="0" y="-19050"/>
            <a:chExt cx="2457000" cy="1393500"/>
          </a:xfrm>
        </p:grpSpPr>
        <p:sp>
          <p:nvSpPr>
            <p:cNvPr id="240" name="Google Shape;240;g3362f9fe692_0_289"/>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362f9fe692_0_289"/>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2" name="Google Shape;242;g3362f9fe692_0_289"/>
          <p:cNvSpPr txBox="1"/>
          <p:nvPr/>
        </p:nvSpPr>
        <p:spPr>
          <a:xfrm>
            <a:off x="921975" y="666575"/>
            <a:ext cx="159000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ESTADOS DE UN PROCESO</a:t>
            </a:r>
            <a:endParaRPr b="0" i="0" sz="1400" u="none" cap="none" strike="noStrike">
              <a:solidFill>
                <a:srgbClr val="000000"/>
              </a:solidFill>
              <a:latin typeface="Arial"/>
              <a:ea typeface="Arial"/>
              <a:cs typeface="Arial"/>
              <a:sym typeface="Arial"/>
            </a:endParaRPr>
          </a:p>
        </p:txBody>
      </p:sp>
      <p:sp>
        <p:nvSpPr>
          <p:cNvPr id="243" name="Google Shape;243;g3362f9fe692_0_289"/>
          <p:cNvSpPr txBox="1"/>
          <p:nvPr/>
        </p:nvSpPr>
        <p:spPr>
          <a:xfrm>
            <a:off x="1150837" y="2324498"/>
            <a:ext cx="15900000" cy="73797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vida de un proceso puede dividirse en un conjunto de estados, cada uno con ciertas características que describen su situación actual. Es fundamental comprender los siguientes estados:</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se está ejecutando actualmente en modo usuario. </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Está realizando tareas normales en nombre de una aplicación o del usuario.</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se está ejecutando actualmente en modo kernel.</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Está ejecutando código privilegiado del sistema operativo, por ejemplo, atendiendo una llamada al sistema.</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no se está ejecutando, pero está listo para ejecutarse tan pronto como el planificador lo seleccione.</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Puede haber muchos procesos en este estado, y el algoritmo de planificación decide cuál se ejecutará a continuación.</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durmiendo.</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Un proceso se pone a dormir cuando no puede continuar ejecutándose, por ejemplo, cuando espera que una operación de E/S finalice.</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7" name="Shape 247"/>
        <p:cNvGrpSpPr/>
        <p:nvPr/>
      </p:nvGrpSpPr>
      <p:grpSpPr>
        <a:xfrm>
          <a:off x="0" y="0"/>
          <a:ext cx="0" cy="0"/>
          <a:chOff x="0" y="0"/>
          <a:chExt cx="0" cy="0"/>
        </a:xfrm>
      </p:grpSpPr>
      <p:grpSp>
        <p:nvGrpSpPr>
          <p:cNvPr id="248" name="Google Shape;248;g3362f9fe692_0_354"/>
          <p:cNvGrpSpPr/>
          <p:nvPr/>
        </p:nvGrpSpPr>
        <p:grpSpPr>
          <a:xfrm>
            <a:off x="921975" y="1850025"/>
            <a:ext cx="16570991" cy="7748278"/>
            <a:chOff x="0" y="-19050"/>
            <a:chExt cx="2457000" cy="1393500"/>
          </a:xfrm>
        </p:grpSpPr>
        <p:sp>
          <p:nvSpPr>
            <p:cNvPr id="249" name="Google Shape;249;g3362f9fe692_0_354"/>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3362f9fe692_0_354"/>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1" name="Google Shape;251;g3362f9fe692_0_354"/>
          <p:cNvSpPr txBox="1"/>
          <p:nvPr/>
        </p:nvSpPr>
        <p:spPr>
          <a:xfrm>
            <a:off x="921975" y="666575"/>
            <a:ext cx="159000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ESTADOS DE UN PROCESO</a:t>
            </a:r>
            <a:endParaRPr b="0" i="0" sz="1400" u="none" cap="none" strike="noStrike">
              <a:solidFill>
                <a:srgbClr val="000000"/>
              </a:solidFill>
              <a:latin typeface="Arial"/>
              <a:ea typeface="Arial"/>
              <a:cs typeface="Arial"/>
              <a:sym typeface="Arial"/>
            </a:endParaRPr>
          </a:p>
        </p:txBody>
      </p:sp>
      <p:sp>
        <p:nvSpPr>
          <p:cNvPr id="252" name="Google Shape;252;g3362f9fe692_0_354"/>
          <p:cNvSpPr txBox="1"/>
          <p:nvPr/>
        </p:nvSpPr>
        <p:spPr>
          <a:xfrm>
            <a:off x="1150837" y="2324498"/>
            <a:ext cx="15900000" cy="7379700"/>
          </a:xfrm>
          <a:prstGeom prst="rect">
            <a:avLst/>
          </a:prstGeom>
          <a:noFill/>
          <a:ln>
            <a:noFill/>
          </a:ln>
        </p:spPr>
        <p:txBody>
          <a:bodyPr anchorCtr="0" anchor="t" bIns="0" lIns="0" spcFirstLastPara="1" rIns="0" wrap="square" tIns="0">
            <a:spAutoFit/>
          </a:bodyPr>
          <a:lstStyle/>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listo para ejecutarse, pero el "swapper" (proceso 0) debe cargarlo en la memoria principal antes de que el kernel pueda programarlo para ejecutarse.</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dormido, y el "swapper" lo ha intercambiado (swapped) a almacenamiento secundario para liberar espacio en la memoria principal para otros procesos.</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regresando del modo kernel al modo usuario, pero el kernel lo interrumpe (preemption) y realiza un cambio de contexto (context switch) para programar otro proceso. La diferencia entre este estado y el estado 3 ("listo para ejecutarse") se explicará más adelante.</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ha sido recién creado y está en un estado de transición.</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existe, pero aún no está listo para ejecutarse ni está dormido. Este es el estado inicial para todos los procesos excepto el proceso 0.</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ejecutó la llamada al sistema exit y está en estado zombi.</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ya no existe, pero deja un registro con su código de salida y estadísticas de tiempo para que su proceso padre las recoja. El estado zombi es el estado final de un proceso.</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6" name="Shape 256"/>
        <p:cNvGrpSpPr/>
        <p:nvPr/>
      </p:nvGrpSpPr>
      <p:grpSpPr>
        <a:xfrm>
          <a:off x="0" y="0"/>
          <a:ext cx="0" cy="0"/>
          <a:chOff x="0" y="0"/>
          <a:chExt cx="0" cy="0"/>
        </a:xfrm>
      </p:grpSpPr>
      <p:grpSp>
        <p:nvGrpSpPr>
          <p:cNvPr id="257" name="Google Shape;257;g3362f9fe692_0_305"/>
          <p:cNvGrpSpPr/>
          <p:nvPr/>
        </p:nvGrpSpPr>
        <p:grpSpPr>
          <a:xfrm>
            <a:off x="873572" y="3652871"/>
            <a:ext cx="6859698" cy="3490857"/>
            <a:chOff x="0" y="-19050"/>
            <a:chExt cx="2457000" cy="1393500"/>
          </a:xfrm>
        </p:grpSpPr>
        <p:sp>
          <p:nvSpPr>
            <p:cNvPr id="258" name="Google Shape;258;g3362f9fe692_0_305"/>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3362f9fe692_0_305"/>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0" name="Google Shape;260;g3362f9fe692_0_305"/>
          <p:cNvSpPr/>
          <p:nvPr/>
        </p:nvSpPr>
        <p:spPr>
          <a:xfrm>
            <a:off x="4020584" y="1860077"/>
            <a:ext cx="1329221" cy="1046408"/>
          </a:xfrm>
          <a:custGeom>
            <a:rect b="b" l="l" r="r" t="t"/>
            <a:pathLst>
              <a:path extrusionOk="0" h="1885420" w="1885420">
                <a:moveTo>
                  <a:pt x="0" y="0"/>
                </a:moveTo>
                <a:lnTo>
                  <a:pt x="1885420" y="0"/>
                </a:lnTo>
                <a:lnTo>
                  <a:pt x="1885420" y="1885420"/>
                </a:lnTo>
                <a:lnTo>
                  <a:pt x="0" y="1885420"/>
                </a:lnTo>
                <a:lnTo>
                  <a:pt x="0" y="0"/>
                </a:lnTo>
                <a:close/>
              </a:path>
            </a:pathLst>
          </a:custGeom>
          <a:blipFill rotWithShape="1">
            <a:blip r:embed="rId3">
              <a:alphaModFix/>
            </a:blip>
            <a:stretch>
              <a:fillRect b="0" l="0" r="0" t="0"/>
            </a:stretch>
          </a:blipFill>
          <a:ln>
            <a:noFill/>
          </a:ln>
        </p:spPr>
      </p:sp>
      <p:sp>
        <p:nvSpPr>
          <p:cNvPr id="261" name="Google Shape;261;g3362f9fe692_0_305"/>
          <p:cNvSpPr txBox="1"/>
          <p:nvPr/>
        </p:nvSpPr>
        <p:spPr>
          <a:xfrm>
            <a:off x="1249326" y="1859925"/>
            <a:ext cx="62022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NOTA</a:t>
            </a:r>
            <a:endParaRPr b="0" i="0" sz="1400" u="none" cap="none" strike="noStrike">
              <a:solidFill>
                <a:srgbClr val="000000"/>
              </a:solidFill>
              <a:latin typeface="Arial"/>
              <a:ea typeface="Arial"/>
              <a:cs typeface="Arial"/>
              <a:sym typeface="Arial"/>
            </a:endParaRPr>
          </a:p>
        </p:txBody>
      </p:sp>
      <p:sp>
        <p:nvSpPr>
          <p:cNvPr id="262" name="Google Shape;262;g3362f9fe692_0_305"/>
          <p:cNvSpPr txBox="1"/>
          <p:nvPr/>
        </p:nvSpPr>
        <p:spPr>
          <a:xfrm>
            <a:off x="1354468" y="3940494"/>
            <a:ext cx="5991900" cy="29790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Dado que un procesador solo puede ejecutar un proceso a la vez, a lo sumo uno puede estar en los estados 1 (modo usuario) o 2 (modo kernel) simultáneamente. Estos dos estados corresponden a los dos modos de ejecución del procesador.</a:t>
            </a:r>
            <a:endParaRPr b="0" i="0" sz="2199" u="none" cap="none" strike="noStrike">
              <a:solidFill>
                <a:srgbClr val="FFFFFF"/>
              </a:solidFill>
              <a:latin typeface="Montserrat"/>
              <a:ea typeface="Montserrat"/>
              <a:cs typeface="Montserrat"/>
              <a:sym typeface="Montserrat"/>
            </a:endParaRPr>
          </a:p>
        </p:txBody>
      </p:sp>
      <p:sp>
        <p:nvSpPr>
          <p:cNvPr id="263" name="Google Shape;263;g3362f9fe692_0_305"/>
          <p:cNvSpPr/>
          <p:nvPr/>
        </p:nvSpPr>
        <p:spPr>
          <a:xfrm>
            <a:off x="8627450" y="128225"/>
            <a:ext cx="8462700" cy="1015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264" name="Google Shape;264;g3362f9fe692_0_305"/>
          <p:cNvPicPr preferRelativeResize="0"/>
          <p:nvPr/>
        </p:nvPicPr>
        <p:blipFill rotWithShape="1">
          <a:blip r:embed="rId4">
            <a:alphaModFix/>
          </a:blip>
          <a:srcRect b="0" l="0" r="0" t="0"/>
          <a:stretch/>
        </p:blipFill>
        <p:spPr>
          <a:xfrm>
            <a:off x="8646149" y="166301"/>
            <a:ext cx="8450005" cy="99821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8" name="Shape 268"/>
        <p:cNvGrpSpPr/>
        <p:nvPr/>
      </p:nvGrpSpPr>
      <p:grpSpPr>
        <a:xfrm>
          <a:off x="0" y="0"/>
          <a:ext cx="0" cy="0"/>
          <a:chOff x="0" y="0"/>
          <a:chExt cx="0" cy="0"/>
        </a:xfrm>
      </p:grpSpPr>
      <p:grpSp>
        <p:nvGrpSpPr>
          <p:cNvPr id="269" name="Google Shape;269;g3362f9fe692_0_321"/>
          <p:cNvGrpSpPr/>
          <p:nvPr/>
        </p:nvGrpSpPr>
        <p:grpSpPr>
          <a:xfrm>
            <a:off x="10554812" y="1271062"/>
            <a:ext cx="6859669" cy="6120390"/>
            <a:chOff x="0" y="-19050"/>
            <a:chExt cx="1806650" cy="1611944"/>
          </a:xfrm>
        </p:grpSpPr>
        <p:sp>
          <p:nvSpPr>
            <p:cNvPr id="270" name="Google Shape;270;g3362f9fe692_0_321"/>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3362f9fe692_0_321"/>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2" name="Google Shape;272;g3362f9fe692_0_321"/>
          <p:cNvGrpSpPr/>
          <p:nvPr/>
        </p:nvGrpSpPr>
        <p:grpSpPr>
          <a:xfrm>
            <a:off x="873565" y="3424263"/>
            <a:ext cx="9328983" cy="5290980"/>
            <a:chOff x="0" y="-19050"/>
            <a:chExt cx="2457000" cy="1393500"/>
          </a:xfrm>
        </p:grpSpPr>
        <p:sp>
          <p:nvSpPr>
            <p:cNvPr id="273" name="Google Shape;273;g3362f9fe692_0_321"/>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g3362f9fe692_0_321"/>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5" name="Google Shape;275;g3362f9fe692_0_321"/>
          <p:cNvSpPr/>
          <p:nvPr/>
        </p:nvSpPr>
        <p:spPr>
          <a:xfrm>
            <a:off x="7255468" y="1121372"/>
            <a:ext cx="1885420" cy="1885420"/>
          </a:xfrm>
          <a:custGeom>
            <a:rect b="b" l="l" r="r" t="t"/>
            <a:pathLst>
              <a:path extrusionOk="0" h="1885420" w="1885420">
                <a:moveTo>
                  <a:pt x="0" y="0"/>
                </a:moveTo>
                <a:lnTo>
                  <a:pt x="1885420" y="0"/>
                </a:lnTo>
                <a:lnTo>
                  <a:pt x="1885420" y="1885420"/>
                </a:lnTo>
                <a:lnTo>
                  <a:pt x="0" y="1885420"/>
                </a:lnTo>
                <a:lnTo>
                  <a:pt x="0" y="0"/>
                </a:lnTo>
                <a:close/>
              </a:path>
            </a:pathLst>
          </a:custGeom>
          <a:blipFill rotWithShape="1">
            <a:blip r:embed="rId3">
              <a:alphaModFix/>
            </a:blip>
            <a:stretch>
              <a:fillRect b="0" l="0" r="0" t="0"/>
            </a:stretch>
          </a:blipFill>
          <a:ln>
            <a:noFill/>
          </a:ln>
        </p:spPr>
      </p:sp>
      <p:sp>
        <p:nvSpPr>
          <p:cNvPr id="276" name="Google Shape;276;g3362f9fe692_0_321"/>
          <p:cNvSpPr txBox="1"/>
          <p:nvPr/>
        </p:nvSpPr>
        <p:spPr>
          <a:xfrm>
            <a:off x="873576" y="907425"/>
            <a:ext cx="6202200" cy="2313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PCB: Process Control Block</a:t>
            </a:r>
            <a:endParaRPr b="0" i="0" sz="1400" u="none" cap="none" strike="noStrike">
              <a:solidFill>
                <a:srgbClr val="000000"/>
              </a:solidFill>
              <a:latin typeface="Arial"/>
              <a:ea typeface="Arial"/>
              <a:cs typeface="Arial"/>
              <a:sym typeface="Arial"/>
            </a:endParaRPr>
          </a:p>
        </p:txBody>
      </p:sp>
      <p:sp>
        <p:nvSpPr>
          <p:cNvPr id="277" name="Google Shape;277;g3362f9fe692_0_321"/>
          <p:cNvSpPr txBox="1"/>
          <p:nvPr/>
        </p:nvSpPr>
        <p:spPr>
          <a:xfrm>
            <a:off x="10679000" y="1666875"/>
            <a:ext cx="6502500" cy="56193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Un Bloque de Control de Procesos funciona como una representación del núcleo de un proceso , lo que permite al sistema operativo gestionarlo y controlarlo eficientemente. Conocido a menudo como PCB o estructura de tareas, es una estructura de datos que sirve como almacenamiento central de la información sobre un proceso.</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creación de un nuevo proceso siempre acompaña la asignación de memoria para su task_struct, y esta estructura contiene toda la información relevante:</a:t>
            </a:r>
            <a:endParaRPr b="0" i="0" sz="2199" u="none" cap="none" strike="noStrike">
              <a:solidFill>
                <a:srgbClr val="FFFFFF"/>
              </a:solidFill>
              <a:latin typeface="Montserrat"/>
              <a:ea typeface="Montserrat"/>
              <a:cs typeface="Montserrat"/>
              <a:sym typeface="Montserrat"/>
            </a:endParaRPr>
          </a:p>
        </p:txBody>
      </p:sp>
      <p:pic>
        <p:nvPicPr>
          <p:cNvPr id="278" name="Google Shape;278;g3362f9fe692_0_321"/>
          <p:cNvPicPr preferRelativeResize="0"/>
          <p:nvPr/>
        </p:nvPicPr>
        <p:blipFill rotWithShape="1">
          <a:blip r:embed="rId4">
            <a:alphaModFix/>
          </a:blip>
          <a:srcRect b="0" l="0" r="0" t="0"/>
          <a:stretch/>
        </p:blipFill>
        <p:spPr>
          <a:xfrm>
            <a:off x="873575" y="4029988"/>
            <a:ext cx="9328975" cy="41447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2" name="Shape 282"/>
        <p:cNvGrpSpPr/>
        <p:nvPr/>
      </p:nvGrpSpPr>
      <p:grpSpPr>
        <a:xfrm>
          <a:off x="0" y="0"/>
          <a:ext cx="0" cy="0"/>
          <a:chOff x="0" y="0"/>
          <a:chExt cx="0" cy="0"/>
        </a:xfrm>
      </p:grpSpPr>
      <p:grpSp>
        <p:nvGrpSpPr>
          <p:cNvPr id="283" name="Google Shape;283;g3362f9fe692_0_337"/>
          <p:cNvGrpSpPr/>
          <p:nvPr/>
        </p:nvGrpSpPr>
        <p:grpSpPr>
          <a:xfrm>
            <a:off x="10554800" y="1271050"/>
            <a:ext cx="6859669" cy="6631215"/>
            <a:chOff x="0" y="-19050"/>
            <a:chExt cx="1806650" cy="1611944"/>
          </a:xfrm>
        </p:grpSpPr>
        <p:sp>
          <p:nvSpPr>
            <p:cNvPr id="284" name="Google Shape;284;g3362f9fe692_0_337"/>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3362f9fe692_0_337"/>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6" name="Google Shape;286;g3362f9fe692_0_337"/>
          <p:cNvGrpSpPr/>
          <p:nvPr/>
        </p:nvGrpSpPr>
        <p:grpSpPr>
          <a:xfrm>
            <a:off x="695475" y="3652875"/>
            <a:ext cx="9507116" cy="5660397"/>
            <a:chOff x="0" y="-19050"/>
            <a:chExt cx="2457000" cy="1393500"/>
          </a:xfrm>
        </p:grpSpPr>
        <p:sp>
          <p:nvSpPr>
            <p:cNvPr id="287" name="Google Shape;287;g3362f9fe692_0_337"/>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3362f9fe692_0_337"/>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9" name="Google Shape;289;g3362f9fe692_0_337"/>
          <p:cNvSpPr txBox="1"/>
          <p:nvPr/>
        </p:nvSpPr>
        <p:spPr>
          <a:xfrm>
            <a:off x="873575" y="1227600"/>
            <a:ext cx="7925700" cy="2313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¿Dónde está la PCB?</a:t>
            </a:r>
            <a:endParaRPr b="0" i="0" sz="1400" u="none" cap="none" strike="noStrike">
              <a:solidFill>
                <a:srgbClr val="000000"/>
              </a:solidFill>
              <a:latin typeface="Arial"/>
              <a:ea typeface="Arial"/>
              <a:cs typeface="Arial"/>
              <a:sym typeface="Arial"/>
            </a:endParaRPr>
          </a:p>
        </p:txBody>
      </p:sp>
      <p:sp>
        <p:nvSpPr>
          <p:cNvPr id="290" name="Google Shape;290;g3362f9fe692_0_337"/>
          <p:cNvSpPr txBox="1"/>
          <p:nvPr/>
        </p:nvSpPr>
        <p:spPr>
          <a:xfrm>
            <a:off x="1028100" y="3931650"/>
            <a:ext cx="89505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Las PCB se definen principalmente dentro de la estructura task_struct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Cada PCB es una instancia de esta estructura, cuyos campos almacenan información específica del proceso, como estado, registros y detalles de gestión de memoria.</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En Linux, la memoria tiene dos regiones centrales: el espacio de usuario y el espacio del kernel. Los procesos de usuario se ejecutan en un espacio de usuario asignado, separado del kernel. El espacio de memoria del kernel está reservado para el kernel de Linux y sus estructuras de datos (incluida la PCB ).</a:t>
            </a:r>
            <a:endParaRPr b="0" i="0" sz="2199" u="none" cap="none" strike="noStrike">
              <a:solidFill>
                <a:srgbClr val="FFFFFF"/>
              </a:solidFill>
              <a:latin typeface="Montserrat"/>
              <a:ea typeface="Montserrat"/>
              <a:cs typeface="Montserrat"/>
              <a:sym typeface="Montserrat"/>
            </a:endParaRPr>
          </a:p>
        </p:txBody>
      </p:sp>
      <p:pic>
        <p:nvPicPr>
          <p:cNvPr id="291" name="Google Shape;291;g3362f9fe692_0_337"/>
          <p:cNvPicPr preferRelativeResize="0"/>
          <p:nvPr/>
        </p:nvPicPr>
        <p:blipFill rotWithShape="1">
          <a:blip r:embed="rId3">
            <a:alphaModFix/>
          </a:blip>
          <a:srcRect b="0" l="0" r="0" t="0"/>
          <a:stretch/>
        </p:blipFill>
        <p:spPr>
          <a:xfrm>
            <a:off x="11093788" y="1638350"/>
            <a:ext cx="5781675" cy="5753100"/>
          </a:xfrm>
          <a:prstGeom prst="rect">
            <a:avLst/>
          </a:prstGeom>
          <a:noFill/>
          <a:ln>
            <a:noFill/>
          </a:ln>
        </p:spPr>
      </p:pic>
      <p:pic>
        <p:nvPicPr>
          <p:cNvPr id="292" name="Google Shape;292;g3362f9fe692_0_337"/>
          <p:cNvPicPr preferRelativeResize="0"/>
          <p:nvPr/>
        </p:nvPicPr>
        <p:blipFill rotWithShape="1">
          <a:blip r:embed="rId4">
            <a:alphaModFix/>
          </a:blip>
          <a:srcRect b="0" l="0" r="0" t="0"/>
          <a:stretch/>
        </p:blipFill>
        <p:spPr>
          <a:xfrm>
            <a:off x="7391666" y="1271040"/>
            <a:ext cx="2079935" cy="20799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362f9fe692_0_37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98" name="Google Shape;298;g3362f9fe692_0_37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299" name="Google Shape;299;g3362f9fe692_0_37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300" name="Google Shape;300;g3362f9fe692_0_371"/>
          <p:cNvSpPr txBox="1"/>
          <p:nvPr/>
        </p:nvSpPr>
        <p:spPr>
          <a:xfrm>
            <a:off x="2177865" y="3594284"/>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HILOS (INTRODUCCION)</a:t>
            </a:r>
            <a:endParaRPr b="0" i="0" sz="1400" u="none" cap="none" strike="noStrike">
              <a:solidFill>
                <a:srgbClr val="000000"/>
              </a:solidFill>
              <a:latin typeface="Arial"/>
              <a:ea typeface="Arial"/>
              <a:cs typeface="Arial"/>
              <a:sym typeface="Arial"/>
            </a:endParaRPr>
          </a:p>
        </p:txBody>
      </p:sp>
      <p:sp>
        <p:nvSpPr>
          <p:cNvPr id="301" name="Google Shape;301;g3362f9fe692_0_371"/>
          <p:cNvSpPr/>
          <p:nvPr/>
        </p:nvSpPr>
        <p:spPr>
          <a:xfrm rot="1574698">
            <a:off x="14023112" y="6164131"/>
            <a:ext cx="5913343" cy="5868994"/>
          </a:xfrm>
          <a:custGeom>
            <a:rect b="b" l="l" r="r" t="t"/>
            <a:pathLst>
              <a:path extrusionOk="0" h="5865146" w="5909466">
                <a:moveTo>
                  <a:pt x="0" y="0"/>
                </a:moveTo>
                <a:lnTo>
                  <a:pt x="5909467" y="0"/>
                </a:lnTo>
                <a:lnTo>
                  <a:pt x="5909467" y="5865145"/>
                </a:lnTo>
                <a:lnTo>
                  <a:pt x="0" y="5865145"/>
                </a:lnTo>
                <a:lnTo>
                  <a:pt x="0" y="0"/>
                </a:lnTo>
                <a:close/>
              </a:path>
            </a:pathLst>
          </a:custGeom>
          <a:blipFill rotWithShape="1">
            <a:blip r:embed="rId5">
              <a:alphaModFix/>
            </a:blip>
            <a:stretch>
              <a:fillRect b="0" l="0" r="0" t="0"/>
            </a:stretch>
          </a:blipFill>
          <a:ln>
            <a:noFill/>
          </a:ln>
        </p:spPr>
      </p:sp>
      <p:grpSp>
        <p:nvGrpSpPr>
          <p:cNvPr id="302" name="Google Shape;302;g3362f9fe692_0_371"/>
          <p:cNvGrpSpPr/>
          <p:nvPr/>
        </p:nvGrpSpPr>
        <p:grpSpPr>
          <a:xfrm>
            <a:off x="5261794" y="2670655"/>
            <a:ext cx="7764346" cy="662374"/>
            <a:chOff x="0" y="-28575"/>
            <a:chExt cx="5099400" cy="435000"/>
          </a:xfrm>
        </p:grpSpPr>
        <p:sp>
          <p:nvSpPr>
            <p:cNvPr id="303" name="Google Shape;303;g3362f9fe692_0_37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3362f9fe692_0_37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305" name="Google Shape;305;g3362f9fe692_0_371"/>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9" name="Shape 309"/>
        <p:cNvGrpSpPr/>
        <p:nvPr/>
      </p:nvGrpSpPr>
      <p:grpSpPr>
        <a:xfrm>
          <a:off x="0" y="0"/>
          <a:ext cx="0" cy="0"/>
          <a:chOff x="0" y="0"/>
          <a:chExt cx="0" cy="0"/>
        </a:xfrm>
      </p:grpSpPr>
      <p:sp>
        <p:nvSpPr>
          <p:cNvPr id="310" name="Google Shape;310;g3362f9fe692_0_383"/>
          <p:cNvSpPr/>
          <p:nvPr/>
        </p:nvSpPr>
        <p:spPr>
          <a:xfrm rot="-6500666">
            <a:off x="-2965870" y="-4075873"/>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311" name="Google Shape;311;g3362f9fe692_0_383"/>
          <p:cNvGrpSpPr/>
          <p:nvPr/>
        </p:nvGrpSpPr>
        <p:grpSpPr>
          <a:xfrm>
            <a:off x="1028700" y="2257935"/>
            <a:ext cx="8248006" cy="7000724"/>
            <a:chOff x="0" y="-28575"/>
            <a:chExt cx="2172300" cy="1843800"/>
          </a:xfrm>
        </p:grpSpPr>
        <p:sp>
          <p:nvSpPr>
            <p:cNvPr id="312" name="Google Shape;312;g3362f9fe692_0_383"/>
            <p:cNvSpPr/>
            <p:nvPr/>
          </p:nvSpPr>
          <p:spPr>
            <a:xfrm>
              <a:off x="0" y="0"/>
              <a:ext cx="2172233" cy="1815143"/>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3362f9fe692_0_383"/>
            <p:cNvSpPr txBox="1"/>
            <p:nvPr/>
          </p:nvSpPr>
          <p:spPr>
            <a:xfrm>
              <a:off x="0" y="-28575"/>
              <a:ext cx="2172300" cy="1843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4" name="Google Shape;314;g3362f9fe692_0_383"/>
          <p:cNvSpPr/>
          <p:nvPr/>
        </p:nvSpPr>
        <p:spPr>
          <a:xfrm>
            <a:off x="1446191" y="2744256"/>
            <a:ext cx="7412715" cy="6087692"/>
          </a:xfrm>
          <a:custGeom>
            <a:rect b="b" l="l" r="r" t="t"/>
            <a:pathLst>
              <a:path extrusionOk="0" h="6087692" w="7412715">
                <a:moveTo>
                  <a:pt x="0" y="0"/>
                </a:moveTo>
                <a:lnTo>
                  <a:pt x="7412715" y="0"/>
                </a:lnTo>
                <a:lnTo>
                  <a:pt x="7412715" y="6087692"/>
                </a:lnTo>
                <a:lnTo>
                  <a:pt x="0" y="6087692"/>
                </a:lnTo>
                <a:lnTo>
                  <a:pt x="0" y="0"/>
                </a:lnTo>
                <a:close/>
              </a:path>
            </a:pathLst>
          </a:custGeom>
          <a:blipFill rotWithShape="1">
            <a:blip r:embed="rId4">
              <a:alphaModFix/>
            </a:blip>
            <a:stretch>
              <a:fillRect b="0" l="0" r="0" t="0"/>
            </a:stretch>
          </a:blipFill>
          <a:ln>
            <a:noFill/>
          </a:ln>
        </p:spPr>
      </p:sp>
      <p:sp>
        <p:nvSpPr>
          <p:cNvPr id="315" name="Google Shape;315;g3362f9fe692_0_383"/>
          <p:cNvSpPr txBox="1"/>
          <p:nvPr/>
        </p:nvSpPr>
        <p:spPr>
          <a:xfrm>
            <a:off x="9740781" y="2311477"/>
            <a:ext cx="7518600" cy="7065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Un hilo de ejecución es la secuencia más pequeña de instrucciones que un programador puede gestionar de forma independiente.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El sistema operativo crea y administra hilos, estos comparten la misma memoria y recursos que el programa que los creó, permitiendo que múltiples threads colaboren y trabajen de manera eficiente dentro de un solo programa.</a:t>
            </a:r>
            <a:endParaRPr b="0" i="0" sz="1400" u="none" cap="none" strike="noStrike">
              <a:solidFill>
                <a:srgbClr val="000000"/>
              </a:solidFill>
              <a:latin typeface="Arial"/>
              <a:ea typeface="Arial"/>
              <a:cs typeface="Arial"/>
              <a:sym typeface="Arial"/>
            </a:endParaRPr>
          </a:p>
        </p:txBody>
      </p:sp>
      <p:sp>
        <p:nvSpPr>
          <p:cNvPr id="316" name="Google Shape;316;g3362f9fe692_0_383"/>
          <p:cNvSpPr txBox="1"/>
          <p:nvPr/>
        </p:nvSpPr>
        <p:spPr>
          <a:xfrm>
            <a:off x="1161098" y="1176573"/>
            <a:ext cx="84543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HILOS (THREADS)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0" name="Shape 320"/>
        <p:cNvGrpSpPr/>
        <p:nvPr/>
      </p:nvGrpSpPr>
      <p:grpSpPr>
        <a:xfrm>
          <a:off x="0" y="0"/>
          <a:ext cx="0" cy="0"/>
          <a:chOff x="0" y="0"/>
          <a:chExt cx="0" cy="0"/>
        </a:xfrm>
      </p:grpSpPr>
      <p:sp>
        <p:nvSpPr>
          <p:cNvPr id="321" name="Google Shape;321;g3362f9fe692_0_575"/>
          <p:cNvSpPr/>
          <p:nvPr/>
        </p:nvSpPr>
        <p:spPr>
          <a:xfrm rot="-6500666">
            <a:off x="-2965870" y="-4075873"/>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322" name="Google Shape;322;g3362f9fe692_0_575"/>
          <p:cNvGrpSpPr/>
          <p:nvPr/>
        </p:nvGrpSpPr>
        <p:grpSpPr>
          <a:xfrm>
            <a:off x="959425" y="3150791"/>
            <a:ext cx="8248006" cy="4426426"/>
            <a:chOff x="0" y="-28577"/>
            <a:chExt cx="2172300" cy="1165800"/>
          </a:xfrm>
        </p:grpSpPr>
        <p:sp>
          <p:nvSpPr>
            <p:cNvPr id="323" name="Google Shape;323;g3362f9fe692_0_575"/>
            <p:cNvSpPr/>
            <p:nvPr/>
          </p:nvSpPr>
          <p:spPr>
            <a:xfrm>
              <a:off x="0" y="-1"/>
              <a:ext cx="2172233" cy="1061859"/>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3362f9fe692_0_575"/>
            <p:cNvSpPr txBox="1"/>
            <p:nvPr/>
          </p:nvSpPr>
          <p:spPr>
            <a:xfrm>
              <a:off x="0" y="-28577"/>
              <a:ext cx="2172300" cy="11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5" name="Google Shape;325;g3362f9fe692_0_575"/>
          <p:cNvSpPr txBox="1"/>
          <p:nvPr/>
        </p:nvSpPr>
        <p:spPr>
          <a:xfrm>
            <a:off x="1324131" y="3568015"/>
            <a:ext cx="7518600" cy="3463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En sistemas operativos modernos, tanto los procesos como los hilos son unidades de ejecución, pero se diferencian en el nivel de aislamiento, recursos que manejan y su costo de creación y cambio de contexto.</a:t>
            </a:r>
            <a:endParaRPr b="0" i="0" sz="3000" u="none" cap="none" strike="noStrike">
              <a:solidFill>
                <a:srgbClr val="FFFFFF"/>
              </a:solidFill>
              <a:latin typeface="Montserrat"/>
              <a:ea typeface="Montserrat"/>
              <a:cs typeface="Montserrat"/>
              <a:sym typeface="Montserrat"/>
            </a:endParaRPr>
          </a:p>
        </p:txBody>
      </p:sp>
      <p:sp>
        <p:nvSpPr>
          <p:cNvPr id="326" name="Google Shape;326;g3362f9fe692_0_575"/>
          <p:cNvSpPr txBox="1"/>
          <p:nvPr/>
        </p:nvSpPr>
        <p:spPr>
          <a:xfrm>
            <a:off x="1161098" y="1176573"/>
            <a:ext cx="84543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Proceso vs Hilo</a:t>
            </a:r>
            <a:endParaRPr b="0" i="0" sz="1400" u="none" cap="none" strike="noStrike">
              <a:solidFill>
                <a:srgbClr val="000000"/>
              </a:solidFill>
              <a:latin typeface="Arial"/>
              <a:ea typeface="Arial"/>
              <a:cs typeface="Arial"/>
              <a:sym typeface="Arial"/>
            </a:endParaRPr>
          </a:p>
        </p:txBody>
      </p:sp>
      <p:pic>
        <p:nvPicPr>
          <p:cNvPr id="327" name="Google Shape;327;g3362f9fe692_0_575"/>
          <p:cNvPicPr preferRelativeResize="0"/>
          <p:nvPr/>
        </p:nvPicPr>
        <p:blipFill rotWithShape="1">
          <a:blip r:embed="rId4">
            <a:alphaModFix/>
          </a:blip>
          <a:srcRect b="29152" l="0" r="0" t="0"/>
          <a:stretch/>
        </p:blipFill>
        <p:spPr>
          <a:xfrm>
            <a:off x="10089625" y="2774286"/>
            <a:ext cx="7263175" cy="51794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31" name="Shape 331"/>
        <p:cNvGrpSpPr/>
        <p:nvPr/>
      </p:nvGrpSpPr>
      <p:grpSpPr>
        <a:xfrm>
          <a:off x="0" y="0"/>
          <a:ext cx="0" cy="0"/>
          <a:chOff x="0" y="0"/>
          <a:chExt cx="0" cy="0"/>
        </a:xfrm>
      </p:grpSpPr>
      <p:sp>
        <p:nvSpPr>
          <p:cNvPr id="332" name="Google Shape;332;g3362f9fe692_0_587"/>
          <p:cNvSpPr/>
          <p:nvPr/>
        </p:nvSpPr>
        <p:spPr>
          <a:xfrm rot="-6500666">
            <a:off x="-3049295" y="-4061973"/>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sp>
        <p:nvSpPr>
          <p:cNvPr id="333" name="Google Shape;333;g3362f9fe692_0_587"/>
          <p:cNvSpPr txBox="1"/>
          <p:nvPr/>
        </p:nvSpPr>
        <p:spPr>
          <a:xfrm>
            <a:off x="1324131" y="3568014"/>
            <a:ext cx="7518600" cy="46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p:txBody>
      </p:sp>
      <p:sp>
        <p:nvSpPr>
          <p:cNvPr id="334" name="Google Shape;334;g3362f9fe692_0_587"/>
          <p:cNvSpPr txBox="1"/>
          <p:nvPr/>
        </p:nvSpPr>
        <p:spPr>
          <a:xfrm>
            <a:off x="1161098" y="1176573"/>
            <a:ext cx="84543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Puntos Clave</a:t>
            </a:r>
            <a:endParaRPr b="0" i="0" sz="1400" u="none" cap="none" strike="noStrike">
              <a:solidFill>
                <a:srgbClr val="000000"/>
              </a:solidFill>
              <a:latin typeface="Arial"/>
              <a:ea typeface="Arial"/>
              <a:cs typeface="Arial"/>
              <a:sym typeface="Arial"/>
            </a:endParaRPr>
          </a:p>
        </p:txBody>
      </p:sp>
      <p:grpSp>
        <p:nvGrpSpPr>
          <p:cNvPr id="335" name="Google Shape;335;g3362f9fe692_0_587"/>
          <p:cNvGrpSpPr/>
          <p:nvPr/>
        </p:nvGrpSpPr>
        <p:grpSpPr>
          <a:xfrm>
            <a:off x="1324125" y="2393451"/>
            <a:ext cx="16310715" cy="7497843"/>
            <a:chOff x="0" y="-28577"/>
            <a:chExt cx="2172300" cy="1165800"/>
          </a:xfrm>
        </p:grpSpPr>
        <p:sp>
          <p:nvSpPr>
            <p:cNvPr id="336" name="Google Shape;336;g3362f9fe692_0_587"/>
            <p:cNvSpPr/>
            <p:nvPr/>
          </p:nvSpPr>
          <p:spPr>
            <a:xfrm>
              <a:off x="0" y="-1"/>
              <a:ext cx="2172233" cy="1061859"/>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3362f9fe692_0_587"/>
            <p:cNvSpPr txBox="1"/>
            <p:nvPr/>
          </p:nvSpPr>
          <p:spPr>
            <a:xfrm>
              <a:off x="0" y="-28577"/>
              <a:ext cx="2172300" cy="11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8" name="Google Shape;338;g3362f9fe692_0_587"/>
          <p:cNvSpPr txBox="1"/>
          <p:nvPr/>
        </p:nvSpPr>
        <p:spPr>
          <a:xfrm>
            <a:off x="1660775" y="2857500"/>
            <a:ext cx="15609300" cy="6464700"/>
          </a:xfrm>
          <a:prstGeom prst="rect">
            <a:avLst/>
          </a:prstGeom>
          <a:noFill/>
          <a:ln>
            <a:noFill/>
          </a:ln>
        </p:spPr>
        <p:txBody>
          <a:bodyPr anchorCtr="0" anchor="t" bIns="0" lIns="0" spcFirstLastPara="1" rIns="0" wrap="square" tIns="0">
            <a:spAutoFit/>
          </a:bodyPr>
          <a:lstStyle/>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Comparten los recursos del proceso: memoria, archivos abiertos, variables globales, etc.</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Se comunican fácilmente entre sí, pero también pueden interferirse si no se sincronizan.</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Crear un hilo requiere menos recursos del sistema que crear un proceso.</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El cambio de contexto entre hilos es más rápido.</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Existen hilos a nivel de usuario y a nivel de kernel</a:t>
            </a:r>
            <a:endParaRPr b="0" i="0" sz="3000" u="none" cap="none" strike="noStrike">
              <a:solidFill>
                <a:srgbClr val="FFFFFF"/>
              </a:solidFill>
              <a:latin typeface="Montserrat"/>
              <a:ea typeface="Montserrat"/>
              <a:cs typeface="Montserrat"/>
              <a:sym typeface="Montserrat"/>
            </a:endParaRPr>
          </a:p>
          <a:p>
            <a:pPr indent="-419100" lvl="1" marL="9144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En sistemas modernos, la mayoría de los hilos son gestionados por el kernel (kernel-level threads), permitiendo un verdadero paralelismo.</a:t>
            </a:r>
            <a:endParaRPr b="0" i="0" sz="3000" u="none" cap="none" strike="noStrike">
              <a:solidFill>
                <a:srgbClr val="FFFFFF"/>
              </a:solidFill>
              <a:latin typeface="Montserrat"/>
              <a:ea typeface="Montserrat"/>
              <a:cs typeface="Montserrat"/>
              <a:sym typeface="Montserrat"/>
            </a:endParaRPr>
          </a:p>
          <a:p>
            <a:pPr indent="-419100" lvl="1" marL="9144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Algunos lenguajes también manejan hilos de usuario (user-level threads) o green threads, más ligeros pero con menos integración con el os.</a:t>
            </a:r>
            <a:endParaRPr b="0" i="0" sz="3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362f9fe692_0_47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44" name="Google Shape;344;g3362f9fe692_0_472"/>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45" name="Google Shape;345;g3362f9fe692_0_472"/>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46" name="Google Shape;346;g3362f9fe692_0_472"/>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Nueva Llamada al Sistema</a:t>
            </a:r>
            <a:endParaRPr b="0" i="0" sz="8600" u="none" cap="none" strike="noStrike">
              <a:solidFill>
                <a:srgbClr val="FFFFFF"/>
              </a:solidFill>
              <a:latin typeface="Arial"/>
              <a:ea typeface="Arial"/>
              <a:cs typeface="Arial"/>
              <a:sym typeface="Arial"/>
            </a:endParaRPr>
          </a:p>
        </p:txBody>
      </p:sp>
      <p:pic>
        <p:nvPicPr>
          <p:cNvPr id="347" name="Google Shape;347;g3362f9fe692_0_472"/>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348" name="Google Shape;348;g3362f9fe692_0_472"/>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349" name="Google Shape;349;g3362f9fe692_0_472"/>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3" name="Shape 353"/>
        <p:cNvGrpSpPr/>
        <p:nvPr/>
      </p:nvGrpSpPr>
      <p:grpSpPr>
        <a:xfrm>
          <a:off x="0" y="0"/>
          <a:ext cx="0" cy="0"/>
          <a:chOff x="0" y="0"/>
          <a:chExt cx="0" cy="0"/>
        </a:xfrm>
      </p:grpSpPr>
      <p:sp>
        <p:nvSpPr>
          <p:cNvPr id="354" name="Google Shape;354;g35ece58d4cb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55" name="Google Shape;355;g35ece58d4cb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356" name="Google Shape;356;g35ece58d4cb_0_0"/>
          <p:cNvGrpSpPr/>
          <p:nvPr/>
        </p:nvGrpSpPr>
        <p:grpSpPr>
          <a:xfrm>
            <a:off x="2695525" y="2304374"/>
            <a:ext cx="12896949" cy="6162134"/>
            <a:chOff x="0" y="-19050"/>
            <a:chExt cx="1956900" cy="2395201"/>
          </a:xfrm>
        </p:grpSpPr>
        <p:sp>
          <p:nvSpPr>
            <p:cNvPr id="357" name="Google Shape;357;g35ece58d4cb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5ece58d4cb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9" name="Google Shape;359;g35ece58d4cb_0_0"/>
          <p:cNvSpPr txBox="1"/>
          <p:nvPr/>
        </p:nvSpPr>
        <p:spPr>
          <a:xfrm>
            <a:off x="3032850" y="2891838"/>
            <a:ext cx="12222300" cy="53874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Características Fundamentales de un Proceso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Un proceso es un programa en ejecución que posee un espacio de direcciones independiente, identificadores únicos (PID, UID, GID), y se divide en secciones como pila, montón, código y datos, aislándose de otros procesos para garantizar estabilidad y seguridad.</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Estados de Vida de un Proceso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Durante su ciclo de vida, un proceso transita por estados como nuevo, listo, en ejecución (modo usuario o kernel), en espera, detenido y zombi, gestionados por el planificador del sistema operativo para optimizar el uso de recursos.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El Bloque de Control de Procesos (PCB)</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El PCB, o task_struct en Linux, es una estructura de datos que almacena toda la información necesaria para que el sistema operativo gestione un proceso, incluyendo su estado, registros, información de memoria y recursos asociados.</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3" name="Shape 363"/>
        <p:cNvGrpSpPr/>
        <p:nvPr/>
      </p:nvGrpSpPr>
      <p:grpSpPr>
        <a:xfrm>
          <a:off x="0" y="0"/>
          <a:ext cx="0" cy="0"/>
          <a:chOff x="0" y="0"/>
          <a:chExt cx="0" cy="0"/>
        </a:xfrm>
      </p:grpSpPr>
      <p:sp>
        <p:nvSpPr>
          <p:cNvPr id="364" name="Google Shape;364;g3362f9fe692_0_49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65" name="Google Shape;365;g3362f9fe692_0_491"/>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366" name="Google Shape;366;g3362f9fe692_0_491"/>
          <p:cNvGrpSpPr/>
          <p:nvPr/>
        </p:nvGrpSpPr>
        <p:grpSpPr>
          <a:xfrm>
            <a:off x="2613274" y="3052875"/>
            <a:ext cx="13701822" cy="4860102"/>
            <a:chOff x="0" y="-19050"/>
            <a:chExt cx="1956900" cy="2395201"/>
          </a:xfrm>
        </p:grpSpPr>
        <p:sp>
          <p:nvSpPr>
            <p:cNvPr id="367" name="Google Shape;367;g3362f9fe692_0_49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3362f9fe692_0_49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9" name="Google Shape;369;g3362f9fe692_0_491"/>
          <p:cNvSpPr txBox="1"/>
          <p:nvPr/>
        </p:nvSpPr>
        <p:spPr>
          <a:xfrm>
            <a:off x="3106888" y="4405475"/>
            <a:ext cx="12714600" cy="21549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Consistencia: </a:t>
            </a:r>
            <a:r>
              <a:rPr b="0" i="0" lang="en-US" sz="3200" u="none" cap="none" strike="noStrike">
                <a:solidFill>
                  <a:schemeClr val="lt1"/>
                </a:solidFill>
                <a:latin typeface="Arial"/>
                <a:ea typeface="Arial"/>
                <a:cs typeface="Arial"/>
                <a:sym typeface="Arial"/>
              </a:rPr>
              <a:t>Ser consistente en el aprendizaje es necesario para formar el cajón de herramientas con cada nuevo tema. Como estudiantes debemos demostrar consistencia en el aprendizaje y el curso para poder avanzar de manera adecuada.</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3" name="Shape 373"/>
        <p:cNvGrpSpPr/>
        <p:nvPr/>
      </p:nvGrpSpPr>
      <p:grpSpPr>
        <a:xfrm>
          <a:off x="0" y="0"/>
          <a:ext cx="0" cy="0"/>
          <a:chOff x="0" y="0"/>
          <a:chExt cx="0" cy="0"/>
        </a:xfrm>
      </p:grpSpPr>
      <p:sp>
        <p:nvSpPr>
          <p:cNvPr id="374" name="Google Shape;374;g35ece58d4cb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75" name="Google Shape;375;g35ece58d4cb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376" name="Google Shape;376;g35ece58d4cb_0_9"/>
          <p:cNvGrpSpPr/>
          <p:nvPr/>
        </p:nvGrpSpPr>
        <p:grpSpPr>
          <a:xfrm>
            <a:off x="2695525" y="2304374"/>
            <a:ext cx="12896949" cy="6162134"/>
            <a:chOff x="0" y="-19050"/>
            <a:chExt cx="1956900" cy="2395201"/>
          </a:xfrm>
        </p:grpSpPr>
        <p:sp>
          <p:nvSpPr>
            <p:cNvPr id="377" name="Google Shape;377;g35ece58d4cb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35ece58d4cb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g35ece58d4cb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Process in Operating 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https://www.geeksforgeeks.org/process-in-operating-system/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Process States and Transitions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https://www.geeksforgeeks.org/process-states-and-transitions-in-a-unix-process/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The process control block</a:t>
            </a:r>
            <a:br>
              <a:rPr b="1" i="0" lang="en-US" sz="2600" u="none" cap="none" strike="noStrike">
                <a:solidFill>
                  <a:schemeClr val="lt1"/>
                </a:solidFill>
                <a:latin typeface="Arial"/>
                <a:ea typeface="Arial"/>
                <a:cs typeface="Arial"/>
                <a:sym typeface="Arial"/>
              </a:rPr>
            </a:br>
            <a:r>
              <a:rPr b="1" i="0" lang="en-US" sz="2600" u="sng" cap="none" strike="noStrike">
                <a:solidFill>
                  <a:schemeClr val="hlink"/>
                </a:solidFill>
                <a:latin typeface="Arial"/>
                <a:ea typeface="Arial"/>
                <a:cs typeface="Arial"/>
                <a:sym typeface="Arial"/>
                <a:hlinkClick r:id="rId6"/>
              </a:rPr>
              <a:t>https://www.baeldung.com/linux/pcb</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85" name="Google Shape;385;p20"/>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86" name="Google Shape;386;p20"/>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387" name="Google Shape;387;p20"/>
          <p:cNvGrpSpPr/>
          <p:nvPr/>
        </p:nvGrpSpPr>
        <p:grpSpPr>
          <a:xfrm>
            <a:off x="6725937" y="6354796"/>
            <a:ext cx="4836125" cy="1241011"/>
            <a:chOff x="0" y="-19050"/>
            <a:chExt cx="1273712" cy="326851"/>
          </a:xfrm>
        </p:grpSpPr>
        <p:sp>
          <p:nvSpPr>
            <p:cNvPr id="388" name="Google Shape;388;p20"/>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0"/>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0" name="Google Shape;390;p20"/>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391" name="Google Shape;391;p20"/>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