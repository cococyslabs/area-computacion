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Montserrat"/>
      <p:regular r:id="rId32"/>
      <p:bold r:id="rId33"/>
      <p:italic r:id="rId34"/>
      <p:boldItalic r:id="rId35"/>
    </p:embeddedFont>
    <p:embeddedFont>
      <p:font typeface="Open Sans ExtraBold"/>
      <p:bold r:id="rId36"/>
      <p:boldItalic r:id="rId37"/>
    </p:embeddedFont>
    <p:embeddedFont>
      <p:font typeface="Open Sans"/>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jAKRSWkTyMiB/SA1xdBfsh1+ZQ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6E7556-3CBF-415D-990A-A0604CB9648E}">
  <a:tblStyle styleId="{C46E7556-3CBF-415D-990A-A0604CB9648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OpenSansExtraBold-boldItalic.fntdata"/><Relationship Id="rId14" Type="http://schemas.openxmlformats.org/officeDocument/2006/relationships/slide" Target="slides/slide8.xml"/><Relationship Id="rId36" Type="http://schemas.openxmlformats.org/officeDocument/2006/relationships/font" Target="fonts/OpenSansExtraBold-bold.fntdata"/><Relationship Id="rId17" Type="http://schemas.openxmlformats.org/officeDocument/2006/relationships/slide" Target="slides/slide11.xml"/><Relationship Id="rId39" Type="http://schemas.openxmlformats.org/officeDocument/2006/relationships/font" Target="fonts/OpenSans-bold.fntdata"/><Relationship Id="rId16" Type="http://schemas.openxmlformats.org/officeDocument/2006/relationships/slide" Target="slides/slide10.xml"/><Relationship Id="rId38" Type="http://schemas.openxmlformats.org/officeDocument/2006/relationships/font" Target="fonts/OpenSans-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40b0f17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40b0f17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6c58022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6c58022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40b0f1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40b0f17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6c580227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6c580227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6c580227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6c580227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c6c580227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5c6c580227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c6c580227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g35c6c580227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5c6c580227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6" name="Google Shape;476;g35c6c580227_0_1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5c6c580227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8" name="Google Shape;528;g35c6c580227_0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5c6c580227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9" name="Google Shape;559;g35c6c580227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5c6c580227_0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3" name="Google Shape;593;g35c6c580227_0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5ed003338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4" name="Google Shape;604;g35ed003338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5c6c580227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4" name="Google Shape;614;g35c6c580227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5ed003338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4" name="Google Shape;624;g35ed003338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8b40b0f17_0_9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8b40b0f17_0_9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8b40b0f17_0_9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13.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3.png"/><Relationship Id="rId5"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28.png"/><Relationship Id="rId5" Type="http://schemas.openxmlformats.org/officeDocument/2006/relationships/image" Target="../media/image14.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9.png"/><Relationship Id="rId4" Type="http://schemas.openxmlformats.org/officeDocument/2006/relationships/image" Target="../media/image26.pn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0.jpg"/><Relationship Id="rId4" Type="http://schemas.openxmlformats.org/officeDocument/2006/relationships/image" Target="../media/image43.jpg"/><Relationship Id="rId5" Type="http://schemas.openxmlformats.org/officeDocument/2006/relationships/image" Target="../media/image38.png"/><Relationship Id="rId6"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37.png"/><Relationship Id="rId6" Type="http://schemas.openxmlformats.org/officeDocument/2006/relationships/image" Target="../media/image4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jpg"/><Relationship Id="rId4" Type="http://schemas.openxmlformats.org/officeDocument/2006/relationships/image" Target="../media/image47.png"/><Relationship Id="rId5"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8.jpg"/><Relationship Id="rId4" Type="http://schemas.openxmlformats.org/officeDocument/2006/relationships/image" Target="../media/image45.jpg"/><Relationship Id="rId5" Type="http://schemas.openxmlformats.org/officeDocument/2006/relationships/image" Target="../media/image44.png"/><Relationship Id="rId6"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jpg"/><Relationship Id="rId4" Type="http://schemas.openxmlformats.org/officeDocument/2006/relationships/image" Target="../media/image53.png"/><Relationship Id="rId5" Type="http://schemas.openxmlformats.org/officeDocument/2006/relationships/image" Target="../media/image51.png"/><Relationship Id="rId6"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2.png"/><Relationship Id="rId4" Type="http://schemas.openxmlformats.org/officeDocument/2006/relationships/hyperlink" Target="https://freertos.org/" TargetMode="External"/><Relationship Id="rId5" Type="http://schemas.openxmlformats.org/officeDocument/2006/relationships/hyperlink" Target="https://emb-academy.com/articles/optimizing-performance-in-embedded-systems/" TargetMode="External"/><Relationship Id="rId6" Type="http://schemas.openxmlformats.org/officeDocument/2006/relationships/hyperlink" Target="https://grpc.io/"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40b0f17_0_99"/>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40b0f17_0_99"/>
          <p:cNvGraphicFramePr/>
          <p:nvPr/>
        </p:nvGraphicFramePr>
        <p:xfrm>
          <a:off x="10656400" y="1940050"/>
          <a:ext cx="3000000" cy="3000000"/>
        </p:xfrm>
        <a:graphic>
          <a:graphicData uri="http://schemas.openxmlformats.org/drawingml/2006/table">
            <a:tbl>
              <a:tblPr>
                <a:noFill/>
                <a:tableStyleId>{C46E7556-3CBF-415D-990A-A0604CB9648E}</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1</a:t>
                      </a:r>
                      <a:r>
                        <a:rPr lang="en-US" sz="2800"/>
                        <a:t>7</a:t>
                      </a:r>
                      <a:r>
                        <a:rPr lang="en-US" sz="2800" u="none" cap="none" strike="noStrike"/>
                        <a:t>/0</a:t>
                      </a:r>
                      <a:r>
                        <a:rPr lang="en-US" sz="2800"/>
                        <a:t>4</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20</a:t>
                      </a:r>
                      <a:endParaRPr sz="2800" u="none" cap="none" strike="noStrike"/>
                    </a:p>
                  </a:txBody>
                  <a:tcPr marT="182850" marB="182850" marR="182850" marL="182850"/>
                </a:tc>
              </a:tr>
            </a:tbl>
          </a:graphicData>
        </a:graphic>
      </p:graphicFrame>
      <p:sp>
        <p:nvSpPr>
          <p:cNvPr id="90" name="Google Shape;90;g368b40b0f17_0_99"/>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40b0f17_0_99"/>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6c580227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6c580227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6c580227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6c580227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6c580227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6c580227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6c580227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6c580227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6c580227_0_0"/>
          <p:cNvSpPr txBox="1"/>
          <p:nvPr/>
        </p:nvSpPr>
        <p:spPr>
          <a:xfrm>
            <a:off x="1667825" y="3226200"/>
            <a:ext cx="15099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4:</a:t>
            </a:r>
            <a:br>
              <a:rPr b="0" i="0" lang="en-US" sz="7933" u="none" cap="none" strike="noStrike">
                <a:solidFill>
                  <a:srgbClr val="FFFFFF"/>
                </a:solidFill>
                <a:latin typeface="Arial"/>
                <a:ea typeface="Arial"/>
                <a:cs typeface="Arial"/>
                <a:sym typeface="Arial"/>
              </a:rPr>
            </a:br>
            <a:r>
              <a:rPr b="0" i="0" lang="en-US" sz="7933" u="none" cap="none" strike="noStrike">
                <a:solidFill>
                  <a:srgbClr val="FFFFFF"/>
                </a:solidFill>
                <a:latin typeface="Arial"/>
                <a:ea typeface="Arial"/>
                <a:cs typeface="Arial"/>
                <a:sym typeface="Arial"/>
              </a:rPr>
              <a:t>SISTEMAS ESPECIALIZADOS Y DISTRIBUIDOS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40b0f17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40b0f17_0_7"/>
          <p:cNvGrpSpPr/>
          <p:nvPr/>
        </p:nvGrpSpPr>
        <p:grpSpPr>
          <a:xfrm>
            <a:off x="9975044" y="2453203"/>
            <a:ext cx="7764346" cy="662374"/>
            <a:chOff x="3095445" y="-87910"/>
            <a:chExt cx="5099400" cy="435000"/>
          </a:xfrm>
        </p:grpSpPr>
        <p:sp>
          <p:nvSpPr>
            <p:cNvPr id="111" name="Google Shape;111;g368b40b0f17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40b0f17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40b0f17_0_7"/>
          <p:cNvPicPr preferRelativeResize="0"/>
          <p:nvPr/>
        </p:nvPicPr>
        <p:blipFill rotWithShape="1">
          <a:blip r:embed="rId4">
            <a:alphaModFix/>
          </a:blip>
          <a:srcRect b="-138" l="-3870" r="3869" t="140"/>
          <a:stretch/>
        </p:blipFill>
        <p:spPr>
          <a:xfrm rot="-1769370">
            <a:off x="2487697" y="2265794"/>
            <a:ext cx="3499333" cy="3372288"/>
          </a:xfrm>
          <a:prstGeom prst="rect">
            <a:avLst/>
          </a:prstGeom>
          <a:noFill/>
          <a:ln>
            <a:noFill/>
          </a:ln>
        </p:spPr>
      </p:pic>
      <p:sp>
        <p:nvSpPr>
          <p:cNvPr id="114" name="Google Shape;114;g368b40b0f17_0_7"/>
          <p:cNvSpPr txBox="1"/>
          <p:nvPr/>
        </p:nvSpPr>
        <p:spPr>
          <a:xfrm>
            <a:off x="7327600" y="3550913"/>
            <a:ext cx="10411800" cy="2770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4</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6c580227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6c580227_0_21"/>
          <p:cNvSpPr txBox="1"/>
          <p:nvPr/>
        </p:nvSpPr>
        <p:spPr>
          <a:xfrm>
            <a:off x="5991825" y="2920050"/>
            <a:ext cx="11501100" cy="53565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Características del sistema operativo móvil (Android, iOS)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Características del sistema operativo integrado (FreeRTOS)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Restricciones de recursos en sistemas integrados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Compilación cruzada y desarrollo para plataformas integradas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Llamadas a procedimientos remotos (RPC)</a:t>
            </a:r>
            <a:endParaRPr b="0" i="0" sz="4200" u="none" cap="none" strike="noStrike">
              <a:solidFill>
                <a:schemeClr val="lt1"/>
              </a:solidFill>
              <a:latin typeface="Calibri"/>
              <a:ea typeface="Calibri"/>
              <a:cs typeface="Calibri"/>
              <a:sym typeface="Calibri"/>
            </a:endParaRPr>
          </a:p>
        </p:txBody>
      </p:sp>
      <p:grpSp>
        <p:nvGrpSpPr>
          <p:cNvPr id="121" name="Google Shape;121;g35c6c580227_0_21"/>
          <p:cNvGrpSpPr/>
          <p:nvPr/>
        </p:nvGrpSpPr>
        <p:grpSpPr>
          <a:xfrm>
            <a:off x="5261819" y="1886650"/>
            <a:ext cx="7764346" cy="662377"/>
            <a:chOff x="5261919" y="2543550"/>
            <a:chExt cx="7764346" cy="662377"/>
          </a:xfrm>
        </p:grpSpPr>
        <p:grpSp>
          <p:nvGrpSpPr>
            <p:cNvPr id="122" name="Google Shape;122;g35c6c580227_0_21"/>
            <p:cNvGrpSpPr/>
            <p:nvPr/>
          </p:nvGrpSpPr>
          <p:grpSpPr>
            <a:xfrm>
              <a:off x="5261919" y="2543553"/>
              <a:ext cx="7764346" cy="662374"/>
              <a:chOff x="0" y="-28575"/>
              <a:chExt cx="5099400" cy="435000"/>
            </a:xfrm>
          </p:grpSpPr>
          <p:sp>
            <p:nvSpPr>
              <p:cNvPr id="123" name="Google Shape;123;g35c6c580227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6c580227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6c580227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6c580227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6c580227_0_32"/>
          <p:cNvGrpSpPr/>
          <p:nvPr/>
        </p:nvGrpSpPr>
        <p:grpSpPr>
          <a:xfrm>
            <a:off x="3300300" y="3865649"/>
            <a:ext cx="11687426" cy="2780189"/>
            <a:chOff x="0" y="-19050"/>
            <a:chExt cx="1876865" cy="1078889"/>
          </a:xfrm>
        </p:grpSpPr>
        <p:sp>
          <p:nvSpPr>
            <p:cNvPr id="132" name="Google Shape;132;g35c6c580227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6c580227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6c580227_0_32"/>
          <p:cNvGrpSpPr/>
          <p:nvPr/>
        </p:nvGrpSpPr>
        <p:grpSpPr>
          <a:xfrm>
            <a:off x="3713601" y="4575230"/>
            <a:ext cx="1136538" cy="1136538"/>
            <a:chOff x="0" y="0"/>
            <a:chExt cx="812800" cy="812800"/>
          </a:xfrm>
        </p:grpSpPr>
        <p:sp>
          <p:nvSpPr>
            <p:cNvPr id="135" name="Google Shape;135;g35c6c580227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6c580227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6c580227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6c580227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6c580227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6c580227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6c580227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Evaluar sistemas operativos para soluciones específicas.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sp>
        <p:nvSpPr>
          <p:cNvPr id="146" name="Google Shape;146;g35c6c580227_0_4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g35c6c580227_0_46"/>
          <p:cNvSpPr/>
          <p:nvPr/>
        </p:nvSpPr>
        <p:spPr>
          <a:xfrm rot="5219233">
            <a:off x="14155871" y="6322918"/>
            <a:ext cx="5902851" cy="5858581"/>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148" name="Google Shape;148;g35c6c580227_0_46"/>
          <p:cNvSpPr/>
          <p:nvPr/>
        </p:nvSpPr>
        <p:spPr>
          <a:xfrm>
            <a:off x="-2979701" y="-299704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5">
              <a:alphaModFix/>
            </a:blip>
            <a:stretch>
              <a:fillRect b="0" l="0" r="0" t="0"/>
            </a:stretch>
          </a:blipFill>
          <a:ln>
            <a:noFill/>
          </a:ln>
        </p:spPr>
      </p:sp>
      <p:sp>
        <p:nvSpPr>
          <p:cNvPr id="149" name="Google Shape;149;g35c6c580227_0_46"/>
          <p:cNvSpPr txBox="1"/>
          <p:nvPr/>
        </p:nvSpPr>
        <p:spPr>
          <a:xfrm>
            <a:off x="3503670" y="3921728"/>
            <a:ext cx="11280600" cy="3834900"/>
          </a:xfrm>
          <a:prstGeom prst="rect">
            <a:avLst/>
          </a:prstGeom>
          <a:noFill/>
          <a:ln>
            <a:noFill/>
          </a:ln>
        </p:spPr>
        <p:txBody>
          <a:bodyPr anchorCtr="0" anchor="t" bIns="0" lIns="0" spcFirstLastPara="1" rIns="0" wrap="square" tIns="0">
            <a:spAutoFit/>
          </a:bodyPr>
          <a:lstStyle/>
          <a:p>
            <a:pPr indent="0" lvl="0" marL="0" marR="0" rtl="0" algn="ctr">
              <a:lnSpc>
                <a:spcPct val="107007"/>
              </a:lnSpc>
              <a:spcBef>
                <a:spcPts val="0"/>
              </a:spcBef>
              <a:spcAft>
                <a:spcPts val="0"/>
              </a:spcAft>
              <a:buClr>
                <a:srgbClr val="000000"/>
              </a:buClr>
              <a:buSzPts val="7933"/>
              <a:buFont typeface="Arial"/>
              <a:buNone/>
            </a:pPr>
            <a:r>
              <a:rPr b="0" i="0" lang="en-US" sz="7933" u="none" cap="none" strike="noStrike">
                <a:solidFill>
                  <a:srgbClr val="FFFFFF"/>
                </a:solidFill>
                <a:latin typeface="Arial"/>
                <a:ea typeface="Arial"/>
                <a:cs typeface="Arial"/>
                <a:sym typeface="Arial"/>
              </a:rPr>
              <a:t>SISTEMAS OPERATIVOS MÓVILES E INTEGRADOS</a:t>
            </a:r>
            <a:endParaRPr b="0" i="0" sz="7933" u="none" cap="none" strike="noStrike">
              <a:solidFill>
                <a:srgbClr val="FFFFFF"/>
              </a:solidFill>
              <a:latin typeface="Arial"/>
              <a:ea typeface="Arial"/>
              <a:cs typeface="Arial"/>
              <a:sym typeface="Arial"/>
            </a:endParaRPr>
          </a:p>
        </p:txBody>
      </p:sp>
      <p:grpSp>
        <p:nvGrpSpPr>
          <p:cNvPr id="150" name="Google Shape;150;g35c6c580227_0_46"/>
          <p:cNvGrpSpPr/>
          <p:nvPr/>
        </p:nvGrpSpPr>
        <p:grpSpPr>
          <a:xfrm>
            <a:off x="5261794" y="3102922"/>
            <a:ext cx="7764346" cy="662375"/>
            <a:chOff x="0" y="-28575"/>
            <a:chExt cx="5099400" cy="435000"/>
          </a:xfrm>
        </p:grpSpPr>
        <p:sp>
          <p:nvSpPr>
            <p:cNvPr id="151" name="Google Shape;151;g35c6c580227_0_46"/>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5c6c580227_0_46"/>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3" name="Google Shape;153;g35c6c580227_0_46"/>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7" name="Shape 157"/>
        <p:cNvGrpSpPr/>
        <p:nvPr/>
      </p:nvGrpSpPr>
      <p:grpSpPr>
        <a:xfrm>
          <a:off x="0" y="0"/>
          <a:ext cx="0" cy="0"/>
          <a:chOff x="0" y="0"/>
          <a:chExt cx="0" cy="0"/>
        </a:xfrm>
      </p:grpSpPr>
      <p:grpSp>
        <p:nvGrpSpPr>
          <p:cNvPr id="158" name="Google Shape;158;p2"/>
          <p:cNvGrpSpPr/>
          <p:nvPr/>
        </p:nvGrpSpPr>
        <p:grpSpPr>
          <a:xfrm>
            <a:off x="1887407" y="3059756"/>
            <a:ext cx="7390943" cy="2384117"/>
            <a:chOff x="0" y="-19050"/>
            <a:chExt cx="1946586" cy="627916"/>
          </a:xfrm>
        </p:grpSpPr>
        <p:sp>
          <p:nvSpPr>
            <p:cNvPr id="159" name="Google Shape;159;p2"/>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2"/>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2"/>
          <p:cNvGrpSpPr/>
          <p:nvPr/>
        </p:nvGrpSpPr>
        <p:grpSpPr>
          <a:xfrm>
            <a:off x="1887407" y="5847318"/>
            <a:ext cx="7390943" cy="2781456"/>
            <a:chOff x="0" y="-19050"/>
            <a:chExt cx="1946586" cy="732565"/>
          </a:xfrm>
        </p:grpSpPr>
        <p:sp>
          <p:nvSpPr>
            <p:cNvPr id="162" name="Google Shape;162;p2"/>
            <p:cNvSpPr/>
            <p:nvPr/>
          </p:nvSpPr>
          <p:spPr>
            <a:xfrm>
              <a:off x="0" y="0"/>
              <a:ext cx="1946586" cy="713515"/>
            </a:xfrm>
            <a:custGeom>
              <a:rect b="b" l="l" r="r" t="t"/>
              <a:pathLst>
                <a:path extrusionOk="0" h="713515" w="1946586">
                  <a:moveTo>
                    <a:pt x="52374" y="0"/>
                  </a:moveTo>
                  <a:lnTo>
                    <a:pt x="1894212" y="0"/>
                  </a:lnTo>
                  <a:cubicBezTo>
                    <a:pt x="1908102" y="0"/>
                    <a:pt x="1921424" y="5518"/>
                    <a:pt x="1931246" y="15340"/>
                  </a:cubicBezTo>
                  <a:cubicBezTo>
                    <a:pt x="1941068" y="25162"/>
                    <a:pt x="1946586" y="38484"/>
                    <a:pt x="1946586" y="52374"/>
                  </a:cubicBezTo>
                  <a:lnTo>
                    <a:pt x="1946586" y="661140"/>
                  </a:lnTo>
                  <a:cubicBezTo>
                    <a:pt x="1946586" y="675031"/>
                    <a:pt x="1941068" y="688352"/>
                    <a:pt x="1931246" y="698174"/>
                  </a:cubicBezTo>
                  <a:cubicBezTo>
                    <a:pt x="1921424" y="707997"/>
                    <a:pt x="1908102" y="713515"/>
                    <a:pt x="1894212" y="713515"/>
                  </a:cubicBezTo>
                  <a:lnTo>
                    <a:pt x="52374" y="713515"/>
                  </a:lnTo>
                  <a:cubicBezTo>
                    <a:pt x="23449" y="713515"/>
                    <a:pt x="0" y="690066"/>
                    <a:pt x="0" y="661140"/>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
            <p:cNvSpPr txBox="1"/>
            <p:nvPr/>
          </p:nvSpPr>
          <p:spPr>
            <a:xfrm>
              <a:off x="0" y="-19050"/>
              <a:ext cx="1946586" cy="73256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4" name="Google Shape;164;p2"/>
          <p:cNvGrpSpPr/>
          <p:nvPr/>
        </p:nvGrpSpPr>
        <p:grpSpPr>
          <a:xfrm>
            <a:off x="11171402" y="2273687"/>
            <a:ext cx="5623113" cy="6885593"/>
            <a:chOff x="0" y="-28575"/>
            <a:chExt cx="1919734" cy="2350745"/>
          </a:xfrm>
        </p:grpSpPr>
        <p:sp>
          <p:nvSpPr>
            <p:cNvPr id="165" name="Google Shape;165;p2"/>
            <p:cNvSpPr/>
            <p:nvPr/>
          </p:nvSpPr>
          <p:spPr>
            <a:xfrm>
              <a:off x="0" y="0"/>
              <a:ext cx="1919734" cy="2322170"/>
            </a:xfrm>
            <a:custGeom>
              <a:rect b="b" l="l" r="r" t="t"/>
              <a:pathLst>
                <a:path extrusionOk="0" h="2322170" w="1919734">
                  <a:moveTo>
                    <a:pt x="70217" y="0"/>
                  </a:moveTo>
                  <a:lnTo>
                    <a:pt x="1849517" y="0"/>
                  </a:lnTo>
                  <a:cubicBezTo>
                    <a:pt x="1888296" y="0"/>
                    <a:pt x="1919734" y="31437"/>
                    <a:pt x="1919734" y="70217"/>
                  </a:cubicBezTo>
                  <a:lnTo>
                    <a:pt x="1919734" y="2251953"/>
                  </a:lnTo>
                  <a:cubicBezTo>
                    <a:pt x="1919734" y="2270576"/>
                    <a:pt x="1912336" y="2288436"/>
                    <a:pt x="1899168" y="2301604"/>
                  </a:cubicBezTo>
                  <a:cubicBezTo>
                    <a:pt x="1885999" y="2314772"/>
                    <a:pt x="1868139" y="2322170"/>
                    <a:pt x="1849517" y="2322170"/>
                  </a:cubicBezTo>
                  <a:lnTo>
                    <a:pt x="70217" y="2322170"/>
                  </a:lnTo>
                  <a:cubicBezTo>
                    <a:pt x="51594" y="2322170"/>
                    <a:pt x="33734" y="2314772"/>
                    <a:pt x="20566" y="2301604"/>
                  </a:cubicBezTo>
                  <a:cubicBezTo>
                    <a:pt x="7398" y="2288436"/>
                    <a:pt x="0" y="2270576"/>
                    <a:pt x="0" y="2251953"/>
                  </a:cubicBezTo>
                  <a:lnTo>
                    <a:pt x="0" y="70217"/>
                  </a:lnTo>
                  <a:cubicBezTo>
                    <a:pt x="0" y="51594"/>
                    <a:pt x="7398" y="33734"/>
                    <a:pt x="20566" y="20566"/>
                  </a:cubicBezTo>
                  <a:cubicBezTo>
                    <a:pt x="33734" y="7398"/>
                    <a:pt x="51594" y="0"/>
                    <a:pt x="7021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167" name="Google Shape;167;p2"/>
          <p:cNvCxnSpPr/>
          <p:nvPr/>
        </p:nvCxnSpPr>
        <p:spPr>
          <a:xfrm>
            <a:off x="11478729" y="8289323"/>
            <a:ext cx="5008459" cy="0"/>
          </a:xfrm>
          <a:prstGeom prst="straightConnector1">
            <a:avLst/>
          </a:prstGeom>
          <a:noFill/>
          <a:ln cap="flat" cmpd="sng" w="28575">
            <a:solidFill>
              <a:srgbClr val="FFFFFF"/>
            </a:solidFill>
            <a:prstDash val="solid"/>
            <a:round/>
            <a:headEnd len="sm" w="sm" type="none"/>
            <a:tailEnd len="sm" w="sm" type="none"/>
          </a:ln>
        </p:spPr>
      </p:cxnSp>
      <p:cxnSp>
        <p:nvCxnSpPr>
          <p:cNvPr id="168" name="Google Shape;168;p2"/>
          <p:cNvCxnSpPr/>
          <p:nvPr/>
        </p:nvCxnSpPr>
        <p:spPr>
          <a:xfrm>
            <a:off x="11415499" y="3327909"/>
            <a:ext cx="5008459" cy="0"/>
          </a:xfrm>
          <a:prstGeom prst="straightConnector1">
            <a:avLst/>
          </a:prstGeom>
          <a:noFill/>
          <a:ln cap="flat" cmpd="sng" w="28575">
            <a:solidFill>
              <a:srgbClr val="FFFFFF"/>
            </a:solidFill>
            <a:prstDash val="solid"/>
            <a:round/>
            <a:headEnd len="sm" w="sm" type="none"/>
            <a:tailEnd len="sm" w="sm" type="none"/>
          </a:ln>
        </p:spPr>
      </p:cxnSp>
      <p:sp>
        <p:nvSpPr>
          <p:cNvPr id="169" name="Google Shape;169;p2"/>
          <p:cNvSpPr/>
          <p:nvPr/>
        </p:nvSpPr>
        <p:spPr>
          <a:xfrm>
            <a:off x="11587205" y="4461005"/>
            <a:ext cx="4791507" cy="2695223"/>
          </a:xfrm>
          <a:custGeom>
            <a:rect b="b" l="l" r="r" t="t"/>
            <a:pathLst>
              <a:path extrusionOk="0" h="2695223" w="4791507">
                <a:moveTo>
                  <a:pt x="0" y="0"/>
                </a:moveTo>
                <a:lnTo>
                  <a:pt x="4791507" y="0"/>
                </a:lnTo>
                <a:lnTo>
                  <a:pt x="4791507" y="2695222"/>
                </a:lnTo>
                <a:lnTo>
                  <a:pt x="0" y="2695222"/>
                </a:lnTo>
                <a:lnTo>
                  <a:pt x="0" y="0"/>
                </a:lnTo>
                <a:close/>
              </a:path>
            </a:pathLst>
          </a:custGeom>
          <a:blipFill rotWithShape="1">
            <a:blip r:embed="rId3">
              <a:alphaModFix/>
            </a:blip>
            <a:stretch>
              <a:fillRect b="0" l="0" r="0" t="0"/>
            </a:stretch>
          </a:blipFill>
          <a:ln>
            <a:noFill/>
          </a:ln>
        </p:spPr>
      </p:sp>
      <p:sp>
        <p:nvSpPr>
          <p:cNvPr id="170" name="Google Shape;170;p2"/>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ACFDDB"/>
                </a:solidFill>
                <a:latin typeface="Arial"/>
                <a:ea typeface="Arial"/>
                <a:cs typeface="Arial"/>
                <a:sym typeface="Arial"/>
              </a:rPr>
              <a:t>SO </a:t>
            </a:r>
            <a:r>
              <a:rPr b="0" i="0" lang="en-US" sz="5000" u="none" cap="none" strike="noStrike">
                <a:solidFill>
                  <a:srgbClr val="FFFFFF"/>
                </a:solidFill>
                <a:latin typeface="Arial"/>
                <a:ea typeface="Arial"/>
                <a:cs typeface="Arial"/>
                <a:sym typeface="Arial"/>
              </a:rPr>
              <a:t>MOVILES - INTEGRADOS</a:t>
            </a:r>
            <a:endParaRPr b="0" i="0" sz="1400" u="none" cap="none" strike="noStrike">
              <a:solidFill>
                <a:srgbClr val="000000"/>
              </a:solidFill>
              <a:latin typeface="Arial"/>
              <a:ea typeface="Arial"/>
              <a:cs typeface="Arial"/>
              <a:sym typeface="Arial"/>
            </a:endParaRPr>
          </a:p>
        </p:txBody>
      </p:sp>
      <p:sp>
        <p:nvSpPr>
          <p:cNvPr id="171" name="Google Shape;171;p2"/>
          <p:cNvSpPr txBox="1"/>
          <p:nvPr/>
        </p:nvSpPr>
        <p:spPr>
          <a:xfrm>
            <a:off x="3706674" y="366219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Sistemas Operativos Móviles</a:t>
            </a:r>
            <a:endParaRPr b="0" i="0" sz="1400" u="none" cap="none" strike="noStrike">
              <a:solidFill>
                <a:srgbClr val="000000"/>
              </a:solidFill>
              <a:latin typeface="Arial"/>
              <a:ea typeface="Arial"/>
              <a:cs typeface="Arial"/>
              <a:sym typeface="Arial"/>
            </a:endParaRPr>
          </a:p>
        </p:txBody>
      </p:sp>
      <p:sp>
        <p:nvSpPr>
          <p:cNvPr id="172" name="Google Shape;172;p2"/>
          <p:cNvSpPr txBox="1"/>
          <p:nvPr/>
        </p:nvSpPr>
        <p:spPr>
          <a:xfrm>
            <a:off x="3434450" y="4066100"/>
            <a:ext cx="5553900" cy="1200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Son plataformas de software diseñadas para gestionar y operar el hardware de dispositivos móviles, como smartphones y tablets. Proporcionan el entorno necesario para la ejecución de aplicaciones y la interacción del usuario</a:t>
            </a:r>
            <a:endParaRPr b="0" i="0" sz="1400" u="none" cap="none" strike="noStrike">
              <a:solidFill>
                <a:srgbClr val="000000"/>
              </a:solidFill>
              <a:latin typeface="Arial"/>
              <a:ea typeface="Arial"/>
              <a:cs typeface="Arial"/>
              <a:sym typeface="Arial"/>
            </a:endParaRPr>
          </a:p>
        </p:txBody>
      </p:sp>
      <p:sp>
        <p:nvSpPr>
          <p:cNvPr id="173" name="Google Shape;173;p2"/>
          <p:cNvSpPr txBox="1"/>
          <p:nvPr/>
        </p:nvSpPr>
        <p:spPr>
          <a:xfrm>
            <a:off x="3706674" y="6449757"/>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Sistemas Operativos Integrados</a:t>
            </a:r>
            <a:endParaRPr b="0" i="0" sz="1400" u="none" cap="none" strike="noStrike">
              <a:solidFill>
                <a:srgbClr val="000000"/>
              </a:solidFill>
              <a:latin typeface="Arial"/>
              <a:ea typeface="Arial"/>
              <a:cs typeface="Arial"/>
              <a:sym typeface="Arial"/>
            </a:endParaRPr>
          </a:p>
        </p:txBody>
      </p:sp>
      <p:sp>
        <p:nvSpPr>
          <p:cNvPr id="174" name="Google Shape;174;p2"/>
          <p:cNvSpPr txBox="1"/>
          <p:nvPr/>
        </p:nvSpPr>
        <p:spPr>
          <a:xfrm>
            <a:off x="3570576" y="6856150"/>
            <a:ext cx="5417700" cy="1523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Son sistemas diseñados para controlar dispositivos específicos y realizar tareas dedicadas en tiempo real. Se centran en la eficiencia y la optimización de recursos, siendo comunes en electrodomésticos inteligentes, sistemas de control industrial y dispositivos IoT.</a:t>
            </a:r>
            <a:endParaRPr b="0" i="0" sz="1400" u="none" cap="none" strike="noStrike">
              <a:solidFill>
                <a:srgbClr val="000000"/>
              </a:solidFill>
              <a:latin typeface="Arial"/>
              <a:ea typeface="Arial"/>
              <a:cs typeface="Arial"/>
              <a:sym typeface="Arial"/>
            </a:endParaRPr>
          </a:p>
        </p:txBody>
      </p:sp>
      <p:pic>
        <p:nvPicPr>
          <p:cNvPr id="175" name="Google Shape;175;p2"/>
          <p:cNvPicPr preferRelativeResize="0"/>
          <p:nvPr/>
        </p:nvPicPr>
        <p:blipFill rotWithShape="1">
          <a:blip r:embed="rId4">
            <a:alphaModFix/>
          </a:blip>
          <a:srcRect b="0" l="0" r="0" t="0"/>
          <a:stretch/>
        </p:blipFill>
        <p:spPr>
          <a:xfrm>
            <a:off x="1291725" y="3560888"/>
            <a:ext cx="1381875" cy="1381875"/>
          </a:xfrm>
          <a:prstGeom prst="rect">
            <a:avLst/>
          </a:prstGeom>
          <a:noFill/>
          <a:ln>
            <a:noFill/>
          </a:ln>
        </p:spPr>
      </p:pic>
      <p:pic>
        <p:nvPicPr>
          <p:cNvPr id="176" name="Google Shape;176;p2"/>
          <p:cNvPicPr preferRelativeResize="0"/>
          <p:nvPr/>
        </p:nvPicPr>
        <p:blipFill rotWithShape="1">
          <a:blip r:embed="rId5">
            <a:alphaModFix/>
          </a:blip>
          <a:srcRect b="0" l="0" r="0" t="0"/>
          <a:stretch/>
        </p:blipFill>
        <p:spPr>
          <a:xfrm>
            <a:off x="1291725" y="6646599"/>
            <a:ext cx="1381875" cy="13866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3"/>
          <p:cNvSpPr/>
          <p:nvPr/>
        </p:nvSpPr>
        <p:spPr>
          <a:xfrm rot="-10164411">
            <a:off x="-2246901" y="-3921303"/>
            <a:ext cx="25064564" cy="17089476"/>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182" name="Google Shape;182;p3"/>
          <p:cNvGrpSpPr/>
          <p:nvPr/>
        </p:nvGrpSpPr>
        <p:grpSpPr>
          <a:xfrm>
            <a:off x="1028700" y="2657722"/>
            <a:ext cx="5104171" cy="6600578"/>
            <a:chOff x="0" y="-19050"/>
            <a:chExt cx="1029031" cy="1330715"/>
          </a:xfrm>
        </p:grpSpPr>
        <p:sp>
          <p:nvSpPr>
            <p:cNvPr id="183" name="Google Shape;183;p3"/>
            <p:cNvSpPr/>
            <p:nvPr/>
          </p:nvSpPr>
          <p:spPr>
            <a:xfrm>
              <a:off x="0" y="0"/>
              <a:ext cx="1029031" cy="1311665"/>
            </a:xfrm>
            <a:custGeom>
              <a:rect b="b" l="l" r="r" t="t"/>
              <a:pathLst>
                <a:path extrusionOk="0" h="1311665" w="1029031">
                  <a:moveTo>
                    <a:pt x="75839" y="0"/>
                  </a:moveTo>
                  <a:lnTo>
                    <a:pt x="953191" y="0"/>
                  </a:lnTo>
                  <a:cubicBezTo>
                    <a:pt x="995076" y="0"/>
                    <a:pt x="1029031" y="33954"/>
                    <a:pt x="1029031" y="75839"/>
                  </a:cubicBezTo>
                  <a:lnTo>
                    <a:pt x="1029031" y="1235826"/>
                  </a:lnTo>
                  <a:cubicBezTo>
                    <a:pt x="1029031" y="1277711"/>
                    <a:pt x="995076" y="1311665"/>
                    <a:pt x="953191" y="1311665"/>
                  </a:cubicBezTo>
                  <a:lnTo>
                    <a:pt x="75839" y="1311665"/>
                  </a:lnTo>
                  <a:cubicBezTo>
                    <a:pt x="33954" y="1311665"/>
                    <a:pt x="0" y="1277711"/>
                    <a:pt x="0" y="123582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
            <p:cNvSpPr txBox="1"/>
            <p:nvPr/>
          </p:nvSpPr>
          <p:spPr>
            <a:xfrm>
              <a:off x="0" y="-19050"/>
              <a:ext cx="1029031" cy="133071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3"/>
          <p:cNvSpPr txBox="1"/>
          <p:nvPr/>
        </p:nvSpPr>
        <p:spPr>
          <a:xfrm>
            <a:off x="1307349" y="3235917"/>
            <a:ext cx="4825522" cy="5680633"/>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9959"/>
              </a:lnSpc>
              <a:spcBef>
                <a:spcPts val="0"/>
              </a:spcBef>
              <a:spcAft>
                <a:spcPts val="0"/>
              </a:spcAft>
              <a:buClr>
                <a:srgbClr val="000000"/>
              </a:buClr>
              <a:buSzPts val="1956"/>
              <a:buFont typeface="Arial"/>
              <a:buNone/>
            </a:pPr>
            <a:r>
              <a:rPr b="1" i="0" lang="en-US" sz="1956" u="none" cap="none" strike="noStrike">
                <a:solidFill>
                  <a:srgbClr val="FFFFFF"/>
                </a:solidFill>
                <a:latin typeface="Montserrat"/>
                <a:ea typeface="Montserrat"/>
                <a:cs typeface="Montserrat"/>
                <a:sym typeface="Montserrat"/>
              </a:rPr>
              <a:t>Interfaz de Usuario: </a:t>
            </a:r>
            <a:r>
              <a:rPr b="0" i="0" lang="en-US" sz="1956"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211153" lvl="1" marL="422308" marR="0" rtl="0" algn="l">
              <a:lnSpc>
                <a:spcPct val="129959"/>
              </a:lnSpc>
              <a:spcBef>
                <a:spcPts val="0"/>
              </a:spcBef>
              <a:spcAft>
                <a:spcPts val="0"/>
              </a:spcAft>
              <a:buClr>
                <a:srgbClr val="FFFFFF"/>
              </a:buClr>
              <a:buSzPts val="1956"/>
              <a:buFont typeface="Arial"/>
              <a:buChar char="•"/>
            </a:pPr>
            <a:r>
              <a:rPr b="0" i="0" lang="en-US" sz="1956" u="none" cap="none" strike="noStrike">
                <a:solidFill>
                  <a:srgbClr val="FFFFFF"/>
                </a:solidFill>
                <a:latin typeface="Montserrat"/>
                <a:ea typeface="Montserrat"/>
                <a:cs typeface="Montserrat"/>
                <a:sym typeface="Montserrat"/>
              </a:rPr>
              <a:t>Los sistemas operativos móviles suelen ofrecer interfaces gráficas ricas y táctiles, facilitando la interacción del usuario a través de pantallas sensibles al tacto.</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0" i="0" lang="en-US" sz="1956" u="none" cap="none" strike="noStrike">
                <a:solidFill>
                  <a:srgbClr val="FFFFFF"/>
                </a:solidFill>
                <a:latin typeface="Montserrat"/>
                <a:ea typeface="Montserrat"/>
                <a:cs typeface="Montserrat"/>
                <a:sym typeface="Montserrat"/>
              </a:rPr>
              <a:t>En contraste, los sistemas operativos integrados pueden operar con interfaces más simples o incluso sin interfaz, ya que están diseñados para ejecutar funciones específicas sin necesidad de interacción directa del usuario.</a:t>
            </a:r>
            <a:endParaRPr b="0" i="0" sz="1400" u="none" cap="none" strike="noStrike">
              <a:solidFill>
                <a:srgbClr val="000000"/>
              </a:solidFill>
              <a:latin typeface="Arial"/>
              <a:ea typeface="Arial"/>
              <a:cs typeface="Arial"/>
              <a:sym typeface="Arial"/>
            </a:endParaRPr>
          </a:p>
          <a:p>
            <a:pPr indent="0" lvl="0" marL="0" marR="0" rtl="0" algn="l">
              <a:lnSpc>
                <a:spcPct val="129959"/>
              </a:lnSpc>
              <a:spcBef>
                <a:spcPts val="0"/>
              </a:spcBef>
              <a:spcAft>
                <a:spcPts val="0"/>
              </a:spcAft>
              <a:buClr>
                <a:srgbClr val="000000"/>
              </a:buClr>
              <a:buSzPts val="1956"/>
              <a:buFont typeface="Arial"/>
              <a:buNone/>
            </a:pPr>
            <a:r>
              <a:t/>
            </a:r>
            <a:endParaRPr b="0" i="0" sz="1956" u="none" cap="none" strike="noStrike">
              <a:solidFill>
                <a:srgbClr val="FFFFFF"/>
              </a:solidFill>
              <a:latin typeface="Montserrat"/>
              <a:ea typeface="Montserrat"/>
              <a:cs typeface="Montserrat"/>
              <a:sym typeface="Montserrat"/>
            </a:endParaRPr>
          </a:p>
        </p:txBody>
      </p:sp>
      <p:grpSp>
        <p:nvGrpSpPr>
          <p:cNvPr id="186" name="Google Shape;186;p3"/>
          <p:cNvGrpSpPr/>
          <p:nvPr/>
        </p:nvGrpSpPr>
        <p:grpSpPr>
          <a:xfrm>
            <a:off x="6883975" y="2716375"/>
            <a:ext cx="4357823" cy="6434057"/>
            <a:chOff x="0" y="-19050"/>
            <a:chExt cx="878558" cy="1239846"/>
          </a:xfrm>
        </p:grpSpPr>
        <p:sp>
          <p:nvSpPr>
            <p:cNvPr id="187" name="Google Shape;187;p3"/>
            <p:cNvSpPr/>
            <p:nvPr/>
          </p:nvSpPr>
          <p:spPr>
            <a:xfrm>
              <a:off x="0" y="0"/>
              <a:ext cx="878558" cy="1220796"/>
            </a:xfrm>
            <a:custGeom>
              <a:rect b="b" l="l" r="r" t="t"/>
              <a:pathLst>
                <a:path extrusionOk="0" h="1220796" w="878558">
                  <a:moveTo>
                    <a:pt x="88828" y="0"/>
                  </a:moveTo>
                  <a:lnTo>
                    <a:pt x="789729" y="0"/>
                  </a:lnTo>
                  <a:cubicBezTo>
                    <a:pt x="813288" y="0"/>
                    <a:pt x="835882" y="9359"/>
                    <a:pt x="852541" y="26017"/>
                  </a:cubicBezTo>
                  <a:cubicBezTo>
                    <a:pt x="869199" y="42676"/>
                    <a:pt x="878558" y="65270"/>
                    <a:pt x="878558" y="88828"/>
                  </a:cubicBezTo>
                  <a:lnTo>
                    <a:pt x="878558" y="1131967"/>
                  </a:lnTo>
                  <a:cubicBezTo>
                    <a:pt x="878558" y="1155526"/>
                    <a:pt x="869199" y="1178120"/>
                    <a:pt x="852541" y="1194778"/>
                  </a:cubicBezTo>
                  <a:cubicBezTo>
                    <a:pt x="835882" y="1211437"/>
                    <a:pt x="813288" y="1220796"/>
                    <a:pt x="789729" y="1220796"/>
                  </a:cubicBezTo>
                  <a:lnTo>
                    <a:pt x="88828" y="1220796"/>
                  </a:lnTo>
                  <a:cubicBezTo>
                    <a:pt x="65270" y="1220796"/>
                    <a:pt x="42676" y="1211437"/>
                    <a:pt x="26017" y="1194778"/>
                  </a:cubicBezTo>
                  <a:cubicBezTo>
                    <a:pt x="9359" y="1178120"/>
                    <a:pt x="0" y="1155526"/>
                    <a:pt x="0" y="1131967"/>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
            <p:cNvSpPr txBox="1"/>
            <p:nvPr/>
          </p:nvSpPr>
          <p:spPr>
            <a:xfrm>
              <a:off x="0" y="-19050"/>
              <a:ext cx="878558" cy="123984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9" name="Google Shape;189;p3"/>
          <p:cNvGrpSpPr/>
          <p:nvPr/>
        </p:nvGrpSpPr>
        <p:grpSpPr>
          <a:xfrm>
            <a:off x="11992874" y="2716378"/>
            <a:ext cx="5104171" cy="6718221"/>
            <a:chOff x="0" y="-19050"/>
            <a:chExt cx="1029031" cy="1354432"/>
          </a:xfrm>
        </p:grpSpPr>
        <p:sp>
          <p:nvSpPr>
            <p:cNvPr id="190" name="Google Shape;190;p3"/>
            <p:cNvSpPr/>
            <p:nvPr/>
          </p:nvSpPr>
          <p:spPr>
            <a:xfrm>
              <a:off x="0" y="0"/>
              <a:ext cx="1029031" cy="1335382"/>
            </a:xfrm>
            <a:custGeom>
              <a:rect b="b" l="l" r="r" t="t"/>
              <a:pathLst>
                <a:path extrusionOk="0" h="1335382" w="1029031">
                  <a:moveTo>
                    <a:pt x="75839" y="0"/>
                  </a:moveTo>
                  <a:lnTo>
                    <a:pt x="953191" y="0"/>
                  </a:lnTo>
                  <a:cubicBezTo>
                    <a:pt x="995076" y="0"/>
                    <a:pt x="1029031" y="33954"/>
                    <a:pt x="1029031" y="75839"/>
                  </a:cubicBezTo>
                  <a:lnTo>
                    <a:pt x="1029031" y="1259543"/>
                  </a:lnTo>
                  <a:cubicBezTo>
                    <a:pt x="1029031" y="1301428"/>
                    <a:pt x="995076" y="1335382"/>
                    <a:pt x="953191" y="1335382"/>
                  </a:cubicBezTo>
                  <a:lnTo>
                    <a:pt x="75839" y="1335382"/>
                  </a:lnTo>
                  <a:cubicBezTo>
                    <a:pt x="33954" y="1335382"/>
                    <a:pt x="0" y="1301428"/>
                    <a:pt x="0" y="1259543"/>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3"/>
            <p:cNvSpPr txBox="1"/>
            <p:nvPr/>
          </p:nvSpPr>
          <p:spPr>
            <a:xfrm>
              <a:off x="0" y="-19050"/>
              <a:ext cx="1029031" cy="13544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2" name="Google Shape;192;p3"/>
          <p:cNvSpPr/>
          <p:nvPr/>
        </p:nvSpPr>
        <p:spPr>
          <a:xfrm>
            <a:off x="2765360" y="2153044"/>
            <a:ext cx="1315652" cy="1315652"/>
          </a:xfrm>
          <a:custGeom>
            <a:rect b="b" l="l" r="r" t="t"/>
            <a:pathLst>
              <a:path extrusionOk="0" h="1315652" w="1315652">
                <a:moveTo>
                  <a:pt x="0" y="0"/>
                </a:moveTo>
                <a:lnTo>
                  <a:pt x="1315652" y="0"/>
                </a:lnTo>
                <a:lnTo>
                  <a:pt x="1315652" y="1315651"/>
                </a:lnTo>
                <a:lnTo>
                  <a:pt x="0" y="1315651"/>
                </a:lnTo>
                <a:lnTo>
                  <a:pt x="0" y="0"/>
                </a:lnTo>
                <a:close/>
              </a:path>
            </a:pathLst>
          </a:custGeom>
          <a:blipFill rotWithShape="1">
            <a:blip r:embed="rId4">
              <a:alphaModFix/>
            </a:blip>
            <a:stretch>
              <a:fillRect b="0" l="0" r="0" t="0"/>
            </a:stretch>
          </a:blipFill>
          <a:ln>
            <a:noFill/>
          </a:ln>
        </p:spPr>
      </p:sp>
      <p:sp>
        <p:nvSpPr>
          <p:cNvPr id="193" name="Google Shape;193;p3"/>
          <p:cNvSpPr txBox="1"/>
          <p:nvPr/>
        </p:nvSpPr>
        <p:spPr>
          <a:xfrm>
            <a:off x="12258025" y="3285975"/>
            <a:ext cx="4763400" cy="5826900"/>
          </a:xfrm>
          <a:prstGeom prst="rect">
            <a:avLst/>
          </a:prstGeom>
          <a:noFill/>
          <a:ln>
            <a:noFill/>
          </a:ln>
        </p:spPr>
        <p:txBody>
          <a:bodyPr anchorCtr="0" anchor="t" bIns="0" lIns="0" spcFirstLastPara="1" rIns="0" wrap="square" tIns="0">
            <a:spAutoFit/>
          </a:bodyPr>
          <a:lstStyle/>
          <a:p>
            <a:pPr indent="0" lvl="0" marL="0" marR="0" rtl="0" algn="l">
              <a:lnSpc>
                <a:spcPct val="130050"/>
              </a:lnSpc>
              <a:spcBef>
                <a:spcPts val="0"/>
              </a:spcBef>
              <a:spcAft>
                <a:spcPts val="0"/>
              </a:spcAft>
              <a:buClr>
                <a:srgbClr val="000000"/>
              </a:buClr>
              <a:buSzPts val="1970"/>
              <a:buFont typeface="Arial"/>
              <a:buNone/>
            </a:pPr>
            <a:r>
              <a:rPr b="1" i="0" lang="en-US" sz="1970" u="none" cap="none" strike="noStrike">
                <a:solidFill>
                  <a:srgbClr val="FFFFFF"/>
                </a:solidFill>
                <a:latin typeface="Montserrat"/>
                <a:ea typeface="Montserrat"/>
                <a:cs typeface="Montserrat"/>
                <a:sym typeface="Montserrat"/>
              </a:rPr>
              <a:t>Conectividad </a:t>
            </a:r>
            <a:endParaRPr b="0" i="0" sz="1400" u="none" cap="none" strike="noStrike">
              <a:solidFill>
                <a:srgbClr val="000000"/>
              </a:solidFill>
              <a:latin typeface="Arial"/>
              <a:ea typeface="Arial"/>
              <a:cs typeface="Arial"/>
              <a:sym typeface="Arial"/>
            </a:endParaRPr>
          </a:p>
          <a:p>
            <a:pPr indent="-212772" lvl="1" marL="425544" marR="0" rtl="0" algn="l">
              <a:lnSpc>
                <a:spcPct val="130050"/>
              </a:lnSpc>
              <a:spcBef>
                <a:spcPts val="0"/>
              </a:spcBef>
              <a:spcAft>
                <a:spcPts val="0"/>
              </a:spcAft>
              <a:buClr>
                <a:srgbClr val="FFFFFF"/>
              </a:buClr>
              <a:buSzPts val="1970"/>
              <a:buFont typeface="Arial"/>
              <a:buChar char="•"/>
            </a:pPr>
            <a:r>
              <a:rPr b="0" i="0" lang="en-US" sz="1970" u="none" cap="none" strike="noStrike">
                <a:solidFill>
                  <a:srgbClr val="FFFFFF"/>
                </a:solidFill>
                <a:latin typeface="Montserrat"/>
                <a:ea typeface="Montserrat"/>
                <a:cs typeface="Montserrat"/>
                <a:sym typeface="Montserrat"/>
              </a:rPr>
              <a:t>Los sistemas móviles están diseñados para conectarse a diversas redes (Wi-Fi, Bluetooth, 4G/5G), permitiendo una comunicación constante y el acceso a servicios en la nube.</a:t>
            </a:r>
            <a:endParaRPr b="0" i="0" sz="1400" u="none" cap="none" strike="noStrike">
              <a:solidFill>
                <a:srgbClr val="000000"/>
              </a:solidFill>
              <a:latin typeface="Arial"/>
              <a:ea typeface="Arial"/>
              <a:cs typeface="Arial"/>
              <a:sym typeface="Arial"/>
            </a:endParaRPr>
          </a:p>
          <a:p>
            <a:pPr indent="0" lvl="0" marL="0" marR="0" rtl="0" algn="l">
              <a:lnSpc>
                <a:spcPct val="129983"/>
              </a:lnSpc>
              <a:spcBef>
                <a:spcPts val="0"/>
              </a:spcBef>
              <a:spcAft>
                <a:spcPts val="0"/>
              </a:spcAft>
              <a:buClr>
                <a:srgbClr val="000000"/>
              </a:buClr>
              <a:buSzPts val="1970"/>
              <a:buFont typeface="Arial"/>
              <a:buNone/>
            </a:pPr>
            <a:r>
              <a:t/>
            </a:r>
            <a:endParaRPr b="0" i="0" sz="1970" u="none" cap="none" strike="noStrike">
              <a:solidFill>
                <a:srgbClr val="FFFFFF"/>
              </a:solidFill>
              <a:latin typeface="Montserrat"/>
              <a:ea typeface="Montserrat"/>
              <a:cs typeface="Montserrat"/>
              <a:sym typeface="Montserrat"/>
            </a:endParaRPr>
          </a:p>
          <a:p>
            <a:pPr indent="-212772" lvl="1" marL="425544" marR="0" rtl="0" algn="l">
              <a:lnSpc>
                <a:spcPct val="130050"/>
              </a:lnSpc>
              <a:spcBef>
                <a:spcPts val="0"/>
              </a:spcBef>
              <a:spcAft>
                <a:spcPts val="0"/>
              </a:spcAft>
              <a:buClr>
                <a:srgbClr val="FFFFFF"/>
              </a:buClr>
              <a:buSzPts val="1970"/>
              <a:buFont typeface="Arial"/>
              <a:buChar char="•"/>
            </a:pPr>
            <a:r>
              <a:rPr b="0" i="0" lang="en-US" sz="1970" u="none" cap="none" strike="noStrike">
                <a:solidFill>
                  <a:srgbClr val="FFFFFF"/>
                </a:solidFill>
                <a:latin typeface="Montserrat"/>
                <a:ea typeface="Montserrat"/>
                <a:cs typeface="Montserrat"/>
                <a:sym typeface="Montserrat"/>
              </a:rPr>
              <a:t>En comparación, los sistemas integrados suelen estar conectados a través de interfaces específicas (como UART, SPI, I2C), adecuadas para la comunicación con otros dispositivos dentro de un sistema más grande.</a:t>
            </a:r>
            <a:endParaRPr b="0" i="0" sz="1400" u="none" cap="none" strike="noStrike">
              <a:solidFill>
                <a:srgbClr val="000000"/>
              </a:solidFill>
              <a:latin typeface="Arial"/>
              <a:ea typeface="Arial"/>
              <a:cs typeface="Arial"/>
              <a:sym typeface="Arial"/>
            </a:endParaRPr>
          </a:p>
        </p:txBody>
      </p:sp>
      <p:sp>
        <p:nvSpPr>
          <p:cNvPr id="194" name="Google Shape;194;p3"/>
          <p:cNvSpPr txBox="1"/>
          <p:nvPr/>
        </p:nvSpPr>
        <p:spPr>
          <a:xfrm>
            <a:off x="7187400" y="3483625"/>
            <a:ext cx="3750900" cy="5615100"/>
          </a:xfrm>
          <a:prstGeom prst="rect">
            <a:avLst/>
          </a:prstGeom>
          <a:noFill/>
          <a:ln>
            <a:noFill/>
          </a:ln>
        </p:spPr>
        <p:txBody>
          <a:bodyPr anchorCtr="0" anchor="t" bIns="0" lIns="0" spcFirstLastPara="1" rIns="0" wrap="square" tIns="0">
            <a:spAutoFit/>
          </a:bodyPr>
          <a:lstStyle/>
          <a:p>
            <a:pPr indent="-205106" lvl="1" marL="410211" marR="0" rtl="0" algn="l">
              <a:lnSpc>
                <a:spcPct val="130000"/>
              </a:lnSpc>
              <a:spcBef>
                <a:spcPts val="0"/>
              </a:spcBef>
              <a:spcAft>
                <a:spcPts val="0"/>
              </a:spcAft>
              <a:buClr>
                <a:srgbClr val="1A0A33"/>
              </a:buClr>
              <a:buSzPts val="1900"/>
              <a:buFont typeface="Arial"/>
              <a:buChar char="•"/>
            </a:pPr>
            <a:r>
              <a:rPr b="0" i="0" lang="en-US" sz="1900" u="none" cap="none" strike="noStrike">
                <a:solidFill>
                  <a:srgbClr val="1A0A33"/>
                </a:solidFill>
                <a:latin typeface="Montserrat"/>
                <a:ea typeface="Montserrat"/>
                <a:cs typeface="Montserrat"/>
                <a:sym typeface="Montserrat"/>
              </a:rPr>
              <a:t>Los sistemas móviles deben gestionar múltiples aplicaciones y servicios, lo que requiere una planificación y asignación de recursos eficiente para asegurar un rendimiento óptimo.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900"/>
              <a:buFont typeface="Arial"/>
              <a:buNone/>
            </a:pPr>
            <a:r>
              <a:t/>
            </a:r>
            <a:endParaRPr b="0" i="0" sz="1900" u="none" cap="none" strike="noStrike">
              <a:solidFill>
                <a:srgbClr val="1A0A33"/>
              </a:solidFill>
              <a:latin typeface="Montserrat"/>
              <a:ea typeface="Montserrat"/>
              <a:cs typeface="Montserrat"/>
              <a:sym typeface="Montserrat"/>
            </a:endParaRPr>
          </a:p>
          <a:p>
            <a:pPr indent="-205106" lvl="1" marL="410211" marR="0" rtl="0" algn="l">
              <a:lnSpc>
                <a:spcPct val="130000"/>
              </a:lnSpc>
              <a:spcBef>
                <a:spcPts val="0"/>
              </a:spcBef>
              <a:spcAft>
                <a:spcPts val="0"/>
              </a:spcAft>
              <a:buClr>
                <a:srgbClr val="1A0A33"/>
              </a:buClr>
              <a:buSzPts val="1900"/>
              <a:buFont typeface="Arial"/>
              <a:buChar char="•"/>
            </a:pPr>
            <a:r>
              <a:rPr b="0" i="0" lang="en-US" sz="1900" u="none" cap="none" strike="noStrike">
                <a:solidFill>
                  <a:srgbClr val="1A0A33"/>
                </a:solidFill>
                <a:latin typeface="Montserrat"/>
                <a:ea typeface="Montserrat"/>
                <a:cs typeface="Montserrat"/>
                <a:sym typeface="Montserrat"/>
              </a:rPr>
              <a:t>Los sistemas integrados optimizan sus recursos para tareas específicas, priorizando la rapidez y eficiencia en la ejecución de funciones dedicadas.</a:t>
            </a:r>
            <a:endParaRPr b="0" i="0" sz="1900" u="none" cap="none" strike="noStrike">
              <a:solidFill>
                <a:srgbClr val="1A0A33"/>
              </a:solidFill>
              <a:latin typeface="Montserrat"/>
              <a:ea typeface="Montserrat"/>
              <a:cs typeface="Montserrat"/>
              <a:sym typeface="Montserrat"/>
            </a:endParaRPr>
          </a:p>
        </p:txBody>
      </p:sp>
      <p:sp>
        <p:nvSpPr>
          <p:cNvPr id="195" name="Google Shape;195;p3"/>
          <p:cNvSpPr txBox="1"/>
          <p:nvPr/>
        </p:nvSpPr>
        <p:spPr>
          <a:xfrm>
            <a:off x="6856950" y="3127811"/>
            <a:ext cx="37509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GESTIÓN DE RECURSOS</a:t>
            </a:r>
            <a:endParaRPr b="0" i="0" sz="1400" u="none" cap="none" strike="noStrike">
              <a:solidFill>
                <a:srgbClr val="000000"/>
              </a:solidFill>
              <a:latin typeface="Arial"/>
              <a:ea typeface="Arial"/>
              <a:cs typeface="Arial"/>
              <a:sym typeface="Arial"/>
            </a:endParaRPr>
          </a:p>
        </p:txBody>
      </p:sp>
      <p:sp>
        <p:nvSpPr>
          <p:cNvPr id="196" name="Google Shape;196;p3"/>
          <p:cNvSpPr txBox="1"/>
          <p:nvPr/>
        </p:nvSpPr>
        <p:spPr>
          <a:xfrm>
            <a:off x="4916799" y="929100"/>
            <a:ext cx="8454402" cy="70840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700"/>
              <a:buFont typeface="Arial"/>
              <a:buNone/>
            </a:pPr>
            <a:r>
              <a:rPr b="0" i="0" lang="en-US" sz="4700" u="none" cap="none" strike="noStrike">
                <a:solidFill>
                  <a:srgbClr val="FFFFFF"/>
                </a:solidFill>
                <a:latin typeface="Arial"/>
                <a:ea typeface="Arial"/>
                <a:cs typeface="Arial"/>
                <a:sym typeface="Arial"/>
              </a:rPr>
              <a:t>CARACTERÍSTICAS</a:t>
            </a:r>
            <a:endParaRPr b="0" i="0" sz="1400" u="none" cap="none" strike="noStrike">
              <a:solidFill>
                <a:srgbClr val="000000"/>
              </a:solidFill>
              <a:latin typeface="Arial"/>
              <a:ea typeface="Arial"/>
              <a:cs typeface="Arial"/>
              <a:sym typeface="Arial"/>
            </a:endParaRPr>
          </a:p>
        </p:txBody>
      </p:sp>
      <p:pic>
        <p:nvPicPr>
          <p:cNvPr id="197" name="Google Shape;197;p3"/>
          <p:cNvPicPr preferRelativeResize="0"/>
          <p:nvPr/>
        </p:nvPicPr>
        <p:blipFill rotWithShape="1">
          <a:blip r:embed="rId5">
            <a:alphaModFix/>
          </a:blip>
          <a:srcRect b="0" l="0" r="0" t="0"/>
          <a:stretch/>
        </p:blipFill>
        <p:spPr>
          <a:xfrm>
            <a:off x="8303175" y="1684925"/>
            <a:ext cx="1315651" cy="1315651"/>
          </a:xfrm>
          <a:prstGeom prst="rect">
            <a:avLst/>
          </a:prstGeom>
          <a:noFill/>
          <a:ln>
            <a:noFill/>
          </a:ln>
        </p:spPr>
      </p:pic>
      <p:pic>
        <p:nvPicPr>
          <p:cNvPr id="198" name="Google Shape;198;p3"/>
          <p:cNvPicPr preferRelativeResize="0"/>
          <p:nvPr/>
        </p:nvPicPr>
        <p:blipFill rotWithShape="1">
          <a:blip r:embed="rId6">
            <a:alphaModFix/>
          </a:blip>
          <a:srcRect b="0" l="0" r="0" t="0"/>
          <a:stretch/>
        </p:blipFill>
        <p:spPr>
          <a:xfrm>
            <a:off x="13943513" y="1784275"/>
            <a:ext cx="1315651" cy="13156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2" name="Shape 202"/>
        <p:cNvGrpSpPr/>
        <p:nvPr/>
      </p:nvGrpSpPr>
      <p:grpSpPr>
        <a:xfrm>
          <a:off x="0" y="0"/>
          <a:ext cx="0" cy="0"/>
          <a:chOff x="0" y="0"/>
          <a:chExt cx="0" cy="0"/>
        </a:xfrm>
      </p:grpSpPr>
      <p:cxnSp>
        <p:nvCxnSpPr>
          <p:cNvPr id="203" name="Google Shape;203;p4"/>
          <p:cNvCxnSpPr/>
          <p:nvPr/>
        </p:nvCxnSpPr>
        <p:spPr>
          <a:xfrm>
            <a:off x="15178880" y="2585791"/>
            <a:ext cx="0" cy="2476378"/>
          </a:xfrm>
          <a:prstGeom prst="straightConnector1">
            <a:avLst/>
          </a:prstGeom>
          <a:noFill/>
          <a:ln cap="flat" cmpd="sng" w="38100">
            <a:solidFill>
              <a:srgbClr val="675688"/>
            </a:solidFill>
            <a:prstDash val="solid"/>
            <a:round/>
            <a:headEnd len="sm" w="sm" type="none"/>
            <a:tailEnd len="lg" w="lg" type="oval"/>
          </a:ln>
        </p:spPr>
      </p:cxnSp>
      <p:grpSp>
        <p:nvGrpSpPr>
          <p:cNvPr id="204" name="Google Shape;204;p4"/>
          <p:cNvGrpSpPr/>
          <p:nvPr/>
        </p:nvGrpSpPr>
        <p:grpSpPr>
          <a:xfrm>
            <a:off x="14024907" y="2250088"/>
            <a:ext cx="2307945" cy="2307945"/>
            <a:chOff x="0" y="0"/>
            <a:chExt cx="812800" cy="812800"/>
          </a:xfrm>
        </p:grpSpPr>
        <p:sp>
          <p:nvSpPr>
            <p:cNvPr id="205" name="Google Shape;20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p4"/>
          <p:cNvGrpSpPr/>
          <p:nvPr/>
        </p:nvGrpSpPr>
        <p:grpSpPr>
          <a:xfrm>
            <a:off x="14813454" y="1884662"/>
            <a:ext cx="730852" cy="730852"/>
            <a:chOff x="0" y="0"/>
            <a:chExt cx="812800" cy="812800"/>
          </a:xfrm>
        </p:grpSpPr>
        <p:sp>
          <p:nvSpPr>
            <p:cNvPr id="208" name="Google Shape;20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4"/>
          <p:cNvGrpSpPr/>
          <p:nvPr/>
        </p:nvGrpSpPr>
        <p:grpSpPr>
          <a:xfrm>
            <a:off x="1518507" y="2250088"/>
            <a:ext cx="2307945" cy="2307945"/>
            <a:chOff x="0" y="0"/>
            <a:chExt cx="812800" cy="812800"/>
          </a:xfrm>
        </p:grpSpPr>
        <p:sp>
          <p:nvSpPr>
            <p:cNvPr id="211" name="Google Shape;21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13" name="Google Shape;213;p4"/>
          <p:cNvCxnSpPr/>
          <p:nvPr/>
        </p:nvCxnSpPr>
        <p:spPr>
          <a:xfrm>
            <a:off x="2672479" y="2585791"/>
            <a:ext cx="0" cy="2476378"/>
          </a:xfrm>
          <a:prstGeom prst="straightConnector1">
            <a:avLst/>
          </a:prstGeom>
          <a:noFill/>
          <a:ln cap="flat" cmpd="sng" w="38100">
            <a:solidFill>
              <a:srgbClr val="5CD9C1"/>
            </a:solidFill>
            <a:prstDash val="solid"/>
            <a:round/>
            <a:headEnd len="sm" w="sm" type="none"/>
            <a:tailEnd len="lg" w="lg" type="oval"/>
          </a:ln>
        </p:spPr>
      </p:cxnSp>
      <p:grpSp>
        <p:nvGrpSpPr>
          <p:cNvPr id="214" name="Google Shape;214;p4"/>
          <p:cNvGrpSpPr/>
          <p:nvPr/>
        </p:nvGrpSpPr>
        <p:grpSpPr>
          <a:xfrm>
            <a:off x="2307053" y="1884662"/>
            <a:ext cx="730852" cy="730852"/>
            <a:chOff x="0" y="0"/>
            <a:chExt cx="812800" cy="812800"/>
          </a:xfrm>
        </p:grpSpPr>
        <p:sp>
          <p:nvSpPr>
            <p:cNvPr id="215" name="Google Shape;21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7" name="Google Shape;217;p4"/>
          <p:cNvGrpSpPr/>
          <p:nvPr/>
        </p:nvGrpSpPr>
        <p:grpSpPr>
          <a:xfrm>
            <a:off x="5617027" y="2250088"/>
            <a:ext cx="2307945" cy="2307945"/>
            <a:chOff x="0" y="0"/>
            <a:chExt cx="812800" cy="812800"/>
          </a:xfrm>
        </p:grpSpPr>
        <p:sp>
          <p:nvSpPr>
            <p:cNvPr id="218" name="Google Shape;21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20" name="Google Shape;220;p4"/>
          <p:cNvCxnSpPr/>
          <p:nvPr/>
        </p:nvCxnSpPr>
        <p:spPr>
          <a:xfrm>
            <a:off x="6770999" y="2585791"/>
            <a:ext cx="0" cy="2476378"/>
          </a:xfrm>
          <a:prstGeom prst="straightConnector1">
            <a:avLst/>
          </a:prstGeom>
          <a:noFill/>
          <a:ln cap="flat" cmpd="sng" w="38100">
            <a:solidFill>
              <a:srgbClr val="ACFDDB"/>
            </a:solidFill>
            <a:prstDash val="solid"/>
            <a:round/>
            <a:headEnd len="sm" w="sm" type="none"/>
            <a:tailEnd len="lg" w="lg" type="oval"/>
          </a:ln>
        </p:spPr>
      </p:cxnSp>
      <p:grpSp>
        <p:nvGrpSpPr>
          <p:cNvPr id="221" name="Google Shape;221;p4"/>
          <p:cNvGrpSpPr/>
          <p:nvPr/>
        </p:nvGrpSpPr>
        <p:grpSpPr>
          <a:xfrm>
            <a:off x="6405573" y="1884662"/>
            <a:ext cx="730852" cy="730852"/>
            <a:chOff x="0" y="0"/>
            <a:chExt cx="812800" cy="812800"/>
          </a:xfrm>
        </p:grpSpPr>
        <p:sp>
          <p:nvSpPr>
            <p:cNvPr id="222" name="Google Shape;222;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4"/>
          <p:cNvGrpSpPr/>
          <p:nvPr/>
        </p:nvGrpSpPr>
        <p:grpSpPr>
          <a:xfrm>
            <a:off x="9851467" y="2250088"/>
            <a:ext cx="2307945" cy="2307945"/>
            <a:chOff x="0" y="0"/>
            <a:chExt cx="812800" cy="812800"/>
          </a:xfrm>
        </p:grpSpPr>
        <p:sp>
          <p:nvSpPr>
            <p:cNvPr id="225" name="Google Shape;22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27" name="Google Shape;227;p4"/>
          <p:cNvCxnSpPr/>
          <p:nvPr/>
        </p:nvCxnSpPr>
        <p:spPr>
          <a:xfrm>
            <a:off x="11005439" y="2585791"/>
            <a:ext cx="0" cy="2476378"/>
          </a:xfrm>
          <a:prstGeom prst="straightConnector1">
            <a:avLst/>
          </a:prstGeom>
          <a:noFill/>
          <a:ln cap="flat" cmpd="sng" w="38100">
            <a:solidFill>
              <a:srgbClr val="B084CC"/>
            </a:solidFill>
            <a:prstDash val="solid"/>
            <a:round/>
            <a:headEnd len="sm" w="sm" type="none"/>
            <a:tailEnd len="lg" w="lg" type="oval"/>
          </a:ln>
        </p:spPr>
      </p:cxnSp>
      <p:grpSp>
        <p:nvGrpSpPr>
          <p:cNvPr id="228" name="Google Shape;228;p4"/>
          <p:cNvGrpSpPr/>
          <p:nvPr/>
        </p:nvGrpSpPr>
        <p:grpSpPr>
          <a:xfrm>
            <a:off x="10640013" y="1884662"/>
            <a:ext cx="730852" cy="730852"/>
            <a:chOff x="0" y="0"/>
            <a:chExt cx="812800" cy="812800"/>
          </a:xfrm>
        </p:grpSpPr>
        <p:sp>
          <p:nvSpPr>
            <p:cNvPr id="229" name="Google Shape;229;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231" name="Google Shape;231;p4"/>
          <p:cNvCxnSpPr/>
          <p:nvPr/>
        </p:nvCxnSpPr>
        <p:spPr>
          <a:xfrm rot="10800000">
            <a:off x="5012189" y="2937437"/>
            <a:ext cx="0" cy="5659939"/>
          </a:xfrm>
          <a:prstGeom prst="straightConnector1">
            <a:avLst/>
          </a:prstGeom>
          <a:noFill/>
          <a:ln cap="flat" cmpd="sng" w="9525">
            <a:solidFill>
              <a:srgbClr val="FFFFFF"/>
            </a:solidFill>
            <a:prstDash val="lgDash"/>
            <a:round/>
            <a:headEnd len="sm" w="sm" type="none"/>
            <a:tailEnd len="sm" w="sm" type="none"/>
          </a:ln>
        </p:spPr>
      </p:cxnSp>
      <p:cxnSp>
        <p:nvCxnSpPr>
          <p:cNvPr id="232" name="Google Shape;232;p4"/>
          <p:cNvCxnSpPr/>
          <p:nvPr/>
        </p:nvCxnSpPr>
        <p:spPr>
          <a:xfrm rot="10800000">
            <a:off x="8900891" y="2937437"/>
            <a:ext cx="0" cy="5659939"/>
          </a:xfrm>
          <a:prstGeom prst="straightConnector1">
            <a:avLst/>
          </a:prstGeom>
          <a:noFill/>
          <a:ln cap="flat" cmpd="sng" w="9525">
            <a:solidFill>
              <a:srgbClr val="FFFFFF"/>
            </a:solidFill>
            <a:prstDash val="lgDash"/>
            <a:round/>
            <a:headEnd len="sm" w="sm" type="none"/>
            <a:tailEnd len="sm" w="sm" type="none"/>
          </a:ln>
        </p:spPr>
      </p:cxnSp>
      <p:cxnSp>
        <p:nvCxnSpPr>
          <p:cNvPr id="233" name="Google Shape;233;p4"/>
          <p:cNvCxnSpPr/>
          <p:nvPr/>
        </p:nvCxnSpPr>
        <p:spPr>
          <a:xfrm rot="10800000">
            <a:off x="13146107" y="2937437"/>
            <a:ext cx="0" cy="5659939"/>
          </a:xfrm>
          <a:prstGeom prst="straightConnector1">
            <a:avLst/>
          </a:prstGeom>
          <a:noFill/>
          <a:ln cap="flat" cmpd="sng" w="9525">
            <a:solidFill>
              <a:srgbClr val="FFFFFF"/>
            </a:solidFill>
            <a:prstDash val="lgDash"/>
            <a:round/>
            <a:headEnd len="sm" w="sm" type="none"/>
            <a:tailEnd len="sm" w="sm" type="none"/>
          </a:ln>
        </p:spPr>
      </p:cxnSp>
      <p:sp>
        <p:nvSpPr>
          <p:cNvPr id="234" name="Google Shape;234;p4"/>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ÁREAS DE APLICACIÓN</a:t>
            </a:r>
            <a:endParaRPr b="0" i="0" sz="1400" u="none" cap="none" strike="noStrike">
              <a:solidFill>
                <a:srgbClr val="000000"/>
              </a:solidFill>
              <a:latin typeface="Arial"/>
              <a:ea typeface="Arial"/>
              <a:cs typeface="Arial"/>
              <a:sym typeface="Arial"/>
            </a:endParaRPr>
          </a:p>
        </p:txBody>
      </p:sp>
      <p:sp>
        <p:nvSpPr>
          <p:cNvPr id="235" name="Google Shape;235;p4"/>
          <p:cNvSpPr txBox="1"/>
          <p:nvPr/>
        </p:nvSpPr>
        <p:spPr>
          <a:xfrm>
            <a:off x="14888781"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236" name="Google Shape;236;p4"/>
          <p:cNvSpPr txBox="1"/>
          <p:nvPr/>
        </p:nvSpPr>
        <p:spPr>
          <a:xfrm>
            <a:off x="13532590" y="5284229"/>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IOT</a:t>
            </a:r>
            <a:endParaRPr b="0" i="0" sz="1400" u="none" cap="none" strike="noStrike">
              <a:solidFill>
                <a:srgbClr val="000000"/>
              </a:solidFill>
              <a:latin typeface="Arial"/>
              <a:ea typeface="Arial"/>
              <a:cs typeface="Arial"/>
              <a:sym typeface="Arial"/>
            </a:endParaRPr>
          </a:p>
        </p:txBody>
      </p:sp>
      <p:sp>
        <p:nvSpPr>
          <p:cNvPr id="237" name="Google Shape;237;p4"/>
          <p:cNvSpPr txBox="1"/>
          <p:nvPr/>
        </p:nvSpPr>
        <p:spPr>
          <a:xfrm>
            <a:off x="699537" y="6080595"/>
            <a:ext cx="3955465" cy="3417824"/>
          </a:xfrm>
          <a:prstGeom prst="rect">
            <a:avLst/>
          </a:prstGeom>
          <a:noFill/>
          <a:ln>
            <a:noFill/>
          </a:ln>
        </p:spPr>
        <p:txBody>
          <a:bodyPr anchorCtr="0" anchor="t" bIns="0" lIns="0" spcFirstLastPara="1" rIns="0" wrap="square" tIns="0">
            <a:spAutoFit/>
          </a:bodyPr>
          <a:lstStyle/>
          <a:p>
            <a:pPr indent="0" lvl="0" marL="0" marR="0" rtl="0" algn="ctr">
              <a:lnSpc>
                <a:spcPct val="134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Experiencia del Usuario</a:t>
            </a:r>
            <a:r>
              <a:rPr b="0" i="0" lang="en-US" sz="1700" u="none" cap="none" strike="noStrike">
                <a:solidFill>
                  <a:srgbClr val="FFFFFF"/>
                </a:solidFill>
                <a:latin typeface="Montserrat"/>
                <a:ea typeface="Montserrat"/>
                <a:cs typeface="Montserrat"/>
                <a:sym typeface="Montserrat"/>
              </a:rPr>
              <a:t>: Interfaz gráfica intuitiva y personalizable.</a:t>
            </a:r>
            <a:endParaRPr b="0" i="0" sz="1400" u="none" cap="none" strike="noStrike">
              <a:solidFill>
                <a:srgbClr val="000000"/>
              </a:solidFill>
              <a:latin typeface="Arial"/>
              <a:ea typeface="Arial"/>
              <a:cs typeface="Arial"/>
              <a:sym typeface="Arial"/>
            </a:endParaRPr>
          </a:p>
          <a:p>
            <a:pPr indent="0" lvl="0" marL="0" marR="0" rtl="0" algn="ctr">
              <a:lnSpc>
                <a:spcPct val="134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Multitarea</a:t>
            </a:r>
            <a:r>
              <a:rPr b="0" i="0" lang="en-US" sz="1700" u="none" cap="none" strike="noStrike">
                <a:solidFill>
                  <a:srgbClr val="FFFFFF"/>
                </a:solidFill>
                <a:latin typeface="Montserrat"/>
                <a:ea typeface="Montserrat"/>
                <a:cs typeface="Montserrat"/>
                <a:sym typeface="Montserrat"/>
              </a:rPr>
              <a:t>: Capacidad para ejecutar múltiples aplicaciones simultáneamente, permitiendo alternar entre tareas sin problemas.</a:t>
            </a:r>
            <a:endParaRPr b="0" i="0" sz="1400" u="none" cap="none" strike="noStrike">
              <a:solidFill>
                <a:srgbClr val="000000"/>
              </a:solidFill>
              <a:latin typeface="Arial"/>
              <a:ea typeface="Arial"/>
              <a:cs typeface="Arial"/>
              <a:sym typeface="Arial"/>
            </a:endParaRPr>
          </a:p>
          <a:p>
            <a:pPr indent="0" lvl="0" marL="0" marR="0" rtl="0" algn="ctr">
              <a:lnSpc>
                <a:spcPct val="134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Acceso a Servicios en Línea</a:t>
            </a:r>
            <a:r>
              <a:rPr b="0" i="0" lang="en-US" sz="1700" u="none" cap="none" strike="noStrike">
                <a:solidFill>
                  <a:srgbClr val="FFFFFF"/>
                </a:solidFill>
                <a:latin typeface="Montserrat"/>
                <a:ea typeface="Montserrat"/>
                <a:cs typeface="Montserrat"/>
                <a:sym typeface="Montserrat"/>
              </a:rPr>
              <a:t>: Integración con aplicaciones de redes sociales, mensajería, y servicios de streaming.</a:t>
            </a:r>
            <a:endParaRPr b="0" i="0" sz="1400" u="none" cap="none" strike="noStrike">
              <a:solidFill>
                <a:srgbClr val="000000"/>
              </a:solidFill>
              <a:latin typeface="Arial"/>
              <a:ea typeface="Arial"/>
              <a:cs typeface="Arial"/>
              <a:sym typeface="Arial"/>
            </a:endParaRPr>
          </a:p>
          <a:p>
            <a:pPr indent="0" lvl="0" marL="0" marR="0" rtl="0" algn="ctr">
              <a:lnSpc>
                <a:spcPct val="134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238" name="Google Shape;238;p4"/>
          <p:cNvSpPr txBox="1"/>
          <p:nvPr/>
        </p:nvSpPr>
        <p:spPr>
          <a:xfrm>
            <a:off x="943100" y="5271651"/>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DE CONSUMO</a:t>
            </a:r>
            <a:endParaRPr b="0" i="0" sz="1400" u="none" cap="none" strike="noStrike">
              <a:solidFill>
                <a:srgbClr val="000000"/>
              </a:solidFill>
              <a:latin typeface="Arial"/>
              <a:ea typeface="Arial"/>
              <a:cs typeface="Arial"/>
              <a:sym typeface="Arial"/>
            </a:endParaRPr>
          </a:p>
        </p:txBody>
      </p:sp>
      <p:sp>
        <p:nvSpPr>
          <p:cNvPr id="239" name="Google Shape;239;p4"/>
          <p:cNvSpPr txBox="1"/>
          <p:nvPr/>
        </p:nvSpPr>
        <p:spPr>
          <a:xfrm>
            <a:off x="2382380"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40" name="Google Shape;240;p4"/>
          <p:cNvSpPr txBox="1"/>
          <p:nvPr/>
        </p:nvSpPr>
        <p:spPr>
          <a:xfrm>
            <a:off x="5023543" y="5284229"/>
            <a:ext cx="3748760"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AUTOMOCIÓN</a:t>
            </a:r>
            <a:endParaRPr b="0" i="0" sz="1400" u="none" cap="none" strike="noStrike">
              <a:solidFill>
                <a:srgbClr val="000000"/>
              </a:solidFill>
              <a:latin typeface="Arial"/>
              <a:ea typeface="Arial"/>
              <a:cs typeface="Arial"/>
              <a:sym typeface="Arial"/>
            </a:endParaRPr>
          </a:p>
        </p:txBody>
      </p:sp>
      <p:sp>
        <p:nvSpPr>
          <p:cNvPr id="241" name="Google Shape;241;p4"/>
          <p:cNvSpPr txBox="1"/>
          <p:nvPr/>
        </p:nvSpPr>
        <p:spPr>
          <a:xfrm>
            <a:off x="6480900"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42" name="Google Shape;242;p4"/>
          <p:cNvSpPr txBox="1"/>
          <p:nvPr/>
        </p:nvSpPr>
        <p:spPr>
          <a:xfrm>
            <a:off x="9284950" y="5284229"/>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DISPOSITIVOS MÉDICOS</a:t>
            </a:r>
            <a:endParaRPr b="0" i="0" sz="1400" u="none" cap="none" strike="noStrike">
              <a:solidFill>
                <a:srgbClr val="000000"/>
              </a:solidFill>
              <a:latin typeface="Arial"/>
              <a:ea typeface="Arial"/>
              <a:cs typeface="Arial"/>
              <a:sym typeface="Arial"/>
            </a:endParaRPr>
          </a:p>
        </p:txBody>
      </p:sp>
      <p:sp>
        <p:nvSpPr>
          <p:cNvPr id="243" name="Google Shape;243;p4"/>
          <p:cNvSpPr txBox="1"/>
          <p:nvPr/>
        </p:nvSpPr>
        <p:spPr>
          <a:xfrm>
            <a:off x="10715341" y="2050269"/>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44" name="Google Shape;244;p4"/>
          <p:cNvSpPr txBox="1"/>
          <p:nvPr/>
        </p:nvSpPr>
        <p:spPr>
          <a:xfrm>
            <a:off x="5136847" y="6106797"/>
            <a:ext cx="3582957" cy="2813939"/>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En el sector automotriz para:</a:t>
            </a:r>
            <a:endParaRPr b="0" i="0" sz="1400" u="none" cap="none" strike="noStrike">
              <a:solidFill>
                <a:srgbClr val="000000"/>
              </a:solidFill>
              <a:latin typeface="Arial"/>
              <a:ea typeface="Arial"/>
              <a:cs typeface="Arial"/>
              <a:sym typeface="Arial"/>
            </a:endParaRPr>
          </a:p>
          <a:p>
            <a:pPr indent="0" lvl="0" marL="0" marR="0" rtl="0" algn="ctr">
              <a:lnSpc>
                <a:spcPct val="149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a:p>
            <a:pPr indent="0" lvl="0" marL="0" marR="0" rtl="0" algn="ctr">
              <a:lnSpc>
                <a:spcPct val="149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Sistemas de Navegación:</a:t>
            </a:r>
            <a:r>
              <a:rPr b="0" i="0" lang="en-US" sz="1700" u="none" cap="none" strike="noStrike">
                <a:solidFill>
                  <a:srgbClr val="FFFFFF"/>
                </a:solidFill>
                <a:latin typeface="Montserrat"/>
                <a:ea typeface="Montserrat"/>
                <a:cs typeface="Montserrat"/>
                <a:sym typeface="Montserrat"/>
              </a:rPr>
              <a:t> GPS y aplicaciones de mapas</a:t>
            </a:r>
            <a:endParaRPr b="0" i="0" sz="1400" u="none" cap="none" strike="noStrike">
              <a:solidFill>
                <a:srgbClr val="000000"/>
              </a:solidFill>
              <a:latin typeface="Arial"/>
              <a:ea typeface="Arial"/>
              <a:cs typeface="Arial"/>
              <a:sym typeface="Arial"/>
            </a:endParaRPr>
          </a:p>
          <a:p>
            <a:pPr indent="0" lvl="0" marL="0" marR="0" rtl="0" algn="ctr">
              <a:lnSpc>
                <a:spcPct val="149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Conectividad: </a:t>
            </a:r>
            <a:r>
              <a:rPr b="0" i="0" lang="en-US" sz="1700" u="none" cap="none" strike="noStrike">
                <a:solidFill>
                  <a:srgbClr val="FFFFFF"/>
                </a:solidFill>
                <a:latin typeface="Montserrat"/>
                <a:ea typeface="Montserrat"/>
                <a:cs typeface="Montserrat"/>
                <a:sym typeface="Montserrat"/>
              </a:rPr>
              <a:t>Integración con smartphones.</a:t>
            </a:r>
            <a:endParaRPr b="0" i="0" sz="1400" u="none" cap="none" strike="noStrike">
              <a:solidFill>
                <a:srgbClr val="000000"/>
              </a:solidFill>
              <a:latin typeface="Arial"/>
              <a:ea typeface="Arial"/>
              <a:cs typeface="Arial"/>
              <a:sym typeface="Arial"/>
            </a:endParaRPr>
          </a:p>
          <a:p>
            <a:pPr indent="0" lvl="0" marL="0" marR="0" rtl="0" algn="ctr">
              <a:lnSpc>
                <a:spcPct val="149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Seguridad: </a:t>
            </a:r>
            <a:r>
              <a:rPr b="0" i="0" lang="en-US" sz="1700" u="none" cap="none" strike="noStrike">
                <a:solidFill>
                  <a:srgbClr val="FFFFFF"/>
                </a:solidFill>
                <a:latin typeface="Montserrat"/>
                <a:ea typeface="Montserrat"/>
                <a:cs typeface="Montserrat"/>
                <a:sym typeface="Montserrat"/>
              </a:rPr>
              <a:t>Sistemas de control de estabilidad, asistencia al conductor,etc</a:t>
            </a:r>
            <a:endParaRPr b="0" i="0" sz="1400" u="none" cap="none" strike="noStrike">
              <a:solidFill>
                <a:srgbClr val="000000"/>
              </a:solidFill>
              <a:latin typeface="Arial"/>
              <a:ea typeface="Arial"/>
              <a:cs typeface="Arial"/>
              <a:sym typeface="Arial"/>
            </a:endParaRPr>
          </a:p>
        </p:txBody>
      </p:sp>
      <p:sp>
        <p:nvSpPr>
          <p:cNvPr id="245" name="Google Shape;245;p4"/>
          <p:cNvSpPr txBox="1"/>
          <p:nvPr/>
        </p:nvSpPr>
        <p:spPr>
          <a:xfrm>
            <a:off x="9186641" y="5890645"/>
            <a:ext cx="3637596" cy="3471500"/>
          </a:xfrm>
          <a:prstGeom prst="rect">
            <a:avLst/>
          </a:prstGeom>
          <a:noFill/>
          <a:ln>
            <a:noFill/>
          </a:ln>
        </p:spPr>
        <p:txBody>
          <a:bodyPr anchorCtr="0" anchor="t" bIns="0" lIns="0" spcFirstLastPara="1" rIns="0" wrap="square" tIns="0">
            <a:spAutoFit/>
          </a:bodyPr>
          <a:lstStyle/>
          <a:p>
            <a:pPr indent="0" lvl="0" marL="0" marR="0" rtl="0" algn="ctr">
              <a:lnSpc>
                <a:spcPct val="130060"/>
              </a:lnSpc>
              <a:spcBef>
                <a:spcPts val="0"/>
              </a:spcBef>
              <a:spcAft>
                <a:spcPts val="0"/>
              </a:spcAft>
              <a:buClr>
                <a:srgbClr val="000000"/>
              </a:buClr>
              <a:buSzPts val="1660"/>
              <a:buFont typeface="Arial"/>
              <a:buNone/>
            </a:pPr>
            <a:r>
              <a:rPr b="1" i="0" lang="en-US" sz="1660" u="none" cap="none" strike="noStrike">
                <a:solidFill>
                  <a:srgbClr val="FFFFFF"/>
                </a:solidFill>
                <a:latin typeface="Montserrat"/>
                <a:ea typeface="Montserrat"/>
                <a:cs typeface="Montserrat"/>
                <a:sym typeface="Montserrat"/>
              </a:rPr>
              <a:t>Monitores de Salud: </a:t>
            </a:r>
            <a:r>
              <a:rPr b="0" i="0" lang="en-US" sz="1660" u="none" cap="none" strike="noStrike">
                <a:solidFill>
                  <a:srgbClr val="FFFFFF"/>
                </a:solidFill>
                <a:latin typeface="Montserrat"/>
                <a:ea typeface="Montserrat"/>
                <a:cs typeface="Montserrat"/>
                <a:sym typeface="Montserrat"/>
              </a:rPr>
              <a:t>Dispositivos que supervisan constantemente parámetros vitales, como la frecuencia cardíaca y la presión arterial.</a:t>
            </a:r>
            <a:endParaRPr b="0" i="0" sz="1400" u="none" cap="none" strike="noStrike">
              <a:solidFill>
                <a:srgbClr val="000000"/>
              </a:solidFill>
              <a:latin typeface="Arial"/>
              <a:ea typeface="Arial"/>
              <a:cs typeface="Arial"/>
              <a:sym typeface="Arial"/>
            </a:endParaRPr>
          </a:p>
          <a:p>
            <a:pPr indent="0" lvl="0" marL="0" marR="0" rtl="0" algn="ctr">
              <a:lnSpc>
                <a:spcPct val="130060"/>
              </a:lnSpc>
              <a:spcBef>
                <a:spcPts val="0"/>
              </a:spcBef>
              <a:spcAft>
                <a:spcPts val="0"/>
              </a:spcAft>
              <a:buClr>
                <a:srgbClr val="000000"/>
              </a:buClr>
              <a:buSzPts val="1660"/>
              <a:buFont typeface="Arial"/>
              <a:buNone/>
            </a:pPr>
            <a:r>
              <a:t/>
            </a:r>
            <a:endParaRPr b="0" i="0" sz="1660" u="none" cap="none" strike="noStrike">
              <a:solidFill>
                <a:srgbClr val="FFFFFF"/>
              </a:solidFill>
              <a:latin typeface="Montserrat"/>
              <a:ea typeface="Montserrat"/>
              <a:cs typeface="Montserrat"/>
              <a:sym typeface="Montserrat"/>
            </a:endParaRPr>
          </a:p>
          <a:p>
            <a:pPr indent="0" lvl="0" marL="0" marR="0" rtl="0" algn="ctr">
              <a:lnSpc>
                <a:spcPct val="130060"/>
              </a:lnSpc>
              <a:spcBef>
                <a:spcPts val="0"/>
              </a:spcBef>
              <a:spcAft>
                <a:spcPts val="0"/>
              </a:spcAft>
              <a:buClr>
                <a:srgbClr val="000000"/>
              </a:buClr>
              <a:buSzPts val="1660"/>
              <a:buFont typeface="Arial"/>
              <a:buNone/>
            </a:pPr>
            <a:r>
              <a:rPr b="1" i="0" lang="en-US" sz="1660" u="none" cap="none" strike="noStrike">
                <a:solidFill>
                  <a:srgbClr val="FFFFFF"/>
                </a:solidFill>
                <a:latin typeface="Montserrat"/>
                <a:ea typeface="Montserrat"/>
                <a:cs typeface="Montserrat"/>
                <a:sym typeface="Montserrat"/>
              </a:rPr>
              <a:t>Interfaz de Usuario:</a:t>
            </a:r>
            <a:r>
              <a:rPr b="0" i="0" lang="en-US" sz="1660" u="none" cap="none" strike="noStrike">
                <a:solidFill>
                  <a:srgbClr val="FFFFFF"/>
                </a:solidFill>
                <a:latin typeface="Montserrat"/>
                <a:ea typeface="Montserrat"/>
                <a:cs typeface="Montserrat"/>
                <a:sym typeface="Montserrat"/>
              </a:rPr>
              <a:t> Los dispositivos a menudo incluyen pantallas táctiles que permiten a los médicos y pacientes interactuar con el sistema de manera intuitiva</a:t>
            </a:r>
            <a:endParaRPr b="0" i="0" sz="1400" u="none" cap="none" strike="noStrike">
              <a:solidFill>
                <a:srgbClr val="000000"/>
              </a:solidFill>
              <a:latin typeface="Arial"/>
              <a:ea typeface="Arial"/>
              <a:cs typeface="Arial"/>
              <a:sym typeface="Arial"/>
            </a:endParaRPr>
          </a:p>
          <a:p>
            <a:pPr indent="0" lvl="0" marL="0" marR="0" rtl="0" algn="ctr">
              <a:lnSpc>
                <a:spcPct val="130060"/>
              </a:lnSpc>
              <a:spcBef>
                <a:spcPts val="0"/>
              </a:spcBef>
              <a:spcAft>
                <a:spcPts val="0"/>
              </a:spcAft>
              <a:buClr>
                <a:srgbClr val="000000"/>
              </a:buClr>
              <a:buSzPts val="1660"/>
              <a:buFont typeface="Arial"/>
              <a:buNone/>
            </a:pPr>
            <a:r>
              <a:t/>
            </a:r>
            <a:endParaRPr b="0" i="0" sz="1660" u="none" cap="none" strike="noStrike">
              <a:solidFill>
                <a:srgbClr val="FFFFFF"/>
              </a:solidFill>
              <a:latin typeface="Montserrat"/>
              <a:ea typeface="Montserrat"/>
              <a:cs typeface="Montserrat"/>
              <a:sym typeface="Montserrat"/>
            </a:endParaRPr>
          </a:p>
        </p:txBody>
      </p:sp>
      <p:sp>
        <p:nvSpPr>
          <p:cNvPr id="246" name="Google Shape;246;p4"/>
          <p:cNvSpPr txBox="1"/>
          <p:nvPr/>
        </p:nvSpPr>
        <p:spPr>
          <a:xfrm>
            <a:off x="13337337" y="5669915"/>
            <a:ext cx="4413936" cy="358838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Hogares Inteligentes: </a:t>
            </a:r>
            <a:r>
              <a:rPr b="0" i="0" lang="en-US" sz="1700" u="none" cap="none" strike="noStrike">
                <a:solidFill>
                  <a:srgbClr val="FFFFFF"/>
                </a:solidFill>
                <a:latin typeface="Montserrat"/>
                <a:ea typeface="Montserrat"/>
                <a:cs typeface="Montserrat"/>
                <a:sym typeface="Montserrat"/>
              </a:rPr>
              <a:t>Dispositivos como termostatos inteligentes, cámaras de seguridad, y asistentes virtuales que gestionan la eficiencia energética, seguridad, y comodidad del hogar.</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Ciudades Conectadas</a:t>
            </a:r>
            <a:r>
              <a:rPr b="0" i="0" lang="en-US" sz="1700" u="none" cap="none" strike="noStrike">
                <a:solidFill>
                  <a:srgbClr val="FFFFFF"/>
                </a:solidFill>
                <a:latin typeface="Montserrat"/>
                <a:ea typeface="Montserrat"/>
                <a:cs typeface="Montserrat"/>
                <a:sym typeface="Montserrat"/>
              </a:rPr>
              <a:t>: Sistemas de gestión del tráfico, monitorización ambiental, y servicios públicos que utilizan sensores y dispositivos conectados para mejorar la infraestructura urbana.</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pic>
        <p:nvPicPr>
          <p:cNvPr id="247" name="Google Shape;247;p4"/>
          <p:cNvPicPr preferRelativeResize="0"/>
          <p:nvPr/>
        </p:nvPicPr>
        <p:blipFill rotWithShape="1">
          <a:blip r:embed="rId3">
            <a:alphaModFix/>
          </a:blip>
          <a:srcRect b="0" l="0" r="0" t="0"/>
          <a:stretch/>
        </p:blipFill>
        <p:spPr>
          <a:xfrm>
            <a:off x="1987988" y="2739713"/>
            <a:ext cx="1378575" cy="1378575"/>
          </a:xfrm>
          <a:prstGeom prst="rect">
            <a:avLst/>
          </a:prstGeom>
          <a:noFill/>
          <a:ln>
            <a:noFill/>
          </a:ln>
        </p:spPr>
      </p:pic>
      <p:pic>
        <p:nvPicPr>
          <p:cNvPr id="248" name="Google Shape;248;p4"/>
          <p:cNvPicPr preferRelativeResize="0"/>
          <p:nvPr/>
        </p:nvPicPr>
        <p:blipFill rotWithShape="1">
          <a:blip r:embed="rId4">
            <a:alphaModFix/>
          </a:blip>
          <a:srcRect b="0" l="0" r="0" t="0"/>
          <a:stretch/>
        </p:blipFill>
        <p:spPr>
          <a:xfrm>
            <a:off x="6067938" y="2701000"/>
            <a:ext cx="1406125" cy="1406125"/>
          </a:xfrm>
          <a:prstGeom prst="rect">
            <a:avLst/>
          </a:prstGeom>
          <a:noFill/>
          <a:ln>
            <a:noFill/>
          </a:ln>
        </p:spPr>
      </p:pic>
      <p:pic>
        <p:nvPicPr>
          <p:cNvPr id="249" name="Google Shape;249;p4"/>
          <p:cNvPicPr preferRelativeResize="0"/>
          <p:nvPr/>
        </p:nvPicPr>
        <p:blipFill rotWithShape="1">
          <a:blip r:embed="rId5">
            <a:alphaModFix/>
          </a:blip>
          <a:srcRect b="0" l="0" r="0" t="0"/>
          <a:stretch/>
        </p:blipFill>
        <p:spPr>
          <a:xfrm>
            <a:off x="10396650" y="2701000"/>
            <a:ext cx="1406100" cy="1406100"/>
          </a:xfrm>
          <a:prstGeom prst="rect">
            <a:avLst/>
          </a:prstGeom>
          <a:noFill/>
          <a:ln>
            <a:noFill/>
          </a:ln>
        </p:spPr>
      </p:pic>
      <p:pic>
        <p:nvPicPr>
          <p:cNvPr id="250" name="Google Shape;250;p4"/>
          <p:cNvPicPr preferRelativeResize="0"/>
          <p:nvPr/>
        </p:nvPicPr>
        <p:blipFill rotWithShape="1">
          <a:blip r:embed="rId6">
            <a:alphaModFix/>
          </a:blip>
          <a:srcRect b="0" l="0" r="0" t="0"/>
          <a:stretch/>
        </p:blipFill>
        <p:spPr>
          <a:xfrm>
            <a:off x="14489450" y="2725962"/>
            <a:ext cx="1406100" cy="1406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4" name="Shape 254"/>
        <p:cNvGrpSpPr/>
        <p:nvPr/>
      </p:nvGrpSpPr>
      <p:grpSpPr>
        <a:xfrm>
          <a:off x="0" y="0"/>
          <a:ext cx="0" cy="0"/>
          <a:chOff x="0" y="0"/>
          <a:chExt cx="0" cy="0"/>
        </a:xfrm>
      </p:grpSpPr>
      <p:grpSp>
        <p:nvGrpSpPr>
          <p:cNvPr id="255" name="Google Shape;255;p5"/>
          <p:cNvGrpSpPr/>
          <p:nvPr/>
        </p:nvGrpSpPr>
        <p:grpSpPr>
          <a:xfrm>
            <a:off x="8390879" y="2255701"/>
            <a:ext cx="8754178" cy="1842377"/>
            <a:chOff x="0" y="-19050"/>
            <a:chExt cx="2305612" cy="485232"/>
          </a:xfrm>
        </p:grpSpPr>
        <p:sp>
          <p:nvSpPr>
            <p:cNvPr id="256" name="Google Shape;256;p5"/>
            <p:cNvSpPr/>
            <p:nvPr/>
          </p:nvSpPr>
          <p:spPr>
            <a:xfrm>
              <a:off x="0" y="0"/>
              <a:ext cx="2305612" cy="466182"/>
            </a:xfrm>
            <a:custGeom>
              <a:rect b="b" l="l" r="r" t="t"/>
              <a:pathLst>
                <a:path extrusionOk="0" h="466182" w="2305612">
                  <a:moveTo>
                    <a:pt x="44219" y="0"/>
                  </a:moveTo>
                  <a:lnTo>
                    <a:pt x="2261394" y="0"/>
                  </a:lnTo>
                  <a:cubicBezTo>
                    <a:pt x="2273121" y="0"/>
                    <a:pt x="2284368" y="4659"/>
                    <a:pt x="2292661" y="12951"/>
                  </a:cubicBezTo>
                  <a:cubicBezTo>
                    <a:pt x="2300953" y="21244"/>
                    <a:pt x="2305612" y="32491"/>
                    <a:pt x="2305612" y="44219"/>
                  </a:cubicBezTo>
                  <a:lnTo>
                    <a:pt x="2305612" y="421963"/>
                  </a:lnTo>
                  <a:cubicBezTo>
                    <a:pt x="2305612" y="446385"/>
                    <a:pt x="2285815" y="466182"/>
                    <a:pt x="2261394" y="466182"/>
                  </a:cubicBezTo>
                  <a:lnTo>
                    <a:pt x="44219" y="466182"/>
                  </a:lnTo>
                  <a:cubicBezTo>
                    <a:pt x="19797" y="466182"/>
                    <a:pt x="0" y="446385"/>
                    <a:pt x="0" y="421963"/>
                  </a:cubicBezTo>
                  <a:lnTo>
                    <a:pt x="0" y="44219"/>
                  </a:lnTo>
                  <a:cubicBezTo>
                    <a:pt x="0" y="32491"/>
                    <a:pt x="4659" y="21244"/>
                    <a:pt x="12951" y="12951"/>
                  </a:cubicBezTo>
                  <a:cubicBezTo>
                    <a:pt x="21244" y="4659"/>
                    <a:pt x="32491" y="0"/>
                    <a:pt x="44219"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5"/>
            <p:cNvSpPr txBox="1"/>
            <p:nvPr/>
          </p:nvSpPr>
          <p:spPr>
            <a:xfrm>
              <a:off x="0" y="-19050"/>
              <a:ext cx="2305612" cy="4852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5"/>
          <p:cNvGrpSpPr/>
          <p:nvPr/>
        </p:nvGrpSpPr>
        <p:grpSpPr>
          <a:xfrm>
            <a:off x="1043027" y="3391180"/>
            <a:ext cx="6459672" cy="2384117"/>
            <a:chOff x="0" y="-19050"/>
            <a:chExt cx="1701313" cy="627916"/>
          </a:xfrm>
        </p:grpSpPr>
        <p:sp>
          <p:nvSpPr>
            <p:cNvPr id="259" name="Google Shape;259;p5"/>
            <p:cNvSpPr/>
            <p:nvPr/>
          </p:nvSpPr>
          <p:spPr>
            <a:xfrm>
              <a:off x="0" y="0"/>
              <a:ext cx="1701313" cy="608866"/>
            </a:xfrm>
            <a:custGeom>
              <a:rect b="b" l="l" r="r" t="t"/>
              <a:pathLst>
                <a:path extrusionOk="0" h="608866" w="1701313">
                  <a:moveTo>
                    <a:pt x="59925" y="0"/>
                  </a:moveTo>
                  <a:lnTo>
                    <a:pt x="1641388" y="0"/>
                  </a:lnTo>
                  <a:cubicBezTo>
                    <a:pt x="1674483" y="0"/>
                    <a:pt x="1701313" y="26829"/>
                    <a:pt x="1701313" y="59925"/>
                  </a:cubicBezTo>
                  <a:lnTo>
                    <a:pt x="1701313" y="548941"/>
                  </a:lnTo>
                  <a:cubicBezTo>
                    <a:pt x="1701313" y="564834"/>
                    <a:pt x="1694999" y="580076"/>
                    <a:pt x="1683761" y="591314"/>
                  </a:cubicBezTo>
                  <a:cubicBezTo>
                    <a:pt x="1672523" y="602552"/>
                    <a:pt x="1657281" y="608866"/>
                    <a:pt x="1641388" y="608866"/>
                  </a:cubicBezTo>
                  <a:lnTo>
                    <a:pt x="59925" y="608866"/>
                  </a:lnTo>
                  <a:cubicBezTo>
                    <a:pt x="26829" y="608866"/>
                    <a:pt x="0" y="582036"/>
                    <a:pt x="0" y="548941"/>
                  </a:cubicBezTo>
                  <a:lnTo>
                    <a:pt x="0" y="59925"/>
                  </a:lnTo>
                  <a:cubicBezTo>
                    <a:pt x="0" y="44032"/>
                    <a:pt x="6314" y="28790"/>
                    <a:pt x="17552" y="17552"/>
                  </a:cubicBezTo>
                  <a:cubicBezTo>
                    <a:pt x="28790" y="6314"/>
                    <a:pt x="44032" y="0"/>
                    <a:pt x="59925"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
            <p:cNvSpPr txBox="1"/>
            <p:nvPr/>
          </p:nvSpPr>
          <p:spPr>
            <a:xfrm>
              <a:off x="0" y="-19050"/>
              <a:ext cx="1701313"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5"/>
          <p:cNvGrpSpPr/>
          <p:nvPr/>
        </p:nvGrpSpPr>
        <p:grpSpPr>
          <a:xfrm>
            <a:off x="1239988" y="6165465"/>
            <a:ext cx="6262711" cy="2384117"/>
            <a:chOff x="0" y="-19050"/>
            <a:chExt cx="1649438" cy="627916"/>
          </a:xfrm>
        </p:grpSpPr>
        <p:sp>
          <p:nvSpPr>
            <p:cNvPr id="262" name="Google Shape;262;p5"/>
            <p:cNvSpPr/>
            <p:nvPr/>
          </p:nvSpPr>
          <p:spPr>
            <a:xfrm>
              <a:off x="0" y="0"/>
              <a:ext cx="1649438" cy="608866"/>
            </a:xfrm>
            <a:custGeom>
              <a:rect b="b" l="l" r="r" t="t"/>
              <a:pathLst>
                <a:path extrusionOk="0" h="608866" w="1649438">
                  <a:moveTo>
                    <a:pt x="61810" y="0"/>
                  </a:moveTo>
                  <a:lnTo>
                    <a:pt x="1587629" y="0"/>
                  </a:lnTo>
                  <a:cubicBezTo>
                    <a:pt x="1604022" y="0"/>
                    <a:pt x="1619743" y="6512"/>
                    <a:pt x="1631335" y="18104"/>
                  </a:cubicBezTo>
                  <a:cubicBezTo>
                    <a:pt x="1642926" y="29695"/>
                    <a:pt x="1649438" y="45417"/>
                    <a:pt x="1649438" y="61810"/>
                  </a:cubicBezTo>
                  <a:lnTo>
                    <a:pt x="1649438" y="547056"/>
                  </a:lnTo>
                  <a:cubicBezTo>
                    <a:pt x="1649438" y="563449"/>
                    <a:pt x="1642926" y="579171"/>
                    <a:pt x="1631335" y="590762"/>
                  </a:cubicBezTo>
                  <a:cubicBezTo>
                    <a:pt x="1619743" y="602354"/>
                    <a:pt x="1604022" y="608866"/>
                    <a:pt x="1587629" y="608866"/>
                  </a:cubicBezTo>
                  <a:lnTo>
                    <a:pt x="61810" y="608866"/>
                  </a:lnTo>
                  <a:cubicBezTo>
                    <a:pt x="45417" y="608866"/>
                    <a:pt x="29695" y="602354"/>
                    <a:pt x="18104" y="590762"/>
                  </a:cubicBezTo>
                  <a:cubicBezTo>
                    <a:pt x="6512" y="579171"/>
                    <a:pt x="0" y="563449"/>
                    <a:pt x="0" y="547056"/>
                  </a:cubicBezTo>
                  <a:lnTo>
                    <a:pt x="0" y="61810"/>
                  </a:lnTo>
                  <a:cubicBezTo>
                    <a:pt x="0" y="45417"/>
                    <a:pt x="6512" y="29695"/>
                    <a:pt x="18104" y="18104"/>
                  </a:cubicBezTo>
                  <a:cubicBezTo>
                    <a:pt x="29695" y="6512"/>
                    <a:pt x="45417" y="0"/>
                    <a:pt x="61810"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5"/>
            <p:cNvSpPr txBox="1"/>
            <p:nvPr/>
          </p:nvSpPr>
          <p:spPr>
            <a:xfrm>
              <a:off x="0" y="-19050"/>
              <a:ext cx="1649438"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5"/>
          <p:cNvGrpSpPr/>
          <p:nvPr/>
        </p:nvGrpSpPr>
        <p:grpSpPr>
          <a:xfrm>
            <a:off x="11568392" y="4642535"/>
            <a:ext cx="6029855" cy="3602849"/>
            <a:chOff x="0" y="-19050"/>
            <a:chExt cx="1588110" cy="948899"/>
          </a:xfrm>
        </p:grpSpPr>
        <p:sp>
          <p:nvSpPr>
            <p:cNvPr id="265" name="Google Shape;265;p5"/>
            <p:cNvSpPr/>
            <p:nvPr/>
          </p:nvSpPr>
          <p:spPr>
            <a:xfrm>
              <a:off x="0" y="0"/>
              <a:ext cx="1588110" cy="929849"/>
            </a:xfrm>
            <a:custGeom>
              <a:rect b="b" l="l" r="r" t="t"/>
              <a:pathLst>
                <a:path extrusionOk="0" h="929849" w="1588110">
                  <a:moveTo>
                    <a:pt x="64197" y="0"/>
                  </a:moveTo>
                  <a:lnTo>
                    <a:pt x="1523913" y="0"/>
                  </a:lnTo>
                  <a:cubicBezTo>
                    <a:pt x="1540939" y="0"/>
                    <a:pt x="1557268" y="6764"/>
                    <a:pt x="1569307" y="18803"/>
                  </a:cubicBezTo>
                  <a:cubicBezTo>
                    <a:pt x="1581346" y="30842"/>
                    <a:pt x="1588110" y="47171"/>
                    <a:pt x="1588110" y="64197"/>
                  </a:cubicBezTo>
                  <a:lnTo>
                    <a:pt x="1588110" y="865652"/>
                  </a:lnTo>
                  <a:cubicBezTo>
                    <a:pt x="1588110" y="882678"/>
                    <a:pt x="1581346" y="899007"/>
                    <a:pt x="1569307" y="911046"/>
                  </a:cubicBezTo>
                  <a:cubicBezTo>
                    <a:pt x="1557268" y="923085"/>
                    <a:pt x="1540939" y="929849"/>
                    <a:pt x="1523913" y="929849"/>
                  </a:cubicBezTo>
                  <a:lnTo>
                    <a:pt x="64197" y="929849"/>
                  </a:lnTo>
                  <a:cubicBezTo>
                    <a:pt x="47171" y="929849"/>
                    <a:pt x="30842" y="923085"/>
                    <a:pt x="18803" y="911046"/>
                  </a:cubicBezTo>
                  <a:cubicBezTo>
                    <a:pt x="6764" y="899007"/>
                    <a:pt x="0" y="882678"/>
                    <a:pt x="0" y="865652"/>
                  </a:cubicBezTo>
                  <a:lnTo>
                    <a:pt x="0" y="64197"/>
                  </a:lnTo>
                  <a:cubicBezTo>
                    <a:pt x="0" y="47171"/>
                    <a:pt x="6764" y="30842"/>
                    <a:pt x="18803" y="18803"/>
                  </a:cubicBezTo>
                  <a:cubicBezTo>
                    <a:pt x="30842" y="6764"/>
                    <a:pt x="47171" y="0"/>
                    <a:pt x="64197"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5"/>
            <p:cNvSpPr txBox="1"/>
            <p:nvPr/>
          </p:nvSpPr>
          <p:spPr>
            <a:xfrm>
              <a:off x="0" y="-19050"/>
              <a:ext cx="1588110" cy="94889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5"/>
          <p:cNvSpPr/>
          <p:nvPr/>
        </p:nvSpPr>
        <p:spPr>
          <a:xfrm>
            <a:off x="8198025" y="5058194"/>
            <a:ext cx="2220529" cy="2220529"/>
          </a:xfrm>
          <a:custGeom>
            <a:rect b="b" l="l" r="r" t="t"/>
            <a:pathLst>
              <a:path extrusionOk="0" h="2220529" w="2220529">
                <a:moveTo>
                  <a:pt x="0" y="0"/>
                </a:moveTo>
                <a:lnTo>
                  <a:pt x="2220529" y="0"/>
                </a:lnTo>
                <a:lnTo>
                  <a:pt x="2220529" y="2220530"/>
                </a:lnTo>
                <a:lnTo>
                  <a:pt x="0" y="2220530"/>
                </a:lnTo>
                <a:lnTo>
                  <a:pt x="0" y="0"/>
                </a:lnTo>
                <a:close/>
              </a:path>
            </a:pathLst>
          </a:custGeom>
          <a:blipFill rotWithShape="1">
            <a:blip r:embed="rId3">
              <a:alphaModFix/>
            </a:blip>
            <a:stretch>
              <a:fillRect b="0" l="0" r="0" t="0"/>
            </a:stretch>
          </a:blipFill>
          <a:ln>
            <a:noFill/>
          </a:ln>
        </p:spPr>
      </p:sp>
      <p:sp>
        <p:nvSpPr>
          <p:cNvPr id="268" name="Google Shape;268;p5"/>
          <p:cNvSpPr txBox="1"/>
          <p:nvPr/>
        </p:nvSpPr>
        <p:spPr>
          <a:xfrm>
            <a:off x="1043027" y="812385"/>
            <a:ext cx="8696214"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SISTEMA OPERATIVO MÓVIL (</a:t>
            </a:r>
            <a:r>
              <a:rPr b="0" i="0" lang="en-US" sz="5000" u="none" cap="none" strike="noStrike">
                <a:solidFill>
                  <a:srgbClr val="ACFDDB"/>
                </a:solidFill>
                <a:latin typeface="Arial"/>
                <a:ea typeface="Arial"/>
                <a:cs typeface="Arial"/>
                <a:sym typeface="Arial"/>
              </a:rPr>
              <a:t>ANDROID</a:t>
            </a:r>
            <a:r>
              <a:rPr b="0" i="0" lang="en-US" sz="5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69" name="Google Shape;269;p5"/>
          <p:cNvSpPr txBox="1"/>
          <p:nvPr/>
        </p:nvSpPr>
        <p:spPr>
          <a:xfrm>
            <a:off x="8581914" y="2577645"/>
            <a:ext cx="8208000" cy="14331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Android fue lanzado en 2008 por Google y rápidamente se convirtió en el </a:t>
            </a:r>
            <a:r>
              <a:rPr b="0" i="0" lang="en-US" sz="1900" u="none" cap="none" strike="noStrike">
                <a:solidFill>
                  <a:srgbClr val="ACFDDB"/>
                </a:solidFill>
                <a:latin typeface="Montserrat"/>
                <a:ea typeface="Montserrat"/>
                <a:cs typeface="Montserrat"/>
                <a:sym typeface="Montserrat"/>
              </a:rPr>
              <a:t>sistema operativo</a:t>
            </a:r>
            <a:r>
              <a:rPr b="0" i="0" lang="en-US" sz="1900" u="none" cap="none" strike="noStrike">
                <a:solidFill>
                  <a:srgbClr val="FFFFFF"/>
                </a:solidFill>
                <a:latin typeface="Montserrat"/>
                <a:ea typeface="Montserrat"/>
                <a:cs typeface="Montserrat"/>
                <a:sym typeface="Montserrat"/>
              </a:rPr>
              <a:t> móvil más utilizado a nivel mundial, impulsado por su naturaleza de código abierto y su amplia variedad de dispositivos que lo utilizan.</a:t>
            </a:r>
            <a:endParaRPr b="0" i="0" sz="1400" u="none" cap="none" strike="noStrike">
              <a:solidFill>
                <a:srgbClr val="000000"/>
              </a:solidFill>
              <a:latin typeface="Arial"/>
              <a:ea typeface="Arial"/>
              <a:cs typeface="Arial"/>
              <a:sym typeface="Arial"/>
            </a:endParaRPr>
          </a:p>
        </p:txBody>
      </p:sp>
      <p:sp>
        <p:nvSpPr>
          <p:cNvPr id="270" name="Google Shape;270;p5"/>
          <p:cNvSpPr txBox="1"/>
          <p:nvPr/>
        </p:nvSpPr>
        <p:spPr>
          <a:xfrm>
            <a:off x="2804985" y="3841083"/>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Kernel</a:t>
            </a:r>
            <a:endParaRPr b="0" i="0" sz="1400" u="none" cap="none" strike="noStrike">
              <a:solidFill>
                <a:srgbClr val="000000"/>
              </a:solidFill>
              <a:latin typeface="Arial"/>
              <a:ea typeface="Arial"/>
              <a:cs typeface="Arial"/>
              <a:sym typeface="Arial"/>
            </a:endParaRPr>
          </a:p>
        </p:txBody>
      </p:sp>
      <p:sp>
        <p:nvSpPr>
          <p:cNvPr id="271" name="Google Shape;271;p5"/>
          <p:cNvSpPr txBox="1"/>
          <p:nvPr/>
        </p:nvSpPr>
        <p:spPr>
          <a:xfrm>
            <a:off x="2804985" y="4236225"/>
            <a:ext cx="4390800" cy="1422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Se basa en el núcleo de </a:t>
            </a:r>
            <a:r>
              <a:rPr b="0" i="0" lang="en-US" sz="1400" u="none" cap="none" strike="noStrike">
                <a:solidFill>
                  <a:srgbClr val="ACFDDB"/>
                </a:solidFill>
                <a:latin typeface="Open Sans"/>
                <a:ea typeface="Open Sans"/>
                <a:cs typeface="Open Sans"/>
                <a:sym typeface="Open Sans"/>
              </a:rPr>
              <a:t>Linux</a:t>
            </a:r>
            <a:r>
              <a:rPr b="0" i="0" lang="en-US" sz="1400" u="none" cap="none" strike="noStrike">
                <a:solidFill>
                  <a:srgbClr val="FFFFFF"/>
                </a:solidFill>
                <a:latin typeface="Open Sans"/>
                <a:ea typeface="Open Sans"/>
                <a:cs typeface="Open Sans"/>
                <a:sym typeface="Open Sans"/>
              </a:rPr>
              <a:t>, que es responsable de gestionar el hardware, los procesos, la memoria y la seguridad del sistema. Esta base proporciona una sólida estabilidad y seguridad, que es crucial para un sistema operativo móvil.</a:t>
            </a:r>
            <a:endParaRPr b="0" i="0" sz="1400" u="none" cap="none" strike="noStrike">
              <a:solidFill>
                <a:srgbClr val="000000"/>
              </a:solidFill>
              <a:latin typeface="Arial"/>
              <a:ea typeface="Arial"/>
              <a:cs typeface="Arial"/>
              <a:sym typeface="Arial"/>
            </a:endParaRPr>
          </a:p>
        </p:txBody>
      </p:sp>
      <p:sp>
        <p:nvSpPr>
          <p:cNvPr id="272" name="Google Shape;272;p5"/>
          <p:cNvSpPr txBox="1"/>
          <p:nvPr/>
        </p:nvSpPr>
        <p:spPr>
          <a:xfrm>
            <a:off x="2804985" y="6386768"/>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Bibliotecas</a:t>
            </a:r>
            <a:endParaRPr b="0" i="0" sz="1400" u="none" cap="none" strike="noStrike">
              <a:solidFill>
                <a:srgbClr val="000000"/>
              </a:solidFill>
              <a:latin typeface="Arial"/>
              <a:ea typeface="Arial"/>
              <a:cs typeface="Arial"/>
              <a:sym typeface="Arial"/>
            </a:endParaRPr>
          </a:p>
        </p:txBody>
      </p:sp>
      <p:sp>
        <p:nvSpPr>
          <p:cNvPr id="273" name="Google Shape;273;p5"/>
          <p:cNvSpPr txBox="1"/>
          <p:nvPr/>
        </p:nvSpPr>
        <p:spPr>
          <a:xfrm>
            <a:off x="2804985" y="6689150"/>
            <a:ext cx="4390800" cy="172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Android utiliza bibliotecas escritas en C++ y Java, que ofrecen una serie de API (Interfaces de Programación de Aplicaciones) que los desarrolladores pueden utilizar para crear aplicaciones que aprovechen las características del hardware del dispositivo.</a:t>
            </a:r>
            <a:endParaRPr b="0" i="0" sz="1400" u="none" cap="none" strike="noStrike">
              <a:solidFill>
                <a:srgbClr val="000000"/>
              </a:solidFill>
              <a:latin typeface="Arial"/>
              <a:ea typeface="Arial"/>
              <a:cs typeface="Arial"/>
              <a:sym typeface="Arial"/>
            </a:endParaRPr>
          </a:p>
        </p:txBody>
      </p:sp>
      <p:sp>
        <p:nvSpPr>
          <p:cNvPr id="274" name="Google Shape;274;p5"/>
          <p:cNvSpPr txBox="1"/>
          <p:nvPr/>
        </p:nvSpPr>
        <p:spPr>
          <a:xfrm>
            <a:off x="12829788" y="5106031"/>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Herramientas</a:t>
            </a:r>
            <a:endParaRPr b="0" i="0" sz="1400" u="none" cap="none" strike="noStrike">
              <a:solidFill>
                <a:srgbClr val="000000"/>
              </a:solidFill>
              <a:latin typeface="Arial"/>
              <a:ea typeface="Arial"/>
              <a:cs typeface="Arial"/>
              <a:sym typeface="Arial"/>
            </a:endParaRPr>
          </a:p>
        </p:txBody>
      </p:sp>
      <p:sp>
        <p:nvSpPr>
          <p:cNvPr id="275" name="Google Shape;275;p5"/>
          <p:cNvSpPr txBox="1"/>
          <p:nvPr/>
        </p:nvSpPr>
        <p:spPr>
          <a:xfrm>
            <a:off x="12829788" y="5577372"/>
            <a:ext cx="4390938" cy="123126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Android Studio es el entorno de desarrollo integrado (IDE) oficial, y Gradle es el sistema de automatización de compilación utilizado para gestionar las dependencias y el proceso de construcción de aplicaciones.</a:t>
            </a:r>
            <a:endParaRPr b="0" i="0" sz="1400" u="none" cap="none" strike="noStrike">
              <a:solidFill>
                <a:srgbClr val="000000"/>
              </a:solidFill>
              <a:latin typeface="Arial"/>
              <a:ea typeface="Arial"/>
              <a:cs typeface="Arial"/>
              <a:sym typeface="Arial"/>
            </a:endParaRPr>
          </a:p>
        </p:txBody>
      </p:sp>
      <p:sp>
        <p:nvSpPr>
          <p:cNvPr id="276" name="Google Shape;276;p5"/>
          <p:cNvSpPr txBox="1"/>
          <p:nvPr/>
        </p:nvSpPr>
        <p:spPr>
          <a:xfrm>
            <a:off x="12829788" y="7027712"/>
            <a:ext cx="4390938" cy="9836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FFFFFF"/>
                </a:solidFill>
                <a:latin typeface="Open Sans"/>
                <a:ea typeface="Open Sans"/>
                <a:cs typeface="Open Sans"/>
                <a:sym typeface="Open Sans"/>
              </a:rPr>
              <a:t> Kotlin y Java son los principales </a:t>
            </a:r>
            <a:r>
              <a:rPr b="0" i="0" lang="en-US" sz="1400" u="none" cap="none" strike="noStrike">
                <a:solidFill>
                  <a:srgbClr val="67D3CD"/>
                </a:solidFill>
                <a:latin typeface="Open Sans"/>
                <a:ea typeface="Open Sans"/>
                <a:cs typeface="Open Sans"/>
                <a:sym typeface="Open Sans"/>
              </a:rPr>
              <a:t>lenguajes </a:t>
            </a:r>
            <a:r>
              <a:rPr b="0" i="0" lang="en-US" sz="1400" u="none" cap="none" strike="noStrike">
                <a:solidFill>
                  <a:srgbClr val="FFFFFF"/>
                </a:solidFill>
                <a:latin typeface="Open Sans"/>
                <a:ea typeface="Open Sans"/>
                <a:cs typeface="Open Sans"/>
                <a:sym typeface="Open Sans"/>
              </a:rPr>
              <a:t>de programación utilizados en el desarrollo de aplicaciones para Android. Kotlin, en particular, ha ganado popularidad por su concisión y seguridad.</a:t>
            </a:r>
            <a:endParaRPr b="0" i="0" sz="1400" u="none" cap="none" strike="noStrike">
              <a:solidFill>
                <a:srgbClr val="000000"/>
              </a:solidFill>
              <a:latin typeface="Arial"/>
              <a:ea typeface="Arial"/>
              <a:cs typeface="Arial"/>
              <a:sym typeface="Arial"/>
            </a:endParaRPr>
          </a:p>
        </p:txBody>
      </p:sp>
      <p:pic>
        <p:nvPicPr>
          <p:cNvPr id="277" name="Google Shape;277;p5"/>
          <p:cNvPicPr preferRelativeResize="0"/>
          <p:nvPr/>
        </p:nvPicPr>
        <p:blipFill rotWithShape="1">
          <a:blip r:embed="rId4">
            <a:alphaModFix/>
          </a:blip>
          <a:srcRect b="0" l="0" r="0" t="0"/>
          <a:stretch/>
        </p:blipFill>
        <p:spPr>
          <a:xfrm>
            <a:off x="1043020" y="3928099"/>
            <a:ext cx="1527174" cy="1527174"/>
          </a:xfrm>
          <a:prstGeom prst="rect">
            <a:avLst/>
          </a:prstGeom>
          <a:noFill/>
          <a:ln>
            <a:noFill/>
          </a:ln>
        </p:spPr>
      </p:pic>
      <p:pic>
        <p:nvPicPr>
          <p:cNvPr id="278" name="Google Shape;278;p5"/>
          <p:cNvPicPr preferRelativeResize="0"/>
          <p:nvPr/>
        </p:nvPicPr>
        <p:blipFill rotWithShape="1">
          <a:blip r:embed="rId5">
            <a:alphaModFix/>
          </a:blip>
          <a:srcRect b="0" l="0" r="0" t="0"/>
          <a:stretch/>
        </p:blipFill>
        <p:spPr>
          <a:xfrm>
            <a:off x="742001" y="6593948"/>
            <a:ext cx="1527174" cy="1527174"/>
          </a:xfrm>
          <a:prstGeom prst="rect">
            <a:avLst/>
          </a:prstGeom>
          <a:noFill/>
          <a:ln>
            <a:noFill/>
          </a:ln>
        </p:spPr>
      </p:pic>
      <p:pic>
        <p:nvPicPr>
          <p:cNvPr id="279" name="Google Shape;279;p5"/>
          <p:cNvPicPr preferRelativeResize="0"/>
          <p:nvPr/>
        </p:nvPicPr>
        <p:blipFill rotWithShape="1">
          <a:blip r:embed="rId6">
            <a:alphaModFix/>
          </a:blip>
          <a:srcRect b="0" l="0" r="0" t="0"/>
          <a:stretch/>
        </p:blipFill>
        <p:spPr>
          <a:xfrm>
            <a:off x="10888946" y="5678775"/>
            <a:ext cx="1723800" cy="1723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3" name="Shape 283"/>
        <p:cNvGrpSpPr/>
        <p:nvPr/>
      </p:nvGrpSpPr>
      <p:grpSpPr>
        <a:xfrm>
          <a:off x="0" y="0"/>
          <a:ext cx="0" cy="0"/>
          <a:chOff x="0" y="0"/>
          <a:chExt cx="0" cy="0"/>
        </a:xfrm>
      </p:grpSpPr>
      <p:grpSp>
        <p:nvGrpSpPr>
          <p:cNvPr id="284" name="Google Shape;284;p6"/>
          <p:cNvGrpSpPr/>
          <p:nvPr/>
        </p:nvGrpSpPr>
        <p:grpSpPr>
          <a:xfrm>
            <a:off x="9144000" y="1812829"/>
            <a:ext cx="8754121" cy="1842365"/>
            <a:chOff x="0" y="-19050"/>
            <a:chExt cx="2305612" cy="485232"/>
          </a:xfrm>
        </p:grpSpPr>
        <p:sp>
          <p:nvSpPr>
            <p:cNvPr id="285" name="Google Shape;285;p6"/>
            <p:cNvSpPr/>
            <p:nvPr/>
          </p:nvSpPr>
          <p:spPr>
            <a:xfrm>
              <a:off x="0" y="0"/>
              <a:ext cx="2305612" cy="466182"/>
            </a:xfrm>
            <a:custGeom>
              <a:rect b="b" l="l" r="r" t="t"/>
              <a:pathLst>
                <a:path extrusionOk="0" h="466182" w="2305612">
                  <a:moveTo>
                    <a:pt x="44219" y="0"/>
                  </a:moveTo>
                  <a:lnTo>
                    <a:pt x="2261394" y="0"/>
                  </a:lnTo>
                  <a:cubicBezTo>
                    <a:pt x="2273121" y="0"/>
                    <a:pt x="2284368" y="4659"/>
                    <a:pt x="2292661" y="12951"/>
                  </a:cubicBezTo>
                  <a:cubicBezTo>
                    <a:pt x="2300953" y="21244"/>
                    <a:pt x="2305612" y="32491"/>
                    <a:pt x="2305612" y="44219"/>
                  </a:cubicBezTo>
                  <a:lnTo>
                    <a:pt x="2305612" y="421963"/>
                  </a:lnTo>
                  <a:cubicBezTo>
                    <a:pt x="2305612" y="446385"/>
                    <a:pt x="2285815" y="466182"/>
                    <a:pt x="2261394" y="466182"/>
                  </a:cubicBezTo>
                  <a:lnTo>
                    <a:pt x="44219" y="466182"/>
                  </a:lnTo>
                  <a:cubicBezTo>
                    <a:pt x="19797" y="466182"/>
                    <a:pt x="0" y="446385"/>
                    <a:pt x="0" y="421963"/>
                  </a:cubicBezTo>
                  <a:lnTo>
                    <a:pt x="0" y="44219"/>
                  </a:lnTo>
                  <a:cubicBezTo>
                    <a:pt x="0" y="32491"/>
                    <a:pt x="4659" y="21244"/>
                    <a:pt x="12951" y="12951"/>
                  </a:cubicBezTo>
                  <a:cubicBezTo>
                    <a:pt x="21244" y="4659"/>
                    <a:pt x="32491" y="0"/>
                    <a:pt x="44219"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6"/>
            <p:cNvSpPr txBox="1"/>
            <p:nvPr/>
          </p:nvSpPr>
          <p:spPr>
            <a:xfrm>
              <a:off x="0" y="-19050"/>
              <a:ext cx="2305612" cy="48523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6"/>
          <p:cNvGrpSpPr/>
          <p:nvPr/>
        </p:nvGrpSpPr>
        <p:grpSpPr>
          <a:xfrm>
            <a:off x="1043027" y="3391180"/>
            <a:ext cx="7390943" cy="2384117"/>
            <a:chOff x="0" y="-19050"/>
            <a:chExt cx="1946586" cy="627916"/>
          </a:xfrm>
        </p:grpSpPr>
        <p:sp>
          <p:nvSpPr>
            <p:cNvPr id="288" name="Google Shape;288;p6"/>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6"/>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6"/>
          <p:cNvSpPr txBox="1"/>
          <p:nvPr/>
        </p:nvSpPr>
        <p:spPr>
          <a:xfrm>
            <a:off x="1028700" y="1019175"/>
            <a:ext cx="8696214"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SISTEMA OPERATIVO MÓVIL (</a:t>
            </a:r>
            <a:r>
              <a:rPr b="0" i="0" lang="en-US" sz="5000" u="none" cap="none" strike="noStrike">
                <a:solidFill>
                  <a:srgbClr val="ACFDDB"/>
                </a:solidFill>
                <a:latin typeface="Arial"/>
                <a:ea typeface="Arial"/>
                <a:cs typeface="Arial"/>
                <a:sym typeface="Arial"/>
              </a:rPr>
              <a:t>IOS</a:t>
            </a:r>
            <a:r>
              <a:rPr b="0" i="0" lang="en-US" sz="5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91" name="Google Shape;291;p6"/>
          <p:cNvSpPr txBox="1"/>
          <p:nvPr/>
        </p:nvSpPr>
        <p:spPr>
          <a:xfrm>
            <a:off x="9335036" y="2134773"/>
            <a:ext cx="8208117" cy="121412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IOS fue introducido en 2007 con el lanzamiento del iPhone, desarrollado por </a:t>
            </a:r>
            <a:r>
              <a:rPr b="0" i="0" lang="en-US" sz="1900" u="none" cap="none" strike="noStrike">
                <a:solidFill>
                  <a:srgbClr val="ACFDDB"/>
                </a:solidFill>
                <a:latin typeface="Montserrat"/>
                <a:ea typeface="Montserrat"/>
                <a:cs typeface="Montserrat"/>
                <a:sym typeface="Montserrat"/>
              </a:rPr>
              <a:t>Apple</a:t>
            </a:r>
            <a:r>
              <a:rPr b="0" i="0" lang="en-US" sz="1900" u="none" cap="none" strike="noStrike">
                <a:solidFill>
                  <a:srgbClr val="FFFFFF"/>
                </a:solidFill>
                <a:latin typeface="Montserrat"/>
                <a:ea typeface="Montserrat"/>
                <a:cs typeface="Montserrat"/>
                <a:sym typeface="Montserrat"/>
              </a:rPr>
              <a:t>. Desde entonces, ha evolucionado para convertirse en un sistema operativo potente y muy optimizado para dispositivos móviles, como iPhone y iPad.</a:t>
            </a:r>
            <a:endParaRPr b="0" i="0" sz="1400" u="none" cap="none" strike="noStrike">
              <a:solidFill>
                <a:srgbClr val="000000"/>
              </a:solidFill>
              <a:latin typeface="Arial"/>
              <a:ea typeface="Arial"/>
              <a:cs typeface="Arial"/>
              <a:sym typeface="Arial"/>
            </a:endParaRPr>
          </a:p>
        </p:txBody>
      </p:sp>
      <p:sp>
        <p:nvSpPr>
          <p:cNvPr id="292" name="Google Shape;292;p6"/>
          <p:cNvSpPr txBox="1"/>
          <p:nvPr/>
        </p:nvSpPr>
        <p:spPr>
          <a:xfrm>
            <a:off x="2862294" y="3993619"/>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KERNEL</a:t>
            </a:r>
            <a:endParaRPr b="0" i="0" sz="1400" u="none" cap="none" strike="noStrike">
              <a:solidFill>
                <a:srgbClr val="000000"/>
              </a:solidFill>
              <a:latin typeface="Arial"/>
              <a:ea typeface="Arial"/>
              <a:cs typeface="Arial"/>
              <a:sym typeface="Arial"/>
            </a:endParaRPr>
          </a:p>
        </p:txBody>
      </p:sp>
      <p:sp>
        <p:nvSpPr>
          <p:cNvPr id="293" name="Google Shape;293;p6"/>
          <p:cNvSpPr txBox="1"/>
          <p:nvPr/>
        </p:nvSpPr>
        <p:spPr>
          <a:xfrm>
            <a:off x="2862294" y="4464961"/>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El núcleo de iOS es XNU, que combina elementos del sistema operativo </a:t>
            </a:r>
            <a:r>
              <a:rPr b="0" i="0" lang="en-US" sz="1500" u="none" cap="none" strike="noStrike">
                <a:solidFill>
                  <a:srgbClr val="ACFDDB"/>
                </a:solidFill>
                <a:latin typeface="Open Sans"/>
                <a:ea typeface="Open Sans"/>
                <a:cs typeface="Open Sans"/>
                <a:sym typeface="Open Sans"/>
              </a:rPr>
              <a:t>Mach </a:t>
            </a:r>
            <a:r>
              <a:rPr b="0" i="0" lang="en-US" sz="1500" u="none" cap="none" strike="noStrike">
                <a:solidFill>
                  <a:srgbClr val="FFFFFF"/>
                </a:solidFill>
                <a:latin typeface="Open Sans"/>
                <a:ea typeface="Open Sans"/>
                <a:cs typeface="Open Sans"/>
                <a:sym typeface="Open Sans"/>
              </a:rPr>
              <a:t>y del sistema BSD. Esto le proporciona un alto rendimiento y una sólida seguridad.</a:t>
            </a:r>
            <a:endParaRPr b="0" i="0" sz="1400" u="none" cap="none" strike="noStrike">
              <a:solidFill>
                <a:srgbClr val="000000"/>
              </a:solidFill>
              <a:latin typeface="Arial"/>
              <a:ea typeface="Arial"/>
              <a:cs typeface="Arial"/>
              <a:sym typeface="Arial"/>
            </a:endParaRPr>
          </a:p>
        </p:txBody>
      </p:sp>
      <p:grpSp>
        <p:nvGrpSpPr>
          <p:cNvPr id="294" name="Google Shape;294;p6"/>
          <p:cNvGrpSpPr/>
          <p:nvPr/>
        </p:nvGrpSpPr>
        <p:grpSpPr>
          <a:xfrm>
            <a:off x="1253029" y="6151137"/>
            <a:ext cx="7180941" cy="2384117"/>
            <a:chOff x="0" y="-19050"/>
            <a:chExt cx="1891277" cy="627916"/>
          </a:xfrm>
        </p:grpSpPr>
        <p:sp>
          <p:nvSpPr>
            <p:cNvPr id="295" name="Google Shape;295;p6"/>
            <p:cNvSpPr/>
            <p:nvPr/>
          </p:nvSpPr>
          <p:spPr>
            <a:xfrm>
              <a:off x="0" y="0"/>
              <a:ext cx="1891277" cy="608866"/>
            </a:xfrm>
            <a:custGeom>
              <a:rect b="b" l="l" r="r" t="t"/>
              <a:pathLst>
                <a:path extrusionOk="0" h="608866" w="1891277">
                  <a:moveTo>
                    <a:pt x="53906" y="0"/>
                  </a:moveTo>
                  <a:lnTo>
                    <a:pt x="1837371" y="0"/>
                  </a:lnTo>
                  <a:cubicBezTo>
                    <a:pt x="1867142" y="0"/>
                    <a:pt x="1891277" y="24135"/>
                    <a:pt x="1891277" y="53906"/>
                  </a:cubicBezTo>
                  <a:lnTo>
                    <a:pt x="1891277" y="554960"/>
                  </a:lnTo>
                  <a:cubicBezTo>
                    <a:pt x="1891277" y="569256"/>
                    <a:pt x="1885597" y="582968"/>
                    <a:pt x="1875488" y="593077"/>
                  </a:cubicBezTo>
                  <a:cubicBezTo>
                    <a:pt x="1865379" y="603186"/>
                    <a:pt x="1851667" y="608866"/>
                    <a:pt x="1837371" y="608866"/>
                  </a:cubicBezTo>
                  <a:lnTo>
                    <a:pt x="53906" y="608866"/>
                  </a:lnTo>
                  <a:cubicBezTo>
                    <a:pt x="39609" y="608866"/>
                    <a:pt x="25898" y="603186"/>
                    <a:pt x="15789" y="593077"/>
                  </a:cubicBezTo>
                  <a:cubicBezTo>
                    <a:pt x="5679" y="582968"/>
                    <a:pt x="0" y="569256"/>
                    <a:pt x="0" y="554960"/>
                  </a:cubicBezTo>
                  <a:lnTo>
                    <a:pt x="0" y="53906"/>
                  </a:lnTo>
                  <a:cubicBezTo>
                    <a:pt x="0" y="39609"/>
                    <a:pt x="5679" y="25898"/>
                    <a:pt x="15789" y="15789"/>
                  </a:cubicBezTo>
                  <a:cubicBezTo>
                    <a:pt x="25898" y="5679"/>
                    <a:pt x="39609" y="0"/>
                    <a:pt x="53906"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6"/>
            <p:cNvSpPr txBox="1"/>
            <p:nvPr/>
          </p:nvSpPr>
          <p:spPr>
            <a:xfrm>
              <a:off x="0" y="-19050"/>
              <a:ext cx="1891277"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7" name="Google Shape;297;p6"/>
          <p:cNvSpPr txBox="1"/>
          <p:nvPr/>
        </p:nvSpPr>
        <p:spPr>
          <a:xfrm>
            <a:off x="2818026" y="6601040"/>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Frameworks</a:t>
            </a:r>
            <a:endParaRPr b="0" i="0" sz="1400" u="none" cap="none" strike="noStrike">
              <a:solidFill>
                <a:srgbClr val="000000"/>
              </a:solidFill>
              <a:latin typeface="Arial"/>
              <a:ea typeface="Arial"/>
              <a:cs typeface="Arial"/>
              <a:sym typeface="Arial"/>
            </a:endParaRPr>
          </a:p>
        </p:txBody>
      </p:sp>
      <p:sp>
        <p:nvSpPr>
          <p:cNvPr id="298" name="Google Shape;298;p6"/>
          <p:cNvSpPr txBox="1"/>
          <p:nvPr/>
        </p:nvSpPr>
        <p:spPr>
          <a:xfrm>
            <a:off x="2808830" y="7074115"/>
            <a:ext cx="5135954"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Cocoa Touch es el framework principal que proporciona los componentes necesarios para crear interfaces de usuario y gestionar eventos. Incluye herramientas para crear aplicaciones responsivas y visualmente atractivas.</a:t>
            </a:r>
            <a:endParaRPr b="0" i="0" sz="1400" u="none" cap="none" strike="noStrike">
              <a:solidFill>
                <a:srgbClr val="000000"/>
              </a:solidFill>
              <a:latin typeface="Arial"/>
              <a:ea typeface="Arial"/>
              <a:cs typeface="Arial"/>
              <a:sym typeface="Arial"/>
            </a:endParaRPr>
          </a:p>
        </p:txBody>
      </p:sp>
      <p:grpSp>
        <p:nvGrpSpPr>
          <p:cNvPr id="299" name="Google Shape;299;p6"/>
          <p:cNvGrpSpPr/>
          <p:nvPr/>
        </p:nvGrpSpPr>
        <p:grpSpPr>
          <a:xfrm>
            <a:off x="9956330" y="4119726"/>
            <a:ext cx="7481813" cy="3730877"/>
            <a:chOff x="0" y="-19050"/>
            <a:chExt cx="1970519" cy="982618"/>
          </a:xfrm>
        </p:grpSpPr>
        <p:sp>
          <p:nvSpPr>
            <p:cNvPr id="300" name="Google Shape;300;p6"/>
            <p:cNvSpPr/>
            <p:nvPr/>
          </p:nvSpPr>
          <p:spPr>
            <a:xfrm>
              <a:off x="0" y="0"/>
              <a:ext cx="1970519" cy="963568"/>
            </a:xfrm>
            <a:custGeom>
              <a:rect b="b" l="l" r="r" t="t"/>
              <a:pathLst>
                <a:path extrusionOk="0" h="963568" w="1970519">
                  <a:moveTo>
                    <a:pt x="51738" y="0"/>
                  </a:moveTo>
                  <a:lnTo>
                    <a:pt x="1918780" y="0"/>
                  </a:lnTo>
                  <a:cubicBezTo>
                    <a:pt x="1932502" y="0"/>
                    <a:pt x="1945662" y="5451"/>
                    <a:pt x="1955365" y="15154"/>
                  </a:cubicBezTo>
                  <a:cubicBezTo>
                    <a:pt x="1965068" y="24857"/>
                    <a:pt x="1970519" y="38016"/>
                    <a:pt x="1970519" y="51738"/>
                  </a:cubicBezTo>
                  <a:lnTo>
                    <a:pt x="1970519" y="911830"/>
                  </a:lnTo>
                  <a:cubicBezTo>
                    <a:pt x="1970519" y="925552"/>
                    <a:pt x="1965068" y="938711"/>
                    <a:pt x="1955365" y="948414"/>
                  </a:cubicBezTo>
                  <a:cubicBezTo>
                    <a:pt x="1945662" y="958117"/>
                    <a:pt x="1932502" y="963568"/>
                    <a:pt x="1918780" y="963568"/>
                  </a:cubicBezTo>
                  <a:lnTo>
                    <a:pt x="51738" y="963568"/>
                  </a:lnTo>
                  <a:cubicBezTo>
                    <a:pt x="38016" y="963568"/>
                    <a:pt x="24857" y="958117"/>
                    <a:pt x="15154" y="948414"/>
                  </a:cubicBezTo>
                  <a:cubicBezTo>
                    <a:pt x="5451" y="938711"/>
                    <a:pt x="0" y="925552"/>
                    <a:pt x="0" y="911830"/>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6"/>
            <p:cNvSpPr txBox="1"/>
            <p:nvPr/>
          </p:nvSpPr>
          <p:spPr>
            <a:xfrm>
              <a:off x="0" y="-19050"/>
              <a:ext cx="1970519" cy="98261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2" name="Google Shape;302;p6"/>
          <p:cNvSpPr txBox="1"/>
          <p:nvPr/>
        </p:nvSpPr>
        <p:spPr>
          <a:xfrm>
            <a:off x="11521327" y="4569629"/>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Herramientas y lenguajes</a:t>
            </a:r>
            <a:endParaRPr b="0" i="0" sz="1400" u="none" cap="none" strike="noStrike">
              <a:solidFill>
                <a:srgbClr val="000000"/>
              </a:solidFill>
              <a:latin typeface="Arial"/>
              <a:ea typeface="Arial"/>
              <a:cs typeface="Arial"/>
              <a:sym typeface="Arial"/>
            </a:endParaRPr>
          </a:p>
        </p:txBody>
      </p:sp>
      <p:sp>
        <p:nvSpPr>
          <p:cNvPr id="303" name="Google Shape;303;p6"/>
          <p:cNvSpPr txBox="1"/>
          <p:nvPr/>
        </p:nvSpPr>
        <p:spPr>
          <a:xfrm>
            <a:off x="10950000" y="5114925"/>
            <a:ext cx="6309300" cy="2124075"/>
          </a:xfrm>
          <a:prstGeom prst="rect">
            <a:avLst/>
          </a:prstGeom>
          <a:noFill/>
          <a:ln>
            <a:noFill/>
          </a:ln>
        </p:spPr>
        <p:txBody>
          <a:bodyPr anchorCtr="0" anchor="t" bIns="0" lIns="0" spcFirstLastPara="1" rIns="0" wrap="square" tIns="0">
            <a:spAutoFit/>
          </a:bodyPr>
          <a:lstStyle/>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Xcode </a:t>
            </a:r>
            <a:r>
              <a:rPr b="0" i="0" lang="en-US" sz="1500" u="none" cap="none" strike="noStrike">
                <a:solidFill>
                  <a:srgbClr val="FFFFFF"/>
                </a:solidFill>
                <a:latin typeface="Open Sans"/>
                <a:ea typeface="Open Sans"/>
                <a:cs typeface="Open Sans"/>
                <a:sym typeface="Open Sans"/>
              </a:rPr>
              <a:t>es el IDE utilizado para desarrollar aplicaciones iOS, que incluye un conjunto completo de herramientas para crear, depurar y probar aplicaciones. SwiftUI es un framework que facilita la creación de interfaces de usuario modernas y adaptativas.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Swift </a:t>
            </a:r>
            <a:r>
              <a:rPr b="0" i="0" lang="en-US" sz="1500" u="none" cap="none" strike="noStrike">
                <a:solidFill>
                  <a:srgbClr val="FFFFFF"/>
                </a:solidFill>
                <a:latin typeface="Open Sans"/>
                <a:ea typeface="Open Sans"/>
                <a:cs typeface="Open Sans"/>
                <a:sym typeface="Open Sans"/>
              </a:rPr>
              <a:t>es el lenguaje principal para el desarrollo de aplicaciones en iOS, aunque Objective-C sigue siendo compatible. Swift es conocido por su sintaxis clara y su enfoque en la seguridad.</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pic>
        <p:nvPicPr>
          <p:cNvPr id="304" name="Google Shape;304;p6"/>
          <p:cNvPicPr preferRelativeResize="0"/>
          <p:nvPr/>
        </p:nvPicPr>
        <p:blipFill rotWithShape="1">
          <a:blip r:embed="rId3">
            <a:alphaModFix/>
          </a:blip>
          <a:srcRect b="0" l="0" r="0" t="0"/>
          <a:stretch/>
        </p:blipFill>
        <p:spPr>
          <a:xfrm>
            <a:off x="1043020" y="3928099"/>
            <a:ext cx="1527174" cy="1527174"/>
          </a:xfrm>
          <a:prstGeom prst="rect">
            <a:avLst/>
          </a:prstGeom>
          <a:noFill/>
          <a:ln>
            <a:noFill/>
          </a:ln>
        </p:spPr>
      </p:pic>
      <p:pic>
        <p:nvPicPr>
          <p:cNvPr id="305" name="Google Shape;305;p6"/>
          <p:cNvPicPr preferRelativeResize="0"/>
          <p:nvPr/>
        </p:nvPicPr>
        <p:blipFill rotWithShape="1">
          <a:blip r:embed="rId4">
            <a:alphaModFix/>
          </a:blip>
          <a:srcRect b="0" l="0" r="0" t="0"/>
          <a:stretch/>
        </p:blipFill>
        <p:spPr>
          <a:xfrm>
            <a:off x="742001" y="6593948"/>
            <a:ext cx="1527174" cy="1527174"/>
          </a:xfrm>
          <a:prstGeom prst="rect">
            <a:avLst/>
          </a:prstGeom>
          <a:noFill/>
          <a:ln>
            <a:noFill/>
          </a:ln>
        </p:spPr>
      </p:pic>
      <p:pic>
        <p:nvPicPr>
          <p:cNvPr id="306" name="Google Shape;306;p6"/>
          <p:cNvPicPr preferRelativeResize="0"/>
          <p:nvPr/>
        </p:nvPicPr>
        <p:blipFill rotWithShape="1">
          <a:blip r:embed="rId5">
            <a:alphaModFix/>
          </a:blip>
          <a:srcRect b="0" l="0" r="0" t="0"/>
          <a:stretch/>
        </p:blipFill>
        <p:spPr>
          <a:xfrm>
            <a:off x="9143996" y="5123275"/>
            <a:ext cx="1723800" cy="1723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0" name="Shape 310"/>
        <p:cNvGrpSpPr/>
        <p:nvPr/>
      </p:nvGrpSpPr>
      <p:grpSpPr>
        <a:xfrm>
          <a:off x="0" y="0"/>
          <a:ext cx="0" cy="0"/>
          <a:chOff x="0" y="0"/>
          <a:chExt cx="0" cy="0"/>
        </a:xfrm>
      </p:grpSpPr>
      <p:grpSp>
        <p:nvGrpSpPr>
          <p:cNvPr id="311" name="Google Shape;311;p7"/>
          <p:cNvGrpSpPr/>
          <p:nvPr/>
        </p:nvGrpSpPr>
        <p:grpSpPr>
          <a:xfrm>
            <a:off x="1028700" y="4790957"/>
            <a:ext cx="7126222" cy="3689576"/>
            <a:chOff x="0" y="-19050"/>
            <a:chExt cx="1876865" cy="971740"/>
          </a:xfrm>
        </p:grpSpPr>
        <p:sp>
          <p:nvSpPr>
            <p:cNvPr id="312" name="Google Shape;312;p7"/>
            <p:cNvSpPr/>
            <p:nvPr/>
          </p:nvSpPr>
          <p:spPr>
            <a:xfrm>
              <a:off x="0" y="0"/>
              <a:ext cx="1876865" cy="952690"/>
            </a:xfrm>
            <a:custGeom>
              <a:rect b="b" l="l" r="r" t="t"/>
              <a:pathLst>
                <a:path extrusionOk="0" h="952690" w="1876865">
                  <a:moveTo>
                    <a:pt x="55406" y="0"/>
                  </a:moveTo>
                  <a:lnTo>
                    <a:pt x="1821459" y="0"/>
                  </a:lnTo>
                  <a:cubicBezTo>
                    <a:pt x="1852059" y="0"/>
                    <a:pt x="1876865" y="24806"/>
                    <a:pt x="1876865" y="55406"/>
                  </a:cubicBezTo>
                  <a:lnTo>
                    <a:pt x="1876865" y="897284"/>
                  </a:lnTo>
                  <a:cubicBezTo>
                    <a:pt x="1876865" y="927884"/>
                    <a:pt x="1852059" y="952690"/>
                    <a:pt x="1821459" y="952690"/>
                  </a:cubicBezTo>
                  <a:lnTo>
                    <a:pt x="55406" y="952690"/>
                  </a:lnTo>
                  <a:cubicBezTo>
                    <a:pt x="24806" y="952690"/>
                    <a:pt x="0" y="927884"/>
                    <a:pt x="0" y="897284"/>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7"/>
            <p:cNvSpPr txBox="1"/>
            <p:nvPr/>
          </p:nvSpPr>
          <p:spPr>
            <a:xfrm>
              <a:off x="0" y="-19050"/>
              <a:ext cx="1876865" cy="9717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p7"/>
          <p:cNvGrpSpPr/>
          <p:nvPr/>
        </p:nvGrpSpPr>
        <p:grpSpPr>
          <a:xfrm>
            <a:off x="11063476" y="3267641"/>
            <a:ext cx="1136520" cy="1136520"/>
            <a:chOff x="0" y="0"/>
            <a:chExt cx="812800" cy="812800"/>
          </a:xfrm>
        </p:grpSpPr>
        <p:sp>
          <p:nvSpPr>
            <p:cNvPr id="315" name="Google Shape;31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6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7"/>
          <p:cNvGrpSpPr/>
          <p:nvPr/>
        </p:nvGrpSpPr>
        <p:grpSpPr>
          <a:xfrm>
            <a:off x="11064382" y="5448368"/>
            <a:ext cx="1136520" cy="1136520"/>
            <a:chOff x="0" y="0"/>
            <a:chExt cx="812800" cy="812800"/>
          </a:xfrm>
        </p:grpSpPr>
        <p:sp>
          <p:nvSpPr>
            <p:cNvPr id="318" name="Google Shape;318;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7"/>
          <p:cNvGrpSpPr/>
          <p:nvPr/>
        </p:nvGrpSpPr>
        <p:grpSpPr>
          <a:xfrm>
            <a:off x="11063476" y="7884993"/>
            <a:ext cx="1136520" cy="1136520"/>
            <a:chOff x="0" y="0"/>
            <a:chExt cx="812800" cy="812800"/>
          </a:xfrm>
        </p:grpSpPr>
        <p:sp>
          <p:nvSpPr>
            <p:cNvPr id="321" name="Google Shape;32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7"/>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3" name="Google Shape;323;p7"/>
          <p:cNvSpPr/>
          <p:nvPr/>
        </p:nvSpPr>
        <p:spPr>
          <a:xfrm rot="5400000">
            <a:off x="5815493" y="5184055"/>
            <a:ext cx="7230103" cy="2801665"/>
          </a:xfrm>
          <a:custGeom>
            <a:rect b="b" l="l" r="r" t="t"/>
            <a:pathLst>
              <a:path extrusionOk="0" h="2801665" w="7230103">
                <a:moveTo>
                  <a:pt x="0" y="0"/>
                </a:moveTo>
                <a:lnTo>
                  <a:pt x="7230103" y="0"/>
                </a:lnTo>
                <a:lnTo>
                  <a:pt x="7230103" y="2801665"/>
                </a:lnTo>
                <a:lnTo>
                  <a:pt x="0" y="2801665"/>
                </a:lnTo>
                <a:lnTo>
                  <a:pt x="0" y="0"/>
                </a:lnTo>
                <a:close/>
              </a:path>
            </a:pathLst>
          </a:custGeom>
          <a:blipFill rotWithShape="1">
            <a:blip r:embed="rId3">
              <a:alphaModFix/>
            </a:blip>
            <a:stretch>
              <a:fillRect b="0" l="0" r="0" t="0"/>
            </a:stretch>
          </a:blipFill>
          <a:ln>
            <a:noFill/>
          </a:ln>
        </p:spPr>
      </p:sp>
      <p:sp>
        <p:nvSpPr>
          <p:cNvPr id="324" name="Google Shape;324;p7"/>
          <p:cNvSpPr txBox="1"/>
          <p:nvPr/>
        </p:nvSpPr>
        <p:spPr>
          <a:xfrm>
            <a:off x="1028700" y="900378"/>
            <a:ext cx="16230600"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SISTEMAS OPERATIVOS INTEGRADOS (</a:t>
            </a:r>
            <a:r>
              <a:rPr b="0" i="0" lang="en-US" sz="5000" u="none" cap="none" strike="noStrike">
                <a:solidFill>
                  <a:srgbClr val="ACFDDB"/>
                </a:solidFill>
                <a:latin typeface="Arial"/>
                <a:ea typeface="Arial"/>
                <a:cs typeface="Arial"/>
                <a:sym typeface="Arial"/>
              </a:rPr>
              <a:t>FREERTOS</a:t>
            </a:r>
            <a:r>
              <a:rPr b="0" i="0" lang="en-US" sz="50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25" name="Google Shape;325;p7"/>
          <p:cNvSpPr txBox="1"/>
          <p:nvPr/>
        </p:nvSpPr>
        <p:spPr>
          <a:xfrm>
            <a:off x="1519266" y="5960260"/>
            <a:ext cx="6019551" cy="19310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FreeRTOS es un sistema operativo de tiempo real (RTOS) de código abierto, diseñado específicamente para microcontroladores y microprocesadores. Su propósito es proporcionar un entorno eficiente y flexible para aplicaciones que requieren un comportamiento en tiempo real, donde los plazos y la respuesta rápida son críticos.</a:t>
            </a:r>
            <a:endParaRPr b="0" i="0" sz="1400" u="none" cap="none" strike="noStrike">
              <a:solidFill>
                <a:srgbClr val="000000"/>
              </a:solidFill>
              <a:latin typeface="Arial"/>
              <a:ea typeface="Arial"/>
              <a:cs typeface="Arial"/>
              <a:sym typeface="Arial"/>
            </a:endParaRPr>
          </a:p>
        </p:txBody>
      </p:sp>
      <p:sp>
        <p:nvSpPr>
          <p:cNvPr id="326" name="Google Shape;326;p7"/>
          <p:cNvSpPr txBox="1"/>
          <p:nvPr/>
        </p:nvSpPr>
        <p:spPr>
          <a:xfrm>
            <a:off x="1519266" y="5302000"/>
            <a:ext cx="5701800" cy="261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5CD9C1"/>
                </a:solidFill>
                <a:latin typeface="Montserrat"/>
                <a:ea typeface="Montserrat"/>
                <a:cs typeface="Montserrat"/>
                <a:sym typeface="Montserrat"/>
              </a:rPr>
              <a:t>Descripción general</a:t>
            </a:r>
            <a:endParaRPr b="0" i="0" sz="1400" u="none" cap="none" strike="noStrike">
              <a:solidFill>
                <a:srgbClr val="000000"/>
              </a:solidFill>
              <a:latin typeface="Arial"/>
              <a:ea typeface="Arial"/>
              <a:cs typeface="Arial"/>
              <a:sym typeface="Arial"/>
            </a:endParaRPr>
          </a:p>
        </p:txBody>
      </p:sp>
      <p:sp>
        <p:nvSpPr>
          <p:cNvPr id="327" name="Google Shape;327;p7"/>
          <p:cNvSpPr txBox="1"/>
          <p:nvPr/>
        </p:nvSpPr>
        <p:spPr>
          <a:xfrm>
            <a:off x="12335865" y="3488690"/>
            <a:ext cx="5410561"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Admite la ejecución de múltiples tareas con diferentes niveles de prioridad. Esto permite que las tareas críticas sean procesadas en tiempo real, garantizando que los sistemas reaccionen rápidamente a eventos importantes sin retrasos.</a:t>
            </a:r>
            <a:endParaRPr b="0" i="0" sz="1400" u="none" cap="none" strike="noStrike">
              <a:solidFill>
                <a:srgbClr val="000000"/>
              </a:solidFill>
              <a:latin typeface="Arial"/>
              <a:ea typeface="Arial"/>
              <a:cs typeface="Arial"/>
              <a:sym typeface="Arial"/>
            </a:endParaRPr>
          </a:p>
        </p:txBody>
      </p:sp>
      <p:sp>
        <p:nvSpPr>
          <p:cNvPr id="328" name="Google Shape;328;p7"/>
          <p:cNvSpPr txBox="1"/>
          <p:nvPr/>
        </p:nvSpPr>
        <p:spPr>
          <a:xfrm>
            <a:off x="12335865" y="3166662"/>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MULTITAREA</a:t>
            </a:r>
            <a:endParaRPr b="0" i="0" sz="1400" u="none" cap="none" strike="noStrike">
              <a:solidFill>
                <a:srgbClr val="000000"/>
              </a:solidFill>
              <a:latin typeface="Arial"/>
              <a:ea typeface="Arial"/>
              <a:cs typeface="Arial"/>
              <a:sym typeface="Arial"/>
            </a:endParaRPr>
          </a:p>
        </p:txBody>
      </p:sp>
      <p:sp>
        <p:nvSpPr>
          <p:cNvPr id="329" name="Google Shape;329;p7"/>
          <p:cNvSpPr txBox="1"/>
          <p:nvPr/>
        </p:nvSpPr>
        <p:spPr>
          <a:xfrm>
            <a:off x="11063476" y="3400977"/>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0" name="Google Shape;330;p7"/>
          <p:cNvSpPr txBox="1"/>
          <p:nvPr/>
        </p:nvSpPr>
        <p:spPr>
          <a:xfrm>
            <a:off x="11064382" y="5581704"/>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31" name="Google Shape;331;p7"/>
          <p:cNvSpPr txBox="1"/>
          <p:nvPr/>
        </p:nvSpPr>
        <p:spPr>
          <a:xfrm>
            <a:off x="11063476" y="8022558"/>
            <a:ext cx="1136520" cy="812698"/>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32" name="Google Shape;332;p7"/>
          <p:cNvSpPr txBox="1"/>
          <p:nvPr/>
        </p:nvSpPr>
        <p:spPr>
          <a:xfrm>
            <a:off x="12336771" y="5550337"/>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GESTION DE RECURSOS</a:t>
            </a:r>
            <a:endParaRPr b="0" i="0" sz="1400" u="none" cap="none" strike="noStrike">
              <a:solidFill>
                <a:srgbClr val="000000"/>
              </a:solidFill>
              <a:latin typeface="Arial"/>
              <a:ea typeface="Arial"/>
              <a:cs typeface="Arial"/>
              <a:sym typeface="Arial"/>
            </a:endParaRPr>
          </a:p>
        </p:txBody>
      </p:sp>
      <p:sp>
        <p:nvSpPr>
          <p:cNvPr id="333" name="Google Shape;333;p7"/>
          <p:cNvSpPr txBox="1"/>
          <p:nvPr/>
        </p:nvSpPr>
        <p:spPr>
          <a:xfrm>
            <a:off x="12335865" y="7986962"/>
            <a:ext cx="4923435" cy="29146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FFFFFF"/>
                </a:solidFill>
                <a:latin typeface="Montserrat"/>
                <a:ea typeface="Montserrat"/>
                <a:cs typeface="Montserrat"/>
                <a:sym typeface="Montserrat"/>
              </a:rPr>
              <a:t>ESCALABILIDAD</a:t>
            </a:r>
            <a:endParaRPr b="0" i="0" sz="1400" u="none" cap="none" strike="noStrike">
              <a:solidFill>
                <a:srgbClr val="000000"/>
              </a:solidFill>
              <a:latin typeface="Arial"/>
              <a:ea typeface="Arial"/>
              <a:cs typeface="Arial"/>
              <a:sym typeface="Arial"/>
            </a:endParaRPr>
          </a:p>
        </p:txBody>
      </p:sp>
      <p:sp>
        <p:nvSpPr>
          <p:cNvPr id="334" name="Google Shape;334;p7"/>
          <p:cNvSpPr txBox="1"/>
          <p:nvPr/>
        </p:nvSpPr>
        <p:spPr>
          <a:xfrm>
            <a:off x="12336771" y="6135690"/>
            <a:ext cx="5697106"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Gestiona eficientemente los recursos del sistema, incluyendo memoria y mecanismos de sincronización como </a:t>
            </a:r>
            <a:r>
              <a:rPr b="0" i="0" lang="en-US" sz="1700" u="none" cap="none" strike="noStrike">
                <a:solidFill>
                  <a:srgbClr val="ACFDDB"/>
                </a:solidFill>
                <a:latin typeface="Montserrat"/>
                <a:ea typeface="Montserrat"/>
                <a:cs typeface="Montserrat"/>
                <a:sym typeface="Montserrat"/>
              </a:rPr>
              <a:t>semáforos </a:t>
            </a:r>
            <a:r>
              <a:rPr b="0" i="0" lang="en-US" sz="1700" u="none" cap="none" strike="noStrike">
                <a:solidFill>
                  <a:srgbClr val="FFFFFF"/>
                </a:solidFill>
                <a:latin typeface="Montserrat"/>
                <a:ea typeface="Montserrat"/>
                <a:cs typeface="Montserrat"/>
                <a:sym typeface="Montserrat"/>
              </a:rPr>
              <a:t>y mutexes, que coordinan el acceso a recursos compartidos entre tareas, previniendo condiciones de carrera y asegurando la integridad de los datos.</a:t>
            </a:r>
            <a:endParaRPr b="0" i="0" sz="1400" u="none" cap="none" strike="noStrike">
              <a:solidFill>
                <a:srgbClr val="000000"/>
              </a:solidFill>
              <a:latin typeface="Arial"/>
              <a:ea typeface="Arial"/>
              <a:cs typeface="Arial"/>
              <a:sym typeface="Arial"/>
            </a:endParaRPr>
          </a:p>
        </p:txBody>
      </p:sp>
      <p:sp>
        <p:nvSpPr>
          <p:cNvPr id="335" name="Google Shape;335;p7"/>
          <p:cNvSpPr txBox="1"/>
          <p:nvPr/>
        </p:nvSpPr>
        <p:spPr>
          <a:xfrm>
            <a:off x="12335865" y="8434203"/>
            <a:ext cx="4923435" cy="137858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FreeRTOS es altamente escalable, lo que permite su uso en aplicaciones que van desde sistemas simples con pocas tareas hasta sistemas complejos que gestionan múltiples tareas simultáneas,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9" name="Shape 339"/>
        <p:cNvGrpSpPr/>
        <p:nvPr/>
      </p:nvGrpSpPr>
      <p:grpSpPr>
        <a:xfrm>
          <a:off x="0" y="0"/>
          <a:ext cx="0" cy="0"/>
          <a:chOff x="0" y="0"/>
          <a:chExt cx="0" cy="0"/>
        </a:xfrm>
      </p:grpSpPr>
      <p:grpSp>
        <p:nvGrpSpPr>
          <p:cNvPr id="340" name="Google Shape;340;p8"/>
          <p:cNvGrpSpPr/>
          <p:nvPr/>
        </p:nvGrpSpPr>
        <p:grpSpPr>
          <a:xfrm>
            <a:off x="1028700" y="3062836"/>
            <a:ext cx="7390943" cy="2384117"/>
            <a:chOff x="0" y="-19050"/>
            <a:chExt cx="1946586" cy="627916"/>
          </a:xfrm>
        </p:grpSpPr>
        <p:sp>
          <p:nvSpPr>
            <p:cNvPr id="341" name="Google Shape;341;p8"/>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8"/>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8"/>
          <p:cNvGrpSpPr/>
          <p:nvPr/>
        </p:nvGrpSpPr>
        <p:grpSpPr>
          <a:xfrm>
            <a:off x="1028700" y="5850398"/>
            <a:ext cx="7390943" cy="2384117"/>
            <a:chOff x="0" y="-19050"/>
            <a:chExt cx="1946586" cy="627916"/>
          </a:xfrm>
        </p:grpSpPr>
        <p:sp>
          <p:nvSpPr>
            <p:cNvPr id="344" name="Google Shape;344;p8"/>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8"/>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6" name="Google Shape;346;p8"/>
          <p:cNvGrpSpPr/>
          <p:nvPr/>
        </p:nvGrpSpPr>
        <p:grpSpPr>
          <a:xfrm>
            <a:off x="9868350" y="3062824"/>
            <a:ext cx="7390992" cy="3799440"/>
            <a:chOff x="0" y="-19050"/>
            <a:chExt cx="1946586" cy="905383"/>
          </a:xfrm>
        </p:grpSpPr>
        <p:sp>
          <p:nvSpPr>
            <p:cNvPr id="347" name="Google Shape;347;p8"/>
            <p:cNvSpPr/>
            <p:nvPr/>
          </p:nvSpPr>
          <p:spPr>
            <a:xfrm>
              <a:off x="0" y="0"/>
              <a:ext cx="1946586" cy="886333"/>
            </a:xfrm>
            <a:custGeom>
              <a:rect b="b" l="l" r="r" t="t"/>
              <a:pathLst>
                <a:path extrusionOk="0" h="886333" w="1946586">
                  <a:moveTo>
                    <a:pt x="52374" y="0"/>
                  </a:moveTo>
                  <a:lnTo>
                    <a:pt x="1894212" y="0"/>
                  </a:lnTo>
                  <a:cubicBezTo>
                    <a:pt x="1908102" y="0"/>
                    <a:pt x="1921424" y="5518"/>
                    <a:pt x="1931246" y="15340"/>
                  </a:cubicBezTo>
                  <a:cubicBezTo>
                    <a:pt x="1941068" y="25162"/>
                    <a:pt x="1946586" y="38484"/>
                    <a:pt x="1946586" y="52374"/>
                  </a:cubicBezTo>
                  <a:lnTo>
                    <a:pt x="1946586" y="833959"/>
                  </a:lnTo>
                  <a:cubicBezTo>
                    <a:pt x="1946586" y="847849"/>
                    <a:pt x="1941068" y="861171"/>
                    <a:pt x="1931246" y="870993"/>
                  </a:cubicBezTo>
                  <a:cubicBezTo>
                    <a:pt x="1921424" y="880815"/>
                    <a:pt x="1908102" y="886333"/>
                    <a:pt x="1894212" y="886333"/>
                  </a:cubicBezTo>
                  <a:lnTo>
                    <a:pt x="52374" y="886333"/>
                  </a:lnTo>
                  <a:cubicBezTo>
                    <a:pt x="23449" y="886333"/>
                    <a:pt x="0" y="862884"/>
                    <a:pt x="0" y="833959"/>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8"/>
            <p:cNvSpPr txBox="1"/>
            <p:nvPr/>
          </p:nvSpPr>
          <p:spPr>
            <a:xfrm>
              <a:off x="0" y="-19050"/>
              <a:ext cx="1946586" cy="9053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9" name="Google Shape;349;p8"/>
          <p:cNvSpPr/>
          <p:nvPr/>
        </p:nvSpPr>
        <p:spPr>
          <a:xfrm>
            <a:off x="282264" y="6237529"/>
            <a:ext cx="2194421" cy="1791196"/>
          </a:xfrm>
          <a:custGeom>
            <a:rect b="b" l="l" r="r" t="t"/>
            <a:pathLst>
              <a:path extrusionOk="0" h="1791196" w="2194421">
                <a:moveTo>
                  <a:pt x="0" y="0"/>
                </a:moveTo>
                <a:lnTo>
                  <a:pt x="2194421" y="0"/>
                </a:lnTo>
                <a:lnTo>
                  <a:pt x="2194421" y="1791196"/>
                </a:lnTo>
                <a:lnTo>
                  <a:pt x="0" y="1791196"/>
                </a:lnTo>
                <a:lnTo>
                  <a:pt x="0" y="0"/>
                </a:lnTo>
                <a:close/>
              </a:path>
            </a:pathLst>
          </a:custGeom>
          <a:blipFill rotWithShape="1">
            <a:blip r:embed="rId3">
              <a:alphaModFix/>
            </a:blip>
            <a:stretch>
              <a:fillRect b="0" l="0" r="0" t="0"/>
            </a:stretch>
          </a:blipFill>
          <a:ln>
            <a:noFill/>
          </a:ln>
        </p:spPr>
      </p:sp>
      <p:sp>
        <p:nvSpPr>
          <p:cNvPr id="350" name="Google Shape;350;p8"/>
          <p:cNvSpPr txBox="1"/>
          <p:nvPr/>
        </p:nvSpPr>
        <p:spPr>
          <a:xfrm>
            <a:off x="1028700" y="1019175"/>
            <a:ext cx="16230600"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RESTRICCIONES DE </a:t>
            </a:r>
            <a:r>
              <a:rPr b="0" i="0" lang="en-US" sz="5000" u="none" cap="none" strike="noStrike">
                <a:solidFill>
                  <a:srgbClr val="ACFDDB"/>
                </a:solidFill>
                <a:latin typeface="Arial"/>
                <a:ea typeface="Arial"/>
                <a:cs typeface="Arial"/>
                <a:sym typeface="Arial"/>
              </a:rPr>
              <a:t>RECURSOS </a:t>
            </a:r>
            <a:r>
              <a:rPr b="0" i="0" lang="en-US" sz="5000" u="none" cap="none" strike="noStrike">
                <a:solidFill>
                  <a:srgbClr val="FFFFFF"/>
                </a:solidFill>
                <a:latin typeface="Arial"/>
                <a:ea typeface="Arial"/>
                <a:cs typeface="Arial"/>
                <a:sym typeface="Arial"/>
              </a:rPr>
              <a:t>EN SISTEMAS INTEGRADOS</a:t>
            </a:r>
            <a:endParaRPr b="0" i="0" sz="1400" u="none" cap="none" strike="noStrike">
              <a:solidFill>
                <a:srgbClr val="000000"/>
              </a:solidFill>
              <a:latin typeface="Arial"/>
              <a:ea typeface="Arial"/>
              <a:cs typeface="Arial"/>
              <a:sym typeface="Arial"/>
            </a:endParaRPr>
          </a:p>
        </p:txBody>
      </p:sp>
      <p:sp>
        <p:nvSpPr>
          <p:cNvPr id="351" name="Google Shape;351;p8"/>
          <p:cNvSpPr txBox="1"/>
          <p:nvPr/>
        </p:nvSpPr>
        <p:spPr>
          <a:xfrm>
            <a:off x="11625640" y="366527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Energía</a:t>
            </a:r>
            <a:endParaRPr b="0" i="0" sz="1400" u="none" cap="none" strike="noStrike">
              <a:solidFill>
                <a:srgbClr val="000000"/>
              </a:solidFill>
              <a:latin typeface="Arial"/>
              <a:ea typeface="Arial"/>
              <a:cs typeface="Arial"/>
              <a:sym typeface="Arial"/>
            </a:endParaRPr>
          </a:p>
        </p:txBody>
      </p:sp>
      <p:sp>
        <p:nvSpPr>
          <p:cNvPr id="352" name="Google Shape;352;p8"/>
          <p:cNvSpPr txBox="1"/>
          <p:nvPr/>
        </p:nvSpPr>
        <p:spPr>
          <a:xfrm>
            <a:off x="11625640" y="4136617"/>
            <a:ext cx="4390957" cy="21240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Muchos sistemas integrados, especialmente en el contexto de dispositivos portátiles o de Internet de las Cosas (IoT), están diseñados para funcionar con bajo consumo de energía. La duración de la batería es un factor crítico, lo que requiere que el diseño del sistema tenga en cuenta la eficiencia energética en cada etapa del desarrollo.</a:t>
            </a:r>
            <a:endParaRPr b="0" i="0" sz="1400" u="none" cap="none" strike="noStrike">
              <a:solidFill>
                <a:srgbClr val="000000"/>
              </a:solidFill>
              <a:latin typeface="Arial"/>
              <a:ea typeface="Arial"/>
              <a:cs typeface="Arial"/>
              <a:sym typeface="Arial"/>
            </a:endParaRPr>
          </a:p>
        </p:txBody>
      </p:sp>
      <p:sp>
        <p:nvSpPr>
          <p:cNvPr id="353" name="Google Shape;353;p8"/>
          <p:cNvSpPr txBox="1"/>
          <p:nvPr/>
        </p:nvSpPr>
        <p:spPr>
          <a:xfrm>
            <a:off x="2847967" y="3481704"/>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Memoria</a:t>
            </a:r>
            <a:endParaRPr b="0" i="0" sz="1400" u="none" cap="none" strike="noStrike">
              <a:solidFill>
                <a:srgbClr val="000000"/>
              </a:solidFill>
              <a:latin typeface="Arial"/>
              <a:ea typeface="Arial"/>
              <a:cs typeface="Arial"/>
              <a:sym typeface="Arial"/>
            </a:endParaRPr>
          </a:p>
        </p:txBody>
      </p:sp>
      <p:sp>
        <p:nvSpPr>
          <p:cNvPr id="354" name="Google Shape;354;p8"/>
          <p:cNvSpPr txBox="1"/>
          <p:nvPr/>
        </p:nvSpPr>
        <p:spPr>
          <a:xfrm>
            <a:off x="2847967" y="3953045"/>
            <a:ext cx="4992701" cy="13239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Suelen contar con capacidad limitada de RAM, que a menudo se mide en kilobytes o pocos megabytes. Esto obliga a los desarrolladores a optimizar el uso de memoria, evitando la carga innecesaria de datos y limitando el tamaño de las aplicaciones.</a:t>
            </a:r>
            <a:endParaRPr b="0" i="0" sz="1400" u="none" cap="none" strike="noStrike">
              <a:solidFill>
                <a:srgbClr val="000000"/>
              </a:solidFill>
              <a:latin typeface="Arial"/>
              <a:ea typeface="Arial"/>
              <a:cs typeface="Arial"/>
              <a:sym typeface="Arial"/>
            </a:endParaRPr>
          </a:p>
        </p:txBody>
      </p:sp>
      <p:sp>
        <p:nvSpPr>
          <p:cNvPr id="355" name="Google Shape;355;p8"/>
          <p:cNvSpPr txBox="1"/>
          <p:nvPr/>
        </p:nvSpPr>
        <p:spPr>
          <a:xfrm>
            <a:off x="2847967" y="6452837"/>
            <a:ext cx="4992701"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CPU</a:t>
            </a:r>
            <a:endParaRPr b="0" i="0" sz="1400" u="none" cap="none" strike="noStrike">
              <a:solidFill>
                <a:srgbClr val="000000"/>
              </a:solidFill>
              <a:latin typeface="Arial"/>
              <a:ea typeface="Arial"/>
              <a:cs typeface="Arial"/>
              <a:sym typeface="Arial"/>
            </a:endParaRPr>
          </a:p>
        </p:txBody>
      </p:sp>
      <p:sp>
        <p:nvSpPr>
          <p:cNvPr id="356" name="Google Shape;356;p8"/>
          <p:cNvSpPr txBox="1"/>
          <p:nvPr/>
        </p:nvSpPr>
        <p:spPr>
          <a:xfrm>
            <a:off x="2847967" y="6924179"/>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 Suelen utilizar microcontroladores que tienen capacidades de procesamiento reducidas, lo que se traduce en frecuencias de reloj más bajas y arquitecturas simplificadas.</a:t>
            </a:r>
            <a:endParaRPr b="0" i="0" sz="1400" u="none" cap="none" strike="noStrike">
              <a:solidFill>
                <a:srgbClr val="000000"/>
              </a:solidFill>
              <a:latin typeface="Arial"/>
              <a:ea typeface="Arial"/>
              <a:cs typeface="Arial"/>
              <a:sym typeface="Arial"/>
            </a:endParaRPr>
          </a:p>
        </p:txBody>
      </p:sp>
      <p:pic>
        <p:nvPicPr>
          <p:cNvPr id="357" name="Google Shape;357;p8"/>
          <p:cNvPicPr preferRelativeResize="0"/>
          <p:nvPr/>
        </p:nvPicPr>
        <p:blipFill rotWithShape="1">
          <a:blip r:embed="rId4">
            <a:alphaModFix/>
          </a:blip>
          <a:srcRect b="0" l="0" r="0" t="0"/>
          <a:stretch/>
        </p:blipFill>
        <p:spPr>
          <a:xfrm>
            <a:off x="530049" y="3542488"/>
            <a:ext cx="1698867" cy="1698888"/>
          </a:xfrm>
          <a:prstGeom prst="rect">
            <a:avLst/>
          </a:prstGeom>
          <a:noFill/>
          <a:ln>
            <a:noFill/>
          </a:ln>
        </p:spPr>
      </p:pic>
      <p:pic>
        <p:nvPicPr>
          <p:cNvPr id="358" name="Google Shape;358;p8"/>
          <p:cNvPicPr preferRelativeResize="0"/>
          <p:nvPr/>
        </p:nvPicPr>
        <p:blipFill rotWithShape="1">
          <a:blip r:embed="rId5">
            <a:alphaModFix/>
          </a:blip>
          <a:srcRect b="0" l="0" r="0" t="0"/>
          <a:stretch/>
        </p:blipFill>
        <p:spPr>
          <a:xfrm>
            <a:off x="9016545" y="3952825"/>
            <a:ext cx="2019450" cy="201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2" name="Shape 362"/>
        <p:cNvGrpSpPr/>
        <p:nvPr/>
      </p:nvGrpSpPr>
      <p:grpSpPr>
        <a:xfrm>
          <a:off x="0" y="0"/>
          <a:ext cx="0" cy="0"/>
          <a:chOff x="0" y="0"/>
          <a:chExt cx="0" cy="0"/>
        </a:xfrm>
      </p:grpSpPr>
      <p:grpSp>
        <p:nvGrpSpPr>
          <p:cNvPr id="363" name="Google Shape;363;p9"/>
          <p:cNvGrpSpPr/>
          <p:nvPr/>
        </p:nvGrpSpPr>
        <p:grpSpPr>
          <a:xfrm>
            <a:off x="2358143" y="2452062"/>
            <a:ext cx="2307945" cy="2307945"/>
            <a:chOff x="0" y="0"/>
            <a:chExt cx="812800" cy="812800"/>
          </a:xfrm>
        </p:grpSpPr>
        <p:sp>
          <p:nvSpPr>
            <p:cNvPr id="364" name="Google Shape;36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66" name="Google Shape;366;p9"/>
          <p:cNvCxnSpPr/>
          <p:nvPr/>
        </p:nvCxnSpPr>
        <p:spPr>
          <a:xfrm rot="10800000">
            <a:off x="6607271" y="2452062"/>
            <a:ext cx="0" cy="5659939"/>
          </a:xfrm>
          <a:prstGeom prst="straightConnector1">
            <a:avLst/>
          </a:prstGeom>
          <a:noFill/>
          <a:ln cap="flat" cmpd="sng" w="9525">
            <a:solidFill>
              <a:srgbClr val="FFFFFF"/>
            </a:solidFill>
            <a:prstDash val="lgDash"/>
            <a:round/>
            <a:headEnd len="sm" w="sm" type="none"/>
            <a:tailEnd len="sm" w="sm" type="none"/>
          </a:ln>
        </p:spPr>
      </p:cxnSp>
      <p:grpSp>
        <p:nvGrpSpPr>
          <p:cNvPr id="367" name="Google Shape;367;p9"/>
          <p:cNvGrpSpPr/>
          <p:nvPr/>
        </p:nvGrpSpPr>
        <p:grpSpPr>
          <a:xfrm>
            <a:off x="8197570" y="2452062"/>
            <a:ext cx="2307945" cy="2307945"/>
            <a:chOff x="0" y="0"/>
            <a:chExt cx="812800" cy="812800"/>
          </a:xfrm>
        </p:grpSpPr>
        <p:sp>
          <p:nvSpPr>
            <p:cNvPr id="368" name="Google Shape;36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70" name="Google Shape;370;p9"/>
          <p:cNvCxnSpPr/>
          <p:nvPr/>
        </p:nvCxnSpPr>
        <p:spPr>
          <a:xfrm rot="10800000">
            <a:off x="12855478" y="2625255"/>
            <a:ext cx="0" cy="5659939"/>
          </a:xfrm>
          <a:prstGeom prst="straightConnector1">
            <a:avLst/>
          </a:prstGeom>
          <a:noFill/>
          <a:ln cap="flat" cmpd="sng" w="9525">
            <a:solidFill>
              <a:srgbClr val="FFFFFF"/>
            </a:solidFill>
            <a:prstDash val="lgDash"/>
            <a:round/>
            <a:headEnd len="sm" w="sm" type="none"/>
            <a:tailEnd len="sm" w="sm" type="none"/>
          </a:ln>
        </p:spPr>
      </p:cxnSp>
      <p:grpSp>
        <p:nvGrpSpPr>
          <p:cNvPr id="371" name="Google Shape;371;p9"/>
          <p:cNvGrpSpPr/>
          <p:nvPr/>
        </p:nvGrpSpPr>
        <p:grpSpPr>
          <a:xfrm>
            <a:off x="14439067" y="2452062"/>
            <a:ext cx="2307945" cy="2307945"/>
            <a:chOff x="0" y="0"/>
            <a:chExt cx="812800" cy="812800"/>
          </a:xfrm>
        </p:grpSpPr>
        <p:sp>
          <p:nvSpPr>
            <p:cNvPr id="372" name="Google Shape;372;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9"/>
          <p:cNvSpPr/>
          <p:nvPr/>
        </p:nvSpPr>
        <p:spPr>
          <a:xfrm>
            <a:off x="15040599" y="2769752"/>
            <a:ext cx="1104881" cy="1771675"/>
          </a:xfrm>
          <a:custGeom>
            <a:rect b="b" l="l" r="r" t="t"/>
            <a:pathLst>
              <a:path extrusionOk="0" h="1771675" w="1104881">
                <a:moveTo>
                  <a:pt x="0" y="0"/>
                </a:moveTo>
                <a:lnTo>
                  <a:pt x="1104881" y="0"/>
                </a:lnTo>
                <a:lnTo>
                  <a:pt x="1104881" y="1771675"/>
                </a:lnTo>
                <a:lnTo>
                  <a:pt x="0" y="1771675"/>
                </a:lnTo>
                <a:lnTo>
                  <a:pt x="0" y="0"/>
                </a:lnTo>
                <a:close/>
              </a:path>
            </a:pathLst>
          </a:custGeom>
          <a:blipFill rotWithShape="1">
            <a:blip r:embed="rId3">
              <a:alphaModFix/>
            </a:blip>
            <a:stretch>
              <a:fillRect b="0" l="0" r="0" t="0"/>
            </a:stretch>
          </a:blipFill>
          <a:ln>
            <a:noFill/>
          </a:ln>
        </p:spPr>
      </p:sp>
      <p:sp>
        <p:nvSpPr>
          <p:cNvPr id="375" name="Google Shape;375;p9"/>
          <p:cNvSpPr txBox="1"/>
          <p:nvPr/>
        </p:nvSpPr>
        <p:spPr>
          <a:xfrm>
            <a:off x="900906" y="1028700"/>
            <a:ext cx="16486187" cy="850138"/>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600"/>
              <a:buFont typeface="Arial"/>
              <a:buNone/>
            </a:pPr>
            <a:r>
              <a:rPr b="0" i="0" lang="en-US" sz="5600" u="none" cap="none" strike="noStrike">
                <a:solidFill>
                  <a:srgbClr val="FFFFFF"/>
                </a:solidFill>
                <a:latin typeface="Arial"/>
                <a:ea typeface="Arial"/>
                <a:cs typeface="Arial"/>
                <a:sym typeface="Arial"/>
              </a:rPr>
              <a:t>ESTRATEGIAS DE DESARROLLO</a:t>
            </a:r>
            <a:endParaRPr b="0" i="0" sz="1400" u="none" cap="none" strike="noStrike">
              <a:solidFill>
                <a:srgbClr val="000000"/>
              </a:solidFill>
              <a:latin typeface="Arial"/>
              <a:ea typeface="Arial"/>
              <a:cs typeface="Arial"/>
              <a:sym typeface="Arial"/>
            </a:endParaRPr>
          </a:p>
        </p:txBody>
      </p:sp>
      <p:sp>
        <p:nvSpPr>
          <p:cNvPr id="376" name="Google Shape;376;p9"/>
          <p:cNvSpPr txBox="1"/>
          <p:nvPr/>
        </p:nvSpPr>
        <p:spPr>
          <a:xfrm>
            <a:off x="753770" y="5985188"/>
            <a:ext cx="5431170" cy="193103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Para enfrentar las limitaciones de memoria y CPU, es crucial utilizar algoritmos y estructuras de datos que sean eficientes. Esto incluye evitar bucles innecesarios y seleccionar algoritmos que ofrezcan la mejor relación de rendimiento en función de los recursos disponibles.</a:t>
            </a:r>
            <a:endParaRPr b="0" i="0" sz="1400" u="none" cap="none" strike="noStrike">
              <a:solidFill>
                <a:srgbClr val="000000"/>
              </a:solidFill>
              <a:latin typeface="Arial"/>
              <a:ea typeface="Arial"/>
              <a:cs typeface="Arial"/>
              <a:sym typeface="Arial"/>
            </a:endParaRPr>
          </a:p>
        </p:txBody>
      </p:sp>
      <p:sp>
        <p:nvSpPr>
          <p:cNvPr id="377" name="Google Shape;377;p9"/>
          <p:cNvSpPr txBox="1"/>
          <p:nvPr/>
        </p:nvSpPr>
        <p:spPr>
          <a:xfrm>
            <a:off x="1735186" y="5051801"/>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OPTIMIZACIÓN DEL CÓDIGO</a:t>
            </a:r>
            <a:endParaRPr b="0" i="0" sz="1400" u="none" cap="none" strike="noStrike">
              <a:solidFill>
                <a:srgbClr val="000000"/>
              </a:solidFill>
              <a:latin typeface="Arial"/>
              <a:ea typeface="Arial"/>
              <a:cs typeface="Arial"/>
              <a:sym typeface="Arial"/>
            </a:endParaRPr>
          </a:p>
        </p:txBody>
      </p:sp>
      <p:sp>
        <p:nvSpPr>
          <p:cNvPr id="378" name="Google Shape;378;p9"/>
          <p:cNvSpPr txBox="1"/>
          <p:nvPr/>
        </p:nvSpPr>
        <p:spPr>
          <a:xfrm>
            <a:off x="7617383" y="5213729"/>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USO DE RECURSOS</a:t>
            </a:r>
            <a:endParaRPr b="0" i="0" sz="1400" u="none" cap="none" strike="noStrike">
              <a:solidFill>
                <a:srgbClr val="000000"/>
              </a:solidFill>
              <a:latin typeface="Arial"/>
              <a:ea typeface="Arial"/>
              <a:cs typeface="Arial"/>
              <a:sym typeface="Arial"/>
            </a:endParaRPr>
          </a:p>
        </p:txBody>
      </p:sp>
      <p:sp>
        <p:nvSpPr>
          <p:cNvPr id="379" name="Google Shape;379;p9"/>
          <p:cNvSpPr txBox="1"/>
          <p:nvPr/>
        </p:nvSpPr>
        <p:spPr>
          <a:xfrm>
            <a:off x="6973238" y="5985188"/>
            <a:ext cx="5458377" cy="16548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Se recomienda minimizar el uso de bibliotecas de </a:t>
            </a:r>
            <a:r>
              <a:rPr b="0" i="0" lang="en-US" sz="1700" u="none" cap="none" strike="noStrike">
                <a:solidFill>
                  <a:srgbClr val="ACFDDB"/>
                </a:solidFill>
                <a:latin typeface="Montserrat"/>
                <a:ea typeface="Montserrat"/>
                <a:cs typeface="Montserrat"/>
                <a:sym typeface="Montserrat"/>
              </a:rPr>
              <a:t>gran tamaño</a:t>
            </a:r>
            <a:r>
              <a:rPr b="0" i="0" lang="en-US" sz="1700" u="none" cap="none" strike="noStrike">
                <a:solidFill>
                  <a:srgbClr val="FFFFFF"/>
                </a:solidFill>
                <a:latin typeface="Montserrat"/>
                <a:ea typeface="Montserrat"/>
                <a:cs typeface="Montserrat"/>
                <a:sym typeface="Montserrat"/>
              </a:rPr>
              <a:t> que puedan ocupar una cantidad significativa de memoria. En su lugar, se deben optar por funciones específicas y optimizadas que se alineen con las necesidades del proyecto.</a:t>
            </a:r>
            <a:endParaRPr b="0" i="0" sz="1400" u="none" cap="none" strike="noStrike">
              <a:solidFill>
                <a:srgbClr val="000000"/>
              </a:solidFill>
              <a:latin typeface="Arial"/>
              <a:ea typeface="Arial"/>
              <a:cs typeface="Arial"/>
              <a:sym typeface="Arial"/>
            </a:endParaRPr>
          </a:p>
        </p:txBody>
      </p:sp>
      <p:sp>
        <p:nvSpPr>
          <p:cNvPr id="380" name="Google Shape;380;p9"/>
          <p:cNvSpPr txBox="1"/>
          <p:nvPr/>
        </p:nvSpPr>
        <p:spPr>
          <a:xfrm>
            <a:off x="13858870" y="5140903"/>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GESTIÓN DE ENERGÍA</a:t>
            </a:r>
            <a:endParaRPr b="0" i="0" sz="1400" u="none" cap="none" strike="noStrike">
              <a:solidFill>
                <a:srgbClr val="000000"/>
              </a:solidFill>
              <a:latin typeface="Arial"/>
              <a:ea typeface="Arial"/>
              <a:cs typeface="Arial"/>
              <a:sym typeface="Arial"/>
            </a:endParaRPr>
          </a:p>
        </p:txBody>
      </p:sp>
      <p:sp>
        <p:nvSpPr>
          <p:cNvPr id="381" name="Google Shape;381;p9"/>
          <p:cNvSpPr txBox="1"/>
          <p:nvPr/>
        </p:nvSpPr>
        <p:spPr>
          <a:xfrm>
            <a:off x="13279341" y="5806308"/>
            <a:ext cx="4512779" cy="220726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Implementar </a:t>
            </a:r>
            <a:r>
              <a:rPr b="0" i="0" lang="en-US" sz="1700" u="none" cap="none" strike="noStrike">
                <a:solidFill>
                  <a:srgbClr val="ACFDDB"/>
                </a:solidFill>
                <a:latin typeface="Montserrat"/>
                <a:ea typeface="Montserrat"/>
                <a:cs typeface="Montserrat"/>
                <a:sym typeface="Montserrat"/>
              </a:rPr>
              <a:t>modos de sueño</a:t>
            </a:r>
            <a:r>
              <a:rPr b="0" i="0" lang="en-US" sz="1700" u="none" cap="none" strike="noStrike">
                <a:solidFill>
                  <a:srgbClr val="FFFFFF"/>
                </a:solidFill>
                <a:latin typeface="Montserrat"/>
                <a:ea typeface="Montserrat"/>
                <a:cs typeface="Montserrat"/>
                <a:sym typeface="Montserrat"/>
              </a:rPr>
              <a:t> y técnicas de gestión de energía puede ser vital para prolongar la vida útil de la batería. Esto incluye la posibilidad de poner el dispositivo en estado de bajo consumo cuando no está en uso o ajustar dinámicamente la frecuencia del procesado</a:t>
            </a:r>
            <a:endParaRPr b="0" i="0" sz="1400" u="none" cap="none" strike="noStrike">
              <a:solidFill>
                <a:srgbClr val="000000"/>
              </a:solidFill>
              <a:latin typeface="Arial"/>
              <a:ea typeface="Arial"/>
              <a:cs typeface="Arial"/>
              <a:sym typeface="Arial"/>
            </a:endParaRPr>
          </a:p>
        </p:txBody>
      </p:sp>
      <p:pic>
        <p:nvPicPr>
          <p:cNvPr id="382" name="Google Shape;382;p9"/>
          <p:cNvPicPr preferRelativeResize="0"/>
          <p:nvPr/>
        </p:nvPicPr>
        <p:blipFill rotWithShape="1">
          <a:blip r:embed="rId4">
            <a:alphaModFix/>
          </a:blip>
          <a:srcRect b="0" l="0" r="0" t="0"/>
          <a:stretch/>
        </p:blipFill>
        <p:spPr>
          <a:xfrm>
            <a:off x="2836549" y="2980012"/>
            <a:ext cx="1351150" cy="1351150"/>
          </a:xfrm>
          <a:prstGeom prst="rect">
            <a:avLst/>
          </a:prstGeom>
          <a:noFill/>
          <a:ln>
            <a:noFill/>
          </a:ln>
        </p:spPr>
      </p:pic>
      <p:pic>
        <p:nvPicPr>
          <p:cNvPr id="383" name="Google Shape;383;p9"/>
          <p:cNvPicPr preferRelativeResize="0"/>
          <p:nvPr/>
        </p:nvPicPr>
        <p:blipFill rotWithShape="1">
          <a:blip r:embed="rId5">
            <a:alphaModFix/>
          </a:blip>
          <a:srcRect b="0" l="0" r="0" t="0"/>
          <a:stretch/>
        </p:blipFill>
        <p:spPr>
          <a:xfrm>
            <a:off x="8675970" y="2930453"/>
            <a:ext cx="1351150" cy="1351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7" name="Shape 387"/>
        <p:cNvGrpSpPr/>
        <p:nvPr/>
      </p:nvGrpSpPr>
      <p:grpSpPr>
        <a:xfrm>
          <a:off x="0" y="0"/>
          <a:ext cx="0" cy="0"/>
          <a:chOff x="0" y="0"/>
          <a:chExt cx="0" cy="0"/>
        </a:xfrm>
      </p:grpSpPr>
      <p:grpSp>
        <p:nvGrpSpPr>
          <p:cNvPr id="388" name="Google Shape;388;p10"/>
          <p:cNvGrpSpPr/>
          <p:nvPr/>
        </p:nvGrpSpPr>
        <p:grpSpPr>
          <a:xfrm rot="-5388660">
            <a:off x="12495260" y="1496515"/>
            <a:ext cx="973386" cy="973386"/>
            <a:chOff x="0" y="0"/>
            <a:chExt cx="812800" cy="812800"/>
          </a:xfrm>
        </p:grpSpPr>
        <p:sp>
          <p:nvSpPr>
            <p:cNvPr id="389" name="Google Shape;389;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1" name="Google Shape;391;p10"/>
          <p:cNvGrpSpPr/>
          <p:nvPr/>
        </p:nvGrpSpPr>
        <p:grpSpPr>
          <a:xfrm>
            <a:off x="747514" y="3804258"/>
            <a:ext cx="6434136" cy="3533945"/>
            <a:chOff x="0" y="-19050"/>
            <a:chExt cx="3058700" cy="1679989"/>
          </a:xfrm>
        </p:grpSpPr>
        <p:sp>
          <p:nvSpPr>
            <p:cNvPr id="392" name="Google Shape;392;p10"/>
            <p:cNvSpPr/>
            <p:nvPr/>
          </p:nvSpPr>
          <p:spPr>
            <a:xfrm>
              <a:off x="0" y="0"/>
              <a:ext cx="3058700" cy="1660939"/>
            </a:xfrm>
            <a:custGeom>
              <a:rect b="b" l="l" r="r" t="t"/>
              <a:pathLst>
                <a:path extrusionOk="0" h="1660939" w="3058700">
                  <a:moveTo>
                    <a:pt x="60163" y="0"/>
                  </a:moveTo>
                  <a:lnTo>
                    <a:pt x="2998537" y="0"/>
                  </a:lnTo>
                  <a:cubicBezTo>
                    <a:pt x="3014493" y="0"/>
                    <a:pt x="3029796" y="6339"/>
                    <a:pt x="3041079" y="17621"/>
                  </a:cubicBezTo>
                  <a:cubicBezTo>
                    <a:pt x="3052361" y="28904"/>
                    <a:pt x="3058700" y="44207"/>
                    <a:pt x="3058700" y="60163"/>
                  </a:cubicBezTo>
                  <a:lnTo>
                    <a:pt x="3058700" y="1600776"/>
                  </a:lnTo>
                  <a:cubicBezTo>
                    <a:pt x="3058700" y="1634003"/>
                    <a:pt x="3031764" y="1660939"/>
                    <a:pt x="2998537" y="1660939"/>
                  </a:cubicBezTo>
                  <a:lnTo>
                    <a:pt x="60163" y="1660939"/>
                  </a:lnTo>
                  <a:cubicBezTo>
                    <a:pt x="44207" y="1660939"/>
                    <a:pt x="28904" y="1654600"/>
                    <a:pt x="17621" y="1643318"/>
                  </a:cubicBezTo>
                  <a:cubicBezTo>
                    <a:pt x="6339" y="1632035"/>
                    <a:pt x="0" y="1616732"/>
                    <a:pt x="0" y="1600776"/>
                  </a:cubicBezTo>
                  <a:lnTo>
                    <a:pt x="0" y="60163"/>
                  </a:lnTo>
                  <a:cubicBezTo>
                    <a:pt x="0" y="26936"/>
                    <a:pt x="26936" y="0"/>
                    <a:pt x="60163"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0"/>
            <p:cNvSpPr txBox="1"/>
            <p:nvPr/>
          </p:nvSpPr>
          <p:spPr>
            <a:xfrm>
              <a:off x="0" y="-19050"/>
              <a:ext cx="3058700" cy="167998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4" name="Google Shape;394;p10"/>
          <p:cNvSpPr/>
          <p:nvPr/>
        </p:nvSpPr>
        <p:spPr>
          <a:xfrm rot="-10788660">
            <a:off x="12716119" y="1769211"/>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3">
              <a:alphaModFix/>
            </a:blip>
            <a:stretch>
              <a:fillRect b="0" l="0" r="0" t="0"/>
            </a:stretch>
          </a:blipFill>
          <a:ln>
            <a:noFill/>
          </a:ln>
        </p:spPr>
      </p:sp>
      <p:grpSp>
        <p:nvGrpSpPr>
          <p:cNvPr id="395" name="Google Shape;395;p10"/>
          <p:cNvGrpSpPr/>
          <p:nvPr/>
        </p:nvGrpSpPr>
        <p:grpSpPr>
          <a:xfrm rot="-5388660">
            <a:off x="10591408" y="7339806"/>
            <a:ext cx="973386" cy="973386"/>
            <a:chOff x="0" y="0"/>
            <a:chExt cx="812800" cy="812800"/>
          </a:xfrm>
        </p:grpSpPr>
        <p:sp>
          <p:nvSpPr>
            <p:cNvPr id="396" name="Google Shape;396;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0"/>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8" name="Google Shape;398;p10"/>
          <p:cNvSpPr/>
          <p:nvPr/>
        </p:nvSpPr>
        <p:spPr>
          <a:xfrm rot="-10788660">
            <a:off x="10812266" y="7612502"/>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3">
              <a:alphaModFix/>
            </a:blip>
            <a:stretch>
              <a:fillRect b="0" l="0" r="0" t="0"/>
            </a:stretch>
          </a:blipFill>
          <a:ln>
            <a:noFill/>
          </a:ln>
        </p:spPr>
      </p:sp>
      <p:sp>
        <p:nvSpPr>
          <p:cNvPr id="399" name="Google Shape;399;p10"/>
          <p:cNvSpPr txBox="1"/>
          <p:nvPr/>
        </p:nvSpPr>
        <p:spPr>
          <a:xfrm>
            <a:off x="12698972" y="2652644"/>
            <a:ext cx="5502806" cy="2773997"/>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GCC (GNU Compiler Collection)</a:t>
            </a:r>
            <a:r>
              <a:rPr b="0" i="0" lang="en-US" sz="1700" u="none" cap="none" strike="noStrike">
                <a:solidFill>
                  <a:srgbClr val="FFFFFF"/>
                </a:solidFill>
                <a:latin typeface="Montserrat"/>
                <a:ea typeface="Montserrat"/>
                <a:cs typeface="Montserrat"/>
                <a:sym typeface="Montserrat"/>
              </a:rPr>
              <a:t> para ARM: Amplia compatibilidad y es de código abierto.</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IAR Embedded Workbench</a:t>
            </a:r>
            <a:r>
              <a:rPr b="0" i="0" lang="en-US" sz="1700" u="none" cap="none" strike="noStrike">
                <a:solidFill>
                  <a:srgbClr val="FFFFFF"/>
                </a:solidFill>
                <a:latin typeface="Montserrat"/>
                <a:ea typeface="Montserrat"/>
                <a:cs typeface="Montserrat"/>
                <a:sym typeface="Montserrat"/>
              </a:rPr>
              <a:t>: Ofrece herramientas de desarrollo optimizadas para sistemas embebidos.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Keil uVision</a:t>
            </a:r>
            <a:r>
              <a:rPr b="0" i="0" lang="en-US" sz="1700" u="none" cap="none" strike="noStrike">
                <a:solidFill>
                  <a:srgbClr val="FFFFFF"/>
                </a:solidFill>
                <a:latin typeface="Montserrat"/>
                <a:ea typeface="Montserrat"/>
                <a:cs typeface="Montserrat"/>
                <a:sym typeface="Montserrat"/>
              </a:rPr>
              <a:t>: Muy usado en entornos de microcontroladores, especialmente en el desarrollo de aplicaciones ARM.</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00" name="Google Shape;400;p10"/>
          <p:cNvSpPr txBox="1"/>
          <p:nvPr/>
        </p:nvSpPr>
        <p:spPr>
          <a:xfrm>
            <a:off x="13935694" y="1718488"/>
            <a:ext cx="2484927" cy="335280"/>
          </a:xfrm>
          <a:prstGeom prst="rect">
            <a:avLst/>
          </a:prstGeom>
          <a:noFill/>
          <a:ln>
            <a:noFill/>
          </a:ln>
        </p:spPr>
        <p:txBody>
          <a:bodyPr anchorCtr="0" anchor="t" bIns="0" lIns="0" spcFirstLastPara="1" rIns="0" wrap="square" tIns="0">
            <a:spAutoFit/>
          </a:bodyPr>
          <a:lstStyle/>
          <a:p>
            <a:pPr indent="0" lvl="0" marL="0" marR="0" rtl="0" algn="ctr">
              <a:lnSpc>
                <a:spcPct val="130014"/>
              </a:lnSpc>
              <a:spcBef>
                <a:spcPts val="0"/>
              </a:spcBef>
              <a:spcAft>
                <a:spcPts val="0"/>
              </a:spcAft>
              <a:buClr>
                <a:srgbClr val="000000"/>
              </a:buClr>
              <a:buSzPts val="2099"/>
              <a:buFont typeface="Arial"/>
              <a:buNone/>
            </a:pPr>
            <a:r>
              <a:rPr b="1" i="0" lang="en-US" sz="2099" u="none" cap="none" strike="noStrike">
                <a:solidFill>
                  <a:srgbClr val="FFFFFF"/>
                </a:solidFill>
                <a:latin typeface="Montserrat"/>
                <a:ea typeface="Montserrat"/>
                <a:cs typeface="Montserrat"/>
                <a:sym typeface="Montserrat"/>
              </a:rPr>
              <a:t>COMPILADORES</a:t>
            </a:r>
            <a:endParaRPr b="0" i="0" sz="1400" u="none" cap="none" strike="noStrike">
              <a:solidFill>
                <a:srgbClr val="000000"/>
              </a:solidFill>
              <a:latin typeface="Arial"/>
              <a:ea typeface="Arial"/>
              <a:cs typeface="Arial"/>
              <a:sym typeface="Arial"/>
            </a:endParaRPr>
          </a:p>
        </p:txBody>
      </p:sp>
      <p:sp>
        <p:nvSpPr>
          <p:cNvPr id="401" name="Google Shape;401;p10"/>
          <p:cNvSpPr txBox="1"/>
          <p:nvPr/>
        </p:nvSpPr>
        <p:spPr>
          <a:xfrm>
            <a:off x="447675" y="709525"/>
            <a:ext cx="7206469" cy="254736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COMPILACIÓN CRUZADA Y DESARROLLO PARA </a:t>
            </a:r>
            <a:r>
              <a:rPr b="0" i="0" lang="en-US" sz="4200" u="none" cap="none" strike="noStrike">
                <a:solidFill>
                  <a:srgbClr val="ACFDDB"/>
                </a:solidFill>
                <a:latin typeface="Arial"/>
                <a:ea typeface="Arial"/>
                <a:cs typeface="Arial"/>
                <a:sym typeface="Arial"/>
              </a:rPr>
              <a:t>PLATAFORMAS INTEGRADAS</a:t>
            </a:r>
            <a:endParaRPr b="0" i="0" sz="1400" u="none" cap="none" strike="noStrike">
              <a:solidFill>
                <a:srgbClr val="000000"/>
              </a:solidFill>
              <a:latin typeface="Arial"/>
              <a:ea typeface="Arial"/>
              <a:cs typeface="Arial"/>
              <a:sym typeface="Arial"/>
            </a:endParaRPr>
          </a:p>
        </p:txBody>
      </p:sp>
      <p:sp>
        <p:nvSpPr>
          <p:cNvPr id="402" name="Google Shape;402;p10"/>
          <p:cNvSpPr txBox="1"/>
          <p:nvPr/>
        </p:nvSpPr>
        <p:spPr>
          <a:xfrm>
            <a:off x="1205986" y="4014359"/>
            <a:ext cx="5698504" cy="275971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La compilación cruzada es el proceso de construir ejecutables en un sistema host (la máquina en la que se desarrolla) para que estos ejecutables funcionen en un sistema objetivo (target) que generalmente tiene una arquitectura diferente. Este proceso es común en el desarrollo de sistemas embebidos, ya que los dispositivos objetivos a menudo cuentan con microcontroladores de arquitecturas específicas.</a:t>
            </a:r>
            <a:endParaRPr b="0" i="0" sz="1400" u="none" cap="none" strike="noStrike">
              <a:solidFill>
                <a:srgbClr val="000000"/>
              </a:solidFill>
              <a:latin typeface="Arial"/>
              <a:ea typeface="Arial"/>
              <a:cs typeface="Arial"/>
              <a:sym typeface="Arial"/>
            </a:endParaRPr>
          </a:p>
        </p:txBody>
      </p:sp>
      <p:sp>
        <p:nvSpPr>
          <p:cNvPr id="403" name="Google Shape;403;p10"/>
          <p:cNvSpPr txBox="1"/>
          <p:nvPr/>
        </p:nvSpPr>
        <p:spPr>
          <a:xfrm>
            <a:off x="11566397" y="6780159"/>
            <a:ext cx="6535091" cy="3050222"/>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PlatformIO</a:t>
            </a:r>
            <a:r>
              <a:rPr b="0" i="0" lang="en-US" sz="1700" u="none" cap="none" strike="noStrike">
                <a:solidFill>
                  <a:srgbClr val="FFFFFF"/>
                </a:solidFill>
                <a:latin typeface="Montserrat"/>
                <a:ea typeface="Montserrat"/>
                <a:cs typeface="Montserrat"/>
                <a:sym typeface="Montserrat"/>
              </a:rPr>
              <a:t>: Un IDE multiplataforma que facilita la configuración de proyectos y soporta múltiples frameworks y arquitecturas.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Eclipse con CDT:</a:t>
            </a:r>
            <a:r>
              <a:rPr b="0" i="0" lang="en-US" sz="1700" u="none" cap="none" strike="noStrike">
                <a:solidFill>
                  <a:srgbClr val="FFFFFF"/>
                </a:solidFill>
                <a:latin typeface="Montserrat"/>
                <a:ea typeface="Montserrat"/>
                <a:cs typeface="Montserrat"/>
                <a:sym typeface="Montserrat"/>
              </a:rPr>
              <a:t> Eclipse, junto con el complemento CDT (C/C++ Development Tooling), permite el desarrollo cruzado con soporte para varios compiladores y herramientas.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1" i="0" lang="en-US" sz="1700" u="none" cap="none" strike="noStrike">
                <a:solidFill>
                  <a:srgbClr val="FFFFFF"/>
                </a:solidFill>
                <a:latin typeface="Montserrat"/>
                <a:ea typeface="Montserrat"/>
                <a:cs typeface="Montserrat"/>
                <a:sym typeface="Montserrat"/>
              </a:rPr>
              <a:t>Visual Studio Code</a:t>
            </a:r>
            <a:r>
              <a:rPr b="0" i="0" lang="en-US" sz="1700" u="none" cap="none" strike="noStrike">
                <a:solidFill>
                  <a:srgbClr val="FFFFFF"/>
                </a:solidFill>
                <a:latin typeface="Montserrat"/>
                <a:ea typeface="Montserrat"/>
                <a:cs typeface="Montserrat"/>
                <a:sym typeface="Montserrat"/>
              </a:rPr>
              <a:t>: Un editor ampliamente usado que, con extensiones, facilita el desarrollo para plataformas embebidas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04" name="Google Shape;404;p10"/>
          <p:cNvSpPr txBox="1"/>
          <p:nvPr/>
        </p:nvSpPr>
        <p:spPr>
          <a:xfrm>
            <a:off x="11915554" y="6217533"/>
            <a:ext cx="4505067" cy="335280"/>
          </a:xfrm>
          <a:prstGeom prst="rect">
            <a:avLst/>
          </a:prstGeom>
          <a:noFill/>
          <a:ln>
            <a:noFill/>
          </a:ln>
        </p:spPr>
        <p:txBody>
          <a:bodyPr anchorCtr="0" anchor="t" bIns="0" lIns="0" spcFirstLastPara="1" rIns="0" wrap="square" tIns="0">
            <a:spAutoFit/>
          </a:bodyPr>
          <a:lstStyle/>
          <a:p>
            <a:pPr indent="0" lvl="0" marL="0" marR="0" rtl="0" algn="ctr">
              <a:lnSpc>
                <a:spcPct val="130014"/>
              </a:lnSpc>
              <a:spcBef>
                <a:spcPts val="0"/>
              </a:spcBef>
              <a:spcAft>
                <a:spcPts val="0"/>
              </a:spcAft>
              <a:buClr>
                <a:srgbClr val="000000"/>
              </a:buClr>
              <a:buSzPts val="2099"/>
              <a:buFont typeface="Arial"/>
              <a:buNone/>
            </a:pPr>
            <a:r>
              <a:rPr b="1" i="0" lang="en-US" sz="2099" u="none" cap="none" strike="noStrike">
                <a:solidFill>
                  <a:srgbClr val="FFFFFF"/>
                </a:solidFill>
                <a:latin typeface="Montserrat"/>
                <a:ea typeface="Montserrat"/>
                <a:cs typeface="Montserrat"/>
                <a:sym typeface="Montserrat"/>
              </a:rPr>
              <a:t>ENTORNOS DE DESARROLLO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8" name="Shape 408"/>
        <p:cNvGrpSpPr/>
        <p:nvPr/>
      </p:nvGrpSpPr>
      <p:grpSpPr>
        <a:xfrm>
          <a:off x="0" y="0"/>
          <a:ext cx="0" cy="0"/>
          <a:chOff x="0" y="0"/>
          <a:chExt cx="0" cy="0"/>
        </a:xfrm>
      </p:grpSpPr>
      <p:grpSp>
        <p:nvGrpSpPr>
          <p:cNvPr id="409" name="Google Shape;409;p11"/>
          <p:cNvGrpSpPr/>
          <p:nvPr/>
        </p:nvGrpSpPr>
        <p:grpSpPr>
          <a:xfrm>
            <a:off x="1028700" y="3143394"/>
            <a:ext cx="3909294" cy="5020707"/>
            <a:chOff x="0" y="-19050"/>
            <a:chExt cx="1090728" cy="1400822"/>
          </a:xfrm>
        </p:grpSpPr>
        <p:sp>
          <p:nvSpPr>
            <p:cNvPr id="410" name="Google Shape;410;p11"/>
            <p:cNvSpPr/>
            <p:nvPr/>
          </p:nvSpPr>
          <p:spPr>
            <a:xfrm>
              <a:off x="0" y="0"/>
              <a:ext cx="1090728" cy="1381772"/>
            </a:xfrm>
            <a:custGeom>
              <a:rect b="b" l="l" r="r" t="t"/>
              <a:pathLst>
                <a:path extrusionOk="0" h="1381772" w="1090728">
                  <a:moveTo>
                    <a:pt x="99019" y="0"/>
                  </a:moveTo>
                  <a:lnTo>
                    <a:pt x="991708" y="0"/>
                  </a:lnTo>
                  <a:cubicBezTo>
                    <a:pt x="1017970" y="0"/>
                    <a:pt x="1043156" y="10432"/>
                    <a:pt x="1061726" y="29002"/>
                  </a:cubicBezTo>
                  <a:cubicBezTo>
                    <a:pt x="1080295" y="47572"/>
                    <a:pt x="1090728" y="72758"/>
                    <a:pt x="1090728" y="99019"/>
                  </a:cubicBezTo>
                  <a:lnTo>
                    <a:pt x="1090728" y="1282753"/>
                  </a:lnTo>
                  <a:cubicBezTo>
                    <a:pt x="1090728" y="1309014"/>
                    <a:pt x="1080295" y="1334200"/>
                    <a:pt x="1061726" y="1352770"/>
                  </a:cubicBezTo>
                  <a:cubicBezTo>
                    <a:pt x="1043156" y="1371340"/>
                    <a:pt x="1017970" y="1381772"/>
                    <a:pt x="991708" y="1381772"/>
                  </a:cubicBezTo>
                  <a:lnTo>
                    <a:pt x="99019" y="1381772"/>
                  </a:lnTo>
                  <a:cubicBezTo>
                    <a:pt x="72758" y="1381772"/>
                    <a:pt x="47572" y="1371340"/>
                    <a:pt x="29002" y="1352770"/>
                  </a:cubicBezTo>
                  <a:cubicBezTo>
                    <a:pt x="10432" y="1334200"/>
                    <a:pt x="0" y="1309014"/>
                    <a:pt x="0" y="1282753"/>
                  </a:cubicBezTo>
                  <a:lnTo>
                    <a:pt x="0" y="99019"/>
                  </a:lnTo>
                  <a:cubicBezTo>
                    <a:pt x="0" y="72758"/>
                    <a:pt x="10432" y="47572"/>
                    <a:pt x="29002" y="29002"/>
                  </a:cubicBezTo>
                  <a:cubicBezTo>
                    <a:pt x="47572" y="10432"/>
                    <a:pt x="72758" y="0"/>
                    <a:pt x="99019" y="0"/>
                  </a:cubicBezTo>
                  <a:close/>
                </a:path>
              </a:pathLst>
            </a:custGeom>
            <a:solidFill>
              <a:srgbClr val="D7FF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1"/>
            <p:cNvSpPr txBox="1"/>
            <p:nvPr/>
          </p:nvSpPr>
          <p:spPr>
            <a:xfrm>
              <a:off x="0" y="-19050"/>
              <a:ext cx="1090728" cy="140082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1"/>
          <p:cNvGrpSpPr/>
          <p:nvPr/>
        </p:nvGrpSpPr>
        <p:grpSpPr>
          <a:xfrm>
            <a:off x="9242904" y="3143394"/>
            <a:ext cx="3909294" cy="3788565"/>
            <a:chOff x="0" y="-19050"/>
            <a:chExt cx="1090728" cy="1057043"/>
          </a:xfrm>
        </p:grpSpPr>
        <p:sp>
          <p:nvSpPr>
            <p:cNvPr id="413" name="Google Shape;413;p11"/>
            <p:cNvSpPr/>
            <p:nvPr/>
          </p:nvSpPr>
          <p:spPr>
            <a:xfrm>
              <a:off x="0" y="0"/>
              <a:ext cx="1090728" cy="1037993"/>
            </a:xfrm>
            <a:custGeom>
              <a:rect b="b" l="l" r="r" t="t"/>
              <a:pathLst>
                <a:path extrusionOk="0" h="1037993" w="1090728">
                  <a:moveTo>
                    <a:pt x="99019" y="0"/>
                  </a:moveTo>
                  <a:lnTo>
                    <a:pt x="991708" y="0"/>
                  </a:lnTo>
                  <a:cubicBezTo>
                    <a:pt x="1017970" y="0"/>
                    <a:pt x="1043156" y="10432"/>
                    <a:pt x="1061726" y="29002"/>
                  </a:cubicBezTo>
                  <a:cubicBezTo>
                    <a:pt x="1080295" y="47572"/>
                    <a:pt x="1090728" y="72758"/>
                    <a:pt x="1090728" y="99019"/>
                  </a:cubicBezTo>
                  <a:lnTo>
                    <a:pt x="1090728" y="938974"/>
                  </a:lnTo>
                  <a:cubicBezTo>
                    <a:pt x="1090728" y="965235"/>
                    <a:pt x="1080295" y="990421"/>
                    <a:pt x="1061726" y="1008991"/>
                  </a:cubicBezTo>
                  <a:cubicBezTo>
                    <a:pt x="1043156" y="1027561"/>
                    <a:pt x="1017970" y="1037993"/>
                    <a:pt x="991708" y="1037993"/>
                  </a:cubicBezTo>
                  <a:lnTo>
                    <a:pt x="99019" y="1037993"/>
                  </a:lnTo>
                  <a:cubicBezTo>
                    <a:pt x="72758" y="1037993"/>
                    <a:pt x="47572" y="1027561"/>
                    <a:pt x="29002" y="1008991"/>
                  </a:cubicBezTo>
                  <a:cubicBezTo>
                    <a:pt x="10432" y="990421"/>
                    <a:pt x="0" y="965235"/>
                    <a:pt x="0" y="938974"/>
                  </a:cubicBezTo>
                  <a:lnTo>
                    <a:pt x="0" y="99019"/>
                  </a:lnTo>
                  <a:cubicBezTo>
                    <a:pt x="0" y="72758"/>
                    <a:pt x="10432" y="47572"/>
                    <a:pt x="29002" y="29002"/>
                  </a:cubicBezTo>
                  <a:cubicBezTo>
                    <a:pt x="47572" y="10432"/>
                    <a:pt x="72758" y="0"/>
                    <a:pt x="99019" y="0"/>
                  </a:cubicBezTo>
                  <a:close/>
                </a:path>
              </a:pathLst>
            </a:custGeom>
            <a:solidFill>
              <a:srgbClr val="3BB69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1"/>
            <p:cNvSpPr txBox="1"/>
            <p:nvPr/>
          </p:nvSpPr>
          <p:spPr>
            <a:xfrm>
              <a:off x="0" y="-19050"/>
              <a:ext cx="1090728" cy="10570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11"/>
          <p:cNvGrpSpPr/>
          <p:nvPr/>
        </p:nvGrpSpPr>
        <p:grpSpPr>
          <a:xfrm>
            <a:off x="5135802" y="3143394"/>
            <a:ext cx="3909294" cy="3788565"/>
            <a:chOff x="0" y="-19050"/>
            <a:chExt cx="1090728" cy="1057043"/>
          </a:xfrm>
        </p:grpSpPr>
        <p:sp>
          <p:nvSpPr>
            <p:cNvPr id="416" name="Google Shape;416;p11"/>
            <p:cNvSpPr/>
            <p:nvPr/>
          </p:nvSpPr>
          <p:spPr>
            <a:xfrm>
              <a:off x="0" y="0"/>
              <a:ext cx="1090728" cy="1037993"/>
            </a:xfrm>
            <a:custGeom>
              <a:rect b="b" l="l" r="r" t="t"/>
              <a:pathLst>
                <a:path extrusionOk="0" h="1037993" w="1090728">
                  <a:moveTo>
                    <a:pt x="99019" y="0"/>
                  </a:moveTo>
                  <a:lnTo>
                    <a:pt x="991708" y="0"/>
                  </a:lnTo>
                  <a:cubicBezTo>
                    <a:pt x="1017970" y="0"/>
                    <a:pt x="1043156" y="10432"/>
                    <a:pt x="1061726" y="29002"/>
                  </a:cubicBezTo>
                  <a:cubicBezTo>
                    <a:pt x="1080295" y="47572"/>
                    <a:pt x="1090728" y="72758"/>
                    <a:pt x="1090728" y="99019"/>
                  </a:cubicBezTo>
                  <a:lnTo>
                    <a:pt x="1090728" y="938974"/>
                  </a:lnTo>
                  <a:cubicBezTo>
                    <a:pt x="1090728" y="965235"/>
                    <a:pt x="1080295" y="990421"/>
                    <a:pt x="1061726" y="1008991"/>
                  </a:cubicBezTo>
                  <a:cubicBezTo>
                    <a:pt x="1043156" y="1027561"/>
                    <a:pt x="1017970" y="1037993"/>
                    <a:pt x="991708" y="1037993"/>
                  </a:cubicBezTo>
                  <a:lnTo>
                    <a:pt x="99019" y="1037993"/>
                  </a:lnTo>
                  <a:cubicBezTo>
                    <a:pt x="72758" y="1037993"/>
                    <a:pt x="47572" y="1027561"/>
                    <a:pt x="29002" y="1008991"/>
                  </a:cubicBezTo>
                  <a:cubicBezTo>
                    <a:pt x="10432" y="990421"/>
                    <a:pt x="0" y="965235"/>
                    <a:pt x="0" y="938974"/>
                  </a:cubicBezTo>
                  <a:lnTo>
                    <a:pt x="0" y="99019"/>
                  </a:lnTo>
                  <a:cubicBezTo>
                    <a:pt x="0" y="72758"/>
                    <a:pt x="10432" y="47572"/>
                    <a:pt x="29002" y="29002"/>
                  </a:cubicBezTo>
                  <a:cubicBezTo>
                    <a:pt x="47572" y="10432"/>
                    <a:pt x="72758" y="0"/>
                    <a:pt x="99019"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1"/>
            <p:cNvSpPr txBox="1"/>
            <p:nvPr/>
          </p:nvSpPr>
          <p:spPr>
            <a:xfrm>
              <a:off x="0" y="-19050"/>
              <a:ext cx="1090728" cy="10570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8" name="Google Shape;418;p11"/>
          <p:cNvGrpSpPr/>
          <p:nvPr/>
        </p:nvGrpSpPr>
        <p:grpSpPr>
          <a:xfrm>
            <a:off x="13350006" y="3143394"/>
            <a:ext cx="3909294" cy="4046455"/>
            <a:chOff x="0" y="-19050"/>
            <a:chExt cx="1090728" cy="1128997"/>
          </a:xfrm>
        </p:grpSpPr>
        <p:sp>
          <p:nvSpPr>
            <p:cNvPr id="419" name="Google Shape;419;p11"/>
            <p:cNvSpPr/>
            <p:nvPr/>
          </p:nvSpPr>
          <p:spPr>
            <a:xfrm>
              <a:off x="0" y="0"/>
              <a:ext cx="1090728" cy="1109947"/>
            </a:xfrm>
            <a:custGeom>
              <a:rect b="b" l="l" r="r" t="t"/>
              <a:pathLst>
                <a:path extrusionOk="0" h="1109947" w="1090728">
                  <a:moveTo>
                    <a:pt x="99019" y="0"/>
                  </a:moveTo>
                  <a:lnTo>
                    <a:pt x="991708" y="0"/>
                  </a:lnTo>
                  <a:cubicBezTo>
                    <a:pt x="1017970" y="0"/>
                    <a:pt x="1043156" y="10432"/>
                    <a:pt x="1061726" y="29002"/>
                  </a:cubicBezTo>
                  <a:cubicBezTo>
                    <a:pt x="1080295" y="47572"/>
                    <a:pt x="1090728" y="72758"/>
                    <a:pt x="1090728" y="99019"/>
                  </a:cubicBezTo>
                  <a:lnTo>
                    <a:pt x="1090728" y="1010928"/>
                  </a:lnTo>
                  <a:cubicBezTo>
                    <a:pt x="1090728" y="1037189"/>
                    <a:pt x="1080295" y="1062375"/>
                    <a:pt x="1061726" y="1080945"/>
                  </a:cubicBezTo>
                  <a:cubicBezTo>
                    <a:pt x="1043156" y="1099515"/>
                    <a:pt x="1017970" y="1109947"/>
                    <a:pt x="991708" y="1109947"/>
                  </a:cubicBezTo>
                  <a:lnTo>
                    <a:pt x="99019" y="1109947"/>
                  </a:lnTo>
                  <a:cubicBezTo>
                    <a:pt x="72758" y="1109947"/>
                    <a:pt x="47572" y="1099515"/>
                    <a:pt x="29002" y="1080945"/>
                  </a:cubicBezTo>
                  <a:cubicBezTo>
                    <a:pt x="10432" y="1062375"/>
                    <a:pt x="0" y="1037189"/>
                    <a:pt x="0" y="1010928"/>
                  </a:cubicBezTo>
                  <a:lnTo>
                    <a:pt x="0" y="99019"/>
                  </a:lnTo>
                  <a:cubicBezTo>
                    <a:pt x="0" y="72758"/>
                    <a:pt x="10432" y="47572"/>
                    <a:pt x="29002" y="29002"/>
                  </a:cubicBezTo>
                  <a:cubicBezTo>
                    <a:pt x="47572" y="10432"/>
                    <a:pt x="72758" y="0"/>
                    <a:pt x="99019"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1"/>
            <p:cNvSpPr txBox="1"/>
            <p:nvPr/>
          </p:nvSpPr>
          <p:spPr>
            <a:xfrm>
              <a:off x="0" y="-19050"/>
              <a:ext cx="1090728" cy="11289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1" name="Google Shape;421;p11"/>
          <p:cNvGrpSpPr/>
          <p:nvPr/>
        </p:nvGrpSpPr>
        <p:grpSpPr>
          <a:xfrm>
            <a:off x="4607933" y="3514653"/>
            <a:ext cx="850622" cy="850622"/>
            <a:chOff x="0" y="0"/>
            <a:chExt cx="812800" cy="812800"/>
          </a:xfrm>
        </p:grpSpPr>
        <p:sp>
          <p:nvSpPr>
            <p:cNvPr id="422" name="Google Shape;422;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4" name="Google Shape;424;p11"/>
          <p:cNvGrpSpPr/>
          <p:nvPr/>
        </p:nvGrpSpPr>
        <p:grpSpPr>
          <a:xfrm>
            <a:off x="8718689" y="3514653"/>
            <a:ext cx="850622" cy="850622"/>
            <a:chOff x="0" y="0"/>
            <a:chExt cx="812800" cy="812800"/>
          </a:xfrm>
        </p:grpSpPr>
        <p:sp>
          <p:nvSpPr>
            <p:cNvPr id="425" name="Google Shape;425;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7" name="Google Shape;427;p11"/>
          <p:cNvGrpSpPr/>
          <p:nvPr/>
        </p:nvGrpSpPr>
        <p:grpSpPr>
          <a:xfrm>
            <a:off x="12845911" y="3514653"/>
            <a:ext cx="850622" cy="850622"/>
            <a:chOff x="0" y="0"/>
            <a:chExt cx="812800" cy="812800"/>
          </a:xfrm>
        </p:grpSpPr>
        <p:sp>
          <p:nvSpPr>
            <p:cNvPr id="428" name="Google Shape;428;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56D7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0" name="Google Shape;430;p11"/>
          <p:cNvGrpSpPr/>
          <p:nvPr/>
        </p:nvGrpSpPr>
        <p:grpSpPr>
          <a:xfrm rot="5400000">
            <a:off x="9000238" y="3835511"/>
            <a:ext cx="265040" cy="227954"/>
            <a:chOff x="37766" y="72195"/>
            <a:chExt cx="166170" cy="142918"/>
          </a:xfrm>
        </p:grpSpPr>
        <p:sp>
          <p:nvSpPr>
            <p:cNvPr id="431" name="Google Shape;431;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3" name="Google Shape;433;p11"/>
          <p:cNvGrpSpPr/>
          <p:nvPr/>
        </p:nvGrpSpPr>
        <p:grpSpPr>
          <a:xfrm rot="5400000">
            <a:off x="13113118" y="3835511"/>
            <a:ext cx="265040" cy="227954"/>
            <a:chOff x="37766" y="72195"/>
            <a:chExt cx="166170" cy="142918"/>
          </a:xfrm>
        </p:grpSpPr>
        <p:sp>
          <p:nvSpPr>
            <p:cNvPr id="434" name="Google Shape;434;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6" name="Google Shape;436;p11"/>
          <p:cNvGrpSpPr/>
          <p:nvPr/>
        </p:nvGrpSpPr>
        <p:grpSpPr>
          <a:xfrm rot="5400000">
            <a:off x="4899467" y="3835511"/>
            <a:ext cx="265040" cy="227954"/>
            <a:chOff x="37766" y="72195"/>
            <a:chExt cx="166170" cy="142918"/>
          </a:xfrm>
        </p:grpSpPr>
        <p:sp>
          <p:nvSpPr>
            <p:cNvPr id="437" name="Google Shape;437;p11"/>
            <p:cNvSpPr/>
            <p:nvPr/>
          </p:nvSpPr>
          <p:spPr>
            <a:xfrm>
              <a:off x="46890" y="72195"/>
              <a:ext cx="147923" cy="142918"/>
            </a:xfrm>
            <a:custGeom>
              <a:rect b="b" l="l" r="r" t="t"/>
              <a:pathLst>
                <a:path extrusionOk="0" h="142918" w="147923">
                  <a:moveTo>
                    <a:pt x="134387" y="35362"/>
                  </a:moveTo>
                  <a:lnTo>
                    <a:pt x="135620" y="37556"/>
                  </a:lnTo>
                  <a:cubicBezTo>
                    <a:pt x="147923" y="59455"/>
                    <a:pt x="147687" y="86237"/>
                    <a:pt x="135000" y="107916"/>
                  </a:cubicBezTo>
                  <a:cubicBezTo>
                    <a:pt x="122313" y="129595"/>
                    <a:pt x="99080" y="142918"/>
                    <a:pt x="73961" y="142918"/>
                  </a:cubicBezTo>
                  <a:lnTo>
                    <a:pt x="73961" y="142918"/>
                  </a:lnTo>
                  <a:cubicBezTo>
                    <a:pt x="48843" y="142918"/>
                    <a:pt x="25609" y="129595"/>
                    <a:pt x="12922" y="107916"/>
                  </a:cubicBezTo>
                  <a:cubicBezTo>
                    <a:pt x="236" y="86237"/>
                    <a:pt x="0" y="59455"/>
                    <a:pt x="12303" y="37556"/>
                  </a:cubicBezTo>
                  <a:lnTo>
                    <a:pt x="13536" y="35362"/>
                  </a:lnTo>
                  <a:cubicBezTo>
                    <a:pt x="25806" y="13520"/>
                    <a:pt x="48909" y="0"/>
                    <a:pt x="73961" y="0"/>
                  </a:cubicBezTo>
                  <a:cubicBezTo>
                    <a:pt x="99014" y="0"/>
                    <a:pt x="122116" y="13520"/>
                    <a:pt x="134387" y="35362"/>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1"/>
            <p:cNvSpPr txBox="1"/>
            <p:nvPr/>
          </p:nvSpPr>
          <p:spPr>
            <a:xfrm>
              <a:off x="37766" y="80824"/>
              <a:ext cx="166170" cy="11892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39" name="Google Shape;439;p11"/>
          <p:cNvCxnSpPr/>
          <p:nvPr/>
        </p:nvCxnSpPr>
        <p:spPr>
          <a:xfrm>
            <a:off x="1293341" y="2602071"/>
            <a:ext cx="16137088" cy="0"/>
          </a:xfrm>
          <a:prstGeom prst="straightConnector1">
            <a:avLst/>
          </a:prstGeom>
          <a:noFill/>
          <a:ln cap="rnd" cmpd="sng" w="76200">
            <a:solidFill>
              <a:srgbClr val="D9D9D9"/>
            </a:solidFill>
            <a:prstDash val="dot"/>
            <a:round/>
            <a:headEnd len="sm" w="sm" type="none"/>
            <a:tailEnd len="sm" w="sm" type="none"/>
          </a:ln>
        </p:spPr>
      </p:cxnSp>
      <p:sp>
        <p:nvSpPr>
          <p:cNvPr id="440" name="Google Shape;440;p11"/>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PROCESO DE COMPILACIÓN CRUZADA</a:t>
            </a:r>
            <a:endParaRPr b="0" i="0" sz="1400" u="none" cap="none" strike="noStrike">
              <a:solidFill>
                <a:srgbClr val="000000"/>
              </a:solidFill>
              <a:latin typeface="Arial"/>
              <a:ea typeface="Arial"/>
              <a:cs typeface="Arial"/>
              <a:sym typeface="Arial"/>
            </a:endParaRPr>
          </a:p>
        </p:txBody>
      </p:sp>
      <p:sp>
        <p:nvSpPr>
          <p:cNvPr id="441" name="Google Shape;441;p11"/>
          <p:cNvSpPr txBox="1"/>
          <p:nvPr/>
        </p:nvSpPr>
        <p:spPr>
          <a:xfrm>
            <a:off x="1184224" y="4167479"/>
            <a:ext cx="3532477" cy="3652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Se instalan las herramientas de compilación necesarias (como el compilador cruzado) y se configuran en el sistema host. Este paso implica especificar los caminos y las banderas necesarias para el compilador, dependiendo de la arquitectura del dispositivo objetivo.</a:t>
            </a:r>
            <a:endParaRPr b="0" i="0" sz="1400" u="none" cap="none" strike="noStrike">
              <a:solidFill>
                <a:srgbClr val="000000"/>
              </a:solidFill>
              <a:latin typeface="Arial"/>
              <a:ea typeface="Arial"/>
              <a:cs typeface="Arial"/>
              <a:sym typeface="Arial"/>
            </a:endParaRPr>
          </a:p>
        </p:txBody>
      </p:sp>
      <p:sp>
        <p:nvSpPr>
          <p:cNvPr id="442" name="Google Shape;442;p11"/>
          <p:cNvSpPr txBox="1"/>
          <p:nvPr/>
        </p:nvSpPr>
        <p:spPr>
          <a:xfrm>
            <a:off x="9607411" y="3822175"/>
            <a:ext cx="3238500" cy="27381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Se ejecuta el compilador cruzado, configurado con las banderas y opciones adecuadas, para generar un archivo binario ejecutable compatible con el dispositivo objetivo.</a:t>
            </a:r>
            <a:endParaRPr b="0" i="0" sz="1400" u="none" cap="none" strike="noStrike">
              <a:solidFill>
                <a:srgbClr val="000000"/>
              </a:solidFill>
              <a:latin typeface="Arial"/>
              <a:ea typeface="Arial"/>
              <a:cs typeface="Arial"/>
              <a:sym typeface="Arial"/>
            </a:endParaRPr>
          </a:p>
        </p:txBody>
      </p:sp>
      <p:sp>
        <p:nvSpPr>
          <p:cNvPr id="443" name="Google Shape;443;p11"/>
          <p:cNvSpPr txBox="1"/>
          <p:nvPr/>
        </p:nvSpPr>
        <p:spPr>
          <a:xfrm>
            <a:off x="5483325" y="4030416"/>
            <a:ext cx="3260134" cy="27381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1A0A33"/>
                </a:solidFill>
                <a:latin typeface="Montserrat"/>
                <a:ea typeface="Montserrat"/>
                <a:cs typeface="Montserrat"/>
                <a:sym typeface="Montserrat"/>
              </a:rPr>
              <a:t>El código se escribe en un lenguaje compatible (habitualmente C o C++), teniendo en cuenta las limitaciones del sistema embebido y optimizando para el tamaño y eficiencia del binario.</a:t>
            </a:r>
            <a:endParaRPr b="0" i="0" sz="1400" u="none" cap="none" strike="noStrike">
              <a:solidFill>
                <a:srgbClr val="000000"/>
              </a:solidFill>
              <a:latin typeface="Arial"/>
              <a:ea typeface="Arial"/>
              <a:cs typeface="Arial"/>
              <a:sym typeface="Arial"/>
            </a:endParaRPr>
          </a:p>
        </p:txBody>
      </p:sp>
      <p:sp>
        <p:nvSpPr>
          <p:cNvPr id="444" name="Google Shape;444;p11"/>
          <p:cNvSpPr txBox="1"/>
          <p:nvPr/>
        </p:nvSpPr>
        <p:spPr>
          <a:xfrm>
            <a:off x="13613326" y="3737681"/>
            <a:ext cx="3532477" cy="33477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0" i="0" lang="en-US" sz="1900" u="none" cap="none" strike="noStrike">
                <a:solidFill>
                  <a:srgbClr val="FFFFFF"/>
                </a:solidFill>
                <a:latin typeface="Montserrat"/>
                <a:ea typeface="Montserrat"/>
                <a:cs typeface="Montserrat"/>
                <a:sym typeface="Montserrat"/>
              </a:rPr>
              <a:t>Una vez generado el binario, se transfiere al dispositivo mediante USB, JTAG, o a través de un puerto de serie. Luego, se realizan pruebas para asegurar que el software funcione correctamente en el hardware de destino, y se depuran posibles errores</a:t>
            </a:r>
            <a:endParaRPr b="0" i="0" sz="1400" u="none" cap="none" strike="noStrike">
              <a:solidFill>
                <a:srgbClr val="000000"/>
              </a:solidFill>
              <a:latin typeface="Arial"/>
              <a:ea typeface="Arial"/>
              <a:cs typeface="Arial"/>
              <a:sym typeface="Arial"/>
            </a:endParaRPr>
          </a:p>
        </p:txBody>
      </p:sp>
      <p:sp>
        <p:nvSpPr>
          <p:cNvPr id="445" name="Google Shape;445;p11"/>
          <p:cNvSpPr txBox="1"/>
          <p:nvPr/>
        </p:nvSpPr>
        <p:spPr>
          <a:xfrm>
            <a:off x="1020303" y="3444946"/>
            <a:ext cx="3860321" cy="604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1A0A33"/>
                </a:solidFill>
                <a:latin typeface="Montserrat"/>
                <a:ea typeface="Montserrat"/>
                <a:cs typeface="Montserrat"/>
                <a:sym typeface="Montserrat"/>
              </a:rPr>
              <a:t>CONFIGURACIÓN DEL ENTORNO</a:t>
            </a:r>
            <a:endParaRPr b="0" i="0" sz="1400" u="none" cap="none" strike="noStrike">
              <a:solidFill>
                <a:srgbClr val="000000"/>
              </a:solidFill>
              <a:latin typeface="Arial"/>
              <a:ea typeface="Arial"/>
              <a:cs typeface="Arial"/>
              <a:sym typeface="Arial"/>
            </a:endParaRPr>
          </a:p>
        </p:txBody>
      </p:sp>
      <p:sp>
        <p:nvSpPr>
          <p:cNvPr id="446" name="Google Shape;446;p11"/>
          <p:cNvSpPr txBox="1"/>
          <p:nvPr/>
        </p:nvSpPr>
        <p:spPr>
          <a:xfrm>
            <a:off x="9291877" y="3318446"/>
            <a:ext cx="3860321" cy="2997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FFFFFF"/>
                </a:solidFill>
                <a:latin typeface="Montserrat"/>
                <a:ea typeface="Montserrat"/>
                <a:cs typeface="Montserrat"/>
                <a:sym typeface="Montserrat"/>
              </a:rPr>
              <a:t>COMPILACIÓN</a:t>
            </a:r>
            <a:endParaRPr b="0" i="0" sz="1400" u="none" cap="none" strike="noStrike">
              <a:solidFill>
                <a:srgbClr val="000000"/>
              </a:solidFill>
              <a:latin typeface="Arial"/>
              <a:ea typeface="Arial"/>
              <a:cs typeface="Arial"/>
              <a:sym typeface="Arial"/>
            </a:endParaRPr>
          </a:p>
        </p:txBody>
      </p:sp>
      <p:sp>
        <p:nvSpPr>
          <p:cNvPr id="447" name="Google Shape;447;p11"/>
          <p:cNvSpPr txBox="1"/>
          <p:nvPr/>
        </p:nvSpPr>
        <p:spPr>
          <a:xfrm>
            <a:off x="5437439" y="3306381"/>
            <a:ext cx="3306021" cy="604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1A0A33"/>
                </a:solidFill>
                <a:latin typeface="Montserrat"/>
                <a:ea typeface="Montserrat"/>
                <a:cs typeface="Montserrat"/>
                <a:sym typeface="Montserrat"/>
              </a:rPr>
              <a:t>DESARROLLO DE CÓDIGO</a:t>
            </a:r>
            <a:endParaRPr b="0" i="0" sz="1400" u="none" cap="none" strike="noStrike">
              <a:solidFill>
                <a:srgbClr val="000000"/>
              </a:solidFill>
              <a:latin typeface="Arial"/>
              <a:ea typeface="Arial"/>
              <a:cs typeface="Arial"/>
              <a:sym typeface="Arial"/>
            </a:endParaRPr>
          </a:p>
        </p:txBody>
      </p:sp>
      <p:sp>
        <p:nvSpPr>
          <p:cNvPr id="448" name="Google Shape;448;p11"/>
          <p:cNvSpPr txBox="1"/>
          <p:nvPr/>
        </p:nvSpPr>
        <p:spPr>
          <a:xfrm>
            <a:off x="13404611" y="3318446"/>
            <a:ext cx="3860321" cy="2997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900"/>
              <a:buFont typeface="Arial"/>
              <a:buNone/>
            </a:pPr>
            <a:r>
              <a:rPr b="1" i="0" lang="en-US" sz="1900" u="none" cap="none" strike="noStrike">
                <a:solidFill>
                  <a:srgbClr val="FFFFFF"/>
                </a:solidFill>
                <a:latin typeface="Montserrat"/>
                <a:ea typeface="Montserrat"/>
                <a:cs typeface="Montserrat"/>
                <a:sym typeface="Montserrat"/>
              </a:rPr>
              <a:t>CARGA Y PRUEBA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2" name="Shape 452"/>
        <p:cNvGrpSpPr/>
        <p:nvPr/>
      </p:nvGrpSpPr>
      <p:grpSpPr>
        <a:xfrm>
          <a:off x="0" y="0"/>
          <a:ext cx="0" cy="0"/>
          <a:chOff x="0" y="0"/>
          <a:chExt cx="0" cy="0"/>
        </a:xfrm>
      </p:grpSpPr>
      <p:sp>
        <p:nvSpPr>
          <p:cNvPr id="453" name="Google Shape;453;g35c6c580227_0_152"/>
          <p:cNvSpPr/>
          <p:nvPr/>
        </p:nvSpPr>
        <p:spPr>
          <a:xfrm>
            <a:off x="13038155" y="1028700"/>
            <a:ext cx="4221145" cy="5880549"/>
          </a:xfrm>
          <a:custGeom>
            <a:rect b="b" l="l" r="r" t="t"/>
            <a:pathLst>
              <a:path extrusionOk="0" h="5880549" w="4221145">
                <a:moveTo>
                  <a:pt x="0" y="0"/>
                </a:moveTo>
                <a:lnTo>
                  <a:pt x="4221145" y="0"/>
                </a:lnTo>
                <a:lnTo>
                  <a:pt x="4221145" y="5880549"/>
                </a:lnTo>
                <a:lnTo>
                  <a:pt x="0" y="5880549"/>
                </a:lnTo>
                <a:lnTo>
                  <a:pt x="0" y="0"/>
                </a:lnTo>
                <a:close/>
              </a:path>
            </a:pathLst>
          </a:custGeom>
          <a:blipFill rotWithShape="1">
            <a:blip r:embed="rId3">
              <a:alphaModFix/>
            </a:blip>
            <a:stretch>
              <a:fillRect b="0" l="-57128" r="-61360" t="0"/>
            </a:stretch>
          </a:blipFill>
          <a:ln>
            <a:noFill/>
          </a:ln>
        </p:spPr>
      </p:sp>
      <p:sp>
        <p:nvSpPr>
          <p:cNvPr id="454" name="Google Shape;454;g35c6c580227_0_152"/>
          <p:cNvSpPr/>
          <p:nvPr/>
        </p:nvSpPr>
        <p:spPr>
          <a:xfrm>
            <a:off x="8235169" y="1028700"/>
            <a:ext cx="4221145" cy="5852921"/>
          </a:xfrm>
          <a:custGeom>
            <a:rect b="b" l="l" r="r" t="t"/>
            <a:pathLst>
              <a:path extrusionOk="0" h="5852921" w="4221145">
                <a:moveTo>
                  <a:pt x="0" y="0"/>
                </a:moveTo>
                <a:lnTo>
                  <a:pt x="4221145" y="0"/>
                </a:lnTo>
                <a:lnTo>
                  <a:pt x="4221145" y="5852921"/>
                </a:lnTo>
                <a:lnTo>
                  <a:pt x="0" y="5852921"/>
                </a:lnTo>
                <a:lnTo>
                  <a:pt x="0" y="0"/>
                </a:lnTo>
                <a:close/>
              </a:path>
            </a:pathLst>
          </a:custGeom>
          <a:blipFill rotWithShape="1">
            <a:blip r:embed="rId4">
              <a:alphaModFix/>
            </a:blip>
            <a:stretch>
              <a:fillRect b="-87095" l="-129622" r="-436334" t="-133131"/>
            </a:stretch>
          </a:blipFill>
          <a:ln>
            <a:noFill/>
          </a:ln>
        </p:spPr>
      </p:sp>
      <p:grpSp>
        <p:nvGrpSpPr>
          <p:cNvPr id="455" name="Google Shape;455;g35c6c580227_0_152"/>
          <p:cNvGrpSpPr/>
          <p:nvPr/>
        </p:nvGrpSpPr>
        <p:grpSpPr>
          <a:xfrm>
            <a:off x="14662034" y="6422556"/>
            <a:ext cx="973409" cy="973409"/>
            <a:chOff x="0" y="0"/>
            <a:chExt cx="812800" cy="812800"/>
          </a:xfrm>
        </p:grpSpPr>
        <p:sp>
          <p:nvSpPr>
            <p:cNvPr id="456" name="Google Shape;456;g35c6c580227_0_1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g35c6c580227_0_15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8" name="Google Shape;458;g35c6c580227_0_152"/>
          <p:cNvGrpSpPr/>
          <p:nvPr/>
        </p:nvGrpSpPr>
        <p:grpSpPr>
          <a:xfrm>
            <a:off x="9859048" y="6394928"/>
            <a:ext cx="973409" cy="973409"/>
            <a:chOff x="0" y="0"/>
            <a:chExt cx="812800" cy="812800"/>
          </a:xfrm>
        </p:grpSpPr>
        <p:sp>
          <p:nvSpPr>
            <p:cNvPr id="459" name="Google Shape;459;g35c6c580227_0_1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5c6c580227_0_15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1" name="Google Shape;461;g35c6c580227_0_152"/>
          <p:cNvGrpSpPr/>
          <p:nvPr/>
        </p:nvGrpSpPr>
        <p:grpSpPr>
          <a:xfrm>
            <a:off x="1028700" y="6466580"/>
            <a:ext cx="4349599" cy="2380896"/>
            <a:chOff x="0" y="-19050"/>
            <a:chExt cx="876900" cy="480000"/>
          </a:xfrm>
        </p:grpSpPr>
        <p:sp>
          <p:nvSpPr>
            <p:cNvPr id="462" name="Google Shape;462;g35c6c580227_0_152"/>
            <p:cNvSpPr/>
            <p:nvPr/>
          </p:nvSpPr>
          <p:spPr>
            <a:xfrm>
              <a:off x="0" y="0"/>
              <a:ext cx="876777" cy="460946"/>
            </a:xfrm>
            <a:custGeom>
              <a:rect b="b" l="l" r="r" t="t"/>
              <a:pathLst>
                <a:path extrusionOk="0" h="460946" w="876777">
                  <a:moveTo>
                    <a:pt x="89009" y="0"/>
                  </a:moveTo>
                  <a:lnTo>
                    <a:pt x="787769" y="0"/>
                  </a:lnTo>
                  <a:cubicBezTo>
                    <a:pt x="836927" y="0"/>
                    <a:pt x="876777" y="39851"/>
                    <a:pt x="876777" y="89009"/>
                  </a:cubicBezTo>
                  <a:lnTo>
                    <a:pt x="876777" y="371937"/>
                  </a:lnTo>
                  <a:cubicBezTo>
                    <a:pt x="876777" y="421096"/>
                    <a:pt x="836927" y="460946"/>
                    <a:pt x="787769" y="460946"/>
                  </a:cubicBezTo>
                  <a:lnTo>
                    <a:pt x="89009" y="460946"/>
                  </a:lnTo>
                  <a:cubicBezTo>
                    <a:pt x="39851" y="460946"/>
                    <a:pt x="0" y="421096"/>
                    <a:pt x="0" y="371937"/>
                  </a:cubicBezTo>
                  <a:lnTo>
                    <a:pt x="0" y="89009"/>
                  </a:lnTo>
                  <a:cubicBezTo>
                    <a:pt x="0" y="39851"/>
                    <a:pt x="39851" y="0"/>
                    <a:pt x="8900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5c6c580227_0_152"/>
            <p:cNvSpPr txBox="1"/>
            <p:nvPr/>
          </p:nvSpPr>
          <p:spPr>
            <a:xfrm>
              <a:off x="0" y="-19050"/>
              <a:ext cx="876900" cy="480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4" name="Google Shape;464;g35c6c580227_0_152"/>
          <p:cNvSpPr/>
          <p:nvPr/>
        </p:nvSpPr>
        <p:spPr>
          <a:xfrm rot="-5400000">
            <a:off x="10079907" y="6667624"/>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5">
              <a:alphaModFix/>
            </a:blip>
            <a:stretch>
              <a:fillRect b="0" l="0" r="0" t="0"/>
            </a:stretch>
          </a:blipFill>
          <a:ln>
            <a:noFill/>
          </a:ln>
        </p:spPr>
      </p:sp>
      <p:sp>
        <p:nvSpPr>
          <p:cNvPr id="465" name="Google Shape;465;g35c6c580227_0_152"/>
          <p:cNvSpPr txBox="1"/>
          <p:nvPr/>
        </p:nvSpPr>
        <p:spPr>
          <a:xfrm>
            <a:off x="13038155" y="8156848"/>
            <a:ext cx="4557300" cy="2302800"/>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Permiten la construcción de aplicaciones distribuidas modulares y escalables.</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Facilitan la reutilización de servicios y recursos en diferentes partes de una red.</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66" name="Google Shape;466;g35c6c580227_0_152"/>
          <p:cNvSpPr txBox="1"/>
          <p:nvPr/>
        </p:nvSpPr>
        <p:spPr>
          <a:xfrm>
            <a:off x="8045646" y="8033023"/>
            <a:ext cx="4600200" cy="1962600"/>
          </a:xfrm>
          <a:prstGeom prst="rect">
            <a:avLst/>
          </a:prstGeom>
          <a:noFill/>
          <a:ln>
            <a:noFill/>
          </a:ln>
        </p:spPr>
        <p:txBody>
          <a:bodyPr anchorCtr="0" anchor="t" bIns="0" lIns="0" spcFirstLastPara="1" rIns="0" wrap="square" tIns="0">
            <a:spAutoFit/>
          </a:bodyPr>
          <a:lstStyle/>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cliente invoca una función local que, en realidad, envía una solicitud al servidor.</a:t>
            </a:r>
            <a:endParaRPr b="0" i="0" sz="1400" u="none" cap="none" strike="noStrike">
              <a:solidFill>
                <a:srgbClr val="000000"/>
              </a:solidFill>
              <a:latin typeface="Arial"/>
              <a:ea typeface="Arial"/>
              <a:cs typeface="Arial"/>
              <a:sym typeface="Arial"/>
            </a:endParaRPr>
          </a:p>
          <a:p>
            <a:pPr indent="-183516" lvl="1" marL="367032" marR="0" rtl="0" algn="l">
              <a:lnSpc>
                <a:spcPct val="130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servidor ejecuta la función solicitada y devuelve el resultado al cliente.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67" name="Google Shape;467;g35c6c580227_0_152"/>
          <p:cNvSpPr txBox="1"/>
          <p:nvPr/>
        </p:nvSpPr>
        <p:spPr>
          <a:xfrm>
            <a:off x="13414558" y="7502164"/>
            <a:ext cx="3468300" cy="601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IMPORTANCIA EN LOS SISTEMAS DISTRIBUIDOS</a:t>
            </a:r>
            <a:endParaRPr b="0" i="0" sz="1400" u="none" cap="none" strike="noStrike">
              <a:solidFill>
                <a:srgbClr val="000000"/>
              </a:solidFill>
              <a:latin typeface="Arial"/>
              <a:ea typeface="Arial"/>
              <a:cs typeface="Arial"/>
              <a:sym typeface="Arial"/>
            </a:endParaRPr>
          </a:p>
        </p:txBody>
      </p:sp>
      <p:sp>
        <p:nvSpPr>
          <p:cNvPr id="468" name="Google Shape;468;g35c6c580227_0_152"/>
          <p:cNvSpPr txBox="1"/>
          <p:nvPr/>
        </p:nvSpPr>
        <p:spPr>
          <a:xfrm>
            <a:off x="8611572" y="7612647"/>
            <a:ext cx="3468300" cy="261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¿CÓMO FUNCIONA?</a:t>
            </a:r>
            <a:endParaRPr b="0" i="0" sz="1400" u="none" cap="none" strike="noStrike">
              <a:solidFill>
                <a:srgbClr val="000000"/>
              </a:solidFill>
              <a:latin typeface="Arial"/>
              <a:ea typeface="Arial"/>
              <a:cs typeface="Arial"/>
              <a:sym typeface="Arial"/>
            </a:endParaRPr>
          </a:p>
        </p:txBody>
      </p:sp>
      <p:sp>
        <p:nvSpPr>
          <p:cNvPr id="469" name="Google Shape;469;g35c6c580227_0_152"/>
          <p:cNvSpPr txBox="1"/>
          <p:nvPr/>
        </p:nvSpPr>
        <p:spPr>
          <a:xfrm>
            <a:off x="1028700" y="1028613"/>
            <a:ext cx="6625500" cy="221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4200"/>
              <a:buFont typeface="Arial"/>
              <a:buNone/>
            </a:pPr>
            <a:r>
              <a:rPr b="0" i="0" lang="en-US" sz="4200" u="none" cap="none" strike="noStrike">
                <a:solidFill>
                  <a:srgbClr val="FFFFFF"/>
                </a:solidFill>
                <a:latin typeface="Arial"/>
                <a:ea typeface="Arial"/>
                <a:cs typeface="Arial"/>
                <a:sym typeface="Arial"/>
              </a:rPr>
              <a:t>LLAMADAS A PROCEDIMIENTOS REMOTOS (</a:t>
            </a:r>
            <a:r>
              <a:rPr b="0" i="0" lang="en-US" sz="4200" u="none" cap="none" strike="noStrike">
                <a:solidFill>
                  <a:srgbClr val="ACFDDB"/>
                </a:solidFill>
                <a:latin typeface="Arial"/>
                <a:ea typeface="Arial"/>
                <a:cs typeface="Arial"/>
                <a:sym typeface="Arial"/>
              </a:rPr>
              <a:t>RPC</a:t>
            </a:r>
            <a:r>
              <a:rPr b="0" i="0" lang="en-US" sz="4200" u="none" cap="none" strike="noStrike">
                <a:solidFill>
                  <a:srgbClr val="FFFFFF"/>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70" name="Google Shape;470;g35c6c580227_0_152"/>
          <p:cNvSpPr txBox="1"/>
          <p:nvPr/>
        </p:nvSpPr>
        <p:spPr>
          <a:xfrm>
            <a:off x="1028700" y="3334060"/>
            <a:ext cx="5698500" cy="2302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Las Llamadas a Procedimientos Remotos (RPC, por sus siglas en inglés) son un mecanismo que permite a un programa ejecutar una función o procedimiento en una </a:t>
            </a:r>
            <a:r>
              <a:rPr b="0" i="0" lang="en-US" sz="1700" u="none" cap="none" strike="noStrike">
                <a:solidFill>
                  <a:srgbClr val="ACFDDB"/>
                </a:solidFill>
                <a:latin typeface="Montserrat"/>
                <a:ea typeface="Montserrat"/>
                <a:cs typeface="Montserrat"/>
                <a:sym typeface="Montserrat"/>
              </a:rPr>
              <a:t>computadora remota </a:t>
            </a:r>
            <a:r>
              <a:rPr b="0" i="0" lang="en-US" sz="1700" u="none" cap="none" strike="noStrike">
                <a:solidFill>
                  <a:srgbClr val="FFFFFF"/>
                </a:solidFill>
                <a:latin typeface="Montserrat"/>
                <a:ea typeface="Montserrat"/>
                <a:cs typeface="Montserrat"/>
                <a:sym typeface="Montserrat"/>
              </a:rPr>
              <a:t>como si fuera una llamada local. Este enfoque facilita la comunicación y la colaboración entre diferentes sistemas dentro de un entorno distribuido.</a:t>
            </a:r>
            <a:endParaRPr b="0" i="0" sz="1400" u="none" cap="none" strike="noStrike">
              <a:solidFill>
                <a:srgbClr val="000000"/>
              </a:solidFill>
              <a:latin typeface="Arial"/>
              <a:ea typeface="Arial"/>
              <a:cs typeface="Arial"/>
              <a:sym typeface="Arial"/>
            </a:endParaRPr>
          </a:p>
        </p:txBody>
      </p:sp>
      <p:sp>
        <p:nvSpPr>
          <p:cNvPr id="471" name="Google Shape;471;g35c6c580227_0_152"/>
          <p:cNvSpPr txBox="1"/>
          <p:nvPr/>
        </p:nvSpPr>
        <p:spPr>
          <a:xfrm>
            <a:off x="1116923" y="7137547"/>
            <a:ext cx="4536900" cy="1800300"/>
          </a:xfrm>
          <a:prstGeom prst="rect">
            <a:avLst/>
          </a:prstGeom>
          <a:noFill/>
          <a:ln>
            <a:noFill/>
          </a:ln>
        </p:spPr>
        <p:txBody>
          <a:bodyPr anchorCtr="0" anchor="t" bIns="0" lIns="0" spcFirstLastPara="1" rIns="0" wrap="square" tIns="0">
            <a:spAutoFit/>
          </a:bodyPr>
          <a:lstStyle/>
          <a:p>
            <a:pPr indent="-183516" lvl="1" marL="367032" marR="0" rtl="0" algn="l">
              <a:lnSpc>
                <a:spcPct val="147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Simplificar la interacción entre sistemas distribuidos.</a:t>
            </a:r>
            <a:endParaRPr b="0" i="0" sz="1400" u="none" cap="none" strike="noStrike">
              <a:solidFill>
                <a:srgbClr val="000000"/>
              </a:solidFill>
              <a:latin typeface="Arial"/>
              <a:ea typeface="Arial"/>
              <a:cs typeface="Arial"/>
              <a:sym typeface="Arial"/>
            </a:endParaRPr>
          </a:p>
          <a:p>
            <a:pPr indent="-183516" lvl="1" marL="367032" marR="0" rtl="0" algn="l">
              <a:lnSpc>
                <a:spcPct val="147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Ocultar la complejidad de la comunicación de red al programador.</a:t>
            </a:r>
            <a:endParaRPr b="0" i="0" sz="1400" u="none" cap="none" strike="noStrike">
              <a:solidFill>
                <a:srgbClr val="000000"/>
              </a:solidFill>
              <a:latin typeface="Arial"/>
              <a:ea typeface="Arial"/>
              <a:cs typeface="Arial"/>
              <a:sym typeface="Arial"/>
            </a:endParaRPr>
          </a:p>
          <a:p>
            <a:pPr indent="0" lvl="0" marL="0" marR="0" rtl="0" algn="l">
              <a:lnSpc>
                <a:spcPct val="147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472" name="Google Shape;472;g35c6c580227_0_152"/>
          <p:cNvSpPr/>
          <p:nvPr/>
        </p:nvSpPr>
        <p:spPr>
          <a:xfrm rot="-5400000">
            <a:off x="14882893" y="6695252"/>
            <a:ext cx="531669" cy="427994"/>
          </a:xfrm>
          <a:custGeom>
            <a:rect b="b" l="l" r="r" t="t"/>
            <a:pathLst>
              <a:path extrusionOk="0" h="427994" w="531669">
                <a:moveTo>
                  <a:pt x="0" y="0"/>
                </a:moveTo>
                <a:lnTo>
                  <a:pt x="531669" y="0"/>
                </a:lnTo>
                <a:lnTo>
                  <a:pt x="531669" y="427994"/>
                </a:lnTo>
                <a:lnTo>
                  <a:pt x="0" y="427994"/>
                </a:lnTo>
                <a:lnTo>
                  <a:pt x="0" y="0"/>
                </a:lnTo>
                <a:close/>
              </a:path>
            </a:pathLst>
          </a:custGeom>
          <a:blipFill rotWithShape="1">
            <a:blip r:embed="rId6">
              <a:alphaModFix/>
            </a:blip>
            <a:stretch>
              <a:fillRect b="0" l="0" r="0" t="0"/>
            </a:stretch>
          </a:blipFill>
          <a:ln>
            <a:noFill/>
          </a:ln>
        </p:spPr>
      </p:sp>
      <p:sp>
        <p:nvSpPr>
          <p:cNvPr id="473" name="Google Shape;473;g35c6c580227_0_152"/>
          <p:cNvSpPr txBox="1"/>
          <p:nvPr/>
        </p:nvSpPr>
        <p:spPr>
          <a:xfrm>
            <a:off x="1116923" y="6721895"/>
            <a:ext cx="3468300" cy="261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0" lang="en-US" sz="1700" u="none" cap="none" strike="noStrike">
                <a:solidFill>
                  <a:srgbClr val="FFFFFF"/>
                </a:solidFill>
                <a:latin typeface="Montserrat"/>
                <a:ea typeface="Montserrat"/>
                <a:cs typeface="Montserrat"/>
                <a:sym typeface="Montserrat"/>
              </a:rPr>
              <a:t>OBJETIVO DE LAS RPC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7" name="Shape 477"/>
        <p:cNvGrpSpPr/>
        <p:nvPr/>
      </p:nvGrpSpPr>
      <p:grpSpPr>
        <a:xfrm>
          <a:off x="0" y="0"/>
          <a:ext cx="0" cy="0"/>
          <a:chOff x="0" y="0"/>
          <a:chExt cx="0" cy="0"/>
        </a:xfrm>
      </p:grpSpPr>
      <p:cxnSp>
        <p:nvCxnSpPr>
          <p:cNvPr id="478" name="Google Shape;478;g35c6c580227_0_176"/>
          <p:cNvCxnSpPr/>
          <p:nvPr/>
        </p:nvCxnSpPr>
        <p:spPr>
          <a:xfrm>
            <a:off x="15178880" y="2585791"/>
            <a:ext cx="0" cy="2476500"/>
          </a:xfrm>
          <a:prstGeom prst="straightConnector1">
            <a:avLst/>
          </a:prstGeom>
          <a:noFill/>
          <a:ln cap="flat" cmpd="sng" w="38100">
            <a:solidFill>
              <a:srgbClr val="675688"/>
            </a:solidFill>
            <a:prstDash val="solid"/>
            <a:round/>
            <a:headEnd len="sm" w="sm" type="none"/>
            <a:tailEnd len="lg" w="lg" type="oval"/>
          </a:ln>
        </p:spPr>
      </p:cxnSp>
      <p:grpSp>
        <p:nvGrpSpPr>
          <p:cNvPr id="479" name="Google Shape;479;g35c6c580227_0_176"/>
          <p:cNvGrpSpPr/>
          <p:nvPr/>
        </p:nvGrpSpPr>
        <p:grpSpPr>
          <a:xfrm>
            <a:off x="14024907" y="2250088"/>
            <a:ext cx="2307946" cy="2307946"/>
            <a:chOff x="0" y="0"/>
            <a:chExt cx="812800" cy="812800"/>
          </a:xfrm>
        </p:grpSpPr>
        <p:sp>
          <p:nvSpPr>
            <p:cNvPr id="480" name="Google Shape;48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2" name="Google Shape;482;g35c6c580227_0_176"/>
          <p:cNvGrpSpPr/>
          <p:nvPr/>
        </p:nvGrpSpPr>
        <p:grpSpPr>
          <a:xfrm>
            <a:off x="14813454" y="1884662"/>
            <a:ext cx="730870" cy="730870"/>
            <a:chOff x="0" y="0"/>
            <a:chExt cx="812800" cy="812800"/>
          </a:xfrm>
        </p:grpSpPr>
        <p:sp>
          <p:nvSpPr>
            <p:cNvPr id="483" name="Google Shape;483;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5" name="Google Shape;485;g35c6c580227_0_176"/>
          <p:cNvGrpSpPr/>
          <p:nvPr/>
        </p:nvGrpSpPr>
        <p:grpSpPr>
          <a:xfrm>
            <a:off x="1518507" y="2250088"/>
            <a:ext cx="2307946" cy="2307946"/>
            <a:chOff x="0" y="0"/>
            <a:chExt cx="812800" cy="812800"/>
          </a:xfrm>
        </p:grpSpPr>
        <p:sp>
          <p:nvSpPr>
            <p:cNvPr id="486" name="Google Shape;486;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88" name="Google Shape;488;g35c6c580227_0_176"/>
          <p:cNvCxnSpPr/>
          <p:nvPr/>
        </p:nvCxnSpPr>
        <p:spPr>
          <a:xfrm>
            <a:off x="2672479" y="2585791"/>
            <a:ext cx="0" cy="2476500"/>
          </a:xfrm>
          <a:prstGeom prst="straightConnector1">
            <a:avLst/>
          </a:prstGeom>
          <a:noFill/>
          <a:ln cap="flat" cmpd="sng" w="38100">
            <a:solidFill>
              <a:srgbClr val="5CD9C1"/>
            </a:solidFill>
            <a:prstDash val="solid"/>
            <a:round/>
            <a:headEnd len="sm" w="sm" type="none"/>
            <a:tailEnd len="lg" w="lg" type="oval"/>
          </a:ln>
        </p:spPr>
      </p:cxnSp>
      <p:grpSp>
        <p:nvGrpSpPr>
          <p:cNvPr id="489" name="Google Shape;489;g35c6c580227_0_176"/>
          <p:cNvGrpSpPr/>
          <p:nvPr/>
        </p:nvGrpSpPr>
        <p:grpSpPr>
          <a:xfrm>
            <a:off x="2307053" y="1884662"/>
            <a:ext cx="730870" cy="730870"/>
            <a:chOff x="0" y="0"/>
            <a:chExt cx="812800" cy="812800"/>
          </a:xfrm>
        </p:grpSpPr>
        <p:sp>
          <p:nvSpPr>
            <p:cNvPr id="490" name="Google Shape;49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2" name="Google Shape;492;g35c6c580227_0_176"/>
          <p:cNvGrpSpPr/>
          <p:nvPr/>
        </p:nvGrpSpPr>
        <p:grpSpPr>
          <a:xfrm>
            <a:off x="5617027" y="2250088"/>
            <a:ext cx="2307946" cy="2307946"/>
            <a:chOff x="0" y="0"/>
            <a:chExt cx="812800" cy="812800"/>
          </a:xfrm>
        </p:grpSpPr>
        <p:sp>
          <p:nvSpPr>
            <p:cNvPr id="493" name="Google Shape;493;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95" name="Google Shape;495;g35c6c580227_0_176"/>
          <p:cNvCxnSpPr/>
          <p:nvPr/>
        </p:nvCxnSpPr>
        <p:spPr>
          <a:xfrm>
            <a:off x="6770999" y="2585791"/>
            <a:ext cx="0" cy="2476500"/>
          </a:xfrm>
          <a:prstGeom prst="straightConnector1">
            <a:avLst/>
          </a:prstGeom>
          <a:noFill/>
          <a:ln cap="flat" cmpd="sng" w="38100">
            <a:solidFill>
              <a:srgbClr val="ACFDDB"/>
            </a:solidFill>
            <a:prstDash val="solid"/>
            <a:round/>
            <a:headEnd len="sm" w="sm" type="none"/>
            <a:tailEnd len="lg" w="lg" type="oval"/>
          </a:ln>
        </p:spPr>
      </p:cxnSp>
      <p:grpSp>
        <p:nvGrpSpPr>
          <p:cNvPr id="496" name="Google Shape;496;g35c6c580227_0_176"/>
          <p:cNvGrpSpPr/>
          <p:nvPr/>
        </p:nvGrpSpPr>
        <p:grpSpPr>
          <a:xfrm>
            <a:off x="6405573" y="1884662"/>
            <a:ext cx="730870" cy="730870"/>
            <a:chOff x="0" y="0"/>
            <a:chExt cx="812800" cy="812800"/>
          </a:xfrm>
        </p:grpSpPr>
        <p:sp>
          <p:nvSpPr>
            <p:cNvPr id="497" name="Google Shape;497;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9" name="Google Shape;499;g35c6c580227_0_176"/>
          <p:cNvGrpSpPr/>
          <p:nvPr/>
        </p:nvGrpSpPr>
        <p:grpSpPr>
          <a:xfrm>
            <a:off x="9851467" y="2250088"/>
            <a:ext cx="2307946" cy="2307946"/>
            <a:chOff x="0" y="0"/>
            <a:chExt cx="812800" cy="812800"/>
          </a:xfrm>
        </p:grpSpPr>
        <p:sp>
          <p:nvSpPr>
            <p:cNvPr id="500" name="Google Shape;500;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2" name="Google Shape;502;g35c6c580227_0_176"/>
          <p:cNvCxnSpPr/>
          <p:nvPr/>
        </p:nvCxnSpPr>
        <p:spPr>
          <a:xfrm>
            <a:off x="11005439" y="2585791"/>
            <a:ext cx="0" cy="2476500"/>
          </a:xfrm>
          <a:prstGeom prst="straightConnector1">
            <a:avLst/>
          </a:prstGeom>
          <a:noFill/>
          <a:ln cap="flat" cmpd="sng" w="38100">
            <a:solidFill>
              <a:srgbClr val="B084CC"/>
            </a:solidFill>
            <a:prstDash val="solid"/>
            <a:round/>
            <a:headEnd len="sm" w="sm" type="none"/>
            <a:tailEnd len="lg" w="lg" type="oval"/>
          </a:ln>
        </p:spPr>
      </p:cxnSp>
      <p:grpSp>
        <p:nvGrpSpPr>
          <p:cNvPr id="503" name="Google Shape;503;g35c6c580227_0_176"/>
          <p:cNvGrpSpPr/>
          <p:nvPr/>
        </p:nvGrpSpPr>
        <p:grpSpPr>
          <a:xfrm>
            <a:off x="10640013" y="1884662"/>
            <a:ext cx="730870" cy="730870"/>
            <a:chOff x="0" y="0"/>
            <a:chExt cx="812800" cy="812800"/>
          </a:xfrm>
        </p:grpSpPr>
        <p:sp>
          <p:nvSpPr>
            <p:cNvPr id="504" name="Google Shape;504;g35c6c580227_0_17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g35c6c580227_0_176"/>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06" name="Google Shape;506;g35c6c580227_0_176"/>
          <p:cNvCxnSpPr/>
          <p:nvPr/>
        </p:nvCxnSpPr>
        <p:spPr>
          <a:xfrm rot="10800000">
            <a:off x="5012143" y="2937536"/>
            <a:ext cx="11400" cy="4785900"/>
          </a:xfrm>
          <a:prstGeom prst="straightConnector1">
            <a:avLst/>
          </a:prstGeom>
          <a:noFill/>
          <a:ln cap="flat" cmpd="sng" w="9525">
            <a:solidFill>
              <a:srgbClr val="FFFFFF"/>
            </a:solidFill>
            <a:prstDash val="lgDash"/>
            <a:round/>
            <a:headEnd len="sm" w="sm" type="none"/>
            <a:tailEnd len="sm" w="sm" type="none"/>
          </a:ln>
        </p:spPr>
      </p:cxnSp>
      <p:cxnSp>
        <p:nvCxnSpPr>
          <p:cNvPr id="507" name="Google Shape;507;g35c6c580227_0_176"/>
          <p:cNvCxnSpPr/>
          <p:nvPr/>
        </p:nvCxnSpPr>
        <p:spPr>
          <a:xfrm rot="10800000">
            <a:off x="8900896" y="2937536"/>
            <a:ext cx="29700" cy="4785900"/>
          </a:xfrm>
          <a:prstGeom prst="straightConnector1">
            <a:avLst/>
          </a:prstGeom>
          <a:noFill/>
          <a:ln cap="flat" cmpd="sng" w="9525">
            <a:solidFill>
              <a:srgbClr val="FFFFFF"/>
            </a:solidFill>
            <a:prstDash val="lgDash"/>
            <a:round/>
            <a:headEnd len="sm" w="sm" type="none"/>
            <a:tailEnd len="sm" w="sm" type="none"/>
          </a:ln>
        </p:spPr>
      </p:cxnSp>
      <p:cxnSp>
        <p:nvCxnSpPr>
          <p:cNvPr id="508" name="Google Shape;508;g35c6c580227_0_176"/>
          <p:cNvCxnSpPr/>
          <p:nvPr/>
        </p:nvCxnSpPr>
        <p:spPr>
          <a:xfrm flipH="1" rot="10800000">
            <a:off x="13118738" y="2937309"/>
            <a:ext cx="27300" cy="4771800"/>
          </a:xfrm>
          <a:prstGeom prst="straightConnector1">
            <a:avLst/>
          </a:prstGeom>
          <a:noFill/>
          <a:ln cap="flat" cmpd="sng" w="9525">
            <a:solidFill>
              <a:srgbClr val="FFFFFF"/>
            </a:solidFill>
            <a:prstDash val="lgDash"/>
            <a:round/>
            <a:headEnd len="sm" w="sm" type="none"/>
            <a:tailEnd len="sm" w="sm" type="none"/>
          </a:ln>
        </p:spPr>
      </p:cxnSp>
      <p:sp>
        <p:nvSpPr>
          <p:cNvPr id="509" name="Google Shape;509;g35c6c580227_0_176"/>
          <p:cNvSpPr/>
          <p:nvPr/>
        </p:nvSpPr>
        <p:spPr>
          <a:xfrm>
            <a:off x="10116458" y="2792901"/>
            <a:ext cx="1852094" cy="1521120"/>
          </a:xfrm>
          <a:custGeom>
            <a:rect b="b" l="l" r="r" t="t"/>
            <a:pathLst>
              <a:path extrusionOk="0" h="1521120" w="1852094">
                <a:moveTo>
                  <a:pt x="0" y="0"/>
                </a:moveTo>
                <a:lnTo>
                  <a:pt x="1852095" y="0"/>
                </a:lnTo>
                <a:lnTo>
                  <a:pt x="1852095" y="1521120"/>
                </a:lnTo>
                <a:lnTo>
                  <a:pt x="0" y="1521120"/>
                </a:lnTo>
                <a:lnTo>
                  <a:pt x="0" y="0"/>
                </a:lnTo>
                <a:close/>
              </a:path>
            </a:pathLst>
          </a:custGeom>
          <a:blipFill rotWithShape="1">
            <a:blip r:embed="rId3">
              <a:alphaModFix/>
            </a:blip>
            <a:stretch>
              <a:fillRect b="0" l="0" r="0" t="0"/>
            </a:stretch>
          </a:blipFill>
          <a:ln>
            <a:noFill/>
          </a:ln>
        </p:spPr>
      </p:sp>
      <p:sp>
        <p:nvSpPr>
          <p:cNvPr id="510" name="Google Shape;510;g35c6c580227_0_176"/>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FUNCIONAMIENTO BÁSICO DE RPC</a:t>
            </a:r>
            <a:endParaRPr b="0" i="0" sz="1400" u="none" cap="none" strike="noStrike">
              <a:solidFill>
                <a:srgbClr val="000000"/>
              </a:solidFill>
              <a:latin typeface="Arial"/>
              <a:ea typeface="Arial"/>
              <a:cs typeface="Arial"/>
              <a:sym typeface="Arial"/>
            </a:endParaRPr>
          </a:p>
        </p:txBody>
      </p:sp>
      <p:sp>
        <p:nvSpPr>
          <p:cNvPr id="511" name="Google Shape;511;g35c6c580227_0_176"/>
          <p:cNvSpPr txBox="1"/>
          <p:nvPr/>
        </p:nvSpPr>
        <p:spPr>
          <a:xfrm>
            <a:off x="14888781"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482B66"/>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
        <p:nvSpPr>
          <p:cNvPr id="512" name="Google Shape;512;g35c6c580227_0_176"/>
          <p:cNvSpPr txBox="1"/>
          <p:nvPr/>
        </p:nvSpPr>
        <p:spPr>
          <a:xfrm>
            <a:off x="13532590" y="5122304"/>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SERVIDOR PROCESA LA SOLICITUD</a:t>
            </a:r>
            <a:endParaRPr b="0" i="0" sz="1400" u="none" cap="none" strike="noStrike">
              <a:solidFill>
                <a:srgbClr val="000000"/>
              </a:solidFill>
              <a:latin typeface="Arial"/>
              <a:ea typeface="Arial"/>
              <a:cs typeface="Arial"/>
              <a:sym typeface="Arial"/>
            </a:endParaRPr>
          </a:p>
        </p:txBody>
      </p:sp>
      <p:sp>
        <p:nvSpPr>
          <p:cNvPr id="513" name="Google Shape;513;g35c6c580227_0_176"/>
          <p:cNvSpPr txBox="1"/>
          <p:nvPr/>
        </p:nvSpPr>
        <p:spPr>
          <a:xfrm>
            <a:off x="815296" y="6056118"/>
            <a:ext cx="3955500" cy="2014800"/>
          </a:xfrm>
          <a:prstGeom prst="rect">
            <a:avLst/>
          </a:prstGeom>
          <a:noFill/>
          <a:ln>
            <a:noFill/>
          </a:ln>
        </p:spPr>
        <p:txBody>
          <a:bodyPr anchorCtr="0" anchor="t" bIns="0" lIns="0" spcFirstLastPara="1" rIns="0" wrap="square" tIns="0">
            <a:spAutoFit/>
          </a:bodyPr>
          <a:lstStyle/>
          <a:p>
            <a:pPr indent="-183516" lvl="1" marL="367032" marR="0" rtl="0" algn="l">
              <a:lnSpc>
                <a:spcPct val="134000"/>
              </a:lnSpc>
              <a:spcBef>
                <a:spcPts val="0"/>
              </a:spcBef>
              <a:spcAft>
                <a:spcPts val="0"/>
              </a:spcAft>
              <a:buClr>
                <a:srgbClr val="FFFFFF"/>
              </a:buClr>
              <a:buSzPts val="1700"/>
              <a:buFont typeface="Arial"/>
              <a:buChar char="•"/>
            </a:pPr>
            <a:r>
              <a:rPr b="0" i="0" lang="en-US" sz="1700" u="none" cap="none" strike="noStrike">
                <a:solidFill>
                  <a:srgbClr val="FFFFFF"/>
                </a:solidFill>
                <a:latin typeface="Montserrat"/>
                <a:ea typeface="Montserrat"/>
                <a:cs typeface="Montserrat"/>
                <a:sym typeface="Montserrat"/>
              </a:rPr>
              <a:t>El cliente invoca una función local que actúa como un proxy.</a:t>
            </a:r>
            <a:endParaRPr b="0" i="0" sz="1400" u="none" cap="none" strike="noStrike">
              <a:solidFill>
                <a:srgbClr val="000000"/>
              </a:solidFill>
              <a:latin typeface="Arial"/>
              <a:ea typeface="Arial"/>
              <a:cs typeface="Arial"/>
              <a:sym typeface="Arial"/>
            </a:endParaRPr>
          </a:p>
          <a:p>
            <a:pPr indent="-183516" lvl="1" marL="367032" marR="0" rtl="0" algn="l">
              <a:lnSpc>
                <a:spcPct val="134000"/>
              </a:lnSpc>
              <a:spcBef>
                <a:spcPts val="0"/>
              </a:spcBef>
              <a:spcAft>
                <a:spcPts val="0"/>
              </a:spcAft>
              <a:buClr>
                <a:srgbClr val="FFFFFF"/>
              </a:buClr>
              <a:buSzPts val="1700"/>
              <a:buFont typeface="Arial"/>
              <a:buChar char="•"/>
            </a:pPr>
            <a:r>
              <a:rPr b="1" i="1" lang="en-US" sz="1700" u="none" cap="none" strike="noStrike">
                <a:solidFill>
                  <a:srgbClr val="FFFFFF"/>
                </a:solidFill>
                <a:latin typeface="Montserrat"/>
                <a:ea typeface="Montserrat"/>
                <a:cs typeface="Montserrat"/>
                <a:sym typeface="Montserrat"/>
              </a:rPr>
              <a:t>Stub </a:t>
            </a:r>
            <a:r>
              <a:rPr b="1" i="0" lang="en-US" sz="1700" u="none" cap="none" strike="noStrike">
                <a:solidFill>
                  <a:srgbClr val="FFFFFF"/>
                </a:solidFill>
                <a:latin typeface="Montserrat"/>
                <a:ea typeface="Montserrat"/>
                <a:cs typeface="Montserrat"/>
                <a:sym typeface="Montserrat"/>
              </a:rPr>
              <a:t>del Cliente</a:t>
            </a:r>
            <a:r>
              <a:rPr b="0" i="0" lang="en-US" sz="1700" u="none" cap="none" strike="noStrike">
                <a:solidFill>
                  <a:srgbClr val="FFFFFF"/>
                </a:solidFill>
                <a:latin typeface="Montserrat"/>
                <a:ea typeface="Montserrat"/>
                <a:cs typeface="Montserrat"/>
                <a:sym typeface="Montserrat"/>
              </a:rPr>
              <a:t>: Una interfaz que prepara la solicitud para enviarla al servidor.</a:t>
            </a:r>
            <a:endParaRPr b="0" i="0" sz="1400" u="none" cap="none" strike="noStrike">
              <a:solidFill>
                <a:srgbClr val="000000"/>
              </a:solidFill>
              <a:latin typeface="Arial"/>
              <a:ea typeface="Arial"/>
              <a:cs typeface="Arial"/>
              <a:sym typeface="Arial"/>
            </a:endParaRPr>
          </a:p>
          <a:p>
            <a:pPr indent="0" lvl="0" marL="0" marR="0" rtl="0" algn="l">
              <a:lnSpc>
                <a:spcPct val="134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514" name="Google Shape;514;g35c6c580227_0_176"/>
          <p:cNvSpPr txBox="1"/>
          <p:nvPr/>
        </p:nvSpPr>
        <p:spPr>
          <a:xfrm>
            <a:off x="943100" y="5271651"/>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CLIENTE HACE UNA SOLICITUD</a:t>
            </a:r>
            <a:endParaRPr b="0" i="0" sz="1400" u="none" cap="none" strike="noStrike">
              <a:solidFill>
                <a:srgbClr val="000000"/>
              </a:solidFill>
              <a:latin typeface="Arial"/>
              <a:ea typeface="Arial"/>
              <a:cs typeface="Arial"/>
              <a:sym typeface="Arial"/>
            </a:endParaRPr>
          </a:p>
        </p:txBody>
      </p:sp>
      <p:sp>
        <p:nvSpPr>
          <p:cNvPr id="515" name="Google Shape;515;g35c6c580227_0_176"/>
          <p:cNvSpPr txBox="1"/>
          <p:nvPr/>
        </p:nvSpPr>
        <p:spPr>
          <a:xfrm>
            <a:off x="2382380"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516" name="Google Shape;516;g35c6c580227_0_176"/>
          <p:cNvSpPr txBox="1"/>
          <p:nvPr/>
        </p:nvSpPr>
        <p:spPr>
          <a:xfrm>
            <a:off x="5023543" y="5284229"/>
            <a:ext cx="37488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MARSHALLING</a:t>
            </a:r>
            <a:endParaRPr b="0" i="0" sz="1400" u="none" cap="none" strike="noStrike">
              <a:solidFill>
                <a:srgbClr val="000000"/>
              </a:solidFill>
              <a:latin typeface="Arial"/>
              <a:ea typeface="Arial"/>
              <a:cs typeface="Arial"/>
              <a:sym typeface="Arial"/>
            </a:endParaRPr>
          </a:p>
        </p:txBody>
      </p:sp>
      <p:sp>
        <p:nvSpPr>
          <p:cNvPr id="517" name="Google Shape;517;g35c6c580227_0_176"/>
          <p:cNvSpPr txBox="1"/>
          <p:nvPr/>
        </p:nvSpPr>
        <p:spPr>
          <a:xfrm>
            <a:off x="6480900"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518" name="Google Shape;518;g35c6c580227_0_176"/>
          <p:cNvSpPr txBox="1"/>
          <p:nvPr/>
        </p:nvSpPr>
        <p:spPr>
          <a:xfrm>
            <a:off x="9284950" y="5122304"/>
            <a:ext cx="3468300" cy="7014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TRANSMISIÓN DE LA SOLICITUD</a:t>
            </a:r>
            <a:endParaRPr b="0" i="0" sz="1400" u="none" cap="none" strike="noStrike">
              <a:solidFill>
                <a:srgbClr val="000000"/>
              </a:solidFill>
              <a:latin typeface="Arial"/>
              <a:ea typeface="Arial"/>
              <a:cs typeface="Arial"/>
              <a:sym typeface="Arial"/>
            </a:endParaRPr>
          </a:p>
        </p:txBody>
      </p:sp>
      <p:sp>
        <p:nvSpPr>
          <p:cNvPr id="519" name="Google Shape;519;g35c6c580227_0_176"/>
          <p:cNvSpPr txBox="1"/>
          <p:nvPr/>
        </p:nvSpPr>
        <p:spPr>
          <a:xfrm>
            <a:off x="10715341" y="2050269"/>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568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520" name="Google Shape;520;g35c6c580227_0_176"/>
          <p:cNvSpPr txBox="1"/>
          <p:nvPr/>
        </p:nvSpPr>
        <p:spPr>
          <a:xfrm>
            <a:off x="5106445" y="5822628"/>
            <a:ext cx="3582900" cy="1041300"/>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Serialización de los parámetros de la función para su transmisión a través de la red.</a:t>
            </a:r>
            <a:endParaRPr b="0" i="0" sz="1400" u="none" cap="none" strike="noStrike">
              <a:solidFill>
                <a:srgbClr val="000000"/>
              </a:solidFill>
              <a:latin typeface="Arial"/>
              <a:ea typeface="Arial"/>
              <a:cs typeface="Arial"/>
              <a:sym typeface="Arial"/>
            </a:endParaRPr>
          </a:p>
        </p:txBody>
      </p:sp>
      <p:sp>
        <p:nvSpPr>
          <p:cNvPr id="521" name="Google Shape;521;g35c6c580227_0_176"/>
          <p:cNvSpPr txBox="1"/>
          <p:nvPr/>
        </p:nvSpPr>
        <p:spPr>
          <a:xfrm>
            <a:off x="9115203" y="6068697"/>
            <a:ext cx="3637500" cy="587700"/>
          </a:xfrm>
          <a:prstGeom prst="rect">
            <a:avLst/>
          </a:prstGeom>
          <a:noFill/>
          <a:ln>
            <a:noFill/>
          </a:ln>
        </p:spPr>
        <p:txBody>
          <a:bodyPr anchorCtr="0" anchor="t" bIns="0" lIns="0" spcFirstLastPara="1" rIns="0" wrap="square" tIns="0">
            <a:spAutoFit/>
          </a:bodyPr>
          <a:lstStyle/>
          <a:p>
            <a:pPr indent="0" lvl="0" marL="0" marR="0" rtl="0" algn="ctr">
              <a:lnSpc>
                <a:spcPct val="130060"/>
              </a:lnSpc>
              <a:spcBef>
                <a:spcPts val="0"/>
              </a:spcBef>
              <a:spcAft>
                <a:spcPts val="0"/>
              </a:spcAft>
              <a:buClr>
                <a:srgbClr val="000000"/>
              </a:buClr>
              <a:buSzPts val="1660"/>
              <a:buFont typeface="Arial"/>
              <a:buNone/>
            </a:pPr>
            <a:r>
              <a:rPr b="0" i="0" lang="en-US" sz="1660" u="none" cap="none" strike="noStrike">
                <a:solidFill>
                  <a:srgbClr val="FFFFFF"/>
                </a:solidFill>
                <a:latin typeface="Montserrat"/>
                <a:ea typeface="Montserrat"/>
                <a:cs typeface="Montserrat"/>
                <a:sym typeface="Montserrat"/>
              </a:rPr>
              <a:t>Los datos serializados se envían al servidor a través de la red.</a:t>
            </a:r>
            <a:endParaRPr b="0" i="0" sz="1400" u="none" cap="none" strike="noStrike">
              <a:solidFill>
                <a:srgbClr val="000000"/>
              </a:solidFill>
              <a:latin typeface="Arial"/>
              <a:ea typeface="Arial"/>
              <a:cs typeface="Arial"/>
              <a:sym typeface="Arial"/>
            </a:endParaRPr>
          </a:p>
        </p:txBody>
      </p:sp>
      <p:sp>
        <p:nvSpPr>
          <p:cNvPr id="522" name="Google Shape;522;g35c6c580227_0_176"/>
          <p:cNvSpPr txBox="1"/>
          <p:nvPr/>
        </p:nvSpPr>
        <p:spPr>
          <a:xfrm>
            <a:off x="13262010" y="5906772"/>
            <a:ext cx="4413900" cy="942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1" i="1" lang="en-US" sz="1700" u="none" cap="none" strike="noStrike">
                <a:solidFill>
                  <a:srgbClr val="FFFFFF"/>
                </a:solidFill>
                <a:latin typeface="Montserrat"/>
                <a:ea typeface="Montserrat"/>
                <a:cs typeface="Montserrat"/>
                <a:sym typeface="Montserrat"/>
              </a:rPr>
              <a:t>Stub </a:t>
            </a:r>
            <a:r>
              <a:rPr b="1" i="0" lang="en-US" sz="1700" u="none" cap="none" strike="noStrike">
                <a:solidFill>
                  <a:srgbClr val="FFFFFF"/>
                </a:solidFill>
                <a:latin typeface="Montserrat"/>
                <a:ea typeface="Montserrat"/>
                <a:cs typeface="Montserrat"/>
                <a:sym typeface="Montserrat"/>
              </a:rPr>
              <a:t>del Servidor</a:t>
            </a:r>
            <a:r>
              <a:rPr b="0" i="0" lang="en-US" sz="1700" u="none" cap="none" strike="noStrike">
                <a:solidFill>
                  <a:srgbClr val="FFFFFF"/>
                </a:solidFill>
                <a:latin typeface="Montserrat"/>
                <a:ea typeface="Montserrat"/>
                <a:cs typeface="Montserrat"/>
                <a:sym typeface="Montserrat"/>
              </a:rPr>
              <a:t>: Recibe la solicitud, deserializar los parámetros y ejecuta la función solicitada.</a:t>
            </a:r>
            <a:endParaRPr b="0" i="0" sz="1400" u="none" cap="none" strike="noStrike">
              <a:solidFill>
                <a:srgbClr val="000000"/>
              </a:solidFill>
              <a:latin typeface="Arial"/>
              <a:ea typeface="Arial"/>
              <a:cs typeface="Arial"/>
              <a:sym typeface="Arial"/>
            </a:endParaRPr>
          </a:p>
        </p:txBody>
      </p:sp>
      <p:pic>
        <p:nvPicPr>
          <p:cNvPr id="523" name="Google Shape;523;g35c6c580227_0_176"/>
          <p:cNvPicPr preferRelativeResize="0"/>
          <p:nvPr/>
        </p:nvPicPr>
        <p:blipFill rotWithShape="1">
          <a:blip r:embed="rId4">
            <a:alphaModFix/>
          </a:blip>
          <a:srcRect b="0" l="0" r="0" t="0"/>
          <a:stretch/>
        </p:blipFill>
        <p:spPr>
          <a:xfrm>
            <a:off x="1840775" y="2567588"/>
            <a:ext cx="1672950" cy="1672950"/>
          </a:xfrm>
          <a:prstGeom prst="rect">
            <a:avLst/>
          </a:prstGeom>
          <a:noFill/>
          <a:ln>
            <a:noFill/>
          </a:ln>
        </p:spPr>
      </p:pic>
      <p:pic>
        <p:nvPicPr>
          <p:cNvPr id="524" name="Google Shape;524;g35c6c580227_0_176"/>
          <p:cNvPicPr preferRelativeResize="0"/>
          <p:nvPr/>
        </p:nvPicPr>
        <p:blipFill rotWithShape="1">
          <a:blip r:embed="rId5">
            <a:alphaModFix/>
          </a:blip>
          <a:srcRect b="0" l="0" r="0" t="0"/>
          <a:stretch/>
        </p:blipFill>
        <p:spPr>
          <a:xfrm>
            <a:off x="5836713" y="2463792"/>
            <a:ext cx="1852100" cy="1928065"/>
          </a:xfrm>
          <a:prstGeom prst="rect">
            <a:avLst/>
          </a:prstGeom>
          <a:noFill/>
          <a:ln>
            <a:noFill/>
          </a:ln>
        </p:spPr>
      </p:pic>
      <p:pic>
        <p:nvPicPr>
          <p:cNvPr id="525" name="Google Shape;525;g35c6c580227_0_176"/>
          <p:cNvPicPr preferRelativeResize="0"/>
          <p:nvPr/>
        </p:nvPicPr>
        <p:blipFill rotWithShape="1">
          <a:blip r:embed="rId6">
            <a:alphaModFix/>
          </a:blip>
          <a:srcRect b="0" l="0" r="0" t="0"/>
          <a:stretch/>
        </p:blipFill>
        <p:spPr>
          <a:xfrm>
            <a:off x="14277875" y="2643788"/>
            <a:ext cx="1672950" cy="1672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9" name="Shape 529"/>
        <p:cNvGrpSpPr/>
        <p:nvPr/>
      </p:nvGrpSpPr>
      <p:grpSpPr>
        <a:xfrm>
          <a:off x="0" y="0"/>
          <a:ext cx="0" cy="0"/>
          <a:chOff x="0" y="0"/>
          <a:chExt cx="0" cy="0"/>
        </a:xfrm>
      </p:grpSpPr>
      <p:grpSp>
        <p:nvGrpSpPr>
          <p:cNvPr id="530" name="Google Shape;530;g35c6c580227_0_224"/>
          <p:cNvGrpSpPr/>
          <p:nvPr/>
        </p:nvGrpSpPr>
        <p:grpSpPr>
          <a:xfrm>
            <a:off x="1518507" y="2250088"/>
            <a:ext cx="2307946" cy="2307946"/>
            <a:chOff x="0" y="0"/>
            <a:chExt cx="812800" cy="812800"/>
          </a:xfrm>
        </p:grpSpPr>
        <p:sp>
          <p:nvSpPr>
            <p:cNvPr id="531" name="Google Shape;531;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33" name="Google Shape;533;g35c6c580227_0_224"/>
          <p:cNvCxnSpPr/>
          <p:nvPr/>
        </p:nvCxnSpPr>
        <p:spPr>
          <a:xfrm>
            <a:off x="2672479" y="2585791"/>
            <a:ext cx="0" cy="2476500"/>
          </a:xfrm>
          <a:prstGeom prst="straightConnector1">
            <a:avLst/>
          </a:prstGeom>
          <a:noFill/>
          <a:ln cap="flat" cmpd="sng" w="38100">
            <a:solidFill>
              <a:srgbClr val="5CD9C1"/>
            </a:solidFill>
            <a:prstDash val="solid"/>
            <a:round/>
            <a:headEnd len="sm" w="sm" type="none"/>
            <a:tailEnd len="lg" w="lg" type="oval"/>
          </a:ln>
        </p:spPr>
      </p:cxnSp>
      <p:grpSp>
        <p:nvGrpSpPr>
          <p:cNvPr id="534" name="Google Shape;534;g35c6c580227_0_224"/>
          <p:cNvGrpSpPr/>
          <p:nvPr/>
        </p:nvGrpSpPr>
        <p:grpSpPr>
          <a:xfrm>
            <a:off x="2307053" y="1884662"/>
            <a:ext cx="730870" cy="730870"/>
            <a:chOff x="0" y="0"/>
            <a:chExt cx="812800" cy="812800"/>
          </a:xfrm>
        </p:grpSpPr>
        <p:sp>
          <p:nvSpPr>
            <p:cNvPr id="535" name="Google Shape;535;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7" name="Google Shape;537;g35c6c580227_0_224"/>
          <p:cNvGrpSpPr/>
          <p:nvPr/>
        </p:nvGrpSpPr>
        <p:grpSpPr>
          <a:xfrm>
            <a:off x="5617027" y="2250088"/>
            <a:ext cx="2307946" cy="2307946"/>
            <a:chOff x="0" y="0"/>
            <a:chExt cx="812800" cy="812800"/>
          </a:xfrm>
        </p:grpSpPr>
        <p:sp>
          <p:nvSpPr>
            <p:cNvPr id="538" name="Google Shape;538;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40" name="Google Shape;540;g35c6c580227_0_224"/>
          <p:cNvCxnSpPr/>
          <p:nvPr/>
        </p:nvCxnSpPr>
        <p:spPr>
          <a:xfrm>
            <a:off x="6770999" y="2585791"/>
            <a:ext cx="0" cy="2476500"/>
          </a:xfrm>
          <a:prstGeom prst="straightConnector1">
            <a:avLst/>
          </a:prstGeom>
          <a:noFill/>
          <a:ln cap="flat" cmpd="sng" w="38100">
            <a:solidFill>
              <a:srgbClr val="ACFDDB"/>
            </a:solidFill>
            <a:prstDash val="solid"/>
            <a:round/>
            <a:headEnd len="sm" w="sm" type="none"/>
            <a:tailEnd len="lg" w="lg" type="oval"/>
          </a:ln>
        </p:spPr>
      </p:cxnSp>
      <p:grpSp>
        <p:nvGrpSpPr>
          <p:cNvPr id="541" name="Google Shape;541;g35c6c580227_0_224"/>
          <p:cNvGrpSpPr/>
          <p:nvPr/>
        </p:nvGrpSpPr>
        <p:grpSpPr>
          <a:xfrm>
            <a:off x="6405573" y="1884662"/>
            <a:ext cx="730870" cy="730870"/>
            <a:chOff x="0" y="0"/>
            <a:chExt cx="812800" cy="812800"/>
          </a:xfrm>
        </p:grpSpPr>
        <p:sp>
          <p:nvSpPr>
            <p:cNvPr id="542" name="Google Shape;542;g35c6c580227_0_2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35c6c580227_0_224"/>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44" name="Google Shape;544;g35c6c580227_0_224"/>
          <p:cNvCxnSpPr/>
          <p:nvPr/>
        </p:nvCxnSpPr>
        <p:spPr>
          <a:xfrm rot="10800000">
            <a:off x="5012143" y="2937536"/>
            <a:ext cx="11400" cy="4785900"/>
          </a:xfrm>
          <a:prstGeom prst="straightConnector1">
            <a:avLst/>
          </a:prstGeom>
          <a:noFill/>
          <a:ln cap="flat" cmpd="sng" w="9525">
            <a:solidFill>
              <a:srgbClr val="FFFFFF"/>
            </a:solidFill>
            <a:prstDash val="lgDash"/>
            <a:round/>
            <a:headEnd len="sm" w="sm" type="none"/>
            <a:tailEnd len="sm" w="sm" type="none"/>
          </a:ln>
        </p:spPr>
      </p:cxnSp>
      <p:cxnSp>
        <p:nvCxnSpPr>
          <p:cNvPr id="545" name="Google Shape;545;g35c6c580227_0_224"/>
          <p:cNvCxnSpPr/>
          <p:nvPr/>
        </p:nvCxnSpPr>
        <p:spPr>
          <a:xfrm rot="10800000">
            <a:off x="8900896" y="2937536"/>
            <a:ext cx="29700" cy="4785900"/>
          </a:xfrm>
          <a:prstGeom prst="straightConnector1">
            <a:avLst/>
          </a:prstGeom>
          <a:noFill/>
          <a:ln cap="flat" cmpd="sng" w="9525">
            <a:solidFill>
              <a:srgbClr val="FFFFFF"/>
            </a:solidFill>
            <a:prstDash val="lgDash"/>
            <a:round/>
            <a:headEnd len="sm" w="sm" type="none"/>
            <a:tailEnd len="sm" w="sm" type="none"/>
          </a:ln>
        </p:spPr>
      </p:cxnSp>
      <p:sp>
        <p:nvSpPr>
          <p:cNvPr id="546" name="Google Shape;546;g35c6c580227_0_224"/>
          <p:cNvSpPr/>
          <p:nvPr/>
        </p:nvSpPr>
        <p:spPr>
          <a:xfrm>
            <a:off x="9630683" y="1752766"/>
            <a:ext cx="7960894" cy="5970671"/>
          </a:xfrm>
          <a:custGeom>
            <a:rect b="b" l="l" r="r" t="t"/>
            <a:pathLst>
              <a:path extrusionOk="0" h="5970671" w="7960894">
                <a:moveTo>
                  <a:pt x="0" y="0"/>
                </a:moveTo>
                <a:lnTo>
                  <a:pt x="7960895" y="0"/>
                </a:lnTo>
                <a:lnTo>
                  <a:pt x="7960895" y="5970671"/>
                </a:lnTo>
                <a:lnTo>
                  <a:pt x="0" y="5970671"/>
                </a:lnTo>
                <a:lnTo>
                  <a:pt x="0" y="0"/>
                </a:lnTo>
                <a:close/>
              </a:path>
            </a:pathLst>
          </a:custGeom>
          <a:blipFill rotWithShape="1">
            <a:blip r:embed="rId3">
              <a:alphaModFix/>
            </a:blip>
            <a:stretch>
              <a:fillRect b="0" l="0" r="0" t="0"/>
            </a:stretch>
          </a:blipFill>
          <a:ln>
            <a:noFill/>
          </a:ln>
        </p:spPr>
      </p:sp>
      <p:sp>
        <p:nvSpPr>
          <p:cNvPr id="547" name="Google Shape;547;g35c6c580227_0_224"/>
          <p:cNvSpPr txBox="1"/>
          <p:nvPr/>
        </p:nvSpPr>
        <p:spPr>
          <a:xfrm>
            <a:off x="815296" y="263525"/>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FUNCIONAMIENTO BÁSICO DE RPC</a:t>
            </a:r>
            <a:endParaRPr b="0" i="0" sz="1400" u="none" cap="none" strike="noStrike">
              <a:solidFill>
                <a:srgbClr val="000000"/>
              </a:solidFill>
              <a:latin typeface="Arial"/>
              <a:ea typeface="Arial"/>
              <a:cs typeface="Arial"/>
              <a:sym typeface="Arial"/>
            </a:endParaRPr>
          </a:p>
        </p:txBody>
      </p:sp>
      <p:sp>
        <p:nvSpPr>
          <p:cNvPr id="548" name="Google Shape;548;g35c6c580227_0_224"/>
          <p:cNvSpPr txBox="1"/>
          <p:nvPr/>
        </p:nvSpPr>
        <p:spPr>
          <a:xfrm>
            <a:off x="815296" y="6039677"/>
            <a:ext cx="3955500" cy="612300"/>
          </a:xfrm>
          <a:prstGeom prst="rect">
            <a:avLst/>
          </a:prstGeom>
          <a:noFill/>
          <a:ln>
            <a:noFill/>
          </a:ln>
        </p:spPr>
        <p:txBody>
          <a:bodyPr anchorCtr="0" anchor="t" bIns="0" lIns="0" spcFirstLastPara="1" rIns="0" wrap="square" tIns="0">
            <a:spAutoFit/>
          </a:bodyPr>
          <a:lstStyle/>
          <a:p>
            <a:pPr indent="0" lvl="0" marL="0" marR="0" rtl="0" algn="l">
              <a:lnSpc>
                <a:spcPct val="134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Deserialización del resultado para enviarlo de vuelta al cliente.</a:t>
            </a:r>
            <a:endParaRPr b="0" i="0" sz="1400" u="none" cap="none" strike="noStrike">
              <a:solidFill>
                <a:srgbClr val="000000"/>
              </a:solidFill>
              <a:latin typeface="Arial"/>
              <a:ea typeface="Arial"/>
              <a:cs typeface="Arial"/>
              <a:sym typeface="Arial"/>
            </a:endParaRPr>
          </a:p>
        </p:txBody>
      </p:sp>
      <p:sp>
        <p:nvSpPr>
          <p:cNvPr id="549" name="Google Shape;549;g35c6c580227_0_224"/>
          <p:cNvSpPr txBox="1"/>
          <p:nvPr/>
        </p:nvSpPr>
        <p:spPr>
          <a:xfrm>
            <a:off x="943100" y="5433576"/>
            <a:ext cx="34683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UNMARSHALLING</a:t>
            </a:r>
            <a:endParaRPr b="0" i="0" sz="1400" u="none" cap="none" strike="noStrike">
              <a:solidFill>
                <a:srgbClr val="000000"/>
              </a:solidFill>
              <a:latin typeface="Arial"/>
              <a:ea typeface="Arial"/>
              <a:cs typeface="Arial"/>
              <a:sym typeface="Arial"/>
            </a:endParaRPr>
          </a:p>
        </p:txBody>
      </p:sp>
      <p:sp>
        <p:nvSpPr>
          <p:cNvPr id="550" name="Google Shape;550;g35c6c580227_0_224"/>
          <p:cNvSpPr txBox="1"/>
          <p:nvPr/>
        </p:nvSpPr>
        <p:spPr>
          <a:xfrm>
            <a:off x="2382380" y="2050260"/>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05</a:t>
            </a:r>
            <a:endParaRPr b="0" i="0" sz="1400" u="none" cap="none" strike="noStrike">
              <a:solidFill>
                <a:srgbClr val="000000"/>
              </a:solidFill>
              <a:latin typeface="Arial"/>
              <a:ea typeface="Arial"/>
              <a:cs typeface="Arial"/>
              <a:sym typeface="Arial"/>
            </a:endParaRPr>
          </a:p>
        </p:txBody>
      </p:sp>
      <p:sp>
        <p:nvSpPr>
          <p:cNvPr id="551" name="Google Shape;551;g35c6c580227_0_224"/>
          <p:cNvSpPr txBox="1"/>
          <p:nvPr/>
        </p:nvSpPr>
        <p:spPr>
          <a:xfrm>
            <a:off x="5023543" y="5433576"/>
            <a:ext cx="3748800" cy="304800"/>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RESPUESTA AL CLIENTE</a:t>
            </a:r>
            <a:endParaRPr b="0" i="0" sz="1400" u="none" cap="none" strike="noStrike">
              <a:solidFill>
                <a:srgbClr val="000000"/>
              </a:solidFill>
              <a:latin typeface="Arial"/>
              <a:ea typeface="Arial"/>
              <a:cs typeface="Arial"/>
              <a:sym typeface="Arial"/>
            </a:endParaRPr>
          </a:p>
        </p:txBody>
      </p:sp>
      <p:sp>
        <p:nvSpPr>
          <p:cNvPr id="552" name="Google Shape;552;g35c6c580227_0_224"/>
          <p:cNvSpPr txBox="1"/>
          <p:nvPr/>
        </p:nvSpPr>
        <p:spPr>
          <a:xfrm>
            <a:off x="6480900" y="2050260"/>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67D3CD"/>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553" name="Google Shape;553;g35c6c580227_0_224"/>
          <p:cNvSpPr txBox="1"/>
          <p:nvPr/>
        </p:nvSpPr>
        <p:spPr>
          <a:xfrm>
            <a:off x="5106445" y="5979791"/>
            <a:ext cx="3582900" cy="1041300"/>
          </a:xfrm>
          <a:prstGeom prst="rect">
            <a:avLst/>
          </a:prstGeom>
          <a:noFill/>
          <a:ln>
            <a:noFill/>
          </a:ln>
        </p:spPr>
        <p:txBody>
          <a:bodyPr anchorCtr="0" anchor="t" bIns="0" lIns="0" spcFirstLastPara="1" rIns="0" wrap="square" tIns="0">
            <a:spAutoFit/>
          </a:bodyPr>
          <a:lstStyle/>
          <a:p>
            <a:pPr indent="0" lvl="0" marL="0" marR="0" rtl="0" algn="ctr">
              <a:lnSpc>
                <a:spcPct val="149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El cliente recibe el resultado y lo procesa como si fuera una llamada local.</a:t>
            </a:r>
            <a:endParaRPr b="0" i="0" sz="1400" u="none" cap="none" strike="noStrike">
              <a:solidFill>
                <a:srgbClr val="000000"/>
              </a:solidFill>
              <a:latin typeface="Arial"/>
              <a:ea typeface="Arial"/>
              <a:cs typeface="Arial"/>
              <a:sym typeface="Arial"/>
            </a:endParaRPr>
          </a:p>
        </p:txBody>
      </p:sp>
      <p:sp>
        <p:nvSpPr>
          <p:cNvPr id="554" name="Google Shape;554;g35c6c580227_0_224"/>
          <p:cNvSpPr txBox="1"/>
          <p:nvPr/>
        </p:nvSpPr>
        <p:spPr>
          <a:xfrm>
            <a:off x="12817457" y="8360225"/>
            <a:ext cx="4785600" cy="1652400"/>
          </a:xfrm>
          <a:prstGeom prst="rect">
            <a:avLst/>
          </a:prstGeom>
          <a:noFill/>
          <a:ln>
            <a:noFill/>
          </a:ln>
        </p:spPr>
        <p:txBody>
          <a:bodyPr anchorCtr="0" anchor="t" bIns="0" lIns="0" spcFirstLastPara="1" rIns="0" wrap="square" tIns="0">
            <a:spAutoFit/>
          </a:bodyPr>
          <a:lstStyle/>
          <a:p>
            <a:pPr indent="-131748" lvl="1" marL="263497" marR="0" rtl="0" algn="l">
              <a:lnSpc>
                <a:spcPct val="130000"/>
              </a:lnSpc>
              <a:spcBef>
                <a:spcPts val="0"/>
              </a:spcBef>
              <a:spcAft>
                <a:spcPts val="0"/>
              </a:spcAft>
              <a:buClr>
                <a:srgbClr val="000000"/>
              </a:buClr>
              <a:buSzPts val="1220"/>
              <a:buFont typeface="Arial"/>
              <a:buChar char="•"/>
            </a:pPr>
            <a:r>
              <a:rPr b="1" i="0" lang="en-US" sz="1220" u="none" cap="none" strike="noStrike">
                <a:solidFill>
                  <a:srgbClr val="000000"/>
                </a:solidFill>
                <a:latin typeface="Montserrat"/>
                <a:ea typeface="Montserrat"/>
                <a:cs typeface="Montserrat"/>
                <a:sym typeface="Montserrat"/>
              </a:rPr>
              <a:t>Marshalling</a:t>
            </a:r>
            <a:r>
              <a:rPr b="0" i="0" lang="en-US" sz="1220" u="none" cap="none" strike="noStrike">
                <a:solidFill>
                  <a:srgbClr val="000000"/>
                </a:solidFill>
                <a:latin typeface="Montserrat"/>
                <a:ea typeface="Montserrat"/>
                <a:cs typeface="Montserrat"/>
                <a:sym typeface="Montserrat"/>
              </a:rPr>
              <a:t>: Proceso de convertir los parámetros de la función en un formato que pueda ser transmitido a través de la red.</a:t>
            </a:r>
            <a:endParaRPr b="0" i="0" sz="1400" u="none" cap="none" strike="noStrike">
              <a:solidFill>
                <a:srgbClr val="000000"/>
              </a:solidFill>
              <a:latin typeface="Arial"/>
              <a:ea typeface="Arial"/>
              <a:cs typeface="Arial"/>
              <a:sym typeface="Arial"/>
            </a:endParaRPr>
          </a:p>
          <a:p>
            <a:pPr indent="-131748" lvl="1" marL="263497" marR="0" rtl="0" algn="l">
              <a:lnSpc>
                <a:spcPct val="130000"/>
              </a:lnSpc>
              <a:spcBef>
                <a:spcPts val="0"/>
              </a:spcBef>
              <a:spcAft>
                <a:spcPts val="0"/>
              </a:spcAft>
              <a:buClr>
                <a:srgbClr val="000000"/>
              </a:buClr>
              <a:buSzPts val="1220"/>
              <a:buFont typeface="Arial"/>
              <a:buChar char="•"/>
            </a:pPr>
            <a:r>
              <a:rPr b="1" i="0" lang="en-US" sz="1220" u="none" cap="none" strike="noStrike">
                <a:solidFill>
                  <a:srgbClr val="000000"/>
                </a:solidFill>
                <a:latin typeface="Montserrat"/>
                <a:ea typeface="Montserrat"/>
                <a:cs typeface="Montserrat"/>
                <a:sym typeface="Montserrat"/>
              </a:rPr>
              <a:t>Unmarshalling</a:t>
            </a:r>
            <a:r>
              <a:rPr b="0" i="0" lang="en-US" sz="1220" u="none" cap="none" strike="noStrike">
                <a:solidFill>
                  <a:srgbClr val="000000"/>
                </a:solidFill>
                <a:latin typeface="Montserrat"/>
                <a:ea typeface="Montserrat"/>
                <a:cs typeface="Montserrat"/>
                <a:sym typeface="Montserrat"/>
              </a:rPr>
              <a:t>: Proceso de convertir los datos recibidos de vuelta a su formato original para su uso en el programa.</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220"/>
              <a:buFont typeface="Arial"/>
              <a:buNone/>
            </a:pPr>
            <a:r>
              <a:t/>
            </a:r>
            <a:endParaRPr b="0" i="0" sz="1220" u="none" cap="none" strike="noStrike">
              <a:solidFill>
                <a:srgbClr val="000000"/>
              </a:solidFill>
              <a:latin typeface="Montserrat"/>
              <a:ea typeface="Montserrat"/>
              <a:cs typeface="Montserrat"/>
              <a:sym typeface="Montserrat"/>
            </a:endParaRPr>
          </a:p>
        </p:txBody>
      </p:sp>
      <p:pic>
        <p:nvPicPr>
          <p:cNvPr id="555" name="Google Shape;555;g35c6c580227_0_224"/>
          <p:cNvPicPr preferRelativeResize="0"/>
          <p:nvPr/>
        </p:nvPicPr>
        <p:blipFill rotWithShape="1">
          <a:blip r:embed="rId4">
            <a:alphaModFix/>
          </a:blip>
          <a:srcRect b="0" l="0" r="0" t="0"/>
          <a:stretch/>
        </p:blipFill>
        <p:spPr>
          <a:xfrm>
            <a:off x="1883600" y="2577862"/>
            <a:ext cx="1587301" cy="1652400"/>
          </a:xfrm>
          <a:prstGeom prst="rect">
            <a:avLst/>
          </a:prstGeom>
          <a:noFill/>
          <a:ln>
            <a:noFill/>
          </a:ln>
        </p:spPr>
      </p:pic>
      <p:pic>
        <p:nvPicPr>
          <p:cNvPr id="556" name="Google Shape;556;g35c6c580227_0_224"/>
          <p:cNvPicPr preferRelativeResize="0"/>
          <p:nvPr/>
        </p:nvPicPr>
        <p:blipFill rotWithShape="1">
          <a:blip r:embed="rId5">
            <a:alphaModFix/>
          </a:blip>
          <a:srcRect b="0" l="0" r="0" t="0"/>
          <a:stretch/>
        </p:blipFill>
        <p:spPr>
          <a:xfrm>
            <a:off x="6011113" y="2610400"/>
            <a:ext cx="1587300" cy="1587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60" name="Shape 560"/>
        <p:cNvGrpSpPr/>
        <p:nvPr/>
      </p:nvGrpSpPr>
      <p:grpSpPr>
        <a:xfrm>
          <a:off x="0" y="0"/>
          <a:ext cx="0" cy="0"/>
          <a:chOff x="0" y="0"/>
          <a:chExt cx="0" cy="0"/>
        </a:xfrm>
      </p:grpSpPr>
      <p:grpSp>
        <p:nvGrpSpPr>
          <p:cNvPr id="561" name="Google Shape;561;g35c6c580227_0_252"/>
          <p:cNvGrpSpPr/>
          <p:nvPr/>
        </p:nvGrpSpPr>
        <p:grpSpPr>
          <a:xfrm>
            <a:off x="1043027" y="2771970"/>
            <a:ext cx="7391425" cy="2772565"/>
            <a:chOff x="0" y="-19050"/>
            <a:chExt cx="1946700" cy="730218"/>
          </a:xfrm>
        </p:grpSpPr>
        <p:sp>
          <p:nvSpPr>
            <p:cNvPr id="562" name="Google Shape;562;g35c6c580227_0_252"/>
            <p:cNvSpPr/>
            <p:nvPr/>
          </p:nvSpPr>
          <p:spPr>
            <a:xfrm>
              <a:off x="0" y="0"/>
              <a:ext cx="1946586" cy="711168"/>
            </a:xfrm>
            <a:custGeom>
              <a:rect b="b" l="l" r="r" t="t"/>
              <a:pathLst>
                <a:path extrusionOk="0" h="711168" w="1946586">
                  <a:moveTo>
                    <a:pt x="52374" y="0"/>
                  </a:moveTo>
                  <a:lnTo>
                    <a:pt x="1894212" y="0"/>
                  </a:lnTo>
                  <a:cubicBezTo>
                    <a:pt x="1908102" y="0"/>
                    <a:pt x="1921424" y="5518"/>
                    <a:pt x="1931246" y="15340"/>
                  </a:cubicBezTo>
                  <a:cubicBezTo>
                    <a:pt x="1941068" y="25162"/>
                    <a:pt x="1946586" y="38484"/>
                    <a:pt x="1946586" y="52374"/>
                  </a:cubicBezTo>
                  <a:lnTo>
                    <a:pt x="1946586" y="658794"/>
                  </a:lnTo>
                  <a:cubicBezTo>
                    <a:pt x="1946586" y="672684"/>
                    <a:pt x="1941068" y="686006"/>
                    <a:pt x="1931246" y="695828"/>
                  </a:cubicBezTo>
                  <a:cubicBezTo>
                    <a:pt x="1921424" y="705650"/>
                    <a:pt x="1908102" y="711168"/>
                    <a:pt x="1894212" y="711168"/>
                  </a:cubicBezTo>
                  <a:lnTo>
                    <a:pt x="52374" y="711168"/>
                  </a:lnTo>
                  <a:cubicBezTo>
                    <a:pt x="23449" y="711168"/>
                    <a:pt x="0" y="687719"/>
                    <a:pt x="0" y="658794"/>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35c6c580227_0_252"/>
            <p:cNvSpPr txBox="1"/>
            <p:nvPr/>
          </p:nvSpPr>
          <p:spPr>
            <a:xfrm>
              <a:off x="0" y="-19050"/>
              <a:ext cx="1946700" cy="73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4" name="Google Shape;564;g35c6c580227_0_252"/>
          <p:cNvGrpSpPr/>
          <p:nvPr/>
        </p:nvGrpSpPr>
        <p:grpSpPr>
          <a:xfrm>
            <a:off x="1253029" y="6151136"/>
            <a:ext cx="7180990" cy="3313775"/>
            <a:chOff x="0" y="-19050"/>
            <a:chExt cx="1891277" cy="872758"/>
          </a:xfrm>
        </p:grpSpPr>
        <p:sp>
          <p:nvSpPr>
            <p:cNvPr id="565" name="Google Shape;565;g35c6c580227_0_252"/>
            <p:cNvSpPr/>
            <p:nvPr/>
          </p:nvSpPr>
          <p:spPr>
            <a:xfrm>
              <a:off x="0" y="0"/>
              <a:ext cx="1891277" cy="853708"/>
            </a:xfrm>
            <a:custGeom>
              <a:rect b="b" l="l" r="r" t="t"/>
              <a:pathLst>
                <a:path extrusionOk="0" h="853708" w="1891277">
                  <a:moveTo>
                    <a:pt x="53906" y="0"/>
                  </a:moveTo>
                  <a:lnTo>
                    <a:pt x="1837371" y="0"/>
                  </a:lnTo>
                  <a:cubicBezTo>
                    <a:pt x="1867142" y="0"/>
                    <a:pt x="1891277" y="24135"/>
                    <a:pt x="1891277" y="53906"/>
                  </a:cubicBezTo>
                  <a:lnTo>
                    <a:pt x="1891277" y="799802"/>
                  </a:lnTo>
                  <a:cubicBezTo>
                    <a:pt x="1891277" y="814099"/>
                    <a:pt x="1885597" y="827810"/>
                    <a:pt x="1875488" y="837919"/>
                  </a:cubicBezTo>
                  <a:cubicBezTo>
                    <a:pt x="1865379" y="848029"/>
                    <a:pt x="1851667" y="853708"/>
                    <a:pt x="1837371" y="853708"/>
                  </a:cubicBezTo>
                  <a:lnTo>
                    <a:pt x="53906" y="853708"/>
                  </a:lnTo>
                  <a:cubicBezTo>
                    <a:pt x="39609" y="853708"/>
                    <a:pt x="25898" y="848029"/>
                    <a:pt x="15789" y="837919"/>
                  </a:cubicBezTo>
                  <a:cubicBezTo>
                    <a:pt x="5679" y="827810"/>
                    <a:pt x="0" y="814099"/>
                    <a:pt x="0" y="799802"/>
                  </a:cubicBezTo>
                  <a:lnTo>
                    <a:pt x="0" y="53906"/>
                  </a:lnTo>
                  <a:cubicBezTo>
                    <a:pt x="0" y="39609"/>
                    <a:pt x="5679" y="25898"/>
                    <a:pt x="15789" y="15789"/>
                  </a:cubicBezTo>
                  <a:cubicBezTo>
                    <a:pt x="25898" y="5679"/>
                    <a:pt x="39609" y="0"/>
                    <a:pt x="53906"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35c6c580227_0_252"/>
            <p:cNvSpPr txBox="1"/>
            <p:nvPr/>
          </p:nvSpPr>
          <p:spPr>
            <a:xfrm>
              <a:off x="0" y="-19050"/>
              <a:ext cx="1891200" cy="872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7" name="Google Shape;567;g35c6c580227_0_252"/>
          <p:cNvGrpSpPr/>
          <p:nvPr/>
        </p:nvGrpSpPr>
        <p:grpSpPr>
          <a:xfrm>
            <a:off x="9860720" y="956369"/>
            <a:ext cx="7481864" cy="2492665"/>
            <a:chOff x="0" y="-19050"/>
            <a:chExt cx="1970519" cy="656500"/>
          </a:xfrm>
        </p:grpSpPr>
        <p:sp>
          <p:nvSpPr>
            <p:cNvPr id="568" name="Google Shape;568;g35c6c580227_0_252"/>
            <p:cNvSpPr/>
            <p:nvPr/>
          </p:nvSpPr>
          <p:spPr>
            <a:xfrm>
              <a:off x="0" y="0"/>
              <a:ext cx="1970519" cy="637450"/>
            </a:xfrm>
            <a:custGeom>
              <a:rect b="b" l="l" r="r" t="t"/>
              <a:pathLst>
                <a:path extrusionOk="0" h="637450" w="1970519">
                  <a:moveTo>
                    <a:pt x="51738" y="0"/>
                  </a:moveTo>
                  <a:lnTo>
                    <a:pt x="1918780" y="0"/>
                  </a:lnTo>
                  <a:cubicBezTo>
                    <a:pt x="1932502" y="0"/>
                    <a:pt x="1945662" y="5451"/>
                    <a:pt x="1955365" y="15154"/>
                  </a:cubicBezTo>
                  <a:cubicBezTo>
                    <a:pt x="1965068" y="24857"/>
                    <a:pt x="1970519" y="38016"/>
                    <a:pt x="1970519" y="51738"/>
                  </a:cubicBezTo>
                  <a:lnTo>
                    <a:pt x="1970519" y="585711"/>
                  </a:lnTo>
                  <a:cubicBezTo>
                    <a:pt x="1970519" y="599433"/>
                    <a:pt x="1965068" y="612593"/>
                    <a:pt x="1955365" y="622296"/>
                  </a:cubicBezTo>
                  <a:cubicBezTo>
                    <a:pt x="1945662" y="631999"/>
                    <a:pt x="1932502" y="637450"/>
                    <a:pt x="1918780" y="637450"/>
                  </a:cubicBezTo>
                  <a:lnTo>
                    <a:pt x="51738" y="637450"/>
                  </a:lnTo>
                  <a:cubicBezTo>
                    <a:pt x="38016" y="637450"/>
                    <a:pt x="24857" y="631999"/>
                    <a:pt x="15154" y="622296"/>
                  </a:cubicBezTo>
                  <a:cubicBezTo>
                    <a:pt x="5451" y="612593"/>
                    <a:pt x="0" y="599433"/>
                    <a:pt x="0" y="585711"/>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35c6c580227_0_252"/>
            <p:cNvSpPr txBox="1"/>
            <p:nvPr/>
          </p:nvSpPr>
          <p:spPr>
            <a:xfrm>
              <a:off x="0" y="-19050"/>
              <a:ext cx="1970400" cy="656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0" name="Google Shape;570;g35c6c580227_0_252"/>
          <p:cNvSpPr/>
          <p:nvPr/>
        </p:nvSpPr>
        <p:spPr>
          <a:xfrm>
            <a:off x="399951" y="3546670"/>
            <a:ext cx="1973873" cy="950096"/>
          </a:xfrm>
          <a:custGeom>
            <a:rect b="b" l="l" r="r" t="t"/>
            <a:pathLst>
              <a:path extrusionOk="0" h="950096" w="1973873">
                <a:moveTo>
                  <a:pt x="0" y="0"/>
                </a:moveTo>
                <a:lnTo>
                  <a:pt x="1973873" y="0"/>
                </a:lnTo>
                <a:lnTo>
                  <a:pt x="1973873" y="950097"/>
                </a:lnTo>
                <a:lnTo>
                  <a:pt x="0" y="950097"/>
                </a:lnTo>
                <a:lnTo>
                  <a:pt x="0" y="0"/>
                </a:lnTo>
                <a:close/>
              </a:path>
            </a:pathLst>
          </a:custGeom>
          <a:blipFill rotWithShape="1">
            <a:blip r:embed="rId3">
              <a:alphaModFix/>
            </a:blip>
            <a:stretch>
              <a:fillRect b="-38926" l="-22177" r="-21279" t="-28715"/>
            </a:stretch>
          </a:blipFill>
          <a:ln>
            <a:noFill/>
          </a:ln>
        </p:spPr>
      </p:sp>
      <p:sp>
        <p:nvSpPr>
          <p:cNvPr id="571" name="Google Shape;571;g35c6c580227_0_252"/>
          <p:cNvSpPr/>
          <p:nvPr/>
        </p:nvSpPr>
        <p:spPr>
          <a:xfrm>
            <a:off x="533163" y="6825351"/>
            <a:ext cx="1707449" cy="1596465"/>
          </a:xfrm>
          <a:custGeom>
            <a:rect b="b" l="l" r="r" t="t"/>
            <a:pathLst>
              <a:path extrusionOk="0" h="1596465" w="1707449">
                <a:moveTo>
                  <a:pt x="0" y="0"/>
                </a:moveTo>
                <a:lnTo>
                  <a:pt x="1707449" y="0"/>
                </a:lnTo>
                <a:lnTo>
                  <a:pt x="1707449" y="1596465"/>
                </a:lnTo>
                <a:lnTo>
                  <a:pt x="0" y="1596465"/>
                </a:lnTo>
                <a:lnTo>
                  <a:pt x="0" y="0"/>
                </a:lnTo>
                <a:close/>
              </a:path>
            </a:pathLst>
          </a:custGeom>
          <a:blipFill rotWithShape="1">
            <a:blip r:embed="rId4">
              <a:alphaModFix/>
            </a:blip>
            <a:stretch>
              <a:fillRect b="0" l="0" r="0" t="0"/>
            </a:stretch>
          </a:blipFill>
          <a:ln>
            <a:noFill/>
          </a:ln>
        </p:spPr>
      </p:sp>
      <p:grpSp>
        <p:nvGrpSpPr>
          <p:cNvPr id="572" name="Google Shape;572;g35c6c580227_0_252"/>
          <p:cNvGrpSpPr/>
          <p:nvPr/>
        </p:nvGrpSpPr>
        <p:grpSpPr>
          <a:xfrm>
            <a:off x="9777487" y="3834635"/>
            <a:ext cx="7481864" cy="2595337"/>
            <a:chOff x="0" y="-19050"/>
            <a:chExt cx="1970519" cy="683541"/>
          </a:xfrm>
        </p:grpSpPr>
        <p:sp>
          <p:nvSpPr>
            <p:cNvPr id="573" name="Google Shape;573;g35c6c580227_0_252"/>
            <p:cNvSpPr/>
            <p:nvPr/>
          </p:nvSpPr>
          <p:spPr>
            <a:xfrm>
              <a:off x="0" y="0"/>
              <a:ext cx="1970519" cy="664491"/>
            </a:xfrm>
            <a:custGeom>
              <a:rect b="b" l="l" r="r" t="t"/>
              <a:pathLst>
                <a:path extrusionOk="0" h="664491" w="1970519">
                  <a:moveTo>
                    <a:pt x="51738" y="0"/>
                  </a:moveTo>
                  <a:lnTo>
                    <a:pt x="1918780" y="0"/>
                  </a:lnTo>
                  <a:cubicBezTo>
                    <a:pt x="1932502" y="0"/>
                    <a:pt x="1945662" y="5451"/>
                    <a:pt x="1955365" y="15154"/>
                  </a:cubicBezTo>
                  <a:cubicBezTo>
                    <a:pt x="1965068" y="24857"/>
                    <a:pt x="1970519" y="38016"/>
                    <a:pt x="1970519" y="51738"/>
                  </a:cubicBezTo>
                  <a:lnTo>
                    <a:pt x="1970519" y="612752"/>
                  </a:lnTo>
                  <a:cubicBezTo>
                    <a:pt x="1970519" y="626474"/>
                    <a:pt x="1965068" y="639634"/>
                    <a:pt x="1955365" y="649337"/>
                  </a:cubicBezTo>
                  <a:cubicBezTo>
                    <a:pt x="1945662" y="659040"/>
                    <a:pt x="1932502" y="664491"/>
                    <a:pt x="1918780" y="664491"/>
                  </a:cubicBezTo>
                  <a:lnTo>
                    <a:pt x="51738" y="664491"/>
                  </a:lnTo>
                  <a:cubicBezTo>
                    <a:pt x="38016" y="664491"/>
                    <a:pt x="24857" y="659040"/>
                    <a:pt x="15154" y="649337"/>
                  </a:cubicBezTo>
                  <a:cubicBezTo>
                    <a:pt x="5451" y="639634"/>
                    <a:pt x="0" y="626474"/>
                    <a:pt x="0" y="612752"/>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g35c6c580227_0_252"/>
            <p:cNvSpPr txBox="1"/>
            <p:nvPr/>
          </p:nvSpPr>
          <p:spPr>
            <a:xfrm>
              <a:off x="0" y="-19050"/>
              <a:ext cx="1970400" cy="68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5" name="Google Shape;575;g35c6c580227_0_252"/>
          <p:cNvGrpSpPr/>
          <p:nvPr/>
        </p:nvGrpSpPr>
        <p:grpSpPr>
          <a:xfrm>
            <a:off x="9860720" y="7282403"/>
            <a:ext cx="7481864" cy="2781609"/>
            <a:chOff x="0" y="-19050"/>
            <a:chExt cx="1970519" cy="732600"/>
          </a:xfrm>
        </p:grpSpPr>
        <p:sp>
          <p:nvSpPr>
            <p:cNvPr id="576" name="Google Shape;576;g35c6c580227_0_252"/>
            <p:cNvSpPr/>
            <p:nvPr/>
          </p:nvSpPr>
          <p:spPr>
            <a:xfrm>
              <a:off x="0" y="0"/>
              <a:ext cx="1970519" cy="713545"/>
            </a:xfrm>
            <a:custGeom>
              <a:rect b="b" l="l" r="r" t="t"/>
              <a:pathLst>
                <a:path extrusionOk="0" h="713545" w="1970519">
                  <a:moveTo>
                    <a:pt x="51738" y="0"/>
                  </a:moveTo>
                  <a:lnTo>
                    <a:pt x="1918780" y="0"/>
                  </a:lnTo>
                  <a:cubicBezTo>
                    <a:pt x="1932502" y="0"/>
                    <a:pt x="1945662" y="5451"/>
                    <a:pt x="1955365" y="15154"/>
                  </a:cubicBezTo>
                  <a:cubicBezTo>
                    <a:pt x="1965068" y="24857"/>
                    <a:pt x="1970519" y="38016"/>
                    <a:pt x="1970519" y="51738"/>
                  </a:cubicBezTo>
                  <a:lnTo>
                    <a:pt x="1970519" y="661807"/>
                  </a:lnTo>
                  <a:cubicBezTo>
                    <a:pt x="1970519" y="675529"/>
                    <a:pt x="1965068" y="688689"/>
                    <a:pt x="1955365" y="698391"/>
                  </a:cubicBezTo>
                  <a:cubicBezTo>
                    <a:pt x="1945662" y="708094"/>
                    <a:pt x="1932502" y="713545"/>
                    <a:pt x="1918780" y="713545"/>
                  </a:cubicBezTo>
                  <a:lnTo>
                    <a:pt x="51738" y="713545"/>
                  </a:lnTo>
                  <a:cubicBezTo>
                    <a:pt x="38016" y="713545"/>
                    <a:pt x="24857" y="708094"/>
                    <a:pt x="15154" y="698391"/>
                  </a:cubicBezTo>
                  <a:cubicBezTo>
                    <a:pt x="5451" y="688689"/>
                    <a:pt x="0" y="675529"/>
                    <a:pt x="0" y="661807"/>
                  </a:cubicBezTo>
                  <a:lnTo>
                    <a:pt x="0" y="51738"/>
                  </a:lnTo>
                  <a:cubicBezTo>
                    <a:pt x="0" y="38016"/>
                    <a:pt x="5451" y="24857"/>
                    <a:pt x="15154" y="15154"/>
                  </a:cubicBezTo>
                  <a:cubicBezTo>
                    <a:pt x="24857" y="5451"/>
                    <a:pt x="38016" y="0"/>
                    <a:pt x="51738"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35c6c580227_0_252"/>
            <p:cNvSpPr txBox="1"/>
            <p:nvPr/>
          </p:nvSpPr>
          <p:spPr>
            <a:xfrm>
              <a:off x="0" y="-19050"/>
              <a:ext cx="1970400" cy="732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8" name="Google Shape;578;g35c6c580227_0_252"/>
          <p:cNvSpPr txBox="1"/>
          <p:nvPr/>
        </p:nvSpPr>
        <p:spPr>
          <a:xfrm>
            <a:off x="985709" y="1019175"/>
            <a:ext cx="86961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PROTOCOLOS DE </a:t>
            </a:r>
            <a:r>
              <a:rPr b="0" i="0" lang="en-US" sz="5000" u="none" cap="none" strike="noStrike">
                <a:solidFill>
                  <a:srgbClr val="67D3CD"/>
                </a:solidFill>
                <a:latin typeface="Arial"/>
                <a:ea typeface="Arial"/>
                <a:cs typeface="Arial"/>
                <a:sym typeface="Arial"/>
              </a:rPr>
              <a:t>RPC</a:t>
            </a:r>
            <a:endParaRPr b="0" i="0" sz="1400" u="none" cap="none" strike="noStrike">
              <a:solidFill>
                <a:srgbClr val="000000"/>
              </a:solidFill>
              <a:latin typeface="Arial"/>
              <a:ea typeface="Arial"/>
              <a:cs typeface="Arial"/>
              <a:sym typeface="Arial"/>
            </a:endParaRPr>
          </a:p>
        </p:txBody>
      </p:sp>
      <p:sp>
        <p:nvSpPr>
          <p:cNvPr id="579" name="Google Shape;579;g35c6c580227_0_252"/>
          <p:cNvSpPr txBox="1"/>
          <p:nvPr/>
        </p:nvSpPr>
        <p:spPr>
          <a:xfrm>
            <a:off x="2765848" y="2988359"/>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gRPC</a:t>
            </a:r>
            <a:endParaRPr b="0" i="0" sz="1400" u="none" cap="none" strike="noStrike">
              <a:solidFill>
                <a:srgbClr val="000000"/>
              </a:solidFill>
              <a:latin typeface="Arial"/>
              <a:ea typeface="Arial"/>
              <a:cs typeface="Arial"/>
              <a:sym typeface="Arial"/>
            </a:endParaRPr>
          </a:p>
        </p:txBody>
      </p:sp>
      <p:sp>
        <p:nvSpPr>
          <p:cNvPr id="580" name="Google Shape;580;g35c6c580227_0_252"/>
          <p:cNvSpPr txBox="1"/>
          <p:nvPr/>
        </p:nvSpPr>
        <p:spPr>
          <a:xfrm>
            <a:off x="2765848" y="3420442"/>
            <a:ext cx="5379600" cy="249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Un framework de RPC de alto rendimiento desarrollado por Google, basado en HTTP/2.</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Soporte para múltiples lenguajes, streaming bidireccional, eficiente en el uso de recursos.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Microservicios, comunicación entre servicios en la nube.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sp>
        <p:nvSpPr>
          <p:cNvPr id="581" name="Google Shape;581;g35c6c580227_0_252"/>
          <p:cNvSpPr txBox="1"/>
          <p:nvPr/>
        </p:nvSpPr>
        <p:spPr>
          <a:xfrm>
            <a:off x="2722847" y="6329227"/>
            <a:ext cx="52218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SOAP (Simple Object Access Protocol):</a:t>
            </a:r>
            <a:endParaRPr b="0" i="0" sz="1400" u="none" cap="none" strike="noStrike">
              <a:solidFill>
                <a:srgbClr val="000000"/>
              </a:solidFill>
              <a:latin typeface="Arial"/>
              <a:ea typeface="Arial"/>
              <a:cs typeface="Arial"/>
              <a:sym typeface="Arial"/>
            </a:endParaRPr>
          </a:p>
        </p:txBody>
      </p:sp>
      <p:sp>
        <p:nvSpPr>
          <p:cNvPr id="582" name="Google Shape;582;g35c6c580227_0_252"/>
          <p:cNvSpPr txBox="1"/>
          <p:nvPr/>
        </p:nvSpPr>
        <p:spPr>
          <a:xfrm>
            <a:off x="2808830" y="7074115"/>
            <a:ext cx="5136000" cy="2816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Un protocolo basado en XML para intercambiar información estructurada en la implementación de servicios web.</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Extensible, independiente del protocolo de transporte, alto nivel de seguridad.</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Servicios empresariales, aplicaciones que requieren transacciones seguras y fiables.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sp>
        <p:nvSpPr>
          <p:cNvPr id="583" name="Google Shape;583;g35c6c580227_0_252"/>
          <p:cNvSpPr txBox="1"/>
          <p:nvPr/>
        </p:nvSpPr>
        <p:spPr>
          <a:xfrm>
            <a:off x="11425717" y="1195151"/>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XML-RPC</a:t>
            </a:r>
            <a:endParaRPr b="0" i="0" sz="1400" u="none" cap="none" strike="noStrike">
              <a:solidFill>
                <a:srgbClr val="000000"/>
              </a:solidFill>
              <a:latin typeface="Arial"/>
              <a:ea typeface="Arial"/>
              <a:cs typeface="Arial"/>
              <a:sym typeface="Arial"/>
            </a:endParaRPr>
          </a:p>
        </p:txBody>
      </p:sp>
      <p:sp>
        <p:nvSpPr>
          <p:cNvPr id="584" name="Google Shape;584;g35c6c580227_0_252"/>
          <p:cNvSpPr txBox="1"/>
          <p:nvPr/>
        </p:nvSpPr>
        <p:spPr>
          <a:xfrm>
            <a:off x="10854390" y="1740447"/>
            <a:ext cx="6309300" cy="184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Un protocolo que utiliza XML para codificar sus llamadas y HTTP como protocolo de transporte.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Simplicidad, fácil de implementar.</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Integración de sistemas, aplicaciones web simples.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sp>
        <p:nvSpPr>
          <p:cNvPr id="585" name="Google Shape;585;g35c6c580227_0_252"/>
          <p:cNvSpPr txBox="1"/>
          <p:nvPr/>
        </p:nvSpPr>
        <p:spPr>
          <a:xfrm>
            <a:off x="11342484" y="4073417"/>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JSON-RPC</a:t>
            </a:r>
            <a:endParaRPr b="0" i="0" sz="1400" u="none" cap="none" strike="noStrike">
              <a:solidFill>
                <a:srgbClr val="000000"/>
              </a:solidFill>
              <a:latin typeface="Arial"/>
              <a:ea typeface="Arial"/>
              <a:cs typeface="Arial"/>
              <a:sym typeface="Arial"/>
            </a:endParaRPr>
          </a:p>
        </p:txBody>
      </p:sp>
      <p:sp>
        <p:nvSpPr>
          <p:cNvPr id="586" name="Google Shape;586;g35c6c580227_0_252"/>
          <p:cNvSpPr txBox="1"/>
          <p:nvPr/>
        </p:nvSpPr>
        <p:spPr>
          <a:xfrm>
            <a:off x="10771156" y="4618713"/>
            <a:ext cx="6309300" cy="184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n-US" sz="1500" u="none" cap="none" strike="noStrike">
                <a:solidFill>
                  <a:srgbClr val="FFFFFF"/>
                </a:solidFill>
                <a:latin typeface="Open Sans"/>
                <a:ea typeface="Open Sans"/>
                <a:cs typeface="Open Sans"/>
                <a:sym typeface="Open Sans"/>
              </a:rPr>
              <a:t>Similar a XML-RPC pero utiliza JSON para la codificación.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a:p>
            <a:pPr indent="-161925" lvl="1" marL="323850" marR="0" rtl="0" algn="l">
              <a:lnSpc>
                <a:spcPct val="140000"/>
              </a:lnSpc>
              <a:spcBef>
                <a:spcPts val="0"/>
              </a:spcBef>
              <a:spcAft>
                <a:spcPts val="0"/>
              </a:spcAft>
              <a:buClr>
                <a:srgbClr val="FFFFFF"/>
              </a:buClr>
              <a:buSzPts val="1500"/>
              <a:buFont typeface="Arial"/>
              <a:buChar char="•"/>
            </a:pPr>
            <a:r>
              <a:rPr b="0" i="0" lang="en-US" sz="1500" u="none" cap="none" strike="noStrike">
                <a:solidFill>
                  <a:srgbClr val="FFFFFF"/>
                </a:solidFill>
                <a:latin typeface="Open Sans"/>
                <a:ea typeface="Open Sans"/>
                <a:cs typeface="Open Sans"/>
                <a:sym typeface="Open Sans"/>
              </a:rPr>
              <a:t>Ligero, fácil de leer y escribir, compatible con aplicaciones web modernas.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Casos de Uso</a:t>
            </a:r>
            <a:r>
              <a:rPr b="0" i="0" lang="en-US" sz="1500" u="none" cap="none" strike="noStrike">
                <a:solidFill>
                  <a:srgbClr val="FFFFFF"/>
                </a:solidFill>
                <a:latin typeface="Open Sans"/>
                <a:ea typeface="Open Sans"/>
                <a:cs typeface="Open Sans"/>
                <a:sym typeface="Open Sans"/>
              </a:rPr>
              <a:t>: Aplicaciones web y móviles, APIs RESTful.</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sp>
        <p:nvSpPr>
          <p:cNvPr id="587" name="Google Shape;587;g35c6c580227_0_252"/>
          <p:cNvSpPr txBox="1"/>
          <p:nvPr/>
        </p:nvSpPr>
        <p:spPr>
          <a:xfrm>
            <a:off x="11425717" y="7521185"/>
            <a:ext cx="4391100" cy="307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000"/>
              <a:buFont typeface="Arial"/>
              <a:buNone/>
            </a:pPr>
            <a:r>
              <a:rPr b="1" i="0" lang="en-US" sz="2000" u="none" cap="none" strike="noStrike">
                <a:solidFill>
                  <a:srgbClr val="FFFFFF"/>
                </a:solidFill>
                <a:latin typeface="Open Sans ExtraBold"/>
                <a:ea typeface="Open Sans ExtraBold"/>
                <a:cs typeface="Open Sans ExtraBold"/>
                <a:sym typeface="Open Sans ExtraBold"/>
              </a:rPr>
              <a:t>¿CUÁL </a:t>
            </a:r>
            <a:r>
              <a:rPr b="1" i="0" lang="en-US" sz="2000" u="none" cap="none" strike="noStrike">
                <a:solidFill>
                  <a:srgbClr val="67D3CD"/>
                </a:solidFill>
                <a:latin typeface="Open Sans ExtraBold"/>
                <a:ea typeface="Open Sans ExtraBold"/>
                <a:cs typeface="Open Sans ExtraBold"/>
                <a:sym typeface="Open Sans ExtraBold"/>
              </a:rPr>
              <a:t>USAR</a:t>
            </a:r>
            <a:r>
              <a:rPr b="1" i="0" lang="en-US" sz="2000" u="none" cap="none" strike="noStrike">
                <a:solidFill>
                  <a:srgbClr val="FFFFFF"/>
                </a:solidFill>
                <a:latin typeface="Open Sans ExtraBold"/>
                <a:ea typeface="Open Sans ExtraBold"/>
                <a:cs typeface="Open Sans ExtraBold"/>
                <a:sym typeface="Open Sans ExtraBold"/>
              </a:rPr>
              <a:t>?</a:t>
            </a:r>
            <a:endParaRPr b="0" i="0" sz="1400" u="none" cap="none" strike="noStrike">
              <a:solidFill>
                <a:srgbClr val="000000"/>
              </a:solidFill>
              <a:latin typeface="Arial"/>
              <a:ea typeface="Arial"/>
              <a:cs typeface="Arial"/>
              <a:sym typeface="Arial"/>
            </a:endParaRPr>
          </a:p>
        </p:txBody>
      </p:sp>
      <p:sp>
        <p:nvSpPr>
          <p:cNvPr id="588" name="Google Shape;588;g35c6c580227_0_252"/>
          <p:cNvSpPr txBox="1"/>
          <p:nvPr/>
        </p:nvSpPr>
        <p:spPr>
          <a:xfrm>
            <a:off x="10596499" y="8066481"/>
            <a:ext cx="6746100" cy="2170200"/>
          </a:xfrm>
          <a:prstGeom prst="rect">
            <a:avLst/>
          </a:prstGeom>
          <a:noFill/>
          <a:ln>
            <a:noFill/>
          </a:ln>
        </p:spPr>
        <p:txBody>
          <a:bodyPr anchorCtr="0" anchor="t" bIns="0" lIns="0" spcFirstLastPara="1" rIns="0" wrap="square" tIns="0">
            <a:spAutoFit/>
          </a:bodyPr>
          <a:lstStyle/>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gRPC</a:t>
            </a:r>
            <a:r>
              <a:rPr b="0" i="0" lang="en-US" sz="1500" u="none" cap="none" strike="noStrike">
                <a:solidFill>
                  <a:srgbClr val="FFFFFF"/>
                </a:solidFill>
                <a:latin typeface="Open Sans"/>
                <a:ea typeface="Open Sans"/>
                <a:cs typeface="Open Sans"/>
                <a:sym typeface="Open Sans"/>
              </a:rPr>
              <a:t>: Comunicación entre microservicios en una arquitectura de Kubernetes.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SOAP</a:t>
            </a:r>
            <a:r>
              <a:rPr b="0" i="0" lang="en-US" sz="1500" u="none" cap="none" strike="noStrike">
                <a:solidFill>
                  <a:srgbClr val="FFFFFF"/>
                </a:solidFill>
                <a:latin typeface="Open Sans"/>
                <a:ea typeface="Open Sans"/>
                <a:cs typeface="Open Sans"/>
                <a:sym typeface="Open Sans"/>
              </a:rPr>
              <a:t>: Servicios web financieros que requieren alta seguridad y transacciones confiables.</a:t>
            </a:r>
            <a:endParaRPr b="0" i="0" sz="1400" u="none" cap="none" strike="noStrike">
              <a:solidFill>
                <a:srgbClr val="000000"/>
              </a:solidFill>
              <a:latin typeface="Arial"/>
              <a:ea typeface="Arial"/>
              <a:cs typeface="Arial"/>
              <a:sym typeface="Arial"/>
            </a:endParaRPr>
          </a:p>
          <a:p>
            <a:pPr indent="-161925" lvl="1" marL="323850" marR="0" rtl="0" algn="l">
              <a:lnSpc>
                <a:spcPct val="140000"/>
              </a:lnSpc>
              <a:spcBef>
                <a:spcPts val="0"/>
              </a:spcBef>
              <a:spcAft>
                <a:spcPts val="0"/>
              </a:spcAft>
              <a:buClr>
                <a:srgbClr val="FFFFFF"/>
              </a:buClr>
              <a:buSzPts val="1500"/>
              <a:buFont typeface="Arial"/>
              <a:buChar char="•"/>
            </a:pPr>
            <a:r>
              <a:rPr b="1" i="0" lang="en-US" sz="1500" u="none" cap="none" strike="noStrike">
                <a:solidFill>
                  <a:srgbClr val="FFFFFF"/>
                </a:solidFill>
                <a:latin typeface="Open Sans"/>
                <a:ea typeface="Open Sans"/>
                <a:cs typeface="Open Sans"/>
                <a:sym typeface="Open Sans"/>
              </a:rPr>
              <a:t>JSON-RPC: </a:t>
            </a:r>
            <a:r>
              <a:rPr b="0" i="0" lang="en-US" sz="1500" u="none" cap="none" strike="noStrike">
                <a:solidFill>
                  <a:srgbClr val="FFFFFF"/>
                </a:solidFill>
                <a:latin typeface="Open Sans"/>
                <a:ea typeface="Open Sans"/>
                <a:cs typeface="Open Sans"/>
                <a:sym typeface="Open Sans"/>
              </a:rPr>
              <a:t>APIs para aplicaciones móviles que requieren respuestas rápidas y ligeras.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0" i="0" sz="1500" u="none" cap="none" strike="noStrike">
              <a:solidFill>
                <a:srgbClr val="FFFFFF"/>
              </a:solidFill>
              <a:latin typeface="Open Sans"/>
              <a:ea typeface="Open Sans"/>
              <a:cs typeface="Open Sans"/>
              <a:sym typeface="Open Sans"/>
            </a:endParaRPr>
          </a:p>
        </p:txBody>
      </p:sp>
      <p:pic>
        <p:nvPicPr>
          <p:cNvPr id="589" name="Google Shape;589;g35c6c580227_0_252"/>
          <p:cNvPicPr preferRelativeResize="0"/>
          <p:nvPr/>
        </p:nvPicPr>
        <p:blipFill rotWithShape="1">
          <a:blip r:embed="rId5">
            <a:alphaModFix/>
          </a:blip>
          <a:srcRect b="0" l="0" r="0" t="0"/>
          <a:stretch/>
        </p:blipFill>
        <p:spPr>
          <a:xfrm>
            <a:off x="9316950" y="1562925"/>
            <a:ext cx="1279549" cy="1279549"/>
          </a:xfrm>
          <a:prstGeom prst="rect">
            <a:avLst/>
          </a:prstGeom>
          <a:noFill/>
          <a:ln>
            <a:noFill/>
          </a:ln>
        </p:spPr>
      </p:pic>
      <p:pic>
        <p:nvPicPr>
          <p:cNvPr id="590" name="Google Shape;590;g35c6c580227_0_252"/>
          <p:cNvPicPr preferRelativeResize="0"/>
          <p:nvPr/>
        </p:nvPicPr>
        <p:blipFill rotWithShape="1">
          <a:blip r:embed="rId6">
            <a:alphaModFix/>
          </a:blip>
          <a:srcRect b="0" l="0" r="0" t="0"/>
          <a:stretch/>
        </p:blipFill>
        <p:spPr>
          <a:xfrm>
            <a:off x="9234050" y="4618725"/>
            <a:ext cx="1279550" cy="1279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5c6c580227_0_36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96" name="Google Shape;596;g35c6c580227_0_36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7" name="Google Shape;597;g35c6c580227_0_36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8" name="Google Shape;598;g35c6c580227_0_367"/>
          <p:cNvSpPr txBox="1"/>
          <p:nvPr/>
        </p:nvSpPr>
        <p:spPr>
          <a:xfrm>
            <a:off x="4335525" y="2594750"/>
            <a:ext cx="12042600" cy="3061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endParaRPr b="0" i="0" sz="90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9000"/>
              <a:buFont typeface="Arial"/>
              <a:buNone/>
            </a:pPr>
            <a:r>
              <a:rPr b="0" i="0" lang="en-US" sz="9000" u="none" cap="none" strike="noStrike">
                <a:solidFill>
                  <a:srgbClr val="FFFFFF"/>
                </a:solidFill>
                <a:latin typeface="Arial"/>
                <a:ea typeface="Arial"/>
                <a:cs typeface="Arial"/>
                <a:sym typeface="Arial"/>
              </a:rPr>
              <a:t>gRPC</a:t>
            </a:r>
            <a:endParaRPr b="0" i="0" sz="9000" u="none" cap="none" strike="noStrike">
              <a:solidFill>
                <a:srgbClr val="FFFFFF"/>
              </a:solidFill>
              <a:latin typeface="Arial"/>
              <a:ea typeface="Arial"/>
              <a:cs typeface="Arial"/>
              <a:sym typeface="Arial"/>
            </a:endParaRPr>
          </a:p>
        </p:txBody>
      </p:sp>
      <p:pic>
        <p:nvPicPr>
          <p:cNvPr id="599" name="Google Shape;599;g35c6c580227_0_36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600" name="Google Shape;600;g35c6c580227_0_36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601" name="Google Shape;601;g35c6c580227_0_36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5" name="Shape 605"/>
        <p:cNvGrpSpPr/>
        <p:nvPr/>
      </p:nvGrpSpPr>
      <p:grpSpPr>
        <a:xfrm>
          <a:off x="0" y="0"/>
          <a:ext cx="0" cy="0"/>
          <a:chOff x="0" y="0"/>
          <a:chExt cx="0" cy="0"/>
        </a:xfrm>
      </p:grpSpPr>
      <p:sp>
        <p:nvSpPr>
          <p:cNvPr id="606" name="Google Shape;606;g35ed003338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07" name="Google Shape;607;g35ed003338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08" name="Google Shape;608;g35ed003338b_0_0"/>
          <p:cNvGrpSpPr/>
          <p:nvPr/>
        </p:nvGrpSpPr>
        <p:grpSpPr>
          <a:xfrm>
            <a:off x="2695525" y="2304374"/>
            <a:ext cx="12896949" cy="5258185"/>
            <a:chOff x="0" y="-19050"/>
            <a:chExt cx="1956900" cy="2395201"/>
          </a:xfrm>
        </p:grpSpPr>
        <p:sp>
          <p:nvSpPr>
            <p:cNvPr id="609" name="Google Shape;609;g35ed003338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g35ed003338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1" name="Google Shape;611;g35ed003338b_0_0"/>
          <p:cNvSpPr txBox="1"/>
          <p:nvPr/>
        </p:nvSpPr>
        <p:spPr>
          <a:xfrm>
            <a:off x="3561300" y="2840050"/>
            <a:ext cx="11165400" cy="41868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Sistemas Operativos Móviles e Integrados: </a:t>
            </a:r>
            <a:r>
              <a:rPr b="0" i="0" lang="en-US" sz="2600" u="none" cap="none" strike="noStrike">
                <a:solidFill>
                  <a:schemeClr val="lt1"/>
                </a:solidFill>
                <a:latin typeface="Arial"/>
                <a:ea typeface="Arial"/>
                <a:cs typeface="Arial"/>
                <a:sym typeface="Arial"/>
              </a:rPr>
              <a:t>Los móviles gestionan dispositivos con interfaces gráficas y redes, mientras que los integrados controlan dispositivos específicos con recursos limitados y tareas en tiempo real (ej. Android vs FreeRTOS).</a:t>
            </a:r>
            <a:endParaRPr b="0"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FreeRTOS y Restricciones: </a:t>
            </a:r>
            <a:r>
              <a:rPr b="0" i="0" lang="en-US" sz="2600" u="none" cap="none" strike="noStrike">
                <a:solidFill>
                  <a:schemeClr val="lt1"/>
                </a:solidFill>
                <a:latin typeface="Arial"/>
                <a:ea typeface="Arial"/>
                <a:cs typeface="Arial"/>
                <a:sym typeface="Arial"/>
              </a:rPr>
              <a:t>FreeRTOS es un RTOS ligero para microcontroladores que optimiza multitarea y recursos en entornos con memoria, CPU y energía muy limitadas.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RPC: </a:t>
            </a:r>
            <a:r>
              <a:rPr b="0" i="0" lang="en-US" sz="2600" u="none" cap="none" strike="noStrike">
                <a:solidFill>
                  <a:schemeClr val="lt1"/>
                </a:solidFill>
                <a:latin typeface="Arial"/>
                <a:ea typeface="Arial"/>
                <a:cs typeface="Arial"/>
                <a:sym typeface="Arial"/>
              </a:rPr>
              <a:t>RPC permite llamar funciones remotas como locales, usando protocolos como gRPC, SOAP o JSON-RPC para facilitar la comunicación en sistemas distribuidos.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5" name="Shape 615"/>
        <p:cNvGrpSpPr/>
        <p:nvPr/>
      </p:nvGrpSpPr>
      <p:grpSpPr>
        <a:xfrm>
          <a:off x="0" y="0"/>
          <a:ext cx="0" cy="0"/>
          <a:chOff x="0" y="0"/>
          <a:chExt cx="0" cy="0"/>
        </a:xfrm>
      </p:grpSpPr>
      <p:sp>
        <p:nvSpPr>
          <p:cNvPr id="616" name="Google Shape;616;g35c6c580227_0_38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17" name="Google Shape;617;g35c6c580227_0_386"/>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18" name="Google Shape;618;g35c6c580227_0_386"/>
          <p:cNvGrpSpPr/>
          <p:nvPr/>
        </p:nvGrpSpPr>
        <p:grpSpPr>
          <a:xfrm>
            <a:off x="2293074" y="3299175"/>
            <a:ext cx="13701822" cy="4860102"/>
            <a:chOff x="0" y="-19050"/>
            <a:chExt cx="1956900" cy="2395201"/>
          </a:xfrm>
        </p:grpSpPr>
        <p:sp>
          <p:nvSpPr>
            <p:cNvPr id="619" name="Google Shape;619;g35c6c580227_0_38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35c6c580227_0_38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1" name="Google Shape;621;g35c6c580227_0_386"/>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Innovacion: </a:t>
            </a:r>
            <a:r>
              <a:rPr b="0" i="0" lang="en-US" sz="3200" u="none" cap="none" strike="noStrike">
                <a:solidFill>
                  <a:schemeClr val="lt1"/>
                </a:solidFill>
                <a:latin typeface="Arial"/>
                <a:ea typeface="Arial"/>
                <a:cs typeface="Arial"/>
                <a:sym typeface="Arial"/>
              </a:rPr>
              <a:t>Al entender las limitaciones de la tecnología, es inevitable buscar formas alternativas de obtener resultados, las computadoras han evolucionado muchas veces a lo largo de la historia, lo mismo ha sucedido con los sistemas operativos, de manera que es necesario continuar esa evolución e innovación.</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25" name="Shape 625"/>
        <p:cNvGrpSpPr/>
        <p:nvPr/>
      </p:nvGrpSpPr>
      <p:grpSpPr>
        <a:xfrm>
          <a:off x="0" y="0"/>
          <a:ext cx="0" cy="0"/>
          <a:chOff x="0" y="0"/>
          <a:chExt cx="0" cy="0"/>
        </a:xfrm>
      </p:grpSpPr>
      <p:sp>
        <p:nvSpPr>
          <p:cNvPr id="626" name="Google Shape;626;g35ed003338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27" name="Google Shape;627;g35ed003338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28" name="Google Shape;628;g35ed003338b_0_9"/>
          <p:cNvGrpSpPr/>
          <p:nvPr/>
        </p:nvGrpSpPr>
        <p:grpSpPr>
          <a:xfrm>
            <a:off x="2695525" y="2304376"/>
            <a:ext cx="12896949" cy="5576267"/>
            <a:chOff x="0" y="-19050"/>
            <a:chExt cx="1956900" cy="2395201"/>
          </a:xfrm>
        </p:grpSpPr>
        <p:sp>
          <p:nvSpPr>
            <p:cNvPr id="629" name="Google Shape;629;g35ed003338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35ed003338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1" name="Google Shape;631;g35ed003338b_0_9"/>
          <p:cNvSpPr txBox="1"/>
          <p:nvPr/>
        </p:nvSpPr>
        <p:spPr>
          <a:xfrm>
            <a:off x="3032850" y="31396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FreeRTOS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https://freertos.org/</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	Optimizing Embedded Systems</a:t>
            </a:r>
            <a:endParaRPr b="1" i="0" sz="2600" u="none" cap="none" strike="noStrike">
              <a:solidFill>
                <a:schemeClr val="lt1"/>
              </a:solidFill>
              <a:latin typeface="Arial"/>
              <a:ea typeface="Arial"/>
              <a:cs typeface="Arial"/>
              <a:sym typeface="Arial"/>
            </a:endParaRPr>
          </a:p>
          <a:p>
            <a:pPr indent="457200" lvl="0" marL="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https://emb-academy.com/articles/optimizing-performance-in-embedded-systems/</a:t>
            </a:r>
            <a:endParaRPr b="1" i="0" sz="2600" u="none" cap="none" strike="noStrike">
              <a:solidFill>
                <a:schemeClr val="hlink"/>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gRPC</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https://grpc.io/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35" name="Shape 635"/>
        <p:cNvGrpSpPr/>
        <p:nvPr/>
      </p:nvGrpSpPr>
      <p:grpSpPr>
        <a:xfrm>
          <a:off x="0" y="0"/>
          <a:ext cx="0" cy="0"/>
          <a:chOff x="0" y="0"/>
          <a:chExt cx="0" cy="0"/>
        </a:xfrm>
      </p:grpSpPr>
      <p:grpSp>
        <p:nvGrpSpPr>
          <p:cNvPr id="636" name="Google Shape;636;p12"/>
          <p:cNvGrpSpPr/>
          <p:nvPr/>
        </p:nvGrpSpPr>
        <p:grpSpPr>
          <a:xfrm>
            <a:off x="6725937" y="6354796"/>
            <a:ext cx="4836125" cy="1241011"/>
            <a:chOff x="0" y="-19050"/>
            <a:chExt cx="1273712" cy="326851"/>
          </a:xfrm>
        </p:grpSpPr>
        <p:sp>
          <p:nvSpPr>
            <p:cNvPr id="637" name="Google Shape;637;p1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9" name="Google Shape;639;p1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640" name="Google Shape;640;p1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