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8229600" cx="14630400"/>
  <p:notesSz cx="8229600" cy="14630400"/>
  <p:embeddedFontLst>
    <p:embeddedFont>
      <p:font typeface="Montserrat"/>
      <p:bold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iIA9P2dWTYzbK2EofNqbHwi5b5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Montserrat-bold.fnt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Montserra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10"/>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0"/>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11"/>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1"/>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12"/>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2"/>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13"/>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3"/>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14"/>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4"/>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1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15"/>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5"/>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16"/>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6"/>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1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17"/>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7"/>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1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 name="Shape 4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descr="preencoded.png" id="48" name="Google Shape;48;p1"/>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49" name="Google Shape;49;p1"/>
          <p:cNvSpPr/>
          <p:nvPr/>
        </p:nvSpPr>
        <p:spPr>
          <a:xfrm>
            <a:off x="0" y="0"/>
            <a:ext cx="14630400" cy="8229600"/>
          </a:xfrm>
          <a:prstGeom prst="rect">
            <a:avLst/>
          </a:prstGeom>
          <a:solidFill>
            <a:srgbClr val="111213">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
          <p:cNvSpPr/>
          <p:nvPr/>
        </p:nvSpPr>
        <p:spPr>
          <a:xfrm>
            <a:off x="1185029" y="2406015"/>
            <a:ext cx="12260223" cy="1935956"/>
          </a:xfrm>
          <a:prstGeom prst="rect">
            <a:avLst/>
          </a:prstGeom>
          <a:noFill/>
          <a:ln>
            <a:noFill/>
          </a:ln>
        </p:spPr>
        <p:txBody>
          <a:bodyPr anchorCtr="0" anchor="t" bIns="0" lIns="0" spcFirstLastPara="1" rIns="0" wrap="square" tIns="0">
            <a:noAutofit/>
          </a:bodyPr>
          <a:lstStyle/>
          <a:p>
            <a:pPr indent="0" lvl="0" marL="0" marR="0" rtl="0" algn="l">
              <a:lnSpc>
                <a:spcPct val="125619"/>
              </a:lnSpc>
              <a:spcBef>
                <a:spcPts val="0"/>
              </a:spcBef>
              <a:spcAft>
                <a:spcPts val="0"/>
              </a:spcAft>
              <a:buClr>
                <a:srgbClr val="FFFFFF"/>
              </a:buClr>
              <a:buSzPts val="6050"/>
              <a:buFont typeface="Montserrat"/>
              <a:buNone/>
            </a:pPr>
            <a:r>
              <a:rPr b="1" i="0" lang="en-US" sz="6050" u="none" cap="none" strike="noStrike">
                <a:solidFill>
                  <a:srgbClr val="FFFFFF"/>
                </a:solidFill>
                <a:latin typeface="Montserrat"/>
                <a:ea typeface="Montserrat"/>
                <a:cs typeface="Montserrat"/>
                <a:sym typeface="Montserrat"/>
              </a:rPr>
              <a:t>Sistemas Operativos: Tipos, Linux e Historia</a:t>
            </a:r>
            <a:endParaRPr b="0" i="0" sz="6050" u="none" cap="none" strike="noStrike"/>
          </a:p>
        </p:txBody>
      </p:sp>
      <p:sp>
        <p:nvSpPr>
          <p:cNvPr id="51" name="Google Shape;51;p1"/>
          <p:cNvSpPr/>
          <p:nvPr/>
        </p:nvSpPr>
        <p:spPr>
          <a:xfrm>
            <a:off x="1185029" y="4712256"/>
            <a:ext cx="12260223" cy="111121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Este documento explora los diferentes tipos de sistemas operativos, profundiza en Linux como un sistema operativo de código abierto ampliamente utilizado, y recorre la historia de Linux desde sus orígenes en UNIX hasta su popularidad actual.</a:t>
            </a:r>
            <a:endParaRPr b="0" i="0" sz="19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2"/>
          <p:cNvSpPr/>
          <p:nvPr/>
        </p:nvSpPr>
        <p:spPr>
          <a:xfrm>
            <a:off x="1185023" y="472900"/>
            <a:ext cx="12502500" cy="669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200"/>
              <a:buFont typeface="Montserrat"/>
              <a:buNone/>
            </a:pPr>
            <a:r>
              <a:rPr b="1" i="0" lang="en-US" sz="4200" u="none" cap="none" strike="noStrike">
                <a:solidFill>
                  <a:srgbClr val="FFFFFF"/>
                </a:solidFill>
                <a:latin typeface="Montserrat"/>
                <a:ea typeface="Montserrat"/>
                <a:cs typeface="Montserrat"/>
                <a:sym typeface="Montserrat"/>
              </a:rPr>
              <a:t>Tipos de Sistemas Operativos</a:t>
            </a:r>
            <a:endParaRPr b="0" i="0" sz="4200" u="none" cap="none" strike="noStrike"/>
          </a:p>
        </p:txBody>
      </p:sp>
      <p:sp>
        <p:nvSpPr>
          <p:cNvPr id="58" name="Google Shape;58;p2"/>
          <p:cNvSpPr/>
          <p:nvPr/>
        </p:nvSpPr>
        <p:spPr>
          <a:xfrm>
            <a:off x="1179192" y="1601999"/>
            <a:ext cx="12260100" cy="707100"/>
          </a:xfrm>
          <a:prstGeom prst="rect">
            <a:avLst/>
          </a:prstGeom>
          <a:noFill/>
          <a:ln>
            <a:noFill/>
          </a:ln>
        </p:spPr>
        <p:txBody>
          <a:bodyPr anchorCtr="0" anchor="t" bIns="0" lIns="0" spcFirstLastPara="1" rIns="0" wrap="square" tIns="0">
            <a:noAutofit/>
          </a:bodyPr>
          <a:lstStyle/>
          <a:p>
            <a:pPr indent="0" lvl="0" marL="0" marR="0" rtl="0" algn="l">
              <a:lnSpc>
                <a:spcPct val="148648"/>
              </a:lnSpc>
              <a:spcBef>
                <a:spcPts val="0"/>
              </a:spcBef>
              <a:spcAft>
                <a:spcPts val="0"/>
              </a:spcAft>
              <a:buClr>
                <a:srgbClr val="E2E6E9"/>
              </a:buClr>
              <a:buSzPts val="1850"/>
              <a:buFont typeface="Arial"/>
              <a:buNone/>
            </a:pPr>
            <a:r>
              <a:rPr b="0" i="0" lang="en-US" sz="1850" u="none" cap="none" strike="noStrike">
                <a:solidFill>
                  <a:srgbClr val="E2E6E9"/>
                </a:solidFill>
                <a:latin typeface="Arial"/>
                <a:ea typeface="Arial"/>
                <a:cs typeface="Arial"/>
                <a:sym typeface="Arial"/>
              </a:rPr>
              <a:t>Existen distintos tipos de sistemas operativos, cada uno diseñado para responder a necesidades específicas según el tipo de tareas que se desea gestionar:</a:t>
            </a:r>
            <a:endParaRPr b="0" i="0" sz="1850" u="none" cap="none" strike="noStrike"/>
          </a:p>
        </p:txBody>
      </p:sp>
      <p:sp>
        <p:nvSpPr>
          <p:cNvPr id="59" name="Google Shape;59;p2"/>
          <p:cNvSpPr/>
          <p:nvPr/>
        </p:nvSpPr>
        <p:spPr>
          <a:xfrm>
            <a:off x="1185025" y="2939050"/>
            <a:ext cx="3929400" cy="5181000"/>
          </a:xfrm>
          <a:prstGeom prst="roundRect">
            <a:avLst>
              <a:gd fmla="val 900"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1420773" y="3174802"/>
            <a:ext cx="3458051" cy="66960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2E6E9"/>
              </a:buClr>
              <a:buSzPts val="2100"/>
              <a:buFont typeface="Montserrat"/>
              <a:buNone/>
            </a:pPr>
            <a:r>
              <a:rPr b="1" i="0" lang="en-US" sz="2100" u="none" cap="none" strike="noStrike">
                <a:solidFill>
                  <a:srgbClr val="E2E6E9"/>
                </a:solidFill>
                <a:latin typeface="Montserrat"/>
                <a:ea typeface="Montserrat"/>
                <a:cs typeface="Montserrat"/>
                <a:sym typeface="Montserrat"/>
              </a:rPr>
              <a:t>Sistemas de Tiempo Compartido</a:t>
            </a:r>
            <a:endParaRPr b="0" i="0" sz="2100" u="none" cap="none" strike="noStrike"/>
          </a:p>
        </p:txBody>
      </p:sp>
      <p:sp>
        <p:nvSpPr>
          <p:cNvPr id="61" name="Google Shape;61;p2"/>
          <p:cNvSpPr/>
          <p:nvPr/>
        </p:nvSpPr>
        <p:spPr>
          <a:xfrm>
            <a:off x="1420773" y="3985855"/>
            <a:ext cx="3458051" cy="3182541"/>
          </a:xfrm>
          <a:prstGeom prst="rect">
            <a:avLst/>
          </a:prstGeom>
          <a:noFill/>
          <a:ln>
            <a:noFill/>
          </a:ln>
        </p:spPr>
        <p:txBody>
          <a:bodyPr anchorCtr="0" anchor="t" bIns="0" lIns="0" spcFirstLastPara="1" rIns="0" wrap="square" tIns="0">
            <a:noAutofit/>
          </a:bodyPr>
          <a:lstStyle/>
          <a:p>
            <a:pPr indent="0" lvl="0" marL="0" marR="0" rtl="0" algn="l">
              <a:lnSpc>
                <a:spcPct val="148648"/>
              </a:lnSpc>
              <a:spcBef>
                <a:spcPts val="0"/>
              </a:spcBef>
              <a:spcAft>
                <a:spcPts val="0"/>
              </a:spcAft>
              <a:buClr>
                <a:srgbClr val="E2E6E9"/>
              </a:buClr>
              <a:buSzPts val="1850"/>
              <a:buFont typeface="Arial"/>
              <a:buNone/>
            </a:pPr>
            <a:r>
              <a:rPr b="0" i="0" lang="en-US" sz="1850" u="none" cap="none" strike="noStrike">
                <a:solidFill>
                  <a:srgbClr val="E2E6E9"/>
                </a:solidFill>
                <a:latin typeface="Arial"/>
                <a:ea typeface="Arial"/>
                <a:cs typeface="Arial"/>
                <a:sym typeface="Arial"/>
              </a:rPr>
              <a:t>Estos permiten que múltiples usuarios accedan a una sola computadora casi al mismo tiempo. Así, cada usuario tiene una fracción de tiempo asignada, lo que permite que todos los procesos se gestionen de manera eficiente y justa. Un ejemplo clásico de este tipo es UNIX.</a:t>
            </a:r>
            <a:endParaRPr b="0" i="0" sz="1850" u="none" cap="none" strike="noStrike"/>
          </a:p>
        </p:txBody>
      </p:sp>
      <p:sp>
        <p:nvSpPr>
          <p:cNvPr id="62" name="Google Shape;62;p2"/>
          <p:cNvSpPr/>
          <p:nvPr/>
        </p:nvSpPr>
        <p:spPr>
          <a:xfrm>
            <a:off x="5350300" y="2939049"/>
            <a:ext cx="3902700" cy="5181000"/>
          </a:xfrm>
          <a:prstGeom prst="roundRect">
            <a:avLst>
              <a:gd fmla="val 900"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586055" y="3174802"/>
            <a:ext cx="3446502" cy="334804"/>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2E6E9"/>
              </a:buClr>
              <a:buSzPts val="2100"/>
              <a:buFont typeface="Montserrat"/>
              <a:buNone/>
            </a:pPr>
            <a:r>
              <a:rPr b="1" i="0" lang="en-US" sz="2100" u="none" cap="none" strike="noStrike">
                <a:solidFill>
                  <a:srgbClr val="E2E6E9"/>
                </a:solidFill>
                <a:latin typeface="Montserrat"/>
                <a:ea typeface="Montserrat"/>
                <a:cs typeface="Montserrat"/>
                <a:sym typeface="Montserrat"/>
              </a:rPr>
              <a:t>Sistemas de Tiempo Real</a:t>
            </a:r>
            <a:endParaRPr b="0" i="0" sz="2100" u="none" cap="none" strike="noStrike"/>
          </a:p>
        </p:txBody>
      </p:sp>
      <p:sp>
        <p:nvSpPr>
          <p:cNvPr id="64" name="Google Shape;64;p2"/>
          <p:cNvSpPr/>
          <p:nvPr/>
        </p:nvSpPr>
        <p:spPr>
          <a:xfrm>
            <a:off x="5586055" y="3651052"/>
            <a:ext cx="3458051" cy="3182541"/>
          </a:xfrm>
          <a:prstGeom prst="rect">
            <a:avLst/>
          </a:prstGeom>
          <a:noFill/>
          <a:ln>
            <a:noFill/>
          </a:ln>
        </p:spPr>
        <p:txBody>
          <a:bodyPr anchorCtr="0" anchor="t" bIns="0" lIns="0" spcFirstLastPara="1" rIns="0" wrap="square" tIns="0">
            <a:noAutofit/>
          </a:bodyPr>
          <a:lstStyle/>
          <a:p>
            <a:pPr indent="0" lvl="0" marL="0" marR="0" rtl="0" algn="l">
              <a:lnSpc>
                <a:spcPct val="148648"/>
              </a:lnSpc>
              <a:spcBef>
                <a:spcPts val="0"/>
              </a:spcBef>
              <a:spcAft>
                <a:spcPts val="0"/>
              </a:spcAft>
              <a:buClr>
                <a:srgbClr val="E2E6E9"/>
              </a:buClr>
              <a:buSzPts val="1850"/>
              <a:buFont typeface="Arial"/>
              <a:buNone/>
            </a:pPr>
            <a:r>
              <a:rPr b="0" i="0" lang="en-US" sz="1850" u="none" cap="none" strike="noStrike">
                <a:solidFill>
                  <a:srgbClr val="E2E6E9"/>
                </a:solidFill>
                <a:latin typeface="Arial"/>
                <a:ea typeface="Arial"/>
                <a:cs typeface="Arial"/>
                <a:sym typeface="Arial"/>
              </a:rPr>
              <a:t>Son esenciales cuando se requiere que el sistema responda en un tiempo específico. Imaginen una planta de fabricación donde un sistema de control debe detener una máquina en el momento exacto para evitar un accidente. Ejemplo: QNX en la industria automotriz.</a:t>
            </a:r>
            <a:endParaRPr b="0" i="0" sz="1850" u="none" cap="none" strike="noStrike"/>
          </a:p>
        </p:txBody>
      </p:sp>
      <p:sp>
        <p:nvSpPr>
          <p:cNvPr id="65" name="Google Shape;65;p2"/>
          <p:cNvSpPr/>
          <p:nvPr/>
        </p:nvSpPr>
        <p:spPr>
          <a:xfrm>
            <a:off x="9515600" y="2939049"/>
            <a:ext cx="3989700" cy="5181000"/>
          </a:xfrm>
          <a:prstGeom prst="roundRect">
            <a:avLst>
              <a:gd fmla="val 900"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9751338" y="3174802"/>
            <a:ext cx="3458051" cy="66960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E2E6E9"/>
              </a:buClr>
              <a:buSzPts val="2100"/>
              <a:buFont typeface="Montserrat"/>
              <a:buNone/>
            </a:pPr>
            <a:r>
              <a:rPr b="1" i="0" lang="en-US" sz="2100" u="none" cap="none" strike="noStrike">
                <a:solidFill>
                  <a:srgbClr val="E2E6E9"/>
                </a:solidFill>
                <a:latin typeface="Montserrat"/>
                <a:ea typeface="Montserrat"/>
                <a:cs typeface="Montserrat"/>
                <a:sym typeface="Montserrat"/>
              </a:rPr>
              <a:t>Sistemas de Propósito General</a:t>
            </a:r>
            <a:endParaRPr b="0" i="0" sz="2100" u="none" cap="none" strike="noStrike"/>
          </a:p>
        </p:txBody>
      </p:sp>
      <p:sp>
        <p:nvSpPr>
          <p:cNvPr id="67" name="Google Shape;67;p2"/>
          <p:cNvSpPr/>
          <p:nvPr/>
        </p:nvSpPr>
        <p:spPr>
          <a:xfrm>
            <a:off x="9751338" y="3985855"/>
            <a:ext cx="3458051" cy="2828925"/>
          </a:xfrm>
          <a:prstGeom prst="rect">
            <a:avLst/>
          </a:prstGeom>
          <a:noFill/>
          <a:ln>
            <a:noFill/>
          </a:ln>
        </p:spPr>
        <p:txBody>
          <a:bodyPr anchorCtr="0" anchor="t" bIns="0" lIns="0" spcFirstLastPara="1" rIns="0" wrap="square" tIns="0">
            <a:noAutofit/>
          </a:bodyPr>
          <a:lstStyle/>
          <a:p>
            <a:pPr indent="0" lvl="0" marL="0" marR="0" rtl="0" algn="l">
              <a:lnSpc>
                <a:spcPct val="148648"/>
              </a:lnSpc>
              <a:spcBef>
                <a:spcPts val="0"/>
              </a:spcBef>
              <a:spcAft>
                <a:spcPts val="0"/>
              </a:spcAft>
              <a:buClr>
                <a:srgbClr val="E2E6E9"/>
              </a:buClr>
              <a:buSzPts val="1850"/>
              <a:buFont typeface="Arial"/>
              <a:buNone/>
            </a:pPr>
            <a:r>
              <a:rPr b="0" i="0" lang="en-US" sz="1850" u="none" cap="none" strike="noStrike">
                <a:solidFill>
                  <a:srgbClr val="E2E6E9"/>
                </a:solidFill>
                <a:latin typeface="Arial"/>
                <a:ea typeface="Arial"/>
                <a:cs typeface="Arial"/>
                <a:sym typeface="Arial"/>
              </a:rPr>
              <a:t>Este es el sistema operativo que usamos en la mayoría de nuestras computadoras personales y permite realizar una gran variedad de tareas, desde jugar, navegar en la web, hasta el desarrollo de software. Ejemplos populares incluyen Windows, macOS y Linux.</a:t>
            </a:r>
            <a:endParaRPr b="0" i="0" sz="18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p:nvPr/>
        </p:nvSpPr>
        <p:spPr>
          <a:xfrm>
            <a:off x="1185024" y="624850"/>
            <a:ext cx="12260100" cy="70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Más Tipos de Sistemas Operativos</a:t>
            </a:r>
            <a:endParaRPr b="0" i="0" sz="4400" u="none" cap="none" strike="noStrike"/>
          </a:p>
        </p:txBody>
      </p:sp>
      <p:sp>
        <p:nvSpPr>
          <p:cNvPr id="74" name="Google Shape;74;p3"/>
          <p:cNvSpPr/>
          <p:nvPr/>
        </p:nvSpPr>
        <p:spPr>
          <a:xfrm>
            <a:off x="1185025" y="2549377"/>
            <a:ext cx="3922200" cy="5157600"/>
          </a:xfrm>
          <a:prstGeom prst="roundRect">
            <a:avLst>
              <a:gd fmla="val 944"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1431851" y="2796175"/>
            <a:ext cx="3588600" cy="35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Sistemas Embebidos</a:t>
            </a:r>
            <a:endParaRPr b="0" i="0" sz="2200" u="none" cap="none" strike="noStrike"/>
          </a:p>
        </p:txBody>
      </p:sp>
      <p:sp>
        <p:nvSpPr>
          <p:cNvPr id="76" name="Google Shape;76;p3"/>
          <p:cNvSpPr/>
          <p:nvPr/>
        </p:nvSpPr>
        <p:spPr>
          <a:xfrm>
            <a:off x="1431946" y="3218236"/>
            <a:ext cx="3428400" cy="333360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Son SO específicos diseñados para dispositivos que cumplen una función concreta, como los que controlan electrodomésticos o vehículos. Ejemplos de estos sistemas pueden encontrarse en relojes inteligentes o en los sistemas de control de electrodomésticos.</a:t>
            </a:r>
            <a:endParaRPr b="0" i="0" sz="1900" u="none" cap="none" strike="noStrike"/>
          </a:p>
        </p:txBody>
      </p:sp>
      <p:sp>
        <p:nvSpPr>
          <p:cNvPr id="77" name="Google Shape;77;p3"/>
          <p:cNvSpPr/>
          <p:nvPr/>
        </p:nvSpPr>
        <p:spPr>
          <a:xfrm>
            <a:off x="5354003" y="2549366"/>
            <a:ext cx="3922157" cy="4326017"/>
          </a:xfrm>
          <a:prstGeom prst="roundRect">
            <a:avLst>
              <a:gd fmla="val 944"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5600826" y="2796175"/>
            <a:ext cx="3454200" cy="35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Sistemas Distribuidos</a:t>
            </a:r>
            <a:endParaRPr b="0" i="0" sz="2200" u="none" cap="none" strike="noStrike"/>
          </a:p>
        </p:txBody>
      </p:sp>
      <p:sp>
        <p:nvSpPr>
          <p:cNvPr id="79" name="Google Shape;79;p3"/>
          <p:cNvSpPr/>
          <p:nvPr/>
        </p:nvSpPr>
        <p:spPr>
          <a:xfrm>
            <a:off x="5600819" y="3294936"/>
            <a:ext cx="3428524" cy="2963228"/>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En estos sistemas, varios equipos trabajan en conjunto, compartiendo recursos y ejecutando tareas de forma colaborativa a través de redes. Son comunes en entornos de computación en la nube, como el Google File System.</a:t>
            </a:r>
            <a:endParaRPr b="0" i="0" sz="1900" u="none" cap="none" strike="noStrike"/>
          </a:p>
        </p:txBody>
      </p:sp>
      <p:sp>
        <p:nvSpPr>
          <p:cNvPr id="80" name="Google Shape;80;p3"/>
          <p:cNvSpPr/>
          <p:nvPr/>
        </p:nvSpPr>
        <p:spPr>
          <a:xfrm>
            <a:off x="9522976" y="2549366"/>
            <a:ext cx="3922157" cy="4326017"/>
          </a:xfrm>
          <a:prstGeom prst="roundRect">
            <a:avLst>
              <a:gd fmla="val 944"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9769793" y="2796183"/>
            <a:ext cx="2805470"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Sistemas Móviles</a:t>
            </a:r>
            <a:endParaRPr b="0" i="0" sz="2200" u="none" cap="none" strike="noStrike"/>
          </a:p>
        </p:txBody>
      </p:sp>
      <p:sp>
        <p:nvSpPr>
          <p:cNvPr id="82" name="Google Shape;82;p3"/>
          <p:cNvSpPr/>
          <p:nvPr/>
        </p:nvSpPr>
        <p:spPr>
          <a:xfrm>
            <a:off x="9769793" y="3294936"/>
            <a:ext cx="3428524" cy="2222421"/>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Diseñados específicamente para teléfonos y tablets, estos sistemas están optimizados para el bajo consumo de energía y la interacción táctil. Ejemplos: Android y iOS.</a:t>
            </a:r>
            <a:endParaRPr b="0" i="0" sz="19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4"/>
          <p:cNvSpPr/>
          <p:nvPr/>
        </p:nvSpPr>
        <p:spPr>
          <a:xfrm>
            <a:off x="1112104" y="2475336"/>
            <a:ext cx="5940600" cy="70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Introducción a Linux</a:t>
            </a:r>
            <a:endParaRPr b="0" i="0" sz="4400" u="none" cap="none" strike="noStrike"/>
          </a:p>
        </p:txBody>
      </p:sp>
      <p:sp>
        <p:nvSpPr>
          <p:cNvPr id="89" name="Google Shape;89;p4"/>
          <p:cNvSpPr/>
          <p:nvPr/>
        </p:nvSpPr>
        <p:spPr>
          <a:xfrm>
            <a:off x="1185029" y="4156710"/>
            <a:ext cx="12260223" cy="111121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Linux es un sistema operativo ampliamente utilizado en la actualidad, conocido por su flexibilidad y código abierto. Este último punto es crucial, ya que permite que cualquier persona tenga acceso a su código fuente para modificarlo o mejorarlo, fomentando una gran comunidad de desarrolladores y usuarios.</a:t>
            </a:r>
            <a:endParaRPr b="0" i="0" sz="19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5"/>
          <p:cNvSpPr/>
          <p:nvPr/>
        </p:nvSpPr>
        <p:spPr>
          <a:xfrm>
            <a:off x="1185024" y="1506175"/>
            <a:ext cx="9026100" cy="70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Características de Linux</a:t>
            </a:r>
            <a:endParaRPr b="0" i="0" sz="4400" u="none" cap="none" strike="noStrike"/>
          </a:p>
        </p:txBody>
      </p:sp>
      <p:sp>
        <p:nvSpPr>
          <p:cNvPr id="96" name="Google Shape;96;p5"/>
          <p:cNvSpPr/>
          <p:nvPr/>
        </p:nvSpPr>
        <p:spPr>
          <a:xfrm>
            <a:off x="1185029" y="3067764"/>
            <a:ext cx="3402568"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tserrat"/>
              <a:buNone/>
            </a:pPr>
            <a:r>
              <a:rPr b="1" i="0" lang="en-US" sz="2200" u="none" cap="none" strike="noStrike">
                <a:solidFill>
                  <a:srgbClr val="FFFFFF"/>
                </a:solidFill>
                <a:latin typeface="Montserrat"/>
                <a:ea typeface="Montserrat"/>
                <a:cs typeface="Montserrat"/>
                <a:sym typeface="Montserrat"/>
              </a:rPr>
              <a:t>Distribuciones de Linux</a:t>
            </a:r>
            <a:endParaRPr b="0" i="0" sz="2200" u="none" cap="none" strike="noStrike"/>
          </a:p>
        </p:txBody>
      </p:sp>
      <p:sp>
        <p:nvSpPr>
          <p:cNvPr id="97" name="Google Shape;97;p5"/>
          <p:cNvSpPr/>
          <p:nvPr/>
        </p:nvSpPr>
        <p:spPr>
          <a:xfrm>
            <a:off x="1185029" y="3993420"/>
            <a:ext cx="5829000" cy="148170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Existen múltiples versiones o "distribuciones" de Linux, cada una optimizada para diferentes propósitos. Ejemplos comunes incluyen Ubuntu, Fedora, Debian, y Arch Linux.</a:t>
            </a:r>
            <a:endParaRPr b="0" i="0" sz="1900" u="none" cap="none" strike="noStrike"/>
          </a:p>
        </p:txBody>
      </p:sp>
      <p:sp>
        <p:nvSpPr>
          <p:cNvPr id="98" name="Google Shape;98;p5"/>
          <p:cNvSpPr/>
          <p:nvPr/>
        </p:nvSpPr>
        <p:spPr>
          <a:xfrm>
            <a:off x="7623810" y="3067764"/>
            <a:ext cx="3667244"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tserrat"/>
              <a:buNone/>
            </a:pPr>
            <a:r>
              <a:rPr b="1" i="0" lang="en-US" sz="2200" u="none" cap="none" strike="noStrike">
                <a:solidFill>
                  <a:srgbClr val="FFFFFF"/>
                </a:solidFill>
                <a:latin typeface="Montserrat"/>
                <a:ea typeface="Montserrat"/>
                <a:cs typeface="Montserrat"/>
                <a:sym typeface="Montserrat"/>
              </a:rPr>
              <a:t>Robustez y adaptabilidad</a:t>
            </a:r>
            <a:endParaRPr b="0" i="0" sz="2200" u="none" cap="none" strike="noStrike"/>
          </a:p>
        </p:txBody>
      </p:sp>
      <p:sp>
        <p:nvSpPr>
          <p:cNvPr id="99" name="Google Shape;99;p5"/>
          <p:cNvSpPr/>
          <p:nvPr/>
        </p:nvSpPr>
        <p:spPr>
          <a:xfrm>
            <a:off x="7623810" y="3920495"/>
            <a:ext cx="5829000" cy="259290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Linux es famoso por su fiabilidad y eficiencia, lo cual lo convierte en el sistema operativo elegido para servidores, supercomputadoras y dispositivos embebidos. Además, con distribuciones amigables, como Ubuntu, también es una buena opción para quienes prefieren entornos gráficos de usuario y desean una alternativa a Windows o macOS.</a:t>
            </a:r>
            <a:endParaRPr b="0" i="0" sz="19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6"/>
          <p:cNvSpPr/>
          <p:nvPr/>
        </p:nvSpPr>
        <p:spPr>
          <a:xfrm>
            <a:off x="1185023" y="1151325"/>
            <a:ext cx="12260100" cy="70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Historia de Linux: Los Inicios</a:t>
            </a:r>
            <a:endParaRPr b="0" i="0" sz="4400" u="none" cap="none" strike="noStrike"/>
          </a:p>
        </p:txBody>
      </p:sp>
      <p:sp>
        <p:nvSpPr>
          <p:cNvPr id="106" name="Google Shape;106;p6"/>
          <p:cNvSpPr/>
          <p:nvPr/>
        </p:nvSpPr>
        <p:spPr>
          <a:xfrm>
            <a:off x="1185029" y="2346484"/>
            <a:ext cx="12260223" cy="370403"/>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Para comprender el contexto de Linux, necesitamos ver cómo se desarrolló a partir de UNIX en los años 60 y 70.</a:t>
            </a:r>
            <a:endParaRPr b="0" i="0" sz="1900" u="none" cap="none" strike="noStrike"/>
          </a:p>
        </p:txBody>
      </p:sp>
      <p:sp>
        <p:nvSpPr>
          <p:cNvPr id="107" name="Google Shape;107;p6"/>
          <p:cNvSpPr/>
          <p:nvPr/>
        </p:nvSpPr>
        <p:spPr>
          <a:xfrm>
            <a:off x="1540073" y="2994541"/>
            <a:ext cx="30480" cy="4083606"/>
          </a:xfrm>
          <a:prstGeom prst="roundRect">
            <a:avLst>
              <a:gd fmla="val 121500"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1802547" y="3534608"/>
            <a:ext cx="864037" cy="30480"/>
          </a:xfrm>
          <a:prstGeom prst="roundRect">
            <a:avLst>
              <a:gd fmla="val 121500"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1277600" y="3272195"/>
            <a:ext cx="555427" cy="555427"/>
          </a:xfrm>
          <a:prstGeom prst="roundRect">
            <a:avLst>
              <a:gd fmla="val 6668"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1490960" y="3381494"/>
            <a:ext cx="128588" cy="33670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650"/>
              <a:buFont typeface="Montserrat"/>
              <a:buNone/>
            </a:pPr>
            <a:r>
              <a:rPr b="1" i="0" lang="en-US" sz="2650" u="none" cap="none" strike="noStrike">
                <a:solidFill>
                  <a:srgbClr val="E2E6E9"/>
                </a:solidFill>
                <a:latin typeface="Montserrat"/>
                <a:ea typeface="Montserrat"/>
                <a:cs typeface="Montserrat"/>
                <a:sym typeface="Montserrat"/>
              </a:rPr>
              <a:t>1</a:t>
            </a:r>
            <a:endParaRPr b="0" i="0" sz="2650" u="none" cap="none" strike="noStrike"/>
          </a:p>
        </p:txBody>
      </p:sp>
      <p:sp>
        <p:nvSpPr>
          <p:cNvPr id="111" name="Google Shape;111;p6"/>
          <p:cNvSpPr/>
          <p:nvPr/>
        </p:nvSpPr>
        <p:spPr>
          <a:xfrm>
            <a:off x="2913102" y="3241358"/>
            <a:ext cx="2805470"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El Origen en UNIX</a:t>
            </a:r>
            <a:endParaRPr b="0" i="0" sz="2200" u="none" cap="none" strike="noStrike"/>
          </a:p>
        </p:txBody>
      </p:sp>
      <p:sp>
        <p:nvSpPr>
          <p:cNvPr id="112" name="Google Shape;112;p6"/>
          <p:cNvSpPr/>
          <p:nvPr/>
        </p:nvSpPr>
        <p:spPr>
          <a:xfrm>
            <a:off x="2913102" y="3740110"/>
            <a:ext cx="10532150" cy="74080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UNIX fue creado en los laboratorios Bell de AT&amp;T, y fue pionero en ofrecer un sistema operativo portátil y flexible. Sin embargo, su código propietario limitaba su acceso.</a:t>
            </a:r>
            <a:endParaRPr b="0" i="0" sz="1900" u="none" cap="none" strike="noStrike"/>
          </a:p>
        </p:txBody>
      </p:sp>
      <p:sp>
        <p:nvSpPr>
          <p:cNvPr id="113" name="Google Shape;113;p6"/>
          <p:cNvSpPr/>
          <p:nvPr/>
        </p:nvSpPr>
        <p:spPr>
          <a:xfrm>
            <a:off x="1802547" y="5514618"/>
            <a:ext cx="864037" cy="30480"/>
          </a:xfrm>
          <a:prstGeom prst="roundRect">
            <a:avLst>
              <a:gd fmla="val 121500"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1277600" y="5252204"/>
            <a:ext cx="555427" cy="555427"/>
          </a:xfrm>
          <a:prstGeom prst="roundRect">
            <a:avLst>
              <a:gd fmla="val 6668"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1457623" y="5361503"/>
            <a:ext cx="195263" cy="33670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650"/>
              <a:buFont typeface="Montserrat"/>
              <a:buNone/>
            </a:pPr>
            <a:r>
              <a:rPr b="1" i="0" lang="en-US" sz="2650" u="none" cap="none" strike="noStrike">
                <a:solidFill>
                  <a:srgbClr val="E2E6E9"/>
                </a:solidFill>
                <a:latin typeface="Montserrat"/>
                <a:ea typeface="Montserrat"/>
                <a:cs typeface="Montserrat"/>
                <a:sym typeface="Montserrat"/>
              </a:rPr>
              <a:t>2</a:t>
            </a:r>
            <a:endParaRPr b="0" i="0" sz="2650" u="none" cap="none" strike="noStrike"/>
          </a:p>
        </p:txBody>
      </p:sp>
      <p:sp>
        <p:nvSpPr>
          <p:cNvPr id="116" name="Google Shape;116;p6"/>
          <p:cNvSpPr/>
          <p:nvPr/>
        </p:nvSpPr>
        <p:spPr>
          <a:xfrm>
            <a:off x="2913102" y="5221367"/>
            <a:ext cx="2805470"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El Proyecto GNU</a:t>
            </a:r>
            <a:endParaRPr b="0" i="0" sz="2200" u="none" cap="none" strike="noStrike"/>
          </a:p>
        </p:txBody>
      </p:sp>
      <p:sp>
        <p:nvSpPr>
          <p:cNvPr id="117" name="Google Shape;117;p6"/>
          <p:cNvSpPr/>
          <p:nvPr/>
        </p:nvSpPr>
        <p:spPr>
          <a:xfrm>
            <a:off x="2913102" y="5720120"/>
            <a:ext cx="10532150" cy="111121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En 1983, Richard Stallman fundó el Proyecto GNU para desarrollar un sistema operativo completamente libre que fuera similar a UNIX. Aunque GNU logró desarrollar herramientas esenciales, le faltaba el núcleo del sistema.</a:t>
            </a:r>
            <a:endParaRPr b="0" i="0" sz="19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descr="preencoded.png" id="123" name="Google Shape;123;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24" name="Google Shape;124;p7"/>
          <p:cNvSpPr/>
          <p:nvPr/>
        </p:nvSpPr>
        <p:spPr>
          <a:xfrm>
            <a:off x="864037" y="1435656"/>
            <a:ext cx="7415927" cy="140279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Historia de Linux: El Nacimiento</a:t>
            </a:r>
            <a:endParaRPr b="0" i="0" sz="4400" u="none" cap="none" strike="noStrike"/>
          </a:p>
        </p:txBody>
      </p:sp>
      <p:sp>
        <p:nvSpPr>
          <p:cNvPr id="125" name="Google Shape;125;p7"/>
          <p:cNvSpPr/>
          <p:nvPr/>
        </p:nvSpPr>
        <p:spPr>
          <a:xfrm>
            <a:off x="1219081" y="3208734"/>
            <a:ext cx="30480" cy="3585210"/>
          </a:xfrm>
          <a:prstGeom prst="roundRect">
            <a:avLst>
              <a:gd fmla="val 121500"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1481554" y="3748802"/>
            <a:ext cx="864037" cy="30480"/>
          </a:xfrm>
          <a:prstGeom prst="roundRect">
            <a:avLst>
              <a:gd fmla="val 121500"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956608" y="3486388"/>
            <a:ext cx="555427" cy="555427"/>
          </a:xfrm>
          <a:prstGeom prst="roundRect">
            <a:avLst>
              <a:gd fmla="val 6668"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1169968" y="3595688"/>
            <a:ext cx="128588" cy="33670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650"/>
              <a:buFont typeface="Montserrat"/>
              <a:buNone/>
            </a:pPr>
            <a:r>
              <a:rPr b="1" i="0" lang="en-US" sz="2650" u="none" cap="none" strike="noStrike">
                <a:solidFill>
                  <a:srgbClr val="E2E6E9"/>
                </a:solidFill>
                <a:latin typeface="Montserrat"/>
                <a:ea typeface="Montserrat"/>
                <a:cs typeface="Montserrat"/>
                <a:sym typeface="Montserrat"/>
              </a:rPr>
              <a:t>1</a:t>
            </a:r>
            <a:endParaRPr b="0" i="0" sz="2650" u="none" cap="none" strike="noStrike"/>
          </a:p>
        </p:txBody>
      </p:sp>
      <p:sp>
        <p:nvSpPr>
          <p:cNvPr id="129" name="Google Shape;129;p7"/>
          <p:cNvSpPr/>
          <p:nvPr/>
        </p:nvSpPr>
        <p:spPr>
          <a:xfrm>
            <a:off x="2592110" y="3455551"/>
            <a:ext cx="2983111"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Nacimiento de Linux</a:t>
            </a:r>
            <a:endParaRPr b="0" i="0" sz="2200" u="none" cap="none" strike="noStrike"/>
          </a:p>
        </p:txBody>
      </p:sp>
      <p:sp>
        <p:nvSpPr>
          <p:cNvPr id="130" name="Google Shape;130;p7"/>
          <p:cNvSpPr/>
          <p:nvPr/>
        </p:nvSpPr>
        <p:spPr>
          <a:xfrm>
            <a:off x="2592110" y="4347004"/>
            <a:ext cx="5688000" cy="259290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En 1991, Linus Torvalds, un estudiante de Finlandia, comenzó a trabajar en un núcleo compatible con UNIX, que más tarde llamó Linux. Junto con las herramientas del Proyecto GNU, formaron un sistema operativo completo. En 1992, Torvalds liberó Linux bajo la Licencia Pública General (GPL), lo que permitió que cualquiera pudiera usar y modificar el software.</a:t>
            </a:r>
            <a:endParaRPr b="0" i="0" sz="19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preencoded.png" id="136" name="Google Shape;136;p8"/>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37" name="Google Shape;137;p8"/>
          <p:cNvSpPr/>
          <p:nvPr/>
        </p:nvSpPr>
        <p:spPr>
          <a:xfrm>
            <a:off x="6350437" y="1640562"/>
            <a:ext cx="7415927" cy="210419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Historia de Linux: Crecimiento y Popularidad</a:t>
            </a:r>
            <a:endParaRPr b="0" i="0" sz="4400" u="none" cap="none" strike="noStrike"/>
          </a:p>
        </p:txBody>
      </p:sp>
      <p:sp>
        <p:nvSpPr>
          <p:cNvPr id="138" name="Google Shape;138;p8"/>
          <p:cNvSpPr/>
          <p:nvPr/>
        </p:nvSpPr>
        <p:spPr>
          <a:xfrm>
            <a:off x="6705481" y="4115038"/>
            <a:ext cx="30480" cy="2474000"/>
          </a:xfrm>
          <a:prstGeom prst="roundRect">
            <a:avLst>
              <a:gd fmla="val 121500"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6967954" y="4655106"/>
            <a:ext cx="864037" cy="30480"/>
          </a:xfrm>
          <a:prstGeom prst="roundRect">
            <a:avLst>
              <a:gd fmla="val 121500"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6443008" y="4392692"/>
            <a:ext cx="555427" cy="555427"/>
          </a:xfrm>
          <a:prstGeom prst="roundRect">
            <a:avLst>
              <a:gd fmla="val 6668"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6656368" y="4501991"/>
            <a:ext cx="128588" cy="33670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650"/>
              <a:buFont typeface="Montserrat"/>
              <a:buNone/>
            </a:pPr>
            <a:r>
              <a:rPr b="1" i="0" lang="en-US" sz="2650" u="none" cap="none" strike="noStrike">
                <a:solidFill>
                  <a:srgbClr val="E2E6E9"/>
                </a:solidFill>
                <a:latin typeface="Montserrat"/>
                <a:ea typeface="Montserrat"/>
                <a:cs typeface="Montserrat"/>
                <a:sym typeface="Montserrat"/>
              </a:rPr>
              <a:t>1</a:t>
            </a:r>
            <a:endParaRPr b="0" i="0" sz="2650" u="none" cap="none" strike="noStrike"/>
          </a:p>
        </p:txBody>
      </p:sp>
      <p:sp>
        <p:nvSpPr>
          <p:cNvPr id="142" name="Google Shape;142;p8"/>
          <p:cNvSpPr/>
          <p:nvPr/>
        </p:nvSpPr>
        <p:spPr>
          <a:xfrm>
            <a:off x="8078510" y="4361855"/>
            <a:ext cx="3851791"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Crecimiento y Popularidad</a:t>
            </a:r>
            <a:endParaRPr b="0" i="0" sz="2200" u="none" cap="none" strike="noStrike"/>
          </a:p>
        </p:txBody>
      </p:sp>
      <p:sp>
        <p:nvSpPr>
          <p:cNvPr id="143" name="Google Shape;143;p8"/>
          <p:cNvSpPr/>
          <p:nvPr/>
        </p:nvSpPr>
        <p:spPr>
          <a:xfrm>
            <a:off x="8078510" y="5329608"/>
            <a:ext cx="5688000" cy="148170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A medida que más personas comenzaron a colaborar en Linux, surgieron múltiples distribuciones, y el sistema operativo ganó popularidad, especialmente en servidores debido a su estabilidad y a que es gratuito.</a:t>
            </a:r>
            <a:endParaRPr b="0" i="0" sz="19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2024-11-04T20:32:36Z</dcterms:created>
  <dc:creator>PptxGenJS</dc:creator>
</cp:coreProperties>
</file>