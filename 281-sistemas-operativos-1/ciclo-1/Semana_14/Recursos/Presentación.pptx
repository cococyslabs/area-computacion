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4630400" cy="8229600"/>
  <p:notesSz cx="8229600" cy="14630400"/>
  <p:embeddedFontLst>
    <p:embeddedFont>
      <p:font typeface="Patrick Hand"/>
      <p:regular r:id="rId22"/>
    </p:embeddedFont>
    <p:embeddedFont>
      <p:font typeface="Patrick Hand"/>
      <p:regular r:id="rId23"/>
    </p:embeddedFont>
    <p:embeddedFont>
      <p:font typeface="Patrick Hand"/>
      <p:regular r:id="rId24"/>
    </p:embeddedFont>
    <p:embeddedFont>
      <p:font typeface="Patrick Hand"/>
      <p:regular r:id="rId2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font" Target="fonts/font1.fntdata"/><Relationship Id="rId23" Type="http://schemas.openxmlformats.org/officeDocument/2006/relationships/font" Target="fonts/font2.fntdata"/><Relationship Id="rId24" Type="http://schemas.openxmlformats.org/officeDocument/2006/relationships/font" Target="fonts/font3.fntdata"/><Relationship Id="rId25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3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4-1.png"/><Relationship Id="rId3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5-1.png"/><Relationship Id="rId3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6073" y="2113955"/>
            <a:ext cx="7211854" cy="1380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Características de los sistemas distribuidos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966073" y="3908108"/>
            <a:ext cx="7211854" cy="2207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5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Los sistemas distribuidos son aquellos conformados por múltiples componentes de hardware y software interconectados, que trabajan de manera coordinada para lograr un objetivo común. Estas arquitecturas ofrecen beneficios clave como redundancia, escalabilidad y alta disponibilidad.</a:t>
            </a:r>
            <a:endParaRPr lang="en-US" sz="2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52473" y="2190036"/>
            <a:ext cx="6352223" cy="690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Transparencia de la distribución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6452473" y="3294102"/>
            <a:ext cx="7211854" cy="1324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450"/>
              </a:lnSpc>
              <a:buSzPct val="100000"/>
              <a:buFont typeface="+mj-lt"/>
              <a:buAutoNum type="arabicPeriod" startAt="1"/>
            </a:pPr>
            <a:r>
              <a:rPr lang="en-US" sz="2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La transparencia de la distribución hace que los sistemas parezcan un sistema unificado, ocultando la complejidad de la infraestructura subyacente.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6452473" y="4715113"/>
            <a:ext cx="7211854" cy="1324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450"/>
              </a:lnSpc>
              <a:buSzPct val="100000"/>
              <a:buFont typeface="+mj-lt"/>
              <a:buAutoNum type="arabicPeriod" startAt="2"/>
            </a:pPr>
            <a:r>
              <a:rPr lang="en-US" sz="2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Esto se logra a través de mecanismos como el enrutamiento transparente, la replicación transparente y la migración transparente de recursos.</a:t>
            </a:r>
            <a:endParaRPr lang="en-US" sz="2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6073" y="2327910"/>
            <a:ext cx="8428673" cy="690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Ocultando la complejidad de la distribución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966073" y="3707963"/>
            <a:ext cx="4699873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Interfaces de usuario simplificadas y unificadas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966073" y="4328874"/>
            <a:ext cx="6012418" cy="88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5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Interfaces de usuario simplificadas y unificadas ocultan la complejidad de la infraestructura distribuida.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7659529" y="3707963"/>
            <a:ext cx="2760345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Mecanismos transparentes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7659529" y="4328874"/>
            <a:ext cx="6012418" cy="1324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5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Mecanismos de enrutamiento, replicación y migración transparentes esconden los detalles de la distribución al usuario final.</a:t>
            </a:r>
            <a:endParaRPr lang="en-US" sz="2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6073" y="761762"/>
            <a:ext cx="7211854" cy="1380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Mecanismos de comunicación entre nodos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966073" y="2866430"/>
            <a:ext cx="621030" cy="621030"/>
          </a:xfrm>
          <a:prstGeom prst="roundRect">
            <a:avLst>
              <a:gd name="adj" fmla="val 18669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16462" y="3011329"/>
            <a:ext cx="120253" cy="331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863090" y="2866430"/>
            <a:ext cx="2570917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Paso de mensajes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1863090" y="3376970"/>
            <a:ext cx="2570917" cy="176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5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Los nodos se comunican a través del envío y recepción de mensajes, coordinando sus acciones.</a:t>
            </a:r>
            <a:endParaRPr lang="en-US" sz="2150" dirty="0"/>
          </a:p>
        </p:txBody>
      </p:sp>
      <p:sp>
        <p:nvSpPr>
          <p:cNvPr id="8" name="Shape 5"/>
          <p:cNvSpPr/>
          <p:nvPr/>
        </p:nvSpPr>
        <p:spPr>
          <a:xfrm>
            <a:off x="4709993" y="2866430"/>
            <a:ext cx="621030" cy="621030"/>
          </a:xfrm>
          <a:prstGeom prst="roundRect">
            <a:avLst>
              <a:gd name="adj" fmla="val 18669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42999" y="3011329"/>
            <a:ext cx="155019" cy="331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607010" y="2866430"/>
            <a:ext cx="2570917" cy="68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RPC (Llamada a Procedimiento Remoto)</a:t>
            </a:r>
            <a:endParaRPr lang="en-US" sz="2150" dirty="0"/>
          </a:p>
        </p:txBody>
      </p:sp>
      <p:sp>
        <p:nvSpPr>
          <p:cNvPr id="11" name="Text 8"/>
          <p:cNvSpPr/>
          <p:nvPr/>
        </p:nvSpPr>
        <p:spPr>
          <a:xfrm>
            <a:off x="5607010" y="3721894"/>
            <a:ext cx="2570917" cy="176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5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Los clientes invocan procedimientos en otros nodos de forma transparente.</a:t>
            </a:r>
            <a:endParaRPr lang="en-US" sz="2150" dirty="0"/>
          </a:p>
        </p:txBody>
      </p:sp>
      <p:sp>
        <p:nvSpPr>
          <p:cNvPr id="12" name="Shape 9"/>
          <p:cNvSpPr/>
          <p:nvPr/>
        </p:nvSpPr>
        <p:spPr>
          <a:xfrm>
            <a:off x="966073" y="6074331"/>
            <a:ext cx="621030" cy="621030"/>
          </a:xfrm>
          <a:prstGeom prst="roundRect">
            <a:avLst>
              <a:gd name="adj" fmla="val 18669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02293" y="6219230"/>
            <a:ext cx="148471" cy="331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1863090" y="6074331"/>
            <a:ext cx="2760345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Servicios web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1863090" y="6584871"/>
            <a:ext cx="6314837" cy="88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5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Los nodos exponen funcionalidades como servicios accesibles mediante protocolos estandarizados.</a:t>
            </a:r>
            <a:endParaRPr lang="en-US" sz="2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6073" y="2334697"/>
            <a:ext cx="7211854" cy="1380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Gestión de la concurrencia y sincronización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966073" y="4128849"/>
            <a:ext cx="7211854" cy="176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5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Los mecanismos de </a:t>
            </a:r>
            <a:pPr indent="0" marL="0">
              <a:lnSpc>
                <a:spcPts val="3450"/>
              </a:lnSpc>
              <a:buNone/>
            </a:pPr>
            <a:r>
              <a:rPr lang="en-US" sz="215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bloqueo</a:t>
            </a:r>
            <a:pPr indent="0" marL="0">
              <a:lnSpc>
                <a:spcPts val="345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y </a:t>
            </a:r>
            <a:pPr indent="0" marL="0">
              <a:lnSpc>
                <a:spcPts val="3450"/>
              </a:lnSpc>
              <a:buNone/>
            </a:pPr>
            <a:r>
              <a:rPr lang="en-US" sz="215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semáforos</a:t>
            </a:r>
            <a:pPr indent="0" marL="0">
              <a:lnSpc>
                <a:spcPts val="345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permiten la </a:t>
            </a:r>
            <a:pPr indent="0" marL="0">
              <a:lnSpc>
                <a:spcPts val="3450"/>
              </a:lnSpc>
              <a:buNone/>
            </a:pPr>
            <a:r>
              <a:rPr lang="en-US" sz="215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coordinación de múltiples procesos</a:t>
            </a:r>
            <a:pPr indent="0" marL="0">
              <a:lnSpc>
                <a:spcPts val="345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que acceden a recursos compartidos. Además, las </a:t>
            </a:r>
            <a:pPr indent="0" marL="0">
              <a:lnSpc>
                <a:spcPts val="3450"/>
              </a:lnSpc>
              <a:buNone/>
            </a:pPr>
            <a:r>
              <a:rPr lang="en-US" sz="215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transacciones atómicas y consistentes</a:t>
            </a:r>
            <a:pPr indent="0" marL="0">
              <a:lnSpc>
                <a:spcPts val="345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garantizan la </a:t>
            </a:r>
            <a:pPr indent="0" marL="0">
              <a:lnSpc>
                <a:spcPts val="3450"/>
              </a:lnSpc>
              <a:buNone/>
            </a:pPr>
            <a:r>
              <a:rPr lang="en-US" sz="215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integridad de los datos</a:t>
            </a:r>
            <a:pPr indent="0" marL="0">
              <a:lnSpc>
                <a:spcPts val="345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en entornos concurrentes.</a:t>
            </a:r>
            <a:endParaRPr lang="en-US" sz="2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9038" y="690682"/>
            <a:ext cx="5023128" cy="627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900"/>
              </a:lnSpc>
              <a:buNone/>
            </a:pPr>
            <a:r>
              <a:rPr lang="en-US" sz="3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Escalabilidad</a:t>
            </a:r>
            <a:endParaRPr lang="en-US" sz="3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35141" y="1820704"/>
            <a:ext cx="2123837" cy="13683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40029" y="2421255"/>
            <a:ext cx="113943" cy="502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9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5410081" y="2347913"/>
            <a:ext cx="2631162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Gestión eficiente de recursos</a:t>
            </a:r>
            <a:endParaRPr lang="en-US" sz="1950" dirty="0"/>
          </a:p>
        </p:txBody>
      </p:sp>
      <p:sp>
        <p:nvSpPr>
          <p:cNvPr id="6" name="Shape 3"/>
          <p:cNvSpPr/>
          <p:nvPr/>
        </p:nvSpPr>
        <p:spPr>
          <a:xfrm>
            <a:off x="5221724" y="3205163"/>
            <a:ext cx="8466892" cy="15240"/>
          </a:xfrm>
          <a:prstGeom prst="roundRect">
            <a:avLst>
              <a:gd name="adj" fmla="val 692178"/>
            </a:avLst>
          </a:prstGeom>
          <a:solidFill>
            <a:srgbClr val="CCCCC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104" y="3251835"/>
            <a:ext cx="4247793" cy="136838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023479" y="3684865"/>
            <a:ext cx="146923" cy="502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9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</a:t>
            </a:r>
            <a:endParaRPr lang="en-US" sz="2450" dirty="0"/>
          </a:p>
        </p:txBody>
      </p:sp>
      <p:sp>
        <p:nvSpPr>
          <p:cNvPr id="9" name="Text 5"/>
          <p:cNvSpPr/>
          <p:nvPr/>
        </p:nvSpPr>
        <p:spPr>
          <a:xfrm>
            <a:off x="6471999" y="3502938"/>
            <a:ext cx="2136934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Escalabilidad horizontal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6471999" y="3967401"/>
            <a:ext cx="2136934" cy="401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Agregar más nodos</a:t>
            </a:r>
            <a:endParaRPr lang="en-US" sz="1950" dirty="0"/>
          </a:p>
        </p:txBody>
      </p:sp>
      <p:sp>
        <p:nvSpPr>
          <p:cNvPr id="11" name="Shape 7"/>
          <p:cNvSpPr/>
          <p:nvPr/>
        </p:nvSpPr>
        <p:spPr>
          <a:xfrm>
            <a:off x="6283643" y="4636294"/>
            <a:ext cx="7404973" cy="15240"/>
          </a:xfrm>
          <a:prstGeom prst="roundRect">
            <a:avLst>
              <a:gd name="adj" fmla="val 692178"/>
            </a:avLst>
          </a:prstGeom>
          <a:solidFill>
            <a:srgbClr val="CCCCC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185" y="4682966"/>
            <a:ext cx="6371749" cy="136838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026694" y="5115997"/>
            <a:ext cx="140613" cy="502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9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3</a:t>
            </a:r>
            <a:endParaRPr lang="en-US" sz="2450" dirty="0"/>
          </a:p>
        </p:txBody>
      </p:sp>
      <p:sp>
        <p:nvSpPr>
          <p:cNvPr id="14" name="Text 9"/>
          <p:cNvSpPr/>
          <p:nvPr/>
        </p:nvSpPr>
        <p:spPr>
          <a:xfrm>
            <a:off x="7534037" y="4934069"/>
            <a:ext cx="2511504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Escalabilidad vertical</a:t>
            </a:r>
            <a:endParaRPr lang="en-US" sz="1950" dirty="0"/>
          </a:p>
        </p:txBody>
      </p:sp>
      <p:sp>
        <p:nvSpPr>
          <p:cNvPr id="15" name="Text 10"/>
          <p:cNvSpPr/>
          <p:nvPr/>
        </p:nvSpPr>
        <p:spPr>
          <a:xfrm>
            <a:off x="7534037" y="5398532"/>
            <a:ext cx="2755106" cy="401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Mejorar capacidad de los nodos</a:t>
            </a:r>
            <a:endParaRPr lang="en-US" sz="1950" dirty="0"/>
          </a:p>
        </p:txBody>
      </p:sp>
      <p:sp>
        <p:nvSpPr>
          <p:cNvPr id="16" name="Text 11"/>
          <p:cNvSpPr/>
          <p:nvPr/>
        </p:nvSpPr>
        <p:spPr>
          <a:xfrm>
            <a:off x="879038" y="6333887"/>
            <a:ext cx="12872323" cy="120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5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La escalabilidad permite que los sistemas distribuidos aumenten su capacidad a medida que crecen las demandas de uso. Existen dos enfoques principales: escalabilidad horizontal (agregar más nodos) y vertical (mejorar la capacidad de los nodos). Lograr la escalabilidad implica gestionar eficientemente los recursos, la carga de trabajo y la tolerancia a fallas.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2356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912" y="2728793"/>
            <a:ext cx="3576995" cy="447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Tipos de escalabilidad</a:t>
            </a:r>
            <a:endParaRPr lang="en-US" sz="28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912" y="3444121"/>
            <a:ext cx="894159" cy="143077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88319" y="3622953"/>
            <a:ext cx="1788438" cy="22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Escalabilidad horizontal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1788319" y="3953708"/>
            <a:ext cx="12216170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Agregar más nodos para distribuir la carga de trabajo.</a:t>
            </a:r>
            <a:endParaRPr lang="en-US" sz="14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912" y="4874895"/>
            <a:ext cx="894159" cy="143077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788319" y="5053727"/>
            <a:ext cx="1788438" cy="22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Escalabilidad vertical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1788319" y="5384483"/>
            <a:ext cx="12216170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Mejorar la capacidad individual de los nodos existentes.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12" y="6305669"/>
            <a:ext cx="894159" cy="143077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788319" y="6484501"/>
            <a:ext cx="1788438" cy="22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Elección del enfoque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1788319" y="6815257"/>
            <a:ext cx="12216170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La elección entre estos enfoques depende de los requisitos de rendimiento, disponibilidad y presupuesto.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495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44285" y="741878"/>
            <a:ext cx="7255431" cy="1348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300"/>
              </a:lnSpc>
              <a:buNone/>
            </a:pPr>
            <a:r>
              <a:rPr lang="en-US" sz="4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Estrategias para escalar sistemas distribuidos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944285" y="2495550"/>
            <a:ext cx="3492818" cy="2795468"/>
          </a:xfrm>
          <a:prstGeom prst="roundRect">
            <a:avLst>
              <a:gd name="adj" fmla="val 4054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29320" y="2780586"/>
            <a:ext cx="2697956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Diseño modular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229320" y="3279577"/>
            <a:ext cx="2922746" cy="1726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5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Dividir el sistema en componentes independientes que puedan escalarse por separado.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4706898" y="2495550"/>
            <a:ext cx="3492818" cy="2795468"/>
          </a:xfrm>
          <a:prstGeom prst="roundRect">
            <a:avLst>
              <a:gd name="adj" fmla="val 4054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91933" y="2780586"/>
            <a:ext cx="2922746" cy="674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Caching y almacenamiento en caché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4991933" y="3616762"/>
            <a:ext cx="2922746" cy="129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5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Almacenar datos de alto consumo para reducir la carga en los servidores.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944285" y="5560814"/>
            <a:ext cx="7255431" cy="1932265"/>
          </a:xfrm>
          <a:prstGeom prst="roundRect">
            <a:avLst>
              <a:gd name="adj" fmla="val 5864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29320" y="5845850"/>
            <a:ext cx="2697956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Balanceo de carga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229320" y="6344841"/>
            <a:ext cx="6685359" cy="863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5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Distribuir uniformemente la carga de trabajo entre los nodos disponibles.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6685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7117" y="3256002"/>
            <a:ext cx="4269700" cy="533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3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El Teorema CAP</a:t>
            </a:r>
            <a:endParaRPr lang="en-US" sz="3350" dirty="0"/>
          </a:p>
        </p:txBody>
      </p:sp>
      <p:sp>
        <p:nvSpPr>
          <p:cNvPr id="4" name="Shape 1"/>
          <p:cNvSpPr/>
          <p:nvPr/>
        </p:nvSpPr>
        <p:spPr>
          <a:xfrm>
            <a:off x="747117" y="4349948"/>
            <a:ext cx="480298" cy="480298"/>
          </a:xfrm>
          <a:prstGeom prst="roundRect">
            <a:avLst>
              <a:gd name="adj" fmla="val 18669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40713" y="4461986"/>
            <a:ext cx="92988" cy="256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440894" y="4349948"/>
            <a:ext cx="2810708" cy="266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Propiedades en sistemas distribuidos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440894" y="4744760"/>
            <a:ext cx="5767626" cy="1024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El teorema CAP establece que en sistemas distribuidos solo se pueden garantizar dos de estas tres propiedades: consistencia, disponibilidad y tolerancia a particiones.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7421999" y="4349948"/>
            <a:ext cx="480298" cy="480298"/>
          </a:xfrm>
          <a:prstGeom prst="roundRect">
            <a:avLst>
              <a:gd name="adj" fmla="val 18669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02141" y="4461986"/>
            <a:ext cx="119896" cy="256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115776" y="4349948"/>
            <a:ext cx="2134791" cy="266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Priorización de propiedades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8115776" y="4744760"/>
            <a:ext cx="5767626" cy="682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Los sistemas deben elegir qué priorizar dependiendo de sus requisitos y características.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747117" y="6222802"/>
            <a:ext cx="480298" cy="480298"/>
          </a:xfrm>
          <a:prstGeom prst="roundRect">
            <a:avLst>
              <a:gd name="adj" fmla="val 18669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29878" y="6334839"/>
            <a:ext cx="114776" cy="256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440894" y="6222802"/>
            <a:ext cx="2134791" cy="266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Impacto en el diseño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1440894" y="6617613"/>
            <a:ext cx="5767626" cy="1024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La elección entre consistencia, disponibilidad y tolerancia a particiones impacta directamente en el diseño y rendimiento de los sistemas distribuidos.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7421999" y="6222802"/>
            <a:ext cx="480298" cy="480298"/>
          </a:xfrm>
          <a:prstGeom prst="roundRect">
            <a:avLst>
              <a:gd name="adj" fmla="val 18669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14047" y="6334839"/>
            <a:ext cx="96083" cy="256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8115776" y="6222802"/>
            <a:ext cx="2258258" cy="266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Importancia del teorema CAP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8115776" y="6617613"/>
            <a:ext cx="5767626" cy="682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Comprender el teorema CAP es fundamental para arquitecturar sistemas escalables y resilientes que cumplan con los objetivos del negocio.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1418" y="847606"/>
            <a:ext cx="7401163" cy="1244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900"/>
              </a:lnSpc>
              <a:buNone/>
            </a:pPr>
            <a:r>
              <a:rPr lang="en-US" sz="3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Desafíos y soluciones para la escalabilidad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871418" y="2746058"/>
            <a:ext cx="560189" cy="560189"/>
          </a:xfrm>
          <a:prstGeom prst="roundRect">
            <a:avLst>
              <a:gd name="adj" fmla="val 18669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97280" y="2876669"/>
            <a:ext cx="108466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</a:t>
            </a:r>
            <a:endParaRPr lang="en-US" sz="2350" dirty="0"/>
          </a:p>
        </p:txBody>
      </p:sp>
      <p:sp>
        <p:nvSpPr>
          <p:cNvPr id="6" name="Text 3"/>
          <p:cNvSpPr/>
          <p:nvPr/>
        </p:nvSpPr>
        <p:spPr>
          <a:xfrm>
            <a:off x="1680567" y="2746058"/>
            <a:ext cx="2490073" cy="31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Manejo eficiente de datos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680567" y="3206472"/>
            <a:ext cx="2767013" cy="1593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Técnicas como sharding, replicación y caché ayudan a distribuir y optimizar el almacenamiento.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4696539" y="2746058"/>
            <a:ext cx="560189" cy="560189"/>
          </a:xfrm>
          <a:prstGeom prst="roundRect">
            <a:avLst>
              <a:gd name="adj" fmla="val 18669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06685" y="2876669"/>
            <a:ext cx="139898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</a:t>
            </a:r>
            <a:endParaRPr lang="en-US" sz="2350" dirty="0"/>
          </a:p>
        </p:txBody>
      </p:sp>
      <p:sp>
        <p:nvSpPr>
          <p:cNvPr id="10" name="Text 7"/>
          <p:cNvSpPr/>
          <p:nvPr/>
        </p:nvSpPr>
        <p:spPr>
          <a:xfrm>
            <a:off x="5505688" y="2746058"/>
            <a:ext cx="2490073" cy="31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Equilibrio de carga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5505688" y="3206472"/>
            <a:ext cx="2767013" cy="1593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Algoritmos avanzados de balanceo distribuyen uniformemente la carga entre recursos.</a:t>
            </a:r>
            <a:endParaRPr lang="en-US" sz="1950" dirty="0"/>
          </a:p>
        </p:txBody>
      </p:sp>
      <p:sp>
        <p:nvSpPr>
          <p:cNvPr id="12" name="Shape 9"/>
          <p:cNvSpPr/>
          <p:nvPr/>
        </p:nvSpPr>
        <p:spPr>
          <a:xfrm>
            <a:off x="871418" y="5328523"/>
            <a:ext cx="560189" cy="560189"/>
          </a:xfrm>
          <a:prstGeom prst="roundRect">
            <a:avLst>
              <a:gd name="adj" fmla="val 18669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84540" y="5459135"/>
            <a:ext cx="133945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3</a:t>
            </a:r>
            <a:endParaRPr lang="en-US" sz="2350" dirty="0"/>
          </a:p>
        </p:txBody>
      </p:sp>
      <p:sp>
        <p:nvSpPr>
          <p:cNvPr id="14" name="Text 11"/>
          <p:cNvSpPr/>
          <p:nvPr/>
        </p:nvSpPr>
        <p:spPr>
          <a:xfrm>
            <a:off x="1680567" y="5328523"/>
            <a:ext cx="2490073" cy="31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Tolerancia a fallos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1680567" y="5788938"/>
            <a:ext cx="2767013" cy="1593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Diseños tolerantes a fallos, redundancia y recuperación ante desastres garantizan alta disponibilidad.</a:t>
            </a:r>
            <a:endParaRPr lang="en-US" sz="1950" dirty="0"/>
          </a:p>
        </p:txBody>
      </p:sp>
      <p:sp>
        <p:nvSpPr>
          <p:cNvPr id="16" name="Shape 13"/>
          <p:cNvSpPr/>
          <p:nvPr/>
        </p:nvSpPr>
        <p:spPr>
          <a:xfrm>
            <a:off x="4696539" y="5328523"/>
            <a:ext cx="560189" cy="560189"/>
          </a:xfrm>
          <a:prstGeom prst="roundRect">
            <a:avLst>
              <a:gd name="adj" fmla="val 18669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20615" y="5459135"/>
            <a:ext cx="112038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4</a:t>
            </a:r>
            <a:endParaRPr lang="en-US" sz="2350" dirty="0"/>
          </a:p>
        </p:txBody>
      </p:sp>
      <p:sp>
        <p:nvSpPr>
          <p:cNvPr id="18" name="Text 15"/>
          <p:cNvSpPr/>
          <p:nvPr/>
        </p:nvSpPr>
        <p:spPr>
          <a:xfrm>
            <a:off x="5505688" y="5328523"/>
            <a:ext cx="2490073" cy="31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Complejidad de gestión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5505688" y="5788938"/>
            <a:ext cx="2767013" cy="1593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La automatización y orquestación simplifican la administración de sistemas distribuidos a gran escala.</a:t>
            </a: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6073" y="2610803"/>
            <a:ext cx="12555855" cy="690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Introducción a bases de datos NoSQL para sistemas distribuidos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966073" y="3852863"/>
            <a:ext cx="12698254" cy="176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5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Las bases de datos NoSQL son especialmente adecuadas para sistemas distribuidos debido a su capacidad para escalar horizontalmente y manejar grandes volúmenes de datos. Estos sistemas utilizan modelos de datos flexibles y esquemas dinámicos, lo que permite un almacenamiento eficiente y una mayor tolerancia a fallos. Algunos ejemplos populares de bases de datos NoSQL incluyen MongoDB, Cassandra y Redis.</a:t>
            </a:r>
            <a:endParaRPr lang="en-US" sz="2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6073" y="762000"/>
            <a:ext cx="5520809" cy="690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Modelo de datos NoSQL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966073" y="2142053"/>
            <a:ext cx="2669500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Flexibilidad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966073" y="2762964"/>
            <a:ext cx="2669500" cy="3973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5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Las bases de datos NoSQL ofrecen un modelo de datos más flexible que las bases de datos relacionales, permitiendo almacenar y procesar datos estructurados, semiestructurados y no estructurados.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4316611" y="2142053"/>
            <a:ext cx="2669500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Escalabilidad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4316611" y="2762964"/>
            <a:ext cx="2669500" cy="3531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5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Los sistemas NoSQL están diseñados para escalar horizontalmente, distribuyendo los datos y la carga de trabajo entre múltiples nodos, lo que mejora el rendimiento y la disponibilidad.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7667149" y="2142053"/>
            <a:ext cx="2669500" cy="68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Tipos de bases de datos NoSQL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7667149" y="3107888"/>
            <a:ext cx="2669500" cy="88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450"/>
              </a:lnSpc>
              <a:buSzPct val="100000"/>
              <a:buChar char="•"/>
            </a:pPr>
            <a:r>
              <a:rPr lang="en-US" sz="2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Documentales (ej. MongoDB, CouchDB)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7667149" y="4087416"/>
            <a:ext cx="2669500" cy="88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450"/>
              </a:lnSpc>
              <a:buSzPct val="100000"/>
              <a:buChar char="•"/>
            </a:pPr>
            <a:r>
              <a:rPr lang="en-US" sz="2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Clave-valor (ej. Redis, Memcached)</a:t>
            </a:r>
            <a:endParaRPr lang="en-US" sz="2150" dirty="0"/>
          </a:p>
        </p:txBody>
      </p:sp>
      <p:sp>
        <p:nvSpPr>
          <p:cNvPr id="10" name="Text 8"/>
          <p:cNvSpPr/>
          <p:nvPr/>
        </p:nvSpPr>
        <p:spPr>
          <a:xfrm>
            <a:off x="7667149" y="5066943"/>
            <a:ext cx="2669500" cy="88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450"/>
              </a:lnSpc>
              <a:buSzPct val="100000"/>
              <a:buChar char="•"/>
            </a:pPr>
            <a:r>
              <a:rPr lang="en-US" sz="2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Gráficas (ej. Neo4j, Amazon Neptune)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7667149" y="6046470"/>
            <a:ext cx="2669500" cy="1324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450"/>
              </a:lnSpc>
              <a:buSzPct val="100000"/>
              <a:buChar char="•"/>
            </a:pPr>
            <a:r>
              <a:rPr lang="en-US" sz="2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Columnas (ej. Apache Cassandra, Amazon DynamoDB)</a:t>
            </a:r>
            <a:endParaRPr lang="en-US" sz="2150" dirty="0"/>
          </a:p>
        </p:txBody>
      </p:sp>
      <p:sp>
        <p:nvSpPr>
          <p:cNvPr id="12" name="Text 10"/>
          <p:cNvSpPr/>
          <p:nvPr/>
        </p:nvSpPr>
        <p:spPr>
          <a:xfrm>
            <a:off x="11017687" y="2142053"/>
            <a:ext cx="2669500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Optimización de consultas</a:t>
            </a:r>
            <a:endParaRPr lang="en-US" sz="2150" dirty="0"/>
          </a:p>
        </p:txBody>
      </p:sp>
      <p:sp>
        <p:nvSpPr>
          <p:cNvPr id="13" name="Text 11"/>
          <p:cNvSpPr/>
          <p:nvPr/>
        </p:nvSpPr>
        <p:spPr>
          <a:xfrm>
            <a:off x="11017687" y="2762964"/>
            <a:ext cx="2669500" cy="3531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5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Las bases de datos NoSQL están optimizadas para realizar consultas y operaciones específicas de manera eficiente, a diferencia de los modelos relacionales enfocados en la integridad de los datos.</a:t>
            </a:r>
            <a:endParaRPr lang="en-US" sz="2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18423"/>
            <a:ext cx="8217098" cy="653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100"/>
              </a:lnSpc>
              <a:buNone/>
            </a:pPr>
            <a:r>
              <a:rPr lang="en-US" sz="4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Ventajas de NoSQL en sistemas distribuidos</a:t>
            </a:r>
            <a:endParaRPr lang="en-US" sz="4100" dirty="0"/>
          </a:p>
        </p:txBody>
      </p:sp>
      <p:sp>
        <p:nvSpPr>
          <p:cNvPr id="3" name="Shape 1"/>
          <p:cNvSpPr/>
          <p:nvPr/>
        </p:nvSpPr>
        <p:spPr>
          <a:xfrm>
            <a:off x="7299960" y="1894165"/>
            <a:ext cx="30480" cy="5617964"/>
          </a:xfrm>
          <a:prstGeom prst="roundRect">
            <a:avLst>
              <a:gd name="adj" fmla="val 360042"/>
            </a:avLst>
          </a:prstGeom>
          <a:solidFill>
            <a:srgbClr val="CCCCCC"/>
          </a:solidFill>
          <a:ln/>
        </p:spPr>
      </p:sp>
      <p:sp>
        <p:nvSpPr>
          <p:cNvPr id="4" name="Shape 2"/>
          <p:cNvSpPr/>
          <p:nvPr/>
        </p:nvSpPr>
        <p:spPr>
          <a:xfrm>
            <a:off x="6137374" y="2466618"/>
            <a:ext cx="914400" cy="30480"/>
          </a:xfrm>
          <a:prstGeom prst="roundRect">
            <a:avLst>
              <a:gd name="adj" fmla="val 360042"/>
            </a:avLst>
          </a:prstGeom>
          <a:solidFill>
            <a:srgbClr val="CCCCCC"/>
          </a:solidFill>
          <a:ln/>
        </p:spPr>
      </p:sp>
      <p:sp>
        <p:nvSpPr>
          <p:cNvPr id="5" name="Shape 3"/>
          <p:cNvSpPr/>
          <p:nvPr/>
        </p:nvSpPr>
        <p:spPr>
          <a:xfrm>
            <a:off x="7021294" y="2188012"/>
            <a:ext cx="587812" cy="587812"/>
          </a:xfrm>
          <a:prstGeom prst="roundRect">
            <a:avLst>
              <a:gd name="adj" fmla="val 18669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58229" y="2325172"/>
            <a:ext cx="113824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3265408" y="2155388"/>
            <a:ext cx="2612827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Escalabilidad Horizontal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914400" y="2638663"/>
            <a:ext cx="4963835" cy="1672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32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Las bases de datos NoSQL pueden escalar distribuyendo la carga de trabajo y datos entre múltiples servidores, permitiendo manejar grandes volúmenes de información.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7578626" y="3772972"/>
            <a:ext cx="914400" cy="30480"/>
          </a:xfrm>
          <a:prstGeom prst="roundRect">
            <a:avLst>
              <a:gd name="adj" fmla="val 360042"/>
            </a:avLst>
          </a:prstGeom>
          <a:solidFill>
            <a:srgbClr val="CCCCCC"/>
          </a:solidFill>
          <a:ln/>
        </p:spPr>
      </p:sp>
      <p:sp>
        <p:nvSpPr>
          <p:cNvPr id="10" name="Shape 8"/>
          <p:cNvSpPr/>
          <p:nvPr/>
        </p:nvSpPr>
        <p:spPr>
          <a:xfrm>
            <a:off x="7021294" y="3494365"/>
            <a:ext cx="587812" cy="587812"/>
          </a:xfrm>
          <a:prstGeom prst="roundRect">
            <a:avLst>
              <a:gd name="adj" fmla="val 18669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41798" y="3631525"/>
            <a:ext cx="146685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</a:t>
            </a:r>
            <a:endParaRPr lang="en-US" sz="2450" dirty="0"/>
          </a:p>
        </p:txBody>
      </p:sp>
      <p:sp>
        <p:nvSpPr>
          <p:cNvPr id="12" name="Text 10"/>
          <p:cNvSpPr/>
          <p:nvPr/>
        </p:nvSpPr>
        <p:spPr>
          <a:xfrm>
            <a:off x="8752165" y="3461742"/>
            <a:ext cx="2612827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Flexibilidad</a:t>
            </a:r>
            <a:endParaRPr lang="en-US" sz="2050" dirty="0"/>
          </a:p>
        </p:txBody>
      </p:sp>
      <p:sp>
        <p:nvSpPr>
          <p:cNvPr id="13" name="Text 11"/>
          <p:cNvSpPr/>
          <p:nvPr/>
        </p:nvSpPr>
        <p:spPr>
          <a:xfrm>
            <a:off x="8752165" y="3945017"/>
            <a:ext cx="4963835" cy="1672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El modelo de datos flexible de NoSQL permite almacenar y procesar una amplia variedad de información estructurada, semiestructurada y no estructurada.</a:t>
            </a:r>
            <a:endParaRPr lang="en-US" sz="2050" dirty="0"/>
          </a:p>
        </p:txBody>
      </p:sp>
      <p:sp>
        <p:nvSpPr>
          <p:cNvPr id="14" name="Shape 12"/>
          <p:cNvSpPr/>
          <p:nvPr/>
        </p:nvSpPr>
        <p:spPr>
          <a:xfrm>
            <a:off x="6137374" y="5406152"/>
            <a:ext cx="914400" cy="30480"/>
          </a:xfrm>
          <a:prstGeom prst="roundRect">
            <a:avLst>
              <a:gd name="adj" fmla="val 360042"/>
            </a:avLst>
          </a:prstGeom>
          <a:solidFill>
            <a:srgbClr val="CCCCCC"/>
          </a:solidFill>
          <a:ln/>
        </p:spPr>
      </p:sp>
      <p:sp>
        <p:nvSpPr>
          <p:cNvPr id="15" name="Shape 13"/>
          <p:cNvSpPr/>
          <p:nvPr/>
        </p:nvSpPr>
        <p:spPr>
          <a:xfrm>
            <a:off x="7021294" y="5127546"/>
            <a:ext cx="587812" cy="587812"/>
          </a:xfrm>
          <a:prstGeom prst="roundRect">
            <a:avLst>
              <a:gd name="adj" fmla="val 18669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44894" y="5264706"/>
            <a:ext cx="140494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3</a:t>
            </a:r>
            <a:endParaRPr lang="en-US" sz="2450" dirty="0"/>
          </a:p>
        </p:txBody>
      </p:sp>
      <p:sp>
        <p:nvSpPr>
          <p:cNvPr id="17" name="Text 15"/>
          <p:cNvSpPr/>
          <p:nvPr/>
        </p:nvSpPr>
        <p:spPr>
          <a:xfrm>
            <a:off x="3063716" y="5094923"/>
            <a:ext cx="2814518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Manejo de Grandes Volúmenes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914400" y="5578197"/>
            <a:ext cx="4963835" cy="1672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32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Las arquitecturas distribuidas de NoSQL están diseñadas para manejar eficientemente grandes cantidades de datos, a diferencia de las bases de datos relacionales tradicionales.</a:t>
            </a:r>
            <a:endParaRPr lang="en-US" sz="2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6073" y="1622822"/>
            <a:ext cx="10371058" cy="690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Desafíos y Consideraciones en Sistemas Distribuidos</a:t>
            </a:r>
            <a:endParaRPr lang="en-US" sz="4300" dirty="0"/>
          </a:p>
        </p:txBody>
      </p:sp>
      <p:sp>
        <p:nvSpPr>
          <p:cNvPr id="3" name="Shape 1"/>
          <p:cNvSpPr/>
          <p:nvPr/>
        </p:nvSpPr>
        <p:spPr>
          <a:xfrm>
            <a:off x="966073" y="2864882"/>
            <a:ext cx="4048720" cy="3741896"/>
          </a:xfrm>
          <a:prstGeom prst="roundRect">
            <a:avLst>
              <a:gd name="adj" fmla="val 3098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57300" y="3156109"/>
            <a:ext cx="2760345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Consistencia de Datos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1257300" y="3666649"/>
            <a:ext cx="3466267" cy="2648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5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Garantizar la integridad y coherencia de los datos en un entorno distribuido es fundamental, pero requiere estrategias avanzadas como replicación y transacciones.</a:t>
            </a:r>
            <a:endParaRPr lang="en-US" sz="2150" dirty="0"/>
          </a:p>
        </p:txBody>
      </p:sp>
      <p:sp>
        <p:nvSpPr>
          <p:cNvPr id="6" name="Shape 4"/>
          <p:cNvSpPr/>
          <p:nvPr/>
        </p:nvSpPr>
        <p:spPr>
          <a:xfrm>
            <a:off x="5290780" y="2864882"/>
            <a:ext cx="4048720" cy="3741896"/>
          </a:xfrm>
          <a:prstGeom prst="roundRect">
            <a:avLst>
              <a:gd name="adj" fmla="val 3098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82007" y="3156109"/>
            <a:ext cx="2760345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Modelado de Datos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5582007" y="3666649"/>
            <a:ext cx="3466267" cy="2207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5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El diseño de modelos de datos adecuados para sistemas distribuidos es crucial, considerando la flexibilidad y escalabilidad de soluciones NoSQL.</a:t>
            </a:r>
            <a:endParaRPr lang="en-US" sz="2150" dirty="0"/>
          </a:p>
        </p:txBody>
      </p:sp>
      <p:sp>
        <p:nvSpPr>
          <p:cNvPr id="9" name="Shape 7"/>
          <p:cNvSpPr/>
          <p:nvPr/>
        </p:nvSpPr>
        <p:spPr>
          <a:xfrm>
            <a:off x="9615488" y="2864882"/>
            <a:ext cx="4048720" cy="3741896"/>
          </a:xfrm>
          <a:prstGeom prst="roundRect">
            <a:avLst>
              <a:gd name="adj" fmla="val 3098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06714" y="3156109"/>
            <a:ext cx="2760345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Transacciones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9906714" y="3666649"/>
            <a:ext cx="3466267" cy="2207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5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Implementar transacciones atómicas, consistentes, aisladas y durables (ACID) en un sistema distribuido es complejo y requiere enfoques específicos.</a:t>
            </a:r>
            <a:endParaRPr lang="en-US" sz="2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6073" y="3273028"/>
            <a:ext cx="5520809" cy="690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Muchas gracias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966073" y="4515088"/>
            <a:ext cx="12698254" cy="44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450"/>
              </a:lnSpc>
              <a:buNone/>
            </a:pPr>
            <a:endParaRPr lang="en-US" sz="2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2024-11-04T23:59:51Z</dcterms:created>
  <dcterms:modified xsi:type="dcterms:W3CDTF">2024-11-04T23:59:51Z</dcterms:modified>
</cp:coreProperties>
</file>