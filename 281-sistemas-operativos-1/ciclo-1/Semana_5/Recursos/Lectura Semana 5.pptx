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85029" y="2890004"/>
            <a:ext cx="11595378" cy="967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7600"/>
              </a:lnSpc>
              <a:buNone/>
            </a:pPr>
            <a:r>
              <a:rPr lang="en-US" sz="6050" b="1" spc="-6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Manejo de Procesos en Linux</a:t>
            </a:r>
            <a:endParaRPr lang="en-US" sz="6050" dirty="0"/>
          </a:p>
        </p:txBody>
      </p:sp>
      <p:sp>
        <p:nvSpPr>
          <p:cNvPr id="5" name="Text 2"/>
          <p:cNvSpPr/>
          <p:nvPr/>
        </p:nvSpPr>
        <p:spPr>
          <a:xfrm>
            <a:off x="1185029" y="4228267"/>
            <a:ext cx="12260223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documento explora el manejo de procesos en Linux, abarcando desde conceptos básicos hasta comandos avanzados. Se cubren temas como estados de procesos, diagramas de transición, creación y terminación de procesos, comandos útiles y el uso de señales en Linux.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1107162"/>
            <a:ext cx="8892778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Manejo de procesos en Linux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5029" y="2302312"/>
            <a:ext cx="12260223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proceso es básicamente un programa en ejecución, que incluye instrucciones y datos, y que requiere recursos como CPU y memoria. Linux es un sistema multitarea, lo que significa que puede gestionar varios procesos de manera simultánea, permitiendo que varias tareas se ejecuten al mismo tiempo.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5029" y="3783806"/>
            <a:ext cx="8361521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b="1" spc="-35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Ejemplo básico: Ejecutar un proceso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185029" y="4715113"/>
            <a:ext cx="122602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Cuando ejecutamos un programa en la terminal, como gedit (el editor de texto), estamos iniciando un proceso: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85029" y="5363170"/>
            <a:ext cx="12260223" cy="1111091"/>
          </a:xfrm>
          <a:prstGeom prst="roundRect">
            <a:avLst>
              <a:gd name="adj" fmla="val 3333"/>
            </a:avLst>
          </a:prstGeom>
          <a:solidFill>
            <a:srgbClr val="26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172766" y="5363170"/>
            <a:ext cx="12284750" cy="1111091"/>
          </a:xfrm>
          <a:prstGeom prst="roundRect">
            <a:avLst>
              <a:gd name="adj" fmla="val 3333"/>
            </a:avLst>
          </a:pr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1419582" y="5548313"/>
            <a:ext cx="11791117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gedit &amp;
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85029" y="6751915"/>
            <a:ext cx="122602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símbolo &amp; al final permite ejecutar el proceso en segundo plano, liberando la terminal para otros comandos.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548521"/>
            <a:ext cx="6059329" cy="566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b="1" spc="-36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Estados de los procesos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185029" y="1513642"/>
            <a:ext cx="12260223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procesos en Linux pueden estar en diferentes estados, que indican qué está haciendo el proceso en un momento dado. Los estados principales son: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185029" y="2560201"/>
            <a:ext cx="448508" cy="44850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1357313" y="2648545"/>
            <a:ext cx="103823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32848" y="2560201"/>
            <a:ext cx="2812852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Running (Ejecutándose)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832848" y="2962870"/>
            <a:ext cx="5382697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proceso está ejecutándose en la CPU.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855" y="2560201"/>
            <a:ext cx="448508" cy="44850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9" name="Text 7"/>
          <p:cNvSpPr/>
          <p:nvPr/>
        </p:nvSpPr>
        <p:spPr>
          <a:xfrm>
            <a:off x="7560231" y="2648545"/>
            <a:ext cx="157639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62674" y="2560201"/>
            <a:ext cx="2569845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Sleeping (Durmiendo)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062674" y="2962870"/>
            <a:ext cx="5382697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proceso está esperando algún recurso o evento.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85029" y="3685461"/>
            <a:ext cx="448508" cy="44850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3" name="Text 11"/>
          <p:cNvSpPr/>
          <p:nvPr/>
        </p:nvSpPr>
        <p:spPr>
          <a:xfrm>
            <a:off x="1330166" y="3773805"/>
            <a:ext cx="15823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32848" y="3685461"/>
            <a:ext cx="2282071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Stopped (Detenido)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832848" y="4088130"/>
            <a:ext cx="5382697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proceso está pausado, normalmente por una señal del usuario.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855" y="3685461"/>
            <a:ext cx="448508" cy="44850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7" name="Text 15"/>
          <p:cNvSpPr/>
          <p:nvPr/>
        </p:nvSpPr>
        <p:spPr>
          <a:xfrm>
            <a:off x="7546777" y="3773805"/>
            <a:ext cx="18454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062674" y="3685461"/>
            <a:ext cx="2265521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Zombie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062674" y="4088130"/>
            <a:ext cx="5382697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proceso ha terminado, pero aún tiene una entrada en la tabla de procesos.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185029" y="4985266"/>
            <a:ext cx="6894433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Ejemplo: Ver el estado de un proceso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185029" y="5737384"/>
            <a:ext cx="1226022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Podemos usar el comando ps para observar el estado de los procesos: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1185029" y="6260663"/>
            <a:ext cx="12260223" cy="897017"/>
          </a:xfrm>
          <a:prstGeom prst="roundRect">
            <a:avLst>
              <a:gd name="adj" fmla="val 3334"/>
            </a:avLst>
          </a:prstGeom>
          <a:solidFill>
            <a:srgbClr val="26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5147" y="6260663"/>
            <a:ext cx="12279987" cy="897017"/>
          </a:xfrm>
          <a:prstGeom prst="roundRect">
            <a:avLst>
              <a:gd name="adj" fmla="val 3334"/>
            </a:avLst>
          </a:prstGeom>
          <a:solidFill>
            <a:srgbClr val="26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1374458" y="6410087"/>
            <a:ext cx="11881366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ps aux
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185029" y="7381875"/>
            <a:ext cx="1226022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comando muestra una lista de todos los procesos junto con su estado, usuario, y otros detalles.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479584"/>
            <a:ext cx="8441650" cy="495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100" b="1" spc="-3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 Diagrama de transición de los procesos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185029" y="1323975"/>
            <a:ext cx="12260223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Linux, los procesos pasan por diferentes estados según su ciclo de vida, y se puede visualizar mediante un diagrama de transición.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35179" y="1781770"/>
            <a:ext cx="22860" cy="5511998"/>
          </a:xfrm>
          <a:prstGeom prst="roundRect">
            <a:avLst>
              <a:gd name="adj" fmla="val 114457"/>
            </a:avLst>
          </a:prstGeom>
          <a:solidFill>
            <a:srgbClr val="494A4B"/>
          </a:solidFill>
          <a:ln/>
        </p:spPr>
      </p:sp>
      <p:sp>
        <p:nvSpPr>
          <p:cNvPr id="5" name="Shape 3"/>
          <p:cNvSpPr/>
          <p:nvPr/>
        </p:nvSpPr>
        <p:spPr>
          <a:xfrm>
            <a:off x="1619964" y="2162770"/>
            <a:ext cx="610433" cy="22860"/>
          </a:xfrm>
          <a:prstGeom prst="roundRect">
            <a:avLst>
              <a:gd name="adj" fmla="val 114457"/>
            </a:avLst>
          </a:prstGeom>
          <a:solidFill>
            <a:srgbClr val="494A4B"/>
          </a:solidFill>
          <a:ln/>
        </p:spPr>
      </p:sp>
      <p:sp>
        <p:nvSpPr>
          <p:cNvPr id="6" name="Shape 4"/>
          <p:cNvSpPr/>
          <p:nvPr/>
        </p:nvSpPr>
        <p:spPr>
          <a:xfrm>
            <a:off x="1250394" y="1977985"/>
            <a:ext cx="392430" cy="39243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7" name="Text 5"/>
          <p:cNvSpPr/>
          <p:nvPr/>
        </p:nvSpPr>
        <p:spPr>
          <a:xfrm>
            <a:off x="1401128" y="2055257"/>
            <a:ext cx="90845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2405896" y="1956197"/>
            <a:ext cx="1982153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Nuevo (New)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405896" y="2308622"/>
            <a:ext cx="1103935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proceso ha sido creado.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619964" y="3300055"/>
            <a:ext cx="610433" cy="22860"/>
          </a:xfrm>
          <a:prstGeom prst="roundRect">
            <a:avLst>
              <a:gd name="adj" fmla="val 114457"/>
            </a:avLst>
          </a:prstGeom>
          <a:solidFill>
            <a:srgbClr val="494A4B"/>
          </a:solidFill>
          <a:ln/>
        </p:spPr>
      </p:sp>
      <p:sp>
        <p:nvSpPr>
          <p:cNvPr id="11" name="Shape 9"/>
          <p:cNvSpPr/>
          <p:nvPr/>
        </p:nvSpPr>
        <p:spPr>
          <a:xfrm>
            <a:off x="1250394" y="3115270"/>
            <a:ext cx="392430" cy="39243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7553" y="3192542"/>
            <a:ext cx="137993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2405896" y="3093482"/>
            <a:ext cx="1982153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Listo (Ready)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405896" y="3445907"/>
            <a:ext cx="1103935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Está en cola, esperando su turno para ejecutarse.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619964" y="4437340"/>
            <a:ext cx="610433" cy="22860"/>
          </a:xfrm>
          <a:prstGeom prst="roundRect">
            <a:avLst>
              <a:gd name="adj" fmla="val 114457"/>
            </a:avLst>
          </a:prstGeom>
          <a:solidFill>
            <a:srgbClr val="494A4B"/>
          </a:solidFill>
          <a:ln/>
        </p:spPr>
      </p:sp>
      <p:sp>
        <p:nvSpPr>
          <p:cNvPr id="16" name="Shape 14"/>
          <p:cNvSpPr/>
          <p:nvPr/>
        </p:nvSpPr>
        <p:spPr>
          <a:xfrm>
            <a:off x="1250394" y="4252555"/>
            <a:ext cx="392430" cy="39243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7" name="Text 15"/>
          <p:cNvSpPr/>
          <p:nvPr/>
        </p:nvSpPr>
        <p:spPr>
          <a:xfrm>
            <a:off x="1377315" y="4329827"/>
            <a:ext cx="138470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2405896" y="4230767"/>
            <a:ext cx="2680216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 Ejecutándose (Running)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2405896" y="4583192"/>
            <a:ext cx="1103935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proceso está en ejecución.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619964" y="5574625"/>
            <a:ext cx="610433" cy="22860"/>
          </a:xfrm>
          <a:prstGeom prst="roundRect">
            <a:avLst>
              <a:gd name="adj" fmla="val 114457"/>
            </a:avLst>
          </a:prstGeom>
          <a:solidFill>
            <a:srgbClr val="494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0394" y="5389840"/>
            <a:ext cx="392430" cy="39243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2" name="Text 20"/>
          <p:cNvSpPr/>
          <p:nvPr/>
        </p:nvSpPr>
        <p:spPr>
          <a:xfrm>
            <a:off x="1365885" y="5467112"/>
            <a:ext cx="161449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2405896" y="5368052"/>
            <a:ext cx="1982153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4. Espera (Waiting)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2405896" y="5720477"/>
            <a:ext cx="1103935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Está esperando que ocurra un evento (como una entrada/salida).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619964" y="6711910"/>
            <a:ext cx="610433" cy="22860"/>
          </a:xfrm>
          <a:prstGeom prst="roundRect">
            <a:avLst>
              <a:gd name="adj" fmla="val 114457"/>
            </a:avLst>
          </a:prstGeom>
          <a:solidFill>
            <a:srgbClr val="494A4B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0394" y="6527125"/>
            <a:ext cx="392430" cy="39243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7" name="Text 25"/>
          <p:cNvSpPr/>
          <p:nvPr/>
        </p:nvSpPr>
        <p:spPr>
          <a:xfrm>
            <a:off x="1376958" y="6604397"/>
            <a:ext cx="139184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2405896" y="6505337"/>
            <a:ext cx="2680811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5. Terminado (Terminated)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405896" y="6857762"/>
            <a:ext cx="1103935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proceso ha completado su ejecución.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85029" y="7489984"/>
            <a:ext cx="12260223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Estos estados ayudan a gestionar el uso de recursos en el sistema y son la base para la planificación de procesos.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556736"/>
            <a:ext cx="9004697" cy="57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4. Creación y terminación de procesos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5029" y="1533763"/>
            <a:ext cx="12260223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Linux, un proceso puede crear otros procesos mediante la llamada fork(), que crea un nuevo proceso idéntico al padre. La terminación de procesos ocurre cuando el proceso ha completado sus tareas o recibe una señal de terminación.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185029" y="2441853"/>
            <a:ext cx="6314123" cy="45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Ejemplo de creación de procesos: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85029" y="3203377"/>
            <a:ext cx="12260223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Cuando ejecutamos un comando en la terminal, se crea un nuevo proceso.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185029" y="3733086"/>
            <a:ext cx="12260223" cy="907971"/>
          </a:xfrm>
          <a:prstGeom prst="roundRect">
            <a:avLst>
              <a:gd name="adj" fmla="val 3335"/>
            </a:avLst>
          </a:prstGeom>
          <a:solidFill>
            <a:srgbClr val="26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175028" y="3733086"/>
            <a:ext cx="12280225" cy="907971"/>
          </a:xfrm>
          <a:prstGeom prst="roundRect">
            <a:avLst>
              <a:gd name="adj" fmla="val 3335"/>
            </a:avLst>
          </a:pr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1376839" y="3884414"/>
            <a:ext cx="11876603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 &amp;
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85029" y="4868108"/>
            <a:ext cx="12260223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comando sleep 30 crea un proceso que duerme durante 30 segundos y luego termina.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5029" y="5473541"/>
            <a:ext cx="5224343" cy="45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Terminación de un proceso: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185029" y="6235065"/>
            <a:ext cx="12260223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Podemos terminar un proceso usando el comando kill junto con el ID de proceso (PID):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85029" y="6764774"/>
            <a:ext cx="12260223" cy="907971"/>
          </a:xfrm>
          <a:prstGeom prst="roundRect">
            <a:avLst>
              <a:gd name="adj" fmla="val 3335"/>
            </a:avLst>
          </a:prstGeom>
          <a:solidFill>
            <a:srgbClr val="26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5028" y="6764774"/>
            <a:ext cx="12280225" cy="907971"/>
          </a:xfrm>
          <a:prstGeom prst="roundRect">
            <a:avLst>
              <a:gd name="adj" fmla="val 3335"/>
            </a:avLst>
          </a:pr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6839" y="6916103"/>
            <a:ext cx="11876603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kill PID
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672465"/>
            <a:ext cx="11784449" cy="60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b="1" spc="-38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5. Comandos para gestión de procesos en Linux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185029" y="1698427"/>
            <a:ext cx="1226022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Algunos comandos clave para gestionar procesos incluyen: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029" y="2254687"/>
            <a:ext cx="529828" cy="5298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5029" y="2996446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185029" y="3424595"/>
            <a:ext cx="2826544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Muestra información sobre los procesos en ejecución.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185029" y="4298752"/>
            <a:ext cx="2826544" cy="635794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8" name="Shape 5"/>
          <p:cNvSpPr/>
          <p:nvPr/>
        </p:nvSpPr>
        <p:spPr>
          <a:xfrm>
            <a:off x="1174433" y="4298752"/>
            <a:ext cx="2847737" cy="635794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9" name="Text 6"/>
          <p:cNvSpPr/>
          <p:nvPr/>
        </p:nvSpPr>
        <p:spPr>
          <a:xfrm>
            <a:off x="1386364" y="4457700"/>
            <a:ext cx="242387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1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470" y="2254687"/>
            <a:ext cx="529828" cy="5298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29470" y="2996446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329470" y="3424595"/>
            <a:ext cx="2826663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Muestra los procesos en tiempo real, su uso de CPU y memoria.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4329470" y="4298752"/>
            <a:ext cx="2826663" cy="635794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14" name="Shape 10"/>
          <p:cNvSpPr/>
          <p:nvPr/>
        </p:nvSpPr>
        <p:spPr>
          <a:xfrm>
            <a:off x="4318873" y="4298752"/>
            <a:ext cx="2847856" cy="635794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15" name="Text 11"/>
          <p:cNvSpPr/>
          <p:nvPr/>
        </p:nvSpPr>
        <p:spPr>
          <a:xfrm>
            <a:off x="4530804" y="4457700"/>
            <a:ext cx="242399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6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029" y="2254687"/>
            <a:ext cx="529828" cy="5298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4029" y="2996446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kill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474029" y="3424595"/>
            <a:ext cx="282666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Termina un proceso con su PID.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474029" y="3980855"/>
            <a:ext cx="2826663" cy="635794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20" name="Shape 15"/>
          <p:cNvSpPr/>
          <p:nvPr/>
        </p:nvSpPr>
        <p:spPr>
          <a:xfrm>
            <a:off x="7463433" y="3980855"/>
            <a:ext cx="2847856" cy="635794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21" name="Text 16"/>
          <p:cNvSpPr/>
          <p:nvPr/>
        </p:nvSpPr>
        <p:spPr>
          <a:xfrm>
            <a:off x="7675364" y="4139803"/>
            <a:ext cx="242399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kill 1234</a:t>
            </a:r>
            <a:endParaRPr lang="en-US" sz="16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589" y="2254687"/>
            <a:ext cx="529828" cy="5298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618589" y="2996446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pkill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10618589" y="3424595"/>
            <a:ext cx="2826663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Termina procesos por nombre en lugar de PID.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10618589" y="4298752"/>
            <a:ext cx="2826663" cy="635794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26" name="Shape 20"/>
          <p:cNvSpPr/>
          <p:nvPr/>
        </p:nvSpPr>
        <p:spPr>
          <a:xfrm>
            <a:off x="10607993" y="4298752"/>
            <a:ext cx="2847856" cy="635794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27" name="Text 21"/>
          <p:cNvSpPr/>
          <p:nvPr/>
        </p:nvSpPr>
        <p:spPr>
          <a:xfrm>
            <a:off x="10819924" y="4457700"/>
            <a:ext cx="242399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pkill nombre_proceso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1185029" y="5172908"/>
            <a:ext cx="1226022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nice y renice: Ajustan la prioridad de un proceso. Los valores más bajos tienen mayor prioridad.</a:t>
            </a:r>
            <a:endParaRPr lang="en-US" sz="1650" dirty="0"/>
          </a:p>
        </p:txBody>
      </p:sp>
      <p:sp>
        <p:nvSpPr>
          <p:cNvPr id="29" name="Shape 23"/>
          <p:cNvSpPr/>
          <p:nvPr/>
        </p:nvSpPr>
        <p:spPr>
          <a:xfrm>
            <a:off x="1185029" y="5729168"/>
            <a:ext cx="12260223" cy="1271588"/>
          </a:xfrm>
          <a:prstGeom prst="roundRect">
            <a:avLst>
              <a:gd name="adj" fmla="val 2500"/>
            </a:avLst>
          </a:prstGeom>
          <a:solidFill>
            <a:srgbClr val="262626"/>
          </a:solidFill>
          <a:ln/>
        </p:spPr>
      </p:sp>
      <p:sp>
        <p:nvSpPr>
          <p:cNvPr id="30" name="Shape 24"/>
          <p:cNvSpPr/>
          <p:nvPr/>
        </p:nvSpPr>
        <p:spPr>
          <a:xfrm>
            <a:off x="1174433" y="5729168"/>
            <a:ext cx="12281416" cy="1271588"/>
          </a:xfrm>
          <a:prstGeom prst="roundRect">
            <a:avLst>
              <a:gd name="adj" fmla="val 2500"/>
            </a:avLst>
          </a:prstGeom>
          <a:solidFill>
            <a:srgbClr val="262626"/>
          </a:solidFill>
          <a:ln/>
        </p:spPr>
      </p:sp>
      <p:sp>
        <p:nvSpPr>
          <p:cNvPr id="31" name="Text 25"/>
          <p:cNvSpPr/>
          <p:nvPr/>
        </p:nvSpPr>
        <p:spPr>
          <a:xfrm>
            <a:off x="1386364" y="5888117"/>
            <a:ext cx="11857553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nice -n 10 nombre_proceso
renice 15 -p PID
</a:t>
            </a:r>
            <a:endParaRPr lang="en-US" sz="1650" dirty="0"/>
          </a:p>
        </p:txBody>
      </p:sp>
      <p:sp>
        <p:nvSpPr>
          <p:cNvPr id="32" name="Text 26"/>
          <p:cNvSpPr/>
          <p:nvPr/>
        </p:nvSpPr>
        <p:spPr>
          <a:xfrm>
            <a:off x="1185029" y="7239119"/>
            <a:ext cx="1226022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Estos comandos permiten controlar y ajustar los procesos según las necesidades del sistema.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1595080"/>
            <a:ext cx="7972187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6. Señales en Linux (Parte 1)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5029" y="2790230"/>
            <a:ext cx="12260223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señales son una forma de comunicación entre procesos en Linux. Las señales permiten enviar mensajes a los procesos para que ejecuten ciertas acciones (como finalizar, pausar o continuar).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5029" y="3808690"/>
            <a:ext cx="122602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Algunas señales comunes: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85029" y="4703564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SIGINT (2)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5029" y="5301020"/>
            <a:ext cx="3684746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Interrumpe un proceso en ejecución. Es lo que sucede al presionar Ctrl+C.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79613" y="4703564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SIGTERM (15)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9613" y="5301020"/>
            <a:ext cx="3684746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Solicita al proceso que termine de forma segura.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774198" y="4703564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SIGKILL (9)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774198" y="5301020"/>
            <a:ext cx="3684746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Termina un proceso inmediatamente y no permite que se recupere.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913328"/>
            <a:ext cx="8083272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6. Señales en Linux (Parte 2)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5029" y="2231827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SIGSTOP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5029" y="2829282"/>
            <a:ext cx="582894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Pausa la ejecución de un proceso.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810" y="2231827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SIGCONT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3810" y="2829282"/>
            <a:ext cx="582894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Reanuda un proceso detenido.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5029" y="3792141"/>
            <a:ext cx="4488775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b="1" spc="-35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Ejemplo práctico: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1185029" y="4723448"/>
            <a:ext cx="12260223" cy="2592705"/>
          </a:xfrm>
          <a:prstGeom prst="roundRect">
            <a:avLst>
              <a:gd name="adj" fmla="val 1428"/>
            </a:avLst>
          </a:prstGeom>
          <a:solidFill>
            <a:srgbClr val="26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172766" y="4723448"/>
            <a:ext cx="12284750" cy="2592705"/>
          </a:xfrm>
          <a:prstGeom prst="roundRect">
            <a:avLst>
              <a:gd name="adj" fmla="val 1428"/>
            </a:avLst>
          </a:pr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419582" y="4908590"/>
            <a:ext cx="11791117" cy="2222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Detener un proceso
kill -SIGSTOP PID
# Reanudar un proceso
kill -SIGCONT PID
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2024-11-04T20:37:08Z</dcterms:created>
  <dcterms:modified xsi:type="dcterms:W3CDTF">2024-11-04T20:37:08Z</dcterms:modified>
</cp:coreProperties>
</file>