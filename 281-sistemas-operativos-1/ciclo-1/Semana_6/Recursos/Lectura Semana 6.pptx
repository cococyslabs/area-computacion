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Montserrat"/>
      <p:regular r:id="rId15"/>
    </p:embeddedFont>
    <p:embeddedFont>
      <p:font typeface="Montserrat"/>
      <p:regular r:id="rId16"/>
    </p:embeddedFont>
    <p:embeddedFont>
      <p:font typeface="Montserrat"/>
      <p:regular r:id="rId17"/>
    </p:embeddedFont>
    <p:embeddedFont>
      <p:font typeface="Montserrat"/>
      <p:regular r:id="rId18"/>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1213">
              <a:alpha val="80000"/>
            </a:srgbClr>
          </a:solidFill>
          <a:ln/>
        </p:spPr>
      </p:sp>
      <p:sp>
        <p:nvSpPr>
          <p:cNvPr id="4" name="Text 1"/>
          <p:cNvSpPr/>
          <p:nvPr/>
        </p:nvSpPr>
        <p:spPr>
          <a:xfrm>
            <a:off x="1185029" y="1922026"/>
            <a:ext cx="12260223" cy="2903934"/>
          </a:xfrm>
          <a:prstGeom prst="rect">
            <a:avLst/>
          </a:prstGeom>
          <a:noFill/>
          <a:ln/>
        </p:spPr>
        <p:txBody>
          <a:bodyPr wrap="square" lIns="0" tIns="0" rIns="0" bIns="0" rtlCol="0" anchor="t"/>
          <a:lstStyle/>
          <a:p>
            <a:pPr indent="0" marL="0">
              <a:lnSpc>
                <a:spcPts val="7600"/>
              </a:lnSpc>
              <a:buNone/>
            </a:pPr>
            <a:r>
              <a:rPr lang="en-US" sz="6050" b="1" spc="-61" kern="0" dirty="0">
                <a:solidFill>
                  <a:srgbClr val="FFFFFF"/>
                </a:solidFill>
                <a:latin typeface="Montserrat Bold" pitchFamily="34" charset="0"/>
                <a:ea typeface="Montserrat Bold" pitchFamily="34" charset="-122"/>
                <a:cs typeface="Montserrat Bold" pitchFamily="34" charset="-120"/>
              </a:rPr>
              <a:t>Conceptos de Sistemas Operativos: Hilos, Procesos y Concurrencia</a:t>
            </a:r>
            <a:endParaRPr lang="en-US" sz="6050" dirty="0"/>
          </a:p>
        </p:txBody>
      </p:sp>
      <p:sp>
        <p:nvSpPr>
          <p:cNvPr id="5" name="Text 2"/>
          <p:cNvSpPr/>
          <p:nvPr/>
        </p:nvSpPr>
        <p:spPr>
          <a:xfrm>
            <a:off x="1185029" y="5196245"/>
            <a:ext cx="12260223" cy="1111210"/>
          </a:xfrm>
          <a:prstGeom prst="rect">
            <a:avLst/>
          </a:prstGeom>
          <a:noFill/>
          <a:ln/>
        </p:spPr>
        <p:txBody>
          <a:bodyPr wrap="square" lIns="0" tIns="0" rIns="0" bIns="0" rtlCol="0" anchor="t"/>
          <a:lstStyle/>
          <a:p>
            <a:pPr indent="0" marL="0">
              <a:lnSpc>
                <a:spcPts val="2900"/>
              </a:lnSpc>
              <a:buNone/>
            </a:pPr>
            <a:r>
              <a:rPr lang="en-US" sz="1900" dirty="0">
                <a:solidFill>
                  <a:srgbClr val="E2E6E9"/>
                </a:solidFill>
                <a:latin typeface="Source Sans Pro" pitchFamily="34" charset="0"/>
                <a:ea typeface="Source Sans Pro" pitchFamily="34" charset="-122"/>
                <a:cs typeface="Source Sans Pro" pitchFamily="34" charset="-120"/>
              </a:rPr>
              <a:t>Este documento explora conceptos fundamentales de los sistemas operativos, incluyendo hilos, procesos, planificación, comunicación entre procesos, sincronización y problemas clásicos de concurrencia. Se presentan ejemplos en código C y pseudocódigo para ilustrar estos conceptos.</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185029" y="458986"/>
            <a:ext cx="5417463" cy="473512"/>
          </a:xfrm>
          <a:prstGeom prst="rect">
            <a:avLst/>
          </a:prstGeom>
          <a:noFill/>
          <a:ln/>
        </p:spPr>
        <p:txBody>
          <a:bodyPr wrap="none" lIns="0" tIns="0" rIns="0" bIns="0" rtlCol="0" anchor="t"/>
          <a:lstStyle/>
          <a:p>
            <a:pPr indent="0" marL="0">
              <a:lnSpc>
                <a:spcPts val="3700"/>
              </a:lnSpc>
              <a:buNone/>
            </a:pPr>
            <a:r>
              <a:rPr lang="en-US" sz="2950" b="1" spc="-30" kern="0" dirty="0">
                <a:solidFill>
                  <a:srgbClr val="FFFFFF"/>
                </a:solidFill>
                <a:latin typeface="Montserrat Bold" pitchFamily="34" charset="0"/>
                <a:ea typeface="Montserrat Bold" pitchFamily="34" charset="-122"/>
                <a:cs typeface="Montserrat Bold" pitchFamily="34" charset="-120"/>
              </a:rPr>
              <a:t>1. Concepto de Hilo (Thread)</a:t>
            </a:r>
            <a:endParaRPr lang="en-US" sz="2950" dirty="0"/>
          </a:p>
        </p:txBody>
      </p:sp>
      <p:sp>
        <p:nvSpPr>
          <p:cNvPr id="3" name="Text 1"/>
          <p:cNvSpPr/>
          <p:nvPr/>
        </p:nvSpPr>
        <p:spPr>
          <a:xfrm>
            <a:off x="1185029" y="1265873"/>
            <a:ext cx="12260223" cy="750094"/>
          </a:xfrm>
          <a:prstGeom prst="rect">
            <a:avLst/>
          </a:prstGeom>
          <a:noFill/>
          <a:ln/>
        </p:spPr>
        <p:txBody>
          <a:bodyPr wrap="square" lIns="0" tIns="0" rIns="0" bIns="0" rtlCol="0" anchor="t"/>
          <a:lstStyle/>
          <a:p>
            <a:pPr indent="0" marL="0">
              <a:lnSpc>
                <a:spcPts val="1950"/>
              </a:lnSpc>
              <a:buNone/>
            </a:pPr>
            <a:r>
              <a:rPr lang="en-US" sz="1300" dirty="0">
                <a:solidFill>
                  <a:srgbClr val="E2E6E9"/>
                </a:solidFill>
                <a:latin typeface="Source Sans Pro" pitchFamily="34" charset="0"/>
                <a:ea typeface="Source Sans Pro" pitchFamily="34" charset="-122"/>
                <a:cs typeface="Source Sans Pro" pitchFamily="34" charset="-120"/>
              </a:rPr>
              <a:t>Un hilo, o thread, es la unidad más pequeña de ejecución en un sistema operativo. Mientras que un proceso contiene su propio espacio de memoria y recursos, un hilo comparte recursos dentro del proceso. Los hilos permiten que las tareas se ejecuten de manera concurrente dentro de un proceso, haciendo que los programas sean más eficientes, especialmente en sistemas multiprocesador.</a:t>
            </a:r>
            <a:endParaRPr lang="en-US" sz="1300" dirty="0"/>
          </a:p>
        </p:txBody>
      </p:sp>
      <p:sp>
        <p:nvSpPr>
          <p:cNvPr id="4" name="Text 2"/>
          <p:cNvSpPr/>
          <p:nvPr/>
        </p:nvSpPr>
        <p:spPr>
          <a:xfrm>
            <a:off x="1185029" y="2265997"/>
            <a:ext cx="3274457" cy="378857"/>
          </a:xfrm>
          <a:prstGeom prst="rect">
            <a:avLst/>
          </a:prstGeom>
          <a:noFill/>
          <a:ln/>
        </p:spPr>
        <p:txBody>
          <a:bodyPr wrap="none" lIns="0" tIns="0" rIns="0" bIns="0" rtlCol="0" anchor="t"/>
          <a:lstStyle/>
          <a:p>
            <a:pPr indent="0" marL="0">
              <a:lnSpc>
                <a:spcPts val="2950"/>
              </a:lnSpc>
              <a:buNone/>
            </a:pPr>
            <a:r>
              <a:rPr lang="en-US" sz="2350" b="1" spc="-24" kern="0" dirty="0">
                <a:solidFill>
                  <a:srgbClr val="FFFFFF"/>
                </a:solidFill>
                <a:latin typeface="Montserrat Bold" pitchFamily="34" charset="0"/>
                <a:ea typeface="Montserrat Bold" pitchFamily="34" charset="-122"/>
                <a:cs typeface="Montserrat Bold" pitchFamily="34" charset="-120"/>
              </a:rPr>
              <a:t>Ejemplo de hilo en C:</a:t>
            </a:r>
            <a:endParaRPr lang="en-US" sz="2350" dirty="0"/>
          </a:p>
        </p:txBody>
      </p:sp>
      <p:sp>
        <p:nvSpPr>
          <p:cNvPr id="5" name="Text 3"/>
          <p:cNvSpPr/>
          <p:nvPr/>
        </p:nvSpPr>
        <p:spPr>
          <a:xfrm>
            <a:off x="1185029" y="2894886"/>
            <a:ext cx="12260223" cy="250031"/>
          </a:xfrm>
          <a:prstGeom prst="rect">
            <a:avLst/>
          </a:prstGeom>
          <a:noFill/>
          <a:ln/>
        </p:spPr>
        <p:txBody>
          <a:bodyPr wrap="none" lIns="0" tIns="0" rIns="0" bIns="0" rtlCol="0" anchor="t"/>
          <a:lstStyle/>
          <a:p>
            <a:pPr indent="0" marL="0">
              <a:lnSpc>
                <a:spcPts val="1950"/>
              </a:lnSpc>
              <a:buNone/>
            </a:pPr>
            <a:r>
              <a:rPr lang="en-US" sz="1300" dirty="0">
                <a:solidFill>
                  <a:srgbClr val="E2E6E9"/>
                </a:solidFill>
                <a:latin typeface="Source Sans Pro" pitchFamily="34" charset="0"/>
                <a:ea typeface="Source Sans Pro" pitchFamily="34" charset="-122"/>
                <a:cs typeface="Source Sans Pro" pitchFamily="34" charset="-120"/>
              </a:rPr>
              <a:t>Para crear un hilo en lenguaje C, podemos usar la biblioteca pthread.</a:t>
            </a:r>
            <a:endParaRPr lang="en-US" sz="1300" dirty="0"/>
          </a:p>
        </p:txBody>
      </p:sp>
      <p:sp>
        <p:nvSpPr>
          <p:cNvPr id="6" name="Shape 4"/>
          <p:cNvSpPr/>
          <p:nvPr/>
        </p:nvSpPr>
        <p:spPr>
          <a:xfrm>
            <a:off x="1185029" y="3332440"/>
            <a:ext cx="12260223" cy="4000500"/>
          </a:xfrm>
          <a:prstGeom prst="roundRect">
            <a:avLst>
              <a:gd name="adj" fmla="val 625"/>
            </a:avLst>
          </a:prstGeom>
          <a:solidFill>
            <a:srgbClr val="262626"/>
          </a:solidFill>
          <a:ln/>
        </p:spPr>
      </p:sp>
      <p:sp>
        <p:nvSpPr>
          <p:cNvPr id="7" name="Shape 5"/>
          <p:cNvSpPr/>
          <p:nvPr/>
        </p:nvSpPr>
        <p:spPr>
          <a:xfrm>
            <a:off x="1176695" y="3332440"/>
            <a:ext cx="12276892" cy="4000500"/>
          </a:xfrm>
          <a:prstGeom prst="roundRect">
            <a:avLst>
              <a:gd name="adj" fmla="val 625"/>
            </a:avLst>
          </a:prstGeom>
          <a:solidFill>
            <a:srgbClr val="262626"/>
          </a:solidFill>
          <a:ln/>
        </p:spPr>
      </p:sp>
      <p:sp>
        <p:nvSpPr>
          <p:cNvPr id="8" name="Text 6"/>
          <p:cNvSpPr/>
          <p:nvPr/>
        </p:nvSpPr>
        <p:spPr>
          <a:xfrm>
            <a:off x="1343382" y="3457456"/>
            <a:ext cx="11943517" cy="3750469"/>
          </a:xfrm>
          <a:prstGeom prst="rect">
            <a:avLst/>
          </a:prstGeom>
          <a:noFill/>
          <a:ln/>
        </p:spPr>
        <p:txBody>
          <a:bodyPr wrap="square" lIns="0" tIns="0" rIns="0" bIns="0" rtlCol="0" anchor="t"/>
          <a:lstStyle/>
          <a:p>
            <a:pPr indent="0" marL="0">
              <a:lnSpc>
                <a:spcPts val="1950"/>
              </a:lnSpc>
              <a:buNone/>
            </a:pPr>
            <a:r>
              <a:rPr lang="en-US" sz="1300" dirty="0">
                <a:solidFill>
                  <a:srgbClr val="E2E6E9"/>
                </a:solidFill>
                <a:highlight>
                  <a:srgbClr val="262626"/>
                </a:highlight>
                <a:latin typeface="Consolas" pitchFamily="34" charset="0"/>
                <a:ea typeface="Consolas" pitchFamily="34" charset="-122"/>
                <a:cs typeface="Consolas" pitchFamily="34" charset="-120"/>
              </a:rPr>
              <a:t>#include &lt;stdio.h&gt;
#include &lt;pthread.h&gt;
void* funcion_hilo(void* arg) {
    printf("Este es un hilo en ejecución.\n");
    return NULL;
}
int main() {
    pthread_t hilo;
    pthread_create(&amp;hilo, NULL, funcion_hilo, NULL);
    pthread_join(hilo, NULL);
    return 0;
}
</a:t>
            </a:r>
            <a:endParaRPr lang="en-US" sz="1300" dirty="0"/>
          </a:p>
        </p:txBody>
      </p:sp>
      <p:sp>
        <p:nvSpPr>
          <p:cNvPr id="9" name="Text 7"/>
          <p:cNvSpPr/>
          <p:nvPr/>
        </p:nvSpPr>
        <p:spPr>
          <a:xfrm>
            <a:off x="1185029" y="7520464"/>
            <a:ext cx="12260223" cy="250031"/>
          </a:xfrm>
          <a:prstGeom prst="rect">
            <a:avLst/>
          </a:prstGeom>
          <a:noFill/>
          <a:ln/>
        </p:spPr>
        <p:txBody>
          <a:bodyPr wrap="none" lIns="0" tIns="0" rIns="0" bIns="0" rtlCol="0" anchor="t"/>
          <a:lstStyle/>
          <a:p>
            <a:pPr indent="0" marL="0">
              <a:lnSpc>
                <a:spcPts val="1950"/>
              </a:lnSpc>
              <a:buNone/>
            </a:pPr>
            <a:r>
              <a:rPr lang="en-US" sz="1300" dirty="0">
                <a:solidFill>
                  <a:srgbClr val="E2E6E9"/>
                </a:solidFill>
                <a:latin typeface="Source Sans Pro" pitchFamily="34" charset="0"/>
                <a:ea typeface="Source Sans Pro" pitchFamily="34" charset="-122"/>
                <a:cs typeface="Source Sans Pro" pitchFamily="34" charset="-120"/>
              </a:rPr>
              <a:t>Este ejemplo crea un hilo que ejecuta la función funcion_hilo, la cual imprime un mensaje.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185029" y="774502"/>
            <a:ext cx="5728692" cy="701397"/>
          </a:xfrm>
          <a:prstGeom prst="rect">
            <a:avLst/>
          </a:prstGeom>
          <a:noFill/>
          <a:ln/>
        </p:spPr>
        <p:txBody>
          <a:bodyPr wrap="none" lIns="0" tIns="0" rIns="0" bIns="0" rtlCol="0" anchor="t"/>
          <a:lstStyle/>
          <a:p>
            <a:pPr indent="0" marL="0">
              <a:lnSpc>
                <a:spcPts val="5500"/>
              </a:lnSpc>
              <a:buNone/>
            </a:pPr>
            <a:r>
              <a:rPr lang="en-US" sz="4400" b="1" spc="-44" kern="0" dirty="0">
                <a:solidFill>
                  <a:srgbClr val="FFFFFF"/>
                </a:solidFill>
                <a:latin typeface="Montserrat Bold" pitchFamily="34" charset="0"/>
                <a:ea typeface="Montserrat Bold" pitchFamily="34" charset="-122"/>
                <a:cs typeface="Montserrat Bold" pitchFamily="34" charset="-120"/>
              </a:rPr>
              <a:t>2. Procesos vs. Hilos</a:t>
            </a:r>
            <a:endParaRPr lang="en-US" sz="4400" dirty="0"/>
          </a:p>
        </p:txBody>
      </p:sp>
      <p:sp>
        <p:nvSpPr>
          <p:cNvPr id="3" name="Text 1"/>
          <p:cNvSpPr/>
          <p:nvPr/>
        </p:nvSpPr>
        <p:spPr>
          <a:xfrm>
            <a:off x="1185029" y="2093000"/>
            <a:ext cx="2805470" cy="350639"/>
          </a:xfrm>
          <a:prstGeom prst="rect">
            <a:avLst/>
          </a:prstGeom>
          <a:noFill/>
          <a:ln/>
        </p:spPr>
        <p:txBody>
          <a:bodyPr wrap="none" lIns="0" tIns="0" rIns="0" bIns="0" rtlCol="0" anchor="t"/>
          <a:lstStyle/>
          <a:p>
            <a:pPr indent="0" marL="0">
              <a:lnSpc>
                <a:spcPts val="2750"/>
              </a:lnSpc>
              <a:buNone/>
            </a:pPr>
            <a:r>
              <a:rPr lang="en-US" sz="2200" b="1" spc="-22" kern="0" dirty="0">
                <a:solidFill>
                  <a:srgbClr val="FFFFFF"/>
                </a:solidFill>
                <a:latin typeface="Montserrat Bold" pitchFamily="34" charset="0"/>
                <a:ea typeface="Montserrat Bold" pitchFamily="34" charset="-122"/>
                <a:cs typeface="Montserrat Bold" pitchFamily="34" charset="-120"/>
              </a:rPr>
              <a:t>Procesos</a:t>
            </a:r>
            <a:endParaRPr lang="en-US" sz="2200" dirty="0"/>
          </a:p>
        </p:txBody>
      </p:sp>
      <p:sp>
        <p:nvSpPr>
          <p:cNvPr id="4" name="Text 2"/>
          <p:cNvSpPr/>
          <p:nvPr/>
        </p:nvSpPr>
        <p:spPr>
          <a:xfrm>
            <a:off x="1185029" y="2690455"/>
            <a:ext cx="5828943" cy="1111210"/>
          </a:xfrm>
          <a:prstGeom prst="rect">
            <a:avLst/>
          </a:prstGeom>
          <a:noFill/>
          <a:ln/>
        </p:spPr>
        <p:txBody>
          <a:bodyPr wrap="square" lIns="0" tIns="0" rIns="0" bIns="0" rtlCol="0" anchor="t"/>
          <a:lstStyle/>
          <a:p>
            <a:pPr indent="0" marL="0">
              <a:lnSpc>
                <a:spcPts val="2900"/>
              </a:lnSpc>
              <a:buNone/>
            </a:pPr>
            <a:r>
              <a:rPr lang="en-US" sz="1900" dirty="0">
                <a:solidFill>
                  <a:srgbClr val="E2E6E9"/>
                </a:solidFill>
                <a:latin typeface="Source Sans Pro" pitchFamily="34" charset="0"/>
                <a:ea typeface="Source Sans Pro" pitchFamily="34" charset="-122"/>
                <a:cs typeface="Source Sans Pro" pitchFamily="34" charset="-120"/>
              </a:rPr>
              <a:t>Son independientes entre sí y cada uno tiene su propio espacio de memoria. La creación y gestión de procesos es más costosa en términos de recursos del sistema.</a:t>
            </a:r>
            <a:endParaRPr lang="en-US" sz="1900" dirty="0"/>
          </a:p>
        </p:txBody>
      </p:sp>
      <p:sp>
        <p:nvSpPr>
          <p:cNvPr id="5" name="Text 3"/>
          <p:cNvSpPr/>
          <p:nvPr/>
        </p:nvSpPr>
        <p:spPr>
          <a:xfrm>
            <a:off x="7623810" y="2093000"/>
            <a:ext cx="2805470" cy="350639"/>
          </a:xfrm>
          <a:prstGeom prst="rect">
            <a:avLst/>
          </a:prstGeom>
          <a:noFill/>
          <a:ln/>
        </p:spPr>
        <p:txBody>
          <a:bodyPr wrap="none" lIns="0" tIns="0" rIns="0" bIns="0" rtlCol="0" anchor="t"/>
          <a:lstStyle/>
          <a:p>
            <a:pPr indent="0" marL="0">
              <a:lnSpc>
                <a:spcPts val="2750"/>
              </a:lnSpc>
              <a:buNone/>
            </a:pPr>
            <a:r>
              <a:rPr lang="en-US" sz="2200" b="1" spc="-22" kern="0" dirty="0">
                <a:solidFill>
                  <a:srgbClr val="FFFFFF"/>
                </a:solidFill>
                <a:latin typeface="Montserrat Bold" pitchFamily="34" charset="0"/>
                <a:ea typeface="Montserrat Bold" pitchFamily="34" charset="-122"/>
                <a:cs typeface="Montserrat Bold" pitchFamily="34" charset="-120"/>
              </a:rPr>
              <a:t>Hilos</a:t>
            </a:r>
            <a:endParaRPr lang="en-US" sz="2200" dirty="0"/>
          </a:p>
        </p:txBody>
      </p:sp>
      <p:sp>
        <p:nvSpPr>
          <p:cNvPr id="6" name="Text 4"/>
          <p:cNvSpPr/>
          <p:nvPr/>
        </p:nvSpPr>
        <p:spPr>
          <a:xfrm>
            <a:off x="7623810" y="2690455"/>
            <a:ext cx="5828943" cy="1481614"/>
          </a:xfrm>
          <a:prstGeom prst="rect">
            <a:avLst/>
          </a:prstGeom>
          <a:noFill/>
          <a:ln/>
        </p:spPr>
        <p:txBody>
          <a:bodyPr wrap="square" lIns="0" tIns="0" rIns="0" bIns="0" rtlCol="0" anchor="t"/>
          <a:lstStyle/>
          <a:p>
            <a:pPr indent="0" marL="0">
              <a:lnSpc>
                <a:spcPts val="2900"/>
              </a:lnSpc>
              <a:buNone/>
            </a:pPr>
            <a:r>
              <a:rPr lang="en-US" sz="1900" dirty="0">
                <a:solidFill>
                  <a:srgbClr val="E2E6E9"/>
                </a:solidFill>
                <a:latin typeface="Source Sans Pro" pitchFamily="34" charset="0"/>
                <a:ea typeface="Source Sans Pro" pitchFamily="34" charset="-122"/>
                <a:cs typeface="Source Sans Pro" pitchFamily="34" charset="-120"/>
              </a:rPr>
              <a:t>Los hilos comparten el mismo espacio de memoria dentro de un proceso, por lo que pueden comunicarse fácilmente entre sí, pero esto también genera desafíos de sincronización para evitar conflictos.</a:t>
            </a:r>
            <a:endParaRPr lang="en-US" sz="1900" dirty="0"/>
          </a:p>
        </p:txBody>
      </p:sp>
      <p:sp>
        <p:nvSpPr>
          <p:cNvPr id="7" name="Text 5"/>
          <p:cNvSpPr/>
          <p:nvPr/>
        </p:nvSpPr>
        <p:spPr>
          <a:xfrm>
            <a:off x="1185029" y="4764524"/>
            <a:ext cx="5092422" cy="561023"/>
          </a:xfrm>
          <a:prstGeom prst="rect">
            <a:avLst/>
          </a:prstGeom>
          <a:noFill/>
          <a:ln/>
        </p:spPr>
        <p:txBody>
          <a:bodyPr wrap="none" lIns="0" tIns="0" rIns="0" bIns="0" rtlCol="0" anchor="t"/>
          <a:lstStyle/>
          <a:p>
            <a:pPr indent="0" marL="0">
              <a:lnSpc>
                <a:spcPts val="4400"/>
              </a:lnSpc>
              <a:buNone/>
            </a:pPr>
            <a:r>
              <a:rPr lang="en-US" sz="3500" b="1" spc="-35" kern="0" dirty="0">
                <a:solidFill>
                  <a:srgbClr val="FFFFFF"/>
                </a:solidFill>
                <a:latin typeface="Montserrat Bold" pitchFamily="34" charset="0"/>
                <a:ea typeface="Montserrat Bold" pitchFamily="34" charset="-122"/>
                <a:cs typeface="Montserrat Bold" pitchFamily="34" charset="-120"/>
              </a:rPr>
              <a:t>Ejemplo Comparativo:</a:t>
            </a:r>
            <a:endParaRPr lang="en-US" sz="3500" dirty="0"/>
          </a:p>
        </p:txBody>
      </p:sp>
      <p:sp>
        <p:nvSpPr>
          <p:cNvPr id="8" name="Text 6"/>
          <p:cNvSpPr/>
          <p:nvPr/>
        </p:nvSpPr>
        <p:spPr>
          <a:xfrm>
            <a:off x="1185029" y="5695831"/>
            <a:ext cx="12260223" cy="740807"/>
          </a:xfrm>
          <a:prstGeom prst="rect">
            <a:avLst/>
          </a:prstGeom>
          <a:noFill/>
          <a:ln/>
        </p:spPr>
        <p:txBody>
          <a:bodyPr wrap="square" lIns="0" tIns="0" rIns="0" bIns="0" rtlCol="0" anchor="t"/>
          <a:lstStyle/>
          <a:p>
            <a:pPr indent="0" marL="0">
              <a:lnSpc>
                <a:spcPts val="2900"/>
              </a:lnSpc>
              <a:buNone/>
            </a:pPr>
            <a:r>
              <a:rPr lang="en-US" sz="1900" dirty="0">
                <a:solidFill>
                  <a:srgbClr val="E2E6E9"/>
                </a:solidFill>
                <a:latin typeface="Source Sans Pro" pitchFamily="34" charset="0"/>
                <a:ea typeface="Source Sans Pro" pitchFamily="34" charset="-122"/>
                <a:cs typeface="Source Sans Pro" pitchFamily="34" charset="-120"/>
              </a:rPr>
              <a:t>- Un navegador web utiliza procesos y hilos: puede tener un proceso por cada pestaña y un hilo para manejar cada componente de una página (renderización, conexión de red, etc.).</a:t>
            </a:r>
            <a:endParaRPr lang="en-US" sz="1900" dirty="0"/>
          </a:p>
        </p:txBody>
      </p:sp>
      <p:sp>
        <p:nvSpPr>
          <p:cNvPr id="9" name="Text 7"/>
          <p:cNvSpPr/>
          <p:nvPr/>
        </p:nvSpPr>
        <p:spPr>
          <a:xfrm>
            <a:off x="1185029" y="6714292"/>
            <a:ext cx="12260223" cy="740807"/>
          </a:xfrm>
          <a:prstGeom prst="rect">
            <a:avLst/>
          </a:prstGeom>
          <a:noFill/>
          <a:ln/>
        </p:spPr>
        <p:txBody>
          <a:bodyPr wrap="square" lIns="0" tIns="0" rIns="0" bIns="0" rtlCol="0" anchor="t"/>
          <a:lstStyle/>
          <a:p>
            <a:pPr indent="0" marL="0">
              <a:lnSpc>
                <a:spcPts val="2900"/>
              </a:lnSpc>
              <a:buNone/>
            </a:pPr>
            <a:r>
              <a:rPr lang="en-US" sz="1900" dirty="0">
                <a:solidFill>
                  <a:srgbClr val="E2E6E9"/>
                </a:solidFill>
                <a:latin typeface="Source Sans Pro" pitchFamily="34" charset="0"/>
                <a:ea typeface="Source Sans Pro" pitchFamily="34" charset="-122"/>
                <a:cs typeface="Source Sans Pro" pitchFamily="34" charset="-120"/>
              </a:rPr>
              <a:t>El uso de hilos y procesos depende de la aplicación. Para tareas que requieren aislamiento, es mejor usar procesos, mientras que para tareas que requieren mucha comunicación entre sí, es mejor usar hilos.</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185029" y="1344811"/>
            <a:ext cx="8001952" cy="701397"/>
          </a:xfrm>
          <a:prstGeom prst="rect">
            <a:avLst/>
          </a:prstGeom>
          <a:noFill/>
          <a:ln/>
        </p:spPr>
        <p:txBody>
          <a:bodyPr wrap="none" lIns="0" tIns="0" rIns="0" bIns="0" rtlCol="0" anchor="t"/>
          <a:lstStyle/>
          <a:p>
            <a:pPr indent="0" marL="0">
              <a:lnSpc>
                <a:spcPts val="5500"/>
              </a:lnSpc>
              <a:buNone/>
            </a:pPr>
            <a:r>
              <a:rPr lang="en-US" sz="4400" b="1" spc="-44" kern="0" dirty="0">
                <a:solidFill>
                  <a:srgbClr val="FFFFFF"/>
                </a:solidFill>
                <a:latin typeface="Montserrat Bold" pitchFamily="34" charset="0"/>
                <a:ea typeface="Montserrat Bold" pitchFamily="34" charset="-122"/>
                <a:cs typeface="Montserrat Bold" pitchFamily="34" charset="-120"/>
              </a:rPr>
              <a:t>3. Planificación de Procesos</a:t>
            </a:r>
            <a:endParaRPr lang="en-US" sz="4400" dirty="0"/>
          </a:p>
        </p:txBody>
      </p:sp>
      <p:sp>
        <p:nvSpPr>
          <p:cNvPr id="3" name="Text 1"/>
          <p:cNvSpPr/>
          <p:nvPr/>
        </p:nvSpPr>
        <p:spPr>
          <a:xfrm>
            <a:off x="1185029" y="2539960"/>
            <a:ext cx="12260223" cy="740807"/>
          </a:xfrm>
          <a:prstGeom prst="rect">
            <a:avLst/>
          </a:prstGeom>
          <a:noFill/>
          <a:ln/>
        </p:spPr>
        <p:txBody>
          <a:bodyPr wrap="square" lIns="0" tIns="0" rIns="0" bIns="0" rtlCol="0" anchor="t"/>
          <a:lstStyle/>
          <a:p>
            <a:pPr indent="0" marL="0">
              <a:lnSpc>
                <a:spcPts val="2900"/>
              </a:lnSpc>
              <a:buNone/>
            </a:pPr>
            <a:r>
              <a:rPr lang="en-US" sz="1900" dirty="0">
                <a:solidFill>
                  <a:srgbClr val="E2E6E9"/>
                </a:solidFill>
                <a:latin typeface="Source Sans Pro" pitchFamily="34" charset="0"/>
                <a:ea typeface="Source Sans Pro" pitchFamily="34" charset="-122"/>
                <a:cs typeface="Source Sans Pro" pitchFamily="34" charset="-120"/>
              </a:rPr>
              <a:t>La planificación de procesos es el método por el cual el sistema operativo decide el orden y el tiempo que cada proceso o hilo pasa en la CPU. Existen varios algoritmos de planificación:</a:t>
            </a:r>
            <a:endParaRPr lang="en-US" sz="1900" dirty="0"/>
          </a:p>
        </p:txBody>
      </p:sp>
      <p:sp>
        <p:nvSpPr>
          <p:cNvPr id="4" name="Text 2"/>
          <p:cNvSpPr/>
          <p:nvPr/>
        </p:nvSpPr>
        <p:spPr>
          <a:xfrm>
            <a:off x="1185029" y="3558421"/>
            <a:ext cx="12260223" cy="370403"/>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E2E6E9"/>
                </a:solidFill>
                <a:latin typeface="Source Sans Pro" pitchFamily="34" charset="0"/>
                <a:ea typeface="Source Sans Pro" pitchFamily="34" charset="-122"/>
                <a:cs typeface="Source Sans Pro" pitchFamily="34" charset="-120"/>
              </a:rPr>
              <a:t>First-Come, First-Served (FCFS): Atiende los procesos en el orden en que llegan.</a:t>
            </a:r>
            <a:endParaRPr lang="en-US" sz="1900" dirty="0"/>
          </a:p>
        </p:txBody>
      </p:sp>
      <p:sp>
        <p:nvSpPr>
          <p:cNvPr id="5" name="Text 3"/>
          <p:cNvSpPr/>
          <p:nvPr/>
        </p:nvSpPr>
        <p:spPr>
          <a:xfrm>
            <a:off x="1185029" y="4015145"/>
            <a:ext cx="12260223" cy="370403"/>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E2E6E9"/>
                </a:solidFill>
                <a:latin typeface="Source Sans Pro" pitchFamily="34" charset="0"/>
                <a:ea typeface="Source Sans Pro" pitchFamily="34" charset="-122"/>
                <a:cs typeface="Source Sans Pro" pitchFamily="34" charset="-120"/>
              </a:rPr>
              <a:t>Shortest Job Next (SJN): Da preferencia al proceso con el menor tiempo de ejecución.</a:t>
            </a:r>
            <a:endParaRPr lang="en-US" sz="1900" dirty="0"/>
          </a:p>
        </p:txBody>
      </p:sp>
      <p:sp>
        <p:nvSpPr>
          <p:cNvPr id="6" name="Text 4"/>
          <p:cNvSpPr/>
          <p:nvPr/>
        </p:nvSpPr>
        <p:spPr>
          <a:xfrm>
            <a:off x="1185029" y="4471868"/>
            <a:ext cx="12260223" cy="370403"/>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E2E6E9"/>
                </a:solidFill>
                <a:latin typeface="Source Sans Pro" pitchFamily="34" charset="0"/>
                <a:ea typeface="Source Sans Pro" pitchFamily="34" charset="-122"/>
                <a:cs typeface="Source Sans Pro" pitchFamily="34" charset="-120"/>
              </a:rPr>
              <a:t>Round Robin (RR): Asigna tiempos fijos para cada proceso, ideal para sistemas interactivos.</a:t>
            </a:r>
            <a:endParaRPr lang="en-US" sz="1900" dirty="0"/>
          </a:p>
        </p:txBody>
      </p:sp>
      <p:sp>
        <p:nvSpPr>
          <p:cNvPr id="7" name="Text 5"/>
          <p:cNvSpPr/>
          <p:nvPr/>
        </p:nvSpPr>
        <p:spPr>
          <a:xfrm>
            <a:off x="1185029" y="5212556"/>
            <a:ext cx="9919097" cy="561023"/>
          </a:xfrm>
          <a:prstGeom prst="rect">
            <a:avLst/>
          </a:prstGeom>
          <a:noFill/>
          <a:ln/>
        </p:spPr>
        <p:txBody>
          <a:bodyPr wrap="none" lIns="0" tIns="0" rIns="0" bIns="0" rtlCol="0" anchor="t"/>
          <a:lstStyle/>
          <a:p>
            <a:pPr indent="0" marL="0">
              <a:lnSpc>
                <a:spcPts val="4400"/>
              </a:lnSpc>
              <a:buNone/>
            </a:pPr>
            <a:r>
              <a:rPr lang="en-US" sz="3500" b="1" spc="-35" kern="0" dirty="0">
                <a:solidFill>
                  <a:srgbClr val="FFFFFF"/>
                </a:solidFill>
                <a:latin typeface="Montserrat Bold" pitchFamily="34" charset="0"/>
                <a:ea typeface="Montserrat Bold" pitchFamily="34" charset="-122"/>
                <a:cs typeface="Montserrat Bold" pitchFamily="34" charset="-120"/>
              </a:rPr>
              <a:t>Ejemplo de planificación con Round Robin:</a:t>
            </a:r>
            <a:endParaRPr lang="en-US" sz="3500" dirty="0"/>
          </a:p>
        </p:txBody>
      </p:sp>
      <p:sp>
        <p:nvSpPr>
          <p:cNvPr id="8" name="Text 6"/>
          <p:cNvSpPr/>
          <p:nvPr/>
        </p:nvSpPr>
        <p:spPr>
          <a:xfrm>
            <a:off x="1185029" y="6143863"/>
            <a:ext cx="12260223" cy="740807"/>
          </a:xfrm>
          <a:prstGeom prst="rect">
            <a:avLst/>
          </a:prstGeom>
          <a:noFill/>
          <a:ln/>
        </p:spPr>
        <p:txBody>
          <a:bodyPr wrap="square" lIns="0" tIns="0" rIns="0" bIns="0" rtlCol="0" anchor="t"/>
          <a:lstStyle/>
          <a:p>
            <a:pPr indent="0" marL="0">
              <a:lnSpc>
                <a:spcPts val="2900"/>
              </a:lnSpc>
              <a:buNone/>
            </a:pPr>
            <a:r>
              <a:rPr lang="en-US" sz="1900" dirty="0">
                <a:solidFill>
                  <a:srgbClr val="E2E6E9"/>
                </a:solidFill>
                <a:latin typeface="Source Sans Pro" pitchFamily="34" charset="0"/>
                <a:ea typeface="Source Sans Pro" pitchFamily="34" charset="-122"/>
                <a:cs typeface="Source Sans Pro" pitchFamily="34" charset="-120"/>
              </a:rPr>
              <a:t>Imaginemos tres procesos con tiempos de ejecución de 4, 3 y 2 segundos respectivamente. Con Round Robin de 1 segundo, la CPU alternará entre ellos, dándoles 1 segundo de tiempo de CPU cada vez hasta que todos terminen.</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185029" y="375761"/>
            <a:ext cx="5124212" cy="385882"/>
          </a:xfrm>
          <a:prstGeom prst="rect">
            <a:avLst/>
          </a:prstGeom>
          <a:noFill/>
          <a:ln/>
        </p:spPr>
        <p:txBody>
          <a:bodyPr wrap="none" lIns="0" tIns="0" rIns="0" bIns="0" rtlCol="0" anchor="t"/>
          <a:lstStyle/>
          <a:p>
            <a:pPr indent="0" marL="0">
              <a:lnSpc>
                <a:spcPts val="3000"/>
              </a:lnSpc>
              <a:buNone/>
            </a:pPr>
            <a:r>
              <a:rPr lang="en-US" sz="2400" b="1" spc="-24" kern="0" dirty="0">
                <a:solidFill>
                  <a:srgbClr val="FFFFFF"/>
                </a:solidFill>
                <a:latin typeface="Montserrat Bold" pitchFamily="34" charset="0"/>
                <a:ea typeface="Montserrat Bold" pitchFamily="34" charset="-122"/>
                <a:cs typeface="Montserrat Bold" pitchFamily="34" charset="-120"/>
              </a:rPr>
              <a:t>4. Comunicación entre Procesos</a:t>
            </a:r>
            <a:endParaRPr lang="en-US" sz="2400" dirty="0"/>
          </a:p>
        </p:txBody>
      </p:sp>
      <p:sp>
        <p:nvSpPr>
          <p:cNvPr id="3" name="Text 1"/>
          <p:cNvSpPr/>
          <p:nvPr/>
        </p:nvSpPr>
        <p:spPr>
          <a:xfrm>
            <a:off x="1185029" y="1033224"/>
            <a:ext cx="12260223" cy="203716"/>
          </a:xfrm>
          <a:prstGeom prst="rect">
            <a:avLst/>
          </a:prstGeom>
          <a:noFill/>
          <a:ln/>
        </p:spPr>
        <p:txBody>
          <a:bodyPr wrap="none" lIns="0" tIns="0" rIns="0" bIns="0" rtlCol="0" anchor="t"/>
          <a:lstStyle/>
          <a:p>
            <a:pPr indent="0" marL="0">
              <a:lnSpc>
                <a:spcPts val="1600"/>
              </a:lnSpc>
              <a:buNone/>
            </a:pPr>
            <a:r>
              <a:rPr lang="en-US" sz="1050" dirty="0">
                <a:solidFill>
                  <a:srgbClr val="E2E6E9"/>
                </a:solidFill>
                <a:latin typeface="Source Sans Pro" pitchFamily="34" charset="0"/>
                <a:ea typeface="Source Sans Pro" pitchFamily="34" charset="-122"/>
                <a:cs typeface="Source Sans Pro" pitchFamily="34" charset="-120"/>
              </a:rPr>
              <a:t>La comunicación entre procesos (IPC, por sus siglas en inglés) permite que los procesos intercambien información. Existen varios métodos para IPC:</a:t>
            </a:r>
            <a:endParaRPr lang="en-US" sz="1050" dirty="0"/>
          </a:p>
        </p:txBody>
      </p:sp>
      <p:sp>
        <p:nvSpPr>
          <p:cNvPr id="4" name="Text 2"/>
          <p:cNvSpPr/>
          <p:nvPr/>
        </p:nvSpPr>
        <p:spPr>
          <a:xfrm>
            <a:off x="1185029" y="1389698"/>
            <a:ext cx="12260223" cy="203716"/>
          </a:xfrm>
          <a:prstGeom prst="rect">
            <a:avLst/>
          </a:prstGeom>
          <a:noFill/>
          <a:ln/>
        </p:spPr>
        <p:txBody>
          <a:bodyPr wrap="none" lIns="0" tIns="0" rIns="0" bIns="0" rtlCol="0" anchor="t"/>
          <a:lstStyle/>
          <a:p>
            <a:pPr algn="l" marL="342900" indent="-342900">
              <a:lnSpc>
                <a:spcPts val="1600"/>
              </a:lnSpc>
              <a:buSzPct val="100000"/>
              <a:buChar char="•"/>
            </a:pPr>
            <a:r>
              <a:rPr lang="en-US" sz="1050" dirty="0">
                <a:solidFill>
                  <a:srgbClr val="E2E6E9"/>
                </a:solidFill>
                <a:latin typeface="Source Sans Pro" pitchFamily="34" charset="0"/>
                <a:ea typeface="Source Sans Pro" pitchFamily="34" charset="-122"/>
                <a:cs typeface="Source Sans Pro" pitchFamily="34" charset="-120"/>
              </a:rPr>
              <a:t>Tubos (Pipes): Permiten la comunicación entre procesos relacionados.</a:t>
            </a:r>
            <a:endParaRPr lang="en-US" sz="1050" dirty="0"/>
          </a:p>
        </p:txBody>
      </p:sp>
      <p:sp>
        <p:nvSpPr>
          <p:cNvPr id="5" name="Text 3"/>
          <p:cNvSpPr/>
          <p:nvPr/>
        </p:nvSpPr>
        <p:spPr>
          <a:xfrm>
            <a:off x="1185029" y="1640919"/>
            <a:ext cx="12260223" cy="203716"/>
          </a:xfrm>
          <a:prstGeom prst="rect">
            <a:avLst/>
          </a:prstGeom>
          <a:noFill/>
          <a:ln/>
        </p:spPr>
        <p:txBody>
          <a:bodyPr wrap="none" lIns="0" tIns="0" rIns="0" bIns="0" rtlCol="0" anchor="t"/>
          <a:lstStyle/>
          <a:p>
            <a:pPr algn="l" marL="342900" indent="-342900">
              <a:lnSpc>
                <a:spcPts val="1600"/>
              </a:lnSpc>
              <a:buSzPct val="100000"/>
              <a:buChar char="•"/>
            </a:pPr>
            <a:r>
              <a:rPr lang="en-US" sz="1050" dirty="0">
                <a:solidFill>
                  <a:srgbClr val="E2E6E9"/>
                </a:solidFill>
                <a:latin typeface="Source Sans Pro" pitchFamily="34" charset="0"/>
                <a:ea typeface="Source Sans Pro" pitchFamily="34" charset="-122"/>
                <a:cs typeface="Source Sans Pro" pitchFamily="34" charset="-120"/>
              </a:rPr>
              <a:t>Colas de mensajes: Permiten el intercambio de mensajes entre procesos.</a:t>
            </a:r>
            <a:endParaRPr lang="en-US" sz="1050" dirty="0"/>
          </a:p>
        </p:txBody>
      </p:sp>
      <p:sp>
        <p:nvSpPr>
          <p:cNvPr id="6" name="Text 4"/>
          <p:cNvSpPr/>
          <p:nvPr/>
        </p:nvSpPr>
        <p:spPr>
          <a:xfrm>
            <a:off x="1185029" y="1892141"/>
            <a:ext cx="12260223" cy="203716"/>
          </a:xfrm>
          <a:prstGeom prst="rect">
            <a:avLst/>
          </a:prstGeom>
          <a:noFill/>
          <a:ln/>
        </p:spPr>
        <p:txBody>
          <a:bodyPr wrap="none" lIns="0" tIns="0" rIns="0" bIns="0" rtlCol="0" anchor="t"/>
          <a:lstStyle/>
          <a:p>
            <a:pPr algn="l" marL="342900" indent="-342900">
              <a:lnSpc>
                <a:spcPts val="1600"/>
              </a:lnSpc>
              <a:buSzPct val="100000"/>
              <a:buChar char="•"/>
            </a:pPr>
            <a:r>
              <a:rPr lang="en-US" sz="1050" dirty="0">
                <a:solidFill>
                  <a:srgbClr val="E2E6E9"/>
                </a:solidFill>
                <a:latin typeface="Source Sans Pro" pitchFamily="34" charset="0"/>
                <a:ea typeface="Source Sans Pro" pitchFamily="34" charset="-122"/>
                <a:cs typeface="Source Sans Pro" pitchFamily="34" charset="-120"/>
              </a:rPr>
              <a:t>Memoria compartida: Permite a los procesos compartir un espacio de memoria.</a:t>
            </a:r>
            <a:endParaRPr lang="en-US" sz="1050" dirty="0"/>
          </a:p>
        </p:txBody>
      </p:sp>
      <p:sp>
        <p:nvSpPr>
          <p:cNvPr id="7" name="Text 5"/>
          <p:cNvSpPr/>
          <p:nvPr/>
        </p:nvSpPr>
        <p:spPr>
          <a:xfrm>
            <a:off x="1185029" y="2299573"/>
            <a:ext cx="2796659" cy="308610"/>
          </a:xfrm>
          <a:prstGeom prst="rect">
            <a:avLst/>
          </a:prstGeom>
          <a:noFill/>
          <a:ln/>
        </p:spPr>
        <p:txBody>
          <a:bodyPr wrap="none" lIns="0" tIns="0" rIns="0" bIns="0" rtlCol="0" anchor="t"/>
          <a:lstStyle/>
          <a:p>
            <a:pPr indent="0" marL="0">
              <a:lnSpc>
                <a:spcPts val="2400"/>
              </a:lnSpc>
              <a:buNone/>
            </a:pPr>
            <a:r>
              <a:rPr lang="en-US" sz="1900" b="1" spc="-19" kern="0" dirty="0">
                <a:solidFill>
                  <a:srgbClr val="FFFFFF"/>
                </a:solidFill>
                <a:latin typeface="Montserrat Bold" pitchFamily="34" charset="0"/>
                <a:ea typeface="Montserrat Bold" pitchFamily="34" charset="-122"/>
                <a:cs typeface="Montserrat Bold" pitchFamily="34" charset="-120"/>
              </a:rPr>
              <a:t>Ejemplo de tubo en C:</a:t>
            </a:r>
            <a:endParaRPr lang="en-US" sz="1900" dirty="0"/>
          </a:p>
        </p:txBody>
      </p:sp>
      <p:sp>
        <p:nvSpPr>
          <p:cNvPr id="8" name="Shape 6"/>
          <p:cNvSpPr/>
          <p:nvPr/>
        </p:nvSpPr>
        <p:spPr>
          <a:xfrm>
            <a:off x="1185029" y="2811899"/>
            <a:ext cx="12260223" cy="4685348"/>
          </a:xfrm>
          <a:prstGeom prst="roundRect">
            <a:avLst>
              <a:gd name="adj" fmla="val 435"/>
            </a:avLst>
          </a:prstGeom>
          <a:solidFill>
            <a:srgbClr val="262626"/>
          </a:solidFill>
          <a:ln/>
        </p:spPr>
      </p:sp>
      <p:sp>
        <p:nvSpPr>
          <p:cNvPr id="9" name="Shape 7"/>
          <p:cNvSpPr/>
          <p:nvPr/>
        </p:nvSpPr>
        <p:spPr>
          <a:xfrm>
            <a:off x="1178242" y="2811899"/>
            <a:ext cx="12273796" cy="4685348"/>
          </a:xfrm>
          <a:prstGeom prst="roundRect">
            <a:avLst>
              <a:gd name="adj" fmla="val 435"/>
            </a:avLst>
          </a:prstGeom>
          <a:solidFill>
            <a:srgbClr val="262626"/>
          </a:solidFill>
          <a:ln/>
        </p:spPr>
      </p:sp>
      <p:sp>
        <p:nvSpPr>
          <p:cNvPr id="10" name="Text 8"/>
          <p:cNvSpPr/>
          <p:nvPr/>
        </p:nvSpPr>
        <p:spPr>
          <a:xfrm>
            <a:off x="1313974" y="2913698"/>
            <a:ext cx="12002333" cy="4481751"/>
          </a:xfrm>
          <a:prstGeom prst="rect">
            <a:avLst/>
          </a:prstGeom>
          <a:noFill/>
          <a:ln/>
        </p:spPr>
        <p:txBody>
          <a:bodyPr wrap="square" lIns="0" tIns="0" rIns="0" bIns="0" rtlCol="0" anchor="t"/>
          <a:lstStyle/>
          <a:p>
            <a:pPr indent="0" marL="0">
              <a:lnSpc>
                <a:spcPts val="1600"/>
              </a:lnSpc>
              <a:buNone/>
            </a:pPr>
            <a:r>
              <a:rPr lang="en-US" sz="1050" dirty="0">
                <a:solidFill>
                  <a:srgbClr val="E2E6E9"/>
                </a:solidFill>
                <a:highlight>
                  <a:srgbClr val="262626"/>
                </a:highlight>
                <a:latin typeface="Consolas" pitchFamily="34" charset="0"/>
                <a:ea typeface="Consolas" pitchFamily="34" charset="-122"/>
                <a:cs typeface="Consolas" pitchFamily="34" charset="-120"/>
              </a:rPr>
              <a:t>#include &lt;stdio.h&gt;
#include &lt;unistd.h&gt;
int main() {
    int fd[2];
    pipe(fd);
    if (fork() == 0) {
        // Proceso hijo
        close(fd[0]);
        write(fd[1], "Hola desde el hijo", 18);
        close(fd[1]);
    } else {
        // Proceso padre
        close(fd[1]);
        char buffer[20];
        read(fd[0], buffer, 18);
        printf("Padre lee: %s\n", buffer);
        close(fd[0]);
    }
    return 0;
}
</a:t>
            </a:r>
            <a:endParaRPr lang="en-US" sz="1050" dirty="0"/>
          </a:p>
        </p:txBody>
      </p:sp>
      <p:sp>
        <p:nvSpPr>
          <p:cNvPr id="11" name="Text 9"/>
          <p:cNvSpPr/>
          <p:nvPr/>
        </p:nvSpPr>
        <p:spPr>
          <a:xfrm>
            <a:off x="1185029" y="7650004"/>
            <a:ext cx="12260223" cy="203716"/>
          </a:xfrm>
          <a:prstGeom prst="rect">
            <a:avLst/>
          </a:prstGeom>
          <a:noFill/>
          <a:ln/>
        </p:spPr>
        <p:txBody>
          <a:bodyPr wrap="none" lIns="0" tIns="0" rIns="0" bIns="0" rtlCol="0" anchor="t"/>
          <a:lstStyle/>
          <a:p>
            <a:pPr indent="0" marL="0">
              <a:lnSpc>
                <a:spcPts val="1600"/>
              </a:lnSpc>
              <a:buNone/>
            </a:pPr>
            <a:r>
              <a:rPr lang="en-US" sz="1050" dirty="0">
                <a:solidFill>
                  <a:srgbClr val="E2E6E9"/>
                </a:solidFill>
                <a:latin typeface="Source Sans Pro" pitchFamily="34" charset="0"/>
                <a:ea typeface="Source Sans Pro" pitchFamily="34" charset="-122"/>
                <a:cs typeface="Source Sans Pro" pitchFamily="34" charset="-120"/>
              </a:rPr>
              <a:t>Este ejemplo crea un tubo entre un proceso padre e hijo, y el hijo envía un mensaje que el padre recibe.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185029" y="349806"/>
            <a:ext cx="4383167" cy="361474"/>
          </a:xfrm>
          <a:prstGeom prst="rect">
            <a:avLst/>
          </a:prstGeom>
          <a:noFill/>
          <a:ln/>
        </p:spPr>
        <p:txBody>
          <a:bodyPr wrap="none" lIns="0" tIns="0" rIns="0" bIns="0" rtlCol="0" anchor="t"/>
          <a:lstStyle/>
          <a:p>
            <a:pPr indent="0" marL="0">
              <a:lnSpc>
                <a:spcPts val="2800"/>
              </a:lnSpc>
              <a:buNone/>
            </a:pPr>
            <a:r>
              <a:rPr lang="en-US" sz="2250" b="1" spc="-23" kern="0" dirty="0">
                <a:solidFill>
                  <a:srgbClr val="FFFFFF"/>
                </a:solidFill>
                <a:latin typeface="Montserrat Bold" pitchFamily="34" charset="0"/>
                <a:ea typeface="Montserrat Bold" pitchFamily="34" charset="-122"/>
                <a:cs typeface="Montserrat Bold" pitchFamily="34" charset="-120"/>
              </a:rPr>
              <a:t>5. Sincronización de Procesos</a:t>
            </a:r>
            <a:endParaRPr lang="en-US" sz="2250" dirty="0"/>
          </a:p>
        </p:txBody>
      </p:sp>
      <p:sp>
        <p:nvSpPr>
          <p:cNvPr id="3" name="Text 1"/>
          <p:cNvSpPr/>
          <p:nvPr/>
        </p:nvSpPr>
        <p:spPr>
          <a:xfrm>
            <a:off x="1185029" y="965716"/>
            <a:ext cx="12260223" cy="190857"/>
          </a:xfrm>
          <a:prstGeom prst="rect">
            <a:avLst/>
          </a:prstGeom>
          <a:noFill/>
          <a:ln/>
        </p:spPr>
        <p:txBody>
          <a:bodyPr wrap="none" lIns="0" tIns="0" rIns="0" bIns="0" rtlCol="0" anchor="t"/>
          <a:lstStyle/>
          <a:p>
            <a:pPr indent="0" marL="0">
              <a:lnSpc>
                <a:spcPts val="1500"/>
              </a:lnSpc>
              <a:buNone/>
            </a:pPr>
            <a:r>
              <a:rPr lang="en-US" sz="1000" dirty="0">
                <a:solidFill>
                  <a:srgbClr val="E2E6E9"/>
                </a:solidFill>
                <a:latin typeface="Source Sans Pro" pitchFamily="34" charset="0"/>
                <a:ea typeface="Source Sans Pro" pitchFamily="34" charset="-122"/>
                <a:cs typeface="Source Sans Pro" pitchFamily="34" charset="-120"/>
              </a:rPr>
              <a:t>La sincronización asegura que los procesos que comparten recursos no interfieran entre sí. Esto es crucial en sistemas con hilos o procesos concurrentes.</a:t>
            </a:r>
            <a:endParaRPr lang="en-US" sz="1000" dirty="0"/>
          </a:p>
        </p:txBody>
      </p:sp>
      <p:sp>
        <p:nvSpPr>
          <p:cNvPr id="4" name="Text 2"/>
          <p:cNvSpPr/>
          <p:nvPr/>
        </p:nvSpPr>
        <p:spPr>
          <a:xfrm>
            <a:off x="1185029" y="1299686"/>
            <a:ext cx="12260223" cy="190857"/>
          </a:xfrm>
          <a:prstGeom prst="rect">
            <a:avLst/>
          </a:prstGeom>
          <a:noFill/>
          <a:ln/>
        </p:spPr>
        <p:txBody>
          <a:bodyPr wrap="none" lIns="0" tIns="0" rIns="0" bIns="0" rtlCol="0" anchor="t"/>
          <a:lstStyle/>
          <a:p>
            <a:pPr indent="0" marL="0">
              <a:lnSpc>
                <a:spcPts val="1500"/>
              </a:lnSpc>
              <a:buNone/>
            </a:pPr>
            <a:r>
              <a:rPr lang="en-US" sz="1000" dirty="0">
                <a:solidFill>
                  <a:srgbClr val="E2E6E9"/>
                </a:solidFill>
                <a:latin typeface="Source Sans Pro" pitchFamily="34" charset="0"/>
                <a:ea typeface="Source Sans Pro" pitchFamily="34" charset="-122"/>
                <a:cs typeface="Source Sans Pro" pitchFamily="34" charset="-120"/>
              </a:rPr>
              <a:t>Para la sincronización, usamos mecanismos como:</a:t>
            </a:r>
            <a:endParaRPr lang="en-US" sz="1000" dirty="0"/>
          </a:p>
        </p:txBody>
      </p:sp>
      <p:sp>
        <p:nvSpPr>
          <p:cNvPr id="5" name="Text 3"/>
          <p:cNvSpPr/>
          <p:nvPr/>
        </p:nvSpPr>
        <p:spPr>
          <a:xfrm>
            <a:off x="1185029" y="1633657"/>
            <a:ext cx="12260223" cy="190857"/>
          </a:xfrm>
          <a:prstGeom prst="rect">
            <a:avLst/>
          </a:prstGeom>
          <a:noFill/>
          <a:ln/>
        </p:spPr>
        <p:txBody>
          <a:bodyPr wrap="none" lIns="0" tIns="0" rIns="0" bIns="0" rtlCol="0" anchor="t"/>
          <a:lstStyle/>
          <a:p>
            <a:pPr algn="l" marL="342900" indent="-342900">
              <a:lnSpc>
                <a:spcPts val="1500"/>
              </a:lnSpc>
              <a:buSzPct val="100000"/>
              <a:buChar char="•"/>
            </a:pPr>
            <a:r>
              <a:rPr lang="en-US" sz="1000" dirty="0">
                <a:solidFill>
                  <a:srgbClr val="E2E6E9"/>
                </a:solidFill>
                <a:latin typeface="Source Sans Pro" pitchFamily="34" charset="0"/>
                <a:ea typeface="Source Sans Pro" pitchFamily="34" charset="-122"/>
                <a:cs typeface="Source Sans Pro" pitchFamily="34" charset="-120"/>
              </a:rPr>
              <a:t>Semáforos: Controlan el acceso a recursos compartidos.</a:t>
            </a:r>
            <a:endParaRPr lang="en-US" sz="1000" dirty="0"/>
          </a:p>
        </p:txBody>
      </p:sp>
      <p:sp>
        <p:nvSpPr>
          <p:cNvPr id="6" name="Text 4"/>
          <p:cNvSpPr/>
          <p:nvPr/>
        </p:nvSpPr>
        <p:spPr>
          <a:xfrm>
            <a:off x="1185029" y="1869043"/>
            <a:ext cx="12260223" cy="190857"/>
          </a:xfrm>
          <a:prstGeom prst="rect">
            <a:avLst/>
          </a:prstGeom>
          <a:noFill/>
          <a:ln/>
        </p:spPr>
        <p:txBody>
          <a:bodyPr wrap="none" lIns="0" tIns="0" rIns="0" bIns="0" rtlCol="0" anchor="t"/>
          <a:lstStyle/>
          <a:p>
            <a:pPr algn="l" marL="342900" indent="-342900">
              <a:lnSpc>
                <a:spcPts val="1500"/>
              </a:lnSpc>
              <a:buSzPct val="100000"/>
              <a:buChar char="•"/>
            </a:pPr>
            <a:r>
              <a:rPr lang="en-US" sz="1000" dirty="0">
                <a:solidFill>
                  <a:srgbClr val="E2E6E9"/>
                </a:solidFill>
                <a:latin typeface="Source Sans Pro" pitchFamily="34" charset="0"/>
                <a:ea typeface="Source Sans Pro" pitchFamily="34" charset="-122"/>
                <a:cs typeface="Source Sans Pro" pitchFamily="34" charset="-120"/>
              </a:rPr>
              <a:t>Candados (Locks): Permiten que solo un proceso o hilo acceda a un recurso a la vez.</a:t>
            </a:r>
            <a:endParaRPr lang="en-US" sz="1000" dirty="0"/>
          </a:p>
        </p:txBody>
      </p:sp>
      <p:sp>
        <p:nvSpPr>
          <p:cNvPr id="7" name="Text 5"/>
          <p:cNvSpPr/>
          <p:nvPr/>
        </p:nvSpPr>
        <p:spPr>
          <a:xfrm>
            <a:off x="1185029" y="2104430"/>
            <a:ext cx="12260223" cy="190857"/>
          </a:xfrm>
          <a:prstGeom prst="rect">
            <a:avLst/>
          </a:prstGeom>
          <a:noFill/>
          <a:ln/>
        </p:spPr>
        <p:txBody>
          <a:bodyPr wrap="none" lIns="0" tIns="0" rIns="0" bIns="0" rtlCol="0" anchor="t"/>
          <a:lstStyle/>
          <a:p>
            <a:pPr algn="l" marL="342900" indent="-342900">
              <a:lnSpc>
                <a:spcPts val="1500"/>
              </a:lnSpc>
              <a:buSzPct val="100000"/>
              <a:buChar char="•"/>
            </a:pPr>
            <a:r>
              <a:rPr lang="en-US" sz="1000" dirty="0">
                <a:solidFill>
                  <a:srgbClr val="E2E6E9"/>
                </a:solidFill>
                <a:latin typeface="Source Sans Pro" pitchFamily="34" charset="0"/>
                <a:ea typeface="Source Sans Pro" pitchFamily="34" charset="-122"/>
                <a:cs typeface="Source Sans Pro" pitchFamily="34" charset="-120"/>
              </a:rPr>
              <a:t>Mutex: Similar al lock, pero específico para hilos dentro del mismo proceso.</a:t>
            </a:r>
            <a:endParaRPr lang="en-US" sz="1000" dirty="0"/>
          </a:p>
        </p:txBody>
      </p:sp>
      <p:sp>
        <p:nvSpPr>
          <p:cNvPr id="8" name="Text 6"/>
          <p:cNvSpPr/>
          <p:nvPr/>
        </p:nvSpPr>
        <p:spPr>
          <a:xfrm>
            <a:off x="1185029" y="2486025"/>
            <a:ext cx="4091940" cy="289084"/>
          </a:xfrm>
          <a:prstGeom prst="rect">
            <a:avLst/>
          </a:prstGeom>
          <a:noFill/>
          <a:ln/>
        </p:spPr>
        <p:txBody>
          <a:bodyPr wrap="none" lIns="0" tIns="0" rIns="0" bIns="0" rtlCol="0" anchor="t"/>
          <a:lstStyle/>
          <a:p>
            <a:pPr indent="0" marL="0">
              <a:lnSpc>
                <a:spcPts val="2250"/>
              </a:lnSpc>
              <a:buNone/>
            </a:pPr>
            <a:r>
              <a:rPr lang="en-US" sz="1800" b="1" spc="-18" kern="0" dirty="0">
                <a:solidFill>
                  <a:srgbClr val="FFFFFF"/>
                </a:solidFill>
                <a:latin typeface="Montserrat Bold" pitchFamily="34" charset="0"/>
                <a:ea typeface="Montserrat Bold" pitchFamily="34" charset="-122"/>
                <a:cs typeface="Montserrat Bold" pitchFamily="34" charset="-120"/>
              </a:rPr>
              <a:t>Ejemplo de Mutex en C (con hilos):</a:t>
            </a:r>
            <a:endParaRPr lang="en-US" sz="1800" dirty="0"/>
          </a:p>
        </p:txBody>
      </p:sp>
      <p:sp>
        <p:nvSpPr>
          <p:cNvPr id="9" name="Shape 7"/>
          <p:cNvSpPr/>
          <p:nvPr/>
        </p:nvSpPr>
        <p:spPr>
          <a:xfrm>
            <a:off x="1185029" y="2965847"/>
            <a:ext cx="12260223" cy="4580453"/>
          </a:xfrm>
          <a:prstGeom prst="roundRect">
            <a:avLst>
              <a:gd name="adj" fmla="val 417"/>
            </a:avLst>
          </a:prstGeom>
          <a:solidFill>
            <a:srgbClr val="262626"/>
          </a:solidFill>
          <a:ln/>
        </p:spPr>
      </p:sp>
      <p:sp>
        <p:nvSpPr>
          <p:cNvPr id="10" name="Shape 8"/>
          <p:cNvSpPr/>
          <p:nvPr/>
        </p:nvSpPr>
        <p:spPr>
          <a:xfrm>
            <a:off x="1178719" y="2965847"/>
            <a:ext cx="12272843" cy="4580453"/>
          </a:xfrm>
          <a:prstGeom prst="roundRect">
            <a:avLst>
              <a:gd name="adj" fmla="val 417"/>
            </a:avLst>
          </a:prstGeom>
          <a:solidFill>
            <a:srgbClr val="262626"/>
          </a:solidFill>
          <a:ln/>
        </p:spPr>
      </p:sp>
      <p:sp>
        <p:nvSpPr>
          <p:cNvPr id="11" name="Text 9"/>
          <p:cNvSpPr/>
          <p:nvPr/>
        </p:nvSpPr>
        <p:spPr>
          <a:xfrm>
            <a:off x="1305878" y="3061216"/>
            <a:ext cx="12018526" cy="4389715"/>
          </a:xfrm>
          <a:prstGeom prst="rect">
            <a:avLst/>
          </a:prstGeom>
          <a:noFill/>
          <a:ln/>
        </p:spPr>
        <p:txBody>
          <a:bodyPr wrap="square" lIns="0" tIns="0" rIns="0" bIns="0" rtlCol="0" anchor="t"/>
          <a:lstStyle/>
          <a:p>
            <a:pPr indent="0" marL="0">
              <a:lnSpc>
                <a:spcPts val="1500"/>
              </a:lnSpc>
              <a:buNone/>
            </a:pPr>
            <a:r>
              <a:rPr lang="en-US" sz="1000" dirty="0">
                <a:solidFill>
                  <a:srgbClr val="E2E6E9"/>
                </a:solidFill>
                <a:highlight>
                  <a:srgbClr val="262626"/>
                </a:highlight>
                <a:latin typeface="Consolas" pitchFamily="34" charset="0"/>
                <a:ea typeface="Consolas" pitchFamily="34" charset="-122"/>
                <a:cs typeface="Consolas" pitchFamily="34" charset="-120"/>
              </a:rPr>
              <a:t>#include &lt;pthread.h&gt;
#include &lt;stdio.h&gt;
pthread_mutex_t mutex;
void* funcion(void* arg) {
    pthread_mutex_lock(&amp;mutex);
    printf("Sección crítica\n");
    pthread_mutex_unlock(&amp;mutex);
    return NULL;
}
int main() {
    pthread_t t1, t2;
    pthread_mutex_init(&amp;mutex, NULL);
    pthread_create(&amp;t1, NULL, funcion, NULL);
    pthread_create(&amp;t2, NULL, funcion, NULL);
    pthread_join(t1, NULL);
    pthread_join(t2, NULL);
    pthread_mutex_destroy(&amp;mutex);
    return 0;
}
</a:t>
            </a:r>
            <a:endParaRPr lang="en-US" sz="1000" dirty="0"/>
          </a:p>
        </p:txBody>
      </p:sp>
      <p:sp>
        <p:nvSpPr>
          <p:cNvPr id="12" name="Text 10"/>
          <p:cNvSpPr/>
          <p:nvPr/>
        </p:nvSpPr>
        <p:spPr>
          <a:xfrm>
            <a:off x="1185029" y="7689413"/>
            <a:ext cx="12260223" cy="190857"/>
          </a:xfrm>
          <a:prstGeom prst="rect">
            <a:avLst/>
          </a:prstGeom>
          <a:noFill/>
          <a:ln/>
        </p:spPr>
        <p:txBody>
          <a:bodyPr wrap="none" lIns="0" tIns="0" rIns="0" bIns="0" rtlCol="0" anchor="t"/>
          <a:lstStyle/>
          <a:p>
            <a:pPr indent="0" marL="0">
              <a:lnSpc>
                <a:spcPts val="1500"/>
              </a:lnSpc>
              <a:buNone/>
            </a:pPr>
            <a:r>
              <a:rPr lang="en-US" sz="1000" dirty="0">
                <a:solidFill>
                  <a:srgbClr val="E2E6E9"/>
                </a:solidFill>
                <a:latin typeface="Source Sans Pro" pitchFamily="34" charset="0"/>
                <a:ea typeface="Source Sans Pro" pitchFamily="34" charset="-122"/>
                <a:cs typeface="Source Sans Pro" pitchFamily="34" charset="-120"/>
              </a:rPr>
              <a:t>Este ejemplo asegura que solo un hilo pueda ejecutar la sección crítica a la vez.</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185029" y="1810464"/>
            <a:ext cx="11002208" cy="701397"/>
          </a:xfrm>
          <a:prstGeom prst="rect">
            <a:avLst/>
          </a:prstGeom>
          <a:noFill/>
          <a:ln/>
        </p:spPr>
        <p:txBody>
          <a:bodyPr wrap="none" lIns="0" tIns="0" rIns="0" bIns="0" rtlCol="0" anchor="t"/>
          <a:lstStyle/>
          <a:p>
            <a:pPr indent="0" marL="0">
              <a:lnSpc>
                <a:spcPts val="5500"/>
              </a:lnSpc>
              <a:buNone/>
            </a:pPr>
            <a:r>
              <a:rPr lang="en-US" sz="4400" b="1" spc="-44" kern="0" dirty="0">
                <a:solidFill>
                  <a:srgbClr val="FFFFFF"/>
                </a:solidFill>
                <a:latin typeface="Montserrat Bold" pitchFamily="34" charset="0"/>
                <a:ea typeface="Montserrat Bold" pitchFamily="34" charset="-122"/>
                <a:cs typeface="Montserrat Bold" pitchFamily="34" charset="-120"/>
              </a:rPr>
              <a:t>6. Problemas clásicos de concurrencia</a:t>
            </a:r>
            <a:endParaRPr lang="en-US" sz="4400" dirty="0"/>
          </a:p>
        </p:txBody>
      </p:sp>
      <p:sp>
        <p:nvSpPr>
          <p:cNvPr id="3" name="Text 1"/>
          <p:cNvSpPr/>
          <p:nvPr/>
        </p:nvSpPr>
        <p:spPr>
          <a:xfrm>
            <a:off x="1185029" y="3005614"/>
            <a:ext cx="12260223" cy="740807"/>
          </a:xfrm>
          <a:prstGeom prst="rect">
            <a:avLst/>
          </a:prstGeom>
          <a:noFill/>
          <a:ln/>
        </p:spPr>
        <p:txBody>
          <a:bodyPr wrap="square" lIns="0" tIns="0" rIns="0" bIns="0" rtlCol="0" anchor="t"/>
          <a:lstStyle/>
          <a:p>
            <a:pPr indent="0" marL="0">
              <a:lnSpc>
                <a:spcPts val="2900"/>
              </a:lnSpc>
              <a:buNone/>
            </a:pPr>
            <a:r>
              <a:rPr lang="en-US" sz="1900" dirty="0">
                <a:solidFill>
                  <a:srgbClr val="E2E6E9"/>
                </a:solidFill>
                <a:latin typeface="Source Sans Pro" pitchFamily="34" charset="0"/>
                <a:ea typeface="Source Sans Pro" pitchFamily="34" charset="-122"/>
                <a:cs typeface="Source Sans Pro" pitchFamily="34" charset="-120"/>
              </a:rPr>
              <a:t>Existen varios problemas clásicos de concurrencia que ilustran la necesidad de la sincronización. Algunos de los más conocidos son:</a:t>
            </a:r>
            <a:endParaRPr lang="en-US" sz="1900" dirty="0"/>
          </a:p>
        </p:txBody>
      </p:sp>
      <p:sp>
        <p:nvSpPr>
          <p:cNvPr id="4" name="Text 2"/>
          <p:cNvSpPr/>
          <p:nvPr/>
        </p:nvSpPr>
        <p:spPr>
          <a:xfrm>
            <a:off x="1185029" y="4024074"/>
            <a:ext cx="12260223" cy="740807"/>
          </a:xfrm>
          <a:prstGeom prst="rect">
            <a:avLst/>
          </a:prstGeom>
          <a:noFill/>
          <a:ln/>
        </p:spPr>
        <p:txBody>
          <a:bodyPr wrap="square" lIns="0" tIns="0" rIns="0" bIns="0" rtlCol="0" anchor="t"/>
          <a:lstStyle/>
          <a:p>
            <a:pPr algn="l" marL="342900" indent="-342900">
              <a:lnSpc>
                <a:spcPts val="2900"/>
              </a:lnSpc>
              <a:buSzPct val="100000"/>
              <a:buChar char="•"/>
            </a:pPr>
            <a:r>
              <a:rPr lang="en-US" sz="1900" dirty="0">
                <a:solidFill>
                  <a:srgbClr val="E2E6E9"/>
                </a:solidFill>
                <a:latin typeface="Source Sans Pro" pitchFamily="34" charset="0"/>
                <a:ea typeface="Source Sans Pro" pitchFamily="34" charset="-122"/>
                <a:cs typeface="Source Sans Pro" pitchFamily="34" charset="-120"/>
              </a:rPr>
              <a:t>El problema del productor-consumidor: El productor genera elementos que el consumidor toma. Es necesario sincronizar para evitar que el consumidor intente tomar elementos cuando no hay ninguno disponible.</a:t>
            </a:r>
            <a:endParaRPr lang="en-US" sz="1900" dirty="0"/>
          </a:p>
        </p:txBody>
      </p:sp>
      <p:sp>
        <p:nvSpPr>
          <p:cNvPr id="5" name="Text 3"/>
          <p:cNvSpPr/>
          <p:nvPr/>
        </p:nvSpPr>
        <p:spPr>
          <a:xfrm>
            <a:off x="1185029" y="4851202"/>
            <a:ext cx="12260223" cy="740807"/>
          </a:xfrm>
          <a:prstGeom prst="rect">
            <a:avLst/>
          </a:prstGeom>
          <a:noFill/>
          <a:ln/>
        </p:spPr>
        <p:txBody>
          <a:bodyPr wrap="square" lIns="0" tIns="0" rIns="0" bIns="0" rtlCol="0" anchor="t"/>
          <a:lstStyle/>
          <a:p>
            <a:pPr algn="l" marL="342900" indent="-342900">
              <a:lnSpc>
                <a:spcPts val="2900"/>
              </a:lnSpc>
              <a:buSzPct val="100000"/>
              <a:buChar char="•"/>
            </a:pPr>
            <a:r>
              <a:rPr lang="en-US" sz="1900" dirty="0">
                <a:solidFill>
                  <a:srgbClr val="E2E6E9"/>
                </a:solidFill>
                <a:latin typeface="Source Sans Pro" pitchFamily="34" charset="0"/>
                <a:ea typeface="Source Sans Pro" pitchFamily="34" charset="-122"/>
                <a:cs typeface="Source Sans Pro" pitchFamily="34" charset="-120"/>
              </a:rPr>
              <a:t>El problema de los filósofos comensales: Cinco filósofos intentan comer, pero solo hay cinco tenedores (cada uno requiere dos). Este problema demuestra la dificultad de sincronización para evitar el bloqueo mutuo.</a:t>
            </a:r>
            <a:endParaRPr lang="en-US" sz="1900" dirty="0"/>
          </a:p>
        </p:txBody>
      </p:sp>
      <p:sp>
        <p:nvSpPr>
          <p:cNvPr id="6" name="Text 4"/>
          <p:cNvSpPr/>
          <p:nvPr/>
        </p:nvSpPr>
        <p:spPr>
          <a:xfrm>
            <a:off x="1185029" y="5678329"/>
            <a:ext cx="12260223" cy="740807"/>
          </a:xfrm>
          <a:prstGeom prst="rect">
            <a:avLst/>
          </a:prstGeom>
          <a:noFill/>
          <a:ln/>
        </p:spPr>
        <p:txBody>
          <a:bodyPr wrap="square" lIns="0" tIns="0" rIns="0" bIns="0" rtlCol="0" anchor="t"/>
          <a:lstStyle/>
          <a:p>
            <a:pPr algn="l" marL="342900" indent="-342900">
              <a:lnSpc>
                <a:spcPts val="2900"/>
              </a:lnSpc>
              <a:buSzPct val="100000"/>
              <a:buChar char="•"/>
            </a:pPr>
            <a:r>
              <a:rPr lang="en-US" sz="1900" dirty="0">
                <a:solidFill>
                  <a:srgbClr val="E2E6E9"/>
                </a:solidFill>
                <a:latin typeface="Source Sans Pro" pitchFamily="34" charset="0"/>
                <a:ea typeface="Source Sans Pro" pitchFamily="34" charset="-122"/>
                <a:cs typeface="Source Sans Pro" pitchFamily="34" charset="-120"/>
              </a:rPr>
              <a:t>El problema de los lectores-escritores: Múltiples procesos de lectura y escritura deben acceder a un recurso compartido. Es necesario coordinar los accesos para evitar conflictos.</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185029" y="480536"/>
            <a:ext cx="7181493" cy="496491"/>
          </a:xfrm>
          <a:prstGeom prst="rect">
            <a:avLst/>
          </a:prstGeom>
          <a:noFill/>
          <a:ln/>
        </p:spPr>
        <p:txBody>
          <a:bodyPr wrap="none" lIns="0" tIns="0" rIns="0" bIns="0" rtlCol="0" anchor="t"/>
          <a:lstStyle/>
          <a:p>
            <a:pPr indent="0" marL="0">
              <a:lnSpc>
                <a:spcPts val="3900"/>
              </a:lnSpc>
              <a:buNone/>
            </a:pPr>
            <a:r>
              <a:rPr lang="en-US" sz="3100" b="1" spc="-31" kern="0" dirty="0">
                <a:solidFill>
                  <a:srgbClr val="FFFFFF"/>
                </a:solidFill>
                <a:latin typeface="Montserrat Bold" pitchFamily="34" charset="0"/>
                <a:ea typeface="Montserrat Bold" pitchFamily="34" charset="-122"/>
                <a:cs typeface="Montserrat Bold" pitchFamily="34" charset="-120"/>
              </a:rPr>
              <a:t>Ejemplo del productor-consumidor</a:t>
            </a:r>
            <a:endParaRPr lang="en-US" sz="3100" dirty="0"/>
          </a:p>
        </p:txBody>
      </p:sp>
      <p:sp>
        <p:nvSpPr>
          <p:cNvPr id="3" name="Text 1"/>
          <p:cNvSpPr/>
          <p:nvPr/>
        </p:nvSpPr>
        <p:spPr>
          <a:xfrm>
            <a:off x="1185029" y="1326475"/>
            <a:ext cx="12260223" cy="262176"/>
          </a:xfrm>
          <a:prstGeom prst="rect">
            <a:avLst/>
          </a:prstGeom>
          <a:noFill/>
          <a:ln/>
        </p:spPr>
        <p:txBody>
          <a:bodyPr wrap="none" lIns="0" tIns="0" rIns="0" bIns="0" rtlCol="0" anchor="t"/>
          <a:lstStyle/>
          <a:p>
            <a:pPr indent="0" marL="0">
              <a:lnSpc>
                <a:spcPts val="2050"/>
              </a:lnSpc>
              <a:buNone/>
            </a:pPr>
            <a:r>
              <a:rPr lang="en-US" sz="1350" dirty="0">
                <a:solidFill>
                  <a:srgbClr val="E2E6E9"/>
                </a:solidFill>
                <a:latin typeface="Source Sans Pro" pitchFamily="34" charset="0"/>
                <a:ea typeface="Source Sans Pro" pitchFamily="34" charset="-122"/>
                <a:cs typeface="Source Sans Pro" pitchFamily="34" charset="-120"/>
              </a:rPr>
              <a:t>Ejemplo del productor-consumidor usando semáforos en pseudocódigo:</a:t>
            </a:r>
            <a:endParaRPr lang="en-US" sz="1350" dirty="0"/>
          </a:p>
        </p:txBody>
      </p:sp>
      <p:sp>
        <p:nvSpPr>
          <p:cNvPr id="4" name="Shape 2"/>
          <p:cNvSpPr/>
          <p:nvPr/>
        </p:nvSpPr>
        <p:spPr>
          <a:xfrm>
            <a:off x="1185029" y="1785223"/>
            <a:ext cx="12260223" cy="5505450"/>
          </a:xfrm>
          <a:prstGeom prst="roundRect">
            <a:avLst>
              <a:gd name="adj" fmla="val 476"/>
            </a:avLst>
          </a:prstGeom>
          <a:solidFill>
            <a:srgbClr val="262626"/>
          </a:solidFill>
          <a:ln/>
        </p:spPr>
      </p:sp>
      <p:sp>
        <p:nvSpPr>
          <p:cNvPr id="5" name="Shape 3"/>
          <p:cNvSpPr/>
          <p:nvPr/>
        </p:nvSpPr>
        <p:spPr>
          <a:xfrm>
            <a:off x="1176338" y="1785223"/>
            <a:ext cx="12277606" cy="5505450"/>
          </a:xfrm>
          <a:prstGeom prst="roundRect">
            <a:avLst>
              <a:gd name="adj" fmla="val 476"/>
            </a:avLst>
          </a:prstGeom>
          <a:solidFill>
            <a:srgbClr val="262626"/>
          </a:solidFill>
          <a:ln/>
        </p:spPr>
      </p:sp>
      <p:sp>
        <p:nvSpPr>
          <p:cNvPr id="6" name="Text 4"/>
          <p:cNvSpPr/>
          <p:nvPr/>
        </p:nvSpPr>
        <p:spPr>
          <a:xfrm>
            <a:off x="1351002" y="1916192"/>
            <a:ext cx="11928277" cy="5243513"/>
          </a:xfrm>
          <a:prstGeom prst="rect">
            <a:avLst/>
          </a:prstGeom>
          <a:noFill/>
          <a:ln/>
        </p:spPr>
        <p:txBody>
          <a:bodyPr wrap="square" lIns="0" tIns="0" rIns="0" bIns="0" rtlCol="0" anchor="t"/>
          <a:lstStyle/>
          <a:p>
            <a:pPr indent="0" marL="0">
              <a:lnSpc>
                <a:spcPts val="2050"/>
              </a:lnSpc>
              <a:buNone/>
            </a:pPr>
            <a:r>
              <a:rPr lang="en-US" sz="1350" dirty="0">
                <a:solidFill>
                  <a:srgbClr val="E2E6E9"/>
                </a:solidFill>
                <a:highlight>
                  <a:srgbClr val="262626"/>
                </a:highlight>
                <a:latin typeface="Consolas" pitchFamily="34" charset="0"/>
                <a:ea typeface="Consolas" pitchFamily="34" charset="-122"/>
                <a:cs typeface="Consolas" pitchFamily="34" charset="-120"/>
              </a:rPr>
              <a:t>semaphore empty = N
semaphore full = 0
semaphore mutex = 1
productor() {
    wait(empty);
    wait(mutex);
    producir_item();
    signal(mutex);
    signal(full);
}
consumidor() {
    wait(full);
    wait(mutex);
    consumir_item();
    signal(mutex);
    signal(empty);
}
</a:t>
            </a:r>
            <a:endParaRPr lang="en-US" sz="1350" dirty="0"/>
          </a:p>
        </p:txBody>
      </p:sp>
      <p:sp>
        <p:nvSpPr>
          <p:cNvPr id="7" name="Text 5"/>
          <p:cNvSpPr/>
          <p:nvPr/>
        </p:nvSpPr>
        <p:spPr>
          <a:xfrm>
            <a:off x="1185029" y="7487245"/>
            <a:ext cx="12260223" cy="262176"/>
          </a:xfrm>
          <a:prstGeom prst="rect">
            <a:avLst/>
          </a:prstGeom>
          <a:noFill/>
          <a:ln/>
        </p:spPr>
        <p:txBody>
          <a:bodyPr wrap="none" lIns="0" tIns="0" rIns="0" bIns="0" rtlCol="0" anchor="t"/>
          <a:lstStyle/>
          <a:p>
            <a:pPr indent="0" marL="0">
              <a:lnSpc>
                <a:spcPts val="2050"/>
              </a:lnSpc>
              <a:buNone/>
            </a:pPr>
            <a:r>
              <a:rPr lang="en-US" sz="1350" dirty="0">
                <a:solidFill>
                  <a:srgbClr val="E2E6E9"/>
                </a:solidFill>
                <a:latin typeface="Source Sans Pro" pitchFamily="34" charset="0"/>
                <a:ea typeface="Source Sans Pro" pitchFamily="34" charset="-122"/>
                <a:cs typeface="Source Sans Pro" pitchFamily="34" charset="-120"/>
              </a:rPr>
              <a:t>Aquí usamos tres semáforos para asegurar que el productor no produzca si el buffer está lleno y que el consumidor no consuma si está vacío.</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2024-11-04T20:36:29Z</dcterms:created>
  <dcterms:modified xsi:type="dcterms:W3CDTF">2024-11-04T20:36:29Z</dcterms:modified>
</cp:coreProperties>
</file>