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Montserrat"/>
      <p:regular r:id="rId15"/>
    </p:embeddedFont>
    <p:embeddedFont>
      <p:font typeface="Montserrat"/>
      <p:regular r:id="rId16"/>
    </p:embeddedFont>
    <p:embeddedFont>
      <p:font typeface="Montserrat"/>
      <p:regular r:id="rId17"/>
    </p:embeddedFont>
    <p:embeddedFont>
      <p:font typeface="Montserrat"/>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1213">
              <a:alpha val="80000"/>
            </a:srgbClr>
          </a:solidFill>
          <a:ln/>
        </p:spPr>
      </p:sp>
      <p:sp>
        <p:nvSpPr>
          <p:cNvPr id="4" name="Text 1"/>
          <p:cNvSpPr/>
          <p:nvPr/>
        </p:nvSpPr>
        <p:spPr>
          <a:xfrm>
            <a:off x="1185029" y="2406015"/>
            <a:ext cx="12260223" cy="1935956"/>
          </a:xfrm>
          <a:prstGeom prst="rect">
            <a:avLst/>
          </a:prstGeom>
          <a:noFill/>
          <a:ln/>
        </p:spPr>
        <p:txBody>
          <a:bodyPr wrap="square" lIns="0" tIns="0" rIns="0" bIns="0" rtlCol="0" anchor="t"/>
          <a:lstStyle/>
          <a:p>
            <a:pPr indent="0" marL="0">
              <a:lnSpc>
                <a:spcPts val="7600"/>
              </a:lnSpc>
              <a:buNone/>
            </a:pPr>
            <a:r>
              <a:rPr lang="en-US" sz="6050" b="1" spc="-61" kern="0" dirty="0">
                <a:solidFill>
                  <a:srgbClr val="FFFFFF"/>
                </a:solidFill>
                <a:latin typeface="Montserrat Bold" pitchFamily="34" charset="0"/>
                <a:ea typeface="Montserrat Bold" pitchFamily="34" charset="-122"/>
                <a:cs typeface="Montserrat Bold" pitchFamily="34" charset="-120"/>
              </a:rPr>
              <a:t>Conceptos Básicos de Rust y Sistemas Operativos</a:t>
            </a:r>
            <a:endParaRPr lang="en-US" sz="6050" dirty="0"/>
          </a:p>
        </p:txBody>
      </p:sp>
      <p:sp>
        <p:nvSpPr>
          <p:cNvPr id="5" name="Text 2"/>
          <p:cNvSpPr/>
          <p:nvPr/>
        </p:nvSpPr>
        <p:spPr>
          <a:xfrm>
            <a:off x="1185029" y="4712256"/>
            <a:ext cx="12260223" cy="1111210"/>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Este documento explora los fundamentos de Rust, un lenguaje de programación moderno, y su aplicación en el desarrollo de sistemas operativos. Se cubren temas como la sintaxis básica de Rust, conceptos de seguridad de memoria, concurrencia, desarrollo de módulos del kernel, llamadas al sistema y el Process Control Block (PCB).</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185029" y="600194"/>
            <a:ext cx="5881807" cy="619958"/>
          </a:xfrm>
          <a:prstGeom prst="rect">
            <a:avLst/>
          </a:prstGeom>
          <a:noFill/>
          <a:ln/>
        </p:spPr>
        <p:txBody>
          <a:bodyPr wrap="none" lIns="0" tIns="0" rIns="0" bIns="0" rtlCol="0" anchor="t"/>
          <a:lstStyle/>
          <a:p>
            <a:pPr indent="0" marL="0">
              <a:lnSpc>
                <a:spcPts val="4850"/>
              </a:lnSpc>
              <a:buNone/>
            </a:pPr>
            <a:r>
              <a:rPr lang="en-US" sz="3900" b="1" spc="-39" kern="0" dirty="0">
                <a:solidFill>
                  <a:srgbClr val="FFFFFF"/>
                </a:solidFill>
                <a:latin typeface="Montserrat Bold" pitchFamily="34" charset="0"/>
                <a:ea typeface="Montserrat Bold" pitchFamily="34" charset="-122"/>
                <a:cs typeface="Montserrat Bold" pitchFamily="34" charset="-120"/>
              </a:rPr>
              <a:t>Sintaxis Básica de Rust</a:t>
            </a:r>
            <a:endParaRPr lang="en-US" sz="3900" dirty="0"/>
          </a:p>
        </p:txBody>
      </p:sp>
      <p:sp>
        <p:nvSpPr>
          <p:cNvPr id="3" name="Text 1"/>
          <p:cNvSpPr/>
          <p:nvPr/>
        </p:nvSpPr>
        <p:spPr>
          <a:xfrm>
            <a:off x="1185029" y="1656636"/>
            <a:ext cx="12260223" cy="654606"/>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Rust tiene una sintaxis clara y concisa que se asemeja a otros lenguajes como C y C++. A continuación, veremos algunos elementos básicos de la sintaxis de Rust.</a:t>
            </a:r>
            <a:endParaRPr lang="en-US" sz="1700" dirty="0"/>
          </a:p>
        </p:txBody>
      </p:sp>
      <p:sp>
        <p:nvSpPr>
          <p:cNvPr id="4" name="Text 2"/>
          <p:cNvSpPr/>
          <p:nvPr/>
        </p:nvSpPr>
        <p:spPr>
          <a:xfrm>
            <a:off x="1185029" y="2556748"/>
            <a:ext cx="12260223" cy="327303"/>
          </a:xfrm>
          <a:prstGeom prst="rect">
            <a:avLst/>
          </a:prstGeom>
          <a:noFill/>
          <a:ln/>
        </p:spPr>
        <p:txBody>
          <a:bodyPr wrap="non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Ejemplo de un programa simple en Rust:</a:t>
            </a:r>
            <a:endParaRPr lang="en-US" sz="1700" dirty="0"/>
          </a:p>
        </p:txBody>
      </p:sp>
      <p:sp>
        <p:nvSpPr>
          <p:cNvPr id="5" name="Shape 3"/>
          <p:cNvSpPr/>
          <p:nvPr/>
        </p:nvSpPr>
        <p:spPr>
          <a:xfrm>
            <a:off x="1185029" y="3129558"/>
            <a:ext cx="12260223" cy="3600212"/>
          </a:xfrm>
          <a:prstGeom prst="roundRect">
            <a:avLst>
              <a:gd name="adj" fmla="val 909"/>
            </a:avLst>
          </a:prstGeom>
          <a:solidFill>
            <a:srgbClr val="262626"/>
          </a:solidFill>
          <a:ln/>
        </p:spPr>
      </p:sp>
      <p:sp>
        <p:nvSpPr>
          <p:cNvPr id="6" name="Shape 4"/>
          <p:cNvSpPr/>
          <p:nvPr/>
        </p:nvSpPr>
        <p:spPr>
          <a:xfrm>
            <a:off x="1174194" y="3129558"/>
            <a:ext cx="12281892" cy="3600212"/>
          </a:xfrm>
          <a:prstGeom prst="roundRect">
            <a:avLst>
              <a:gd name="adj" fmla="val 909"/>
            </a:avLst>
          </a:prstGeom>
          <a:solidFill>
            <a:srgbClr val="262626"/>
          </a:solidFill>
          <a:ln/>
        </p:spPr>
      </p:sp>
      <p:sp>
        <p:nvSpPr>
          <p:cNvPr id="7" name="Text 5"/>
          <p:cNvSpPr/>
          <p:nvPr/>
        </p:nvSpPr>
        <p:spPr>
          <a:xfrm>
            <a:off x="1392436" y="3293150"/>
            <a:ext cx="11845409" cy="3273028"/>
          </a:xfrm>
          <a:prstGeom prst="rect">
            <a:avLst/>
          </a:prstGeom>
          <a:noFill/>
          <a:ln/>
        </p:spPr>
        <p:txBody>
          <a:bodyPr wrap="square" lIns="0" tIns="0" rIns="0" bIns="0" rtlCol="0" anchor="t"/>
          <a:lstStyle/>
          <a:p>
            <a:pPr indent="0" marL="0">
              <a:lnSpc>
                <a:spcPts val="2550"/>
              </a:lnSpc>
              <a:buNone/>
            </a:pPr>
            <a:r>
              <a:rPr lang="en-US" sz="1700" dirty="0">
                <a:solidFill>
                  <a:srgbClr val="E2E6E9"/>
                </a:solidFill>
                <a:highlight>
                  <a:srgbClr val="262626"/>
                </a:highlight>
                <a:latin typeface="Consolas" pitchFamily="34" charset="0"/>
                <a:ea typeface="Consolas" pitchFamily="34" charset="-122"/>
                <a:cs typeface="Consolas" pitchFamily="34" charset="-120"/>
              </a:rPr>
              <a:t>fn main() {
    println!("¡Hola, mundo!");
    let numero = 5; // Declaración de una variable inmutable
    let mut contador = 0; // Declaración de una variable mutable
    while contador &lt; numero {
        println!("Contador: {}", contador);
        contador += 1; // Incremento del contador
    }
}
</a:t>
            </a:r>
            <a:endParaRPr lang="en-US" sz="1700" dirty="0"/>
          </a:p>
        </p:txBody>
      </p:sp>
      <p:sp>
        <p:nvSpPr>
          <p:cNvPr id="8" name="Text 6"/>
          <p:cNvSpPr/>
          <p:nvPr/>
        </p:nvSpPr>
        <p:spPr>
          <a:xfrm>
            <a:off x="1185029" y="6975277"/>
            <a:ext cx="12260223" cy="654606"/>
          </a:xfrm>
          <a:prstGeom prst="rect">
            <a:avLst/>
          </a:prstGeom>
          <a:noFill/>
          <a:ln/>
        </p:spPr>
        <p:txBody>
          <a:bodyPr wrap="square" lIns="0" tIns="0" rIns="0" bIns="0" rtlCol="0" anchor="t"/>
          <a:lstStyle/>
          <a:p>
            <a:pPr indent="0" marL="0">
              <a:lnSpc>
                <a:spcPts val="2550"/>
              </a:lnSpc>
              <a:buNone/>
            </a:pPr>
            <a:r>
              <a:rPr lang="en-US" sz="1700" dirty="0">
                <a:solidFill>
                  <a:srgbClr val="E2E6E9"/>
                </a:solidFill>
                <a:latin typeface="Source Sans Pro" pitchFamily="34" charset="0"/>
                <a:ea typeface="Source Sans Pro" pitchFamily="34" charset="-122"/>
                <a:cs typeface="Source Sans Pro" pitchFamily="34" charset="-120"/>
              </a:rPr>
              <a:t>En este ejemplo, let se utiliza para declarar variables, println! es una macro para imprimir en la consola, y la estructura de control while permite iterar mientras se cumpla una condición.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185029" y="528161"/>
            <a:ext cx="10146030" cy="545663"/>
          </a:xfrm>
          <a:prstGeom prst="rect">
            <a:avLst/>
          </a:prstGeom>
          <a:noFill/>
          <a:ln/>
        </p:spPr>
        <p:txBody>
          <a:bodyPr wrap="none" lIns="0" tIns="0" rIns="0" bIns="0" rtlCol="0" anchor="t"/>
          <a:lstStyle/>
          <a:p>
            <a:pPr indent="0" marL="0">
              <a:lnSpc>
                <a:spcPts val="4250"/>
              </a:lnSpc>
              <a:buNone/>
            </a:pPr>
            <a:r>
              <a:rPr lang="en-US" sz="3400" b="1" spc="-34" kern="0" dirty="0">
                <a:solidFill>
                  <a:srgbClr val="FFFFFF"/>
                </a:solidFill>
                <a:latin typeface="Montserrat Bold" pitchFamily="34" charset="0"/>
                <a:ea typeface="Montserrat Bold" pitchFamily="34" charset="-122"/>
                <a:cs typeface="Montserrat Bold" pitchFamily="34" charset="-120"/>
              </a:rPr>
              <a:t>Conceptos de Seguridad de Memoria en Rust</a:t>
            </a:r>
            <a:endParaRPr lang="en-US" sz="3400" dirty="0"/>
          </a:p>
        </p:txBody>
      </p:sp>
      <p:sp>
        <p:nvSpPr>
          <p:cNvPr id="3" name="Text 1"/>
          <p:cNvSpPr/>
          <p:nvPr/>
        </p:nvSpPr>
        <p:spPr>
          <a:xfrm>
            <a:off x="1185029" y="1457920"/>
            <a:ext cx="12260223" cy="576024"/>
          </a:xfrm>
          <a:prstGeom prst="rect">
            <a:avLst/>
          </a:prstGeom>
          <a:noFill/>
          <a:ln/>
        </p:spPr>
        <p:txBody>
          <a:bodyPr wrap="square" lIns="0" tIns="0" rIns="0" bIns="0" rtlCol="0" anchor="t"/>
          <a:lstStyle/>
          <a:p>
            <a:pPr indent="0" marL="0">
              <a:lnSpc>
                <a:spcPts val="2250"/>
              </a:lnSpc>
              <a:buNone/>
            </a:pPr>
            <a:r>
              <a:rPr lang="en-US" sz="1500" dirty="0">
                <a:solidFill>
                  <a:srgbClr val="E2E6E9"/>
                </a:solidFill>
                <a:latin typeface="Source Sans Pro" pitchFamily="34" charset="0"/>
                <a:ea typeface="Source Sans Pro" pitchFamily="34" charset="-122"/>
                <a:cs typeface="Source Sans Pro" pitchFamily="34" charset="-120"/>
              </a:rPr>
              <a:t>Una de las características más destacadas de Rust es su enfoque en la seguridad de la memoria. Rust evita errores comunes como los punteros colgantes o el acceso fuera de límites mediante su sistema de "propiedad" y "referencias".</a:t>
            </a:r>
            <a:endParaRPr lang="en-US" sz="1500" dirty="0"/>
          </a:p>
        </p:txBody>
      </p:sp>
      <p:sp>
        <p:nvSpPr>
          <p:cNvPr id="4" name="Text 2"/>
          <p:cNvSpPr/>
          <p:nvPr/>
        </p:nvSpPr>
        <p:spPr>
          <a:xfrm>
            <a:off x="1185029" y="2250043"/>
            <a:ext cx="12260223" cy="288012"/>
          </a:xfrm>
          <a:prstGeom prst="rect">
            <a:avLst/>
          </a:prstGeom>
          <a:noFill/>
          <a:ln/>
        </p:spPr>
        <p:txBody>
          <a:bodyPr wrap="none" lIns="0" tIns="0" rIns="0" bIns="0" rtlCol="0" anchor="t"/>
          <a:lstStyle/>
          <a:p>
            <a:pPr indent="0" marL="0">
              <a:lnSpc>
                <a:spcPts val="2250"/>
              </a:lnSpc>
              <a:buNone/>
            </a:pPr>
            <a:r>
              <a:rPr lang="en-US" sz="1500" dirty="0">
                <a:solidFill>
                  <a:srgbClr val="E2E6E9"/>
                </a:solidFill>
                <a:latin typeface="Source Sans Pro" pitchFamily="34" charset="0"/>
                <a:ea typeface="Source Sans Pro" pitchFamily="34" charset="-122"/>
                <a:cs typeface="Source Sans Pro" pitchFamily="34" charset="-120"/>
              </a:rPr>
              <a:t>Ejemplo de propiedad:</a:t>
            </a:r>
            <a:endParaRPr lang="en-US" sz="1500" dirty="0"/>
          </a:p>
        </p:txBody>
      </p:sp>
      <p:sp>
        <p:nvSpPr>
          <p:cNvPr id="5" name="Shape 3"/>
          <p:cNvSpPr/>
          <p:nvPr/>
        </p:nvSpPr>
        <p:spPr>
          <a:xfrm>
            <a:off x="1185029" y="2754154"/>
            <a:ext cx="12260223" cy="2304217"/>
          </a:xfrm>
          <a:prstGeom prst="roundRect">
            <a:avLst>
              <a:gd name="adj" fmla="val 1251"/>
            </a:avLst>
          </a:prstGeom>
          <a:solidFill>
            <a:srgbClr val="262626"/>
          </a:solidFill>
          <a:ln/>
        </p:spPr>
      </p:sp>
      <p:sp>
        <p:nvSpPr>
          <p:cNvPr id="6" name="Shape 4"/>
          <p:cNvSpPr/>
          <p:nvPr/>
        </p:nvSpPr>
        <p:spPr>
          <a:xfrm>
            <a:off x="1175504" y="2754154"/>
            <a:ext cx="12279273" cy="2304217"/>
          </a:xfrm>
          <a:prstGeom prst="roundRect">
            <a:avLst>
              <a:gd name="adj" fmla="val 1251"/>
            </a:avLst>
          </a:prstGeom>
          <a:solidFill>
            <a:srgbClr val="262626"/>
          </a:solidFill>
          <a:ln/>
        </p:spPr>
      </p:sp>
      <p:sp>
        <p:nvSpPr>
          <p:cNvPr id="7" name="Text 5"/>
          <p:cNvSpPr/>
          <p:nvPr/>
        </p:nvSpPr>
        <p:spPr>
          <a:xfrm>
            <a:off x="1367552" y="2898219"/>
            <a:ext cx="11895177" cy="2016085"/>
          </a:xfrm>
          <a:prstGeom prst="rect">
            <a:avLst/>
          </a:prstGeom>
          <a:noFill/>
          <a:ln/>
        </p:spPr>
        <p:txBody>
          <a:bodyPr wrap="square" lIns="0" tIns="0" rIns="0" bIns="0" rtlCol="0" anchor="t"/>
          <a:lstStyle/>
          <a:p>
            <a:pPr indent="0" marL="0">
              <a:lnSpc>
                <a:spcPts val="2250"/>
              </a:lnSpc>
              <a:buNone/>
            </a:pPr>
            <a:r>
              <a:rPr lang="en-US" sz="1500" dirty="0">
                <a:solidFill>
                  <a:srgbClr val="E2E6E9"/>
                </a:solidFill>
                <a:highlight>
                  <a:srgbClr val="262626"/>
                </a:highlight>
                <a:latin typeface="Consolas" pitchFamily="34" charset="0"/>
                <a:ea typeface="Consolas" pitchFamily="34" charset="-122"/>
                <a:cs typeface="Consolas" pitchFamily="34" charset="-120"/>
              </a:rPr>
              <a:t>fn main() {
    let cadena1 = String::from("Hola");
    let cadena2 = cadena1; // `cadena1` se transfiere a `cadena2`
    // println!("{}", cadena1); // Esto causaría un error porque `cadena1` ya no es válido
    println!("{}", cadena2); // Imprime "Hola"
}
</a:t>
            </a:r>
            <a:endParaRPr lang="en-US" sz="1500" dirty="0"/>
          </a:p>
        </p:txBody>
      </p:sp>
      <p:sp>
        <p:nvSpPr>
          <p:cNvPr id="8" name="Text 6"/>
          <p:cNvSpPr/>
          <p:nvPr/>
        </p:nvSpPr>
        <p:spPr>
          <a:xfrm>
            <a:off x="1185029" y="5274469"/>
            <a:ext cx="12260223" cy="576024"/>
          </a:xfrm>
          <a:prstGeom prst="rect">
            <a:avLst/>
          </a:prstGeom>
          <a:noFill/>
          <a:ln/>
        </p:spPr>
        <p:txBody>
          <a:bodyPr wrap="square" lIns="0" tIns="0" rIns="0" bIns="0" rtlCol="0" anchor="t"/>
          <a:lstStyle/>
          <a:p>
            <a:pPr indent="0" marL="0">
              <a:lnSpc>
                <a:spcPts val="2250"/>
              </a:lnSpc>
              <a:buNone/>
            </a:pPr>
            <a:r>
              <a:rPr lang="en-US" sz="1500" dirty="0">
                <a:solidFill>
                  <a:srgbClr val="E2E6E9"/>
                </a:solidFill>
                <a:latin typeface="Source Sans Pro" pitchFamily="34" charset="0"/>
                <a:ea typeface="Source Sans Pro" pitchFamily="34" charset="-122"/>
                <a:cs typeface="Source Sans Pro" pitchFamily="34" charset="-120"/>
              </a:rPr>
              <a:t>Aquí, cadena1 se transfiere a cadena2, y cadena1 ya no es accesible, evitando problemas de acceso a memoria. Además, Rust utiliza un sistema de "prestamos" para permitir el acceso a datos sin transferir la propiedad, garantizando la seguridad en el acceso concurrente.</a:t>
            </a:r>
            <a:endParaRPr lang="en-US" sz="1500" dirty="0"/>
          </a:p>
        </p:txBody>
      </p:sp>
      <p:sp>
        <p:nvSpPr>
          <p:cNvPr id="9" name="Shape 7"/>
          <p:cNvSpPr/>
          <p:nvPr/>
        </p:nvSpPr>
        <p:spPr>
          <a:xfrm>
            <a:off x="1185029" y="6066592"/>
            <a:ext cx="3958709" cy="1636157"/>
          </a:xfrm>
          <a:prstGeom prst="roundRect">
            <a:avLst>
              <a:gd name="adj" fmla="val 1761"/>
            </a:avLst>
          </a:prstGeom>
          <a:solidFill>
            <a:srgbClr val="303132"/>
          </a:solidFill>
          <a:ln/>
        </p:spPr>
      </p:sp>
      <p:sp>
        <p:nvSpPr>
          <p:cNvPr id="10" name="Text 8"/>
          <p:cNvSpPr/>
          <p:nvPr/>
        </p:nvSpPr>
        <p:spPr>
          <a:xfrm>
            <a:off x="1377077" y="6258639"/>
            <a:ext cx="2182892" cy="272772"/>
          </a:xfrm>
          <a:prstGeom prst="rect">
            <a:avLst/>
          </a:prstGeom>
          <a:noFill/>
          <a:ln/>
        </p:spPr>
        <p:txBody>
          <a:bodyPr wrap="none" lIns="0" tIns="0" rIns="0" bIns="0" rtlCol="0" anchor="t"/>
          <a:lstStyle/>
          <a:p>
            <a:pPr indent="0" marL="0">
              <a:lnSpc>
                <a:spcPts val="2100"/>
              </a:lnSpc>
              <a:buNone/>
            </a:pPr>
            <a:r>
              <a:rPr lang="en-US" sz="1700" b="1" spc="-17" kern="0" dirty="0">
                <a:solidFill>
                  <a:srgbClr val="E2E6E9"/>
                </a:solidFill>
                <a:latin typeface="Montserrat Bold" pitchFamily="34" charset="0"/>
                <a:ea typeface="Montserrat Bold" pitchFamily="34" charset="-122"/>
                <a:cs typeface="Montserrat Bold" pitchFamily="34" charset="-120"/>
              </a:rPr>
              <a:t>Propiedad</a:t>
            </a:r>
            <a:endParaRPr lang="en-US" sz="1700" dirty="0"/>
          </a:p>
        </p:txBody>
      </p:sp>
      <p:sp>
        <p:nvSpPr>
          <p:cNvPr id="11" name="Text 9"/>
          <p:cNvSpPr/>
          <p:nvPr/>
        </p:nvSpPr>
        <p:spPr>
          <a:xfrm>
            <a:off x="1377077" y="6646664"/>
            <a:ext cx="3574613" cy="864037"/>
          </a:xfrm>
          <a:prstGeom prst="rect">
            <a:avLst/>
          </a:prstGeom>
          <a:noFill/>
          <a:ln/>
        </p:spPr>
        <p:txBody>
          <a:bodyPr wrap="square" lIns="0" tIns="0" rIns="0" bIns="0" rtlCol="0" anchor="t"/>
          <a:lstStyle/>
          <a:p>
            <a:pPr indent="0" marL="0">
              <a:lnSpc>
                <a:spcPts val="2250"/>
              </a:lnSpc>
              <a:buNone/>
            </a:pPr>
            <a:r>
              <a:rPr lang="en-US" sz="1500" dirty="0">
                <a:solidFill>
                  <a:srgbClr val="E2E6E9"/>
                </a:solidFill>
                <a:latin typeface="Source Sans Pro" pitchFamily="34" charset="0"/>
                <a:ea typeface="Source Sans Pro" pitchFamily="34" charset="-122"/>
                <a:cs typeface="Source Sans Pro" pitchFamily="34" charset="-120"/>
              </a:rPr>
              <a:t>Sistema que transfiere la propiedad de los datos entre variables, evitando problemas de acceso a memoria.</a:t>
            </a:r>
            <a:endParaRPr lang="en-US" sz="1500" dirty="0"/>
          </a:p>
        </p:txBody>
      </p:sp>
      <p:sp>
        <p:nvSpPr>
          <p:cNvPr id="12" name="Shape 10"/>
          <p:cNvSpPr/>
          <p:nvPr/>
        </p:nvSpPr>
        <p:spPr>
          <a:xfrm>
            <a:off x="5335786" y="6066592"/>
            <a:ext cx="3958709" cy="1636157"/>
          </a:xfrm>
          <a:prstGeom prst="roundRect">
            <a:avLst>
              <a:gd name="adj" fmla="val 1761"/>
            </a:avLst>
          </a:prstGeom>
          <a:solidFill>
            <a:srgbClr val="303132"/>
          </a:solidFill>
          <a:ln/>
        </p:spPr>
      </p:sp>
      <p:sp>
        <p:nvSpPr>
          <p:cNvPr id="13" name="Text 11"/>
          <p:cNvSpPr/>
          <p:nvPr/>
        </p:nvSpPr>
        <p:spPr>
          <a:xfrm>
            <a:off x="5527834" y="6258639"/>
            <a:ext cx="2182892" cy="272772"/>
          </a:xfrm>
          <a:prstGeom prst="rect">
            <a:avLst/>
          </a:prstGeom>
          <a:noFill/>
          <a:ln/>
        </p:spPr>
        <p:txBody>
          <a:bodyPr wrap="none" lIns="0" tIns="0" rIns="0" bIns="0" rtlCol="0" anchor="t"/>
          <a:lstStyle/>
          <a:p>
            <a:pPr indent="0" marL="0">
              <a:lnSpc>
                <a:spcPts val="2100"/>
              </a:lnSpc>
              <a:buNone/>
            </a:pPr>
            <a:r>
              <a:rPr lang="en-US" sz="1700" b="1" spc="-17" kern="0" dirty="0">
                <a:solidFill>
                  <a:srgbClr val="E2E6E9"/>
                </a:solidFill>
                <a:latin typeface="Montserrat Bold" pitchFamily="34" charset="0"/>
                <a:ea typeface="Montserrat Bold" pitchFamily="34" charset="-122"/>
                <a:cs typeface="Montserrat Bold" pitchFamily="34" charset="-120"/>
              </a:rPr>
              <a:t>Referencias</a:t>
            </a:r>
            <a:endParaRPr lang="en-US" sz="1700" dirty="0"/>
          </a:p>
        </p:txBody>
      </p:sp>
      <p:sp>
        <p:nvSpPr>
          <p:cNvPr id="14" name="Text 12"/>
          <p:cNvSpPr/>
          <p:nvPr/>
        </p:nvSpPr>
        <p:spPr>
          <a:xfrm>
            <a:off x="5527834" y="6646664"/>
            <a:ext cx="3574613" cy="864037"/>
          </a:xfrm>
          <a:prstGeom prst="rect">
            <a:avLst/>
          </a:prstGeom>
          <a:noFill/>
          <a:ln/>
        </p:spPr>
        <p:txBody>
          <a:bodyPr wrap="square" lIns="0" tIns="0" rIns="0" bIns="0" rtlCol="0" anchor="t"/>
          <a:lstStyle/>
          <a:p>
            <a:pPr indent="0" marL="0">
              <a:lnSpc>
                <a:spcPts val="2250"/>
              </a:lnSpc>
              <a:buNone/>
            </a:pPr>
            <a:r>
              <a:rPr lang="en-US" sz="1500" dirty="0">
                <a:solidFill>
                  <a:srgbClr val="E2E6E9"/>
                </a:solidFill>
                <a:latin typeface="Source Sans Pro" pitchFamily="34" charset="0"/>
                <a:ea typeface="Source Sans Pro" pitchFamily="34" charset="-122"/>
                <a:cs typeface="Source Sans Pro" pitchFamily="34" charset="-120"/>
              </a:rPr>
              <a:t>Permiten el acceso a datos sin transferir la propiedad, garantizando la seguridad en el acceso concurrente.</a:t>
            </a:r>
            <a:endParaRPr lang="en-US" sz="1500" dirty="0"/>
          </a:p>
        </p:txBody>
      </p:sp>
      <p:sp>
        <p:nvSpPr>
          <p:cNvPr id="15" name="Shape 13"/>
          <p:cNvSpPr/>
          <p:nvPr/>
        </p:nvSpPr>
        <p:spPr>
          <a:xfrm>
            <a:off x="9486543" y="6066592"/>
            <a:ext cx="3958709" cy="1636157"/>
          </a:xfrm>
          <a:prstGeom prst="roundRect">
            <a:avLst>
              <a:gd name="adj" fmla="val 1761"/>
            </a:avLst>
          </a:prstGeom>
          <a:solidFill>
            <a:srgbClr val="303132"/>
          </a:solidFill>
          <a:ln/>
        </p:spPr>
      </p:sp>
      <p:sp>
        <p:nvSpPr>
          <p:cNvPr id="16" name="Text 14"/>
          <p:cNvSpPr/>
          <p:nvPr/>
        </p:nvSpPr>
        <p:spPr>
          <a:xfrm>
            <a:off x="9678591" y="6258639"/>
            <a:ext cx="2182892" cy="272772"/>
          </a:xfrm>
          <a:prstGeom prst="rect">
            <a:avLst/>
          </a:prstGeom>
          <a:noFill/>
          <a:ln/>
        </p:spPr>
        <p:txBody>
          <a:bodyPr wrap="none" lIns="0" tIns="0" rIns="0" bIns="0" rtlCol="0" anchor="t"/>
          <a:lstStyle/>
          <a:p>
            <a:pPr indent="0" marL="0">
              <a:lnSpc>
                <a:spcPts val="2100"/>
              </a:lnSpc>
              <a:buNone/>
            </a:pPr>
            <a:r>
              <a:rPr lang="en-US" sz="1700" b="1" spc="-17" kern="0" dirty="0">
                <a:solidFill>
                  <a:srgbClr val="E2E6E9"/>
                </a:solidFill>
                <a:latin typeface="Montserrat Bold" pitchFamily="34" charset="0"/>
                <a:ea typeface="Montserrat Bold" pitchFamily="34" charset="-122"/>
                <a:cs typeface="Montserrat Bold" pitchFamily="34" charset="-120"/>
              </a:rPr>
              <a:t>Préstamos</a:t>
            </a:r>
            <a:endParaRPr lang="en-US" sz="1700" dirty="0"/>
          </a:p>
        </p:txBody>
      </p:sp>
      <p:sp>
        <p:nvSpPr>
          <p:cNvPr id="17" name="Text 15"/>
          <p:cNvSpPr/>
          <p:nvPr/>
        </p:nvSpPr>
        <p:spPr>
          <a:xfrm>
            <a:off x="9678591" y="6646664"/>
            <a:ext cx="3574613" cy="864037"/>
          </a:xfrm>
          <a:prstGeom prst="rect">
            <a:avLst/>
          </a:prstGeom>
          <a:noFill/>
          <a:ln/>
        </p:spPr>
        <p:txBody>
          <a:bodyPr wrap="square" lIns="0" tIns="0" rIns="0" bIns="0" rtlCol="0" anchor="t"/>
          <a:lstStyle/>
          <a:p>
            <a:pPr indent="0" marL="0">
              <a:lnSpc>
                <a:spcPts val="2250"/>
              </a:lnSpc>
              <a:buNone/>
            </a:pPr>
            <a:r>
              <a:rPr lang="en-US" sz="1500" dirty="0">
                <a:solidFill>
                  <a:srgbClr val="E2E6E9"/>
                </a:solidFill>
                <a:latin typeface="Source Sans Pro" pitchFamily="34" charset="0"/>
                <a:ea typeface="Source Sans Pro" pitchFamily="34" charset="-122"/>
                <a:cs typeface="Source Sans Pro" pitchFamily="34" charset="-120"/>
              </a:rPr>
              <a:t>Sistema que permite el acceso temporal a datos sin transferir la propiedad, asegurando la integridad de los mismos.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85029" y="491609"/>
            <a:ext cx="4489966" cy="505778"/>
          </a:xfrm>
          <a:prstGeom prst="rect">
            <a:avLst/>
          </a:prstGeom>
          <a:noFill/>
          <a:ln/>
        </p:spPr>
        <p:txBody>
          <a:bodyPr wrap="none" lIns="0" tIns="0" rIns="0" bIns="0" rtlCol="0" anchor="t"/>
          <a:lstStyle/>
          <a:p>
            <a:pPr indent="0" marL="0">
              <a:lnSpc>
                <a:spcPts val="3950"/>
              </a:lnSpc>
              <a:buNone/>
            </a:pPr>
            <a:r>
              <a:rPr lang="en-US" sz="3150" b="1" spc="-32" kern="0" dirty="0">
                <a:solidFill>
                  <a:srgbClr val="FFFFFF"/>
                </a:solidFill>
                <a:latin typeface="Montserrat Bold" pitchFamily="34" charset="0"/>
                <a:ea typeface="Montserrat Bold" pitchFamily="34" charset="-122"/>
                <a:cs typeface="Montserrat Bold" pitchFamily="34" charset="-120"/>
              </a:rPr>
              <a:t>Concurrencia en Rust</a:t>
            </a:r>
            <a:endParaRPr lang="en-US" sz="3150" dirty="0"/>
          </a:p>
        </p:txBody>
      </p:sp>
      <p:sp>
        <p:nvSpPr>
          <p:cNvPr id="3" name="Text 1"/>
          <p:cNvSpPr/>
          <p:nvPr/>
        </p:nvSpPr>
        <p:spPr>
          <a:xfrm>
            <a:off x="1185029" y="1264444"/>
            <a:ext cx="12260223" cy="533876"/>
          </a:xfrm>
          <a:prstGeom prst="rect">
            <a:avLst/>
          </a:prstGeom>
          <a:noFill/>
          <a:ln/>
        </p:spPr>
        <p:txBody>
          <a:bodyPr wrap="square" lIns="0" tIns="0" rIns="0" bIns="0" rtlCol="0" anchor="t"/>
          <a:lstStyle/>
          <a:p>
            <a:pPr indent="0" marL="0">
              <a:lnSpc>
                <a:spcPts val="2100"/>
              </a:lnSpc>
              <a:buNone/>
            </a:pPr>
            <a:r>
              <a:rPr lang="en-US" sz="1400" dirty="0">
                <a:solidFill>
                  <a:srgbClr val="E2E6E9"/>
                </a:solidFill>
                <a:latin typeface="Source Sans Pro" pitchFamily="34" charset="0"/>
                <a:ea typeface="Source Sans Pro" pitchFamily="34" charset="-122"/>
                <a:cs typeface="Source Sans Pro" pitchFamily="34" charset="-120"/>
              </a:rPr>
              <a:t>Rust facilita la programación concurrente gracias a su modelo de propiedad, que permite asegurar que no haya condiciones de carrera. Utiliza conceptos como hilos y canales para facilitar la comunicación entre hilos.</a:t>
            </a:r>
            <a:endParaRPr lang="en-US" sz="1400" dirty="0"/>
          </a:p>
        </p:txBody>
      </p:sp>
      <p:sp>
        <p:nvSpPr>
          <p:cNvPr id="4" name="Text 2"/>
          <p:cNvSpPr/>
          <p:nvPr/>
        </p:nvSpPr>
        <p:spPr>
          <a:xfrm>
            <a:off x="1185029" y="1998583"/>
            <a:ext cx="12260223" cy="266938"/>
          </a:xfrm>
          <a:prstGeom prst="rect">
            <a:avLst/>
          </a:prstGeom>
          <a:noFill/>
          <a:ln/>
        </p:spPr>
        <p:txBody>
          <a:bodyPr wrap="none" lIns="0" tIns="0" rIns="0" bIns="0" rtlCol="0" anchor="t"/>
          <a:lstStyle/>
          <a:p>
            <a:pPr indent="0" marL="0">
              <a:lnSpc>
                <a:spcPts val="2100"/>
              </a:lnSpc>
              <a:buNone/>
            </a:pPr>
            <a:r>
              <a:rPr lang="en-US" sz="1400" dirty="0">
                <a:solidFill>
                  <a:srgbClr val="E2E6E9"/>
                </a:solidFill>
                <a:latin typeface="Source Sans Pro" pitchFamily="34" charset="0"/>
                <a:ea typeface="Source Sans Pro" pitchFamily="34" charset="-122"/>
                <a:cs typeface="Source Sans Pro" pitchFamily="34" charset="-120"/>
              </a:rPr>
              <a:t>Ejemplo de concurrencia con hilos:</a:t>
            </a:r>
            <a:endParaRPr lang="en-US" sz="1400" dirty="0"/>
          </a:p>
        </p:txBody>
      </p:sp>
      <p:sp>
        <p:nvSpPr>
          <p:cNvPr id="5" name="Shape 3"/>
          <p:cNvSpPr/>
          <p:nvPr/>
        </p:nvSpPr>
        <p:spPr>
          <a:xfrm>
            <a:off x="1185029" y="2465784"/>
            <a:ext cx="12260223" cy="4537948"/>
          </a:xfrm>
          <a:prstGeom prst="roundRect">
            <a:avLst>
              <a:gd name="adj" fmla="val 589"/>
            </a:avLst>
          </a:prstGeom>
          <a:solidFill>
            <a:srgbClr val="262626"/>
          </a:solidFill>
          <a:ln/>
        </p:spPr>
      </p:sp>
      <p:sp>
        <p:nvSpPr>
          <p:cNvPr id="6" name="Shape 4"/>
          <p:cNvSpPr/>
          <p:nvPr/>
        </p:nvSpPr>
        <p:spPr>
          <a:xfrm>
            <a:off x="1176218" y="2465784"/>
            <a:ext cx="12277844" cy="4537948"/>
          </a:xfrm>
          <a:prstGeom prst="roundRect">
            <a:avLst>
              <a:gd name="adj" fmla="val 589"/>
            </a:avLst>
          </a:prstGeom>
          <a:solidFill>
            <a:srgbClr val="262626"/>
          </a:solidFill>
          <a:ln/>
        </p:spPr>
      </p:sp>
      <p:sp>
        <p:nvSpPr>
          <p:cNvPr id="7" name="Text 5"/>
          <p:cNvSpPr/>
          <p:nvPr/>
        </p:nvSpPr>
        <p:spPr>
          <a:xfrm>
            <a:off x="1354217" y="2599253"/>
            <a:ext cx="11921847" cy="4271010"/>
          </a:xfrm>
          <a:prstGeom prst="rect">
            <a:avLst/>
          </a:prstGeom>
          <a:noFill/>
          <a:ln/>
        </p:spPr>
        <p:txBody>
          <a:bodyPr wrap="square" lIns="0" tIns="0" rIns="0" bIns="0" rtlCol="0" anchor="t"/>
          <a:lstStyle/>
          <a:p>
            <a:pPr indent="0" marL="0">
              <a:lnSpc>
                <a:spcPts val="2100"/>
              </a:lnSpc>
              <a:buNone/>
            </a:pPr>
            <a:r>
              <a:rPr lang="en-US" sz="1400" dirty="0">
                <a:solidFill>
                  <a:srgbClr val="E2E6E9"/>
                </a:solidFill>
                <a:highlight>
                  <a:srgbClr val="262626"/>
                </a:highlight>
                <a:latin typeface="Consolas" pitchFamily="34" charset="0"/>
                <a:ea typeface="Consolas" pitchFamily="34" charset="-122"/>
                <a:cs typeface="Consolas" pitchFamily="34" charset="-120"/>
              </a:rPr>
              <a:t>use std::thread;
fn main() {
    let manejador = thread::spawn(|| {
        for i in 1..5 {
            println!("Desde el hilo: {}", i);
        }
    });
    for i in 1..3 {
        println!("Desde el hilo principal: {}", i);
    }
    manejador.join().unwrap(); // Espera a que el hilo termine
}
</a:t>
            </a:r>
            <a:endParaRPr lang="en-US" sz="1400" dirty="0"/>
          </a:p>
        </p:txBody>
      </p:sp>
      <p:sp>
        <p:nvSpPr>
          <p:cNvPr id="8" name="Text 6"/>
          <p:cNvSpPr/>
          <p:nvPr/>
        </p:nvSpPr>
        <p:spPr>
          <a:xfrm>
            <a:off x="1185029" y="7203996"/>
            <a:ext cx="12260223" cy="533876"/>
          </a:xfrm>
          <a:prstGeom prst="rect">
            <a:avLst/>
          </a:prstGeom>
          <a:noFill/>
          <a:ln/>
        </p:spPr>
        <p:txBody>
          <a:bodyPr wrap="square" lIns="0" tIns="0" rIns="0" bIns="0" rtlCol="0" anchor="t"/>
          <a:lstStyle/>
          <a:p>
            <a:pPr indent="0" marL="0">
              <a:lnSpc>
                <a:spcPts val="2100"/>
              </a:lnSpc>
              <a:buNone/>
            </a:pPr>
            <a:r>
              <a:rPr lang="en-US" sz="1400" dirty="0">
                <a:solidFill>
                  <a:srgbClr val="E2E6E9"/>
                </a:solidFill>
                <a:latin typeface="Source Sans Pro" pitchFamily="34" charset="0"/>
                <a:ea typeface="Source Sans Pro" pitchFamily="34" charset="-122"/>
                <a:cs typeface="Source Sans Pro" pitchFamily="34" charset="-120"/>
              </a:rPr>
              <a:t>En este ejemplo, se crea un hilo que imprime números del 1 al 4. El hilo principal también imprime sus números, y manejador.join() asegura que el hilo principal espera a que el hilo secundario termine antes de finalizar el programa.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85029" y="521613"/>
            <a:ext cx="7161014" cy="422315"/>
          </a:xfrm>
          <a:prstGeom prst="rect">
            <a:avLst/>
          </a:prstGeom>
          <a:noFill/>
          <a:ln/>
        </p:spPr>
        <p:txBody>
          <a:bodyPr wrap="none" lIns="0" tIns="0" rIns="0" bIns="0" rtlCol="0" anchor="t"/>
          <a:lstStyle/>
          <a:p>
            <a:pPr indent="0" marL="0">
              <a:lnSpc>
                <a:spcPts val="3300"/>
              </a:lnSpc>
              <a:buNone/>
            </a:pPr>
            <a:r>
              <a:rPr lang="en-US" sz="2650" b="1" spc="-27" kern="0" dirty="0">
                <a:solidFill>
                  <a:srgbClr val="FFFFFF"/>
                </a:solidFill>
                <a:latin typeface="Montserrat Bold" pitchFamily="34" charset="0"/>
                <a:ea typeface="Montserrat Bold" pitchFamily="34" charset="-122"/>
                <a:cs typeface="Montserrat Bold" pitchFamily="34" charset="-120"/>
              </a:rPr>
              <a:t>Desarrollo de Módulos del Kernel en Rust</a:t>
            </a:r>
            <a:endParaRPr lang="en-US" sz="2650" dirty="0"/>
          </a:p>
        </p:txBody>
      </p:sp>
      <p:sp>
        <p:nvSpPr>
          <p:cNvPr id="3" name="Text 1"/>
          <p:cNvSpPr/>
          <p:nvPr/>
        </p:nvSpPr>
        <p:spPr>
          <a:xfrm>
            <a:off x="1185029" y="1241227"/>
            <a:ext cx="12260223" cy="446008"/>
          </a:xfrm>
          <a:prstGeom prst="rect">
            <a:avLst/>
          </a:prstGeom>
          <a:noFill/>
          <a:ln/>
        </p:spPr>
        <p:txBody>
          <a:bodyPr wrap="square" lIns="0" tIns="0" rIns="0" bIns="0" rtlCol="0" anchor="t"/>
          <a:lstStyle/>
          <a:p>
            <a:pPr indent="0" marL="0">
              <a:lnSpc>
                <a:spcPts val="1750"/>
              </a:lnSpc>
              <a:buNone/>
            </a:pPr>
            <a:r>
              <a:rPr lang="en-US" sz="1150" dirty="0">
                <a:solidFill>
                  <a:srgbClr val="E2E6E9"/>
                </a:solidFill>
                <a:latin typeface="Source Sans Pro" pitchFamily="34" charset="0"/>
                <a:ea typeface="Source Sans Pro" pitchFamily="34" charset="-122"/>
                <a:cs typeface="Source Sans Pro" pitchFamily="34" charset="-120"/>
              </a:rPr>
              <a:t>Rust también se está utilizando para desarrollar módulos del kernel, aprovechando su seguridad de memoria. Aunque la mayoría de los módulos se desarrollan en C, Rust ofrece una alternativa más segura.</a:t>
            </a:r>
            <a:endParaRPr lang="en-US" sz="1150" dirty="0"/>
          </a:p>
        </p:txBody>
      </p:sp>
      <p:sp>
        <p:nvSpPr>
          <p:cNvPr id="4" name="Text 2"/>
          <p:cNvSpPr/>
          <p:nvPr/>
        </p:nvSpPr>
        <p:spPr>
          <a:xfrm>
            <a:off x="1185029" y="1854398"/>
            <a:ext cx="12260223" cy="223004"/>
          </a:xfrm>
          <a:prstGeom prst="rect">
            <a:avLst/>
          </a:prstGeom>
          <a:noFill/>
          <a:ln/>
        </p:spPr>
        <p:txBody>
          <a:bodyPr wrap="none" lIns="0" tIns="0" rIns="0" bIns="0" rtlCol="0" anchor="t"/>
          <a:lstStyle/>
          <a:p>
            <a:pPr indent="0" marL="0">
              <a:lnSpc>
                <a:spcPts val="1750"/>
              </a:lnSpc>
              <a:buNone/>
            </a:pPr>
            <a:r>
              <a:rPr lang="en-US" sz="1150" dirty="0">
                <a:solidFill>
                  <a:srgbClr val="E2E6E9"/>
                </a:solidFill>
                <a:latin typeface="Source Sans Pro" pitchFamily="34" charset="0"/>
                <a:ea typeface="Source Sans Pro" pitchFamily="34" charset="-122"/>
                <a:cs typeface="Source Sans Pro" pitchFamily="34" charset="-120"/>
              </a:rPr>
              <a:t>Ejemplo de un módulo simple en Rust:</a:t>
            </a:r>
            <a:endParaRPr lang="en-US" sz="1150" dirty="0"/>
          </a:p>
        </p:txBody>
      </p:sp>
      <p:sp>
        <p:nvSpPr>
          <p:cNvPr id="5" name="Text 3"/>
          <p:cNvSpPr/>
          <p:nvPr/>
        </p:nvSpPr>
        <p:spPr>
          <a:xfrm>
            <a:off x="1185029" y="2244566"/>
            <a:ext cx="12260223" cy="223004"/>
          </a:xfrm>
          <a:prstGeom prst="rect">
            <a:avLst/>
          </a:prstGeom>
          <a:noFill/>
          <a:ln/>
        </p:spPr>
        <p:txBody>
          <a:bodyPr wrap="none" lIns="0" tIns="0" rIns="0" bIns="0" rtlCol="0" anchor="t"/>
          <a:lstStyle/>
          <a:p>
            <a:pPr indent="0" marL="0">
              <a:lnSpc>
                <a:spcPts val="1750"/>
              </a:lnSpc>
              <a:buNone/>
            </a:pPr>
            <a:r>
              <a:rPr lang="en-US" sz="1150" dirty="0">
                <a:solidFill>
                  <a:srgbClr val="E2E6E9"/>
                </a:solidFill>
                <a:latin typeface="Source Sans Pro" pitchFamily="34" charset="0"/>
                <a:ea typeface="Source Sans Pro" pitchFamily="34" charset="-122"/>
                <a:cs typeface="Source Sans Pro" pitchFamily="34" charset="-120"/>
              </a:rPr>
              <a:t>A continuación, un ejemplo de cómo podrías definir un módulo del kernel en Rust (aunque para pruebas reales necesitarías un entorno específico y configurar el soporte de Rust en tu kernel):</a:t>
            </a:r>
            <a:endParaRPr lang="en-US" sz="1150" dirty="0"/>
          </a:p>
        </p:txBody>
      </p:sp>
      <p:sp>
        <p:nvSpPr>
          <p:cNvPr id="6" name="Shape 4"/>
          <p:cNvSpPr/>
          <p:nvPr/>
        </p:nvSpPr>
        <p:spPr>
          <a:xfrm>
            <a:off x="1185029" y="2634734"/>
            <a:ext cx="12260223" cy="4682966"/>
          </a:xfrm>
          <a:prstGeom prst="roundRect">
            <a:avLst>
              <a:gd name="adj" fmla="val 476"/>
            </a:avLst>
          </a:prstGeom>
          <a:solidFill>
            <a:srgbClr val="262626"/>
          </a:solidFill>
          <a:ln/>
        </p:spPr>
      </p:sp>
      <p:sp>
        <p:nvSpPr>
          <p:cNvPr id="7" name="Shape 5"/>
          <p:cNvSpPr/>
          <p:nvPr/>
        </p:nvSpPr>
        <p:spPr>
          <a:xfrm>
            <a:off x="1177647" y="2634734"/>
            <a:ext cx="12274987" cy="4682966"/>
          </a:xfrm>
          <a:prstGeom prst="roundRect">
            <a:avLst>
              <a:gd name="adj" fmla="val 476"/>
            </a:avLst>
          </a:prstGeom>
          <a:solidFill>
            <a:srgbClr val="262626"/>
          </a:solidFill>
          <a:ln/>
        </p:spPr>
      </p:sp>
      <p:sp>
        <p:nvSpPr>
          <p:cNvPr id="8" name="Text 6"/>
          <p:cNvSpPr/>
          <p:nvPr/>
        </p:nvSpPr>
        <p:spPr>
          <a:xfrm>
            <a:off x="1326237" y="2746177"/>
            <a:ext cx="11977807" cy="4460081"/>
          </a:xfrm>
          <a:prstGeom prst="rect">
            <a:avLst/>
          </a:prstGeom>
          <a:noFill/>
          <a:ln/>
        </p:spPr>
        <p:txBody>
          <a:bodyPr wrap="square" lIns="0" tIns="0" rIns="0" bIns="0" rtlCol="0" anchor="t"/>
          <a:lstStyle/>
          <a:p>
            <a:pPr indent="0" marL="0">
              <a:lnSpc>
                <a:spcPts val="1750"/>
              </a:lnSpc>
              <a:buNone/>
            </a:pPr>
            <a:r>
              <a:rPr lang="en-US" sz="1150" dirty="0">
                <a:solidFill>
                  <a:srgbClr val="E2E6E9"/>
                </a:solidFill>
                <a:highlight>
                  <a:srgbClr val="262626"/>
                </a:highlight>
                <a:latin typeface="Consolas" pitchFamily="34" charset="0"/>
                <a:ea typeface="Consolas" pitchFamily="34" charset="-122"/>
                <a:cs typeface="Consolas" pitchFamily="34" charset="-120"/>
              </a:rPr>
              <a:t>#![no_std]
#![feature(allocator_api)]
use kernel::prelude::*;
module! {
    name: b"mi_modulo_rust",
    author: b"Estudiante de Sistemas Operativos",
    description: b"Un módulo de kernel simple en Rust",
    license: b"GPL",
}
fn init(module: &amp;kernel::Module) -&gt; Result&lt;(), kernel::Error&gt; {
    pr_info!("¡Hola desde el módulo del kernel en Rust!\n");
    Ok(())
}
fn exit(module: &amp;kernel::Module) {
    pr_info!("Saliendo del módulo del kernel en Rust.\n");
}
</a:t>
            </a:r>
            <a:endParaRPr lang="en-US" sz="1150" dirty="0"/>
          </a:p>
        </p:txBody>
      </p:sp>
      <p:sp>
        <p:nvSpPr>
          <p:cNvPr id="9" name="Text 7"/>
          <p:cNvSpPr/>
          <p:nvPr/>
        </p:nvSpPr>
        <p:spPr>
          <a:xfrm>
            <a:off x="1185029" y="7484864"/>
            <a:ext cx="12260223" cy="223004"/>
          </a:xfrm>
          <a:prstGeom prst="rect">
            <a:avLst/>
          </a:prstGeom>
          <a:noFill/>
          <a:ln/>
        </p:spPr>
        <p:txBody>
          <a:bodyPr wrap="none" lIns="0" tIns="0" rIns="0" bIns="0" rtlCol="0" anchor="t"/>
          <a:lstStyle/>
          <a:p>
            <a:pPr indent="0" marL="0">
              <a:lnSpc>
                <a:spcPts val="1750"/>
              </a:lnSpc>
              <a:buNone/>
            </a:pPr>
            <a:r>
              <a:rPr lang="en-US" sz="1150" dirty="0">
                <a:solidFill>
                  <a:srgbClr val="E2E6E9"/>
                </a:solidFill>
                <a:latin typeface="Source Sans Pro" pitchFamily="34" charset="0"/>
                <a:ea typeface="Source Sans Pro" pitchFamily="34" charset="-122"/>
                <a:cs typeface="Source Sans Pro" pitchFamily="34" charset="-120"/>
              </a:rPr>
              <a:t>Este módulo utiliza la API de kernel para Rust, y cuando se carga, imprime un mensaje en el registro del kernel. Debes compilarlo y cargarlo en un entorno adecuado.</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185029" y="339447"/>
            <a:ext cx="3995618" cy="350639"/>
          </a:xfrm>
          <a:prstGeom prst="rect">
            <a:avLst/>
          </a:prstGeom>
          <a:noFill/>
          <a:ln/>
        </p:spPr>
        <p:txBody>
          <a:bodyPr wrap="none" lIns="0" tIns="0" rIns="0" bIns="0" rtlCol="0" anchor="t"/>
          <a:lstStyle/>
          <a:p>
            <a:pPr indent="0" marL="0">
              <a:lnSpc>
                <a:spcPts val="2750"/>
              </a:lnSpc>
              <a:buNone/>
            </a:pPr>
            <a:r>
              <a:rPr lang="en-US" sz="2200" b="1" spc="-22" kern="0" dirty="0">
                <a:solidFill>
                  <a:srgbClr val="FFFFFF"/>
                </a:solidFill>
                <a:latin typeface="Montserrat Bold" pitchFamily="34" charset="0"/>
                <a:ea typeface="Montserrat Bold" pitchFamily="34" charset="-122"/>
                <a:cs typeface="Montserrat Bold" pitchFamily="34" charset="-120"/>
              </a:rPr>
              <a:t>Introducción a System Calls</a:t>
            </a:r>
            <a:endParaRPr lang="en-US" sz="2200" dirty="0"/>
          </a:p>
        </p:txBody>
      </p:sp>
      <p:sp>
        <p:nvSpPr>
          <p:cNvPr id="3" name="Text 1"/>
          <p:cNvSpPr/>
          <p:nvPr/>
        </p:nvSpPr>
        <p:spPr>
          <a:xfrm>
            <a:off x="1185029" y="936903"/>
            <a:ext cx="12260223" cy="185142"/>
          </a:xfrm>
          <a:prstGeom prst="rect">
            <a:avLst/>
          </a:prstGeom>
          <a:noFill/>
          <a:ln/>
        </p:spPr>
        <p:txBody>
          <a:bodyPr wrap="none" lIns="0" tIns="0" rIns="0" bIns="0" rtlCol="0" anchor="t"/>
          <a:lstStyle/>
          <a:p>
            <a:pPr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Las System Calls (llamadas al sistema) son interfaces mediante las cuales un programa de usuario solicita servicios del kernel. Estas permiten a los programas interactuar con el hardware y acceder a recursos del sistema.</a:t>
            </a:r>
            <a:endParaRPr lang="en-US" sz="950" dirty="0"/>
          </a:p>
        </p:txBody>
      </p:sp>
      <p:sp>
        <p:nvSpPr>
          <p:cNvPr id="4" name="Text 2"/>
          <p:cNvSpPr/>
          <p:nvPr/>
        </p:nvSpPr>
        <p:spPr>
          <a:xfrm>
            <a:off x="1185029" y="1260872"/>
            <a:ext cx="12260223" cy="185142"/>
          </a:xfrm>
          <a:prstGeom prst="rect">
            <a:avLst/>
          </a:prstGeom>
          <a:noFill/>
          <a:ln/>
        </p:spPr>
        <p:txBody>
          <a:bodyPr wrap="none" lIns="0" tIns="0" rIns="0" bIns="0" rtlCol="0" anchor="t"/>
          <a:lstStyle/>
          <a:p>
            <a:pPr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Ejemplo de System Call:</a:t>
            </a:r>
            <a:endParaRPr lang="en-US" sz="950" dirty="0"/>
          </a:p>
        </p:txBody>
      </p:sp>
      <p:sp>
        <p:nvSpPr>
          <p:cNvPr id="5" name="Text 3"/>
          <p:cNvSpPr/>
          <p:nvPr/>
        </p:nvSpPr>
        <p:spPr>
          <a:xfrm>
            <a:off x="1185029" y="1584841"/>
            <a:ext cx="12260223" cy="185142"/>
          </a:xfrm>
          <a:prstGeom prst="rect">
            <a:avLst/>
          </a:prstGeom>
          <a:noFill/>
          <a:ln/>
        </p:spPr>
        <p:txBody>
          <a:bodyPr wrap="none" lIns="0" tIns="0" rIns="0" bIns="0" rtlCol="0" anchor="t"/>
          <a:lstStyle/>
          <a:p>
            <a:pPr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Un ejemplo común es la llamada al sistema read, que se usa para leer datos de un archivo. En Rust, puedes hacer uso de la biblioteca estándar para interactuar con archivos, que internamente utiliza estas llamadas al sistema.</a:t>
            </a:r>
            <a:endParaRPr lang="en-US" sz="950" dirty="0"/>
          </a:p>
        </p:txBody>
      </p:sp>
      <p:sp>
        <p:nvSpPr>
          <p:cNvPr id="6" name="Shape 4"/>
          <p:cNvSpPr/>
          <p:nvPr/>
        </p:nvSpPr>
        <p:spPr>
          <a:xfrm>
            <a:off x="1185029" y="1908810"/>
            <a:ext cx="12260223" cy="2221587"/>
          </a:xfrm>
          <a:prstGeom prst="roundRect">
            <a:avLst>
              <a:gd name="adj" fmla="val 833"/>
            </a:avLst>
          </a:prstGeom>
          <a:solidFill>
            <a:srgbClr val="262626"/>
          </a:solidFill>
          <a:ln/>
        </p:spPr>
      </p:sp>
      <p:sp>
        <p:nvSpPr>
          <p:cNvPr id="7" name="Shape 5"/>
          <p:cNvSpPr/>
          <p:nvPr/>
        </p:nvSpPr>
        <p:spPr>
          <a:xfrm>
            <a:off x="1178957" y="1908810"/>
            <a:ext cx="12272367" cy="2221587"/>
          </a:xfrm>
          <a:prstGeom prst="roundRect">
            <a:avLst>
              <a:gd name="adj" fmla="val 833"/>
            </a:avLst>
          </a:prstGeom>
          <a:solidFill>
            <a:srgbClr val="262626"/>
          </a:solidFill>
          <a:ln/>
        </p:spPr>
      </p:sp>
      <p:sp>
        <p:nvSpPr>
          <p:cNvPr id="8" name="Text 6"/>
          <p:cNvSpPr/>
          <p:nvPr/>
        </p:nvSpPr>
        <p:spPr>
          <a:xfrm>
            <a:off x="1302306" y="2001322"/>
            <a:ext cx="12025670" cy="2036564"/>
          </a:xfrm>
          <a:prstGeom prst="rect">
            <a:avLst/>
          </a:prstGeom>
          <a:noFill/>
          <a:ln/>
        </p:spPr>
        <p:txBody>
          <a:bodyPr wrap="square" lIns="0" tIns="0" rIns="0" bIns="0" rtlCol="0" anchor="t"/>
          <a:lstStyle/>
          <a:p>
            <a:pPr indent="0" marL="0">
              <a:lnSpc>
                <a:spcPts val="1450"/>
              </a:lnSpc>
              <a:buNone/>
            </a:pPr>
            <a:r>
              <a:rPr lang="en-US" sz="950" dirty="0">
                <a:solidFill>
                  <a:srgbClr val="E2E6E9"/>
                </a:solidFill>
                <a:highlight>
                  <a:srgbClr val="262626"/>
                </a:highlight>
                <a:latin typeface="Consolas" pitchFamily="34" charset="0"/>
                <a:ea typeface="Consolas" pitchFamily="34" charset="-122"/>
                <a:cs typeface="Consolas" pitchFamily="34" charset="-120"/>
              </a:rPr>
              <a:t>use std::fs::File;
use std::io::{self, Read};
fn main() -&gt; io::Result&lt;()&gt; {
    let mut archivo = File::open("archivo.txt")?;
    let mut contenido = String::new();
    archivo.read_to_string(&amp;mut contenido)?;
    println!("Contenido del archivo: {}", contenido);
    Ok(())
}
</a:t>
            </a:r>
            <a:endParaRPr lang="en-US" sz="950" dirty="0"/>
          </a:p>
        </p:txBody>
      </p:sp>
      <p:sp>
        <p:nvSpPr>
          <p:cNvPr id="9" name="Text 7"/>
          <p:cNvSpPr/>
          <p:nvPr/>
        </p:nvSpPr>
        <p:spPr>
          <a:xfrm>
            <a:off x="1185029" y="4269224"/>
            <a:ext cx="12260223" cy="185142"/>
          </a:xfrm>
          <a:prstGeom prst="rect">
            <a:avLst/>
          </a:prstGeom>
          <a:noFill/>
          <a:ln/>
        </p:spPr>
        <p:txBody>
          <a:bodyPr wrap="none" lIns="0" tIns="0" rIns="0" bIns="0" rtlCol="0" anchor="t"/>
          <a:lstStyle/>
          <a:p>
            <a:pPr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En este código, File::open y read_to_string son envolturas sobre llamadas al sistema que permiten acceder al sistema de archivos.</a:t>
            </a:r>
            <a:endParaRPr lang="en-US" sz="950" dirty="0"/>
          </a:p>
        </p:txBody>
      </p:sp>
      <p:pic>
        <p:nvPicPr>
          <p:cNvPr id="10" name="Image 0" descr="preencoded.png">    </p:cNvPr>
          <p:cNvPicPr>
            <a:picLocks noChangeAspect="1"/>
          </p:cNvPicPr>
          <p:nvPr/>
        </p:nvPicPr>
        <p:blipFill>
          <a:blip r:embed="rId1"/>
          <a:stretch>
            <a:fillRect/>
          </a:stretch>
        </p:blipFill>
        <p:spPr>
          <a:xfrm>
            <a:off x="1185029" y="4593193"/>
            <a:ext cx="617220" cy="987504"/>
          </a:xfrm>
          <a:prstGeom prst="rect">
            <a:avLst/>
          </a:prstGeom>
        </p:spPr>
      </p:pic>
      <p:sp>
        <p:nvSpPr>
          <p:cNvPr id="11" name="Text 8"/>
          <p:cNvSpPr/>
          <p:nvPr/>
        </p:nvSpPr>
        <p:spPr>
          <a:xfrm>
            <a:off x="1987391" y="4716542"/>
            <a:ext cx="1442323" cy="175260"/>
          </a:xfrm>
          <a:prstGeom prst="rect">
            <a:avLst/>
          </a:prstGeom>
          <a:noFill/>
          <a:ln/>
        </p:spPr>
        <p:txBody>
          <a:bodyPr wrap="none" lIns="0" tIns="0" rIns="0" bIns="0" rtlCol="0" anchor="t"/>
          <a:lstStyle/>
          <a:p>
            <a:pPr algn="l" indent="0" marL="0">
              <a:lnSpc>
                <a:spcPts val="1350"/>
              </a:lnSpc>
              <a:buNone/>
            </a:pPr>
            <a:r>
              <a:rPr lang="en-US" sz="1100" b="1" spc="-11" kern="0" dirty="0">
                <a:solidFill>
                  <a:srgbClr val="E2E6E9"/>
                </a:solidFill>
                <a:latin typeface="Montserrat Bold" pitchFamily="34" charset="0"/>
                <a:ea typeface="Montserrat Bold" pitchFamily="34" charset="-122"/>
                <a:cs typeface="Montserrat Bold" pitchFamily="34" charset="-120"/>
              </a:rPr>
              <a:t>Solicitud de Usuario</a:t>
            </a:r>
            <a:endParaRPr lang="en-US" sz="1100" dirty="0"/>
          </a:p>
        </p:txBody>
      </p:sp>
      <p:sp>
        <p:nvSpPr>
          <p:cNvPr id="12" name="Text 9"/>
          <p:cNvSpPr/>
          <p:nvPr/>
        </p:nvSpPr>
        <p:spPr>
          <a:xfrm>
            <a:off x="1987391" y="4965859"/>
            <a:ext cx="11457861" cy="185142"/>
          </a:xfrm>
          <a:prstGeom prst="rect">
            <a:avLst/>
          </a:prstGeom>
          <a:noFill/>
          <a:ln/>
        </p:spPr>
        <p:txBody>
          <a:bodyPr wrap="none" lIns="0" tIns="0" rIns="0" bIns="0" rtlCol="0" anchor="t"/>
          <a:lstStyle/>
          <a:p>
            <a:pPr algn="l"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El programa de usuario realiza una solicitud de servicio al sistema operativo.</a:t>
            </a:r>
            <a:endParaRPr lang="en-US" sz="950" dirty="0"/>
          </a:p>
        </p:txBody>
      </p:sp>
      <p:pic>
        <p:nvPicPr>
          <p:cNvPr id="13" name="Image 1" descr="preencoded.png">    </p:cNvPr>
          <p:cNvPicPr>
            <a:picLocks noChangeAspect="1"/>
          </p:cNvPicPr>
          <p:nvPr/>
        </p:nvPicPr>
        <p:blipFill>
          <a:blip r:embed="rId2"/>
          <a:stretch>
            <a:fillRect/>
          </a:stretch>
        </p:blipFill>
        <p:spPr>
          <a:xfrm>
            <a:off x="1185029" y="5580698"/>
            <a:ext cx="617220" cy="987504"/>
          </a:xfrm>
          <a:prstGeom prst="rect">
            <a:avLst/>
          </a:prstGeom>
        </p:spPr>
      </p:pic>
      <p:sp>
        <p:nvSpPr>
          <p:cNvPr id="14" name="Text 10"/>
          <p:cNvSpPr/>
          <p:nvPr/>
        </p:nvSpPr>
        <p:spPr>
          <a:xfrm>
            <a:off x="1987391" y="5704046"/>
            <a:ext cx="1402675" cy="175260"/>
          </a:xfrm>
          <a:prstGeom prst="rect">
            <a:avLst/>
          </a:prstGeom>
          <a:noFill/>
          <a:ln/>
        </p:spPr>
        <p:txBody>
          <a:bodyPr wrap="none" lIns="0" tIns="0" rIns="0" bIns="0" rtlCol="0" anchor="t"/>
          <a:lstStyle/>
          <a:p>
            <a:pPr algn="l" indent="0" marL="0">
              <a:lnSpc>
                <a:spcPts val="1350"/>
              </a:lnSpc>
              <a:buNone/>
            </a:pPr>
            <a:r>
              <a:rPr lang="en-US" sz="1100" b="1" spc="-11" kern="0" dirty="0">
                <a:solidFill>
                  <a:srgbClr val="E2E6E9"/>
                </a:solidFill>
                <a:latin typeface="Montserrat Bold" pitchFamily="34" charset="0"/>
                <a:ea typeface="Montserrat Bold" pitchFamily="34" charset="-122"/>
                <a:cs typeface="Montserrat Bold" pitchFamily="34" charset="-120"/>
              </a:rPr>
              <a:t>System Call</a:t>
            </a:r>
            <a:endParaRPr lang="en-US" sz="1100" dirty="0"/>
          </a:p>
        </p:txBody>
      </p:sp>
      <p:sp>
        <p:nvSpPr>
          <p:cNvPr id="15" name="Text 11"/>
          <p:cNvSpPr/>
          <p:nvPr/>
        </p:nvSpPr>
        <p:spPr>
          <a:xfrm>
            <a:off x="1987391" y="5953363"/>
            <a:ext cx="11457861" cy="185142"/>
          </a:xfrm>
          <a:prstGeom prst="rect">
            <a:avLst/>
          </a:prstGeom>
          <a:noFill/>
          <a:ln/>
        </p:spPr>
        <p:txBody>
          <a:bodyPr wrap="none" lIns="0" tIns="0" rIns="0" bIns="0" rtlCol="0" anchor="t"/>
          <a:lstStyle/>
          <a:p>
            <a:pPr algn="l"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Se invoca la llamada al sistema correspondiente, que actúa como interfaz entre el programa y el kernel.</a:t>
            </a:r>
            <a:endParaRPr lang="en-US" sz="950" dirty="0"/>
          </a:p>
        </p:txBody>
      </p:sp>
      <p:pic>
        <p:nvPicPr>
          <p:cNvPr id="16" name="Image 2" descr="preencoded.png">    </p:cNvPr>
          <p:cNvPicPr>
            <a:picLocks noChangeAspect="1"/>
          </p:cNvPicPr>
          <p:nvPr/>
        </p:nvPicPr>
        <p:blipFill>
          <a:blip r:embed="rId3"/>
          <a:stretch>
            <a:fillRect/>
          </a:stretch>
        </p:blipFill>
        <p:spPr>
          <a:xfrm>
            <a:off x="1185029" y="6568202"/>
            <a:ext cx="617220" cy="987504"/>
          </a:xfrm>
          <a:prstGeom prst="rect">
            <a:avLst/>
          </a:prstGeom>
        </p:spPr>
      </p:pic>
      <p:sp>
        <p:nvSpPr>
          <p:cNvPr id="17" name="Text 12"/>
          <p:cNvSpPr/>
          <p:nvPr/>
        </p:nvSpPr>
        <p:spPr>
          <a:xfrm>
            <a:off x="1987391" y="6691551"/>
            <a:ext cx="1473398" cy="175260"/>
          </a:xfrm>
          <a:prstGeom prst="rect">
            <a:avLst/>
          </a:prstGeom>
          <a:noFill/>
          <a:ln/>
        </p:spPr>
        <p:txBody>
          <a:bodyPr wrap="none" lIns="0" tIns="0" rIns="0" bIns="0" rtlCol="0" anchor="t"/>
          <a:lstStyle/>
          <a:p>
            <a:pPr algn="l" indent="0" marL="0">
              <a:lnSpc>
                <a:spcPts val="1350"/>
              </a:lnSpc>
              <a:buNone/>
            </a:pPr>
            <a:r>
              <a:rPr lang="en-US" sz="1100" b="1" spc="-11" kern="0" dirty="0">
                <a:solidFill>
                  <a:srgbClr val="E2E6E9"/>
                </a:solidFill>
                <a:latin typeface="Montserrat Bold" pitchFamily="34" charset="0"/>
                <a:ea typeface="Montserrat Bold" pitchFamily="34" charset="-122"/>
                <a:cs typeface="Montserrat Bold" pitchFamily="34" charset="-120"/>
              </a:rPr>
              <a:t>Ejecución del Kernel</a:t>
            </a:r>
            <a:endParaRPr lang="en-US" sz="1100" dirty="0"/>
          </a:p>
        </p:txBody>
      </p:sp>
      <p:sp>
        <p:nvSpPr>
          <p:cNvPr id="18" name="Text 13"/>
          <p:cNvSpPr/>
          <p:nvPr/>
        </p:nvSpPr>
        <p:spPr>
          <a:xfrm>
            <a:off x="1987391" y="6940868"/>
            <a:ext cx="11457861" cy="185142"/>
          </a:xfrm>
          <a:prstGeom prst="rect">
            <a:avLst/>
          </a:prstGeom>
          <a:noFill/>
          <a:ln/>
        </p:spPr>
        <p:txBody>
          <a:bodyPr wrap="none" lIns="0" tIns="0" rIns="0" bIns="0" rtlCol="0" anchor="t"/>
          <a:lstStyle/>
          <a:p>
            <a:pPr algn="l"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El kernel procesa la solicitud, interactuando con el hardware si es necesario.</a:t>
            </a:r>
            <a:endParaRPr lang="en-US" sz="950" dirty="0"/>
          </a:p>
        </p:txBody>
      </p:sp>
      <p:pic>
        <p:nvPicPr>
          <p:cNvPr id="19" name="Image 3" descr="preencoded.png">    </p:cNvPr>
          <p:cNvPicPr>
            <a:picLocks noChangeAspect="1"/>
          </p:cNvPicPr>
          <p:nvPr/>
        </p:nvPicPr>
        <p:blipFill>
          <a:blip r:embed="rId4"/>
          <a:stretch>
            <a:fillRect/>
          </a:stretch>
        </p:blipFill>
        <p:spPr>
          <a:xfrm>
            <a:off x="1185029" y="7555706"/>
            <a:ext cx="617220" cy="987504"/>
          </a:xfrm>
          <a:prstGeom prst="rect">
            <a:avLst/>
          </a:prstGeom>
        </p:spPr>
      </p:pic>
      <p:sp>
        <p:nvSpPr>
          <p:cNvPr id="20" name="Text 14"/>
          <p:cNvSpPr/>
          <p:nvPr/>
        </p:nvSpPr>
        <p:spPr>
          <a:xfrm>
            <a:off x="1987391" y="7679055"/>
            <a:ext cx="1402675" cy="175260"/>
          </a:xfrm>
          <a:prstGeom prst="rect">
            <a:avLst/>
          </a:prstGeom>
          <a:noFill/>
          <a:ln/>
        </p:spPr>
        <p:txBody>
          <a:bodyPr wrap="none" lIns="0" tIns="0" rIns="0" bIns="0" rtlCol="0" anchor="t"/>
          <a:lstStyle/>
          <a:p>
            <a:pPr algn="l" indent="0" marL="0">
              <a:lnSpc>
                <a:spcPts val="1350"/>
              </a:lnSpc>
              <a:buNone/>
            </a:pPr>
            <a:r>
              <a:rPr lang="en-US" sz="1100" b="1" spc="-11" kern="0" dirty="0">
                <a:solidFill>
                  <a:srgbClr val="E2E6E9"/>
                </a:solidFill>
                <a:latin typeface="Montserrat Bold" pitchFamily="34" charset="0"/>
                <a:ea typeface="Montserrat Bold" pitchFamily="34" charset="-122"/>
                <a:cs typeface="Montserrat Bold" pitchFamily="34" charset="-120"/>
              </a:rPr>
              <a:t>Retorno al Usuario</a:t>
            </a:r>
            <a:endParaRPr lang="en-US" sz="1100" dirty="0"/>
          </a:p>
        </p:txBody>
      </p:sp>
      <p:sp>
        <p:nvSpPr>
          <p:cNvPr id="21" name="Text 15"/>
          <p:cNvSpPr/>
          <p:nvPr/>
        </p:nvSpPr>
        <p:spPr>
          <a:xfrm>
            <a:off x="1987391" y="7928372"/>
            <a:ext cx="11457861" cy="185142"/>
          </a:xfrm>
          <a:prstGeom prst="rect">
            <a:avLst/>
          </a:prstGeom>
          <a:noFill/>
          <a:ln/>
        </p:spPr>
        <p:txBody>
          <a:bodyPr wrap="none" lIns="0" tIns="0" rIns="0" bIns="0" rtlCol="0" anchor="t"/>
          <a:lstStyle/>
          <a:p>
            <a:pPr algn="l" indent="0" marL="0">
              <a:lnSpc>
                <a:spcPts val="1450"/>
              </a:lnSpc>
              <a:buNone/>
            </a:pPr>
            <a:r>
              <a:rPr lang="en-US" sz="950" dirty="0">
                <a:solidFill>
                  <a:srgbClr val="E2E6E9"/>
                </a:solidFill>
                <a:latin typeface="Source Sans Pro" pitchFamily="34" charset="0"/>
                <a:ea typeface="Source Sans Pro" pitchFamily="34" charset="-122"/>
                <a:cs typeface="Source Sans Pro" pitchFamily="34" charset="-120"/>
              </a:rPr>
              <a:t>El control vuelve al programa de usuario con el resultado de la operación.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85029" y="1212175"/>
            <a:ext cx="8101727" cy="701397"/>
          </a:xfrm>
          <a:prstGeom prst="rect">
            <a:avLst/>
          </a:prstGeom>
          <a:noFill/>
          <a:ln/>
        </p:spPr>
        <p:txBody>
          <a:bodyPr wrap="none" lIns="0" tIns="0" rIns="0" bIns="0" rtlCol="0" anchor="t"/>
          <a:lstStyle/>
          <a:p>
            <a:pPr indent="0" marL="0">
              <a:lnSpc>
                <a:spcPts val="5500"/>
              </a:lnSpc>
              <a:buNone/>
            </a:pPr>
            <a:r>
              <a:rPr lang="en-US" sz="4400" b="1" spc="-44" kern="0" dirty="0">
                <a:solidFill>
                  <a:srgbClr val="FFFFFF"/>
                </a:solidFill>
                <a:latin typeface="Montserrat Bold" pitchFamily="34" charset="0"/>
                <a:ea typeface="Montserrat Bold" pitchFamily="34" charset="-122"/>
                <a:cs typeface="Montserrat Bold" pitchFamily="34" charset="-120"/>
              </a:rPr>
              <a:t>Process Control Block (PCB)</a:t>
            </a:r>
            <a:endParaRPr lang="en-US" sz="4400" dirty="0"/>
          </a:p>
        </p:txBody>
      </p:sp>
      <p:sp>
        <p:nvSpPr>
          <p:cNvPr id="3" name="Text 1"/>
          <p:cNvSpPr/>
          <p:nvPr/>
        </p:nvSpPr>
        <p:spPr>
          <a:xfrm>
            <a:off x="1185029" y="2407325"/>
            <a:ext cx="12260223" cy="1111210"/>
          </a:xfrm>
          <a:prstGeom prst="rect">
            <a:avLst/>
          </a:prstGeom>
          <a:noFill/>
          <a:ln/>
        </p:spPr>
        <p:txBody>
          <a:bodyPr wrap="square" lIns="0" tIns="0" rIns="0" bIns="0" rtlCol="0" anchor="t"/>
          <a:lstStyle/>
          <a:p>
            <a:pPr indent="0" marL="0">
              <a:lnSpc>
                <a:spcPts val="2900"/>
              </a:lnSpc>
              <a:buNone/>
            </a:pPr>
            <a:r>
              <a:rPr lang="en-US" sz="1900" dirty="0">
                <a:solidFill>
                  <a:srgbClr val="E2E6E9"/>
                </a:solidFill>
                <a:latin typeface="Source Sans Pro" pitchFamily="34" charset="0"/>
                <a:ea typeface="Source Sans Pro" pitchFamily="34" charset="-122"/>
                <a:cs typeface="Source Sans Pro" pitchFamily="34" charset="-120"/>
              </a:rPr>
              <a:t>El Process Control Block (PCB) es una estructura de datos que el sistema operativo utiliza para mantener información sobre un proceso. Esta información incluye el estado del proceso, los registros de CPU, los límites de memoria, y la información de manejo de recursos.</a:t>
            </a:r>
            <a:endParaRPr lang="en-US" sz="1900" dirty="0"/>
          </a:p>
        </p:txBody>
      </p:sp>
      <p:sp>
        <p:nvSpPr>
          <p:cNvPr id="4" name="Text 2"/>
          <p:cNvSpPr/>
          <p:nvPr/>
        </p:nvSpPr>
        <p:spPr>
          <a:xfrm>
            <a:off x="1185029" y="3888819"/>
            <a:ext cx="5314117" cy="561023"/>
          </a:xfrm>
          <a:prstGeom prst="rect">
            <a:avLst/>
          </a:prstGeom>
          <a:noFill/>
          <a:ln/>
        </p:spPr>
        <p:txBody>
          <a:bodyPr wrap="none" lIns="0" tIns="0" rIns="0" bIns="0" rtlCol="0" anchor="t"/>
          <a:lstStyle/>
          <a:p>
            <a:pPr indent="0" marL="0">
              <a:lnSpc>
                <a:spcPts val="4400"/>
              </a:lnSpc>
              <a:buNone/>
            </a:pPr>
            <a:r>
              <a:rPr lang="en-US" sz="3500" b="1" spc="-35" kern="0" dirty="0">
                <a:solidFill>
                  <a:srgbClr val="FFFFFF"/>
                </a:solidFill>
                <a:latin typeface="Montserrat Bold" pitchFamily="34" charset="0"/>
                <a:ea typeface="Montserrat Bold" pitchFamily="34" charset="-122"/>
                <a:cs typeface="Montserrat Bold" pitchFamily="34" charset="-120"/>
              </a:rPr>
              <a:t>Componentes del PCB:</a:t>
            </a:r>
            <a:endParaRPr lang="en-US" sz="3500" dirty="0"/>
          </a:p>
        </p:txBody>
      </p:sp>
      <p:sp>
        <p:nvSpPr>
          <p:cNvPr id="5" name="Text 3"/>
          <p:cNvSpPr/>
          <p:nvPr/>
        </p:nvSpPr>
        <p:spPr>
          <a:xfrm>
            <a:off x="1185029" y="4820126"/>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Estado del Proceso: Puede ser en ejecución, listo, bloqueado, etc.</a:t>
            </a:r>
            <a:endParaRPr lang="en-US" sz="1900" dirty="0"/>
          </a:p>
        </p:txBody>
      </p:sp>
      <p:sp>
        <p:nvSpPr>
          <p:cNvPr id="6" name="Text 4"/>
          <p:cNvSpPr/>
          <p:nvPr/>
        </p:nvSpPr>
        <p:spPr>
          <a:xfrm>
            <a:off x="1185029" y="5276850"/>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Identificación: PID (Process ID), que es único para cada proceso.</a:t>
            </a:r>
            <a:endParaRPr lang="en-US" sz="1900" dirty="0"/>
          </a:p>
        </p:txBody>
      </p:sp>
      <p:sp>
        <p:nvSpPr>
          <p:cNvPr id="7" name="Text 5"/>
          <p:cNvSpPr/>
          <p:nvPr/>
        </p:nvSpPr>
        <p:spPr>
          <a:xfrm>
            <a:off x="1185029" y="5733574"/>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Contador de Programa: Dirección de la próxima instrucción que debe ejecutarse.</a:t>
            </a:r>
            <a:endParaRPr lang="en-US" sz="1900" dirty="0"/>
          </a:p>
        </p:txBody>
      </p:sp>
      <p:sp>
        <p:nvSpPr>
          <p:cNvPr id="8" name="Text 6"/>
          <p:cNvSpPr/>
          <p:nvPr/>
        </p:nvSpPr>
        <p:spPr>
          <a:xfrm>
            <a:off x="1185029" y="6190298"/>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Registros de CPU: Información sobre el estado del procesador en el momento en que el proceso fue interrumpido.</a:t>
            </a:r>
            <a:endParaRPr lang="en-US" sz="1900" dirty="0"/>
          </a:p>
        </p:txBody>
      </p:sp>
      <p:sp>
        <p:nvSpPr>
          <p:cNvPr id="9" name="Text 7"/>
          <p:cNvSpPr/>
          <p:nvPr/>
        </p:nvSpPr>
        <p:spPr>
          <a:xfrm>
            <a:off x="1185029" y="6647021"/>
            <a:ext cx="12260223" cy="370403"/>
          </a:xfrm>
          <a:prstGeom prst="rect">
            <a:avLst/>
          </a:prstGeom>
          <a:noFill/>
          <a:ln/>
        </p:spPr>
        <p:txBody>
          <a:bodyPr wrap="none" lIns="0" tIns="0" rIns="0" bIns="0" rtlCol="0" anchor="t"/>
          <a:lstStyle/>
          <a:p>
            <a:pPr algn="l" marL="342900" indent="-342900">
              <a:lnSpc>
                <a:spcPts val="2900"/>
              </a:lnSpc>
              <a:buSzPct val="100000"/>
              <a:buChar char="•"/>
            </a:pPr>
            <a:r>
              <a:rPr lang="en-US" sz="1900" dirty="0">
                <a:solidFill>
                  <a:srgbClr val="E2E6E9"/>
                </a:solidFill>
                <a:latin typeface="Source Sans Pro" pitchFamily="34" charset="0"/>
                <a:ea typeface="Source Sans Pro" pitchFamily="34" charset="-122"/>
                <a:cs typeface="Source Sans Pro" pitchFamily="34" charset="-120"/>
              </a:rPr>
              <a:t>Información de Memoria: Límites de memoria y punteros a la tabla de páginas.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185029" y="658535"/>
            <a:ext cx="11524417" cy="679371"/>
          </a:xfrm>
          <a:prstGeom prst="rect">
            <a:avLst/>
          </a:prstGeom>
          <a:noFill/>
          <a:ln/>
        </p:spPr>
        <p:txBody>
          <a:bodyPr wrap="none" lIns="0" tIns="0" rIns="0" bIns="0" rtlCol="0" anchor="t"/>
          <a:lstStyle/>
          <a:p>
            <a:pPr indent="0" marL="0">
              <a:lnSpc>
                <a:spcPts val="5300"/>
              </a:lnSpc>
              <a:buNone/>
            </a:pPr>
            <a:r>
              <a:rPr lang="en-US" sz="4250" b="1" spc="-43" kern="0" dirty="0">
                <a:solidFill>
                  <a:srgbClr val="FFFFFF"/>
                </a:solidFill>
                <a:latin typeface="Montserrat Bold" pitchFamily="34" charset="0"/>
                <a:ea typeface="Montserrat Bold" pitchFamily="34" charset="-122"/>
                <a:cs typeface="Montserrat Bold" pitchFamily="34" charset="-120"/>
              </a:rPr>
              <a:t>Ejemplo de PCB en un Sistema Operativo</a:t>
            </a:r>
            <a:endParaRPr lang="en-US" sz="4250" dirty="0"/>
          </a:p>
        </p:txBody>
      </p:sp>
      <p:sp>
        <p:nvSpPr>
          <p:cNvPr id="3" name="Text 1"/>
          <p:cNvSpPr/>
          <p:nvPr/>
        </p:nvSpPr>
        <p:spPr>
          <a:xfrm>
            <a:off x="1185029" y="1816179"/>
            <a:ext cx="12260223" cy="1076206"/>
          </a:xfrm>
          <a:prstGeom prst="rect">
            <a:avLst/>
          </a:prstGeom>
          <a:noFill/>
          <a:ln/>
        </p:spPr>
        <p:txBody>
          <a:bodyPr wrap="square" lIns="0" tIns="0" rIns="0" bIns="0" rtlCol="0" anchor="t"/>
          <a:lstStyle/>
          <a:p>
            <a:pP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Cuando se crea un nuevo proceso, el sistema operativo inicializa un PCB para ese proceso y lo inserta en la tabla de procesos. A medida que el proceso se ejecuta y es interrumpido, el sistema operativo actualiza el PCB correspondiente para reflejar su estado actual.</a:t>
            </a:r>
            <a:endParaRPr lang="en-US" sz="1850" dirty="0"/>
          </a:p>
        </p:txBody>
      </p:sp>
      <p:sp>
        <p:nvSpPr>
          <p:cNvPr id="4" name="Shape 2"/>
          <p:cNvSpPr/>
          <p:nvPr/>
        </p:nvSpPr>
        <p:spPr>
          <a:xfrm>
            <a:off x="1185029" y="3519964"/>
            <a:ext cx="12260223" cy="30480"/>
          </a:xfrm>
          <a:prstGeom prst="roundRect">
            <a:avLst>
              <a:gd name="adj" fmla="val 117686"/>
            </a:avLst>
          </a:prstGeom>
          <a:solidFill>
            <a:srgbClr val="494A4B"/>
          </a:solidFill>
          <a:ln/>
        </p:spPr>
      </p:sp>
      <p:sp>
        <p:nvSpPr>
          <p:cNvPr id="5" name="Shape 3"/>
          <p:cNvSpPr/>
          <p:nvPr/>
        </p:nvSpPr>
        <p:spPr>
          <a:xfrm>
            <a:off x="2612469" y="3519904"/>
            <a:ext cx="30480" cy="836890"/>
          </a:xfrm>
          <a:prstGeom prst="roundRect">
            <a:avLst>
              <a:gd name="adj" fmla="val 117686"/>
            </a:avLst>
          </a:prstGeom>
          <a:solidFill>
            <a:srgbClr val="494A4B"/>
          </a:solidFill>
          <a:ln/>
        </p:spPr>
      </p:sp>
      <p:sp>
        <p:nvSpPr>
          <p:cNvPr id="6" name="Shape 4"/>
          <p:cNvSpPr/>
          <p:nvPr/>
        </p:nvSpPr>
        <p:spPr>
          <a:xfrm>
            <a:off x="2358747" y="3250942"/>
            <a:ext cx="538043" cy="538043"/>
          </a:xfrm>
          <a:prstGeom prst="roundRect">
            <a:avLst>
              <a:gd name="adj" fmla="val 6667"/>
            </a:avLst>
          </a:prstGeom>
          <a:solidFill>
            <a:srgbClr val="303132"/>
          </a:solidFill>
          <a:ln/>
        </p:spPr>
      </p:sp>
      <p:sp>
        <p:nvSpPr>
          <p:cNvPr id="7" name="Text 5"/>
          <p:cNvSpPr/>
          <p:nvPr/>
        </p:nvSpPr>
        <p:spPr>
          <a:xfrm>
            <a:off x="2565440" y="3356908"/>
            <a:ext cx="124539" cy="326112"/>
          </a:xfrm>
          <a:prstGeom prst="rect">
            <a:avLst/>
          </a:prstGeom>
          <a:noFill/>
          <a:ln/>
        </p:spPr>
        <p:txBody>
          <a:bodyPr wrap="none" lIns="0" tIns="0" rIns="0" bIns="0" rtlCol="0" anchor="t"/>
          <a:lstStyle/>
          <a:p>
            <a:pPr algn="ctr" indent="0" marL="0">
              <a:lnSpc>
                <a:spcPts val="2550"/>
              </a:lnSpc>
              <a:buNone/>
            </a:pPr>
            <a:r>
              <a:rPr lang="en-US" sz="2550" b="1" spc="-26" kern="0" dirty="0">
                <a:solidFill>
                  <a:srgbClr val="E2E6E9"/>
                </a:solidFill>
                <a:latin typeface="Montserrat Bold" pitchFamily="34" charset="0"/>
                <a:ea typeface="Montserrat Bold" pitchFamily="34" charset="-122"/>
                <a:cs typeface="Montserrat Bold" pitchFamily="34" charset="-120"/>
              </a:rPr>
              <a:t>1</a:t>
            </a:r>
            <a:endParaRPr lang="en-US" sz="2550" dirty="0"/>
          </a:p>
        </p:txBody>
      </p:sp>
      <p:sp>
        <p:nvSpPr>
          <p:cNvPr id="8" name="Text 6"/>
          <p:cNvSpPr/>
          <p:nvPr/>
        </p:nvSpPr>
        <p:spPr>
          <a:xfrm>
            <a:off x="1424107" y="4596051"/>
            <a:ext cx="2407563" cy="679133"/>
          </a:xfrm>
          <a:prstGeom prst="rect">
            <a:avLst/>
          </a:prstGeom>
          <a:noFill/>
          <a:ln/>
        </p:spPr>
        <p:txBody>
          <a:bodyPr wrap="square" lIns="0" tIns="0" rIns="0" bIns="0" rtlCol="0" anchor="t"/>
          <a:lstStyle/>
          <a:p>
            <a:pPr algn="ctr" indent="0" marL="0">
              <a:lnSpc>
                <a:spcPts val="2650"/>
              </a:lnSpc>
              <a:buNone/>
            </a:pPr>
            <a:r>
              <a:rPr lang="en-US" sz="2100" b="1" spc="-21" kern="0" dirty="0">
                <a:solidFill>
                  <a:srgbClr val="E2E6E9"/>
                </a:solidFill>
                <a:latin typeface="Montserrat Bold" pitchFamily="34" charset="0"/>
                <a:ea typeface="Montserrat Bold" pitchFamily="34" charset="-122"/>
                <a:cs typeface="Montserrat Bold" pitchFamily="34" charset="-120"/>
              </a:rPr>
              <a:t>Creación del Proceso</a:t>
            </a:r>
            <a:endParaRPr lang="en-US" sz="2100" dirty="0"/>
          </a:p>
        </p:txBody>
      </p:sp>
      <p:sp>
        <p:nvSpPr>
          <p:cNvPr id="9" name="Text 7"/>
          <p:cNvSpPr/>
          <p:nvPr/>
        </p:nvSpPr>
        <p:spPr>
          <a:xfrm>
            <a:off x="1424107" y="5418653"/>
            <a:ext cx="2407563" cy="1793677"/>
          </a:xfrm>
          <a:prstGeom prst="rect">
            <a:avLst/>
          </a:prstGeom>
          <a:noFill/>
          <a:ln/>
        </p:spPr>
        <p:txBody>
          <a:bodyPr wrap="square" lIns="0" tIns="0" rIns="0" bIns="0" rtlCol="0" anchor="t"/>
          <a:lstStyle/>
          <a:p>
            <a:pPr algn="ct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El sistema operativo crea un nuevo PCB y lo inicializa con la información del proceso recién creado.</a:t>
            </a:r>
            <a:endParaRPr lang="en-US" sz="1850" dirty="0"/>
          </a:p>
        </p:txBody>
      </p:sp>
      <p:sp>
        <p:nvSpPr>
          <p:cNvPr id="10" name="Shape 8"/>
          <p:cNvSpPr/>
          <p:nvPr/>
        </p:nvSpPr>
        <p:spPr>
          <a:xfrm>
            <a:off x="5737265" y="3519904"/>
            <a:ext cx="30480" cy="836890"/>
          </a:xfrm>
          <a:prstGeom prst="roundRect">
            <a:avLst>
              <a:gd name="adj" fmla="val 117686"/>
            </a:avLst>
          </a:prstGeom>
          <a:solidFill>
            <a:srgbClr val="494A4B"/>
          </a:solidFill>
          <a:ln/>
        </p:spPr>
      </p:sp>
      <p:sp>
        <p:nvSpPr>
          <p:cNvPr id="11" name="Shape 9"/>
          <p:cNvSpPr/>
          <p:nvPr/>
        </p:nvSpPr>
        <p:spPr>
          <a:xfrm>
            <a:off x="5483543" y="3250942"/>
            <a:ext cx="538043" cy="538043"/>
          </a:xfrm>
          <a:prstGeom prst="roundRect">
            <a:avLst>
              <a:gd name="adj" fmla="val 6667"/>
            </a:avLst>
          </a:prstGeom>
          <a:solidFill>
            <a:srgbClr val="303132"/>
          </a:solidFill>
          <a:ln/>
        </p:spPr>
      </p:sp>
      <p:sp>
        <p:nvSpPr>
          <p:cNvPr id="12" name="Text 10"/>
          <p:cNvSpPr/>
          <p:nvPr/>
        </p:nvSpPr>
        <p:spPr>
          <a:xfrm>
            <a:off x="5657969" y="3356908"/>
            <a:ext cx="189190" cy="326112"/>
          </a:xfrm>
          <a:prstGeom prst="rect">
            <a:avLst/>
          </a:prstGeom>
          <a:noFill/>
          <a:ln/>
        </p:spPr>
        <p:txBody>
          <a:bodyPr wrap="none" lIns="0" tIns="0" rIns="0" bIns="0" rtlCol="0" anchor="t"/>
          <a:lstStyle/>
          <a:p>
            <a:pPr algn="ctr" indent="0" marL="0">
              <a:lnSpc>
                <a:spcPts val="2550"/>
              </a:lnSpc>
              <a:buNone/>
            </a:pPr>
            <a:r>
              <a:rPr lang="en-US" sz="2550" b="1" spc="-26" kern="0" dirty="0">
                <a:solidFill>
                  <a:srgbClr val="E2E6E9"/>
                </a:solidFill>
                <a:latin typeface="Montserrat Bold" pitchFamily="34" charset="0"/>
                <a:ea typeface="Montserrat Bold" pitchFamily="34" charset="-122"/>
                <a:cs typeface="Montserrat Bold" pitchFamily="34" charset="-120"/>
              </a:rPr>
              <a:t>2</a:t>
            </a:r>
            <a:endParaRPr lang="en-US" sz="2550" dirty="0"/>
          </a:p>
        </p:txBody>
      </p:sp>
      <p:sp>
        <p:nvSpPr>
          <p:cNvPr id="13" name="Text 11"/>
          <p:cNvSpPr/>
          <p:nvPr/>
        </p:nvSpPr>
        <p:spPr>
          <a:xfrm>
            <a:off x="4548902" y="4596051"/>
            <a:ext cx="2407563" cy="679133"/>
          </a:xfrm>
          <a:prstGeom prst="rect">
            <a:avLst/>
          </a:prstGeom>
          <a:noFill/>
          <a:ln/>
        </p:spPr>
        <p:txBody>
          <a:bodyPr wrap="square" lIns="0" tIns="0" rIns="0" bIns="0" rtlCol="0" anchor="t"/>
          <a:lstStyle/>
          <a:p>
            <a:pPr algn="ctr" indent="0" marL="0">
              <a:lnSpc>
                <a:spcPts val="2650"/>
              </a:lnSpc>
              <a:buNone/>
            </a:pPr>
            <a:r>
              <a:rPr lang="en-US" sz="2100" b="1" spc="-21" kern="0" dirty="0">
                <a:solidFill>
                  <a:srgbClr val="E2E6E9"/>
                </a:solidFill>
                <a:latin typeface="Montserrat Bold" pitchFamily="34" charset="0"/>
                <a:ea typeface="Montserrat Bold" pitchFamily="34" charset="-122"/>
                <a:cs typeface="Montserrat Bold" pitchFamily="34" charset="-120"/>
              </a:rPr>
              <a:t>Ejecución del Proceso</a:t>
            </a:r>
            <a:endParaRPr lang="en-US" sz="2100" dirty="0"/>
          </a:p>
        </p:txBody>
      </p:sp>
      <p:sp>
        <p:nvSpPr>
          <p:cNvPr id="14" name="Text 12"/>
          <p:cNvSpPr/>
          <p:nvPr/>
        </p:nvSpPr>
        <p:spPr>
          <a:xfrm>
            <a:off x="4548902" y="5418653"/>
            <a:ext cx="2407563" cy="2152412"/>
          </a:xfrm>
          <a:prstGeom prst="rect">
            <a:avLst/>
          </a:prstGeom>
          <a:noFill/>
          <a:ln/>
        </p:spPr>
        <p:txBody>
          <a:bodyPr wrap="square" lIns="0" tIns="0" rIns="0" bIns="0" rtlCol="0" anchor="t"/>
          <a:lstStyle/>
          <a:p>
            <a:pPr algn="ct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El proceso se ejecuta y el sistema operativo actualiza constantemente el PCB con el estado actual del proceso.</a:t>
            </a:r>
            <a:endParaRPr lang="en-US" sz="1850" dirty="0"/>
          </a:p>
        </p:txBody>
      </p:sp>
      <p:sp>
        <p:nvSpPr>
          <p:cNvPr id="15" name="Shape 13"/>
          <p:cNvSpPr/>
          <p:nvPr/>
        </p:nvSpPr>
        <p:spPr>
          <a:xfrm>
            <a:off x="8862060" y="3519904"/>
            <a:ext cx="30480" cy="836890"/>
          </a:xfrm>
          <a:prstGeom prst="roundRect">
            <a:avLst>
              <a:gd name="adj" fmla="val 117686"/>
            </a:avLst>
          </a:prstGeom>
          <a:solidFill>
            <a:srgbClr val="494A4B"/>
          </a:solidFill>
          <a:ln/>
        </p:spPr>
      </p:sp>
      <p:sp>
        <p:nvSpPr>
          <p:cNvPr id="16" name="Shape 14"/>
          <p:cNvSpPr/>
          <p:nvPr/>
        </p:nvSpPr>
        <p:spPr>
          <a:xfrm>
            <a:off x="8608338" y="3250942"/>
            <a:ext cx="538043" cy="538043"/>
          </a:xfrm>
          <a:prstGeom prst="roundRect">
            <a:avLst>
              <a:gd name="adj" fmla="val 6667"/>
            </a:avLst>
          </a:prstGeom>
          <a:solidFill>
            <a:srgbClr val="303132"/>
          </a:solidFill>
          <a:ln/>
        </p:spPr>
      </p:sp>
      <p:sp>
        <p:nvSpPr>
          <p:cNvPr id="17" name="Text 15"/>
          <p:cNvSpPr/>
          <p:nvPr/>
        </p:nvSpPr>
        <p:spPr>
          <a:xfrm>
            <a:off x="8782407" y="3356908"/>
            <a:ext cx="189786" cy="326112"/>
          </a:xfrm>
          <a:prstGeom prst="rect">
            <a:avLst/>
          </a:prstGeom>
          <a:noFill/>
          <a:ln/>
        </p:spPr>
        <p:txBody>
          <a:bodyPr wrap="none" lIns="0" tIns="0" rIns="0" bIns="0" rtlCol="0" anchor="t"/>
          <a:lstStyle/>
          <a:p>
            <a:pPr algn="ctr" indent="0" marL="0">
              <a:lnSpc>
                <a:spcPts val="2550"/>
              </a:lnSpc>
              <a:buNone/>
            </a:pPr>
            <a:r>
              <a:rPr lang="en-US" sz="2550" b="1" spc="-26" kern="0" dirty="0">
                <a:solidFill>
                  <a:srgbClr val="E2E6E9"/>
                </a:solidFill>
                <a:latin typeface="Montserrat Bold" pitchFamily="34" charset="0"/>
                <a:ea typeface="Montserrat Bold" pitchFamily="34" charset="-122"/>
                <a:cs typeface="Montserrat Bold" pitchFamily="34" charset="-120"/>
              </a:rPr>
              <a:t>3</a:t>
            </a:r>
            <a:endParaRPr lang="en-US" sz="2550" dirty="0"/>
          </a:p>
        </p:txBody>
      </p:sp>
      <p:sp>
        <p:nvSpPr>
          <p:cNvPr id="18" name="Text 16"/>
          <p:cNvSpPr/>
          <p:nvPr/>
        </p:nvSpPr>
        <p:spPr>
          <a:xfrm>
            <a:off x="7673697" y="4596051"/>
            <a:ext cx="2407563" cy="679133"/>
          </a:xfrm>
          <a:prstGeom prst="rect">
            <a:avLst/>
          </a:prstGeom>
          <a:noFill/>
          <a:ln/>
        </p:spPr>
        <p:txBody>
          <a:bodyPr wrap="square" lIns="0" tIns="0" rIns="0" bIns="0" rtlCol="0" anchor="t"/>
          <a:lstStyle/>
          <a:p>
            <a:pPr algn="ctr" indent="0" marL="0">
              <a:lnSpc>
                <a:spcPts val="2650"/>
              </a:lnSpc>
              <a:buNone/>
            </a:pPr>
            <a:r>
              <a:rPr lang="en-US" sz="2100" b="1" spc="-21" kern="0" dirty="0">
                <a:solidFill>
                  <a:srgbClr val="E2E6E9"/>
                </a:solidFill>
                <a:latin typeface="Montserrat Bold" pitchFamily="34" charset="0"/>
                <a:ea typeface="Montserrat Bold" pitchFamily="34" charset="-122"/>
                <a:cs typeface="Montserrat Bold" pitchFamily="34" charset="-120"/>
              </a:rPr>
              <a:t>Interrupción del Proceso</a:t>
            </a:r>
            <a:endParaRPr lang="en-US" sz="2100" dirty="0"/>
          </a:p>
        </p:txBody>
      </p:sp>
      <p:sp>
        <p:nvSpPr>
          <p:cNvPr id="19" name="Text 17"/>
          <p:cNvSpPr/>
          <p:nvPr/>
        </p:nvSpPr>
        <p:spPr>
          <a:xfrm>
            <a:off x="7673697" y="5418653"/>
            <a:ext cx="2407563" cy="1793677"/>
          </a:xfrm>
          <a:prstGeom prst="rect">
            <a:avLst/>
          </a:prstGeom>
          <a:noFill/>
          <a:ln/>
        </p:spPr>
        <p:txBody>
          <a:bodyPr wrap="square" lIns="0" tIns="0" rIns="0" bIns="0" rtlCol="0" anchor="t"/>
          <a:lstStyle/>
          <a:p>
            <a:pPr algn="ct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Cuando el proceso es interrumpido, el sistema operativo guarda el estado actual en el PCB.</a:t>
            </a:r>
            <a:endParaRPr lang="en-US" sz="1850" dirty="0"/>
          </a:p>
        </p:txBody>
      </p:sp>
      <p:sp>
        <p:nvSpPr>
          <p:cNvPr id="20" name="Shape 18"/>
          <p:cNvSpPr/>
          <p:nvPr/>
        </p:nvSpPr>
        <p:spPr>
          <a:xfrm>
            <a:off x="11986974" y="3519904"/>
            <a:ext cx="30480" cy="836890"/>
          </a:xfrm>
          <a:prstGeom prst="roundRect">
            <a:avLst>
              <a:gd name="adj" fmla="val 117686"/>
            </a:avLst>
          </a:prstGeom>
          <a:solidFill>
            <a:srgbClr val="494A4B"/>
          </a:solidFill>
          <a:ln/>
        </p:spPr>
      </p:sp>
      <p:sp>
        <p:nvSpPr>
          <p:cNvPr id="21" name="Shape 19"/>
          <p:cNvSpPr/>
          <p:nvPr/>
        </p:nvSpPr>
        <p:spPr>
          <a:xfrm>
            <a:off x="11733252" y="3250942"/>
            <a:ext cx="538043" cy="538043"/>
          </a:xfrm>
          <a:prstGeom prst="roundRect">
            <a:avLst>
              <a:gd name="adj" fmla="val 6667"/>
            </a:avLst>
          </a:prstGeom>
          <a:solidFill>
            <a:srgbClr val="303132"/>
          </a:solidFill>
          <a:ln/>
        </p:spPr>
      </p:sp>
      <p:sp>
        <p:nvSpPr>
          <p:cNvPr id="22" name="Text 20"/>
          <p:cNvSpPr/>
          <p:nvPr/>
        </p:nvSpPr>
        <p:spPr>
          <a:xfrm>
            <a:off x="11891486" y="3356908"/>
            <a:ext cx="221456" cy="326112"/>
          </a:xfrm>
          <a:prstGeom prst="rect">
            <a:avLst/>
          </a:prstGeom>
          <a:noFill/>
          <a:ln/>
        </p:spPr>
        <p:txBody>
          <a:bodyPr wrap="none" lIns="0" tIns="0" rIns="0" bIns="0" rtlCol="0" anchor="t"/>
          <a:lstStyle/>
          <a:p>
            <a:pPr algn="ctr" indent="0" marL="0">
              <a:lnSpc>
                <a:spcPts val="2550"/>
              </a:lnSpc>
              <a:buNone/>
            </a:pPr>
            <a:r>
              <a:rPr lang="en-US" sz="2550" b="1" spc="-26" kern="0" dirty="0">
                <a:solidFill>
                  <a:srgbClr val="E2E6E9"/>
                </a:solidFill>
                <a:latin typeface="Montserrat Bold" pitchFamily="34" charset="0"/>
                <a:ea typeface="Montserrat Bold" pitchFamily="34" charset="-122"/>
                <a:cs typeface="Montserrat Bold" pitchFamily="34" charset="-120"/>
              </a:rPr>
              <a:t>4</a:t>
            </a:r>
            <a:endParaRPr lang="en-US" sz="2550" dirty="0"/>
          </a:p>
        </p:txBody>
      </p:sp>
      <p:sp>
        <p:nvSpPr>
          <p:cNvPr id="23" name="Text 21"/>
          <p:cNvSpPr/>
          <p:nvPr/>
        </p:nvSpPr>
        <p:spPr>
          <a:xfrm>
            <a:off x="10798493" y="4596051"/>
            <a:ext cx="2407682" cy="679133"/>
          </a:xfrm>
          <a:prstGeom prst="rect">
            <a:avLst/>
          </a:prstGeom>
          <a:noFill/>
          <a:ln/>
        </p:spPr>
        <p:txBody>
          <a:bodyPr wrap="square" lIns="0" tIns="0" rIns="0" bIns="0" rtlCol="0" anchor="t"/>
          <a:lstStyle/>
          <a:p>
            <a:pPr algn="ctr" indent="0" marL="0">
              <a:lnSpc>
                <a:spcPts val="2650"/>
              </a:lnSpc>
              <a:buNone/>
            </a:pPr>
            <a:r>
              <a:rPr lang="en-US" sz="2100" b="1" spc="-21" kern="0" dirty="0">
                <a:solidFill>
                  <a:srgbClr val="E2E6E9"/>
                </a:solidFill>
                <a:latin typeface="Montserrat Bold" pitchFamily="34" charset="0"/>
                <a:ea typeface="Montserrat Bold" pitchFamily="34" charset="-122"/>
                <a:cs typeface="Montserrat Bold" pitchFamily="34" charset="-120"/>
              </a:rPr>
              <a:t>Reanudación del Proceso</a:t>
            </a:r>
            <a:endParaRPr lang="en-US" sz="2100" dirty="0"/>
          </a:p>
        </p:txBody>
      </p:sp>
      <p:sp>
        <p:nvSpPr>
          <p:cNvPr id="24" name="Text 22"/>
          <p:cNvSpPr/>
          <p:nvPr/>
        </p:nvSpPr>
        <p:spPr>
          <a:xfrm>
            <a:off x="10798493" y="5418653"/>
            <a:ext cx="2407682" cy="1793677"/>
          </a:xfrm>
          <a:prstGeom prst="rect">
            <a:avLst/>
          </a:prstGeom>
          <a:noFill/>
          <a:ln/>
        </p:spPr>
        <p:txBody>
          <a:bodyPr wrap="square" lIns="0" tIns="0" rIns="0" bIns="0" rtlCol="0" anchor="t"/>
          <a:lstStyle/>
          <a:p>
            <a:pPr algn="ctr" indent="0" marL="0">
              <a:lnSpc>
                <a:spcPts val="2800"/>
              </a:lnSpc>
              <a:buNone/>
            </a:pPr>
            <a:r>
              <a:rPr lang="en-US" sz="1850" dirty="0">
                <a:solidFill>
                  <a:srgbClr val="E2E6E9"/>
                </a:solidFill>
                <a:latin typeface="Source Sans Pro" pitchFamily="34" charset="0"/>
                <a:ea typeface="Source Sans Pro" pitchFamily="34" charset="-122"/>
                <a:cs typeface="Source Sans Pro" pitchFamily="34" charset="-120"/>
              </a:rPr>
              <a:t>Al reanudar el proceso, el sistema operativo utiliza la información del PCB para restaurar el estado del proceso.</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2024-11-04T20:35:33Z</dcterms:created>
  <dcterms:modified xsi:type="dcterms:W3CDTF">2024-11-04T20:35:33Z</dcterms:modified>
</cp:coreProperties>
</file>