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Montserrat"/>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3" roundtripDataSignature="AMtx7mhpTE5TqAWcFoGk0XyfrustWTDc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DBE46C-6AE4-4E0E-A872-4736807F7143}">
  <a:tblStyle styleId="{F2DBE46C-6AE4-4E0E-A872-4736807F714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F4AE11E-7BD4-4880-83ED-9843F8E1097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Lato-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4.xml"/><Relationship Id="rId33" Type="http://customschemas.google.com/relationships/presentationmetadata" Target="metadata"/><Relationship Id="rId10" Type="http://schemas.openxmlformats.org/officeDocument/2006/relationships/slide" Target="slides/slide3.xml"/><Relationship Id="rId32" Type="http://schemas.openxmlformats.org/officeDocument/2006/relationships/font" Target="fonts/Lato-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4f8d6940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74f8d69407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c6a413e7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5c6a413e71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c6a413e71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5c6a413e7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338785bea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3338785bead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338785bea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338785bead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338785bea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3338785bead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338785bea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3338785bead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338785bea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3338785bead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5c6a413e71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5c6a413e71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5ef6d705a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5ef6d705a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5ef6d705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5ef6d705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5c6a413e71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5c6a413e71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c6a413e71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5c6a413e71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2c83b6bb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32c83b6bb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2"/>
          <p:cNvSpPr/>
          <p:nvPr/>
        </p:nvSpPr>
        <p:spPr>
          <a:xfrm rot="5400000">
            <a:off x="7500300" y="505"/>
            <a:ext cx="1643700" cy="1643700"/>
          </a:xfrm>
          <a:prstGeom prst="diagStripe">
            <a:avLst>
              <a:gd fmla="val 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12"/>
          <p:cNvGrpSpPr/>
          <p:nvPr/>
        </p:nvGrpSpPr>
        <p:grpSpPr>
          <a:xfrm>
            <a:off x="0" y="490"/>
            <a:ext cx="5153705" cy="5134399"/>
            <a:chOff x="0" y="75"/>
            <a:chExt cx="5153705" cy="5152950"/>
          </a:xfrm>
        </p:grpSpPr>
        <p:sp>
          <p:nvSpPr>
            <p:cNvPr id="12" name="Google Shape;12;p12"/>
            <p:cNvSpPr/>
            <p:nvPr/>
          </p:nvSpPr>
          <p:spPr>
            <a:xfrm rot="-5400000">
              <a:off x="455" y="-225"/>
              <a:ext cx="5152800" cy="5153700"/>
            </a:xfrm>
            <a:prstGeom prst="diagStripe">
              <a:avLst>
                <a:gd fmla="val 5000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2"/>
            <p:cNvSpPr/>
            <p:nvPr/>
          </p:nvSpPr>
          <p:spPr>
            <a:xfrm rot="-5400000">
              <a:off x="150" y="1145825"/>
              <a:ext cx="3996600" cy="3996900"/>
            </a:xfrm>
            <a:prstGeom prst="diagStripe">
              <a:avLst>
                <a:gd fmla="val 58774"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12"/>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17" name="Google Shape;17;p12"/>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8" name="Google Shape;1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grpSp>
        <p:nvGrpSpPr>
          <p:cNvPr id="20" name="Google Shape;20;p13"/>
          <p:cNvGrpSpPr/>
          <p:nvPr/>
        </p:nvGrpSpPr>
        <p:grpSpPr>
          <a:xfrm>
            <a:off x="0" y="381001"/>
            <a:ext cx="1037850" cy="1016288"/>
            <a:chOff x="0" y="381001"/>
            <a:chExt cx="1037850" cy="1016288"/>
          </a:xfrm>
        </p:grpSpPr>
        <p:sp>
          <p:nvSpPr>
            <p:cNvPr id="21" name="Google Shape;21;p1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1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4" name="Google Shape;24;p13"/>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 name="Google Shape;2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grpSp>
        <p:nvGrpSpPr>
          <p:cNvPr id="27" name="Google Shape;27;p14"/>
          <p:cNvGrpSpPr/>
          <p:nvPr/>
        </p:nvGrpSpPr>
        <p:grpSpPr>
          <a:xfrm>
            <a:off x="4406400" y="0"/>
            <a:ext cx="4737600" cy="5143065"/>
            <a:chOff x="4406400" y="0"/>
            <a:chExt cx="4737600" cy="5143065"/>
          </a:xfrm>
        </p:grpSpPr>
        <p:sp>
          <p:nvSpPr>
            <p:cNvPr id="28" name="Google Shape;28;p14"/>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4"/>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4"/>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4"/>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4"/>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4"/>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4"/>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4"/>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4"/>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4"/>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4"/>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4"/>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4"/>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4"/>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4"/>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4"/>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14"/>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15"/>
          <p:cNvGrpSpPr/>
          <p:nvPr/>
        </p:nvGrpSpPr>
        <p:grpSpPr>
          <a:xfrm>
            <a:off x="0" y="381001"/>
            <a:ext cx="1037850" cy="1016288"/>
            <a:chOff x="0" y="381001"/>
            <a:chExt cx="1037850" cy="1016288"/>
          </a:xfrm>
        </p:grpSpPr>
        <p:sp>
          <p:nvSpPr>
            <p:cNvPr id="50" name="Google Shape;50;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3" name="Google Shape;53;p15"/>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15"/>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16"/>
          <p:cNvGrpSpPr/>
          <p:nvPr/>
        </p:nvGrpSpPr>
        <p:grpSpPr>
          <a:xfrm>
            <a:off x="0" y="381001"/>
            <a:ext cx="1037850" cy="1016288"/>
            <a:chOff x="0" y="381001"/>
            <a:chExt cx="1037850" cy="1016288"/>
          </a:xfrm>
        </p:grpSpPr>
        <p:sp>
          <p:nvSpPr>
            <p:cNvPr id="58" name="Google Shape;58;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 name="Google Shape;60;p1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1" name="Google Shape;6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17"/>
          <p:cNvGrpSpPr/>
          <p:nvPr/>
        </p:nvGrpSpPr>
        <p:grpSpPr>
          <a:xfrm>
            <a:off x="0" y="381001"/>
            <a:ext cx="1037850" cy="1016288"/>
            <a:chOff x="0" y="381001"/>
            <a:chExt cx="1037850" cy="1016288"/>
          </a:xfrm>
        </p:grpSpPr>
        <p:sp>
          <p:nvSpPr>
            <p:cNvPr id="64" name="Google Shape;64;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17"/>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p17"/>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8" name="Google Shape;6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18"/>
          <p:cNvGrpSpPr/>
          <p:nvPr/>
        </p:nvGrpSpPr>
        <p:grpSpPr>
          <a:xfrm>
            <a:off x="4406400" y="0"/>
            <a:ext cx="4737600" cy="5143500"/>
            <a:chOff x="4406400" y="0"/>
            <a:chExt cx="4737600" cy="5143500"/>
          </a:xfrm>
        </p:grpSpPr>
        <p:sp>
          <p:nvSpPr>
            <p:cNvPr id="71" name="Google Shape;71;p18"/>
            <p:cNvSpPr/>
            <p:nvPr/>
          </p:nvSpPr>
          <p:spPr>
            <a:xfrm rot="5400000">
              <a:off x="4407900" y="-1500"/>
              <a:ext cx="4734600" cy="4737600"/>
            </a:xfrm>
            <a:prstGeom prst="diagStripe">
              <a:avLst>
                <a:gd fmla="val 49469"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8"/>
            <p:cNvSpPr/>
            <p:nvPr/>
          </p:nvSpPr>
          <p:spPr>
            <a:xfrm rot="5400000">
              <a:off x="4840825" y="6000"/>
              <a:ext cx="4298700" cy="4286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8"/>
            <p:cNvSpPr/>
            <p:nvPr/>
          </p:nvSpPr>
          <p:spPr>
            <a:xfrm rot="-5400000">
              <a:off x="5618399" y="1236641"/>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8"/>
            <p:cNvSpPr/>
            <p:nvPr/>
          </p:nvSpPr>
          <p:spPr>
            <a:xfrm flipH="1">
              <a:off x="5849857" y="144407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8"/>
            <p:cNvSpPr/>
            <p:nvPr/>
          </p:nvSpPr>
          <p:spPr>
            <a:xfrm rot="-5400000">
              <a:off x="5987081" y="246974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8"/>
            <p:cNvSpPr/>
            <p:nvPr/>
          </p:nvSpPr>
          <p:spPr>
            <a:xfrm flipH="1">
              <a:off x="6222115" y="2677179"/>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8"/>
            <p:cNvSpPr/>
            <p:nvPr/>
          </p:nvSpPr>
          <p:spPr>
            <a:xfrm rot="-5400000">
              <a:off x="6675341" y="1862244"/>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8"/>
            <p:cNvSpPr/>
            <p:nvPr/>
          </p:nvSpPr>
          <p:spPr>
            <a:xfrm rot="-5400000">
              <a:off x="6861141" y="247808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8"/>
            <p:cNvSpPr/>
            <p:nvPr/>
          </p:nvSpPr>
          <p:spPr>
            <a:xfrm flipH="1">
              <a:off x="7965266" y="2693191"/>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8"/>
            <p:cNvSpPr/>
            <p:nvPr/>
          </p:nvSpPr>
          <p:spPr>
            <a:xfrm flipH="1">
              <a:off x="8145082" y="330903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8"/>
            <p:cNvSpPr/>
            <p:nvPr/>
          </p:nvSpPr>
          <p:spPr>
            <a:xfrm rot="-5400000">
              <a:off x="7047599" y="309534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8"/>
            <p:cNvSpPr/>
            <p:nvPr/>
          </p:nvSpPr>
          <p:spPr>
            <a:xfrm flipH="1">
              <a:off x="7276649" y="3302781"/>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8"/>
            <p:cNvSpPr/>
            <p:nvPr/>
          </p:nvSpPr>
          <p:spPr>
            <a:xfrm flipH="1">
              <a:off x="7462448" y="391862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8"/>
            <p:cNvSpPr/>
            <p:nvPr/>
          </p:nvSpPr>
          <p:spPr>
            <a:xfrm rot="-5400000">
              <a:off x="8102491" y="371885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8"/>
            <p:cNvSpPr/>
            <p:nvPr/>
          </p:nvSpPr>
          <p:spPr>
            <a:xfrm flipH="1">
              <a:off x="8334533" y="3926292"/>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8"/>
            <p:cNvSpPr/>
            <p:nvPr/>
          </p:nvSpPr>
          <p:spPr>
            <a:xfrm rot="-5400000">
              <a:off x="8288290" y="433470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 name="Google Shape;89;p18"/>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19"/>
          <p:cNvGrpSpPr/>
          <p:nvPr/>
        </p:nvGrpSpPr>
        <p:grpSpPr>
          <a:xfrm>
            <a:off x="0" y="381001"/>
            <a:ext cx="1037850" cy="1016288"/>
            <a:chOff x="0" y="381001"/>
            <a:chExt cx="1037850" cy="1016288"/>
          </a:xfrm>
        </p:grpSpPr>
        <p:sp>
          <p:nvSpPr>
            <p:cNvPr id="93" name="Google Shape;93;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19"/>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6" name="Google Shape;96;p19"/>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97" name="Google Shape;97;p19"/>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8" name="Google Shape;9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20"/>
          <p:cNvGrpSpPr/>
          <p:nvPr/>
        </p:nvGrpSpPr>
        <p:grpSpPr>
          <a:xfrm>
            <a:off x="0" y="4128572"/>
            <a:ext cx="698925" cy="684657"/>
            <a:chOff x="0" y="3785672"/>
            <a:chExt cx="698925" cy="684657"/>
          </a:xfrm>
        </p:grpSpPr>
        <p:sp>
          <p:nvSpPr>
            <p:cNvPr id="101" name="Google Shape;101;p20"/>
            <p:cNvSpPr/>
            <p:nvPr/>
          </p:nvSpPr>
          <p:spPr>
            <a:xfrm rot="-5400000">
              <a:off x="0" y="3785672"/>
              <a:ext cx="544800" cy="544800"/>
            </a:xfrm>
            <a:prstGeom prst="diagStripe">
              <a:avLst>
                <a:gd fmla="val 50000" name="adj"/>
              </a:avLst>
            </a:prstGeom>
            <a:solidFill>
              <a:schemeClr val="lt1">
                <a:alpha val="823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0"/>
            <p:cNvSpPr/>
            <p:nvPr/>
          </p:nvSpPr>
          <p:spPr>
            <a:xfrm flipH="1">
              <a:off x="154125" y="3925529"/>
              <a:ext cx="544800" cy="544800"/>
            </a:xfrm>
            <a:prstGeom prst="diagStripe">
              <a:avLst>
                <a:gd fmla="val 50000" name="adj"/>
              </a:avLst>
            </a:prstGeom>
            <a:solidFill>
              <a:schemeClr val="lt1">
                <a:alpha val="823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20"/>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4" name="Google Shape;10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21"/>
          <p:cNvGrpSpPr/>
          <p:nvPr/>
        </p:nvGrpSpPr>
        <p:grpSpPr>
          <a:xfrm>
            <a:off x="4406400" y="0"/>
            <a:ext cx="4737600" cy="5143065"/>
            <a:chOff x="4406400" y="0"/>
            <a:chExt cx="4737600" cy="5143065"/>
          </a:xfrm>
        </p:grpSpPr>
        <p:sp>
          <p:nvSpPr>
            <p:cNvPr id="107" name="Google Shape;107;p21"/>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1"/>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1"/>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1"/>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1"/>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1"/>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1"/>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1"/>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1"/>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1"/>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1"/>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1"/>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1"/>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1"/>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1"/>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1"/>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5" name="Google Shape;125;p21"/>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26" name="Google Shape;126;p21"/>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7" name="Google Shape;12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4" name="Shape 134"/>
        <p:cNvGrpSpPr/>
        <p:nvPr/>
      </p:nvGrpSpPr>
      <p:grpSpPr>
        <a:xfrm>
          <a:off x="0" y="0"/>
          <a:ext cx="0" cy="0"/>
          <a:chOff x="0" y="0"/>
          <a:chExt cx="0" cy="0"/>
        </a:xfrm>
      </p:grpSpPr>
      <p:sp>
        <p:nvSpPr>
          <p:cNvPr id="135" name="Google Shape;135;g374f8d69407_0_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6" name="Google Shape;136;g374f8d69407_0_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7" name="Google Shape;137;g374f8d69407_0_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8" name="Shape 138"/>
        <p:cNvGrpSpPr/>
        <p:nvPr/>
      </p:nvGrpSpPr>
      <p:grpSpPr>
        <a:xfrm>
          <a:off x="0" y="0"/>
          <a:ext cx="0" cy="0"/>
          <a:chOff x="0" y="0"/>
          <a:chExt cx="0" cy="0"/>
        </a:xfrm>
      </p:grpSpPr>
      <p:sp>
        <p:nvSpPr>
          <p:cNvPr id="139" name="Google Shape;139;g374f8d69407_0_6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0" name="Google Shape;140;g374f8d69407_0_6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1" name="Google Shape;141;g374f8d69407_0_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2" name="Shape 142"/>
        <p:cNvGrpSpPr/>
        <p:nvPr/>
      </p:nvGrpSpPr>
      <p:grpSpPr>
        <a:xfrm>
          <a:off x="0" y="0"/>
          <a:ext cx="0" cy="0"/>
          <a:chOff x="0" y="0"/>
          <a:chExt cx="0" cy="0"/>
        </a:xfrm>
      </p:grpSpPr>
      <p:sp>
        <p:nvSpPr>
          <p:cNvPr id="143" name="Google Shape;143;g374f8d69407_0_7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4" name="Google Shape;144;g374f8d69407_0_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5" name="Shape 145"/>
        <p:cNvGrpSpPr/>
        <p:nvPr/>
      </p:nvGrpSpPr>
      <p:grpSpPr>
        <a:xfrm>
          <a:off x="0" y="0"/>
          <a:ext cx="0" cy="0"/>
          <a:chOff x="0" y="0"/>
          <a:chExt cx="0" cy="0"/>
        </a:xfrm>
      </p:grpSpPr>
      <p:sp>
        <p:nvSpPr>
          <p:cNvPr id="146" name="Google Shape;146;g374f8d69407_0_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7" name="Google Shape;147;g374f8d69407_0_7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8" name="Google Shape;148;g374f8d69407_0_7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9" name="Google Shape;149;g374f8d69407_0_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0" name="Shape 150"/>
        <p:cNvGrpSpPr/>
        <p:nvPr/>
      </p:nvGrpSpPr>
      <p:grpSpPr>
        <a:xfrm>
          <a:off x="0" y="0"/>
          <a:ext cx="0" cy="0"/>
          <a:chOff x="0" y="0"/>
          <a:chExt cx="0" cy="0"/>
        </a:xfrm>
      </p:grpSpPr>
      <p:sp>
        <p:nvSpPr>
          <p:cNvPr id="151" name="Google Shape;151;g374f8d69407_0_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2" name="Google Shape;152;g374f8d69407_0_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3" name="Shape 153"/>
        <p:cNvGrpSpPr/>
        <p:nvPr/>
      </p:nvGrpSpPr>
      <p:grpSpPr>
        <a:xfrm>
          <a:off x="0" y="0"/>
          <a:ext cx="0" cy="0"/>
          <a:chOff x="0" y="0"/>
          <a:chExt cx="0" cy="0"/>
        </a:xfrm>
      </p:grpSpPr>
      <p:sp>
        <p:nvSpPr>
          <p:cNvPr id="154" name="Google Shape;154;g374f8d69407_0_8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55" name="Google Shape;155;g374f8d69407_0_8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56" name="Google Shape;156;g374f8d69407_0_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7" name="Shape 157"/>
        <p:cNvGrpSpPr/>
        <p:nvPr/>
      </p:nvGrpSpPr>
      <p:grpSpPr>
        <a:xfrm>
          <a:off x="0" y="0"/>
          <a:ext cx="0" cy="0"/>
          <a:chOff x="0" y="0"/>
          <a:chExt cx="0" cy="0"/>
        </a:xfrm>
      </p:grpSpPr>
      <p:sp>
        <p:nvSpPr>
          <p:cNvPr id="158" name="Google Shape;158;g374f8d69407_0_8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9" name="Google Shape;159;g374f8d69407_0_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0" name="Shape 160"/>
        <p:cNvGrpSpPr/>
        <p:nvPr/>
      </p:nvGrpSpPr>
      <p:grpSpPr>
        <a:xfrm>
          <a:off x="0" y="0"/>
          <a:ext cx="0" cy="0"/>
          <a:chOff x="0" y="0"/>
          <a:chExt cx="0" cy="0"/>
        </a:xfrm>
      </p:grpSpPr>
      <p:sp>
        <p:nvSpPr>
          <p:cNvPr id="161" name="Google Shape;161;g374f8d69407_0_8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74f8d69407_0_8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63" name="Google Shape;163;g374f8d69407_0_8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4" name="Google Shape;164;g374f8d69407_0_8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5" name="Google Shape;165;g374f8d69407_0_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6" name="Shape 166"/>
        <p:cNvGrpSpPr/>
        <p:nvPr/>
      </p:nvGrpSpPr>
      <p:grpSpPr>
        <a:xfrm>
          <a:off x="0" y="0"/>
          <a:ext cx="0" cy="0"/>
          <a:chOff x="0" y="0"/>
          <a:chExt cx="0" cy="0"/>
        </a:xfrm>
      </p:grpSpPr>
      <p:sp>
        <p:nvSpPr>
          <p:cNvPr id="167" name="Google Shape;167;g374f8d69407_0_9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68" name="Google Shape;168;g374f8d69407_0_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9" name="Shape 169"/>
        <p:cNvGrpSpPr/>
        <p:nvPr/>
      </p:nvGrpSpPr>
      <p:grpSpPr>
        <a:xfrm>
          <a:off x="0" y="0"/>
          <a:ext cx="0" cy="0"/>
          <a:chOff x="0" y="0"/>
          <a:chExt cx="0" cy="0"/>
        </a:xfrm>
      </p:grpSpPr>
      <p:sp>
        <p:nvSpPr>
          <p:cNvPr id="170" name="Google Shape;170;g374f8d69407_0_9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71" name="Google Shape;171;g374f8d69407_0_9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72" name="Google Shape;172;g374f8d69407_0_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
        <p:nvSpPr>
          <p:cNvPr id="174" name="Google Shape;174;g374f8d69407_0_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7" name="Google Shape;7;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8" name="Google Shape;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0" name="Shape 130"/>
        <p:cNvGrpSpPr/>
        <p:nvPr/>
      </p:nvGrpSpPr>
      <p:grpSpPr>
        <a:xfrm>
          <a:off x="0" y="0"/>
          <a:ext cx="0" cy="0"/>
          <a:chOff x="0" y="0"/>
          <a:chExt cx="0" cy="0"/>
        </a:xfrm>
      </p:grpSpPr>
      <p:sp>
        <p:nvSpPr>
          <p:cNvPr id="131" name="Google Shape;131;g374f8d69407_0_5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32" name="Google Shape;132;g374f8d69407_0_5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33" name="Google Shape;133;g374f8d69407_0_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hyperlink" Target="http://www.youtube.com/watch?v=qgnDbQ1aM54" TargetMode="External"/><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1" Type="http://schemas.openxmlformats.org/officeDocument/2006/relationships/hyperlink" Target="https://containerd.io" TargetMode="External"/><Relationship Id="rId10" Type="http://schemas.openxmlformats.org/officeDocument/2006/relationships/hyperlink" Target="https://containerd.io" TargetMode="External"/><Relationship Id="rId13" Type="http://schemas.openxmlformats.org/officeDocument/2006/relationships/hyperlink" Target="https://opencontainers.org" TargetMode="External"/><Relationship Id="rId12" Type="http://schemas.openxmlformats.org/officeDocument/2006/relationships/hyperlink" Target="https://opencontainers.org" TargetMode="External"/><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goharbor.io" TargetMode="External"/><Relationship Id="rId4" Type="http://schemas.openxmlformats.org/officeDocument/2006/relationships/hyperlink" Target="https://goharbor.io" TargetMode="External"/><Relationship Id="rId9" Type="http://schemas.openxmlformats.org/officeDocument/2006/relationships/hyperlink" Target="https://containerd.io" TargetMode="External"/><Relationship Id="rId14" Type="http://schemas.openxmlformats.org/officeDocument/2006/relationships/hyperlink" Target="https://opencontainers.org" TargetMode="External"/><Relationship Id="rId5" Type="http://schemas.openxmlformats.org/officeDocument/2006/relationships/hyperlink" Target="https://goharbor.io" TargetMode="External"/><Relationship Id="rId6" Type="http://schemas.openxmlformats.org/officeDocument/2006/relationships/hyperlink" Target="https://github.com/project-zot/zot" TargetMode="External"/><Relationship Id="rId7" Type="http://schemas.openxmlformats.org/officeDocument/2006/relationships/hyperlink" Target="https://github.com/project-zot/zot" TargetMode="External"/><Relationship Id="rId8" Type="http://schemas.openxmlformats.org/officeDocument/2006/relationships/hyperlink" Target="https://github.com/project-zot/zo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g374f8d69407_0_5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180" name="Google Shape;180;g374f8d69407_0_52"/>
          <p:cNvGraphicFramePr/>
          <p:nvPr/>
        </p:nvGraphicFramePr>
        <p:xfrm>
          <a:off x="5328200" y="970025"/>
          <a:ext cx="3000000" cy="3000000"/>
        </p:xfrm>
        <a:graphic>
          <a:graphicData uri="http://schemas.openxmlformats.org/drawingml/2006/table">
            <a:tbl>
              <a:tblPr>
                <a:noFill/>
                <a:tableStyleId>{F2DBE46C-6AE4-4E0E-A872-4736807F7143}</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a:t>14/08/2025</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a:t>17:20</a:t>
                      </a:r>
                      <a:endParaRPr sz="1400" u="none" cap="none" strike="noStrike"/>
                    </a:p>
                  </a:txBody>
                  <a:tcPr marT="91425" marB="91425" marR="91425" marL="91425"/>
                </a:tc>
              </a:tr>
            </a:tbl>
          </a:graphicData>
        </a:graphic>
      </p:graphicFrame>
      <p:sp>
        <p:nvSpPr>
          <p:cNvPr id="181" name="Google Shape;181;g374f8d69407_0_52"/>
          <p:cNvSpPr txBox="1"/>
          <p:nvPr/>
        </p:nvSpPr>
        <p:spPr>
          <a:xfrm>
            <a:off x="2538600" y="2287050"/>
            <a:ext cx="4368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s" sz="2500"/>
              <a:t>Sistemas Operativos 1</a:t>
            </a:r>
            <a:r>
              <a:rPr b="1" i="0" lang="es" sz="2500" u="none" cap="none" strike="noStrike">
                <a:solidFill>
                  <a:srgbClr val="000000"/>
                </a:solidFill>
              </a:rPr>
              <a:t> [</a:t>
            </a:r>
            <a:r>
              <a:rPr b="1" lang="es" sz="2500"/>
              <a:t>P</a:t>
            </a:r>
            <a:r>
              <a:rPr b="1" i="0" lang="es" sz="2500" u="none" cap="none" strike="noStrike">
                <a:solidFill>
                  <a:srgbClr val="000000"/>
                </a:solidFill>
              </a:rPr>
              <a:t>]</a:t>
            </a:r>
            <a:endParaRPr b="1" i="0" sz="2500" u="none" cap="none" strike="noStrike">
              <a:solidFill>
                <a:srgbClr val="000000"/>
              </a:solidFill>
            </a:endParaRPr>
          </a:p>
        </p:txBody>
      </p:sp>
      <p:sp>
        <p:nvSpPr>
          <p:cNvPr id="182" name="Google Shape;182;g374f8d69407_0_52"/>
          <p:cNvSpPr txBox="1"/>
          <p:nvPr/>
        </p:nvSpPr>
        <p:spPr>
          <a:xfrm>
            <a:off x="1778700" y="2900750"/>
            <a:ext cx="5586600" cy="631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lang="es" sz="2900"/>
              <a:t>Edgar Alvarez</a:t>
            </a:r>
            <a:endParaRPr b="1" i="0" sz="2900" u="none" cap="none" strike="noStrike">
              <a:solidFill>
                <a:srgbClr val="000000"/>
              </a:solidFill>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183" name="Google Shape;183;g374f8d69407_0_52" title="5 Minute Timer">
            <a:hlinkClick r:id="rId4"/>
          </p:cNvPr>
          <p:cNvPicPr preferRelativeResize="0"/>
          <p:nvPr/>
        </p:nvPicPr>
        <p:blipFill>
          <a:blip r:embed="rId5">
            <a:alphaModFix/>
          </a:blip>
          <a:stretch>
            <a:fillRect/>
          </a:stretch>
        </p:blipFill>
        <p:spPr>
          <a:xfrm>
            <a:off x="6087550" y="337497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t/>
            </a:r>
            <a:endParaRPr/>
          </a:p>
        </p:txBody>
      </p:sp>
      <p:sp>
        <p:nvSpPr>
          <p:cNvPr id="189" name="Google Shape;189;p1"/>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a:p>
        </p:txBody>
      </p:sp>
      <p:pic>
        <p:nvPicPr>
          <p:cNvPr id="190" name="Google Shape;190;p1"/>
          <p:cNvPicPr preferRelativeResize="0"/>
          <p:nvPr/>
        </p:nvPicPr>
        <p:blipFill rotWithShape="1">
          <a:blip r:embed="rId3">
            <a:alphaModFix/>
          </a:blip>
          <a:srcRect b="0" l="0" r="0" t="0"/>
          <a:stretch/>
        </p:blipFill>
        <p:spPr>
          <a:xfrm>
            <a:off x="11875" y="0"/>
            <a:ext cx="9120251" cy="5143501"/>
          </a:xfrm>
          <a:prstGeom prst="rect">
            <a:avLst/>
          </a:prstGeom>
          <a:noFill/>
          <a:ln>
            <a:noFill/>
          </a:ln>
        </p:spPr>
      </p:pic>
      <p:sp>
        <p:nvSpPr>
          <p:cNvPr id="191" name="Google Shape;191;p1"/>
          <p:cNvSpPr txBox="1"/>
          <p:nvPr/>
        </p:nvSpPr>
        <p:spPr>
          <a:xfrm>
            <a:off x="4272925" y="990900"/>
            <a:ext cx="47757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 sz="1800">
                <a:solidFill>
                  <a:srgbClr val="1B212C"/>
                </a:solidFill>
                <a:latin typeface="Impact"/>
                <a:ea typeface="Impact"/>
                <a:cs typeface="Impact"/>
                <a:sym typeface="Impact"/>
              </a:rPr>
              <a:t>Universidad de San Carlos de Guatemala</a:t>
            </a:r>
            <a:endParaRPr sz="1800">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lang="es" sz="1800">
                <a:solidFill>
                  <a:srgbClr val="1B212C"/>
                </a:solidFill>
                <a:latin typeface="Impact"/>
                <a:ea typeface="Impact"/>
                <a:cs typeface="Impact"/>
                <a:sym typeface="Impact"/>
              </a:rPr>
              <a:t>Facultad de Ingeniería</a:t>
            </a:r>
            <a:endParaRPr sz="1800">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lang="es" sz="1800">
                <a:solidFill>
                  <a:srgbClr val="1B212C"/>
                </a:solidFill>
                <a:latin typeface="Impact"/>
                <a:ea typeface="Impact"/>
                <a:cs typeface="Impact"/>
                <a:sym typeface="Impact"/>
              </a:rPr>
              <a:t>Ingeniería en Ciencias y Sistemas</a:t>
            </a:r>
            <a:endParaRPr sz="1800">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B212C"/>
                </a:solidFill>
                <a:latin typeface="Impact"/>
                <a:ea typeface="Impact"/>
                <a:cs typeface="Impact"/>
                <a:sym typeface="Impact"/>
              </a:rPr>
              <a:t>LABORATORIO SISTEMAS OPERATIVOS 1 </a:t>
            </a:r>
            <a:endParaRPr b="0" i="0" sz="1800" u="none" cap="none" strike="noStrike">
              <a:solidFill>
                <a:srgbClr val="1B212C"/>
              </a:solidFill>
              <a:latin typeface="Impact"/>
              <a:ea typeface="Impact"/>
              <a:cs typeface="Impact"/>
              <a:sym typeface="Impact"/>
            </a:endParaRPr>
          </a:p>
          <a:p>
            <a:pPr indent="0" lvl="0" marL="0" rtl="0" algn="l">
              <a:spcBef>
                <a:spcPts val="0"/>
              </a:spcBef>
              <a:spcAft>
                <a:spcPts val="0"/>
              </a:spcAft>
              <a:buNone/>
            </a:pPr>
            <a:r>
              <a:rPr lang="es" sz="1800">
                <a:solidFill>
                  <a:srgbClr val="1B212C"/>
                </a:solidFill>
                <a:latin typeface="Impact"/>
                <a:ea typeface="Impact"/>
                <a:cs typeface="Impact"/>
                <a:sym typeface="Impact"/>
              </a:rPr>
              <a:t>Unidad 1: Fundamentos de Sistemas Operativos y Administración Avanzada</a:t>
            </a:r>
            <a:endParaRPr sz="1800">
              <a:solidFill>
                <a:srgbClr val="1B212C"/>
              </a:solidFill>
              <a:latin typeface="Impact"/>
              <a:ea typeface="Impact"/>
              <a:cs typeface="Impact"/>
              <a:sym typeface="Impact"/>
            </a:endParaRPr>
          </a:p>
          <a:p>
            <a:pPr indent="0" lvl="0" marL="0" rtl="0" algn="l">
              <a:spcBef>
                <a:spcPts val="0"/>
              </a:spcBef>
              <a:spcAft>
                <a:spcPts val="0"/>
              </a:spcAft>
              <a:buNone/>
            </a:pPr>
            <a:r>
              <a:rPr lang="es" sz="1800">
                <a:solidFill>
                  <a:srgbClr val="1B212C"/>
                </a:solidFill>
                <a:latin typeface="Impact"/>
                <a:ea typeface="Impact"/>
                <a:cs typeface="Impact"/>
                <a:sym typeface="Impact"/>
              </a:rPr>
              <a:t>SEMANA 04</a:t>
            </a:r>
            <a:endParaRPr sz="1800">
              <a:solidFill>
                <a:srgbClr val="1B212C"/>
              </a:solidFill>
              <a:latin typeface="Impact"/>
              <a:ea typeface="Impact"/>
              <a:cs typeface="Impact"/>
              <a:sym typeface="Impac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5" name="Shape 195"/>
        <p:cNvGrpSpPr/>
        <p:nvPr/>
      </p:nvGrpSpPr>
      <p:grpSpPr>
        <a:xfrm>
          <a:off x="0" y="0"/>
          <a:ext cx="0" cy="0"/>
          <a:chOff x="0" y="0"/>
          <a:chExt cx="0" cy="0"/>
        </a:xfrm>
      </p:grpSpPr>
      <p:sp>
        <p:nvSpPr>
          <p:cNvPr id="196" name="Google Shape;196;p3"/>
          <p:cNvSpPr txBox="1"/>
          <p:nvPr>
            <p:ph idx="1" type="body"/>
          </p:nvPr>
        </p:nvSpPr>
        <p:spPr>
          <a:xfrm>
            <a:off x="1216800" y="1493900"/>
            <a:ext cx="7560600" cy="271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757">
                <a:latin typeface="Montserrat"/>
                <a:ea typeface="Montserrat"/>
                <a:cs typeface="Montserrat"/>
                <a:sym typeface="Montserrat"/>
              </a:rPr>
              <a:t>CORREO:</a:t>
            </a:r>
            <a:endParaRPr sz="1757">
              <a:latin typeface="Montserrat"/>
              <a:ea typeface="Montserrat"/>
              <a:cs typeface="Montserrat"/>
              <a:sym typeface="Montserrat"/>
            </a:endParaRPr>
          </a:p>
          <a:p>
            <a:pPr indent="-340169" lvl="0" marL="457200" rtl="0" algn="l">
              <a:lnSpc>
                <a:spcPct val="115000"/>
              </a:lnSpc>
              <a:spcBef>
                <a:spcPts val="0"/>
              </a:spcBef>
              <a:spcAft>
                <a:spcPts val="0"/>
              </a:spcAft>
              <a:buSzPts val="1757"/>
              <a:buFont typeface="Montserrat"/>
              <a:buChar char="●"/>
            </a:pPr>
            <a:r>
              <a:rPr lang="es" sz="1757">
                <a:latin typeface="Montserrat"/>
                <a:ea typeface="Montserrat"/>
                <a:cs typeface="Montserrat"/>
                <a:sym typeface="Montserrat"/>
              </a:rPr>
              <a:t>3014174660101@ingenieria.usac.edu.gt</a:t>
            </a:r>
            <a:endParaRPr sz="1757">
              <a:latin typeface="Montserrat"/>
              <a:ea typeface="Montserrat"/>
              <a:cs typeface="Montserrat"/>
              <a:sym typeface="Montserrat"/>
            </a:endParaRPr>
          </a:p>
          <a:p>
            <a:pPr indent="0" lvl="0" marL="0" rtl="0" algn="l">
              <a:lnSpc>
                <a:spcPct val="115000"/>
              </a:lnSpc>
              <a:spcBef>
                <a:spcPts val="0"/>
              </a:spcBef>
              <a:spcAft>
                <a:spcPts val="0"/>
              </a:spcAft>
              <a:buSzPts val="1300"/>
              <a:buNone/>
            </a:pPr>
            <a:r>
              <a:t/>
            </a:r>
            <a:endParaRPr sz="1757">
              <a:latin typeface="Montserrat"/>
              <a:ea typeface="Montserrat"/>
              <a:cs typeface="Montserrat"/>
              <a:sym typeface="Montserrat"/>
            </a:endParaRPr>
          </a:p>
          <a:p>
            <a:pPr indent="0" lvl="0" marL="0" rtl="0" algn="l">
              <a:lnSpc>
                <a:spcPct val="115000"/>
              </a:lnSpc>
              <a:spcBef>
                <a:spcPts val="1200"/>
              </a:spcBef>
              <a:spcAft>
                <a:spcPts val="0"/>
              </a:spcAft>
              <a:buSzPts val="1300"/>
              <a:buNone/>
            </a:pPr>
            <a:r>
              <a:rPr lang="es" sz="1757">
                <a:latin typeface="Montserrat"/>
                <a:ea typeface="Montserrat"/>
                <a:cs typeface="Montserrat"/>
                <a:sym typeface="Montserrat"/>
              </a:rPr>
              <a:t>Entrega de Proyectos, Tareas, Foros y Hojas de Trabajo:</a:t>
            </a:r>
            <a:endParaRPr sz="1757">
              <a:latin typeface="Montserrat"/>
              <a:ea typeface="Montserrat"/>
              <a:cs typeface="Montserrat"/>
              <a:sym typeface="Montserrat"/>
            </a:endParaRPr>
          </a:p>
          <a:p>
            <a:pPr indent="-340169" lvl="0" marL="457200" rtl="0" algn="l">
              <a:lnSpc>
                <a:spcPct val="115000"/>
              </a:lnSpc>
              <a:spcBef>
                <a:spcPts val="1200"/>
              </a:spcBef>
              <a:spcAft>
                <a:spcPts val="0"/>
              </a:spcAft>
              <a:buSzPts val="1757"/>
              <a:buFont typeface="Montserrat"/>
              <a:buChar char="●"/>
            </a:pPr>
            <a:r>
              <a:rPr lang="es" sz="1757">
                <a:latin typeface="Montserrat"/>
                <a:ea typeface="Montserrat"/>
                <a:cs typeface="Montserrat"/>
                <a:sym typeface="Montserrat"/>
              </a:rPr>
              <a:t>UEDI:</a:t>
            </a:r>
            <a:endParaRPr sz="2000">
              <a:latin typeface="Montserrat"/>
              <a:ea typeface="Montserrat"/>
              <a:cs typeface="Montserrat"/>
              <a:sym typeface="Montserrat"/>
            </a:endParaRPr>
          </a:p>
        </p:txBody>
      </p:sp>
      <p:sp>
        <p:nvSpPr>
          <p:cNvPr id="197" name="Google Shape;197;p3"/>
          <p:cNvSpPr txBox="1"/>
          <p:nvPr>
            <p:ph type="title"/>
          </p:nvPr>
        </p:nvSpPr>
        <p:spPr>
          <a:xfrm>
            <a:off x="1425475" y="349675"/>
            <a:ext cx="6789300" cy="98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sz="2500"/>
              <a:t>Medios de comunicación y Entrega de Contenido Oficial</a:t>
            </a: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Agenda</a:t>
            </a:r>
            <a:endParaRPr/>
          </a:p>
        </p:txBody>
      </p:sp>
      <p:sp>
        <p:nvSpPr>
          <p:cNvPr id="203" name="Google Shape;203;p2"/>
          <p:cNvSpPr txBox="1"/>
          <p:nvPr>
            <p:ph idx="1" type="body"/>
          </p:nvPr>
        </p:nvSpPr>
        <p:spPr>
          <a:xfrm>
            <a:off x="1297500" y="1217450"/>
            <a:ext cx="6955800" cy="3427800"/>
          </a:xfrm>
          <a:prstGeom prst="rect">
            <a:avLst/>
          </a:prstGeom>
          <a:solidFill>
            <a:schemeClr val="dk1"/>
          </a:solidFill>
          <a:ln>
            <a:noFill/>
          </a:ln>
        </p:spPr>
        <p:txBody>
          <a:bodyPr anchorCtr="0" anchor="t" bIns="91425" lIns="91425" spcFirstLastPara="1" rIns="91425" wrap="square" tIns="91425">
            <a:noAutofit/>
          </a:bodyPr>
          <a:lstStyle/>
          <a:p>
            <a:pPr indent="-382270" lvl="0" marL="457200" marR="0" rtl="0" algn="l">
              <a:lnSpc>
                <a:spcPct val="95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AVISOS IMPORTANTES</a:t>
            </a:r>
            <a:endParaRPr sz="2420">
              <a:highlight>
                <a:schemeClr val="dk1"/>
              </a:highlight>
              <a:latin typeface="Arial"/>
              <a:ea typeface="Arial"/>
              <a:cs typeface="Arial"/>
              <a:sym typeface="Arial"/>
            </a:endParaRPr>
          </a:p>
          <a:p>
            <a:pPr indent="-382270" lvl="0" marL="457200" marR="0" rtl="0" algn="l">
              <a:lnSpc>
                <a:spcPct val="95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Introducción a Bash.</a:t>
            </a:r>
            <a:endParaRPr sz="2420">
              <a:highlight>
                <a:schemeClr val="dk1"/>
              </a:highlight>
              <a:latin typeface="Arial"/>
              <a:ea typeface="Arial"/>
              <a:cs typeface="Arial"/>
              <a:sym typeface="Arial"/>
            </a:endParaRPr>
          </a:p>
          <a:p>
            <a:pPr indent="-382270" lvl="0" marL="457200" rtl="0" algn="l">
              <a:lnSpc>
                <a:spcPct val="115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Características principales de Bash.</a:t>
            </a:r>
            <a:endParaRPr sz="2420">
              <a:highlight>
                <a:schemeClr val="dk1"/>
              </a:highlight>
              <a:latin typeface="Arial"/>
              <a:ea typeface="Arial"/>
              <a:cs typeface="Arial"/>
              <a:sym typeface="Arial"/>
            </a:endParaRPr>
          </a:p>
          <a:p>
            <a:pPr indent="-382270" lvl="0" marL="457200" rtl="0" algn="l">
              <a:lnSpc>
                <a:spcPct val="100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Estructura Básicas en Bash.</a:t>
            </a:r>
            <a:endParaRPr sz="2420">
              <a:highlight>
                <a:schemeClr val="dk1"/>
              </a:highlight>
              <a:latin typeface="Arial"/>
              <a:ea typeface="Arial"/>
              <a:cs typeface="Arial"/>
              <a:sym typeface="Arial"/>
            </a:endParaRPr>
          </a:p>
          <a:p>
            <a:pPr indent="-382270" lvl="0" marL="457200" rtl="0" algn="l">
              <a:lnSpc>
                <a:spcPct val="100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Introducción a Módulos de Kernel.</a:t>
            </a:r>
            <a:endParaRPr sz="2420">
              <a:highlight>
                <a:schemeClr val="dk1"/>
              </a:highlight>
              <a:latin typeface="Arial"/>
              <a:ea typeface="Arial"/>
              <a:cs typeface="Arial"/>
              <a:sym typeface="Arial"/>
            </a:endParaRPr>
          </a:p>
          <a:p>
            <a:pPr indent="-382270" lvl="0" marL="457200" rtl="0" algn="l">
              <a:lnSpc>
                <a:spcPct val="100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Gestión de Módulos de Kernel.</a:t>
            </a:r>
            <a:endParaRPr sz="2420">
              <a:highlight>
                <a:schemeClr val="dk1"/>
              </a:highlight>
              <a:latin typeface="Arial"/>
              <a:ea typeface="Arial"/>
              <a:cs typeface="Arial"/>
              <a:sym typeface="Arial"/>
            </a:endParaRPr>
          </a:p>
          <a:p>
            <a:pPr indent="-382270" lvl="0" marL="457200" rtl="0" algn="l">
              <a:lnSpc>
                <a:spcPct val="100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Ejemplo Práctico.</a:t>
            </a:r>
            <a:endParaRPr sz="2420">
              <a:highlight>
                <a:schemeClr val="dk1"/>
              </a:highlight>
              <a:latin typeface="Arial"/>
              <a:ea typeface="Arial"/>
              <a:cs typeface="Arial"/>
              <a:sym typeface="Arial"/>
            </a:endParaRPr>
          </a:p>
          <a:p>
            <a:pPr indent="0" lvl="0" marL="457200" marR="0" rtl="0" algn="l">
              <a:lnSpc>
                <a:spcPct val="95000"/>
              </a:lnSpc>
              <a:spcBef>
                <a:spcPts val="0"/>
              </a:spcBef>
              <a:spcAft>
                <a:spcPts val="0"/>
              </a:spcAft>
              <a:buSzPts val="1300"/>
              <a:buNone/>
            </a:pPr>
            <a:r>
              <a:t/>
            </a:r>
            <a:endParaRPr sz="2420">
              <a:highlight>
                <a:schemeClr val="dk1"/>
              </a:highlight>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5c6a413e71_0_1"/>
          <p:cNvSpPr txBox="1"/>
          <p:nvPr>
            <p:ph type="title"/>
          </p:nvPr>
        </p:nvSpPr>
        <p:spPr>
          <a:xfrm>
            <a:off x="3518370" y="397075"/>
            <a:ext cx="2585400" cy="65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Competencias</a:t>
            </a:r>
            <a:endParaRPr/>
          </a:p>
        </p:txBody>
      </p:sp>
      <p:sp>
        <p:nvSpPr>
          <p:cNvPr id="209" name="Google Shape;209;g35c6a413e71_0_1"/>
          <p:cNvSpPr txBox="1"/>
          <p:nvPr/>
        </p:nvSpPr>
        <p:spPr>
          <a:xfrm>
            <a:off x="1217450" y="1274075"/>
            <a:ext cx="73308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solidFill>
                  <a:schemeClr val="lt1"/>
                </a:solidFill>
              </a:rPr>
              <a:t>El estudiante construye contenedores a bajo nivel mediante el uso de Containerd y programación en Go con el fin de profundizar en el funcionamiento interno de los motores de contenedores</a:t>
            </a:r>
            <a:endParaRPr>
              <a:solidFill>
                <a:schemeClr val="lt1"/>
              </a:solidFill>
            </a:endParaRPr>
          </a:p>
        </p:txBody>
      </p:sp>
      <p:sp>
        <p:nvSpPr>
          <p:cNvPr id="210" name="Google Shape;210;g35c6a413e71_0_1"/>
          <p:cNvSpPr txBox="1"/>
          <p:nvPr/>
        </p:nvSpPr>
        <p:spPr>
          <a:xfrm>
            <a:off x="1217600" y="2327175"/>
            <a:ext cx="73308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solidFill>
                  <a:schemeClr val="lt1"/>
                </a:solidFill>
              </a:rPr>
              <a:t>El estudiante configura contenedores Docker para el despliegue de servicios mediante Dockerfiles y docker-compose asegurando la portabilidad y replicabilidad en entornos de desarrollo</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5c6a413e71_0_136"/>
          <p:cNvSpPr txBox="1"/>
          <p:nvPr>
            <p:ph type="title"/>
          </p:nvPr>
        </p:nvSpPr>
        <p:spPr>
          <a:xfrm>
            <a:off x="3600300" y="1922625"/>
            <a:ext cx="25506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CONTENIDO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338785bead_0_2"/>
          <p:cNvSpPr txBox="1"/>
          <p:nvPr>
            <p:ph type="title"/>
          </p:nvPr>
        </p:nvSpPr>
        <p:spPr>
          <a:xfrm>
            <a:off x="1297500" y="340550"/>
            <a:ext cx="7038900" cy="521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sz="2100"/>
              <a:t>¿Qué es Bash?</a:t>
            </a:r>
            <a:endParaRPr sz="2100"/>
          </a:p>
        </p:txBody>
      </p:sp>
      <p:sp>
        <p:nvSpPr>
          <p:cNvPr id="221" name="Google Shape;221;g3338785bead_0_2"/>
          <p:cNvSpPr txBox="1"/>
          <p:nvPr>
            <p:ph idx="1" type="body"/>
          </p:nvPr>
        </p:nvSpPr>
        <p:spPr>
          <a:xfrm>
            <a:off x="1297500" y="929050"/>
            <a:ext cx="7038900" cy="8022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300"/>
              <a:buNone/>
            </a:pPr>
            <a:r>
              <a:rPr lang="es" sz="1100">
                <a:latin typeface="Arial"/>
                <a:ea typeface="Arial"/>
                <a:cs typeface="Arial"/>
                <a:sym typeface="Arial"/>
              </a:rPr>
              <a:t>Bash (</a:t>
            </a:r>
            <a:r>
              <a:rPr b="1" lang="es" sz="1100">
                <a:latin typeface="Arial"/>
                <a:ea typeface="Arial"/>
                <a:cs typeface="Arial"/>
                <a:sym typeface="Arial"/>
              </a:rPr>
              <a:t>Bourne Again Shell</a:t>
            </a:r>
            <a:r>
              <a:rPr lang="es" sz="1100">
                <a:latin typeface="Arial"/>
                <a:ea typeface="Arial"/>
                <a:cs typeface="Arial"/>
                <a:sym typeface="Arial"/>
              </a:rPr>
              <a:t>) es un </a:t>
            </a:r>
            <a:r>
              <a:rPr b="1" lang="es" sz="1100">
                <a:latin typeface="Arial"/>
                <a:ea typeface="Arial"/>
                <a:cs typeface="Arial"/>
                <a:sym typeface="Arial"/>
              </a:rPr>
              <a:t>intérprete de comandos</a:t>
            </a:r>
            <a:r>
              <a:rPr lang="es" sz="1100">
                <a:latin typeface="Arial"/>
                <a:ea typeface="Arial"/>
                <a:cs typeface="Arial"/>
                <a:sym typeface="Arial"/>
              </a:rPr>
              <a:t> y </a:t>
            </a:r>
            <a:r>
              <a:rPr b="1" lang="es" sz="1100">
                <a:latin typeface="Arial"/>
                <a:ea typeface="Arial"/>
                <a:cs typeface="Arial"/>
                <a:sym typeface="Arial"/>
              </a:rPr>
              <a:t>lenguaje de scripting</a:t>
            </a:r>
            <a:r>
              <a:rPr lang="es" sz="1100">
                <a:latin typeface="Arial"/>
                <a:ea typeface="Arial"/>
                <a:cs typeface="Arial"/>
                <a:sym typeface="Arial"/>
              </a:rPr>
              <a:t> utilizado en sistemas operativos basados en </a:t>
            </a:r>
            <a:r>
              <a:rPr b="1" lang="es" sz="1100">
                <a:latin typeface="Arial"/>
                <a:ea typeface="Arial"/>
                <a:cs typeface="Arial"/>
                <a:sym typeface="Arial"/>
              </a:rPr>
              <a:t>Unix y Linux</a:t>
            </a:r>
            <a:r>
              <a:rPr lang="es" sz="1100">
                <a:latin typeface="Arial"/>
                <a:ea typeface="Arial"/>
                <a:cs typeface="Arial"/>
                <a:sym typeface="Arial"/>
              </a:rPr>
              <a:t>. Es una evolución del </a:t>
            </a:r>
            <a:r>
              <a:rPr b="1" lang="es" sz="1100">
                <a:latin typeface="Arial"/>
                <a:ea typeface="Arial"/>
                <a:cs typeface="Arial"/>
                <a:sym typeface="Arial"/>
              </a:rPr>
              <a:t>Bourne Shell (sh)</a:t>
            </a:r>
            <a:r>
              <a:rPr lang="es" sz="1100">
                <a:latin typeface="Arial"/>
                <a:ea typeface="Arial"/>
                <a:cs typeface="Arial"/>
                <a:sym typeface="Arial"/>
              </a:rPr>
              <a:t> e introduce mejoras como manejo de variables, estructuras de control y funciones.</a:t>
            </a:r>
            <a:endParaRPr/>
          </a:p>
        </p:txBody>
      </p:sp>
      <p:sp>
        <p:nvSpPr>
          <p:cNvPr id="222" name="Google Shape;222;g3338785bead_0_2"/>
          <p:cNvSpPr txBox="1"/>
          <p:nvPr/>
        </p:nvSpPr>
        <p:spPr>
          <a:xfrm>
            <a:off x="1336500" y="2241725"/>
            <a:ext cx="6960900" cy="1658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100"/>
              <a:buFont typeface="Arial"/>
              <a:buNone/>
            </a:pPr>
            <a:r>
              <a:rPr b="0" i="0" lang="es" sz="2100" u="none" cap="none" strike="noStrike">
                <a:solidFill>
                  <a:schemeClr val="lt1"/>
                </a:solidFill>
                <a:latin typeface="Montserrat"/>
                <a:ea typeface="Montserrat"/>
                <a:cs typeface="Montserrat"/>
                <a:sym typeface="Montserrat"/>
              </a:rPr>
              <a:t>Características principales de Bash</a:t>
            </a:r>
            <a:endParaRPr b="0" i="0" sz="2100" u="none" cap="none" strike="noStrike">
              <a:solidFill>
                <a:schemeClr val="lt1"/>
              </a:solidFill>
              <a:latin typeface="Montserrat"/>
              <a:ea typeface="Montserrat"/>
              <a:cs typeface="Montserrat"/>
              <a:sym typeface="Montserrat"/>
            </a:endParaRPr>
          </a:p>
          <a:p>
            <a:pPr indent="0" lvl="0" marL="0" marR="0" rtl="0" algn="l">
              <a:lnSpc>
                <a:spcPct val="115000"/>
              </a:lnSpc>
              <a:spcBef>
                <a:spcPts val="1200"/>
              </a:spcBef>
              <a:spcAft>
                <a:spcPts val="1200"/>
              </a:spcAft>
              <a:buClr>
                <a:srgbClr val="000000"/>
              </a:buClr>
              <a:buSzPts val="1100"/>
              <a:buFont typeface="Arial"/>
              <a:buNone/>
            </a:pPr>
            <a:r>
              <a:rPr b="0" i="0" lang="es" sz="1100" u="none" cap="none" strike="noStrike">
                <a:solidFill>
                  <a:schemeClr val="lt1"/>
                </a:solidFill>
                <a:latin typeface="Arial"/>
                <a:ea typeface="Arial"/>
                <a:cs typeface="Arial"/>
                <a:sym typeface="Arial"/>
              </a:rPr>
              <a:t>✅ Interfaz de línea de comandos (CLI): Permite ejecutar comandos directamente en la terminal.</a:t>
            </a:r>
            <a:br>
              <a:rPr b="0" i="0" lang="es" sz="1100" u="none" cap="none" strike="noStrike">
                <a:solidFill>
                  <a:schemeClr val="lt1"/>
                </a:solidFill>
                <a:latin typeface="Arial"/>
                <a:ea typeface="Arial"/>
                <a:cs typeface="Arial"/>
                <a:sym typeface="Arial"/>
              </a:rPr>
            </a:br>
            <a:r>
              <a:rPr b="0" i="0" lang="es" sz="1100" u="none" cap="none" strike="noStrike">
                <a:solidFill>
                  <a:schemeClr val="lt1"/>
                </a:solidFill>
                <a:latin typeface="Arial"/>
                <a:ea typeface="Arial"/>
                <a:cs typeface="Arial"/>
                <a:sym typeface="Arial"/>
              </a:rPr>
              <a:t>✅ Automatización de tareas: Se pueden escribir scripts para realizar tareas repetitivas.</a:t>
            </a:r>
            <a:br>
              <a:rPr b="0" i="0" lang="es" sz="1100" u="none" cap="none" strike="noStrike">
                <a:solidFill>
                  <a:schemeClr val="lt1"/>
                </a:solidFill>
                <a:latin typeface="Arial"/>
                <a:ea typeface="Arial"/>
                <a:cs typeface="Arial"/>
                <a:sym typeface="Arial"/>
              </a:rPr>
            </a:br>
            <a:r>
              <a:rPr b="0" i="0" lang="es" sz="1100" u="none" cap="none" strike="noStrike">
                <a:solidFill>
                  <a:schemeClr val="lt1"/>
                </a:solidFill>
                <a:latin typeface="Arial"/>
                <a:ea typeface="Arial"/>
                <a:cs typeface="Arial"/>
                <a:sym typeface="Arial"/>
              </a:rPr>
              <a:t>✅ Manejo de variables y argumentos: Facilita la personalización de scripts.</a:t>
            </a:r>
            <a:br>
              <a:rPr b="0" i="0" lang="es" sz="1100" u="none" cap="none" strike="noStrike">
                <a:solidFill>
                  <a:schemeClr val="lt1"/>
                </a:solidFill>
                <a:latin typeface="Arial"/>
                <a:ea typeface="Arial"/>
                <a:cs typeface="Arial"/>
                <a:sym typeface="Arial"/>
              </a:rPr>
            </a:br>
            <a:r>
              <a:rPr b="0" i="0" lang="es" sz="1100" u="none" cap="none" strike="noStrike">
                <a:solidFill>
                  <a:schemeClr val="lt1"/>
                </a:solidFill>
                <a:latin typeface="Arial"/>
                <a:ea typeface="Arial"/>
                <a:cs typeface="Arial"/>
                <a:sym typeface="Arial"/>
              </a:rPr>
              <a:t>✅ Control de flujo: Uso de if-else, for, while, etc.</a:t>
            </a:r>
            <a:br>
              <a:rPr b="0" i="0" lang="es" sz="1100" u="none" cap="none" strike="noStrike">
                <a:solidFill>
                  <a:schemeClr val="lt1"/>
                </a:solidFill>
                <a:latin typeface="Arial"/>
                <a:ea typeface="Arial"/>
                <a:cs typeface="Arial"/>
                <a:sym typeface="Arial"/>
              </a:rPr>
            </a:br>
            <a:r>
              <a:rPr b="0" i="0" lang="es" sz="1100" u="none" cap="none" strike="noStrike">
                <a:solidFill>
                  <a:schemeClr val="lt1"/>
                </a:solidFill>
                <a:latin typeface="Arial"/>
                <a:ea typeface="Arial"/>
                <a:cs typeface="Arial"/>
                <a:sym typeface="Arial"/>
              </a:rPr>
              <a:t>✅ Manipulación de archivos y procesos: Puede gestionar archivos, procesos y permisos en el sistema.</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g3338785bead_0_12"/>
          <p:cNvPicPr preferRelativeResize="0"/>
          <p:nvPr/>
        </p:nvPicPr>
        <p:blipFill rotWithShape="1">
          <a:blip r:embed="rId3">
            <a:alphaModFix/>
          </a:blip>
          <a:srcRect b="0" l="0" r="0" t="0"/>
          <a:stretch/>
        </p:blipFill>
        <p:spPr>
          <a:xfrm>
            <a:off x="3752100" y="131213"/>
            <a:ext cx="5137150" cy="4881075"/>
          </a:xfrm>
          <a:prstGeom prst="rect">
            <a:avLst/>
          </a:prstGeom>
          <a:noFill/>
          <a:ln>
            <a:noFill/>
          </a:ln>
        </p:spPr>
      </p:pic>
      <p:sp>
        <p:nvSpPr>
          <p:cNvPr id="228" name="Google Shape;228;g3338785bead_0_12"/>
          <p:cNvSpPr txBox="1"/>
          <p:nvPr/>
        </p:nvSpPr>
        <p:spPr>
          <a:xfrm>
            <a:off x="452300" y="2211750"/>
            <a:ext cx="3000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s" sz="2100" u="none" cap="none" strike="noStrike">
                <a:solidFill>
                  <a:schemeClr val="lt1"/>
                </a:solidFill>
                <a:latin typeface="Montserrat"/>
                <a:ea typeface="Montserrat"/>
                <a:cs typeface="Montserrat"/>
                <a:sym typeface="Montserrat"/>
              </a:rPr>
              <a:t>Estructura Básicas en Bash</a:t>
            </a:r>
            <a:endParaRPr b="0" i="0" sz="21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g3338785bead_0_49"/>
          <p:cNvPicPr preferRelativeResize="0"/>
          <p:nvPr/>
        </p:nvPicPr>
        <p:blipFill rotWithShape="1">
          <a:blip r:embed="rId3">
            <a:alphaModFix/>
          </a:blip>
          <a:srcRect b="0" l="0" r="0" t="0"/>
          <a:stretch/>
        </p:blipFill>
        <p:spPr>
          <a:xfrm>
            <a:off x="1668850" y="783375"/>
            <a:ext cx="4983125" cy="1712500"/>
          </a:xfrm>
          <a:prstGeom prst="rect">
            <a:avLst/>
          </a:prstGeom>
          <a:noFill/>
          <a:ln>
            <a:noFill/>
          </a:ln>
        </p:spPr>
      </p:pic>
      <p:sp>
        <p:nvSpPr>
          <p:cNvPr id="234" name="Google Shape;234;g3338785bead_0_49"/>
          <p:cNvSpPr txBox="1"/>
          <p:nvPr/>
        </p:nvSpPr>
        <p:spPr>
          <a:xfrm>
            <a:off x="1569650" y="248300"/>
            <a:ext cx="46833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chemeClr val="lt1"/>
                </a:solidFill>
                <a:latin typeface="Montserrat"/>
                <a:ea typeface="Montserrat"/>
                <a:cs typeface="Montserrat"/>
                <a:sym typeface="Montserrat"/>
              </a:rPr>
              <a:t>Comparación de Números</a:t>
            </a:r>
            <a:endParaRPr b="0" i="0" sz="1700" u="none" cap="none" strike="noStrike">
              <a:solidFill>
                <a:schemeClr val="lt1"/>
              </a:solidFill>
              <a:latin typeface="Montserrat"/>
              <a:ea typeface="Montserrat"/>
              <a:cs typeface="Montserrat"/>
              <a:sym typeface="Montserrat"/>
            </a:endParaRPr>
          </a:p>
        </p:txBody>
      </p:sp>
      <p:pic>
        <p:nvPicPr>
          <p:cNvPr id="235" name="Google Shape;235;g3338785bead_0_49"/>
          <p:cNvPicPr preferRelativeResize="0"/>
          <p:nvPr/>
        </p:nvPicPr>
        <p:blipFill rotWithShape="1">
          <a:blip r:embed="rId4">
            <a:alphaModFix/>
          </a:blip>
          <a:srcRect b="0" l="0" r="0" t="0"/>
          <a:stretch/>
        </p:blipFill>
        <p:spPr>
          <a:xfrm>
            <a:off x="1668850" y="3568765"/>
            <a:ext cx="4983126" cy="1238410"/>
          </a:xfrm>
          <a:prstGeom prst="rect">
            <a:avLst/>
          </a:prstGeom>
          <a:noFill/>
          <a:ln>
            <a:noFill/>
          </a:ln>
        </p:spPr>
      </p:pic>
      <p:sp>
        <p:nvSpPr>
          <p:cNvPr id="236" name="Google Shape;236;g3338785bead_0_49"/>
          <p:cNvSpPr txBox="1"/>
          <p:nvPr/>
        </p:nvSpPr>
        <p:spPr>
          <a:xfrm>
            <a:off x="1569650" y="2953075"/>
            <a:ext cx="4442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chemeClr val="lt1"/>
                </a:solidFill>
                <a:latin typeface="Montserrat"/>
                <a:ea typeface="Montserrat"/>
                <a:cs typeface="Montserrat"/>
                <a:sym typeface="Montserrat"/>
              </a:rPr>
              <a:t>Comparación de Cadenas de Texto</a:t>
            </a:r>
            <a:endParaRPr b="0" i="0" sz="17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338785bead_0_62"/>
          <p:cNvSpPr txBox="1"/>
          <p:nvPr>
            <p:ph type="title"/>
          </p:nvPr>
        </p:nvSpPr>
        <p:spPr>
          <a:xfrm>
            <a:off x="2082000" y="260725"/>
            <a:ext cx="5469900" cy="548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sz="2100"/>
              <a:t>Introducción a los Módulos del Kernel</a:t>
            </a:r>
            <a:endParaRPr/>
          </a:p>
        </p:txBody>
      </p:sp>
      <p:sp>
        <p:nvSpPr>
          <p:cNvPr id="242" name="Google Shape;242;g3338785bead_0_62"/>
          <p:cNvSpPr txBox="1"/>
          <p:nvPr>
            <p:ph idx="1" type="body"/>
          </p:nvPr>
        </p:nvSpPr>
        <p:spPr>
          <a:xfrm>
            <a:off x="1297500" y="1207900"/>
            <a:ext cx="7038900" cy="1241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b="1" lang="es" sz="1100">
                <a:latin typeface="Arial"/>
                <a:ea typeface="Arial"/>
                <a:cs typeface="Arial"/>
                <a:sym typeface="Arial"/>
              </a:rPr>
              <a:t>¿Qué es un Módulo del Kernel?</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lt1"/>
              </a:buClr>
              <a:buSzPts val="1100"/>
              <a:buFont typeface="Arial"/>
              <a:buAutoNum type="arabicPeriod"/>
            </a:pPr>
            <a:r>
              <a:rPr lang="es" sz="1100">
                <a:latin typeface="Arial"/>
                <a:ea typeface="Arial"/>
                <a:cs typeface="Arial"/>
                <a:sym typeface="Arial"/>
              </a:rPr>
              <a:t>Es un fragmento de código que se puede cargar y descargar dinámicamente en el </a:t>
            </a:r>
            <a:r>
              <a:rPr b="1" lang="es" sz="1100">
                <a:latin typeface="Arial"/>
                <a:ea typeface="Arial"/>
                <a:cs typeface="Arial"/>
                <a:sym typeface="Arial"/>
              </a:rPr>
              <a:t>Kernel de Linux</a:t>
            </a:r>
            <a:r>
              <a:rPr lang="e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AutoNum type="arabicPeriod"/>
            </a:pPr>
            <a:r>
              <a:rPr lang="es" sz="1100">
                <a:latin typeface="Arial"/>
                <a:ea typeface="Arial"/>
                <a:cs typeface="Arial"/>
                <a:sym typeface="Arial"/>
              </a:rPr>
              <a:t>Permite extender las funcionalidades del sistema sin necesidad de recompilar el núcleo.</a:t>
            </a:r>
            <a:endParaRPr sz="1100">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AutoNum type="arabicPeriod"/>
            </a:pPr>
            <a:r>
              <a:rPr lang="es" sz="1100">
                <a:latin typeface="Arial"/>
                <a:ea typeface="Arial"/>
                <a:cs typeface="Arial"/>
                <a:sym typeface="Arial"/>
              </a:rPr>
              <a:t>Se usan para </a:t>
            </a:r>
            <a:r>
              <a:rPr b="1" lang="es" sz="1100">
                <a:latin typeface="Arial"/>
                <a:ea typeface="Arial"/>
                <a:cs typeface="Arial"/>
                <a:sym typeface="Arial"/>
              </a:rPr>
              <a:t>controladores de hardware, sistemas de archivos y protocolos de red</a:t>
            </a:r>
            <a:r>
              <a:rPr lang="es" sz="1100">
                <a:latin typeface="Arial"/>
                <a:ea typeface="Arial"/>
                <a:cs typeface="Arial"/>
                <a:sym typeface="Arial"/>
              </a:rPr>
              <a:t>.</a:t>
            </a:r>
            <a:endParaRPr/>
          </a:p>
        </p:txBody>
      </p:sp>
      <p:sp>
        <p:nvSpPr>
          <p:cNvPr id="243" name="Google Shape;243;g3338785bead_0_62"/>
          <p:cNvSpPr txBox="1"/>
          <p:nvPr/>
        </p:nvSpPr>
        <p:spPr>
          <a:xfrm>
            <a:off x="1374550" y="2848375"/>
            <a:ext cx="7038900" cy="128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s" sz="1100" u="none" cap="none" strike="noStrike">
                <a:solidFill>
                  <a:schemeClr val="lt1"/>
                </a:solidFill>
                <a:latin typeface="Arial"/>
                <a:ea typeface="Arial"/>
                <a:cs typeface="Arial"/>
                <a:sym typeface="Arial"/>
              </a:rPr>
              <a:t>Tipos de Módulos del Kernel</a:t>
            </a:r>
            <a:endParaRPr b="1" i="0" sz="1100" u="none" cap="none" strike="noStrike">
              <a:solidFill>
                <a:schemeClr val="lt1"/>
              </a:solidFill>
              <a:latin typeface="Arial"/>
              <a:ea typeface="Arial"/>
              <a:cs typeface="Arial"/>
              <a:sym typeface="Arial"/>
            </a:endParaRPr>
          </a:p>
          <a:p>
            <a:pPr indent="-298450" lvl="0" marL="457200" marR="0" rtl="0" algn="l">
              <a:lnSpc>
                <a:spcPct val="115000"/>
              </a:lnSpc>
              <a:spcBef>
                <a:spcPts val="1200"/>
              </a:spcBef>
              <a:spcAft>
                <a:spcPts val="0"/>
              </a:spcAft>
              <a:buClr>
                <a:schemeClr val="lt1"/>
              </a:buClr>
              <a:buSzPts val="1100"/>
              <a:buFont typeface="Arial"/>
              <a:buAutoNum type="arabicPeriod"/>
            </a:pPr>
            <a:r>
              <a:rPr b="1" i="0" lang="es" sz="1100" u="none" cap="none" strike="noStrike">
                <a:solidFill>
                  <a:schemeClr val="lt1"/>
                </a:solidFill>
                <a:latin typeface="Arial"/>
                <a:ea typeface="Arial"/>
                <a:cs typeface="Arial"/>
                <a:sym typeface="Arial"/>
              </a:rPr>
              <a:t>Módulos de controladores</a:t>
            </a:r>
            <a:r>
              <a:rPr b="0" i="0" lang="es" sz="1100" u="none" cap="none" strike="noStrike">
                <a:solidFill>
                  <a:schemeClr val="lt1"/>
                </a:solidFill>
                <a:latin typeface="Arial"/>
                <a:ea typeface="Arial"/>
                <a:cs typeface="Arial"/>
                <a:sym typeface="Arial"/>
              </a:rPr>
              <a:t> – Manejan hardware como USB, GPU, y discos.</a:t>
            </a:r>
            <a:endParaRPr b="0" i="0"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1" i="0" lang="es" sz="1100" u="none" cap="none" strike="noStrike">
                <a:solidFill>
                  <a:schemeClr val="lt1"/>
                </a:solidFill>
                <a:latin typeface="Arial"/>
                <a:ea typeface="Arial"/>
                <a:cs typeface="Arial"/>
                <a:sym typeface="Arial"/>
              </a:rPr>
              <a:t>Módulos de sistemas de archivos</a:t>
            </a:r>
            <a:r>
              <a:rPr b="0" i="0" lang="es" sz="1100" u="none" cap="none" strike="noStrike">
                <a:solidFill>
                  <a:schemeClr val="lt1"/>
                </a:solidFill>
                <a:latin typeface="Arial"/>
                <a:ea typeface="Arial"/>
                <a:cs typeface="Arial"/>
                <a:sym typeface="Arial"/>
              </a:rPr>
              <a:t> – Añaden compatibilidad con nuevos formatos como </a:t>
            </a:r>
            <a:r>
              <a:rPr b="1" i="0" lang="es" sz="1100" u="none" cap="none" strike="noStrike">
                <a:solidFill>
                  <a:schemeClr val="lt1"/>
                </a:solidFill>
                <a:latin typeface="Arial"/>
                <a:ea typeface="Arial"/>
                <a:cs typeface="Arial"/>
                <a:sym typeface="Arial"/>
              </a:rPr>
              <a:t>ext4, NTFS</a:t>
            </a:r>
            <a:r>
              <a:rPr b="0" i="0" lang="es" sz="1100" u="none" cap="none" strike="noStrike">
                <a:solidFill>
                  <a:schemeClr val="lt1"/>
                </a:solidFill>
                <a:latin typeface="Arial"/>
                <a:ea typeface="Arial"/>
                <a:cs typeface="Arial"/>
                <a:sym typeface="Arial"/>
              </a:rPr>
              <a:t>.</a:t>
            </a:r>
            <a:endParaRPr b="0" i="0"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1" i="0" lang="es" sz="1100" u="none" cap="none" strike="noStrike">
                <a:solidFill>
                  <a:schemeClr val="lt1"/>
                </a:solidFill>
                <a:latin typeface="Arial"/>
                <a:ea typeface="Arial"/>
                <a:cs typeface="Arial"/>
                <a:sym typeface="Arial"/>
              </a:rPr>
              <a:t>Módulos de red</a:t>
            </a:r>
            <a:r>
              <a:rPr b="0" i="0" lang="es" sz="1100" u="none" cap="none" strike="noStrike">
                <a:solidFill>
                  <a:schemeClr val="lt1"/>
                </a:solidFill>
                <a:latin typeface="Arial"/>
                <a:ea typeface="Arial"/>
                <a:cs typeface="Arial"/>
                <a:sym typeface="Arial"/>
              </a:rPr>
              <a:t> – Implementan protocolos como </a:t>
            </a:r>
            <a:r>
              <a:rPr b="1" i="0" lang="es" sz="1100" u="none" cap="none" strike="noStrike">
                <a:solidFill>
                  <a:schemeClr val="lt1"/>
                </a:solidFill>
                <a:latin typeface="Arial"/>
                <a:ea typeface="Arial"/>
                <a:cs typeface="Arial"/>
                <a:sym typeface="Arial"/>
              </a:rPr>
              <a:t>TCP/IP, Wi-Fi, Bluetooth</a:t>
            </a:r>
            <a:r>
              <a:rPr b="0" i="0" lang="es" sz="1100" u="none" cap="none" strike="noStrike">
                <a:solidFill>
                  <a:schemeClr val="lt1"/>
                </a:solidFill>
                <a:latin typeface="Arial"/>
                <a:ea typeface="Arial"/>
                <a:cs typeface="Arial"/>
                <a:sym typeface="Arial"/>
              </a:rPr>
              <a:t>.</a:t>
            </a:r>
            <a:endParaRPr b="0" i="0"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1" i="0" lang="es" sz="1100" u="none" cap="none" strike="noStrike">
                <a:solidFill>
                  <a:schemeClr val="lt1"/>
                </a:solidFill>
                <a:latin typeface="Arial"/>
                <a:ea typeface="Arial"/>
                <a:cs typeface="Arial"/>
                <a:sym typeface="Arial"/>
              </a:rPr>
              <a:t>Módulos personalizados</a:t>
            </a:r>
            <a:r>
              <a:rPr b="0" i="0" lang="es" sz="1100" u="none" cap="none" strike="noStrike">
                <a:solidFill>
                  <a:schemeClr val="lt1"/>
                </a:solidFill>
                <a:latin typeface="Arial"/>
                <a:ea typeface="Arial"/>
                <a:cs typeface="Arial"/>
                <a:sym typeface="Arial"/>
              </a:rPr>
              <a:t> – Desarrollados por usuarios para funcionalidades específicas.</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338785bead_0_72"/>
          <p:cNvSpPr txBox="1"/>
          <p:nvPr/>
        </p:nvSpPr>
        <p:spPr>
          <a:xfrm>
            <a:off x="1206050" y="200400"/>
            <a:ext cx="7547700" cy="146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100"/>
              <a:buFont typeface="Arial"/>
              <a:buNone/>
            </a:pPr>
            <a:r>
              <a:rPr b="0" i="0" lang="es" sz="2100" u="none" cap="none" strike="noStrike">
                <a:solidFill>
                  <a:schemeClr val="lt1"/>
                </a:solidFill>
                <a:latin typeface="Montserrat"/>
                <a:ea typeface="Montserrat"/>
                <a:cs typeface="Montserrat"/>
                <a:sym typeface="Montserrat"/>
              </a:rPr>
              <a:t> Gestión de Módulos del Kernel</a:t>
            </a:r>
            <a:endParaRPr b="0" i="0" sz="1200" u="none" cap="none" strike="noStrike">
              <a:solidFill>
                <a:schemeClr val="lt1"/>
              </a:solidFill>
              <a:latin typeface="Arial"/>
              <a:ea typeface="Arial"/>
              <a:cs typeface="Arial"/>
              <a:sym typeface="Arial"/>
            </a:endParaRPr>
          </a:p>
          <a:p>
            <a:pPr indent="-298450" lvl="0" marL="457200" marR="0" rtl="0" algn="l">
              <a:lnSpc>
                <a:spcPct val="115000"/>
              </a:lnSpc>
              <a:spcBef>
                <a:spcPts val="1200"/>
              </a:spcBef>
              <a:spcAft>
                <a:spcPts val="0"/>
              </a:spcAft>
              <a:buClr>
                <a:schemeClr val="lt1"/>
              </a:buClr>
              <a:buSzPts val="1100"/>
              <a:buFont typeface="Arial"/>
              <a:buAutoNum type="arabicPeriod"/>
            </a:pPr>
            <a:r>
              <a:rPr b="0" i="0" lang="es" sz="1100" u="none" cap="none" strike="noStrike">
                <a:solidFill>
                  <a:schemeClr val="lt1"/>
                </a:solidFill>
                <a:latin typeface="Arial"/>
                <a:ea typeface="Arial"/>
                <a:cs typeface="Arial"/>
                <a:sym typeface="Arial"/>
              </a:rPr>
              <a:t>Listar módulos cargados: </a:t>
            </a:r>
            <a:r>
              <a:rPr b="1" i="1" lang="es" sz="1100" u="none" cap="none" strike="noStrike">
                <a:solidFill>
                  <a:schemeClr val="lt1"/>
                </a:solidFill>
                <a:latin typeface="Arial"/>
                <a:ea typeface="Arial"/>
                <a:cs typeface="Arial"/>
                <a:sym typeface="Arial"/>
              </a:rPr>
              <a:t>lsmod</a:t>
            </a:r>
            <a:endParaRPr b="1" i="1"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0" i="0" lang="es" sz="1100" u="none" cap="none" strike="noStrike">
                <a:solidFill>
                  <a:schemeClr val="lt1"/>
                </a:solidFill>
                <a:latin typeface="Arial"/>
                <a:ea typeface="Arial"/>
                <a:cs typeface="Arial"/>
                <a:sym typeface="Arial"/>
              </a:rPr>
              <a:t>Cargar un módulo: </a:t>
            </a:r>
            <a:r>
              <a:rPr b="1" i="1" lang="es" sz="1100" u="none" cap="none" strike="noStrike">
                <a:solidFill>
                  <a:schemeClr val="lt1"/>
                </a:solidFill>
                <a:latin typeface="Arial"/>
                <a:ea typeface="Arial"/>
                <a:cs typeface="Arial"/>
                <a:sym typeface="Arial"/>
              </a:rPr>
              <a:t>sudo insmod mi_modulo.ko</a:t>
            </a:r>
            <a:endParaRPr b="1" i="1"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0" i="0" lang="es" sz="1100" u="none" cap="none" strike="noStrike">
                <a:solidFill>
                  <a:schemeClr val="lt1"/>
                </a:solidFill>
                <a:latin typeface="Arial"/>
                <a:ea typeface="Arial"/>
                <a:cs typeface="Arial"/>
                <a:sym typeface="Arial"/>
              </a:rPr>
              <a:t>Eliminar un módulo: </a:t>
            </a:r>
            <a:r>
              <a:rPr b="1" i="1" lang="es" sz="1100" u="none" cap="none" strike="noStrike">
                <a:solidFill>
                  <a:schemeClr val="lt1"/>
                </a:solidFill>
                <a:latin typeface="Arial"/>
                <a:ea typeface="Arial"/>
                <a:cs typeface="Arial"/>
                <a:sym typeface="Arial"/>
              </a:rPr>
              <a:t>sudo rmmod mi_modulo</a:t>
            </a:r>
            <a:endParaRPr b="1" i="1"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0" i="0" lang="es" sz="1100" u="none" cap="none" strike="noStrike">
                <a:solidFill>
                  <a:schemeClr val="lt1"/>
                </a:solidFill>
                <a:latin typeface="Arial"/>
                <a:ea typeface="Arial"/>
                <a:cs typeface="Arial"/>
                <a:sym typeface="Arial"/>
              </a:rPr>
              <a:t>Buscar información del módulo: </a:t>
            </a:r>
            <a:r>
              <a:rPr b="1" i="1" lang="es" sz="1100" u="none" cap="none" strike="noStrike">
                <a:solidFill>
                  <a:schemeClr val="lt1"/>
                </a:solidFill>
                <a:latin typeface="Arial"/>
                <a:ea typeface="Arial"/>
                <a:cs typeface="Arial"/>
                <a:sym typeface="Arial"/>
              </a:rPr>
              <a:t>modinfo mi_modulo.ko</a:t>
            </a:r>
            <a:endParaRPr b="1" i="1" sz="1100" u="none" cap="none" strike="noStrike">
              <a:solidFill>
                <a:schemeClr val="lt1"/>
              </a:solidFill>
              <a:latin typeface="Arial"/>
              <a:ea typeface="Arial"/>
              <a:cs typeface="Arial"/>
              <a:sym typeface="Arial"/>
            </a:endParaRPr>
          </a:p>
        </p:txBody>
      </p:sp>
      <p:sp>
        <p:nvSpPr>
          <p:cNvPr id="249" name="Google Shape;249;g3338785bead_0_72"/>
          <p:cNvSpPr txBox="1"/>
          <p:nvPr/>
        </p:nvSpPr>
        <p:spPr>
          <a:xfrm>
            <a:off x="1356825" y="1880050"/>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chemeClr val="lt1"/>
                </a:solidFill>
                <a:latin typeface="Arial"/>
                <a:ea typeface="Arial"/>
                <a:cs typeface="Arial"/>
                <a:sym typeface="Arial"/>
              </a:rPr>
              <a:t>Creación de un Módulo Básico</a:t>
            </a:r>
            <a:endParaRPr b="1" i="0" sz="1100" u="none" cap="none" strike="noStrike">
              <a:solidFill>
                <a:schemeClr val="lt1"/>
              </a:solidFill>
              <a:latin typeface="Arial"/>
              <a:ea typeface="Arial"/>
              <a:cs typeface="Arial"/>
              <a:sym typeface="Arial"/>
            </a:endParaRPr>
          </a:p>
        </p:txBody>
      </p:sp>
      <p:pic>
        <p:nvPicPr>
          <p:cNvPr id="250" name="Google Shape;250;g3338785bead_0_72"/>
          <p:cNvPicPr preferRelativeResize="0"/>
          <p:nvPr/>
        </p:nvPicPr>
        <p:blipFill rotWithShape="1">
          <a:blip r:embed="rId3">
            <a:alphaModFix/>
          </a:blip>
          <a:srcRect b="0" l="0" r="0" t="0"/>
          <a:stretch/>
        </p:blipFill>
        <p:spPr>
          <a:xfrm>
            <a:off x="1484025" y="2297750"/>
            <a:ext cx="3087987" cy="2604650"/>
          </a:xfrm>
          <a:prstGeom prst="rect">
            <a:avLst/>
          </a:prstGeom>
          <a:noFill/>
          <a:ln>
            <a:noFill/>
          </a:ln>
        </p:spPr>
      </p:pic>
      <p:sp>
        <p:nvSpPr>
          <p:cNvPr id="251" name="Google Shape;251;g3338785bead_0_72"/>
          <p:cNvSpPr txBox="1"/>
          <p:nvPr/>
        </p:nvSpPr>
        <p:spPr>
          <a:xfrm>
            <a:off x="5879550" y="19332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lt1"/>
                </a:solidFill>
                <a:latin typeface="Arial"/>
                <a:ea typeface="Arial"/>
                <a:cs typeface="Arial"/>
                <a:sym typeface="Arial"/>
              </a:rPr>
              <a:t>Compilar con un Makefile</a:t>
            </a:r>
            <a:endParaRPr b="0" i="0" sz="1400" u="none" cap="none" strike="noStrike">
              <a:solidFill>
                <a:schemeClr val="lt1"/>
              </a:solidFill>
              <a:latin typeface="Arial"/>
              <a:ea typeface="Arial"/>
              <a:cs typeface="Arial"/>
              <a:sym typeface="Arial"/>
            </a:endParaRPr>
          </a:p>
        </p:txBody>
      </p:sp>
      <p:pic>
        <p:nvPicPr>
          <p:cNvPr id="252" name="Google Shape;252;g3338785bead_0_72"/>
          <p:cNvPicPr preferRelativeResize="0"/>
          <p:nvPr/>
        </p:nvPicPr>
        <p:blipFill rotWithShape="1">
          <a:blip r:embed="rId4">
            <a:alphaModFix/>
          </a:blip>
          <a:srcRect b="0" l="0" r="0" t="0"/>
          <a:stretch/>
        </p:blipFill>
        <p:spPr>
          <a:xfrm>
            <a:off x="5172746" y="2421100"/>
            <a:ext cx="3581000" cy="532025"/>
          </a:xfrm>
          <a:prstGeom prst="rect">
            <a:avLst/>
          </a:prstGeom>
          <a:noFill/>
          <a:ln>
            <a:noFill/>
          </a:ln>
        </p:spPr>
      </p:pic>
      <p:sp>
        <p:nvSpPr>
          <p:cNvPr id="253" name="Google Shape;253;g3338785bead_0_72"/>
          <p:cNvSpPr txBox="1"/>
          <p:nvPr/>
        </p:nvSpPr>
        <p:spPr>
          <a:xfrm>
            <a:off x="5879550" y="3511750"/>
            <a:ext cx="2625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lt1"/>
                </a:solidFill>
                <a:latin typeface="Arial"/>
                <a:ea typeface="Arial"/>
                <a:cs typeface="Arial"/>
                <a:sym typeface="Arial"/>
              </a:rPr>
              <a:t>Cargar y probar el módulo:</a:t>
            </a:r>
            <a:endParaRPr b="0" i="0" sz="1400" u="none" cap="none" strike="noStrike">
              <a:solidFill>
                <a:schemeClr val="lt1"/>
              </a:solidFill>
              <a:latin typeface="Arial"/>
              <a:ea typeface="Arial"/>
              <a:cs typeface="Arial"/>
              <a:sym typeface="Arial"/>
            </a:endParaRPr>
          </a:p>
        </p:txBody>
      </p:sp>
      <p:pic>
        <p:nvPicPr>
          <p:cNvPr id="254" name="Google Shape;254;g3338785bead_0_72"/>
          <p:cNvPicPr preferRelativeResize="0"/>
          <p:nvPr/>
        </p:nvPicPr>
        <p:blipFill rotWithShape="1">
          <a:blip r:embed="rId5">
            <a:alphaModFix/>
          </a:blip>
          <a:srcRect b="0" l="0" r="0" t="0"/>
          <a:stretch/>
        </p:blipFill>
        <p:spPr>
          <a:xfrm>
            <a:off x="5227125" y="4053262"/>
            <a:ext cx="3581000" cy="4420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5c6a413e71_0_26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Competencias Desarrolladas por el Estudiante</a:t>
            </a:r>
            <a:endParaRPr/>
          </a:p>
        </p:txBody>
      </p:sp>
      <p:sp>
        <p:nvSpPr>
          <p:cNvPr id="260" name="Google Shape;260;g35c6a413e71_0_26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s"/>
              <a:t>Dominio de herramientas modernas de virtualización y contenerización.</a:t>
            </a:r>
            <a:br>
              <a:rPr lang="es"/>
            </a:br>
            <a:endParaRPr/>
          </a:p>
          <a:p>
            <a:pPr indent="-311150" lvl="0" marL="457200" rtl="0" algn="l">
              <a:spcBef>
                <a:spcPts val="0"/>
              </a:spcBef>
              <a:spcAft>
                <a:spcPts val="0"/>
              </a:spcAft>
              <a:buSzPts val="1300"/>
              <a:buChar char="●"/>
            </a:pPr>
            <a:r>
              <a:rPr lang="es"/>
              <a:t>Capacidad de integración entre máquinas virtuales y contenedores.</a:t>
            </a:r>
            <a:br>
              <a:rPr lang="es"/>
            </a:br>
            <a:endParaRPr/>
          </a:p>
          <a:p>
            <a:pPr indent="-311150" lvl="0" marL="457200" rtl="0" algn="l">
              <a:spcBef>
                <a:spcPts val="0"/>
              </a:spcBef>
              <a:spcAft>
                <a:spcPts val="0"/>
              </a:spcAft>
              <a:buSzPts val="1300"/>
              <a:buChar char="●"/>
            </a:pPr>
            <a:r>
              <a:rPr lang="es"/>
              <a:t>Comprensión del ciclo completo de despliegue de aplicaciones.</a:t>
            </a:r>
            <a:br>
              <a:rPr lang="es"/>
            </a:br>
            <a:endParaRPr/>
          </a:p>
          <a:p>
            <a:pPr indent="-311150" lvl="0" marL="457200" rtl="0" algn="l">
              <a:spcBef>
                <a:spcPts val="0"/>
              </a:spcBef>
              <a:spcAft>
                <a:spcPts val="0"/>
              </a:spcAft>
              <a:buSzPts val="1300"/>
              <a:buChar char="●"/>
            </a:pPr>
            <a:r>
              <a:rPr lang="es"/>
              <a:t>Habilidades prácticas en seguridad, gestión de imágenes y automatización.</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5ef6d705af_0_5"/>
          <p:cNvSpPr txBox="1"/>
          <p:nvPr>
            <p:ph type="title"/>
          </p:nvPr>
        </p:nvSpPr>
        <p:spPr>
          <a:xfrm>
            <a:off x="1297500" y="301150"/>
            <a:ext cx="7038900" cy="67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Ejemplos Aplicados en la Vida Real</a:t>
            </a:r>
            <a:endParaRPr/>
          </a:p>
        </p:txBody>
      </p:sp>
      <p:graphicFrame>
        <p:nvGraphicFramePr>
          <p:cNvPr id="266" name="Google Shape;266;g35ef6d705af_0_5"/>
          <p:cNvGraphicFramePr/>
          <p:nvPr/>
        </p:nvGraphicFramePr>
        <p:xfrm>
          <a:off x="1069950" y="909900"/>
          <a:ext cx="3000000" cy="3000000"/>
        </p:xfrm>
        <a:graphic>
          <a:graphicData uri="http://schemas.openxmlformats.org/drawingml/2006/table">
            <a:tbl>
              <a:tblPr>
                <a:noFill/>
                <a:tableStyleId>{FF4AE11E-7BD4-4880-83ED-9843F8E10970}</a:tableStyleId>
              </a:tblPr>
              <a:tblGrid>
                <a:gridCol w="1915000"/>
                <a:gridCol w="5959650"/>
              </a:tblGrid>
              <a:tr h="358375">
                <a:tc>
                  <a:txBody>
                    <a:bodyPr/>
                    <a:lstStyle/>
                    <a:p>
                      <a:pPr indent="0" lvl="0" marL="0" rtl="0" algn="ctr">
                        <a:lnSpc>
                          <a:spcPct val="115000"/>
                        </a:lnSpc>
                        <a:spcBef>
                          <a:spcPts val="0"/>
                        </a:spcBef>
                        <a:spcAft>
                          <a:spcPts val="0"/>
                        </a:spcAft>
                        <a:buNone/>
                      </a:pPr>
                      <a:r>
                        <a:rPr b="1" lang="es" sz="1100">
                          <a:solidFill>
                            <a:schemeClr val="lt1"/>
                          </a:solidFill>
                        </a:rPr>
                        <a:t>Área / Entorno</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 sz="1100">
                          <a:solidFill>
                            <a:schemeClr val="lt1"/>
                          </a:solidFill>
                        </a:rPr>
                        <a:t>Aplicación práctica</a:t>
                      </a:r>
                      <a:endParaRPr b="1" sz="1100">
                        <a:solidFill>
                          <a:schemeClr val="lt1"/>
                        </a:solidFill>
                      </a:endParaRPr>
                    </a:p>
                  </a:txBody>
                  <a:tcPr marT="91425" marB="91425" marR="91425" marL="91425"/>
                </a:tc>
              </a:tr>
              <a:tr h="577800">
                <a:tc>
                  <a:txBody>
                    <a:bodyPr/>
                    <a:lstStyle/>
                    <a:p>
                      <a:pPr indent="0" lvl="0" marL="0" rtl="0" algn="l">
                        <a:spcBef>
                          <a:spcPts val="0"/>
                        </a:spcBef>
                        <a:spcAft>
                          <a:spcPts val="0"/>
                        </a:spcAft>
                        <a:buNone/>
                      </a:pPr>
                      <a:r>
                        <a:rPr b="1" lang="es" sz="1100">
                          <a:solidFill>
                            <a:schemeClr val="lt1"/>
                          </a:solidFill>
                        </a:rPr>
                        <a:t>Administración de sistemas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Automatización de tareas rutinarias con scripts Bash: backups, limpieza de logs, monitoreo de servicios.</a:t>
                      </a:r>
                      <a:endParaRPr>
                        <a:solidFill>
                          <a:schemeClr val="lt1"/>
                        </a:solidFill>
                      </a:endParaRPr>
                    </a:p>
                  </a:txBody>
                  <a:tcPr marT="91425" marB="91425" marR="91425" marL="91425"/>
                </a:tc>
              </a:tr>
              <a:tr h="577800">
                <a:tc>
                  <a:txBody>
                    <a:bodyPr/>
                    <a:lstStyle/>
                    <a:p>
                      <a:pPr indent="0" lvl="0" marL="0" rtl="0" algn="l">
                        <a:spcBef>
                          <a:spcPts val="0"/>
                        </a:spcBef>
                        <a:spcAft>
                          <a:spcPts val="0"/>
                        </a:spcAft>
                        <a:buNone/>
                      </a:pPr>
                      <a:r>
                        <a:rPr b="1" lang="es" sz="1100">
                          <a:solidFill>
                            <a:schemeClr val="lt1"/>
                          </a:solidFill>
                        </a:rPr>
                        <a:t>DevOps y CI/CD</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Bash es usado en pipelines (GitLab CI, Jenkins) para compilar, probar y desplegar software automáticamente.</a:t>
                      </a:r>
                      <a:endParaRPr>
                        <a:solidFill>
                          <a:schemeClr val="lt1"/>
                        </a:solidFill>
                      </a:endParaRPr>
                    </a:p>
                  </a:txBody>
                  <a:tcPr marT="91425" marB="91425" marR="91425" marL="91425"/>
                </a:tc>
              </a:tr>
              <a:tr h="577800">
                <a:tc>
                  <a:txBody>
                    <a:bodyPr/>
                    <a:lstStyle/>
                    <a:p>
                      <a:pPr indent="0" lvl="0" marL="0" rtl="0" algn="l">
                        <a:spcBef>
                          <a:spcPts val="0"/>
                        </a:spcBef>
                        <a:spcAft>
                          <a:spcPts val="0"/>
                        </a:spcAft>
                        <a:buNone/>
                      </a:pPr>
                      <a:r>
                        <a:rPr b="1" lang="es" sz="1100">
                          <a:solidFill>
                            <a:schemeClr val="lt1"/>
                          </a:solidFill>
                        </a:rPr>
                        <a:t>Seguridad informática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Scripts en Bash permiten ejecutar auditorías básicas del sistema, revisión de permisos y usuarios.</a:t>
                      </a:r>
                      <a:endParaRPr>
                        <a:solidFill>
                          <a:schemeClr val="lt1"/>
                        </a:solidFill>
                      </a:endParaRPr>
                    </a:p>
                  </a:txBody>
                  <a:tcPr marT="91425" marB="91425" marR="91425" marL="91425"/>
                </a:tc>
              </a:tr>
              <a:tr h="577800">
                <a:tc>
                  <a:txBody>
                    <a:bodyPr/>
                    <a:lstStyle/>
                    <a:p>
                      <a:pPr indent="0" lvl="0" marL="0" rtl="0" algn="l">
                        <a:spcBef>
                          <a:spcPts val="0"/>
                        </a:spcBef>
                        <a:spcAft>
                          <a:spcPts val="0"/>
                        </a:spcAft>
                        <a:buNone/>
                      </a:pPr>
                      <a:r>
                        <a:rPr b="1" lang="es" sz="1100">
                          <a:solidFill>
                            <a:schemeClr val="lt1"/>
                          </a:solidFill>
                        </a:rPr>
                        <a:t>Educación técnica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Se utilizan scripts Bash para prácticas de lógica, procesos, y manipulación del sistema de archivos.</a:t>
                      </a:r>
                      <a:endParaRPr>
                        <a:solidFill>
                          <a:schemeClr val="lt1"/>
                        </a:solidFill>
                      </a:endParaRPr>
                    </a:p>
                  </a:txBody>
                  <a:tcPr marT="91425" marB="91425" marR="91425" marL="91425"/>
                </a:tc>
              </a:tr>
              <a:tr h="577800">
                <a:tc>
                  <a:txBody>
                    <a:bodyPr/>
                    <a:lstStyle/>
                    <a:p>
                      <a:pPr indent="0" lvl="0" marL="0" rtl="0" algn="l">
                        <a:spcBef>
                          <a:spcPts val="0"/>
                        </a:spcBef>
                        <a:spcAft>
                          <a:spcPts val="0"/>
                        </a:spcAft>
                        <a:buNone/>
                      </a:pPr>
                      <a:r>
                        <a:rPr b="1" lang="es" sz="1100">
                          <a:solidFill>
                            <a:schemeClr val="lt1"/>
                          </a:solidFill>
                        </a:rPr>
                        <a:t>Desarrollo de controladores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Los módulos de kernel permiten a los desarrolladores crear controladores personalizados sin recompilar el sistema completo.</a:t>
                      </a:r>
                      <a:endParaRPr>
                        <a:solidFill>
                          <a:schemeClr val="lt1"/>
                        </a:solidFill>
                      </a:endParaRPr>
                    </a:p>
                  </a:txBody>
                  <a:tcPr marT="91425" marB="91425" marR="91425" marL="91425"/>
                </a:tc>
              </a:tr>
              <a:tr h="577800">
                <a:tc>
                  <a:txBody>
                    <a:bodyPr/>
                    <a:lstStyle/>
                    <a:p>
                      <a:pPr indent="0" lvl="0" marL="0" rtl="0" algn="l">
                        <a:spcBef>
                          <a:spcPts val="0"/>
                        </a:spcBef>
                        <a:spcAft>
                          <a:spcPts val="0"/>
                        </a:spcAft>
                        <a:buNone/>
                      </a:pPr>
                      <a:r>
                        <a:rPr b="1" lang="es" sz="1100">
                          <a:solidFill>
                            <a:schemeClr val="lt1"/>
                          </a:solidFill>
                        </a:rPr>
                        <a:t>Embedded y sistemas especializados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Empresas usan módulos de kernel para gestionar hardware específico como sensores, buses y protocolos industriales.</a:t>
                      </a:r>
                      <a:endParaRPr>
                        <a:solidFill>
                          <a:schemeClr val="lt1"/>
                        </a:solidFill>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5ef6d705af_0_0"/>
          <p:cNvSpPr txBox="1"/>
          <p:nvPr>
            <p:ph type="title"/>
          </p:nvPr>
        </p:nvSpPr>
        <p:spPr>
          <a:xfrm>
            <a:off x="1297500" y="275875"/>
            <a:ext cx="7038900" cy="63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Valores y Actitudes Desarrolladas</a:t>
            </a:r>
            <a:endParaRPr/>
          </a:p>
        </p:txBody>
      </p:sp>
      <p:graphicFrame>
        <p:nvGraphicFramePr>
          <p:cNvPr id="272" name="Google Shape;272;g35ef6d705af_0_0"/>
          <p:cNvGraphicFramePr/>
          <p:nvPr/>
        </p:nvGraphicFramePr>
        <p:xfrm>
          <a:off x="1145725" y="910975"/>
          <a:ext cx="3000000" cy="3000000"/>
        </p:xfrm>
        <a:graphic>
          <a:graphicData uri="http://schemas.openxmlformats.org/drawingml/2006/table">
            <a:tbl>
              <a:tblPr>
                <a:noFill/>
                <a:tableStyleId>{FF4AE11E-7BD4-4880-83ED-9843F8E10970}</a:tableStyleId>
              </a:tblPr>
              <a:tblGrid>
                <a:gridCol w="1437050"/>
                <a:gridCol w="6134800"/>
              </a:tblGrid>
              <a:tr h="360725">
                <a:tc>
                  <a:txBody>
                    <a:bodyPr/>
                    <a:lstStyle/>
                    <a:p>
                      <a:pPr indent="0" lvl="0" marL="0" rtl="0" algn="ctr">
                        <a:lnSpc>
                          <a:spcPct val="115000"/>
                        </a:lnSpc>
                        <a:spcBef>
                          <a:spcPts val="0"/>
                        </a:spcBef>
                        <a:spcAft>
                          <a:spcPts val="0"/>
                        </a:spcAft>
                        <a:buNone/>
                      </a:pPr>
                      <a:r>
                        <a:rPr b="1" lang="es" sz="1100">
                          <a:solidFill>
                            <a:schemeClr val="lt1"/>
                          </a:solidFill>
                        </a:rPr>
                        <a:t>Valor / Actitud</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 sz="1100">
                          <a:solidFill>
                            <a:schemeClr val="lt1"/>
                          </a:solidFill>
                        </a:rPr>
                        <a:t>Relación con Bash y Módulos de Kernel</a:t>
                      </a:r>
                      <a:endParaRPr b="1" sz="1100">
                        <a:solidFill>
                          <a:schemeClr val="lt1"/>
                        </a:solidFill>
                      </a:endParaRPr>
                    </a:p>
                  </a:txBody>
                  <a:tcPr marT="91425" marB="91425" marR="91425" marL="91425"/>
                </a:tc>
              </a:tr>
              <a:tr h="581600">
                <a:tc>
                  <a:txBody>
                    <a:bodyPr/>
                    <a:lstStyle/>
                    <a:p>
                      <a:pPr indent="0" lvl="0" marL="0" rtl="0" algn="l">
                        <a:spcBef>
                          <a:spcPts val="0"/>
                        </a:spcBef>
                        <a:spcAft>
                          <a:spcPts val="0"/>
                        </a:spcAft>
                        <a:buNone/>
                      </a:pPr>
                      <a:r>
                        <a:rPr b="1" lang="es" sz="1100">
                          <a:solidFill>
                            <a:schemeClr val="lt1"/>
                          </a:solidFill>
                        </a:rPr>
                        <a:t>Responsabilidad</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Trabajar con el kernel o con scripts que automatizan procesos exige conciencia de los riesgos e impacto.</a:t>
                      </a:r>
                      <a:endParaRPr>
                        <a:solidFill>
                          <a:schemeClr val="lt1"/>
                        </a:solidFill>
                      </a:endParaRPr>
                    </a:p>
                  </a:txBody>
                  <a:tcPr marT="91425" marB="91425" marR="91425" marL="91425"/>
                </a:tc>
              </a:tr>
              <a:tr h="581600">
                <a:tc>
                  <a:txBody>
                    <a:bodyPr/>
                    <a:lstStyle/>
                    <a:p>
                      <a:pPr indent="0" lvl="0" marL="0" rtl="0" algn="l">
                        <a:spcBef>
                          <a:spcPts val="0"/>
                        </a:spcBef>
                        <a:spcAft>
                          <a:spcPts val="0"/>
                        </a:spcAft>
                        <a:buNone/>
                      </a:pPr>
                      <a:r>
                        <a:rPr b="1" lang="es" sz="1100">
                          <a:solidFill>
                            <a:schemeClr val="lt1"/>
                          </a:solidFill>
                        </a:rPr>
                        <a:t>Precisión</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Tanto en Bash como en desarrollo de módulos, un error mínimo puede comprometer la funcionalidad del sistema.</a:t>
                      </a:r>
                      <a:endParaRPr>
                        <a:solidFill>
                          <a:schemeClr val="lt1"/>
                        </a:solidFill>
                      </a:endParaRPr>
                    </a:p>
                  </a:txBody>
                  <a:tcPr marT="91425" marB="91425" marR="91425" marL="91425"/>
                </a:tc>
              </a:tr>
              <a:tr h="581600">
                <a:tc>
                  <a:txBody>
                    <a:bodyPr/>
                    <a:lstStyle/>
                    <a:p>
                      <a:pPr indent="0" lvl="0" marL="0" rtl="0" algn="l">
                        <a:spcBef>
                          <a:spcPts val="0"/>
                        </a:spcBef>
                        <a:spcAft>
                          <a:spcPts val="0"/>
                        </a:spcAft>
                        <a:buNone/>
                      </a:pPr>
                      <a:r>
                        <a:rPr b="1" lang="es" sz="1100">
                          <a:solidFill>
                            <a:schemeClr val="lt1"/>
                          </a:solidFill>
                        </a:rPr>
                        <a:t>Autonomía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Estas herramientas fomentan la investigación y la solución de problemas de forma independiente.</a:t>
                      </a:r>
                      <a:endParaRPr>
                        <a:solidFill>
                          <a:schemeClr val="lt1"/>
                        </a:solidFill>
                      </a:endParaRPr>
                    </a:p>
                  </a:txBody>
                  <a:tcPr marT="91425" marB="91425" marR="91425" marL="91425"/>
                </a:tc>
              </a:tr>
              <a:tr h="581600">
                <a:tc>
                  <a:txBody>
                    <a:bodyPr/>
                    <a:lstStyle/>
                    <a:p>
                      <a:pPr indent="0" lvl="0" marL="0" rtl="0" algn="l">
                        <a:spcBef>
                          <a:spcPts val="0"/>
                        </a:spcBef>
                        <a:spcAft>
                          <a:spcPts val="0"/>
                        </a:spcAft>
                        <a:buNone/>
                      </a:pPr>
                      <a:r>
                        <a:rPr b="1" lang="es" sz="1100">
                          <a:solidFill>
                            <a:schemeClr val="lt1"/>
                          </a:solidFill>
                        </a:rPr>
                        <a:t>Disciplina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Se requiere atención constante al detalle y a las buenas prácticas de documentación y estructura.</a:t>
                      </a:r>
                      <a:endParaRPr>
                        <a:solidFill>
                          <a:schemeClr val="lt1"/>
                        </a:solidFill>
                      </a:endParaRPr>
                    </a:p>
                  </a:txBody>
                  <a:tcPr marT="91425" marB="91425" marR="91425" marL="91425"/>
                </a:tc>
              </a:tr>
              <a:tr h="581600">
                <a:tc>
                  <a:txBody>
                    <a:bodyPr/>
                    <a:lstStyle/>
                    <a:p>
                      <a:pPr indent="0" lvl="0" marL="0" rtl="0" algn="l">
                        <a:spcBef>
                          <a:spcPts val="0"/>
                        </a:spcBef>
                        <a:spcAft>
                          <a:spcPts val="0"/>
                        </a:spcAft>
                        <a:buNone/>
                      </a:pPr>
                      <a:r>
                        <a:rPr b="1" lang="es" sz="1100">
                          <a:solidFill>
                            <a:schemeClr val="lt1"/>
                          </a:solidFill>
                        </a:rPr>
                        <a:t>Pensamiento crítico</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Diagnosticar fallas y depurar scripts o módulos promueve el análisis lógico y estructurado.</a:t>
                      </a:r>
                      <a:endParaRPr>
                        <a:solidFill>
                          <a:schemeClr val="lt1"/>
                        </a:solidFill>
                      </a:endParaRPr>
                    </a:p>
                  </a:txBody>
                  <a:tcPr marT="91425" marB="91425" marR="91425" marL="91425"/>
                </a:tc>
              </a:tr>
              <a:tr h="581600">
                <a:tc>
                  <a:txBody>
                    <a:bodyPr/>
                    <a:lstStyle/>
                    <a:p>
                      <a:pPr indent="0" lvl="0" marL="0" rtl="0" algn="l">
                        <a:spcBef>
                          <a:spcPts val="0"/>
                        </a:spcBef>
                        <a:spcAft>
                          <a:spcPts val="0"/>
                        </a:spcAft>
                        <a:buNone/>
                      </a:pPr>
                      <a:r>
                        <a:rPr b="1" lang="es" sz="1100">
                          <a:solidFill>
                            <a:schemeClr val="lt1"/>
                          </a:solidFill>
                        </a:rPr>
                        <a:t>Respeto al software libre</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
                          <a:solidFill>
                            <a:schemeClr val="lt1"/>
                          </a:solidFill>
                        </a:rPr>
                        <a:t>El uso de Linux, Bash y el kernel promueve el entendimiento de la colaboración abierta y ética tecnológica.</a:t>
                      </a:r>
                      <a:endParaRPr>
                        <a:solidFill>
                          <a:schemeClr val="lt1"/>
                        </a:solidFill>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5c6a413e71_0_27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Conclusiones</a:t>
            </a:r>
            <a:endParaRPr/>
          </a:p>
        </p:txBody>
      </p:sp>
      <p:sp>
        <p:nvSpPr>
          <p:cNvPr id="278" name="Google Shape;278;g35c6a413e71_0_27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s"/>
              <a:t>La virtualización y contenerización son tecnologías clave en entornos modernos.</a:t>
            </a:r>
            <a:br>
              <a:rPr lang="es"/>
            </a:br>
            <a:endParaRPr/>
          </a:p>
          <a:p>
            <a:pPr indent="-311150" lvl="0" marL="457200" rtl="0" algn="l">
              <a:spcBef>
                <a:spcPts val="0"/>
              </a:spcBef>
              <a:spcAft>
                <a:spcPts val="0"/>
              </a:spcAft>
              <a:buSzPts val="1300"/>
              <a:buChar char="●"/>
            </a:pPr>
            <a:r>
              <a:rPr lang="es"/>
              <a:t>Docker, Containerd, Harbor y Zot permiten una gestión eficiente y segura de servicios.</a:t>
            </a:r>
            <a:br>
              <a:rPr lang="es"/>
            </a:br>
            <a:endParaRPr/>
          </a:p>
          <a:p>
            <a:pPr indent="-311150" lvl="0" marL="457200" rtl="0" algn="l">
              <a:spcBef>
                <a:spcPts val="0"/>
              </a:spcBef>
              <a:spcAft>
                <a:spcPts val="0"/>
              </a:spcAft>
              <a:buSzPts val="1300"/>
              <a:buChar char="●"/>
            </a:pPr>
            <a:r>
              <a:rPr lang="es"/>
              <a:t>El estudiante desarrolla competencias alineadas con la industria tecnológica actual.</a:t>
            </a:r>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5c6a413e71_0_27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Referencias y Recursos</a:t>
            </a:r>
            <a:endParaRPr/>
          </a:p>
        </p:txBody>
      </p:sp>
      <p:sp>
        <p:nvSpPr>
          <p:cNvPr id="284" name="Google Shape;284;g35c6a413e71_0_27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Font typeface="Arial"/>
              <a:buChar char="●"/>
            </a:pPr>
            <a:r>
              <a:rPr lang="es" sz="1100">
                <a:latin typeface="Arial"/>
                <a:ea typeface="Arial"/>
                <a:cs typeface="Arial"/>
                <a:sym typeface="Arial"/>
              </a:rPr>
              <a:t>Docker Documentation: https://docs.docker.com</a:t>
            </a:r>
            <a:br>
              <a:rPr lang="es"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s" sz="1100">
                <a:latin typeface="Arial"/>
                <a:ea typeface="Arial"/>
                <a:cs typeface="Arial"/>
                <a:sym typeface="Arial"/>
              </a:rPr>
              <a:t>Harbor Project:</a:t>
            </a:r>
            <a:r>
              <a:rPr lang="es" sz="1100">
                <a:uFill>
                  <a:noFill/>
                </a:uFill>
                <a:latin typeface="Arial"/>
                <a:ea typeface="Arial"/>
                <a:cs typeface="Arial"/>
                <a:sym typeface="Arial"/>
                <a:hlinkClick r:id="rId3"/>
              </a:rPr>
              <a:t> </a:t>
            </a:r>
            <a:r>
              <a:rPr lang="es" sz="1100" u="sng">
                <a:latin typeface="Arial"/>
                <a:ea typeface="Arial"/>
                <a:cs typeface="Arial"/>
                <a:sym typeface="Arial"/>
                <a:hlinkClick r:id="rId4"/>
              </a:rPr>
              <a:t>https://goharbor.io</a:t>
            </a:r>
            <a:br>
              <a:rPr lang="es" sz="1100" u="sng">
                <a:latin typeface="Arial"/>
                <a:ea typeface="Arial"/>
                <a:cs typeface="Arial"/>
                <a:sym typeface="Arial"/>
                <a:hlinkClick r:id="rId5"/>
              </a:rPr>
            </a:br>
            <a:endParaRPr sz="1100" u="sng">
              <a:latin typeface="Arial"/>
              <a:ea typeface="Arial"/>
              <a:cs typeface="Arial"/>
              <a:sym typeface="Arial"/>
            </a:endParaRPr>
          </a:p>
          <a:p>
            <a:pPr indent="-298450" lvl="0" marL="457200" rtl="0" algn="l">
              <a:spcBef>
                <a:spcPts val="0"/>
              </a:spcBef>
              <a:spcAft>
                <a:spcPts val="0"/>
              </a:spcAft>
              <a:buSzPts val="1100"/>
              <a:buFont typeface="Arial"/>
              <a:buChar char="●"/>
            </a:pPr>
            <a:r>
              <a:rPr lang="es" sz="1100">
                <a:latin typeface="Arial"/>
                <a:ea typeface="Arial"/>
                <a:cs typeface="Arial"/>
                <a:sym typeface="Arial"/>
              </a:rPr>
              <a:t>Zot Registry:</a:t>
            </a:r>
            <a:r>
              <a:rPr lang="es" sz="1100">
                <a:uFill>
                  <a:noFill/>
                </a:uFill>
                <a:latin typeface="Arial"/>
                <a:ea typeface="Arial"/>
                <a:cs typeface="Arial"/>
                <a:sym typeface="Arial"/>
                <a:hlinkClick r:id="rId6"/>
              </a:rPr>
              <a:t> </a:t>
            </a:r>
            <a:r>
              <a:rPr lang="es" sz="1100" u="sng">
                <a:latin typeface="Arial"/>
                <a:ea typeface="Arial"/>
                <a:cs typeface="Arial"/>
                <a:sym typeface="Arial"/>
                <a:hlinkClick r:id="rId7"/>
              </a:rPr>
              <a:t>https://github.com/project-zot/zot</a:t>
            </a:r>
            <a:br>
              <a:rPr lang="es" sz="1100" u="sng">
                <a:latin typeface="Arial"/>
                <a:ea typeface="Arial"/>
                <a:cs typeface="Arial"/>
                <a:sym typeface="Arial"/>
                <a:hlinkClick r:id="rId8"/>
              </a:rPr>
            </a:br>
            <a:endParaRPr sz="1100" u="sng">
              <a:latin typeface="Arial"/>
              <a:ea typeface="Arial"/>
              <a:cs typeface="Arial"/>
              <a:sym typeface="Arial"/>
            </a:endParaRPr>
          </a:p>
          <a:p>
            <a:pPr indent="-298450" lvl="0" marL="457200" rtl="0" algn="l">
              <a:spcBef>
                <a:spcPts val="0"/>
              </a:spcBef>
              <a:spcAft>
                <a:spcPts val="0"/>
              </a:spcAft>
              <a:buSzPts val="1100"/>
              <a:buFont typeface="Arial"/>
              <a:buChar char="●"/>
            </a:pPr>
            <a:r>
              <a:rPr lang="es" sz="1100">
                <a:latin typeface="Arial"/>
                <a:ea typeface="Arial"/>
                <a:cs typeface="Arial"/>
                <a:sym typeface="Arial"/>
              </a:rPr>
              <a:t>Containerd:</a:t>
            </a:r>
            <a:r>
              <a:rPr lang="es" sz="1100">
                <a:uFill>
                  <a:noFill/>
                </a:uFill>
                <a:latin typeface="Arial"/>
                <a:ea typeface="Arial"/>
                <a:cs typeface="Arial"/>
                <a:sym typeface="Arial"/>
                <a:hlinkClick r:id="rId9"/>
              </a:rPr>
              <a:t> </a:t>
            </a:r>
            <a:r>
              <a:rPr lang="es" sz="1100" u="sng">
                <a:latin typeface="Arial"/>
                <a:ea typeface="Arial"/>
                <a:cs typeface="Arial"/>
                <a:sym typeface="Arial"/>
                <a:hlinkClick r:id="rId10"/>
              </a:rPr>
              <a:t>https://containerd.io</a:t>
            </a:r>
            <a:br>
              <a:rPr lang="es" sz="1100" u="sng">
                <a:latin typeface="Arial"/>
                <a:ea typeface="Arial"/>
                <a:cs typeface="Arial"/>
                <a:sym typeface="Arial"/>
                <a:hlinkClick r:id="rId11"/>
              </a:rPr>
            </a:br>
            <a:endParaRPr sz="1100" u="sng">
              <a:latin typeface="Arial"/>
              <a:ea typeface="Arial"/>
              <a:cs typeface="Arial"/>
              <a:sym typeface="Arial"/>
            </a:endParaRPr>
          </a:p>
          <a:p>
            <a:pPr indent="-298450" lvl="0" marL="457200" rtl="0" algn="l">
              <a:spcBef>
                <a:spcPts val="0"/>
              </a:spcBef>
              <a:spcAft>
                <a:spcPts val="0"/>
              </a:spcAft>
              <a:buSzPts val="1100"/>
              <a:buFont typeface="Arial"/>
              <a:buChar char="●"/>
            </a:pPr>
            <a:r>
              <a:rPr lang="es" sz="1100">
                <a:latin typeface="Arial"/>
                <a:ea typeface="Arial"/>
                <a:cs typeface="Arial"/>
                <a:sym typeface="Arial"/>
              </a:rPr>
              <a:t>Open Container Initiative (OCI):</a:t>
            </a:r>
            <a:r>
              <a:rPr lang="es" sz="1100">
                <a:uFill>
                  <a:noFill/>
                </a:uFill>
                <a:latin typeface="Arial"/>
                <a:ea typeface="Arial"/>
                <a:cs typeface="Arial"/>
                <a:sym typeface="Arial"/>
                <a:hlinkClick r:id="rId12"/>
              </a:rPr>
              <a:t> </a:t>
            </a:r>
            <a:r>
              <a:rPr lang="es" sz="1100" u="sng">
                <a:latin typeface="Arial"/>
                <a:ea typeface="Arial"/>
                <a:cs typeface="Arial"/>
                <a:sym typeface="Arial"/>
                <a:hlinkClick r:id="rId13"/>
              </a:rPr>
              <a:t>https://opencontainers.org</a:t>
            </a:r>
            <a:br>
              <a:rPr lang="es" sz="1100" u="sng">
                <a:latin typeface="Arial"/>
                <a:ea typeface="Arial"/>
                <a:cs typeface="Arial"/>
                <a:sym typeface="Arial"/>
                <a:hlinkClick r:id="rId14"/>
              </a:rPr>
            </a:br>
            <a:endParaRPr sz="1100" u="sng">
              <a:latin typeface="Arial"/>
              <a:ea typeface="Arial"/>
              <a:cs typeface="Arial"/>
              <a:sym typeface="Arial"/>
            </a:endParaRPr>
          </a:p>
          <a:p>
            <a:pPr indent="-298450" lvl="0" marL="457200" rtl="0" algn="l">
              <a:spcBef>
                <a:spcPts val="0"/>
              </a:spcBef>
              <a:spcAft>
                <a:spcPts val="0"/>
              </a:spcAft>
              <a:buSzPts val="1100"/>
              <a:buFont typeface="Arial"/>
              <a:buChar char="●"/>
            </a:pPr>
            <a:r>
              <a:rPr lang="es" sz="1100">
                <a:latin typeface="Arial"/>
                <a:ea typeface="Arial"/>
                <a:cs typeface="Arial"/>
                <a:sym typeface="Arial"/>
              </a:rPr>
              <a:t>CNCF Projects: https://www.cncf.io/projects</a:t>
            </a:r>
            <a:endParaRPr sz="11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2c83b6bb22_0_0"/>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t/>
            </a:r>
            <a:endParaRPr/>
          </a:p>
        </p:txBody>
      </p:sp>
      <p:sp>
        <p:nvSpPr>
          <p:cNvPr id="290" name="Google Shape;290;g32c83b6bb22_0_0"/>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a:p>
        </p:txBody>
      </p:sp>
      <p:pic>
        <p:nvPicPr>
          <p:cNvPr id="291" name="Google Shape;291;g32c83b6bb22_0_0"/>
          <p:cNvPicPr preferRelativeResize="0"/>
          <p:nvPr/>
        </p:nvPicPr>
        <p:blipFill rotWithShape="1">
          <a:blip r:embed="rId3">
            <a:alphaModFix/>
          </a:blip>
          <a:srcRect b="0" l="0" r="0" t="0"/>
          <a:stretch/>
        </p:blipFill>
        <p:spPr>
          <a:xfrm>
            <a:off x="23750" y="0"/>
            <a:ext cx="9120251" cy="5143501"/>
          </a:xfrm>
          <a:prstGeom prst="rect">
            <a:avLst/>
          </a:prstGeom>
          <a:noFill/>
          <a:ln>
            <a:noFill/>
          </a:ln>
        </p:spPr>
      </p:pic>
      <p:sp>
        <p:nvSpPr>
          <p:cNvPr id="292" name="Google Shape;292;g32c83b6bb22_0_0"/>
          <p:cNvSpPr txBox="1"/>
          <p:nvPr/>
        </p:nvSpPr>
        <p:spPr>
          <a:xfrm>
            <a:off x="4660675" y="2393825"/>
            <a:ext cx="4054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2100" u="none" cap="none" strike="noStrike">
                <a:solidFill>
                  <a:schemeClr val="dk1"/>
                </a:solidFill>
                <a:latin typeface="Impact"/>
                <a:ea typeface="Impact"/>
                <a:cs typeface="Impact"/>
                <a:sym typeface="Impact"/>
              </a:rPr>
              <a:t>GRACIAS!!</a:t>
            </a:r>
            <a:endParaRPr b="0" i="0" sz="2100" u="none" cap="none" strike="noStrike">
              <a:solidFill>
                <a:schemeClr val="dk1"/>
              </a:solidFill>
              <a:latin typeface="Impact"/>
              <a:ea typeface="Impact"/>
              <a:cs typeface="Impact"/>
              <a:sym typeface="Impac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