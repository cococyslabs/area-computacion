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Spline Sans"/>
      <p:bold r:id="rId13"/>
    </p:embeddedFont>
    <p:embeddedFont>
      <p:font typeface="Barlow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CGcS9fzdy8Vr7wOzfrAEmfUQe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SplineSans-bold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Barlow-bold.fntdata"/><Relationship Id="rId14" Type="http://schemas.openxmlformats.org/officeDocument/2006/relationships/font" Target="fonts/Barlow-regular.fntdata"/><Relationship Id="rId17" Type="http://schemas.openxmlformats.org/officeDocument/2006/relationships/font" Target="fonts/Barlow-boldItalic.fntdata"/><Relationship Id="rId16" Type="http://schemas.openxmlformats.org/officeDocument/2006/relationships/font" Target="fonts/Barlow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6350437" y="2098953"/>
            <a:ext cx="741592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b="1" i="0" lang="en-US" sz="43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Conceptos básicos de sistemas operativos</a:t>
            </a:r>
            <a:endParaRPr b="0" i="0" sz="4300" u="none" cap="none" strike="noStrike"/>
          </a:p>
        </p:txBody>
      </p:sp>
      <p:sp>
        <p:nvSpPr>
          <p:cNvPr id="50" name="Google Shape;50;p1"/>
          <p:cNvSpPr/>
          <p:nvPr/>
        </p:nvSpPr>
        <p:spPr>
          <a:xfrm>
            <a:off x="6350437" y="3840837"/>
            <a:ext cx="7415927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Un sistema operativo es el software que gestiona los recursos de un ordenador y proporciona una interfaz entre el hardware y los programas. Permite a los usuarios interactuar con el dispositivo, administrar archivos, ejecutar aplicaciones y controlar periféricos.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6295787" y="1008102"/>
            <a:ext cx="7525226" cy="1284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000"/>
              <a:buFont typeface="Spline Sans"/>
              <a:buNone/>
            </a:pPr>
            <a:r>
              <a:rPr b="1" i="0" lang="en-US" sz="40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Funciones principales de un sistema operativo</a:t>
            </a:r>
            <a:endParaRPr b="0" i="0" sz="400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6295787" y="2899767"/>
            <a:ext cx="520303" cy="520303"/>
          </a:xfrm>
          <a:prstGeom prst="roundRect">
            <a:avLst>
              <a:gd fmla="val 66670" name="adj"/>
            </a:avLst>
          </a:prstGeom>
          <a:solidFill>
            <a:srgbClr val="0A081B"/>
          </a:solidFill>
          <a:ln cap="flat" cmpd="sng" w="22850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489263" y="3005733"/>
            <a:ext cx="133350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400"/>
              <a:buFont typeface="Spline Sans"/>
              <a:buNone/>
            </a:pPr>
            <a:r>
              <a:rPr b="1" i="0" lang="en-US" sz="24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</a:t>
            </a:r>
            <a:endParaRPr b="0" i="0" sz="240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7047309" y="2899767"/>
            <a:ext cx="2569488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00"/>
              <a:buFont typeface="Spline Sans"/>
              <a:buNone/>
            </a:pPr>
            <a:r>
              <a:rPr b="1" i="0" lang="en-US" sz="2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Gestión de Recursos</a:t>
            </a:r>
            <a:endParaRPr b="0" i="0" sz="200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7047309" y="3359587"/>
            <a:ext cx="2895481" cy="1109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Controla y asigna el uso de recursos como CPU, memoria y almacenamiento.</a:t>
            </a:r>
            <a:endParaRPr b="0" i="0" sz="180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10174010" y="2899767"/>
            <a:ext cx="520303" cy="520303"/>
          </a:xfrm>
          <a:prstGeom prst="roundRect">
            <a:avLst>
              <a:gd fmla="val 66670" name="adj"/>
            </a:avLst>
          </a:prstGeom>
          <a:solidFill>
            <a:srgbClr val="0A081B"/>
          </a:solidFill>
          <a:ln cap="flat" cmpd="sng" w="22850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10348436" y="3005733"/>
            <a:ext cx="171450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400"/>
              <a:buFont typeface="Spline Sans"/>
              <a:buNone/>
            </a:pPr>
            <a:r>
              <a:rPr b="1" i="0" lang="en-US" sz="24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2</a:t>
            </a:r>
            <a:endParaRPr b="0" i="0" sz="24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10925532" y="2899767"/>
            <a:ext cx="2569488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00"/>
              <a:buFont typeface="Spline Sans"/>
              <a:buNone/>
            </a:pPr>
            <a:r>
              <a:rPr b="1" i="0" lang="en-US" sz="2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Interfaz de Usuario</a:t>
            </a:r>
            <a:endParaRPr b="0" i="0" sz="200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10925532" y="3359587"/>
            <a:ext cx="2895481" cy="1479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Proporciona una forma intuitiva y eficiente para que los usuarios interactúen con el sistema.</a:t>
            </a:r>
            <a:endParaRPr b="0" i="0" sz="18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6295787" y="5330666"/>
            <a:ext cx="520303" cy="520303"/>
          </a:xfrm>
          <a:prstGeom prst="roundRect">
            <a:avLst>
              <a:gd fmla="val 66670" name="adj"/>
            </a:avLst>
          </a:prstGeom>
          <a:solidFill>
            <a:srgbClr val="0A081B"/>
          </a:solidFill>
          <a:ln cap="flat" cmpd="sng" w="22850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465689" y="5436632"/>
            <a:ext cx="180499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400"/>
              <a:buFont typeface="Spline Sans"/>
              <a:buNone/>
            </a:pPr>
            <a:r>
              <a:rPr b="1" i="0" lang="en-US" sz="24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3</a:t>
            </a:r>
            <a:endParaRPr b="0" i="0" sz="240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7047309" y="5330666"/>
            <a:ext cx="2895481" cy="64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00"/>
              <a:buFont typeface="Spline Sans"/>
              <a:buNone/>
            </a:pPr>
            <a:r>
              <a:rPr b="1" i="0" lang="en-US" sz="2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Administración de Procesos</a:t>
            </a:r>
            <a:endParaRPr b="0" i="0" sz="20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7047309" y="6111597"/>
            <a:ext cx="2895481" cy="1109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Planifica y ejecuta diferentes tareas y programas de manera coordinada.</a:t>
            </a:r>
            <a:endParaRPr b="0" i="0" sz="180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10174010" y="5330666"/>
            <a:ext cx="520303" cy="520303"/>
          </a:xfrm>
          <a:prstGeom prst="roundRect">
            <a:avLst>
              <a:gd fmla="val 66670" name="adj"/>
            </a:avLst>
          </a:prstGeom>
          <a:solidFill>
            <a:srgbClr val="0A081B"/>
          </a:solidFill>
          <a:ln cap="flat" cmpd="sng" w="22850">
            <a:solidFill>
              <a:srgbClr val="0912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10347008" y="5436632"/>
            <a:ext cx="174188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400"/>
              <a:buFont typeface="Spline Sans"/>
              <a:buNone/>
            </a:pPr>
            <a:r>
              <a:rPr b="1" i="0" lang="en-US" sz="24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4</a:t>
            </a:r>
            <a:endParaRPr b="0" i="0" sz="240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10925532" y="5330666"/>
            <a:ext cx="2569488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00"/>
              <a:buFont typeface="Spline Sans"/>
              <a:buNone/>
            </a:pPr>
            <a:r>
              <a:rPr b="1" i="0" lang="en-US" sz="2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Gestión de Archivos</a:t>
            </a:r>
            <a:endParaRPr b="0" i="0" sz="200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10925532" y="5790486"/>
            <a:ext cx="2895481" cy="1109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Organiza y facilita el acceso a los datos almacenados en el sistema.</a:t>
            </a:r>
            <a:endParaRPr b="0" i="0" sz="18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691277" y="3013472"/>
            <a:ext cx="4389120" cy="54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450"/>
              <a:buFont typeface="Spline Sans"/>
              <a:buNone/>
            </a:pPr>
            <a:r>
              <a:rPr b="1" i="0" lang="en-US" sz="34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Historia de Linux</a:t>
            </a:r>
            <a:endParaRPr b="0" i="0" sz="345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691277" y="5771555"/>
            <a:ext cx="13247846" cy="22860"/>
          </a:xfrm>
          <a:prstGeom prst="roundRect">
            <a:avLst>
              <a:gd fmla="val 1296000" name="adj"/>
            </a:avLst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942398" y="5080278"/>
            <a:ext cx="22860" cy="691277"/>
          </a:xfrm>
          <a:prstGeom prst="roundRect">
            <a:avLst>
              <a:gd fmla="val 1296000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731657" y="5549384"/>
            <a:ext cx="444341" cy="444341"/>
          </a:xfrm>
          <a:prstGeom prst="roundRect">
            <a:avLst>
              <a:gd fmla="val 66675" name="adj"/>
            </a:avLst>
          </a:prstGeom>
          <a:solidFill>
            <a:srgbClr val="0A081B"/>
          </a:solidFill>
          <a:ln cap="flat" cmpd="sng" w="22850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896797" y="5639872"/>
            <a:ext cx="113943" cy="263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50"/>
              <a:buFont typeface="Spline Sans"/>
              <a:buNone/>
            </a:pPr>
            <a:r>
              <a:rPr b="1" i="0" lang="en-US" sz="20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</a:t>
            </a:r>
            <a:endParaRPr b="0" i="0" sz="205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2856547" y="4174212"/>
            <a:ext cx="2194560" cy="274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700"/>
              <a:buFont typeface="Spline Sans"/>
              <a:buNone/>
            </a:pPr>
            <a:r>
              <a:rPr b="1" i="0" lang="en-US" sz="17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1991</a:t>
            </a:r>
            <a:endParaRPr b="0" i="0" sz="170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888683" y="4566880"/>
            <a:ext cx="6130409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550"/>
              <a:buFont typeface="Barlow"/>
              <a:buNone/>
            </a:pPr>
            <a:r>
              <a:rPr b="0" i="0" lang="en-US" sz="15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Linus Torvalds crea el núcleo de Linux como un proyecto personal.</a:t>
            </a:r>
            <a:endParaRPr b="0" i="0" sz="155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7303651" y="5771555"/>
            <a:ext cx="22860" cy="691277"/>
          </a:xfrm>
          <a:prstGeom prst="roundRect">
            <a:avLst>
              <a:gd fmla="val 1296000" name="adj"/>
            </a:avLst>
          </a:prstGeom>
          <a:solidFill>
            <a:srgbClr val="29D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7092910" y="5549384"/>
            <a:ext cx="444341" cy="444341"/>
          </a:xfrm>
          <a:prstGeom prst="roundRect">
            <a:avLst>
              <a:gd fmla="val 66675" name="adj"/>
            </a:avLst>
          </a:prstGeom>
          <a:solidFill>
            <a:srgbClr val="0A081B"/>
          </a:solidFill>
          <a:ln cap="flat" cmpd="sng" w="22850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241857" y="5639872"/>
            <a:ext cx="146447" cy="263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50"/>
              <a:buFont typeface="Spline Sans"/>
              <a:buNone/>
            </a:pPr>
            <a:r>
              <a:rPr b="1" i="0" lang="en-US" sz="20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2</a:t>
            </a:r>
            <a:endParaRPr b="0" i="0" sz="205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6217801" y="6660237"/>
            <a:ext cx="2194560" cy="274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700"/>
              <a:buFont typeface="Spline Sans"/>
              <a:buNone/>
            </a:pPr>
            <a:r>
              <a:rPr b="1" i="0" lang="en-US" sz="17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1992</a:t>
            </a:r>
            <a:endParaRPr b="0" i="0" sz="1700" u="none" cap="none" strike="noStrike"/>
          </a:p>
        </p:txBody>
      </p:sp>
      <p:sp>
        <p:nvSpPr>
          <p:cNvPr id="91" name="Google Shape;91;p3"/>
          <p:cNvSpPr/>
          <p:nvPr/>
        </p:nvSpPr>
        <p:spPr>
          <a:xfrm>
            <a:off x="4249936" y="7052905"/>
            <a:ext cx="6130409" cy="631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550"/>
              <a:buFont typeface="Barlow"/>
              <a:buNone/>
            </a:pPr>
            <a:r>
              <a:rPr b="0" i="0" lang="en-US" sz="15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Linux se publica bajo la Licencia Pública General (GPL) y comienza a ganar popularidad.</a:t>
            </a:r>
            <a:endParaRPr b="0" i="0" sz="155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10665023" y="5080278"/>
            <a:ext cx="22860" cy="691277"/>
          </a:xfrm>
          <a:prstGeom prst="roundRect">
            <a:avLst>
              <a:gd fmla="val 1296000" name="adj"/>
            </a:avLst>
          </a:prstGeom>
          <a:solidFill>
            <a:srgbClr val="37A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0454283" y="5549384"/>
            <a:ext cx="444341" cy="444341"/>
          </a:xfrm>
          <a:prstGeom prst="roundRect">
            <a:avLst>
              <a:gd fmla="val 66675" name="adj"/>
            </a:avLst>
          </a:prstGeom>
          <a:solidFill>
            <a:srgbClr val="0A081B"/>
          </a:solidFill>
          <a:ln cap="flat" cmpd="sng" w="22850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0599301" y="5639872"/>
            <a:ext cx="154186" cy="263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50"/>
              <a:buFont typeface="Spline Sans"/>
              <a:buNone/>
            </a:pPr>
            <a:r>
              <a:rPr b="1" i="0" lang="en-US" sz="20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3</a:t>
            </a:r>
            <a:endParaRPr b="0" i="0" sz="2050" u="none" cap="none" strike="noStrike"/>
          </a:p>
        </p:txBody>
      </p:sp>
      <p:sp>
        <p:nvSpPr>
          <p:cNvPr id="95" name="Google Shape;95;p3"/>
          <p:cNvSpPr/>
          <p:nvPr/>
        </p:nvSpPr>
        <p:spPr>
          <a:xfrm>
            <a:off x="9579173" y="3858220"/>
            <a:ext cx="2194560" cy="274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700"/>
              <a:buFont typeface="Spline Sans"/>
              <a:buNone/>
            </a:pPr>
            <a:r>
              <a:rPr b="1" i="0" lang="en-US" sz="17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2000s</a:t>
            </a:r>
            <a:endParaRPr b="0" i="0" sz="1700" u="none" cap="none" strike="noStrike"/>
          </a:p>
        </p:txBody>
      </p:sp>
      <p:sp>
        <p:nvSpPr>
          <p:cNvPr id="96" name="Google Shape;96;p3"/>
          <p:cNvSpPr/>
          <p:nvPr/>
        </p:nvSpPr>
        <p:spPr>
          <a:xfrm>
            <a:off x="7611308" y="4250888"/>
            <a:ext cx="6130409" cy="631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550"/>
              <a:buFont typeface="Barlow"/>
              <a:buNone/>
            </a:pPr>
            <a:r>
              <a:rPr b="0" i="0" lang="en-US" sz="15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Linux se expande a servidores, dispositivos móviles y supercomputadoras.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864037" y="2069782"/>
            <a:ext cx="734198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b="1" i="0" lang="en-US" sz="43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Arquitectura básica de Linux</a:t>
            </a:r>
            <a:endParaRPr b="0" i="0" sz="430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864037" y="337268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Núcleo</a:t>
            </a:r>
            <a:endParaRPr b="0" i="0" sz="215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864037" y="3962400"/>
            <a:ext cx="3898821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El núcleo de Linux, también conocido como kernel, es el corazón del sistema operativo y maneja la interacción entre el hardware y el software.</a:t>
            </a:r>
            <a:endParaRPr b="0" i="0" sz="190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5372695" y="337268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Shell</a:t>
            </a:r>
            <a:endParaRPr b="0" i="0" sz="215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5372695" y="3962400"/>
            <a:ext cx="3898821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La shell de Linux es la interfaz de línea de comandos que permite a los usuarios interactuar con el sistema y ejecutar programas.</a:t>
            </a:r>
            <a:endParaRPr b="0" i="0" sz="19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9881354" y="337268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Utilidades</a:t>
            </a:r>
            <a:endParaRPr b="0" i="0" sz="215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9881354" y="3962400"/>
            <a:ext cx="3898821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Linux incluye una amplia variedad de herramientas y aplicaciones de código abierto para realizar diversas tareas.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703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756999" y="3298388"/>
            <a:ext cx="7634168" cy="600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750"/>
              <a:buFont typeface="Spline Sans"/>
              <a:buNone/>
            </a:pPr>
            <a:r>
              <a:rPr b="1" i="0" lang="en-US" sz="37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Distribuciones populares de Linux</a:t>
            </a:r>
            <a:endParaRPr b="0" i="0" sz="375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756999" y="4223623"/>
            <a:ext cx="6450092" cy="1600557"/>
          </a:xfrm>
          <a:prstGeom prst="roundRect">
            <a:avLst>
              <a:gd fmla="val 20271" name="adj"/>
            </a:avLst>
          </a:prstGeom>
          <a:solidFill>
            <a:srgbClr val="0A081B"/>
          </a:solidFill>
          <a:ln cap="flat" cmpd="sng" w="22850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996077" y="4462701"/>
            <a:ext cx="2403277" cy="300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50"/>
              <a:buFont typeface="Spline Sans"/>
              <a:buNone/>
            </a:pPr>
            <a:r>
              <a:rPr b="1" i="0" lang="en-US" sz="1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Ubuntu</a:t>
            </a:r>
            <a:endParaRPr b="0" i="0" sz="185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996077" y="4892873"/>
            <a:ext cx="5971937" cy="69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700"/>
              <a:buFont typeface="Barlow"/>
              <a:buNone/>
            </a:pPr>
            <a:r>
              <a:rPr b="0" i="0" lang="en-US" sz="17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Distribución basada en Debian, conocida por su facilidad de uso y soporte a largo plazo.</a:t>
            </a:r>
            <a:endParaRPr b="0" i="0" sz="1700" u="none" cap="none" strike="noStrike"/>
          </a:p>
        </p:txBody>
      </p:sp>
      <p:sp>
        <p:nvSpPr>
          <p:cNvPr id="119" name="Google Shape;119;p5"/>
          <p:cNvSpPr/>
          <p:nvPr/>
        </p:nvSpPr>
        <p:spPr>
          <a:xfrm>
            <a:off x="7423309" y="4223623"/>
            <a:ext cx="6450092" cy="1600557"/>
          </a:xfrm>
          <a:prstGeom prst="roundRect">
            <a:avLst>
              <a:gd fmla="val 20271" name="adj"/>
            </a:avLst>
          </a:prstGeom>
          <a:solidFill>
            <a:srgbClr val="0A081B"/>
          </a:solidFill>
          <a:ln cap="flat" cmpd="sng" w="22850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662386" y="4462701"/>
            <a:ext cx="2403277" cy="300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50"/>
              <a:buFont typeface="Spline Sans"/>
              <a:buNone/>
            </a:pPr>
            <a:r>
              <a:rPr b="1" i="0" lang="en-US" sz="1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Fedora</a:t>
            </a:r>
            <a:endParaRPr b="0" i="0" sz="185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7662386" y="4892873"/>
            <a:ext cx="5971937" cy="69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700"/>
              <a:buFont typeface="Barlow"/>
              <a:buNone/>
            </a:pPr>
            <a:r>
              <a:rPr b="0" i="0" lang="en-US" sz="17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Respaldada por Red Hat, Fedora es una distro líder para desarrolladores y entusiastas del software libre.</a:t>
            </a:r>
            <a:endParaRPr b="0" i="0" sz="170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756999" y="6040398"/>
            <a:ext cx="6450092" cy="1600557"/>
          </a:xfrm>
          <a:prstGeom prst="roundRect">
            <a:avLst>
              <a:gd fmla="val 20271" name="adj"/>
            </a:avLst>
          </a:prstGeom>
          <a:solidFill>
            <a:srgbClr val="0A081B"/>
          </a:solidFill>
          <a:ln cap="flat" cmpd="sng" w="22850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996077" y="6279475"/>
            <a:ext cx="2403277" cy="300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50"/>
              <a:buFont typeface="Spline Sans"/>
              <a:buNone/>
            </a:pPr>
            <a:r>
              <a:rPr b="1" i="0" lang="en-US" sz="1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CentOS</a:t>
            </a:r>
            <a:endParaRPr b="0" i="0" sz="185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996077" y="6709648"/>
            <a:ext cx="5971937" cy="69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700"/>
              <a:buFont typeface="Barlow"/>
              <a:buNone/>
            </a:pPr>
            <a:r>
              <a:rPr b="0" i="0" lang="en-US" sz="17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Una distribución comunitaria derivada de Red Hat Enterprise Linux, ideal para entornos empresariales.</a:t>
            </a:r>
            <a:endParaRPr b="0" i="0" sz="170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7423309" y="6040398"/>
            <a:ext cx="6450092" cy="1600557"/>
          </a:xfrm>
          <a:prstGeom prst="roundRect">
            <a:avLst>
              <a:gd fmla="val 20271" name="adj"/>
            </a:avLst>
          </a:prstGeom>
          <a:solidFill>
            <a:srgbClr val="0A081B"/>
          </a:solidFill>
          <a:ln cap="flat" cmpd="sng" w="22850">
            <a:solidFill>
              <a:srgbClr val="0912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662386" y="6279475"/>
            <a:ext cx="2403277" cy="300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50"/>
              <a:buFont typeface="Spline Sans"/>
              <a:buNone/>
            </a:pPr>
            <a:r>
              <a:rPr b="1" i="0" lang="en-US" sz="1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Arch Linux</a:t>
            </a:r>
            <a:endParaRPr b="0" i="0" sz="18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7662386" y="6709648"/>
            <a:ext cx="5971937" cy="69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700"/>
              <a:buFont typeface="Barlow"/>
              <a:buNone/>
            </a:pPr>
            <a:r>
              <a:rPr b="0" i="0" lang="en-US" sz="17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Distro conocida por su flexibilidad y orientación a usuarios avanzados que buscan mayor control.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864037" y="2069782"/>
            <a:ext cx="109407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b="1" i="0" lang="en-US" sz="43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Diferencias entre Windows, macOS y Linux</a:t>
            </a:r>
            <a:endParaRPr b="0" i="0" sz="4300" u="none" cap="none" strike="noStrike"/>
          </a:p>
        </p:txBody>
      </p:sp>
      <p:sp>
        <p:nvSpPr>
          <p:cNvPr id="134" name="Google Shape;134;p6"/>
          <p:cNvSpPr/>
          <p:nvPr/>
        </p:nvSpPr>
        <p:spPr>
          <a:xfrm>
            <a:off x="864037" y="337268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Código Abierto</a:t>
            </a:r>
            <a:endParaRPr b="0" i="0" sz="215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864037" y="3962400"/>
            <a:ext cx="3898821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Linux es un sistema operativo de código abierto, mientras que Windows y macOS son de código cerrado.</a:t>
            </a:r>
            <a:endParaRPr b="0" i="0" sz="190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5372695" y="337268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Interfaz de Usuario</a:t>
            </a:r>
            <a:endParaRPr b="0" i="0" sz="2150" u="none" cap="none" strike="noStrike"/>
          </a:p>
        </p:txBody>
      </p:sp>
      <p:sp>
        <p:nvSpPr>
          <p:cNvPr id="137" name="Google Shape;137;p6"/>
          <p:cNvSpPr/>
          <p:nvPr/>
        </p:nvSpPr>
        <p:spPr>
          <a:xfrm>
            <a:off x="5372695" y="3962400"/>
            <a:ext cx="3898821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Windows y macOS tienen interfaces gráficas intuitivas, mientras que Linux ofrece más flexibilidad y personalización.</a:t>
            </a:r>
            <a:endParaRPr b="0" i="0" sz="1900" u="none" cap="none" strike="noStrike"/>
          </a:p>
        </p:txBody>
      </p:sp>
      <p:sp>
        <p:nvSpPr>
          <p:cNvPr id="138" name="Google Shape;138;p6"/>
          <p:cNvSpPr/>
          <p:nvPr/>
        </p:nvSpPr>
        <p:spPr>
          <a:xfrm>
            <a:off x="9881354" y="337268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Compatibilidad</a:t>
            </a:r>
            <a:endParaRPr b="0" i="0" sz="215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9881354" y="3962400"/>
            <a:ext cx="3898821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Windows y macOS tienen mejor compatibilidad con software y hardware comerciales, mientras que Linux tiene más opciones de código abierto.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864037" y="2008227"/>
            <a:ext cx="809577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b="1" i="0" lang="en-US" sz="43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Ventajas y desventajas de Linux</a:t>
            </a:r>
            <a:endParaRPr b="0" i="0" sz="4300" u="none" cap="none" strike="noStrike"/>
          </a:p>
        </p:txBody>
      </p:sp>
      <p:sp>
        <p:nvSpPr>
          <p:cNvPr id="146" name="Google Shape;146;p7"/>
          <p:cNvSpPr/>
          <p:nvPr/>
        </p:nvSpPr>
        <p:spPr>
          <a:xfrm>
            <a:off x="864037" y="3311128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Ventajas</a:t>
            </a:r>
            <a:endParaRPr b="0" i="0" sz="2150" u="none" cap="none" strike="noStrike"/>
          </a:p>
        </p:txBody>
      </p:sp>
      <p:sp>
        <p:nvSpPr>
          <p:cNvPr id="147" name="Google Shape;147;p7"/>
          <p:cNvSpPr/>
          <p:nvPr/>
        </p:nvSpPr>
        <p:spPr>
          <a:xfrm>
            <a:off x="864037" y="3900845"/>
            <a:ext cx="61500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Código abierto y gratuito</a:t>
            </a:r>
            <a:endParaRPr b="0" i="0" sz="1900" u="none" cap="none" strike="noStrike"/>
          </a:p>
        </p:txBody>
      </p:sp>
      <p:sp>
        <p:nvSpPr>
          <p:cNvPr id="148" name="Google Shape;148;p7"/>
          <p:cNvSpPr/>
          <p:nvPr/>
        </p:nvSpPr>
        <p:spPr>
          <a:xfrm>
            <a:off x="864037" y="4382214"/>
            <a:ext cx="61500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Mayor seguridad y estabilidad</a:t>
            </a:r>
            <a:endParaRPr b="0" i="0" sz="1900" u="none" cap="none" strike="noStrike"/>
          </a:p>
        </p:txBody>
      </p:sp>
      <p:sp>
        <p:nvSpPr>
          <p:cNvPr id="149" name="Google Shape;149;p7"/>
          <p:cNvSpPr/>
          <p:nvPr/>
        </p:nvSpPr>
        <p:spPr>
          <a:xfrm>
            <a:off x="864037" y="4863584"/>
            <a:ext cx="61500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Amplia gama de software y herramientas</a:t>
            </a:r>
            <a:endParaRPr b="0" i="0" sz="1900" u="none" cap="none" strike="noStrike"/>
          </a:p>
        </p:txBody>
      </p:sp>
      <p:sp>
        <p:nvSpPr>
          <p:cNvPr id="150" name="Google Shape;150;p7"/>
          <p:cNvSpPr/>
          <p:nvPr/>
        </p:nvSpPr>
        <p:spPr>
          <a:xfrm>
            <a:off x="864037" y="5344954"/>
            <a:ext cx="61500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Mayor flexibilidad y personalización</a:t>
            </a:r>
            <a:endParaRPr b="0" i="0" sz="1900" u="none" cap="none" strike="noStrike"/>
          </a:p>
        </p:txBody>
      </p:sp>
      <p:sp>
        <p:nvSpPr>
          <p:cNvPr id="151" name="Google Shape;151;p7"/>
          <p:cNvSpPr/>
          <p:nvPr/>
        </p:nvSpPr>
        <p:spPr>
          <a:xfrm>
            <a:off x="7623929" y="3311128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Desventajas</a:t>
            </a:r>
            <a:endParaRPr b="0" i="0" sz="215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7623929" y="3900845"/>
            <a:ext cx="61500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Curva de aprendizaje más empinada</a:t>
            </a:r>
            <a:endParaRPr b="0" i="0" sz="190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7623929" y="4382214"/>
            <a:ext cx="6150054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Menor compatibilidad con hardware y software comercial</a:t>
            </a:r>
            <a:endParaRPr b="0" i="0" sz="190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7623929" y="5258633"/>
            <a:ext cx="61500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Menos opciones de soporte y asistencia técnica</a:t>
            </a:r>
            <a:endParaRPr b="0" i="0" sz="190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7623929" y="5740003"/>
            <a:ext cx="61500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Char char="•"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Algunas aplicaciones populares no están disponibles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9321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810101" y="3529846"/>
            <a:ext cx="9153406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050"/>
              <a:buFont typeface="Spline Sans"/>
              <a:buNone/>
            </a:pPr>
            <a:r>
              <a:rPr b="1" i="0" lang="en-US" sz="40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Aplicaciones y usos comunes de Linux</a:t>
            </a:r>
            <a:endParaRPr b="0" i="0" sz="4050" u="none" cap="none" strike="noStrike"/>
          </a:p>
        </p:txBody>
      </p:sp>
      <p:pic>
        <p:nvPicPr>
          <p:cNvPr descr="preencoded.png" id="163" name="Google Shape;1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101" y="4519970"/>
            <a:ext cx="578644" cy="57864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/>
          <p:nvPr/>
        </p:nvSpPr>
        <p:spPr>
          <a:xfrm>
            <a:off x="810101" y="5330071"/>
            <a:ext cx="2571750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00"/>
              <a:buFont typeface="Spline Sans"/>
              <a:buNone/>
            </a:pPr>
            <a:r>
              <a:rPr b="1" i="0" lang="en-US" sz="2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Servidores</a:t>
            </a:r>
            <a:endParaRPr b="0" i="0" sz="2000" u="none" cap="none" strike="noStrike"/>
          </a:p>
        </p:txBody>
      </p:sp>
      <p:sp>
        <p:nvSpPr>
          <p:cNvPr id="165" name="Google Shape;165;p8"/>
          <p:cNvSpPr/>
          <p:nvPr/>
        </p:nvSpPr>
        <p:spPr>
          <a:xfrm>
            <a:off x="810101" y="5790367"/>
            <a:ext cx="2992160" cy="1110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Linux se utiliza ampliamente en servidores web, de base de datos y de aplicaciones.</a:t>
            </a:r>
            <a:endParaRPr b="0" i="0" sz="1800" u="none" cap="none" strike="noStrike"/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49447" y="4519970"/>
            <a:ext cx="578644" cy="5786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4149447" y="5330071"/>
            <a:ext cx="2992160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00"/>
              <a:buFont typeface="Spline Sans"/>
              <a:buNone/>
            </a:pPr>
            <a:r>
              <a:rPr b="1" i="0" lang="en-US" sz="2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Computadoras personales</a:t>
            </a:r>
            <a:endParaRPr b="0" i="0" sz="200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4149447" y="6111835"/>
            <a:ext cx="2992160" cy="1481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Muchos usuarios utilizan distribuciones de Linux como sistema operativo de escritorio.</a:t>
            </a:r>
            <a:endParaRPr b="0" i="0" sz="1800" u="none" cap="none" strike="noStrike"/>
          </a:p>
        </p:txBody>
      </p:sp>
      <p:pic>
        <p:nvPicPr>
          <p:cNvPr descr="preencoded.png" id="169" name="Google Shape;16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88793" y="4519970"/>
            <a:ext cx="578644" cy="57864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7488793" y="5330071"/>
            <a:ext cx="2571750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00"/>
              <a:buFont typeface="Spline Sans"/>
              <a:buNone/>
            </a:pPr>
            <a:r>
              <a:rPr b="1" i="0" lang="en-US" sz="2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Dispositivos móviles</a:t>
            </a:r>
            <a:endParaRPr b="0" i="0" sz="200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7488793" y="5790367"/>
            <a:ext cx="2992160" cy="1481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Android, que se basa en Linux, es el sistema operativo móvil más utilizado en el mundo.</a:t>
            </a:r>
            <a:endParaRPr b="0" i="0" sz="1800" u="none" cap="none" strike="noStrike"/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28139" y="4519970"/>
            <a:ext cx="578644" cy="57864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10828139" y="5330071"/>
            <a:ext cx="2571750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000"/>
              <a:buFont typeface="Spline Sans"/>
              <a:buNone/>
            </a:pPr>
            <a:r>
              <a:rPr b="1" i="0" lang="en-US" sz="20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Supercomputación</a:t>
            </a:r>
            <a:endParaRPr b="0" i="0" sz="20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10828139" y="5790367"/>
            <a:ext cx="2992160" cy="1481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Linux domina el mundo de la supercomputación debido a su escalabilidad y rendimiento.</a:t>
            </a:r>
            <a:endParaRPr b="0" i="0" sz="18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2024-11-04T03:33:53Z</dcterms:created>
  <dc:creator>PptxGenJS</dc:creator>
</cp:coreProperties>
</file>