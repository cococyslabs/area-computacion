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6.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625691"/>
            <a:ext cx="11831955" cy="978218"/>
          </a:xfrm>
          <a:prstGeom prst="rect">
            <a:avLst/>
          </a:prstGeom>
          <a:noFill/>
          <a:ln/>
        </p:spPr>
        <p:txBody>
          <a:bodyPr wrap="none" lIns="0" tIns="0" rIns="0" bIns="0" rtlCol="0" anchor="t"/>
          <a:lstStyle/>
          <a:p>
            <a:pPr indent="0" marL="0">
              <a:lnSpc>
                <a:spcPts val="7700"/>
              </a:lnSpc>
              <a:buNone/>
            </a:pPr>
            <a:r>
              <a:rPr lang="en-US" sz="6150" b="1" spc="-185" kern="0" dirty="0">
                <a:solidFill>
                  <a:srgbClr val="000000"/>
                </a:solidFill>
                <a:latin typeface="Inter Bold" pitchFamily="34" charset="0"/>
                <a:ea typeface="Inter Bold" pitchFamily="34" charset="-122"/>
                <a:cs typeface="Inter Bold" pitchFamily="34" charset="-120"/>
              </a:rPr>
              <a:t>Introducción al Cloud Computing</a:t>
            </a:r>
            <a:endParaRPr lang="en-US" sz="6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17313"/>
            <a:ext cx="768881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¿Qué es el Cloud Computing?</a:t>
            </a:r>
            <a:endParaRPr lang="en-US" sz="4450" dirty="0"/>
          </a:p>
        </p:txBody>
      </p:sp>
      <p:sp>
        <p:nvSpPr>
          <p:cNvPr id="3" name="Text 1"/>
          <p:cNvSpPr/>
          <p:nvPr/>
        </p:nvSpPr>
        <p:spPr>
          <a:xfrm>
            <a:off x="793790" y="3479721"/>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Cloud Computing</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se refiere a la prestación de servicios informáticos a través de Internet. En lugar de almacenar y procesar datos en un dispositivo local, estos se almacenan y procesan en servidores remotos, brindando acceso ubicuo y bajo demanda a recursos computacionales, software y datos.</a:t>
            </a:r>
            <a:endParaRPr lang="en-US" sz="1750" dirty="0"/>
          </a:p>
        </p:txBody>
      </p:sp>
      <p:sp>
        <p:nvSpPr>
          <p:cNvPr id="4" name="Text 2"/>
          <p:cNvSpPr/>
          <p:nvPr/>
        </p:nvSpPr>
        <p:spPr>
          <a:xfrm>
            <a:off x="793790" y="4823579"/>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Algunas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características principales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del Cloud Computing incluyen la </a:t>
            </a:r>
            <a:pPr indent="0" marL="0">
              <a:lnSpc>
                <a:spcPts val="2850"/>
              </a:lnSpc>
              <a:buNone/>
            </a:pPr>
            <a:r>
              <a:rPr lang="en-US" sz="1750" i="1" spc="-36" kern="0" dirty="0">
                <a:solidFill>
                  <a:srgbClr val="272525"/>
                </a:solidFill>
                <a:latin typeface="Inter" pitchFamily="34" charset="0"/>
                <a:ea typeface="Inter" pitchFamily="34" charset="-122"/>
                <a:cs typeface="Inter" pitchFamily="34" charset="-120"/>
              </a:rPr>
              <a:t>escalabilidad</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la </a:t>
            </a:r>
            <a:pPr indent="0" marL="0">
              <a:lnSpc>
                <a:spcPts val="2850"/>
              </a:lnSpc>
              <a:buNone/>
            </a:pPr>
            <a:r>
              <a:rPr lang="en-US" sz="1750" i="1" spc="-36" kern="0" dirty="0">
                <a:solidFill>
                  <a:srgbClr val="272525"/>
                </a:solidFill>
                <a:latin typeface="Inter" pitchFamily="34" charset="0"/>
                <a:ea typeface="Inter" pitchFamily="34" charset="-122"/>
                <a:cs typeface="Inter" pitchFamily="34" charset="-120"/>
              </a:rPr>
              <a:t>flexibilidad</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la </a:t>
            </a:r>
            <a:pPr indent="0" marL="0">
              <a:lnSpc>
                <a:spcPts val="2850"/>
              </a:lnSpc>
              <a:buNone/>
            </a:pPr>
            <a:r>
              <a:rPr lang="en-US" sz="1750" i="1" spc="-36" kern="0" dirty="0">
                <a:solidFill>
                  <a:srgbClr val="272525"/>
                </a:solidFill>
                <a:latin typeface="Inter" pitchFamily="34" charset="0"/>
                <a:ea typeface="Inter" pitchFamily="34" charset="-122"/>
                <a:cs typeface="Inter" pitchFamily="34" charset="-120"/>
              </a:rPr>
              <a:t>eficiencia en costos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y la </a:t>
            </a:r>
            <a:pPr indent="0" marL="0">
              <a:lnSpc>
                <a:spcPts val="2850"/>
              </a:lnSpc>
              <a:buNone/>
            </a:pPr>
            <a:r>
              <a:rPr lang="en-US" sz="1750" i="1" spc="-36" kern="0" dirty="0">
                <a:solidFill>
                  <a:srgbClr val="272525"/>
                </a:solidFill>
                <a:latin typeface="Inter" pitchFamily="34" charset="0"/>
                <a:ea typeface="Inter" pitchFamily="34" charset="-122"/>
                <a:cs typeface="Inter" pitchFamily="34" charset="-120"/>
              </a:rPr>
              <a:t>accesibilidad desde cualquier lugar</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Esto se asemeja a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servicios públicos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como la electricidad o el agua, donde se paga por lo que se consume sin necesidad de administrar la infraestructura subyacente.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88789"/>
            <a:ext cx="12653605"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Modelos de servicio en la nube: IaaS, PaaS, SaaS</a:t>
            </a:r>
            <a:endParaRPr lang="en-US" sz="4450" dirty="0"/>
          </a:p>
        </p:txBody>
      </p:sp>
      <p:pic>
        <p:nvPicPr>
          <p:cNvPr id="3" name="Image 0" descr="preencoded.png">    </p:cNvPr>
          <p:cNvPicPr>
            <a:picLocks noChangeAspect="1"/>
          </p:cNvPicPr>
          <p:nvPr/>
        </p:nvPicPr>
        <p:blipFill>
          <a:blip r:embed="rId1"/>
          <a:stretch>
            <a:fillRect/>
          </a:stretch>
        </p:blipFill>
        <p:spPr>
          <a:xfrm>
            <a:off x="793790" y="1951196"/>
            <a:ext cx="4120753" cy="2546747"/>
          </a:xfrm>
          <a:prstGeom prst="rect">
            <a:avLst/>
          </a:prstGeom>
        </p:spPr>
      </p:pic>
      <p:sp>
        <p:nvSpPr>
          <p:cNvPr id="4" name="Text 1"/>
          <p:cNvSpPr/>
          <p:nvPr/>
        </p:nvSpPr>
        <p:spPr>
          <a:xfrm>
            <a:off x="793790" y="4781431"/>
            <a:ext cx="4120753" cy="708660"/>
          </a:xfrm>
          <a:prstGeom prst="rect">
            <a:avLst/>
          </a:prstGeom>
          <a:noFill/>
          <a:ln/>
        </p:spPr>
        <p:txBody>
          <a:bodyPr wrap="squar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IaaS (Infraestructura como Servicio)</a:t>
            </a:r>
            <a:endParaRPr lang="en-US" sz="2200" dirty="0"/>
          </a:p>
        </p:txBody>
      </p:sp>
      <p:sp>
        <p:nvSpPr>
          <p:cNvPr id="5" name="Text 2"/>
          <p:cNvSpPr/>
          <p:nvPr/>
        </p:nvSpPr>
        <p:spPr>
          <a:xfrm>
            <a:off x="793790" y="5626179"/>
            <a:ext cx="4120753"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Ofrece acceso a recursos informáticos como servidores, redes y almacenamiento, permitiendo a los usuarios construir y operar su propia infraestructura de TI en la nube.</a:t>
            </a:r>
            <a:endParaRPr lang="en-US" sz="1750" dirty="0"/>
          </a:p>
        </p:txBody>
      </p:sp>
      <p:pic>
        <p:nvPicPr>
          <p:cNvPr id="6" name="Image 1" descr="preencoded.png">    </p:cNvPr>
          <p:cNvPicPr>
            <a:picLocks noChangeAspect="1"/>
          </p:cNvPicPr>
          <p:nvPr/>
        </p:nvPicPr>
        <p:blipFill>
          <a:blip r:embed="rId2"/>
          <a:stretch>
            <a:fillRect/>
          </a:stretch>
        </p:blipFill>
        <p:spPr>
          <a:xfrm>
            <a:off x="5254704" y="1951196"/>
            <a:ext cx="4120872" cy="2546866"/>
          </a:xfrm>
          <a:prstGeom prst="rect">
            <a:avLst/>
          </a:prstGeom>
        </p:spPr>
      </p:pic>
      <p:sp>
        <p:nvSpPr>
          <p:cNvPr id="7" name="Text 3"/>
          <p:cNvSpPr/>
          <p:nvPr/>
        </p:nvSpPr>
        <p:spPr>
          <a:xfrm>
            <a:off x="5254704" y="4781550"/>
            <a:ext cx="4120872" cy="708660"/>
          </a:xfrm>
          <a:prstGeom prst="rect">
            <a:avLst/>
          </a:prstGeom>
          <a:noFill/>
          <a:ln/>
        </p:spPr>
        <p:txBody>
          <a:bodyPr wrap="squar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PaaS (Plataforma como Servicio)</a:t>
            </a:r>
            <a:endParaRPr lang="en-US" sz="2200" dirty="0"/>
          </a:p>
        </p:txBody>
      </p:sp>
      <p:sp>
        <p:nvSpPr>
          <p:cNvPr id="8" name="Text 4"/>
          <p:cNvSpPr/>
          <p:nvPr/>
        </p:nvSpPr>
        <p:spPr>
          <a:xfrm>
            <a:off x="5254704" y="5626298"/>
            <a:ext cx="4120872"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Proporciona una plataforma completa para el desarrollo, pruebas, implementación y alojamiento de aplicaciones, sin necesidad de gestionar la infraestructura subyacente.</a:t>
            </a:r>
            <a:endParaRPr lang="en-US" sz="1750" dirty="0"/>
          </a:p>
        </p:txBody>
      </p:sp>
      <p:pic>
        <p:nvPicPr>
          <p:cNvPr id="9" name="Image 2" descr="preencoded.png">    </p:cNvPr>
          <p:cNvPicPr>
            <a:picLocks noChangeAspect="1"/>
          </p:cNvPicPr>
          <p:nvPr/>
        </p:nvPicPr>
        <p:blipFill>
          <a:blip r:embed="rId3"/>
          <a:stretch>
            <a:fillRect/>
          </a:stretch>
        </p:blipFill>
        <p:spPr>
          <a:xfrm>
            <a:off x="9715738" y="1951196"/>
            <a:ext cx="4120753" cy="2546747"/>
          </a:xfrm>
          <a:prstGeom prst="rect">
            <a:avLst/>
          </a:prstGeom>
        </p:spPr>
      </p:pic>
      <p:sp>
        <p:nvSpPr>
          <p:cNvPr id="10" name="Text 5"/>
          <p:cNvSpPr/>
          <p:nvPr/>
        </p:nvSpPr>
        <p:spPr>
          <a:xfrm>
            <a:off x="9715738" y="4781431"/>
            <a:ext cx="4028123"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SaaS (Software como Servicio)</a:t>
            </a:r>
            <a:endParaRPr lang="en-US" sz="2200" dirty="0"/>
          </a:p>
        </p:txBody>
      </p:sp>
      <p:sp>
        <p:nvSpPr>
          <p:cNvPr id="11" name="Text 6"/>
          <p:cNvSpPr/>
          <p:nvPr/>
        </p:nvSpPr>
        <p:spPr>
          <a:xfrm>
            <a:off x="9715738" y="5271849"/>
            <a:ext cx="4120753"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Ofrece aplicaciones listas para usar a las que se accede a través de un navegador web o una API, eliminando la necesidad de instalar y mantener el software localmente.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962983"/>
            <a:ext cx="789336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Ventajas del Cloud Computing</a:t>
            </a:r>
            <a:endParaRPr lang="en-US" sz="4450" dirty="0"/>
          </a:p>
        </p:txBody>
      </p:sp>
      <p:sp>
        <p:nvSpPr>
          <p:cNvPr id="3" name="Text 1"/>
          <p:cNvSpPr/>
          <p:nvPr/>
        </p:nvSpPr>
        <p:spPr>
          <a:xfrm>
            <a:off x="793790" y="3125391"/>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Escalabilidad</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 La capacidad de aumentar o disminuir recursos de forma ágil y bajo demanda para adaptarse a las necesidades cambiantes del negocio.</a:t>
            </a:r>
            <a:endParaRPr lang="en-US" sz="1750" dirty="0"/>
          </a:p>
        </p:txBody>
      </p:sp>
      <p:sp>
        <p:nvSpPr>
          <p:cNvPr id="4" name="Text 2"/>
          <p:cNvSpPr/>
          <p:nvPr/>
        </p:nvSpPr>
        <p:spPr>
          <a:xfrm>
            <a:off x="793790" y="3930491"/>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Flexibilidad</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 La posibilidad de acceder a los servicios de la nube desde cualquier lugar y dispositivo, fomentando la movilidad y la colaboración.</a:t>
            </a:r>
            <a:endParaRPr lang="en-US" sz="1750" dirty="0"/>
          </a:p>
        </p:txBody>
      </p:sp>
      <p:sp>
        <p:nvSpPr>
          <p:cNvPr id="5" name="Text 3"/>
          <p:cNvSpPr/>
          <p:nvPr/>
        </p:nvSpPr>
        <p:spPr>
          <a:xfrm>
            <a:off x="793790" y="473559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Reducción de costos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 El pago por uso y la eliminación de gastos de infraestructura y mantenimiento permiten un ahorro significativo.</a:t>
            </a:r>
            <a:endParaRPr lang="en-US" sz="1750" dirty="0"/>
          </a:p>
        </p:txBody>
      </p:sp>
      <p:sp>
        <p:nvSpPr>
          <p:cNvPr id="6" name="Text 4"/>
          <p:cNvSpPr/>
          <p:nvPr/>
        </p:nvSpPr>
        <p:spPr>
          <a:xfrm>
            <a:off x="793790" y="5540693"/>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Acceso global</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 Los servicios en la nube pueden ser consumidos por usuarios alrededor del mundo, eliminando barreras geográficas.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365534"/>
            <a:ext cx="791718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Desafíos del Cloud Computing</a:t>
            </a:r>
            <a:endParaRPr lang="en-US" sz="4450" dirty="0"/>
          </a:p>
        </p:txBody>
      </p:sp>
      <p:sp>
        <p:nvSpPr>
          <p:cNvPr id="3" name="Text 1"/>
          <p:cNvSpPr/>
          <p:nvPr/>
        </p:nvSpPr>
        <p:spPr>
          <a:xfrm>
            <a:off x="793790" y="3527941"/>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Seguridad</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 Garantizar la protección de datos y la privacidad en entornos compartidos, así como el cumplimiento de normativas.</a:t>
            </a:r>
            <a:endParaRPr lang="en-US" sz="1750" dirty="0"/>
          </a:p>
        </p:txBody>
      </p:sp>
      <p:sp>
        <p:nvSpPr>
          <p:cNvPr id="4" name="Text 2"/>
          <p:cNvSpPr/>
          <p:nvPr/>
        </p:nvSpPr>
        <p:spPr>
          <a:xfrm>
            <a:off x="793790" y="433304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Dependencia del proveedor</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 Evitar quedar atrapado en un único proveedor de servicios en la nube y asegurar la portabilidad de los datos.</a:t>
            </a:r>
            <a:endParaRPr lang="en-US" sz="1750" dirty="0"/>
          </a:p>
        </p:txBody>
      </p:sp>
      <p:sp>
        <p:nvSpPr>
          <p:cNvPr id="5" name="Text 3"/>
          <p:cNvSpPr/>
          <p:nvPr/>
        </p:nvSpPr>
        <p:spPr>
          <a:xfrm>
            <a:off x="793790" y="513814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Migración a la nube</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 Gestionar adecuadamente los procesos de migración, integrando sistemas legacy y minimizando tiempos de inactividad.</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1158" y="543044"/>
            <a:ext cx="10544294" cy="617101"/>
          </a:xfrm>
          <a:prstGeom prst="rect">
            <a:avLst/>
          </a:prstGeom>
          <a:noFill/>
          <a:ln/>
        </p:spPr>
        <p:txBody>
          <a:bodyPr wrap="none" lIns="0" tIns="0" rIns="0" bIns="0" rtlCol="0" anchor="t"/>
          <a:lstStyle/>
          <a:p>
            <a:pPr indent="0" marL="0">
              <a:lnSpc>
                <a:spcPts val="4850"/>
              </a:lnSpc>
              <a:buNone/>
            </a:pPr>
            <a:r>
              <a:rPr lang="en-US" sz="3850" b="1" spc="-117" kern="0" dirty="0">
                <a:solidFill>
                  <a:srgbClr val="000000"/>
                </a:solidFill>
                <a:latin typeface="Inter Bold" pitchFamily="34" charset="0"/>
                <a:ea typeface="Inter Bold" pitchFamily="34" charset="-122"/>
                <a:cs typeface="Inter Bold" pitchFamily="34" charset="-120"/>
              </a:rPr>
              <a:t>Casos de uso comunes en el Cloud Computing</a:t>
            </a:r>
            <a:endParaRPr lang="en-US" sz="3850" dirty="0"/>
          </a:p>
        </p:txBody>
      </p:sp>
      <p:sp>
        <p:nvSpPr>
          <p:cNvPr id="3" name="Text 1"/>
          <p:cNvSpPr/>
          <p:nvPr/>
        </p:nvSpPr>
        <p:spPr>
          <a:xfrm>
            <a:off x="691158" y="1555075"/>
            <a:ext cx="13248084" cy="631984"/>
          </a:xfrm>
          <a:prstGeom prst="rect">
            <a:avLst/>
          </a:prstGeom>
          <a:noFill/>
          <a:ln/>
        </p:spPr>
        <p:txBody>
          <a:bodyPr wrap="square" lIns="0" tIns="0" rIns="0" bIns="0" rtlCol="0" anchor="t"/>
          <a:lstStyle/>
          <a:p>
            <a:pPr indent="0" marL="0">
              <a:lnSpc>
                <a:spcPts val="2450"/>
              </a:lnSpc>
              <a:buNone/>
            </a:pPr>
            <a:r>
              <a:rPr lang="en-US" sz="1550" spc="-31" kern="0" dirty="0">
                <a:solidFill>
                  <a:srgbClr val="272525"/>
                </a:solidFill>
                <a:latin typeface="Inter" pitchFamily="34" charset="0"/>
                <a:ea typeface="Inter" pitchFamily="34" charset="-122"/>
                <a:cs typeface="Inter" pitchFamily="34" charset="-120"/>
              </a:rPr>
              <a:t>El </a:t>
            </a:r>
            <a:pPr indent="0" marL="0">
              <a:lnSpc>
                <a:spcPts val="2450"/>
              </a:lnSpc>
              <a:buNone/>
            </a:pPr>
            <a:r>
              <a:rPr lang="en-US" sz="1550" b="1" spc="-31" kern="0" dirty="0">
                <a:solidFill>
                  <a:srgbClr val="272525"/>
                </a:solidFill>
                <a:latin typeface="Inter" pitchFamily="34" charset="0"/>
                <a:ea typeface="Inter" pitchFamily="34" charset="-122"/>
                <a:cs typeface="Inter" pitchFamily="34" charset="-120"/>
              </a:rPr>
              <a:t>Cloud Computing</a:t>
            </a:r>
            <a:pPr indent="0" marL="0">
              <a:lnSpc>
                <a:spcPts val="2450"/>
              </a:lnSpc>
              <a:buNone/>
            </a:pPr>
            <a:r>
              <a:rPr lang="en-US" sz="1550" spc="-31" kern="0" dirty="0">
                <a:solidFill>
                  <a:srgbClr val="272525"/>
                </a:solidFill>
                <a:latin typeface="Inter" pitchFamily="34" charset="0"/>
                <a:ea typeface="Inter" pitchFamily="34" charset="-122"/>
                <a:cs typeface="Inter" pitchFamily="34" charset="-120"/>
              </a:rPr>
              <a:t> ofrece una amplia gama de casos de uso que permiten a las organizaciones aprovechar sus diversas capacidades. Algunos de los casos de uso más comunes incluyen:</a:t>
            </a:r>
            <a:endParaRPr lang="en-US" sz="1550" dirty="0"/>
          </a:p>
        </p:txBody>
      </p:sp>
      <p:sp>
        <p:nvSpPr>
          <p:cNvPr id="4" name="Text 2"/>
          <p:cNvSpPr/>
          <p:nvPr/>
        </p:nvSpPr>
        <p:spPr>
          <a:xfrm>
            <a:off x="691158" y="2483287"/>
            <a:ext cx="2965252" cy="308491"/>
          </a:xfrm>
          <a:prstGeom prst="rect">
            <a:avLst/>
          </a:prstGeom>
          <a:noFill/>
          <a:ln/>
        </p:spPr>
        <p:txBody>
          <a:bodyPr wrap="none" lIns="0" tIns="0" rIns="0" bIns="0" rtlCol="0" anchor="t"/>
          <a:lstStyle/>
          <a:p>
            <a:pPr indent="0" marL="0">
              <a:lnSpc>
                <a:spcPts val="2400"/>
              </a:lnSpc>
              <a:buNone/>
            </a:pPr>
            <a:r>
              <a:rPr lang="en-US" sz="1900" b="1" spc="-58" kern="0" dirty="0">
                <a:solidFill>
                  <a:srgbClr val="000000"/>
                </a:solidFill>
                <a:latin typeface="Inter Bold" pitchFamily="34" charset="0"/>
                <a:ea typeface="Inter Bold" pitchFamily="34" charset="-122"/>
                <a:cs typeface="Inter Bold" pitchFamily="34" charset="-120"/>
              </a:rPr>
              <a:t>Almacenamiento de datos</a:t>
            </a:r>
            <a:endParaRPr lang="en-US" sz="1900" dirty="0"/>
          </a:p>
        </p:txBody>
      </p:sp>
      <p:sp>
        <p:nvSpPr>
          <p:cNvPr id="5" name="Text 3"/>
          <p:cNvSpPr/>
          <p:nvPr/>
        </p:nvSpPr>
        <p:spPr>
          <a:xfrm>
            <a:off x="691158" y="3088005"/>
            <a:ext cx="13248084" cy="315992"/>
          </a:xfrm>
          <a:prstGeom prst="rect">
            <a:avLst/>
          </a:prstGeom>
          <a:noFill/>
          <a:ln/>
        </p:spPr>
        <p:txBody>
          <a:bodyPr wrap="none" lIns="0" tIns="0" rIns="0" bIns="0" rtlCol="0" anchor="t"/>
          <a:lstStyle/>
          <a:p>
            <a:pPr indent="0" marL="0">
              <a:lnSpc>
                <a:spcPts val="2450"/>
              </a:lnSpc>
              <a:buNone/>
            </a:pPr>
            <a:r>
              <a:rPr lang="en-US" sz="1550" spc="-31" kern="0" dirty="0">
                <a:solidFill>
                  <a:srgbClr val="272525"/>
                </a:solidFill>
                <a:latin typeface="Inter" pitchFamily="34" charset="0"/>
                <a:ea typeface="Inter" pitchFamily="34" charset="-122"/>
                <a:cs typeface="Inter" pitchFamily="34" charset="-120"/>
              </a:rPr>
              <a:t>Almacenar y respaldar de manera segura grandes volúmenes de datos en servidores remotos, brindando acceso ubicuo y escalabilidad ilimitada.</a:t>
            </a:r>
            <a:endParaRPr lang="en-US" sz="1550" dirty="0"/>
          </a:p>
        </p:txBody>
      </p:sp>
      <p:sp>
        <p:nvSpPr>
          <p:cNvPr id="6" name="Text 4"/>
          <p:cNvSpPr/>
          <p:nvPr/>
        </p:nvSpPr>
        <p:spPr>
          <a:xfrm>
            <a:off x="691158" y="3700224"/>
            <a:ext cx="2991564" cy="308491"/>
          </a:xfrm>
          <a:prstGeom prst="rect">
            <a:avLst/>
          </a:prstGeom>
          <a:noFill/>
          <a:ln/>
        </p:spPr>
        <p:txBody>
          <a:bodyPr wrap="none" lIns="0" tIns="0" rIns="0" bIns="0" rtlCol="0" anchor="t"/>
          <a:lstStyle/>
          <a:p>
            <a:pPr indent="0" marL="0">
              <a:lnSpc>
                <a:spcPts val="2400"/>
              </a:lnSpc>
              <a:buNone/>
            </a:pPr>
            <a:r>
              <a:rPr lang="en-US" sz="1900" b="1" spc="-58" kern="0" dirty="0">
                <a:solidFill>
                  <a:srgbClr val="000000"/>
                </a:solidFill>
                <a:latin typeface="Inter Bold" pitchFamily="34" charset="0"/>
                <a:ea typeface="Inter Bold" pitchFamily="34" charset="-122"/>
                <a:cs typeface="Inter Bold" pitchFamily="34" charset="-120"/>
              </a:rPr>
              <a:t>Desarrollo de aplicaciones</a:t>
            </a:r>
            <a:endParaRPr lang="en-US" sz="1900" dirty="0"/>
          </a:p>
        </p:txBody>
      </p:sp>
      <p:sp>
        <p:nvSpPr>
          <p:cNvPr id="7" name="Text 5"/>
          <p:cNvSpPr/>
          <p:nvPr/>
        </p:nvSpPr>
        <p:spPr>
          <a:xfrm>
            <a:off x="691158" y="4304943"/>
            <a:ext cx="13248084" cy="631984"/>
          </a:xfrm>
          <a:prstGeom prst="rect">
            <a:avLst/>
          </a:prstGeom>
          <a:noFill/>
          <a:ln/>
        </p:spPr>
        <p:txBody>
          <a:bodyPr wrap="square" lIns="0" tIns="0" rIns="0" bIns="0" rtlCol="0" anchor="t"/>
          <a:lstStyle/>
          <a:p>
            <a:pPr indent="0" marL="0">
              <a:lnSpc>
                <a:spcPts val="2450"/>
              </a:lnSpc>
              <a:buNone/>
            </a:pPr>
            <a:r>
              <a:rPr lang="en-US" sz="1550" spc="-31" kern="0" dirty="0">
                <a:solidFill>
                  <a:srgbClr val="272525"/>
                </a:solidFill>
                <a:latin typeface="Inter" pitchFamily="34" charset="0"/>
                <a:ea typeface="Inter" pitchFamily="34" charset="-122"/>
                <a:cs typeface="Inter" pitchFamily="34" charset="-120"/>
              </a:rPr>
              <a:t>Construir, probar e implementar aplicaciones de manera ágil y eficiente, aprovechando las herramientas y plataformas ofrecidas por los proveedores de servicios en la nube.</a:t>
            </a:r>
            <a:endParaRPr lang="en-US" sz="1550" dirty="0"/>
          </a:p>
        </p:txBody>
      </p:sp>
      <p:sp>
        <p:nvSpPr>
          <p:cNvPr id="8" name="Text 6"/>
          <p:cNvSpPr/>
          <p:nvPr/>
        </p:nvSpPr>
        <p:spPr>
          <a:xfrm>
            <a:off x="691158" y="5233154"/>
            <a:ext cx="2468523" cy="308491"/>
          </a:xfrm>
          <a:prstGeom prst="rect">
            <a:avLst/>
          </a:prstGeom>
          <a:noFill/>
          <a:ln/>
        </p:spPr>
        <p:txBody>
          <a:bodyPr wrap="none" lIns="0" tIns="0" rIns="0" bIns="0" rtlCol="0" anchor="t"/>
          <a:lstStyle/>
          <a:p>
            <a:pPr indent="0" marL="0">
              <a:lnSpc>
                <a:spcPts val="2400"/>
              </a:lnSpc>
              <a:buNone/>
            </a:pPr>
            <a:r>
              <a:rPr lang="en-US" sz="1900" b="1" spc="-58" kern="0" dirty="0">
                <a:solidFill>
                  <a:srgbClr val="000000"/>
                </a:solidFill>
                <a:latin typeface="Inter Bold" pitchFamily="34" charset="0"/>
                <a:ea typeface="Inter Bold" pitchFamily="34" charset="-122"/>
                <a:cs typeface="Inter Bold" pitchFamily="34" charset="-120"/>
              </a:rPr>
              <a:t>Análisis de datos</a:t>
            </a:r>
            <a:endParaRPr lang="en-US" sz="1900" dirty="0"/>
          </a:p>
        </p:txBody>
      </p:sp>
      <p:sp>
        <p:nvSpPr>
          <p:cNvPr id="9" name="Text 7"/>
          <p:cNvSpPr/>
          <p:nvPr/>
        </p:nvSpPr>
        <p:spPr>
          <a:xfrm>
            <a:off x="691158" y="5837873"/>
            <a:ext cx="13248084" cy="315992"/>
          </a:xfrm>
          <a:prstGeom prst="rect">
            <a:avLst/>
          </a:prstGeom>
          <a:noFill/>
          <a:ln/>
        </p:spPr>
        <p:txBody>
          <a:bodyPr wrap="none" lIns="0" tIns="0" rIns="0" bIns="0" rtlCol="0" anchor="t"/>
          <a:lstStyle/>
          <a:p>
            <a:pPr indent="0" marL="0">
              <a:lnSpc>
                <a:spcPts val="2450"/>
              </a:lnSpc>
              <a:buNone/>
            </a:pPr>
            <a:r>
              <a:rPr lang="en-US" sz="1550" spc="-31" kern="0" dirty="0">
                <a:solidFill>
                  <a:srgbClr val="272525"/>
                </a:solidFill>
                <a:latin typeface="Inter" pitchFamily="34" charset="0"/>
                <a:ea typeface="Inter" pitchFamily="34" charset="-122"/>
                <a:cs typeface="Inter" pitchFamily="34" charset="-120"/>
              </a:rPr>
              <a:t>Procesar y analizar grandes conjuntos de datos en tiempo real, generando insights valiosos para la toma de decisiones informadas.</a:t>
            </a:r>
            <a:endParaRPr lang="en-US" sz="1550" dirty="0"/>
          </a:p>
        </p:txBody>
      </p:sp>
      <p:sp>
        <p:nvSpPr>
          <p:cNvPr id="10" name="Text 8"/>
          <p:cNvSpPr/>
          <p:nvPr/>
        </p:nvSpPr>
        <p:spPr>
          <a:xfrm>
            <a:off x="691158" y="6450092"/>
            <a:ext cx="2468523" cy="308491"/>
          </a:xfrm>
          <a:prstGeom prst="rect">
            <a:avLst/>
          </a:prstGeom>
          <a:noFill/>
          <a:ln/>
        </p:spPr>
        <p:txBody>
          <a:bodyPr wrap="none" lIns="0" tIns="0" rIns="0" bIns="0" rtlCol="0" anchor="t"/>
          <a:lstStyle/>
          <a:p>
            <a:pPr indent="0" marL="0">
              <a:lnSpc>
                <a:spcPts val="2400"/>
              </a:lnSpc>
              <a:buNone/>
            </a:pPr>
            <a:r>
              <a:rPr lang="en-US" sz="1900" b="1" spc="-58" kern="0" dirty="0">
                <a:solidFill>
                  <a:srgbClr val="000000"/>
                </a:solidFill>
                <a:latin typeface="Inter Bold" pitchFamily="34" charset="0"/>
                <a:ea typeface="Inter Bold" pitchFamily="34" charset="-122"/>
                <a:cs typeface="Inter Bold" pitchFamily="34" charset="-120"/>
              </a:rPr>
              <a:t>Inteligencia Artificial</a:t>
            </a:r>
            <a:endParaRPr lang="en-US" sz="1900" dirty="0"/>
          </a:p>
        </p:txBody>
      </p:sp>
      <p:sp>
        <p:nvSpPr>
          <p:cNvPr id="11" name="Text 9"/>
          <p:cNvSpPr/>
          <p:nvPr/>
        </p:nvSpPr>
        <p:spPr>
          <a:xfrm>
            <a:off x="691158" y="7054810"/>
            <a:ext cx="13248084" cy="631984"/>
          </a:xfrm>
          <a:prstGeom prst="rect">
            <a:avLst/>
          </a:prstGeom>
          <a:noFill/>
          <a:ln/>
        </p:spPr>
        <p:txBody>
          <a:bodyPr wrap="square" lIns="0" tIns="0" rIns="0" bIns="0" rtlCol="0" anchor="t"/>
          <a:lstStyle/>
          <a:p>
            <a:pPr indent="0" marL="0">
              <a:lnSpc>
                <a:spcPts val="2450"/>
              </a:lnSpc>
              <a:buNone/>
            </a:pPr>
            <a:r>
              <a:rPr lang="en-US" sz="1550" spc="-31" kern="0" dirty="0">
                <a:solidFill>
                  <a:srgbClr val="272525"/>
                </a:solidFill>
                <a:latin typeface="Inter" pitchFamily="34" charset="0"/>
                <a:ea typeface="Inter" pitchFamily="34" charset="-122"/>
                <a:cs typeface="Inter" pitchFamily="34" charset="-120"/>
              </a:rPr>
              <a:t>Desarrollar, entrenar y desplegar modelos de IA y aprendizaje automático, aprovechando la potencia de cómputo y los servicios especializados en la nube.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3760351"/>
            <a:ext cx="1139702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Introducción a Google Cloud Platform (GCP)</a:t>
            </a:r>
            <a:endParaRPr lang="en-US" sz="4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427083"/>
            <a:ext cx="13042821" cy="2126337"/>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¿Qué es GCP? Posicionamiento de GCP en el mercado de la nube, comparación con otros proveedores</a:t>
            </a:r>
            <a:endParaRPr lang="en-US" sz="4450" dirty="0"/>
          </a:p>
        </p:txBody>
      </p:sp>
      <p:sp>
        <p:nvSpPr>
          <p:cNvPr id="3" name="Text 1"/>
          <p:cNvSpPr/>
          <p:nvPr/>
        </p:nvSpPr>
        <p:spPr>
          <a:xfrm>
            <a:off x="793790" y="4007048"/>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Google Cloud Platform (GCP) es la solución de infraestructura en la nube ofrecida por Google. Como uno de los principales proveedores de servicios en la nube, GCP se destaca por su amplia gama de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productos y herramientas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que abarcan desde el almacenamiento y el procesamiento de datos hasta la inteligencia artificial y el aprendizaje automático.</a:t>
            </a:r>
            <a:endParaRPr lang="en-US" sz="1750" dirty="0"/>
          </a:p>
        </p:txBody>
      </p:sp>
      <p:sp>
        <p:nvSpPr>
          <p:cNvPr id="4" name="Text 2"/>
          <p:cNvSpPr/>
          <p:nvPr/>
        </p:nvSpPr>
        <p:spPr>
          <a:xfrm>
            <a:off x="793790" y="5350907"/>
            <a:ext cx="13042821"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En comparación con otros proveedores líderes como Amazon Web Services (AWS) y Microsoft Azure, GCP se posiciona como una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alternativa sólida y competitiva</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ofreciendo una </a:t>
            </a:r>
            <a:pPr indent="0" marL="0">
              <a:lnSpc>
                <a:spcPts val="2850"/>
              </a:lnSpc>
              <a:buNone/>
            </a:pPr>
            <a:r>
              <a:rPr lang="en-US" sz="1750" i="1" spc="-36" kern="0" dirty="0">
                <a:solidFill>
                  <a:srgbClr val="272525"/>
                </a:solidFill>
                <a:latin typeface="Inter" pitchFamily="34" charset="0"/>
                <a:ea typeface="Inter" pitchFamily="34" charset="-122"/>
                <a:cs typeface="Inter" pitchFamily="34" charset="-120"/>
              </a:rPr>
              <a:t>experiencia de usuario intuitiva</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una </a:t>
            </a:r>
            <a:pPr indent="0" marL="0">
              <a:lnSpc>
                <a:spcPts val="2850"/>
              </a:lnSpc>
              <a:buNone/>
            </a:pPr>
            <a:r>
              <a:rPr lang="en-US" sz="1750" i="1" spc="-36" kern="0" dirty="0">
                <a:solidFill>
                  <a:srgbClr val="272525"/>
                </a:solidFill>
                <a:latin typeface="Inter" pitchFamily="34" charset="0"/>
                <a:ea typeface="Inter" pitchFamily="34" charset="-122"/>
                <a:cs typeface="Inter" pitchFamily="34" charset="-120"/>
              </a:rPr>
              <a:t>excelente integración con los servicios de Google</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y </a:t>
            </a:r>
            <a:pPr indent="0" marL="0">
              <a:lnSpc>
                <a:spcPts val="2850"/>
              </a:lnSpc>
              <a:buNone/>
            </a:pPr>
            <a:r>
              <a:rPr lang="en-US" sz="1750" i="1" spc="-36" kern="0" dirty="0">
                <a:solidFill>
                  <a:srgbClr val="272525"/>
                </a:solidFill>
                <a:latin typeface="Inter" pitchFamily="34" charset="0"/>
                <a:ea typeface="Inter" pitchFamily="34" charset="-122"/>
                <a:cs typeface="Inter" pitchFamily="34" charset="-120"/>
              </a:rPr>
              <a:t>precios competitivos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Además, GCP se destaca por su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enfoque en la innovación</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y el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desarrollo de tecnologías emergentes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como la inteligencia artificial y el aprendizaje automático.</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54393"/>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Principales servicios de Google Cloud Platform (GCP)</a:t>
            </a:r>
            <a:endParaRPr lang="en-US" sz="4450" dirty="0"/>
          </a:p>
        </p:txBody>
      </p:sp>
      <p:sp>
        <p:nvSpPr>
          <p:cNvPr id="3" name="Text 1"/>
          <p:cNvSpPr/>
          <p:nvPr/>
        </p:nvSpPr>
        <p:spPr>
          <a:xfrm>
            <a:off x="793790" y="2725579"/>
            <a:ext cx="13042821" cy="725805"/>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Google Cloud Platform (GCP) ofrece una amplia variedad de servicios que permiten a las organizaciones aprovechar al máximo las capacidades de la nube. Algunos de los servicios más destacados incluyen:</a:t>
            </a:r>
            <a:endParaRPr lang="en-US" sz="1750" dirty="0"/>
          </a:p>
        </p:txBody>
      </p:sp>
      <p:sp>
        <p:nvSpPr>
          <p:cNvPr id="4" name="Text 2"/>
          <p:cNvSpPr/>
          <p:nvPr/>
        </p:nvSpPr>
        <p:spPr>
          <a:xfrm>
            <a:off x="793790" y="3706535"/>
            <a:ext cx="13042821" cy="725805"/>
          </a:xfrm>
          <a:prstGeom prst="rect">
            <a:avLst/>
          </a:prstGeom>
          <a:noFill/>
          <a:ln/>
        </p:spPr>
        <p:txBody>
          <a:bodyPr wrap="square" lIns="0" tIns="0" rIns="0" bIns="0" rtlCol="0" anchor="t"/>
          <a:lstStyle/>
          <a:p>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Compute Engine</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Servicio de cómputo en la nube que proporciona máquinas virtuales altamente escalables y personalizables para una amplia gama de cargas de trabajo.</a:t>
            </a:r>
            <a:endParaRPr lang="en-US" sz="1750" dirty="0"/>
          </a:p>
        </p:txBody>
      </p:sp>
      <p:sp>
        <p:nvSpPr>
          <p:cNvPr id="5" name="Text 3"/>
          <p:cNvSpPr/>
          <p:nvPr/>
        </p:nvSpPr>
        <p:spPr>
          <a:xfrm>
            <a:off x="793790" y="4687491"/>
            <a:ext cx="13042821" cy="725805"/>
          </a:xfrm>
          <a:prstGeom prst="rect">
            <a:avLst/>
          </a:prstGeom>
          <a:noFill/>
          <a:ln/>
        </p:spPr>
        <p:txBody>
          <a:bodyPr wrap="square" lIns="0" tIns="0" rIns="0" bIns="0" rtlCol="0" anchor="t"/>
          <a:lstStyle/>
          <a:p>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Cloud Storage</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Solución de almacenamiento en la nube con escalabilidad ilimitada, seguridad y alta disponibilidad, ideal para respaldar y compartir datos.</a:t>
            </a:r>
            <a:endParaRPr lang="en-US" sz="1750" dirty="0"/>
          </a:p>
        </p:txBody>
      </p:sp>
      <p:sp>
        <p:nvSpPr>
          <p:cNvPr id="6" name="Text 4"/>
          <p:cNvSpPr/>
          <p:nvPr/>
        </p:nvSpPr>
        <p:spPr>
          <a:xfrm>
            <a:off x="793790" y="5668447"/>
            <a:ext cx="13042821" cy="725805"/>
          </a:xfrm>
          <a:prstGeom prst="rect">
            <a:avLst/>
          </a:prstGeom>
          <a:noFill/>
          <a:ln/>
        </p:spPr>
        <p:txBody>
          <a:bodyPr wrap="square" lIns="0" tIns="0" rIns="0" bIns="0" rtlCol="0" anchor="t"/>
          <a:lstStyle/>
          <a:p>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Cloud SQL</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Servicio de base de datos relacional totalmente administrado que ofrece una experiencia sencilla y confiable para desplegar y escalar bases de datos.</a:t>
            </a:r>
            <a:endParaRPr lang="en-US" sz="1750" dirty="0"/>
          </a:p>
        </p:txBody>
      </p:sp>
      <p:sp>
        <p:nvSpPr>
          <p:cNvPr id="7" name="Text 5"/>
          <p:cNvSpPr/>
          <p:nvPr/>
        </p:nvSpPr>
        <p:spPr>
          <a:xfrm>
            <a:off x="793790" y="6649403"/>
            <a:ext cx="13042821" cy="725805"/>
          </a:xfrm>
          <a:prstGeom prst="rect">
            <a:avLst/>
          </a:prstGeom>
          <a:noFill/>
          <a:ln/>
        </p:spPr>
        <p:txBody>
          <a:bodyPr wrap="square" lIns="0" tIns="0" rIns="0" bIns="0" rtlCol="0" anchor="t"/>
          <a:lstStyle/>
          <a:p>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BigQuery</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Servicio de análisis de datos en la nube que permite procesar y analizar rápidamente grandes volúmenes de información, generando insights valiosos.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65954"/>
            <a:ext cx="1281707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Arquitectura de GCP: Regiones, zonas, proyectos</a:t>
            </a:r>
            <a:endParaRPr lang="en-US" sz="4450" dirty="0"/>
          </a:p>
        </p:txBody>
      </p:sp>
      <p:pic>
        <p:nvPicPr>
          <p:cNvPr id="3" name="Image 0" descr="preencoded.png">    </p:cNvPr>
          <p:cNvPicPr>
            <a:picLocks noChangeAspect="1"/>
          </p:cNvPicPr>
          <p:nvPr/>
        </p:nvPicPr>
        <p:blipFill>
          <a:blip r:embed="rId1"/>
          <a:stretch>
            <a:fillRect/>
          </a:stretch>
        </p:blipFill>
        <p:spPr>
          <a:xfrm>
            <a:off x="793790" y="2128361"/>
            <a:ext cx="4120753" cy="2546747"/>
          </a:xfrm>
          <a:prstGeom prst="rect">
            <a:avLst/>
          </a:prstGeom>
        </p:spPr>
      </p:pic>
      <p:sp>
        <p:nvSpPr>
          <p:cNvPr id="4" name="Text 1"/>
          <p:cNvSpPr/>
          <p:nvPr/>
        </p:nvSpPr>
        <p:spPr>
          <a:xfrm>
            <a:off x="793790" y="4958596"/>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Regiones de GCP</a:t>
            </a:r>
            <a:endParaRPr lang="en-US" sz="2200" dirty="0"/>
          </a:p>
        </p:txBody>
      </p:sp>
      <p:sp>
        <p:nvSpPr>
          <p:cNvPr id="5" name="Text 2"/>
          <p:cNvSpPr/>
          <p:nvPr/>
        </p:nvSpPr>
        <p:spPr>
          <a:xfrm>
            <a:off x="793790" y="5449014"/>
            <a:ext cx="4120753"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Google Cloud Platform está diseñado con una arquitectura global, dividida en múltiples regiones geográficas que garantizan la disponibilidad y baja latencia de los servicios.</a:t>
            </a:r>
            <a:endParaRPr lang="en-US" sz="1750" dirty="0"/>
          </a:p>
        </p:txBody>
      </p:sp>
      <p:pic>
        <p:nvPicPr>
          <p:cNvPr id="6" name="Image 1" descr="preencoded.png">    </p:cNvPr>
          <p:cNvPicPr>
            <a:picLocks noChangeAspect="1"/>
          </p:cNvPicPr>
          <p:nvPr/>
        </p:nvPicPr>
        <p:blipFill>
          <a:blip r:embed="rId2"/>
          <a:stretch>
            <a:fillRect/>
          </a:stretch>
        </p:blipFill>
        <p:spPr>
          <a:xfrm>
            <a:off x="5254704" y="2128361"/>
            <a:ext cx="4120872" cy="2546866"/>
          </a:xfrm>
          <a:prstGeom prst="rect">
            <a:avLst/>
          </a:prstGeom>
        </p:spPr>
      </p:pic>
      <p:sp>
        <p:nvSpPr>
          <p:cNvPr id="7" name="Text 3"/>
          <p:cNvSpPr/>
          <p:nvPr/>
        </p:nvSpPr>
        <p:spPr>
          <a:xfrm>
            <a:off x="5254704" y="4958715"/>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Proyectos en GCP</a:t>
            </a:r>
            <a:endParaRPr lang="en-US" sz="2200" dirty="0"/>
          </a:p>
        </p:txBody>
      </p:sp>
      <p:sp>
        <p:nvSpPr>
          <p:cNvPr id="8" name="Text 4"/>
          <p:cNvSpPr/>
          <p:nvPr/>
        </p:nvSpPr>
        <p:spPr>
          <a:xfrm>
            <a:off x="5254704" y="5449133"/>
            <a:ext cx="4120872"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proyectos en GCP son entidades lógicas que agrupan y organizan los recursos de la nube, permitiendo una administración eficiente y el control de accesos.</a:t>
            </a:r>
            <a:endParaRPr lang="en-US" sz="1750" dirty="0"/>
          </a:p>
        </p:txBody>
      </p:sp>
      <p:pic>
        <p:nvPicPr>
          <p:cNvPr id="9" name="Image 2" descr="preencoded.png">    </p:cNvPr>
          <p:cNvPicPr>
            <a:picLocks noChangeAspect="1"/>
          </p:cNvPicPr>
          <p:nvPr/>
        </p:nvPicPr>
        <p:blipFill>
          <a:blip r:embed="rId3"/>
          <a:stretch>
            <a:fillRect/>
          </a:stretch>
        </p:blipFill>
        <p:spPr>
          <a:xfrm>
            <a:off x="9715738" y="2128361"/>
            <a:ext cx="4120753" cy="2546747"/>
          </a:xfrm>
          <a:prstGeom prst="rect">
            <a:avLst/>
          </a:prstGeom>
        </p:spPr>
      </p:pic>
      <p:sp>
        <p:nvSpPr>
          <p:cNvPr id="10" name="Text 5"/>
          <p:cNvSpPr/>
          <p:nvPr/>
        </p:nvSpPr>
        <p:spPr>
          <a:xfrm>
            <a:off x="9715738" y="4958596"/>
            <a:ext cx="3124200"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Zonas de Disponibilidad</a:t>
            </a:r>
            <a:endParaRPr lang="en-US" sz="2200" dirty="0"/>
          </a:p>
        </p:txBody>
      </p:sp>
      <p:sp>
        <p:nvSpPr>
          <p:cNvPr id="11" name="Text 6"/>
          <p:cNvSpPr/>
          <p:nvPr/>
        </p:nvSpPr>
        <p:spPr>
          <a:xfrm>
            <a:off x="9715738" y="5449014"/>
            <a:ext cx="4120753"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Cada región de GCP cuenta con múltiples zonas de disponibilidad independientes, lo que brinda redundancia y tolerancia a fallas para aplicaciones críticas.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962864"/>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Consola de Google Cloud: Interfaz de usuario para gestionar los recursos</a:t>
            </a:r>
            <a:endParaRPr lang="en-US" sz="4450" dirty="0"/>
          </a:p>
        </p:txBody>
      </p:sp>
      <p:sp>
        <p:nvSpPr>
          <p:cNvPr id="3" name="Text 1"/>
          <p:cNvSpPr/>
          <p:nvPr/>
        </p:nvSpPr>
        <p:spPr>
          <a:xfrm>
            <a:off x="793790" y="3834051"/>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La Consola de Google Cloud Platform (GCP) es la interfaz gráfica de usuario que permite a los usuarios administrar de manera sencilla y eficiente los recursos dentro de su entorno de nube. Esta herramienta centralizada ofrece una vista consolidada de todos los servicios y proyectos, facilitando la gestión, el monitoreo y la implementación de soluciones en la nube.</a:t>
            </a:r>
            <a:endParaRPr lang="en-US" sz="1750" dirty="0"/>
          </a:p>
        </p:txBody>
      </p:sp>
      <p:sp>
        <p:nvSpPr>
          <p:cNvPr id="4" name="Text 2"/>
          <p:cNvSpPr/>
          <p:nvPr/>
        </p:nvSpPr>
        <p:spPr>
          <a:xfrm>
            <a:off x="793790" y="5177909"/>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Desde la Consola de GCP, los usuarios pueden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crear y configurar máquinas virtuales, bases de datos, redes virtuales y demás recursos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de una manera intuitiva y visual. Además, pueden </a:t>
            </a:r>
            <a:pPr indent="0" marL="0">
              <a:lnSpc>
                <a:spcPts val="2850"/>
              </a:lnSpc>
              <a:buNone/>
            </a:pPr>
            <a:r>
              <a:rPr lang="en-US" sz="1750" i="1" spc="-36" kern="0" dirty="0">
                <a:solidFill>
                  <a:srgbClr val="272525"/>
                </a:solidFill>
                <a:latin typeface="Inter" pitchFamily="34" charset="0"/>
                <a:ea typeface="Inter" pitchFamily="34" charset="-122"/>
                <a:cs typeface="Inter" pitchFamily="34" charset="-120"/>
              </a:rPr>
              <a:t>supervisar el rendimiento, los costos y la seguridad</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de sus implementaciones en la nube, todo desde una sola interfaz.</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274088"/>
            <a:ext cx="865917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Pricing y Modelos de Facturación</a:t>
            </a:r>
            <a:endParaRPr lang="en-US" sz="4450" dirty="0"/>
          </a:p>
        </p:txBody>
      </p:sp>
      <p:sp>
        <p:nvSpPr>
          <p:cNvPr id="3" name="Text 1"/>
          <p:cNvSpPr/>
          <p:nvPr/>
        </p:nvSpPr>
        <p:spPr>
          <a:xfrm>
            <a:off x="793790" y="2549843"/>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Opciones de Pago</a:t>
            </a:r>
            <a:endParaRPr lang="en-US" sz="2200" dirty="0"/>
          </a:p>
        </p:txBody>
      </p:sp>
      <p:sp>
        <p:nvSpPr>
          <p:cNvPr id="4" name="Text 2"/>
          <p:cNvSpPr/>
          <p:nvPr/>
        </p:nvSpPr>
        <p:spPr>
          <a:xfrm>
            <a:off x="793790" y="3130987"/>
            <a:ext cx="2845594" cy="290322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GCP ofrece múltiples planes de pago flexibles, desde facturación por uso hasta contratos a largo plazo. Esto permite a las empresas adaptarse a sus necesidades y presupuestos cambiantes.</a:t>
            </a:r>
            <a:endParaRPr lang="en-US" sz="1750" dirty="0"/>
          </a:p>
        </p:txBody>
      </p:sp>
      <p:sp>
        <p:nvSpPr>
          <p:cNvPr id="5" name="Text 3"/>
          <p:cNvSpPr/>
          <p:nvPr/>
        </p:nvSpPr>
        <p:spPr>
          <a:xfrm>
            <a:off x="4200406" y="2549843"/>
            <a:ext cx="2845594" cy="708660"/>
          </a:xfrm>
          <a:prstGeom prst="rect">
            <a:avLst/>
          </a:prstGeom>
          <a:noFill/>
          <a:ln/>
        </p:spPr>
        <p:txBody>
          <a:bodyPr wrap="squar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Optimización de Costos</a:t>
            </a:r>
            <a:endParaRPr lang="en-US" sz="2200" dirty="0"/>
          </a:p>
        </p:txBody>
      </p:sp>
      <p:sp>
        <p:nvSpPr>
          <p:cNvPr id="6" name="Text 4"/>
          <p:cNvSpPr/>
          <p:nvPr/>
        </p:nvSpPr>
        <p:spPr>
          <a:xfrm>
            <a:off x="4200406" y="3485317"/>
            <a:ext cx="2845594" cy="3266123"/>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Herramientas de monitoreo y análisis de costos facilitan la identificación de áreas de ahorro. Además, GCP brinda recomendaciones personalizadas para aprovechar al máximo los recursos.</a:t>
            </a:r>
            <a:endParaRPr lang="en-US" sz="1750" dirty="0"/>
          </a:p>
        </p:txBody>
      </p:sp>
      <p:sp>
        <p:nvSpPr>
          <p:cNvPr id="7" name="Text 5"/>
          <p:cNvSpPr/>
          <p:nvPr/>
        </p:nvSpPr>
        <p:spPr>
          <a:xfrm>
            <a:off x="7607022" y="2549843"/>
            <a:ext cx="2845594" cy="708660"/>
          </a:xfrm>
          <a:prstGeom prst="rect">
            <a:avLst/>
          </a:prstGeom>
          <a:noFill/>
          <a:ln/>
        </p:spPr>
        <p:txBody>
          <a:bodyPr wrap="squar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Transparencia y Control</a:t>
            </a:r>
            <a:endParaRPr lang="en-US" sz="2200" dirty="0"/>
          </a:p>
        </p:txBody>
      </p:sp>
      <p:sp>
        <p:nvSpPr>
          <p:cNvPr id="8" name="Text 6"/>
          <p:cNvSpPr/>
          <p:nvPr/>
        </p:nvSpPr>
        <p:spPr>
          <a:xfrm>
            <a:off x="7607022" y="3485317"/>
            <a:ext cx="2845594" cy="254031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usuarios pueden acceder a informes detallados de costos y facturación, lo que les permite tomar decisiones informadas sobre la inversión en la nube.</a:t>
            </a:r>
            <a:endParaRPr lang="en-US" sz="1750" dirty="0"/>
          </a:p>
        </p:txBody>
      </p:sp>
      <p:pic>
        <p:nvPicPr>
          <p:cNvPr id="9" name="Image 0" descr="preencoded.png">    </p:cNvPr>
          <p:cNvPicPr>
            <a:picLocks noChangeAspect="1"/>
          </p:cNvPicPr>
          <p:nvPr/>
        </p:nvPicPr>
        <p:blipFill>
          <a:blip r:embed="rId1"/>
          <a:stretch>
            <a:fillRect/>
          </a:stretch>
        </p:blipFill>
        <p:spPr>
          <a:xfrm>
            <a:off x="11013638" y="2578179"/>
            <a:ext cx="2845594" cy="19469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3760351"/>
            <a:ext cx="1291721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Google Compute Engine: Conceptos y Uso básico</a:t>
            </a:r>
            <a:endParaRPr lang="en-US" sz="4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2317313"/>
            <a:ext cx="796563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Google Compute Engine (GCE)</a:t>
            </a:r>
            <a:endParaRPr lang="en-US" sz="4450" dirty="0"/>
          </a:p>
        </p:txBody>
      </p:sp>
      <p:sp>
        <p:nvSpPr>
          <p:cNvPr id="3" name="Text 1"/>
          <p:cNvSpPr/>
          <p:nvPr/>
        </p:nvSpPr>
        <p:spPr>
          <a:xfrm>
            <a:off x="793790" y="3479721"/>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Google Compute Engine (GCE) es un servicio de infraestructura como servicio (IaaS) ofrecido por Google Cloud Platform (GCP).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GCE permite a los usuarios crear y ejecutar máquinas virtuales (VM) en la nube</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proporcionando una infraestructura de cómputo escalable y altamente personalizable.</a:t>
            </a:r>
            <a:endParaRPr lang="en-US" sz="1750" dirty="0"/>
          </a:p>
        </p:txBody>
      </p:sp>
      <p:sp>
        <p:nvSpPr>
          <p:cNvPr id="4" name="Text 2"/>
          <p:cNvSpPr/>
          <p:nvPr/>
        </p:nvSpPr>
        <p:spPr>
          <a:xfrm>
            <a:off x="793790" y="4823579"/>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Con GCE, los usuarios pueden </a:t>
            </a:r>
            <a:pPr indent="0" marL="0">
              <a:lnSpc>
                <a:spcPts val="2850"/>
              </a:lnSpc>
              <a:buNone/>
            </a:pPr>
            <a:r>
              <a:rPr lang="en-US" sz="1750" i="1" spc="-36" kern="0" dirty="0">
                <a:solidFill>
                  <a:srgbClr val="272525"/>
                </a:solidFill>
                <a:latin typeface="Inter" pitchFamily="34" charset="0"/>
                <a:ea typeface="Inter" pitchFamily="34" charset="-122"/>
                <a:cs typeface="Inter" pitchFamily="34" charset="-120"/>
              </a:rPr>
              <a:t>aprovisionar rápidamente recursos de cómputo</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configurar redes virtuales, almacenamiento y otros servicios, todo a través de una interfaz sencilla y automatizada. Esto facilita el despliegue y la gestión de cargas de trabajo en la nube, ya sean aplicaciones web, servicios backend o incluso clústeres de computación de alto rendimiento.</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147405"/>
            <a:ext cx="9367361"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Tipos de máquinas virtuales en GCE</a:t>
            </a:r>
            <a:endParaRPr lang="en-US" sz="4450" dirty="0"/>
          </a:p>
        </p:txBody>
      </p:sp>
      <p:pic>
        <p:nvPicPr>
          <p:cNvPr id="3" name="Image 0" descr="preencoded.png">    </p:cNvPr>
          <p:cNvPicPr>
            <a:picLocks noChangeAspect="1"/>
          </p:cNvPicPr>
          <p:nvPr/>
        </p:nvPicPr>
        <p:blipFill>
          <a:blip r:embed="rId1"/>
          <a:stretch>
            <a:fillRect/>
          </a:stretch>
        </p:blipFill>
        <p:spPr>
          <a:xfrm>
            <a:off x="793790" y="2309813"/>
            <a:ext cx="4120753" cy="2546747"/>
          </a:xfrm>
          <a:prstGeom prst="rect">
            <a:avLst/>
          </a:prstGeom>
        </p:spPr>
      </p:pic>
      <p:sp>
        <p:nvSpPr>
          <p:cNvPr id="4" name="Text 1"/>
          <p:cNvSpPr/>
          <p:nvPr/>
        </p:nvSpPr>
        <p:spPr>
          <a:xfrm>
            <a:off x="793790" y="5140047"/>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Máquinas Estándar</a:t>
            </a:r>
            <a:endParaRPr lang="en-US" sz="2200" dirty="0"/>
          </a:p>
        </p:txBody>
      </p:sp>
      <p:sp>
        <p:nvSpPr>
          <p:cNvPr id="5" name="Text 2"/>
          <p:cNvSpPr/>
          <p:nvPr/>
        </p:nvSpPr>
        <p:spPr>
          <a:xfrm>
            <a:off x="793790" y="5630466"/>
            <a:ext cx="4120753" cy="145161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Estas instancias ofrecen configuraciones predefinidas de CPU, memoria y almacenamiento, lo que facilita su despliegue rápido y sencillo.</a:t>
            </a:r>
            <a:endParaRPr lang="en-US" sz="1750" dirty="0"/>
          </a:p>
        </p:txBody>
      </p:sp>
      <p:pic>
        <p:nvPicPr>
          <p:cNvPr id="6" name="Image 1" descr="preencoded.png">    </p:cNvPr>
          <p:cNvPicPr>
            <a:picLocks noChangeAspect="1"/>
          </p:cNvPicPr>
          <p:nvPr/>
        </p:nvPicPr>
        <p:blipFill>
          <a:blip r:embed="rId2"/>
          <a:stretch>
            <a:fillRect/>
          </a:stretch>
        </p:blipFill>
        <p:spPr>
          <a:xfrm>
            <a:off x="5254704" y="2309813"/>
            <a:ext cx="4120872" cy="2546866"/>
          </a:xfrm>
          <a:prstGeom prst="rect">
            <a:avLst/>
          </a:prstGeom>
        </p:spPr>
      </p:pic>
      <p:sp>
        <p:nvSpPr>
          <p:cNvPr id="7" name="Text 3"/>
          <p:cNvSpPr/>
          <p:nvPr/>
        </p:nvSpPr>
        <p:spPr>
          <a:xfrm>
            <a:off x="5254704" y="5140166"/>
            <a:ext cx="3425071"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Máquinas Personalizables</a:t>
            </a:r>
            <a:endParaRPr lang="en-US" sz="2200" dirty="0"/>
          </a:p>
        </p:txBody>
      </p:sp>
      <p:sp>
        <p:nvSpPr>
          <p:cNvPr id="8" name="Text 4"/>
          <p:cNvSpPr/>
          <p:nvPr/>
        </p:nvSpPr>
        <p:spPr>
          <a:xfrm>
            <a:off x="5254704" y="5630585"/>
            <a:ext cx="4120872" cy="145161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usuarios pueden diseñar sus propias configuraciones de máquinas virtuales, ajustándolas a los requisitos específicos de sus cargas de trabajo.</a:t>
            </a:r>
            <a:endParaRPr lang="en-US" sz="1750" dirty="0"/>
          </a:p>
        </p:txBody>
      </p:sp>
      <p:pic>
        <p:nvPicPr>
          <p:cNvPr id="9" name="Image 2" descr="preencoded.png">    </p:cNvPr>
          <p:cNvPicPr>
            <a:picLocks noChangeAspect="1"/>
          </p:cNvPicPr>
          <p:nvPr/>
        </p:nvPicPr>
        <p:blipFill>
          <a:blip r:embed="rId3"/>
          <a:stretch>
            <a:fillRect/>
          </a:stretch>
        </p:blipFill>
        <p:spPr>
          <a:xfrm>
            <a:off x="9715738" y="2309813"/>
            <a:ext cx="4120753" cy="2546747"/>
          </a:xfrm>
          <a:prstGeom prst="rect">
            <a:avLst/>
          </a:prstGeom>
        </p:spPr>
      </p:pic>
      <p:sp>
        <p:nvSpPr>
          <p:cNvPr id="10" name="Text 5"/>
          <p:cNvSpPr/>
          <p:nvPr/>
        </p:nvSpPr>
        <p:spPr>
          <a:xfrm>
            <a:off x="9715738" y="5140047"/>
            <a:ext cx="3078956"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Máquinas Preemptibles</a:t>
            </a:r>
            <a:endParaRPr lang="en-US" sz="2200" dirty="0"/>
          </a:p>
        </p:txBody>
      </p:sp>
      <p:sp>
        <p:nvSpPr>
          <p:cNvPr id="11" name="Text 6"/>
          <p:cNvSpPr/>
          <p:nvPr/>
        </p:nvSpPr>
        <p:spPr>
          <a:xfrm>
            <a:off x="9715738" y="5630466"/>
            <a:ext cx="4120753" cy="145161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Estas instancias de bajo costo pueden ser interrumpidas en cualquier momento, lo que las hace ideales para cargas de trabajo flexibles y sin estado.</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032986"/>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Creación y gestión de instancias: Proceso paso a paso para lanzar una instancia</a:t>
            </a:r>
            <a:endParaRPr lang="en-US" sz="4450" dirty="0"/>
          </a:p>
        </p:txBody>
      </p:sp>
      <p:sp>
        <p:nvSpPr>
          <p:cNvPr id="3" name="Shape 1"/>
          <p:cNvSpPr/>
          <p:nvPr/>
        </p:nvSpPr>
        <p:spPr>
          <a:xfrm>
            <a:off x="7299960" y="2904173"/>
            <a:ext cx="30480" cy="4292322"/>
          </a:xfrm>
          <a:prstGeom prst="roundRect">
            <a:avLst>
              <a:gd name="adj" fmla="val 312558"/>
            </a:avLst>
          </a:prstGeom>
          <a:solidFill>
            <a:srgbClr val="C0C1D7"/>
          </a:solidFill>
          <a:ln/>
        </p:spPr>
      </p:sp>
      <p:sp>
        <p:nvSpPr>
          <p:cNvPr id="4" name="Shape 2"/>
          <p:cNvSpPr/>
          <p:nvPr/>
        </p:nvSpPr>
        <p:spPr>
          <a:xfrm>
            <a:off x="6296739" y="3399234"/>
            <a:ext cx="793790" cy="30480"/>
          </a:xfrm>
          <a:prstGeom prst="roundRect">
            <a:avLst>
              <a:gd name="adj" fmla="val 312558"/>
            </a:avLst>
          </a:prstGeom>
          <a:solidFill>
            <a:srgbClr val="C0C1D7"/>
          </a:solidFill>
          <a:ln/>
        </p:spPr>
      </p:sp>
      <p:sp>
        <p:nvSpPr>
          <p:cNvPr id="5" name="Shape 3"/>
          <p:cNvSpPr/>
          <p:nvPr/>
        </p:nvSpPr>
        <p:spPr>
          <a:xfrm>
            <a:off x="7060049" y="3159323"/>
            <a:ext cx="510302" cy="510302"/>
          </a:xfrm>
          <a:prstGeom prst="roundRect">
            <a:avLst>
              <a:gd name="adj" fmla="val 18669"/>
            </a:avLst>
          </a:prstGeom>
          <a:solidFill>
            <a:srgbClr val="DADBF1"/>
          </a:solidFill>
          <a:ln w="7620">
            <a:solidFill>
              <a:srgbClr val="C0C1D7"/>
            </a:solidFill>
            <a:prstDash val="solid"/>
          </a:ln>
        </p:spPr>
      </p:sp>
      <p:sp>
        <p:nvSpPr>
          <p:cNvPr id="6" name="Text 4"/>
          <p:cNvSpPr/>
          <p:nvPr/>
        </p:nvSpPr>
        <p:spPr>
          <a:xfrm>
            <a:off x="7246858" y="3244334"/>
            <a:ext cx="136565"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1</a:t>
            </a:r>
            <a:endParaRPr lang="en-US" sz="2650" dirty="0"/>
          </a:p>
        </p:txBody>
      </p:sp>
      <p:sp>
        <p:nvSpPr>
          <p:cNvPr id="7" name="Text 5"/>
          <p:cNvSpPr/>
          <p:nvPr/>
        </p:nvSpPr>
        <p:spPr>
          <a:xfrm>
            <a:off x="2288619" y="3130987"/>
            <a:ext cx="3779044" cy="354330"/>
          </a:xfrm>
          <a:prstGeom prst="rect">
            <a:avLst/>
          </a:prstGeom>
          <a:noFill/>
          <a:ln/>
        </p:spPr>
        <p:txBody>
          <a:bodyPr wrap="none" lIns="0" tIns="0" rIns="0" bIns="0" rtlCol="0" anchor="t"/>
          <a:lstStyle/>
          <a:p>
            <a:pPr algn="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Seleccionar Tipo de Máquina</a:t>
            </a:r>
            <a:endParaRPr lang="en-US" sz="2200" dirty="0"/>
          </a:p>
        </p:txBody>
      </p:sp>
      <p:sp>
        <p:nvSpPr>
          <p:cNvPr id="8" name="Text 6"/>
          <p:cNvSpPr/>
          <p:nvPr/>
        </p:nvSpPr>
        <p:spPr>
          <a:xfrm>
            <a:off x="793790" y="3621405"/>
            <a:ext cx="5273873" cy="1088708"/>
          </a:xfrm>
          <a:prstGeom prst="rect">
            <a:avLst/>
          </a:prstGeom>
          <a:noFill/>
          <a:ln/>
        </p:spPr>
        <p:txBody>
          <a:bodyPr wrap="square" lIns="0" tIns="0" rIns="0" bIns="0" rtlCol="0" anchor="t"/>
          <a:lstStyle/>
          <a:p>
            <a:pPr algn="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Elige la configuración de CPU, memoria y almacenamiento que mejor se adapte a tus necesidades de carga de trabajo.</a:t>
            </a:r>
            <a:endParaRPr lang="en-US" sz="1750" dirty="0"/>
          </a:p>
        </p:txBody>
      </p:sp>
      <p:sp>
        <p:nvSpPr>
          <p:cNvPr id="9" name="Shape 7"/>
          <p:cNvSpPr/>
          <p:nvPr/>
        </p:nvSpPr>
        <p:spPr>
          <a:xfrm>
            <a:off x="7539871" y="4533305"/>
            <a:ext cx="793790" cy="30480"/>
          </a:xfrm>
          <a:prstGeom prst="roundRect">
            <a:avLst>
              <a:gd name="adj" fmla="val 312558"/>
            </a:avLst>
          </a:prstGeom>
          <a:solidFill>
            <a:srgbClr val="C0C1D7"/>
          </a:solidFill>
          <a:ln/>
        </p:spPr>
      </p:sp>
      <p:sp>
        <p:nvSpPr>
          <p:cNvPr id="10" name="Shape 8"/>
          <p:cNvSpPr/>
          <p:nvPr/>
        </p:nvSpPr>
        <p:spPr>
          <a:xfrm>
            <a:off x="7060049" y="4293394"/>
            <a:ext cx="510302" cy="510302"/>
          </a:xfrm>
          <a:prstGeom prst="roundRect">
            <a:avLst>
              <a:gd name="adj" fmla="val 18669"/>
            </a:avLst>
          </a:prstGeom>
          <a:solidFill>
            <a:srgbClr val="DADBF1"/>
          </a:solidFill>
          <a:ln w="7620">
            <a:solidFill>
              <a:srgbClr val="C0C1D7"/>
            </a:solidFill>
            <a:prstDash val="solid"/>
          </a:ln>
        </p:spPr>
      </p:sp>
      <p:sp>
        <p:nvSpPr>
          <p:cNvPr id="11" name="Text 9"/>
          <p:cNvSpPr/>
          <p:nvPr/>
        </p:nvSpPr>
        <p:spPr>
          <a:xfrm>
            <a:off x="7213163" y="4378404"/>
            <a:ext cx="204073"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2</a:t>
            </a:r>
            <a:endParaRPr lang="en-US" sz="2650" dirty="0"/>
          </a:p>
        </p:txBody>
      </p:sp>
      <p:sp>
        <p:nvSpPr>
          <p:cNvPr id="12" name="Text 10"/>
          <p:cNvSpPr/>
          <p:nvPr/>
        </p:nvSpPr>
        <p:spPr>
          <a:xfrm>
            <a:off x="8562737" y="4265057"/>
            <a:ext cx="4451152"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Configurar Detalles de la Instancia</a:t>
            </a:r>
            <a:endParaRPr lang="en-US" sz="2200" dirty="0"/>
          </a:p>
        </p:txBody>
      </p:sp>
      <p:sp>
        <p:nvSpPr>
          <p:cNvPr id="13" name="Text 11"/>
          <p:cNvSpPr/>
          <p:nvPr/>
        </p:nvSpPr>
        <p:spPr>
          <a:xfrm>
            <a:off x="8562737" y="4755475"/>
            <a:ext cx="5273873" cy="725805"/>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Personaliza la imagen del sistema operativo, la región, las redes y otras opciones avanzadas.</a:t>
            </a:r>
            <a:endParaRPr lang="en-US" sz="1750" dirty="0"/>
          </a:p>
        </p:txBody>
      </p:sp>
      <p:sp>
        <p:nvSpPr>
          <p:cNvPr id="14" name="Shape 12"/>
          <p:cNvSpPr/>
          <p:nvPr/>
        </p:nvSpPr>
        <p:spPr>
          <a:xfrm>
            <a:off x="6296739" y="5658803"/>
            <a:ext cx="793790" cy="30480"/>
          </a:xfrm>
          <a:prstGeom prst="roundRect">
            <a:avLst>
              <a:gd name="adj" fmla="val 312558"/>
            </a:avLst>
          </a:prstGeom>
          <a:solidFill>
            <a:srgbClr val="C0C1D7"/>
          </a:solidFill>
          <a:ln/>
        </p:spPr>
      </p:sp>
      <p:sp>
        <p:nvSpPr>
          <p:cNvPr id="15" name="Shape 13"/>
          <p:cNvSpPr/>
          <p:nvPr/>
        </p:nvSpPr>
        <p:spPr>
          <a:xfrm>
            <a:off x="7060049" y="5418892"/>
            <a:ext cx="510302" cy="510302"/>
          </a:xfrm>
          <a:prstGeom prst="roundRect">
            <a:avLst>
              <a:gd name="adj" fmla="val 18669"/>
            </a:avLst>
          </a:prstGeom>
          <a:solidFill>
            <a:srgbClr val="DADBF1"/>
          </a:solidFill>
          <a:ln w="7620">
            <a:solidFill>
              <a:srgbClr val="C0C1D7"/>
            </a:solidFill>
            <a:prstDash val="solid"/>
          </a:ln>
        </p:spPr>
      </p:sp>
      <p:sp>
        <p:nvSpPr>
          <p:cNvPr id="16" name="Text 14"/>
          <p:cNvSpPr/>
          <p:nvPr/>
        </p:nvSpPr>
        <p:spPr>
          <a:xfrm>
            <a:off x="7210425" y="5503902"/>
            <a:ext cx="209431"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7" name="Text 15"/>
          <p:cNvSpPr/>
          <p:nvPr/>
        </p:nvSpPr>
        <p:spPr>
          <a:xfrm>
            <a:off x="3232428" y="5390555"/>
            <a:ext cx="2835235" cy="354330"/>
          </a:xfrm>
          <a:prstGeom prst="rect">
            <a:avLst/>
          </a:prstGeom>
          <a:noFill/>
          <a:ln/>
        </p:spPr>
        <p:txBody>
          <a:bodyPr wrap="none" lIns="0" tIns="0" rIns="0" bIns="0" rtlCol="0" anchor="t"/>
          <a:lstStyle/>
          <a:p>
            <a:pPr algn="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Lanzar y Monitorear</a:t>
            </a:r>
            <a:endParaRPr lang="en-US" sz="2200" dirty="0"/>
          </a:p>
        </p:txBody>
      </p:sp>
      <p:sp>
        <p:nvSpPr>
          <p:cNvPr id="18" name="Text 16"/>
          <p:cNvSpPr/>
          <p:nvPr/>
        </p:nvSpPr>
        <p:spPr>
          <a:xfrm>
            <a:off x="793790" y="5880973"/>
            <a:ext cx="5273873" cy="1088708"/>
          </a:xfrm>
          <a:prstGeom prst="rect">
            <a:avLst/>
          </a:prstGeom>
          <a:noFill/>
          <a:ln/>
        </p:spPr>
        <p:txBody>
          <a:bodyPr wrap="square" lIns="0" tIns="0" rIns="0" bIns="0" rtlCol="0" anchor="t"/>
          <a:lstStyle/>
          <a:p>
            <a:pPr algn="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Inicia la instancia y supervisa su estado y desempeño a través de la consola de Google Cloud.</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282541"/>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Redes en GCE: Subredes, firewalls, balanceadores de carga</a:t>
            </a:r>
            <a:endParaRPr lang="en-US" sz="4450" dirty="0"/>
          </a:p>
        </p:txBody>
      </p:sp>
      <p:sp>
        <p:nvSpPr>
          <p:cNvPr id="3" name="Text 1"/>
          <p:cNvSpPr/>
          <p:nvPr/>
        </p:nvSpPr>
        <p:spPr>
          <a:xfrm>
            <a:off x="793790" y="3267075"/>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Subredes</a:t>
            </a:r>
            <a:endParaRPr lang="en-US" sz="2200" dirty="0"/>
          </a:p>
        </p:txBody>
      </p:sp>
      <p:sp>
        <p:nvSpPr>
          <p:cNvPr id="4" name="Text 2"/>
          <p:cNvSpPr/>
          <p:nvPr/>
        </p:nvSpPr>
        <p:spPr>
          <a:xfrm>
            <a:off x="793790" y="3848219"/>
            <a:ext cx="2845594" cy="254031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Las subredes en Google Compute Engine (GCE) permiten dividir la red virtual en segmentos lógicos, mejorando el control del tráfico y la seguridad.</a:t>
            </a:r>
            <a:endParaRPr lang="en-US" sz="1750" dirty="0"/>
          </a:p>
        </p:txBody>
      </p:sp>
      <p:sp>
        <p:nvSpPr>
          <p:cNvPr id="5" name="Text 3"/>
          <p:cNvSpPr/>
          <p:nvPr/>
        </p:nvSpPr>
        <p:spPr>
          <a:xfrm>
            <a:off x="4200406" y="3267075"/>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Firewalls</a:t>
            </a:r>
            <a:endParaRPr lang="en-US" sz="2200" dirty="0"/>
          </a:p>
        </p:txBody>
      </p:sp>
      <p:sp>
        <p:nvSpPr>
          <p:cNvPr id="6" name="Text 4"/>
          <p:cNvSpPr/>
          <p:nvPr/>
        </p:nvSpPr>
        <p:spPr>
          <a:xfrm>
            <a:off x="4200406" y="3848219"/>
            <a:ext cx="2845594" cy="2177415"/>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firewalls de GCE brindan una capa de protección vital, filtrando el tráfico entrante y saliente según reglas de seguridad definidas.</a:t>
            </a:r>
            <a:endParaRPr lang="en-US" sz="1750" dirty="0"/>
          </a:p>
        </p:txBody>
      </p:sp>
      <p:sp>
        <p:nvSpPr>
          <p:cNvPr id="7" name="Text 5"/>
          <p:cNvSpPr/>
          <p:nvPr/>
        </p:nvSpPr>
        <p:spPr>
          <a:xfrm>
            <a:off x="7607022" y="3267075"/>
            <a:ext cx="2845594" cy="708660"/>
          </a:xfrm>
          <a:prstGeom prst="rect">
            <a:avLst/>
          </a:prstGeom>
          <a:noFill/>
          <a:ln/>
        </p:spPr>
        <p:txBody>
          <a:bodyPr wrap="squar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Balanceadores de Carga</a:t>
            </a:r>
            <a:endParaRPr lang="en-US" sz="2200" dirty="0"/>
          </a:p>
        </p:txBody>
      </p:sp>
      <p:sp>
        <p:nvSpPr>
          <p:cNvPr id="8" name="Text 6"/>
          <p:cNvSpPr/>
          <p:nvPr/>
        </p:nvSpPr>
        <p:spPr>
          <a:xfrm>
            <a:off x="7607022" y="4202549"/>
            <a:ext cx="2845594" cy="254031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balanceadores de carga distribuyen el tráfico entrante entre múltiples instancias, mejorando el rendimiento y la disponibilidad de las aplicaciones.</a:t>
            </a:r>
            <a:endParaRPr lang="en-US" sz="1750" dirty="0"/>
          </a:p>
        </p:txBody>
      </p:sp>
      <p:pic>
        <p:nvPicPr>
          <p:cNvPr id="9" name="Image 0" descr="preencoded.png">    </p:cNvPr>
          <p:cNvPicPr>
            <a:picLocks noChangeAspect="1"/>
          </p:cNvPicPr>
          <p:nvPr/>
        </p:nvPicPr>
        <p:blipFill>
          <a:blip r:embed="rId1"/>
          <a:stretch>
            <a:fillRect/>
          </a:stretch>
        </p:blipFill>
        <p:spPr>
          <a:xfrm>
            <a:off x="11013638" y="3295412"/>
            <a:ext cx="2845594" cy="19469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429345"/>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Almacenamiento en GCE: Discos persistentes, Cloud Storage</a:t>
            </a:r>
            <a:endParaRPr lang="en-US" sz="4450" dirty="0"/>
          </a:p>
        </p:txBody>
      </p:sp>
      <p:sp>
        <p:nvSpPr>
          <p:cNvPr id="3" name="Shape 1"/>
          <p:cNvSpPr/>
          <p:nvPr/>
        </p:nvSpPr>
        <p:spPr>
          <a:xfrm>
            <a:off x="793790" y="3300532"/>
            <a:ext cx="4196358" cy="3499604"/>
          </a:xfrm>
          <a:prstGeom prst="roundRect">
            <a:avLst>
              <a:gd name="adj" fmla="val 2722"/>
            </a:avLst>
          </a:prstGeom>
          <a:solidFill>
            <a:srgbClr val="DADBF1"/>
          </a:solidFill>
          <a:ln w="7620">
            <a:solidFill>
              <a:srgbClr val="C0C1D7"/>
            </a:solidFill>
            <a:prstDash val="solid"/>
          </a:ln>
        </p:spPr>
      </p:sp>
      <p:sp>
        <p:nvSpPr>
          <p:cNvPr id="4" name="Text 2"/>
          <p:cNvSpPr/>
          <p:nvPr/>
        </p:nvSpPr>
        <p:spPr>
          <a:xfrm>
            <a:off x="1028224" y="3534966"/>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Discos Persistentes</a:t>
            </a:r>
            <a:endParaRPr lang="en-US" sz="2200" dirty="0"/>
          </a:p>
        </p:txBody>
      </p:sp>
      <p:sp>
        <p:nvSpPr>
          <p:cNvPr id="5" name="Text 3"/>
          <p:cNvSpPr/>
          <p:nvPr/>
        </p:nvSpPr>
        <p:spPr>
          <a:xfrm>
            <a:off x="1028224" y="4025384"/>
            <a:ext cx="3727490" cy="254031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discos persistentes de Google Compute Engine (GCE) proporcionan almacenamiento de bajo nivel con un alto rendimiento y fiabilidad. Pueden adjuntarse a máquinas virtuales para almacenar datos críticos.</a:t>
            </a:r>
            <a:endParaRPr lang="en-US" sz="1750" dirty="0"/>
          </a:p>
        </p:txBody>
      </p:sp>
      <p:sp>
        <p:nvSpPr>
          <p:cNvPr id="6" name="Shape 4"/>
          <p:cNvSpPr/>
          <p:nvPr/>
        </p:nvSpPr>
        <p:spPr>
          <a:xfrm>
            <a:off x="5216962" y="3300532"/>
            <a:ext cx="4196358" cy="3499604"/>
          </a:xfrm>
          <a:prstGeom prst="roundRect">
            <a:avLst>
              <a:gd name="adj" fmla="val 2722"/>
            </a:avLst>
          </a:prstGeom>
          <a:solidFill>
            <a:srgbClr val="DADBF1"/>
          </a:solidFill>
          <a:ln w="7620">
            <a:solidFill>
              <a:srgbClr val="C0C1D7"/>
            </a:solidFill>
            <a:prstDash val="solid"/>
          </a:ln>
        </p:spPr>
      </p:sp>
      <p:sp>
        <p:nvSpPr>
          <p:cNvPr id="7" name="Text 5"/>
          <p:cNvSpPr/>
          <p:nvPr/>
        </p:nvSpPr>
        <p:spPr>
          <a:xfrm>
            <a:off x="5451396" y="3534966"/>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Cloud Storage</a:t>
            </a:r>
            <a:endParaRPr lang="en-US" sz="2200" dirty="0"/>
          </a:p>
        </p:txBody>
      </p:sp>
      <p:sp>
        <p:nvSpPr>
          <p:cNvPr id="8" name="Text 6"/>
          <p:cNvSpPr/>
          <p:nvPr/>
        </p:nvSpPr>
        <p:spPr>
          <a:xfrm>
            <a:off x="5451396" y="4025384"/>
            <a:ext cx="3727490" cy="2177415"/>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Google Cloud Storage es un servicio de almacenamiento de objetos escalable y duradero. Ideal para almacenar y compartir archivos, datos de aplicaciones y copias de seguridad.</a:t>
            </a:r>
            <a:endParaRPr lang="en-US" sz="1750" dirty="0"/>
          </a:p>
        </p:txBody>
      </p:sp>
      <p:sp>
        <p:nvSpPr>
          <p:cNvPr id="9" name="Shape 7"/>
          <p:cNvSpPr/>
          <p:nvPr/>
        </p:nvSpPr>
        <p:spPr>
          <a:xfrm>
            <a:off x="9640133" y="3300532"/>
            <a:ext cx="4196358" cy="3499604"/>
          </a:xfrm>
          <a:prstGeom prst="roundRect">
            <a:avLst>
              <a:gd name="adj" fmla="val 2722"/>
            </a:avLst>
          </a:prstGeom>
          <a:solidFill>
            <a:srgbClr val="DADBF1"/>
          </a:solidFill>
          <a:ln w="7620">
            <a:solidFill>
              <a:srgbClr val="C0C1D7"/>
            </a:solidFill>
            <a:prstDash val="solid"/>
          </a:ln>
        </p:spPr>
      </p:sp>
      <p:sp>
        <p:nvSpPr>
          <p:cNvPr id="10" name="Text 8"/>
          <p:cNvSpPr/>
          <p:nvPr/>
        </p:nvSpPr>
        <p:spPr>
          <a:xfrm>
            <a:off x="9874568" y="3534966"/>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Integración Nativa</a:t>
            </a:r>
            <a:endParaRPr lang="en-US" sz="2200" dirty="0"/>
          </a:p>
        </p:txBody>
      </p:sp>
      <p:sp>
        <p:nvSpPr>
          <p:cNvPr id="11" name="Text 9"/>
          <p:cNvSpPr/>
          <p:nvPr/>
        </p:nvSpPr>
        <p:spPr>
          <a:xfrm>
            <a:off x="9874568" y="4025384"/>
            <a:ext cx="3727490" cy="2177415"/>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Tanto los discos persistentes como Cloud Storage se integran de manera fluida con los demás servicios de Google Cloud Platform, simplificando la gestión del almacenamiento.</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Muchas gracias</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2024-11-05T00:03:43Z</dcterms:created>
  <dcterms:modified xsi:type="dcterms:W3CDTF">2024-11-05T00:03:43Z</dcterms:modified>
</cp:coreProperties>
</file>