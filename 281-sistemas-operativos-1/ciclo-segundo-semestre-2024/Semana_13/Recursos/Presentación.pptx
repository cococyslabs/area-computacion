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4-1.pn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5-1.png"/><Relationship Id="rId3"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6-1.png"/><Relationship Id="rId3"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7-1.png"/><Relationship Id="rId3"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8-1.png"/><Relationship Id="rId3"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9-1.png"/><Relationship Id="rId3"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0-1.png"/><Relationship Id="rId3"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1-1.png"/><Relationship Id="rId3"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5.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3136583"/>
            <a:ext cx="13042821" cy="1956435"/>
          </a:xfrm>
          <a:prstGeom prst="rect">
            <a:avLst/>
          </a:prstGeom>
          <a:noFill/>
          <a:ln/>
        </p:spPr>
        <p:txBody>
          <a:bodyPr wrap="square" lIns="0" tIns="0" rIns="0" bIns="0" rtlCol="0" anchor="t"/>
          <a:lstStyle/>
          <a:p>
            <a:pPr indent="0" marL="0">
              <a:lnSpc>
                <a:spcPts val="7700"/>
              </a:lnSpc>
              <a:buNone/>
            </a:pPr>
            <a:r>
              <a:rPr lang="en-US" sz="6150" b="1" spc="-185" kern="0" dirty="0">
                <a:solidFill>
                  <a:srgbClr val="000000"/>
                </a:solidFill>
                <a:latin typeface="Inter Bold" pitchFamily="34" charset="0"/>
                <a:ea typeface="Inter Bold" pitchFamily="34" charset="-122"/>
                <a:cs typeface="Inter Bold" pitchFamily="34" charset="-120"/>
              </a:rPr>
              <a:t>ConfigMaps y Secrets en Kubernetes</a:t>
            </a:r>
            <a:endParaRPr lang="en-US" sz="6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781413"/>
            <a:ext cx="13042821" cy="1417558"/>
          </a:xfrm>
          <a:prstGeom prst="rect">
            <a:avLst/>
          </a:prstGeom>
          <a:noFill/>
          <a:ln/>
        </p:spPr>
        <p:txBody>
          <a:bodyPr wrap="squar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Gestión de la configuración: ConfigMaps y Secrets</a:t>
            </a:r>
            <a:endParaRPr lang="en-US" sz="4450" dirty="0"/>
          </a:p>
        </p:txBody>
      </p:sp>
      <p:sp>
        <p:nvSpPr>
          <p:cNvPr id="3" name="Text 1"/>
          <p:cNvSpPr/>
          <p:nvPr/>
        </p:nvSpPr>
        <p:spPr>
          <a:xfrm>
            <a:off x="793790" y="3652599"/>
            <a:ext cx="13042821" cy="1451610"/>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Kubernetes proporciona dos mecanismos principales para gestionar la configuración de las aplicaciones: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ConfigMaps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y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Secrets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Los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ConfigMaps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se utilizan para almacenar datos de configuración no confidenciales, como variables de entorno o archivos de configuración. Por otro lado, los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Secrets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se utilizan para almacenar información sensible, como claves de API, contraseñas o certificados.</a:t>
            </a:r>
            <a:endParaRPr lang="en-US" sz="1750" dirty="0"/>
          </a:p>
        </p:txBody>
      </p:sp>
      <p:sp>
        <p:nvSpPr>
          <p:cNvPr id="4" name="Text 2"/>
          <p:cNvSpPr/>
          <p:nvPr/>
        </p:nvSpPr>
        <p:spPr>
          <a:xfrm>
            <a:off x="793790" y="5359360"/>
            <a:ext cx="13042821" cy="1088708"/>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Es importante seguir las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mejores prácticas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para gestionar la configuración de las aplicaciones en Kubernetes. Esto incluye separar la configuración de la imagen del contenedor, utilizar variables de entorno en lugar de hardcodear valores, y mantener los Secrets protegidos y cifrados.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365534"/>
            <a:ext cx="8557736"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Seguridad de los datos sensibles</a:t>
            </a:r>
            <a:endParaRPr lang="en-US" sz="4450" dirty="0"/>
          </a:p>
        </p:txBody>
      </p:sp>
      <p:sp>
        <p:nvSpPr>
          <p:cNvPr id="3" name="Text 1"/>
          <p:cNvSpPr/>
          <p:nvPr/>
        </p:nvSpPr>
        <p:spPr>
          <a:xfrm>
            <a:off x="793790" y="3527941"/>
            <a:ext cx="130428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spc="-36" kern="0" dirty="0">
                <a:solidFill>
                  <a:srgbClr val="272525"/>
                </a:solidFill>
                <a:latin typeface="Inter" pitchFamily="34" charset="0"/>
                <a:ea typeface="Inter" pitchFamily="34" charset="-122"/>
                <a:cs typeface="Inter" pitchFamily="34" charset="-120"/>
              </a:rPr>
              <a:t>Encriptación de Secrets:</a:t>
            </a:r>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Asegurar que los datos confidenciales almacenados en Secrets estén cifrados para prevenir accesos no autorizados.</a:t>
            </a:r>
            <a:endParaRPr lang="en-US" sz="1750" dirty="0"/>
          </a:p>
        </p:txBody>
      </p:sp>
      <p:sp>
        <p:nvSpPr>
          <p:cNvPr id="4" name="Text 2"/>
          <p:cNvSpPr/>
          <p:nvPr/>
        </p:nvSpPr>
        <p:spPr>
          <a:xfrm>
            <a:off x="793790" y="4333042"/>
            <a:ext cx="130428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spc="-36" kern="0" dirty="0">
                <a:solidFill>
                  <a:srgbClr val="272525"/>
                </a:solidFill>
                <a:latin typeface="Inter" pitchFamily="34" charset="0"/>
                <a:ea typeface="Inter" pitchFamily="34" charset="-122"/>
                <a:cs typeface="Inter" pitchFamily="34" charset="-120"/>
              </a:rPr>
              <a:t>Restricción de acceso a Secrets:</a:t>
            </a:r>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Limitar el acceso a los Secrets solo a los pods y usuarios que lo requieran, siguiendo el principio de privilegios mínimos.</a:t>
            </a:r>
            <a:endParaRPr lang="en-US" sz="1750" dirty="0"/>
          </a:p>
        </p:txBody>
      </p:sp>
      <p:sp>
        <p:nvSpPr>
          <p:cNvPr id="5" name="Text 3"/>
          <p:cNvSpPr/>
          <p:nvPr/>
        </p:nvSpPr>
        <p:spPr>
          <a:xfrm>
            <a:off x="793790" y="5138142"/>
            <a:ext cx="130428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spc="-36" kern="0" dirty="0">
                <a:solidFill>
                  <a:srgbClr val="272525"/>
                </a:solidFill>
                <a:latin typeface="Inter" pitchFamily="34" charset="0"/>
                <a:ea typeface="Inter" pitchFamily="34" charset="-122"/>
                <a:cs typeface="Inter" pitchFamily="34" charset="-120"/>
              </a:rPr>
              <a:t>Integración con gestores de secretos externos:</a:t>
            </a:r>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Conectar Kubernetes con herramientas de terceros como Vault o AWS Secrets Manager para una mejor administración y auditoría de los datos sensibles.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788789"/>
            <a:ext cx="8672036"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Actualización de la configuración</a:t>
            </a:r>
            <a:endParaRPr lang="en-US" sz="4450" dirty="0"/>
          </a:p>
        </p:txBody>
      </p:sp>
      <p:pic>
        <p:nvPicPr>
          <p:cNvPr id="3" name="Image 0" descr="preencoded.png">    </p:cNvPr>
          <p:cNvPicPr>
            <a:picLocks noChangeAspect="1"/>
          </p:cNvPicPr>
          <p:nvPr/>
        </p:nvPicPr>
        <p:blipFill>
          <a:blip r:embed="rId1"/>
          <a:stretch>
            <a:fillRect/>
          </a:stretch>
        </p:blipFill>
        <p:spPr>
          <a:xfrm>
            <a:off x="793790" y="1951196"/>
            <a:ext cx="4120753" cy="2546747"/>
          </a:xfrm>
          <a:prstGeom prst="rect">
            <a:avLst/>
          </a:prstGeom>
        </p:spPr>
      </p:pic>
      <p:sp>
        <p:nvSpPr>
          <p:cNvPr id="4" name="Text 1"/>
          <p:cNvSpPr/>
          <p:nvPr/>
        </p:nvSpPr>
        <p:spPr>
          <a:xfrm>
            <a:off x="793790" y="4781431"/>
            <a:ext cx="4120753" cy="708660"/>
          </a:xfrm>
          <a:prstGeom prst="rect">
            <a:avLst/>
          </a:prstGeom>
          <a:noFill/>
          <a:ln/>
        </p:spPr>
        <p:txBody>
          <a:bodyPr wrap="squar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Actualización sin reinicio de Pods</a:t>
            </a:r>
            <a:endParaRPr lang="en-US" sz="2200" dirty="0"/>
          </a:p>
        </p:txBody>
      </p:sp>
      <p:sp>
        <p:nvSpPr>
          <p:cNvPr id="5" name="Text 2"/>
          <p:cNvSpPr/>
          <p:nvPr/>
        </p:nvSpPr>
        <p:spPr>
          <a:xfrm>
            <a:off x="793790" y="5626179"/>
            <a:ext cx="4120753" cy="1814513"/>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Kubernetes permite actualizar ConfigMaps y Secrets sin tener que reiniciar los Pods, lo que minimiza el impacto en la disponibilidad de la aplicación.</a:t>
            </a:r>
            <a:endParaRPr lang="en-US" sz="1750" dirty="0"/>
          </a:p>
        </p:txBody>
      </p:sp>
      <p:pic>
        <p:nvPicPr>
          <p:cNvPr id="6" name="Image 1" descr="preencoded.png">    </p:cNvPr>
          <p:cNvPicPr>
            <a:picLocks noChangeAspect="1"/>
          </p:cNvPicPr>
          <p:nvPr/>
        </p:nvPicPr>
        <p:blipFill>
          <a:blip r:embed="rId2"/>
          <a:stretch>
            <a:fillRect/>
          </a:stretch>
        </p:blipFill>
        <p:spPr>
          <a:xfrm>
            <a:off x="5254704" y="1951196"/>
            <a:ext cx="4120872" cy="2546866"/>
          </a:xfrm>
          <a:prstGeom prst="rect">
            <a:avLst/>
          </a:prstGeom>
        </p:spPr>
      </p:pic>
      <p:sp>
        <p:nvSpPr>
          <p:cNvPr id="7" name="Text 3"/>
          <p:cNvSpPr/>
          <p:nvPr/>
        </p:nvSpPr>
        <p:spPr>
          <a:xfrm>
            <a:off x="5254704" y="4781550"/>
            <a:ext cx="3385899" cy="354330"/>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Estrategias de Despliegue</a:t>
            </a:r>
            <a:endParaRPr lang="en-US" sz="2200" dirty="0"/>
          </a:p>
        </p:txBody>
      </p:sp>
      <p:sp>
        <p:nvSpPr>
          <p:cNvPr id="8" name="Text 4"/>
          <p:cNvSpPr/>
          <p:nvPr/>
        </p:nvSpPr>
        <p:spPr>
          <a:xfrm>
            <a:off x="5254704" y="5271968"/>
            <a:ext cx="4120872" cy="1814513"/>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Técnicas como Rollouts y Canary Releases permiten actualizar la configuración de manera gradual y controlada, reduciendo los riesgos de disrupciones.</a:t>
            </a:r>
            <a:endParaRPr lang="en-US" sz="1750" dirty="0"/>
          </a:p>
        </p:txBody>
      </p:sp>
      <p:pic>
        <p:nvPicPr>
          <p:cNvPr id="9" name="Image 2" descr="preencoded.png">    </p:cNvPr>
          <p:cNvPicPr>
            <a:picLocks noChangeAspect="1"/>
          </p:cNvPicPr>
          <p:nvPr/>
        </p:nvPicPr>
        <p:blipFill>
          <a:blip r:embed="rId3"/>
          <a:stretch>
            <a:fillRect/>
          </a:stretch>
        </p:blipFill>
        <p:spPr>
          <a:xfrm>
            <a:off x="9715738" y="1951196"/>
            <a:ext cx="4120753" cy="2546747"/>
          </a:xfrm>
          <a:prstGeom prst="rect">
            <a:avLst/>
          </a:prstGeom>
        </p:spPr>
      </p:pic>
      <p:sp>
        <p:nvSpPr>
          <p:cNvPr id="10" name="Text 5"/>
          <p:cNvSpPr/>
          <p:nvPr/>
        </p:nvSpPr>
        <p:spPr>
          <a:xfrm>
            <a:off x="9715738" y="4781431"/>
            <a:ext cx="3608308" cy="354330"/>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Gestión de la Configuración</a:t>
            </a:r>
            <a:endParaRPr lang="en-US" sz="2200" dirty="0"/>
          </a:p>
        </p:txBody>
      </p:sp>
      <p:sp>
        <p:nvSpPr>
          <p:cNvPr id="11" name="Text 6"/>
          <p:cNvSpPr/>
          <p:nvPr/>
        </p:nvSpPr>
        <p:spPr>
          <a:xfrm>
            <a:off x="9715738" y="5271849"/>
            <a:ext cx="4120753" cy="1814513"/>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El uso adecuado de ConfigMaps y Secrets, junto con las estrategias de despliegue, facilita la actualización de la configuración de las aplicaciones en Kubernetes.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3902154"/>
            <a:ext cx="7375208" cy="425291"/>
          </a:xfrm>
          <a:prstGeom prst="rect">
            <a:avLst/>
          </a:prstGeom>
          <a:noFill/>
          <a:ln/>
        </p:spPr>
        <p:txBody>
          <a:bodyPr wrap="none" lIns="0" tIns="0" rIns="0" bIns="0" rtlCol="0" anchor="t"/>
          <a:lstStyle/>
          <a:p>
            <a:pPr indent="0" marL="0">
              <a:lnSpc>
                <a:spcPts val="3300"/>
              </a:lnSpc>
              <a:buNone/>
            </a:pPr>
            <a:r>
              <a:rPr lang="en-US" sz="2650" b="1" spc="-80" kern="0" dirty="0">
                <a:solidFill>
                  <a:srgbClr val="000000"/>
                </a:solidFill>
                <a:latin typeface="Inter Bold" pitchFamily="34" charset="0"/>
                <a:ea typeface="Inter Bold" pitchFamily="34" charset="-122"/>
                <a:cs typeface="Inter Bold" pitchFamily="34" charset="-120"/>
              </a:rPr>
              <a:t>Persistent Volumes y Persistent Volume Claims</a:t>
            </a:r>
            <a:endParaRPr lang="en-US" sz="2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024533"/>
            <a:ext cx="11758732"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Almacenamiento persistente en Kubernetes:</a:t>
            </a:r>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 </a:t>
            </a:r>
            <a:endParaRPr lang="en-US" sz="4450" dirty="0"/>
          </a:p>
        </p:txBody>
      </p:sp>
      <p:sp>
        <p:nvSpPr>
          <p:cNvPr id="3" name="Shape 1"/>
          <p:cNvSpPr/>
          <p:nvPr/>
        </p:nvSpPr>
        <p:spPr>
          <a:xfrm>
            <a:off x="7299960" y="2186940"/>
            <a:ext cx="30480" cy="5018127"/>
          </a:xfrm>
          <a:prstGeom prst="roundRect">
            <a:avLst>
              <a:gd name="adj" fmla="val 312558"/>
            </a:avLst>
          </a:prstGeom>
          <a:solidFill>
            <a:srgbClr val="C0C1D7"/>
          </a:solidFill>
          <a:ln/>
        </p:spPr>
      </p:sp>
      <p:sp>
        <p:nvSpPr>
          <p:cNvPr id="4" name="Shape 2"/>
          <p:cNvSpPr/>
          <p:nvPr/>
        </p:nvSpPr>
        <p:spPr>
          <a:xfrm>
            <a:off x="6296739" y="2682002"/>
            <a:ext cx="793790" cy="30480"/>
          </a:xfrm>
          <a:prstGeom prst="roundRect">
            <a:avLst>
              <a:gd name="adj" fmla="val 312558"/>
            </a:avLst>
          </a:prstGeom>
          <a:solidFill>
            <a:srgbClr val="C0C1D7"/>
          </a:solidFill>
          <a:ln/>
        </p:spPr>
      </p:sp>
      <p:sp>
        <p:nvSpPr>
          <p:cNvPr id="5" name="Shape 3"/>
          <p:cNvSpPr/>
          <p:nvPr/>
        </p:nvSpPr>
        <p:spPr>
          <a:xfrm>
            <a:off x="7060049" y="2442091"/>
            <a:ext cx="510302" cy="510302"/>
          </a:xfrm>
          <a:prstGeom prst="roundRect">
            <a:avLst>
              <a:gd name="adj" fmla="val 18669"/>
            </a:avLst>
          </a:prstGeom>
          <a:solidFill>
            <a:srgbClr val="DADBF1"/>
          </a:solidFill>
          <a:ln w="7620">
            <a:solidFill>
              <a:srgbClr val="C0C1D7"/>
            </a:solidFill>
            <a:prstDash val="solid"/>
          </a:ln>
        </p:spPr>
      </p:sp>
      <p:sp>
        <p:nvSpPr>
          <p:cNvPr id="6" name="Text 4"/>
          <p:cNvSpPr/>
          <p:nvPr/>
        </p:nvSpPr>
        <p:spPr>
          <a:xfrm>
            <a:off x="7246858" y="2527102"/>
            <a:ext cx="136565" cy="340281"/>
          </a:xfrm>
          <a:prstGeom prst="rect">
            <a:avLst/>
          </a:prstGeom>
          <a:noFill/>
          <a:ln/>
        </p:spPr>
        <p:txBody>
          <a:bodyPr wrap="none" lIns="0" tIns="0" rIns="0" bIns="0" rtlCol="0" anchor="t"/>
          <a:lstStyle/>
          <a:p>
            <a:pPr algn="ctr" indent="0" marL="0">
              <a:lnSpc>
                <a:spcPts val="2650"/>
              </a:lnSpc>
              <a:buNone/>
            </a:pPr>
            <a:r>
              <a:rPr lang="en-US" sz="2650" b="1" spc="-80" kern="0" dirty="0">
                <a:solidFill>
                  <a:srgbClr val="272525"/>
                </a:solidFill>
                <a:latin typeface="Inter Bold" pitchFamily="34" charset="0"/>
                <a:ea typeface="Inter Bold" pitchFamily="34" charset="-122"/>
                <a:cs typeface="Inter Bold" pitchFamily="34" charset="-120"/>
              </a:rPr>
              <a:t>1</a:t>
            </a:r>
            <a:endParaRPr lang="en-US" sz="2650" dirty="0"/>
          </a:p>
        </p:txBody>
      </p:sp>
      <p:sp>
        <p:nvSpPr>
          <p:cNvPr id="7" name="Text 5"/>
          <p:cNvSpPr/>
          <p:nvPr/>
        </p:nvSpPr>
        <p:spPr>
          <a:xfrm>
            <a:off x="2898100" y="2413754"/>
            <a:ext cx="3169563" cy="354330"/>
          </a:xfrm>
          <a:prstGeom prst="rect">
            <a:avLst/>
          </a:prstGeom>
          <a:noFill/>
          <a:ln/>
        </p:spPr>
        <p:txBody>
          <a:bodyPr wrap="none" lIns="0" tIns="0" rIns="0" bIns="0" rtlCol="0" anchor="t"/>
          <a:lstStyle/>
          <a:p>
            <a:pPr algn="r"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Persistent Volumes (PV)</a:t>
            </a:r>
            <a:endParaRPr lang="en-US" sz="2200" dirty="0"/>
          </a:p>
        </p:txBody>
      </p:sp>
      <p:sp>
        <p:nvSpPr>
          <p:cNvPr id="8" name="Text 6"/>
          <p:cNvSpPr/>
          <p:nvPr/>
        </p:nvSpPr>
        <p:spPr>
          <a:xfrm>
            <a:off x="793790" y="2904173"/>
            <a:ext cx="5273873" cy="1451610"/>
          </a:xfrm>
          <a:prstGeom prst="rect">
            <a:avLst/>
          </a:prstGeom>
          <a:noFill/>
          <a:ln/>
        </p:spPr>
        <p:txBody>
          <a:bodyPr wrap="square" lIns="0" tIns="0" rIns="0" bIns="0" rtlCol="0" anchor="t"/>
          <a:lstStyle/>
          <a:p>
            <a:pPr algn="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Los </a:t>
            </a:r>
            <a:pPr algn="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Persistent Volumes</a:t>
            </a:r>
            <a:pPr algn="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son recursos de almacenamiento provistos y manejados por el clúster de Kubernetes. Pueden ser de diversos tipos, como NFS, iSCSI o discos en la nube.</a:t>
            </a:r>
            <a:endParaRPr lang="en-US" sz="1750" dirty="0"/>
          </a:p>
        </p:txBody>
      </p:sp>
      <p:sp>
        <p:nvSpPr>
          <p:cNvPr id="9" name="Shape 7"/>
          <p:cNvSpPr/>
          <p:nvPr/>
        </p:nvSpPr>
        <p:spPr>
          <a:xfrm>
            <a:off x="7539871" y="3816072"/>
            <a:ext cx="793790" cy="30480"/>
          </a:xfrm>
          <a:prstGeom prst="roundRect">
            <a:avLst>
              <a:gd name="adj" fmla="val 312558"/>
            </a:avLst>
          </a:prstGeom>
          <a:solidFill>
            <a:srgbClr val="C0C1D7"/>
          </a:solidFill>
          <a:ln/>
        </p:spPr>
      </p:sp>
      <p:sp>
        <p:nvSpPr>
          <p:cNvPr id="10" name="Shape 8"/>
          <p:cNvSpPr/>
          <p:nvPr/>
        </p:nvSpPr>
        <p:spPr>
          <a:xfrm>
            <a:off x="7060049" y="3576161"/>
            <a:ext cx="510302" cy="510302"/>
          </a:xfrm>
          <a:prstGeom prst="roundRect">
            <a:avLst>
              <a:gd name="adj" fmla="val 18669"/>
            </a:avLst>
          </a:prstGeom>
          <a:solidFill>
            <a:srgbClr val="DADBF1"/>
          </a:solidFill>
          <a:ln w="7620">
            <a:solidFill>
              <a:srgbClr val="C0C1D7"/>
            </a:solidFill>
            <a:prstDash val="solid"/>
          </a:ln>
        </p:spPr>
      </p:sp>
      <p:sp>
        <p:nvSpPr>
          <p:cNvPr id="11" name="Text 9"/>
          <p:cNvSpPr/>
          <p:nvPr/>
        </p:nvSpPr>
        <p:spPr>
          <a:xfrm>
            <a:off x="7213163" y="3661172"/>
            <a:ext cx="204073" cy="340281"/>
          </a:xfrm>
          <a:prstGeom prst="rect">
            <a:avLst/>
          </a:prstGeom>
          <a:noFill/>
          <a:ln/>
        </p:spPr>
        <p:txBody>
          <a:bodyPr wrap="none" lIns="0" tIns="0" rIns="0" bIns="0" rtlCol="0" anchor="t"/>
          <a:lstStyle/>
          <a:p>
            <a:pPr algn="ctr" indent="0" marL="0">
              <a:lnSpc>
                <a:spcPts val="2650"/>
              </a:lnSpc>
              <a:buNone/>
            </a:pPr>
            <a:r>
              <a:rPr lang="en-US" sz="2650" b="1" spc="-80" kern="0" dirty="0">
                <a:solidFill>
                  <a:srgbClr val="272525"/>
                </a:solidFill>
                <a:latin typeface="Inter Bold" pitchFamily="34" charset="0"/>
                <a:ea typeface="Inter Bold" pitchFamily="34" charset="-122"/>
                <a:cs typeface="Inter Bold" pitchFamily="34" charset="-120"/>
              </a:rPr>
              <a:t>2</a:t>
            </a:r>
            <a:endParaRPr lang="en-US" sz="2650" dirty="0"/>
          </a:p>
        </p:txBody>
      </p:sp>
      <p:sp>
        <p:nvSpPr>
          <p:cNvPr id="12" name="Text 10"/>
          <p:cNvSpPr/>
          <p:nvPr/>
        </p:nvSpPr>
        <p:spPr>
          <a:xfrm>
            <a:off x="8562737" y="3547824"/>
            <a:ext cx="4161711" cy="354330"/>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Persistent Volume Claims (PVC)</a:t>
            </a:r>
            <a:endParaRPr lang="en-US" sz="2200" dirty="0"/>
          </a:p>
        </p:txBody>
      </p:sp>
      <p:sp>
        <p:nvSpPr>
          <p:cNvPr id="13" name="Text 11"/>
          <p:cNvSpPr/>
          <p:nvPr/>
        </p:nvSpPr>
        <p:spPr>
          <a:xfrm>
            <a:off x="8562737" y="4038243"/>
            <a:ext cx="5273873" cy="1451610"/>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Los </a:t>
            </a:r>
            <a:pPr algn="l"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Persistent Volume Claims</a:t>
            </a:r>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son solicitudes de almacenamiento persistente realizadas por los Pods. Los PVCs se encargan de abastecer el almacenamiento necesario para las aplicaciones.</a:t>
            </a:r>
            <a:endParaRPr lang="en-US" sz="1750" dirty="0"/>
          </a:p>
        </p:txBody>
      </p:sp>
      <p:sp>
        <p:nvSpPr>
          <p:cNvPr id="14" name="Shape 12"/>
          <p:cNvSpPr/>
          <p:nvPr/>
        </p:nvSpPr>
        <p:spPr>
          <a:xfrm>
            <a:off x="6296739" y="5304473"/>
            <a:ext cx="793790" cy="30480"/>
          </a:xfrm>
          <a:prstGeom prst="roundRect">
            <a:avLst>
              <a:gd name="adj" fmla="val 312558"/>
            </a:avLst>
          </a:prstGeom>
          <a:solidFill>
            <a:srgbClr val="C0C1D7"/>
          </a:solidFill>
          <a:ln/>
        </p:spPr>
      </p:sp>
      <p:sp>
        <p:nvSpPr>
          <p:cNvPr id="15" name="Shape 13"/>
          <p:cNvSpPr/>
          <p:nvPr/>
        </p:nvSpPr>
        <p:spPr>
          <a:xfrm>
            <a:off x="7060049" y="5064562"/>
            <a:ext cx="510302" cy="510302"/>
          </a:xfrm>
          <a:prstGeom prst="roundRect">
            <a:avLst>
              <a:gd name="adj" fmla="val 18669"/>
            </a:avLst>
          </a:prstGeom>
          <a:solidFill>
            <a:srgbClr val="DADBF1"/>
          </a:solidFill>
          <a:ln w="7620">
            <a:solidFill>
              <a:srgbClr val="C0C1D7"/>
            </a:solidFill>
            <a:prstDash val="solid"/>
          </a:ln>
        </p:spPr>
      </p:sp>
      <p:sp>
        <p:nvSpPr>
          <p:cNvPr id="16" name="Text 14"/>
          <p:cNvSpPr/>
          <p:nvPr/>
        </p:nvSpPr>
        <p:spPr>
          <a:xfrm>
            <a:off x="7210425" y="5149572"/>
            <a:ext cx="209431" cy="340281"/>
          </a:xfrm>
          <a:prstGeom prst="rect">
            <a:avLst/>
          </a:prstGeom>
          <a:noFill/>
          <a:ln/>
        </p:spPr>
        <p:txBody>
          <a:bodyPr wrap="none" lIns="0" tIns="0" rIns="0" bIns="0" rtlCol="0" anchor="t"/>
          <a:lstStyle/>
          <a:p>
            <a:pPr algn="ctr" indent="0" marL="0">
              <a:lnSpc>
                <a:spcPts val="2650"/>
              </a:lnSpc>
              <a:buNone/>
            </a:pPr>
            <a:r>
              <a:rPr lang="en-US" sz="2650" b="1" spc="-80" kern="0" dirty="0">
                <a:solidFill>
                  <a:srgbClr val="272525"/>
                </a:solidFill>
                <a:latin typeface="Inter Bold" pitchFamily="34" charset="0"/>
                <a:ea typeface="Inter Bold" pitchFamily="34" charset="-122"/>
                <a:cs typeface="Inter Bold" pitchFamily="34" charset="-120"/>
              </a:rPr>
              <a:t>3</a:t>
            </a:r>
            <a:endParaRPr lang="en-US" sz="2650" dirty="0"/>
          </a:p>
        </p:txBody>
      </p:sp>
      <p:sp>
        <p:nvSpPr>
          <p:cNvPr id="17" name="Text 15"/>
          <p:cNvSpPr/>
          <p:nvPr/>
        </p:nvSpPr>
        <p:spPr>
          <a:xfrm>
            <a:off x="2729984" y="5036225"/>
            <a:ext cx="3337679" cy="354330"/>
          </a:xfrm>
          <a:prstGeom prst="rect">
            <a:avLst/>
          </a:prstGeom>
          <a:noFill/>
          <a:ln/>
        </p:spPr>
        <p:txBody>
          <a:bodyPr wrap="none" lIns="0" tIns="0" rIns="0" bIns="0" rtlCol="0" anchor="t"/>
          <a:lstStyle/>
          <a:p>
            <a:pPr algn="r"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Ciclo de vida de PV y PVC</a:t>
            </a:r>
            <a:endParaRPr lang="en-US" sz="2200" dirty="0"/>
          </a:p>
        </p:txBody>
      </p:sp>
      <p:sp>
        <p:nvSpPr>
          <p:cNvPr id="18" name="Text 16"/>
          <p:cNvSpPr/>
          <p:nvPr/>
        </p:nvSpPr>
        <p:spPr>
          <a:xfrm>
            <a:off x="793790" y="5526643"/>
            <a:ext cx="5273873" cy="1451610"/>
          </a:xfrm>
          <a:prstGeom prst="rect">
            <a:avLst/>
          </a:prstGeom>
          <a:noFill/>
          <a:ln/>
        </p:spPr>
        <p:txBody>
          <a:bodyPr wrap="square" lIns="0" tIns="0" rIns="0" bIns="0" rtlCol="0" anchor="t"/>
          <a:lstStyle/>
          <a:p>
            <a:pPr algn="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Los PVs se pueden provisionar de forma estática o dinámica. Los PVCs se asocian a un PV durante su ciclo de vida, y permiten que las aplicaciones accedan a un almacenamiento persistente.</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047274"/>
            <a:ext cx="10756821"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Tipos de Almacenamiento en Kubernetes</a:t>
            </a:r>
            <a:endParaRPr lang="en-US" sz="4450" dirty="0"/>
          </a:p>
        </p:txBody>
      </p:sp>
      <p:sp>
        <p:nvSpPr>
          <p:cNvPr id="3" name="Text 1"/>
          <p:cNvSpPr/>
          <p:nvPr/>
        </p:nvSpPr>
        <p:spPr>
          <a:xfrm>
            <a:off x="793790" y="2323028"/>
            <a:ext cx="3580567" cy="354330"/>
          </a:xfrm>
          <a:prstGeom prst="rect">
            <a:avLst/>
          </a:prstGeom>
          <a:noFill/>
          <a:ln/>
        </p:spPr>
        <p:txBody>
          <a:bodyPr wrap="none" lIns="0" tIns="0" rIns="0" bIns="0" rtlCol="0" anchor="t"/>
          <a:lstStyle/>
          <a:p>
            <a:pPr indent="0" marL="0">
              <a:lnSpc>
                <a:spcPts val="2750"/>
              </a:lnSpc>
              <a:buNone/>
            </a:pPr>
            <a:r>
              <a:rPr lang="en-US" sz="2200" b="1" spc="-67" kern="0" dirty="0">
                <a:solidFill>
                  <a:srgbClr val="000000"/>
                </a:solidFill>
                <a:latin typeface="Inter Bold" pitchFamily="34" charset="0"/>
                <a:ea typeface="Inter Bold" pitchFamily="34" charset="-122"/>
                <a:cs typeface="Inter Bold" pitchFamily="34" charset="-120"/>
              </a:rPr>
              <a:t>Almacenamiento en Bloque</a:t>
            </a:r>
            <a:endParaRPr lang="en-US" sz="2200" dirty="0"/>
          </a:p>
        </p:txBody>
      </p:sp>
      <p:sp>
        <p:nvSpPr>
          <p:cNvPr id="4" name="Text 2"/>
          <p:cNvSpPr/>
          <p:nvPr/>
        </p:nvSpPr>
        <p:spPr>
          <a:xfrm>
            <a:off x="793790" y="2904173"/>
            <a:ext cx="6244709" cy="1814513"/>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Kubernetes admite volúmenes de almacenamiento en bloque, como discos duros virtuales, que se pueden montar directamente en los pods. Esto es ideal para aplicaciones que requieren un almacenamiento de alto rendimiento y bajo nivel.</a:t>
            </a:r>
            <a:endParaRPr lang="en-US" sz="1750" dirty="0"/>
          </a:p>
        </p:txBody>
      </p:sp>
      <p:sp>
        <p:nvSpPr>
          <p:cNvPr id="5" name="Text 3"/>
          <p:cNvSpPr/>
          <p:nvPr/>
        </p:nvSpPr>
        <p:spPr>
          <a:xfrm>
            <a:off x="793790" y="4945499"/>
            <a:ext cx="3688437" cy="354330"/>
          </a:xfrm>
          <a:prstGeom prst="rect">
            <a:avLst/>
          </a:prstGeom>
          <a:noFill/>
          <a:ln/>
        </p:spPr>
        <p:txBody>
          <a:bodyPr wrap="none" lIns="0" tIns="0" rIns="0" bIns="0" rtlCol="0" anchor="t"/>
          <a:lstStyle/>
          <a:p>
            <a:pPr indent="0" marL="0">
              <a:lnSpc>
                <a:spcPts val="2750"/>
              </a:lnSpc>
              <a:buNone/>
            </a:pPr>
            <a:r>
              <a:rPr lang="en-US" sz="2200" b="1" spc="-67" kern="0" dirty="0">
                <a:solidFill>
                  <a:srgbClr val="000000"/>
                </a:solidFill>
                <a:latin typeface="Inter Bold" pitchFamily="34" charset="0"/>
                <a:ea typeface="Inter Bold" pitchFamily="34" charset="-122"/>
                <a:cs typeface="Inter Bold" pitchFamily="34" charset="-120"/>
              </a:rPr>
              <a:t>Almacenamiento de Objetos</a:t>
            </a:r>
            <a:endParaRPr lang="en-US" sz="2200" dirty="0"/>
          </a:p>
        </p:txBody>
      </p:sp>
      <p:sp>
        <p:nvSpPr>
          <p:cNvPr id="6" name="Text 4"/>
          <p:cNvSpPr/>
          <p:nvPr/>
        </p:nvSpPr>
        <p:spPr>
          <a:xfrm>
            <a:off x="793790" y="5526643"/>
            <a:ext cx="6244709" cy="1451610"/>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También se puede utilizar almacenamiento de objetos, como Amazon S3 o Azure Blob Storage, para aplicaciones que necesitan un almacenamiento escalable y de bajo costo para archivos y datos no estructurados.</a:t>
            </a:r>
            <a:endParaRPr lang="en-US" sz="1750" dirty="0"/>
          </a:p>
        </p:txBody>
      </p:sp>
      <p:pic>
        <p:nvPicPr>
          <p:cNvPr id="7" name="Image 0" descr="preencoded.png">    </p:cNvPr>
          <p:cNvPicPr>
            <a:picLocks noChangeAspect="1"/>
          </p:cNvPicPr>
          <p:nvPr/>
        </p:nvPicPr>
        <p:blipFill>
          <a:blip r:embed="rId1"/>
          <a:stretch>
            <a:fillRect/>
          </a:stretch>
        </p:blipFill>
        <p:spPr>
          <a:xfrm>
            <a:off x="7599521" y="2351365"/>
            <a:ext cx="6244709" cy="427267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04217" y="317540"/>
            <a:ext cx="3773091" cy="360878"/>
          </a:xfrm>
          <a:prstGeom prst="rect">
            <a:avLst/>
          </a:prstGeom>
          <a:noFill/>
          <a:ln/>
        </p:spPr>
        <p:txBody>
          <a:bodyPr wrap="none" lIns="0" tIns="0" rIns="0" bIns="0" rtlCol="0" anchor="t"/>
          <a:lstStyle/>
          <a:p>
            <a:pPr indent="0" marL="0">
              <a:lnSpc>
                <a:spcPts val="2800"/>
              </a:lnSpc>
              <a:buNone/>
            </a:pPr>
            <a:r>
              <a:rPr lang="en-US" sz="2250" b="1" spc="-68" kern="0" dirty="0">
                <a:solidFill>
                  <a:srgbClr val="000000"/>
                </a:solidFill>
                <a:latin typeface="Inter Bold" pitchFamily="34" charset="0"/>
                <a:ea typeface="Inter Bold" pitchFamily="34" charset="-122"/>
                <a:cs typeface="Inter Bold" pitchFamily="34" charset="-120"/>
              </a:rPr>
              <a:t>Gestión del almacenamiento</a:t>
            </a:r>
            <a:endParaRPr lang="en-US" sz="2250" dirty="0"/>
          </a:p>
        </p:txBody>
      </p:sp>
      <p:sp>
        <p:nvSpPr>
          <p:cNvPr id="3" name="Text 1"/>
          <p:cNvSpPr/>
          <p:nvPr/>
        </p:nvSpPr>
        <p:spPr>
          <a:xfrm>
            <a:off x="404217" y="909399"/>
            <a:ext cx="13821966" cy="369570"/>
          </a:xfrm>
          <a:prstGeom prst="rect">
            <a:avLst/>
          </a:prstGeom>
          <a:noFill/>
          <a:ln/>
        </p:spPr>
        <p:txBody>
          <a:bodyPr wrap="square" lIns="0" tIns="0" rIns="0" bIns="0" rtlCol="0" anchor="t"/>
          <a:lstStyle/>
          <a:p>
            <a:pPr indent="0" marL="0">
              <a:lnSpc>
                <a:spcPts val="1450"/>
              </a:lnSpc>
              <a:buNone/>
            </a:pPr>
            <a:r>
              <a:rPr lang="en-US" sz="900" b="1" spc="-18" kern="0" dirty="0">
                <a:solidFill>
                  <a:srgbClr val="272525"/>
                </a:solidFill>
                <a:latin typeface="Inter" pitchFamily="34" charset="0"/>
                <a:ea typeface="Inter" pitchFamily="34" charset="-122"/>
                <a:cs typeface="Inter" pitchFamily="34" charset="-120"/>
              </a:rPr>
              <a:t>Aprovisionamiento dinámico de PVs:</a:t>
            </a:r>
            <a:pPr indent="0" marL="0">
              <a:lnSpc>
                <a:spcPts val="1450"/>
              </a:lnSpc>
              <a:buNone/>
            </a:pPr>
            <a:r>
              <a:rPr lang="en-US" sz="900" spc="-18" kern="0" dirty="0">
                <a:solidFill>
                  <a:srgbClr val="272525"/>
                </a:solidFill>
                <a:latin typeface="Inter" pitchFamily="34" charset="0"/>
                <a:ea typeface="Inter" pitchFamily="34" charset="-122"/>
                <a:cs typeface="Inter" pitchFamily="34" charset="-120"/>
              </a:rPr>
              <a:t> Kubernetes permite aprovisionar Persistent Volumes (PVs) de forma dinámica a medida que los Pods requieren almacenamiento persistente. Esto simplifica la gestión del almacenamiento y evita la necesidad de pre-aprovisionar PVs manualmente.</a:t>
            </a:r>
            <a:endParaRPr lang="en-US" sz="900" dirty="0"/>
          </a:p>
        </p:txBody>
      </p:sp>
      <p:sp>
        <p:nvSpPr>
          <p:cNvPr id="4" name="Text 2"/>
          <p:cNvSpPr/>
          <p:nvPr/>
        </p:nvSpPr>
        <p:spPr>
          <a:xfrm>
            <a:off x="404217" y="1408867"/>
            <a:ext cx="13821966" cy="369570"/>
          </a:xfrm>
          <a:prstGeom prst="rect">
            <a:avLst/>
          </a:prstGeom>
          <a:noFill/>
          <a:ln/>
        </p:spPr>
        <p:txBody>
          <a:bodyPr wrap="square" lIns="0" tIns="0" rIns="0" bIns="0" rtlCol="0" anchor="t"/>
          <a:lstStyle/>
          <a:p>
            <a:pPr indent="0" marL="0">
              <a:lnSpc>
                <a:spcPts val="1450"/>
              </a:lnSpc>
              <a:buNone/>
            </a:pPr>
            <a:r>
              <a:rPr lang="en-US" sz="900" b="1" spc="-18" kern="0" dirty="0">
                <a:solidFill>
                  <a:srgbClr val="272525"/>
                </a:solidFill>
                <a:latin typeface="Inter" pitchFamily="34" charset="0"/>
                <a:ea typeface="Inter" pitchFamily="34" charset="-122"/>
                <a:cs typeface="Inter" pitchFamily="34" charset="-120"/>
              </a:rPr>
              <a:t>Reciclado de PVs:</a:t>
            </a:r>
            <a:pPr indent="0" marL="0">
              <a:lnSpc>
                <a:spcPts val="1450"/>
              </a:lnSpc>
              <a:buNone/>
            </a:pPr>
            <a:r>
              <a:rPr lang="en-US" sz="900" spc="-18" kern="0" dirty="0">
                <a:solidFill>
                  <a:srgbClr val="272525"/>
                </a:solidFill>
                <a:latin typeface="Inter" pitchFamily="34" charset="0"/>
                <a:ea typeface="Inter" pitchFamily="34" charset="-122"/>
                <a:cs typeface="Inter" pitchFamily="34" charset="-120"/>
              </a:rPr>
              <a:t> Cuando un PVC se elimina, el PV asociado puede reconfigurarse y reutilizarse para otros Pods. Kubernetes ofrece políticas de reciclaje que permiten reutilizar el almacenamiento de manera eficiente, reduciendo la sobrecarga y los costos de almacenamiento.</a:t>
            </a:r>
            <a:endParaRPr lang="en-US" sz="900" dirty="0"/>
          </a:p>
        </p:txBody>
      </p:sp>
      <p:pic>
        <p:nvPicPr>
          <p:cNvPr id="5" name="Image 0" descr="preencoded.png">    </p:cNvPr>
          <p:cNvPicPr>
            <a:picLocks noChangeAspect="1"/>
          </p:cNvPicPr>
          <p:nvPr/>
        </p:nvPicPr>
        <p:blipFill>
          <a:blip r:embed="rId1"/>
          <a:stretch>
            <a:fillRect/>
          </a:stretch>
        </p:blipFill>
        <p:spPr>
          <a:xfrm>
            <a:off x="404217" y="1908334"/>
            <a:ext cx="8777645" cy="600575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3760351"/>
            <a:ext cx="7457242"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Ingress y Ingress Controllers</a:t>
            </a:r>
            <a:endParaRPr lang="en-US" sz="4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933688"/>
            <a:ext cx="10092095"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Exposición de servicios en Kubernetes</a:t>
            </a:r>
            <a:endParaRPr lang="en-US" sz="4450" dirty="0"/>
          </a:p>
        </p:txBody>
      </p:sp>
      <p:sp>
        <p:nvSpPr>
          <p:cNvPr id="3" name="Shape 1"/>
          <p:cNvSpPr/>
          <p:nvPr/>
        </p:nvSpPr>
        <p:spPr>
          <a:xfrm>
            <a:off x="793790" y="4695944"/>
            <a:ext cx="13042821" cy="30480"/>
          </a:xfrm>
          <a:prstGeom prst="roundRect">
            <a:avLst>
              <a:gd name="adj" fmla="val 312558"/>
            </a:avLst>
          </a:prstGeom>
          <a:solidFill>
            <a:srgbClr val="C0C1D7"/>
          </a:solidFill>
          <a:ln/>
        </p:spPr>
      </p:sp>
      <p:sp>
        <p:nvSpPr>
          <p:cNvPr id="4" name="Shape 2"/>
          <p:cNvSpPr/>
          <p:nvPr/>
        </p:nvSpPr>
        <p:spPr>
          <a:xfrm>
            <a:off x="3982522" y="3902154"/>
            <a:ext cx="30480" cy="793790"/>
          </a:xfrm>
          <a:prstGeom prst="roundRect">
            <a:avLst>
              <a:gd name="adj" fmla="val 312558"/>
            </a:avLst>
          </a:prstGeom>
          <a:solidFill>
            <a:srgbClr val="C0C1D7"/>
          </a:solidFill>
          <a:ln/>
        </p:spPr>
      </p:sp>
      <p:sp>
        <p:nvSpPr>
          <p:cNvPr id="5" name="Shape 3"/>
          <p:cNvSpPr/>
          <p:nvPr/>
        </p:nvSpPr>
        <p:spPr>
          <a:xfrm>
            <a:off x="3742611" y="4440793"/>
            <a:ext cx="510302" cy="510302"/>
          </a:xfrm>
          <a:prstGeom prst="roundRect">
            <a:avLst>
              <a:gd name="adj" fmla="val 18669"/>
            </a:avLst>
          </a:prstGeom>
          <a:solidFill>
            <a:srgbClr val="DADBF1"/>
          </a:solidFill>
          <a:ln w="7620">
            <a:solidFill>
              <a:srgbClr val="C0C1D7"/>
            </a:solidFill>
            <a:prstDash val="solid"/>
          </a:ln>
        </p:spPr>
      </p:sp>
      <p:sp>
        <p:nvSpPr>
          <p:cNvPr id="6" name="Text 4"/>
          <p:cNvSpPr/>
          <p:nvPr/>
        </p:nvSpPr>
        <p:spPr>
          <a:xfrm>
            <a:off x="3929420" y="4525804"/>
            <a:ext cx="136565" cy="340281"/>
          </a:xfrm>
          <a:prstGeom prst="rect">
            <a:avLst/>
          </a:prstGeom>
          <a:noFill/>
          <a:ln/>
        </p:spPr>
        <p:txBody>
          <a:bodyPr wrap="none" lIns="0" tIns="0" rIns="0" bIns="0" rtlCol="0" anchor="t"/>
          <a:lstStyle/>
          <a:p>
            <a:pPr algn="ctr" indent="0" marL="0">
              <a:lnSpc>
                <a:spcPts val="2650"/>
              </a:lnSpc>
              <a:buNone/>
            </a:pPr>
            <a:r>
              <a:rPr lang="en-US" sz="2650" b="1" spc="-80" kern="0" dirty="0">
                <a:solidFill>
                  <a:srgbClr val="272525"/>
                </a:solidFill>
                <a:latin typeface="Inter Bold" pitchFamily="34" charset="0"/>
                <a:ea typeface="Inter Bold" pitchFamily="34" charset="-122"/>
                <a:cs typeface="Inter Bold" pitchFamily="34" charset="-120"/>
              </a:rPr>
              <a:t>1</a:t>
            </a:r>
            <a:endParaRPr lang="en-US" sz="2650" dirty="0"/>
          </a:p>
        </p:txBody>
      </p:sp>
      <p:sp>
        <p:nvSpPr>
          <p:cNvPr id="7" name="Text 5"/>
          <p:cNvSpPr/>
          <p:nvPr/>
        </p:nvSpPr>
        <p:spPr>
          <a:xfrm>
            <a:off x="2580084" y="2096095"/>
            <a:ext cx="2835235" cy="354330"/>
          </a:xfrm>
          <a:prstGeom prst="rect">
            <a:avLst/>
          </a:prstGeom>
          <a:noFill/>
          <a:ln/>
        </p:spPr>
        <p:txBody>
          <a:bodyPr wrap="none" lIns="0" tIns="0" rIns="0" bIns="0" rtlCol="0" anchor="t"/>
          <a:lstStyle/>
          <a:p>
            <a:pPr algn="ctr"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Ingress</a:t>
            </a:r>
            <a:endParaRPr lang="en-US" sz="2200" dirty="0"/>
          </a:p>
        </p:txBody>
      </p:sp>
      <p:sp>
        <p:nvSpPr>
          <p:cNvPr id="8" name="Text 6"/>
          <p:cNvSpPr/>
          <p:nvPr/>
        </p:nvSpPr>
        <p:spPr>
          <a:xfrm>
            <a:off x="1020604" y="2586514"/>
            <a:ext cx="5954316" cy="1088708"/>
          </a:xfrm>
          <a:prstGeom prst="rect">
            <a:avLst/>
          </a:prstGeom>
          <a:noFill/>
          <a:ln/>
        </p:spPr>
        <p:txBody>
          <a:bodyPr wrap="square" lIns="0" tIns="0" rIns="0" bIns="0" rtlCol="0" anchor="t"/>
          <a:lstStyle/>
          <a:p>
            <a:pPr algn="ct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Ingress es un recurso de Kubernetes que permite exponer múltiples servicios a través de un único punto de entrada, como un dominio web.</a:t>
            </a:r>
            <a:endParaRPr lang="en-US" sz="1750" dirty="0"/>
          </a:p>
        </p:txBody>
      </p:sp>
      <p:sp>
        <p:nvSpPr>
          <p:cNvPr id="9" name="Shape 7"/>
          <p:cNvSpPr/>
          <p:nvPr/>
        </p:nvSpPr>
        <p:spPr>
          <a:xfrm>
            <a:off x="7299841" y="4695944"/>
            <a:ext cx="30480" cy="793790"/>
          </a:xfrm>
          <a:prstGeom prst="roundRect">
            <a:avLst>
              <a:gd name="adj" fmla="val 312558"/>
            </a:avLst>
          </a:prstGeom>
          <a:solidFill>
            <a:srgbClr val="C0C1D7"/>
          </a:solidFill>
          <a:ln/>
        </p:spPr>
      </p:sp>
      <p:sp>
        <p:nvSpPr>
          <p:cNvPr id="10" name="Shape 8"/>
          <p:cNvSpPr/>
          <p:nvPr/>
        </p:nvSpPr>
        <p:spPr>
          <a:xfrm>
            <a:off x="7059930" y="4440793"/>
            <a:ext cx="510302" cy="510302"/>
          </a:xfrm>
          <a:prstGeom prst="roundRect">
            <a:avLst>
              <a:gd name="adj" fmla="val 18669"/>
            </a:avLst>
          </a:prstGeom>
          <a:solidFill>
            <a:srgbClr val="DADBF1"/>
          </a:solidFill>
          <a:ln w="7620">
            <a:solidFill>
              <a:srgbClr val="C0C1D7"/>
            </a:solidFill>
            <a:prstDash val="solid"/>
          </a:ln>
        </p:spPr>
      </p:sp>
      <p:sp>
        <p:nvSpPr>
          <p:cNvPr id="11" name="Text 9"/>
          <p:cNvSpPr/>
          <p:nvPr/>
        </p:nvSpPr>
        <p:spPr>
          <a:xfrm>
            <a:off x="7213044" y="4525804"/>
            <a:ext cx="204073" cy="340281"/>
          </a:xfrm>
          <a:prstGeom prst="rect">
            <a:avLst/>
          </a:prstGeom>
          <a:noFill/>
          <a:ln/>
        </p:spPr>
        <p:txBody>
          <a:bodyPr wrap="none" lIns="0" tIns="0" rIns="0" bIns="0" rtlCol="0" anchor="t"/>
          <a:lstStyle/>
          <a:p>
            <a:pPr algn="ctr" indent="0" marL="0">
              <a:lnSpc>
                <a:spcPts val="2650"/>
              </a:lnSpc>
              <a:buNone/>
            </a:pPr>
            <a:r>
              <a:rPr lang="en-US" sz="2650" b="1" spc="-80" kern="0" dirty="0">
                <a:solidFill>
                  <a:srgbClr val="272525"/>
                </a:solidFill>
                <a:latin typeface="Inter Bold" pitchFamily="34" charset="0"/>
                <a:ea typeface="Inter Bold" pitchFamily="34" charset="-122"/>
                <a:cs typeface="Inter Bold" pitchFamily="34" charset="-120"/>
              </a:rPr>
              <a:t>2</a:t>
            </a:r>
            <a:endParaRPr lang="en-US" sz="2650" dirty="0"/>
          </a:p>
        </p:txBody>
      </p:sp>
      <p:sp>
        <p:nvSpPr>
          <p:cNvPr id="12" name="Text 10"/>
          <p:cNvSpPr/>
          <p:nvPr/>
        </p:nvSpPr>
        <p:spPr>
          <a:xfrm>
            <a:off x="5897523" y="5716667"/>
            <a:ext cx="2835235" cy="354330"/>
          </a:xfrm>
          <a:prstGeom prst="rect">
            <a:avLst/>
          </a:prstGeom>
          <a:noFill/>
          <a:ln/>
        </p:spPr>
        <p:txBody>
          <a:bodyPr wrap="none" lIns="0" tIns="0" rIns="0" bIns="0" rtlCol="0" anchor="t"/>
          <a:lstStyle/>
          <a:p>
            <a:pPr algn="ctr"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Ingress Controllers</a:t>
            </a:r>
            <a:endParaRPr lang="en-US" sz="2200" dirty="0"/>
          </a:p>
        </p:txBody>
      </p:sp>
      <p:sp>
        <p:nvSpPr>
          <p:cNvPr id="13" name="Text 11"/>
          <p:cNvSpPr/>
          <p:nvPr/>
        </p:nvSpPr>
        <p:spPr>
          <a:xfrm>
            <a:off x="4337923" y="6207085"/>
            <a:ext cx="5954435" cy="1088708"/>
          </a:xfrm>
          <a:prstGeom prst="rect">
            <a:avLst/>
          </a:prstGeom>
          <a:noFill/>
          <a:ln/>
        </p:spPr>
        <p:txBody>
          <a:bodyPr wrap="square" lIns="0" tIns="0" rIns="0" bIns="0" rtlCol="0" anchor="t"/>
          <a:lstStyle/>
          <a:p>
            <a:pPr algn="ct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Los Ingress Controllers son aplicaciones que implementan las reglas de Ingress, enrutando el tráfico a los servicios apropiados.</a:t>
            </a:r>
            <a:endParaRPr lang="en-US" sz="1750" dirty="0"/>
          </a:p>
        </p:txBody>
      </p:sp>
      <p:sp>
        <p:nvSpPr>
          <p:cNvPr id="14" name="Shape 12"/>
          <p:cNvSpPr/>
          <p:nvPr/>
        </p:nvSpPr>
        <p:spPr>
          <a:xfrm>
            <a:off x="10617279" y="3902154"/>
            <a:ext cx="30480" cy="793790"/>
          </a:xfrm>
          <a:prstGeom prst="roundRect">
            <a:avLst>
              <a:gd name="adj" fmla="val 312558"/>
            </a:avLst>
          </a:prstGeom>
          <a:solidFill>
            <a:srgbClr val="C0C1D7"/>
          </a:solidFill>
          <a:ln/>
        </p:spPr>
      </p:sp>
      <p:sp>
        <p:nvSpPr>
          <p:cNvPr id="15" name="Shape 13"/>
          <p:cNvSpPr/>
          <p:nvPr/>
        </p:nvSpPr>
        <p:spPr>
          <a:xfrm>
            <a:off x="10377368" y="4440793"/>
            <a:ext cx="510302" cy="510302"/>
          </a:xfrm>
          <a:prstGeom prst="roundRect">
            <a:avLst>
              <a:gd name="adj" fmla="val 18669"/>
            </a:avLst>
          </a:prstGeom>
          <a:solidFill>
            <a:srgbClr val="DADBF1"/>
          </a:solidFill>
          <a:ln w="7620">
            <a:solidFill>
              <a:srgbClr val="C0C1D7"/>
            </a:solidFill>
            <a:prstDash val="solid"/>
          </a:ln>
        </p:spPr>
      </p:sp>
      <p:sp>
        <p:nvSpPr>
          <p:cNvPr id="16" name="Text 14"/>
          <p:cNvSpPr/>
          <p:nvPr/>
        </p:nvSpPr>
        <p:spPr>
          <a:xfrm>
            <a:off x="10527744" y="4525804"/>
            <a:ext cx="209431" cy="340281"/>
          </a:xfrm>
          <a:prstGeom prst="rect">
            <a:avLst/>
          </a:prstGeom>
          <a:noFill/>
          <a:ln/>
        </p:spPr>
        <p:txBody>
          <a:bodyPr wrap="none" lIns="0" tIns="0" rIns="0" bIns="0" rtlCol="0" anchor="t"/>
          <a:lstStyle/>
          <a:p>
            <a:pPr algn="ctr" indent="0" marL="0">
              <a:lnSpc>
                <a:spcPts val="2650"/>
              </a:lnSpc>
              <a:buNone/>
            </a:pPr>
            <a:r>
              <a:rPr lang="en-US" sz="2650" b="1" spc="-80" kern="0" dirty="0">
                <a:solidFill>
                  <a:srgbClr val="272525"/>
                </a:solidFill>
                <a:latin typeface="Inter Bold" pitchFamily="34" charset="0"/>
                <a:ea typeface="Inter Bold" pitchFamily="34" charset="-122"/>
                <a:cs typeface="Inter Bold" pitchFamily="34" charset="-120"/>
              </a:rPr>
              <a:t>3</a:t>
            </a:r>
            <a:endParaRPr lang="en-US" sz="2650" dirty="0"/>
          </a:p>
        </p:txBody>
      </p:sp>
      <p:sp>
        <p:nvSpPr>
          <p:cNvPr id="17" name="Text 15"/>
          <p:cNvSpPr/>
          <p:nvPr/>
        </p:nvSpPr>
        <p:spPr>
          <a:xfrm>
            <a:off x="8873966" y="2096095"/>
            <a:ext cx="3517225" cy="354330"/>
          </a:xfrm>
          <a:prstGeom prst="rect">
            <a:avLst/>
          </a:prstGeom>
          <a:noFill/>
          <a:ln/>
        </p:spPr>
        <p:txBody>
          <a:bodyPr wrap="none" lIns="0" tIns="0" rIns="0" bIns="0" rtlCol="0" anchor="t"/>
          <a:lstStyle/>
          <a:p>
            <a:pPr algn="ctr"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Mapeo de dominios y rutas</a:t>
            </a:r>
            <a:endParaRPr lang="en-US" sz="2200" dirty="0"/>
          </a:p>
        </p:txBody>
      </p:sp>
      <p:sp>
        <p:nvSpPr>
          <p:cNvPr id="18" name="Text 16"/>
          <p:cNvSpPr/>
          <p:nvPr/>
        </p:nvSpPr>
        <p:spPr>
          <a:xfrm>
            <a:off x="7655362" y="2586514"/>
            <a:ext cx="5954435" cy="1088708"/>
          </a:xfrm>
          <a:prstGeom prst="rect">
            <a:avLst/>
          </a:prstGeom>
          <a:noFill/>
          <a:ln/>
        </p:spPr>
        <p:txBody>
          <a:bodyPr wrap="square" lIns="0" tIns="0" rIns="0" bIns="0" rtlCol="0" anchor="t"/>
          <a:lstStyle/>
          <a:p>
            <a:pPr algn="ct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Ingress permite mapear dominios específicos y rutas URL a los servicios Kubernetes correspondientes, simplificando la exposición de aplicaciones.</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0218" y="620792"/>
            <a:ext cx="7288768" cy="705564"/>
          </a:xfrm>
          <a:prstGeom prst="rect">
            <a:avLst/>
          </a:prstGeom>
          <a:noFill/>
          <a:ln/>
        </p:spPr>
        <p:txBody>
          <a:bodyPr wrap="none" lIns="0" tIns="0" rIns="0" bIns="0" rtlCol="0" anchor="t"/>
          <a:lstStyle/>
          <a:p>
            <a:pPr indent="0" marL="0">
              <a:lnSpc>
                <a:spcPts val="5550"/>
              </a:lnSpc>
              <a:buNone/>
            </a:pPr>
            <a:r>
              <a:rPr lang="en-US" sz="4400" b="1" spc="-133" kern="0" dirty="0">
                <a:solidFill>
                  <a:srgbClr val="000000"/>
                </a:solidFill>
                <a:latin typeface="Inter Bold" pitchFamily="34" charset="0"/>
                <a:ea typeface="Inter Bold" pitchFamily="34" charset="-122"/>
                <a:cs typeface="Inter Bold" pitchFamily="34" charset="-120"/>
              </a:rPr>
              <a:t>Tipos de Ingress Controllers</a:t>
            </a:r>
            <a:endParaRPr lang="en-US" sz="4400" dirty="0"/>
          </a:p>
        </p:txBody>
      </p:sp>
      <p:pic>
        <p:nvPicPr>
          <p:cNvPr id="3" name="Image 0" descr="preencoded.png">    </p:cNvPr>
          <p:cNvPicPr>
            <a:picLocks noChangeAspect="1"/>
          </p:cNvPicPr>
          <p:nvPr/>
        </p:nvPicPr>
        <p:blipFill>
          <a:blip r:embed="rId1"/>
          <a:stretch>
            <a:fillRect/>
          </a:stretch>
        </p:blipFill>
        <p:spPr>
          <a:xfrm>
            <a:off x="790218" y="1777841"/>
            <a:ext cx="4124206" cy="2548890"/>
          </a:xfrm>
          <a:prstGeom prst="rect">
            <a:avLst/>
          </a:prstGeom>
        </p:spPr>
      </p:pic>
      <p:sp>
        <p:nvSpPr>
          <p:cNvPr id="4" name="Text 1"/>
          <p:cNvSpPr/>
          <p:nvPr/>
        </p:nvSpPr>
        <p:spPr>
          <a:xfrm>
            <a:off x="790218" y="4608909"/>
            <a:ext cx="3141464" cy="352663"/>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Nginx Ingress Controller</a:t>
            </a:r>
            <a:endParaRPr lang="en-US" sz="2200" dirty="0"/>
          </a:p>
        </p:txBody>
      </p:sp>
      <p:sp>
        <p:nvSpPr>
          <p:cNvPr id="5" name="Text 2"/>
          <p:cNvSpPr/>
          <p:nvPr/>
        </p:nvSpPr>
        <p:spPr>
          <a:xfrm>
            <a:off x="790218" y="5096947"/>
            <a:ext cx="4124206" cy="2166699"/>
          </a:xfrm>
          <a:prstGeom prst="rect">
            <a:avLst/>
          </a:prstGeom>
          <a:noFill/>
          <a:ln/>
        </p:spPr>
        <p:txBody>
          <a:bodyPr wrap="square" lIns="0" tIns="0" rIns="0" bIns="0" rtlCol="0" anchor="t"/>
          <a:lstStyle/>
          <a:p>
            <a:pPr algn="l" indent="0" marL="0">
              <a:lnSpc>
                <a:spcPts val="2800"/>
              </a:lnSpc>
              <a:buNone/>
            </a:pPr>
            <a:r>
              <a:rPr lang="en-US" sz="1750" spc="-36" kern="0" dirty="0">
                <a:solidFill>
                  <a:srgbClr val="272525"/>
                </a:solidFill>
                <a:latin typeface="Inter" pitchFamily="34" charset="0"/>
                <a:ea typeface="Inter" pitchFamily="34" charset="-122"/>
                <a:cs typeface="Inter" pitchFamily="34" charset="-120"/>
              </a:rPr>
              <a:t>Implementa las reglas de enrutamiento de Ingress utilizando el popular servidor web Nginx. Ofrece una gran estabilidad y rendimiento, con características avanzadas como balanceo de carga y terminación SSL.</a:t>
            </a:r>
            <a:endParaRPr lang="en-US" sz="1750" dirty="0"/>
          </a:p>
        </p:txBody>
      </p:sp>
      <p:pic>
        <p:nvPicPr>
          <p:cNvPr id="6" name="Image 1" descr="preencoded.png">    </p:cNvPr>
          <p:cNvPicPr>
            <a:picLocks noChangeAspect="1"/>
          </p:cNvPicPr>
          <p:nvPr/>
        </p:nvPicPr>
        <p:blipFill>
          <a:blip r:embed="rId2"/>
          <a:stretch>
            <a:fillRect/>
          </a:stretch>
        </p:blipFill>
        <p:spPr>
          <a:xfrm>
            <a:off x="5253037" y="1777841"/>
            <a:ext cx="4124206" cy="2548890"/>
          </a:xfrm>
          <a:prstGeom prst="rect">
            <a:avLst/>
          </a:prstGeom>
        </p:spPr>
      </p:pic>
      <p:sp>
        <p:nvSpPr>
          <p:cNvPr id="7" name="Text 3"/>
          <p:cNvSpPr/>
          <p:nvPr/>
        </p:nvSpPr>
        <p:spPr>
          <a:xfrm>
            <a:off x="5253037" y="4608909"/>
            <a:ext cx="2822258" cy="352663"/>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Traefik</a:t>
            </a:r>
            <a:endParaRPr lang="en-US" sz="2200" dirty="0"/>
          </a:p>
        </p:txBody>
      </p:sp>
      <p:sp>
        <p:nvSpPr>
          <p:cNvPr id="8" name="Text 4"/>
          <p:cNvSpPr/>
          <p:nvPr/>
        </p:nvSpPr>
        <p:spPr>
          <a:xfrm>
            <a:off x="5253037" y="5096947"/>
            <a:ext cx="4124206" cy="2166699"/>
          </a:xfrm>
          <a:prstGeom prst="rect">
            <a:avLst/>
          </a:prstGeom>
          <a:noFill/>
          <a:ln/>
        </p:spPr>
        <p:txBody>
          <a:bodyPr wrap="square" lIns="0" tIns="0" rIns="0" bIns="0" rtlCol="0" anchor="t"/>
          <a:lstStyle/>
          <a:p>
            <a:pPr algn="l" indent="0" marL="0">
              <a:lnSpc>
                <a:spcPts val="2800"/>
              </a:lnSpc>
              <a:buNone/>
            </a:pPr>
            <a:r>
              <a:rPr lang="en-US" sz="1750" spc="-36" kern="0" dirty="0">
                <a:solidFill>
                  <a:srgbClr val="272525"/>
                </a:solidFill>
                <a:latin typeface="Inter" pitchFamily="34" charset="0"/>
                <a:ea typeface="Inter" pitchFamily="34" charset="-122"/>
                <a:cs typeface="Inter" pitchFamily="34" charset="-120"/>
              </a:rPr>
              <a:t>Moderno y dinámico, Traefik se adapta automáticamente a los cambios en la infraestructura de Kubernetes. Brinda funcionalidades de enrutamiento, terminación SSL y monitoreo en tiempo real.</a:t>
            </a:r>
            <a:endParaRPr lang="en-US" sz="1750" dirty="0"/>
          </a:p>
        </p:txBody>
      </p:sp>
      <p:pic>
        <p:nvPicPr>
          <p:cNvPr id="9" name="Image 2" descr="preencoded.png">    </p:cNvPr>
          <p:cNvPicPr>
            <a:picLocks noChangeAspect="1"/>
          </p:cNvPicPr>
          <p:nvPr/>
        </p:nvPicPr>
        <p:blipFill>
          <a:blip r:embed="rId3"/>
          <a:stretch>
            <a:fillRect/>
          </a:stretch>
        </p:blipFill>
        <p:spPr>
          <a:xfrm>
            <a:off x="9715857" y="1777841"/>
            <a:ext cx="4124206" cy="2548890"/>
          </a:xfrm>
          <a:prstGeom prst="rect">
            <a:avLst/>
          </a:prstGeom>
        </p:spPr>
      </p:pic>
      <p:sp>
        <p:nvSpPr>
          <p:cNvPr id="10" name="Text 5"/>
          <p:cNvSpPr/>
          <p:nvPr/>
        </p:nvSpPr>
        <p:spPr>
          <a:xfrm>
            <a:off x="9715857" y="4608909"/>
            <a:ext cx="2822258" cy="352663"/>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Istio</a:t>
            </a:r>
            <a:endParaRPr lang="en-US" sz="2200" dirty="0"/>
          </a:p>
        </p:txBody>
      </p:sp>
      <p:sp>
        <p:nvSpPr>
          <p:cNvPr id="11" name="Text 6"/>
          <p:cNvSpPr/>
          <p:nvPr/>
        </p:nvSpPr>
        <p:spPr>
          <a:xfrm>
            <a:off x="9715857" y="5096947"/>
            <a:ext cx="4124206" cy="2527816"/>
          </a:xfrm>
          <a:prstGeom prst="rect">
            <a:avLst/>
          </a:prstGeom>
          <a:noFill/>
          <a:ln/>
        </p:spPr>
        <p:txBody>
          <a:bodyPr wrap="square" lIns="0" tIns="0" rIns="0" bIns="0" rtlCol="0" anchor="t"/>
          <a:lstStyle/>
          <a:p>
            <a:pPr algn="l" indent="0" marL="0">
              <a:lnSpc>
                <a:spcPts val="2800"/>
              </a:lnSpc>
              <a:buNone/>
            </a:pPr>
            <a:r>
              <a:rPr lang="en-US" sz="1750" spc="-36" kern="0" dirty="0">
                <a:solidFill>
                  <a:srgbClr val="272525"/>
                </a:solidFill>
                <a:latin typeface="Inter" pitchFamily="34" charset="0"/>
                <a:ea typeface="Inter" pitchFamily="34" charset="-122"/>
                <a:cs typeface="Inter" pitchFamily="34" charset="-120"/>
              </a:rPr>
              <a:t>Como parte de una plataforma de gestión de servicios, Istio proporciona capacidades avanzadas de enrutamiento, seguridad y observabilidad, integrándose de manera estrecha con la arquitectura de microservicios.</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2358509"/>
            <a:ext cx="7679888"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Balanceo de Carga y SSL/TLS</a:t>
            </a:r>
            <a:endParaRPr lang="en-US" sz="4450" dirty="0"/>
          </a:p>
        </p:txBody>
      </p:sp>
      <p:sp>
        <p:nvSpPr>
          <p:cNvPr id="3" name="Text 1"/>
          <p:cNvSpPr/>
          <p:nvPr/>
        </p:nvSpPr>
        <p:spPr>
          <a:xfrm>
            <a:off x="793790" y="3634264"/>
            <a:ext cx="5495568" cy="354330"/>
          </a:xfrm>
          <a:prstGeom prst="rect">
            <a:avLst/>
          </a:prstGeom>
          <a:noFill/>
          <a:ln/>
        </p:spPr>
        <p:txBody>
          <a:bodyPr wrap="none" lIns="0" tIns="0" rIns="0" bIns="0" rtlCol="0" anchor="t"/>
          <a:lstStyle/>
          <a:p>
            <a:pPr indent="0" marL="0">
              <a:lnSpc>
                <a:spcPts val="2750"/>
              </a:lnSpc>
              <a:buNone/>
            </a:pPr>
            <a:r>
              <a:rPr lang="en-US" sz="2200" b="1" spc="-67" kern="0" dirty="0">
                <a:solidFill>
                  <a:srgbClr val="000000"/>
                </a:solidFill>
                <a:latin typeface="Inter Bold" pitchFamily="34" charset="0"/>
                <a:ea typeface="Inter Bold" pitchFamily="34" charset="-122"/>
                <a:cs typeface="Inter Bold" pitchFamily="34" charset="-120"/>
              </a:rPr>
              <a:t>Configuración de Balanceadores de Carga</a:t>
            </a:r>
            <a:endParaRPr lang="en-US" sz="2200" dirty="0"/>
          </a:p>
        </p:txBody>
      </p:sp>
      <p:sp>
        <p:nvSpPr>
          <p:cNvPr id="4" name="Text 2"/>
          <p:cNvSpPr/>
          <p:nvPr/>
        </p:nvSpPr>
        <p:spPr>
          <a:xfrm>
            <a:off x="793790" y="4215408"/>
            <a:ext cx="6244709" cy="1451610"/>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Kubernetes ofrece soluciones de balanceo de carga integradas que distribuyen el tráfico entrante entre los Pods de manera eficiente, mejorando la escalabilidad y la disponibilidad de las aplicaciones.</a:t>
            </a:r>
            <a:endParaRPr lang="en-US" sz="1750" dirty="0"/>
          </a:p>
        </p:txBody>
      </p:sp>
      <p:sp>
        <p:nvSpPr>
          <p:cNvPr id="5" name="Text 3"/>
          <p:cNvSpPr/>
          <p:nvPr/>
        </p:nvSpPr>
        <p:spPr>
          <a:xfrm>
            <a:off x="7599521" y="3634264"/>
            <a:ext cx="4249222" cy="354330"/>
          </a:xfrm>
          <a:prstGeom prst="rect">
            <a:avLst/>
          </a:prstGeom>
          <a:noFill/>
          <a:ln/>
        </p:spPr>
        <p:txBody>
          <a:bodyPr wrap="none" lIns="0" tIns="0" rIns="0" bIns="0" rtlCol="0" anchor="t"/>
          <a:lstStyle/>
          <a:p>
            <a:pPr indent="0" marL="0">
              <a:lnSpc>
                <a:spcPts val="2750"/>
              </a:lnSpc>
              <a:buNone/>
            </a:pPr>
            <a:r>
              <a:rPr lang="en-US" sz="2200" b="1" spc="-67" kern="0" dirty="0">
                <a:solidFill>
                  <a:srgbClr val="000000"/>
                </a:solidFill>
                <a:latin typeface="Inter Bold" pitchFamily="34" charset="0"/>
                <a:ea typeface="Inter Bold" pitchFamily="34" charset="-122"/>
                <a:cs typeface="Inter Bold" pitchFamily="34" charset="-120"/>
              </a:rPr>
              <a:t>Gestión de Certificados SSL/TLS</a:t>
            </a:r>
            <a:endParaRPr lang="en-US" sz="2200" dirty="0"/>
          </a:p>
        </p:txBody>
      </p:sp>
      <p:sp>
        <p:nvSpPr>
          <p:cNvPr id="6" name="Text 4"/>
          <p:cNvSpPr/>
          <p:nvPr/>
        </p:nvSpPr>
        <p:spPr>
          <a:xfrm>
            <a:off x="7599521" y="4215408"/>
            <a:ext cx="6244709" cy="1451610"/>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Kubernetes facilita la obtención y renovación automática de certificados SSL/TLS, asegurando que las comunicaciones entre los clientes y los servicios se realicen de manera segura y cifrada.</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3760351"/>
            <a:ext cx="11415593"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HELM: Gestor de paquetes para Kubernetes</a:t>
            </a:r>
            <a:endParaRPr lang="en-US" sz="4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2498765"/>
            <a:ext cx="7283410"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Conceptos básicos de Helm</a:t>
            </a:r>
            <a:endParaRPr lang="en-US" sz="4450" dirty="0"/>
          </a:p>
        </p:txBody>
      </p:sp>
      <p:sp>
        <p:nvSpPr>
          <p:cNvPr id="3" name="Text 1"/>
          <p:cNvSpPr/>
          <p:nvPr/>
        </p:nvSpPr>
        <p:spPr>
          <a:xfrm>
            <a:off x="793790" y="3661172"/>
            <a:ext cx="13042821" cy="1088708"/>
          </a:xfrm>
          <a:prstGeom prst="rect">
            <a:avLst/>
          </a:prstGeom>
          <a:noFill/>
          <a:ln/>
        </p:spPr>
        <p:txBody>
          <a:bodyPr wrap="square" lIns="0" tIns="0" rIns="0" bIns="0" rtlCol="0" anchor="t"/>
          <a:lstStyle/>
          <a:p>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Charts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valores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y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releases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son los conceptos fundamentales en Helm, una herramienta para gestionar paquetes de aplicaciones en Kubernetes. Los charts son paquetes que encapsulan los recursos necesarios para desplegar una aplicación, mientras que los valores permiten personalizar la configuración de cada release, la instancia desplegada de un chart.</a:t>
            </a:r>
            <a:endParaRPr lang="en-US" sz="1750" dirty="0"/>
          </a:p>
        </p:txBody>
      </p:sp>
      <p:sp>
        <p:nvSpPr>
          <p:cNvPr id="4" name="Text 2"/>
          <p:cNvSpPr/>
          <p:nvPr/>
        </p:nvSpPr>
        <p:spPr>
          <a:xfrm>
            <a:off x="793790" y="5005030"/>
            <a:ext cx="13042821" cy="725805"/>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El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ciclo de vida de un release</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incluye la instalación, actualización y eliminación de las aplicaciones. Helm facilita estas operaciones, manteniendo un historial de los cambios aplicados a la infraestructura de Kubernetes.</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608653"/>
            <a:ext cx="13042821" cy="1417558"/>
          </a:xfrm>
          <a:prstGeom prst="rect">
            <a:avLst/>
          </a:prstGeom>
          <a:noFill/>
          <a:ln/>
        </p:spPr>
        <p:txBody>
          <a:bodyPr wrap="squar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Instalación y actualización de aplicaciones con Helm</a:t>
            </a:r>
            <a:endParaRPr lang="en-US" sz="4450" dirty="0"/>
          </a:p>
        </p:txBody>
      </p:sp>
      <p:sp>
        <p:nvSpPr>
          <p:cNvPr id="3" name="Text 1"/>
          <p:cNvSpPr/>
          <p:nvPr/>
        </p:nvSpPr>
        <p:spPr>
          <a:xfrm>
            <a:off x="793790" y="3479840"/>
            <a:ext cx="130428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spc="-36" kern="0" dirty="0">
                <a:solidFill>
                  <a:srgbClr val="272525"/>
                </a:solidFill>
                <a:latin typeface="Inter" pitchFamily="34" charset="0"/>
                <a:ea typeface="Inter" pitchFamily="34" charset="-122"/>
                <a:cs typeface="Inter" pitchFamily="34" charset="-120"/>
              </a:rPr>
              <a:t>Despliegue de aplicaciones complejas:</a:t>
            </a:r>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Helm facilita la instalación de aplicaciones con múltiples componentes, gestionando las dependencias entre los diferentes charts.</a:t>
            </a:r>
            <a:endParaRPr lang="en-US" sz="1750" dirty="0"/>
          </a:p>
        </p:txBody>
      </p:sp>
      <p:sp>
        <p:nvSpPr>
          <p:cNvPr id="4" name="Text 2"/>
          <p:cNvSpPr/>
          <p:nvPr/>
        </p:nvSpPr>
        <p:spPr>
          <a:xfrm>
            <a:off x="793790" y="4284940"/>
            <a:ext cx="130428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spc="-36" kern="0" dirty="0">
                <a:solidFill>
                  <a:srgbClr val="272525"/>
                </a:solidFill>
                <a:latin typeface="Inter" pitchFamily="34" charset="0"/>
                <a:ea typeface="Inter" pitchFamily="34" charset="-122"/>
                <a:cs typeface="Inter" pitchFamily="34" charset="-120"/>
              </a:rPr>
              <a:t>Gestión de actualizaciones:</a:t>
            </a:r>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Con Helm, es sencillo actualizar las aplicaciones a nuevas versiones, asegurando la compatibilidad y la preservación de la configuración personalizada.</a:t>
            </a:r>
            <a:endParaRPr lang="en-US" sz="1750" dirty="0"/>
          </a:p>
        </p:txBody>
      </p:sp>
      <p:sp>
        <p:nvSpPr>
          <p:cNvPr id="5" name="Text 3"/>
          <p:cNvSpPr/>
          <p:nvPr/>
        </p:nvSpPr>
        <p:spPr>
          <a:xfrm>
            <a:off x="793790" y="5090041"/>
            <a:ext cx="130428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spc="-36" kern="0" dirty="0">
                <a:solidFill>
                  <a:srgbClr val="272525"/>
                </a:solidFill>
                <a:latin typeface="Inter" pitchFamily="34" charset="0"/>
                <a:ea typeface="Inter" pitchFamily="34" charset="-122"/>
                <a:cs typeface="Inter" pitchFamily="34" charset="-120"/>
              </a:rPr>
              <a:t>Rollbacks y control de versiones:</a:t>
            </a:r>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Helm mantiene un historial de los releases, permitiendo deshacer cambios y volver a versiones anteriores de manera rápida y segura.</a:t>
            </a:r>
            <a:endParaRPr lang="en-US" sz="1750" dirty="0"/>
          </a:p>
        </p:txBody>
      </p:sp>
      <p:sp>
        <p:nvSpPr>
          <p:cNvPr id="6" name="Text 4"/>
          <p:cNvSpPr/>
          <p:nvPr/>
        </p:nvSpPr>
        <p:spPr>
          <a:xfrm>
            <a:off x="793790" y="5895142"/>
            <a:ext cx="130428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spc="-36" kern="0" dirty="0">
                <a:solidFill>
                  <a:srgbClr val="272525"/>
                </a:solidFill>
                <a:latin typeface="Inter" pitchFamily="34" charset="0"/>
                <a:ea typeface="Inter" pitchFamily="34" charset="-122"/>
                <a:cs typeface="Inter" pitchFamily="34" charset="-120"/>
              </a:rPr>
              <a:t>Reutilización de plantillas:</a:t>
            </a:r>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Los charts de Helm pueden ser diseñados de manera modular, facilitando su reutilización en diferentes entornos y aplicaciones.</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2498765"/>
            <a:ext cx="8369498"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Personalización de aplicaciones</a:t>
            </a:r>
            <a:endParaRPr lang="en-US" sz="4450" dirty="0"/>
          </a:p>
        </p:txBody>
      </p:sp>
      <p:sp>
        <p:nvSpPr>
          <p:cNvPr id="3" name="Text 1"/>
          <p:cNvSpPr/>
          <p:nvPr/>
        </p:nvSpPr>
        <p:spPr>
          <a:xfrm>
            <a:off x="793790" y="3661172"/>
            <a:ext cx="13042821" cy="1088708"/>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Kubernetes permite personalizar las aplicaciones desplegadas a través de valores por defecto y valores personalizados. Los charts de Helm facilitan la creación de aplicaciones a medida, reutilizando plantillas modulares y adaptándolas a las necesidades específicas de cada proyecto.</a:t>
            </a:r>
            <a:endParaRPr lang="en-US" sz="1750" dirty="0"/>
          </a:p>
        </p:txBody>
      </p:sp>
      <p:sp>
        <p:nvSpPr>
          <p:cNvPr id="4" name="Text 2"/>
          <p:cNvSpPr/>
          <p:nvPr/>
        </p:nvSpPr>
        <p:spPr>
          <a:xfrm>
            <a:off x="793790" y="5005030"/>
            <a:ext cx="13042821" cy="725805"/>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La personalización de aplicaciones en Kubernetes permite ajustar la configuración y el despliegue de las soluciones a las necesidades específicas de cada cliente o proyecto.</a:t>
            </a:r>
            <a:endParaRPr lang="en-US" sz="1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3760351"/>
            <a:ext cx="10164842"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Autoscaling en Kubernetes: HPA y VPA</a:t>
            </a:r>
            <a:endParaRPr lang="en-US" sz="4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1962864"/>
            <a:ext cx="13042821" cy="1417558"/>
          </a:xfrm>
          <a:prstGeom prst="rect">
            <a:avLst/>
          </a:prstGeom>
          <a:noFill/>
          <a:ln/>
        </p:spPr>
        <p:txBody>
          <a:bodyPr wrap="squar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Escalado automático con Horizontal Pod Autoscaler (HPA)</a:t>
            </a:r>
            <a:endParaRPr lang="en-US" sz="4450" dirty="0"/>
          </a:p>
        </p:txBody>
      </p:sp>
      <p:sp>
        <p:nvSpPr>
          <p:cNvPr id="3" name="Text 1"/>
          <p:cNvSpPr/>
          <p:nvPr/>
        </p:nvSpPr>
        <p:spPr>
          <a:xfrm>
            <a:off x="793790" y="3834051"/>
            <a:ext cx="13042821" cy="1088708"/>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El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Horizontal Pod Autoscaler (HPA)</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es una funcionalidad clave de Kubernetes que permite el escalado automático de aplicaciones basado en la utilización de recursos como CPU y memoria. Esta herramienta monitorea constantemente la carga de trabajo y ajusta dinámicamente el número de réplicas de los pods según sea necesario.</a:t>
            </a:r>
            <a:endParaRPr lang="en-US" sz="1750" dirty="0"/>
          </a:p>
        </p:txBody>
      </p:sp>
      <p:sp>
        <p:nvSpPr>
          <p:cNvPr id="4" name="Text 2"/>
          <p:cNvSpPr/>
          <p:nvPr/>
        </p:nvSpPr>
        <p:spPr>
          <a:xfrm>
            <a:off x="793790" y="5177909"/>
            <a:ext cx="13042821" cy="1088708"/>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La configuración del HPA implica establecer </a:t>
            </a:r>
            <a:pPr indent="0" marL="0">
              <a:lnSpc>
                <a:spcPts val="2850"/>
              </a:lnSpc>
              <a:buNone/>
            </a:pPr>
            <a:r>
              <a:rPr lang="en-US" sz="1750" b="1" spc="-36" kern="0" dirty="0">
                <a:solidFill>
                  <a:srgbClr val="272525"/>
                </a:solidFill>
                <a:latin typeface="Inter" pitchFamily="34" charset="0"/>
                <a:ea typeface="Inter" pitchFamily="34" charset="-122"/>
                <a:cs typeface="Inter" pitchFamily="34" charset="-120"/>
              </a:rPr>
              <a:t>métricas y umbrales</a:t>
            </a:r>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que determinen cuándo escalar la aplicación. Esto permite que las aplicaciones puedan adaptarse de manera ágil a los cambios en la demanda, garantizando una experiencia fluida para los usuarios.</a:t>
            </a:r>
            <a:endParaRPr lang="en-US" sz="1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1969532"/>
            <a:ext cx="7757398"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Vertical Pod Autoscaler (VPA)</a:t>
            </a:r>
            <a:endParaRPr lang="en-US" sz="4450" dirty="0"/>
          </a:p>
        </p:txBody>
      </p:sp>
      <p:sp>
        <p:nvSpPr>
          <p:cNvPr id="3" name="Shape 1"/>
          <p:cNvSpPr/>
          <p:nvPr/>
        </p:nvSpPr>
        <p:spPr>
          <a:xfrm>
            <a:off x="793790" y="3131939"/>
            <a:ext cx="4196358" cy="3128129"/>
          </a:xfrm>
          <a:prstGeom prst="roundRect">
            <a:avLst>
              <a:gd name="adj" fmla="val 3046"/>
            </a:avLst>
          </a:prstGeom>
          <a:solidFill>
            <a:srgbClr val="DADBF1"/>
          </a:solidFill>
          <a:ln w="7620">
            <a:solidFill>
              <a:srgbClr val="C0C1D7"/>
            </a:solidFill>
            <a:prstDash val="solid"/>
          </a:ln>
        </p:spPr>
      </p:sp>
      <p:sp>
        <p:nvSpPr>
          <p:cNvPr id="4" name="Text 2"/>
          <p:cNvSpPr/>
          <p:nvPr/>
        </p:nvSpPr>
        <p:spPr>
          <a:xfrm>
            <a:off x="1028224" y="3366373"/>
            <a:ext cx="3727490" cy="708660"/>
          </a:xfrm>
          <a:prstGeom prst="rect">
            <a:avLst/>
          </a:prstGeom>
          <a:noFill/>
          <a:ln/>
        </p:spPr>
        <p:txBody>
          <a:bodyPr wrap="square" lIns="0" tIns="0" rIns="0" bIns="0" rtlCol="0" anchor="t"/>
          <a:lstStyle/>
          <a:p>
            <a:pPr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Escalado Automático de Recursos</a:t>
            </a:r>
            <a:endParaRPr lang="en-US" sz="2200" dirty="0"/>
          </a:p>
        </p:txBody>
      </p:sp>
      <p:sp>
        <p:nvSpPr>
          <p:cNvPr id="5" name="Text 3"/>
          <p:cNvSpPr/>
          <p:nvPr/>
        </p:nvSpPr>
        <p:spPr>
          <a:xfrm>
            <a:off x="1028224" y="4211122"/>
            <a:ext cx="3727490" cy="1814513"/>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El VPA ajusta automáticamente los recursos asignados a los contenedores, como CPU y memoria, para optimizar el uso y rendimiento de los pods.</a:t>
            </a:r>
            <a:endParaRPr lang="en-US" sz="1750" dirty="0"/>
          </a:p>
        </p:txBody>
      </p:sp>
      <p:sp>
        <p:nvSpPr>
          <p:cNvPr id="6" name="Shape 4"/>
          <p:cNvSpPr/>
          <p:nvPr/>
        </p:nvSpPr>
        <p:spPr>
          <a:xfrm>
            <a:off x="5216962" y="3131939"/>
            <a:ext cx="4196358" cy="3128129"/>
          </a:xfrm>
          <a:prstGeom prst="roundRect">
            <a:avLst>
              <a:gd name="adj" fmla="val 3046"/>
            </a:avLst>
          </a:prstGeom>
          <a:solidFill>
            <a:srgbClr val="DADBF1"/>
          </a:solidFill>
          <a:ln w="7620">
            <a:solidFill>
              <a:srgbClr val="C0C1D7"/>
            </a:solidFill>
            <a:prstDash val="solid"/>
          </a:ln>
        </p:spPr>
      </p:sp>
      <p:sp>
        <p:nvSpPr>
          <p:cNvPr id="7" name="Text 5"/>
          <p:cNvSpPr/>
          <p:nvPr/>
        </p:nvSpPr>
        <p:spPr>
          <a:xfrm>
            <a:off x="5451396" y="3366373"/>
            <a:ext cx="3727490" cy="708660"/>
          </a:xfrm>
          <a:prstGeom prst="rect">
            <a:avLst/>
          </a:prstGeom>
          <a:noFill/>
          <a:ln/>
        </p:spPr>
        <p:txBody>
          <a:bodyPr wrap="square" lIns="0" tIns="0" rIns="0" bIns="0" rtlCol="0" anchor="t"/>
          <a:lstStyle/>
          <a:p>
            <a:pPr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Recomendaciones Basadas en Uso</a:t>
            </a:r>
            <a:endParaRPr lang="en-US" sz="2200" dirty="0"/>
          </a:p>
        </p:txBody>
      </p:sp>
      <p:sp>
        <p:nvSpPr>
          <p:cNvPr id="8" name="Text 6"/>
          <p:cNvSpPr/>
          <p:nvPr/>
        </p:nvSpPr>
        <p:spPr>
          <a:xfrm>
            <a:off x="5451396" y="4211122"/>
            <a:ext cx="3727490" cy="1814513"/>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El VPA monitorea el uso real de recursos por parte de los pods y proporciona recomendaciones para dimensionar los recursos de manera más precisa.</a:t>
            </a:r>
            <a:endParaRPr lang="en-US" sz="1750" dirty="0"/>
          </a:p>
        </p:txBody>
      </p:sp>
      <p:sp>
        <p:nvSpPr>
          <p:cNvPr id="9" name="Shape 7"/>
          <p:cNvSpPr/>
          <p:nvPr/>
        </p:nvSpPr>
        <p:spPr>
          <a:xfrm>
            <a:off x="9640133" y="3131939"/>
            <a:ext cx="4196358" cy="3128129"/>
          </a:xfrm>
          <a:prstGeom prst="roundRect">
            <a:avLst>
              <a:gd name="adj" fmla="val 3046"/>
            </a:avLst>
          </a:prstGeom>
          <a:solidFill>
            <a:srgbClr val="DADBF1"/>
          </a:solidFill>
          <a:ln w="7620">
            <a:solidFill>
              <a:srgbClr val="C0C1D7"/>
            </a:solidFill>
            <a:prstDash val="solid"/>
          </a:ln>
        </p:spPr>
      </p:sp>
      <p:sp>
        <p:nvSpPr>
          <p:cNvPr id="10" name="Text 8"/>
          <p:cNvSpPr/>
          <p:nvPr/>
        </p:nvSpPr>
        <p:spPr>
          <a:xfrm>
            <a:off x="9874568" y="3366373"/>
            <a:ext cx="2835235" cy="354330"/>
          </a:xfrm>
          <a:prstGeom prst="rect">
            <a:avLst/>
          </a:prstGeom>
          <a:noFill/>
          <a:ln/>
        </p:spPr>
        <p:txBody>
          <a:bodyPr wrap="none" lIns="0" tIns="0" rIns="0" bIns="0" rtlCol="0" anchor="t"/>
          <a:lstStyle/>
          <a:p>
            <a:pPr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Simplifica la Gestión</a:t>
            </a:r>
            <a:endParaRPr lang="en-US" sz="2200" dirty="0"/>
          </a:p>
        </p:txBody>
      </p:sp>
      <p:sp>
        <p:nvSpPr>
          <p:cNvPr id="11" name="Text 9"/>
          <p:cNvSpPr/>
          <p:nvPr/>
        </p:nvSpPr>
        <p:spPr>
          <a:xfrm>
            <a:off x="9874568" y="3856792"/>
            <a:ext cx="3727490" cy="1814513"/>
          </a:xfrm>
          <a:prstGeom prst="rect">
            <a:avLst/>
          </a:prstGeom>
          <a:noFill/>
          <a:ln/>
        </p:spPr>
        <p:txBody>
          <a:bodyPr wrap="square" lIns="0" tIns="0" rIns="0" bIns="0" rtlCol="0" anchor="t"/>
          <a:lstStyle/>
          <a:p>
            <a:pP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Al automatizar el escalado de recursos, el VPA reduce la carga de trabajo de los administradores y permite enfocar esfuerzos en otras tareas clave.</a:t>
            </a:r>
            <a:endParaRPr lang="en-US" sz="1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93790" y="784503"/>
            <a:ext cx="6972181"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Estrategias de Autoscaling</a:t>
            </a:r>
            <a:endParaRPr lang="en-US" sz="4450" dirty="0"/>
          </a:p>
        </p:txBody>
      </p:sp>
      <p:pic>
        <p:nvPicPr>
          <p:cNvPr id="3" name="Image 0" descr="preencoded.png">    </p:cNvPr>
          <p:cNvPicPr>
            <a:picLocks noChangeAspect="1"/>
          </p:cNvPicPr>
          <p:nvPr/>
        </p:nvPicPr>
        <p:blipFill>
          <a:blip r:embed="rId1"/>
          <a:stretch>
            <a:fillRect/>
          </a:stretch>
        </p:blipFill>
        <p:spPr>
          <a:xfrm>
            <a:off x="793790" y="1946910"/>
            <a:ext cx="4120753" cy="2546747"/>
          </a:xfrm>
          <a:prstGeom prst="rect">
            <a:avLst/>
          </a:prstGeom>
        </p:spPr>
      </p:pic>
      <p:sp>
        <p:nvSpPr>
          <p:cNvPr id="4" name="Text 1"/>
          <p:cNvSpPr/>
          <p:nvPr/>
        </p:nvSpPr>
        <p:spPr>
          <a:xfrm>
            <a:off x="793790" y="4777145"/>
            <a:ext cx="3927753" cy="354330"/>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Escalado Basado en Demanda</a:t>
            </a:r>
            <a:endParaRPr lang="en-US" sz="2200" dirty="0"/>
          </a:p>
        </p:txBody>
      </p:sp>
      <p:sp>
        <p:nvSpPr>
          <p:cNvPr id="5" name="Text 2"/>
          <p:cNvSpPr/>
          <p:nvPr/>
        </p:nvSpPr>
        <p:spPr>
          <a:xfrm>
            <a:off x="793790" y="5267563"/>
            <a:ext cx="4120753" cy="1814513"/>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El escalado basado en demanda ajusta dinámicamente la cantidad de recursos en función de la carga de trabajo real, garantizando un rendimiento óptimo sin desperdicio.</a:t>
            </a:r>
            <a:endParaRPr lang="en-US" sz="1750" dirty="0"/>
          </a:p>
        </p:txBody>
      </p:sp>
      <p:pic>
        <p:nvPicPr>
          <p:cNvPr id="6" name="Image 1" descr="preencoded.png">    </p:cNvPr>
          <p:cNvPicPr>
            <a:picLocks noChangeAspect="1"/>
          </p:cNvPicPr>
          <p:nvPr/>
        </p:nvPicPr>
        <p:blipFill>
          <a:blip r:embed="rId2"/>
          <a:stretch>
            <a:fillRect/>
          </a:stretch>
        </p:blipFill>
        <p:spPr>
          <a:xfrm>
            <a:off x="5254704" y="1946910"/>
            <a:ext cx="4120872" cy="2546866"/>
          </a:xfrm>
          <a:prstGeom prst="rect">
            <a:avLst/>
          </a:prstGeom>
        </p:spPr>
      </p:pic>
      <p:sp>
        <p:nvSpPr>
          <p:cNvPr id="7" name="Text 3"/>
          <p:cNvSpPr/>
          <p:nvPr/>
        </p:nvSpPr>
        <p:spPr>
          <a:xfrm>
            <a:off x="5254704" y="4777264"/>
            <a:ext cx="2835235" cy="354330"/>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Escalado por Lotes</a:t>
            </a:r>
            <a:endParaRPr lang="en-US" sz="2200" dirty="0"/>
          </a:p>
        </p:txBody>
      </p:sp>
      <p:sp>
        <p:nvSpPr>
          <p:cNvPr id="8" name="Text 4"/>
          <p:cNvSpPr/>
          <p:nvPr/>
        </p:nvSpPr>
        <p:spPr>
          <a:xfrm>
            <a:off x="5254704" y="5267682"/>
            <a:ext cx="4120872" cy="1451610"/>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El escalado por lotes permite aumentar o disminuir la capacidad en etapas, lo cual es útil para cargas de trabajo predecibles y periódicas.</a:t>
            </a:r>
            <a:endParaRPr lang="en-US" sz="1750" dirty="0"/>
          </a:p>
        </p:txBody>
      </p:sp>
      <p:pic>
        <p:nvPicPr>
          <p:cNvPr id="9" name="Image 2" descr="preencoded.png">    </p:cNvPr>
          <p:cNvPicPr>
            <a:picLocks noChangeAspect="1"/>
          </p:cNvPicPr>
          <p:nvPr/>
        </p:nvPicPr>
        <p:blipFill>
          <a:blip r:embed="rId3"/>
          <a:stretch>
            <a:fillRect/>
          </a:stretch>
        </p:blipFill>
        <p:spPr>
          <a:xfrm>
            <a:off x="9715738" y="1946910"/>
            <a:ext cx="4120753" cy="2546747"/>
          </a:xfrm>
          <a:prstGeom prst="rect">
            <a:avLst/>
          </a:prstGeom>
        </p:spPr>
      </p:pic>
      <p:sp>
        <p:nvSpPr>
          <p:cNvPr id="10" name="Text 5"/>
          <p:cNvSpPr/>
          <p:nvPr/>
        </p:nvSpPr>
        <p:spPr>
          <a:xfrm>
            <a:off x="9715738" y="4777145"/>
            <a:ext cx="3652123" cy="354330"/>
          </a:xfrm>
          <a:prstGeom prst="rect">
            <a:avLst/>
          </a:prstGeom>
          <a:noFill/>
          <a:ln/>
        </p:spPr>
        <p:txBody>
          <a:bodyPr wrap="none" lIns="0" tIns="0" rIns="0" bIns="0" rtlCol="0" anchor="t"/>
          <a:lstStyle/>
          <a:p>
            <a:pPr algn="l" indent="0" marL="0">
              <a:lnSpc>
                <a:spcPts val="2750"/>
              </a:lnSpc>
              <a:buNone/>
            </a:pPr>
            <a:r>
              <a:rPr lang="en-US" sz="2200" b="1" spc="-67" kern="0" dirty="0">
                <a:solidFill>
                  <a:srgbClr val="272525"/>
                </a:solidFill>
                <a:latin typeface="Inter Bold" pitchFamily="34" charset="0"/>
                <a:ea typeface="Inter Bold" pitchFamily="34" charset="-122"/>
                <a:cs typeface="Inter Bold" pitchFamily="34" charset="-120"/>
              </a:rPr>
              <a:t>Combinación de Estrategias</a:t>
            </a:r>
            <a:endParaRPr lang="en-US" sz="2200" dirty="0"/>
          </a:p>
        </p:txBody>
      </p:sp>
      <p:sp>
        <p:nvSpPr>
          <p:cNvPr id="11" name="Text 6"/>
          <p:cNvSpPr/>
          <p:nvPr/>
        </p:nvSpPr>
        <p:spPr>
          <a:xfrm>
            <a:off x="9715738" y="5267563"/>
            <a:ext cx="4120753" cy="2177415"/>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Para lograr un autoscaling eficiente, a menudo se combinan estrategias como el escalado basado en demanda y el escalado por lotes, adaptándolas a las necesidades específicas de la aplicación.</a:t>
            </a:r>
            <a:endParaRPr lang="en-US" sz="1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93790" y="3352086"/>
            <a:ext cx="5670590" cy="708779"/>
          </a:xfrm>
          <a:prstGeom prst="rect">
            <a:avLst/>
          </a:prstGeom>
          <a:noFill/>
          <a:ln/>
        </p:spPr>
        <p:txBody>
          <a:bodyPr wrap="none" lIns="0" tIns="0" rIns="0" bIns="0" rtlCol="0" anchor="t"/>
          <a:lstStyle/>
          <a:p>
            <a:pP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Muchas gracias</a:t>
            </a:r>
            <a:endParaRPr lang="en-US" sz="4450" dirty="0"/>
          </a:p>
        </p:txBody>
      </p:sp>
      <p:sp>
        <p:nvSpPr>
          <p:cNvPr id="3" name="Text 1"/>
          <p:cNvSpPr/>
          <p:nvPr/>
        </p:nvSpPr>
        <p:spPr>
          <a:xfrm>
            <a:off x="793790" y="4514493"/>
            <a:ext cx="13042821" cy="362903"/>
          </a:xfrm>
          <a:prstGeom prst="rect">
            <a:avLst/>
          </a:prstGeom>
          <a:noFill/>
          <a:ln/>
        </p:spPr>
        <p:txBody>
          <a:bodyPr wrap="none" lIns="0" tIns="0" rIns="0" bIns="0" rtlCol="0" anchor="t"/>
          <a:lstStyle/>
          <a:p>
            <a:pPr indent="0" marL="0">
              <a:lnSpc>
                <a:spcPts val="2850"/>
              </a:lnSpc>
              <a:buNone/>
            </a:pP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2024-11-05T00:00:55Z</dcterms:created>
  <dcterms:modified xsi:type="dcterms:W3CDTF">2024-11-05T00:00:55Z</dcterms:modified>
</cp:coreProperties>
</file>