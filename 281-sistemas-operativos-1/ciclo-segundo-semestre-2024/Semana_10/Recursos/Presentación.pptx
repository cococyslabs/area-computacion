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8229600" cx="14630400"/>
  <p:notesSz cx="8229600" cy="14630400"/>
  <p:embeddedFontLst>
    <p:embeddedFont>
      <p:font typeface="Inter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1X9PZk6QO7FNm6J5ZC25dQM/g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Inter-boldItalic.fntdata"/><Relationship Id="rId27" Type="http://schemas.openxmlformats.org/officeDocument/2006/relationships/font" Target="fonts/Int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9543b5876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9543b5876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2d9543b5876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543b587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543b587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2d9543b587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d9543b5876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2d9543b5876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2d9543b5876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d9543b5876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2d9543b5876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2d9543b5876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9543b5876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2d9543b5876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2d9543b5876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d9543b5876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2d9543b5876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2d9543b5876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2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2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2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3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3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3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3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3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3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3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3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793790" y="3625691"/>
            <a:ext cx="10346769" cy="97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0"/>
              <a:buFont typeface="Inter"/>
              <a:buNone/>
            </a:pPr>
            <a:r>
              <a:rPr b="1" i="0" lang="en-US" sz="6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Introducción a contenedores</a:t>
            </a:r>
            <a:endParaRPr b="0" i="0" sz="61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793802" y="1198850"/>
            <a:ext cx="8748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¿Qué son los contenedores?</a:t>
            </a:r>
            <a:endParaRPr b="0" i="0" sz="4450" u="none" cap="none" strike="noStrike"/>
          </a:p>
        </p:txBody>
      </p:sp>
      <p:sp>
        <p:nvSpPr>
          <p:cNvPr id="99" name="Google Shape;99;p2"/>
          <p:cNvSpPr/>
          <p:nvPr/>
        </p:nvSpPr>
        <p:spPr>
          <a:xfrm>
            <a:off x="793790" y="24745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Definición</a:t>
            </a:r>
            <a:endParaRPr b="0" i="0" sz="2200" u="none" cap="none" strike="noStrike"/>
          </a:p>
        </p:txBody>
      </p:sp>
      <p:sp>
        <p:nvSpPr>
          <p:cNvPr id="100" name="Google Shape;100;p2"/>
          <p:cNvSpPr/>
          <p:nvPr/>
        </p:nvSpPr>
        <p:spPr>
          <a:xfrm>
            <a:off x="793790" y="3055739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contenedores son paquetes de software auto-contenidos que incluyen todo lo necesario para ejecutar una aplicación, como el código, las librerías y las dependencias. Esto permite que las aplicaciones se ejecuten de manera consistente en diferentes entornos.</a:t>
            </a:r>
            <a:endParaRPr b="0" i="0" sz="1750" u="none" cap="none" strike="noStrike"/>
          </a:p>
        </p:txBody>
      </p:sp>
      <p:sp>
        <p:nvSpPr>
          <p:cNvPr id="101" name="Google Shape;101;p2"/>
          <p:cNvSpPr/>
          <p:nvPr/>
        </p:nvSpPr>
        <p:spPr>
          <a:xfrm>
            <a:off x="793790" y="524294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Analogía</a:t>
            </a:r>
            <a:endParaRPr b="0" i="0" sz="2200" u="none" cap="none" strike="noStrike"/>
          </a:p>
        </p:txBody>
      </p:sp>
      <p:sp>
        <p:nvSpPr>
          <p:cNvPr id="102" name="Google Shape;102;p2"/>
          <p:cNvSpPr/>
          <p:nvPr/>
        </p:nvSpPr>
        <p:spPr>
          <a:xfrm>
            <a:off x="793790" y="5678210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Así como los contenedores de carga facilitan el transporte de mercancías, los contenedores de software simplifican la distribución y el despliegue de aplicaciones.</a:t>
            </a:r>
            <a:endParaRPr b="0" i="0" sz="1750" u="none" cap="none" strike="noStrike"/>
          </a:p>
        </p:txBody>
      </p:sp>
      <p:pic>
        <p:nvPicPr>
          <p:cNvPr descr="preencoded.png"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2502932"/>
            <a:ext cx="6244709" cy="4272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793802" y="1880700"/>
            <a:ext cx="1065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Beneficios de utilizar contenedores</a:t>
            </a:r>
            <a:endParaRPr b="0" i="0" sz="4450" u="none" cap="none" strike="noStrike"/>
          </a:p>
        </p:txBody>
      </p:sp>
      <p:sp>
        <p:nvSpPr>
          <p:cNvPr id="110" name="Google Shape;110;p3"/>
          <p:cNvSpPr/>
          <p:nvPr/>
        </p:nvSpPr>
        <p:spPr>
          <a:xfrm>
            <a:off x="793790" y="3043118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Portabilidad: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Los contenedores permiten que las aplicaciones se ejecuten de manera consistente en diferentes entornos, ya sea en la nube, servidores físicos o virtuales.</a:t>
            </a:r>
            <a:endParaRPr b="0" i="0" sz="1750" u="none" cap="none" strike="noStrike"/>
          </a:p>
        </p:txBody>
      </p:sp>
      <p:sp>
        <p:nvSpPr>
          <p:cNvPr id="111" name="Google Shape;111;p3"/>
          <p:cNvSpPr/>
          <p:nvPr/>
        </p:nvSpPr>
        <p:spPr>
          <a:xfrm>
            <a:off x="793790" y="402407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Escalabilidad: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Los contenedores pueden escalarse de manera rápida y sencilla, lo que permite adaptarse a las necesidades cambiantes de la carga de trabajo.</a:t>
            </a:r>
            <a:endParaRPr b="0" i="0" sz="1750" u="none" cap="none" strike="noStrike"/>
          </a:p>
        </p:txBody>
      </p:sp>
      <p:sp>
        <p:nvSpPr>
          <p:cNvPr id="112" name="Google Shape;112;p3"/>
          <p:cNvSpPr/>
          <p:nvPr/>
        </p:nvSpPr>
        <p:spPr>
          <a:xfrm>
            <a:off x="793790" y="5005030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Eficiencia: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Al encapsular todo lo necesario para ejecutar una aplicación, los contenedores optimizan el uso de recursos y reducen el tiempo de configuración y despliegue.</a:t>
            </a:r>
            <a:endParaRPr b="0" i="0" sz="1750" u="none" cap="none" strike="noStrike"/>
          </a:p>
        </p:txBody>
      </p:sp>
      <p:sp>
        <p:nvSpPr>
          <p:cNvPr id="113" name="Google Shape;113;p3"/>
          <p:cNvSpPr/>
          <p:nvPr/>
        </p:nvSpPr>
        <p:spPr>
          <a:xfrm>
            <a:off x="793790" y="598598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Aislamiento: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Cada contenedor se ejecuta de manera aislada, lo que mejora la seguridad y evita conflictos entre aplicaciones.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793803" y="752225"/>
            <a:ext cx="10161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Componentes clave de Docker</a:t>
            </a:r>
            <a:endParaRPr b="0" i="0" sz="4450" u="none" cap="none" strike="noStrike"/>
          </a:p>
        </p:txBody>
      </p:sp>
      <p:sp>
        <p:nvSpPr>
          <p:cNvPr id="120" name="Google Shape;120;p4"/>
          <p:cNvSpPr/>
          <p:nvPr/>
        </p:nvSpPr>
        <p:spPr>
          <a:xfrm>
            <a:off x="793790" y="4877395"/>
            <a:ext cx="13042821" cy="3048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318986" y="4083606"/>
            <a:ext cx="30480" cy="79379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3079075" y="462224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265884" y="4707255"/>
            <a:ext cx="136565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650" u="none" cap="none" strike="noStrike"/>
          </a:p>
        </p:txBody>
      </p:sp>
      <p:sp>
        <p:nvSpPr>
          <p:cNvPr id="124" name="Google Shape;124;p4"/>
          <p:cNvSpPr/>
          <p:nvPr/>
        </p:nvSpPr>
        <p:spPr>
          <a:xfrm>
            <a:off x="1916668" y="2277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Docker Daemon</a:t>
            </a:r>
            <a:endParaRPr b="0" i="0" sz="2200" u="none" cap="none" strike="noStrike"/>
          </a:p>
        </p:txBody>
      </p:sp>
      <p:sp>
        <p:nvSpPr>
          <p:cNvPr id="125" name="Google Shape;125;p4"/>
          <p:cNvSpPr/>
          <p:nvPr/>
        </p:nvSpPr>
        <p:spPr>
          <a:xfrm>
            <a:off x="1020604" y="2767965"/>
            <a:ext cx="462736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servicio principal de Docker que se ejecuta en segundo plano, administrando los contenedores, imágenes y redes.</a:t>
            </a:r>
            <a:endParaRPr b="0" i="0" sz="1750" u="none" cap="none" strike="noStrike"/>
          </a:p>
        </p:txBody>
      </p:sp>
      <p:sp>
        <p:nvSpPr>
          <p:cNvPr id="126" name="Google Shape;126;p4"/>
          <p:cNvSpPr/>
          <p:nvPr/>
        </p:nvSpPr>
        <p:spPr>
          <a:xfrm>
            <a:off x="5972889" y="4877395"/>
            <a:ext cx="30480" cy="79379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5732978" y="462224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5886093" y="4707255"/>
            <a:ext cx="20407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650" u="none" cap="none" strike="noStrike"/>
          </a:p>
        </p:txBody>
      </p:sp>
      <p:sp>
        <p:nvSpPr>
          <p:cNvPr id="129" name="Google Shape;129;p4"/>
          <p:cNvSpPr/>
          <p:nvPr/>
        </p:nvSpPr>
        <p:spPr>
          <a:xfrm>
            <a:off x="4570571" y="58981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Docker Client</a:t>
            </a:r>
            <a:endParaRPr b="0" i="0" sz="2200" u="none" cap="none" strike="noStrike"/>
          </a:p>
        </p:txBody>
      </p:sp>
      <p:sp>
        <p:nvSpPr>
          <p:cNvPr id="130" name="Google Shape;130;p4"/>
          <p:cNvSpPr/>
          <p:nvPr/>
        </p:nvSpPr>
        <p:spPr>
          <a:xfrm>
            <a:off x="3674507" y="6388537"/>
            <a:ext cx="462736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interfaz de línea de comandos que los usuarios utilizan para interactuar con el Daemon de Docker.</a:t>
            </a:r>
            <a:endParaRPr b="0" i="0" sz="175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8626793" y="4083606"/>
            <a:ext cx="30480" cy="79379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8386882" y="462224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8537258" y="4707255"/>
            <a:ext cx="209431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650" u="none" cap="none" strike="noStrike"/>
          </a:p>
        </p:txBody>
      </p:sp>
      <p:sp>
        <p:nvSpPr>
          <p:cNvPr id="134" name="Google Shape;134;p4"/>
          <p:cNvSpPr/>
          <p:nvPr/>
        </p:nvSpPr>
        <p:spPr>
          <a:xfrm>
            <a:off x="7224474" y="191464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Imágenes Docker</a:t>
            </a:r>
            <a:endParaRPr b="0" i="0" sz="2200" u="none" cap="none" strike="noStrike"/>
          </a:p>
        </p:txBody>
      </p:sp>
      <p:sp>
        <p:nvSpPr>
          <p:cNvPr id="135" name="Google Shape;135;p4"/>
          <p:cNvSpPr/>
          <p:nvPr/>
        </p:nvSpPr>
        <p:spPr>
          <a:xfrm>
            <a:off x="6328410" y="2405063"/>
            <a:ext cx="4627364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Plantillas de solo lectura que contienen el sistema operativo, las dependencias y la aplicación, listas para ser ejecutadas en un contenedor.</a:t>
            </a:r>
            <a:endParaRPr b="0" i="0" sz="1750" u="none" cap="none" strike="noStrike"/>
          </a:p>
        </p:txBody>
      </p:sp>
      <p:sp>
        <p:nvSpPr>
          <p:cNvPr id="136" name="Google Shape;136;p4"/>
          <p:cNvSpPr/>
          <p:nvPr/>
        </p:nvSpPr>
        <p:spPr>
          <a:xfrm>
            <a:off x="11280696" y="4877395"/>
            <a:ext cx="30480" cy="79379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11040785" y="462224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1185922" y="4707255"/>
            <a:ext cx="21990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650" u="none" cap="none" strike="noStrike"/>
          </a:p>
        </p:txBody>
      </p:sp>
      <p:sp>
        <p:nvSpPr>
          <p:cNvPr id="139" name="Google Shape;139;p4"/>
          <p:cNvSpPr/>
          <p:nvPr/>
        </p:nvSpPr>
        <p:spPr>
          <a:xfrm>
            <a:off x="9867900" y="5898125"/>
            <a:ext cx="3552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Contenedores Docker</a:t>
            </a:r>
            <a:endParaRPr b="0" i="0" sz="2200" u="none" cap="none" strike="noStrike"/>
          </a:p>
        </p:txBody>
      </p:sp>
      <p:sp>
        <p:nvSpPr>
          <p:cNvPr id="140" name="Google Shape;140;p4"/>
          <p:cNvSpPr/>
          <p:nvPr/>
        </p:nvSpPr>
        <p:spPr>
          <a:xfrm>
            <a:off x="8982313" y="6388537"/>
            <a:ext cx="462736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Instancias en ejecución de una imagen, con su propio entorno aislado y sistema de archivos.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2d9543b5876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3" y="1266200"/>
            <a:ext cx="7553325" cy="54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2d9543b5876_0_5"/>
          <p:cNvSpPr/>
          <p:nvPr/>
        </p:nvSpPr>
        <p:spPr>
          <a:xfrm>
            <a:off x="7819950" y="174810"/>
            <a:ext cx="6244800" cy="7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Docker Client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la interfaz con la que el usuario interactúa mediante la línea de comandos (</a:t>
            </a:r>
            <a:r>
              <a:rPr lang="en-US" sz="110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CLI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Envía comandos como </a:t>
            </a:r>
            <a:r>
              <a:rPr lang="en-US" sz="110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docker run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docker stop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docker ps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etc.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 comunica con el </a:t>
            </a: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Docker Daemon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 través de su API.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Docker Daemon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el servicio en segundo plano que maneja las operaciones de Docker.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Recibe las peticiones del Docker Client y las procesa.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Expone una API que permite la automatización y comunicación con otras herramientas.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maneja directamente la ejecución de los contenedores, sino que delega la tarea a </a:t>
            </a:r>
            <a:r>
              <a:rPr lang="en-US" sz="110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containerd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containerd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el runtime de alto nivel de Docker.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 encarga de la gestión del ciclo de vida de los contenedores (iniciar, detener, pausar, eliminar).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Maneja la distribución y almacenamiento de imágenes.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ejecuta directamente los contenedores, sino que delega la tarea a </a:t>
            </a:r>
            <a:r>
              <a:rPr lang="en-US" sz="110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runc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 través de un proceso llamado </a:t>
            </a: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Shim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Shim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un pequeño proceso que permite que los contenedores funcionen sin depender directamente de </a:t>
            </a:r>
            <a:r>
              <a:rPr lang="en-US" sz="110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containerd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Evita que </a:t>
            </a:r>
            <a:r>
              <a:rPr lang="en-US" sz="110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containerd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tenga que mantenerse en ejecución para cada contenedor, reduciendo su carga.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Permite la recolección de logs y mantiene el estado del contenedor después de que </a:t>
            </a:r>
            <a:r>
              <a:rPr lang="en-US" sz="110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containerd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termine su trabajo.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runc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el runtime de bajo nivel encargado de interactuar con las primitivas del kernel de Linux (cgroups, namespaces).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 basa en el estándar Open Container Initiative (OCI), lo que lo hace compatible con otros runtimes de contenedores.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Crea y ejecuta los procesos de los contenedores en el sistema operativo.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b="1" sz="17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2d9543b587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800" y="152400"/>
            <a:ext cx="9576798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793802" y="1372200"/>
            <a:ext cx="9794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Ciclo de vida de un contenedor</a:t>
            </a:r>
            <a:endParaRPr b="0" i="0" sz="4450" u="none" cap="none" strike="noStrike"/>
          </a:p>
        </p:txBody>
      </p:sp>
      <p:sp>
        <p:nvSpPr>
          <p:cNvPr id="160" name="Google Shape;160;p5"/>
          <p:cNvSpPr/>
          <p:nvPr/>
        </p:nvSpPr>
        <p:spPr>
          <a:xfrm>
            <a:off x="793790" y="2534603"/>
            <a:ext cx="6408063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1028224" y="27690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Creación</a:t>
            </a:r>
            <a:endParaRPr b="0" i="0" sz="2200" u="none" cap="none" strike="noStrike"/>
          </a:p>
        </p:txBody>
      </p:sp>
      <p:sp>
        <p:nvSpPr>
          <p:cNvPr id="162" name="Google Shape;162;p5"/>
          <p:cNvSpPr/>
          <p:nvPr/>
        </p:nvSpPr>
        <p:spPr>
          <a:xfrm>
            <a:off x="1028224" y="3259455"/>
            <a:ext cx="59391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 construye una nueva instancia de una imagen Docker, estableciendo su estado inicial y preparando el entorno para su ejecución.</a:t>
            </a:r>
            <a:endParaRPr b="0" i="0" sz="1750" u="none" cap="none" strike="noStrike"/>
          </a:p>
        </p:txBody>
      </p:sp>
      <p:sp>
        <p:nvSpPr>
          <p:cNvPr id="163" name="Google Shape;163;p5"/>
          <p:cNvSpPr/>
          <p:nvPr/>
        </p:nvSpPr>
        <p:spPr>
          <a:xfrm>
            <a:off x="7428667" y="2534603"/>
            <a:ext cx="6408063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7663101" y="27690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Ejecución</a:t>
            </a:r>
            <a:endParaRPr b="0" i="0" sz="2200" u="none" cap="none" strike="noStrike"/>
          </a:p>
        </p:txBody>
      </p:sp>
      <p:sp>
        <p:nvSpPr>
          <p:cNvPr id="165" name="Google Shape;165;p5"/>
          <p:cNvSpPr/>
          <p:nvPr/>
        </p:nvSpPr>
        <p:spPr>
          <a:xfrm>
            <a:off x="7663101" y="3259455"/>
            <a:ext cx="59391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contenedor se inicia y comienza a ejecutar la aplicación o proceso que contiene, interactuando con los recursos del sistema operativo anfitrión.</a:t>
            </a:r>
            <a:endParaRPr b="0" i="0" sz="1750" u="none" cap="none" strike="noStrike"/>
          </a:p>
        </p:txBody>
      </p:sp>
      <p:sp>
        <p:nvSpPr>
          <p:cNvPr id="166" name="Google Shape;166;p5"/>
          <p:cNvSpPr/>
          <p:nvPr/>
        </p:nvSpPr>
        <p:spPr>
          <a:xfrm>
            <a:off x="793790" y="4809411"/>
            <a:ext cx="6408063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1028224" y="50438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Parada</a:t>
            </a:r>
            <a:endParaRPr b="0" i="0" sz="2200" u="none" cap="none" strike="noStrike"/>
          </a:p>
        </p:txBody>
      </p:sp>
      <p:sp>
        <p:nvSpPr>
          <p:cNvPr id="168" name="Google Shape;168;p5"/>
          <p:cNvSpPr/>
          <p:nvPr/>
        </p:nvSpPr>
        <p:spPr>
          <a:xfrm>
            <a:off x="1028224" y="5534263"/>
            <a:ext cx="59391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contenedor se detiene de forma controlada, permitiendo que la aplicación finalice sus tareas de manera ordenada.</a:t>
            </a:r>
            <a:endParaRPr b="0" i="0" sz="1750" u="none" cap="none" strike="noStrike"/>
          </a:p>
        </p:txBody>
      </p:sp>
      <p:sp>
        <p:nvSpPr>
          <p:cNvPr id="169" name="Google Shape;169;p5"/>
          <p:cNvSpPr/>
          <p:nvPr/>
        </p:nvSpPr>
        <p:spPr>
          <a:xfrm>
            <a:off x="7428667" y="4809411"/>
            <a:ext cx="6408063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7663101" y="50438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Eliminación</a:t>
            </a:r>
            <a:endParaRPr b="0" i="0" sz="2200" u="none" cap="none" strike="noStrike"/>
          </a:p>
        </p:txBody>
      </p:sp>
      <p:sp>
        <p:nvSpPr>
          <p:cNvPr id="171" name="Google Shape;171;p5"/>
          <p:cNvSpPr/>
          <p:nvPr/>
        </p:nvSpPr>
        <p:spPr>
          <a:xfrm>
            <a:off x="7663101" y="5534263"/>
            <a:ext cx="59391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contenedor se elimina permanentemente, liberando los recursos que ocupaba en el sistema, preparando el camino para un nuevo ciclo.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793803" y="1336350"/>
            <a:ext cx="13270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Casos de uso comunes de contenedores</a:t>
            </a:r>
            <a:endParaRPr b="0" i="0" sz="4450" u="none" cap="none" strike="noStrike"/>
          </a:p>
        </p:txBody>
      </p:sp>
      <p:sp>
        <p:nvSpPr>
          <p:cNvPr id="178" name="Google Shape;178;p6"/>
          <p:cNvSpPr/>
          <p:nvPr/>
        </p:nvSpPr>
        <p:spPr>
          <a:xfrm>
            <a:off x="793790" y="2498765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contenedores de software se utilizan en una amplia variedad de casos de uso, brindando beneficios significativos en áreas clave como el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el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despliegue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 la arquitectura de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microservicios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750" u="none" cap="none" strike="noStrike"/>
          </a:p>
        </p:txBody>
      </p:sp>
      <p:sp>
        <p:nvSpPr>
          <p:cNvPr id="179" name="Google Shape;179;p6"/>
          <p:cNvSpPr/>
          <p:nvPr/>
        </p:nvSpPr>
        <p:spPr>
          <a:xfrm>
            <a:off x="793790" y="3479721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 el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los contenedores permiten a los equipos de desarrollo crear, probar y empaquetar aplicaciones de manera consistente, independientemente del entorno. Esto facilita la integración continua y la entrega continua, acelerando el ciclo de desarrollo.</a:t>
            </a:r>
            <a:endParaRPr b="0" i="0" sz="1750" u="none" cap="none" strike="noStrike"/>
          </a:p>
        </p:txBody>
      </p:sp>
      <p:sp>
        <p:nvSpPr>
          <p:cNvPr id="180" name="Google Shape;180;p6"/>
          <p:cNvSpPr/>
          <p:nvPr/>
        </p:nvSpPr>
        <p:spPr>
          <a:xfrm>
            <a:off x="793790" y="482357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Para el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despliegue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los contenedores simplifican y automatizan el proceso de implementación de aplicaciones en diferentes entornos, desde servidores físicos hasta nubes públicas o privadas, de manera consistente y reproducible.</a:t>
            </a:r>
            <a:endParaRPr b="0" i="0" sz="1750" u="none" cap="none" strike="noStrike"/>
          </a:p>
        </p:txBody>
      </p:sp>
      <p:sp>
        <p:nvSpPr>
          <p:cNvPr id="181" name="Google Shape;181;p6"/>
          <p:cNvSpPr/>
          <p:nvPr/>
        </p:nvSpPr>
        <p:spPr>
          <a:xfrm>
            <a:off x="793790" y="5804535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 arquitecturas de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microservicios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los contenedores son fundamentales para la modularidad, la escalabilidad y la independencia de los componentes de la aplicación. Esto permite a las organizaciones ser más ágiles y adaptarse mejor a los requisitos cambiantes del negocio.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793790" y="3760351"/>
            <a:ext cx="935712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Docker y construcción de imágenes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793790" y="670084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Dockerfile: La Receta para Construir Imágenes Docker</a:t>
            </a:r>
            <a:endParaRPr b="0" i="0" sz="4450" u="none" cap="none" strike="noStrike"/>
          </a:p>
        </p:txBody>
      </p:sp>
      <p:sp>
        <p:nvSpPr>
          <p:cNvPr id="194" name="Google Shape;194;p8"/>
          <p:cNvSpPr/>
          <p:nvPr/>
        </p:nvSpPr>
        <p:spPr>
          <a:xfrm>
            <a:off x="7299960" y="2541270"/>
            <a:ext cx="30480" cy="5018127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296739" y="3036332"/>
            <a:ext cx="793790" cy="3048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060049" y="279642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246858" y="2881432"/>
            <a:ext cx="136565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650" u="none" cap="none" strike="noStrike"/>
          </a:p>
        </p:txBody>
      </p:sp>
      <p:sp>
        <p:nvSpPr>
          <p:cNvPr id="198" name="Google Shape;198;p8"/>
          <p:cNvSpPr/>
          <p:nvPr/>
        </p:nvSpPr>
        <p:spPr>
          <a:xfrm>
            <a:off x="3232428" y="276808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Definición</a:t>
            </a:r>
            <a:endParaRPr b="0" i="0" sz="2200" u="none" cap="none" strike="noStrike"/>
          </a:p>
        </p:txBody>
      </p:sp>
      <p:sp>
        <p:nvSpPr>
          <p:cNvPr id="199" name="Google Shape;199;p8"/>
          <p:cNvSpPr/>
          <p:nvPr/>
        </p:nvSpPr>
        <p:spPr>
          <a:xfrm>
            <a:off x="793790" y="3258502"/>
            <a:ext cx="527387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 Dockerfile es un archivo de texto que contiene los comandos necesarios para construir una imagen Docker. Es como una "receta" que permite automatizar el proceso de creación de imágenes.</a:t>
            </a:r>
            <a:endParaRPr b="0" i="0" sz="1750" u="none" cap="none" strike="noStrike"/>
          </a:p>
        </p:txBody>
      </p:sp>
      <p:sp>
        <p:nvSpPr>
          <p:cNvPr id="200" name="Google Shape;200;p8"/>
          <p:cNvSpPr/>
          <p:nvPr/>
        </p:nvSpPr>
        <p:spPr>
          <a:xfrm>
            <a:off x="7539871" y="4170402"/>
            <a:ext cx="793790" cy="3048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7060049" y="393049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213163" y="4015502"/>
            <a:ext cx="20407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650" u="none" cap="none" strike="noStrike"/>
          </a:p>
        </p:txBody>
      </p:sp>
      <p:sp>
        <p:nvSpPr>
          <p:cNvPr id="203" name="Google Shape;203;p8"/>
          <p:cNvSpPr/>
          <p:nvPr/>
        </p:nvSpPr>
        <p:spPr>
          <a:xfrm>
            <a:off x="8562737" y="390215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Estructura Básica</a:t>
            </a:r>
            <a:endParaRPr b="0" i="0" sz="2200" u="none" cap="none" strike="noStrike"/>
          </a:p>
        </p:txBody>
      </p:sp>
      <p:sp>
        <p:nvSpPr>
          <p:cNvPr id="204" name="Google Shape;204;p8"/>
          <p:cNvSpPr/>
          <p:nvPr/>
        </p:nvSpPr>
        <p:spPr>
          <a:xfrm>
            <a:off x="8562737" y="4392573"/>
            <a:ext cx="527387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Dockerfile sigue una sintaxis específica con palabras clave como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FROM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COPY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RUN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CMD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etc. Cada línea representa un paso en la construcción de la imagen.</a:t>
            </a:r>
            <a:endParaRPr b="0" i="0" sz="1750" u="none" cap="none" strike="noStrike"/>
          </a:p>
        </p:txBody>
      </p:sp>
      <p:sp>
        <p:nvSpPr>
          <p:cNvPr id="205" name="Google Shape;205;p8"/>
          <p:cNvSpPr/>
          <p:nvPr/>
        </p:nvSpPr>
        <p:spPr>
          <a:xfrm>
            <a:off x="6296739" y="5658803"/>
            <a:ext cx="793790" cy="3048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060049" y="541889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210425" y="5503902"/>
            <a:ext cx="209431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650" u="none" cap="none" strike="noStrike"/>
          </a:p>
        </p:txBody>
      </p:sp>
      <p:sp>
        <p:nvSpPr>
          <p:cNvPr id="208" name="Google Shape;208;p8"/>
          <p:cNvSpPr/>
          <p:nvPr/>
        </p:nvSpPr>
        <p:spPr>
          <a:xfrm>
            <a:off x="1908506" y="5390550"/>
            <a:ext cx="4159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Flujo de Construcción</a:t>
            </a:r>
            <a:endParaRPr b="0" i="0" sz="2200" u="none" cap="none" strike="noStrike"/>
          </a:p>
        </p:txBody>
      </p:sp>
      <p:sp>
        <p:nvSpPr>
          <p:cNvPr id="209" name="Google Shape;209;p8"/>
          <p:cNvSpPr/>
          <p:nvPr/>
        </p:nvSpPr>
        <p:spPr>
          <a:xfrm>
            <a:off x="793790" y="5880973"/>
            <a:ext cx="527387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Cuando se ejecuta el comando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docker build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Docker lee el Dockerfile, ejecuta cada instrucción en orden y genera la imagen final lista para ser ejecutada como contenedor.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793802" y="1753075"/>
            <a:ext cx="12504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Instrucciones Comunes en un Dockerfile</a:t>
            </a:r>
            <a:endParaRPr b="0" i="0" sz="445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793790" y="291548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FROM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define la imagen base a partir de la cual se construirá la nueva imagen. Es el punto de partida para la construcción.</a:t>
            </a:r>
            <a:endParaRPr b="0" i="0" sz="1750" u="none" cap="none" strike="noStrike"/>
          </a:p>
        </p:txBody>
      </p:sp>
      <p:sp>
        <p:nvSpPr>
          <p:cNvPr id="217" name="Google Shape;217;p9"/>
          <p:cNvSpPr/>
          <p:nvPr/>
        </p:nvSpPr>
        <p:spPr>
          <a:xfrm>
            <a:off x="793790" y="3533537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COPY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copia archivos y directorios desde el contexto de construcción (la carpeta donde se encuentra el Dockerfile) hacia el sistema de archivos del contenedor.</a:t>
            </a:r>
            <a:endParaRPr b="0" i="0" sz="1750" u="none" cap="none" strike="noStrike"/>
          </a:p>
        </p:txBody>
      </p:sp>
      <p:sp>
        <p:nvSpPr>
          <p:cNvPr id="218" name="Google Shape;218;p9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RUN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ejecuta comandos dentro del contenedor durante la construcción, por ejemplo, para instalar paquetes de software.</a:t>
            </a:r>
            <a:endParaRPr b="0" i="0" sz="1750" u="none" cap="none" strike="noStrike"/>
          </a:p>
        </p:txBody>
      </p:sp>
      <p:sp>
        <p:nvSpPr>
          <p:cNvPr id="219" name="Google Shape;219;p9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CMD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establece el comando predeterminado a ejecutar cuando se inicia un contenedor a partir de la imagen.</a:t>
            </a:r>
            <a:endParaRPr b="0" i="0" sz="175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793790" y="5750600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ENTRYPOINT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configura el programa principal que se ejecutará cuando se inicia un contenedor, a diferencia de CMD que puede ser sobrescrito.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793790" y="1569006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Mejores prácticas para escribir Dockerfiles: Optimización de imágenes, seguridad</a:t>
            </a:r>
            <a:endParaRPr b="0" i="0" sz="4450" u="none" cap="none" strike="noStrike"/>
          </a:p>
        </p:txBody>
      </p:sp>
      <p:sp>
        <p:nvSpPr>
          <p:cNvPr id="227" name="Google Shape;227;p10"/>
          <p:cNvSpPr/>
          <p:nvPr/>
        </p:nvSpPr>
        <p:spPr>
          <a:xfrm>
            <a:off x="793790" y="344019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Utilizar imágenes base ligeras y seguras para minimizar el tamaño de la imagen final y reducir la superficie de ataque.</a:t>
            </a:r>
            <a:endParaRPr b="0" i="0" sz="175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793790" y="3882390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Optimizar el orden de las instrucciones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en el Dockerfile para aprovechar el caché de Docker y acelerar los tiempos de construcción.</a:t>
            </a:r>
            <a:endParaRPr b="0" i="0" sz="1750" u="none" cap="none" strike="noStrike"/>
          </a:p>
        </p:txBody>
      </p:sp>
      <p:sp>
        <p:nvSpPr>
          <p:cNvPr id="229" name="Google Shape;229;p10"/>
          <p:cNvSpPr/>
          <p:nvPr/>
        </p:nvSpPr>
        <p:spPr>
          <a:xfrm>
            <a:off x="793790" y="4687491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Aplicar </a:t>
            </a:r>
            <a:r>
              <a:rPr b="0" i="0" lang="en-US" sz="1750" u="sng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buenas prácticas de seguridad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cómo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evitar instalar paquetes innecesarios, actualizar regularmente y eliminar archivos temporales.</a:t>
            </a:r>
            <a:endParaRPr b="0" i="0" sz="1750" u="none" cap="none" strike="noStrike"/>
          </a:p>
        </p:txBody>
      </p:sp>
      <p:sp>
        <p:nvSpPr>
          <p:cNvPr id="230" name="Google Shape;230;p10"/>
          <p:cNvSpPr/>
          <p:nvPr/>
        </p:nvSpPr>
        <p:spPr>
          <a:xfrm>
            <a:off x="793790" y="549259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Implementar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escaneos de vulnerabilidades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en las imágenes construidas para detectar y resolver problemas de seguridad.</a:t>
            </a:r>
            <a:endParaRPr b="0" i="0" sz="175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793790" y="593478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Automatizar el proceso de construcción y publicación de imágenes en un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pipeline de integración continua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para garantizar la calidad y la consistencia.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793790" y="844391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Construcción de Imágenes Eficientes con Multi-stage Builds</a:t>
            </a:r>
            <a:endParaRPr b="0" i="0" sz="4450" u="none" cap="none" strike="noStrike"/>
          </a:p>
        </p:txBody>
      </p:sp>
      <p:sp>
        <p:nvSpPr>
          <p:cNvPr id="238" name="Google Shape;238;p11"/>
          <p:cNvSpPr/>
          <p:nvPr/>
        </p:nvSpPr>
        <p:spPr>
          <a:xfrm>
            <a:off x="793790" y="2806184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multi-stage builds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en Docker permiten crear imágenes más ligeras y seguras al dividir el proceso de construcción en múltiples etapas. Esto permite optimizar el tamaño final de la imagen, minimizando la inclusión de herramientas y dependencias innecesarias.</a:t>
            </a:r>
            <a:endParaRPr b="0" i="0" sz="1750" u="none" cap="none" strike="noStrike"/>
          </a:p>
        </p:txBody>
      </p:sp>
      <p:sp>
        <p:nvSpPr>
          <p:cNvPr id="239" name="Google Shape;239;p11"/>
          <p:cNvSpPr/>
          <p:nvPr/>
        </p:nvSpPr>
        <p:spPr>
          <a:xfrm>
            <a:off x="793790" y="4824770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Cada etapa se basa en una imagen base diferente, lo que facilita la separación de responsabilidades y la reutilización de componentes comunes. Esto resulta en un proceso de construcción más eficiente y en imágenes más pequeñas y seguras.</a:t>
            </a:r>
            <a:endParaRPr b="0" i="0" sz="1750" u="none" cap="none" strike="noStrike"/>
          </a:p>
        </p:txBody>
      </p:sp>
      <p:pic>
        <p:nvPicPr>
          <p:cNvPr descr="preencoded.png" id="240" name="Google Shape;2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2857262"/>
            <a:ext cx="6244709" cy="4272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/>
          <p:nvPr/>
        </p:nvSpPr>
        <p:spPr>
          <a:xfrm>
            <a:off x="793790" y="1433632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Automatización de la construcción de imágenes: Integración con CI/CD</a:t>
            </a:r>
            <a:endParaRPr b="0" i="0" sz="4450" u="none" cap="none" strike="noStrike"/>
          </a:p>
        </p:txBody>
      </p:sp>
      <p:sp>
        <p:nvSpPr>
          <p:cNvPr id="247" name="Google Shape;247;p12"/>
          <p:cNvSpPr/>
          <p:nvPr/>
        </p:nvSpPr>
        <p:spPr>
          <a:xfrm>
            <a:off x="793790" y="3304818"/>
            <a:ext cx="4196358" cy="3491032"/>
          </a:xfrm>
          <a:prstGeom prst="roundRect">
            <a:avLst>
              <a:gd fmla="val 272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1028225" y="3539250"/>
            <a:ext cx="3420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Integración Continua</a:t>
            </a:r>
            <a:endParaRPr b="0" i="0" sz="2200" u="none" cap="none" strike="noStrike"/>
          </a:p>
        </p:txBody>
      </p:sp>
      <p:sp>
        <p:nvSpPr>
          <p:cNvPr id="249" name="Google Shape;249;p12"/>
          <p:cNvSpPr/>
          <p:nvPr/>
        </p:nvSpPr>
        <p:spPr>
          <a:xfrm>
            <a:off x="1028224" y="4029670"/>
            <a:ext cx="3727490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Automatizar la construcción de imágenes Docker en un pipeline de integración continua (CI) asegura la calidad y la consistencia de las imágenes a lo largo del proceso de desarrollo.</a:t>
            </a:r>
            <a:endParaRPr b="0" i="0" sz="1750" u="none" cap="none" strike="noStrike"/>
          </a:p>
        </p:txBody>
      </p:sp>
      <p:sp>
        <p:nvSpPr>
          <p:cNvPr id="250" name="Google Shape;250;p12"/>
          <p:cNvSpPr/>
          <p:nvPr/>
        </p:nvSpPr>
        <p:spPr>
          <a:xfrm>
            <a:off x="5216962" y="3304818"/>
            <a:ext cx="4196358" cy="3491032"/>
          </a:xfrm>
          <a:prstGeom prst="roundRect">
            <a:avLst>
              <a:gd fmla="val 272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5451396" y="353925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Entrega Continua</a:t>
            </a:r>
            <a:endParaRPr b="0" i="0" sz="2200" u="none" cap="none" strike="noStrike"/>
          </a:p>
        </p:txBody>
      </p:sp>
      <p:sp>
        <p:nvSpPr>
          <p:cNvPr id="252" name="Google Shape;252;p12"/>
          <p:cNvSpPr/>
          <p:nvPr/>
        </p:nvSpPr>
        <p:spPr>
          <a:xfrm>
            <a:off x="5451396" y="4029670"/>
            <a:ext cx="3727490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integración de la construcción de imágenes con herramientas de entrega continua (CD) permite la distribución automatizada de las imágenes a diferentes entornos de manera eficiente y segura.</a:t>
            </a:r>
            <a:endParaRPr b="0" i="0" sz="1750" u="none" cap="none" strike="noStrike"/>
          </a:p>
        </p:txBody>
      </p:sp>
      <p:sp>
        <p:nvSpPr>
          <p:cNvPr id="253" name="Google Shape;253;p12"/>
          <p:cNvSpPr/>
          <p:nvPr/>
        </p:nvSpPr>
        <p:spPr>
          <a:xfrm>
            <a:off x="9640133" y="3304818"/>
            <a:ext cx="4196358" cy="3491032"/>
          </a:xfrm>
          <a:prstGeom prst="roundRect">
            <a:avLst>
              <a:gd fmla="val 272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9874568" y="3539252"/>
            <a:ext cx="372749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Optimización de Flujos de Trabajo</a:t>
            </a:r>
            <a:endParaRPr b="0" i="0" sz="2200" u="none" cap="none" strike="noStrike"/>
          </a:p>
        </p:txBody>
      </p:sp>
      <p:sp>
        <p:nvSpPr>
          <p:cNvPr id="255" name="Google Shape;255;p12"/>
          <p:cNvSpPr/>
          <p:nvPr/>
        </p:nvSpPr>
        <p:spPr>
          <a:xfrm>
            <a:off x="9874568" y="4384000"/>
            <a:ext cx="3727490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automatización reduce los errores humanos y acelera los tiempos de construcción y despliegue, lo que mejora la agilidad y la eficiencia del equipo de desarrollo.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/>
          <p:nvPr/>
        </p:nvSpPr>
        <p:spPr>
          <a:xfrm>
            <a:off x="793790" y="3352086"/>
            <a:ext cx="616469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Redes de contenedores</a:t>
            </a:r>
            <a:endParaRPr b="0" i="0" sz="4450" u="none" cap="none" strike="noStrike"/>
          </a:p>
        </p:txBody>
      </p:sp>
      <p:sp>
        <p:nvSpPr>
          <p:cNvPr id="262" name="Google Shape;262;p13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"/>
          <p:cNvSpPr/>
          <p:nvPr/>
        </p:nvSpPr>
        <p:spPr>
          <a:xfrm>
            <a:off x="793801" y="1372200"/>
            <a:ext cx="12808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Importancia de las Redes en Contenedores</a:t>
            </a:r>
            <a:endParaRPr b="0" i="0" sz="4450" u="none" cap="none" strike="noStrike"/>
          </a:p>
        </p:txBody>
      </p:sp>
      <p:sp>
        <p:nvSpPr>
          <p:cNvPr id="269" name="Google Shape;269;p14"/>
          <p:cNvSpPr/>
          <p:nvPr/>
        </p:nvSpPr>
        <p:spPr>
          <a:xfrm>
            <a:off x="793790" y="2534603"/>
            <a:ext cx="6408063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1028225" y="2769025"/>
            <a:ext cx="5207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Comunicación entre Contenedores</a:t>
            </a:r>
            <a:endParaRPr b="0" i="0" sz="2200" u="none" cap="none" strike="noStrike"/>
          </a:p>
        </p:txBody>
      </p:sp>
      <p:sp>
        <p:nvSpPr>
          <p:cNvPr id="271" name="Google Shape;271;p14"/>
          <p:cNvSpPr/>
          <p:nvPr/>
        </p:nvSpPr>
        <p:spPr>
          <a:xfrm>
            <a:off x="1028224" y="3259455"/>
            <a:ext cx="59391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contenedores necesitan poder comunicarse entre sí para intercambiar datos y coordinar tareas dentro de una aplicación distribuida.</a:t>
            </a:r>
            <a:endParaRPr b="0" i="0" sz="1750" u="none" cap="none" strike="noStrike"/>
          </a:p>
        </p:txBody>
      </p:sp>
      <p:sp>
        <p:nvSpPr>
          <p:cNvPr id="272" name="Google Shape;272;p14"/>
          <p:cNvSpPr/>
          <p:nvPr/>
        </p:nvSpPr>
        <p:spPr>
          <a:xfrm>
            <a:off x="7428667" y="2534603"/>
            <a:ext cx="6408063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7663100" y="2769025"/>
            <a:ext cx="4310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Acceso a Servicios Externos</a:t>
            </a:r>
            <a:endParaRPr b="0" i="0" sz="2200" u="none" cap="none" strike="noStrike"/>
          </a:p>
        </p:txBody>
      </p:sp>
      <p:sp>
        <p:nvSpPr>
          <p:cNvPr id="274" name="Google Shape;274;p14"/>
          <p:cNvSpPr/>
          <p:nvPr/>
        </p:nvSpPr>
        <p:spPr>
          <a:xfrm>
            <a:off x="7663101" y="3259455"/>
            <a:ext cx="59391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contenedores deben poder conectarse a recursos y servicios fuera del entorno de contenedores, como bases de datos, APIs o servicios en la nube.</a:t>
            </a:r>
            <a:endParaRPr b="0" i="0" sz="1750" u="none" cap="none" strike="noStrike"/>
          </a:p>
        </p:txBody>
      </p:sp>
      <p:sp>
        <p:nvSpPr>
          <p:cNvPr id="275" name="Google Shape;275;p14"/>
          <p:cNvSpPr/>
          <p:nvPr/>
        </p:nvSpPr>
        <p:spPr>
          <a:xfrm>
            <a:off x="793790" y="4809411"/>
            <a:ext cx="6408063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1028225" y="5043850"/>
            <a:ext cx="3931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Aislamiento y Seguridad</a:t>
            </a:r>
            <a:endParaRPr b="0" i="0" sz="2200" u="none" cap="none" strike="noStrike"/>
          </a:p>
        </p:txBody>
      </p:sp>
      <p:sp>
        <p:nvSpPr>
          <p:cNvPr id="277" name="Google Shape;277;p14"/>
          <p:cNvSpPr/>
          <p:nvPr/>
        </p:nvSpPr>
        <p:spPr>
          <a:xfrm>
            <a:off x="1028224" y="5534263"/>
            <a:ext cx="59391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Las redes de contenedores permiten aislar y proteger los servicios y datos de cada contenedor, mejorando la seguridad general de la aplicación.</a:t>
            </a:r>
            <a:endParaRPr b="0" i="0" sz="1750" u="none" cap="none" strike="noStrike"/>
          </a:p>
        </p:txBody>
      </p:sp>
      <p:sp>
        <p:nvSpPr>
          <p:cNvPr id="278" name="Google Shape;278;p14"/>
          <p:cNvSpPr/>
          <p:nvPr/>
        </p:nvSpPr>
        <p:spPr>
          <a:xfrm>
            <a:off x="7428667" y="4809411"/>
            <a:ext cx="6408063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7663100" y="5043850"/>
            <a:ext cx="4079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Escalabilidad y Flexibilidad</a:t>
            </a:r>
            <a:endParaRPr b="0" i="0" sz="2200" u="none" cap="none" strike="noStrike"/>
          </a:p>
        </p:txBody>
      </p:sp>
      <p:sp>
        <p:nvSpPr>
          <p:cNvPr id="280" name="Google Shape;280;p14"/>
          <p:cNvSpPr/>
          <p:nvPr/>
        </p:nvSpPr>
        <p:spPr>
          <a:xfrm>
            <a:off x="7663101" y="5534263"/>
            <a:ext cx="59391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Las redes de contenedores facilitan la escalabilidad horizontal, permitiendo agregar o eliminar contenedores según la demanda sin afectar la conectividad.</a:t>
            </a:r>
            <a:endParaRPr b="0" i="0" sz="1750" u="none" cap="none" strike="noStrike"/>
          </a:p>
        </p:txBody>
      </p:sp>
      <p:sp>
        <p:nvSpPr>
          <p:cNvPr id="281" name="Google Shape;281;p14"/>
          <p:cNvSpPr txBox="1"/>
          <p:nvPr/>
        </p:nvSpPr>
        <p:spPr>
          <a:xfrm>
            <a:off x="8936500" y="226750"/>
            <a:ext cx="482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https://docs.docker.com/engine/network/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>
            <a:off x="793801" y="752225"/>
            <a:ext cx="8663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Modelos de Redes en Docker</a:t>
            </a:r>
            <a:endParaRPr b="0" i="0" sz="4450" u="none" cap="none" strike="noStrike"/>
          </a:p>
        </p:txBody>
      </p:sp>
      <p:sp>
        <p:nvSpPr>
          <p:cNvPr id="288" name="Google Shape;288;p15"/>
          <p:cNvSpPr/>
          <p:nvPr/>
        </p:nvSpPr>
        <p:spPr>
          <a:xfrm>
            <a:off x="793790" y="4877395"/>
            <a:ext cx="13042821" cy="3048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3982522" y="4083606"/>
            <a:ext cx="30480" cy="79379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3742611" y="462224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3929420" y="4707255"/>
            <a:ext cx="136565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650" u="none" cap="none" strike="noStrike"/>
          </a:p>
        </p:txBody>
      </p:sp>
      <p:sp>
        <p:nvSpPr>
          <p:cNvPr id="292" name="Google Shape;292;p15"/>
          <p:cNvSpPr/>
          <p:nvPr/>
        </p:nvSpPr>
        <p:spPr>
          <a:xfrm>
            <a:off x="2580084" y="2277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Redes Bridge</a:t>
            </a:r>
            <a:endParaRPr b="0" i="0" sz="2200" u="none" cap="none" strike="noStrike"/>
          </a:p>
        </p:txBody>
      </p:sp>
      <p:sp>
        <p:nvSpPr>
          <p:cNvPr id="293" name="Google Shape;293;p15"/>
          <p:cNvSpPr/>
          <p:nvPr/>
        </p:nvSpPr>
        <p:spPr>
          <a:xfrm>
            <a:off x="1020604" y="2767965"/>
            <a:ext cx="59543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Las redes Bridge son el modo de red predeterminado en Docker, que permite a los contenedores comunicarse dentro de una misma máquina anfitriona.</a:t>
            </a:r>
            <a:endParaRPr b="0" i="0" sz="1750" u="none" cap="none" strike="noStrike"/>
          </a:p>
        </p:txBody>
      </p:sp>
      <p:sp>
        <p:nvSpPr>
          <p:cNvPr id="294" name="Google Shape;294;p15"/>
          <p:cNvSpPr/>
          <p:nvPr/>
        </p:nvSpPr>
        <p:spPr>
          <a:xfrm>
            <a:off x="7299841" y="4877395"/>
            <a:ext cx="30480" cy="79379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7059930" y="462224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7213044" y="4707255"/>
            <a:ext cx="20407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650" u="none" cap="none" strike="noStrike"/>
          </a:p>
        </p:txBody>
      </p:sp>
      <p:sp>
        <p:nvSpPr>
          <p:cNvPr id="297" name="Google Shape;297;p15"/>
          <p:cNvSpPr/>
          <p:nvPr/>
        </p:nvSpPr>
        <p:spPr>
          <a:xfrm>
            <a:off x="5897523" y="58981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Redes Host</a:t>
            </a:r>
            <a:endParaRPr b="0" i="0" sz="2200" u="none" cap="none" strike="noStrike"/>
          </a:p>
        </p:txBody>
      </p:sp>
      <p:sp>
        <p:nvSpPr>
          <p:cNvPr id="298" name="Google Shape;298;p15"/>
          <p:cNvSpPr/>
          <p:nvPr/>
        </p:nvSpPr>
        <p:spPr>
          <a:xfrm>
            <a:off x="4337923" y="6388537"/>
            <a:ext cx="595443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Las redes Host permiten a los contenedores utilizar directamente la interfaz de red de la máquina anfitriona, lo que simplifica la configuración de red.</a:t>
            </a:r>
            <a:endParaRPr b="0" i="0" sz="1750" u="none" cap="none" strike="noStrike"/>
          </a:p>
        </p:txBody>
      </p:sp>
      <p:sp>
        <p:nvSpPr>
          <p:cNvPr id="299" name="Google Shape;299;p15"/>
          <p:cNvSpPr/>
          <p:nvPr/>
        </p:nvSpPr>
        <p:spPr>
          <a:xfrm>
            <a:off x="10617279" y="4083606"/>
            <a:ext cx="30480" cy="79379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10377368" y="462224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10527744" y="4707255"/>
            <a:ext cx="209431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650" u="none" cap="none" strike="noStrike"/>
          </a:p>
        </p:txBody>
      </p:sp>
      <p:sp>
        <p:nvSpPr>
          <p:cNvPr id="302" name="Google Shape;302;p15"/>
          <p:cNvSpPr/>
          <p:nvPr/>
        </p:nvSpPr>
        <p:spPr>
          <a:xfrm>
            <a:off x="9214961" y="191464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Redes Overlay</a:t>
            </a:r>
            <a:endParaRPr b="0" i="0" sz="2200" u="none" cap="none" strike="noStrike"/>
          </a:p>
        </p:txBody>
      </p:sp>
      <p:sp>
        <p:nvSpPr>
          <p:cNvPr id="303" name="Google Shape;303;p15"/>
          <p:cNvSpPr/>
          <p:nvPr/>
        </p:nvSpPr>
        <p:spPr>
          <a:xfrm>
            <a:off x="7655362" y="2405063"/>
            <a:ext cx="595443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Las redes Overlay facilitan la comunicación entre contenedores distribuidos en múltiples máquinas anfitrionas, lo que permite la escalabilidad de aplicaciones en entornos de contenedores.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d9543b5876_0_13"/>
          <p:cNvSpPr/>
          <p:nvPr/>
        </p:nvSpPr>
        <p:spPr>
          <a:xfrm>
            <a:off x="793790" y="3352086"/>
            <a:ext cx="6164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Volumenes</a:t>
            </a: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contenedores</a:t>
            </a:r>
            <a:endParaRPr b="0" i="0" sz="4450" u="none" cap="none" strike="noStrike"/>
          </a:p>
        </p:txBody>
      </p:sp>
      <p:sp>
        <p:nvSpPr>
          <p:cNvPr id="310" name="Google Shape;310;g2d9543b5876_0_13"/>
          <p:cNvSpPr/>
          <p:nvPr/>
        </p:nvSpPr>
        <p:spPr>
          <a:xfrm>
            <a:off x="793790" y="4514493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d9543b5876_0_19"/>
          <p:cNvSpPr/>
          <p:nvPr/>
        </p:nvSpPr>
        <p:spPr>
          <a:xfrm>
            <a:off x="121550" y="1372200"/>
            <a:ext cx="14234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Importancia de l</a:t>
            </a: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os </a:t>
            </a: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volúmenes</a:t>
            </a: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Contenedores</a:t>
            </a:r>
            <a:endParaRPr b="0" i="0" sz="4450" u="none" cap="none" strike="noStrike"/>
          </a:p>
        </p:txBody>
      </p:sp>
      <p:sp>
        <p:nvSpPr>
          <p:cNvPr id="317" name="Google Shape;317;g2d9543b5876_0_19"/>
          <p:cNvSpPr/>
          <p:nvPr/>
        </p:nvSpPr>
        <p:spPr>
          <a:xfrm>
            <a:off x="793800" y="2534600"/>
            <a:ext cx="6408000" cy="3039600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2d9543b5876_0_19"/>
          <p:cNvSpPr/>
          <p:nvPr/>
        </p:nvSpPr>
        <p:spPr>
          <a:xfrm>
            <a:off x="1028225" y="2769025"/>
            <a:ext cx="5207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Persistencia de datos</a:t>
            </a:r>
            <a:endParaRPr b="0" i="0" sz="2200" u="none" cap="none" strike="noStrike"/>
          </a:p>
        </p:txBody>
      </p:sp>
      <p:sp>
        <p:nvSpPr>
          <p:cNvPr id="319" name="Google Shape;319;g2d9543b5876_0_19"/>
          <p:cNvSpPr/>
          <p:nvPr/>
        </p:nvSpPr>
        <p:spPr>
          <a:xfrm>
            <a:off x="1028225" y="3259447"/>
            <a:ext cx="59391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volúmenes permiten almacenar datos de forma persistente, evitando que se pierdan cuando un contenedor se detiene o se elimina. Son esenciales para bases de datos y aplicaciones que generan o consumen información de forma continua.</a:t>
            </a:r>
            <a:endParaRPr sz="17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sz="17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g2d9543b5876_0_19"/>
          <p:cNvSpPr/>
          <p:nvPr/>
        </p:nvSpPr>
        <p:spPr>
          <a:xfrm>
            <a:off x="7428675" y="2534600"/>
            <a:ext cx="6408000" cy="2373900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d9543b5876_0_19"/>
          <p:cNvSpPr/>
          <p:nvPr/>
        </p:nvSpPr>
        <p:spPr>
          <a:xfrm>
            <a:off x="7663100" y="2769025"/>
            <a:ext cx="4310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Independencia del contenedor</a:t>
            </a:r>
            <a:endParaRPr b="0" i="0" sz="2200" u="none" cap="none" strike="noStrike"/>
          </a:p>
        </p:txBody>
      </p:sp>
      <p:sp>
        <p:nvSpPr>
          <p:cNvPr id="322" name="Google Shape;322;g2d9543b5876_0_19"/>
          <p:cNvSpPr/>
          <p:nvPr/>
        </p:nvSpPr>
        <p:spPr>
          <a:xfrm>
            <a:off x="7663100" y="3259448"/>
            <a:ext cx="59391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volúmenes existen de manera independiente a los contenedores, lo que permite que múltiples contenedores accedan a los mismos datos.Se pueden compartir entre contenedores sin necesidad de copiar datos en cada uno.</a:t>
            </a:r>
            <a:endParaRPr sz="17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sz="17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g2d9543b5876_0_19"/>
          <p:cNvSpPr/>
          <p:nvPr/>
        </p:nvSpPr>
        <p:spPr>
          <a:xfrm>
            <a:off x="793800" y="5718274"/>
            <a:ext cx="6408000" cy="2231100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2d9543b5876_0_19"/>
          <p:cNvSpPr/>
          <p:nvPr/>
        </p:nvSpPr>
        <p:spPr>
          <a:xfrm>
            <a:off x="1028250" y="5846625"/>
            <a:ext cx="3931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Mejor rendimiento y gestión</a:t>
            </a:r>
            <a:endParaRPr b="0" i="0" sz="2200" u="none" cap="none" strike="noStrike"/>
          </a:p>
        </p:txBody>
      </p:sp>
      <p:sp>
        <p:nvSpPr>
          <p:cNvPr id="325" name="Google Shape;325;g2d9543b5876_0_19"/>
          <p:cNvSpPr/>
          <p:nvPr/>
        </p:nvSpPr>
        <p:spPr>
          <a:xfrm>
            <a:off x="1028250" y="6307904"/>
            <a:ext cx="59391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Docker gestiona los volúmenes de forma eficiente en comparación con el uso de bind mounts. Se almacenan en </a:t>
            </a:r>
            <a:r>
              <a:rPr lang="en-US" sz="175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/var/lib/docker/volumes/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optimizando su rendimiento y evitando problemas de permisos en sistemas Linux.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sz="17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g2d9543b5876_0_19"/>
          <p:cNvSpPr/>
          <p:nvPr/>
        </p:nvSpPr>
        <p:spPr>
          <a:xfrm>
            <a:off x="7428700" y="5095147"/>
            <a:ext cx="6408000" cy="2671200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2d9543b5876_0_19"/>
          <p:cNvSpPr/>
          <p:nvPr/>
        </p:nvSpPr>
        <p:spPr>
          <a:xfrm>
            <a:off x="7663100" y="5219750"/>
            <a:ext cx="4554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Tipos de volúmenes en Docker</a:t>
            </a:r>
            <a:endParaRPr b="0" i="0" sz="2200" u="none" cap="none" strike="noStrike"/>
          </a:p>
        </p:txBody>
      </p:sp>
      <p:sp>
        <p:nvSpPr>
          <p:cNvPr id="328" name="Google Shape;328;g2d9543b5876_0_19"/>
          <p:cNvSpPr/>
          <p:nvPr/>
        </p:nvSpPr>
        <p:spPr>
          <a:xfrm>
            <a:off x="7663101" y="5846613"/>
            <a:ext cx="59391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Volúmenes administrados por Docker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Se crean y gestionan con </a:t>
            </a:r>
            <a:r>
              <a:rPr lang="en-US" sz="175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docker volume create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Bind mounts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Montan directorios del host en el contenedor (</a:t>
            </a:r>
            <a:r>
              <a:rPr lang="en-US" sz="175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-v /ruta/host:/ruta/contenedor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Tmpfs mounts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Se almacenan en memoria RAM y desaparecen al detener el contenedor.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sz="17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g2d9543b5876_0_19"/>
          <p:cNvSpPr txBox="1"/>
          <p:nvPr/>
        </p:nvSpPr>
        <p:spPr>
          <a:xfrm>
            <a:off x="9801650" y="173400"/>
            <a:ext cx="455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https://docs.docker.com/engine/storage/volumes/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9543b5876_0_36"/>
          <p:cNvSpPr/>
          <p:nvPr/>
        </p:nvSpPr>
        <p:spPr>
          <a:xfrm>
            <a:off x="793801" y="285375"/>
            <a:ext cx="8663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Docker compose</a:t>
            </a:r>
            <a:endParaRPr b="0" i="0" sz="4450" u="none" cap="none" strike="noStrike"/>
          </a:p>
        </p:txBody>
      </p:sp>
      <p:sp>
        <p:nvSpPr>
          <p:cNvPr id="336" name="Google Shape;336;g2d9543b5876_0_36"/>
          <p:cNvSpPr/>
          <p:nvPr/>
        </p:nvSpPr>
        <p:spPr>
          <a:xfrm>
            <a:off x="1020600" y="1087050"/>
            <a:ext cx="10917000" cy="7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¿Qué es Docker Compose? 🐳</a:t>
            </a:r>
            <a:endParaRPr b="1"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Docker Compose es una herramienta que permite definir y administrar aplicaciones multicontenedor en Docker mediante un archivo YAML (</a:t>
            </a:r>
            <a:r>
              <a:rPr lang="en-US" sz="175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docker-compose.yml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¿Para qué se usa? 🔹</a:t>
            </a:r>
            <a:endParaRPr b="1"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b="1"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Orquestar múltiples contenedores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con una sola configuración.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Definir </a:t>
            </a:r>
            <a:r>
              <a:rPr b="1"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redes, volúmenes y dependencias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los servicios.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Inter"/>
              <a:buChar char="●"/>
            </a:pP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Facilitar el desarrollo y la replicación de entornos.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Comandos esenciales 💻</a:t>
            </a:r>
            <a:endParaRPr b="1"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US" sz="175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docker-compose up -d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→ Levanta los contenedores en segundo plano.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US" sz="175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docker-compose down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→ Elimina los contenedores y redes creados.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US" sz="1750">
                <a:solidFill>
                  <a:srgbClr val="188038"/>
                </a:solidFill>
                <a:latin typeface="Inter"/>
                <a:ea typeface="Inter"/>
                <a:cs typeface="Inter"/>
                <a:sym typeface="Inter"/>
              </a:rPr>
              <a:t>docker-compose logs</a:t>
            </a: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→ Muestra los logs de los servicios.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Ventajas de Docker Compose ✅</a:t>
            </a:r>
            <a:endParaRPr b="1"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✔️ Simplifica la gestión de múltiples contenedores.</a:t>
            </a:r>
            <a:b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✔️ Facilita la configuración de entornos de desarrollo.</a:t>
            </a:r>
            <a:b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✔️ Permite definir redes y volúmenes fácilmente.</a:t>
            </a:r>
            <a:b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✔️ Compatible con entornos locales y despliegues en producción.</a:t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b="1"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d9543b5876_0_64"/>
          <p:cNvSpPr/>
          <p:nvPr/>
        </p:nvSpPr>
        <p:spPr>
          <a:xfrm>
            <a:off x="793801" y="752225"/>
            <a:ext cx="8663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Docker compose</a:t>
            </a:r>
            <a:endParaRPr b="0" i="0" sz="4450" u="none" cap="none" strike="noStrike"/>
          </a:p>
        </p:txBody>
      </p:sp>
      <p:pic>
        <p:nvPicPr>
          <p:cNvPr id="343" name="Google Shape;343;g2d9543b5876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3525"/>
            <a:ext cx="14325601" cy="54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2d9543b5876_0_64"/>
          <p:cNvSpPr txBox="1"/>
          <p:nvPr/>
        </p:nvSpPr>
        <p:spPr>
          <a:xfrm>
            <a:off x="613550" y="7373525"/>
            <a:ext cx="56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https://docs.docker.com/compose/intro/compose-application-model/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Muchas gracias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2024-11-05T00:04:08Z</dcterms:created>
  <dc:creator>PptxGenJS</dc:creator>
</cp:coreProperties>
</file>