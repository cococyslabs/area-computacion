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Spline Sans"/>
      <p:bold r:id="rId10"/>
    </p:embeddedFont>
    <p:embeddedFont>
      <p:font typeface="Barlow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6LBP2Lmles1r7u9Ha/9ovEkVG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-regular.fntdata"/><Relationship Id="rId10" Type="http://schemas.openxmlformats.org/officeDocument/2006/relationships/font" Target="fonts/SplineSans-bold.fntdata"/><Relationship Id="rId13" Type="http://schemas.openxmlformats.org/officeDocument/2006/relationships/font" Target="fonts/Barlow-italic.fntdata"/><Relationship Id="rId12" Type="http://schemas.openxmlformats.org/officeDocument/2006/relationships/font" Target="fonts/Barlow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Barlow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"/>
          <p:cNvSpPr/>
          <p:nvPr/>
        </p:nvSpPr>
        <p:spPr>
          <a:xfrm>
            <a:off x="6350437" y="820579"/>
            <a:ext cx="7415927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Explorando el Mundo de Linux: De la Línea de Comandos a la Interfaz Gráfica</a:t>
            </a:r>
            <a:endParaRPr b="0" i="0" sz="4300" u="none" cap="none" strike="noStrike"/>
          </a:p>
        </p:txBody>
      </p:sp>
      <p:sp>
        <p:nvSpPr>
          <p:cNvPr id="38" name="Google Shape;38;p1"/>
          <p:cNvSpPr/>
          <p:nvPr/>
        </p:nvSpPr>
        <p:spPr>
          <a:xfrm>
            <a:off x="6350437" y="3934063"/>
            <a:ext cx="7415927" cy="2765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es un sistema operativo ampliamente utilizado en el mundo de la tecnología, ofreciendo a los usuarios dos formas principales de interactuar con él: la interfaz de línea de comandos (CLI) y la interfaz gráfica de usuario (GUI). Cada una de estas opciones presenta sus propias características, ventajas y desafíos, permitiendo a los usuarios elegir la que mejor se adapte a sus necesidades y preferencias.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50213" y="743307"/>
            <a:ext cx="7643574" cy="1786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750"/>
              <a:buFont typeface="Spline Sans"/>
              <a:buNone/>
            </a:pPr>
            <a:r>
              <a:rPr b="1" i="0" lang="en-US" sz="37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Comandos Básicos de Linux: Domina la Navegación y Manipulación de Archivos</a:t>
            </a:r>
            <a:endParaRPr b="0" i="0" sz="375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750213" y="3092172"/>
            <a:ext cx="482203" cy="482203"/>
          </a:xfrm>
          <a:prstGeom prst="roundRect">
            <a:avLst>
              <a:gd fmla="val 66682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29521" y="3190280"/>
            <a:ext cx="123587" cy="28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250"/>
              <a:buFont typeface="Spline Sans"/>
              <a:buNone/>
            </a:pPr>
            <a:r>
              <a:rPr b="1" i="0" lang="en-US" sz="2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b="0" i="0" sz="2250" u="none" cap="none" strike="noStrike"/>
          </a:p>
        </p:txBody>
      </p:sp>
      <p:sp>
        <p:nvSpPr>
          <p:cNvPr id="48" name="Google Shape;48;p2"/>
          <p:cNvSpPr/>
          <p:nvPr/>
        </p:nvSpPr>
        <p:spPr>
          <a:xfrm>
            <a:off x="1446728" y="3092172"/>
            <a:ext cx="2381726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Navegación</a:t>
            </a:r>
            <a:endParaRPr b="0" i="0" sz="1850" u="none" cap="none" strike="noStrike"/>
          </a:p>
        </p:txBody>
      </p:sp>
      <p:sp>
        <p:nvSpPr>
          <p:cNvPr id="49" name="Google Shape;49;p2"/>
          <p:cNvSpPr/>
          <p:nvPr/>
        </p:nvSpPr>
        <p:spPr>
          <a:xfrm>
            <a:off x="1446728" y="3518416"/>
            <a:ext cx="301811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50"/>
              <a:buFont typeface="Barlow"/>
              <a:buNone/>
            </a:pPr>
            <a:r>
              <a:rPr b="0" i="0" lang="en-US" sz="16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Comandos como "cd", "ls" y "pwd" son esenciales para moverse a través del sistema de archivos de Linux y conocer tu ubicación actual.</a:t>
            </a:r>
            <a:endParaRPr b="0" i="0" sz="1650" u="none" cap="none" strike="noStrike"/>
          </a:p>
        </p:txBody>
      </p:sp>
      <p:sp>
        <p:nvSpPr>
          <p:cNvPr id="50" name="Google Shape;50;p2"/>
          <p:cNvSpPr/>
          <p:nvPr/>
        </p:nvSpPr>
        <p:spPr>
          <a:xfrm>
            <a:off x="4679156" y="3092172"/>
            <a:ext cx="482203" cy="482203"/>
          </a:xfrm>
          <a:prstGeom prst="roundRect">
            <a:avLst>
              <a:gd fmla="val 66682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840724" y="3190280"/>
            <a:ext cx="158948" cy="28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250"/>
              <a:buFont typeface="Spline Sans"/>
              <a:buNone/>
            </a:pPr>
            <a:r>
              <a:rPr b="1" i="0" lang="en-US" sz="2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b="0" i="0" sz="225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5375672" y="3092172"/>
            <a:ext cx="2897743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Manipulación de Archivos</a:t>
            </a:r>
            <a:endParaRPr b="0" i="0" sz="1850" u="none" cap="none" strike="noStrike"/>
          </a:p>
        </p:txBody>
      </p:sp>
      <p:sp>
        <p:nvSpPr>
          <p:cNvPr id="53" name="Google Shape;53;p2"/>
          <p:cNvSpPr/>
          <p:nvPr/>
        </p:nvSpPr>
        <p:spPr>
          <a:xfrm>
            <a:off x="5375672" y="3518416"/>
            <a:ext cx="30181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50"/>
              <a:buFont typeface="Barlow"/>
              <a:buNone/>
            </a:pPr>
            <a:r>
              <a:rPr b="0" i="0" lang="en-US" sz="16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Comandos como "cat", "cp", "mv" y "rm" te permitirán crear, copiar, mover y eliminar archivos y directorios de manera eficiente.</a:t>
            </a:r>
            <a:endParaRPr b="0" i="0" sz="1650" u="none" cap="none" strike="noStrike"/>
          </a:p>
        </p:txBody>
      </p:sp>
      <p:sp>
        <p:nvSpPr>
          <p:cNvPr id="54" name="Google Shape;54;p2"/>
          <p:cNvSpPr/>
          <p:nvPr/>
        </p:nvSpPr>
        <p:spPr>
          <a:xfrm>
            <a:off x="750213" y="5688330"/>
            <a:ext cx="482203" cy="482203"/>
          </a:xfrm>
          <a:prstGeom prst="roundRect">
            <a:avLst>
              <a:gd fmla="val 66682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07613" y="5786438"/>
            <a:ext cx="167402" cy="28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250"/>
              <a:buFont typeface="Spline Sans"/>
              <a:buNone/>
            </a:pPr>
            <a:r>
              <a:rPr b="1" i="0" lang="en-US" sz="2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b="0" i="0" sz="225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1446728" y="5688330"/>
            <a:ext cx="2381726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Permisos</a:t>
            </a:r>
            <a:endParaRPr b="0" i="0" sz="185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1446728" y="6114574"/>
            <a:ext cx="30181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50"/>
              <a:buFont typeface="Barlow"/>
              <a:buNone/>
            </a:pPr>
            <a:r>
              <a:rPr b="0" i="0" lang="en-US" sz="16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Comandos como "chmod" y "chown" te ayudarán a gestionar los permisos y la propiedad de los archivos y directorios.</a:t>
            </a:r>
            <a:endParaRPr b="0" i="0" sz="165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4679156" y="5688330"/>
            <a:ext cx="482203" cy="482203"/>
          </a:xfrm>
          <a:prstGeom prst="roundRect">
            <a:avLst>
              <a:gd fmla="val 66682" name="adj"/>
            </a:avLst>
          </a:prstGeom>
          <a:solidFill>
            <a:srgbClr val="0A081B"/>
          </a:solidFill>
          <a:ln cap="flat" cmpd="sng" w="22850">
            <a:solidFill>
              <a:srgbClr val="0912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839533" y="5786438"/>
            <a:ext cx="161449" cy="28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250"/>
              <a:buFont typeface="Spline Sans"/>
              <a:buNone/>
            </a:pPr>
            <a:r>
              <a:rPr b="1" i="0" lang="en-US" sz="22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4</a:t>
            </a:r>
            <a:endParaRPr b="0" i="0" sz="22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5375672" y="5688330"/>
            <a:ext cx="2381726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50"/>
              <a:buFont typeface="Spline Sans"/>
              <a:buNone/>
            </a:pPr>
            <a:r>
              <a:rPr b="1" i="0" lang="en-US" sz="18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Ayuda</a:t>
            </a:r>
            <a:endParaRPr b="0" i="0" sz="18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5375672" y="6114574"/>
            <a:ext cx="301811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50"/>
              <a:buFont typeface="Barlow"/>
              <a:buNone/>
            </a:pPr>
            <a:r>
              <a:rPr b="0" i="0" lang="en-US" sz="16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El comando "man" te brindará acceso a las páginas de manual para aprender más sobre cada comando y sus opciones.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732711" y="741759"/>
            <a:ext cx="7678579" cy="116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650"/>
              <a:buFont typeface="Spline Sans"/>
              <a:buNone/>
            </a:pPr>
            <a:r>
              <a:rPr b="1" i="0" lang="en-US" sz="36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Estructura del Sistema de Archivos en Linux</a:t>
            </a:r>
            <a:endParaRPr b="0" i="0" sz="365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1035248" y="2218968"/>
            <a:ext cx="22860" cy="5268873"/>
          </a:xfrm>
          <a:prstGeom prst="roundRect">
            <a:avLst>
              <a:gd fmla="val 1373844" name="adj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259324" y="2678549"/>
            <a:ext cx="732711" cy="22860"/>
          </a:xfrm>
          <a:prstGeom prst="roundRect">
            <a:avLst>
              <a:gd fmla="val 1373844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11173" y="2454473"/>
            <a:ext cx="471011" cy="471011"/>
          </a:xfrm>
          <a:prstGeom prst="roundRect">
            <a:avLst>
              <a:gd fmla="val 66678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86314" y="2550319"/>
            <a:ext cx="120729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</a:t>
            </a:r>
            <a:endParaRPr b="0" i="0" sz="215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2198132" y="2428280"/>
            <a:ext cx="2326362" cy="29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b="1" i="0" lang="en-US" sz="18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Raíz (/)</a:t>
            </a:r>
            <a:endParaRPr b="0" i="0" sz="180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2198132" y="2844641"/>
            <a:ext cx="6213157" cy="670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El directorio raíz es el punto de partida del sistema de archivos de Linux, que contiene todos los demás directorios y archivos.</a:t>
            </a:r>
            <a:endParaRPr b="0" i="0" sz="1600" u="none" cap="none" strike="noStrike"/>
          </a:p>
        </p:txBody>
      </p:sp>
      <p:sp>
        <p:nvSpPr>
          <p:cNvPr id="75" name="Google Shape;75;p3"/>
          <p:cNvSpPr/>
          <p:nvPr/>
        </p:nvSpPr>
        <p:spPr>
          <a:xfrm>
            <a:off x="1259324" y="4392930"/>
            <a:ext cx="732711" cy="22860"/>
          </a:xfrm>
          <a:prstGeom prst="roundRect">
            <a:avLst>
              <a:gd fmla="val 1373844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11173" y="4168854"/>
            <a:ext cx="471011" cy="471011"/>
          </a:xfrm>
          <a:prstGeom prst="roundRect">
            <a:avLst>
              <a:gd fmla="val 66678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69050" y="4264700"/>
            <a:ext cx="155258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</a:t>
            </a:r>
            <a:endParaRPr b="0" i="0" sz="21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2198132" y="4142661"/>
            <a:ext cx="2638068" cy="29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b="1" i="0" lang="en-US" sz="18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Directorios Importantes</a:t>
            </a:r>
            <a:endParaRPr b="0" i="0" sz="180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2198132" y="4559022"/>
            <a:ext cx="6213157" cy="100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Directorios clave como "/bin", "/etc", "/home" y "/var" almacenan archivos y configuraciones esenciales para el funcionamiento del sistema.</a:t>
            </a:r>
            <a:endParaRPr b="0" i="0" sz="160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1259324" y="6442353"/>
            <a:ext cx="732711" cy="22860"/>
          </a:xfrm>
          <a:prstGeom prst="roundRect">
            <a:avLst>
              <a:gd fmla="val 1373844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11173" y="6218277"/>
            <a:ext cx="471011" cy="471011"/>
          </a:xfrm>
          <a:prstGeom prst="roundRect">
            <a:avLst>
              <a:gd fmla="val 66678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4883" y="6314123"/>
            <a:ext cx="163473" cy="27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</a:t>
            </a:r>
            <a:endParaRPr b="0" i="0" sz="21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2198132" y="6192083"/>
            <a:ext cx="2527102" cy="290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800"/>
              <a:buFont typeface="Spline Sans"/>
              <a:buNone/>
            </a:pPr>
            <a:r>
              <a:rPr b="1" i="0" lang="en-US" sz="18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Archivos y Extensiones</a:t>
            </a:r>
            <a:endParaRPr b="0" i="0" sz="180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2198132" y="6608445"/>
            <a:ext cx="6213157" cy="670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Barlow"/>
              <a:buNone/>
            </a:pPr>
            <a:r>
              <a:rPr b="0" i="0" lang="en-US" sz="16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 Linux, los archivos no se organizan por extensiones, sino por sus tipos y funcionalidades, lo que facilita la administración del sistema.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864037" y="1726883"/>
            <a:ext cx="1290232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4300"/>
              <a:buFont typeface="Spline Sans"/>
              <a:buNone/>
            </a:pPr>
            <a:r>
              <a:rPr b="1" i="0" lang="en-US" sz="430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Gestión de Paquetes en Linux: Mantén tu Sistema Actualizado y Seguro</a:t>
            </a:r>
            <a:endParaRPr b="0" i="0" sz="430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864037" y="37155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Instalación</a:t>
            </a:r>
            <a:endParaRPr b="0" i="0" sz="215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864037" y="4305300"/>
            <a:ext cx="3898821" cy="1580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Usa comandos como "apt-get install" o "yum install" para instalar nuevos paquetes y software en tu sistema Linux.</a:t>
            </a:r>
            <a:endParaRPr b="0" i="0" sz="19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5372695" y="37155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Actualización</a:t>
            </a:r>
            <a:endParaRPr b="0" i="0" sz="21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5372695" y="4305300"/>
            <a:ext cx="3898821" cy="1975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Mantén tu sistema actualizado con los últimos parches de seguridad y actualizaciones de software utilizando comandos como "apt-get update" y "apt-get upgrade".</a:t>
            </a:r>
            <a:endParaRPr b="0" i="0" sz="19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9881354" y="3715583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50"/>
              <a:buFont typeface="Spline Sans"/>
              <a:buNone/>
            </a:pPr>
            <a:r>
              <a:rPr b="1" i="0" lang="en-US" sz="21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Eliminación</a:t>
            </a:r>
            <a:endParaRPr b="0" i="0" sz="21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9881354" y="4305300"/>
            <a:ext cx="3898821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900"/>
              <a:buFont typeface="Barlow"/>
              <a:buNone/>
            </a:pPr>
            <a:r>
              <a:rPr b="0" i="0" lang="en-US" sz="190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Puedes eliminar paquetes que ya no necesites usando comandos como "apt-get remove" o "yum remove".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332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653296" y="2846546"/>
            <a:ext cx="13323808" cy="1037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250"/>
              <a:buFont typeface="Spline Sans"/>
              <a:buNone/>
            </a:pPr>
            <a:r>
              <a:rPr b="1" i="0" lang="en-US" sz="3250" u="none" cap="none" strike="noStrik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Ventajas y Desventajas de Linux: Descubre por qué es un Sistema Operativo Excepcional</a:t>
            </a:r>
            <a:endParaRPr b="0" i="0" sz="325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653296" y="4163497"/>
            <a:ext cx="6568678" cy="1685806"/>
          </a:xfrm>
          <a:prstGeom prst="roundRect">
            <a:avLst>
              <a:gd fmla="val 16609" name="adj"/>
            </a:avLst>
          </a:prstGeom>
          <a:solidFill>
            <a:srgbClr val="0A081B"/>
          </a:solidFill>
          <a:ln cap="flat" cmpd="sng" w="228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862727" y="4372928"/>
            <a:ext cx="2074069" cy="25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Spline Sans"/>
              <a:buNone/>
            </a:pPr>
            <a:r>
              <a:rPr b="1" i="0" lang="en-US" sz="16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Adaptabilidad</a:t>
            </a:r>
            <a:endParaRPr b="0" i="0" sz="1600" u="none" cap="none" strike="noStrike"/>
          </a:p>
        </p:txBody>
      </p:sp>
      <p:sp>
        <p:nvSpPr>
          <p:cNvPr id="106" name="Google Shape;106;p5"/>
          <p:cNvSpPr/>
          <p:nvPr/>
        </p:nvSpPr>
        <p:spPr>
          <a:xfrm>
            <a:off x="862727" y="4744045"/>
            <a:ext cx="6149816" cy="895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50"/>
              <a:buFont typeface="Barlow"/>
              <a:buNone/>
            </a:pPr>
            <a:r>
              <a:rPr b="0" i="0" lang="en-US" sz="14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es altamente personalizable y se adapta a una amplia gama de hardware, lo que lo hace ideal para una variedad de usos, desde servidores hasta dispositivos de internet de las cosas.</a:t>
            </a:r>
            <a:endParaRPr b="0" i="0" sz="145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7408545" y="4163497"/>
            <a:ext cx="6568678" cy="1685806"/>
          </a:xfrm>
          <a:prstGeom prst="roundRect">
            <a:avLst>
              <a:gd fmla="val 16609" name="adj"/>
            </a:avLst>
          </a:prstGeom>
          <a:solidFill>
            <a:srgbClr val="0A081B"/>
          </a:solidFill>
          <a:ln cap="flat" cmpd="sng" w="228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617976" y="4372928"/>
            <a:ext cx="2074069" cy="25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Spline Sans"/>
              <a:buNone/>
            </a:pPr>
            <a:r>
              <a:rPr b="1" i="0" lang="en-US" sz="16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Seguridad</a:t>
            </a:r>
            <a:endParaRPr b="0" i="0" sz="160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7617976" y="4744045"/>
            <a:ext cx="6149816" cy="59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50"/>
              <a:buFont typeface="Barlow"/>
              <a:buNone/>
            </a:pPr>
            <a:r>
              <a:rPr b="0" i="0" lang="en-US" sz="14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es conocido por su sólida seguridad, con un enfoque en la protección de la privacidad y la reducción de vulnerabilidades.</a:t>
            </a:r>
            <a:endParaRPr b="0" i="0" sz="14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653296" y="6035873"/>
            <a:ext cx="6568678" cy="1685806"/>
          </a:xfrm>
          <a:prstGeom prst="roundRect">
            <a:avLst>
              <a:gd fmla="val 16609" name="adj"/>
            </a:avLst>
          </a:prstGeom>
          <a:solidFill>
            <a:srgbClr val="0A081B"/>
          </a:solidFill>
          <a:ln cap="flat" cmpd="sng" w="228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62727" y="6245304"/>
            <a:ext cx="2074069" cy="25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Spline Sans"/>
              <a:buNone/>
            </a:pPr>
            <a:r>
              <a:rPr b="1" i="0" lang="en-US" sz="16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Comunidad</a:t>
            </a:r>
            <a:endParaRPr b="0" i="0" sz="1600" u="none" cap="none" strike="noStrike"/>
          </a:p>
        </p:txBody>
      </p:sp>
      <p:sp>
        <p:nvSpPr>
          <p:cNvPr id="112" name="Google Shape;112;p5"/>
          <p:cNvSpPr/>
          <p:nvPr/>
        </p:nvSpPr>
        <p:spPr>
          <a:xfrm>
            <a:off x="862727" y="6616422"/>
            <a:ext cx="6149816" cy="59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50"/>
              <a:buFont typeface="Barlow"/>
              <a:buNone/>
            </a:pPr>
            <a:r>
              <a:rPr b="0" i="0" lang="en-US" sz="14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Linux cuenta con una comunidad global de desarrolladores y usuarios que contribuyen constantemente a su mejora y desarrollo.</a:t>
            </a:r>
            <a:endParaRPr b="0" i="0" sz="1450" u="none" cap="none" strike="noStrike"/>
          </a:p>
        </p:txBody>
      </p:sp>
      <p:sp>
        <p:nvSpPr>
          <p:cNvPr id="113" name="Google Shape;113;p5"/>
          <p:cNvSpPr/>
          <p:nvPr/>
        </p:nvSpPr>
        <p:spPr>
          <a:xfrm>
            <a:off x="7408545" y="6035873"/>
            <a:ext cx="6568678" cy="1685806"/>
          </a:xfrm>
          <a:prstGeom prst="roundRect">
            <a:avLst>
              <a:gd fmla="val 16609" name="adj"/>
            </a:avLst>
          </a:prstGeom>
          <a:solidFill>
            <a:srgbClr val="0A081B"/>
          </a:solidFill>
          <a:ln cap="flat" cmpd="sng" w="22850">
            <a:solidFill>
              <a:srgbClr val="0912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7617976" y="6245304"/>
            <a:ext cx="2085737" cy="25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600"/>
              <a:buFont typeface="Spline Sans"/>
              <a:buNone/>
            </a:pPr>
            <a:r>
              <a:rPr b="1" i="0" lang="en-US" sz="1600" u="none" cap="none" strike="noStrik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Curva de Aprendizaje</a:t>
            </a:r>
            <a:endParaRPr b="0" i="0" sz="160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7617976" y="6616422"/>
            <a:ext cx="6149816" cy="895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50"/>
              <a:buFont typeface="Barlow"/>
              <a:buNone/>
            </a:pPr>
            <a:r>
              <a:rPr b="0" i="0" lang="en-US" sz="1450" u="none" cap="none" strike="noStrik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Si bien Linux puede tener una curva de aprendizaje más pronunciada, especialmente para usuarios provenientes de otros sistemas operativos, esta esfuerzo se ve recompensado por su flexibilidad y control.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2024-11-04T03:42:25Z</dcterms:created>
  <dc:creator>PptxGenJS</dc:creator>
</cp:coreProperties>
</file>