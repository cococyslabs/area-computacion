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Montserrat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6etf543wjpK6HluO0idF4Fgel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1185029" y="2220873"/>
            <a:ext cx="12260223" cy="1935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50"/>
              <a:buFont typeface="Montserrat"/>
              <a:buNone/>
            </a:pPr>
            <a:r>
              <a:rPr b="1" i="0" lang="en-US" sz="6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Comandos Básicos y Gestión de Linux</a:t>
            </a:r>
            <a:endParaRPr b="0" i="0" sz="6050" u="none" cap="none" strike="noStrike"/>
          </a:p>
        </p:txBody>
      </p:sp>
      <p:sp>
        <p:nvSpPr>
          <p:cNvPr id="51" name="Google Shape;51;p1"/>
          <p:cNvSpPr/>
          <p:nvPr/>
        </p:nvSpPr>
        <p:spPr>
          <a:xfrm>
            <a:off x="1185029" y="4527113"/>
            <a:ext cx="12260223" cy="148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Este documento proporciona una introducción a los comandos básicos de Linux, la gestión de usuarios y permisos, y los procesos y servicios en el sistema operativo Linux. Está diseñado para ayudar a los usuarios a navegar y trabajar eficientemente en el entorno Linux, cubriendo desde operaciones fundamentales hasta tareas más avanzadas de administración del sistema.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/>
          <p:nvPr/>
        </p:nvSpPr>
        <p:spPr>
          <a:xfrm>
            <a:off x="1185024" y="610675"/>
            <a:ext cx="96702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50"/>
              <a:buFont typeface="Montserrat"/>
              <a:buNone/>
            </a:pPr>
            <a:r>
              <a:rPr b="1" i="0" lang="en-US" sz="3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Comandos Básicos de Linux</a:t>
            </a:r>
            <a:endParaRPr b="0" i="0" sz="395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1185029" y="1683901"/>
            <a:ext cx="12260223" cy="665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Comencemos con algunos comandos fundamentales que les ayudarán a navegar y trabajar en el entorno de Linux. Recuerden que todos estos se ejecutan desde la terminal.</a:t>
            </a:r>
            <a:endParaRPr b="0" i="0" sz="170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1185029" y="2847856"/>
            <a:ext cx="498872" cy="498872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1376720" y="2946083"/>
            <a:ext cx="115491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50"/>
              <a:buFont typeface="Montserrat"/>
              <a:buNone/>
            </a:pPr>
            <a:r>
              <a:rPr b="1" i="0" lang="en-US" sz="23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35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1905595" y="2847856"/>
            <a:ext cx="2519482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50"/>
              <a:buFont typeface="Montserrat"/>
              <a:buNone/>
            </a:pPr>
            <a:r>
              <a:rPr b="1" i="0" lang="en-US" sz="19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ls y cd</a:t>
            </a:r>
            <a:endParaRPr b="0" i="0" sz="195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1905595" y="3295769"/>
            <a:ext cx="3218378" cy="432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ls: Este comando muestra los archivos y carpetas en el directorio donde estamos. Es como una vista rápida del "explorador de archivos", pero en formato texto. Ejemplo: ls -l despliega una lista detallada, incluyendo permisos, tamaños y fechas. - cd: Sirve para cambiar de directorio. Si queremos movernos a una carpeta específica, como "Documentos", usaríamos cd /home/usuario/Documentos.</a:t>
            </a:r>
            <a:endParaRPr b="0" i="0" sz="170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5345668" y="2847856"/>
            <a:ext cx="498872" cy="498872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507355" y="2946083"/>
            <a:ext cx="175379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50"/>
              <a:buFont typeface="Montserrat"/>
              <a:buNone/>
            </a:pPr>
            <a:r>
              <a:rPr b="1" i="0" lang="en-US" sz="23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35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6066234" y="2847856"/>
            <a:ext cx="2519482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50"/>
              <a:buFont typeface="Montserrat"/>
              <a:buNone/>
            </a:pPr>
            <a:r>
              <a:rPr b="1" i="0" lang="en-US" sz="19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pwd y cp/mv</a:t>
            </a:r>
            <a:endParaRPr b="0" i="0" sz="195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6066234" y="3295769"/>
            <a:ext cx="3218378" cy="3657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pwd: Nos permite ver la ruta exacta del directorio en el que nos encontramos. Es muy útil para ubicarnos y entender en qué parte del sistema de archivos estamos. - cp y mv: Son los comandos para copiar (cp) y mover o renombrar (mv) archivos o carpetas. Ejemplo: cp archivo.txt /home/usuario/copias/ copia "archivo.txt" a la carpeta "copias".</a:t>
            </a:r>
            <a:endParaRPr b="0" i="0" sz="1700" u="none" cap="none" strike="noStrike"/>
          </a:p>
        </p:txBody>
      </p:sp>
      <p:sp>
        <p:nvSpPr>
          <p:cNvPr id="67" name="Google Shape;67;p2"/>
          <p:cNvSpPr/>
          <p:nvPr/>
        </p:nvSpPr>
        <p:spPr>
          <a:xfrm>
            <a:off x="9506307" y="2847856"/>
            <a:ext cx="498872" cy="498872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9667756" y="2946083"/>
            <a:ext cx="175974" cy="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50"/>
              <a:buFont typeface="Montserrat"/>
              <a:buNone/>
            </a:pPr>
            <a:r>
              <a:rPr b="1" i="0" lang="en-US" sz="23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35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10226873" y="2847856"/>
            <a:ext cx="2519482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50"/>
              <a:buFont typeface="Montserrat"/>
              <a:buNone/>
            </a:pPr>
            <a:r>
              <a:rPr b="1" i="0" lang="en-US" sz="19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rm y man</a:t>
            </a:r>
            <a:endParaRPr b="0" i="0" sz="195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10226873" y="3295769"/>
            <a:ext cx="3218378" cy="2992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rm: Se utiliza para eliminar archivos. Con la opción -r, también permite borrar carpetas completas. ¡Ojo! Este comando elimina de forma definitiva. - man: Abre el manual de un comando. Por ejemplo, man ls muestra la documentación del comando ls, con todas sus opciones.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1185029" y="3146822"/>
            <a:ext cx="5611058" cy="701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Comando sudo</a:t>
            </a:r>
            <a:endParaRPr b="0" i="0" sz="440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1185029" y="4341971"/>
            <a:ext cx="12260223" cy="740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sudo: Ejecuta comandos como superusuario, es decir, con permisos elevados. Para varias tareas de administración de sistema, necesitamos esta función, que nos da acceso de administrador de manera controlada.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1185024" y="735800"/>
            <a:ext cx="9475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ontserrat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Usuarios en Linux</a:t>
            </a:r>
            <a:endParaRPr b="0" i="0" sz="3800" u="none" cap="none" strike="noStrike"/>
          </a:p>
        </p:txBody>
      </p:sp>
      <p:sp>
        <p:nvSpPr>
          <p:cNvPr id="84" name="Google Shape;84;p4"/>
          <p:cNvSpPr/>
          <p:nvPr/>
        </p:nvSpPr>
        <p:spPr>
          <a:xfrm>
            <a:off x="1185029" y="1773436"/>
            <a:ext cx="12260223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 Linux, el control de usuarios y permisos es esencial para mantener la seguridad y organización del sistema. Veamos cómo funciona esto.</a:t>
            </a:r>
            <a:endParaRPr b="0" i="0" sz="1650" u="none" cap="none" strike="noStrike"/>
          </a:p>
        </p:txBody>
      </p:sp>
      <p:sp>
        <p:nvSpPr>
          <p:cNvPr id="85" name="Google Shape;85;p4"/>
          <p:cNvSpPr/>
          <p:nvPr/>
        </p:nvSpPr>
        <p:spPr>
          <a:xfrm>
            <a:off x="1185029" y="2898577"/>
            <a:ext cx="482203" cy="482203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370290" y="2993469"/>
            <a:ext cx="111681" cy="292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300" u="none" cap="none" strike="noStrike"/>
          </a:p>
        </p:txBody>
      </p:sp>
      <p:sp>
        <p:nvSpPr>
          <p:cNvPr id="87" name="Google Shape;87;p4"/>
          <p:cNvSpPr/>
          <p:nvPr/>
        </p:nvSpPr>
        <p:spPr>
          <a:xfrm>
            <a:off x="1881545" y="2898577"/>
            <a:ext cx="2823686" cy="304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Crear Nuevos Usuarios</a:t>
            </a:r>
            <a:endParaRPr b="0" i="0" sz="1900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1881545" y="3331607"/>
            <a:ext cx="3247311" cy="1607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Crear nuevos usuarios: Para agregar un usuario, empleamos sudo adduser nombre_usuario, lo cual crea un nuevo usuario y, a su vez, una carpeta personal en /home.</a:t>
            </a:r>
            <a:endParaRPr b="0" i="0" sz="1650" u="none" cap="none" strike="noStrike"/>
          </a:p>
        </p:txBody>
      </p:sp>
      <p:sp>
        <p:nvSpPr>
          <p:cNvPr id="89" name="Google Shape;89;p4"/>
          <p:cNvSpPr/>
          <p:nvPr/>
        </p:nvSpPr>
        <p:spPr>
          <a:xfrm>
            <a:off x="5343168" y="2898577"/>
            <a:ext cx="482203" cy="482203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5499497" y="2993469"/>
            <a:ext cx="169545" cy="292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300" u="none" cap="none" strike="noStrike"/>
          </a:p>
        </p:txBody>
      </p:sp>
      <p:sp>
        <p:nvSpPr>
          <p:cNvPr id="91" name="Google Shape;91;p4"/>
          <p:cNvSpPr/>
          <p:nvPr/>
        </p:nvSpPr>
        <p:spPr>
          <a:xfrm>
            <a:off x="6039683" y="2898577"/>
            <a:ext cx="2695575" cy="304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Permisos de Archivos</a:t>
            </a:r>
            <a:endParaRPr b="0" i="0" sz="190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6039683" y="3331607"/>
            <a:ext cx="3247311" cy="3857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Permisos: Cada archivo tiene permisos específicos para tres grupos: el propietario, el grupo y los demás usuarios. Los permisos se dividen en lectura (r), escritura (w), y ejecución (x). Para ver los permisos de un archivo, usamos ls -l, y veremos algo como -rwxr-xr--. Aquí, el primer grupo de letras indica permisos del propietario, el segundo del grupo, y el último de los demás usuarios.</a:t>
            </a:r>
            <a:endParaRPr b="0" i="0" sz="165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9501307" y="2898577"/>
            <a:ext cx="482203" cy="482203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9657278" y="2993469"/>
            <a:ext cx="170140" cy="292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00"/>
              <a:buFont typeface="Montserrat"/>
              <a:buNone/>
            </a:pPr>
            <a:r>
              <a:rPr b="1" i="0" lang="en-US" sz="23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300" u="none" cap="none" strike="noStrike"/>
          </a:p>
        </p:txBody>
      </p:sp>
      <p:sp>
        <p:nvSpPr>
          <p:cNvPr id="95" name="Google Shape;95;p4"/>
          <p:cNvSpPr/>
          <p:nvPr/>
        </p:nvSpPr>
        <p:spPr>
          <a:xfrm>
            <a:off x="10197822" y="2898577"/>
            <a:ext cx="3247311" cy="608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Modificar Permisos y Propiedad</a:t>
            </a:r>
            <a:endParaRPr b="0" i="0" sz="190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10197822" y="3636050"/>
            <a:ext cx="3247311" cy="3857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Modificar permisos: El comando chmod cambia los permisos. Por ejemplo, chmod 755 archivo.sh asigna permisos de lectura y ejecución a todos los usuarios, pero solo el propietario puede escribir. - Cambiar la propiedad: Si necesitamos cambiar el propietario de un archivo o carpeta, usamos chown. Ejemplo: sudo chown usuario archivo.txt asigna el archivo a un nuevo propietario.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1185024" y="739250"/>
            <a:ext cx="99135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Montserrat"/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Procesos y Servicios en Linux</a:t>
            </a:r>
            <a:endParaRPr b="0" i="0" sz="3750" u="none" cap="none" strike="noStrike"/>
          </a:p>
        </p:txBody>
      </p:sp>
      <p:sp>
        <p:nvSpPr>
          <p:cNvPr id="103" name="Google Shape;103;p5"/>
          <p:cNvSpPr/>
          <p:nvPr/>
        </p:nvSpPr>
        <p:spPr>
          <a:xfrm>
            <a:off x="1185029" y="1759744"/>
            <a:ext cx="12260223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48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 Linux, cada proceso es una aplicación o comando en ejecución, y los servicios son procesos que corren en segundo plano para brindar funciones al sistema, como los servidores web o el servicio de impresión.</a:t>
            </a:r>
            <a:endParaRPr b="0" i="0" sz="1650" u="none" cap="none" strike="noStrike"/>
          </a:p>
        </p:txBody>
      </p:sp>
      <p:sp>
        <p:nvSpPr>
          <p:cNvPr id="104" name="Google Shape;104;p5"/>
          <p:cNvSpPr/>
          <p:nvPr/>
        </p:nvSpPr>
        <p:spPr>
          <a:xfrm>
            <a:off x="1489829" y="2629376"/>
            <a:ext cx="22860" cy="4860965"/>
          </a:xfrm>
          <a:prstGeom prst="roundRect">
            <a:avLst>
              <a:gd fmla="val 138337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1715572" y="3092291"/>
            <a:ext cx="737830" cy="22860"/>
          </a:xfrm>
          <a:prstGeom prst="roundRect">
            <a:avLst>
              <a:gd fmla="val 138337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1264087" y="2866549"/>
            <a:ext cx="474345" cy="474345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446252" y="2959894"/>
            <a:ext cx="109895" cy="2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50"/>
              <a:buFont typeface="Montserrat"/>
              <a:buNone/>
            </a:pPr>
            <a:r>
              <a:rPr b="1" i="0" lang="en-US" sz="22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250" u="none" cap="none" strike="noStrike"/>
          </a:p>
        </p:txBody>
      </p:sp>
      <p:sp>
        <p:nvSpPr>
          <p:cNvPr id="108" name="Google Shape;108;p5"/>
          <p:cNvSpPr/>
          <p:nvPr/>
        </p:nvSpPr>
        <p:spPr>
          <a:xfrm>
            <a:off x="2660690" y="2840117"/>
            <a:ext cx="2839045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ontserrat"/>
              <a:buNone/>
            </a:pPr>
            <a:r>
              <a:rPr b="1" i="0" lang="en-US" sz="18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Listar Procesos Activos</a:t>
            </a:r>
            <a:endParaRPr b="0" i="0" sz="1850" u="none" cap="none" strike="noStrike"/>
          </a:p>
        </p:txBody>
      </p:sp>
      <p:sp>
        <p:nvSpPr>
          <p:cNvPr id="109" name="Google Shape;109;p5"/>
          <p:cNvSpPr/>
          <p:nvPr/>
        </p:nvSpPr>
        <p:spPr>
          <a:xfrm>
            <a:off x="2660690" y="3266003"/>
            <a:ext cx="10784562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48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Listar procesos activos: Con ps, podemos ver los procesos que se ejecutan en la terminal. Si queremos verlos todos, usamos ps aux o top, que muestra una lista en tiempo real de procesos, junto a su consumo de CPU y memoria.</a:t>
            </a:r>
            <a:endParaRPr b="0" i="0" sz="1650" u="none" cap="none" strike="noStrike"/>
          </a:p>
        </p:txBody>
      </p:sp>
      <p:sp>
        <p:nvSpPr>
          <p:cNvPr id="110" name="Google Shape;110;p5"/>
          <p:cNvSpPr/>
          <p:nvPr/>
        </p:nvSpPr>
        <p:spPr>
          <a:xfrm>
            <a:off x="1715572" y="4782860"/>
            <a:ext cx="737830" cy="22860"/>
          </a:xfrm>
          <a:prstGeom prst="roundRect">
            <a:avLst>
              <a:gd fmla="val 138337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264087" y="4557117"/>
            <a:ext cx="474345" cy="474345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417796" y="4650462"/>
            <a:ext cx="166807" cy="2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50"/>
              <a:buFont typeface="Montserrat"/>
              <a:buNone/>
            </a:pPr>
            <a:r>
              <a:rPr b="1" i="0" lang="en-US" sz="22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250" u="none" cap="none" strike="noStrike"/>
          </a:p>
        </p:txBody>
      </p:sp>
      <p:sp>
        <p:nvSpPr>
          <p:cNvPr id="113" name="Google Shape;113;p5"/>
          <p:cNvSpPr/>
          <p:nvPr/>
        </p:nvSpPr>
        <p:spPr>
          <a:xfrm>
            <a:off x="2660690" y="4530685"/>
            <a:ext cx="2502218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ontserrat"/>
              <a:buNone/>
            </a:pPr>
            <a:r>
              <a:rPr b="1" i="0" lang="en-US" sz="18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Gestión de Procesos</a:t>
            </a:r>
            <a:endParaRPr b="0" i="0" sz="1850" u="none" cap="none" strike="noStrike"/>
          </a:p>
        </p:txBody>
      </p:sp>
      <p:sp>
        <p:nvSpPr>
          <p:cNvPr id="114" name="Google Shape;114;p5"/>
          <p:cNvSpPr/>
          <p:nvPr/>
        </p:nvSpPr>
        <p:spPr>
          <a:xfrm>
            <a:off x="2660690" y="4956572"/>
            <a:ext cx="10784562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48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Gestión de procesos: Los procesos tienen un identificador llamado PID. Para detener un proceso, usamos kill PID, y si un proceso se congela, kill -9 PID lo finaliza de inmediato.</a:t>
            </a:r>
            <a:endParaRPr b="0" i="0" sz="165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1715572" y="6473428"/>
            <a:ext cx="737830" cy="22860"/>
          </a:xfrm>
          <a:prstGeom prst="roundRect">
            <a:avLst>
              <a:gd fmla="val 138337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264087" y="6247686"/>
            <a:ext cx="474345" cy="474345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417558" y="6341031"/>
            <a:ext cx="167283" cy="2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50"/>
              <a:buFont typeface="Montserrat"/>
              <a:buNone/>
            </a:pPr>
            <a:r>
              <a:rPr b="1" i="0" lang="en-US" sz="22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25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2660690" y="6221254"/>
            <a:ext cx="3206234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ontserrat"/>
              <a:buNone/>
            </a:pPr>
            <a:r>
              <a:rPr b="1" i="0" lang="en-US" sz="18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Iniciar y Detener Servicios</a:t>
            </a:r>
            <a:endParaRPr b="0" i="0" sz="185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2660690" y="6647140"/>
            <a:ext cx="10784562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48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Iniciar y detener servicios: Con systemctl podemos administrar servicios. Por ejemplo, sudo systemctl start apache2 activa el servidor Apache, mientras que sudo systemctl stop apache2 lo detiene.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864037" y="2487454"/>
            <a:ext cx="7415927" cy="1402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Comprobar el Estado de un Servicio</a:t>
            </a:r>
            <a:endParaRPr b="0" i="0" sz="440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864037" y="4260533"/>
            <a:ext cx="7415927" cy="148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Comprobar el estado de un servicio: Con sudo systemctl status nombre_del_servicio, podemos ver si un servicio está activo, detenido, o si ha fallado. Esto es útil para verificar que el sistema funciona adecuadamente.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4292451" y="893575"/>
            <a:ext cx="101124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Configurar Servicios para Inicio Automático</a:t>
            </a:r>
            <a:endParaRPr b="0" i="0" sz="3200" u="none" cap="none" strike="noStrike"/>
          </a:p>
        </p:txBody>
      </p:sp>
      <p:sp>
        <p:nvSpPr>
          <p:cNvPr id="135" name="Google Shape;135;p7"/>
          <p:cNvSpPr/>
          <p:nvPr/>
        </p:nvSpPr>
        <p:spPr>
          <a:xfrm>
            <a:off x="4292441" y="1680805"/>
            <a:ext cx="9703118" cy="543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- Configurar servicios para que se inicien automáticamente: Para hacer que un servicio inicie con el sistema, usamos sudo systemctl enable nombre_del_servicio. Si queremos evitar que arranque automáticamente, sudo systemctl disable lo desactiva.</a:t>
            </a:r>
            <a:endParaRPr b="0" i="0" sz="1400" u="none" cap="none" strike="noStrike"/>
          </a:p>
        </p:txBody>
      </p:sp>
      <p:pic>
        <p:nvPicPr>
          <p:cNvPr descr="preencoded.png"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2441" y="2428637"/>
            <a:ext cx="453390" cy="45339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4292441" y="3063359"/>
            <a:ext cx="2061210" cy="257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Activar</a:t>
            </a:r>
            <a:endParaRPr b="0" i="0" sz="1600" u="none" cap="none" strike="noStrike"/>
          </a:p>
        </p:txBody>
      </p:sp>
      <p:sp>
        <p:nvSpPr>
          <p:cNvPr id="138" name="Google Shape;138;p7"/>
          <p:cNvSpPr/>
          <p:nvPr/>
        </p:nvSpPr>
        <p:spPr>
          <a:xfrm>
            <a:off x="4292441" y="3429714"/>
            <a:ext cx="9703118" cy="271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Usar sudo systemctl enable para activar el inicio automático de un servicio.</a:t>
            </a:r>
            <a:endParaRPr b="0" i="0" sz="1400" u="none" cap="none" strike="noStrike"/>
          </a:p>
        </p:txBody>
      </p:sp>
      <p:pic>
        <p:nvPicPr>
          <p:cNvPr descr="preencoded.png" id="139" name="Google Shape;13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2441" y="4245769"/>
            <a:ext cx="453390" cy="45339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4292441" y="4880491"/>
            <a:ext cx="2061210" cy="257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Desactivar</a:t>
            </a:r>
            <a:endParaRPr b="0" i="0" sz="1600" u="none" cap="none" strike="noStrike"/>
          </a:p>
        </p:txBody>
      </p:sp>
      <p:sp>
        <p:nvSpPr>
          <p:cNvPr id="141" name="Google Shape;141;p7"/>
          <p:cNvSpPr/>
          <p:nvPr/>
        </p:nvSpPr>
        <p:spPr>
          <a:xfrm>
            <a:off x="4292441" y="5246846"/>
            <a:ext cx="9703118" cy="271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Usar sudo systemctl disable para evitar que un servicio se inicie automáticamente.</a:t>
            </a:r>
            <a:endParaRPr b="0" i="0" sz="1400" u="none" cap="none" strike="noStrike"/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2441" y="6062901"/>
            <a:ext cx="453390" cy="45339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4292441" y="6697623"/>
            <a:ext cx="2061210" cy="257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Configurar</a:t>
            </a:r>
            <a:endParaRPr b="0" i="0" sz="1600" u="none" cap="none" strike="noStrike"/>
          </a:p>
        </p:txBody>
      </p:sp>
      <p:sp>
        <p:nvSpPr>
          <p:cNvPr id="144" name="Google Shape;144;p7"/>
          <p:cNvSpPr/>
          <p:nvPr/>
        </p:nvSpPr>
        <p:spPr>
          <a:xfrm>
            <a:off x="4292441" y="7063978"/>
            <a:ext cx="9703118" cy="271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Ajustar la configuración de inicio de servicios según las necesidades del sistema.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936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65334" y="601385"/>
            <a:ext cx="7613333" cy="12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Montserrat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Resumen de Comandos Esenciales</a:t>
            </a:r>
            <a:endParaRPr b="0" i="0" sz="3900" u="none" cap="none" strike="noStrike"/>
          </a:p>
        </p:txBody>
      </p:sp>
      <p:sp>
        <p:nvSpPr>
          <p:cNvPr id="152" name="Google Shape;152;p8"/>
          <p:cNvSpPr/>
          <p:nvPr/>
        </p:nvSpPr>
        <p:spPr>
          <a:xfrm>
            <a:off x="765334" y="2171700"/>
            <a:ext cx="7613333" cy="5466278"/>
          </a:xfrm>
          <a:prstGeom prst="roundRect">
            <a:avLst>
              <a:gd fmla="val 600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772954" y="2179320"/>
            <a:ext cx="7598092" cy="60567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991553" y="2318147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Comando</a:t>
            </a:r>
            <a:endParaRPr b="0" i="0" sz="1700" u="none" cap="none" strike="noStrike"/>
          </a:p>
        </p:txBody>
      </p:sp>
      <p:sp>
        <p:nvSpPr>
          <p:cNvPr id="155" name="Google Shape;155;p8"/>
          <p:cNvSpPr/>
          <p:nvPr/>
        </p:nvSpPr>
        <p:spPr>
          <a:xfrm>
            <a:off x="4794409" y="2318147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Función</a:t>
            </a:r>
            <a:endParaRPr b="0" i="0" sz="1700" u="none" cap="none" strike="noStrike"/>
          </a:p>
        </p:txBody>
      </p:sp>
      <p:sp>
        <p:nvSpPr>
          <p:cNvPr id="156" name="Google Shape;156;p8"/>
          <p:cNvSpPr/>
          <p:nvPr/>
        </p:nvSpPr>
        <p:spPr>
          <a:xfrm>
            <a:off x="772954" y="2784991"/>
            <a:ext cx="7598092" cy="60567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991553" y="2923818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ls</a:t>
            </a:r>
            <a:endParaRPr b="0" i="0" sz="1700" u="none" cap="none" strike="noStrike"/>
          </a:p>
        </p:txBody>
      </p:sp>
      <p:sp>
        <p:nvSpPr>
          <p:cNvPr id="158" name="Google Shape;158;p8"/>
          <p:cNvSpPr/>
          <p:nvPr/>
        </p:nvSpPr>
        <p:spPr>
          <a:xfrm>
            <a:off x="4794409" y="2923818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Listar archivos y carpetas</a:t>
            </a:r>
            <a:endParaRPr b="0" i="0" sz="1700" u="none" cap="none" strike="noStrike"/>
          </a:p>
        </p:txBody>
      </p:sp>
      <p:sp>
        <p:nvSpPr>
          <p:cNvPr id="159" name="Google Shape;159;p8"/>
          <p:cNvSpPr/>
          <p:nvPr/>
        </p:nvSpPr>
        <p:spPr>
          <a:xfrm>
            <a:off x="772954" y="3390662"/>
            <a:ext cx="7598092" cy="60567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991553" y="3529489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cd</a:t>
            </a:r>
            <a:endParaRPr b="0" i="0" sz="1700" u="none" cap="none" strike="noStrike"/>
          </a:p>
        </p:txBody>
      </p:sp>
      <p:sp>
        <p:nvSpPr>
          <p:cNvPr id="161" name="Google Shape;161;p8"/>
          <p:cNvSpPr/>
          <p:nvPr/>
        </p:nvSpPr>
        <p:spPr>
          <a:xfrm>
            <a:off x="4794409" y="3529489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Cambiar de directorio</a:t>
            </a:r>
            <a:endParaRPr b="0" i="0" sz="1700" u="none" cap="none" strike="noStrike"/>
          </a:p>
        </p:txBody>
      </p:sp>
      <p:sp>
        <p:nvSpPr>
          <p:cNvPr id="162" name="Google Shape;162;p8"/>
          <p:cNvSpPr/>
          <p:nvPr/>
        </p:nvSpPr>
        <p:spPr>
          <a:xfrm>
            <a:off x="772954" y="3996333"/>
            <a:ext cx="7598092" cy="60567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991553" y="4135160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pwd</a:t>
            </a:r>
            <a:endParaRPr b="0" i="0" sz="1700" u="none" cap="none" strike="noStrike"/>
          </a:p>
        </p:txBody>
      </p:sp>
      <p:sp>
        <p:nvSpPr>
          <p:cNvPr id="164" name="Google Shape;164;p8"/>
          <p:cNvSpPr/>
          <p:nvPr/>
        </p:nvSpPr>
        <p:spPr>
          <a:xfrm>
            <a:off x="4794409" y="4135160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Mostrar directorio actual</a:t>
            </a:r>
            <a:endParaRPr b="0" i="0" sz="1700" u="none" cap="none" strike="noStrike"/>
          </a:p>
        </p:txBody>
      </p:sp>
      <p:sp>
        <p:nvSpPr>
          <p:cNvPr id="165" name="Google Shape;165;p8"/>
          <p:cNvSpPr/>
          <p:nvPr/>
        </p:nvSpPr>
        <p:spPr>
          <a:xfrm>
            <a:off x="772954" y="4602004"/>
            <a:ext cx="7598092" cy="60567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991553" y="4740831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cp</a:t>
            </a:r>
            <a:endParaRPr b="0" i="0" sz="1700" u="none" cap="none" strike="noStrike"/>
          </a:p>
        </p:txBody>
      </p:sp>
      <p:sp>
        <p:nvSpPr>
          <p:cNvPr id="167" name="Google Shape;167;p8"/>
          <p:cNvSpPr/>
          <p:nvPr/>
        </p:nvSpPr>
        <p:spPr>
          <a:xfrm>
            <a:off x="4794409" y="4740831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Copiar archivos o carpetas</a:t>
            </a:r>
            <a:endParaRPr b="0" i="0" sz="17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772954" y="5207675"/>
            <a:ext cx="7598092" cy="60567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991553" y="5346502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endParaRPr b="0" i="0" sz="170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4794409" y="5346502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Mover o renombrar archivos</a:t>
            </a:r>
            <a:endParaRPr b="0" i="0" sz="170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772954" y="5813346"/>
            <a:ext cx="7598092" cy="60567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991553" y="5952172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rm</a:t>
            </a:r>
            <a:endParaRPr b="0" i="0" sz="170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4794409" y="5952172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Eliminar archivos o carpetas</a:t>
            </a:r>
            <a:endParaRPr b="0" i="0" sz="17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772954" y="6419017"/>
            <a:ext cx="7598092" cy="60567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991553" y="6557843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man</a:t>
            </a:r>
            <a:endParaRPr b="0" i="0" sz="170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4794409" y="6557843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Mostrar manual de comandos</a:t>
            </a:r>
            <a:endParaRPr b="0" i="0" sz="170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772954" y="7024688"/>
            <a:ext cx="7598092" cy="60567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991553" y="7163514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sudo</a:t>
            </a:r>
            <a:endParaRPr b="0" i="0" sz="170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4794409" y="7163514"/>
            <a:ext cx="335803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Ejecutar como superusuario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2024-11-04T20:40:48Z</dcterms:created>
  <dc:creator>PptxGenJS</dc:creator>
</cp:coreProperties>
</file>