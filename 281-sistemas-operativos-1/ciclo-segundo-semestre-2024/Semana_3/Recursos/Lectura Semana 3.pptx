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8229600" cx="14630400"/>
  <p:notesSz cx="8229600" cy="14630400"/>
  <p:embeddedFontLst>
    <p:embeddedFont>
      <p:font typeface="Montserrat"/>
      <p:bold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hWuzDNMBW8ACqmwd3p7yBUdK3i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Montserrat-bold.fntdata"/><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font" Target="fonts/Montserrat-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10"/>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0"/>
          <p:cNvSpPr/>
          <p:nvPr/>
        </p:nvSpPr>
        <p:spPr>
          <a:xfrm>
            <a:off x="0" y="0"/>
            <a:ext cx="14630400" cy="8229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1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11"/>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1"/>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1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12"/>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2"/>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1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13"/>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3"/>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1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sp>
        <p:nvSpPr>
          <p:cNvPr id="27" name="Google Shape;27;p14"/>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4"/>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1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sp>
        <p:nvSpPr>
          <p:cNvPr id="31" name="Google Shape;31;p15"/>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5"/>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1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sp>
        <p:nvSpPr>
          <p:cNvPr id="35" name="Google Shape;35;p16"/>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6"/>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1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sp>
        <p:nvSpPr>
          <p:cNvPr id="39" name="Google Shape;39;p17"/>
          <p:cNvSpPr/>
          <p:nvPr/>
        </p:nvSpPr>
        <p:spPr>
          <a:xfrm>
            <a:off x="0" y="0"/>
            <a:ext cx="14630400" cy="8229600"/>
          </a:xfrm>
          <a:prstGeom prst="rect">
            <a:avLst/>
          </a:prstGeom>
          <a:solidFill>
            <a:srgbClr val="18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7"/>
          <p:cNvSpPr/>
          <p:nvPr/>
        </p:nvSpPr>
        <p:spPr>
          <a:xfrm>
            <a:off x="0" y="0"/>
            <a:ext cx="14630400" cy="8229600"/>
          </a:xfrm>
          <a:prstGeom prst="rect">
            <a:avLst/>
          </a:prstGeom>
          <a:solidFill>
            <a:srgbClr val="1112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1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2" name="Shape 4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0.png"/><Relationship Id="rId5"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pic>
        <p:nvPicPr>
          <p:cNvPr descr="preencoded.png" id="48" name="Google Shape;48;p1"/>
          <p:cNvPicPr preferRelativeResize="0"/>
          <p:nvPr/>
        </p:nvPicPr>
        <p:blipFill rotWithShape="1">
          <a:blip r:embed="rId3">
            <a:alphaModFix/>
          </a:blip>
          <a:srcRect b="0" l="0" r="0" t="0"/>
          <a:stretch/>
        </p:blipFill>
        <p:spPr>
          <a:xfrm>
            <a:off x="0" y="0"/>
            <a:ext cx="14630400" cy="8229600"/>
          </a:xfrm>
          <a:prstGeom prst="rect">
            <a:avLst/>
          </a:prstGeom>
          <a:noFill/>
          <a:ln>
            <a:noFill/>
          </a:ln>
        </p:spPr>
      </p:pic>
      <p:sp>
        <p:nvSpPr>
          <p:cNvPr id="49" name="Google Shape;49;p1"/>
          <p:cNvSpPr/>
          <p:nvPr/>
        </p:nvSpPr>
        <p:spPr>
          <a:xfrm>
            <a:off x="0" y="0"/>
            <a:ext cx="14630400" cy="8229600"/>
          </a:xfrm>
          <a:prstGeom prst="rect">
            <a:avLst/>
          </a:prstGeom>
          <a:solidFill>
            <a:srgbClr val="000000">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
          <p:cNvSpPr/>
          <p:nvPr/>
        </p:nvSpPr>
        <p:spPr>
          <a:xfrm>
            <a:off x="1185029" y="2406015"/>
            <a:ext cx="12260223" cy="1935956"/>
          </a:xfrm>
          <a:prstGeom prst="rect">
            <a:avLst/>
          </a:prstGeom>
          <a:noFill/>
          <a:ln>
            <a:noFill/>
          </a:ln>
        </p:spPr>
        <p:txBody>
          <a:bodyPr anchorCtr="0" anchor="t" bIns="0" lIns="0" spcFirstLastPara="1" rIns="0" wrap="square" tIns="0">
            <a:noAutofit/>
          </a:bodyPr>
          <a:lstStyle/>
          <a:p>
            <a:pPr indent="0" lvl="0" marL="0" marR="0" rtl="0" algn="l">
              <a:lnSpc>
                <a:spcPct val="125619"/>
              </a:lnSpc>
              <a:spcBef>
                <a:spcPts val="0"/>
              </a:spcBef>
              <a:spcAft>
                <a:spcPts val="0"/>
              </a:spcAft>
              <a:buClr>
                <a:srgbClr val="FFFFFF"/>
              </a:buClr>
              <a:buSzPts val="6050"/>
              <a:buFont typeface="Montserrat"/>
              <a:buNone/>
            </a:pPr>
            <a:r>
              <a:rPr b="1" i="0" lang="en-US" sz="6050" u="none" cap="none" strike="noStrike">
                <a:solidFill>
                  <a:srgbClr val="FFFFFF"/>
                </a:solidFill>
                <a:latin typeface="Montserrat"/>
                <a:ea typeface="Montserrat"/>
                <a:cs typeface="Montserrat"/>
                <a:sym typeface="Montserrat"/>
              </a:rPr>
              <a:t>Introducción a los Scripts en Bash</a:t>
            </a:r>
            <a:endParaRPr b="0" i="0" sz="6050" u="none" cap="none" strike="noStrike"/>
          </a:p>
        </p:txBody>
      </p:sp>
      <p:sp>
        <p:nvSpPr>
          <p:cNvPr id="51" name="Google Shape;51;p1"/>
          <p:cNvSpPr/>
          <p:nvPr/>
        </p:nvSpPr>
        <p:spPr>
          <a:xfrm>
            <a:off x="1185029" y="4712256"/>
            <a:ext cx="12260223" cy="1111210"/>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Esta lectura de la semana 3 cubre los fundamentos de los scripts en Bash, incluyendo su estructura básica, el uso de variables, entrada y salida, operadores, y control de flujo con if-else. Estos conceptos son esenciales para crear scripts efectivos en Bash y automatizar tareas en sistemas Unix y Linux.</a:t>
            </a:r>
            <a:endParaRPr b="0" i="0" sz="190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pic>
        <p:nvPicPr>
          <p:cNvPr descr="preencoded.png" id="57" name="Google Shape;57;p2"/>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58" name="Google Shape;58;p2"/>
          <p:cNvSpPr/>
          <p:nvPr/>
        </p:nvSpPr>
        <p:spPr>
          <a:xfrm>
            <a:off x="864037" y="820936"/>
            <a:ext cx="7415927" cy="140279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Montserrat"/>
              <a:buNone/>
            </a:pPr>
            <a:r>
              <a:rPr b="1" i="0" lang="en-US" sz="4400" u="none" cap="none" strike="noStrike">
                <a:solidFill>
                  <a:srgbClr val="FFFFFF"/>
                </a:solidFill>
                <a:latin typeface="Montserrat"/>
                <a:ea typeface="Montserrat"/>
                <a:cs typeface="Montserrat"/>
                <a:sym typeface="Montserrat"/>
              </a:rPr>
              <a:t>Estructura Básica de Scripts en Bash</a:t>
            </a:r>
            <a:endParaRPr b="0" i="0" sz="4400" u="none" cap="none" strike="noStrike"/>
          </a:p>
        </p:txBody>
      </p:sp>
      <p:sp>
        <p:nvSpPr>
          <p:cNvPr id="59" name="Google Shape;59;p2"/>
          <p:cNvSpPr/>
          <p:nvPr/>
        </p:nvSpPr>
        <p:spPr>
          <a:xfrm>
            <a:off x="864037" y="2594015"/>
            <a:ext cx="7415927" cy="1481614"/>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Un script en Bash es simplemente un archivo de texto que contiene una secuencia de comandos que queremos que el sistema ejecute. La estructura básica de un script en Bash comienza con una línea conocida como shebang:</a:t>
            </a:r>
            <a:endParaRPr b="0" i="0" sz="1900" u="none" cap="none" strike="noStrike"/>
          </a:p>
        </p:txBody>
      </p:sp>
      <p:sp>
        <p:nvSpPr>
          <p:cNvPr id="60" name="Google Shape;60;p2"/>
          <p:cNvSpPr/>
          <p:nvPr/>
        </p:nvSpPr>
        <p:spPr>
          <a:xfrm>
            <a:off x="1234321" y="4630936"/>
            <a:ext cx="7045643" cy="370403"/>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#!/bin/bash</a:t>
            </a:r>
            <a:endParaRPr b="0" i="0" sz="1900" u="none" cap="none" strike="noStrike"/>
          </a:p>
        </p:txBody>
      </p:sp>
      <p:sp>
        <p:nvSpPr>
          <p:cNvPr id="61" name="Google Shape;61;p2"/>
          <p:cNvSpPr/>
          <p:nvPr/>
        </p:nvSpPr>
        <p:spPr>
          <a:xfrm>
            <a:off x="864037" y="4353282"/>
            <a:ext cx="30480" cy="925711"/>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864037" y="5556647"/>
            <a:ext cx="7415927" cy="1852017"/>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Esta línea le indica al sistema que debe usar el intérprete de Bash para ejecutar el script. Después del shebang, podemos escribir los comandos que queremos ejecutar, línea por línea. Para ejecutar el script, primero debemos darle permisos de ejecución con chmod +x nombre_script.sh y luego ejecutarlo usando ./nombre_script.sh.</a:t>
            </a:r>
            <a:endParaRPr b="0" i="0" sz="190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p:cNvSpPr/>
          <p:nvPr/>
        </p:nvSpPr>
        <p:spPr>
          <a:xfrm>
            <a:off x="1185029" y="760095"/>
            <a:ext cx="4066223" cy="50815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3200"/>
              <a:buFont typeface="Montserrat"/>
              <a:buNone/>
            </a:pPr>
            <a:r>
              <a:rPr b="1" i="0" lang="en-US" sz="3200" u="none" cap="none" strike="noStrike">
                <a:solidFill>
                  <a:srgbClr val="FFFFFF"/>
                </a:solidFill>
                <a:latin typeface="Montserrat"/>
                <a:ea typeface="Montserrat"/>
                <a:cs typeface="Montserrat"/>
                <a:sym typeface="Montserrat"/>
              </a:rPr>
              <a:t>Variables en Bash</a:t>
            </a:r>
            <a:endParaRPr b="0" i="0" sz="3200" u="none" cap="none" strike="noStrike"/>
          </a:p>
        </p:txBody>
      </p:sp>
      <p:sp>
        <p:nvSpPr>
          <p:cNvPr id="69" name="Google Shape;69;p3"/>
          <p:cNvSpPr/>
          <p:nvPr/>
        </p:nvSpPr>
        <p:spPr>
          <a:xfrm>
            <a:off x="1185029" y="1626037"/>
            <a:ext cx="12260223" cy="268367"/>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400"/>
              <a:buFont typeface="Arial"/>
              <a:buNone/>
            </a:pPr>
            <a:r>
              <a:rPr b="0" i="0" lang="en-US" sz="1400" u="none" cap="none" strike="noStrike">
                <a:solidFill>
                  <a:srgbClr val="E2E6E9"/>
                </a:solidFill>
                <a:latin typeface="Arial"/>
                <a:ea typeface="Arial"/>
                <a:cs typeface="Arial"/>
                <a:sym typeface="Arial"/>
              </a:rPr>
              <a:t>Las variables en Bash nos permiten almacenar datos que usaremos durante la ejecución del script. Para crear una variable, simplemente </a:t>
            </a:r>
            <a:r>
              <a:rPr lang="en-US">
                <a:solidFill>
                  <a:srgbClr val="E2E6E9"/>
                </a:solidFill>
              </a:rPr>
              <a:t>asignar</a:t>
            </a:r>
            <a:r>
              <a:rPr b="0" i="0" lang="en-US" sz="1400" u="none" cap="none" strike="noStrike">
                <a:solidFill>
                  <a:srgbClr val="E2E6E9"/>
                </a:solidFill>
                <a:latin typeface="Arial"/>
                <a:ea typeface="Arial"/>
                <a:cs typeface="Arial"/>
                <a:sym typeface="Arial"/>
              </a:rPr>
              <a:t> un valor:</a:t>
            </a:r>
            <a:endParaRPr b="0" i="0" sz="1400" u="none" cap="none" strike="noStrike"/>
          </a:p>
        </p:txBody>
      </p:sp>
      <p:sp>
        <p:nvSpPr>
          <p:cNvPr id="70" name="Google Shape;70;p3"/>
          <p:cNvSpPr/>
          <p:nvPr/>
        </p:nvSpPr>
        <p:spPr>
          <a:xfrm>
            <a:off x="1453396" y="2296835"/>
            <a:ext cx="11991856" cy="268367"/>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400"/>
              <a:buFont typeface="Arial"/>
              <a:buNone/>
            </a:pPr>
            <a:r>
              <a:rPr b="0" i="0" lang="en-US" sz="1400" u="none" cap="none" strike="noStrike">
                <a:solidFill>
                  <a:srgbClr val="E2E6E9"/>
                </a:solidFill>
                <a:latin typeface="Arial"/>
                <a:ea typeface="Arial"/>
                <a:cs typeface="Arial"/>
                <a:sym typeface="Arial"/>
              </a:rPr>
              <a:t>nombre="Juan"</a:t>
            </a:r>
            <a:endParaRPr b="0" i="0" sz="1400" u="none" cap="none" strike="noStrike"/>
          </a:p>
        </p:txBody>
      </p:sp>
      <p:sp>
        <p:nvSpPr>
          <p:cNvPr id="71" name="Google Shape;71;p3"/>
          <p:cNvSpPr/>
          <p:nvPr/>
        </p:nvSpPr>
        <p:spPr>
          <a:xfrm>
            <a:off x="1185029" y="2095619"/>
            <a:ext cx="22860" cy="67079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1185029" y="2967633"/>
            <a:ext cx="12260223" cy="268367"/>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400"/>
              <a:buFont typeface="Arial"/>
              <a:buNone/>
            </a:pPr>
            <a:r>
              <a:rPr b="0" i="0" lang="en-US" sz="1400" u="none" cap="none" strike="noStrike">
                <a:solidFill>
                  <a:srgbClr val="E2E6E9"/>
                </a:solidFill>
                <a:latin typeface="Arial"/>
                <a:ea typeface="Arial"/>
                <a:cs typeface="Arial"/>
                <a:sym typeface="Arial"/>
              </a:rPr>
              <a:t>Es importante no dejar espacios alrededor del signo igual. Para acceder al valor de una variable, anteponemos el signo $ al nombre:</a:t>
            </a:r>
            <a:endParaRPr b="0" i="0" sz="1400" u="none" cap="none" strike="noStrike"/>
          </a:p>
        </p:txBody>
      </p:sp>
      <p:sp>
        <p:nvSpPr>
          <p:cNvPr id="73" name="Google Shape;73;p3"/>
          <p:cNvSpPr/>
          <p:nvPr/>
        </p:nvSpPr>
        <p:spPr>
          <a:xfrm>
            <a:off x="1453396" y="3638431"/>
            <a:ext cx="11991856" cy="268367"/>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400"/>
              <a:buFont typeface="Arial"/>
              <a:buNone/>
            </a:pPr>
            <a:r>
              <a:rPr b="0" i="0" lang="en-US" sz="1400" u="none" cap="none" strike="noStrike">
                <a:solidFill>
                  <a:srgbClr val="E2E6E9"/>
                </a:solidFill>
                <a:latin typeface="Arial"/>
                <a:ea typeface="Arial"/>
                <a:cs typeface="Arial"/>
                <a:sym typeface="Arial"/>
              </a:rPr>
              <a:t>echo "Hola, $nombre"</a:t>
            </a:r>
            <a:endParaRPr b="0" i="0" sz="1400" u="none" cap="none" strike="noStrike"/>
          </a:p>
        </p:txBody>
      </p:sp>
      <p:sp>
        <p:nvSpPr>
          <p:cNvPr id="74" name="Google Shape;74;p3"/>
          <p:cNvSpPr/>
          <p:nvPr/>
        </p:nvSpPr>
        <p:spPr>
          <a:xfrm>
            <a:off x="1185029" y="3437215"/>
            <a:ext cx="22860" cy="67079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1185029" y="4309229"/>
            <a:ext cx="12260223" cy="536734"/>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400"/>
              <a:buFont typeface="Arial"/>
              <a:buNone/>
            </a:pPr>
            <a:r>
              <a:rPr b="0" i="0" lang="en-US" sz="1400" u="none" cap="none" strike="noStrike">
                <a:solidFill>
                  <a:srgbClr val="E2E6E9"/>
                </a:solidFill>
                <a:latin typeface="Arial"/>
                <a:ea typeface="Arial"/>
                <a:cs typeface="Arial"/>
                <a:sym typeface="Arial"/>
              </a:rPr>
              <a:t>Bash tiene variables predefinidas, como $USER (nombre del usuario actual) y $HOME (directorio personal del usuario). También podemos declarar variables de entorno usando export para hacerlas accesibles a otros scripts.</a:t>
            </a:r>
            <a:endParaRPr b="0" i="0" sz="1400" u="none" cap="none" strike="noStrike"/>
          </a:p>
        </p:txBody>
      </p:sp>
      <p:sp>
        <p:nvSpPr>
          <p:cNvPr id="76" name="Google Shape;76;p3"/>
          <p:cNvSpPr/>
          <p:nvPr/>
        </p:nvSpPr>
        <p:spPr>
          <a:xfrm>
            <a:off x="1185029" y="5047178"/>
            <a:ext cx="6040755" cy="987504"/>
          </a:xfrm>
          <a:prstGeom prst="roundRect">
            <a:avLst>
              <a:gd fmla="val 2718" name="adj"/>
            </a:avLst>
          </a:prstGeom>
          <a:solidFill>
            <a:srgbClr val="3031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1363846" y="5226000"/>
            <a:ext cx="3088500" cy="2541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1600"/>
              <a:buFont typeface="Montserrat"/>
              <a:buNone/>
            </a:pPr>
            <a:r>
              <a:rPr b="1" i="0" lang="en-US" sz="1600" u="none" cap="none" strike="noStrike">
                <a:solidFill>
                  <a:srgbClr val="E2E6E9"/>
                </a:solidFill>
                <a:latin typeface="Montserrat"/>
                <a:ea typeface="Montserrat"/>
                <a:cs typeface="Montserrat"/>
                <a:sym typeface="Montserrat"/>
              </a:rPr>
              <a:t>Creación de Variables</a:t>
            </a:r>
            <a:endParaRPr b="0" i="0" sz="1600" u="none" cap="none" strike="noStrike"/>
          </a:p>
        </p:txBody>
      </p:sp>
      <p:sp>
        <p:nvSpPr>
          <p:cNvPr id="78" name="Google Shape;78;p3"/>
          <p:cNvSpPr/>
          <p:nvPr/>
        </p:nvSpPr>
        <p:spPr>
          <a:xfrm>
            <a:off x="1363861" y="5587484"/>
            <a:ext cx="5683091" cy="268367"/>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400"/>
              <a:buFont typeface="Arial"/>
              <a:buNone/>
            </a:pPr>
            <a:r>
              <a:rPr b="0" i="0" lang="en-US" sz="1400" u="none" cap="none" strike="noStrike">
                <a:solidFill>
                  <a:srgbClr val="E2E6E9"/>
                </a:solidFill>
                <a:latin typeface="Arial"/>
                <a:ea typeface="Arial"/>
                <a:cs typeface="Arial"/>
                <a:sym typeface="Arial"/>
              </a:rPr>
              <a:t>Asignar un valor a un nombre sin espacios alrededor del signo igual.</a:t>
            </a:r>
            <a:endParaRPr b="0" i="0" sz="1400" u="none" cap="none" strike="noStrike"/>
          </a:p>
        </p:txBody>
      </p:sp>
      <p:sp>
        <p:nvSpPr>
          <p:cNvPr id="79" name="Google Shape;79;p3"/>
          <p:cNvSpPr/>
          <p:nvPr/>
        </p:nvSpPr>
        <p:spPr>
          <a:xfrm>
            <a:off x="7404616" y="5047178"/>
            <a:ext cx="6040755" cy="987504"/>
          </a:xfrm>
          <a:prstGeom prst="roundRect">
            <a:avLst>
              <a:gd fmla="val 2718" name="adj"/>
            </a:avLst>
          </a:prstGeom>
          <a:solidFill>
            <a:srgbClr val="3031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7583448" y="5226010"/>
            <a:ext cx="2033111" cy="25419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1600"/>
              <a:buFont typeface="Montserrat"/>
              <a:buNone/>
            </a:pPr>
            <a:r>
              <a:rPr b="1" i="0" lang="en-US" sz="1600" u="none" cap="none" strike="noStrike">
                <a:solidFill>
                  <a:srgbClr val="E2E6E9"/>
                </a:solidFill>
                <a:latin typeface="Montserrat"/>
                <a:ea typeface="Montserrat"/>
                <a:cs typeface="Montserrat"/>
                <a:sym typeface="Montserrat"/>
              </a:rPr>
              <a:t>Acceso a Variables</a:t>
            </a:r>
            <a:endParaRPr b="0" i="0" sz="1600" u="none" cap="none" strike="noStrike"/>
          </a:p>
        </p:txBody>
      </p:sp>
      <p:sp>
        <p:nvSpPr>
          <p:cNvPr id="81" name="Google Shape;81;p3"/>
          <p:cNvSpPr/>
          <p:nvPr/>
        </p:nvSpPr>
        <p:spPr>
          <a:xfrm>
            <a:off x="7583448" y="5587484"/>
            <a:ext cx="5683091" cy="268367"/>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400"/>
              <a:buFont typeface="Arial"/>
              <a:buNone/>
            </a:pPr>
            <a:r>
              <a:rPr b="0" i="0" lang="en-US" sz="1400" u="none" cap="none" strike="noStrike">
                <a:solidFill>
                  <a:srgbClr val="E2E6E9"/>
                </a:solidFill>
                <a:latin typeface="Arial"/>
                <a:ea typeface="Arial"/>
                <a:cs typeface="Arial"/>
                <a:sym typeface="Arial"/>
              </a:rPr>
              <a:t>Usar el signo $ antes del nombre de la variable para acceder a su valor.</a:t>
            </a:r>
            <a:endParaRPr b="0" i="0" sz="1400" u="none" cap="none" strike="noStrike"/>
          </a:p>
        </p:txBody>
      </p:sp>
      <p:sp>
        <p:nvSpPr>
          <p:cNvPr id="82" name="Google Shape;82;p3"/>
          <p:cNvSpPr/>
          <p:nvPr/>
        </p:nvSpPr>
        <p:spPr>
          <a:xfrm>
            <a:off x="1185029" y="6213515"/>
            <a:ext cx="6040755" cy="1255871"/>
          </a:xfrm>
          <a:prstGeom prst="roundRect">
            <a:avLst>
              <a:gd fmla="val 2137" name="adj"/>
            </a:avLst>
          </a:prstGeom>
          <a:solidFill>
            <a:srgbClr val="3031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1363846" y="6392350"/>
            <a:ext cx="3203400" cy="2541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1600"/>
              <a:buFont typeface="Montserrat"/>
              <a:buNone/>
            </a:pPr>
            <a:r>
              <a:rPr b="1" i="0" lang="en-US" sz="1600" u="none" cap="none" strike="noStrike">
                <a:solidFill>
                  <a:srgbClr val="E2E6E9"/>
                </a:solidFill>
                <a:latin typeface="Montserrat"/>
                <a:ea typeface="Montserrat"/>
                <a:cs typeface="Montserrat"/>
                <a:sym typeface="Montserrat"/>
              </a:rPr>
              <a:t>Variables Predefinidas</a:t>
            </a:r>
            <a:endParaRPr b="0" i="0" sz="1600" u="none" cap="none" strike="noStrike"/>
          </a:p>
        </p:txBody>
      </p:sp>
      <p:sp>
        <p:nvSpPr>
          <p:cNvPr id="84" name="Google Shape;84;p3"/>
          <p:cNvSpPr/>
          <p:nvPr/>
        </p:nvSpPr>
        <p:spPr>
          <a:xfrm>
            <a:off x="1363861" y="6753820"/>
            <a:ext cx="5683091" cy="536734"/>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400"/>
              <a:buFont typeface="Arial"/>
              <a:buNone/>
            </a:pPr>
            <a:r>
              <a:rPr b="0" i="0" lang="en-US" sz="1400" u="none" cap="none" strike="noStrike">
                <a:solidFill>
                  <a:srgbClr val="E2E6E9"/>
                </a:solidFill>
                <a:latin typeface="Arial"/>
                <a:ea typeface="Arial"/>
                <a:cs typeface="Arial"/>
                <a:sym typeface="Arial"/>
              </a:rPr>
              <a:t>Bash proporciona variables como $USER y $HOME para información del sistema.</a:t>
            </a:r>
            <a:endParaRPr b="0" i="0" sz="1400" u="none" cap="none" strike="noStrike"/>
          </a:p>
        </p:txBody>
      </p:sp>
      <p:sp>
        <p:nvSpPr>
          <p:cNvPr id="85" name="Google Shape;85;p3"/>
          <p:cNvSpPr/>
          <p:nvPr/>
        </p:nvSpPr>
        <p:spPr>
          <a:xfrm>
            <a:off x="7404616" y="6213515"/>
            <a:ext cx="6040755" cy="1255871"/>
          </a:xfrm>
          <a:prstGeom prst="roundRect">
            <a:avLst>
              <a:gd fmla="val 2137" name="adj"/>
            </a:avLst>
          </a:prstGeom>
          <a:solidFill>
            <a:srgbClr val="3031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7583451" y="6392350"/>
            <a:ext cx="3015900" cy="2541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1600"/>
              <a:buFont typeface="Montserrat"/>
              <a:buNone/>
            </a:pPr>
            <a:r>
              <a:rPr b="1" i="0" lang="en-US" sz="1600" u="none" cap="none" strike="noStrike">
                <a:solidFill>
                  <a:srgbClr val="E2E6E9"/>
                </a:solidFill>
                <a:latin typeface="Montserrat"/>
                <a:ea typeface="Montserrat"/>
                <a:cs typeface="Montserrat"/>
                <a:sym typeface="Montserrat"/>
              </a:rPr>
              <a:t>Variables de Entorno</a:t>
            </a:r>
            <a:endParaRPr b="0" i="0" sz="1600" u="none" cap="none" strike="noStrike"/>
          </a:p>
        </p:txBody>
      </p:sp>
      <p:sp>
        <p:nvSpPr>
          <p:cNvPr id="87" name="Google Shape;87;p3"/>
          <p:cNvSpPr/>
          <p:nvPr/>
        </p:nvSpPr>
        <p:spPr>
          <a:xfrm>
            <a:off x="7583448" y="6753820"/>
            <a:ext cx="5683091" cy="268367"/>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400"/>
              <a:buFont typeface="Arial"/>
              <a:buNone/>
            </a:pPr>
            <a:r>
              <a:rPr b="0" i="0" lang="en-US" sz="1400" u="none" cap="none" strike="noStrike">
                <a:solidFill>
                  <a:srgbClr val="E2E6E9"/>
                </a:solidFill>
                <a:latin typeface="Arial"/>
                <a:ea typeface="Arial"/>
                <a:cs typeface="Arial"/>
                <a:sym typeface="Arial"/>
              </a:rPr>
              <a:t>Usar export para hacer variables accesibles a otros scripts.</a:t>
            </a:r>
            <a:endParaRPr b="0" i="0" sz="14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4"/>
          <p:cNvSpPr/>
          <p:nvPr/>
        </p:nvSpPr>
        <p:spPr>
          <a:xfrm>
            <a:off x="1185024" y="429575"/>
            <a:ext cx="7400100" cy="441900"/>
          </a:xfrm>
          <a:prstGeom prst="rect">
            <a:avLst/>
          </a:prstGeom>
          <a:noFill/>
          <a:ln>
            <a:noFill/>
          </a:ln>
        </p:spPr>
        <p:txBody>
          <a:bodyPr anchorCtr="0" anchor="t" bIns="0" lIns="0" spcFirstLastPara="1" rIns="0" wrap="square" tIns="0">
            <a:noAutofit/>
          </a:bodyPr>
          <a:lstStyle/>
          <a:p>
            <a:pPr indent="0" lvl="0" marL="0" marR="0" rtl="0" algn="l">
              <a:lnSpc>
                <a:spcPct val="125454"/>
              </a:lnSpc>
              <a:spcBef>
                <a:spcPts val="0"/>
              </a:spcBef>
              <a:spcAft>
                <a:spcPts val="0"/>
              </a:spcAft>
              <a:buClr>
                <a:srgbClr val="FFFFFF"/>
              </a:buClr>
              <a:buSzPts val="2750"/>
              <a:buFont typeface="Montserrat"/>
              <a:buNone/>
            </a:pPr>
            <a:r>
              <a:rPr b="1" i="0" lang="en-US" sz="2750" u="none" cap="none" strike="noStrike">
                <a:solidFill>
                  <a:srgbClr val="FFFFFF"/>
                </a:solidFill>
                <a:latin typeface="Montserrat"/>
                <a:ea typeface="Montserrat"/>
                <a:cs typeface="Montserrat"/>
                <a:sym typeface="Montserrat"/>
              </a:rPr>
              <a:t>Entrada y Salida en Scripts Bash</a:t>
            </a:r>
            <a:endParaRPr b="0" i="0" sz="2750" u="none" cap="none" strike="noStrike"/>
          </a:p>
        </p:txBody>
      </p:sp>
      <p:sp>
        <p:nvSpPr>
          <p:cNvPr id="94" name="Google Shape;94;p4"/>
          <p:cNvSpPr/>
          <p:nvPr/>
        </p:nvSpPr>
        <p:spPr>
          <a:xfrm>
            <a:off x="1185029" y="1182410"/>
            <a:ext cx="12260223" cy="233243"/>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200"/>
              <a:buFont typeface="Arial"/>
              <a:buNone/>
            </a:pPr>
            <a:r>
              <a:rPr b="0" i="0" lang="en-US" sz="1200" u="none" cap="none" strike="noStrike">
                <a:solidFill>
                  <a:srgbClr val="E2E6E9"/>
                </a:solidFill>
                <a:latin typeface="Arial"/>
                <a:ea typeface="Arial"/>
                <a:cs typeface="Arial"/>
                <a:sym typeface="Arial"/>
              </a:rPr>
              <a:t>Entrada: Para recibir datos del usuario, usamos el comando read. Esto permite que el script pause su ejecución y espere una respuesta.</a:t>
            </a:r>
            <a:endParaRPr b="0" i="0" sz="1200" u="none" cap="none" strike="noStrike"/>
          </a:p>
        </p:txBody>
      </p:sp>
      <p:sp>
        <p:nvSpPr>
          <p:cNvPr id="95" name="Google Shape;95;p4"/>
          <p:cNvSpPr/>
          <p:nvPr/>
        </p:nvSpPr>
        <p:spPr>
          <a:xfrm>
            <a:off x="1418273" y="1765459"/>
            <a:ext cx="12026979" cy="233243"/>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200"/>
              <a:buFont typeface="Arial"/>
              <a:buNone/>
            </a:pPr>
            <a:r>
              <a:rPr b="0" i="0" lang="en-US" sz="1200" u="none" cap="none" strike="noStrike">
                <a:solidFill>
                  <a:srgbClr val="E2E6E9"/>
                </a:solidFill>
                <a:latin typeface="Arial"/>
                <a:ea typeface="Arial"/>
                <a:cs typeface="Arial"/>
                <a:sym typeface="Arial"/>
              </a:rPr>
              <a:t>echo "¿Cuál es tu nombre?" read nombre echo "Hola, $nombre"</a:t>
            </a:r>
            <a:endParaRPr b="0" i="0" sz="1200" u="none" cap="none" strike="noStrike"/>
          </a:p>
        </p:txBody>
      </p:sp>
      <p:sp>
        <p:nvSpPr>
          <p:cNvPr id="96" name="Google Shape;96;p4"/>
          <p:cNvSpPr/>
          <p:nvPr/>
        </p:nvSpPr>
        <p:spPr>
          <a:xfrm>
            <a:off x="1185029" y="1590556"/>
            <a:ext cx="22860" cy="5830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1185029" y="2348508"/>
            <a:ext cx="12260223" cy="233243"/>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200"/>
              <a:buFont typeface="Arial"/>
              <a:buNone/>
            </a:pPr>
            <a:r>
              <a:rPr b="0" i="0" lang="en-US" sz="1200" u="none" cap="none" strike="noStrike">
                <a:solidFill>
                  <a:srgbClr val="E2E6E9"/>
                </a:solidFill>
                <a:latin typeface="Arial"/>
                <a:ea typeface="Arial"/>
                <a:cs typeface="Arial"/>
                <a:sym typeface="Arial"/>
              </a:rPr>
              <a:t>Salida: Para mostrar información en pantalla, usamos echo. Es útil para informar al usuario sobre lo que está sucediendo en el script o mostrar resultados.</a:t>
            </a:r>
            <a:endParaRPr b="0" i="0" sz="1200" u="none" cap="none" strike="noStrike"/>
          </a:p>
        </p:txBody>
      </p:sp>
      <p:sp>
        <p:nvSpPr>
          <p:cNvPr id="98" name="Google Shape;98;p4"/>
          <p:cNvSpPr/>
          <p:nvPr/>
        </p:nvSpPr>
        <p:spPr>
          <a:xfrm>
            <a:off x="1418273" y="2931557"/>
            <a:ext cx="12026979" cy="233243"/>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200"/>
              <a:buFont typeface="Arial"/>
              <a:buNone/>
            </a:pPr>
            <a:r>
              <a:rPr b="0" i="0" lang="en-US" sz="1200" u="none" cap="none" strike="noStrike">
                <a:solidFill>
                  <a:srgbClr val="E2E6E9"/>
                </a:solidFill>
                <a:latin typeface="Arial"/>
                <a:ea typeface="Arial"/>
                <a:cs typeface="Arial"/>
                <a:sym typeface="Arial"/>
              </a:rPr>
              <a:t>echo "Este es un mensaje de salida"</a:t>
            </a:r>
            <a:endParaRPr b="0" i="0" sz="1200" u="none" cap="none" strike="noStrike"/>
          </a:p>
        </p:txBody>
      </p:sp>
      <p:sp>
        <p:nvSpPr>
          <p:cNvPr id="99" name="Google Shape;99;p4"/>
          <p:cNvSpPr/>
          <p:nvPr/>
        </p:nvSpPr>
        <p:spPr>
          <a:xfrm>
            <a:off x="1185029" y="2756654"/>
            <a:ext cx="22860" cy="5830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1185029" y="3514606"/>
            <a:ext cx="12260223" cy="466487"/>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200"/>
              <a:buFont typeface="Arial"/>
              <a:buNone/>
            </a:pPr>
            <a:r>
              <a:rPr b="0" i="0" lang="en-US" sz="1200" u="none" cap="none" strike="noStrike">
                <a:solidFill>
                  <a:srgbClr val="E2E6E9"/>
                </a:solidFill>
                <a:latin typeface="Arial"/>
                <a:ea typeface="Arial"/>
                <a:cs typeface="Arial"/>
                <a:sym typeface="Arial"/>
              </a:rPr>
              <a:t>Para redirigir la salida de un comando a un archivo en lugar de mostrarlo en pantalla, usamos &gt; o &gt;&gt;. &gt; crea o sobrescribe un archivo, mientras que &gt;&gt; agrega el contenido al final del archivo existente.</a:t>
            </a:r>
            <a:endParaRPr b="0" i="0" sz="1200" u="none" cap="none" strike="noStrike"/>
          </a:p>
        </p:txBody>
      </p:sp>
      <p:sp>
        <p:nvSpPr>
          <p:cNvPr id="101" name="Google Shape;101;p4"/>
          <p:cNvSpPr/>
          <p:nvPr/>
        </p:nvSpPr>
        <p:spPr>
          <a:xfrm>
            <a:off x="1418273" y="4330898"/>
            <a:ext cx="12026979" cy="233243"/>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200"/>
              <a:buFont typeface="Arial"/>
              <a:buNone/>
            </a:pPr>
            <a:r>
              <a:rPr b="0" i="0" lang="en-US" sz="1200" u="none" cap="none" strike="noStrike">
                <a:solidFill>
                  <a:srgbClr val="E2E6E9"/>
                </a:solidFill>
                <a:latin typeface="Arial"/>
                <a:ea typeface="Arial"/>
                <a:cs typeface="Arial"/>
                <a:sym typeface="Arial"/>
              </a:rPr>
              <a:t>echo "Guardando esta línea en un archivo" &gt; salida.txt</a:t>
            </a:r>
            <a:endParaRPr b="0" i="0" sz="1200" u="none" cap="none" strike="noStrike"/>
          </a:p>
        </p:txBody>
      </p:sp>
      <p:sp>
        <p:nvSpPr>
          <p:cNvPr id="102" name="Google Shape;102;p4"/>
          <p:cNvSpPr/>
          <p:nvPr/>
        </p:nvSpPr>
        <p:spPr>
          <a:xfrm>
            <a:off x="1185029" y="4155996"/>
            <a:ext cx="22860" cy="583049"/>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1406842" y="4913948"/>
            <a:ext cx="22860" cy="2885956"/>
          </a:xfrm>
          <a:prstGeom prst="roundRect">
            <a:avLst>
              <a:gd fmla="val 102058" name="adj"/>
            </a:avLst>
          </a:prstGeom>
          <a:solidFill>
            <a:srgbClr val="494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1570375" y="5252323"/>
            <a:ext cx="544354" cy="22860"/>
          </a:xfrm>
          <a:prstGeom prst="roundRect">
            <a:avLst>
              <a:gd fmla="val 102058" name="adj"/>
            </a:avLst>
          </a:prstGeom>
          <a:solidFill>
            <a:srgbClr val="494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1243310" y="5088850"/>
            <a:ext cx="349925" cy="349925"/>
          </a:xfrm>
          <a:prstGeom prst="roundRect">
            <a:avLst>
              <a:gd fmla="val 6667" name="adj"/>
            </a:avLst>
          </a:prstGeom>
          <a:solidFill>
            <a:srgbClr val="3031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1377732" y="5157788"/>
            <a:ext cx="81082" cy="2120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1650"/>
              <a:buFont typeface="Montserrat"/>
              <a:buNone/>
            </a:pPr>
            <a:r>
              <a:rPr b="1" i="0" lang="en-US" sz="1650" u="none" cap="none" strike="noStrike">
                <a:solidFill>
                  <a:srgbClr val="E2E6E9"/>
                </a:solidFill>
                <a:latin typeface="Montserrat"/>
                <a:ea typeface="Montserrat"/>
                <a:cs typeface="Montserrat"/>
                <a:sym typeface="Montserrat"/>
              </a:rPr>
              <a:t>1</a:t>
            </a:r>
            <a:endParaRPr b="0" i="0" sz="1650" u="none" cap="none" strike="noStrike"/>
          </a:p>
        </p:txBody>
      </p:sp>
      <p:sp>
        <p:nvSpPr>
          <p:cNvPr id="107" name="Google Shape;107;p4"/>
          <p:cNvSpPr/>
          <p:nvPr/>
        </p:nvSpPr>
        <p:spPr>
          <a:xfrm>
            <a:off x="2273618" y="5069443"/>
            <a:ext cx="1767364" cy="220861"/>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E2E6E9"/>
              </a:buClr>
              <a:buSzPts val="1350"/>
              <a:buFont typeface="Montserrat"/>
              <a:buNone/>
            </a:pPr>
            <a:r>
              <a:rPr b="1" i="0" lang="en-US" sz="1350" u="none" cap="none" strike="noStrike">
                <a:solidFill>
                  <a:srgbClr val="E2E6E9"/>
                </a:solidFill>
                <a:latin typeface="Montserrat"/>
                <a:ea typeface="Montserrat"/>
                <a:cs typeface="Montserrat"/>
                <a:sym typeface="Montserrat"/>
              </a:rPr>
              <a:t>Entrada de Usuario</a:t>
            </a:r>
            <a:endParaRPr b="0" i="0" sz="1350" u="none" cap="none" strike="noStrike"/>
          </a:p>
        </p:txBody>
      </p:sp>
      <p:sp>
        <p:nvSpPr>
          <p:cNvPr id="108" name="Google Shape;108;p4"/>
          <p:cNvSpPr/>
          <p:nvPr/>
        </p:nvSpPr>
        <p:spPr>
          <a:xfrm>
            <a:off x="2273618" y="5383530"/>
            <a:ext cx="11171634" cy="233243"/>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200"/>
              <a:buFont typeface="Arial"/>
              <a:buNone/>
            </a:pPr>
            <a:r>
              <a:rPr b="0" i="0" lang="en-US" sz="1200" u="none" cap="none" strike="noStrike">
                <a:solidFill>
                  <a:srgbClr val="E2E6E9"/>
                </a:solidFill>
                <a:latin typeface="Arial"/>
                <a:ea typeface="Arial"/>
                <a:cs typeface="Arial"/>
                <a:sym typeface="Arial"/>
              </a:rPr>
              <a:t>Usar el comando read para pausar el script y esperar la entrada del usuario.</a:t>
            </a:r>
            <a:endParaRPr b="0" i="0" sz="1200" u="none" cap="none" strike="noStrike"/>
          </a:p>
        </p:txBody>
      </p:sp>
      <p:sp>
        <p:nvSpPr>
          <p:cNvPr id="109" name="Google Shape;109;p4"/>
          <p:cNvSpPr/>
          <p:nvPr/>
        </p:nvSpPr>
        <p:spPr>
          <a:xfrm>
            <a:off x="1570375" y="6266140"/>
            <a:ext cx="544354" cy="22860"/>
          </a:xfrm>
          <a:prstGeom prst="roundRect">
            <a:avLst>
              <a:gd fmla="val 102058" name="adj"/>
            </a:avLst>
          </a:prstGeom>
          <a:solidFill>
            <a:srgbClr val="494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1243310" y="6102668"/>
            <a:ext cx="349925" cy="349925"/>
          </a:xfrm>
          <a:prstGeom prst="roundRect">
            <a:avLst>
              <a:gd fmla="val 6667" name="adj"/>
            </a:avLst>
          </a:prstGeom>
          <a:solidFill>
            <a:srgbClr val="3031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1356777" y="6171605"/>
            <a:ext cx="122992" cy="2120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1650"/>
              <a:buFont typeface="Montserrat"/>
              <a:buNone/>
            </a:pPr>
            <a:r>
              <a:rPr b="1" i="0" lang="en-US" sz="1650" u="none" cap="none" strike="noStrike">
                <a:solidFill>
                  <a:srgbClr val="E2E6E9"/>
                </a:solidFill>
                <a:latin typeface="Montserrat"/>
                <a:ea typeface="Montserrat"/>
                <a:cs typeface="Montserrat"/>
                <a:sym typeface="Montserrat"/>
              </a:rPr>
              <a:t>2</a:t>
            </a:r>
            <a:endParaRPr b="0" i="0" sz="1650" u="none" cap="none" strike="noStrike"/>
          </a:p>
        </p:txBody>
      </p:sp>
      <p:sp>
        <p:nvSpPr>
          <p:cNvPr id="112" name="Google Shape;112;p4"/>
          <p:cNvSpPr/>
          <p:nvPr/>
        </p:nvSpPr>
        <p:spPr>
          <a:xfrm>
            <a:off x="2273618" y="6083260"/>
            <a:ext cx="1854160" cy="220861"/>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E2E6E9"/>
              </a:buClr>
              <a:buSzPts val="1350"/>
              <a:buFont typeface="Montserrat"/>
              <a:buNone/>
            </a:pPr>
            <a:r>
              <a:rPr b="1" i="0" lang="en-US" sz="1350" u="none" cap="none" strike="noStrike">
                <a:solidFill>
                  <a:srgbClr val="E2E6E9"/>
                </a:solidFill>
                <a:latin typeface="Montserrat"/>
                <a:ea typeface="Montserrat"/>
                <a:cs typeface="Montserrat"/>
                <a:sym typeface="Montserrat"/>
              </a:rPr>
              <a:t>Mostrar Información</a:t>
            </a:r>
            <a:endParaRPr b="0" i="0" sz="1350" u="none" cap="none" strike="noStrike"/>
          </a:p>
        </p:txBody>
      </p:sp>
      <p:sp>
        <p:nvSpPr>
          <p:cNvPr id="113" name="Google Shape;113;p4"/>
          <p:cNvSpPr/>
          <p:nvPr/>
        </p:nvSpPr>
        <p:spPr>
          <a:xfrm>
            <a:off x="2273618" y="6397347"/>
            <a:ext cx="11171634" cy="233243"/>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200"/>
              <a:buFont typeface="Arial"/>
              <a:buNone/>
            </a:pPr>
            <a:r>
              <a:rPr b="0" i="0" lang="en-US" sz="1200" u="none" cap="none" strike="noStrike">
                <a:solidFill>
                  <a:srgbClr val="E2E6E9"/>
                </a:solidFill>
                <a:latin typeface="Arial"/>
                <a:ea typeface="Arial"/>
                <a:cs typeface="Arial"/>
                <a:sym typeface="Arial"/>
              </a:rPr>
              <a:t>Utilizar echo para mostrar mensajes o resultados en la pantalla.</a:t>
            </a:r>
            <a:endParaRPr b="0" i="0" sz="1200" u="none" cap="none" strike="noStrike"/>
          </a:p>
        </p:txBody>
      </p:sp>
      <p:sp>
        <p:nvSpPr>
          <p:cNvPr id="114" name="Google Shape;114;p4"/>
          <p:cNvSpPr/>
          <p:nvPr/>
        </p:nvSpPr>
        <p:spPr>
          <a:xfrm>
            <a:off x="1570375" y="7279958"/>
            <a:ext cx="544354" cy="22860"/>
          </a:xfrm>
          <a:prstGeom prst="roundRect">
            <a:avLst>
              <a:gd fmla="val 102058" name="adj"/>
            </a:avLst>
          </a:prstGeom>
          <a:solidFill>
            <a:srgbClr val="494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1243310" y="7116485"/>
            <a:ext cx="349925" cy="349925"/>
          </a:xfrm>
          <a:prstGeom prst="roundRect">
            <a:avLst>
              <a:gd fmla="val 6667" name="adj"/>
            </a:avLst>
          </a:prstGeom>
          <a:solidFill>
            <a:srgbClr val="3031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1356539" y="7185422"/>
            <a:ext cx="123468" cy="2120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1650"/>
              <a:buFont typeface="Montserrat"/>
              <a:buNone/>
            </a:pPr>
            <a:r>
              <a:rPr b="1" i="0" lang="en-US" sz="1650" u="none" cap="none" strike="noStrike">
                <a:solidFill>
                  <a:srgbClr val="E2E6E9"/>
                </a:solidFill>
                <a:latin typeface="Montserrat"/>
                <a:ea typeface="Montserrat"/>
                <a:cs typeface="Montserrat"/>
                <a:sym typeface="Montserrat"/>
              </a:rPr>
              <a:t>3</a:t>
            </a:r>
            <a:endParaRPr b="0" i="0" sz="1650" u="none" cap="none" strike="noStrike"/>
          </a:p>
        </p:txBody>
      </p:sp>
      <p:sp>
        <p:nvSpPr>
          <p:cNvPr id="117" name="Google Shape;117;p4"/>
          <p:cNvSpPr/>
          <p:nvPr/>
        </p:nvSpPr>
        <p:spPr>
          <a:xfrm>
            <a:off x="2273618" y="7097078"/>
            <a:ext cx="1767364" cy="220861"/>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E2E6E9"/>
              </a:buClr>
              <a:buSzPts val="1350"/>
              <a:buFont typeface="Montserrat"/>
              <a:buNone/>
            </a:pPr>
            <a:r>
              <a:rPr b="1" i="0" lang="en-US" sz="1350" u="none" cap="none" strike="noStrike">
                <a:solidFill>
                  <a:srgbClr val="E2E6E9"/>
                </a:solidFill>
                <a:latin typeface="Montserrat"/>
                <a:ea typeface="Montserrat"/>
                <a:cs typeface="Montserrat"/>
                <a:sym typeface="Montserrat"/>
              </a:rPr>
              <a:t>Redirigir Salida</a:t>
            </a:r>
            <a:endParaRPr b="0" i="0" sz="1350" u="none" cap="none" strike="noStrike"/>
          </a:p>
        </p:txBody>
      </p:sp>
      <p:sp>
        <p:nvSpPr>
          <p:cNvPr id="118" name="Google Shape;118;p4"/>
          <p:cNvSpPr/>
          <p:nvPr/>
        </p:nvSpPr>
        <p:spPr>
          <a:xfrm>
            <a:off x="2273618" y="7411164"/>
            <a:ext cx="11171634" cy="233243"/>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200"/>
              <a:buFont typeface="Arial"/>
              <a:buNone/>
            </a:pPr>
            <a:r>
              <a:rPr b="0" i="0" lang="en-US" sz="1200" u="none" cap="none" strike="noStrike">
                <a:solidFill>
                  <a:srgbClr val="E2E6E9"/>
                </a:solidFill>
                <a:latin typeface="Arial"/>
                <a:ea typeface="Arial"/>
                <a:cs typeface="Arial"/>
                <a:sym typeface="Arial"/>
              </a:rPr>
              <a:t>Usar &gt; para crear o sobrescribir archivos, y &gt;&gt; para añadir contenido al final de archivos existentes.</a:t>
            </a:r>
            <a:endParaRPr b="0" i="0" sz="120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p:nvPr/>
        </p:nvSpPr>
        <p:spPr>
          <a:xfrm>
            <a:off x="1185024" y="449825"/>
            <a:ext cx="12089100" cy="464700"/>
          </a:xfrm>
          <a:prstGeom prst="rect">
            <a:avLst/>
          </a:prstGeom>
          <a:noFill/>
          <a:ln>
            <a:noFill/>
          </a:ln>
        </p:spPr>
        <p:txBody>
          <a:bodyPr anchorCtr="0" anchor="t" bIns="0" lIns="0" spcFirstLastPara="1" rIns="0" wrap="square" tIns="0">
            <a:noAutofit/>
          </a:bodyPr>
          <a:lstStyle/>
          <a:p>
            <a:pPr indent="0" lvl="0" marL="0" marR="0" rtl="0" algn="l">
              <a:lnSpc>
                <a:spcPct val="125862"/>
              </a:lnSpc>
              <a:spcBef>
                <a:spcPts val="0"/>
              </a:spcBef>
              <a:spcAft>
                <a:spcPts val="0"/>
              </a:spcAft>
              <a:buClr>
                <a:srgbClr val="FFFFFF"/>
              </a:buClr>
              <a:buSzPts val="2900"/>
              <a:buFont typeface="Montserrat"/>
              <a:buNone/>
            </a:pPr>
            <a:r>
              <a:rPr b="1" i="0" lang="en-US" sz="2900" u="none" cap="none" strike="noStrike">
                <a:solidFill>
                  <a:srgbClr val="FFFFFF"/>
                </a:solidFill>
                <a:latin typeface="Montserrat"/>
                <a:ea typeface="Montserrat"/>
                <a:cs typeface="Montserrat"/>
                <a:sym typeface="Montserrat"/>
              </a:rPr>
              <a:t>Operadores Aritméticos y de Comparación en Bash</a:t>
            </a:r>
            <a:endParaRPr b="0" i="0" sz="2900" u="none" cap="none" strike="noStrike"/>
          </a:p>
        </p:txBody>
      </p:sp>
      <p:sp>
        <p:nvSpPr>
          <p:cNvPr id="125" name="Google Shape;125;p5"/>
          <p:cNvSpPr/>
          <p:nvPr/>
        </p:nvSpPr>
        <p:spPr>
          <a:xfrm>
            <a:off x="1185029" y="1241465"/>
            <a:ext cx="12260223"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Bash admite diferentes operadores para realizar cálculos o comparar valores. Algunos de los operadores más comunes son:</a:t>
            </a:r>
            <a:endParaRPr b="0" i="0" sz="1250" u="none" cap="none" strike="noStrike"/>
          </a:p>
        </p:txBody>
      </p:sp>
      <p:sp>
        <p:nvSpPr>
          <p:cNvPr id="126" name="Google Shape;126;p5"/>
          <p:cNvSpPr/>
          <p:nvPr/>
        </p:nvSpPr>
        <p:spPr>
          <a:xfrm>
            <a:off x="1185029" y="1670804"/>
            <a:ext cx="12260223"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Aritméticos: Nos permiten realizar operaciones numéricas básicas. Por ejemplo:</a:t>
            </a:r>
            <a:endParaRPr b="0" i="0" sz="1250" u="none" cap="none" strike="noStrike"/>
          </a:p>
        </p:txBody>
      </p:sp>
      <p:sp>
        <p:nvSpPr>
          <p:cNvPr id="127" name="Google Shape;127;p5"/>
          <p:cNvSpPr/>
          <p:nvPr/>
        </p:nvSpPr>
        <p:spPr>
          <a:xfrm>
            <a:off x="1430298" y="2284095"/>
            <a:ext cx="12014954"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suma=$((5 + 3)) resta=$((5 - 3)) multiplicacion=$((5 * 3)) division=$((5 / 3))</a:t>
            </a:r>
            <a:endParaRPr b="0" i="0" sz="1250" u="none" cap="none" strike="noStrike"/>
          </a:p>
        </p:txBody>
      </p:sp>
      <p:sp>
        <p:nvSpPr>
          <p:cNvPr id="128" name="Google Shape;128;p5"/>
          <p:cNvSpPr/>
          <p:nvPr/>
        </p:nvSpPr>
        <p:spPr>
          <a:xfrm>
            <a:off x="1185029" y="2100143"/>
            <a:ext cx="22860" cy="613291"/>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1185029" y="2897386"/>
            <a:ext cx="12260223"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De comparación: Nos ayudan a comparar valores numéricos. Estos se suelen usar en condiciones:</a:t>
            </a:r>
            <a:endParaRPr b="0" i="0" sz="1250" u="none" cap="none" strike="noStrike"/>
          </a:p>
        </p:txBody>
      </p:sp>
      <p:sp>
        <p:nvSpPr>
          <p:cNvPr id="130" name="Google Shape;130;p5"/>
          <p:cNvSpPr/>
          <p:nvPr/>
        </p:nvSpPr>
        <p:spPr>
          <a:xfrm>
            <a:off x="1430298" y="3510677"/>
            <a:ext cx="12014954"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 $a -eq $b ] # Verdadero si a es igual a b [ $a -ne $b ] # Verdadero si a no es igual a b [ $a -lt $b ] # Verdadero si a es menor que b</a:t>
            </a:r>
            <a:endParaRPr b="0" i="0" sz="1250" u="none" cap="none" strike="noStrike"/>
          </a:p>
        </p:txBody>
      </p:sp>
      <p:sp>
        <p:nvSpPr>
          <p:cNvPr id="131" name="Google Shape;131;p5"/>
          <p:cNvSpPr/>
          <p:nvPr/>
        </p:nvSpPr>
        <p:spPr>
          <a:xfrm>
            <a:off x="1185029" y="3326725"/>
            <a:ext cx="22860" cy="613291"/>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1185029" y="4123968"/>
            <a:ext cx="12260223" cy="3669982"/>
          </a:xfrm>
          <a:prstGeom prst="roundRect">
            <a:avLst>
              <a:gd fmla="val 669" name="adj"/>
            </a:avLst>
          </a:prstGeom>
          <a:noFill/>
          <a:ln cap="flat" cmpd="sng" w="9525">
            <a:solidFill>
              <a:srgbClr val="FFFFFF">
                <a:alpha val="2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1192649" y="4131588"/>
            <a:ext cx="12244983" cy="456843"/>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1356241" y="4237315"/>
            <a:ext cx="5791676"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Operador</a:t>
            </a:r>
            <a:endParaRPr b="0" i="0" sz="1250" u="none" cap="none" strike="noStrike"/>
          </a:p>
        </p:txBody>
      </p:sp>
      <p:sp>
        <p:nvSpPr>
          <p:cNvPr id="135" name="Google Shape;135;p5"/>
          <p:cNvSpPr/>
          <p:nvPr/>
        </p:nvSpPr>
        <p:spPr>
          <a:xfrm>
            <a:off x="7482483" y="4237315"/>
            <a:ext cx="5791676"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Descripción</a:t>
            </a:r>
            <a:endParaRPr b="0" i="0" sz="1250" u="none" cap="none" strike="noStrike"/>
          </a:p>
        </p:txBody>
      </p:sp>
      <p:sp>
        <p:nvSpPr>
          <p:cNvPr id="136" name="Google Shape;136;p5"/>
          <p:cNvSpPr/>
          <p:nvPr/>
        </p:nvSpPr>
        <p:spPr>
          <a:xfrm>
            <a:off x="1192649" y="4588431"/>
            <a:ext cx="12244983" cy="456843"/>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1356241" y="4694158"/>
            <a:ext cx="5791676"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a:t>
            </a:r>
            <a:endParaRPr b="0" i="0" sz="1250" u="none" cap="none" strike="noStrike"/>
          </a:p>
        </p:txBody>
      </p:sp>
      <p:sp>
        <p:nvSpPr>
          <p:cNvPr id="138" name="Google Shape;138;p5"/>
          <p:cNvSpPr/>
          <p:nvPr/>
        </p:nvSpPr>
        <p:spPr>
          <a:xfrm>
            <a:off x="7482483" y="4694158"/>
            <a:ext cx="5791676"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Suma</a:t>
            </a:r>
            <a:endParaRPr b="0" i="0" sz="1250" u="none" cap="none" strike="noStrike"/>
          </a:p>
        </p:txBody>
      </p:sp>
      <p:sp>
        <p:nvSpPr>
          <p:cNvPr id="139" name="Google Shape;139;p5"/>
          <p:cNvSpPr/>
          <p:nvPr/>
        </p:nvSpPr>
        <p:spPr>
          <a:xfrm>
            <a:off x="1192649" y="5045273"/>
            <a:ext cx="12244983" cy="456843"/>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1356241" y="5151001"/>
            <a:ext cx="5791676"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a:t>
            </a:r>
            <a:endParaRPr b="0" i="0" sz="1250" u="none" cap="none" strike="noStrike"/>
          </a:p>
        </p:txBody>
      </p:sp>
      <p:sp>
        <p:nvSpPr>
          <p:cNvPr id="141" name="Google Shape;141;p5"/>
          <p:cNvSpPr/>
          <p:nvPr/>
        </p:nvSpPr>
        <p:spPr>
          <a:xfrm>
            <a:off x="7482483" y="5151001"/>
            <a:ext cx="5791676"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Resta</a:t>
            </a:r>
            <a:endParaRPr b="0" i="0" sz="1250" u="none" cap="none" strike="noStrike"/>
          </a:p>
        </p:txBody>
      </p:sp>
      <p:sp>
        <p:nvSpPr>
          <p:cNvPr id="142" name="Google Shape;142;p5"/>
          <p:cNvSpPr/>
          <p:nvPr/>
        </p:nvSpPr>
        <p:spPr>
          <a:xfrm>
            <a:off x="1192649" y="5502116"/>
            <a:ext cx="12244983" cy="456843"/>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1356241" y="5607844"/>
            <a:ext cx="5791676"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a:t>
            </a:r>
            <a:endParaRPr b="0" i="0" sz="1250" u="none" cap="none" strike="noStrike"/>
          </a:p>
        </p:txBody>
      </p:sp>
      <p:sp>
        <p:nvSpPr>
          <p:cNvPr id="144" name="Google Shape;144;p5"/>
          <p:cNvSpPr/>
          <p:nvPr/>
        </p:nvSpPr>
        <p:spPr>
          <a:xfrm>
            <a:off x="7482483" y="5607844"/>
            <a:ext cx="5791676"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Multiplicación</a:t>
            </a:r>
            <a:endParaRPr b="0" i="0" sz="1250" u="none" cap="none" strike="noStrike"/>
          </a:p>
        </p:txBody>
      </p:sp>
      <p:sp>
        <p:nvSpPr>
          <p:cNvPr id="145" name="Google Shape;145;p5"/>
          <p:cNvSpPr/>
          <p:nvPr/>
        </p:nvSpPr>
        <p:spPr>
          <a:xfrm>
            <a:off x="1192649" y="5958959"/>
            <a:ext cx="12244983" cy="456843"/>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1356241" y="6064687"/>
            <a:ext cx="5791676"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a:t>
            </a:r>
            <a:endParaRPr b="0" i="0" sz="1250" u="none" cap="none" strike="noStrike"/>
          </a:p>
        </p:txBody>
      </p:sp>
      <p:sp>
        <p:nvSpPr>
          <p:cNvPr id="147" name="Google Shape;147;p5"/>
          <p:cNvSpPr/>
          <p:nvPr/>
        </p:nvSpPr>
        <p:spPr>
          <a:xfrm>
            <a:off x="7482483" y="6064687"/>
            <a:ext cx="5791676"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División</a:t>
            </a:r>
            <a:endParaRPr b="0" i="0" sz="1250" u="none" cap="none" strike="noStrike"/>
          </a:p>
        </p:txBody>
      </p:sp>
      <p:sp>
        <p:nvSpPr>
          <p:cNvPr id="148" name="Google Shape;148;p5"/>
          <p:cNvSpPr/>
          <p:nvPr/>
        </p:nvSpPr>
        <p:spPr>
          <a:xfrm>
            <a:off x="1192649" y="6415802"/>
            <a:ext cx="12244983" cy="456843"/>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a:off x="1356241" y="6521529"/>
            <a:ext cx="5791676"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-eq</a:t>
            </a:r>
            <a:endParaRPr b="0" i="0" sz="1250" u="none" cap="none" strike="noStrike"/>
          </a:p>
        </p:txBody>
      </p:sp>
      <p:sp>
        <p:nvSpPr>
          <p:cNvPr id="150" name="Google Shape;150;p5"/>
          <p:cNvSpPr/>
          <p:nvPr/>
        </p:nvSpPr>
        <p:spPr>
          <a:xfrm>
            <a:off x="7482483" y="6521529"/>
            <a:ext cx="5791676"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Igual a</a:t>
            </a:r>
            <a:endParaRPr b="0" i="0" sz="1250" u="none" cap="none" strike="noStrike"/>
          </a:p>
        </p:txBody>
      </p:sp>
      <p:sp>
        <p:nvSpPr>
          <p:cNvPr id="151" name="Google Shape;151;p5"/>
          <p:cNvSpPr/>
          <p:nvPr/>
        </p:nvSpPr>
        <p:spPr>
          <a:xfrm>
            <a:off x="1192649" y="6872645"/>
            <a:ext cx="12244983" cy="456843"/>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1356241" y="6978372"/>
            <a:ext cx="5791676"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-ne</a:t>
            </a:r>
            <a:endParaRPr b="0" i="0" sz="1250" u="none" cap="none" strike="noStrike"/>
          </a:p>
        </p:txBody>
      </p:sp>
      <p:sp>
        <p:nvSpPr>
          <p:cNvPr id="153" name="Google Shape;153;p5"/>
          <p:cNvSpPr/>
          <p:nvPr/>
        </p:nvSpPr>
        <p:spPr>
          <a:xfrm>
            <a:off x="7482483" y="6978372"/>
            <a:ext cx="5791676"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No igual a</a:t>
            </a:r>
            <a:endParaRPr b="0" i="0" sz="1250" u="none" cap="none" strike="noStrike"/>
          </a:p>
        </p:txBody>
      </p:sp>
      <p:sp>
        <p:nvSpPr>
          <p:cNvPr id="154" name="Google Shape;154;p5"/>
          <p:cNvSpPr/>
          <p:nvPr/>
        </p:nvSpPr>
        <p:spPr>
          <a:xfrm>
            <a:off x="1192649" y="7329488"/>
            <a:ext cx="12244983" cy="456843"/>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1356241" y="7435215"/>
            <a:ext cx="5791676"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-lt</a:t>
            </a:r>
            <a:endParaRPr b="0" i="0" sz="1250" u="none" cap="none" strike="noStrike"/>
          </a:p>
        </p:txBody>
      </p:sp>
      <p:sp>
        <p:nvSpPr>
          <p:cNvPr id="156" name="Google Shape;156;p5"/>
          <p:cNvSpPr/>
          <p:nvPr/>
        </p:nvSpPr>
        <p:spPr>
          <a:xfrm>
            <a:off x="7482483" y="7435215"/>
            <a:ext cx="5791676" cy="245388"/>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E2E6E9"/>
              </a:buClr>
              <a:buSzPts val="1250"/>
              <a:buFont typeface="Arial"/>
              <a:buNone/>
            </a:pPr>
            <a:r>
              <a:rPr b="0" i="0" lang="en-US" sz="1250" u="none" cap="none" strike="noStrike">
                <a:solidFill>
                  <a:srgbClr val="E2E6E9"/>
                </a:solidFill>
                <a:latin typeface="Arial"/>
                <a:ea typeface="Arial"/>
                <a:cs typeface="Arial"/>
                <a:sym typeface="Arial"/>
              </a:rPr>
              <a:t>Menor que</a:t>
            </a:r>
            <a:endParaRPr b="0" i="0" sz="12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6"/>
          <p:cNvSpPr/>
          <p:nvPr/>
        </p:nvSpPr>
        <p:spPr>
          <a:xfrm>
            <a:off x="1185025" y="686875"/>
            <a:ext cx="11928300" cy="628500"/>
          </a:xfrm>
          <a:prstGeom prst="rect">
            <a:avLst/>
          </a:prstGeom>
          <a:noFill/>
          <a:ln>
            <a:noFill/>
          </a:ln>
        </p:spPr>
        <p:txBody>
          <a:bodyPr anchorCtr="0" anchor="t" bIns="0" lIns="0" spcFirstLastPara="1" rIns="0" wrap="square" tIns="0">
            <a:noAutofit/>
          </a:bodyPr>
          <a:lstStyle/>
          <a:p>
            <a:pPr indent="0" lvl="0" marL="0" marR="0" rtl="0" algn="l">
              <a:lnSpc>
                <a:spcPct val="124050"/>
              </a:lnSpc>
              <a:spcBef>
                <a:spcPts val="0"/>
              </a:spcBef>
              <a:spcAft>
                <a:spcPts val="0"/>
              </a:spcAft>
              <a:buClr>
                <a:srgbClr val="FFFFFF"/>
              </a:buClr>
              <a:buSzPts val="3950"/>
              <a:buFont typeface="Montserrat"/>
              <a:buNone/>
            </a:pPr>
            <a:r>
              <a:rPr b="1" i="0" lang="en-US" sz="3950" u="none" cap="none" strike="noStrike">
                <a:solidFill>
                  <a:srgbClr val="FFFFFF"/>
                </a:solidFill>
                <a:latin typeface="Montserrat"/>
                <a:ea typeface="Montserrat"/>
                <a:cs typeface="Montserrat"/>
                <a:sym typeface="Montserrat"/>
              </a:rPr>
              <a:t>Operadores Lógicos y de Cadenas en Bash</a:t>
            </a:r>
            <a:endParaRPr b="0" i="0" sz="3950" u="none" cap="none" strike="noStrike"/>
          </a:p>
        </p:txBody>
      </p:sp>
      <p:sp>
        <p:nvSpPr>
          <p:cNvPr id="163" name="Google Shape;163;p6"/>
          <p:cNvSpPr/>
          <p:nvPr/>
        </p:nvSpPr>
        <p:spPr>
          <a:xfrm>
            <a:off x="1185029" y="1758077"/>
            <a:ext cx="12260223" cy="331946"/>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Clr>
                <a:srgbClr val="E2E6E9"/>
              </a:buClr>
              <a:buSzPts val="1700"/>
              <a:buFont typeface="Arial"/>
              <a:buNone/>
            </a:pPr>
            <a:r>
              <a:rPr b="0" i="0" lang="en-US" sz="1700" u="none" cap="none" strike="noStrike">
                <a:solidFill>
                  <a:srgbClr val="E2E6E9"/>
                </a:solidFill>
                <a:latin typeface="Arial"/>
                <a:ea typeface="Arial"/>
                <a:cs typeface="Arial"/>
                <a:sym typeface="Arial"/>
              </a:rPr>
              <a:t>Lógicos: Estos operadores nos permiten combinar condiciones:</a:t>
            </a:r>
            <a:endParaRPr b="0" i="0" sz="1700" u="none" cap="none" strike="noStrike"/>
          </a:p>
        </p:txBody>
      </p:sp>
      <p:sp>
        <p:nvSpPr>
          <p:cNvPr id="164" name="Google Shape;164;p6"/>
          <p:cNvSpPr/>
          <p:nvPr/>
        </p:nvSpPr>
        <p:spPr>
          <a:xfrm>
            <a:off x="1516856" y="2587704"/>
            <a:ext cx="11928396" cy="331946"/>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Clr>
                <a:srgbClr val="E2E6E9"/>
              </a:buClr>
              <a:buSzPts val="1700"/>
              <a:buFont typeface="Arial"/>
              <a:buNone/>
            </a:pPr>
            <a:r>
              <a:rPr b="0" i="0" lang="en-US" sz="1700" u="none" cap="none" strike="noStrike">
                <a:solidFill>
                  <a:srgbClr val="E2E6E9"/>
                </a:solidFill>
                <a:latin typeface="Arial"/>
                <a:ea typeface="Arial"/>
                <a:cs typeface="Arial"/>
                <a:sym typeface="Arial"/>
              </a:rPr>
              <a:t>[ $a -eq 5 ] &amp;&amp; [ $b -eq 10 ] # Verdadero si ambos son ciertos [ $a -eq 5 ] || [ $b -eq 10 ] # Verdadero si uno de los dos es cierto</a:t>
            </a:r>
            <a:endParaRPr b="0" i="0" sz="1700" u="none" cap="none" strike="noStrike"/>
          </a:p>
        </p:txBody>
      </p:sp>
      <p:sp>
        <p:nvSpPr>
          <p:cNvPr id="165" name="Google Shape;165;p6"/>
          <p:cNvSpPr/>
          <p:nvPr/>
        </p:nvSpPr>
        <p:spPr>
          <a:xfrm>
            <a:off x="1185029" y="2338864"/>
            <a:ext cx="30480" cy="82962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p:nvPr/>
        </p:nvSpPr>
        <p:spPr>
          <a:xfrm>
            <a:off x="1185029" y="3417332"/>
            <a:ext cx="12260223" cy="331946"/>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Clr>
                <a:srgbClr val="E2E6E9"/>
              </a:buClr>
              <a:buSzPts val="1700"/>
              <a:buFont typeface="Arial"/>
              <a:buNone/>
            </a:pPr>
            <a:r>
              <a:rPr b="0" i="0" lang="en-US" sz="1700" u="none" cap="none" strike="noStrike">
                <a:solidFill>
                  <a:srgbClr val="E2E6E9"/>
                </a:solidFill>
                <a:latin typeface="Arial"/>
                <a:ea typeface="Arial"/>
                <a:cs typeface="Arial"/>
                <a:sym typeface="Arial"/>
              </a:rPr>
              <a:t>De cadenas: Para comparar cadenas de texto, usamos:</a:t>
            </a:r>
            <a:endParaRPr b="0" i="0" sz="1700" u="none" cap="none" strike="noStrike"/>
          </a:p>
        </p:txBody>
      </p:sp>
      <p:sp>
        <p:nvSpPr>
          <p:cNvPr id="167" name="Google Shape;167;p6"/>
          <p:cNvSpPr/>
          <p:nvPr/>
        </p:nvSpPr>
        <p:spPr>
          <a:xfrm>
            <a:off x="1516856" y="4246959"/>
            <a:ext cx="11928396" cy="331946"/>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Clr>
                <a:srgbClr val="E2E6E9"/>
              </a:buClr>
              <a:buSzPts val="1700"/>
              <a:buFont typeface="Arial"/>
              <a:buNone/>
            </a:pPr>
            <a:r>
              <a:rPr b="0" i="0" lang="en-US" sz="1700" u="none" cap="none" strike="noStrike">
                <a:solidFill>
                  <a:srgbClr val="E2E6E9"/>
                </a:solidFill>
                <a:latin typeface="Arial"/>
                <a:ea typeface="Arial"/>
                <a:cs typeface="Arial"/>
                <a:sym typeface="Arial"/>
              </a:rPr>
              <a:t>[ "$cadena1" = "$cadena2" ] # Verdadero si las cadenas son iguales [ -z "$cadena" ] # Verdadero si la cadena está vacía</a:t>
            </a:r>
            <a:endParaRPr b="0" i="0" sz="1700" u="none" cap="none" strike="noStrike"/>
          </a:p>
        </p:txBody>
      </p:sp>
      <p:sp>
        <p:nvSpPr>
          <p:cNvPr id="168" name="Google Shape;168;p6"/>
          <p:cNvSpPr/>
          <p:nvPr/>
        </p:nvSpPr>
        <p:spPr>
          <a:xfrm>
            <a:off x="1185029" y="3998119"/>
            <a:ext cx="30480" cy="82962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a:off x="1185029" y="5076587"/>
            <a:ext cx="12260223" cy="331946"/>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Clr>
                <a:srgbClr val="E2E6E9"/>
              </a:buClr>
              <a:buSzPts val="1700"/>
              <a:buFont typeface="Arial"/>
              <a:buNone/>
            </a:pPr>
            <a:r>
              <a:rPr b="0" i="0" lang="en-US" sz="1700" u="none" cap="none" strike="noStrike">
                <a:solidFill>
                  <a:srgbClr val="E2E6E9"/>
                </a:solidFill>
                <a:latin typeface="Arial"/>
                <a:ea typeface="Arial"/>
                <a:cs typeface="Arial"/>
                <a:sym typeface="Arial"/>
              </a:rPr>
              <a:t>Estos operadores son muy útiles para evaluar condiciones y tomar decisiones en nuestros scripts.</a:t>
            </a:r>
            <a:endParaRPr b="0" i="0" sz="1700" u="none" cap="none" strike="noStrike"/>
          </a:p>
        </p:txBody>
      </p:sp>
      <p:pic>
        <p:nvPicPr>
          <p:cNvPr descr="preencoded.png" id="170" name="Google Shape;170;p6"/>
          <p:cNvPicPr preferRelativeResize="0"/>
          <p:nvPr/>
        </p:nvPicPr>
        <p:blipFill rotWithShape="1">
          <a:blip r:embed="rId3">
            <a:alphaModFix/>
          </a:blip>
          <a:srcRect b="0" l="0" r="0" t="0"/>
          <a:stretch/>
        </p:blipFill>
        <p:spPr>
          <a:xfrm>
            <a:off x="1185029" y="5657374"/>
            <a:ext cx="553164" cy="553164"/>
          </a:xfrm>
          <a:prstGeom prst="rect">
            <a:avLst/>
          </a:prstGeom>
          <a:noFill/>
          <a:ln>
            <a:noFill/>
          </a:ln>
        </p:spPr>
      </p:pic>
      <p:sp>
        <p:nvSpPr>
          <p:cNvPr id="171" name="Google Shape;171;p6"/>
          <p:cNvSpPr/>
          <p:nvPr/>
        </p:nvSpPr>
        <p:spPr>
          <a:xfrm>
            <a:off x="1185029" y="6431756"/>
            <a:ext cx="2573298" cy="314325"/>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2E6E9"/>
              </a:buClr>
              <a:buSzPts val="1950"/>
              <a:buFont typeface="Montserrat"/>
              <a:buNone/>
            </a:pPr>
            <a:r>
              <a:rPr b="1" i="0" lang="en-US" sz="1950" u="none" cap="none" strike="noStrike">
                <a:solidFill>
                  <a:srgbClr val="E2E6E9"/>
                </a:solidFill>
                <a:latin typeface="Montserrat"/>
                <a:ea typeface="Montserrat"/>
                <a:cs typeface="Montserrat"/>
                <a:sym typeface="Montserrat"/>
              </a:rPr>
              <a:t>Operadores Lógicos</a:t>
            </a:r>
            <a:endParaRPr b="0" i="0" sz="1950" u="none" cap="none" strike="noStrike"/>
          </a:p>
        </p:txBody>
      </p:sp>
      <p:sp>
        <p:nvSpPr>
          <p:cNvPr id="172" name="Google Shape;172;p6"/>
          <p:cNvSpPr/>
          <p:nvPr/>
        </p:nvSpPr>
        <p:spPr>
          <a:xfrm>
            <a:off x="1185054" y="7289036"/>
            <a:ext cx="3865500" cy="663900"/>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Clr>
                <a:srgbClr val="E2E6E9"/>
              </a:buClr>
              <a:buSzPts val="1700"/>
              <a:buFont typeface="Arial"/>
              <a:buNone/>
            </a:pPr>
            <a:r>
              <a:rPr b="0" i="0" lang="en-US" sz="1700" u="none" cap="none" strike="noStrike">
                <a:solidFill>
                  <a:srgbClr val="E2E6E9"/>
                </a:solidFill>
                <a:latin typeface="Arial"/>
                <a:ea typeface="Arial"/>
                <a:cs typeface="Arial"/>
                <a:sym typeface="Arial"/>
              </a:rPr>
              <a:t>Permiten combinar múltiples condiciones en una expresión.</a:t>
            </a:r>
            <a:endParaRPr b="0" i="0" sz="1700" u="none" cap="none" strike="noStrike"/>
          </a:p>
        </p:txBody>
      </p:sp>
      <p:pic>
        <p:nvPicPr>
          <p:cNvPr descr="preencoded.png" id="173" name="Google Shape;173;p6"/>
          <p:cNvPicPr preferRelativeResize="0"/>
          <p:nvPr/>
        </p:nvPicPr>
        <p:blipFill rotWithShape="1">
          <a:blip r:embed="rId4">
            <a:alphaModFix/>
          </a:blip>
          <a:srcRect b="0" l="0" r="0" t="0"/>
          <a:stretch/>
        </p:blipFill>
        <p:spPr>
          <a:xfrm>
            <a:off x="5382339" y="5657374"/>
            <a:ext cx="553164" cy="553164"/>
          </a:xfrm>
          <a:prstGeom prst="rect">
            <a:avLst/>
          </a:prstGeom>
          <a:noFill/>
          <a:ln>
            <a:noFill/>
          </a:ln>
        </p:spPr>
      </p:pic>
      <p:sp>
        <p:nvSpPr>
          <p:cNvPr id="174" name="Google Shape;174;p6"/>
          <p:cNvSpPr/>
          <p:nvPr/>
        </p:nvSpPr>
        <p:spPr>
          <a:xfrm>
            <a:off x="5382339" y="6431756"/>
            <a:ext cx="3091458" cy="314325"/>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2E6E9"/>
              </a:buClr>
              <a:buSzPts val="1950"/>
              <a:buFont typeface="Montserrat"/>
              <a:buNone/>
            </a:pPr>
            <a:r>
              <a:rPr b="1" i="0" lang="en-US" sz="1950" u="none" cap="none" strike="noStrike">
                <a:solidFill>
                  <a:srgbClr val="E2E6E9"/>
                </a:solidFill>
                <a:latin typeface="Montserrat"/>
                <a:ea typeface="Montserrat"/>
                <a:cs typeface="Montserrat"/>
                <a:sym typeface="Montserrat"/>
              </a:rPr>
              <a:t>Operadores de Cadenas</a:t>
            </a:r>
            <a:endParaRPr b="0" i="0" sz="1950" u="none" cap="none" strike="noStrike"/>
          </a:p>
        </p:txBody>
      </p:sp>
      <p:sp>
        <p:nvSpPr>
          <p:cNvPr id="175" name="Google Shape;175;p6"/>
          <p:cNvSpPr/>
          <p:nvPr/>
        </p:nvSpPr>
        <p:spPr>
          <a:xfrm>
            <a:off x="5382352" y="7289036"/>
            <a:ext cx="3865500" cy="663900"/>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Clr>
                <a:srgbClr val="E2E6E9"/>
              </a:buClr>
              <a:buSzPts val="1700"/>
              <a:buFont typeface="Arial"/>
              <a:buNone/>
            </a:pPr>
            <a:r>
              <a:rPr b="0" i="0" lang="en-US" sz="1700" u="none" cap="none" strike="noStrike">
                <a:solidFill>
                  <a:srgbClr val="E2E6E9"/>
                </a:solidFill>
                <a:latin typeface="Arial"/>
                <a:ea typeface="Arial"/>
                <a:cs typeface="Arial"/>
                <a:sym typeface="Arial"/>
              </a:rPr>
              <a:t>Facilitan la comparación y evaluación de cadenas de texto.</a:t>
            </a:r>
            <a:endParaRPr b="0" i="0" sz="1700" u="none" cap="none" strike="noStrike"/>
          </a:p>
        </p:txBody>
      </p:sp>
      <p:pic>
        <p:nvPicPr>
          <p:cNvPr descr="preencoded.png" id="176" name="Google Shape;176;p6"/>
          <p:cNvPicPr preferRelativeResize="0"/>
          <p:nvPr/>
        </p:nvPicPr>
        <p:blipFill rotWithShape="1">
          <a:blip r:embed="rId5">
            <a:alphaModFix/>
          </a:blip>
          <a:srcRect b="0" l="0" r="0" t="0"/>
          <a:stretch/>
        </p:blipFill>
        <p:spPr>
          <a:xfrm>
            <a:off x="9579650" y="5657374"/>
            <a:ext cx="553164" cy="553164"/>
          </a:xfrm>
          <a:prstGeom prst="rect">
            <a:avLst/>
          </a:prstGeom>
          <a:noFill/>
          <a:ln>
            <a:noFill/>
          </a:ln>
        </p:spPr>
      </p:pic>
      <p:sp>
        <p:nvSpPr>
          <p:cNvPr id="177" name="Google Shape;177;p6"/>
          <p:cNvSpPr/>
          <p:nvPr/>
        </p:nvSpPr>
        <p:spPr>
          <a:xfrm>
            <a:off x="9579650" y="6431756"/>
            <a:ext cx="2584371" cy="314325"/>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2E6E9"/>
              </a:buClr>
              <a:buSzPts val="1950"/>
              <a:buFont typeface="Montserrat"/>
              <a:buNone/>
            </a:pPr>
            <a:r>
              <a:rPr b="1" i="0" lang="en-US" sz="1950" u="none" cap="none" strike="noStrike">
                <a:solidFill>
                  <a:srgbClr val="E2E6E9"/>
                </a:solidFill>
                <a:latin typeface="Montserrat"/>
                <a:ea typeface="Montserrat"/>
                <a:cs typeface="Montserrat"/>
                <a:sym typeface="Montserrat"/>
              </a:rPr>
              <a:t>Toma de Decisiones</a:t>
            </a:r>
            <a:endParaRPr b="0" i="0" sz="1950" u="none" cap="none" strike="noStrike"/>
          </a:p>
        </p:txBody>
      </p:sp>
      <p:sp>
        <p:nvSpPr>
          <p:cNvPr id="178" name="Google Shape;178;p6"/>
          <p:cNvSpPr/>
          <p:nvPr/>
        </p:nvSpPr>
        <p:spPr>
          <a:xfrm>
            <a:off x="9579650" y="7289036"/>
            <a:ext cx="3865500" cy="663900"/>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Clr>
                <a:srgbClr val="E2E6E9"/>
              </a:buClr>
              <a:buSzPts val="1700"/>
              <a:buFont typeface="Arial"/>
              <a:buNone/>
            </a:pPr>
            <a:r>
              <a:rPr b="0" i="0" lang="en-US" sz="1700" u="none" cap="none" strike="noStrike">
                <a:solidFill>
                  <a:srgbClr val="E2E6E9"/>
                </a:solidFill>
                <a:latin typeface="Arial"/>
                <a:ea typeface="Arial"/>
                <a:cs typeface="Arial"/>
                <a:sym typeface="Arial"/>
              </a:rPr>
              <a:t>Estos operadores son fundamentales para la lógica de control en scripts.</a:t>
            </a:r>
            <a:endParaRPr b="0" i="0" sz="170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7"/>
          <p:cNvSpPr/>
          <p:nvPr/>
        </p:nvSpPr>
        <p:spPr>
          <a:xfrm>
            <a:off x="1185024" y="1110150"/>
            <a:ext cx="10770900" cy="70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Montserrat"/>
              <a:buNone/>
            </a:pPr>
            <a:r>
              <a:rPr b="1" i="0" lang="en-US" sz="4400" u="none" cap="none" strike="noStrike">
                <a:solidFill>
                  <a:srgbClr val="FFFFFF"/>
                </a:solidFill>
                <a:latin typeface="Montserrat"/>
                <a:ea typeface="Montserrat"/>
                <a:cs typeface="Montserrat"/>
                <a:sym typeface="Montserrat"/>
              </a:rPr>
              <a:t>Control de Flujo: if - else en Bash</a:t>
            </a:r>
            <a:endParaRPr b="0" i="0" sz="4400" u="none" cap="none" strike="noStrike"/>
          </a:p>
        </p:txBody>
      </p:sp>
      <p:sp>
        <p:nvSpPr>
          <p:cNvPr id="185" name="Google Shape;185;p7"/>
          <p:cNvSpPr/>
          <p:nvPr/>
        </p:nvSpPr>
        <p:spPr>
          <a:xfrm>
            <a:off x="1185025" y="2305300"/>
            <a:ext cx="12654000" cy="370500"/>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La declaración if en Bash nos permite tomar decisiones basadas en condiciones. La estructura básica es la siguiente:</a:t>
            </a:r>
            <a:endParaRPr b="0" i="0" sz="1900" u="none" cap="none" strike="noStrike"/>
          </a:p>
        </p:txBody>
      </p:sp>
      <p:sp>
        <p:nvSpPr>
          <p:cNvPr id="186" name="Google Shape;186;p7"/>
          <p:cNvSpPr/>
          <p:nvPr/>
        </p:nvSpPr>
        <p:spPr>
          <a:xfrm>
            <a:off x="1555313" y="3230999"/>
            <a:ext cx="11889938" cy="370403"/>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if [ condición ]; then # Comandos si la condición es verdadera else # Comandos si la condición es falsa fi</a:t>
            </a:r>
            <a:endParaRPr b="0" i="0" sz="1900" u="none" cap="none" strike="noStrike"/>
          </a:p>
        </p:txBody>
      </p:sp>
      <p:sp>
        <p:nvSpPr>
          <p:cNvPr id="187" name="Google Shape;187;p7"/>
          <p:cNvSpPr/>
          <p:nvPr/>
        </p:nvSpPr>
        <p:spPr>
          <a:xfrm>
            <a:off x="1185029" y="2953345"/>
            <a:ext cx="30480" cy="925711"/>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1185029" y="4156710"/>
            <a:ext cx="12260223" cy="370403"/>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Ejemplo práctico:</a:t>
            </a:r>
            <a:endParaRPr b="0" i="0" sz="1900" u="none" cap="none" strike="noStrike"/>
          </a:p>
        </p:txBody>
      </p:sp>
      <p:sp>
        <p:nvSpPr>
          <p:cNvPr id="189" name="Google Shape;189;p7"/>
          <p:cNvSpPr/>
          <p:nvPr/>
        </p:nvSpPr>
        <p:spPr>
          <a:xfrm>
            <a:off x="1555313" y="5082421"/>
            <a:ext cx="11889938" cy="740807"/>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echo "Introduce un número:" read numero if [ $numero -gt 10 ]; then echo "El número es mayor que 10" else echo "El número es menor o igual a 10" fi</a:t>
            </a:r>
            <a:endParaRPr b="0" i="0" sz="1900" u="none" cap="none" strike="noStrike"/>
          </a:p>
        </p:txBody>
      </p:sp>
      <p:sp>
        <p:nvSpPr>
          <p:cNvPr id="190" name="Google Shape;190;p7"/>
          <p:cNvSpPr/>
          <p:nvPr/>
        </p:nvSpPr>
        <p:spPr>
          <a:xfrm>
            <a:off x="1185029" y="4804767"/>
            <a:ext cx="30480" cy="129611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1185029" y="6378535"/>
            <a:ext cx="12260223" cy="740807"/>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En este ejemplo, si el usuario ingresa un número mayor a 10, el script muestra el mensaje correspondiente; de lo contrario, muestra otro mensaje. Podemos agregar más condiciones usando elif para ampliar la lógica.</a:t>
            </a:r>
            <a:endParaRPr b="0" i="0" sz="190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8"/>
          <p:cNvSpPr/>
          <p:nvPr/>
        </p:nvSpPr>
        <p:spPr>
          <a:xfrm>
            <a:off x="1185024" y="397900"/>
            <a:ext cx="6254400" cy="409200"/>
          </a:xfrm>
          <a:prstGeom prst="rect">
            <a:avLst/>
          </a:prstGeom>
          <a:noFill/>
          <a:ln>
            <a:noFill/>
          </a:ln>
        </p:spPr>
        <p:txBody>
          <a:bodyPr anchorCtr="0" anchor="t" bIns="0" lIns="0" spcFirstLastPara="1" rIns="0" wrap="square" tIns="0">
            <a:noAutofit/>
          </a:bodyPr>
          <a:lstStyle/>
          <a:p>
            <a:pPr indent="0" lvl="0" marL="0" marR="0" rtl="0" algn="l">
              <a:lnSpc>
                <a:spcPct val="125490"/>
              </a:lnSpc>
              <a:spcBef>
                <a:spcPts val="0"/>
              </a:spcBef>
              <a:spcAft>
                <a:spcPts val="0"/>
              </a:spcAft>
              <a:buClr>
                <a:srgbClr val="FFFFFF"/>
              </a:buClr>
              <a:buSzPts val="2550"/>
              <a:buFont typeface="Montserrat"/>
              <a:buNone/>
            </a:pPr>
            <a:r>
              <a:rPr b="1" i="0" lang="en-US" sz="2550" u="none" cap="none" strike="noStrike">
                <a:solidFill>
                  <a:srgbClr val="FFFFFF"/>
                </a:solidFill>
                <a:latin typeface="Montserrat"/>
                <a:ea typeface="Montserrat"/>
                <a:cs typeface="Montserrat"/>
                <a:sym typeface="Montserrat"/>
              </a:rPr>
              <a:t>Resumen y Aplicación Práctica</a:t>
            </a:r>
            <a:endParaRPr b="0" i="0" sz="2550" u="none" cap="none" strike="noStrike"/>
          </a:p>
        </p:txBody>
      </p:sp>
      <p:sp>
        <p:nvSpPr>
          <p:cNvPr id="198" name="Google Shape;198;p8"/>
          <p:cNvSpPr/>
          <p:nvPr/>
        </p:nvSpPr>
        <p:spPr>
          <a:xfrm>
            <a:off x="1185029" y="1095375"/>
            <a:ext cx="12260223" cy="432197"/>
          </a:xfrm>
          <a:prstGeom prst="rect">
            <a:avLst/>
          </a:prstGeom>
          <a:noFill/>
          <a:ln>
            <a:noFill/>
          </a:ln>
        </p:spPr>
        <p:txBody>
          <a:bodyPr anchorCtr="0" anchor="t" bIns="0" lIns="0" spcFirstLastPara="1" rIns="0" wrap="square" tIns="0">
            <a:noAutofit/>
          </a:bodyPr>
          <a:lstStyle/>
          <a:p>
            <a:pPr indent="0" lvl="0" marL="0" marR="0" rtl="0" algn="l">
              <a:lnSpc>
                <a:spcPct val="154545"/>
              </a:lnSpc>
              <a:spcBef>
                <a:spcPts val="0"/>
              </a:spcBef>
              <a:spcAft>
                <a:spcPts val="0"/>
              </a:spcAft>
              <a:buClr>
                <a:srgbClr val="E2E6E9"/>
              </a:buClr>
              <a:buSzPts val="1100"/>
              <a:buFont typeface="Arial"/>
              <a:buNone/>
            </a:pPr>
            <a:r>
              <a:rPr b="0" i="0" lang="en-US" sz="1100" u="none" cap="none" strike="noStrike">
                <a:solidFill>
                  <a:srgbClr val="E2E6E9"/>
                </a:solidFill>
                <a:latin typeface="Arial"/>
                <a:ea typeface="Arial"/>
                <a:cs typeface="Arial"/>
                <a:sym typeface="Arial"/>
              </a:rPr>
              <a:t>En esta lectura de la semana 3, hemos cubierto los conceptos fundamentales para crear scripts en Bash. Desde la estructura básica hasta el control de flujo, estos elementos son esenciales para automatizar tareas y crear programas útiles en entornos Unix y Linux.</a:t>
            </a:r>
            <a:endParaRPr b="0" i="0" sz="1100" u="none" cap="none" strike="noStrike"/>
          </a:p>
        </p:txBody>
      </p:sp>
      <p:pic>
        <p:nvPicPr>
          <p:cNvPr descr="preencoded.png" id="199" name="Google Shape;199;p8"/>
          <p:cNvPicPr preferRelativeResize="0"/>
          <p:nvPr/>
        </p:nvPicPr>
        <p:blipFill rotWithShape="1">
          <a:blip r:embed="rId3">
            <a:alphaModFix/>
          </a:blip>
          <a:srcRect b="0" l="0" r="0" t="0"/>
          <a:stretch/>
        </p:blipFill>
        <p:spPr>
          <a:xfrm>
            <a:off x="1185029" y="1689616"/>
            <a:ext cx="720447" cy="1152763"/>
          </a:xfrm>
          <a:prstGeom prst="rect">
            <a:avLst/>
          </a:prstGeom>
          <a:noFill/>
          <a:ln>
            <a:noFill/>
          </a:ln>
        </p:spPr>
      </p:pic>
      <p:sp>
        <p:nvSpPr>
          <p:cNvPr id="200" name="Google Shape;200;p8"/>
          <p:cNvSpPr/>
          <p:nvPr/>
        </p:nvSpPr>
        <p:spPr>
          <a:xfrm>
            <a:off x="2121575" y="1833682"/>
            <a:ext cx="1637467" cy="204549"/>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E2E6E9"/>
              </a:buClr>
              <a:buSzPts val="1250"/>
              <a:buFont typeface="Montserrat"/>
              <a:buNone/>
            </a:pPr>
            <a:r>
              <a:rPr b="1" i="0" lang="en-US" sz="1250" u="none" cap="none" strike="noStrike">
                <a:solidFill>
                  <a:srgbClr val="E2E6E9"/>
                </a:solidFill>
                <a:latin typeface="Montserrat"/>
                <a:ea typeface="Montserrat"/>
                <a:cs typeface="Montserrat"/>
                <a:sym typeface="Montserrat"/>
              </a:rPr>
              <a:t>Estructura Básica</a:t>
            </a:r>
            <a:endParaRPr b="0" i="0" sz="1250" u="none" cap="none" strike="noStrike"/>
          </a:p>
        </p:txBody>
      </p:sp>
      <p:sp>
        <p:nvSpPr>
          <p:cNvPr id="201" name="Google Shape;201;p8"/>
          <p:cNvSpPr/>
          <p:nvPr/>
        </p:nvSpPr>
        <p:spPr>
          <a:xfrm>
            <a:off x="2121575" y="2124670"/>
            <a:ext cx="11323677" cy="216098"/>
          </a:xfrm>
          <a:prstGeom prst="rect">
            <a:avLst/>
          </a:prstGeom>
          <a:noFill/>
          <a:ln>
            <a:noFill/>
          </a:ln>
        </p:spPr>
        <p:txBody>
          <a:bodyPr anchorCtr="0" anchor="t" bIns="0" lIns="0" spcFirstLastPara="1" rIns="0" wrap="square" tIns="0">
            <a:noAutofit/>
          </a:bodyPr>
          <a:lstStyle/>
          <a:p>
            <a:pPr indent="0" lvl="0" marL="0" marR="0" rtl="0" algn="l">
              <a:lnSpc>
                <a:spcPct val="154545"/>
              </a:lnSpc>
              <a:spcBef>
                <a:spcPts val="0"/>
              </a:spcBef>
              <a:spcAft>
                <a:spcPts val="0"/>
              </a:spcAft>
              <a:buClr>
                <a:srgbClr val="E2E6E9"/>
              </a:buClr>
              <a:buSzPts val="1100"/>
              <a:buFont typeface="Arial"/>
              <a:buNone/>
            </a:pPr>
            <a:r>
              <a:rPr b="0" i="0" lang="en-US" sz="1100" u="none" cap="none" strike="noStrike">
                <a:solidFill>
                  <a:srgbClr val="E2E6E9"/>
                </a:solidFill>
                <a:latin typeface="Arial"/>
                <a:ea typeface="Arial"/>
                <a:cs typeface="Arial"/>
                <a:sym typeface="Arial"/>
              </a:rPr>
              <a:t>Comenzar con el shebang y escribir comandos línea por línea.</a:t>
            </a:r>
            <a:endParaRPr b="0" i="0" sz="1100" u="none" cap="none" strike="noStrike"/>
          </a:p>
        </p:txBody>
      </p:sp>
      <p:pic>
        <p:nvPicPr>
          <p:cNvPr descr="preencoded.png" id="202" name="Google Shape;202;p8"/>
          <p:cNvPicPr preferRelativeResize="0"/>
          <p:nvPr/>
        </p:nvPicPr>
        <p:blipFill rotWithShape="1">
          <a:blip r:embed="rId4">
            <a:alphaModFix/>
          </a:blip>
          <a:srcRect b="0" l="0" r="0" t="0"/>
          <a:stretch/>
        </p:blipFill>
        <p:spPr>
          <a:xfrm>
            <a:off x="1185029" y="2842379"/>
            <a:ext cx="720447" cy="1152763"/>
          </a:xfrm>
          <a:prstGeom prst="rect">
            <a:avLst/>
          </a:prstGeom>
          <a:noFill/>
          <a:ln>
            <a:noFill/>
          </a:ln>
        </p:spPr>
      </p:pic>
      <p:sp>
        <p:nvSpPr>
          <p:cNvPr id="203" name="Google Shape;203;p8"/>
          <p:cNvSpPr/>
          <p:nvPr/>
        </p:nvSpPr>
        <p:spPr>
          <a:xfrm>
            <a:off x="2121575" y="2986445"/>
            <a:ext cx="1637467" cy="204549"/>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E2E6E9"/>
              </a:buClr>
              <a:buSzPts val="1250"/>
              <a:buFont typeface="Montserrat"/>
              <a:buNone/>
            </a:pPr>
            <a:r>
              <a:rPr b="1" i="0" lang="en-US" sz="1250" u="none" cap="none" strike="noStrike">
                <a:solidFill>
                  <a:srgbClr val="E2E6E9"/>
                </a:solidFill>
                <a:latin typeface="Montserrat"/>
                <a:ea typeface="Montserrat"/>
                <a:cs typeface="Montserrat"/>
                <a:sym typeface="Montserrat"/>
              </a:rPr>
              <a:t>Variables</a:t>
            </a:r>
            <a:endParaRPr b="0" i="0" sz="1250" u="none" cap="none" strike="noStrike"/>
          </a:p>
        </p:txBody>
      </p:sp>
      <p:sp>
        <p:nvSpPr>
          <p:cNvPr id="204" name="Google Shape;204;p8"/>
          <p:cNvSpPr/>
          <p:nvPr/>
        </p:nvSpPr>
        <p:spPr>
          <a:xfrm>
            <a:off x="2121575" y="3277433"/>
            <a:ext cx="11323677" cy="216098"/>
          </a:xfrm>
          <a:prstGeom prst="rect">
            <a:avLst/>
          </a:prstGeom>
          <a:noFill/>
          <a:ln>
            <a:noFill/>
          </a:ln>
        </p:spPr>
        <p:txBody>
          <a:bodyPr anchorCtr="0" anchor="t" bIns="0" lIns="0" spcFirstLastPara="1" rIns="0" wrap="square" tIns="0">
            <a:noAutofit/>
          </a:bodyPr>
          <a:lstStyle/>
          <a:p>
            <a:pPr indent="0" lvl="0" marL="0" marR="0" rtl="0" algn="l">
              <a:lnSpc>
                <a:spcPct val="154545"/>
              </a:lnSpc>
              <a:spcBef>
                <a:spcPts val="0"/>
              </a:spcBef>
              <a:spcAft>
                <a:spcPts val="0"/>
              </a:spcAft>
              <a:buClr>
                <a:srgbClr val="E2E6E9"/>
              </a:buClr>
              <a:buSzPts val="1100"/>
              <a:buFont typeface="Arial"/>
              <a:buNone/>
            </a:pPr>
            <a:r>
              <a:rPr b="0" i="0" lang="en-US" sz="1100" u="none" cap="none" strike="noStrike">
                <a:solidFill>
                  <a:srgbClr val="E2E6E9"/>
                </a:solidFill>
                <a:latin typeface="Arial"/>
                <a:ea typeface="Arial"/>
                <a:cs typeface="Arial"/>
                <a:sym typeface="Arial"/>
              </a:rPr>
              <a:t>Almacenar y manipular datos durante la ejecución del script.</a:t>
            </a:r>
            <a:endParaRPr b="0" i="0" sz="1100" u="none" cap="none" strike="noStrike"/>
          </a:p>
        </p:txBody>
      </p:sp>
      <p:pic>
        <p:nvPicPr>
          <p:cNvPr descr="preencoded.png" id="205" name="Google Shape;205;p8"/>
          <p:cNvPicPr preferRelativeResize="0"/>
          <p:nvPr/>
        </p:nvPicPr>
        <p:blipFill rotWithShape="1">
          <a:blip r:embed="rId5">
            <a:alphaModFix/>
          </a:blip>
          <a:srcRect b="0" l="0" r="0" t="0"/>
          <a:stretch/>
        </p:blipFill>
        <p:spPr>
          <a:xfrm>
            <a:off x="1185029" y="3995142"/>
            <a:ext cx="720447" cy="1152763"/>
          </a:xfrm>
          <a:prstGeom prst="rect">
            <a:avLst/>
          </a:prstGeom>
          <a:noFill/>
          <a:ln>
            <a:noFill/>
          </a:ln>
        </p:spPr>
      </p:pic>
      <p:sp>
        <p:nvSpPr>
          <p:cNvPr id="206" name="Google Shape;206;p8"/>
          <p:cNvSpPr/>
          <p:nvPr/>
        </p:nvSpPr>
        <p:spPr>
          <a:xfrm>
            <a:off x="2121575" y="4139208"/>
            <a:ext cx="1637467" cy="204549"/>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E2E6E9"/>
              </a:buClr>
              <a:buSzPts val="1250"/>
              <a:buFont typeface="Montserrat"/>
              <a:buNone/>
            </a:pPr>
            <a:r>
              <a:rPr b="1" i="0" lang="en-US" sz="1250" u="none" cap="none" strike="noStrike">
                <a:solidFill>
                  <a:srgbClr val="E2E6E9"/>
                </a:solidFill>
                <a:latin typeface="Montserrat"/>
                <a:ea typeface="Montserrat"/>
                <a:cs typeface="Montserrat"/>
                <a:sym typeface="Montserrat"/>
              </a:rPr>
              <a:t>Entrada/Salida</a:t>
            </a:r>
            <a:endParaRPr b="0" i="0" sz="1250" u="none" cap="none" strike="noStrike"/>
          </a:p>
        </p:txBody>
      </p:sp>
      <p:sp>
        <p:nvSpPr>
          <p:cNvPr id="207" name="Google Shape;207;p8"/>
          <p:cNvSpPr/>
          <p:nvPr/>
        </p:nvSpPr>
        <p:spPr>
          <a:xfrm>
            <a:off x="2121575" y="4430197"/>
            <a:ext cx="11323677" cy="216098"/>
          </a:xfrm>
          <a:prstGeom prst="rect">
            <a:avLst/>
          </a:prstGeom>
          <a:noFill/>
          <a:ln>
            <a:noFill/>
          </a:ln>
        </p:spPr>
        <p:txBody>
          <a:bodyPr anchorCtr="0" anchor="t" bIns="0" lIns="0" spcFirstLastPara="1" rIns="0" wrap="square" tIns="0">
            <a:noAutofit/>
          </a:bodyPr>
          <a:lstStyle/>
          <a:p>
            <a:pPr indent="0" lvl="0" marL="0" marR="0" rtl="0" algn="l">
              <a:lnSpc>
                <a:spcPct val="154545"/>
              </a:lnSpc>
              <a:spcBef>
                <a:spcPts val="0"/>
              </a:spcBef>
              <a:spcAft>
                <a:spcPts val="0"/>
              </a:spcAft>
              <a:buClr>
                <a:srgbClr val="E2E6E9"/>
              </a:buClr>
              <a:buSzPts val="1100"/>
              <a:buFont typeface="Arial"/>
              <a:buNone/>
            </a:pPr>
            <a:r>
              <a:rPr b="0" i="0" lang="en-US" sz="1100" u="none" cap="none" strike="noStrike">
                <a:solidFill>
                  <a:srgbClr val="E2E6E9"/>
                </a:solidFill>
                <a:latin typeface="Arial"/>
                <a:ea typeface="Arial"/>
                <a:cs typeface="Arial"/>
                <a:sym typeface="Arial"/>
              </a:rPr>
              <a:t>Interactuar con el usuario y manejar la información.</a:t>
            </a:r>
            <a:endParaRPr b="0" i="0" sz="1100" u="none" cap="none" strike="noStrike"/>
          </a:p>
        </p:txBody>
      </p:sp>
      <p:pic>
        <p:nvPicPr>
          <p:cNvPr descr="preencoded.png" id="208" name="Google Shape;208;p8"/>
          <p:cNvPicPr preferRelativeResize="0"/>
          <p:nvPr/>
        </p:nvPicPr>
        <p:blipFill rotWithShape="1">
          <a:blip r:embed="rId6">
            <a:alphaModFix/>
          </a:blip>
          <a:srcRect b="0" l="0" r="0" t="0"/>
          <a:stretch/>
        </p:blipFill>
        <p:spPr>
          <a:xfrm>
            <a:off x="1185029" y="5147905"/>
            <a:ext cx="720447" cy="1152763"/>
          </a:xfrm>
          <a:prstGeom prst="rect">
            <a:avLst/>
          </a:prstGeom>
          <a:noFill/>
          <a:ln>
            <a:noFill/>
          </a:ln>
        </p:spPr>
      </p:pic>
      <p:sp>
        <p:nvSpPr>
          <p:cNvPr id="209" name="Google Shape;209;p8"/>
          <p:cNvSpPr/>
          <p:nvPr/>
        </p:nvSpPr>
        <p:spPr>
          <a:xfrm>
            <a:off x="2121575" y="5291971"/>
            <a:ext cx="1637467" cy="204549"/>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E2E6E9"/>
              </a:buClr>
              <a:buSzPts val="1250"/>
              <a:buFont typeface="Montserrat"/>
              <a:buNone/>
            </a:pPr>
            <a:r>
              <a:rPr b="1" i="0" lang="en-US" sz="1250" u="none" cap="none" strike="noStrike">
                <a:solidFill>
                  <a:srgbClr val="E2E6E9"/>
                </a:solidFill>
                <a:latin typeface="Montserrat"/>
                <a:ea typeface="Montserrat"/>
                <a:cs typeface="Montserrat"/>
                <a:sym typeface="Montserrat"/>
              </a:rPr>
              <a:t>Operadores</a:t>
            </a:r>
            <a:endParaRPr b="0" i="0" sz="1250" u="none" cap="none" strike="noStrike"/>
          </a:p>
        </p:txBody>
      </p:sp>
      <p:sp>
        <p:nvSpPr>
          <p:cNvPr id="210" name="Google Shape;210;p8"/>
          <p:cNvSpPr/>
          <p:nvPr/>
        </p:nvSpPr>
        <p:spPr>
          <a:xfrm>
            <a:off x="2121575" y="5582960"/>
            <a:ext cx="11323677" cy="216098"/>
          </a:xfrm>
          <a:prstGeom prst="rect">
            <a:avLst/>
          </a:prstGeom>
          <a:noFill/>
          <a:ln>
            <a:noFill/>
          </a:ln>
        </p:spPr>
        <p:txBody>
          <a:bodyPr anchorCtr="0" anchor="t" bIns="0" lIns="0" spcFirstLastPara="1" rIns="0" wrap="square" tIns="0">
            <a:noAutofit/>
          </a:bodyPr>
          <a:lstStyle/>
          <a:p>
            <a:pPr indent="0" lvl="0" marL="0" marR="0" rtl="0" algn="l">
              <a:lnSpc>
                <a:spcPct val="154545"/>
              </a:lnSpc>
              <a:spcBef>
                <a:spcPts val="0"/>
              </a:spcBef>
              <a:spcAft>
                <a:spcPts val="0"/>
              </a:spcAft>
              <a:buClr>
                <a:srgbClr val="E2E6E9"/>
              </a:buClr>
              <a:buSzPts val="1100"/>
              <a:buFont typeface="Arial"/>
              <a:buNone/>
            </a:pPr>
            <a:r>
              <a:rPr b="0" i="0" lang="en-US" sz="1100" u="none" cap="none" strike="noStrike">
                <a:solidFill>
                  <a:srgbClr val="E2E6E9"/>
                </a:solidFill>
                <a:latin typeface="Arial"/>
                <a:ea typeface="Arial"/>
                <a:cs typeface="Arial"/>
                <a:sym typeface="Arial"/>
              </a:rPr>
              <a:t>Realizar cálculos y comparaciones en el script.</a:t>
            </a:r>
            <a:endParaRPr b="0" i="0" sz="1100" u="none" cap="none" strike="noStrike"/>
          </a:p>
        </p:txBody>
      </p:sp>
      <p:pic>
        <p:nvPicPr>
          <p:cNvPr descr="preencoded.png" id="211" name="Google Shape;211;p8"/>
          <p:cNvPicPr preferRelativeResize="0"/>
          <p:nvPr/>
        </p:nvPicPr>
        <p:blipFill rotWithShape="1">
          <a:blip r:embed="rId7">
            <a:alphaModFix/>
          </a:blip>
          <a:srcRect b="0" l="0" r="0" t="0"/>
          <a:stretch/>
        </p:blipFill>
        <p:spPr>
          <a:xfrm>
            <a:off x="1185029" y="6300668"/>
            <a:ext cx="720447" cy="1152763"/>
          </a:xfrm>
          <a:prstGeom prst="rect">
            <a:avLst/>
          </a:prstGeom>
          <a:noFill/>
          <a:ln>
            <a:noFill/>
          </a:ln>
        </p:spPr>
      </p:pic>
      <p:sp>
        <p:nvSpPr>
          <p:cNvPr id="212" name="Google Shape;212;p8"/>
          <p:cNvSpPr/>
          <p:nvPr/>
        </p:nvSpPr>
        <p:spPr>
          <a:xfrm>
            <a:off x="2121575" y="6444734"/>
            <a:ext cx="1637467" cy="204549"/>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E2E6E9"/>
              </a:buClr>
              <a:buSzPts val="1250"/>
              <a:buFont typeface="Montserrat"/>
              <a:buNone/>
            </a:pPr>
            <a:r>
              <a:rPr b="1" i="0" lang="en-US" sz="1250" u="none" cap="none" strike="noStrike">
                <a:solidFill>
                  <a:srgbClr val="E2E6E9"/>
                </a:solidFill>
                <a:latin typeface="Montserrat"/>
                <a:ea typeface="Montserrat"/>
                <a:cs typeface="Montserrat"/>
                <a:sym typeface="Montserrat"/>
              </a:rPr>
              <a:t>Control de Flujo</a:t>
            </a:r>
            <a:endParaRPr b="0" i="0" sz="1250" u="none" cap="none" strike="noStrike"/>
          </a:p>
        </p:txBody>
      </p:sp>
      <p:sp>
        <p:nvSpPr>
          <p:cNvPr id="213" name="Google Shape;213;p8"/>
          <p:cNvSpPr/>
          <p:nvPr/>
        </p:nvSpPr>
        <p:spPr>
          <a:xfrm>
            <a:off x="2121575" y="6735723"/>
            <a:ext cx="11323677" cy="216098"/>
          </a:xfrm>
          <a:prstGeom prst="rect">
            <a:avLst/>
          </a:prstGeom>
          <a:noFill/>
          <a:ln>
            <a:noFill/>
          </a:ln>
        </p:spPr>
        <p:txBody>
          <a:bodyPr anchorCtr="0" anchor="t" bIns="0" lIns="0" spcFirstLastPara="1" rIns="0" wrap="square" tIns="0">
            <a:noAutofit/>
          </a:bodyPr>
          <a:lstStyle/>
          <a:p>
            <a:pPr indent="0" lvl="0" marL="0" marR="0" rtl="0" algn="l">
              <a:lnSpc>
                <a:spcPct val="154545"/>
              </a:lnSpc>
              <a:spcBef>
                <a:spcPts val="0"/>
              </a:spcBef>
              <a:spcAft>
                <a:spcPts val="0"/>
              </a:spcAft>
              <a:buClr>
                <a:srgbClr val="E2E6E9"/>
              </a:buClr>
              <a:buSzPts val="1100"/>
              <a:buFont typeface="Arial"/>
              <a:buNone/>
            </a:pPr>
            <a:r>
              <a:rPr b="0" i="0" lang="en-US" sz="1100" u="none" cap="none" strike="noStrike">
                <a:solidFill>
                  <a:srgbClr val="E2E6E9"/>
                </a:solidFill>
                <a:latin typeface="Arial"/>
                <a:ea typeface="Arial"/>
                <a:cs typeface="Arial"/>
                <a:sym typeface="Arial"/>
              </a:rPr>
              <a:t>Tomar decisiones basadas en condiciones con if-else.</a:t>
            </a:r>
            <a:endParaRPr b="0" i="0" sz="1100" u="none" cap="none" strike="noStrike"/>
          </a:p>
        </p:txBody>
      </p:sp>
      <p:sp>
        <p:nvSpPr>
          <p:cNvPr id="214" name="Google Shape;214;p8"/>
          <p:cNvSpPr/>
          <p:nvPr/>
        </p:nvSpPr>
        <p:spPr>
          <a:xfrm>
            <a:off x="1185029" y="7615476"/>
            <a:ext cx="12260223" cy="216098"/>
          </a:xfrm>
          <a:prstGeom prst="rect">
            <a:avLst/>
          </a:prstGeom>
          <a:noFill/>
          <a:ln>
            <a:noFill/>
          </a:ln>
        </p:spPr>
        <p:txBody>
          <a:bodyPr anchorCtr="0" anchor="t" bIns="0" lIns="0" spcFirstLastPara="1" rIns="0" wrap="square" tIns="0">
            <a:noAutofit/>
          </a:bodyPr>
          <a:lstStyle/>
          <a:p>
            <a:pPr indent="0" lvl="0" marL="0" marR="0" rtl="0" algn="l">
              <a:lnSpc>
                <a:spcPct val="154545"/>
              </a:lnSpc>
              <a:spcBef>
                <a:spcPts val="0"/>
              </a:spcBef>
              <a:spcAft>
                <a:spcPts val="0"/>
              </a:spcAft>
              <a:buClr>
                <a:srgbClr val="E2E6E9"/>
              </a:buClr>
              <a:buSzPts val="1100"/>
              <a:buFont typeface="Arial"/>
              <a:buNone/>
            </a:pPr>
            <a:r>
              <a:rPr b="0" i="0" lang="en-US" sz="1100" u="none" cap="none" strike="noStrike">
                <a:solidFill>
                  <a:srgbClr val="E2E6E9"/>
                </a:solidFill>
                <a:latin typeface="Arial"/>
                <a:ea typeface="Arial"/>
                <a:cs typeface="Arial"/>
                <a:sym typeface="Arial"/>
              </a:rPr>
              <a:t>Practicar con estos conceptos te ayudará a desarrollar habilidades sólidas en la creación de scripts Bash efectivos y eficientes.</a:t>
            </a:r>
            <a:endParaRPr b="0" i="0" sz="110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2024-11-04T20:37:55Z</dcterms:created>
  <dc:creator>PptxGenJS</dc:creator>
</cp:coreProperties>
</file>