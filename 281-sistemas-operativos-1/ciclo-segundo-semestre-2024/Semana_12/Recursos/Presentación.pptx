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625691"/>
            <a:ext cx="9980771" cy="978218"/>
          </a:xfrm>
          <a:prstGeom prst="rect">
            <a:avLst/>
          </a:prstGeom>
          <a:noFill/>
          <a:ln/>
        </p:spPr>
        <p:txBody>
          <a:bodyPr wrap="none" lIns="0" tIns="0" rIns="0" bIns="0" rtlCol="0" anchor="t"/>
          <a:lstStyle/>
          <a:p>
            <a:pPr indent="0" marL="0">
              <a:lnSpc>
                <a:spcPts val="7700"/>
              </a:lnSpc>
              <a:buNone/>
            </a:pPr>
            <a:r>
              <a:rPr lang="en-US" sz="6150" b="1" spc="-185" kern="0" dirty="0">
                <a:solidFill>
                  <a:srgbClr val="000000"/>
                </a:solidFill>
                <a:latin typeface="Inter Bold" pitchFamily="34" charset="0"/>
                <a:ea typeface="Inter Bold" pitchFamily="34" charset="-122"/>
                <a:cs typeface="Inter Bold" pitchFamily="34" charset="-120"/>
              </a:rPr>
              <a:t>Arquitectura de Kubernetes</a:t>
            </a:r>
            <a:endParaRPr lang="en-US" sz="6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65954"/>
            <a:ext cx="9241274"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Componentes Clave de Kubernetes</a:t>
            </a:r>
            <a:endParaRPr lang="en-US" sz="4450" dirty="0"/>
          </a:p>
        </p:txBody>
      </p:sp>
      <p:pic>
        <p:nvPicPr>
          <p:cNvPr id="3" name="Image 0" descr="preencoded.png">    </p:cNvPr>
          <p:cNvPicPr>
            <a:picLocks noChangeAspect="1"/>
          </p:cNvPicPr>
          <p:nvPr/>
        </p:nvPicPr>
        <p:blipFill>
          <a:blip r:embed="rId1"/>
          <a:stretch>
            <a:fillRect/>
          </a:stretch>
        </p:blipFill>
        <p:spPr>
          <a:xfrm>
            <a:off x="793790" y="2128361"/>
            <a:ext cx="4120753" cy="2546747"/>
          </a:xfrm>
          <a:prstGeom prst="rect">
            <a:avLst/>
          </a:prstGeom>
        </p:spPr>
      </p:pic>
      <p:sp>
        <p:nvSpPr>
          <p:cNvPr id="4" name="Text 1"/>
          <p:cNvSpPr/>
          <p:nvPr/>
        </p:nvSpPr>
        <p:spPr>
          <a:xfrm>
            <a:off x="793790" y="4958596"/>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Master Node</a:t>
            </a:r>
            <a:endParaRPr lang="en-US" sz="2200" dirty="0"/>
          </a:p>
        </p:txBody>
      </p:sp>
      <p:sp>
        <p:nvSpPr>
          <p:cNvPr id="5" name="Text 2"/>
          <p:cNvSpPr/>
          <p:nvPr/>
        </p:nvSpPr>
        <p:spPr>
          <a:xfrm>
            <a:off x="793790" y="5449014"/>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nodo maestro de Kubernetes alberga los componentes clave que gestionan y coordinan el clúster, como el API Server, el Controller Manager y el Scheduler.</a:t>
            </a:r>
            <a:endParaRPr lang="en-US" sz="1750" dirty="0"/>
          </a:p>
        </p:txBody>
      </p:sp>
      <p:pic>
        <p:nvPicPr>
          <p:cNvPr id="6" name="Image 1" descr="preencoded.png">    </p:cNvPr>
          <p:cNvPicPr>
            <a:picLocks noChangeAspect="1"/>
          </p:cNvPicPr>
          <p:nvPr/>
        </p:nvPicPr>
        <p:blipFill>
          <a:blip r:embed="rId2"/>
          <a:stretch>
            <a:fillRect/>
          </a:stretch>
        </p:blipFill>
        <p:spPr>
          <a:xfrm>
            <a:off x="5254704" y="2128361"/>
            <a:ext cx="4120872" cy="2546866"/>
          </a:xfrm>
          <a:prstGeom prst="rect">
            <a:avLst/>
          </a:prstGeom>
        </p:spPr>
      </p:pic>
      <p:sp>
        <p:nvSpPr>
          <p:cNvPr id="7" name="Text 3"/>
          <p:cNvSpPr/>
          <p:nvPr/>
        </p:nvSpPr>
        <p:spPr>
          <a:xfrm>
            <a:off x="5254704" y="4958715"/>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Nodos de Trabajo</a:t>
            </a:r>
            <a:endParaRPr lang="en-US" sz="2200" dirty="0"/>
          </a:p>
        </p:txBody>
      </p:sp>
      <p:sp>
        <p:nvSpPr>
          <p:cNvPr id="8" name="Text 4"/>
          <p:cNvSpPr/>
          <p:nvPr/>
        </p:nvSpPr>
        <p:spPr>
          <a:xfrm>
            <a:off x="5254704" y="5449133"/>
            <a:ext cx="4120872"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nodos de trabajo ejecutan las cargas de trabajo de aplicaciones y se comunican con el nodo maestro a través de Kubelet y kube-proxy.</a:t>
            </a:r>
            <a:endParaRPr lang="en-US" sz="1750" dirty="0"/>
          </a:p>
        </p:txBody>
      </p:sp>
      <p:pic>
        <p:nvPicPr>
          <p:cNvPr id="9" name="Image 2" descr="preencoded.png">    </p:cNvPr>
          <p:cNvPicPr>
            <a:picLocks noChangeAspect="1"/>
          </p:cNvPicPr>
          <p:nvPr/>
        </p:nvPicPr>
        <p:blipFill>
          <a:blip r:embed="rId3"/>
          <a:stretch>
            <a:fillRect/>
          </a:stretch>
        </p:blipFill>
        <p:spPr>
          <a:xfrm>
            <a:off x="9715738" y="2128361"/>
            <a:ext cx="4120753" cy="2546747"/>
          </a:xfrm>
          <a:prstGeom prst="rect">
            <a:avLst/>
          </a:prstGeom>
        </p:spPr>
      </p:pic>
      <p:sp>
        <p:nvSpPr>
          <p:cNvPr id="10" name="Text 5"/>
          <p:cNvSpPr/>
          <p:nvPr/>
        </p:nvSpPr>
        <p:spPr>
          <a:xfrm>
            <a:off x="9715738" y="4958596"/>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etcd</a:t>
            </a:r>
            <a:endParaRPr lang="en-US" sz="2200" dirty="0"/>
          </a:p>
        </p:txBody>
      </p:sp>
      <p:sp>
        <p:nvSpPr>
          <p:cNvPr id="11" name="Text 6"/>
          <p:cNvSpPr/>
          <p:nvPr/>
        </p:nvSpPr>
        <p:spPr>
          <a:xfrm>
            <a:off x="9715738" y="5449014"/>
            <a:ext cx="4120753"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etcd es la base de datos distribuida de Kubernetes que almacena la configuración del clúster y el estado de los recursos.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98840"/>
            <a:ext cx="10490954"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Flujo de trabajo y ciclo de vida de un Pod</a:t>
            </a:r>
            <a:endParaRPr lang="en-US" sz="4450" dirty="0"/>
          </a:p>
        </p:txBody>
      </p:sp>
      <p:sp>
        <p:nvSpPr>
          <p:cNvPr id="3" name="Text 1"/>
          <p:cNvSpPr/>
          <p:nvPr/>
        </p:nvSpPr>
        <p:spPr>
          <a:xfrm>
            <a:off x="793790" y="2451854"/>
            <a:ext cx="6244709" cy="217741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componentes de Kubernetes interactúan de manera coordinada para gestionar y ejecutar los recursos del clúster. El ciclo de vida de un Pod comienza cuando se crea y se agenda en un nodo de trabajo, donde se inician los contenedores, se monitorea su estado y se reinicia si es necesario.</a:t>
            </a:r>
            <a:endParaRPr lang="en-US" sz="1750" dirty="0"/>
          </a:p>
        </p:txBody>
      </p:sp>
      <p:sp>
        <p:nvSpPr>
          <p:cNvPr id="4" name="Text 2"/>
          <p:cNvSpPr/>
          <p:nvPr/>
        </p:nvSpPr>
        <p:spPr>
          <a:xfrm>
            <a:off x="793790" y="4833342"/>
            <a:ext cx="6244709" cy="72580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Cuando un Pod finaliza, sus recursos son liberados y el clúster se prepara para recibir nuevas cargas de trabajo.</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47738"/>
            <a:ext cx="702206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Conceptos Fundamentales</a:t>
            </a:r>
            <a:endParaRPr lang="en-US" sz="4450" dirty="0"/>
          </a:p>
        </p:txBody>
      </p:sp>
      <p:pic>
        <p:nvPicPr>
          <p:cNvPr id="3" name="Image 0" descr="preencoded.png">    </p:cNvPr>
          <p:cNvPicPr>
            <a:picLocks noChangeAspect="1"/>
          </p:cNvPicPr>
          <p:nvPr/>
        </p:nvPicPr>
        <p:blipFill>
          <a:blip r:embed="rId1"/>
          <a:stretch>
            <a:fillRect/>
          </a:stretch>
        </p:blipFill>
        <p:spPr>
          <a:xfrm>
            <a:off x="793790" y="2110145"/>
            <a:ext cx="3005495" cy="1857494"/>
          </a:xfrm>
          <a:prstGeom prst="rect">
            <a:avLst/>
          </a:prstGeom>
        </p:spPr>
      </p:pic>
      <p:sp>
        <p:nvSpPr>
          <p:cNvPr id="4" name="Text 1"/>
          <p:cNvSpPr/>
          <p:nvPr/>
        </p:nvSpPr>
        <p:spPr>
          <a:xfrm>
            <a:off x="793790" y="4251127"/>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Nodos</a:t>
            </a:r>
            <a:endParaRPr lang="en-US" sz="2200" dirty="0"/>
          </a:p>
        </p:txBody>
      </p:sp>
      <p:sp>
        <p:nvSpPr>
          <p:cNvPr id="5" name="Text 2"/>
          <p:cNvSpPr/>
          <p:nvPr/>
        </p:nvSpPr>
        <p:spPr>
          <a:xfrm>
            <a:off x="793790" y="4741545"/>
            <a:ext cx="3005495" cy="2177415"/>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nodos son las máquinas físicas o virtuales que conforman el clúster de Kubernetes. Cada nodo alberga y ejecuta los pods de la aplicación.</a:t>
            </a:r>
            <a:endParaRPr lang="en-US" sz="1750" dirty="0"/>
          </a:p>
        </p:txBody>
      </p:sp>
      <p:pic>
        <p:nvPicPr>
          <p:cNvPr id="6" name="Image 1" descr="preencoded.png">    </p:cNvPr>
          <p:cNvPicPr>
            <a:picLocks noChangeAspect="1"/>
          </p:cNvPicPr>
          <p:nvPr/>
        </p:nvPicPr>
        <p:blipFill>
          <a:blip r:embed="rId2"/>
          <a:stretch>
            <a:fillRect/>
          </a:stretch>
        </p:blipFill>
        <p:spPr>
          <a:xfrm>
            <a:off x="4139446" y="2110145"/>
            <a:ext cx="3005614" cy="1857494"/>
          </a:xfrm>
          <a:prstGeom prst="rect">
            <a:avLst/>
          </a:prstGeom>
        </p:spPr>
      </p:pic>
      <p:sp>
        <p:nvSpPr>
          <p:cNvPr id="7" name="Text 3"/>
          <p:cNvSpPr/>
          <p:nvPr/>
        </p:nvSpPr>
        <p:spPr>
          <a:xfrm>
            <a:off x="4139446" y="4251127"/>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Pods</a:t>
            </a:r>
            <a:endParaRPr lang="en-US" sz="2200" dirty="0"/>
          </a:p>
        </p:txBody>
      </p:sp>
      <p:sp>
        <p:nvSpPr>
          <p:cNvPr id="8" name="Text 4"/>
          <p:cNvSpPr/>
          <p:nvPr/>
        </p:nvSpPr>
        <p:spPr>
          <a:xfrm>
            <a:off x="4139446" y="4741545"/>
            <a:ext cx="3005614" cy="2540318"/>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pods son los bloques de construcción básicos de Kubernetes. Encapsulan uno o más contenedores, incluyendo almacenamiento compartido, red y configuración.</a:t>
            </a:r>
            <a:endParaRPr lang="en-US" sz="1750" dirty="0"/>
          </a:p>
        </p:txBody>
      </p:sp>
      <p:pic>
        <p:nvPicPr>
          <p:cNvPr id="9" name="Image 2" descr="preencoded.png">    </p:cNvPr>
          <p:cNvPicPr>
            <a:picLocks noChangeAspect="1"/>
          </p:cNvPicPr>
          <p:nvPr/>
        </p:nvPicPr>
        <p:blipFill>
          <a:blip r:embed="rId3"/>
          <a:stretch>
            <a:fillRect/>
          </a:stretch>
        </p:blipFill>
        <p:spPr>
          <a:xfrm>
            <a:off x="7485221" y="2110145"/>
            <a:ext cx="3005614" cy="1857494"/>
          </a:xfrm>
          <a:prstGeom prst="rect">
            <a:avLst/>
          </a:prstGeom>
        </p:spPr>
      </p:pic>
      <p:sp>
        <p:nvSpPr>
          <p:cNvPr id="10" name="Text 5"/>
          <p:cNvSpPr/>
          <p:nvPr/>
        </p:nvSpPr>
        <p:spPr>
          <a:xfrm>
            <a:off x="7485221" y="4251127"/>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Namespaces</a:t>
            </a:r>
            <a:endParaRPr lang="en-US" sz="2200" dirty="0"/>
          </a:p>
        </p:txBody>
      </p:sp>
      <p:sp>
        <p:nvSpPr>
          <p:cNvPr id="11" name="Text 6"/>
          <p:cNvSpPr/>
          <p:nvPr/>
        </p:nvSpPr>
        <p:spPr>
          <a:xfrm>
            <a:off x="7485221" y="4741545"/>
            <a:ext cx="3005614" cy="2540318"/>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namespaces permiten crear entornos lógicamente aislados dentro del mismo clúster de Kubernetes, facilitando la organización y el manejo de múltiples aplicaciones.</a:t>
            </a:r>
            <a:endParaRPr lang="en-US" sz="1750" dirty="0"/>
          </a:p>
        </p:txBody>
      </p:sp>
      <p:pic>
        <p:nvPicPr>
          <p:cNvPr id="12" name="Image 3" descr="preencoded.png">    </p:cNvPr>
          <p:cNvPicPr>
            <a:picLocks noChangeAspect="1"/>
          </p:cNvPicPr>
          <p:nvPr/>
        </p:nvPicPr>
        <p:blipFill>
          <a:blip r:embed="rId4"/>
          <a:stretch>
            <a:fillRect/>
          </a:stretch>
        </p:blipFill>
        <p:spPr>
          <a:xfrm>
            <a:off x="10830997" y="2110145"/>
            <a:ext cx="3005614" cy="1857494"/>
          </a:xfrm>
          <a:prstGeom prst="rect">
            <a:avLst/>
          </a:prstGeom>
        </p:spPr>
      </p:pic>
      <p:sp>
        <p:nvSpPr>
          <p:cNvPr id="13" name="Text 7"/>
          <p:cNvSpPr/>
          <p:nvPr/>
        </p:nvSpPr>
        <p:spPr>
          <a:xfrm>
            <a:off x="10830997" y="4251127"/>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Labels y Selectores</a:t>
            </a:r>
            <a:endParaRPr lang="en-US" sz="2200" dirty="0"/>
          </a:p>
        </p:txBody>
      </p:sp>
      <p:sp>
        <p:nvSpPr>
          <p:cNvPr id="14" name="Text 8"/>
          <p:cNvSpPr/>
          <p:nvPr/>
        </p:nvSpPr>
        <p:spPr>
          <a:xfrm>
            <a:off x="10830997" y="4741545"/>
            <a:ext cx="3005614" cy="2540318"/>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Las etiquetas (labels) y selectores (selectors) permiten clasificar y agrupar objetos de Kubernetes de manera flexible, facilitando la gestión y operación del clúster.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3406021"/>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Objetos fundamentales de Kubernetes: Pods, ReplicaSets, Deployments</a:t>
            </a:r>
            <a:endParaRPr lang="en-US" sz="4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98840"/>
            <a:ext cx="9274731"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Pods: Unidad Básica de Kubernetes</a:t>
            </a:r>
            <a:endParaRPr lang="en-US" sz="4450" dirty="0"/>
          </a:p>
        </p:txBody>
      </p:sp>
      <p:sp>
        <p:nvSpPr>
          <p:cNvPr id="3" name="Text 1"/>
          <p:cNvSpPr/>
          <p:nvPr/>
        </p:nvSpPr>
        <p:spPr>
          <a:xfrm>
            <a:off x="793790" y="2451854"/>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Pods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son la unidad de despliegue más pequeña en Kubernetes. Cada Pod encapsula uno o más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contenedores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que comparten recursos como almacenamiento, red y configuración.</a:t>
            </a:r>
            <a:endParaRPr lang="en-US" sz="1750" dirty="0"/>
          </a:p>
        </p:txBody>
      </p:sp>
      <p:sp>
        <p:nvSpPr>
          <p:cNvPr id="4" name="Text 2"/>
          <p:cNvSpPr/>
          <p:nvPr/>
        </p:nvSpPr>
        <p:spPr>
          <a:xfrm>
            <a:off x="793790" y="4107537"/>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ciclo de vida</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de un Pod comienza cuando se crea y se agenda en un nodo de trabajo, donde los contenedores se inician, se monitorean y se reinician si es necesario. Cuando el Pod finaliza, sus recursos son liberados.</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98840"/>
            <a:ext cx="1241190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ReplicaSets: Asegurar la Disponibilidad de Pods</a:t>
            </a:r>
            <a:endParaRPr lang="en-US" sz="4450" dirty="0"/>
          </a:p>
        </p:txBody>
      </p:sp>
      <p:sp>
        <p:nvSpPr>
          <p:cNvPr id="3" name="Text 1"/>
          <p:cNvSpPr/>
          <p:nvPr/>
        </p:nvSpPr>
        <p:spPr>
          <a:xfrm>
            <a:off x="793790" y="2451854"/>
            <a:ext cx="6244709"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ReplicaSets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son un objeto de Kubernetes que aseguran que un número deseado de réplicas de un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Pod</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estén en ejecución en todo momento.</a:t>
            </a:r>
            <a:endParaRPr lang="en-US" sz="1750" dirty="0"/>
          </a:p>
        </p:txBody>
      </p:sp>
      <p:sp>
        <p:nvSpPr>
          <p:cNvPr id="4" name="Text 2"/>
          <p:cNvSpPr/>
          <p:nvPr/>
        </p:nvSpPr>
        <p:spPr>
          <a:xfrm>
            <a:off x="793790" y="3744635"/>
            <a:ext cx="6244709"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Utilizan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selectores de etiquetas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para identificar y seleccionar los Pods que deben mantenerse, reemplazando o reiniciando automáticamente los que fallen.</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44391"/>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Deployments: Declarar el Estado Deseado de Pods</a:t>
            </a:r>
            <a:endParaRPr lang="en-US" sz="4450" dirty="0"/>
          </a:p>
        </p:txBody>
      </p:sp>
      <p:sp>
        <p:nvSpPr>
          <p:cNvPr id="3" name="Text 1"/>
          <p:cNvSpPr/>
          <p:nvPr/>
        </p:nvSpPr>
        <p:spPr>
          <a:xfrm>
            <a:off x="793790" y="2806184"/>
            <a:ext cx="6244709"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Deployments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son un objeto de Kubernetes que permiten declarar el estado deseado de un conjunto de Pods. Definen cómo deben crearse, actualizarse y eliminarse los Pods para mantener la aplicación en un estado coherente.</a:t>
            </a:r>
            <a:endParaRPr lang="en-US" sz="1750" dirty="0"/>
          </a:p>
        </p:txBody>
      </p:sp>
      <p:sp>
        <p:nvSpPr>
          <p:cNvPr id="4" name="Text 2"/>
          <p:cNvSpPr/>
          <p:nvPr/>
        </p:nvSpPr>
        <p:spPr>
          <a:xfrm>
            <a:off x="793790" y="4824770"/>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Las actualizaciones de la aplicación se realizan mediante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rollouts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que permiten un despliegue controlado de nuevas versiones con la posibilidad de revertir cambios si es necesario.</a:t>
            </a:r>
            <a:endParaRPr lang="en-US" sz="1750" dirty="0"/>
          </a:p>
        </p:txBody>
      </p:sp>
      <p:pic>
        <p:nvPicPr>
          <p:cNvPr id="5" name="Image 0" descr="preencoded.png">    </p:cNvPr>
          <p:cNvPicPr>
            <a:picLocks noChangeAspect="1"/>
          </p:cNvPicPr>
          <p:nvPr/>
        </p:nvPicPr>
        <p:blipFill>
          <a:blip r:embed="rId1"/>
          <a:stretch>
            <a:fillRect/>
          </a:stretch>
        </p:blipFill>
        <p:spPr>
          <a:xfrm>
            <a:off x="7599521" y="2857262"/>
            <a:ext cx="6244709" cy="42726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406021"/>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Services en Kubernetes: ClusterIP, NodePort, LoadBalancer</a:t>
            </a:r>
            <a:endParaRPr lang="en-US" sz="4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98840"/>
            <a:ext cx="567059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Concepto de Service</a:t>
            </a:r>
            <a:endParaRPr lang="en-US" sz="4450" dirty="0"/>
          </a:p>
        </p:txBody>
      </p:sp>
      <p:sp>
        <p:nvSpPr>
          <p:cNvPr id="3" name="Text 1"/>
          <p:cNvSpPr/>
          <p:nvPr/>
        </p:nvSpPr>
        <p:spPr>
          <a:xfrm>
            <a:off x="793790" y="2451854"/>
            <a:ext cx="6244709" cy="254031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En Kubernetes, un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Service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es una abstracción que expone un conjunto de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Pods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como una red única y accesible. Los Services facilitan la comunicación entre diferentes componentes de la aplicación, proporcionando una dirección IP y un nombre de dominio que pueden ser utilizados por otros Pods para acceder a los servicios ofrecidos.</a:t>
            </a:r>
            <a:endParaRPr lang="en-US" sz="1750" dirty="0"/>
          </a:p>
        </p:txBody>
      </p:sp>
      <p:sp>
        <p:nvSpPr>
          <p:cNvPr id="4" name="Text 2"/>
          <p:cNvSpPr/>
          <p:nvPr/>
        </p:nvSpPr>
        <p:spPr>
          <a:xfrm>
            <a:off x="793790" y="5196245"/>
            <a:ext cx="6244709"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tipos de Services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incluyen ClusterIP, NodePort y LoadBalancer, cada uno con características y casos de uso específicos.</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365534"/>
            <a:ext cx="567059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Servicio ClusterIP</a:t>
            </a:r>
            <a:endParaRPr lang="en-US" sz="4450" dirty="0"/>
          </a:p>
        </p:txBody>
      </p:sp>
      <p:sp>
        <p:nvSpPr>
          <p:cNvPr id="3" name="Text 1"/>
          <p:cNvSpPr/>
          <p:nvPr/>
        </p:nvSpPr>
        <p:spPr>
          <a:xfrm>
            <a:off x="793790" y="3527941"/>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Servicio interno al cluster:</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El Service de tipo ClusterIP es visible únicamente dentro del clúster de Kubernetes, lo que lo convierte en una opción ideal para exponer servicios internos que no necesitan ser accesibles desde fuera del clúster.</a:t>
            </a:r>
            <a:endParaRPr lang="en-US" sz="1750" dirty="0"/>
          </a:p>
        </p:txBody>
      </p:sp>
      <p:sp>
        <p:nvSpPr>
          <p:cNvPr id="4" name="Text 2"/>
          <p:cNvSpPr/>
          <p:nvPr/>
        </p:nvSpPr>
        <p:spPr>
          <a:xfrm>
            <a:off x="793790" y="43330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Acceso desde otros Pods: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Otros Pods dentro del mismo clúster pueden acceder al servicio ClusterIP utilizando el nombre del servicio y su puerto asociado, lo que facilita la comunicación entre diferentes componentes de la aplicación.</a:t>
            </a:r>
            <a:endParaRPr lang="en-US" sz="1750" dirty="0"/>
          </a:p>
        </p:txBody>
      </p:sp>
      <p:sp>
        <p:nvSpPr>
          <p:cNvPr id="5" name="Text 3"/>
          <p:cNvSpPr/>
          <p:nvPr/>
        </p:nvSpPr>
        <p:spPr>
          <a:xfrm>
            <a:off x="793790" y="51381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Enrutamiento de tráfico:</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El Service ClusterIP proporciona un IP virtual estable y un nombre de dominio que se utiliza para enrutar el tráfico a los Pods que conforman el servicio, lo que permite una abstracción de la implementación subyacente.</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198840"/>
            <a:ext cx="567059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Servicio NodePort</a:t>
            </a:r>
            <a:endParaRPr lang="en-US" sz="4450" dirty="0"/>
          </a:p>
        </p:txBody>
      </p:sp>
      <p:sp>
        <p:nvSpPr>
          <p:cNvPr id="3" name="Text 1"/>
          <p:cNvSpPr/>
          <p:nvPr/>
        </p:nvSpPr>
        <p:spPr>
          <a:xfrm>
            <a:off x="793790" y="2451854"/>
            <a:ext cx="6244709"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servicio de tipo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NodePort</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expone un puerto en cada nodo del clúster de Kubernetes, permitiendo el acceso al servicio desde fuera del cluster. A diferencia del servicio ClusterIP, que es interno, el servicio NodePort es visible y accesible desde el exterior.</a:t>
            </a:r>
            <a:endParaRPr lang="en-US" sz="1750" dirty="0"/>
          </a:p>
        </p:txBody>
      </p:sp>
      <p:sp>
        <p:nvSpPr>
          <p:cNvPr id="4" name="Text 2"/>
          <p:cNvSpPr/>
          <p:nvPr/>
        </p:nvSpPr>
        <p:spPr>
          <a:xfrm>
            <a:off x="793790" y="4470440"/>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clientes pueden acceder al servicio utilizando la dirección IP del nodo y el puerto asignado al servicio, lo que facilita la exposición de aplicaciones a usuarios o servicios externos al clúster.</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198840"/>
            <a:ext cx="5857161"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Servicio LoadBalancer</a:t>
            </a:r>
            <a:endParaRPr lang="en-US" sz="4450" dirty="0"/>
          </a:p>
        </p:txBody>
      </p:sp>
      <p:sp>
        <p:nvSpPr>
          <p:cNvPr id="3" name="Text 1"/>
          <p:cNvSpPr/>
          <p:nvPr/>
        </p:nvSpPr>
        <p:spPr>
          <a:xfrm>
            <a:off x="793790" y="2451854"/>
            <a:ext cx="6244709"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servicio de tipo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LoadBalancer</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expone un servicio a través de un balanceador de carga externo, permitiendo el acceso al servicio desde fuera del clúster de Kubernetes.</a:t>
            </a:r>
            <a:endParaRPr lang="en-US" sz="1750" dirty="0"/>
          </a:p>
        </p:txBody>
      </p:sp>
      <p:sp>
        <p:nvSpPr>
          <p:cNvPr id="4" name="Text 2"/>
          <p:cNvSpPr/>
          <p:nvPr/>
        </p:nvSpPr>
        <p:spPr>
          <a:xfrm>
            <a:off x="793790" y="3744635"/>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Este tipo de servicio se integra con los proveedores de cloud, como AWS, Azure o GCP, que proporcionan el balanceador de carga y se encargan de distribuir el tráfico entrante entre los diferentes Pods del servicio.</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3902154"/>
            <a:ext cx="7467719" cy="425291"/>
          </a:xfrm>
          <a:prstGeom prst="rect">
            <a:avLst/>
          </a:prstGeom>
          <a:noFill/>
          <a:ln/>
        </p:spPr>
        <p:txBody>
          <a:bodyPr wrap="none" lIns="0" tIns="0" rIns="0" bIns="0" rtlCol="0" anchor="t"/>
          <a:lstStyle/>
          <a:p>
            <a:pPr indent="0" marL="0">
              <a:lnSpc>
                <a:spcPts val="3300"/>
              </a:lnSpc>
              <a:buNone/>
            </a:pPr>
            <a:r>
              <a:rPr lang="en-US" sz="2650" b="1" spc="-80" kern="0" dirty="0">
                <a:solidFill>
                  <a:srgbClr val="000000"/>
                </a:solidFill>
                <a:latin typeface="Inter Bold" pitchFamily="34" charset="0"/>
                <a:ea typeface="Inter Bold" pitchFamily="34" charset="-122"/>
                <a:cs typeface="Inter Bold" pitchFamily="34" charset="-120"/>
              </a:rPr>
              <a:t>Introducción a Google Kubernetes Engine (GKE)</a:t>
            </a:r>
            <a:endParaRPr lang="en-US" sz="2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198840"/>
            <a:ext cx="8588097"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Google Kubernetes Engine (GKE)</a:t>
            </a:r>
            <a:endParaRPr lang="en-US" sz="4450" dirty="0"/>
          </a:p>
        </p:txBody>
      </p:sp>
      <p:sp>
        <p:nvSpPr>
          <p:cNvPr id="3" name="Text 1"/>
          <p:cNvSpPr/>
          <p:nvPr/>
        </p:nvSpPr>
        <p:spPr>
          <a:xfrm>
            <a:off x="793790" y="2451854"/>
            <a:ext cx="6244709" cy="1814513"/>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Plataforma administrada de Kubernetes de Google Cloud:</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GKE es un servicio administrado de Kubernetes que proporciona un clúster listo para usar, simplificando la configuración, implementación y escalado de aplicaciones en contenedores.</a:t>
            </a:r>
            <a:endParaRPr lang="en-US" sz="1750" dirty="0"/>
          </a:p>
        </p:txBody>
      </p:sp>
      <p:sp>
        <p:nvSpPr>
          <p:cNvPr id="4" name="Text 2"/>
          <p:cNvSpPr/>
          <p:nvPr/>
        </p:nvSpPr>
        <p:spPr>
          <a:xfrm>
            <a:off x="793790" y="4470440"/>
            <a:ext cx="6244709" cy="1814513"/>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Beneficios de utilizar GKE: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GKE ofrece una gestión automática de la infraestructura, escalado elástico, actualizaciones y reparaciones, lo que permite a los equipos centrarse en el desarrollo de aplicaciones en lugar de en la administración del clúster.</a:t>
            </a:r>
            <a:endParaRPr lang="en-US" sz="1750" dirty="0"/>
          </a:p>
        </p:txBody>
      </p:sp>
      <p:pic>
        <p:nvPicPr>
          <p:cNvPr id="5" name="Image 0" descr="preencoded.png">    </p:cNvPr>
          <p:cNvPicPr>
            <a:picLocks noChangeAspect="1"/>
          </p:cNvPicPr>
          <p:nvPr/>
        </p:nvPicPr>
        <p:blipFill>
          <a:blip r:embed="rId1"/>
          <a:stretch>
            <a:fillRect/>
          </a:stretch>
        </p:blipFill>
        <p:spPr>
          <a:xfrm>
            <a:off x="7599521" y="2502932"/>
            <a:ext cx="6244709" cy="42726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21638" y="566976"/>
            <a:ext cx="6453426" cy="644366"/>
          </a:xfrm>
          <a:prstGeom prst="rect">
            <a:avLst/>
          </a:prstGeom>
          <a:noFill/>
          <a:ln/>
        </p:spPr>
        <p:txBody>
          <a:bodyPr wrap="none" lIns="0" tIns="0" rIns="0" bIns="0" rtlCol="0" anchor="t"/>
          <a:lstStyle/>
          <a:p>
            <a:pPr indent="0" marL="0">
              <a:lnSpc>
                <a:spcPts val="5050"/>
              </a:lnSpc>
              <a:buNone/>
            </a:pPr>
            <a:r>
              <a:rPr lang="en-US" sz="4050" b="1" spc="-122" kern="0" dirty="0">
                <a:solidFill>
                  <a:srgbClr val="000000"/>
                </a:solidFill>
                <a:latin typeface="Inter Bold" pitchFamily="34" charset="0"/>
                <a:ea typeface="Inter Bold" pitchFamily="34" charset="-122"/>
                <a:cs typeface="Inter Bold" pitchFamily="34" charset="-120"/>
              </a:rPr>
              <a:t>Creación de un cluster GKE</a:t>
            </a:r>
            <a:endParaRPr lang="en-US" sz="4050" dirty="0"/>
          </a:p>
        </p:txBody>
      </p:sp>
      <p:sp>
        <p:nvSpPr>
          <p:cNvPr id="3" name="Text 1"/>
          <p:cNvSpPr/>
          <p:nvPr/>
        </p:nvSpPr>
        <p:spPr>
          <a:xfrm>
            <a:off x="721638" y="1706047"/>
            <a:ext cx="6342102" cy="1649611"/>
          </a:xfrm>
          <a:prstGeom prst="rect">
            <a:avLst/>
          </a:prstGeom>
          <a:noFill/>
          <a:ln/>
        </p:spPr>
        <p:txBody>
          <a:bodyPr wrap="square" lIns="0" tIns="0" rIns="0" bIns="0" rtlCol="0" anchor="t"/>
          <a:lstStyle/>
          <a:p>
            <a:pPr indent="0" marL="0">
              <a:lnSpc>
                <a:spcPts val="2550"/>
              </a:lnSpc>
              <a:buNone/>
            </a:pPr>
            <a:r>
              <a:rPr lang="en-US" sz="1600" spc="-32" kern="0" dirty="0">
                <a:solidFill>
                  <a:srgbClr val="272525"/>
                </a:solidFill>
                <a:latin typeface="Inter" pitchFamily="34" charset="0"/>
                <a:ea typeface="Inter" pitchFamily="34" charset="-122"/>
                <a:cs typeface="Inter" pitchFamily="34" charset="-120"/>
              </a:rPr>
              <a:t>Google Kubernetes Engine (GKE) ofrece varias opciones de configuración para crear un clúster Kubernetes. Puedes elegir entre nodos administrados, donde GKE se encarga de la gestión de la infraestructura, o la opción de auto-escalado, que ajusta automáticamente la cantidad de nodos según la demanda.</a:t>
            </a:r>
            <a:endParaRPr lang="en-US" sz="1600" dirty="0"/>
          </a:p>
        </p:txBody>
      </p:sp>
      <p:sp>
        <p:nvSpPr>
          <p:cNvPr id="4" name="Text 2"/>
          <p:cNvSpPr/>
          <p:nvPr/>
        </p:nvSpPr>
        <p:spPr>
          <a:xfrm>
            <a:off x="721638" y="3541157"/>
            <a:ext cx="6342102" cy="1319689"/>
          </a:xfrm>
          <a:prstGeom prst="rect">
            <a:avLst/>
          </a:prstGeom>
          <a:noFill/>
          <a:ln/>
        </p:spPr>
        <p:txBody>
          <a:bodyPr wrap="square" lIns="0" tIns="0" rIns="0" bIns="0" rtlCol="0" anchor="t"/>
          <a:lstStyle/>
          <a:p>
            <a:pPr indent="0" marL="0">
              <a:lnSpc>
                <a:spcPts val="2550"/>
              </a:lnSpc>
              <a:buNone/>
            </a:pPr>
            <a:r>
              <a:rPr lang="en-US" sz="1600" spc="-32" kern="0" dirty="0">
                <a:solidFill>
                  <a:srgbClr val="272525"/>
                </a:solidFill>
                <a:latin typeface="Inter" pitchFamily="34" charset="0"/>
                <a:ea typeface="Inter" pitchFamily="34" charset="-122"/>
                <a:cs typeface="Inter" pitchFamily="34" charset="-120"/>
              </a:rPr>
              <a:t>La configuración de nodos administrados simplifica el proceso de creación y mantenimiento del clúster, mientras que el auto-escalado permite una mayor flexibilidad y adaptación a las necesidades cambiantes de la aplicación.</a:t>
            </a:r>
            <a:endParaRPr lang="en-US" sz="1600" dirty="0"/>
          </a:p>
        </p:txBody>
      </p:sp>
      <p:pic>
        <p:nvPicPr>
          <p:cNvPr id="5"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169313"/>
            <a:ext cx="10095905"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Integración con otros servicios de GCP</a:t>
            </a:r>
            <a:endParaRPr lang="en-US" sz="4450" dirty="0"/>
          </a:p>
        </p:txBody>
      </p:sp>
      <p:sp>
        <p:nvSpPr>
          <p:cNvPr id="3" name="Text 1"/>
          <p:cNvSpPr/>
          <p:nvPr/>
        </p:nvSpPr>
        <p:spPr>
          <a:xfrm>
            <a:off x="793790" y="2422327"/>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Google Kubernetes Engine (GKE) se integra de manera fluida con otros servicios clave de Google Cloud Platform (GCP), facilitando la construcción de soluciones completas en la nube.</a:t>
            </a:r>
            <a:endParaRPr lang="en-US" sz="1750" dirty="0"/>
          </a:p>
        </p:txBody>
      </p:sp>
      <p:sp>
        <p:nvSpPr>
          <p:cNvPr id="4" name="Text 2"/>
          <p:cNvSpPr/>
          <p:nvPr/>
        </p:nvSpPr>
        <p:spPr>
          <a:xfrm>
            <a:off x="793790" y="4078010"/>
            <a:ext cx="6244709" cy="362903"/>
          </a:xfrm>
          <a:prstGeom prst="rect">
            <a:avLst/>
          </a:prstGeom>
          <a:noFill/>
          <a:ln/>
        </p:spPr>
        <p:txBody>
          <a:bodyPr wrap="non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Algunas de las integraciones más destacadas incluyen:</a:t>
            </a:r>
            <a:endParaRPr lang="en-US" sz="1750" dirty="0"/>
          </a:p>
        </p:txBody>
      </p:sp>
      <p:sp>
        <p:nvSpPr>
          <p:cNvPr id="5" name="Text 3"/>
          <p:cNvSpPr/>
          <p:nvPr/>
        </p:nvSpPr>
        <p:spPr>
          <a:xfrm>
            <a:off x="793790" y="464498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spc="-36" kern="0" dirty="0">
                <a:solidFill>
                  <a:srgbClr val="272525"/>
                </a:solidFill>
                <a:latin typeface="Inter" pitchFamily="34" charset="0"/>
                <a:ea typeface="Inter" pitchFamily="34" charset="-122"/>
                <a:cs typeface="Inter" pitchFamily="34" charset="-120"/>
              </a:rPr>
              <a:t>Cloud SQL: Bases de datos relacionales administradas por Google.</a:t>
            </a:r>
            <a:endParaRPr lang="en-US" sz="1750" dirty="0"/>
          </a:p>
        </p:txBody>
      </p:sp>
      <p:sp>
        <p:nvSpPr>
          <p:cNvPr id="6" name="Text 4"/>
          <p:cNvSpPr/>
          <p:nvPr/>
        </p:nvSpPr>
        <p:spPr>
          <a:xfrm>
            <a:off x="793790" y="5450086"/>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spc="-36" kern="0" dirty="0">
                <a:solidFill>
                  <a:srgbClr val="272525"/>
                </a:solidFill>
                <a:latin typeface="Inter" pitchFamily="34" charset="0"/>
                <a:ea typeface="Inter" pitchFamily="34" charset="-122"/>
                <a:cs typeface="Inter" pitchFamily="34" charset="-120"/>
              </a:rPr>
              <a:t>Cloud Storage: Almacenamiento de objetos de alta escalabilidad.</a:t>
            </a:r>
            <a:endParaRPr lang="en-US" sz="1750" dirty="0"/>
          </a:p>
        </p:txBody>
      </p:sp>
      <p:sp>
        <p:nvSpPr>
          <p:cNvPr id="7" name="Text 5"/>
          <p:cNvSpPr/>
          <p:nvPr/>
        </p:nvSpPr>
        <p:spPr>
          <a:xfrm>
            <a:off x="793790" y="6255187"/>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spc="-36" kern="0" dirty="0">
                <a:solidFill>
                  <a:srgbClr val="272525"/>
                </a:solidFill>
                <a:latin typeface="Inter" pitchFamily="34" charset="0"/>
                <a:ea typeface="Inter" pitchFamily="34" charset="-122"/>
                <a:cs typeface="Inter" pitchFamily="34" charset="-120"/>
              </a:rPr>
              <a:t>Cloud Functions: Ejecución de código sin servidor para procesamiento bajo demanda.</a:t>
            </a:r>
            <a:endParaRPr lang="en-US" sz="1750" dirty="0"/>
          </a:p>
        </p:txBody>
      </p:sp>
      <p:pic>
        <p:nvPicPr>
          <p:cNvPr id="8" name="Image 0" descr="preencoded.png">    </p:cNvPr>
          <p:cNvPicPr>
            <a:picLocks noChangeAspect="1"/>
          </p:cNvPicPr>
          <p:nvPr/>
        </p:nvPicPr>
        <p:blipFill>
          <a:blip r:embed="rId1"/>
          <a:stretch>
            <a:fillRect/>
          </a:stretch>
        </p:blipFill>
        <p:spPr>
          <a:xfrm>
            <a:off x="7599521" y="2473404"/>
            <a:ext cx="6244709" cy="42726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Muchas gracias</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2024-11-05T00:02:19Z</dcterms:created>
  <dcterms:modified xsi:type="dcterms:W3CDTF">2024-11-05T00:02:19Z</dcterms:modified>
</cp:coreProperties>
</file>