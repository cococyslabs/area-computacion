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Montserrat"/>
      <p:regular r:id="rId15"/>
    </p:embeddedFont>
    <p:embeddedFont>
      <p:font typeface="Montserrat"/>
      <p:regular r:id="rId16"/>
    </p:embeddedFont>
    <p:embeddedFont>
      <p:font typeface="Montserrat"/>
      <p:regular r:id="rId17"/>
    </p:embeddedFont>
    <p:embeddedFont>
      <p:font typeface="Montserrat"/>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1213">
              <a:alpha val="80000"/>
            </a:srgbClr>
          </a:solidFill>
          <a:ln/>
        </p:spPr>
      </p:sp>
      <p:sp>
        <p:nvSpPr>
          <p:cNvPr id="4" name="Text 1"/>
          <p:cNvSpPr/>
          <p:nvPr/>
        </p:nvSpPr>
        <p:spPr>
          <a:xfrm>
            <a:off x="1185029" y="1922026"/>
            <a:ext cx="12260223" cy="2903934"/>
          </a:xfrm>
          <a:prstGeom prst="rect">
            <a:avLst/>
          </a:prstGeom>
          <a:noFill/>
          <a:ln/>
        </p:spPr>
        <p:txBody>
          <a:bodyPr wrap="square" lIns="0" tIns="0" rIns="0" bIns="0" rtlCol="0" anchor="t"/>
          <a:lstStyle/>
          <a:p>
            <a:pPr indent="0" marL="0">
              <a:lnSpc>
                <a:spcPts val="7600"/>
              </a:lnSpc>
              <a:buNone/>
            </a:pPr>
            <a:r>
              <a:rPr lang="en-US" sz="6050" b="1" spc="-61" kern="0" dirty="0">
                <a:solidFill>
                  <a:srgbClr val="FFFFFF"/>
                </a:solidFill>
                <a:latin typeface="Montserrat Bold" pitchFamily="34" charset="0"/>
                <a:ea typeface="Montserrat Bold" pitchFamily="34" charset="-122"/>
                <a:cs typeface="Montserrat Bold" pitchFamily="34" charset="-120"/>
              </a:rPr>
              <a:t>Módulos del Kernel en Linux: Concepto, Administración y Desarrollo</a:t>
            </a:r>
            <a:endParaRPr lang="en-US" sz="6050" dirty="0"/>
          </a:p>
        </p:txBody>
      </p:sp>
      <p:sp>
        <p:nvSpPr>
          <p:cNvPr id="5" name="Text 2"/>
          <p:cNvSpPr/>
          <p:nvPr/>
        </p:nvSpPr>
        <p:spPr>
          <a:xfrm>
            <a:off x="1185029" y="5196245"/>
            <a:ext cx="12260223" cy="1111210"/>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Este documento explora los módulos del kernel en Linux, abarcando su concepto, funcionalidad, administración, creación, compilación, inserción, depuración y mejores prácticas de desarrollo. Se detallan los comandos clave para la gestión de módulos y se proporciona un ejemplo práctico de creación de un módulo simple en C.</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886658"/>
            <a:ext cx="7415927" cy="2104192"/>
          </a:xfrm>
          <a:prstGeom prst="rect">
            <a:avLst/>
          </a:prstGeom>
          <a:noFill/>
          <a:ln/>
        </p:spPr>
        <p:txBody>
          <a:bodyPr wrap="square" lIns="0" tIns="0" rIns="0" bIns="0" rtlCol="0" anchor="t"/>
          <a:lstStyle/>
          <a:p>
            <a:pPr indent="0" marL="0">
              <a:lnSpc>
                <a:spcPts val="5500"/>
              </a:lnSpc>
              <a:buNone/>
            </a:pPr>
            <a:r>
              <a:rPr lang="en-US" sz="4400" b="1" spc="-44" kern="0" dirty="0">
                <a:solidFill>
                  <a:srgbClr val="FFFFFF"/>
                </a:solidFill>
                <a:latin typeface="Montserrat Bold" pitchFamily="34" charset="0"/>
                <a:ea typeface="Montserrat Bold" pitchFamily="34" charset="-122"/>
                <a:cs typeface="Montserrat Bold" pitchFamily="34" charset="-120"/>
              </a:rPr>
              <a:t>Módulos del Kernel: Concepto y Funcionalidad</a:t>
            </a:r>
            <a:endParaRPr lang="en-US" sz="4400" dirty="0"/>
          </a:p>
        </p:txBody>
      </p:sp>
      <p:sp>
        <p:nvSpPr>
          <p:cNvPr id="4" name="Text 1"/>
          <p:cNvSpPr/>
          <p:nvPr/>
        </p:nvSpPr>
        <p:spPr>
          <a:xfrm>
            <a:off x="6350437" y="3361134"/>
            <a:ext cx="7415927" cy="2222421"/>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Un módulo del kernel es una pieza de código que se puede cargar y descargar en el kernel en tiempo de ejecución. Los módulos permiten extender las funcionalidades del kernel sin necesidad de recompilarlo o reiniciar el sistema, lo cual es especialmente útil para controladores de dispositivos (drivers) y otras tareas que necesitan ejecutarse en un nivel bajo de privilegios.</a:t>
            </a:r>
            <a:endParaRPr lang="en-US" sz="1900" dirty="0"/>
          </a:p>
        </p:txBody>
      </p:sp>
      <p:sp>
        <p:nvSpPr>
          <p:cNvPr id="5" name="Text 2"/>
          <p:cNvSpPr/>
          <p:nvPr/>
        </p:nvSpPr>
        <p:spPr>
          <a:xfrm>
            <a:off x="6350437" y="5861209"/>
            <a:ext cx="7415927" cy="1481614"/>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Ejemplo de funcionalidad: Un módulo podría manejar el acceso a un dispositivo de hardware específico, como una tarjeta de red o un dispositivo USB, integrando las instrucciones necesarias directamente en el kernel cuando se conecta dicho dispositivo.</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85029" y="861298"/>
            <a:ext cx="12260223" cy="1402794"/>
          </a:xfrm>
          <a:prstGeom prst="rect">
            <a:avLst/>
          </a:prstGeom>
          <a:noFill/>
          <a:ln/>
        </p:spPr>
        <p:txBody>
          <a:bodyPr wrap="square" lIns="0" tIns="0" rIns="0" bIns="0" rtlCol="0" anchor="t"/>
          <a:lstStyle/>
          <a:p>
            <a:pPr indent="0" marL="0">
              <a:lnSpc>
                <a:spcPts val="5500"/>
              </a:lnSpc>
              <a:buNone/>
            </a:pPr>
            <a:r>
              <a:rPr lang="en-US" sz="4400" b="1" spc="-44" kern="0" dirty="0">
                <a:solidFill>
                  <a:srgbClr val="FFFFFF"/>
                </a:solidFill>
                <a:latin typeface="Montserrat Bold" pitchFamily="34" charset="0"/>
                <a:ea typeface="Montserrat Bold" pitchFamily="34" charset="-122"/>
                <a:cs typeface="Montserrat Bold" pitchFamily="34" charset="-120"/>
              </a:rPr>
              <a:t>Comandos para Administración de Módulos del Kernel</a:t>
            </a:r>
            <a:endParaRPr lang="en-US" sz="4400" dirty="0"/>
          </a:p>
        </p:txBody>
      </p:sp>
      <p:sp>
        <p:nvSpPr>
          <p:cNvPr id="3" name="Text 1"/>
          <p:cNvSpPr/>
          <p:nvPr/>
        </p:nvSpPr>
        <p:spPr>
          <a:xfrm>
            <a:off x="1185029" y="2757845"/>
            <a:ext cx="12260223" cy="370403"/>
          </a:xfrm>
          <a:prstGeom prst="rect">
            <a:avLst/>
          </a:prstGeom>
          <a:noFill/>
          <a:ln/>
        </p:spPr>
        <p:txBody>
          <a:bodyPr wrap="non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Para administrar módulos en el kernel de Linux, existen varios comandos clave:</a:t>
            </a:r>
            <a:endParaRPr lang="en-US" sz="1900" dirty="0"/>
          </a:p>
        </p:txBody>
      </p:sp>
      <p:sp>
        <p:nvSpPr>
          <p:cNvPr id="4" name="Text 2"/>
          <p:cNvSpPr/>
          <p:nvPr/>
        </p:nvSpPr>
        <p:spPr>
          <a:xfrm>
            <a:off x="1185029" y="3405902"/>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lsmod: Muestra los módulos que están actualmente cargados en el sistema.</a:t>
            </a:r>
            <a:endParaRPr lang="en-US" sz="1900" dirty="0"/>
          </a:p>
        </p:txBody>
      </p:sp>
      <p:sp>
        <p:nvSpPr>
          <p:cNvPr id="5" name="Text 3"/>
          <p:cNvSpPr/>
          <p:nvPr/>
        </p:nvSpPr>
        <p:spPr>
          <a:xfrm>
            <a:off x="1185029" y="3862626"/>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insmod: Inserta un módulo en el kernel, cargándolo en memoria.</a:t>
            </a:r>
            <a:endParaRPr lang="en-US" sz="1900" dirty="0"/>
          </a:p>
        </p:txBody>
      </p:sp>
      <p:sp>
        <p:nvSpPr>
          <p:cNvPr id="6" name="Text 4"/>
          <p:cNvSpPr/>
          <p:nvPr/>
        </p:nvSpPr>
        <p:spPr>
          <a:xfrm>
            <a:off x="1185029" y="4319349"/>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rmmod: Elimina un módulo cargado.</a:t>
            </a:r>
            <a:endParaRPr lang="en-US" sz="1900" dirty="0"/>
          </a:p>
        </p:txBody>
      </p:sp>
      <p:sp>
        <p:nvSpPr>
          <p:cNvPr id="7" name="Text 5"/>
          <p:cNvSpPr/>
          <p:nvPr/>
        </p:nvSpPr>
        <p:spPr>
          <a:xfrm>
            <a:off x="1185029" y="4776073"/>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modinfo: Proporciona información detallada de un módulo, como el nombre, versión, y dependencias.</a:t>
            </a:r>
            <a:endParaRPr lang="en-US" sz="1900" dirty="0"/>
          </a:p>
        </p:txBody>
      </p:sp>
      <p:sp>
        <p:nvSpPr>
          <p:cNvPr id="8" name="Text 6"/>
          <p:cNvSpPr/>
          <p:nvPr/>
        </p:nvSpPr>
        <p:spPr>
          <a:xfrm>
            <a:off x="1555313" y="5701784"/>
            <a:ext cx="11889938" cy="740807"/>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Ejemplo: bash # Ver los módulos cargados actualmente lsmod # Insertar un módulo en el kernel sudo insmod mi_modulo.ko # Eliminar un módulo del kernel sudo rmmod mi_modulo</a:t>
            </a:r>
            <a:endParaRPr lang="en-US" sz="1900" dirty="0"/>
          </a:p>
        </p:txBody>
      </p:sp>
      <p:sp>
        <p:nvSpPr>
          <p:cNvPr id="9" name="Shape 7"/>
          <p:cNvSpPr/>
          <p:nvPr/>
        </p:nvSpPr>
        <p:spPr>
          <a:xfrm>
            <a:off x="1185029" y="5424130"/>
            <a:ext cx="30480" cy="1296114"/>
          </a:xfrm>
          <a:prstGeom prst="rect">
            <a:avLst/>
          </a:prstGeom>
          <a:solidFill>
            <a:srgbClr val="FFFFFF"/>
          </a:solidFill>
          <a:ln/>
        </p:spPr>
      </p:sp>
      <p:sp>
        <p:nvSpPr>
          <p:cNvPr id="10" name="Text 8"/>
          <p:cNvSpPr/>
          <p:nvPr/>
        </p:nvSpPr>
        <p:spPr>
          <a:xfrm>
            <a:off x="1185029" y="6997898"/>
            <a:ext cx="12260223" cy="370403"/>
          </a:xfrm>
          <a:prstGeom prst="rect">
            <a:avLst/>
          </a:prstGeom>
          <a:noFill/>
          <a:ln/>
        </p:spPr>
        <p:txBody>
          <a:bodyPr wrap="non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Estos comandos nos permiten cargar y descargar módulos sin necesidad de reiniciar el sistema.</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85029" y="505420"/>
            <a:ext cx="8140303" cy="408623"/>
          </a:xfrm>
          <a:prstGeom prst="rect">
            <a:avLst/>
          </a:prstGeom>
          <a:noFill/>
          <a:ln/>
        </p:spPr>
        <p:txBody>
          <a:bodyPr wrap="none" lIns="0" tIns="0" rIns="0" bIns="0" rtlCol="0" anchor="t"/>
          <a:lstStyle/>
          <a:p>
            <a:pPr indent="0" marL="0">
              <a:lnSpc>
                <a:spcPts val="3200"/>
              </a:lnSpc>
              <a:buNone/>
            </a:pPr>
            <a:r>
              <a:rPr lang="en-US" sz="2550" b="1" spc="-26" kern="0" dirty="0">
                <a:solidFill>
                  <a:srgbClr val="FFFFFF"/>
                </a:solidFill>
                <a:latin typeface="Montserrat Bold" pitchFamily="34" charset="0"/>
                <a:ea typeface="Montserrat Bold" pitchFamily="34" charset="-122"/>
                <a:cs typeface="Montserrat Bold" pitchFamily="34" charset="-120"/>
              </a:rPr>
              <a:t>Creación de Módulos Simples en Linux usando C</a:t>
            </a:r>
            <a:endParaRPr lang="en-US" sz="2550" dirty="0"/>
          </a:p>
        </p:txBody>
      </p:sp>
      <p:sp>
        <p:nvSpPr>
          <p:cNvPr id="3" name="Text 1"/>
          <p:cNvSpPr/>
          <p:nvPr/>
        </p:nvSpPr>
        <p:spPr>
          <a:xfrm>
            <a:off x="1185029" y="1201698"/>
            <a:ext cx="12260223" cy="215741"/>
          </a:xfrm>
          <a:prstGeom prst="rect">
            <a:avLst/>
          </a:prstGeom>
          <a:noFill/>
          <a:ln/>
        </p:spPr>
        <p:txBody>
          <a:bodyPr wrap="none" lIns="0" tIns="0" rIns="0" bIns="0" rtlCol="0" anchor="t"/>
          <a:lstStyle/>
          <a:p>
            <a:pPr indent="0" marL="0">
              <a:lnSpc>
                <a:spcPts val="1650"/>
              </a:lnSpc>
              <a:buNone/>
            </a:pPr>
            <a:r>
              <a:rPr lang="en-US" sz="1100" dirty="0">
                <a:solidFill>
                  <a:srgbClr val="E2E6E9"/>
                </a:solidFill>
                <a:latin typeface="Source Sans Pro" pitchFamily="34" charset="0"/>
                <a:ea typeface="Source Sans Pro" pitchFamily="34" charset="-122"/>
                <a:cs typeface="Source Sans Pro" pitchFamily="34" charset="-120"/>
              </a:rPr>
              <a:t>Para escribir un módulo del kernel en Linux, utilizaremos el lenguaje C. Un módulo simple generalmente requiere dos funciones:</a:t>
            </a:r>
            <a:endParaRPr lang="en-US" sz="1100" dirty="0"/>
          </a:p>
        </p:txBody>
      </p:sp>
      <p:sp>
        <p:nvSpPr>
          <p:cNvPr id="4" name="Text 2"/>
          <p:cNvSpPr/>
          <p:nvPr/>
        </p:nvSpPr>
        <p:spPr>
          <a:xfrm>
            <a:off x="1185029" y="1579245"/>
            <a:ext cx="12260223" cy="215741"/>
          </a:xfrm>
          <a:prstGeom prst="rect">
            <a:avLst/>
          </a:prstGeom>
          <a:noFill/>
          <a:ln/>
        </p:spPr>
        <p:txBody>
          <a:bodyPr wrap="none" lIns="0" tIns="0" rIns="0" bIns="0" rtlCol="0" anchor="t"/>
          <a:lstStyle/>
          <a:p>
            <a:pPr algn="l" marL="342900" indent="-342900">
              <a:lnSpc>
                <a:spcPts val="1650"/>
              </a:lnSpc>
              <a:buSzPct val="100000"/>
              <a:buChar char="•"/>
            </a:pPr>
            <a:r>
              <a:rPr lang="en-US" sz="1100" dirty="0">
                <a:solidFill>
                  <a:srgbClr val="E2E6E9"/>
                </a:solidFill>
                <a:latin typeface="Source Sans Pro" pitchFamily="34" charset="0"/>
                <a:ea typeface="Source Sans Pro" pitchFamily="34" charset="-122"/>
                <a:cs typeface="Source Sans Pro" pitchFamily="34" charset="-120"/>
              </a:rPr>
              <a:t>init: Esta función se ejecuta cuando se carga el módulo.</a:t>
            </a:r>
            <a:endParaRPr lang="en-US" sz="1100" dirty="0"/>
          </a:p>
        </p:txBody>
      </p:sp>
      <p:sp>
        <p:nvSpPr>
          <p:cNvPr id="5" name="Text 3"/>
          <p:cNvSpPr/>
          <p:nvPr/>
        </p:nvSpPr>
        <p:spPr>
          <a:xfrm>
            <a:off x="1185029" y="1845231"/>
            <a:ext cx="12260223" cy="215741"/>
          </a:xfrm>
          <a:prstGeom prst="rect">
            <a:avLst/>
          </a:prstGeom>
          <a:noFill/>
          <a:ln/>
        </p:spPr>
        <p:txBody>
          <a:bodyPr wrap="none" lIns="0" tIns="0" rIns="0" bIns="0" rtlCol="0" anchor="t"/>
          <a:lstStyle/>
          <a:p>
            <a:pPr algn="l" marL="342900" indent="-342900">
              <a:lnSpc>
                <a:spcPts val="1650"/>
              </a:lnSpc>
              <a:buSzPct val="100000"/>
              <a:buChar char="•"/>
            </a:pPr>
            <a:r>
              <a:rPr lang="en-US" sz="1100" dirty="0">
                <a:solidFill>
                  <a:srgbClr val="E2E6E9"/>
                </a:solidFill>
                <a:latin typeface="Source Sans Pro" pitchFamily="34" charset="0"/>
                <a:ea typeface="Source Sans Pro" pitchFamily="34" charset="-122"/>
                <a:cs typeface="Source Sans Pro" pitchFamily="34" charset="-120"/>
              </a:rPr>
              <a:t>exit: Esta función se ejecuta cuando el módulo se descarga.</a:t>
            </a:r>
            <a:endParaRPr lang="en-US" sz="1100" dirty="0"/>
          </a:p>
        </p:txBody>
      </p:sp>
      <p:sp>
        <p:nvSpPr>
          <p:cNvPr id="6" name="Text 4"/>
          <p:cNvSpPr/>
          <p:nvPr/>
        </p:nvSpPr>
        <p:spPr>
          <a:xfrm>
            <a:off x="1185029" y="2222778"/>
            <a:ext cx="12260223" cy="215741"/>
          </a:xfrm>
          <a:prstGeom prst="rect">
            <a:avLst/>
          </a:prstGeom>
          <a:noFill/>
          <a:ln/>
        </p:spPr>
        <p:txBody>
          <a:bodyPr wrap="none" lIns="0" tIns="0" rIns="0" bIns="0" rtlCol="0" anchor="t"/>
          <a:lstStyle/>
          <a:p>
            <a:pPr indent="0" marL="0">
              <a:lnSpc>
                <a:spcPts val="1650"/>
              </a:lnSpc>
              <a:buNone/>
            </a:pPr>
            <a:r>
              <a:rPr lang="en-US" sz="1100" dirty="0">
                <a:solidFill>
                  <a:srgbClr val="E2E6E9"/>
                </a:solidFill>
                <a:latin typeface="Source Sans Pro" pitchFamily="34" charset="0"/>
                <a:ea typeface="Source Sans Pro" pitchFamily="34" charset="-122"/>
                <a:cs typeface="Source Sans Pro" pitchFamily="34" charset="-120"/>
              </a:rPr>
              <a:t>Ejemplo de código C para un módulo simple:</a:t>
            </a:r>
            <a:endParaRPr lang="en-US" sz="1100" dirty="0"/>
          </a:p>
        </p:txBody>
      </p:sp>
      <p:sp>
        <p:nvSpPr>
          <p:cNvPr id="7" name="Shape 5"/>
          <p:cNvSpPr/>
          <p:nvPr/>
        </p:nvSpPr>
        <p:spPr>
          <a:xfrm>
            <a:off x="1185029" y="2600325"/>
            <a:ext cx="12260223" cy="4746308"/>
          </a:xfrm>
          <a:prstGeom prst="roundRect">
            <a:avLst>
              <a:gd name="adj" fmla="val 455"/>
            </a:avLst>
          </a:prstGeom>
          <a:solidFill>
            <a:srgbClr val="262626"/>
          </a:solidFill>
          <a:ln/>
        </p:spPr>
      </p:sp>
      <p:sp>
        <p:nvSpPr>
          <p:cNvPr id="8" name="Shape 6"/>
          <p:cNvSpPr/>
          <p:nvPr/>
        </p:nvSpPr>
        <p:spPr>
          <a:xfrm>
            <a:off x="1177885" y="2600325"/>
            <a:ext cx="12274510" cy="4746308"/>
          </a:xfrm>
          <a:prstGeom prst="roundRect">
            <a:avLst>
              <a:gd name="adj" fmla="val 455"/>
            </a:avLst>
          </a:prstGeom>
          <a:solidFill>
            <a:srgbClr val="262626"/>
          </a:solidFill>
          <a:ln/>
        </p:spPr>
      </p:sp>
      <p:sp>
        <p:nvSpPr>
          <p:cNvPr id="9" name="Text 7"/>
          <p:cNvSpPr/>
          <p:nvPr/>
        </p:nvSpPr>
        <p:spPr>
          <a:xfrm>
            <a:off x="1321713" y="2708196"/>
            <a:ext cx="11986855" cy="4530566"/>
          </a:xfrm>
          <a:prstGeom prst="rect">
            <a:avLst/>
          </a:prstGeom>
          <a:noFill/>
          <a:ln/>
        </p:spPr>
        <p:txBody>
          <a:bodyPr wrap="square" lIns="0" tIns="0" rIns="0" bIns="0" rtlCol="0" anchor="t"/>
          <a:lstStyle/>
          <a:p>
            <a:pPr indent="0" marL="0">
              <a:lnSpc>
                <a:spcPts val="1650"/>
              </a:lnSpc>
              <a:buNone/>
            </a:pPr>
            <a:r>
              <a:rPr lang="en-US" sz="1100" dirty="0">
                <a:solidFill>
                  <a:srgbClr val="E2E6E9"/>
                </a:solidFill>
                <a:highlight>
                  <a:srgbClr val="262626"/>
                </a:highlight>
                <a:latin typeface="Consolas" pitchFamily="34" charset="0"/>
                <a:ea typeface="Consolas" pitchFamily="34" charset="-122"/>
                <a:cs typeface="Consolas" pitchFamily="34" charset="-120"/>
              </a:rPr>
              <a:t>#include &lt;linux/init.h&gt;
#include &lt;linux/module.h&gt;
#include &lt;linux/kernel.h&gt;
MODULE_LICENSE("GPL");
MODULE_AUTHOR("Estudiante de Sistemas Operativos");
MODULE_DESCRIPTION("Un módulo simple de ejemplo.");
MODULE_VERSION("1.0");
static int __init mi_modulo_init(void) {
    printk(KERN_INFO "Hola, este es mi primer módulo!\n");
    return 0; // Retorna 0 si se carga correctamente
}
static void __exit mi_modulo_exit(void) {
    printk(KERN_INFO "Adiós, descargando el módulo.\n");
}
module_init(mi_modulo_init);
module_exit(mi_modulo_exit);
</a:t>
            </a:r>
            <a:endParaRPr lang="en-US" sz="1100" dirty="0"/>
          </a:p>
        </p:txBody>
      </p:sp>
      <p:sp>
        <p:nvSpPr>
          <p:cNvPr id="10" name="Text 8"/>
          <p:cNvSpPr/>
          <p:nvPr/>
        </p:nvSpPr>
        <p:spPr>
          <a:xfrm>
            <a:off x="1185029" y="7508438"/>
            <a:ext cx="12260223" cy="215741"/>
          </a:xfrm>
          <a:prstGeom prst="rect">
            <a:avLst/>
          </a:prstGeom>
          <a:noFill/>
          <a:ln/>
        </p:spPr>
        <p:txBody>
          <a:bodyPr wrap="none" lIns="0" tIns="0" rIns="0" bIns="0" rtlCol="0" anchor="t"/>
          <a:lstStyle/>
          <a:p>
            <a:pPr indent="0" marL="0">
              <a:lnSpc>
                <a:spcPts val="1650"/>
              </a:lnSpc>
              <a:buNone/>
            </a:pPr>
            <a:r>
              <a:rPr lang="en-US" sz="1100" dirty="0">
                <a:solidFill>
                  <a:srgbClr val="E2E6E9"/>
                </a:solidFill>
                <a:latin typeface="Source Sans Pro" pitchFamily="34" charset="0"/>
                <a:ea typeface="Source Sans Pro" pitchFamily="34" charset="-122"/>
                <a:cs typeface="Source Sans Pro" pitchFamily="34" charset="-120"/>
              </a:rPr>
              <a:t>Aquí, mi_modulo_init y mi_modulo_exit son las funciones de inicio y salida del módulo, respectivamente. La función printk es similar a printf, pero está diseñada para mensajes en el kernel.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85029" y="657463"/>
            <a:ext cx="7969448" cy="534829"/>
          </a:xfrm>
          <a:prstGeom prst="rect">
            <a:avLst/>
          </a:prstGeom>
          <a:noFill/>
          <a:ln/>
        </p:spPr>
        <p:txBody>
          <a:bodyPr wrap="none" lIns="0" tIns="0" rIns="0" bIns="0" rtlCol="0" anchor="t"/>
          <a:lstStyle/>
          <a:p>
            <a:pPr indent="0" marL="0">
              <a:lnSpc>
                <a:spcPts val="4200"/>
              </a:lnSpc>
              <a:buNone/>
            </a:pPr>
            <a:r>
              <a:rPr lang="en-US" sz="3350" b="1" spc="-34" kern="0" dirty="0">
                <a:solidFill>
                  <a:srgbClr val="FFFFFF"/>
                </a:solidFill>
                <a:latin typeface="Montserrat Bold" pitchFamily="34" charset="0"/>
                <a:ea typeface="Montserrat Bold" pitchFamily="34" charset="-122"/>
                <a:cs typeface="Montserrat Bold" pitchFamily="34" charset="-120"/>
              </a:rPr>
              <a:t>Compilación e Inserción de Módulos</a:t>
            </a:r>
            <a:endParaRPr lang="en-US" sz="3350" dirty="0"/>
          </a:p>
        </p:txBody>
      </p:sp>
      <p:sp>
        <p:nvSpPr>
          <p:cNvPr id="3" name="Text 1"/>
          <p:cNvSpPr/>
          <p:nvPr/>
        </p:nvSpPr>
        <p:spPr>
          <a:xfrm>
            <a:off x="1185029" y="1568887"/>
            <a:ext cx="12260223" cy="565071"/>
          </a:xfrm>
          <a:prstGeom prst="rect">
            <a:avLst/>
          </a:prstGeom>
          <a:noFill/>
          <a:ln/>
        </p:spPr>
        <p:txBody>
          <a:bodyPr wrap="square" lIns="0" tIns="0" rIns="0" bIns="0" rtlCol="0" anchor="t"/>
          <a:lstStyle/>
          <a:p>
            <a:pPr indent="0" marL="0">
              <a:lnSpc>
                <a:spcPts val="2200"/>
              </a:lnSpc>
              <a:buNone/>
            </a:pPr>
            <a:r>
              <a:rPr lang="en-US" sz="1450" dirty="0">
                <a:solidFill>
                  <a:srgbClr val="E2E6E9"/>
                </a:solidFill>
                <a:latin typeface="Source Sans Pro" pitchFamily="34" charset="0"/>
                <a:ea typeface="Source Sans Pro" pitchFamily="34" charset="-122"/>
                <a:cs typeface="Source Sans Pro" pitchFamily="34" charset="-120"/>
              </a:rPr>
              <a:t>Para compilar un módulo, debemos crear un archivo Makefile. Esto facilita la compilación del código de módulo en un archivo de objeto (.ko) que luego se puede insertar en el kernel.</a:t>
            </a:r>
            <a:endParaRPr lang="en-US" sz="1450" dirty="0"/>
          </a:p>
        </p:txBody>
      </p:sp>
      <p:sp>
        <p:nvSpPr>
          <p:cNvPr id="4" name="Text 2"/>
          <p:cNvSpPr/>
          <p:nvPr/>
        </p:nvSpPr>
        <p:spPr>
          <a:xfrm>
            <a:off x="1185029" y="2345769"/>
            <a:ext cx="12260223" cy="282535"/>
          </a:xfrm>
          <a:prstGeom prst="rect">
            <a:avLst/>
          </a:prstGeom>
          <a:noFill/>
          <a:ln/>
        </p:spPr>
        <p:txBody>
          <a:bodyPr wrap="none" lIns="0" tIns="0" rIns="0" bIns="0" rtlCol="0" anchor="t"/>
          <a:lstStyle/>
          <a:p>
            <a:pPr indent="0" marL="0">
              <a:lnSpc>
                <a:spcPts val="2200"/>
              </a:lnSpc>
              <a:buNone/>
            </a:pPr>
            <a:r>
              <a:rPr lang="en-US" sz="1450" dirty="0">
                <a:solidFill>
                  <a:srgbClr val="E2E6E9"/>
                </a:solidFill>
                <a:latin typeface="Source Sans Pro" pitchFamily="34" charset="0"/>
                <a:ea typeface="Source Sans Pro" pitchFamily="34" charset="-122"/>
                <a:cs typeface="Source Sans Pro" pitchFamily="34" charset="-120"/>
              </a:rPr>
              <a:t>Ejemplo de Makefile:</a:t>
            </a:r>
            <a:endParaRPr lang="en-US" sz="1450" dirty="0"/>
          </a:p>
        </p:txBody>
      </p:sp>
      <p:sp>
        <p:nvSpPr>
          <p:cNvPr id="5" name="Shape 3"/>
          <p:cNvSpPr/>
          <p:nvPr/>
        </p:nvSpPr>
        <p:spPr>
          <a:xfrm>
            <a:off x="1185029" y="2840117"/>
            <a:ext cx="12260223" cy="2542699"/>
          </a:xfrm>
          <a:prstGeom prst="roundRect">
            <a:avLst>
              <a:gd name="adj" fmla="val 1111"/>
            </a:avLst>
          </a:prstGeom>
          <a:solidFill>
            <a:srgbClr val="262626"/>
          </a:solidFill>
          <a:ln/>
        </p:spPr>
      </p:sp>
      <p:sp>
        <p:nvSpPr>
          <p:cNvPr id="6" name="Shape 4"/>
          <p:cNvSpPr/>
          <p:nvPr/>
        </p:nvSpPr>
        <p:spPr>
          <a:xfrm>
            <a:off x="1175623" y="2840117"/>
            <a:ext cx="12279035" cy="2542699"/>
          </a:xfrm>
          <a:prstGeom prst="roundRect">
            <a:avLst>
              <a:gd name="adj" fmla="val 1111"/>
            </a:avLst>
          </a:prstGeom>
          <a:solidFill>
            <a:srgbClr val="262626"/>
          </a:solidFill>
          <a:ln/>
        </p:spPr>
      </p:sp>
      <p:sp>
        <p:nvSpPr>
          <p:cNvPr id="7" name="Text 5"/>
          <p:cNvSpPr/>
          <p:nvPr/>
        </p:nvSpPr>
        <p:spPr>
          <a:xfrm>
            <a:off x="1363861" y="2981325"/>
            <a:ext cx="11902559" cy="2260283"/>
          </a:xfrm>
          <a:prstGeom prst="rect">
            <a:avLst/>
          </a:prstGeom>
          <a:noFill/>
          <a:ln/>
        </p:spPr>
        <p:txBody>
          <a:bodyPr wrap="square" lIns="0" tIns="0" rIns="0" bIns="0" rtlCol="0" anchor="t"/>
          <a:lstStyle/>
          <a:p>
            <a:pPr indent="0" marL="0">
              <a:lnSpc>
                <a:spcPts val="2200"/>
              </a:lnSpc>
              <a:buNone/>
            </a:pPr>
            <a:r>
              <a:rPr lang="en-US" sz="1450" dirty="0">
                <a:solidFill>
                  <a:srgbClr val="E2E6E9"/>
                </a:solidFill>
                <a:highlight>
                  <a:srgbClr val="262626"/>
                </a:highlight>
                <a:latin typeface="Consolas" pitchFamily="34" charset="0"/>
                <a:ea typeface="Consolas" pitchFamily="34" charset="-122"/>
                <a:cs typeface="Consolas" pitchFamily="34" charset="-120"/>
              </a:rPr>
              <a:t>obj-m += mi_modulo.o
all:
    make -C /lib/modules/$(shell uname -r)/build M=$(PWD) modules
clean:
    make -C /lib/modules/$(shell uname -r)/build M=$(PWD) clean
</a:t>
            </a:r>
            <a:endParaRPr lang="en-US" sz="1450" dirty="0"/>
          </a:p>
        </p:txBody>
      </p:sp>
      <p:sp>
        <p:nvSpPr>
          <p:cNvPr id="8" name="Text 6"/>
          <p:cNvSpPr/>
          <p:nvPr/>
        </p:nvSpPr>
        <p:spPr>
          <a:xfrm>
            <a:off x="1185029" y="5594628"/>
            <a:ext cx="12260223" cy="282535"/>
          </a:xfrm>
          <a:prstGeom prst="rect">
            <a:avLst/>
          </a:prstGeom>
          <a:noFill/>
          <a:ln/>
        </p:spPr>
        <p:txBody>
          <a:bodyPr wrap="none" lIns="0" tIns="0" rIns="0" bIns="0" rtlCol="0" anchor="t"/>
          <a:lstStyle/>
          <a:p>
            <a:pPr indent="0" marL="0">
              <a:lnSpc>
                <a:spcPts val="2200"/>
              </a:lnSpc>
              <a:buNone/>
            </a:pPr>
            <a:r>
              <a:rPr lang="en-US" sz="1450" dirty="0">
                <a:solidFill>
                  <a:srgbClr val="E2E6E9"/>
                </a:solidFill>
                <a:latin typeface="Source Sans Pro" pitchFamily="34" charset="0"/>
                <a:ea typeface="Source Sans Pro" pitchFamily="34" charset="-122"/>
                <a:cs typeface="Source Sans Pro" pitchFamily="34" charset="-120"/>
              </a:rPr>
              <a:t>Para compilar e insertar el módulo, ejecutaríamos los siguientes comandos:</a:t>
            </a:r>
            <a:endParaRPr lang="en-US" sz="1450" dirty="0"/>
          </a:p>
        </p:txBody>
      </p:sp>
      <p:sp>
        <p:nvSpPr>
          <p:cNvPr id="9" name="Text 7"/>
          <p:cNvSpPr/>
          <p:nvPr/>
        </p:nvSpPr>
        <p:spPr>
          <a:xfrm>
            <a:off x="1467445" y="6300788"/>
            <a:ext cx="11977807" cy="565071"/>
          </a:xfrm>
          <a:prstGeom prst="rect">
            <a:avLst/>
          </a:prstGeom>
          <a:noFill/>
          <a:ln/>
        </p:spPr>
        <p:txBody>
          <a:bodyPr wrap="square" lIns="0" tIns="0" rIns="0" bIns="0" rtlCol="0" anchor="t"/>
          <a:lstStyle/>
          <a:p>
            <a:pPr indent="0" marL="0">
              <a:lnSpc>
                <a:spcPts val="2200"/>
              </a:lnSpc>
              <a:buNone/>
            </a:pPr>
            <a:r>
              <a:rPr lang="en-US" sz="1450" dirty="0">
                <a:solidFill>
                  <a:srgbClr val="E2E6E9"/>
                </a:solidFill>
                <a:latin typeface="Source Sans Pro" pitchFamily="34" charset="0"/>
                <a:ea typeface="Source Sans Pro" pitchFamily="34" charset="-122"/>
                <a:cs typeface="Source Sans Pro" pitchFamily="34" charset="-120"/>
              </a:rPr>
              <a:t>bash # Compilar el módulo make # Insertar el módulo en el kernel sudo insmod mi_modulo.ko # Ver los mensajes del kernel para confirmar dmesg | tail -n 10 # Eliminar el módulo sudo rmmod mi_modulo</a:t>
            </a:r>
            <a:endParaRPr lang="en-US" sz="1450" dirty="0"/>
          </a:p>
        </p:txBody>
      </p:sp>
      <p:sp>
        <p:nvSpPr>
          <p:cNvPr id="10" name="Shape 8"/>
          <p:cNvSpPr/>
          <p:nvPr/>
        </p:nvSpPr>
        <p:spPr>
          <a:xfrm>
            <a:off x="1185029" y="6088975"/>
            <a:ext cx="22860" cy="988695"/>
          </a:xfrm>
          <a:prstGeom prst="rect">
            <a:avLst/>
          </a:prstGeom>
          <a:solidFill>
            <a:srgbClr val="FFFFFF"/>
          </a:solidFill>
          <a:ln/>
        </p:spPr>
      </p:sp>
      <p:sp>
        <p:nvSpPr>
          <p:cNvPr id="11" name="Text 9"/>
          <p:cNvSpPr/>
          <p:nvPr/>
        </p:nvSpPr>
        <p:spPr>
          <a:xfrm>
            <a:off x="1185029" y="7289483"/>
            <a:ext cx="12260223" cy="282535"/>
          </a:xfrm>
          <a:prstGeom prst="rect">
            <a:avLst/>
          </a:prstGeom>
          <a:noFill/>
          <a:ln/>
        </p:spPr>
        <p:txBody>
          <a:bodyPr wrap="none" lIns="0" tIns="0" rIns="0" bIns="0" rtlCol="0" anchor="t"/>
          <a:lstStyle/>
          <a:p>
            <a:pPr indent="0" marL="0">
              <a:lnSpc>
                <a:spcPts val="2200"/>
              </a:lnSpc>
              <a:buNone/>
            </a:pPr>
            <a:r>
              <a:rPr lang="en-US" sz="1450" dirty="0">
                <a:solidFill>
                  <a:srgbClr val="E2E6E9"/>
                </a:solidFill>
                <a:latin typeface="Source Sans Pro" pitchFamily="34" charset="0"/>
                <a:ea typeface="Source Sans Pro" pitchFamily="34" charset="-122"/>
                <a:cs typeface="Source Sans Pro" pitchFamily="34" charset="-120"/>
              </a:rPr>
              <a:t>Al revisar los mensajes del kernel con dmesg, podremos ver el mensaje "Hola, este es mi primer módulo!" si todo ha funcionado correctamente.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85029" y="660440"/>
            <a:ext cx="9645491" cy="680561"/>
          </a:xfrm>
          <a:prstGeom prst="rect">
            <a:avLst/>
          </a:prstGeom>
          <a:noFill/>
          <a:ln/>
        </p:spPr>
        <p:txBody>
          <a:bodyPr wrap="none" lIns="0" tIns="0" rIns="0" bIns="0" rtlCol="0" anchor="t"/>
          <a:lstStyle/>
          <a:p>
            <a:pPr indent="0" marL="0">
              <a:lnSpc>
                <a:spcPts val="5350"/>
              </a:lnSpc>
              <a:buNone/>
            </a:pPr>
            <a:r>
              <a:rPr lang="en-US" sz="4250" b="1" spc="-43" kern="0" dirty="0">
                <a:solidFill>
                  <a:srgbClr val="FFFFFF"/>
                </a:solidFill>
                <a:latin typeface="Montserrat Bold" pitchFamily="34" charset="0"/>
                <a:ea typeface="Montserrat Bold" pitchFamily="34" charset="-122"/>
                <a:cs typeface="Montserrat Bold" pitchFamily="34" charset="-120"/>
              </a:rPr>
              <a:t>Depuración de Módulos del Kernel</a:t>
            </a:r>
            <a:endParaRPr lang="en-US" sz="4250" dirty="0"/>
          </a:p>
        </p:txBody>
      </p:sp>
      <p:sp>
        <p:nvSpPr>
          <p:cNvPr id="3" name="Text 1"/>
          <p:cNvSpPr/>
          <p:nvPr/>
        </p:nvSpPr>
        <p:spPr>
          <a:xfrm>
            <a:off x="1185029" y="1820108"/>
            <a:ext cx="12260223" cy="1077992"/>
          </a:xfrm>
          <a:prstGeom prst="rect">
            <a:avLst/>
          </a:prstGeom>
          <a:noFill/>
          <a:ln/>
        </p:spPr>
        <p:txBody>
          <a:bodyPr wrap="square" lIns="0" tIns="0" rIns="0" bIns="0" rtlCol="0" anchor="t"/>
          <a:lstStyle/>
          <a:p>
            <a:pP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Es común que los módulos del kernel presenten errores, ya que trabajan en un entorno de bajo nivel con acceso directo a hardware y memoria. La depuración de módulos se realiza principalmente con printk para generar mensajes en el registro del sistema.</a:t>
            </a:r>
            <a:endParaRPr lang="en-US" sz="1850" dirty="0"/>
          </a:p>
        </p:txBody>
      </p:sp>
      <p:sp>
        <p:nvSpPr>
          <p:cNvPr id="4" name="Text 2"/>
          <p:cNvSpPr/>
          <p:nvPr/>
        </p:nvSpPr>
        <p:spPr>
          <a:xfrm>
            <a:off x="1185029" y="3167539"/>
            <a:ext cx="12260223" cy="359331"/>
          </a:xfrm>
          <a:prstGeom prst="rect">
            <a:avLst/>
          </a:prstGeom>
          <a:noFill/>
          <a:ln/>
        </p:spPr>
        <p:txBody>
          <a:bodyPr wrap="none" lIns="0" tIns="0" rIns="0" bIns="0" rtlCol="0" anchor="t"/>
          <a:lstStyle/>
          <a:p>
            <a:pP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Ejemplo de depuración con printk:</a:t>
            </a:r>
            <a:endParaRPr lang="en-US" sz="1850" dirty="0"/>
          </a:p>
        </p:txBody>
      </p:sp>
      <p:sp>
        <p:nvSpPr>
          <p:cNvPr id="5" name="Text 3"/>
          <p:cNvSpPr/>
          <p:nvPr/>
        </p:nvSpPr>
        <p:spPr>
          <a:xfrm>
            <a:off x="1185029" y="3796308"/>
            <a:ext cx="12260223" cy="718661"/>
          </a:xfrm>
          <a:prstGeom prst="rect">
            <a:avLst/>
          </a:prstGeom>
          <a:noFill/>
          <a:ln/>
        </p:spPr>
        <p:txBody>
          <a:bodyPr wrap="square" lIns="0" tIns="0" rIns="0" bIns="0" rtlCol="0" anchor="t"/>
          <a:lstStyle/>
          <a:p>
            <a:pP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En el código de un módulo, podemos agregar mensajes printk en varias partes del código para identificar en qué parte podría fallar.</a:t>
            </a:r>
            <a:endParaRPr lang="en-US" sz="1850" dirty="0"/>
          </a:p>
        </p:txBody>
      </p:sp>
      <p:sp>
        <p:nvSpPr>
          <p:cNvPr id="6" name="Shape 4"/>
          <p:cNvSpPr/>
          <p:nvPr/>
        </p:nvSpPr>
        <p:spPr>
          <a:xfrm>
            <a:off x="1185029" y="4784408"/>
            <a:ext cx="12260223" cy="1796653"/>
          </a:xfrm>
          <a:prstGeom prst="roundRect">
            <a:avLst>
              <a:gd name="adj" fmla="val 2000"/>
            </a:avLst>
          </a:prstGeom>
          <a:solidFill>
            <a:srgbClr val="262626"/>
          </a:solidFill>
          <a:ln/>
        </p:spPr>
      </p:sp>
      <p:sp>
        <p:nvSpPr>
          <p:cNvPr id="7" name="Shape 5"/>
          <p:cNvSpPr/>
          <p:nvPr/>
        </p:nvSpPr>
        <p:spPr>
          <a:xfrm>
            <a:off x="1173123" y="4784408"/>
            <a:ext cx="12284035" cy="1796653"/>
          </a:xfrm>
          <a:prstGeom prst="roundRect">
            <a:avLst>
              <a:gd name="adj" fmla="val 2000"/>
            </a:avLst>
          </a:prstGeom>
          <a:solidFill>
            <a:srgbClr val="262626"/>
          </a:solidFill>
          <a:ln/>
        </p:spPr>
      </p:sp>
      <p:sp>
        <p:nvSpPr>
          <p:cNvPr id="8" name="Text 6"/>
          <p:cNvSpPr/>
          <p:nvPr/>
        </p:nvSpPr>
        <p:spPr>
          <a:xfrm>
            <a:off x="1412677" y="4964073"/>
            <a:ext cx="11804928" cy="1437323"/>
          </a:xfrm>
          <a:prstGeom prst="rect">
            <a:avLst/>
          </a:prstGeom>
          <a:noFill/>
          <a:ln/>
        </p:spPr>
        <p:txBody>
          <a:bodyPr wrap="square" lIns="0" tIns="0" rIns="0" bIns="0" rtlCol="0" anchor="t"/>
          <a:lstStyle/>
          <a:p>
            <a:pPr indent="0" marL="0">
              <a:lnSpc>
                <a:spcPts val="2800"/>
              </a:lnSpc>
              <a:buNone/>
            </a:pPr>
            <a:r>
              <a:rPr lang="en-US" sz="1850" dirty="0">
                <a:solidFill>
                  <a:srgbClr val="E2E6E9"/>
                </a:solidFill>
                <a:highlight>
                  <a:srgbClr val="262626"/>
                </a:highlight>
                <a:latin typeface="Consolas" pitchFamily="34" charset="0"/>
                <a:ea typeface="Consolas" pitchFamily="34" charset="-122"/>
                <a:cs typeface="Consolas" pitchFamily="34" charset="-120"/>
              </a:rPr>
              <a:t>printk(KERN_INFO "Iniciando el módulo...\n");
printk(KERN_DEBUG "Valor de la variable X: %d\n", x);
printk(KERN_ERR "Error al cargar el módulo!\n");
</a:t>
            </a:r>
            <a:endParaRPr lang="en-US" sz="1850" dirty="0"/>
          </a:p>
        </p:txBody>
      </p:sp>
      <p:sp>
        <p:nvSpPr>
          <p:cNvPr id="9" name="Text 7"/>
          <p:cNvSpPr/>
          <p:nvPr/>
        </p:nvSpPr>
        <p:spPr>
          <a:xfrm>
            <a:off x="1185029" y="6850499"/>
            <a:ext cx="12260223" cy="718661"/>
          </a:xfrm>
          <a:prstGeom prst="rect">
            <a:avLst/>
          </a:prstGeom>
          <a:noFill/>
          <a:ln/>
        </p:spPr>
        <p:txBody>
          <a:bodyPr wrap="square" lIns="0" tIns="0" rIns="0" bIns="0" rtlCol="0" anchor="t"/>
          <a:lstStyle/>
          <a:p>
            <a:pP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Dependiendo de la gravedad del mensaje, podemos usar KERN_INFO, KERN_DEBUG, o KERN_ERR para categorizar los mensajes. Luego, estos mensajes se pueden ver con dmesg.</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972800" y="0"/>
            <a:ext cx="3657600" cy="8232338"/>
          </a:xfrm>
          <a:prstGeom prst="rect">
            <a:avLst/>
          </a:prstGeom>
        </p:spPr>
      </p:pic>
      <p:sp>
        <p:nvSpPr>
          <p:cNvPr id="3" name="Text 0"/>
          <p:cNvSpPr/>
          <p:nvPr/>
        </p:nvSpPr>
        <p:spPr>
          <a:xfrm>
            <a:off x="768072" y="603528"/>
            <a:ext cx="9436656" cy="1246823"/>
          </a:xfrm>
          <a:prstGeom prst="rect">
            <a:avLst/>
          </a:prstGeom>
          <a:noFill/>
          <a:ln/>
        </p:spPr>
        <p:txBody>
          <a:bodyPr wrap="square" lIns="0" tIns="0" rIns="0" bIns="0" rtlCol="0" anchor="t"/>
          <a:lstStyle/>
          <a:p>
            <a:pPr indent="0" marL="0">
              <a:lnSpc>
                <a:spcPts val="4900"/>
              </a:lnSpc>
              <a:buNone/>
            </a:pPr>
            <a:r>
              <a:rPr lang="en-US" sz="3900" b="1" spc="-39" kern="0" dirty="0">
                <a:solidFill>
                  <a:srgbClr val="FFFFFF"/>
                </a:solidFill>
                <a:latin typeface="Montserrat Bold" pitchFamily="34" charset="0"/>
                <a:ea typeface="Montserrat Bold" pitchFamily="34" charset="-122"/>
                <a:cs typeface="Montserrat Bold" pitchFamily="34" charset="-120"/>
              </a:rPr>
              <a:t>Mejores Prácticas en el Desarrollo de Módulos (Parte 1)</a:t>
            </a:r>
            <a:endParaRPr lang="en-US" sz="3900" dirty="0"/>
          </a:p>
        </p:txBody>
      </p:sp>
      <p:sp>
        <p:nvSpPr>
          <p:cNvPr id="4" name="Text 1"/>
          <p:cNvSpPr/>
          <p:nvPr/>
        </p:nvSpPr>
        <p:spPr>
          <a:xfrm>
            <a:off x="768072" y="2179558"/>
            <a:ext cx="9436656" cy="658178"/>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Para asegurar que los módulos son seguros y eficientes, es importante seguir algunas prácticas de desarrollo:</a:t>
            </a:r>
            <a:endParaRPr lang="en-US" sz="1700" dirty="0"/>
          </a:p>
        </p:txBody>
      </p:sp>
      <p:sp>
        <p:nvSpPr>
          <p:cNvPr id="5" name="Shape 2"/>
          <p:cNvSpPr/>
          <p:nvPr/>
        </p:nvSpPr>
        <p:spPr>
          <a:xfrm>
            <a:off x="768072" y="3331369"/>
            <a:ext cx="493752" cy="493752"/>
          </a:xfrm>
          <a:prstGeom prst="roundRect">
            <a:avLst>
              <a:gd name="adj" fmla="val 6668"/>
            </a:avLst>
          </a:prstGeom>
          <a:solidFill>
            <a:srgbClr val="303132"/>
          </a:solidFill>
          <a:ln/>
        </p:spPr>
      </p:sp>
      <p:sp>
        <p:nvSpPr>
          <p:cNvPr id="6" name="Text 3"/>
          <p:cNvSpPr/>
          <p:nvPr/>
        </p:nvSpPr>
        <p:spPr>
          <a:xfrm>
            <a:off x="957739" y="3428524"/>
            <a:ext cx="114300" cy="299323"/>
          </a:xfrm>
          <a:prstGeom prst="rect">
            <a:avLst/>
          </a:prstGeom>
          <a:noFill/>
          <a:ln/>
        </p:spPr>
        <p:txBody>
          <a:bodyPr wrap="none" lIns="0" tIns="0" rIns="0" bIns="0" rtlCol="0" anchor="t"/>
          <a:lstStyle/>
          <a:p>
            <a:pPr algn="ctr" indent="0" marL="0">
              <a:lnSpc>
                <a:spcPts val="2350"/>
              </a:lnSpc>
              <a:buNone/>
            </a:pPr>
            <a:r>
              <a:rPr lang="en-US" sz="2350" b="1" spc="-24" kern="0" dirty="0">
                <a:solidFill>
                  <a:srgbClr val="E2E6E9"/>
                </a:solidFill>
                <a:latin typeface="Montserrat Bold" pitchFamily="34" charset="0"/>
                <a:ea typeface="Montserrat Bold" pitchFamily="34" charset="-122"/>
                <a:cs typeface="Montserrat Bold" pitchFamily="34" charset="-120"/>
              </a:rPr>
              <a:t>1</a:t>
            </a:r>
            <a:endParaRPr lang="en-US" sz="2350" dirty="0"/>
          </a:p>
        </p:txBody>
      </p:sp>
      <p:sp>
        <p:nvSpPr>
          <p:cNvPr id="7" name="Text 4"/>
          <p:cNvSpPr/>
          <p:nvPr/>
        </p:nvSpPr>
        <p:spPr>
          <a:xfrm>
            <a:off x="1481257" y="3331369"/>
            <a:ext cx="2494002" cy="311706"/>
          </a:xfrm>
          <a:prstGeom prst="rect">
            <a:avLst/>
          </a:prstGeom>
          <a:noFill/>
          <a:ln/>
        </p:spPr>
        <p:txBody>
          <a:bodyPr wrap="none" lIns="0" tIns="0" rIns="0" bIns="0" rtlCol="0" anchor="t"/>
          <a:lstStyle/>
          <a:p>
            <a:pPr indent="0" marL="0">
              <a:lnSpc>
                <a:spcPts val="2450"/>
              </a:lnSpc>
              <a:buNone/>
            </a:pPr>
            <a:r>
              <a:rPr lang="en-US" sz="1950" b="1" spc="-20" kern="0" dirty="0">
                <a:solidFill>
                  <a:srgbClr val="E2E6E9"/>
                </a:solidFill>
                <a:latin typeface="Montserrat Bold" pitchFamily="34" charset="0"/>
                <a:ea typeface="Montserrat Bold" pitchFamily="34" charset="-122"/>
                <a:cs typeface="Montserrat Bold" pitchFamily="34" charset="-120"/>
              </a:rPr>
              <a:t>Liberar los recursos</a:t>
            </a:r>
            <a:endParaRPr lang="en-US" sz="1950" dirty="0"/>
          </a:p>
        </p:txBody>
      </p:sp>
      <p:sp>
        <p:nvSpPr>
          <p:cNvPr id="8" name="Text 5"/>
          <p:cNvSpPr/>
          <p:nvPr/>
        </p:nvSpPr>
        <p:spPr>
          <a:xfrm>
            <a:off x="1481257" y="3774758"/>
            <a:ext cx="3895487" cy="987266"/>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Si el módulo solicita memoria u otros recursos, asegúrese de liberar todos los recursos al descargar el módulo.</a:t>
            </a:r>
            <a:endParaRPr lang="en-US" sz="1700" dirty="0"/>
          </a:p>
        </p:txBody>
      </p:sp>
      <p:sp>
        <p:nvSpPr>
          <p:cNvPr id="9" name="Shape 6"/>
          <p:cNvSpPr/>
          <p:nvPr/>
        </p:nvSpPr>
        <p:spPr>
          <a:xfrm>
            <a:off x="5596176" y="3331369"/>
            <a:ext cx="493752" cy="493752"/>
          </a:xfrm>
          <a:prstGeom prst="roundRect">
            <a:avLst>
              <a:gd name="adj" fmla="val 6668"/>
            </a:avLst>
          </a:prstGeom>
          <a:solidFill>
            <a:srgbClr val="303132"/>
          </a:solidFill>
          <a:ln/>
        </p:spPr>
      </p:sp>
      <p:sp>
        <p:nvSpPr>
          <p:cNvPr id="10" name="Text 7"/>
          <p:cNvSpPr/>
          <p:nvPr/>
        </p:nvSpPr>
        <p:spPr>
          <a:xfrm>
            <a:off x="5756196" y="3428524"/>
            <a:ext cx="173593" cy="299323"/>
          </a:xfrm>
          <a:prstGeom prst="rect">
            <a:avLst/>
          </a:prstGeom>
          <a:noFill/>
          <a:ln/>
        </p:spPr>
        <p:txBody>
          <a:bodyPr wrap="none" lIns="0" tIns="0" rIns="0" bIns="0" rtlCol="0" anchor="t"/>
          <a:lstStyle/>
          <a:p>
            <a:pPr algn="ctr" indent="0" marL="0">
              <a:lnSpc>
                <a:spcPts val="2350"/>
              </a:lnSpc>
              <a:buNone/>
            </a:pPr>
            <a:r>
              <a:rPr lang="en-US" sz="2350" b="1" spc="-24" kern="0" dirty="0">
                <a:solidFill>
                  <a:srgbClr val="E2E6E9"/>
                </a:solidFill>
                <a:latin typeface="Montserrat Bold" pitchFamily="34" charset="0"/>
                <a:ea typeface="Montserrat Bold" pitchFamily="34" charset="-122"/>
                <a:cs typeface="Montserrat Bold" pitchFamily="34" charset="-120"/>
              </a:rPr>
              <a:t>2</a:t>
            </a:r>
            <a:endParaRPr lang="en-US" sz="2350" dirty="0"/>
          </a:p>
        </p:txBody>
      </p:sp>
      <p:sp>
        <p:nvSpPr>
          <p:cNvPr id="11" name="Text 8"/>
          <p:cNvSpPr/>
          <p:nvPr/>
        </p:nvSpPr>
        <p:spPr>
          <a:xfrm>
            <a:off x="6309360" y="3331369"/>
            <a:ext cx="2494002" cy="311706"/>
          </a:xfrm>
          <a:prstGeom prst="rect">
            <a:avLst/>
          </a:prstGeom>
          <a:noFill/>
          <a:ln/>
        </p:spPr>
        <p:txBody>
          <a:bodyPr wrap="none" lIns="0" tIns="0" rIns="0" bIns="0" rtlCol="0" anchor="t"/>
          <a:lstStyle/>
          <a:p>
            <a:pPr indent="0" marL="0">
              <a:lnSpc>
                <a:spcPts val="2450"/>
              </a:lnSpc>
              <a:buNone/>
            </a:pPr>
            <a:r>
              <a:rPr lang="en-US" sz="1950" b="1" spc="-20" kern="0" dirty="0">
                <a:solidFill>
                  <a:srgbClr val="E2E6E9"/>
                </a:solidFill>
                <a:latin typeface="Montserrat Bold" pitchFamily="34" charset="0"/>
                <a:ea typeface="Montserrat Bold" pitchFamily="34" charset="-122"/>
                <a:cs typeface="Montserrat Bold" pitchFamily="34" charset="-120"/>
              </a:rPr>
              <a:t>Verificar permisos</a:t>
            </a:r>
            <a:endParaRPr lang="en-US" sz="1950" dirty="0"/>
          </a:p>
        </p:txBody>
      </p:sp>
      <p:sp>
        <p:nvSpPr>
          <p:cNvPr id="12" name="Text 9"/>
          <p:cNvSpPr/>
          <p:nvPr/>
        </p:nvSpPr>
        <p:spPr>
          <a:xfrm>
            <a:off x="6309360" y="3774758"/>
            <a:ext cx="3895487" cy="987266"/>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Asegurarse de que el acceso al módulo esté restringido adecuadamente para evitar vulnerabilidades de seguridad.</a:t>
            </a:r>
            <a:endParaRPr lang="en-US" sz="1700" dirty="0"/>
          </a:p>
        </p:txBody>
      </p:sp>
      <p:sp>
        <p:nvSpPr>
          <p:cNvPr id="13" name="Shape 10"/>
          <p:cNvSpPr/>
          <p:nvPr/>
        </p:nvSpPr>
        <p:spPr>
          <a:xfrm>
            <a:off x="768072" y="5228273"/>
            <a:ext cx="493752" cy="493752"/>
          </a:xfrm>
          <a:prstGeom prst="roundRect">
            <a:avLst>
              <a:gd name="adj" fmla="val 6668"/>
            </a:avLst>
          </a:prstGeom>
          <a:solidFill>
            <a:srgbClr val="303132"/>
          </a:solidFill>
          <a:ln/>
        </p:spPr>
      </p:sp>
      <p:sp>
        <p:nvSpPr>
          <p:cNvPr id="14" name="Text 11"/>
          <p:cNvSpPr/>
          <p:nvPr/>
        </p:nvSpPr>
        <p:spPr>
          <a:xfrm>
            <a:off x="927854" y="5325428"/>
            <a:ext cx="174188" cy="299323"/>
          </a:xfrm>
          <a:prstGeom prst="rect">
            <a:avLst/>
          </a:prstGeom>
          <a:noFill/>
          <a:ln/>
        </p:spPr>
        <p:txBody>
          <a:bodyPr wrap="none" lIns="0" tIns="0" rIns="0" bIns="0" rtlCol="0" anchor="t"/>
          <a:lstStyle/>
          <a:p>
            <a:pPr algn="ctr" indent="0" marL="0">
              <a:lnSpc>
                <a:spcPts val="2350"/>
              </a:lnSpc>
              <a:buNone/>
            </a:pPr>
            <a:r>
              <a:rPr lang="en-US" sz="2350" b="1" spc="-24" kern="0" dirty="0">
                <a:solidFill>
                  <a:srgbClr val="E2E6E9"/>
                </a:solidFill>
                <a:latin typeface="Montserrat Bold" pitchFamily="34" charset="0"/>
                <a:ea typeface="Montserrat Bold" pitchFamily="34" charset="-122"/>
                <a:cs typeface="Montserrat Bold" pitchFamily="34" charset="-120"/>
              </a:rPr>
              <a:t>3</a:t>
            </a:r>
            <a:endParaRPr lang="en-US" sz="2350" dirty="0"/>
          </a:p>
        </p:txBody>
      </p:sp>
      <p:sp>
        <p:nvSpPr>
          <p:cNvPr id="15" name="Text 12"/>
          <p:cNvSpPr/>
          <p:nvPr/>
        </p:nvSpPr>
        <p:spPr>
          <a:xfrm>
            <a:off x="1481257" y="5228273"/>
            <a:ext cx="3895487" cy="623411"/>
          </a:xfrm>
          <a:prstGeom prst="rect">
            <a:avLst/>
          </a:prstGeom>
          <a:noFill/>
          <a:ln/>
        </p:spPr>
        <p:txBody>
          <a:bodyPr wrap="square" lIns="0" tIns="0" rIns="0" bIns="0" rtlCol="0" anchor="t"/>
          <a:lstStyle/>
          <a:p>
            <a:pPr indent="0" marL="0">
              <a:lnSpc>
                <a:spcPts val="2450"/>
              </a:lnSpc>
              <a:buNone/>
            </a:pPr>
            <a:r>
              <a:rPr lang="en-US" sz="1950" b="1" spc="-20" kern="0" dirty="0">
                <a:solidFill>
                  <a:srgbClr val="E2E6E9"/>
                </a:solidFill>
                <a:latin typeface="Montserrat Bold" pitchFamily="34" charset="0"/>
                <a:ea typeface="Montserrat Bold" pitchFamily="34" charset="-122"/>
                <a:cs typeface="Montserrat Bold" pitchFamily="34" charset="-120"/>
              </a:rPr>
              <a:t>Evitar operaciones bloqueantes</a:t>
            </a:r>
            <a:endParaRPr lang="en-US" sz="1950" dirty="0"/>
          </a:p>
        </p:txBody>
      </p:sp>
      <p:sp>
        <p:nvSpPr>
          <p:cNvPr id="16" name="Text 13"/>
          <p:cNvSpPr/>
          <p:nvPr/>
        </p:nvSpPr>
        <p:spPr>
          <a:xfrm>
            <a:off x="1481257" y="5983367"/>
            <a:ext cx="3895487" cy="1645444"/>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Los módulos del kernel no deben realizar operaciones que puedan bloquearse, como esperar indefinidamente, ya que esto puede afectar el rendimiento del sistema.</a:t>
            </a:r>
            <a:endParaRPr lang="en-US" sz="1700" dirty="0"/>
          </a:p>
        </p:txBody>
      </p:sp>
      <p:sp>
        <p:nvSpPr>
          <p:cNvPr id="17" name="Shape 14"/>
          <p:cNvSpPr/>
          <p:nvPr/>
        </p:nvSpPr>
        <p:spPr>
          <a:xfrm>
            <a:off x="5596176" y="5228273"/>
            <a:ext cx="493752" cy="493752"/>
          </a:xfrm>
          <a:prstGeom prst="roundRect">
            <a:avLst>
              <a:gd name="adj" fmla="val 6668"/>
            </a:avLst>
          </a:prstGeom>
          <a:solidFill>
            <a:srgbClr val="303132"/>
          </a:solidFill>
          <a:ln/>
        </p:spPr>
      </p:sp>
      <p:sp>
        <p:nvSpPr>
          <p:cNvPr id="18" name="Text 15"/>
          <p:cNvSpPr/>
          <p:nvPr/>
        </p:nvSpPr>
        <p:spPr>
          <a:xfrm>
            <a:off x="5741432" y="5325428"/>
            <a:ext cx="203240" cy="299323"/>
          </a:xfrm>
          <a:prstGeom prst="rect">
            <a:avLst/>
          </a:prstGeom>
          <a:noFill/>
          <a:ln/>
        </p:spPr>
        <p:txBody>
          <a:bodyPr wrap="none" lIns="0" tIns="0" rIns="0" bIns="0" rtlCol="0" anchor="t"/>
          <a:lstStyle/>
          <a:p>
            <a:pPr algn="ctr" indent="0" marL="0">
              <a:lnSpc>
                <a:spcPts val="2350"/>
              </a:lnSpc>
              <a:buNone/>
            </a:pPr>
            <a:r>
              <a:rPr lang="en-US" sz="2350" b="1" spc="-24" kern="0" dirty="0">
                <a:solidFill>
                  <a:srgbClr val="E2E6E9"/>
                </a:solidFill>
                <a:latin typeface="Montserrat Bold" pitchFamily="34" charset="0"/>
                <a:ea typeface="Montserrat Bold" pitchFamily="34" charset="-122"/>
                <a:cs typeface="Montserrat Bold" pitchFamily="34" charset="-120"/>
              </a:rPr>
              <a:t>4</a:t>
            </a:r>
            <a:endParaRPr lang="en-US" sz="2350" dirty="0"/>
          </a:p>
        </p:txBody>
      </p:sp>
      <p:sp>
        <p:nvSpPr>
          <p:cNvPr id="19" name="Text 16"/>
          <p:cNvSpPr/>
          <p:nvPr/>
        </p:nvSpPr>
        <p:spPr>
          <a:xfrm>
            <a:off x="6309360" y="5228273"/>
            <a:ext cx="2944773" cy="311706"/>
          </a:xfrm>
          <a:prstGeom prst="rect">
            <a:avLst/>
          </a:prstGeom>
          <a:noFill/>
          <a:ln/>
        </p:spPr>
        <p:txBody>
          <a:bodyPr wrap="none" lIns="0" tIns="0" rIns="0" bIns="0" rtlCol="0" anchor="t"/>
          <a:lstStyle/>
          <a:p>
            <a:pPr indent="0" marL="0">
              <a:lnSpc>
                <a:spcPts val="2450"/>
              </a:lnSpc>
              <a:buNone/>
            </a:pPr>
            <a:r>
              <a:rPr lang="en-US" sz="1950" b="1" spc="-20" kern="0" dirty="0">
                <a:solidFill>
                  <a:srgbClr val="E2E6E9"/>
                </a:solidFill>
                <a:latin typeface="Montserrat Bold" pitchFamily="34" charset="0"/>
                <a:ea typeface="Montserrat Bold" pitchFamily="34" charset="-122"/>
                <a:cs typeface="Montserrat Bold" pitchFamily="34" charset="-120"/>
              </a:rPr>
              <a:t>Usar macros del kernel</a:t>
            </a:r>
            <a:endParaRPr lang="en-US" sz="1950" dirty="0"/>
          </a:p>
        </p:txBody>
      </p:sp>
      <p:sp>
        <p:nvSpPr>
          <p:cNvPr id="20" name="Text 17"/>
          <p:cNvSpPr/>
          <p:nvPr/>
        </p:nvSpPr>
        <p:spPr>
          <a:xfrm>
            <a:off x="6309360" y="5671661"/>
            <a:ext cx="3895487" cy="987266"/>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Las macros como module_init y module_exit facilitan la correcta inicialización y limpieza del módulo.</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85029" y="746998"/>
            <a:ext cx="11449169" cy="507325"/>
          </a:xfrm>
          <a:prstGeom prst="rect">
            <a:avLst/>
          </a:prstGeom>
          <a:noFill/>
          <a:ln/>
        </p:spPr>
        <p:txBody>
          <a:bodyPr wrap="none" lIns="0" tIns="0" rIns="0" bIns="0" rtlCol="0" anchor="t"/>
          <a:lstStyle/>
          <a:p>
            <a:pPr indent="0" marL="0">
              <a:lnSpc>
                <a:spcPts val="3950"/>
              </a:lnSpc>
              <a:buNone/>
            </a:pPr>
            <a:r>
              <a:rPr lang="en-US" sz="3150" b="1" spc="-32" kern="0" dirty="0">
                <a:solidFill>
                  <a:srgbClr val="FFFFFF"/>
                </a:solidFill>
                <a:latin typeface="Montserrat Bold" pitchFamily="34" charset="0"/>
                <a:ea typeface="Montserrat Bold" pitchFamily="34" charset="-122"/>
                <a:cs typeface="Montserrat Bold" pitchFamily="34" charset="-120"/>
              </a:rPr>
              <a:t>Mejores Prácticas en el Desarrollo de Módulos (Parte 2)</a:t>
            </a:r>
            <a:endParaRPr lang="en-US" sz="3150" dirty="0"/>
          </a:p>
        </p:txBody>
      </p:sp>
      <p:sp>
        <p:nvSpPr>
          <p:cNvPr id="3" name="Text 1"/>
          <p:cNvSpPr/>
          <p:nvPr/>
        </p:nvSpPr>
        <p:spPr>
          <a:xfrm>
            <a:off x="1185029" y="1522214"/>
            <a:ext cx="12260223" cy="267891"/>
          </a:xfrm>
          <a:prstGeom prst="rect">
            <a:avLst/>
          </a:prstGeom>
          <a:noFill/>
          <a:ln/>
        </p:spPr>
        <p:txBody>
          <a:bodyPr wrap="none" lIns="0" tIns="0" rIns="0" bIns="0" rtlCol="0" anchor="t"/>
          <a:lstStyle/>
          <a:p>
            <a:pPr indent="0" marL="0">
              <a:lnSpc>
                <a:spcPts val="2100"/>
              </a:lnSpc>
              <a:buNone/>
            </a:pPr>
            <a:r>
              <a:rPr lang="en-US" sz="1400" dirty="0">
                <a:solidFill>
                  <a:srgbClr val="E2E6E9"/>
                </a:solidFill>
                <a:latin typeface="Source Sans Pro" pitchFamily="34" charset="0"/>
                <a:ea typeface="Source Sans Pro" pitchFamily="34" charset="-122"/>
                <a:cs typeface="Source Sans Pro" pitchFamily="34" charset="-120"/>
              </a:rPr>
              <a:t>Ejemplo práctico de uso correcto de recursos:</a:t>
            </a:r>
            <a:endParaRPr lang="en-US" sz="1400" dirty="0"/>
          </a:p>
        </p:txBody>
      </p:sp>
      <p:sp>
        <p:nvSpPr>
          <p:cNvPr id="4" name="Text 2"/>
          <p:cNvSpPr/>
          <p:nvPr/>
        </p:nvSpPr>
        <p:spPr>
          <a:xfrm>
            <a:off x="1185029" y="1990963"/>
            <a:ext cx="12260223" cy="267891"/>
          </a:xfrm>
          <a:prstGeom prst="rect">
            <a:avLst/>
          </a:prstGeom>
          <a:noFill/>
          <a:ln/>
        </p:spPr>
        <p:txBody>
          <a:bodyPr wrap="none" lIns="0" tIns="0" rIns="0" bIns="0" rtlCol="0" anchor="t"/>
          <a:lstStyle/>
          <a:p>
            <a:pPr indent="0" marL="0">
              <a:lnSpc>
                <a:spcPts val="2100"/>
              </a:lnSpc>
              <a:buNone/>
            </a:pPr>
            <a:r>
              <a:rPr lang="en-US" sz="1400" dirty="0">
                <a:solidFill>
                  <a:srgbClr val="E2E6E9"/>
                </a:solidFill>
                <a:latin typeface="Source Sans Pro" pitchFamily="34" charset="0"/>
                <a:ea typeface="Source Sans Pro" pitchFamily="34" charset="-122"/>
                <a:cs typeface="Source Sans Pro" pitchFamily="34" charset="-120"/>
              </a:rPr>
              <a:t>Si un módulo reserva memoria con kmalloc, es fundamental que la libere con kfree en la función exit del módulo:</a:t>
            </a:r>
            <a:endParaRPr lang="en-US" sz="1400" dirty="0"/>
          </a:p>
        </p:txBody>
      </p:sp>
      <p:sp>
        <p:nvSpPr>
          <p:cNvPr id="5" name="Shape 3"/>
          <p:cNvSpPr/>
          <p:nvPr/>
        </p:nvSpPr>
        <p:spPr>
          <a:xfrm>
            <a:off x="1185029" y="2459712"/>
            <a:ext cx="12260223" cy="4554141"/>
          </a:xfrm>
          <a:prstGeom prst="roundRect">
            <a:avLst>
              <a:gd name="adj" fmla="val 588"/>
            </a:avLst>
          </a:prstGeom>
          <a:solidFill>
            <a:srgbClr val="262626"/>
          </a:solidFill>
          <a:ln/>
        </p:spPr>
      </p:sp>
      <p:sp>
        <p:nvSpPr>
          <p:cNvPr id="6" name="Shape 4"/>
          <p:cNvSpPr/>
          <p:nvPr/>
        </p:nvSpPr>
        <p:spPr>
          <a:xfrm>
            <a:off x="1176099" y="2459712"/>
            <a:ext cx="12278082" cy="4554141"/>
          </a:xfrm>
          <a:prstGeom prst="roundRect">
            <a:avLst>
              <a:gd name="adj" fmla="val 588"/>
            </a:avLst>
          </a:prstGeom>
          <a:solidFill>
            <a:srgbClr val="262626"/>
          </a:solidFill>
          <a:ln/>
        </p:spPr>
      </p:sp>
      <p:sp>
        <p:nvSpPr>
          <p:cNvPr id="7" name="Text 5"/>
          <p:cNvSpPr/>
          <p:nvPr/>
        </p:nvSpPr>
        <p:spPr>
          <a:xfrm>
            <a:off x="1354693" y="2593658"/>
            <a:ext cx="11920895" cy="4286250"/>
          </a:xfrm>
          <a:prstGeom prst="rect">
            <a:avLst/>
          </a:prstGeom>
          <a:noFill/>
          <a:ln/>
        </p:spPr>
        <p:txBody>
          <a:bodyPr wrap="square" lIns="0" tIns="0" rIns="0" bIns="0" rtlCol="0" anchor="t"/>
          <a:lstStyle/>
          <a:p>
            <a:pPr indent="0" marL="0">
              <a:lnSpc>
                <a:spcPts val="2100"/>
              </a:lnSpc>
              <a:buNone/>
            </a:pPr>
            <a:r>
              <a:rPr lang="en-US" sz="1400" dirty="0">
                <a:solidFill>
                  <a:srgbClr val="E2E6E9"/>
                </a:solidFill>
                <a:highlight>
                  <a:srgbClr val="262626"/>
                </a:highlight>
                <a:latin typeface="Consolas" pitchFamily="34" charset="0"/>
                <a:ea typeface="Consolas" pitchFamily="34" charset="-122"/>
                <a:cs typeface="Consolas" pitchFamily="34" charset="-120"/>
              </a:rPr>
              <a:t>#include &lt;linux/slab.h&gt; // Para kmalloc y kfree
static char *buffer;
static int __init mi_modulo_init(void) {
    buffer = kmalloc(1024, GFP_KERNEL);
    if (!buffer) return -ENOMEM;
    printk(KERN_INFO "Memoria asignada correctamente.\n");
    return 0;
}
static void __exit mi_modulo_exit(void) {
    kfree(buffer);
    printk(KERN_INFO "Memoria liberada.\n");
}
</a:t>
            </a:r>
            <a:endParaRPr lang="en-US" sz="1400" dirty="0"/>
          </a:p>
        </p:txBody>
      </p:sp>
      <p:sp>
        <p:nvSpPr>
          <p:cNvPr id="8" name="Text 6"/>
          <p:cNvSpPr/>
          <p:nvPr/>
        </p:nvSpPr>
        <p:spPr>
          <a:xfrm>
            <a:off x="1185029" y="7214711"/>
            <a:ext cx="12260223" cy="267891"/>
          </a:xfrm>
          <a:prstGeom prst="rect">
            <a:avLst/>
          </a:prstGeom>
          <a:noFill/>
          <a:ln/>
        </p:spPr>
        <p:txBody>
          <a:bodyPr wrap="none" lIns="0" tIns="0" rIns="0" bIns="0" rtlCol="0" anchor="t"/>
          <a:lstStyle/>
          <a:p>
            <a:pPr indent="0" marL="0">
              <a:lnSpc>
                <a:spcPts val="2100"/>
              </a:lnSpc>
              <a:buNone/>
            </a:pPr>
            <a:r>
              <a:rPr lang="en-US" sz="1400" dirty="0">
                <a:solidFill>
                  <a:srgbClr val="E2E6E9"/>
                </a:solidFill>
                <a:latin typeface="Source Sans Pro" pitchFamily="34" charset="0"/>
                <a:ea typeface="Source Sans Pro" pitchFamily="34" charset="-122"/>
                <a:cs typeface="Source Sans Pro" pitchFamily="34" charset="-120"/>
              </a:rPr>
              <a:t>Aquí, si asignamos memoria al cargar el módulo, nos aseguramos de liberarla en la función exit.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2024-11-04T20:35:53Z</dcterms:created>
  <dcterms:modified xsi:type="dcterms:W3CDTF">2024-11-04T20:35:53Z</dcterms:modified>
</cp:coreProperties>
</file>