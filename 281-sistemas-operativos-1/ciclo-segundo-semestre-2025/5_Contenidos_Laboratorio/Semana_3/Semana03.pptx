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Noto Sans SC"/>
      <p:regular r:id="rId39"/>
      <p:bold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5" roundtripDataSignature="AMtx7mjPrTnawD3TuVAP803FZjMTrHnW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EDFE3C-DBC1-46FC-9447-525642C8DC8A}">
  <a:tblStyle styleId="{B7EDFE3C-DBC1-46FC-9447-525642C8DC8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C-bold.fntdata"/><Relationship Id="rId20" Type="http://schemas.openxmlformats.org/officeDocument/2006/relationships/slide" Target="slides/slide13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5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4.xml"/><Relationship Id="rId43" Type="http://schemas.openxmlformats.org/officeDocument/2006/relationships/font" Target="fonts/OpenSans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NotoSansSC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a86015f6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g3aa86015f6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86015f6a_0_21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a86015f6a_0_21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a86015f6a_0_21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86015f6a_0_2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a86015f6a_0_2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a86015f6a_0_2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86015f6a_0_24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aa86015f6a_0_24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a86015f6a_0_24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a86015f6a_0_26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a86015f6a_0_26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a86015f6a_0_26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86015f6a_2_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a86015f6a_2_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a86015f6a_2_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a86015f6a_2_6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aa86015f6a_2_6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a86015f6a_2_6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86015f6a_2_8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a86015f6a_2_8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a86015f6a_2_8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86015f6a_2_1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aa86015f6a_2_1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a86015f6a_2_1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a86015f6a_2_1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a86015f6a_2_1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a86015f6a_2_1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a86015f6a_2_1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aa86015f6a_2_1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a86015f6a_2_1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a86015f6a_2_1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aa86015f6a_2_1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a86015f6a_2_1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86015f6a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a86015f6a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a86015f6a_2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a86015f6a_2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aa86015f6a_2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a86015f6a_2_2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aa86015f6a_2_2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aa86015f6a_2_2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a86015f6a_2_2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a86015f6a_2_2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aa86015f6a_2_2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a86015f6a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aa86015f6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a86015f6a_2_22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a86015f6a_2_22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aa86015f6a_2_22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a86015f6a_2_2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aa86015f6a_2_2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aa86015f6a_2_2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a86015f6a_2_2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aa86015f6a_2_2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aa86015f6a_2_2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a86015f6a_2_27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aa86015f6a_2_27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a86015f6a_2_27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a86015f6a_2_28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aa86015f6a_2_2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aa86015f6a_2_2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a86015f6a_2_31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aa86015f6a_2_31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aa86015f6a_2_31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a86015f6a_0_43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aa86015f6a_0_43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aa86015f6a_0_43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a86015f6a_0_4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aa86015f6a_0_4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aa86015f6a_0_4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a86015f6a_0_46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aa86015f6a_0_46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aa86015f6a_0_46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aa86015f6a_0_46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aa86015f6a_0_46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aa86015f6a_0_46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a86015f6a_0_48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aa86015f6a_0_48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aa86015f6a_0_48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a86015f6a_0_4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3aa86015f6a_0_4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aa86015f6a_0_4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a86015f6a_0_4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aa86015f6a_0_4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aa86015f6a_0_49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a86015f6a_0_51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3aa86015f6a_0_51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aa86015f6a_0_51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1430c98f2_0_1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371430c98f2_0_1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g371430c98f2_0_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71430c98f2_0_1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71430c98f2_0_1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71430c98f2_0_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71430c98f2_0_1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71430c98f2_0_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1430c98f2_0_1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71430c98f2_0_1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71430c98f2_0_1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71430c98f2_0_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71430c98f2_0_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71430c98f2_0_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71430c98f2_0_1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71430c98f2_0_1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71430c98f2_0_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71430c98f2_0_1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71430c98f2_0_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1430c98f2_0_1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71430c98f2_0_1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71430c98f2_0_1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71430c98f2_0_1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71430c98f2_0_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1430c98f2_0_14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71430c98f2_0_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71430c98f2_0_1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71430c98f2_0_1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71430c98f2_0_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1430c98f2_0_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1430c98f2_0_1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71430c98f2_0_1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71430c98f2_0_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jp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Relationship Id="rId4" Type="http://schemas.openxmlformats.org/officeDocument/2006/relationships/image" Target="../media/image28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jpg"/><Relationship Id="rId4" Type="http://schemas.openxmlformats.org/officeDocument/2006/relationships/image" Target="../media/image17.jpg"/><Relationship Id="rId5" Type="http://schemas.openxmlformats.org/officeDocument/2006/relationships/image" Target="../media/image27.png"/><Relationship Id="rId6" Type="http://schemas.openxmlformats.org/officeDocument/2006/relationships/image" Target="../media/image40.jpg"/><Relationship Id="rId7" Type="http://schemas.openxmlformats.org/officeDocument/2006/relationships/image" Target="../media/image15.png"/><Relationship Id="rId8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Relationship Id="rId4" Type="http://schemas.openxmlformats.org/officeDocument/2006/relationships/image" Target="../media/image37.jpg"/><Relationship Id="rId5" Type="http://schemas.openxmlformats.org/officeDocument/2006/relationships/image" Target="../media/image24.jpg"/><Relationship Id="rId6" Type="http://schemas.openxmlformats.org/officeDocument/2006/relationships/image" Target="../media/image43.png"/><Relationship Id="rId7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jp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docker.com" TargetMode="External"/><Relationship Id="rId4" Type="http://schemas.openxmlformats.org/officeDocument/2006/relationships/hyperlink" Target="https://docs.docker.com" TargetMode="External"/><Relationship Id="rId9" Type="http://schemas.openxmlformats.org/officeDocument/2006/relationships/hyperlink" Target="https://www.cnof.io/projects" TargetMode="External"/><Relationship Id="rId5" Type="http://schemas.openxmlformats.org/officeDocument/2006/relationships/hyperlink" Target="https://goharbor.io" TargetMode="External"/><Relationship Id="rId6" Type="http://schemas.openxmlformats.org/officeDocument/2006/relationships/hyperlink" Target="https://github.com/project-zot/zot" TargetMode="External"/><Relationship Id="rId7" Type="http://schemas.openxmlformats.org/officeDocument/2006/relationships/hyperlink" Target="https://containerd.io" TargetMode="External"/><Relationship Id="rId8" Type="http://schemas.openxmlformats.org/officeDocument/2006/relationships/hyperlink" Target="https://opencontainers.or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Relationship Id="rId4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g3aa86015f6a_0_203"/>
          <p:cNvPicPr preferRelativeResize="0"/>
          <p:nvPr/>
        </p:nvPicPr>
        <p:blipFill rotWithShape="1">
          <a:blip r:embed="rId3">
            <a:alphaModFix amt="60000"/>
          </a:blip>
          <a:srcRect b="0" l="0" r="0" t="0"/>
          <a:stretch/>
        </p:blipFill>
        <p:spPr>
          <a:xfrm>
            <a:off x="8451" y="-1875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" name="Google Shape;59;g3aa86015f6a_0_203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{B7EDFE3C-DBC1-46FC-9447-525642C8DC8A}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12</a:t>
                      </a:r>
                      <a:r>
                        <a:rPr lang="es" sz="1400" u="none" cap="none" strike="noStrike"/>
                        <a:t>/0</a:t>
                      </a:r>
                      <a:r>
                        <a:rPr lang="es"/>
                        <a:t>2</a:t>
                      </a:r>
                      <a:r>
                        <a:rPr lang="es" sz="1400" u="none" cap="none" strike="noStrike"/>
                        <a:t>/202</a:t>
                      </a:r>
                      <a:r>
                        <a:rPr lang="es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" name="Google Shape;60;g3aa86015f6a_0_203"/>
          <p:cNvSpPr/>
          <p:nvPr/>
        </p:nvSpPr>
        <p:spPr>
          <a:xfrm>
            <a:off x="2376818" y="2347535"/>
            <a:ext cx="4530600" cy="448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aa86015f6a_0_203"/>
          <p:cNvSpPr/>
          <p:nvPr/>
        </p:nvSpPr>
        <p:spPr>
          <a:xfrm>
            <a:off x="2376818" y="2911310"/>
            <a:ext cx="4530600" cy="448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aa86015f6a_0_203"/>
          <p:cNvSpPr txBox="1"/>
          <p:nvPr/>
        </p:nvSpPr>
        <p:spPr>
          <a:xfrm>
            <a:off x="2538600" y="2287050"/>
            <a:ext cx="436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1 [P]</a:t>
            </a:r>
            <a:endParaRPr b="1" i="0" sz="25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aa86015f6a_0_203"/>
          <p:cNvSpPr txBox="1"/>
          <p:nvPr/>
        </p:nvSpPr>
        <p:spPr>
          <a:xfrm>
            <a:off x="3497663" y="2852700"/>
            <a:ext cx="24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s" sz="2500"/>
              <a:t>Edgar Alvarez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aa86015f6a_0_203"/>
          <p:cNvSpPr txBox="1"/>
          <p:nvPr/>
        </p:nvSpPr>
        <p:spPr>
          <a:xfrm>
            <a:off x="865075" y="3627500"/>
            <a:ext cx="40698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INICIAMOS EN 5 MIN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a86015f6a_0_212"/>
          <p:cNvSpPr/>
          <p:nvPr/>
        </p:nvSpPr>
        <p:spPr>
          <a:xfrm>
            <a:off x="485873" y="377494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aa86015f6a_0_212"/>
          <p:cNvSpPr/>
          <p:nvPr/>
        </p:nvSpPr>
        <p:spPr>
          <a:xfrm>
            <a:off x="485873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72" name="Google Shape;72;g3aa86015f6a_0_212"/>
          <p:cNvSpPr/>
          <p:nvPr/>
        </p:nvSpPr>
        <p:spPr>
          <a:xfrm>
            <a:off x="698756" y="377494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a86015f6a_0_212"/>
          <p:cNvSpPr/>
          <p:nvPr/>
        </p:nvSpPr>
        <p:spPr>
          <a:xfrm>
            <a:off x="698756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74" name="Google Shape;74;g3aa86015f6a_0_212"/>
          <p:cNvSpPr/>
          <p:nvPr/>
        </p:nvSpPr>
        <p:spPr>
          <a:xfrm>
            <a:off x="911640" y="377494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a86015f6a_0_212"/>
          <p:cNvSpPr/>
          <p:nvPr/>
        </p:nvSpPr>
        <p:spPr>
          <a:xfrm>
            <a:off x="911640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76" name="Google Shape;76;g3aa86015f6a_0_212"/>
          <p:cNvSpPr/>
          <p:nvPr/>
        </p:nvSpPr>
        <p:spPr>
          <a:xfrm>
            <a:off x="1124524" y="377494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aa86015f6a_0_212"/>
          <p:cNvSpPr/>
          <p:nvPr/>
        </p:nvSpPr>
        <p:spPr>
          <a:xfrm>
            <a:off x="1124524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78" name="Google Shape;78;g3aa86015f6a_0_212"/>
          <p:cNvSpPr/>
          <p:nvPr/>
        </p:nvSpPr>
        <p:spPr>
          <a:xfrm>
            <a:off x="1337408" y="377494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a86015f6a_0_212"/>
          <p:cNvSpPr/>
          <p:nvPr/>
        </p:nvSpPr>
        <p:spPr>
          <a:xfrm>
            <a:off x="1337408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80" name="Google Shape;80;g3aa86015f6a_0_212"/>
          <p:cNvSpPr/>
          <p:nvPr/>
        </p:nvSpPr>
        <p:spPr>
          <a:xfrm>
            <a:off x="1550291" y="377494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a86015f6a_0_212"/>
          <p:cNvSpPr/>
          <p:nvPr/>
        </p:nvSpPr>
        <p:spPr>
          <a:xfrm>
            <a:off x="1550291" y="377494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20.png" id="82" name="Google Shape;82;g3aa86015f6a_0_212"/>
          <p:cNvPicPr preferRelativeResize="0"/>
          <p:nvPr/>
        </p:nvPicPr>
        <p:blipFill rotWithShape="1">
          <a:blip r:embed="rId3">
            <a:alphaModFix amt="40000"/>
          </a:blip>
          <a:srcRect b="309" l="10088" r="0" t="-39"/>
          <a:stretch/>
        </p:blipFill>
        <p:spPr>
          <a:xfrm>
            <a:off x="5322094" y="-19602"/>
            <a:ext cx="3821906" cy="51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aa86015f6a_0_212"/>
          <p:cNvSpPr txBox="1"/>
          <p:nvPr/>
        </p:nvSpPr>
        <p:spPr>
          <a:xfrm>
            <a:off x="485869" y="4051388"/>
            <a:ext cx="341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lt1"/>
                </a:solidFill>
              </a:rPr>
              <a:t>LABORATORIO SISTEMAS OPERATIVOS 1</a:t>
            </a:r>
            <a:endParaRPr b="1" sz="1300">
              <a:solidFill>
                <a:schemeClr val="lt1"/>
              </a:solidFill>
            </a:endParaRPr>
          </a:p>
        </p:txBody>
      </p:sp>
      <p:sp>
        <p:nvSpPr>
          <p:cNvPr id="84" name="Google Shape;84;g3aa86015f6a_0_212"/>
          <p:cNvSpPr txBox="1"/>
          <p:nvPr/>
        </p:nvSpPr>
        <p:spPr>
          <a:xfrm>
            <a:off x="485869" y="4297725"/>
            <a:ext cx="2618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="1" i="0" lang="es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scuela de </a:t>
            </a:r>
            <a:r>
              <a:rPr b="1" lang="es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s" sz="9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9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1" lang="es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g3aa86015f6a_0_212"/>
          <p:cNvSpPr txBox="1"/>
          <p:nvPr/>
        </p:nvSpPr>
        <p:spPr>
          <a:xfrm>
            <a:off x="398138" y="1615246"/>
            <a:ext cx="6917100" cy="18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700">
                <a:solidFill>
                  <a:schemeClr val="lt1"/>
                </a:solidFill>
              </a:rPr>
              <a:t>Fundamentos de Sistemas Operativos y Administración Avanzada </a:t>
            </a:r>
            <a:endParaRPr sz="1100"/>
          </a:p>
        </p:txBody>
      </p:sp>
      <p:pic>
        <p:nvPicPr>
          <p:cNvPr id="86" name="Google Shape;86;g3aa86015f6a_0_212" title="logo-ECYS-FIUSAC-COCOCY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8100" y="0"/>
            <a:ext cx="4155900" cy="513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a86015f6a_0_233"/>
          <p:cNvSpPr/>
          <p:nvPr/>
        </p:nvSpPr>
        <p:spPr>
          <a:xfrm>
            <a:off x="0" y="333366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700"/>
              <a:buFont typeface="Noto Sans SC"/>
              <a:buNone/>
            </a:pPr>
            <a:r>
              <a:rPr b="1" i="0" lang="es" sz="32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y Recursos</a:t>
            </a:r>
            <a:endParaRPr b="0" i="0" sz="1700" u="none" cap="none" strike="noStrike"/>
          </a:p>
        </p:txBody>
      </p:sp>
      <p:sp>
        <p:nvSpPr>
          <p:cNvPr id="93" name="Google Shape;93;g3aa86015f6a_0_233"/>
          <p:cNvSpPr/>
          <p:nvPr/>
        </p:nvSpPr>
        <p:spPr>
          <a:xfrm>
            <a:off x="723900" y="790566"/>
            <a:ext cx="769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rial"/>
              <a:buNone/>
            </a:pPr>
            <a:r>
              <a:rPr b="0" i="0" lang="e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vistazo a los temas a tratar y la</a:t>
            </a:r>
            <a:r>
              <a:rPr lang="es" sz="1400">
                <a:solidFill>
                  <a:srgbClr val="191919"/>
                </a:solidFill>
              </a:rPr>
              <a:t>s</a:t>
            </a:r>
            <a:r>
              <a:rPr b="0" i="0" lang="e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competencia</a:t>
            </a:r>
            <a:r>
              <a:rPr lang="es" sz="1400">
                <a:solidFill>
                  <a:srgbClr val="191919"/>
                </a:solidFill>
              </a:rPr>
              <a:t>s</a:t>
            </a:r>
            <a:r>
              <a:rPr b="0" i="0" lang="e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principal a desarrollar.</a:t>
            </a:r>
            <a:endParaRPr b="0" i="0" sz="1400" u="none" cap="none" strike="noStrike"/>
          </a:p>
        </p:txBody>
      </p:sp>
      <p:cxnSp>
        <p:nvCxnSpPr>
          <p:cNvPr id="94" name="Google Shape;94;g3aa86015f6a_0_233"/>
          <p:cNvCxnSpPr/>
          <p:nvPr/>
        </p:nvCxnSpPr>
        <p:spPr>
          <a:xfrm>
            <a:off x="342900" y="1283579"/>
            <a:ext cx="4076700" cy="0"/>
          </a:xfrm>
          <a:prstGeom prst="straightConnector1">
            <a:avLst/>
          </a:prstGeom>
          <a:noFill/>
          <a:ln cap="flat" cmpd="sng" w="381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g3aa86015f6a_0_233"/>
          <p:cNvSpPr/>
          <p:nvPr/>
        </p:nvSpPr>
        <p:spPr>
          <a:xfrm>
            <a:off x="342900" y="1474091"/>
            <a:ext cx="407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C"/>
              <a:buNone/>
            </a:pPr>
            <a:r>
              <a:rPr b="1" i="0" lang="es" sz="23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del Curso</a:t>
            </a:r>
            <a:endParaRPr b="1" i="0" sz="2000" u="none" cap="none" strike="noStrike"/>
          </a:p>
        </p:txBody>
      </p:sp>
      <p:cxnSp>
        <p:nvCxnSpPr>
          <p:cNvPr id="96" name="Google Shape;96;g3aa86015f6a_0_233"/>
          <p:cNvCxnSpPr/>
          <p:nvPr/>
        </p:nvCxnSpPr>
        <p:spPr>
          <a:xfrm>
            <a:off x="4724400" y="1283579"/>
            <a:ext cx="4076700" cy="0"/>
          </a:xfrm>
          <a:prstGeom prst="straightConnector1">
            <a:avLst/>
          </a:prstGeom>
          <a:noFill/>
          <a:ln cap="flat" cmpd="sng" w="38100">
            <a:solidFill>
              <a:srgbClr val="888B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g3aa86015f6a_0_233"/>
          <p:cNvSpPr/>
          <p:nvPr/>
        </p:nvSpPr>
        <p:spPr>
          <a:xfrm>
            <a:off x="4800600" y="1474091"/>
            <a:ext cx="4000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C"/>
              <a:buNone/>
            </a:pPr>
            <a:r>
              <a:rPr b="1" i="0" lang="es" sz="23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Recursos: </a:t>
            </a:r>
            <a:endParaRPr b="0" i="0" sz="2000" u="none" cap="none" strike="noStrike"/>
          </a:p>
        </p:txBody>
      </p:sp>
      <p:pic>
        <p:nvPicPr>
          <p:cNvPr id="98" name="Google Shape;98;g3aa86015f6a_0_233" title="BUHOADSFA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aa86015f6a_0_233"/>
          <p:cNvSpPr txBox="1"/>
          <p:nvPr/>
        </p:nvSpPr>
        <p:spPr>
          <a:xfrm>
            <a:off x="342825" y="1925450"/>
            <a:ext cx="4229100" cy="22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NOTIFICACIONES IMPORTANTES</a:t>
            </a:r>
            <a:endParaRPr sz="2000"/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TEMAS A VER</a:t>
            </a:r>
            <a:endParaRPr sz="2000"/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000"/>
              <a:t>EJEMPLO PRACTICO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86015f6a_0_245"/>
          <p:cNvSpPr/>
          <p:nvPr/>
        </p:nvSpPr>
        <p:spPr>
          <a:xfrm>
            <a:off x="1165860" y="2510314"/>
            <a:ext cx="68145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 estudiante desarrolla proyectos que integran máquinas virtuales y contenedores, utilizando tecnologías como Docker, Containerd, Harbor y Zot, para comprender el ciclo de vida completo de despliegue, gestión y distribución de servicios en entornos modernos.</a:t>
            </a:r>
            <a:endParaRPr b="0" i="0" sz="1200" u="none" cap="none" strike="noStrike"/>
          </a:p>
        </p:txBody>
      </p:sp>
      <p:sp>
        <p:nvSpPr>
          <p:cNvPr id="106" name="Google Shape;106;g3aa86015f6a_0_245"/>
          <p:cNvSpPr/>
          <p:nvPr/>
        </p:nvSpPr>
        <p:spPr>
          <a:xfrm>
            <a:off x="857250" y="1255395"/>
            <a:ext cx="7429500" cy="3257700"/>
          </a:xfrm>
          <a:prstGeom prst="roundRect">
            <a:avLst>
              <a:gd fmla="val 4487" name="adj"/>
            </a:avLst>
          </a:prstGeom>
          <a:solidFill>
            <a:srgbClr val="000000">
              <a:alpha val="0"/>
            </a:srgbClr>
          </a:solidFill>
          <a:ln cap="flat" cmpd="sng" w="1430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a86015f6a_0_245"/>
          <p:cNvSpPr/>
          <p:nvPr/>
        </p:nvSpPr>
        <p:spPr>
          <a:xfrm>
            <a:off x="976781" y="1255395"/>
            <a:ext cx="7429500" cy="3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08" name="Google Shape;108;g3aa86015f6a_0_245"/>
          <p:cNvSpPr/>
          <p:nvPr/>
        </p:nvSpPr>
        <p:spPr>
          <a:xfrm>
            <a:off x="857250" y="1255395"/>
            <a:ext cx="5977890" cy="445770"/>
          </a:xfrm>
          <a:custGeom>
            <a:rect b="b" l="l" r="r" t="t"/>
            <a:pathLst>
              <a:path extrusionOk="0" h="594360" w="7970520">
                <a:moveTo>
                  <a:pt x="194945" y="0"/>
                </a:moveTo>
                <a:lnTo>
                  <a:pt x="7673340" y="0"/>
                </a:lnTo>
                <a:cubicBezTo>
                  <a:pt x="7840345" y="-5080"/>
                  <a:pt x="7974330" y="147320"/>
                  <a:pt x="7970520" y="297180"/>
                </a:cubicBezTo>
                <a:cubicBezTo>
                  <a:pt x="7975600" y="464185"/>
                  <a:pt x="7823200" y="598170"/>
                  <a:pt x="7673340" y="594360"/>
                </a:cubicBezTo>
                <a:lnTo>
                  <a:pt x="0" y="594360"/>
                </a:lnTo>
                <a:lnTo>
                  <a:pt x="0" y="194945"/>
                </a:lnTo>
                <a:cubicBezTo>
                  <a:pt x="-3175" y="85725"/>
                  <a:pt x="96520" y="-2540"/>
                  <a:pt x="194945" y="0"/>
                </a:cubicBezTo>
                <a:close/>
              </a:path>
            </a:pathLst>
          </a:cu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a86015f6a_0_245"/>
          <p:cNvSpPr/>
          <p:nvPr/>
        </p:nvSpPr>
        <p:spPr>
          <a:xfrm>
            <a:off x="857250" y="1255395"/>
            <a:ext cx="5977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cxnSp>
        <p:nvCxnSpPr>
          <p:cNvPr id="110" name="Google Shape;110;g3aa86015f6a_0_245"/>
          <p:cNvCxnSpPr/>
          <p:nvPr/>
        </p:nvCxnSpPr>
        <p:spPr>
          <a:xfrm rot="10800000">
            <a:off x="857250" y="1695450"/>
            <a:ext cx="7429500" cy="0"/>
          </a:xfrm>
          <a:prstGeom prst="straightConnector1">
            <a:avLst/>
          </a:prstGeom>
          <a:noFill/>
          <a:ln cap="flat" cmpd="sng" w="9525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g3aa86015f6a_0_245"/>
          <p:cNvSpPr/>
          <p:nvPr/>
        </p:nvSpPr>
        <p:spPr>
          <a:xfrm flipH="1" rot="10800000">
            <a:off x="7523798" y="1432710"/>
            <a:ext cx="481200" cy="5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a86015f6a_0_245"/>
          <p:cNvSpPr/>
          <p:nvPr/>
        </p:nvSpPr>
        <p:spPr>
          <a:xfrm>
            <a:off x="7523798" y="1432560"/>
            <a:ext cx="481200" cy="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13" name="Google Shape;113;g3aa86015f6a_0_245"/>
          <p:cNvSpPr/>
          <p:nvPr/>
        </p:nvSpPr>
        <p:spPr>
          <a:xfrm flipH="1" rot="10800000">
            <a:off x="7447598" y="1432710"/>
            <a:ext cx="56700" cy="57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aa86015f6a_0_245"/>
          <p:cNvSpPr/>
          <p:nvPr/>
        </p:nvSpPr>
        <p:spPr>
          <a:xfrm>
            <a:off x="7447598" y="1432560"/>
            <a:ext cx="56700" cy="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15" name="Google Shape;115;g3aa86015f6a_0_245"/>
          <p:cNvSpPr/>
          <p:nvPr/>
        </p:nvSpPr>
        <p:spPr>
          <a:xfrm flipH="1" rot="10800000">
            <a:off x="857250" y="4363845"/>
            <a:ext cx="7430400" cy="149100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232323"/>
              </a:gs>
              <a:gs pos="100000">
                <a:srgbClr val="5A5A5A"/>
              </a:gs>
            </a:gsLst>
            <a:lin ang="5400012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a86015f6a_0_245"/>
          <p:cNvSpPr/>
          <p:nvPr/>
        </p:nvSpPr>
        <p:spPr>
          <a:xfrm>
            <a:off x="857250" y="4363879"/>
            <a:ext cx="74304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17" name="Google Shape;117;g3aa86015f6a_0_245"/>
          <p:cNvSpPr/>
          <p:nvPr/>
        </p:nvSpPr>
        <p:spPr>
          <a:xfrm>
            <a:off x="1276576" y="509120"/>
            <a:ext cx="67281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118" name="Google Shape;118;g3aa86015f6a_0_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44" y="558765"/>
            <a:ext cx="400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aa86015f6a_0_245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aa86015f6a_0_264" title="unnamed-removebg-preview.png"/>
          <p:cNvPicPr preferRelativeResize="0"/>
          <p:nvPr/>
        </p:nvPicPr>
        <p:blipFill rotWithShape="1">
          <a:blip r:embed="rId3">
            <a:alphaModFix/>
          </a:blip>
          <a:srcRect b="16424" l="0" r="0" t="16424"/>
          <a:stretch/>
        </p:blipFill>
        <p:spPr>
          <a:xfrm>
            <a:off x="542925" y="1136738"/>
            <a:ext cx="3141821" cy="282763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aa86015f6a_0_264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a86015f6a_0_264"/>
          <p:cNvSpPr/>
          <p:nvPr/>
        </p:nvSpPr>
        <p:spPr>
          <a:xfrm>
            <a:off x="4038124" y="2100993"/>
            <a:ext cx="4062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" sz="4300">
                <a:solidFill>
                  <a:schemeClr val="lt1"/>
                </a:solidFill>
              </a:rPr>
              <a:t>CONTENIDO</a:t>
            </a:r>
            <a:endParaRPr b="1" sz="4300">
              <a:solidFill>
                <a:schemeClr val="lt1"/>
              </a:solidFill>
            </a:endParaRPr>
          </a:p>
        </p:txBody>
      </p:sp>
      <p:pic>
        <p:nvPicPr>
          <p:cNvPr id="128" name="Google Shape;128;g3aa86015f6a_0_264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aa86015f6a_2_54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aa86015f6a_2_54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a86015f6a_2_54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 vs GUI y Docker</a:t>
            </a:r>
            <a:endParaRPr b="0" i="0" sz="1200" u="none" cap="none" strike="noStrike"/>
          </a:p>
        </p:txBody>
      </p:sp>
      <p:sp>
        <p:nvSpPr>
          <p:cNvPr id="137" name="Google Shape;137;g3aa86015f6a_2_54"/>
          <p:cNvSpPr/>
          <p:nvPr/>
        </p:nvSpPr>
        <p:spPr>
          <a:xfrm>
            <a:off x="4038124" y="1459230"/>
            <a:ext cx="2542699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8-d2nfau18bjvh7rlj0jdg.png" id="143" name="Google Shape;143;g3aa86015f6a_2_62"/>
          <p:cNvPicPr preferRelativeResize="0"/>
          <p:nvPr/>
        </p:nvPicPr>
        <p:blipFill rotWithShape="1">
          <a:blip r:embed="rId3">
            <a:alphaModFix/>
          </a:blip>
          <a:srcRect b="98" l="0" r="0" t="99"/>
          <a:stretch/>
        </p:blipFill>
        <p:spPr>
          <a:xfrm>
            <a:off x="3036570" y="2452688"/>
            <a:ext cx="3007043" cy="203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aa86015f6a_2_62"/>
          <p:cNvPicPr preferRelativeResize="0"/>
          <p:nvPr/>
        </p:nvPicPr>
        <p:blipFill rotWithShape="1">
          <a:blip r:embed="rId4">
            <a:alphaModFix/>
          </a:blip>
          <a:srcRect b="0" l="602" r="602" t="0"/>
          <a:stretch/>
        </p:blipFill>
        <p:spPr>
          <a:xfrm>
            <a:off x="2555081" y="2241232"/>
            <a:ext cx="3949065" cy="248259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aa86015f6a_2_62"/>
          <p:cNvSpPr/>
          <p:nvPr/>
        </p:nvSpPr>
        <p:spPr>
          <a:xfrm>
            <a:off x="7482364" y="2751296"/>
            <a:ext cx="289560" cy="294799"/>
          </a:xfrm>
          <a:custGeom>
            <a:rect b="b" l="l" r="r" t="t"/>
            <a:pathLst>
              <a:path extrusionOk="0" h="393065" w="386080">
                <a:moveTo>
                  <a:pt x="215535" y="151783"/>
                </a:moveTo>
                <a:lnTo>
                  <a:pt x="242350" y="178492"/>
                </a:lnTo>
                <a:cubicBezTo>
                  <a:pt x="255477" y="191568"/>
                  <a:pt x="262770" y="209002"/>
                  <a:pt x="262770" y="227554"/>
                </a:cubicBezTo>
                <a:cubicBezTo>
                  <a:pt x="262770" y="246217"/>
                  <a:pt x="255477" y="263651"/>
                  <a:pt x="242350" y="276726"/>
                </a:cubicBezTo>
                <a:lnTo>
                  <a:pt x="145971" y="372837"/>
                </a:lnTo>
                <a:cubicBezTo>
                  <a:pt x="132283" y="386360"/>
                  <a:pt x="114443" y="393065"/>
                  <a:pt x="96603" y="393065"/>
                </a:cubicBezTo>
                <a:cubicBezTo>
                  <a:pt x="78651" y="393065"/>
                  <a:pt x="60812" y="386360"/>
                  <a:pt x="47235" y="372837"/>
                </a:cubicBezTo>
                <a:lnTo>
                  <a:pt x="20420" y="346127"/>
                </a:lnTo>
                <a:cubicBezTo>
                  <a:pt x="7293" y="333052"/>
                  <a:pt x="0" y="315618"/>
                  <a:pt x="0" y="296955"/>
                </a:cubicBezTo>
                <a:cubicBezTo>
                  <a:pt x="0" y="278403"/>
                  <a:pt x="7293" y="260969"/>
                  <a:pt x="20533" y="247893"/>
                </a:cubicBezTo>
                <a:lnTo>
                  <a:pt x="97052" y="171563"/>
                </a:lnTo>
                <a:lnTo>
                  <a:pt x="126672" y="201179"/>
                </a:lnTo>
                <a:lnTo>
                  <a:pt x="50153" y="277397"/>
                </a:lnTo>
                <a:cubicBezTo>
                  <a:pt x="44880" y="282650"/>
                  <a:pt x="41962" y="289579"/>
                  <a:pt x="41962" y="296955"/>
                </a:cubicBezTo>
                <a:cubicBezTo>
                  <a:pt x="41962" y="304442"/>
                  <a:pt x="44880" y="311371"/>
                  <a:pt x="50153" y="316623"/>
                </a:cubicBezTo>
                <a:lnTo>
                  <a:pt x="76856" y="343222"/>
                </a:lnTo>
                <a:cubicBezTo>
                  <a:pt x="87739" y="354062"/>
                  <a:pt x="105355" y="354062"/>
                  <a:pt x="116238" y="343222"/>
                </a:cubicBezTo>
                <a:lnTo>
                  <a:pt x="212617" y="247223"/>
                </a:lnTo>
                <a:cubicBezTo>
                  <a:pt x="217890" y="241970"/>
                  <a:pt x="220808" y="235041"/>
                  <a:pt x="220808" y="227554"/>
                </a:cubicBezTo>
                <a:cubicBezTo>
                  <a:pt x="220808" y="220178"/>
                  <a:pt x="217890" y="213249"/>
                  <a:pt x="212617" y="207996"/>
                </a:cubicBezTo>
                <a:lnTo>
                  <a:pt x="185914" y="181398"/>
                </a:lnTo>
                <a:close/>
                <a:moveTo>
                  <a:pt x="289589" y="0"/>
                </a:moveTo>
                <a:cubicBezTo>
                  <a:pt x="308214" y="0"/>
                  <a:pt x="325717" y="7265"/>
                  <a:pt x="338957" y="20340"/>
                </a:cubicBezTo>
                <a:lnTo>
                  <a:pt x="365660" y="47050"/>
                </a:lnTo>
                <a:cubicBezTo>
                  <a:pt x="378787" y="60125"/>
                  <a:pt x="386080" y="77559"/>
                  <a:pt x="386080" y="96110"/>
                </a:cubicBezTo>
                <a:cubicBezTo>
                  <a:pt x="386080" y="114662"/>
                  <a:pt x="378787" y="132208"/>
                  <a:pt x="365660" y="145284"/>
                </a:cubicBezTo>
                <a:lnTo>
                  <a:pt x="289140" y="221502"/>
                </a:lnTo>
                <a:lnTo>
                  <a:pt x="259408" y="191998"/>
                </a:lnTo>
                <a:lnTo>
                  <a:pt x="335927" y="115780"/>
                </a:lnTo>
                <a:cubicBezTo>
                  <a:pt x="341200" y="110527"/>
                  <a:pt x="344118" y="103598"/>
                  <a:pt x="344118" y="96110"/>
                </a:cubicBezTo>
                <a:cubicBezTo>
                  <a:pt x="344118" y="88735"/>
                  <a:pt x="341200" y="81806"/>
                  <a:pt x="335927" y="76554"/>
                </a:cubicBezTo>
                <a:lnTo>
                  <a:pt x="309224" y="49955"/>
                </a:lnTo>
                <a:cubicBezTo>
                  <a:pt x="303950" y="44703"/>
                  <a:pt x="296994" y="41797"/>
                  <a:pt x="289589" y="41797"/>
                </a:cubicBezTo>
                <a:cubicBezTo>
                  <a:pt x="282184" y="41797"/>
                  <a:pt x="275115" y="44703"/>
                  <a:pt x="269954" y="49955"/>
                </a:cubicBezTo>
                <a:lnTo>
                  <a:pt x="173463" y="145954"/>
                </a:lnTo>
                <a:cubicBezTo>
                  <a:pt x="168190" y="151206"/>
                  <a:pt x="165385" y="158135"/>
                  <a:pt x="165385" y="165511"/>
                </a:cubicBezTo>
                <a:cubicBezTo>
                  <a:pt x="165385" y="172999"/>
                  <a:pt x="168190" y="179928"/>
                  <a:pt x="173463" y="185181"/>
                </a:cubicBezTo>
                <a:lnTo>
                  <a:pt x="200278" y="211778"/>
                </a:lnTo>
                <a:lnTo>
                  <a:pt x="170546" y="241282"/>
                </a:lnTo>
                <a:lnTo>
                  <a:pt x="143843" y="214685"/>
                </a:lnTo>
                <a:cubicBezTo>
                  <a:pt x="130603" y="201609"/>
                  <a:pt x="123310" y="184175"/>
                  <a:pt x="123310" y="165511"/>
                </a:cubicBezTo>
                <a:cubicBezTo>
                  <a:pt x="123310" y="146960"/>
                  <a:pt x="130603" y="129526"/>
                  <a:pt x="143843" y="116339"/>
                </a:cubicBezTo>
                <a:lnTo>
                  <a:pt x="240221" y="20340"/>
                </a:lnTo>
                <a:cubicBezTo>
                  <a:pt x="253349" y="7265"/>
                  <a:pt x="270964" y="0"/>
                  <a:pt x="28958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a86015f6a_2_62"/>
          <p:cNvSpPr/>
          <p:nvPr/>
        </p:nvSpPr>
        <p:spPr>
          <a:xfrm>
            <a:off x="7482364" y="2751296"/>
            <a:ext cx="289560" cy="29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47" name="Google Shape;147;g3aa86015f6a_2_62"/>
          <p:cNvSpPr/>
          <p:nvPr/>
        </p:nvSpPr>
        <p:spPr>
          <a:xfrm>
            <a:off x="1446371" y="2781776"/>
            <a:ext cx="289560" cy="294799"/>
          </a:xfrm>
          <a:custGeom>
            <a:rect b="b" l="l" r="r" t="t"/>
            <a:pathLst>
              <a:path extrusionOk="0" h="393065" w="386080">
                <a:moveTo>
                  <a:pt x="263970" y="158609"/>
                </a:moveTo>
                <a:cubicBezTo>
                  <a:pt x="272951" y="158609"/>
                  <a:pt x="280396" y="166129"/>
                  <a:pt x="280396" y="175273"/>
                </a:cubicBezTo>
                <a:lnTo>
                  <a:pt x="280396" y="247883"/>
                </a:lnTo>
                <a:cubicBezTo>
                  <a:pt x="279569" y="257027"/>
                  <a:pt x="272951" y="264547"/>
                  <a:pt x="263970" y="264547"/>
                </a:cubicBezTo>
                <a:cubicBezTo>
                  <a:pt x="254930" y="264547"/>
                  <a:pt x="247603" y="257027"/>
                  <a:pt x="247603" y="247883"/>
                </a:cubicBezTo>
                <a:lnTo>
                  <a:pt x="247603" y="175273"/>
                </a:lnTo>
                <a:cubicBezTo>
                  <a:pt x="247603" y="166129"/>
                  <a:pt x="254989" y="158609"/>
                  <a:pt x="263970" y="158609"/>
                </a:cubicBezTo>
                <a:close/>
                <a:moveTo>
                  <a:pt x="192695" y="108549"/>
                </a:moveTo>
                <a:cubicBezTo>
                  <a:pt x="201676" y="108549"/>
                  <a:pt x="209062" y="116069"/>
                  <a:pt x="209062" y="125213"/>
                </a:cubicBezTo>
                <a:lnTo>
                  <a:pt x="209062" y="247883"/>
                </a:lnTo>
                <a:cubicBezTo>
                  <a:pt x="209062" y="257027"/>
                  <a:pt x="201676" y="264547"/>
                  <a:pt x="192695" y="264547"/>
                </a:cubicBezTo>
                <a:cubicBezTo>
                  <a:pt x="183596" y="264547"/>
                  <a:pt x="176270" y="257027"/>
                  <a:pt x="176270" y="247883"/>
                </a:cubicBezTo>
                <a:lnTo>
                  <a:pt x="176270" y="125213"/>
                </a:lnTo>
                <a:cubicBezTo>
                  <a:pt x="176270" y="116069"/>
                  <a:pt x="183714" y="108549"/>
                  <a:pt x="192695" y="108549"/>
                </a:cubicBezTo>
                <a:close/>
                <a:moveTo>
                  <a:pt x="121353" y="70076"/>
                </a:moveTo>
                <a:cubicBezTo>
                  <a:pt x="130338" y="70076"/>
                  <a:pt x="137727" y="77657"/>
                  <a:pt x="137727" y="86803"/>
                </a:cubicBezTo>
                <a:lnTo>
                  <a:pt x="137727" y="247880"/>
                </a:lnTo>
                <a:cubicBezTo>
                  <a:pt x="137727" y="257026"/>
                  <a:pt x="130338" y="264547"/>
                  <a:pt x="121353" y="264547"/>
                </a:cubicBezTo>
                <a:cubicBezTo>
                  <a:pt x="112309" y="264547"/>
                  <a:pt x="104980" y="257026"/>
                  <a:pt x="104980" y="247880"/>
                </a:cubicBezTo>
                <a:lnTo>
                  <a:pt x="104980" y="86803"/>
                </a:lnTo>
                <a:cubicBezTo>
                  <a:pt x="104980" y="77657"/>
                  <a:pt x="112369" y="70076"/>
                  <a:pt x="121353" y="70076"/>
                </a:cubicBezTo>
                <a:close/>
                <a:moveTo>
                  <a:pt x="54909" y="33392"/>
                </a:moveTo>
                <a:lnTo>
                  <a:pt x="54909" y="301312"/>
                </a:lnTo>
                <a:lnTo>
                  <a:pt x="329575" y="301312"/>
                </a:lnTo>
                <a:lnTo>
                  <a:pt x="329575" y="33392"/>
                </a:lnTo>
                <a:close/>
                <a:moveTo>
                  <a:pt x="16372" y="0"/>
                </a:moveTo>
                <a:lnTo>
                  <a:pt x="369767" y="0"/>
                </a:lnTo>
                <a:cubicBezTo>
                  <a:pt x="378751" y="0"/>
                  <a:pt x="386139" y="7521"/>
                  <a:pt x="386080" y="16666"/>
                </a:cubicBezTo>
                <a:cubicBezTo>
                  <a:pt x="386080" y="25811"/>
                  <a:pt x="377864" y="33392"/>
                  <a:pt x="368880" y="33392"/>
                </a:cubicBezTo>
                <a:lnTo>
                  <a:pt x="362319" y="33392"/>
                </a:lnTo>
                <a:lnTo>
                  <a:pt x="362319" y="317135"/>
                </a:lnTo>
                <a:cubicBezTo>
                  <a:pt x="362319" y="327123"/>
                  <a:pt x="354931" y="333801"/>
                  <a:pt x="345947" y="333801"/>
                </a:cubicBezTo>
                <a:lnTo>
                  <a:pt x="303332" y="333801"/>
                </a:lnTo>
                <a:lnTo>
                  <a:pt x="303332" y="376399"/>
                </a:lnTo>
                <a:cubicBezTo>
                  <a:pt x="303332" y="385544"/>
                  <a:pt x="295884" y="393065"/>
                  <a:pt x="286900" y="393065"/>
                </a:cubicBezTo>
                <a:cubicBezTo>
                  <a:pt x="277916" y="393065"/>
                  <a:pt x="270528" y="385544"/>
                  <a:pt x="270528" y="376399"/>
                </a:cubicBezTo>
                <a:lnTo>
                  <a:pt x="270528" y="333801"/>
                </a:lnTo>
                <a:lnTo>
                  <a:pt x="114725" y="333801"/>
                </a:lnTo>
                <a:lnTo>
                  <a:pt x="114725" y="376399"/>
                </a:lnTo>
                <a:cubicBezTo>
                  <a:pt x="114725" y="385544"/>
                  <a:pt x="107336" y="393065"/>
                  <a:pt x="98352" y="393065"/>
                </a:cubicBezTo>
                <a:cubicBezTo>
                  <a:pt x="89368" y="393065"/>
                  <a:pt x="81921" y="385544"/>
                  <a:pt x="81921" y="376399"/>
                </a:cubicBezTo>
                <a:lnTo>
                  <a:pt x="81921" y="333801"/>
                </a:lnTo>
                <a:lnTo>
                  <a:pt x="39305" y="333801"/>
                </a:lnTo>
                <a:cubicBezTo>
                  <a:pt x="30321" y="333801"/>
                  <a:pt x="22933" y="326281"/>
                  <a:pt x="22933" y="317135"/>
                </a:cubicBezTo>
                <a:lnTo>
                  <a:pt x="22933" y="33392"/>
                </a:lnTo>
                <a:lnTo>
                  <a:pt x="16372" y="33392"/>
                </a:lnTo>
                <a:cubicBezTo>
                  <a:pt x="7388" y="33392"/>
                  <a:pt x="0" y="25811"/>
                  <a:pt x="0" y="16666"/>
                </a:cubicBezTo>
                <a:cubicBezTo>
                  <a:pt x="0" y="7521"/>
                  <a:pt x="7388" y="0"/>
                  <a:pt x="1637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a86015f6a_2_62"/>
          <p:cNvSpPr/>
          <p:nvPr/>
        </p:nvSpPr>
        <p:spPr>
          <a:xfrm>
            <a:off x="1446371" y="2781776"/>
            <a:ext cx="289560" cy="294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7-d2nfatp8bjvh7rlj0jbg.svg" id="149" name="Google Shape;149;g3aa86015f6a_2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09673" y="4815840"/>
            <a:ext cx="246698" cy="24669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aa86015f6a_2_62"/>
          <p:cNvSpPr/>
          <p:nvPr/>
        </p:nvSpPr>
        <p:spPr>
          <a:xfrm>
            <a:off x="8635365" y="4813459"/>
            <a:ext cx="260509" cy="257651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a86015f6a_2_62"/>
          <p:cNvSpPr/>
          <p:nvPr/>
        </p:nvSpPr>
        <p:spPr>
          <a:xfrm>
            <a:off x="8635365" y="4813459"/>
            <a:ext cx="260509" cy="257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7-d2nfatp8bjvh7rlj0jcg.svg" id="152" name="Google Shape;152;g3aa86015f6a_2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7729" y="4824413"/>
            <a:ext cx="246698" cy="24669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aa86015f6a_2_62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CLI vs GUI: Potencia y Facilidad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154" name="Google Shape;154;g3aa86015f6a_2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aa86015f6a_2_62"/>
          <p:cNvSpPr/>
          <p:nvPr/>
        </p:nvSpPr>
        <p:spPr>
          <a:xfrm>
            <a:off x="392906" y="1048703"/>
            <a:ext cx="828960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Interfaz de línea de comandos (CLI)</a:t>
            </a:r>
            <a:endParaRPr b="0" i="0" sz="1200" u="none" cap="none" strike="noStrike"/>
          </a:p>
        </p:txBody>
      </p:sp>
      <p:sp>
        <p:nvSpPr>
          <p:cNvPr id="156" name="Google Shape;156;g3aa86015f6a_2_62"/>
          <p:cNvSpPr/>
          <p:nvPr/>
        </p:nvSpPr>
        <p:spPr>
          <a:xfrm>
            <a:off x="393902" y="1377791"/>
            <a:ext cx="8288114" cy="4753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CLI es más ligera y rápida, ideal para servidores y administración remota. Permite mayor control y flexibilidad, ideal para automatización mediante scripts, aunque requiere conocimientos específicos de comandos y sintaxis.</a:t>
            </a:r>
            <a:endParaRPr b="0" i="0" sz="1200" u="none" cap="none" strike="noStrike"/>
          </a:p>
        </p:txBody>
      </p:sp>
      <p:sp>
        <p:nvSpPr>
          <p:cNvPr id="157" name="Google Shape;157;g3aa86015f6a_2_62"/>
          <p:cNvSpPr/>
          <p:nvPr/>
        </p:nvSpPr>
        <p:spPr>
          <a:xfrm>
            <a:off x="393146" y="2241709"/>
            <a:ext cx="2298210" cy="233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Interfaz gráfica (GUI)</a:t>
            </a:r>
            <a:endParaRPr b="0" i="0" sz="1200" u="none" cap="none" strike="noStrike"/>
          </a:p>
        </p:txBody>
      </p:sp>
      <p:sp>
        <p:nvSpPr>
          <p:cNvPr id="158" name="Google Shape;158;g3aa86015f6a_2_62"/>
          <p:cNvSpPr/>
          <p:nvPr/>
        </p:nvSpPr>
        <p:spPr>
          <a:xfrm>
            <a:off x="387319" y="2817971"/>
            <a:ext cx="2297821" cy="152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GUI es más intuitiva y fácil de usar, adecuada para usuarios sin experiencia técnica. Sin embargo, consume más recursos y ofrece menos control detallado sobre el sistema, aunque es más accesible para tareas comunes.</a:t>
            </a:r>
            <a:endParaRPr b="0" i="0" sz="1200" u="none" cap="none" strike="noStrike"/>
          </a:p>
        </p:txBody>
      </p:sp>
      <p:sp>
        <p:nvSpPr>
          <p:cNvPr id="159" name="Google Shape;159;g3aa86015f6a_2_62"/>
          <p:cNvSpPr/>
          <p:nvPr/>
        </p:nvSpPr>
        <p:spPr>
          <a:xfrm>
            <a:off x="6362196" y="2241709"/>
            <a:ext cx="2308800" cy="490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Aplicación en proyectos de virtualización</a:t>
            </a:r>
            <a:endParaRPr b="0" i="0" sz="1200" u="none" cap="none" strike="noStrike"/>
          </a:p>
        </p:txBody>
      </p:sp>
      <p:sp>
        <p:nvSpPr>
          <p:cNvPr id="160" name="Google Shape;160;g3aa86015f6a_2_62"/>
          <p:cNvSpPr/>
          <p:nvPr/>
        </p:nvSpPr>
        <p:spPr>
          <a:xfrm>
            <a:off x="6366858" y="2817971"/>
            <a:ext cx="2298699" cy="15231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En proyectos de virtualización con Docker y contenedores, la CLI es esencial para la gestión eficiente y automatizada de servicios, mientras que la GUI puede ser útil para la introducción de usuarios no técnicos.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6-d2nfath8bjvh7rlj0j7g.png" id="166" name="Google Shape;166;g3aa86015f6a_2_84"/>
          <p:cNvPicPr preferRelativeResize="0"/>
          <p:nvPr/>
        </p:nvPicPr>
        <p:blipFill rotWithShape="1">
          <a:blip r:embed="rId3">
            <a:alphaModFix/>
          </a:blip>
          <a:srcRect b="0" l="83" r="84" t="0"/>
          <a:stretch/>
        </p:blipFill>
        <p:spPr>
          <a:xfrm>
            <a:off x="5441633" y="6667"/>
            <a:ext cx="3702367" cy="513016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aa86015f6a_2_84"/>
          <p:cNvSpPr/>
          <p:nvPr/>
        </p:nvSpPr>
        <p:spPr>
          <a:xfrm>
            <a:off x="5529263" y="0"/>
            <a:ext cx="1295400" cy="4167664"/>
          </a:xfrm>
          <a:prstGeom prst="parallelogram">
            <a:avLst>
              <a:gd fmla="val 84115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a86015f6a_2_84"/>
          <p:cNvSpPr/>
          <p:nvPr/>
        </p:nvSpPr>
        <p:spPr>
          <a:xfrm>
            <a:off x="5529263" y="0"/>
            <a:ext cx="1295400" cy="4167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69" name="Google Shape;169;g3aa86015f6a_2_84"/>
          <p:cNvSpPr/>
          <p:nvPr/>
        </p:nvSpPr>
        <p:spPr>
          <a:xfrm>
            <a:off x="5376386" y="1882140"/>
            <a:ext cx="1033463" cy="3261360"/>
          </a:xfrm>
          <a:prstGeom prst="parallelogram">
            <a:avLst>
              <a:gd fmla="val 82610" name="adj"/>
            </a:avLst>
          </a:prstGeom>
          <a:gradFill>
            <a:gsLst>
              <a:gs pos="0">
                <a:srgbClr val="EBEBEB"/>
              </a:gs>
              <a:gs pos="30000">
                <a:srgbClr val="EBEBEB"/>
              </a:gs>
              <a:gs pos="100000">
                <a:srgbClr val="EBEBEB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a86015f6a_2_84"/>
          <p:cNvSpPr/>
          <p:nvPr/>
        </p:nvSpPr>
        <p:spPr>
          <a:xfrm>
            <a:off x="5376386" y="1882140"/>
            <a:ext cx="1033463" cy="326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71" name="Google Shape;171;g3aa86015f6a_2_84"/>
          <p:cNvSpPr/>
          <p:nvPr/>
        </p:nvSpPr>
        <p:spPr>
          <a:xfrm>
            <a:off x="741045" y="528161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Docker Buenas Prácticas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172" name="Google Shape;172;g3aa86015f6a_2_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a86015f6a_2_84"/>
          <p:cNvSpPr/>
          <p:nvPr/>
        </p:nvSpPr>
        <p:spPr>
          <a:xfrm>
            <a:off x="849154" y="1291114"/>
            <a:ext cx="359092" cy="359093"/>
          </a:xfrm>
          <a:prstGeom prst="roundRect">
            <a:avLst>
              <a:gd fmla="val 10363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a86015f6a_2_84"/>
          <p:cNvSpPr/>
          <p:nvPr/>
        </p:nvSpPr>
        <p:spPr>
          <a:xfrm>
            <a:off x="849154" y="1291114"/>
            <a:ext cx="359092" cy="359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/>
          </a:p>
        </p:txBody>
      </p:sp>
      <p:sp>
        <p:nvSpPr>
          <p:cNvPr id="175" name="Google Shape;175;g3aa86015f6a_2_84"/>
          <p:cNvSpPr/>
          <p:nvPr/>
        </p:nvSpPr>
        <p:spPr>
          <a:xfrm>
            <a:off x="822960" y="1706404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Construcción de imágenes seguras y pequeñas</a:t>
            </a:r>
            <a:endParaRPr b="0" i="0" sz="1200" u="none" cap="none" strike="noStrike"/>
          </a:p>
        </p:txBody>
      </p:sp>
      <p:sp>
        <p:nvSpPr>
          <p:cNvPr id="176" name="Google Shape;176;g3aa86015f6a_2_84"/>
          <p:cNvSpPr/>
          <p:nvPr/>
        </p:nvSpPr>
        <p:spPr>
          <a:xfrm>
            <a:off x="822960" y="1981676"/>
            <a:ext cx="4386263" cy="10879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Utiliza bases ligeras y elimina archivos innecesarios. Evita contenedores privilegiados y gestiona volúmenes y redes de manera segura. Automatiza con docker-compose para despliegues consistentes y utiliza registros como Harbor o Zot para almacenar artefactos.</a:t>
            </a:r>
            <a:endParaRPr b="0" i="0" sz="1200" u="none" cap="none" strike="noStrike"/>
          </a:p>
        </p:txBody>
      </p:sp>
      <p:sp>
        <p:nvSpPr>
          <p:cNvPr id="177" name="Google Shape;177;g3aa86015f6a_2_84"/>
          <p:cNvSpPr/>
          <p:nvPr/>
        </p:nvSpPr>
        <p:spPr>
          <a:xfrm>
            <a:off x="849154" y="2943701"/>
            <a:ext cx="359092" cy="359093"/>
          </a:xfrm>
          <a:prstGeom prst="roundRect">
            <a:avLst>
              <a:gd fmla="val 10363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a86015f6a_2_84"/>
          <p:cNvSpPr/>
          <p:nvPr/>
        </p:nvSpPr>
        <p:spPr>
          <a:xfrm>
            <a:off x="849154" y="2943701"/>
            <a:ext cx="359092" cy="359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/>
          </a:p>
        </p:txBody>
      </p:sp>
      <p:sp>
        <p:nvSpPr>
          <p:cNvPr id="179" name="Google Shape;179;g3aa86015f6a_2_84"/>
          <p:cNvSpPr/>
          <p:nvPr/>
        </p:nvSpPr>
        <p:spPr>
          <a:xfrm>
            <a:off x="822960" y="3358991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Ciclo de vida profesional</a:t>
            </a:r>
            <a:endParaRPr b="0" i="0" sz="1200" u="none" cap="none" strike="noStrike"/>
          </a:p>
        </p:txBody>
      </p:sp>
      <p:sp>
        <p:nvSpPr>
          <p:cNvPr id="180" name="Google Shape;180;g3aa86015f6a_2_84"/>
          <p:cNvSpPr/>
          <p:nvPr/>
        </p:nvSpPr>
        <p:spPr>
          <a:xfrm>
            <a:off x="822960" y="3634264"/>
            <a:ext cx="4386263" cy="8703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Implementa un ciclo de vida completo desde el desarrollo hasta la producción, asegurando que las imágenes sean reproducibles y que los contenedores se ejecuten de manera eficiente y segura en cualquier entorno.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aa86015f6a_2_103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aa86015f6a_2_103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a86015f6a_2_103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y Sistema de Archivos</a:t>
            </a:r>
            <a:endParaRPr b="0" i="0" sz="1200" u="none" cap="none" strike="noStrike"/>
          </a:p>
        </p:txBody>
      </p:sp>
      <p:sp>
        <p:nvSpPr>
          <p:cNvPr id="189" name="Google Shape;189;g3aa86015f6a_2_103"/>
          <p:cNvSpPr/>
          <p:nvPr/>
        </p:nvSpPr>
        <p:spPr>
          <a:xfrm>
            <a:off x="4038124" y="1459230"/>
            <a:ext cx="2542699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g3aa86015f6a_2_111"/>
          <p:cNvCxnSpPr/>
          <p:nvPr/>
        </p:nvCxnSpPr>
        <p:spPr>
          <a:xfrm>
            <a:off x="429578" y="1083469"/>
            <a:ext cx="8508206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dot"/>
            <a:round/>
            <a:headEnd len="med" w="med" type="stealth"/>
            <a:tailEnd len="med" w="med" type="stealth"/>
          </a:ln>
        </p:spPr>
      </p:cxnSp>
      <p:sp>
        <p:nvSpPr>
          <p:cNvPr id="196" name="Google Shape;196;g3aa86015f6a_2_111"/>
          <p:cNvSpPr/>
          <p:nvPr/>
        </p:nvSpPr>
        <p:spPr>
          <a:xfrm>
            <a:off x="4793456" y="4696777"/>
            <a:ext cx="1955959" cy="5715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aa86015f6a_2_111"/>
          <p:cNvSpPr/>
          <p:nvPr/>
        </p:nvSpPr>
        <p:spPr>
          <a:xfrm>
            <a:off x="4793456" y="4696777"/>
            <a:ext cx="1955959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98" name="Google Shape;198;g3aa86015f6a_2_111"/>
          <p:cNvSpPr/>
          <p:nvPr/>
        </p:nvSpPr>
        <p:spPr>
          <a:xfrm>
            <a:off x="7044690" y="4696777"/>
            <a:ext cx="1955959" cy="5715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a86015f6a_2_111"/>
          <p:cNvSpPr/>
          <p:nvPr/>
        </p:nvSpPr>
        <p:spPr>
          <a:xfrm>
            <a:off x="7044690" y="4696777"/>
            <a:ext cx="1955959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cxnSp>
        <p:nvCxnSpPr>
          <p:cNvPr id="200" name="Google Shape;200;g3aa86015f6a_2_111"/>
          <p:cNvCxnSpPr/>
          <p:nvPr/>
        </p:nvCxnSpPr>
        <p:spPr>
          <a:xfrm rot="10800000">
            <a:off x="5658434" y="1092994"/>
            <a:ext cx="0" cy="264795"/>
          </a:xfrm>
          <a:prstGeom prst="straightConnector1">
            <a:avLst/>
          </a:prstGeom>
          <a:noFill/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g3aa86015f6a_2_111"/>
          <p:cNvSpPr/>
          <p:nvPr/>
        </p:nvSpPr>
        <p:spPr>
          <a:xfrm>
            <a:off x="5620809" y="1062514"/>
            <a:ext cx="78107" cy="78105"/>
          </a:xfrm>
          <a:custGeom>
            <a:rect b="b" l="l" r="r" t="t"/>
            <a:pathLst>
              <a:path extrusionOk="0" h="104140" w="104142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a86015f6a_2_111"/>
          <p:cNvSpPr/>
          <p:nvPr/>
        </p:nvSpPr>
        <p:spPr>
          <a:xfrm>
            <a:off x="5620809" y="1062514"/>
            <a:ext cx="78107" cy="78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14300" spcFirstLastPara="1" rIns="14300" wrap="square" tIns="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03" name="Google Shape;203;g3aa86015f6a_2_111"/>
          <p:cNvSpPr/>
          <p:nvPr/>
        </p:nvSpPr>
        <p:spPr>
          <a:xfrm rot="-2700000">
            <a:off x="5304097" y="1503045"/>
            <a:ext cx="708198" cy="708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a86015f6a_2_111"/>
          <p:cNvSpPr/>
          <p:nvPr/>
        </p:nvSpPr>
        <p:spPr>
          <a:xfrm rot="-2700000">
            <a:off x="5304097" y="1503045"/>
            <a:ext cx="708198" cy="708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mg.png" id="205" name="Google Shape;205;g3aa86015f6a_2_111"/>
          <p:cNvPicPr preferRelativeResize="0"/>
          <p:nvPr/>
        </p:nvPicPr>
        <p:blipFill rotWithShape="1">
          <a:blip r:embed="rId3">
            <a:alphaModFix/>
          </a:blip>
          <a:srcRect b="-58" l="2878" r="2768" t="59"/>
          <a:stretch/>
        </p:blipFill>
        <p:spPr>
          <a:xfrm>
            <a:off x="5455547" y="1654493"/>
            <a:ext cx="405297" cy="4052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g3aa86015f6a_2_111"/>
          <p:cNvCxnSpPr/>
          <p:nvPr/>
        </p:nvCxnSpPr>
        <p:spPr>
          <a:xfrm rot="10800000">
            <a:off x="7933525" y="1092994"/>
            <a:ext cx="0" cy="264795"/>
          </a:xfrm>
          <a:prstGeom prst="straightConnector1">
            <a:avLst/>
          </a:prstGeom>
          <a:noFill/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g3aa86015f6a_2_111"/>
          <p:cNvSpPr/>
          <p:nvPr/>
        </p:nvSpPr>
        <p:spPr>
          <a:xfrm>
            <a:off x="7895900" y="1062514"/>
            <a:ext cx="78107" cy="78105"/>
          </a:xfrm>
          <a:custGeom>
            <a:rect b="b" l="l" r="r" t="t"/>
            <a:pathLst>
              <a:path extrusionOk="0" h="104140" w="104142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aa86015f6a_2_111"/>
          <p:cNvSpPr/>
          <p:nvPr/>
        </p:nvSpPr>
        <p:spPr>
          <a:xfrm>
            <a:off x="7895900" y="1062514"/>
            <a:ext cx="78107" cy="78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14300" spcFirstLastPara="1" rIns="14300" wrap="square" tIns="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09" name="Google Shape;209;g3aa86015f6a_2_111"/>
          <p:cNvSpPr/>
          <p:nvPr/>
        </p:nvSpPr>
        <p:spPr>
          <a:xfrm rot="-2700000">
            <a:off x="7579188" y="1503045"/>
            <a:ext cx="708198" cy="708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a86015f6a_2_111"/>
          <p:cNvSpPr/>
          <p:nvPr/>
        </p:nvSpPr>
        <p:spPr>
          <a:xfrm rot="-2700000">
            <a:off x="7579188" y="1503045"/>
            <a:ext cx="708198" cy="708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mg.png" id="211" name="Google Shape;211;g3aa86015f6a_2_111"/>
          <p:cNvPicPr preferRelativeResize="0"/>
          <p:nvPr/>
        </p:nvPicPr>
        <p:blipFill rotWithShape="1">
          <a:blip r:embed="rId3">
            <a:alphaModFix/>
          </a:blip>
          <a:srcRect b="-58" l="2878" r="2768" t="59"/>
          <a:stretch/>
        </p:blipFill>
        <p:spPr>
          <a:xfrm>
            <a:off x="7730639" y="1654493"/>
            <a:ext cx="405297" cy="4052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g3aa86015f6a_2_111"/>
          <p:cNvCxnSpPr/>
          <p:nvPr/>
        </p:nvCxnSpPr>
        <p:spPr>
          <a:xfrm rot="10800000">
            <a:off x="3419062" y="1092994"/>
            <a:ext cx="0" cy="264795"/>
          </a:xfrm>
          <a:prstGeom prst="straightConnector1">
            <a:avLst/>
          </a:prstGeom>
          <a:noFill/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g3aa86015f6a_2_111"/>
          <p:cNvSpPr/>
          <p:nvPr/>
        </p:nvSpPr>
        <p:spPr>
          <a:xfrm>
            <a:off x="3381437" y="1062514"/>
            <a:ext cx="78107" cy="78105"/>
          </a:xfrm>
          <a:custGeom>
            <a:rect b="b" l="l" r="r" t="t"/>
            <a:pathLst>
              <a:path extrusionOk="0" h="104140" w="104142">
                <a:moveTo>
                  <a:pt x="104142" y="17869"/>
                </a:moveTo>
                <a:cubicBezTo>
                  <a:pt x="127970" y="41691"/>
                  <a:pt x="127970" y="80319"/>
                  <a:pt x="104142" y="104140"/>
                </a:cubicBezTo>
                <a:cubicBezTo>
                  <a:pt x="80320" y="127968"/>
                  <a:pt x="41692" y="127968"/>
                  <a:pt x="17870" y="104140"/>
                </a:cubicBezTo>
                <a:cubicBezTo>
                  <a:pt x="-5959" y="80319"/>
                  <a:pt x="-5959" y="41691"/>
                  <a:pt x="17870" y="17869"/>
                </a:cubicBezTo>
                <a:cubicBezTo>
                  <a:pt x="41692" y="-5958"/>
                  <a:pt x="80320" y="-5958"/>
                  <a:pt x="104142" y="17869"/>
                </a:cubicBezTo>
                <a:close/>
              </a:path>
            </a:pathLst>
          </a:custGeom>
          <a:solidFill>
            <a:srgbClr val="404040"/>
          </a:solidFill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a86015f6a_2_111"/>
          <p:cNvSpPr/>
          <p:nvPr/>
        </p:nvSpPr>
        <p:spPr>
          <a:xfrm>
            <a:off x="3381437" y="1062514"/>
            <a:ext cx="78107" cy="78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14300" spcFirstLastPara="1" rIns="14300" wrap="square" tIns="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15" name="Google Shape;215;g3aa86015f6a_2_111"/>
          <p:cNvSpPr/>
          <p:nvPr/>
        </p:nvSpPr>
        <p:spPr>
          <a:xfrm rot="-2700000">
            <a:off x="3064725" y="1503045"/>
            <a:ext cx="708198" cy="70818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aa86015f6a_2_111"/>
          <p:cNvSpPr/>
          <p:nvPr/>
        </p:nvSpPr>
        <p:spPr>
          <a:xfrm rot="-2700000">
            <a:off x="3064725" y="1503045"/>
            <a:ext cx="708198" cy="708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mg.png" id="217" name="Google Shape;217;g3aa86015f6a_2_111"/>
          <p:cNvPicPr preferRelativeResize="0"/>
          <p:nvPr/>
        </p:nvPicPr>
        <p:blipFill rotWithShape="1">
          <a:blip r:embed="rId3">
            <a:alphaModFix/>
          </a:blip>
          <a:srcRect b="0" l="2824" r="2824" t="0"/>
          <a:stretch/>
        </p:blipFill>
        <p:spPr>
          <a:xfrm>
            <a:off x="3216176" y="1654493"/>
            <a:ext cx="404821" cy="404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aa86015f6a_2_111"/>
          <p:cNvSpPr/>
          <p:nvPr/>
        </p:nvSpPr>
        <p:spPr>
          <a:xfrm>
            <a:off x="2542268" y="4696777"/>
            <a:ext cx="1955997" cy="5715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a86015f6a_2_111"/>
          <p:cNvSpPr/>
          <p:nvPr/>
        </p:nvSpPr>
        <p:spPr>
          <a:xfrm>
            <a:off x="2542268" y="4696777"/>
            <a:ext cx="1955997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cxnSp>
        <p:nvCxnSpPr>
          <p:cNvPr id="220" name="Google Shape;220;g3aa86015f6a_2_111"/>
          <p:cNvCxnSpPr/>
          <p:nvPr/>
        </p:nvCxnSpPr>
        <p:spPr>
          <a:xfrm rot="10800000">
            <a:off x="1179691" y="1091565"/>
            <a:ext cx="0" cy="250508"/>
          </a:xfrm>
          <a:prstGeom prst="straightConnector1">
            <a:avLst/>
          </a:prstGeom>
          <a:noFill/>
          <a:ln cap="flat" cmpd="sng" w="127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g3aa86015f6a_2_111"/>
          <p:cNvSpPr/>
          <p:nvPr/>
        </p:nvSpPr>
        <p:spPr>
          <a:xfrm>
            <a:off x="1142066" y="1062514"/>
            <a:ext cx="78107" cy="73819"/>
          </a:xfrm>
          <a:custGeom>
            <a:rect b="b" l="l" r="r" t="t"/>
            <a:pathLst>
              <a:path extrusionOk="0" h="98425" w="104142">
                <a:moveTo>
                  <a:pt x="104142" y="16889"/>
                </a:moveTo>
                <a:cubicBezTo>
                  <a:pt x="127970" y="39403"/>
                  <a:pt x="127970" y="75911"/>
                  <a:pt x="104142" y="98425"/>
                </a:cubicBezTo>
                <a:cubicBezTo>
                  <a:pt x="80320" y="120945"/>
                  <a:pt x="41692" y="120945"/>
                  <a:pt x="17870" y="98425"/>
                </a:cubicBezTo>
                <a:cubicBezTo>
                  <a:pt x="-5959" y="75911"/>
                  <a:pt x="-5959" y="39403"/>
                  <a:pt x="17870" y="16889"/>
                </a:cubicBezTo>
                <a:cubicBezTo>
                  <a:pt x="41692" y="-5631"/>
                  <a:pt x="80320" y="-5631"/>
                  <a:pt x="104142" y="16889"/>
                </a:cubicBezTo>
                <a:close/>
              </a:path>
            </a:pathLst>
          </a:custGeom>
          <a:solidFill>
            <a:srgbClr val="404040"/>
          </a:solidFill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aa86015f6a_2_111"/>
          <p:cNvSpPr/>
          <p:nvPr/>
        </p:nvSpPr>
        <p:spPr>
          <a:xfrm>
            <a:off x="1142066" y="1062514"/>
            <a:ext cx="78107" cy="73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14300" lIns="14300" spcFirstLastPara="1" rIns="14300" wrap="square" tIns="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23" name="Google Shape;223;g3aa86015f6a_2_111"/>
          <p:cNvSpPr/>
          <p:nvPr/>
        </p:nvSpPr>
        <p:spPr>
          <a:xfrm rot="-2700000">
            <a:off x="825353" y="1479709"/>
            <a:ext cx="708198" cy="6705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a86015f6a_2_111"/>
          <p:cNvSpPr/>
          <p:nvPr/>
        </p:nvSpPr>
        <p:spPr>
          <a:xfrm rot="-2700000">
            <a:off x="825353" y="1479709"/>
            <a:ext cx="708198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mg.png" id="225" name="Google Shape;225;g3aa86015f6a_2_111"/>
          <p:cNvPicPr preferRelativeResize="0"/>
          <p:nvPr/>
        </p:nvPicPr>
        <p:blipFill rotWithShape="1">
          <a:blip r:embed="rId3">
            <a:alphaModFix/>
          </a:blip>
          <a:srcRect b="-58" l="176" r="175" t="59"/>
          <a:stretch/>
        </p:blipFill>
        <p:spPr>
          <a:xfrm>
            <a:off x="976804" y="1623110"/>
            <a:ext cx="404821" cy="38330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aa86015f6a_2_111"/>
          <p:cNvSpPr/>
          <p:nvPr/>
        </p:nvSpPr>
        <p:spPr>
          <a:xfrm>
            <a:off x="290990" y="4696777"/>
            <a:ext cx="1955997" cy="5715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a86015f6a_2_111"/>
          <p:cNvSpPr/>
          <p:nvPr/>
        </p:nvSpPr>
        <p:spPr>
          <a:xfrm>
            <a:off x="290990" y="4696777"/>
            <a:ext cx="1955997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28" name="Google Shape;228;g3aa86015f6a_2_111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Comandos Básicos de Linux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229" name="Google Shape;229;g3aa86015f6a_2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aa86015f6a_2_111"/>
          <p:cNvSpPr/>
          <p:nvPr/>
        </p:nvSpPr>
        <p:spPr>
          <a:xfrm>
            <a:off x="205350" y="2468404"/>
            <a:ext cx="218785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Navegación en el sistema de archivos</a:t>
            </a:r>
            <a:endParaRPr b="0" i="0" sz="1200" u="none" cap="none" strike="noStrike"/>
          </a:p>
        </p:txBody>
      </p:sp>
      <p:sp>
        <p:nvSpPr>
          <p:cNvPr id="231" name="Google Shape;231;g3aa86015f6a_2_111"/>
          <p:cNvSpPr/>
          <p:nvPr/>
        </p:nvSpPr>
        <p:spPr>
          <a:xfrm>
            <a:off x="204788" y="2947021"/>
            <a:ext cx="2042006" cy="14772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Usa comandos como cd, ls y pwd para moverte y visualizar el contenido del sistema de archivos. Estos comandos son fundamentales para interactuar con directorios y archivos en Linux.</a:t>
            </a:r>
            <a:endParaRPr b="0" i="0" sz="1200" u="none" cap="none" strike="noStrike"/>
          </a:p>
        </p:txBody>
      </p:sp>
      <p:sp>
        <p:nvSpPr>
          <p:cNvPr id="232" name="Google Shape;232;g3aa86015f6a_2_111"/>
          <p:cNvSpPr/>
          <p:nvPr/>
        </p:nvSpPr>
        <p:spPr>
          <a:xfrm>
            <a:off x="2444722" y="2468404"/>
            <a:ext cx="218785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Manipulación de archivos</a:t>
            </a:r>
            <a:endParaRPr b="0" i="0" sz="1200" u="none" cap="none" strike="noStrike"/>
          </a:p>
        </p:txBody>
      </p:sp>
      <p:sp>
        <p:nvSpPr>
          <p:cNvPr id="233" name="Google Shape;233;g3aa86015f6a_2_111"/>
          <p:cNvSpPr/>
          <p:nvPr/>
        </p:nvSpPr>
        <p:spPr>
          <a:xfrm>
            <a:off x="2444159" y="2974049"/>
            <a:ext cx="2042006" cy="12662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Comandos como cp, mv y rm permiten copiar, mover y eliminar archivos y directorios. Aprenderlos es esencial para gestionar datos en entornos Linux.</a:t>
            </a:r>
            <a:endParaRPr b="0" i="0" sz="1200" u="none" cap="none" strike="noStrike"/>
          </a:p>
        </p:txBody>
      </p:sp>
      <p:sp>
        <p:nvSpPr>
          <p:cNvPr id="234" name="Google Shape;234;g3aa86015f6a_2_111"/>
          <p:cNvSpPr/>
          <p:nvPr/>
        </p:nvSpPr>
        <p:spPr>
          <a:xfrm>
            <a:off x="4684094" y="2468404"/>
            <a:ext cx="218785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Visualización de archivos</a:t>
            </a:r>
            <a:endParaRPr b="0" i="0" sz="1200" u="none" cap="none" strike="noStrike"/>
          </a:p>
        </p:txBody>
      </p:sp>
      <p:sp>
        <p:nvSpPr>
          <p:cNvPr id="235" name="Google Shape;235;g3aa86015f6a_2_111"/>
          <p:cNvSpPr/>
          <p:nvPr/>
        </p:nvSpPr>
        <p:spPr>
          <a:xfrm>
            <a:off x="4683531" y="2974029"/>
            <a:ext cx="2042006" cy="10551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Usa cat, less y head para ver el contenido de archivos. Estos comandos son útiles para inspeccionar archivos de texto y logs en el sistema.</a:t>
            </a:r>
            <a:endParaRPr b="0" i="0" sz="1200" u="none" cap="none" strike="noStrike"/>
          </a:p>
        </p:txBody>
      </p:sp>
      <p:sp>
        <p:nvSpPr>
          <p:cNvPr id="236" name="Google Shape;236;g3aa86015f6a_2_111"/>
          <p:cNvSpPr/>
          <p:nvPr/>
        </p:nvSpPr>
        <p:spPr>
          <a:xfrm>
            <a:off x="6959184" y="2468404"/>
            <a:ext cx="21878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Edición de archivos</a:t>
            </a:r>
            <a:endParaRPr b="0" i="0" sz="1200" u="none" cap="none" strike="noStrike"/>
          </a:p>
        </p:txBody>
      </p:sp>
      <p:sp>
        <p:nvSpPr>
          <p:cNvPr id="237" name="Google Shape;237;g3aa86015f6a_2_111"/>
          <p:cNvSpPr/>
          <p:nvPr/>
        </p:nvSpPr>
        <p:spPr>
          <a:xfrm>
            <a:off x="6958622" y="2974049"/>
            <a:ext cx="2042006" cy="12662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nano y vim son editores de texto en la CLI. nano es más sencillo, mientras que vim ofrece más funcionalidades avanzadas para la edición de archivos de configuración.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aa86015f6a_2_158"/>
          <p:cNvPicPr preferRelativeResize="0"/>
          <p:nvPr/>
        </p:nvPicPr>
        <p:blipFill rotWithShape="1">
          <a:blip r:embed="rId3">
            <a:alphaModFix/>
          </a:blip>
          <a:srcRect b="44285" l="0" r="0" t="39201"/>
          <a:stretch/>
        </p:blipFill>
        <p:spPr>
          <a:xfrm>
            <a:off x="830113" y="1348775"/>
            <a:ext cx="7406150" cy="122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aa86015f6a_2_158"/>
          <p:cNvSpPr/>
          <p:nvPr/>
        </p:nvSpPr>
        <p:spPr>
          <a:xfrm>
            <a:off x="0" y="4903470"/>
            <a:ext cx="9144000" cy="24003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aa86015f6a_2_158"/>
          <p:cNvSpPr/>
          <p:nvPr/>
        </p:nvSpPr>
        <p:spPr>
          <a:xfrm>
            <a:off x="0" y="4903470"/>
            <a:ext cx="91440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46" name="Google Shape;246;g3aa86015f6a_2_158"/>
          <p:cNvSpPr/>
          <p:nvPr/>
        </p:nvSpPr>
        <p:spPr>
          <a:xfrm>
            <a:off x="741045" y="528161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Explorando el Sistema de Archivos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247" name="Google Shape;247;g3aa86015f6a_2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aa86015f6a_2_158"/>
          <p:cNvSpPr/>
          <p:nvPr/>
        </p:nvSpPr>
        <p:spPr>
          <a:xfrm>
            <a:off x="845820" y="2963704"/>
            <a:ext cx="7374731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Jerarquía del sistema de archivos</a:t>
            </a:r>
            <a:endParaRPr b="0" i="0" sz="1200" u="none" cap="none" strike="noStrike"/>
          </a:p>
        </p:txBody>
      </p:sp>
      <p:sp>
        <p:nvSpPr>
          <p:cNvPr id="249" name="Google Shape;249;g3aa86015f6a_2_158"/>
          <p:cNvSpPr/>
          <p:nvPr/>
        </p:nvSpPr>
        <p:spPr>
          <a:xfrm>
            <a:off x="845820" y="3378994"/>
            <a:ext cx="737473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organiza archivos en una jerarquía de directorios que comienza en / y se ramifica en /home, /etc, /var, etc. Cada directorio tiene una función específica, como /etc para configuraciones y /var para logs y datos variables.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a86015f6a_2_169"/>
          <p:cNvSpPr/>
          <p:nvPr/>
        </p:nvSpPr>
        <p:spPr>
          <a:xfrm>
            <a:off x="-16193" y="1357313"/>
            <a:ext cx="9172099" cy="314325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a86015f6a_2_169"/>
          <p:cNvSpPr/>
          <p:nvPr/>
        </p:nvSpPr>
        <p:spPr>
          <a:xfrm>
            <a:off x="-16193" y="1357313"/>
            <a:ext cx="9172099" cy="3143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57" name="Google Shape;257;g3aa86015f6a_2_169"/>
          <p:cNvSpPr/>
          <p:nvPr/>
        </p:nvSpPr>
        <p:spPr>
          <a:xfrm>
            <a:off x="6026120" y="1833371"/>
            <a:ext cx="314131" cy="314131"/>
          </a:xfrm>
          <a:prstGeom prst="ellipse">
            <a:avLst/>
          </a:prstGeom>
          <a:solidFill>
            <a:srgbClr val="A7A7A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a86015f6a_2_169"/>
          <p:cNvSpPr/>
          <p:nvPr/>
        </p:nvSpPr>
        <p:spPr>
          <a:xfrm>
            <a:off x="6026120" y="1833371"/>
            <a:ext cx="314131" cy="314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59" name="Google Shape;259;g3aa86015f6a_2_169"/>
          <p:cNvSpPr/>
          <p:nvPr/>
        </p:nvSpPr>
        <p:spPr>
          <a:xfrm rot="-1200000">
            <a:off x="6470312" y="3828378"/>
            <a:ext cx="130061" cy="130061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aa86015f6a_2_169"/>
          <p:cNvSpPr/>
          <p:nvPr/>
        </p:nvSpPr>
        <p:spPr>
          <a:xfrm rot="-1200000">
            <a:off x="6470312" y="3828378"/>
            <a:ext cx="130061" cy="130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61" name="Google Shape;261;g3aa86015f6a_2_169"/>
          <p:cNvSpPr/>
          <p:nvPr/>
        </p:nvSpPr>
        <p:spPr>
          <a:xfrm rot="-1200000">
            <a:off x="8018555" y="1918976"/>
            <a:ext cx="90382" cy="90382"/>
          </a:xfrm>
          <a:prstGeom prst="ellipse">
            <a:avLst/>
          </a:prstGeom>
          <a:solidFill>
            <a:srgbClr val="7B7B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a86015f6a_2_169"/>
          <p:cNvSpPr/>
          <p:nvPr/>
        </p:nvSpPr>
        <p:spPr>
          <a:xfrm rot="-1200000">
            <a:off x="8018555" y="1918976"/>
            <a:ext cx="90382" cy="90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id="263" name="Google Shape;263;g3aa86015f6a_2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027" y="1958288"/>
            <a:ext cx="1956063" cy="195606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aa86015f6a_2_169"/>
          <p:cNvSpPr/>
          <p:nvPr/>
        </p:nvSpPr>
        <p:spPr>
          <a:xfrm>
            <a:off x="5828611" y="1434510"/>
            <a:ext cx="2988900" cy="29889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A7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aa86015f6a_2_169"/>
          <p:cNvSpPr/>
          <p:nvPr/>
        </p:nvSpPr>
        <p:spPr>
          <a:xfrm>
            <a:off x="8310642" y="3976809"/>
            <a:ext cx="90382" cy="90382"/>
          </a:xfrm>
          <a:prstGeom prst="ellipse">
            <a:avLst/>
          </a:prstGeom>
          <a:solidFill>
            <a:srgbClr val="7B7B7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aa86015f6a_2_169"/>
          <p:cNvSpPr/>
          <p:nvPr/>
        </p:nvSpPr>
        <p:spPr>
          <a:xfrm>
            <a:off x="8310642" y="3976809"/>
            <a:ext cx="90382" cy="903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267" name="Google Shape;267;g3aa86015f6a_2_169"/>
          <p:cNvSpPr/>
          <p:nvPr/>
        </p:nvSpPr>
        <p:spPr>
          <a:xfrm>
            <a:off x="741045" y="528161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Tipos y Gestión de Sistemas de Archivos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268" name="Google Shape;268;g3aa86015f6a_2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aa86015f6a_2_169"/>
          <p:cNvSpPr/>
          <p:nvPr/>
        </p:nvSpPr>
        <p:spPr>
          <a:xfrm>
            <a:off x="822960" y="1663541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Tipos de sistemas de archivos</a:t>
            </a:r>
            <a:endParaRPr b="0" i="0" sz="1200" u="none" cap="none" strike="noStrike"/>
          </a:p>
        </p:txBody>
      </p:sp>
      <p:sp>
        <p:nvSpPr>
          <p:cNvPr id="270" name="Google Shape;270;g3aa86015f6a_2_169"/>
          <p:cNvSpPr/>
          <p:nvPr/>
        </p:nvSpPr>
        <p:spPr>
          <a:xfrm>
            <a:off x="822960" y="1938814"/>
            <a:ext cx="4386263" cy="8703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utiliza sistemas de archivos como ext4, XFS y Btrfs. Ext4 es el predeterminado en muchas distribuciones, XFS ofrece alto rendimiento, y Btrfs permite gestión avanzada de volúmenes y snapshots.</a:t>
            </a:r>
            <a:endParaRPr b="0" i="0" sz="1200" u="none" cap="none" strike="noStrike"/>
          </a:p>
        </p:txBody>
      </p:sp>
      <p:sp>
        <p:nvSpPr>
          <p:cNvPr id="271" name="Google Shape;271;g3aa86015f6a_2_169"/>
          <p:cNvSpPr/>
          <p:nvPr/>
        </p:nvSpPr>
        <p:spPr>
          <a:xfrm>
            <a:off x="822960" y="3073241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Comandos de gestión de almacenamiento</a:t>
            </a:r>
            <a:endParaRPr b="0" i="0" sz="1200" u="none" cap="none" strike="noStrike"/>
          </a:p>
        </p:txBody>
      </p:sp>
      <p:sp>
        <p:nvSpPr>
          <p:cNvPr id="272" name="Google Shape;272;g3aa86015f6a_2_169"/>
          <p:cNvSpPr/>
          <p:nvPr/>
        </p:nvSpPr>
        <p:spPr>
          <a:xfrm>
            <a:off x="822960" y="3348514"/>
            <a:ext cx="4386263" cy="8703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Usa df para verificar el espacio en disco disponible, du para ver el tamaño de directorios, y mount y umount para conectar y desconectar dispositivos de almacenamiento, esencial para la gestión de recursos en Linux.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aa86015f6a_0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aa86015f6a_0_321"/>
          <p:cNvSpPr/>
          <p:nvPr/>
        </p:nvSpPr>
        <p:spPr>
          <a:xfrm>
            <a:off x="243000" y="2122200"/>
            <a:ext cx="3492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FFFFFF"/>
                </a:solidFill>
              </a:rPr>
              <a:t>Comandos </a:t>
            </a:r>
            <a:r>
              <a:rPr b="1" lang="es" sz="2700">
                <a:solidFill>
                  <a:srgbClr val="FFFFFF"/>
                </a:solidFill>
              </a:rPr>
              <a:t>básicos</a:t>
            </a:r>
            <a:endParaRPr b="1" sz="2700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700">
                <a:solidFill>
                  <a:srgbClr val="FFFFFF"/>
                </a:solidFill>
              </a:rPr>
              <a:t>de Linux</a:t>
            </a:r>
            <a:endParaRPr b="1" sz="2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3aa86015f6a_2_192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aa86015f6a_2_192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aa86015f6a_2_192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Usuarios, Permisos y Procesos</a:t>
            </a:r>
            <a:endParaRPr b="0" i="0" sz="1200" u="none" cap="none" strike="noStrike"/>
          </a:p>
        </p:txBody>
      </p:sp>
      <p:sp>
        <p:nvSpPr>
          <p:cNvPr id="287" name="Google Shape;287;g3aa86015f6a_2_192"/>
          <p:cNvSpPr/>
          <p:nvPr/>
        </p:nvSpPr>
        <p:spPr>
          <a:xfrm>
            <a:off x="4038124" y="1459230"/>
            <a:ext cx="2542699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aa86015f6a_2_200"/>
          <p:cNvPicPr preferRelativeResize="0"/>
          <p:nvPr/>
        </p:nvPicPr>
        <p:blipFill rotWithShape="1">
          <a:blip r:embed="rId3">
            <a:alphaModFix/>
          </a:blip>
          <a:srcRect b="12983" l="0" r="0" t="12991"/>
          <a:stretch/>
        </p:blipFill>
        <p:spPr>
          <a:xfrm>
            <a:off x="476" y="1058704"/>
            <a:ext cx="4600800" cy="19023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aa86015f6a_2_200"/>
          <p:cNvSpPr/>
          <p:nvPr/>
        </p:nvSpPr>
        <p:spPr>
          <a:xfrm>
            <a:off x="4601051" y="1058704"/>
            <a:ext cx="4542472" cy="1897856"/>
          </a:xfrm>
          <a:prstGeom prst="roundRect">
            <a:avLst>
              <a:gd fmla="val 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aa86015f6a_2_200"/>
          <p:cNvSpPr/>
          <p:nvPr/>
        </p:nvSpPr>
        <p:spPr>
          <a:xfrm>
            <a:off x="4601051" y="1058704"/>
            <a:ext cx="4542472" cy="1897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7-d2nfatp8bjvh7rlj0jd0.svg" id="296" name="Google Shape;296;g3aa86015f6a_2_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0599" y="11906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aa86015f6a_2_200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Usuarios y Grupos en Linux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298" name="Google Shape;298;g3aa86015f6a_2_2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aa86015f6a_2_200"/>
          <p:cNvSpPr/>
          <p:nvPr/>
        </p:nvSpPr>
        <p:spPr>
          <a:xfrm>
            <a:off x="432435" y="3108007"/>
            <a:ext cx="3899059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y eliminación de usuarios</a:t>
            </a:r>
            <a:endParaRPr b="0" i="0" sz="1200" u="none" cap="none" strike="noStrike"/>
          </a:p>
        </p:txBody>
      </p:sp>
      <p:sp>
        <p:nvSpPr>
          <p:cNvPr id="300" name="Google Shape;300;g3aa86015f6a_2_200"/>
          <p:cNvSpPr/>
          <p:nvPr/>
        </p:nvSpPr>
        <p:spPr>
          <a:xfrm>
            <a:off x="432435" y="3407093"/>
            <a:ext cx="3839327" cy="652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adduser para crear nuevos usuarios y deluser para eliminarlos. Estos comandos permiten gestionar cuentas de usuario en el sistema, controlando el acceso y los recursos.</a:t>
            </a:r>
            <a:endParaRPr b="0" i="0" sz="1200" u="none" cap="none" strike="noStrike"/>
          </a:p>
        </p:txBody>
      </p:sp>
      <p:sp>
        <p:nvSpPr>
          <p:cNvPr id="301" name="Google Shape;301;g3aa86015f6a_2_200"/>
          <p:cNvSpPr/>
          <p:nvPr/>
        </p:nvSpPr>
        <p:spPr>
          <a:xfrm>
            <a:off x="4696777" y="1361122"/>
            <a:ext cx="4123373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Modificación de usuarios</a:t>
            </a:r>
            <a:endParaRPr b="0" i="0" sz="1200" u="none" cap="none" strike="noStrike"/>
          </a:p>
        </p:txBody>
      </p:sp>
      <p:sp>
        <p:nvSpPr>
          <p:cNvPr id="302" name="Google Shape;302;g3aa86015f6a_2_200"/>
          <p:cNvSpPr/>
          <p:nvPr/>
        </p:nvSpPr>
        <p:spPr>
          <a:xfrm>
            <a:off x="4770596" y="1708785"/>
            <a:ext cx="4060031" cy="652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usermod permite modificar propiedades de usuarios existentes, como el grupo primario o el directorio home. Es esencial para ajustar permisos y configuraciones de usuario.</a:t>
            </a:r>
            <a:endParaRPr b="0" i="0" sz="1200" u="none" cap="none" strike="noStrike"/>
          </a:p>
        </p:txBody>
      </p:sp>
      <p:sp>
        <p:nvSpPr>
          <p:cNvPr id="303" name="Google Shape;303;g3aa86015f6a_2_200"/>
          <p:cNvSpPr/>
          <p:nvPr/>
        </p:nvSpPr>
        <p:spPr>
          <a:xfrm>
            <a:off x="4770596" y="3108007"/>
            <a:ext cx="3899059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Archivos de configuración</a:t>
            </a:r>
            <a:endParaRPr b="0" i="0" sz="1200" u="none" cap="none" strike="noStrike"/>
          </a:p>
        </p:txBody>
      </p:sp>
      <p:sp>
        <p:nvSpPr>
          <p:cNvPr id="304" name="Google Shape;304;g3aa86015f6a_2_200"/>
          <p:cNvSpPr/>
          <p:nvPr/>
        </p:nvSpPr>
        <p:spPr>
          <a:xfrm>
            <a:off x="4770596" y="3407093"/>
            <a:ext cx="3839327" cy="6527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archivos /etc/passwd y /etc/group almacenan información sobre usuarios y grupos. Son fundamentales para la gestión de identidades y permisos en Linux.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g3aa86015f6a_2_216"/>
          <p:cNvPicPr preferRelativeResize="0"/>
          <p:nvPr/>
        </p:nvPicPr>
        <p:blipFill rotWithShape="1">
          <a:blip r:embed="rId3">
            <a:alphaModFix/>
          </a:blip>
          <a:srcRect b="0" l="670" r="661" t="0"/>
          <a:stretch/>
        </p:blipFill>
        <p:spPr>
          <a:xfrm>
            <a:off x="608171" y="1488758"/>
            <a:ext cx="3351372" cy="295226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aa86015f6a_2_216"/>
          <p:cNvSpPr/>
          <p:nvPr/>
        </p:nvSpPr>
        <p:spPr>
          <a:xfrm>
            <a:off x="741045" y="528161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Permisos y Propiedad de Archivos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312" name="Google Shape;312;g3aa86015f6a_2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aa86015f6a_2_216"/>
          <p:cNvSpPr/>
          <p:nvPr/>
        </p:nvSpPr>
        <p:spPr>
          <a:xfrm>
            <a:off x="4080510" y="1506379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Tipos de permisos</a:t>
            </a:r>
            <a:endParaRPr b="0" i="0" sz="1200" u="none" cap="none" strike="noStrike"/>
          </a:p>
        </p:txBody>
      </p:sp>
      <p:sp>
        <p:nvSpPr>
          <p:cNvPr id="314" name="Google Shape;314;g3aa86015f6a_2_216"/>
          <p:cNvSpPr/>
          <p:nvPr/>
        </p:nvSpPr>
        <p:spPr>
          <a:xfrm>
            <a:off x="4080510" y="1795939"/>
            <a:ext cx="4386263" cy="7201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Los permisos en Linux se dividen en lectura (r), escritura (w) y ejecución (x). chmod permite modificar estos permisos, mientras que chown cambia el propietario de archivos y directorios.</a:t>
            </a:r>
            <a:endParaRPr b="0" i="0" sz="1200" u="none" cap="none" strike="noStrike"/>
          </a:p>
        </p:txBody>
      </p:sp>
      <p:sp>
        <p:nvSpPr>
          <p:cNvPr id="315" name="Google Shape;315;g3aa86015f6a_2_216"/>
          <p:cNvSpPr/>
          <p:nvPr/>
        </p:nvSpPr>
        <p:spPr>
          <a:xfrm>
            <a:off x="4080510" y="3058954"/>
            <a:ext cx="4386263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Visualización de permisos</a:t>
            </a:r>
            <a:endParaRPr b="0" i="0" sz="1200" u="none" cap="none" strike="noStrike"/>
          </a:p>
        </p:txBody>
      </p:sp>
      <p:sp>
        <p:nvSpPr>
          <p:cNvPr id="316" name="Google Shape;316;g3aa86015f6a_2_216"/>
          <p:cNvSpPr/>
          <p:nvPr/>
        </p:nvSpPr>
        <p:spPr>
          <a:xfrm>
            <a:off x="4080510" y="3348514"/>
            <a:ext cx="4386263" cy="7201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ls -l muestra los permisos de archivos y directorios en formato detallado. Esto permite verificar quién tiene acceso y qué tipo de acceso tiene en el sistema.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g3aa86015f6a_0_3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63" y="138150"/>
            <a:ext cx="8652876" cy="48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a86015f6a_2_228"/>
          <p:cNvSpPr/>
          <p:nvPr/>
        </p:nvSpPr>
        <p:spPr>
          <a:xfrm rot="-2700000">
            <a:off x="1313497" y="2441257"/>
            <a:ext cx="1078230" cy="10782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aa86015f6a_2_228"/>
          <p:cNvSpPr/>
          <p:nvPr/>
        </p:nvSpPr>
        <p:spPr>
          <a:xfrm rot="-2700000">
            <a:off x="1313497" y="2441257"/>
            <a:ext cx="1078230" cy="1078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id="329" name="Google Shape;329;g3aa86015f6a_2_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93" y="2134605"/>
            <a:ext cx="1559242" cy="155924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aa86015f6a_2_228"/>
          <p:cNvSpPr/>
          <p:nvPr/>
        </p:nvSpPr>
        <p:spPr>
          <a:xfrm rot="-2700000">
            <a:off x="3126105" y="2427446"/>
            <a:ext cx="1078230" cy="10782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aa86015f6a_2_228"/>
          <p:cNvSpPr/>
          <p:nvPr/>
        </p:nvSpPr>
        <p:spPr>
          <a:xfrm rot="-2700000">
            <a:off x="3126105" y="2427446"/>
            <a:ext cx="1078230" cy="1078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id="332" name="Google Shape;332;g3aa86015f6a_2_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604" y="2133176"/>
            <a:ext cx="1559242" cy="155924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3aa86015f6a_2_228"/>
          <p:cNvSpPr/>
          <p:nvPr/>
        </p:nvSpPr>
        <p:spPr>
          <a:xfrm rot="-2700000">
            <a:off x="4938713" y="2424113"/>
            <a:ext cx="1078230" cy="10782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aa86015f6a_2_228"/>
          <p:cNvSpPr/>
          <p:nvPr/>
        </p:nvSpPr>
        <p:spPr>
          <a:xfrm rot="-2700000">
            <a:off x="4938713" y="2424113"/>
            <a:ext cx="1078230" cy="1078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l0.png" id="335" name="Google Shape;335;g3aa86015f6a_2_2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9211" y="2126509"/>
            <a:ext cx="1559243" cy="155924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aa86015f6a_2_228"/>
          <p:cNvSpPr/>
          <p:nvPr/>
        </p:nvSpPr>
        <p:spPr>
          <a:xfrm rot="-2700000">
            <a:off x="6751320" y="2427446"/>
            <a:ext cx="1078230" cy="10782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a86015f6a_2_228"/>
          <p:cNvSpPr/>
          <p:nvPr/>
        </p:nvSpPr>
        <p:spPr>
          <a:xfrm rot="-2700000">
            <a:off x="6751320" y="2427446"/>
            <a:ext cx="1078230" cy="1078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id="338" name="Google Shape;338;g3aa86015f6a_2_2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1819" y="2125980"/>
            <a:ext cx="1559242" cy="155924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aa86015f6a_2_228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Control de Procesos y Servicios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340" name="Google Shape;340;g3aa86015f6a_2_2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20:09:29-d2nfau98bjvh7rlj0jn0.png" id="341" name="Google Shape;341;g3aa86015f6a_2_2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90740" y="2061477"/>
            <a:ext cx="4762500" cy="168930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aa86015f6a_2_228"/>
          <p:cNvSpPr/>
          <p:nvPr/>
        </p:nvSpPr>
        <p:spPr>
          <a:xfrm>
            <a:off x="456724" y="854392"/>
            <a:ext cx="35242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Visualización de procesos</a:t>
            </a:r>
            <a:endParaRPr b="0" i="0" sz="1200" u="none" cap="none" strike="noStrike"/>
          </a:p>
        </p:txBody>
      </p:sp>
      <p:sp>
        <p:nvSpPr>
          <p:cNvPr id="343" name="Google Shape;343;g3aa86015f6a_2_228"/>
          <p:cNvSpPr/>
          <p:nvPr/>
        </p:nvSpPr>
        <p:spPr>
          <a:xfrm>
            <a:off x="456724" y="1118711"/>
            <a:ext cx="3264218" cy="844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ps aux muestra todos los procesos en ejecución con detalles como PID, uso de CPU y memoria. Es útil para monitorear el sistema y identificar problemas de rendimiento.</a:t>
            </a:r>
            <a:endParaRPr b="0" i="0" sz="1200" u="none" cap="none" strike="noStrike"/>
          </a:p>
        </p:txBody>
      </p:sp>
      <p:sp>
        <p:nvSpPr>
          <p:cNvPr id="344" name="Google Shape;344;g3aa86015f6a_2_228"/>
          <p:cNvSpPr/>
          <p:nvPr/>
        </p:nvSpPr>
        <p:spPr>
          <a:xfrm>
            <a:off x="4520089" y="854392"/>
            <a:ext cx="35242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Terminación de procesos</a:t>
            </a:r>
            <a:endParaRPr b="0" i="0" sz="1200" u="none" cap="none" strike="noStrike"/>
          </a:p>
        </p:txBody>
      </p:sp>
      <p:sp>
        <p:nvSpPr>
          <p:cNvPr id="345" name="Google Shape;345;g3aa86015f6a_2_228"/>
          <p:cNvSpPr/>
          <p:nvPr/>
        </p:nvSpPr>
        <p:spPr>
          <a:xfrm>
            <a:off x="4520089" y="1118711"/>
            <a:ext cx="3264218" cy="844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kill y pkill permiten terminar procesos de manera segura. htop ofrece una interfaz interactiva para gestionar procesos en tiempo real, facilitando la administración del sistema.</a:t>
            </a:r>
            <a:endParaRPr b="0" i="0" sz="1200" u="none" cap="none" strike="noStrike"/>
          </a:p>
        </p:txBody>
      </p:sp>
      <p:sp>
        <p:nvSpPr>
          <p:cNvPr id="346" name="Google Shape;346;g3aa86015f6a_2_228"/>
          <p:cNvSpPr/>
          <p:nvPr/>
        </p:nvSpPr>
        <p:spPr>
          <a:xfrm>
            <a:off x="1546384" y="3703320"/>
            <a:ext cx="371094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Administración de servicios</a:t>
            </a:r>
            <a:endParaRPr b="0" i="0" sz="1200" u="none" cap="none" strike="noStrike"/>
          </a:p>
        </p:txBody>
      </p:sp>
      <p:sp>
        <p:nvSpPr>
          <p:cNvPr id="347" name="Google Shape;347;g3aa86015f6a_2_228"/>
          <p:cNvSpPr/>
          <p:nvPr/>
        </p:nvSpPr>
        <p:spPr>
          <a:xfrm>
            <a:off x="1546384" y="3967163"/>
            <a:ext cx="3545205" cy="844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systemctl es la herramienta moderna para gestionar servicios en sistemas con systemd. Permite iniciar, detener y habilitar servicios de manera sencilla y segura.</a:t>
            </a:r>
            <a:endParaRPr b="0" i="0" sz="1200" u="none" cap="none" strike="noStrike"/>
          </a:p>
        </p:txBody>
      </p:sp>
      <p:sp>
        <p:nvSpPr>
          <p:cNvPr id="348" name="Google Shape;348;g3aa86015f6a_2_228"/>
          <p:cNvSpPr/>
          <p:nvPr/>
        </p:nvSpPr>
        <p:spPr>
          <a:xfrm>
            <a:off x="5656421" y="3660934"/>
            <a:ext cx="3524250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Programación de tareas</a:t>
            </a:r>
            <a:endParaRPr b="0" i="0" sz="1200" u="none" cap="none" strike="noStrike"/>
          </a:p>
        </p:txBody>
      </p:sp>
      <p:sp>
        <p:nvSpPr>
          <p:cNvPr id="349" name="Google Shape;349;g3aa86015f6a_2_228"/>
          <p:cNvSpPr/>
          <p:nvPr/>
        </p:nvSpPr>
        <p:spPr>
          <a:xfrm>
            <a:off x="5656421" y="3968115"/>
            <a:ext cx="3264218" cy="8441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crontab permite programar tareas automatizadas que se ejecutan a intervalos regulares. Es útil para tareas de mantenimiento y procesos periódicos en el sistema.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g3aa86015f6a_2_255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aa86015f6a_2_255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aa86015f6a_2_255"/>
          <p:cNvSpPr/>
          <p:nvPr/>
        </p:nvSpPr>
        <p:spPr>
          <a:xfrm>
            <a:off x="4038124" y="2397443"/>
            <a:ext cx="4061936" cy="8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Paquetes y Balance Final</a:t>
            </a:r>
            <a:endParaRPr b="0" i="0" sz="1200" u="none" cap="none" strike="noStrike"/>
          </a:p>
        </p:txBody>
      </p:sp>
      <p:sp>
        <p:nvSpPr>
          <p:cNvPr id="358" name="Google Shape;358;g3aa86015f6a_2_255"/>
          <p:cNvSpPr/>
          <p:nvPr/>
        </p:nvSpPr>
        <p:spPr>
          <a:xfrm>
            <a:off x="4038124" y="1459230"/>
            <a:ext cx="2542699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a86015f6a_2_263"/>
          <p:cNvSpPr/>
          <p:nvPr/>
        </p:nvSpPr>
        <p:spPr>
          <a:xfrm>
            <a:off x="899160" y="1766888"/>
            <a:ext cx="3657600" cy="57150"/>
          </a:xfrm>
          <a:prstGeom prst="parallelogram">
            <a:avLst>
              <a:gd fmla="val 25000" name="adj"/>
            </a:avLst>
          </a:prstGeom>
          <a:solidFill>
            <a:srgbClr val="11111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aa86015f6a_2_263"/>
          <p:cNvSpPr/>
          <p:nvPr/>
        </p:nvSpPr>
        <p:spPr>
          <a:xfrm>
            <a:off x="899160" y="1766888"/>
            <a:ext cx="3657600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id="366" name="Google Shape;366;g3aa86015f6a_2_263"/>
          <p:cNvPicPr preferRelativeResize="0"/>
          <p:nvPr/>
        </p:nvPicPr>
        <p:blipFill rotWithShape="1">
          <a:blip r:embed="rId3">
            <a:alphaModFix/>
          </a:blip>
          <a:srcRect b="0" l="27723" r="27727" t="0"/>
          <a:stretch/>
        </p:blipFill>
        <p:spPr>
          <a:xfrm>
            <a:off x="5724525" y="0"/>
            <a:ext cx="3419475" cy="514209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aa86015f6a_2_263"/>
          <p:cNvSpPr/>
          <p:nvPr/>
        </p:nvSpPr>
        <p:spPr>
          <a:xfrm>
            <a:off x="741045" y="528161"/>
            <a:ext cx="475821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Gestión de Paquetes en Linux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368" name="Google Shape;368;g3aa86015f6a_2_2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aa86015f6a_2_263"/>
          <p:cNvSpPr/>
          <p:nvPr/>
        </p:nvSpPr>
        <p:spPr>
          <a:xfrm>
            <a:off x="807720" y="1397794"/>
            <a:ext cx="3980498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Sistemas de paquetes</a:t>
            </a:r>
            <a:endParaRPr b="0" i="0" sz="1200" u="none" cap="none" strike="noStrike"/>
          </a:p>
        </p:txBody>
      </p:sp>
      <p:sp>
        <p:nvSpPr>
          <p:cNvPr id="370" name="Google Shape;370;g3aa86015f6a_2_263"/>
          <p:cNvSpPr/>
          <p:nvPr/>
        </p:nvSpPr>
        <p:spPr>
          <a:xfrm>
            <a:off x="807720" y="1915954"/>
            <a:ext cx="398049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utiliza gestores de paquetes como apt para Debian, yum y dnf para RedHat, y pacman para Arch. Estos sistemas permiten instalar, actualizar y eliminar software de manera sencilla y segura.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g3aa86015f6a_2_274"/>
          <p:cNvPicPr preferRelativeResize="0"/>
          <p:nvPr/>
        </p:nvPicPr>
        <p:blipFill rotWithShape="1">
          <a:blip r:embed="rId3">
            <a:alphaModFix/>
          </a:blip>
          <a:srcRect b="7684" l="0" r="0" t="7684"/>
          <a:stretch/>
        </p:blipFill>
        <p:spPr>
          <a:xfrm>
            <a:off x="707708" y="1142048"/>
            <a:ext cx="2771299" cy="17499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g3aa86015f6a_2_274"/>
          <p:cNvCxnSpPr/>
          <p:nvPr/>
        </p:nvCxnSpPr>
        <p:spPr>
          <a:xfrm>
            <a:off x="3807420" y="2872740"/>
            <a:ext cx="4544100" cy="0"/>
          </a:xfrm>
          <a:prstGeom prst="straightConnector1">
            <a:avLst/>
          </a:prstGeom>
          <a:noFill/>
          <a:ln cap="flat" cmpd="sng" w="1270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s://kimi-img.moonshot.cn/pub/slides/slides_tmpl/image/25-08-27-20:09:25-d2nfat98bjvh7rlj0j30.png" id="378" name="Google Shape;378;g3aa86015f6a_2_2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aa86015f6a_2_274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Ventajas de Linux en Virtualización</a:t>
            </a:r>
            <a:endParaRPr b="0" i="0" sz="1200" u="none" cap="none" strike="noStrike"/>
          </a:p>
        </p:txBody>
      </p:sp>
      <p:sp>
        <p:nvSpPr>
          <p:cNvPr id="380" name="Google Shape;380;g3aa86015f6a_2_274"/>
          <p:cNvSpPr/>
          <p:nvPr/>
        </p:nvSpPr>
        <p:spPr>
          <a:xfrm>
            <a:off x="3807996" y="1254443"/>
            <a:ext cx="4542949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Código abierto y comunidad</a:t>
            </a:r>
            <a:endParaRPr b="0" i="0" sz="1200" u="none" cap="none" strike="noStrike"/>
          </a:p>
        </p:txBody>
      </p:sp>
      <p:sp>
        <p:nvSpPr>
          <p:cNvPr id="381" name="Google Shape;381;g3aa86015f6a_2_274"/>
          <p:cNvSpPr/>
          <p:nvPr/>
        </p:nvSpPr>
        <p:spPr>
          <a:xfrm>
            <a:off x="3807996" y="1560671"/>
            <a:ext cx="4542949" cy="713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es código abierto y gratuito, con una gran comunidad de desarrolladores que ofrecen soporte y documentación. Esto facilita la colaboración y el aprendizaje constante.</a:t>
            </a:r>
            <a:endParaRPr b="0" i="0" sz="1200" u="none" cap="none" strike="noStrike"/>
          </a:p>
        </p:txBody>
      </p:sp>
      <p:sp>
        <p:nvSpPr>
          <p:cNvPr id="382" name="Google Shape;382;g3aa86015f6a_2_274"/>
          <p:cNvSpPr/>
          <p:nvPr/>
        </p:nvSpPr>
        <p:spPr>
          <a:xfrm>
            <a:off x="594360" y="3009424"/>
            <a:ext cx="2918434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Seguridad y estabilidad</a:t>
            </a:r>
            <a:endParaRPr b="0" i="0" sz="1200" u="none" cap="none" strike="noStrike"/>
          </a:p>
        </p:txBody>
      </p:sp>
      <p:sp>
        <p:nvSpPr>
          <p:cNvPr id="383" name="Google Shape;383;g3aa86015f6a_2_274"/>
          <p:cNvSpPr/>
          <p:nvPr/>
        </p:nvSpPr>
        <p:spPr>
          <a:xfrm>
            <a:off x="625853" y="3314224"/>
            <a:ext cx="2874344" cy="12463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arquitectura modular de Linux y sus permisos avanzados proporcionan mayor seguridad y estabilidad, ideales para entornos de producción y virtualización.</a:t>
            </a:r>
            <a:endParaRPr b="0" i="0" sz="1200" u="none" cap="none" strike="noStrike"/>
          </a:p>
        </p:txBody>
      </p:sp>
      <p:sp>
        <p:nvSpPr>
          <p:cNvPr id="384" name="Google Shape;384;g3aa86015f6a_2_274"/>
          <p:cNvSpPr/>
          <p:nvPr/>
        </p:nvSpPr>
        <p:spPr>
          <a:xfrm>
            <a:off x="3807996" y="3193256"/>
            <a:ext cx="4542949" cy="233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Personalización y flexibilidad</a:t>
            </a:r>
            <a:endParaRPr b="0" i="0" sz="1200" u="none" cap="none" strike="noStrike"/>
          </a:p>
        </p:txBody>
      </p:sp>
      <p:sp>
        <p:nvSpPr>
          <p:cNvPr id="385" name="Google Shape;385;g3aa86015f6a_2_274"/>
          <p:cNvSpPr/>
          <p:nvPr/>
        </p:nvSpPr>
        <p:spPr>
          <a:xfrm>
            <a:off x="3807996" y="3499485"/>
            <a:ext cx="4542949" cy="713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se puede personalizar y adaptar a diferentes necesidades y hardware, lo que lo hace versátil para proyectos de virtualización y contenerización.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aa86015f6a_2_288"/>
          <p:cNvSpPr/>
          <p:nvPr/>
        </p:nvSpPr>
        <p:spPr>
          <a:xfrm>
            <a:off x="741045" y="528161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Desafíos y Contrapuntos de Linux</a:t>
            </a:r>
            <a:endParaRPr b="0" i="0" sz="1200" u="none" cap="none" strike="noStrike"/>
          </a:p>
        </p:txBody>
      </p:sp>
      <p:sp>
        <p:nvSpPr>
          <p:cNvPr id="392" name="Google Shape;392;g3aa86015f6a_2_288"/>
          <p:cNvSpPr/>
          <p:nvPr/>
        </p:nvSpPr>
        <p:spPr>
          <a:xfrm rot="300000">
            <a:off x="972979" y="1475423"/>
            <a:ext cx="3142774" cy="2504123"/>
          </a:xfrm>
          <a:prstGeom prst="roundRect">
            <a:avLst>
              <a:gd fmla="val 6666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aa86015f6a_2_288"/>
          <p:cNvSpPr/>
          <p:nvPr/>
        </p:nvSpPr>
        <p:spPr>
          <a:xfrm rot="300000">
            <a:off x="972979" y="1475423"/>
            <a:ext cx="3142774" cy="250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394" name="Google Shape;394;g3aa86015f6a_2_288"/>
          <p:cNvSpPr/>
          <p:nvPr/>
        </p:nvSpPr>
        <p:spPr>
          <a:xfrm>
            <a:off x="1064419" y="1570673"/>
            <a:ext cx="3142774" cy="2595086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aa86015f6a_2_288"/>
          <p:cNvSpPr/>
          <p:nvPr/>
        </p:nvSpPr>
        <p:spPr>
          <a:xfrm>
            <a:off x="1064419" y="1570673"/>
            <a:ext cx="3142774" cy="259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396" name="Google Shape;396;g3aa86015f6a_2_288"/>
          <p:cNvSpPr/>
          <p:nvPr/>
        </p:nvSpPr>
        <p:spPr>
          <a:xfrm>
            <a:off x="3860959" y="1726882"/>
            <a:ext cx="217170" cy="21717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aa86015f6a_2_288"/>
          <p:cNvSpPr/>
          <p:nvPr/>
        </p:nvSpPr>
        <p:spPr>
          <a:xfrm>
            <a:off x="3860959" y="1726882"/>
            <a:ext cx="217170" cy="217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398" name="Google Shape;398;g3aa86015f6a_2_288"/>
          <p:cNvSpPr/>
          <p:nvPr/>
        </p:nvSpPr>
        <p:spPr>
          <a:xfrm rot="300000">
            <a:off x="4862989" y="1475423"/>
            <a:ext cx="3142774" cy="2504123"/>
          </a:xfrm>
          <a:prstGeom prst="roundRect">
            <a:avLst>
              <a:gd fmla="val 6666" name="adj"/>
            </a:avLst>
          </a:prstGeom>
          <a:solidFill>
            <a:srgbClr val="EBEB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aa86015f6a_2_288"/>
          <p:cNvSpPr/>
          <p:nvPr/>
        </p:nvSpPr>
        <p:spPr>
          <a:xfrm rot="300000">
            <a:off x="4862989" y="1475423"/>
            <a:ext cx="3142774" cy="250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400" name="Google Shape;400;g3aa86015f6a_2_288"/>
          <p:cNvSpPr/>
          <p:nvPr/>
        </p:nvSpPr>
        <p:spPr>
          <a:xfrm>
            <a:off x="4954429" y="1570673"/>
            <a:ext cx="3142774" cy="2595086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 cap="flat" cmpd="sng" w="19050">
            <a:solidFill>
              <a:srgbClr val="EBEB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aa86015f6a_2_288"/>
          <p:cNvSpPr/>
          <p:nvPr/>
        </p:nvSpPr>
        <p:spPr>
          <a:xfrm>
            <a:off x="4954429" y="1570673"/>
            <a:ext cx="3142774" cy="259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402" name="Google Shape;402;g3aa86015f6a_2_288"/>
          <p:cNvSpPr/>
          <p:nvPr/>
        </p:nvSpPr>
        <p:spPr>
          <a:xfrm>
            <a:off x="7750969" y="1726882"/>
            <a:ext cx="217170" cy="217170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aa86015f6a_2_288"/>
          <p:cNvSpPr/>
          <p:nvPr/>
        </p:nvSpPr>
        <p:spPr>
          <a:xfrm>
            <a:off x="7750969" y="1726882"/>
            <a:ext cx="217170" cy="2171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404" name="Google Shape;404;g3aa86015f6a_2_2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707" y="577815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aa86015f6a_2_288"/>
          <p:cNvSpPr/>
          <p:nvPr/>
        </p:nvSpPr>
        <p:spPr>
          <a:xfrm>
            <a:off x="1290638" y="1740694"/>
            <a:ext cx="23880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Curva de aprendizaje</a:t>
            </a:r>
            <a:endParaRPr b="0" i="0" sz="1200" u="none" cap="none" strike="noStrike"/>
          </a:p>
        </p:txBody>
      </p:sp>
      <p:sp>
        <p:nvSpPr>
          <p:cNvPr id="406" name="Google Shape;406;g3aa86015f6a_2_288"/>
          <p:cNvSpPr/>
          <p:nvPr/>
        </p:nvSpPr>
        <p:spPr>
          <a:xfrm>
            <a:off x="1290638" y="2349818"/>
            <a:ext cx="2729865" cy="1426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tiene una curva de aprendizaje pronunciada, especialmente para usuarios sin experiencia previa. Sin embargo, la documentación y la comunidad pueden ayudar a superar este desafío.</a:t>
            </a:r>
            <a:endParaRPr b="0" i="0" sz="1200" u="none" cap="none" strike="noStrike"/>
          </a:p>
        </p:txBody>
      </p:sp>
      <p:sp>
        <p:nvSpPr>
          <p:cNvPr id="407" name="Google Shape;407;g3aa86015f6a_2_288"/>
          <p:cNvSpPr/>
          <p:nvPr/>
        </p:nvSpPr>
        <p:spPr>
          <a:xfrm>
            <a:off x="5180648" y="1740694"/>
            <a:ext cx="23880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Compatibilidad de software y hardware</a:t>
            </a:r>
            <a:endParaRPr b="0" i="0" sz="1200" u="none" cap="none" strike="noStrike"/>
          </a:p>
        </p:txBody>
      </p:sp>
      <p:sp>
        <p:nvSpPr>
          <p:cNvPr id="408" name="Google Shape;408;g3aa86015f6a_2_288"/>
          <p:cNvSpPr/>
          <p:nvPr/>
        </p:nvSpPr>
        <p:spPr>
          <a:xfrm>
            <a:off x="5180648" y="2349818"/>
            <a:ext cx="2729865" cy="1426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Linux puede tener menos soporte para software propietario y ciertos dispositivos hardware. Sin embargo, la compatibilidad está mejorando constantemente y hay recursos para solucionar这些问题.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a86015f6a_2_310"/>
          <p:cNvSpPr/>
          <p:nvPr/>
        </p:nvSpPr>
        <p:spPr>
          <a:xfrm>
            <a:off x="0" y="5086350"/>
            <a:ext cx="9145905" cy="57150"/>
          </a:xfrm>
          <a:prstGeom prst="rect">
            <a:avLst/>
          </a:prstGeom>
          <a:solidFill>
            <a:srgbClr val="1C1A1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aa86015f6a_2_310"/>
          <p:cNvSpPr/>
          <p:nvPr/>
        </p:nvSpPr>
        <p:spPr>
          <a:xfrm>
            <a:off x="0" y="5086350"/>
            <a:ext cx="9145905" cy="57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k0.png" id="416" name="Google Shape;416;g3aa86015f6a_2_310"/>
          <p:cNvPicPr preferRelativeResize="0"/>
          <p:nvPr/>
        </p:nvPicPr>
        <p:blipFill rotWithShape="1">
          <a:blip r:embed="rId3">
            <a:alphaModFix/>
          </a:blip>
          <a:srcRect b="0" l="97" r="97" t="0"/>
          <a:stretch/>
        </p:blipFill>
        <p:spPr>
          <a:xfrm>
            <a:off x="4635818" y="1192054"/>
            <a:ext cx="1966913" cy="1366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aa86015f6a_2_310"/>
          <p:cNvPicPr preferRelativeResize="0"/>
          <p:nvPr/>
        </p:nvPicPr>
        <p:blipFill rotWithShape="1">
          <a:blip r:embed="rId4">
            <a:alphaModFix/>
          </a:blip>
          <a:srcRect b="0" l="1399" r="1390" t="0"/>
          <a:stretch/>
        </p:blipFill>
        <p:spPr>
          <a:xfrm>
            <a:off x="2555557" y="1192054"/>
            <a:ext cx="1979771" cy="1364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aa86015f6a_2_310"/>
          <p:cNvPicPr preferRelativeResize="0"/>
          <p:nvPr/>
        </p:nvPicPr>
        <p:blipFill rotWithShape="1">
          <a:blip r:embed="rId5">
            <a:alphaModFix/>
          </a:blip>
          <a:srcRect b="0" l="1399" r="1390" t="0"/>
          <a:stretch/>
        </p:blipFill>
        <p:spPr>
          <a:xfrm>
            <a:off x="481013" y="1192054"/>
            <a:ext cx="1979771" cy="13643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kimi-img.moonshot.cn/pub/slides/slides_tmpl/image/25-08-27-20:09:29-d2nfau98bjvh7rlj0jj0.png" id="419" name="Google Shape;419;g3aa86015f6a_2_310"/>
          <p:cNvPicPr preferRelativeResize="0"/>
          <p:nvPr/>
        </p:nvPicPr>
        <p:blipFill rotWithShape="1">
          <a:blip r:embed="rId6">
            <a:alphaModFix/>
          </a:blip>
          <a:srcRect b="0" l="96" r="120" t="0"/>
          <a:stretch/>
        </p:blipFill>
        <p:spPr>
          <a:xfrm>
            <a:off x="6703695" y="1192054"/>
            <a:ext cx="1979771" cy="1366361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aa86015f6a_2_310"/>
          <p:cNvSpPr/>
          <p:nvPr/>
        </p:nvSpPr>
        <p:spPr>
          <a:xfrm>
            <a:off x="741045" y="385286"/>
            <a:ext cx="79009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Conclusión y Recursos de Interés</a:t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5-d2nfat98bjvh7rlj0j30.png" id="421" name="Google Shape;421;g3aa86015f6a_2_3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1707" y="435361"/>
            <a:ext cx="4000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aa86015f6a_2_310"/>
          <p:cNvSpPr/>
          <p:nvPr/>
        </p:nvSpPr>
        <p:spPr>
          <a:xfrm>
            <a:off x="481489" y="2606516"/>
            <a:ext cx="197929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Importancia de la virtualización</a:t>
            </a:r>
            <a:endParaRPr b="0" i="0" sz="1200" u="none" cap="none" strike="noStrike"/>
          </a:p>
        </p:txBody>
      </p:sp>
      <p:sp>
        <p:nvSpPr>
          <p:cNvPr id="423" name="Google Shape;423;g3aa86015f6a_2_310"/>
          <p:cNvSpPr/>
          <p:nvPr/>
        </p:nvSpPr>
        <p:spPr>
          <a:xfrm>
            <a:off x="481489" y="3102769"/>
            <a:ext cx="1979295" cy="1688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La virtualización y contenerización son tecnologías clave en entornos modernos. Herramientas como Docker, Containerd y Harbor permiten desplegar servicios de manera eficiente y segura.</a:t>
            </a:r>
            <a:endParaRPr b="0" i="0" sz="1200" u="none" cap="none" strike="noStrike"/>
          </a:p>
        </p:txBody>
      </p:sp>
      <p:sp>
        <p:nvSpPr>
          <p:cNvPr id="424" name="Google Shape;424;g3aa86015f6a_2_310"/>
          <p:cNvSpPr/>
          <p:nvPr/>
        </p:nvSpPr>
        <p:spPr>
          <a:xfrm>
            <a:off x="2555557" y="2606516"/>
            <a:ext cx="197929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Desarrollo de competencias</a:t>
            </a:r>
            <a:endParaRPr b="0" i="0" sz="1200" u="none" cap="none" strike="noStrike"/>
          </a:p>
        </p:txBody>
      </p:sp>
      <p:sp>
        <p:nvSpPr>
          <p:cNvPr id="425" name="Google Shape;425;g3aa86015f6a_2_310"/>
          <p:cNvSpPr/>
          <p:nvPr/>
        </p:nvSpPr>
        <p:spPr>
          <a:xfrm>
            <a:off x="2555557" y="3102769"/>
            <a:ext cx="1979295" cy="14772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 estudiante desarrolla competencias alineadas con la industria tecnológica actual, preparándose para desafíos profesionales en la gestión de servicios y virtualización.</a:t>
            </a:r>
            <a:endParaRPr b="0" i="0" sz="1200" u="none" cap="none" strike="noStrike"/>
          </a:p>
        </p:txBody>
      </p:sp>
      <p:sp>
        <p:nvSpPr>
          <p:cNvPr id="426" name="Google Shape;426;g3aa86015f6a_2_310"/>
          <p:cNvSpPr/>
          <p:nvPr/>
        </p:nvSpPr>
        <p:spPr>
          <a:xfrm>
            <a:off x="4629626" y="2606516"/>
            <a:ext cx="197929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Recursos recomendados</a:t>
            </a:r>
            <a:endParaRPr b="0" i="0" sz="1200" u="none" cap="none" strike="noStrike"/>
          </a:p>
        </p:txBody>
      </p:sp>
      <p:sp>
        <p:nvSpPr>
          <p:cNvPr id="427" name="Google Shape;427;g3aa86015f6a_2_310"/>
          <p:cNvSpPr/>
          <p:nvPr/>
        </p:nvSpPr>
        <p:spPr>
          <a:xfrm>
            <a:off x="4629626" y="3102769"/>
            <a:ext cx="1979295" cy="14772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Consulta la documentación oficial de Docker, Harbor, Zot, Containerd y OCI para continuar aprendiendo y mantenerse actualizado en las últimas tecnologías y prácticas.</a:t>
            </a:r>
            <a:endParaRPr b="0" i="0" sz="1200" u="none" cap="none" strike="noStrike"/>
          </a:p>
        </p:txBody>
      </p:sp>
      <p:sp>
        <p:nvSpPr>
          <p:cNvPr id="428" name="Google Shape;428;g3aa86015f6a_2_310"/>
          <p:cNvSpPr/>
          <p:nvPr/>
        </p:nvSpPr>
        <p:spPr>
          <a:xfrm>
            <a:off x="6703695" y="2606516"/>
            <a:ext cx="1979295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Comunidad y soporte</a:t>
            </a:r>
            <a:endParaRPr b="0" i="0" sz="1200" u="none" cap="none" strike="noStrike"/>
          </a:p>
        </p:txBody>
      </p:sp>
      <p:sp>
        <p:nvSpPr>
          <p:cNvPr id="429" name="Google Shape;429;g3aa86015f6a_2_310"/>
          <p:cNvSpPr/>
          <p:nvPr/>
        </p:nvSpPr>
        <p:spPr>
          <a:xfrm>
            <a:off x="6703695" y="3102769"/>
            <a:ext cx="1979295" cy="14772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Únete a comunidades en línea y foros para acceder a soporte y compartir conocimientos. La comunidad Linux es un recurso invaluable para el crecimiento profesional.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g3aa86015f6a_0_436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g3aa86015f6a_0_436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aa86015f6a_0_436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" sz="2700">
                <a:solidFill>
                  <a:srgbClr val="FFFFFF"/>
                </a:solidFill>
              </a:rPr>
              <a:t>Conceptos Clave</a:t>
            </a:r>
            <a:endParaRPr b="0" i="0" sz="1200" u="none" cap="none" strike="noStrike"/>
          </a:p>
        </p:txBody>
      </p:sp>
      <p:pic>
        <p:nvPicPr>
          <p:cNvPr id="438" name="Google Shape;438;g3aa86015f6a_0_436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a86015f6a_0_444"/>
          <p:cNvSpPr/>
          <p:nvPr/>
        </p:nvSpPr>
        <p:spPr>
          <a:xfrm>
            <a:off x="2668125" y="451650"/>
            <a:ext cx="38091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700"/>
              <a:buFont typeface="Noto Sans SC"/>
              <a:buNone/>
            </a:pPr>
            <a:r>
              <a:rPr b="1" lang="es" sz="3000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Conceptos Clave</a:t>
            </a:r>
            <a:endParaRPr b="1" i="0" sz="1500" u="none" cap="none" strike="noStrike"/>
          </a:p>
        </p:txBody>
      </p:sp>
      <p:sp>
        <p:nvSpPr>
          <p:cNvPr id="445" name="Google Shape;445;g3aa86015f6a_0_444"/>
          <p:cNvSpPr/>
          <p:nvPr/>
        </p:nvSpPr>
        <p:spPr>
          <a:xfrm>
            <a:off x="1364754" y="1316831"/>
            <a:ext cx="571500" cy="457200"/>
          </a:xfrm>
          <a:custGeom>
            <a:rect b="b" l="l" r="r" t="t"/>
            <a:pathLst>
              <a:path extrusionOk="0" h="609600" w="7620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aa86015f6a_0_444"/>
          <p:cNvSpPr/>
          <p:nvPr/>
        </p:nvSpPr>
        <p:spPr>
          <a:xfrm>
            <a:off x="301763" y="2067713"/>
            <a:ext cx="26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C"/>
              <a:buNone/>
            </a:pPr>
            <a:r>
              <a:rPr b="1" i="0" lang="es" sz="15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Tecnologías Clave</a:t>
            </a:r>
            <a:endParaRPr b="1" i="0" sz="1200" u="none" cap="none" strike="noStrike"/>
          </a:p>
        </p:txBody>
      </p:sp>
      <p:sp>
        <p:nvSpPr>
          <p:cNvPr id="447" name="Google Shape;447;g3aa86015f6a_0_444"/>
          <p:cNvSpPr/>
          <p:nvPr/>
        </p:nvSpPr>
        <p:spPr>
          <a:xfrm>
            <a:off x="495300" y="2628019"/>
            <a:ext cx="25050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Virtualización y contenerización son la base de la infraestructura moderna, impulsando la automatización y eficiencia.</a:t>
            </a:r>
            <a:endParaRPr b="0" i="0" sz="1700" u="none" cap="none" strike="noStrike"/>
          </a:p>
        </p:txBody>
      </p:sp>
      <p:cxnSp>
        <p:nvCxnSpPr>
          <p:cNvPr id="448" name="Google Shape;448;g3aa86015f6a_0_444"/>
          <p:cNvCxnSpPr/>
          <p:nvPr/>
        </p:nvCxnSpPr>
        <p:spPr>
          <a:xfrm>
            <a:off x="5844183" y="2000250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888B8D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g3aa86015f6a_0_444"/>
          <p:cNvCxnSpPr/>
          <p:nvPr/>
        </p:nvCxnSpPr>
        <p:spPr>
          <a:xfrm>
            <a:off x="3262908" y="2000250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888B8D">
                <a:alpha val="298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0" name="Google Shape;450;g3aa86015f6a_0_444"/>
          <p:cNvSpPr/>
          <p:nvPr/>
        </p:nvSpPr>
        <p:spPr>
          <a:xfrm>
            <a:off x="4296375" y="1316831"/>
            <a:ext cx="514350" cy="457200"/>
          </a:xfrm>
          <a:custGeom>
            <a:rect b="b" l="l" r="r" t="t"/>
            <a:pathLst>
              <a:path extrusionOk="0" h="609600" w="685800">
                <a:moveTo>
                  <a:pt x="266819" y="115610"/>
                </a:moveTo>
                <a:lnTo>
                  <a:pt x="266819" y="174665"/>
                </a:lnTo>
                <a:lnTo>
                  <a:pt x="267414" y="175260"/>
                </a:lnTo>
                <a:cubicBezTo>
                  <a:pt x="275153" y="77152"/>
                  <a:pt x="357188" y="0"/>
                  <a:pt x="457319" y="0"/>
                </a:cubicBezTo>
                <a:cubicBezTo>
                  <a:pt x="481251" y="0"/>
                  <a:pt x="504230" y="4405"/>
                  <a:pt x="525304" y="12502"/>
                </a:cubicBezTo>
                <a:cubicBezTo>
                  <a:pt x="537210" y="17026"/>
                  <a:pt x="539353" y="32147"/>
                  <a:pt x="530423" y="41196"/>
                </a:cubicBezTo>
                <a:lnTo>
                  <a:pt x="424815" y="146804"/>
                </a:lnTo>
                <a:cubicBezTo>
                  <a:pt x="421243" y="150376"/>
                  <a:pt x="419219" y="155258"/>
                  <a:pt x="419219" y="160258"/>
                </a:cubicBezTo>
                <a:lnTo>
                  <a:pt x="419219" y="209550"/>
                </a:lnTo>
                <a:cubicBezTo>
                  <a:pt x="419219" y="220028"/>
                  <a:pt x="427792" y="228600"/>
                  <a:pt x="438269" y="228600"/>
                </a:cubicBezTo>
                <a:lnTo>
                  <a:pt x="487561" y="228600"/>
                </a:lnTo>
                <a:cubicBezTo>
                  <a:pt x="492562" y="228600"/>
                  <a:pt x="497443" y="226576"/>
                  <a:pt x="501015" y="223004"/>
                </a:cubicBezTo>
                <a:lnTo>
                  <a:pt x="606623" y="117396"/>
                </a:lnTo>
                <a:cubicBezTo>
                  <a:pt x="615672" y="108347"/>
                  <a:pt x="630793" y="110609"/>
                  <a:pt x="635318" y="122515"/>
                </a:cubicBezTo>
                <a:cubicBezTo>
                  <a:pt x="643414" y="143589"/>
                  <a:pt x="647819" y="166568"/>
                  <a:pt x="647819" y="190500"/>
                </a:cubicBezTo>
                <a:cubicBezTo>
                  <a:pt x="647819" y="262652"/>
                  <a:pt x="607695" y="325517"/>
                  <a:pt x="548402" y="357783"/>
                </a:cubicBezTo>
                <a:lnTo>
                  <a:pt x="645438" y="454819"/>
                </a:lnTo>
                <a:cubicBezTo>
                  <a:pt x="667703" y="477083"/>
                  <a:pt x="667703" y="513278"/>
                  <a:pt x="645438" y="535662"/>
                </a:cubicBezTo>
                <a:lnTo>
                  <a:pt x="573881" y="607219"/>
                </a:lnTo>
                <a:cubicBezTo>
                  <a:pt x="551617" y="629483"/>
                  <a:pt x="515422" y="629483"/>
                  <a:pt x="493038" y="607219"/>
                </a:cubicBezTo>
                <a:lnTo>
                  <a:pt x="343019" y="457200"/>
                </a:lnTo>
                <a:cubicBezTo>
                  <a:pt x="310396" y="424577"/>
                  <a:pt x="303014" y="376357"/>
                  <a:pt x="320993" y="336590"/>
                </a:cubicBezTo>
                <a:lnTo>
                  <a:pt x="213003" y="228600"/>
                </a:lnTo>
                <a:lnTo>
                  <a:pt x="153948" y="228600"/>
                </a:lnTo>
                <a:cubicBezTo>
                  <a:pt x="141208" y="228600"/>
                  <a:pt x="129302" y="222290"/>
                  <a:pt x="122277" y="211693"/>
                </a:cubicBezTo>
                <a:lnTo>
                  <a:pt x="27861" y="70128"/>
                </a:lnTo>
                <a:cubicBezTo>
                  <a:pt x="22860" y="62627"/>
                  <a:pt x="23813" y="52507"/>
                  <a:pt x="30242" y="46077"/>
                </a:cubicBezTo>
                <a:lnTo>
                  <a:pt x="84296" y="-7977"/>
                </a:lnTo>
                <a:cubicBezTo>
                  <a:pt x="90726" y="-14407"/>
                  <a:pt x="100727" y="-15359"/>
                  <a:pt x="108347" y="-10358"/>
                </a:cubicBezTo>
                <a:lnTo>
                  <a:pt x="249912" y="83939"/>
                </a:lnTo>
                <a:cubicBezTo>
                  <a:pt x="260509" y="90964"/>
                  <a:pt x="266819" y="102870"/>
                  <a:pt x="266819" y="115610"/>
                </a:cubicBezTo>
                <a:close/>
                <a:moveTo>
                  <a:pt x="256699" y="353139"/>
                </a:moveTo>
                <a:cubicBezTo>
                  <a:pt x="249198" y="397193"/>
                  <a:pt x="259556" y="443746"/>
                  <a:pt x="288131" y="481012"/>
                </a:cubicBezTo>
                <a:lnTo>
                  <a:pt x="175022" y="594003"/>
                </a:lnTo>
                <a:cubicBezTo>
                  <a:pt x="141565" y="627459"/>
                  <a:pt x="87273" y="627459"/>
                  <a:pt x="53816" y="594003"/>
                </a:cubicBezTo>
                <a:cubicBezTo>
                  <a:pt x="20360" y="560546"/>
                  <a:pt x="20360" y="506254"/>
                  <a:pt x="53816" y="472797"/>
                </a:cubicBezTo>
                <a:lnTo>
                  <a:pt x="215027" y="311587"/>
                </a:lnTo>
                <a:lnTo>
                  <a:pt x="256699" y="353258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aa86015f6a_0_444"/>
          <p:cNvSpPr/>
          <p:nvPr/>
        </p:nvSpPr>
        <p:spPr>
          <a:xfrm>
            <a:off x="3243858" y="2067713"/>
            <a:ext cx="2657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C"/>
              <a:buNone/>
            </a:pPr>
            <a:r>
              <a:rPr b="1" i="0" lang="es" sz="15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Herramientas Esenciales</a:t>
            </a:r>
            <a:endParaRPr b="1" i="0" sz="1200" u="none" cap="none" strike="noStrike"/>
          </a:p>
        </p:txBody>
      </p:sp>
      <p:sp>
        <p:nvSpPr>
          <p:cNvPr id="452" name="Google Shape;452;g3aa86015f6a_0_444"/>
          <p:cNvSpPr/>
          <p:nvPr/>
        </p:nvSpPr>
        <p:spPr>
          <a:xfrm>
            <a:off x="3434363" y="2628019"/>
            <a:ext cx="22431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Docker, Containerd, Harbor y Zot permiten una gestión de servicios eficiente, segura y escalable.</a:t>
            </a:r>
            <a:endParaRPr b="0" i="0" sz="1700" u="none" cap="none" strike="noStrike"/>
          </a:p>
        </p:txBody>
      </p:sp>
      <p:sp>
        <p:nvSpPr>
          <p:cNvPr id="453" name="Google Shape;453;g3aa86015f6a_0_444"/>
          <p:cNvSpPr/>
          <p:nvPr/>
        </p:nvSpPr>
        <p:spPr>
          <a:xfrm>
            <a:off x="7293620" y="1316831"/>
            <a:ext cx="400050" cy="457200"/>
          </a:xfrm>
          <a:custGeom>
            <a:rect b="b" l="l" r="r" t="t"/>
            <a:pathLst>
              <a:path extrusionOk="0" h="609600" w="533400">
                <a:moveTo>
                  <a:pt x="287298" y="-15478"/>
                </a:moveTo>
                <a:cubicBezTo>
                  <a:pt x="273725" y="-18217"/>
                  <a:pt x="259794" y="-18217"/>
                  <a:pt x="246221" y="-15478"/>
                </a:cubicBezTo>
                <a:lnTo>
                  <a:pt x="22979" y="29170"/>
                </a:lnTo>
                <a:cubicBezTo>
                  <a:pt x="9644" y="31790"/>
                  <a:pt x="0" y="43577"/>
                  <a:pt x="0" y="57150"/>
                </a:cubicBezTo>
                <a:cubicBezTo>
                  <a:pt x="0" y="69413"/>
                  <a:pt x="7739" y="80129"/>
                  <a:pt x="19050" y="84058"/>
                </a:cubicBezTo>
                <a:lnTo>
                  <a:pt x="19050" y="171450"/>
                </a:lnTo>
                <a:lnTo>
                  <a:pt x="357" y="265033"/>
                </a:lnTo>
                <a:cubicBezTo>
                  <a:pt x="119" y="266105"/>
                  <a:pt x="0" y="267295"/>
                  <a:pt x="0" y="268486"/>
                </a:cubicBezTo>
                <a:cubicBezTo>
                  <a:pt x="0" y="278011"/>
                  <a:pt x="7739" y="285869"/>
                  <a:pt x="17383" y="285869"/>
                </a:cubicBezTo>
                <a:lnTo>
                  <a:pt x="58936" y="285869"/>
                </a:lnTo>
                <a:cubicBezTo>
                  <a:pt x="68461" y="285869"/>
                  <a:pt x="76319" y="278130"/>
                  <a:pt x="76319" y="268486"/>
                </a:cubicBezTo>
                <a:cubicBezTo>
                  <a:pt x="76319" y="267295"/>
                  <a:pt x="76200" y="266224"/>
                  <a:pt x="75962" y="265033"/>
                </a:cubicBezTo>
                <a:lnTo>
                  <a:pt x="57150" y="171450"/>
                </a:lnTo>
                <a:lnTo>
                  <a:pt x="57150" y="92035"/>
                </a:lnTo>
                <a:lnTo>
                  <a:pt x="114300" y="103465"/>
                </a:lnTo>
                <a:lnTo>
                  <a:pt x="114300" y="171450"/>
                </a:lnTo>
                <a:cubicBezTo>
                  <a:pt x="114300" y="255627"/>
                  <a:pt x="182523" y="323850"/>
                  <a:pt x="266700" y="323850"/>
                </a:cubicBezTo>
                <a:cubicBezTo>
                  <a:pt x="350877" y="323850"/>
                  <a:pt x="419100" y="255627"/>
                  <a:pt x="419100" y="171450"/>
                </a:cubicBezTo>
                <a:lnTo>
                  <a:pt x="419100" y="103465"/>
                </a:lnTo>
                <a:lnTo>
                  <a:pt x="510421" y="85249"/>
                </a:lnTo>
                <a:cubicBezTo>
                  <a:pt x="523756" y="82510"/>
                  <a:pt x="533400" y="70723"/>
                  <a:pt x="533400" y="57150"/>
                </a:cubicBezTo>
                <a:cubicBezTo>
                  <a:pt x="533400" y="43577"/>
                  <a:pt x="523756" y="31790"/>
                  <a:pt x="510421" y="29170"/>
                </a:cubicBezTo>
                <a:lnTo>
                  <a:pt x="287298" y="-15478"/>
                </a:lnTo>
                <a:close/>
                <a:moveTo>
                  <a:pt x="266700" y="266700"/>
                </a:moveTo>
                <a:cubicBezTo>
                  <a:pt x="214074" y="266700"/>
                  <a:pt x="171450" y="224076"/>
                  <a:pt x="171450" y="171450"/>
                </a:cubicBezTo>
                <a:lnTo>
                  <a:pt x="361950" y="171450"/>
                </a:lnTo>
                <a:cubicBezTo>
                  <a:pt x="361950" y="224076"/>
                  <a:pt x="319326" y="266700"/>
                  <a:pt x="266700" y="266700"/>
                </a:cubicBezTo>
                <a:close/>
                <a:moveTo>
                  <a:pt x="142994" y="381119"/>
                </a:moveTo>
                <a:cubicBezTo>
                  <a:pt x="69890" y="414695"/>
                  <a:pt x="19050" y="488513"/>
                  <a:pt x="19050" y="574238"/>
                </a:cubicBezTo>
                <a:cubicBezTo>
                  <a:pt x="19050" y="593765"/>
                  <a:pt x="34885" y="609600"/>
                  <a:pt x="54412" y="609600"/>
                </a:cubicBezTo>
                <a:lnTo>
                  <a:pt x="238125" y="609600"/>
                </a:lnTo>
                <a:lnTo>
                  <a:pt x="238125" y="435769"/>
                </a:lnTo>
                <a:lnTo>
                  <a:pt x="169783" y="384572"/>
                </a:lnTo>
                <a:cubicBezTo>
                  <a:pt x="162044" y="378738"/>
                  <a:pt x="151686" y="377190"/>
                  <a:pt x="142875" y="381238"/>
                </a:cubicBezTo>
                <a:close/>
                <a:moveTo>
                  <a:pt x="295275" y="609600"/>
                </a:moveTo>
                <a:lnTo>
                  <a:pt x="478988" y="609600"/>
                </a:lnTo>
                <a:cubicBezTo>
                  <a:pt x="498515" y="609600"/>
                  <a:pt x="514350" y="593765"/>
                  <a:pt x="514350" y="574238"/>
                </a:cubicBezTo>
                <a:cubicBezTo>
                  <a:pt x="514350" y="488513"/>
                  <a:pt x="463510" y="414695"/>
                  <a:pt x="390406" y="381238"/>
                </a:cubicBezTo>
                <a:cubicBezTo>
                  <a:pt x="381595" y="377190"/>
                  <a:pt x="371237" y="378738"/>
                  <a:pt x="363498" y="384572"/>
                </a:cubicBezTo>
                <a:lnTo>
                  <a:pt x="295156" y="435769"/>
                </a:lnTo>
                <a:lnTo>
                  <a:pt x="295156" y="609600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aa86015f6a_0_444"/>
          <p:cNvSpPr/>
          <p:nvPr/>
        </p:nvSpPr>
        <p:spPr>
          <a:xfrm>
            <a:off x="6147941" y="2067713"/>
            <a:ext cx="2695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500"/>
              <a:buFont typeface="Noto Sans SC"/>
              <a:buNone/>
            </a:pPr>
            <a:r>
              <a:rPr b="1" i="0" lang="es" sz="15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Competencias Adquiridas</a:t>
            </a:r>
            <a:endParaRPr b="1" i="0" sz="1200" u="none" cap="none" strike="noStrike"/>
          </a:p>
        </p:txBody>
      </p:sp>
      <p:sp>
        <p:nvSpPr>
          <p:cNvPr id="455" name="Google Shape;455;g3aa86015f6a_0_444"/>
          <p:cNvSpPr/>
          <p:nvPr/>
        </p:nvSpPr>
        <p:spPr>
          <a:xfrm>
            <a:off x="6338437" y="2675606"/>
            <a:ext cx="2505000" cy="16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100"/>
              <a:buFont typeface="Arial"/>
              <a:buNone/>
            </a:pPr>
            <a:r>
              <a:rPr b="0" i="0" lang="es" sz="16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El estudiante adquiere habilidades alineadas a la industria: despliegue, seguridad, escalado y automatización.</a:t>
            </a:r>
            <a:endParaRPr b="0" i="0" sz="1700" u="none" cap="none" strike="noStrike"/>
          </a:p>
        </p:txBody>
      </p:sp>
      <p:pic>
        <p:nvPicPr>
          <p:cNvPr id="456" name="Google Shape;456;g3aa86015f6a_0_444" title="BUHOADSFA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g3aa86015f6a_0_461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aa86015f6a_0_461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aa86015f6a_0_461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y valores</a:t>
            </a:r>
            <a:endParaRPr b="0" i="0" sz="1200" u="none" cap="none" strike="noStrike"/>
          </a:p>
        </p:txBody>
      </p:sp>
      <p:pic>
        <p:nvPicPr>
          <p:cNvPr id="465" name="Google Shape;465;g3aa86015f6a_0_461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a86015f6a_0_469"/>
          <p:cNvSpPr/>
          <p:nvPr/>
        </p:nvSpPr>
        <p:spPr>
          <a:xfrm>
            <a:off x="190500" y="190500"/>
            <a:ext cx="4457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700"/>
              <a:buFont typeface="Noto Sans SC"/>
              <a:buNone/>
            </a:pPr>
            <a:r>
              <a:rPr b="0" i="0" lang="es" sz="27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Valores y Actitudes</a:t>
            </a:r>
            <a:endParaRPr b="0" i="0" sz="1200" u="none" cap="none" strike="noStrike"/>
          </a:p>
        </p:txBody>
      </p:sp>
      <p:sp>
        <p:nvSpPr>
          <p:cNvPr id="472" name="Google Shape;472;g3aa86015f6a_0_469"/>
          <p:cNvSpPr/>
          <p:nvPr/>
        </p:nvSpPr>
        <p:spPr>
          <a:xfrm>
            <a:off x="190500" y="723900"/>
            <a:ext cx="40767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s" sz="1200">
                <a:solidFill>
                  <a:srgbClr val="1E1E1E"/>
                </a:solidFill>
              </a:rPr>
              <a:t>laboratorio </a:t>
            </a:r>
            <a:r>
              <a:rPr b="0" i="0" lang="e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no solo busca desarrollar competencias técnicas, sino también fortalecer habilidades blandas clave para el éxito profesional.</a:t>
            </a:r>
            <a:endParaRPr b="0" i="0" sz="1200" u="none" cap="none" strike="noStrike"/>
          </a:p>
        </p:txBody>
      </p:sp>
      <p:sp>
        <p:nvSpPr>
          <p:cNvPr id="473" name="Google Shape;473;g3aa86015f6a_0_469"/>
          <p:cNvSpPr/>
          <p:nvPr/>
        </p:nvSpPr>
        <p:spPr>
          <a:xfrm>
            <a:off x="190500" y="1695450"/>
            <a:ext cx="4076700" cy="4572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1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aa86015f6a_0_469"/>
          <p:cNvSpPr/>
          <p:nvPr/>
        </p:nvSpPr>
        <p:spPr>
          <a:xfrm>
            <a:off x="352425" y="1809750"/>
            <a:ext cx="285750" cy="228600"/>
          </a:xfrm>
          <a:custGeom>
            <a:rect b="b" l="l" r="r" t="t"/>
            <a:pathLst>
              <a:path extrusionOk="0" h="304800" w="3810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aa86015f6a_0_469"/>
          <p:cNvSpPr/>
          <p:nvPr/>
        </p:nvSpPr>
        <p:spPr>
          <a:xfrm>
            <a:off x="800100" y="1809750"/>
            <a:ext cx="24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Responsabilidad y Autonomía</a:t>
            </a:r>
            <a:endParaRPr b="0" i="0" sz="1200" u="none" cap="none" strike="noStrike"/>
          </a:p>
        </p:txBody>
      </p:sp>
      <p:sp>
        <p:nvSpPr>
          <p:cNvPr id="476" name="Google Shape;476;g3aa86015f6a_0_469"/>
          <p:cNvSpPr/>
          <p:nvPr/>
        </p:nvSpPr>
        <p:spPr>
          <a:xfrm>
            <a:off x="190500" y="2305050"/>
            <a:ext cx="4076700" cy="4572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1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aa86015f6a_0_469"/>
          <p:cNvSpPr/>
          <p:nvPr/>
        </p:nvSpPr>
        <p:spPr>
          <a:xfrm>
            <a:off x="366713" y="2419350"/>
            <a:ext cx="257175" cy="228600"/>
          </a:xfrm>
          <a:custGeom>
            <a:rect b="b" l="l" r="r" t="t"/>
            <a:pathLst>
              <a:path extrusionOk="0" h="304800" w="3429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aa86015f6a_0_469"/>
          <p:cNvSpPr/>
          <p:nvPr/>
        </p:nvSpPr>
        <p:spPr>
          <a:xfrm>
            <a:off x="800100" y="24193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Compromiso y Disciplina</a:t>
            </a:r>
            <a:endParaRPr b="0" i="0" sz="1200" u="none" cap="none" strike="noStrike"/>
          </a:p>
        </p:txBody>
      </p:sp>
      <p:sp>
        <p:nvSpPr>
          <p:cNvPr id="479" name="Google Shape;479;g3aa86015f6a_0_469"/>
          <p:cNvSpPr/>
          <p:nvPr/>
        </p:nvSpPr>
        <p:spPr>
          <a:xfrm>
            <a:off x="190500" y="2914650"/>
            <a:ext cx="4076700" cy="4572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1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aa86015f6a_0_469"/>
          <p:cNvSpPr/>
          <p:nvPr/>
        </p:nvSpPr>
        <p:spPr>
          <a:xfrm>
            <a:off x="409575" y="3028950"/>
            <a:ext cx="171450" cy="228600"/>
          </a:xfrm>
          <a:custGeom>
            <a:rect b="b" l="l" r="r" t="t"/>
            <a:pathLst>
              <a:path extrusionOk="0" h="304800" w="2286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aa86015f6a_0_469"/>
          <p:cNvSpPr/>
          <p:nvPr/>
        </p:nvSpPr>
        <p:spPr>
          <a:xfrm>
            <a:off x="800100" y="3028950"/>
            <a:ext cx="254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Proactividad y Ética Profesional</a:t>
            </a:r>
            <a:endParaRPr b="0" i="0" sz="1200" u="none" cap="none" strike="noStrike"/>
          </a:p>
        </p:txBody>
      </p:sp>
      <p:pic>
        <p:nvPicPr>
          <p:cNvPr descr="https://kimi-web-img.moonshot.cn/img/img.freepik.com/4b8068f3e1fe5a2e4cf2e0c4dccf3229f72329e8.jpg" id="482" name="Google Shape;482;g3aa86015f6a_0_469"/>
          <p:cNvPicPr preferRelativeResize="0"/>
          <p:nvPr/>
        </p:nvPicPr>
        <p:blipFill rotWithShape="1">
          <a:blip r:embed="rId3">
            <a:alphaModFix/>
          </a:blip>
          <a:srcRect b="0" l="24208" r="24208" t="0"/>
          <a:stretch/>
        </p:blipFill>
        <p:spPr>
          <a:xfrm>
            <a:off x="4396660" y="-16556"/>
            <a:ext cx="4747200" cy="5160300"/>
          </a:xfrm>
          <a:prstGeom prst="roundRect">
            <a:avLst>
              <a:gd fmla="val 173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g3aa86015f6a_0_485" title="unnamed-removebg-preview.png"/>
          <p:cNvPicPr preferRelativeResize="0"/>
          <p:nvPr/>
        </p:nvPicPr>
        <p:blipFill rotWithShape="1">
          <a:blip r:embed="rId3">
            <a:alphaModFix/>
          </a:blip>
          <a:srcRect b="16401" l="0" r="0" t="16407"/>
          <a:stretch/>
        </p:blipFill>
        <p:spPr>
          <a:xfrm>
            <a:off x="542925" y="1135856"/>
            <a:ext cx="3141821" cy="2829402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aa86015f6a_0_485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aa86015f6a_0_485"/>
          <p:cNvSpPr/>
          <p:nvPr/>
        </p:nvSpPr>
        <p:spPr>
          <a:xfrm>
            <a:off x="4038124" y="2397442"/>
            <a:ext cx="4062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68575" wrap="square" tIns="685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s" sz="2700">
                <a:solidFill>
                  <a:srgbClr val="FFFFFF"/>
                </a:solidFill>
              </a:rPr>
              <a:t>Referencias</a:t>
            </a:r>
            <a:endParaRPr b="0" i="0" sz="1200" u="none" cap="none" strike="noStrike"/>
          </a:p>
        </p:txBody>
      </p:sp>
      <p:pic>
        <p:nvPicPr>
          <p:cNvPr id="491" name="Google Shape;491;g3aa86015f6a_0_485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"/>
            <a:ext cx="647700" cy="80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a86015f6a_0_493"/>
          <p:cNvSpPr/>
          <p:nvPr/>
        </p:nvSpPr>
        <p:spPr>
          <a:xfrm>
            <a:off x="369994" y="1225688"/>
            <a:ext cx="5644200" cy="26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Docker Documentation: </a:t>
            </a:r>
            <a:r>
              <a:rPr b="1" lang="es" sz="1800" u="sng">
                <a:solidFill>
                  <a:schemeClr val="hlink"/>
                </a:solidFill>
                <a:hlinkClick r:id="rId3"/>
              </a:rPr>
              <a:t>https://docs.docker.</a:t>
            </a:r>
            <a:r>
              <a:rPr b="1" lang="es" sz="1800" u="sng">
                <a:solidFill>
                  <a:schemeClr val="hlink"/>
                </a:solidFill>
                <a:hlinkClick r:id="rId4"/>
              </a:rPr>
              <a:t>com</a:t>
            </a:r>
            <a:r>
              <a:rPr b="1" lang="es" sz="1800">
                <a:solidFill>
                  <a:srgbClr val="1E1E1E"/>
                </a:solidFill>
              </a:rPr>
              <a:t>   </a:t>
            </a:r>
            <a:endParaRPr b="1" sz="18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Harbor Project: </a:t>
            </a:r>
            <a:r>
              <a:rPr b="1" lang="es" sz="1800" u="sng">
                <a:solidFill>
                  <a:schemeClr val="hlink"/>
                </a:solidFill>
                <a:hlinkClick r:id="rId5"/>
              </a:rPr>
              <a:t>https://goharbor.io</a:t>
            </a:r>
            <a:r>
              <a:rPr b="1" lang="es" sz="1800">
                <a:solidFill>
                  <a:srgbClr val="1E1E1E"/>
                </a:solidFill>
              </a:rPr>
              <a:t>   </a:t>
            </a:r>
            <a:endParaRPr b="1" sz="18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Zot Registry: </a:t>
            </a:r>
            <a:r>
              <a:rPr b="1" lang="es" sz="1800" u="sng">
                <a:solidFill>
                  <a:schemeClr val="hlink"/>
                </a:solidFill>
                <a:hlinkClick r:id="rId6"/>
              </a:rPr>
              <a:t>https://github.com/project-zot/zot</a:t>
            </a:r>
            <a:r>
              <a:rPr b="1" lang="es" sz="1800">
                <a:solidFill>
                  <a:srgbClr val="1E1E1E"/>
                </a:solidFill>
              </a:rPr>
              <a:t>  </a:t>
            </a:r>
            <a:endParaRPr b="1" sz="18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Containerd: </a:t>
            </a:r>
            <a:r>
              <a:rPr b="1" lang="es" sz="1800" u="sng">
                <a:solidFill>
                  <a:schemeClr val="hlink"/>
                </a:solidFill>
                <a:hlinkClick r:id="rId7"/>
              </a:rPr>
              <a:t>https://containerd.io</a:t>
            </a:r>
            <a:r>
              <a:rPr b="1" lang="es" sz="1800">
                <a:solidFill>
                  <a:srgbClr val="1E1E1E"/>
                </a:solidFill>
              </a:rPr>
              <a:t> </a:t>
            </a:r>
            <a:endParaRPr b="1" sz="18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Open Container Initiative (OCI): </a:t>
            </a:r>
            <a:r>
              <a:rPr b="1" lang="es" sz="1800" u="sng">
                <a:solidFill>
                  <a:schemeClr val="hlink"/>
                </a:solidFill>
                <a:hlinkClick r:id="rId8"/>
              </a:rPr>
              <a:t>https://opencontainers.org</a:t>
            </a:r>
            <a:r>
              <a:rPr b="1" lang="es" sz="1800">
                <a:solidFill>
                  <a:srgbClr val="1E1E1E"/>
                </a:solidFill>
              </a:rPr>
              <a:t>   </a:t>
            </a:r>
            <a:endParaRPr b="1" sz="18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1" lang="es" sz="1800">
                <a:solidFill>
                  <a:srgbClr val="1E1E1E"/>
                </a:solidFill>
              </a:rPr>
              <a:t>CNOF Projects: </a:t>
            </a:r>
            <a:r>
              <a:rPr b="1" lang="es" sz="1800" u="sng">
                <a:solidFill>
                  <a:schemeClr val="hlink"/>
                </a:solidFill>
                <a:hlinkClick r:id="rId9"/>
              </a:rPr>
              <a:t>https://www.cnof.io/projects</a:t>
            </a:r>
            <a:r>
              <a:rPr b="1" lang="es" sz="1800">
                <a:solidFill>
                  <a:srgbClr val="1E1E1E"/>
                </a:solidFill>
              </a:rPr>
              <a:t> </a:t>
            </a:r>
            <a:endParaRPr b="1" sz="1800">
              <a:solidFill>
                <a:srgbClr val="1E1E1E"/>
              </a:solidFill>
            </a:endParaRPr>
          </a:p>
        </p:txBody>
      </p:sp>
      <p:pic>
        <p:nvPicPr>
          <p:cNvPr descr="https://kimi-web-img.moonshot.cn/img/static.vecteezy.com/deda3dbf4e30baed31a8f49a4d75855931e6c9ca.jpg" id="498" name="Google Shape;498;g3aa86015f6a_0_493"/>
          <p:cNvPicPr preferRelativeResize="0"/>
          <p:nvPr/>
        </p:nvPicPr>
        <p:blipFill rotWithShape="1">
          <a:blip r:embed="rId10">
            <a:alphaModFix/>
          </a:blip>
          <a:srcRect b="0" l="29049" r="29049" t="0"/>
          <a:stretch/>
        </p:blipFill>
        <p:spPr>
          <a:xfrm>
            <a:off x="6096149" y="0"/>
            <a:ext cx="3048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a86015f6a_0_499"/>
          <p:cNvSpPr/>
          <p:nvPr/>
        </p:nvSpPr>
        <p:spPr>
          <a:xfrm>
            <a:off x="491490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aa86015f6a_0_499"/>
          <p:cNvSpPr/>
          <p:nvPr/>
        </p:nvSpPr>
        <p:spPr>
          <a:xfrm>
            <a:off x="491490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06" name="Google Shape;506;g3aa86015f6a_0_499"/>
          <p:cNvSpPr/>
          <p:nvPr/>
        </p:nvSpPr>
        <p:spPr>
          <a:xfrm>
            <a:off x="704374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aa86015f6a_0_499"/>
          <p:cNvSpPr/>
          <p:nvPr/>
        </p:nvSpPr>
        <p:spPr>
          <a:xfrm>
            <a:off x="704374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08" name="Google Shape;508;g3aa86015f6a_0_499"/>
          <p:cNvSpPr/>
          <p:nvPr/>
        </p:nvSpPr>
        <p:spPr>
          <a:xfrm>
            <a:off x="917258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aa86015f6a_0_499"/>
          <p:cNvSpPr/>
          <p:nvPr/>
        </p:nvSpPr>
        <p:spPr>
          <a:xfrm>
            <a:off x="917258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10" name="Google Shape;510;g3aa86015f6a_0_499"/>
          <p:cNvSpPr/>
          <p:nvPr/>
        </p:nvSpPr>
        <p:spPr>
          <a:xfrm>
            <a:off x="1130141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aa86015f6a_0_499"/>
          <p:cNvSpPr/>
          <p:nvPr/>
        </p:nvSpPr>
        <p:spPr>
          <a:xfrm>
            <a:off x="1130141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12" name="Google Shape;512;g3aa86015f6a_0_499"/>
          <p:cNvSpPr/>
          <p:nvPr/>
        </p:nvSpPr>
        <p:spPr>
          <a:xfrm>
            <a:off x="1343025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aa86015f6a_0_499"/>
          <p:cNvSpPr/>
          <p:nvPr/>
        </p:nvSpPr>
        <p:spPr>
          <a:xfrm>
            <a:off x="1343025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14" name="Google Shape;514;g3aa86015f6a_0_499"/>
          <p:cNvSpPr/>
          <p:nvPr/>
        </p:nvSpPr>
        <p:spPr>
          <a:xfrm>
            <a:off x="1555909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3aa86015f6a_0_499"/>
          <p:cNvSpPr/>
          <p:nvPr/>
        </p:nvSpPr>
        <p:spPr>
          <a:xfrm>
            <a:off x="1555909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o0.png" id="516" name="Google Shape;516;g3aa86015f6a_0_499"/>
          <p:cNvPicPr preferRelativeResize="0"/>
          <p:nvPr/>
        </p:nvPicPr>
        <p:blipFill rotWithShape="1">
          <a:blip r:embed="rId3">
            <a:alphaModFix/>
          </a:blip>
          <a:srcRect b="14559" l="17551" r="23945" t="0"/>
          <a:stretch/>
        </p:blipFill>
        <p:spPr>
          <a:xfrm rot="-5400000">
            <a:off x="4466988" y="459105"/>
            <a:ext cx="5136356" cy="421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aa86015f6a_0_499" title="ubhoo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591" y="939729"/>
            <a:ext cx="3357637" cy="289533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aa86015f6a_0_499"/>
          <p:cNvSpPr txBox="1"/>
          <p:nvPr/>
        </p:nvSpPr>
        <p:spPr>
          <a:xfrm>
            <a:off x="1690931" y="3835069"/>
            <a:ext cx="2328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chemeClr val="lt1"/>
                </a:solidFill>
              </a:rPr>
              <a:t>¿DUDAS?</a:t>
            </a:r>
            <a:endParaRPr sz="3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a86015f6a_0_518"/>
          <p:cNvSpPr/>
          <p:nvPr/>
        </p:nvSpPr>
        <p:spPr>
          <a:xfrm>
            <a:off x="491490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aa86015f6a_0_518"/>
          <p:cNvSpPr/>
          <p:nvPr/>
        </p:nvSpPr>
        <p:spPr>
          <a:xfrm>
            <a:off x="491490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26" name="Google Shape;526;g3aa86015f6a_0_518"/>
          <p:cNvSpPr/>
          <p:nvPr/>
        </p:nvSpPr>
        <p:spPr>
          <a:xfrm>
            <a:off x="704374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aa86015f6a_0_518"/>
          <p:cNvSpPr/>
          <p:nvPr/>
        </p:nvSpPr>
        <p:spPr>
          <a:xfrm>
            <a:off x="704374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28" name="Google Shape;528;g3aa86015f6a_0_518"/>
          <p:cNvSpPr/>
          <p:nvPr/>
        </p:nvSpPr>
        <p:spPr>
          <a:xfrm>
            <a:off x="917258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aa86015f6a_0_518"/>
          <p:cNvSpPr/>
          <p:nvPr/>
        </p:nvSpPr>
        <p:spPr>
          <a:xfrm>
            <a:off x="917258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30" name="Google Shape;530;g3aa86015f6a_0_518"/>
          <p:cNvSpPr/>
          <p:nvPr/>
        </p:nvSpPr>
        <p:spPr>
          <a:xfrm>
            <a:off x="1130141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aa86015f6a_0_518"/>
          <p:cNvSpPr/>
          <p:nvPr/>
        </p:nvSpPr>
        <p:spPr>
          <a:xfrm>
            <a:off x="1130141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32" name="Google Shape;532;g3aa86015f6a_0_518"/>
          <p:cNvSpPr/>
          <p:nvPr/>
        </p:nvSpPr>
        <p:spPr>
          <a:xfrm>
            <a:off x="1343025" y="352425"/>
            <a:ext cx="80100" cy="80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aa86015f6a_0_518"/>
          <p:cNvSpPr/>
          <p:nvPr/>
        </p:nvSpPr>
        <p:spPr>
          <a:xfrm>
            <a:off x="1343025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534" name="Google Shape;534;g3aa86015f6a_0_518"/>
          <p:cNvSpPr/>
          <p:nvPr/>
        </p:nvSpPr>
        <p:spPr>
          <a:xfrm>
            <a:off x="1555909" y="352425"/>
            <a:ext cx="80100" cy="801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aa86015f6a_0_518"/>
          <p:cNvSpPr/>
          <p:nvPr/>
        </p:nvSpPr>
        <p:spPr>
          <a:xfrm>
            <a:off x="1555909" y="352425"/>
            <a:ext cx="80100" cy="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pic>
        <p:nvPicPr>
          <p:cNvPr descr="https://kimi-img.moonshot.cn/pub/slides/slides_tmpl/image/25-08-27-20:09:29-d2nfau98bjvh7rlj0jo0.png" id="536" name="Google Shape;536;g3aa86015f6a_0_518"/>
          <p:cNvPicPr preferRelativeResize="0"/>
          <p:nvPr/>
        </p:nvPicPr>
        <p:blipFill rotWithShape="1">
          <a:blip r:embed="rId3">
            <a:alphaModFix amt="40000"/>
          </a:blip>
          <a:srcRect b="14559" l="17551" r="23945" t="0"/>
          <a:stretch/>
        </p:blipFill>
        <p:spPr>
          <a:xfrm rot="-5400000">
            <a:off x="4466988" y="459105"/>
            <a:ext cx="5136356" cy="421767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g3aa86015f6a_0_518"/>
          <p:cNvSpPr/>
          <p:nvPr/>
        </p:nvSpPr>
        <p:spPr>
          <a:xfrm>
            <a:off x="591506" y="1425900"/>
            <a:ext cx="58380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</a:pPr>
            <a:r>
              <a:rPr b="0" i="0" lang="e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</a:t>
            </a:r>
            <a:r>
              <a:rPr lang="es" sz="6400">
                <a:solidFill>
                  <a:srgbClr val="FFFFFF"/>
                </a:solidFill>
              </a:rPr>
              <a:t>POR SU ATENCION</a:t>
            </a:r>
            <a:r>
              <a:rPr b="0" i="0" lang="e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 cap="none" strike="noStrike"/>
          </a:p>
        </p:txBody>
      </p:sp>
      <p:sp>
        <p:nvSpPr>
          <p:cNvPr id="538" name="Google Shape;538;g3aa86015f6a_0_518"/>
          <p:cNvSpPr txBox="1"/>
          <p:nvPr/>
        </p:nvSpPr>
        <p:spPr>
          <a:xfrm>
            <a:off x="704381" y="3919519"/>
            <a:ext cx="6790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1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g3aa86015f6a_0_518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704381" cy="871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