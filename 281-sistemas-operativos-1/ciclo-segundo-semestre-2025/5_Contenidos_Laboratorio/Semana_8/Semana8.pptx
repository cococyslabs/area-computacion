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Montserrat"/>
      <p:regular r:id="rId43"/>
      <p:bold r:id="rId44"/>
      <p:italic r:id="rId45"/>
      <p:boldItalic r:id="rId46"/>
    </p:embeddedFont>
    <p:embeddedFont>
      <p:font typeface="Lato"/>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5" roundtripDataSignature="AMtx7mj3BkbmIpdYBhzBLmQxtS8HQXAf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AD3A0A-8F75-4567-9D33-F744580537F4}">
  <a:tblStyle styleId="{5AAD3A0A-8F75-4567-9D33-F744580537F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regular.fntdata"/><Relationship Id="rId50" Type="http://schemas.openxmlformats.org/officeDocument/2006/relationships/font" Target="fonts/Lato-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c6a60a5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5c6a60a55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09668b6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09668b6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c6a60a55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c6a60a55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dd1a2f4a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2dd1a2f4a6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dd1a2f4a6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2dd1a2f4a62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d1a2f4a6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dd1a2f4a62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dd1a2f4a6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2dd1a2f4a62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dd1a2f4a6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2dd1a2f4a62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dd1a2f4a6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2dd1a2f4a62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dd1a2f4a6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2dd1a2f4a62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dd1a2f4a6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2dd1a2f4a62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dd1a2f4a6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2dd1a2f4a62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dd1a2f4a6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dd1a2f4a62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d1a2f4a6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2dd1a2f4a62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dd1a2f4a6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2dd1a2f4a62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dd1a2f4a6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dd1a2f4a62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5ef7e0207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5ef7e0207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5ef7e020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5ef7e020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5c6a60a55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5c6a60a551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5c6a60a551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5c6a60a551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8"/>
          <p:cNvSpPr/>
          <p:nvPr/>
        </p:nvSpPr>
        <p:spPr>
          <a:xfrm rot="5400000">
            <a:off x="7500300" y="505"/>
            <a:ext cx="1643700" cy="1643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18"/>
          <p:cNvGrpSpPr/>
          <p:nvPr/>
        </p:nvGrpSpPr>
        <p:grpSpPr>
          <a:xfrm>
            <a:off x="0" y="490"/>
            <a:ext cx="5153705" cy="5134399"/>
            <a:chOff x="0" y="75"/>
            <a:chExt cx="5153705" cy="5152950"/>
          </a:xfrm>
        </p:grpSpPr>
        <p:sp>
          <p:nvSpPr>
            <p:cNvPr id="12" name="Google Shape;12;p18"/>
            <p:cNvSpPr/>
            <p:nvPr/>
          </p:nvSpPr>
          <p:spPr>
            <a:xfrm rot="-5400000">
              <a:off x="455" y="-225"/>
              <a:ext cx="5152800" cy="5153700"/>
            </a:xfrm>
            <a:prstGeom prst="diagStripe">
              <a:avLst>
                <a:gd fmla="val 5000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8"/>
            <p:cNvSpPr/>
            <p:nvPr/>
          </p:nvSpPr>
          <p:spPr>
            <a:xfrm rot="-5400000">
              <a:off x="150" y="1145825"/>
              <a:ext cx="3996600" cy="3996900"/>
            </a:xfrm>
            <a:prstGeom prst="diagStripe">
              <a:avLst>
                <a:gd fmla="val 58774"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8"/>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8"/>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18"/>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7" name="Google Shape;17;p18"/>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8" name="Google Shape;1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19"/>
          <p:cNvGrpSpPr/>
          <p:nvPr/>
        </p:nvGrpSpPr>
        <p:grpSpPr>
          <a:xfrm>
            <a:off x="0" y="381001"/>
            <a:ext cx="1037850" cy="1016288"/>
            <a:chOff x="0" y="381001"/>
            <a:chExt cx="1037850" cy="1016288"/>
          </a:xfrm>
        </p:grpSpPr>
        <p:sp>
          <p:nvSpPr>
            <p:cNvPr id="21" name="Google Shape;21;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1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 name="Google Shape;24;p19"/>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 name="Google Shape;2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grpSp>
        <p:nvGrpSpPr>
          <p:cNvPr id="27" name="Google Shape;27;p20"/>
          <p:cNvGrpSpPr/>
          <p:nvPr/>
        </p:nvGrpSpPr>
        <p:grpSpPr>
          <a:xfrm>
            <a:off x="4406400" y="0"/>
            <a:ext cx="4737600" cy="5143065"/>
            <a:chOff x="4406400" y="0"/>
            <a:chExt cx="4737600" cy="5143065"/>
          </a:xfrm>
        </p:grpSpPr>
        <p:sp>
          <p:nvSpPr>
            <p:cNvPr id="28" name="Google Shape;28;p20"/>
            <p:cNvSpPr/>
            <p:nvPr/>
          </p:nvSpPr>
          <p:spPr>
            <a:xfrm rot="5400000">
              <a:off x="4408200" y="-1800"/>
              <a:ext cx="47340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rot="5400000">
              <a:off x="4841125" y="5700"/>
              <a:ext cx="42981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0"/>
            <p:cNvSpPr/>
            <p:nvPr/>
          </p:nvSpPr>
          <p:spPr>
            <a:xfrm rot="-5400000">
              <a:off x="5618399" y="123646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0"/>
            <p:cNvSpPr/>
            <p:nvPr/>
          </p:nvSpPr>
          <p:spPr>
            <a:xfrm flipH="1">
              <a:off x="5849857" y="14439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0"/>
            <p:cNvSpPr/>
            <p:nvPr/>
          </p:nvSpPr>
          <p:spPr>
            <a:xfrm rot="-5400000">
              <a:off x="5987081" y="24694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0"/>
            <p:cNvSpPr/>
            <p:nvPr/>
          </p:nvSpPr>
          <p:spPr>
            <a:xfrm flipH="1">
              <a:off x="6222115" y="267695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0"/>
            <p:cNvSpPr/>
            <p:nvPr/>
          </p:nvSpPr>
          <p:spPr>
            <a:xfrm rot="-5400000">
              <a:off x="6675341" y="186201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0"/>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0"/>
            <p:cNvSpPr/>
            <p:nvPr/>
          </p:nvSpPr>
          <p:spPr>
            <a:xfrm rot="-5400000">
              <a:off x="6861141" y="247781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p:nvPr/>
          </p:nvSpPr>
          <p:spPr>
            <a:xfrm flipH="1">
              <a:off x="7965266" y="269296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0"/>
            <p:cNvSpPr/>
            <p:nvPr/>
          </p:nvSpPr>
          <p:spPr>
            <a:xfrm flipH="1">
              <a:off x="8145082" y="330875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0"/>
            <p:cNvSpPr/>
            <p:nvPr/>
          </p:nvSpPr>
          <p:spPr>
            <a:xfrm rot="-5400000">
              <a:off x="7047599" y="309501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0"/>
            <p:cNvSpPr/>
            <p:nvPr/>
          </p:nvSpPr>
          <p:spPr>
            <a:xfrm flipH="1">
              <a:off x="7276649" y="330250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0"/>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0"/>
            <p:cNvSpPr/>
            <p:nvPr/>
          </p:nvSpPr>
          <p:spPr>
            <a:xfrm flipH="1">
              <a:off x="7462448" y="391829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0"/>
            <p:cNvSpPr/>
            <p:nvPr/>
          </p:nvSpPr>
          <p:spPr>
            <a:xfrm rot="-5400000">
              <a:off x="8102491" y="371847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0"/>
            <p:cNvSpPr/>
            <p:nvPr/>
          </p:nvSpPr>
          <p:spPr>
            <a:xfrm flipH="1">
              <a:off x="8334533" y="392596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0"/>
            <p:cNvSpPr/>
            <p:nvPr/>
          </p:nvSpPr>
          <p:spPr>
            <a:xfrm rot="-5400000">
              <a:off x="8288290" y="43342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20"/>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21"/>
          <p:cNvGrpSpPr/>
          <p:nvPr/>
        </p:nvGrpSpPr>
        <p:grpSpPr>
          <a:xfrm>
            <a:off x="0" y="381001"/>
            <a:ext cx="1037850" cy="1016288"/>
            <a:chOff x="0" y="381001"/>
            <a:chExt cx="1037850" cy="1016288"/>
          </a:xfrm>
        </p:grpSpPr>
        <p:sp>
          <p:nvSpPr>
            <p:cNvPr id="50" name="Google Shape;50;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2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21"/>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21"/>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22"/>
          <p:cNvGrpSpPr/>
          <p:nvPr/>
        </p:nvGrpSpPr>
        <p:grpSpPr>
          <a:xfrm>
            <a:off x="0" y="381001"/>
            <a:ext cx="1037850" cy="1016288"/>
            <a:chOff x="0" y="381001"/>
            <a:chExt cx="1037850" cy="1016288"/>
          </a:xfrm>
        </p:grpSpPr>
        <p:sp>
          <p:nvSpPr>
            <p:cNvPr id="58" name="Google Shape;58;p2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2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1" name="Google Shape;6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23"/>
          <p:cNvGrpSpPr/>
          <p:nvPr/>
        </p:nvGrpSpPr>
        <p:grpSpPr>
          <a:xfrm>
            <a:off x="0" y="381001"/>
            <a:ext cx="1037850" cy="1016288"/>
            <a:chOff x="0" y="381001"/>
            <a:chExt cx="1037850" cy="1016288"/>
          </a:xfrm>
        </p:grpSpPr>
        <p:sp>
          <p:nvSpPr>
            <p:cNvPr id="64" name="Google Shape;64;p2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23"/>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p23"/>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8" name="Google Shape;6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24"/>
          <p:cNvGrpSpPr/>
          <p:nvPr/>
        </p:nvGrpSpPr>
        <p:grpSpPr>
          <a:xfrm>
            <a:off x="4406400" y="0"/>
            <a:ext cx="4737600" cy="5143500"/>
            <a:chOff x="4406400" y="0"/>
            <a:chExt cx="4737600" cy="5143500"/>
          </a:xfrm>
        </p:grpSpPr>
        <p:sp>
          <p:nvSpPr>
            <p:cNvPr id="71" name="Google Shape;71;p24"/>
            <p:cNvSpPr/>
            <p:nvPr/>
          </p:nvSpPr>
          <p:spPr>
            <a:xfrm rot="5400000">
              <a:off x="4407900" y="-1500"/>
              <a:ext cx="47346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4"/>
            <p:cNvSpPr/>
            <p:nvPr/>
          </p:nvSpPr>
          <p:spPr>
            <a:xfrm rot="5400000">
              <a:off x="4840825" y="6000"/>
              <a:ext cx="42987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4"/>
            <p:cNvSpPr/>
            <p:nvPr/>
          </p:nvSpPr>
          <p:spPr>
            <a:xfrm rot="-5400000">
              <a:off x="5618399" y="123664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4"/>
            <p:cNvSpPr/>
            <p:nvPr/>
          </p:nvSpPr>
          <p:spPr>
            <a:xfrm flipH="1">
              <a:off x="5849857" y="144407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4"/>
            <p:cNvSpPr/>
            <p:nvPr/>
          </p:nvSpPr>
          <p:spPr>
            <a:xfrm rot="-5400000">
              <a:off x="5987081" y="246974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4"/>
            <p:cNvSpPr/>
            <p:nvPr/>
          </p:nvSpPr>
          <p:spPr>
            <a:xfrm flipH="1">
              <a:off x="6222115" y="2677179"/>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4"/>
            <p:cNvSpPr/>
            <p:nvPr/>
          </p:nvSpPr>
          <p:spPr>
            <a:xfrm rot="-5400000">
              <a:off x="6675341" y="186224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4"/>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4"/>
            <p:cNvSpPr/>
            <p:nvPr/>
          </p:nvSpPr>
          <p:spPr>
            <a:xfrm rot="-5400000">
              <a:off x="6861141" y="247808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4"/>
            <p:cNvSpPr/>
            <p:nvPr/>
          </p:nvSpPr>
          <p:spPr>
            <a:xfrm flipH="1">
              <a:off x="7965266" y="269319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4"/>
            <p:cNvSpPr/>
            <p:nvPr/>
          </p:nvSpPr>
          <p:spPr>
            <a:xfrm flipH="1">
              <a:off x="8145082" y="330903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4"/>
            <p:cNvSpPr/>
            <p:nvPr/>
          </p:nvSpPr>
          <p:spPr>
            <a:xfrm rot="-5400000">
              <a:off x="7047599" y="309534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4"/>
            <p:cNvSpPr/>
            <p:nvPr/>
          </p:nvSpPr>
          <p:spPr>
            <a:xfrm flipH="1">
              <a:off x="7276649" y="3302781"/>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4"/>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4"/>
            <p:cNvSpPr/>
            <p:nvPr/>
          </p:nvSpPr>
          <p:spPr>
            <a:xfrm flipH="1">
              <a:off x="7462448" y="391862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4"/>
            <p:cNvSpPr/>
            <p:nvPr/>
          </p:nvSpPr>
          <p:spPr>
            <a:xfrm rot="-5400000">
              <a:off x="8102491" y="37188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4"/>
            <p:cNvSpPr/>
            <p:nvPr/>
          </p:nvSpPr>
          <p:spPr>
            <a:xfrm flipH="1">
              <a:off x="8334533" y="392629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4"/>
            <p:cNvSpPr/>
            <p:nvPr/>
          </p:nvSpPr>
          <p:spPr>
            <a:xfrm rot="-5400000">
              <a:off x="8288290" y="433470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 name="Google Shape;89;p24"/>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25"/>
          <p:cNvGrpSpPr/>
          <p:nvPr/>
        </p:nvGrpSpPr>
        <p:grpSpPr>
          <a:xfrm>
            <a:off x="0" y="381001"/>
            <a:ext cx="1037850" cy="1016288"/>
            <a:chOff x="0" y="381001"/>
            <a:chExt cx="1037850" cy="1016288"/>
          </a:xfrm>
        </p:grpSpPr>
        <p:sp>
          <p:nvSpPr>
            <p:cNvPr id="93" name="Google Shape;93;p2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25"/>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6" name="Google Shape;96;p25"/>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97" name="Google Shape;97;p25"/>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26"/>
          <p:cNvGrpSpPr/>
          <p:nvPr/>
        </p:nvGrpSpPr>
        <p:grpSpPr>
          <a:xfrm>
            <a:off x="0" y="4128572"/>
            <a:ext cx="698925" cy="684657"/>
            <a:chOff x="0" y="3785672"/>
            <a:chExt cx="698925" cy="684657"/>
          </a:xfrm>
        </p:grpSpPr>
        <p:sp>
          <p:nvSpPr>
            <p:cNvPr id="101" name="Google Shape;101;p26"/>
            <p:cNvSpPr/>
            <p:nvPr/>
          </p:nvSpPr>
          <p:spPr>
            <a:xfrm rot="-5400000">
              <a:off x="0" y="3785672"/>
              <a:ext cx="544800" cy="544800"/>
            </a:xfrm>
            <a:prstGeom prst="diagStripe">
              <a:avLst>
                <a:gd fmla="val 50000" name="adj"/>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6"/>
            <p:cNvSpPr/>
            <p:nvPr/>
          </p:nvSpPr>
          <p:spPr>
            <a:xfrm flipH="1">
              <a:off x="154125" y="3925529"/>
              <a:ext cx="544800" cy="544800"/>
            </a:xfrm>
            <a:prstGeom prst="diagStripe">
              <a:avLst>
                <a:gd fmla="val 50000" name="adj"/>
              </a:avLst>
            </a:prstGeom>
            <a:solidFill>
              <a:schemeClr val="lt1">
                <a:alpha val="8627"/>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6"/>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4" name="Google Shape;10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27"/>
          <p:cNvGrpSpPr/>
          <p:nvPr/>
        </p:nvGrpSpPr>
        <p:grpSpPr>
          <a:xfrm>
            <a:off x="4406400" y="0"/>
            <a:ext cx="4737600" cy="5143065"/>
            <a:chOff x="4406400" y="0"/>
            <a:chExt cx="4737600" cy="5143065"/>
          </a:xfrm>
        </p:grpSpPr>
        <p:sp>
          <p:nvSpPr>
            <p:cNvPr id="107" name="Google Shape;107;p27"/>
            <p:cNvSpPr/>
            <p:nvPr/>
          </p:nvSpPr>
          <p:spPr>
            <a:xfrm rot="5400000">
              <a:off x="4408200" y="-1800"/>
              <a:ext cx="4734000" cy="4737600"/>
            </a:xfrm>
            <a:prstGeom prst="diagStripe">
              <a:avLst>
                <a:gd fmla="val 49469"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7"/>
            <p:cNvSpPr/>
            <p:nvPr/>
          </p:nvSpPr>
          <p:spPr>
            <a:xfrm rot="5400000">
              <a:off x="4841125" y="5700"/>
              <a:ext cx="4298100" cy="4286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7"/>
            <p:cNvSpPr/>
            <p:nvPr/>
          </p:nvSpPr>
          <p:spPr>
            <a:xfrm rot="-5400000">
              <a:off x="5618399" y="123646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7"/>
            <p:cNvSpPr/>
            <p:nvPr/>
          </p:nvSpPr>
          <p:spPr>
            <a:xfrm flipH="1">
              <a:off x="5849857" y="1443956"/>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7"/>
            <p:cNvSpPr/>
            <p:nvPr/>
          </p:nvSpPr>
          <p:spPr>
            <a:xfrm rot="-5400000">
              <a:off x="5987081" y="24694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7"/>
            <p:cNvSpPr/>
            <p:nvPr/>
          </p:nvSpPr>
          <p:spPr>
            <a:xfrm flipH="1">
              <a:off x="6222115" y="267695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7"/>
            <p:cNvSpPr/>
            <p:nvPr/>
          </p:nvSpPr>
          <p:spPr>
            <a:xfrm rot="-5400000">
              <a:off x="6675341" y="1862018"/>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7"/>
            <p:cNvSpPr/>
            <p:nvPr/>
          </p:nvSpPr>
          <p:spPr>
            <a:xfrm rot="-5400000">
              <a:off x="6861141" y="247781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7"/>
            <p:cNvSpPr/>
            <p:nvPr/>
          </p:nvSpPr>
          <p:spPr>
            <a:xfrm flipH="1">
              <a:off x="7965266" y="269296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7"/>
            <p:cNvSpPr/>
            <p:nvPr/>
          </p:nvSpPr>
          <p:spPr>
            <a:xfrm flipH="1">
              <a:off x="8145082" y="330875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7"/>
            <p:cNvSpPr/>
            <p:nvPr/>
          </p:nvSpPr>
          <p:spPr>
            <a:xfrm rot="-5400000">
              <a:off x="7047599" y="309501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7"/>
            <p:cNvSpPr/>
            <p:nvPr/>
          </p:nvSpPr>
          <p:spPr>
            <a:xfrm flipH="1">
              <a:off x="7276649" y="3302502"/>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7"/>
            <p:cNvSpPr/>
            <p:nvPr/>
          </p:nvSpPr>
          <p:spPr>
            <a:xfrm flipH="1">
              <a:off x="7462448" y="3918294"/>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7"/>
            <p:cNvSpPr/>
            <p:nvPr/>
          </p:nvSpPr>
          <p:spPr>
            <a:xfrm rot="-5400000">
              <a:off x="8102491" y="3718473"/>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7"/>
            <p:cNvSpPr/>
            <p:nvPr/>
          </p:nvSpPr>
          <p:spPr>
            <a:xfrm flipH="1">
              <a:off x="8334533" y="3925960"/>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7"/>
            <p:cNvSpPr/>
            <p:nvPr/>
          </p:nvSpPr>
          <p:spPr>
            <a:xfrm rot="-5400000">
              <a:off x="8288290" y="4334265"/>
              <a:ext cx="808800" cy="808800"/>
            </a:xfrm>
            <a:prstGeom prst="diagStripe">
              <a:avLst>
                <a:gd fmla="val 50000" name="adj"/>
              </a:avLst>
            </a:prstGeom>
            <a:solidFill>
              <a:schemeClr val="lt1">
                <a:alpha val="627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27"/>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26" name="Google Shape;126;p27"/>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7" name="Google Shape;1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www.redox-os.org/" TargetMode="External"/><Relationship Id="rId4" Type="http://schemas.openxmlformats.org/officeDocument/2006/relationships/hyperlink" Target="https://www.redox-os.or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crates.io/" TargetMode="External"/><Relationship Id="rId4" Type="http://schemas.openxmlformats.org/officeDocument/2006/relationships/hyperlink" Target="https://crates.io/" TargetMode="External"/><Relationship Id="rId11" Type="http://schemas.openxmlformats.org/officeDocument/2006/relationships/hyperlink" Target="https://github.com/krustlet/krustlet" TargetMode="External"/><Relationship Id="rId10" Type="http://schemas.openxmlformats.org/officeDocument/2006/relationships/hyperlink" Target="https://github.com/krustlet/krustlet" TargetMode="External"/><Relationship Id="rId9" Type="http://schemas.openxmlformats.org/officeDocument/2006/relationships/hyperlink" Target="https://github.com/krustlet/krustlet" TargetMode="External"/><Relationship Id="rId5" Type="http://schemas.openxmlformats.org/officeDocument/2006/relationships/hyperlink" Target="https://crates.io/" TargetMode="External"/><Relationship Id="rId6" Type="http://schemas.openxmlformats.org/officeDocument/2006/relationships/hyperlink" Target="https://github.com/rust-unofficial/awesome-rust" TargetMode="External"/><Relationship Id="rId7" Type="http://schemas.openxmlformats.org/officeDocument/2006/relationships/hyperlink" Target="https://github.com/rust-unofficial/awesome-rust" TargetMode="External"/><Relationship Id="rId8" Type="http://schemas.openxmlformats.org/officeDocument/2006/relationships/hyperlink" Target="https://github.com/rust-unofficial/awesome-rus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t/>
            </a:r>
            <a:endParaRPr/>
          </a:p>
        </p:txBody>
      </p:sp>
      <p:sp>
        <p:nvSpPr>
          <p:cNvPr id="135" name="Google Shape;135;p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a:p>
        </p:txBody>
      </p:sp>
      <p:pic>
        <p:nvPicPr>
          <p:cNvPr id="136" name="Google Shape;136;p1"/>
          <p:cNvPicPr preferRelativeResize="0"/>
          <p:nvPr/>
        </p:nvPicPr>
        <p:blipFill rotWithShape="1">
          <a:blip r:embed="rId3">
            <a:alphaModFix/>
          </a:blip>
          <a:srcRect b="0" l="0" r="0" t="0"/>
          <a:stretch/>
        </p:blipFill>
        <p:spPr>
          <a:xfrm>
            <a:off x="11875" y="0"/>
            <a:ext cx="9120251" cy="5143501"/>
          </a:xfrm>
          <a:prstGeom prst="rect">
            <a:avLst/>
          </a:prstGeom>
          <a:noFill/>
          <a:ln>
            <a:noFill/>
          </a:ln>
        </p:spPr>
      </p:pic>
      <p:sp>
        <p:nvSpPr>
          <p:cNvPr id="137" name="Google Shape;137;p1"/>
          <p:cNvSpPr txBox="1"/>
          <p:nvPr/>
        </p:nvSpPr>
        <p:spPr>
          <a:xfrm>
            <a:off x="4272925" y="990900"/>
            <a:ext cx="47757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 sz="1800">
                <a:solidFill>
                  <a:srgbClr val="1B212C"/>
                </a:solidFill>
                <a:latin typeface="Impact"/>
                <a:ea typeface="Impact"/>
                <a:cs typeface="Impact"/>
                <a:sym typeface="Impact"/>
              </a:rPr>
              <a:t>Universidad de San Carlos de Guatemala</a:t>
            </a:r>
            <a:endParaRPr sz="1800">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lang="es" sz="1800">
                <a:solidFill>
                  <a:srgbClr val="1B212C"/>
                </a:solidFill>
                <a:latin typeface="Impact"/>
                <a:ea typeface="Impact"/>
                <a:cs typeface="Impact"/>
                <a:sym typeface="Impact"/>
              </a:rPr>
              <a:t>Facultad de Ingeniería</a:t>
            </a:r>
            <a:endParaRPr sz="1800">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lang="es" sz="1800">
                <a:solidFill>
                  <a:srgbClr val="1B212C"/>
                </a:solidFill>
                <a:latin typeface="Impact"/>
                <a:ea typeface="Impact"/>
                <a:cs typeface="Impact"/>
                <a:sym typeface="Impact"/>
              </a:rPr>
              <a:t>Ingeniería en Ciencias y Sistemas</a:t>
            </a:r>
            <a:endParaRPr sz="1800">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LABORATORIO SISTEMAS OPERATIVOS 1 </a:t>
            </a:r>
            <a:endParaRPr b="0" i="0" sz="1800" u="none" cap="none" strike="noStrike">
              <a:solidFill>
                <a:srgbClr val="1B212C"/>
              </a:solidFill>
              <a:latin typeface="Impact"/>
              <a:ea typeface="Impact"/>
              <a:cs typeface="Impact"/>
              <a:sym typeface="Impact"/>
            </a:endParaRPr>
          </a:p>
          <a:p>
            <a:pPr indent="0" lvl="0" marL="0" rtl="0" algn="l">
              <a:spcBef>
                <a:spcPts val="0"/>
              </a:spcBef>
              <a:spcAft>
                <a:spcPts val="0"/>
              </a:spcAft>
              <a:buNone/>
            </a:pPr>
            <a:r>
              <a:rPr lang="es" sz="1800">
                <a:solidFill>
                  <a:srgbClr val="1B212C"/>
                </a:solidFill>
                <a:latin typeface="Impact"/>
                <a:ea typeface="Impact"/>
                <a:cs typeface="Impact"/>
                <a:sym typeface="Impact"/>
              </a:rPr>
              <a:t>Unidad 1: Fundamentos de Sistemas Operativos y Administración Avanzada</a:t>
            </a:r>
            <a:endParaRPr sz="1800">
              <a:solidFill>
                <a:srgbClr val="1B212C"/>
              </a:solidFill>
              <a:latin typeface="Impact"/>
              <a:ea typeface="Impact"/>
              <a:cs typeface="Impact"/>
              <a:sym typeface="Impact"/>
            </a:endParaRPr>
          </a:p>
          <a:p>
            <a:pPr indent="0" lvl="0" marL="0" rtl="0" algn="l">
              <a:spcBef>
                <a:spcPts val="0"/>
              </a:spcBef>
              <a:spcAft>
                <a:spcPts val="0"/>
              </a:spcAft>
              <a:buNone/>
            </a:pPr>
            <a:r>
              <a:rPr lang="es" sz="1800">
                <a:solidFill>
                  <a:srgbClr val="1B212C"/>
                </a:solidFill>
                <a:latin typeface="Impact"/>
                <a:ea typeface="Impact"/>
                <a:cs typeface="Impact"/>
                <a:sym typeface="Impact"/>
              </a:rPr>
              <a:t>SEMANA 06</a:t>
            </a:r>
            <a:endParaRPr sz="1800">
              <a:solidFill>
                <a:srgbClr val="1B212C"/>
              </a:solidFill>
              <a:latin typeface="Impact"/>
              <a:ea typeface="Impact"/>
              <a:cs typeface="Impact"/>
              <a:sym typeface="Impac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idx="1" type="body"/>
          </p:nvPr>
        </p:nvSpPr>
        <p:spPr>
          <a:xfrm>
            <a:off x="357500" y="1478875"/>
            <a:ext cx="8560800" cy="323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rgbClr val="000000"/>
              </a:buClr>
              <a:buSzPts val="1300"/>
              <a:buFont typeface="Arial"/>
              <a:buNone/>
            </a:pPr>
            <a:r>
              <a:rPr lang="es" sz="1757">
                <a:latin typeface="Montserrat"/>
                <a:ea typeface="Montserrat"/>
                <a:cs typeface="Montserrat"/>
                <a:sym typeface="Montserrat"/>
              </a:rPr>
              <a:t>CORREO:</a:t>
            </a:r>
            <a:endParaRPr sz="1757">
              <a:latin typeface="Montserrat"/>
              <a:ea typeface="Montserrat"/>
              <a:cs typeface="Montserrat"/>
              <a:sym typeface="Montserrat"/>
            </a:endParaRPr>
          </a:p>
          <a:p>
            <a:pPr indent="-340169" lvl="0" marL="457200" rtl="0" algn="l">
              <a:lnSpc>
                <a:spcPct val="115000"/>
              </a:lnSpc>
              <a:spcBef>
                <a:spcPts val="0"/>
              </a:spcBef>
              <a:spcAft>
                <a:spcPts val="0"/>
              </a:spcAft>
              <a:buSzPts val="1757"/>
              <a:buFont typeface="Montserrat"/>
              <a:buChar char="●"/>
            </a:pPr>
            <a:r>
              <a:t/>
            </a:r>
            <a:endParaRPr sz="1757">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1300"/>
              <a:buFont typeface="Arial"/>
              <a:buNone/>
            </a:pPr>
            <a:r>
              <a:t/>
            </a:r>
            <a:endParaRPr sz="1757">
              <a:latin typeface="Montserrat"/>
              <a:ea typeface="Montserrat"/>
              <a:cs typeface="Montserrat"/>
              <a:sym typeface="Montserrat"/>
            </a:endParaRPr>
          </a:p>
          <a:p>
            <a:pPr indent="0" lvl="0" marL="0" rtl="0" algn="l">
              <a:lnSpc>
                <a:spcPct val="115000"/>
              </a:lnSpc>
              <a:spcBef>
                <a:spcPts val="1200"/>
              </a:spcBef>
              <a:spcAft>
                <a:spcPts val="0"/>
              </a:spcAft>
              <a:buClr>
                <a:srgbClr val="000000"/>
              </a:buClr>
              <a:buSzPts val="1300"/>
              <a:buFont typeface="Arial"/>
              <a:buNone/>
            </a:pPr>
            <a:r>
              <a:rPr lang="es" sz="1757">
                <a:latin typeface="Montserrat"/>
                <a:ea typeface="Montserrat"/>
                <a:cs typeface="Montserrat"/>
                <a:sym typeface="Montserrat"/>
              </a:rPr>
              <a:t>Entrega de Proyectos, Tareas, Foros y Hojas de Trabajo:</a:t>
            </a:r>
            <a:endParaRPr sz="1757">
              <a:latin typeface="Montserrat"/>
              <a:ea typeface="Montserrat"/>
              <a:cs typeface="Montserrat"/>
              <a:sym typeface="Montserrat"/>
            </a:endParaRPr>
          </a:p>
          <a:p>
            <a:pPr indent="-340169" lvl="0" marL="457200" rtl="0" algn="l">
              <a:lnSpc>
                <a:spcPct val="115000"/>
              </a:lnSpc>
              <a:spcBef>
                <a:spcPts val="1200"/>
              </a:spcBef>
              <a:spcAft>
                <a:spcPts val="0"/>
              </a:spcAft>
              <a:buSzPts val="1757"/>
              <a:buFont typeface="Montserrat"/>
              <a:buChar char="●"/>
            </a:pPr>
            <a:r>
              <a:rPr lang="es" sz="1757">
                <a:latin typeface="Montserrat"/>
                <a:ea typeface="Montserrat"/>
                <a:cs typeface="Montserrat"/>
                <a:sym typeface="Montserrat"/>
              </a:rPr>
              <a:t>UEDI: </a:t>
            </a:r>
            <a:endParaRPr sz="1757">
              <a:latin typeface="Montserrat"/>
              <a:ea typeface="Montserrat"/>
              <a:cs typeface="Montserrat"/>
              <a:sym typeface="Montserrat"/>
            </a:endParaRPr>
          </a:p>
          <a:p>
            <a:pPr indent="-340169" lvl="0" marL="457200" rtl="0" algn="l">
              <a:lnSpc>
                <a:spcPct val="115000"/>
              </a:lnSpc>
              <a:spcBef>
                <a:spcPts val="0"/>
              </a:spcBef>
              <a:spcAft>
                <a:spcPts val="0"/>
              </a:spcAft>
              <a:buSzPts val="1757"/>
              <a:buFont typeface="Montserrat"/>
              <a:buChar char="●"/>
            </a:pPr>
            <a:r>
              <a:rPr lang="es" sz="1757">
                <a:latin typeface="Montserrat"/>
                <a:ea typeface="Montserrat"/>
                <a:cs typeface="Montserrat"/>
                <a:sym typeface="Montserrat"/>
              </a:rPr>
              <a:t>CLASSROOM : </a:t>
            </a:r>
            <a:endParaRPr sz="1757"/>
          </a:p>
        </p:txBody>
      </p:sp>
      <p:sp>
        <p:nvSpPr>
          <p:cNvPr id="143" name="Google Shape;143;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Datos de los auxiliares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AGENDA</a:t>
            </a:r>
            <a:endParaRPr/>
          </a:p>
        </p:txBody>
      </p:sp>
      <p:sp>
        <p:nvSpPr>
          <p:cNvPr id="149" name="Google Shape;149;p3"/>
          <p:cNvSpPr txBox="1"/>
          <p:nvPr>
            <p:ph idx="1" type="body"/>
          </p:nvPr>
        </p:nvSpPr>
        <p:spPr>
          <a:xfrm>
            <a:off x="1297500" y="1088675"/>
            <a:ext cx="4510800" cy="2952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sz="1535"/>
          </a:p>
          <a:p>
            <a:pPr indent="0" lvl="0" marL="457200" rtl="0" algn="l">
              <a:lnSpc>
                <a:spcPct val="100000"/>
              </a:lnSpc>
              <a:spcBef>
                <a:spcPts val="0"/>
              </a:spcBef>
              <a:spcAft>
                <a:spcPts val="0"/>
              </a:spcAft>
              <a:buSzPts val="1300"/>
              <a:buNone/>
            </a:pPr>
            <a:r>
              <a:t/>
            </a:r>
            <a:endParaRPr sz="2151"/>
          </a:p>
          <a:p>
            <a:pPr indent="-365219" lvl="0" marL="457200" rtl="0" algn="l">
              <a:lnSpc>
                <a:spcPct val="125000"/>
              </a:lnSpc>
              <a:spcBef>
                <a:spcPts val="0"/>
              </a:spcBef>
              <a:spcAft>
                <a:spcPts val="0"/>
              </a:spcAft>
              <a:buSzPts val="2151"/>
              <a:buAutoNum type="arabicPeriod"/>
            </a:pPr>
            <a:r>
              <a:rPr lang="es" sz="2151"/>
              <a:t>RUST.</a:t>
            </a:r>
            <a:endParaRPr sz="2151"/>
          </a:p>
          <a:p>
            <a:pPr indent="-365220" lvl="0" marL="457200" rtl="0" algn="l">
              <a:lnSpc>
                <a:spcPct val="125000"/>
              </a:lnSpc>
              <a:spcBef>
                <a:spcPts val="0"/>
              </a:spcBef>
              <a:spcAft>
                <a:spcPts val="0"/>
              </a:spcAft>
              <a:buSzPts val="2151"/>
              <a:buAutoNum type="arabicPeriod"/>
            </a:pPr>
            <a:r>
              <a:rPr lang="es" sz="2151"/>
              <a:t>Sintaxis y Conceptos de RUST.</a:t>
            </a:r>
            <a:endParaRPr sz="2151"/>
          </a:p>
          <a:p>
            <a:pPr indent="-365220" lvl="0" marL="457200" rtl="0" algn="l">
              <a:lnSpc>
                <a:spcPct val="125000"/>
              </a:lnSpc>
              <a:spcBef>
                <a:spcPts val="0"/>
              </a:spcBef>
              <a:spcAft>
                <a:spcPts val="0"/>
              </a:spcAft>
              <a:buSzPts val="2151"/>
              <a:buAutoNum type="arabicPeriod"/>
            </a:pPr>
            <a:r>
              <a:rPr lang="es" sz="2151"/>
              <a:t>Tarea 2</a:t>
            </a:r>
            <a:endParaRPr sz="2151"/>
          </a:p>
          <a:p>
            <a:pPr indent="0" lvl="0" marL="0" rtl="0" algn="l">
              <a:lnSpc>
                <a:spcPct val="125000"/>
              </a:lnSpc>
              <a:spcBef>
                <a:spcPts val="0"/>
              </a:spcBef>
              <a:spcAft>
                <a:spcPts val="0"/>
              </a:spcAft>
              <a:buSzPts val="1300"/>
              <a:buNone/>
            </a:pPr>
            <a:r>
              <a:t/>
            </a:r>
            <a:endParaRPr sz="1535"/>
          </a:p>
          <a:p>
            <a:pPr indent="0" lvl="0" marL="457200" rtl="0" algn="l">
              <a:lnSpc>
                <a:spcPct val="115000"/>
              </a:lnSpc>
              <a:spcBef>
                <a:spcPts val="400"/>
              </a:spcBef>
              <a:spcAft>
                <a:spcPts val="0"/>
              </a:spcAft>
              <a:buSzPts val="13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5c6a60a551_0_1"/>
          <p:cNvSpPr txBox="1"/>
          <p:nvPr>
            <p:ph type="title"/>
          </p:nvPr>
        </p:nvSpPr>
        <p:spPr>
          <a:xfrm>
            <a:off x="3518370" y="397075"/>
            <a:ext cx="2585400" cy="65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Competencias</a:t>
            </a:r>
            <a:endParaRPr/>
          </a:p>
        </p:txBody>
      </p:sp>
      <p:sp>
        <p:nvSpPr>
          <p:cNvPr id="155" name="Google Shape;155;g35c6a60a551_0_1"/>
          <p:cNvSpPr txBox="1"/>
          <p:nvPr/>
        </p:nvSpPr>
        <p:spPr>
          <a:xfrm>
            <a:off x="1254275" y="1112825"/>
            <a:ext cx="73701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chemeClr val="lt1"/>
                </a:solidFill>
              </a:rPr>
              <a:t>El estudiante desarrolla proyectos de virtualización que integran máquinas virtuales y contenedores utilizando tecnologías como Docker, Containerd, Harbor, Zot y herramientas de virtualización para comprender el ciclo de vida de despliegue, gestión y distribución de servicios en entornos modernos </a:t>
            </a:r>
            <a:endParaRPr>
              <a:solidFill>
                <a:schemeClr val="lt1"/>
              </a:solidFill>
            </a:endParaRPr>
          </a:p>
        </p:txBody>
      </p:sp>
      <p:sp>
        <p:nvSpPr>
          <p:cNvPr id="156" name="Google Shape;156;g35c6a60a551_0_1"/>
          <p:cNvSpPr txBox="1"/>
          <p:nvPr/>
        </p:nvSpPr>
        <p:spPr>
          <a:xfrm>
            <a:off x="1254275" y="2220075"/>
            <a:ext cx="73041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chemeClr val="lt1"/>
                </a:solidFill>
              </a:rPr>
              <a:t>El estudiante construye contenedores a bajo nivel mediante el uso de Containerd y programación en Go con el fin de profundizar en el funcionamiento interno de los motores de contenedores</a:t>
            </a:r>
            <a:endParaRPr>
              <a:solidFill>
                <a:schemeClr val="lt1"/>
              </a:solidFill>
            </a:endParaRPr>
          </a:p>
        </p:txBody>
      </p:sp>
      <p:sp>
        <p:nvSpPr>
          <p:cNvPr id="157" name="Google Shape;157;g35c6a60a551_0_1"/>
          <p:cNvSpPr txBox="1"/>
          <p:nvPr/>
        </p:nvSpPr>
        <p:spPr>
          <a:xfrm>
            <a:off x="1254275" y="3168700"/>
            <a:ext cx="73041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chemeClr val="lt1"/>
                </a:solidFill>
              </a:rPr>
              <a:t>El estudiante configura contenedores Docker para el despliegue de servicios mediante Dockerfiles y docker-compose asegurando la portabilidad y replicabilidad en entornos de desarrollo</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609668b6f0_0_0"/>
          <p:cNvSpPr txBox="1"/>
          <p:nvPr>
            <p:ph type="title"/>
          </p:nvPr>
        </p:nvSpPr>
        <p:spPr>
          <a:xfrm>
            <a:off x="3600300" y="1922625"/>
            <a:ext cx="25506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COMPETENCIAS</a:t>
            </a:r>
            <a:endParaRPr/>
          </a:p>
        </p:txBody>
      </p:sp>
      <p:sp>
        <p:nvSpPr>
          <p:cNvPr id="163" name="Google Shape;163;g3609668b6f0_0_0"/>
          <p:cNvSpPr txBox="1"/>
          <p:nvPr/>
        </p:nvSpPr>
        <p:spPr>
          <a:xfrm>
            <a:off x="1063050" y="2755400"/>
            <a:ext cx="70179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lt1"/>
                </a:solidFill>
                <a:latin typeface="Lato"/>
                <a:ea typeface="Lato"/>
                <a:cs typeface="Lato"/>
                <a:sym typeface="Lato"/>
              </a:rPr>
              <a:t>El estudiante desarrolla proyectos de virtualización que integran máquinas virtuales y contenedores utilizando tecnologías como Docker, Containerd, Harbor, Zot y herramientas de virtualización para comprender el ciclo de vida de despliegue, gestión y distribución de servicios en entornos modernos </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5c6a60a551_0_143"/>
          <p:cNvSpPr txBox="1"/>
          <p:nvPr>
            <p:ph type="title"/>
          </p:nvPr>
        </p:nvSpPr>
        <p:spPr>
          <a:xfrm>
            <a:off x="3600300" y="1922625"/>
            <a:ext cx="25506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CONTENIDO</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4"/>
          <p:cNvSpPr txBox="1"/>
          <p:nvPr>
            <p:ph type="title"/>
          </p:nvPr>
        </p:nvSpPr>
        <p:spPr>
          <a:xfrm>
            <a:off x="1297500" y="393750"/>
            <a:ext cx="7038900" cy="576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0"/>
              </a:spcBef>
              <a:spcAft>
                <a:spcPts val="0"/>
              </a:spcAft>
              <a:buSzPct val="115290"/>
              <a:buNone/>
            </a:pPr>
            <a:r>
              <a:rPr lang="es" sz="2313">
                <a:latin typeface="Lato"/>
                <a:ea typeface="Lato"/>
                <a:cs typeface="Lato"/>
                <a:sym typeface="Lato"/>
              </a:rPr>
              <a:t>¿Por qué Rust?</a:t>
            </a:r>
            <a:endParaRPr sz="2313">
              <a:latin typeface="Lato"/>
              <a:ea typeface="Lato"/>
              <a:cs typeface="Lato"/>
              <a:sym typeface="Lato"/>
            </a:endParaRPr>
          </a:p>
          <a:p>
            <a:pPr indent="0" lvl="0" marL="0" rtl="0" algn="l">
              <a:lnSpc>
                <a:spcPct val="115000"/>
              </a:lnSpc>
              <a:spcBef>
                <a:spcPts val="0"/>
              </a:spcBef>
              <a:spcAft>
                <a:spcPts val="0"/>
              </a:spcAft>
              <a:buSzPct val="173724"/>
              <a:buNone/>
            </a:pPr>
            <a:r>
              <a:t/>
            </a:r>
            <a:endParaRPr sz="1535">
              <a:latin typeface="Lato"/>
              <a:ea typeface="Lato"/>
              <a:cs typeface="Lato"/>
              <a:sym typeface="Lato"/>
            </a:endParaRPr>
          </a:p>
          <a:p>
            <a:pPr indent="0" lvl="0" marL="0" rtl="0" algn="l">
              <a:lnSpc>
                <a:spcPct val="100000"/>
              </a:lnSpc>
              <a:spcBef>
                <a:spcPts val="0"/>
              </a:spcBef>
              <a:spcAft>
                <a:spcPts val="0"/>
              </a:spcAft>
              <a:buSzPct val="173724"/>
              <a:buNone/>
            </a:pPr>
            <a:r>
              <a:t/>
            </a:r>
            <a:endParaRPr sz="1535">
              <a:latin typeface="Lato"/>
              <a:ea typeface="Lato"/>
              <a:cs typeface="Lato"/>
              <a:sym typeface="Lato"/>
            </a:endParaRPr>
          </a:p>
        </p:txBody>
      </p:sp>
      <p:pic>
        <p:nvPicPr>
          <p:cNvPr id="174" name="Google Shape;174;p4"/>
          <p:cNvPicPr preferRelativeResize="0"/>
          <p:nvPr/>
        </p:nvPicPr>
        <p:blipFill rotWithShape="1">
          <a:blip r:embed="rId3">
            <a:alphaModFix/>
          </a:blip>
          <a:srcRect b="0" l="0" r="0" t="0"/>
          <a:stretch/>
        </p:blipFill>
        <p:spPr>
          <a:xfrm>
            <a:off x="1544613" y="1195725"/>
            <a:ext cx="6280130" cy="3530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ph idx="1" type="body"/>
          </p:nvPr>
        </p:nvSpPr>
        <p:spPr>
          <a:xfrm>
            <a:off x="1146275" y="411475"/>
            <a:ext cx="7656600" cy="40674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30000"/>
              </a:lnSpc>
              <a:spcBef>
                <a:spcPts val="0"/>
              </a:spcBef>
              <a:spcAft>
                <a:spcPts val="0"/>
              </a:spcAft>
              <a:buSzPct val="99635"/>
              <a:buNone/>
            </a:pPr>
            <a:r>
              <a:rPr b="1" lang="es" sz="1535"/>
              <a:t>Rendimiento</a:t>
            </a:r>
            <a:endParaRPr b="1" sz="1535"/>
          </a:p>
          <a:p>
            <a:pPr indent="0" lvl="0" marL="0" rtl="0" algn="just">
              <a:lnSpc>
                <a:spcPct val="150000"/>
              </a:lnSpc>
              <a:spcBef>
                <a:spcPts val="400"/>
              </a:spcBef>
              <a:spcAft>
                <a:spcPts val="0"/>
              </a:spcAft>
              <a:buSzPct val="99635"/>
              <a:buNone/>
            </a:pPr>
            <a:r>
              <a:rPr lang="es" sz="1535"/>
              <a:t>Rust es increíblemente rápido y eficiente con la memoria: sin runtime ni recolector de basura, puede sustentar servicios de rendimiento crítico, ejecutarse en dispositivos integrados, y colaborar con otros lenguajes fácilmente.</a:t>
            </a:r>
            <a:endParaRPr sz="1535"/>
          </a:p>
          <a:p>
            <a:pPr indent="0" lvl="0" marL="0" rtl="0" algn="l">
              <a:lnSpc>
                <a:spcPct val="130000"/>
              </a:lnSpc>
              <a:spcBef>
                <a:spcPts val="2300"/>
              </a:spcBef>
              <a:spcAft>
                <a:spcPts val="0"/>
              </a:spcAft>
              <a:buSzPct val="99635"/>
              <a:buNone/>
            </a:pPr>
            <a:r>
              <a:rPr b="1" lang="es" sz="1535"/>
              <a:t>Fiabilidad</a:t>
            </a:r>
            <a:endParaRPr b="1" sz="1535"/>
          </a:p>
          <a:p>
            <a:pPr indent="0" lvl="0" marL="0" rtl="0" algn="l">
              <a:lnSpc>
                <a:spcPct val="150000"/>
              </a:lnSpc>
              <a:spcBef>
                <a:spcPts val="400"/>
              </a:spcBef>
              <a:spcAft>
                <a:spcPts val="0"/>
              </a:spcAft>
              <a:buSzPct val="99635"/>
              <a:buNone/>
            </a:pPr>
            <a:r>
              <a:rPr lang="es" sz="1535"/>
              <a:t>El rico sistema de tipos de Rust y su modelo de propiedad (ownership) garantizan seguridad de memoria y seguridad en hilos, y te permite eliminar muchas clases de bugs, reportándose a la hora de compilar.</a:t>
            </a:r>
            <a:endParaRPr sz="1535"/>
          </a:p>
          <a:p>
            <a:pPr indent="0" lvl="0" marL="0" rtl="0" algn="l">
              <a:lnSpc>
                <a:spcPct val="130000"/>
              </a:lnSpc>
              <a:spcBef>
                <a:spcPts val="2300"/>
              </a:spcBef>
              <a:spcAft>
                <a:spcPts val="0"/>
              </a:spcAft>
              <a:buSzPct val="99635"/>
              <a:buNone/>
            </a:pPr>
            <a:r>
              <a:rPr b="1" lang="es" sz="1535"/>
              <a:t>Productividad</a:t>
            </a:r>
            <a:endParaRPr b="1" sz="1535"/>
          </a:p>
          <a:p>
            <a:pPr indent="0" lvl="0" marL="0" rtl="0" algn="l">
              <a:lnSpc>
                <a:spcPct val="150000"/>
              </a:lnSpc>
              <a:spcBef>
                <a:spcPts val="400"/>
              </a:spcBef>
              <a:spcAft>
                <a:spcPts val="2300"/>
              </a:spcAft>
              <a:buSzPct val="99635"/>
              <a:buNone/>
            </a:pPr>
            <a:r>
              <a:rPr lang="es" sz="1535"/>
              <a:t>Rust tiene una documentación muy completa, un compilador accesible con mensajes de error útiles, y herramientas de primera: gestor de paquetes y de proyecto integrados, soporte avanzado multi-editor con autocompletado e inspecciones de tipos, auto-formateador, 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6"/>
          <p:cNvSpPr txBox="1"/>
          <p:nvPr>
            <p:ph type="title"/>
          </p:nvPr>
        </p:nvSpPr>
        <p:spPr>
          <a:xfrm>
            <a:off x="1297500" y="393750"/>
            <a:ext cx="7038900" cy="576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15290"/>
              <a:buNone/>
            </a:pPr>
            <a:r>
              <a:rPr lang="es" sz="2313">
                <a:latin typeface="Lato"/>
                <a:ea typeface="Lato"/>
                <a:cs typeface="Lato"/>
                <a:sym typeface="Lato"/>
              </a:rPr>
              <a:t>Introducción a Rust</a:t>
            </a:r>
            <a:endParaRPr b="1" sz="1650">
              <a:solidFill>
                <a:srgbClr val="E6EDF3"/>
              </a:solidFill>
              <a:highlight>
                <a:srgbClr val="0D1117"/>
              </a:highlight>
              <a:latin typeface="Arial"/>
              <a:ea typeface="Arial"/>
              <a:cs typeface="Arial"/>
              <a:sym typeface="Arial"/>
            </a:endParaRPr>
          </a:p>
          <a:p>
            <a:pPr indent="0" lvl="0" marL="0" rtl="0" algn="l">
              <a:lnSpc>
                <a:spcPct val="100000"/>
              </a:lnSpc>
              <a:spcBef>
                <a:spcPts val="400"/>
              </a:spcBef>
              <a:spcAft>
                <a:spcPts val="0"/>
              </a:spcAft>
              <a:buSzPct val="111111"/>
              <a:buNone/>
            </a:pPr>
            <a:r>
              <a:t/>
            </a:r>
            <a:endParaRPr/>
          </a:p>
        </p:txBody>
      </p:sp>
      <p:sp>
        <p:nvSpPr>
          <p:cNvPr id="185" name="Google Shape;185;p6"/>
          <p:cNvSpPr txBox="1"/>
          <p:nvPr>
            <p:ph idx="1" type="body"/>
          </p:nvPr>
        </p:nvSpPr>
        <p:spPr>
          <a:xfrm>
            <a:off x="1297500" y="1161100"/>
            <a:ext cx="7038900" cy="3508800"/>
          </a:xfrm>
          <a:prstGeom prst="rect">
            <a:avLst/>
          </a:prstGeom>
          <a:noFill/>
          <a:ln>
            <a:noFill/>
          </a:ln>
        </p:spPr>
        <p:txBody>
          <a:bodyPr anchorCtr="0" anchor="t" bIns="91425" lIns="91425" spcFirstLastPara="1" rIns="91425" wrap="square" tIns="91425">
            <a:normAutofit/>
          </a:bodyPr>
          <a:lstStyle/>
          <a:p>
            <a:pPr indent="-326089" lvl="0" marL="457200" rtl="0" algn="l">
              <a:lnSpc>
                <a:spcPct val="115000"/>
              </a:lnSpc>
              <a:spcBef>
                <a:spcPts val="0"/>
              </a:spcBef>
              <a:spcAft>
                <a:spcPts val="0"/>
              </a:spcAft>
              <a:buSzPts val="1535"/>
              <a:buChar char="●"/>
            </a:pPr>
            <a:r>
              <a:rPr lang="es" sz="1535"/>
              <a:t>Historia y evolución</a:t>
            </a:r>
            <a:endParaRPr sz="1535"/>
          </a:p>
          <a:p>
            <a:pPr indent="-326089" lvl="1" marL="914400" rtl="0" algn="l">
              <a:lnSpc>
                <a:spcPct val="115000"/>
              </a:lnSpc>
              <a:spcBef>
                <a:spcPts val="0"/>
              </a:spcBef>
              <a:spcAft>
                <a:spcPts val="0"/>
              </a:spcAft>
              <a:buSzPts val="1535"/>
              <a:buChar char="○"/>
            </a:pPr>
            <a:r>
              <a:rPr lang="es" sz="1535"/>
              <a:t>Rust fue desarrollado por Mozilla Research, con el primer lanzamiento estable en 2015.</a:t>
            </a:r>
            <a:endParaRPr sz="1535"/>
          </a:p>
          <a:p>
            <a:pPr indent="-326089" lvl="1" marL="914400" rtl="0" algn="l">
              <a:lnSpc>
                <a:spcPct val="115000"/>
              </a:lnSpc>
              <a:spcBef>
                <a:spcPts val="0"/>
              </a:spcBef>
              <a:spcAft>
                <a:spcPts val="0"/>
              </a:spcAft>
              <a:buSzPts val="1535"/>
              <a:buChar char="○"/>
            </a:pPr>
            <a:r>
              <a:rPr lang="es" sz="1535"/>
              <a:t>Se diseñó para abordar problemas de memoria y concurrencia que son comunes en lenguajes como C y C++.</a:t>
            </a:r>
            <a:endParaRPr sz="1535"/>
          </a:p>
          <a:p>
            <a:pPr indent="0" lvl="0" marL="1371600" rtl="0" algn="l">
              <a:lnSpc>
                <a:spcPct val="115000"/>
              </a:lnSpc>
              <a:spcBef>
                <a:spcPts val="300"/>
              </a:spcBef>
              <a:spcAft>
                <a:spcPts val="0"/>
              </a:spcAft>
              <a:buSzPts val="1300"/>
              <a:buNone/>
            </a:pPr>
            <a:r>
              <a:t/>
            </a:r>
            <a:endParaRPr sz="1535"/>
          </a:p>
          <a:p>
            <a:pPr indent="-326089" lvl="0" marL="457200" rtl="0" algn="l">
              <a:lnSpc>
                <a:spcPct val="115000"/>
              </a:lnSpc>
              <a:spcBef>
                <a:spcPts val="300"/>
              </a:spcBef>
              <a:spcAft>
                <a:spcPts val="0"/>
              </a:spcAft>
              <a:buSzPts val="1535"/>
              <a:buChar char="●"/>
            </a:pPr>
            <a:r>
              <a:rPr lang="es" sz="1535"/>
              <a:t>Propósito y filosofía del lenguaje</a:t>
            </a:r>
            <a:endParaRPr sz="1535"/>
          </a:p>
          <a:p>
            <a:pPr indent="-326089" lvl="1" marL="914400" rtl="0" algn="l">
              <a:lnSpc>
                <a:spcPct val="115000"/>
              </a:lnSpc>
              <a:spcBef>
                <a:spcPts val="0"/>
              </a:spcBef>
              <a:spcAft>
                <a:spcPts val="0"/>
              </a:spcAft>
              <a:buSzPts val="1535"/>
              <a:buChar char="○"/>
            </a:pPr>
            <a:r>
              <a:rPr lang="es" sz="1535"/>
              <a:t>Rust se centra en la seguridad, velocidad y concurrencia.</a:t>
            </a:r>
            <a:endParaRPr sz="1535"/>
          </a:p>
          <a:p>
            <a:pPr indent="-326089" lvl="1" marL="914400" rtl="0" algn="l">
              <a:lnSpc>
                <a:spcPct val="115000"/>
              </a:lnSpc>
              <a:spcBef>
                <a:spcPts val="0"/>
              </a:spcBef>
              <a:spcAft>
                <a:spcPts val="0"/>
              </a:spcAft>
              <a:buSzPts val="1535"/>
              <a:buChar char="○"/>
            </a:pPr>
            <a:r>
              <a:rPr lang="es" sz="1535"/>
              <a:t>Busca ofrecer un sistema de tipos que prevenga errores de memoria y condiciones de carrera sin necesidad de un recolector de basura.</a:t>
            </a:r>
            <a:endParaRPr sz="1200">
              <a:solidFill>
                <a:srgbClr val="E6EDF3"/>
              </a:solidFill>
              <a:highlight>
                <a:srgbClr val="0D1117"/>
              </a:highlight>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15290"/>
              <a:buNone/>
            </a:pPr>
            <a:r>
              <a:rPr lang="es" sz="2313">
                <a:latin typeface="Lato"/>
                <a:ea typeface="Lato"/>
                <a:cs typeface="Lato"/>
                <a:sym typeface="Lato"/>
              </a:rPr>
              <a:t>Inicio de un proyecto en Rust</a:t>
            </a:r>
            <a:endParaRPr b="1" sz="1650">
              <a:solidFill>
                <a:srgbClr val="E6EDF3"/>
              </a:solidFill>
              <a:highlight>
                <a:srgbClr val="0D1117"/>
              </a:highlight>
              <a:latin typeface="Arial"/>
              <a:ea typeface="Arial"/>
              <a:cs typeface="Arial"/>
              <a:sym typeface="Arial"/>
            </a:endParaRPr>
          </a:p>
          <a:p>
            <a:pPr indent="0" lvl="0" marL="0" rtl="0" algn="l">
              <a:lnSpc>
                <a:spcPct val="100000"/>
              </a:lnSpc>
              <a:spcBef>
                <a:spcPts val="400"/>
              </a:spcBef>
              <a:spcAft>
                <a:spcPts val="0"/>
              </a:spcAft>
              <a:buSzPct val="111111"/>
              <a:buNone/>
            </a:pPr>
            <a:r>
              <a:t/>
            </a:r>
            <a:endParaRPr/>
          </a:p>
        </p:txBody>
      </p:sp>
      <p:sp>
        <p:nvSpPr>
          <p:cNvPr id="191" name="Google Shape;191;p7"/>
          <p:cNvSpPr txBox="1"/>
          <p:nvPr>
            <p:ph idx="1" type="body"/>
          </p:nvPr>
        </p:nvSpPr>
        <p:spPr>
          <a:xfrm>
            <a:off x="1175650" y="1454875"/>
            <a:ext cx="7494900" cy="3024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300"/>
              <a:buNone/>
            </a:pPr>
            <a:r>
              <a:rPr lang="es" sz="1535"/>
              <a:t>Existen dos maneras de poder compilar código en Rust, la más sencilla es crear un archivo con la extensión .rs y luego ejecutar el comando </a:t>
            </a:r>
            <a:r>
              <a:rPr b="1" lang="es" sz="1635"/>
              <a:t>rustc main.rs.</a:t>
            </a:r>
            <a:endParaRPr b="1" sz="1635"/>
          </a:p>
          <a:p>
            <a:pPr indent="0" lvl="0" marL="0" rtl="0" algn="just">
              <a:lnSpc>
                <a:spcPct val="115000"/>
              </a:lnSpc>
              <a:spcBef>
                <a:spcPts val="0"/>
              </a:spcBef>
              <a:spcAft>
                <a:spcPts val="0"/>
              </a:spcAft>
              <a:buSzPts val="1300"/>
              <a:buNone/>
            </a:pPr>
            <a:r>
              <a:t/>
            </a:r>
            <a:endParaRPr sz="1535"/>
          </a:p>
          <a:p>
            <a:pPr indent="0" lvl="0" marL="0" rtl="0" algn="just">
              <a:lnSpc>
                <a:spcPct val="115000"/>
              </a:lnSpc>
              <a:spcBef>
                <a:spcPts val="0"/>
              </a:spcBef>
              <a:spcAft>
                <a:spcPts val="0"/>
              </a:spcAft>
              <a:buSzPts val="1300"/>
              <a:buNone/>
            </a:pPr>
            <a:r>
              <a:t/>
            </a:r>
            <a:endParaRPr sz="1535"/>
          </a:p>
          <a:p>
            <a:pPr indent="0" lvl="0" marL="0" rtl="0" algn="just">
              <a:lnSpc>
                <a:spcPct val="115000"/>
              </a:lnSpc>
              <a:spcBef>
                <a:spcPts val="0"/>
              </a:spcBef>
              <a:spcAft>
                <a:spcPts val="0"/>
              </a:spcAft>
              <a:buSzPts val="1300"/>
              <a:buNone/>
            </a:pPr>
            <a:r>
              <a:rPr lang="es" sz="1535"/>
              <a:t>La segunda manera y la recomendada es utilizar </a:t>
            </a:r>
            <a:r>
              <a:rPr b="1" lang="es" sz="1635"/>
              <a:t>Cargo</a:t>
            </a:r>
            <a:r>
              <a:rPr lang="es" sz="1535"/>
              <a:t>, cargo es el manejador de paquetes en Rust, muchos de los Rustaceans usan esta herramienta para manejar sus paquetes propios como de terceros. Usualmente cargo ya viene instalado, para validar debemos escribir esto en la consola:</a:t>
            </a:r>
            <a:endParaRPr sz="1200">
              <a:solidFill>
                <a:srgbClr val="E6EDF3"/>
              </a:solidFill>
              <a:highlight>
                <a:srgbClr val="0D1117"/>
              </a:highlight>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1297500" y="393750"/>
            <a:ext cx="7038900" cy="591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15290"/>
              <a:buNone/>
            </a:pPr>
            <a:r>
              <a:rPr lang="es" sz="2313">
                <a:latin typeface="Lato"/>
                <a:ea typeface="Lato"/>
                <a:cs typeface="Lato"/>
                <a:sym typeface="Lato"/>
              </a:rPr>
              <a:t>Sintaxis básica</a:t>
            </a:r>
            <a:endParaRPr sz="2313">
              <a:latin typeface="Lato"/>
              <a:ea typeface="Lato"/>
              <a:cs typeface="Lato"/>
              <a:sym typeface="Lato"/>
            </a:endParaRPr>
          </a:p>
          <a:p>
            <a:pPr indent="0" lvl="0" marL="0" rtl="0" algn="l">
              <a:lnSpc>
                <a:spcPct val="100000"/>
              </a:lnSpc>
              <a:spcBef>
                <a:spcPts val="400"/>
              </a:spcBef>
              <a:spcAft>
                <a:spcPts val="0"/>
              </a:spcAft>
              <a:buSzPct val="115290"/>
              <a:buNone/>
            </a:pPr>
            <a:r>
              <a:t/>
            </a:r>
            <a:endParaRPr sz="2313">
              <a:latin typeface="Lato"/>
              <a:ea typeface="Lato"/>
              <a:cs typeface="Lato"/>
              <a:sym typeface="Lato"/>
            </a:endParaRPr>
          </a:p>
        </p:txBody>
      </p:sp>
      <p:sp>
        <p:nvSpPr>
          <p:cNvPr id="197" name="Google Shape;197;p8"/>
          <p:cNvSpPr txBox="1"/>
          <p:nvPr>
            <p:ph idx="1" type="body"/>
          </p:nvPr>
        </p:nvSpPr>
        <p:spPr>
          <a:xfrm>
            <a:off x="1131575" y="881750"/>
            <a:ext cx="7803300" cy="3923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99635"/>
              <a:buNone/>
            </a:pPr>
            <a:r>
              <a:rPr lang="es" sz="1535"/>
              <a:t>Variables y constantes</a:t>
            </a:r>
            <a:endParaRPr sz="1535"/>
          </a:p>
          <a:p>
            <a:pPr indent="-311608" lvl="0" marL="457200" rtl="0" algn="l">
              <a:lnSpc>
                <a:spcPct val="115000"/>
              </a:lnSpc>
              <a:spcBef>
                <a:spcPts val="0"/>
              </a:spcBef>
              <a:spcAft>
                <a:spcPts val="0"/>
              </a:spcAft>
              <a:buSzPct val="100000"/>
              <a:buChar char="●"/>
            </a:pPr>
            <a:r>
              <a:rPr lang="es" sz="1535"/>
              <a:t>Las variables en Rust son inmutables por defecto y se declaran con let.</a:t>
            </a:r>
            <a:endParaRPr sz="1535"/>
          </a:p>
          <a:p>
            <a:pPr indent="-311608" lvl="0" marL="457200" rtl="0" algn="l">
              <a:lnSpc>
                <a:spcPct val="115000"/>
              </a:lnSpc>
              <a:spcBef>
                <a:spcPts val="0"/>
              </a:spcBef>
              <a:spcAft>
                <a:spcPts val="0"/>
              </a:spcAft>
              <a:buSzPct val="100000"/>
              <a:buChar char="●"/>
            </a:pPr>
            <a:r>
              <a:rPr lang="es" sz="1535"/>
              <a:t>Se puede hacer una variable mutable con mut.</a:t>
            </a:r>
            <a:endParaRPr sz="1535"/>
          </a:p>
          <a:p>
            <a:pPr indent="-311608" lvl="0" marL="457200" rtl="0" algn="l">
              <a:lnSpc>
                <a:spcPct val="115000"/>
              </a:lnSpc>
              <a:spcBef>
                <a:spcPts val="0"/>
              </a:spcBef>
              <a:spcAft>
                <a:spcPts val="0"/>
              </a:spcAft>
              <a:buSzPct val="100000"/>
              <a:buChar char="●"/>
            </a:pPr>
            <a:r>
              <a:rPr lang="es" sz="1535"/>
              <a:t>Las constantes se declaran con const y deben tener un tipo explícito.</a:t>
            </a:r>
            <a:endParaRPr sz="1535"/>
          </a:p>
          <a:p>
            <a:pPr indent="-311608" lvl="0" marL="457200" rtl="0" algn="l">
              <a:lnSpc>
                <a:spcPct val="115000"/>
              </a:lnSpc>
              <a:spcBef>
                <a:spcPts val="0"/>
              </a:spcBef>
              <a:spcAft>
                <a:spcPts val="0"/>
              </a:spcAft>
              <a:buSzPct val="100000"/>
              <a:buChar char="●"/>
            </a:pPr>
            <a:r>
              <a:rPr lang="es" sz="1535"/>
              <a:t>Tipos de datos primitivos: Rust maneja una gran variedad de primitivos de los cuales son:</a:t>
            </a:r>
            <a:endParaRPr sz="1535"/>
          </a:p>
          <a:p>
            <a:pPr indent="-311608" lvl="1" marL="914400" rtl="0" algn="l">
              <a:lnSpc>
                <a:spcPct val="115000"/>
              </a:lnSpc>
              <a:spcBef>
                <a:spcPts val="0"/>
              </a:spcBef>
              <a:spcAft>
                <a:spcPts val="0"/>
              </a:spcAft>
              <a:buSzPct val="100000"/>
              <a:buChar char="○"/>
            </a:pPr>
            <a:r>
              <a:rPr lang="es" sz="1535"/>
              <a:t>Enteros con signo (signed): i8, i16, i32, i64, i128, isize.</a:t>
            </a:r>
            <a:endParaRPr sz="1535"/>
          </a:p>
          <a:p>
            <a:pPr indent="-311608" lvl="1" marL="914400" rtl="0" algn="l">
              <a:lnSpc>
                <a:spcPct val="115000"/>
              </a:lnSpc>
              <a:spcBef>
                <a:spcPts val="0"/>
              </a:spcBef>
              <a:spcAft>
                <a:spcPts val="0"/>
              </a:spcAft>
              <a:buSzPct val="100000"/>
              <a:buChar char="○"/>
            </a:pPr>
            <a:r>
              <a:rPr lang="es" sz="1535"/>
              <a:t>Enteros sin signo (unsigned): u8, u16, u32, u64, u128, usize.</a:t>
            </a:r>
            <a:endParaRPr sz="1535"/>
          </a:p>
          <a:p>
            <a:pPr indent="-311608" lvl="1" marL="914400" rtl="0" algn="l">
              <a:lnSpc>
                <a:spcPct val="115000"/>
              </a:lnSpc>
              <a:spcBef>
                <a:spcPts val="0"/>
              </a:spcBef>
              <a:spcAft>
                <a:spcPts val="0"/>
              </a:spcAft>
              <a:buSzPct val="100000"/>
              <a:buChar char="○"/>
            </a:pPr>
            <a:r>
              <a:rPr lang="es" sz="1535"/>
              <a:t>Punto flotante: f32, f64.</a:t>
            </a:r>
            <a:endParaRPr sz="1535"/>
          </a:p>
          <a:p>
            <a:pPr indent="-311608" lvl="1" marL="914400" rtl="0" algn="l">
              <a:lnSpc>
                <a:spcPct val="115000"/>
              </a:lnSpc>
              <a:spcBef>
                <a:spcPts val="0"/>
              </a:spcBef>
              <a:spcAft>
                <a:spcPts val="0"/>
              </a:spcAft>
              <a:buSzPct val="100000"/>
              <a:buChar char="○"/>
            </a:pPr>
            <a:r>
              <a:rPr lang="es" sz="1535"/>
              <a:t>Booleano: bool.</a:t>
            </a:r>
            <a:endParaRPr sz="1535"/>
          </a:p>
          <a:p>
            <a:pPr indent="-311608" lvl="1" marL="914400" rtl="0" algn="l">
              <a:lnSpc>
                <a:spcPct val="115000"/>
              </a:lnSpc>
              <a:spcBef>
                <a:spcPts val="0"/>
              </a:spcBef>
              <a:spcAft>
                <a:spcPts val="0"/>
              </a:spcAft>
              <a:buSzPct val="100000"/>
              <a:buChar char="○"/>
            </a:pPr>
            <a:r>
              <a:rPr lang="es" sz="1535"/>
              <a:t>Carácter: char.</a:t>
            </a:r>
            <a:endParaRPr sz="1535"/>
          </a:p>
          <a:p>
            <a:pPr indent="-311608" lvl="0" marL="457200" rtl="0" algn="l">
              <a:lnSpc>
                <a:spcPct val="115000"/>
              </a:lnSpc>
              <a:spcBef>
                <a:spcPts val="0"/>
              </a:spcBef>
              <a:spcAft>
                <a:spcPts val="0"/>
              </a:spcAft>
              <a:buSzPct val="100000"/>
              <a:buChar char="●"/>
            </a:pPr>
            <a:r>
              <a:rPr lang="es" sz="1535"/>
              <a:t>Compuestos: tuplas y arreglos.</a:t>
            </a:r>
            <a:endParaRPr sz="1535"/>
          </a:p>
          <a:p>
            <a:pPr indent="-311608" lvl="0" marL="457200" rtl="0" algn="l">
              <a:lnSpc>
                <a:spcPct val="115000"/>
              </a:lnSpc>
              <a:spcBef>
                <a:spcPts val="0"/>
              </a:spcBef>
              <a:spcAft>
                <a:spcPts val="0"/>
              </a:spcAft>
              <a:buSzPct val="100000"/>
              <a:buChar char="●"/>
            </a:pPr>
            <a:r>
              <a:rPr lang="es" sz="1535"/>
              <a:t>Arrays y Slices: Los arrays son de tamaño fijo y los slices son una vista de un array.</a:t>
            </a:r>
            <a:endParaRPr sz="1535"/>
          </a:p>
          <a:p>
            <a:pPr indent="-311608" lvl="0" marL="457200" rtl="0" algn="l">
              <a:lnSpc>
                <a:spcPct val="115000"/>
              </a:lnSpc>
              <a:spcBef>
                <a:spcPts val="0"/>
              </a:spcBef>
              <a:spcAft>
                <a:spcPts val="0"/>
              </a:spcAft>
              <a:buSzPct val="100000"/>
              <a:buChar char="●"/>
            </a:pPr>
            <a:r>
              <a:rPr lang="es" sz="1535"/>
              <a:t>Strings: Rust maneja strings de dos formas: String y &amp;str.</a:t>
            </a:r>
            <a:endParaRPr sz="1535"/>
          </a:p>
          <a:p>
            <a:pPr indent="-311608" lvl="0" marL="457200" rtl="0" algn="l">
              <a:lnSpc>
                <a:spcPct val="115000"/>
              </a:lnSpc>
              <a:spcBef>
                <a:spcPts val="0"/>
              </a:spcBef>
              <a:spcAft>
                <a:spcPts val="0"/>
              </a:spcAft>
              <a:buSzPct val="100000"/>
              <a:buChar char="●"/>
            </a:pPr>
            <a:r>
              <a:rPr lang="es" sz="1535"/>
              <a:t>Structs: Los structs son tipos de datos personalizados que permiten agrupar datos de diferentes tipos.</a:t>
            </a:r>
            <a:endParaRPr sz="1535"/>
          </a:p>
          <a:p>
            <a:pPr indent="-311608" lvl="0" marL="457200" rtl="0" algn="l">
              <a:lnSpc>
                <a:spcPct val="115000"/>
              </a:lnSpc>
              <a:spcBef>
                <a:spcPts val="0"/>
              </a:spcBef>
              <a:spcAft>
                <a:spcPts val="0"/>
              </a:spcAft>
              <a:buSzPct val="100000"/>
              <a:buChar char="●"/>
            </a:pPr>
            <a:r>
              <a:rPr lang="es" sz="1535"/>
              <a:t>Enums: Los enums permiten definir un tipo que puede ser uno de varios valores. Otra forma de entender los.</a:t>
            </a:r>
            <a:endParaRPr sz="1535"/>
          </a:p>
          <a:p>
            <a:pPr indent="-311608" lvl="0" marL="457200" rtl="0" algn="l">
              <a:lnSpc>
                <a:spcPct val="115000"/>
              </a:lnSpc>
              <a:spcBef>
                <a:spcPts val="0"/>
              </a:spcBef>
              <a:spcAft>
                <a:spcPts val="0"/>
              </a:spcAft>
              <a:buSzPct val="100000"/>
              <a:buChar char="●"/>
            </a:pPr>
            <a:r>
              <a:rPr lang="es" sz="1535"/>
              <a:t>enums son las variantes que puede llegar a tener un tipo.</a:t>
            </a:r>
            <a:endParaRPr sz="1200">
              <a:solidFill>
                <a:srgbClr val="E6EDF3"/>
              </a:solidFill>
              <a:highlight>
                <a:srgbClr val="0D1117"/>
              </a:highlight>
              <a:latin typeface="Arial"/>
              <a:ea typeface="Arial"/>
              <a:cs typeface="Arial"/>
              <a:sym typeface="Arial"/>
            </a:endParaRPr>
          </a:p>
          <a:p>
            <a:pPr indent="0" lvl="0" marL="0" rtl="0" algn="l">
              <a:lnSpc>
                <a:spcPct val="115000"/>
              </a:lnSpc>
              <a:spcBef>
                <a:spcPts val="0"/>
              </a:spcBef>
              <a:spcAft>
                <a:spcPts val="1200"/>
              </a:spcAft>
              <a:buSzPct val="117647"/>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1297500" y="393750"/>
            <a:ext cx="7038900" cy="63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15290"/>
              <a:buNone/>
            </a:pPr>
            <a:r>
              <a:rPr lang="es" sz="2313">
                <a:latin typeface="Lato"/>
                <a:ea typeface="Lato"/>
                <a:cs typeface="Lato"/>
                <a:sym typeface="Lato"/>
              </a:rPr>
              <a:t>Control de flujo.</a:t>
            </a:r>
            <a:endParaRPr b="1" sz="1650">
              <a:solidFill>
                <a:srgbClr val="E6EDF3"/>
              </a:solidFill>
              <a:highlight>
                <a:srgbClr val="0D1117"/>
              </a:highlight>
              <a:latin typeface="Arial"/>
              <a:ea typeface="Arial"/>
              <a:cs typeface="Arial"/>
              <a:sym typeface="Arial"/>
            </a:endParaRPr>
          </a:p>
          <a:p>
            <a:pPr indent="0" lvl="0" marL="0" rtl="0" algn="l">
              <a:lnSpc>
                <a:spcPct val="100000"/>
              </a:lnSpc>
              <a:spcBef>
                <a:spcPts val="400"/>
              </a:spcBef>
              <a:spcAft>
                <a:spcPts val="0"/>
              </a:spcAft>
              <a:buSzPct val="111111"/>
              <a:buNone/>
            </a:pPr>
            <a:r>
              <a:t/>
            </a:r>
            <a:endParaRPr/>
          </a:p>
        </p:txBody>
      </p:sp>
      <p:pic>
        <p:nvPicPr>
          <p:cNvPr id="203" name="Google Shape;203;p9"/>
          <p:cNvPicPr preferRelativeResize="0"/>
          <p:nvPr/>
        </p:nvPicPr>
        <p:blipFill rotWithShape="1">
          <a:blip r:embed="rId3">
            <a:alphaModFix/>
          </a:blip>
          <a:srcRect b="0" l="0" r="0" t="0"/>
          <a:stretch/>
        </p:blipFill>
        <p:spPr>
          <a:xfrm>
            <a:off x="1345363" y="1387000"/>
            <a:ext cx="6943176" cy="3256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10"/>
          <p:cNvPicPr preferRelativeResize="0"/>
          <p:nvPr/>
        </p:nvPicPr>
        <p:blipFill rotWithShape="1">
          <a:blip r:embed="rId3">
            <a:alphaModFix/>
          </a:blip>
          <a:srcRect b="0" l="0" r="0" t="0"/>
          <a:stretch/>
        </p:blipFill>
        <p:spPr>
          <a:xfrm>
            <a:off x="2091149" y="471925"/>
            <a:ext cx="5095050" cy="4446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1"/>
          <p:cNvPicPr preferRelativeResize="0"/>
          <p:nvPr/>
        </p:nvPicPr>
        <p:blipFill rotWithShape="1">
          <a:blip r:embed="rId3">
            <a:alphaModFix/>
          </a:blip>
          <a:srcRect b="0" l="0" r="0" t="0"/>
          <a:stretch/>
        </p:blipFill>
        <p:spPr>
          <a:xfrm>
            <a:off x="1563175" y="570150"/>
            <a:ext cx="6754575" cy="4176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12"/>
          <p:cNvPicPr preferRelativeResize="0"/>
          <p:nvPr/>
        </p:nvPicPr>
        <p:blipFill rotWithShape="1">
          <a:blip r:embed="rId3">
            <a:alphaModFix/>
          </a:blip>
          <a:srcRect b="0" l="0" r="0" t="0"/>
          <a:stretch/>
        </p:blipFill>
        <p:spPr>
          <a:xfrm>
            <a:off x="1328025" y="696175"/>
            <a:ext cx="6909375" cy="3977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1179925" y="261475"/>
            <a:ext cx="7038900" cy="620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800"/>
              </a:spcBef>
              <a:spcAft>
                <a:spcPts val="0"/>
              </a:spcAft>
              <a:buSzPct val="115290"/>
              <a:buNone/>
            </a:pPr>
            <a:r>
              <a:rPr lang="es" sz="2313">
                <a:latin typeface="Lato"/>
                <a:ea typeface="Lato"/>
                <a:cs typeface="Lato"/>
                <a:sym typeface="Lato"/>
              </a:rPr>
              <a:t>Conceptos avanzados</a:t>
            </a:r>
            <a:endParaRPr b="1" sz="1700">
              <a:solidFill>
                <a:srgbClr val="E6EDF3"/>
              </a:solidFill>
              <a:highlight>
                <a:srgbClr val="0D1117"/>
              </a:highlight>
              <a:latin typeface="Arial"/>
              <a:ea typeface="Arial"/>
              <a:cs typeface="Arial"/>
              <a:sym typeface="Arial"/>
            </a:endParaRPr>
          </a:p>
          <a:p>
            <a:pPr indent="0" lvl="0" marL="0" rtl="0" algn="l">
              <a:lnSpc>
                <a:spcPct val="100000"/>
              </a:lnSpc>
              <a:spcBef>
                <a:spcPts val="400"/>
              </a:spcBef>
              <a:spcAft>
                <a:spcPts val="0"/>
              </a:spcAft>
              <a:buSzPct val="111111"/>
              <a:buNone/>
            </a:pPr>
            <a:r>
              <a:t/>
            </a:r>
            <a:endParaRPr/>
          </a:p>
        </p:txBody>
      </p:sp>
      <p:sp>
        <p:nvSpPr>
          <p:cNvPr id="224" name="Google Shape;224;p13"/>
          <p:cNvSpPr txBox="1"/>
          <p:nvPr>
            <p:ph idx="1" type="body"/>
          </p:nvPr>
        </p:nvSpPr>
        <p:spPr>
          <a:xfrm>
            <a:off x="1297500" y="881875"/>
            <a:ext cx="7402500" cy="40854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1400"/>
              </a:spcBef>
              <a:spcAft>
                <a:spcPts val="0"/>
              </a:spcAft>
              <a:buSzPts val="1300"/>
              <a:buNone/>
            </a:pPr>
            <a:r>
              <a:rPr b="1" lang="es" sz="1735"/>
              <a:t>Ownership</a:t>
            </a:r>
            <a:endParaRPr b="1" sz="1735"/>
          </a:p>
          <a:p>
            <a:pPr indent="0" lvl="0" marL="0" rtl="0" algn="l">
              <a:lnSpc>
                <a:spcPct val="115000"/>
              </a:lnSpc>
              <a:spcBef>
                <a:spcPts val="400"/>
              </a:spcBef>
              <a:spcAft>
                <a:spcPts val="0"/>
              </a:spcAft>
              <a:buSzPts val="1300"/>
              <a:buNone/>
            </a:pPr>
            <a:r>
              <a:rPr lang="es" sz="1535"/>
              <a:t>Rust es un lenguaje muy especial ya que cuentan con características únicas como es el Ownership. Pero antes de explicar que es el Ownership, es importante entender cómo otros lenguajes manejan la memoria.</a:t>
            </a:r>
            <a:endParaRPr sz="1535"/>
          </a:p>
          <a:p>
            <a:pPr indent="0" lvl="0" marL="0" rtl="0" algn="l">
              <a:lnSpc>
                <a:spcPct val="115000"/>
              </a:lnSpc>
              <a:spcBef>
                <a:spcPts val="0"/>
              </a:spcBef>
              <a:spcAft>
                <a:spcPts val="0"/>
              </a:spcAft>
              <a:buSzPts val="1300"/>
              <a:buNone/>
            </a:pPr>
            <a:r>
              <a:t/>
            </a:r>
            <a:endParaRPr sz="1535"/>
          </a:p>
          <a:p>
            <a:pPr indent="0" lvl="0" marL="0" rtl="0" algn="l">
              <a:lnSpc>
                <a:spcPct val="115000"/>
              </a:lnSpc>
              <a:spcBef>
                <a:spcPts val="0"/>
              </a:spcBef>
              <a:spcAft>
                <a:spcPts val="0"/>
              </a:spcAft>
              <a:buSzPts val="1300"/>
              <a:buNone/>
            </a:pPr>
            <a:r>
              <a:rPr lang="es" sz="1535"/>
              <a:t>Manejo de memoria en otros lenguajes:</a:t>
            </a:r>
            <a:endParaRPr sz="1535"/>
          </a:p>
          <a:p>
            <a:pPr indent="0" lvl="0" marL="0" rtl="0" algn="l">
              <a:lnSpc>
                <a:spcPct val="115000"/>
              </a:lnSpc>
              <a:spcBef>
                <a:spcPts val="0"/>
              </a:spcBef>
              <a:spcAft>
                <a:spcPts val="0"/>
              </a:spcAft>
              <a:buSzPts val="1300"/>
              <a:buNone/>
            </a:pPr>
            <a:r>
              <a:t/>
            </a:r>
            <a:endParaRPr sz="1535"/>
          </a:p>
          <a:p>
            <a:pPr indent="-326089" lvl="0" marL="457200" rtl="0" algn="l">
              <a:lnSpc>
                <a:spcPct val="115000"/>
              </a:lnSpc>
              <a:spcBef>
                <a:spcPts val="0"/>
              </a:spcBef>
              <a:spcAft>
                <a:spcPts val="0"/>
              </a:spcAft>
              <a:buSzPts val="1535"/>
              <a:buChar char="●"/>
            </a:pPr>
            <a:r>
              <a:rPr lang="es" sz="1535"/>
              <a:t>C: En C se maneja la memoria de forma manual, se debe liberar la memoria manualmente.</a:t>
            </a:r>
            <a:endParaRPr sz="1535"/>
          </a:p>
          <a:p>
            <a:pPr indent="-326089" lvl="0" marL="457200" rtl="0" algn="l">
              <a:lnSpc>
                <a:spcPct val="115000"/>
              </a:lnSpc>
              <a:spcBef>
                <a:spcPts val="0"/>
              </a:spcBef>
              <a:spcAft>
                <a:spcPts val="0"/>
              </a:spcAft>
              <a:buSzPts val="1535"/>
              <a:buChar char="●"/>
            </a:pPr>
            <a:r>
              <a:rPr lang="es" sz="1535"/>
              <a:t>C++: En C++ se maneja la memoria de forma manual, pero se pueden usar punteros inteligentes.</a:t>
            </a:r>
            <a:endParaRPr sz="1535"/>
          </a:p>
          <a:p>
            <a:pPr indent="-326089" lvl="0" marL="457200" rtl="0" algn="l">
              <a:lnSpc>
                <a:spcPct val="115000"/>
              </a:lnSpc>
              <a:spcBef>
                <a:spcPts val="0"/>
              </a:spcBef>
              <a:spcAft>
                <a:spcPts val="0"/>
              </a:spcAft>
              <a:buSzPts val="1535"/>
              <a:buChar char="●"/>
            </a:pPr>
            <a:r>
              <a:rPr lang="es" sz="1535"/>
              <a:t>Java, C#, Python: Estos lenguajes cuentan con un recolector de basura que se encarga de liberar la memoria.</a:t>
            </a:r>
            <a:endParaRPr sz="1200">
              <a:solidFill>
                <a:srgbClr val="E6EDF3"/>
              </a:solidFill>
              <a:highlight>
                <a:srgbClr val="0D1117"/>
              </a:highlight>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4"/>
          <p:cNvSpPr txBox="1"/>
          <p:nvPr>
            <p:ph idx="1" type="body"/>
          </p:nvPr>
        </p:nvSpPr>
        <p:spPr>
          <a:xfrm>
            <a:off x="1297500" y="352700"/>
            <a:ext cx="7343700" cy="4126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 sz="1735"/>
              <a:t>Entendiendo Ownership.</a:t>
            </a:r>
            <a:endParaRPr b="1" sz="1735"/>
          </a:p>
          <a:p>
            <a:pPr indent="0" lvl="0" marL="0" rtl="0" algn="l">
              <a:lnSpc>
                <a:spcPct val="115000"/>
              </a:lnSpc>
              <a:spcBef>
                <a:spcPts val="0"/>
              </a:spcBef>
              <a:spcAft>
                <a:spcPts val="0"/>
              </a:spcAft>
              <a:buSzPts val="1300"/>
              <a:buNone/>
            </a:pPr>
            <a:r>
              <a:t/>
            </a:r>
            <a:endParaRPr sz="1535"/>
          </a:p>
          <a:p>
            <a:pPr indent="0" lvl="0" marL="0" rtl="0" algn="l">
              <a:lnSpc>
                <a:spcPct val="115000"/>
              </a:lnSpc>
              <a:spcBef>
                <a:spcPts val="0"/>
              </a:spcBef>
              <a:spcAft>
                <a:spcPts val="0"/>
              </a:spcAft>
              <a:buSzPts val="1300"/>
              <a:buNone/>
            </a:pPr>
            <a:r>
              <a:t/>
            </a:r>
            <a:endParaRPr sz="1535"/>
          </a:p>
          <a:p>
            <a:pPr indent="0" lvl="0" marL="0" rtl="0" algn="l">
              <a:lnSpc>
                <a:spcPct val="115000"/>
              </a:lnSpc>
              <a:spcBef>
                <a:spcPts val="0"/>
              </a:spcBef>
              <a:spcAft>
                <a:spcPts val="0"/>
              </a:spcAft>
              <a:buSzPts val="1300"/>
              <a:buNone/>
            </a:pPr>
            <a:r>
              <a:rPr lang="es" sz="1535"/>
              <a:t>Con el uso de este concepto, hace que Rust sea un lenguaje seguro y rápido sin la necesidad de un GC.</a:t>
            </a:r>
            <a:endParaRPr sz="1535"/>
          </a:p>
          <a:p>
            <a:pPr indent="0" lvl="0" marL="0" rtl="0" algn="l">
              <a:lnSpc>
                <a:spcPct val="115000"/>
              </a:lnSpc>
              <a:spcBef>
                <a:spcPts val="0"/>
              </a:spcBef>
              <a:spcAft>
                <a:spcPts val="0"/>
              </a:spcAft>
              <a:buSzPts val="1300"/>
              <a:buNone/>
            </a:pPr>
            <a:r>
              <a:t/>
            </a:r>
            <a:endParaRPr sz="1535"/>
          </a:p>
          <a:p>
            <a:pPr indent="0" lvl="0" marL="0" rtl="0" algn="l">
              <a:lnSpc>
                <a:spcPct val="115000"/>
              </a:lnSpc>
              <a:spcBef>
                <a:spcPts val="0"/>
              </a:spcBef>
              <a:spcAft>
                <a:spcPts val="0"/>
              </a:spcAft>
              <a:buSzPts val="1300"/>
              <a:buNone/>
            </a:pPr>
            <a:r>
              <a:rPr lang="es" sz="1535"/>
              <a:t>Reglas de Ownership</a:t>
            </a:r>
            <a:endParaRPr sz="1535"/>
          </a:p>
          <a:p>
            <a:pPr indent="-326089" lvl="0" marL="457200" rtl="0" algn="l">
              <a:lnSpc>
                <a:spcPct val="115000"/>
              </a:lnSpc>
              <a:spcBef>
                <a:spcPts val="0"/>
              </a:spcBef>
              <a:spcAft>
                <a:spcPts val="0"/>
              </a:spcAft>
              <a:buSzPts val="1535"/>
              <a:buChar char="●"/>
            </a:pPr>
            <a:r>
              <a:rPr lang="es" sz="1535"/>
              <a:t>Cada valor en Rust tiene una variable que es su dueño.</a:t>
            </a:r>
            <a:endParaRPr sz="1535"/>
          </a:p>
          <a:p>
            <a:pPr indent="-326089" lvl="0" marL="457200" rtl="0" algn="l">
              <a:lnSpc>
                <a:spcPct val="115000"/>
              </a:lnSpc>
              <a:spcBef>
                <a:spcPts val="0"/>
              </a:spcBef>
              <a:spcAft>
                <a:spcPts val="0"/>
              </a:spcAft>
              <a:buSzPts val="1535"/>
              <a:buChar char="●"/>
            </a:pPr>
            <a:r>
              <a:rPr lang="es" sz="1535"/>
              <a:t>Solo puede haber un dueño a la vez.</a:t>
            </a:r>
            <a:endParaRPr sz="1535"/>
          </a:p>
          <a:p>
            <a:pPr indent="-326089" lvl="0" marL="457200" rtl="0" algn="l">
              <a:lnSpc>
                <a:spcPct val="115000"/>
              </a:lnSpc>
              <a:spcBef>
                <a:spcPts val="0"/>
              </a:spcBef>
              <a:spcAft>
                <a:spcPts val="0"/>
              </a:spcAft>
              <a:buSzPts val="1535"/>
              <a:buChar char="●"/>
            </a:pPr>
            <a:r>
              <a:rPr lang="es" sz="1535"/>
              <a:t>Cuando el dueño sale del alcance, el valor se libera.</a:t>
            </a:r>
            <a:endParaRPr sz="1535"/>
          </a:p>
          <a:p>
            <a:pPr indent="0" lvl="0" marL="457200" rtl="0" algn="l">
              <a:lnSpc>
                <a:spcPct val="115000"/>
              </a:lnSpc>
              <a:spcBef>
                <a:spcPts val="300"/>
              </a:spcBef>
              <a:spcAft>
                <a:spcPts val="0"/>
              </a:spcAft>
              <a:buSzPts val="1300"/>
              <a:buNone/>
            </a:pPr>
            <a:r>
              <a:t/>
            </a:r>
            <a:endParaRPr sz="1535"/>
          </a:p>
          <a:p>
            <a:pPr indent="0" lvl="0" marL="0" rtl="0" algn="l">
              <a:lnSpc>
                <a:spcPct val="115000"/>
              </a:lnSpc>
              <a:spcBef>
                <a:spcPts val="0"/>
              </a:spcBef>
              <a:spcAft>
                <a:spcPts val="0"/>
              </a:spcAft>
              <a:buSzPts val="1300"/>
              <a:buNone/>
            </a:pPr>
            <a:r>
              <a:rPr lang="es" sz="1535"/>
              <a:t>Con esto en mente vamos a ver un ejemplo de cómo se maneja la memoria en Rust.</a:t>
            </a:r>
            <a:endParaRPr sz="1200">
              <a:solidFill>
                <a:srgbClr val="E6EDF3"/>
              </a:solidFill>
              <a:highlight>
                <a:srgbClr val="0D1117"/>
              </a:highlight>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15"/>
          <p:cNvPicPr preferRelativeResize="0"/>
          <p:nvPr/>
        </p:nvPicPr>
        <p:blipFill rotWithShape="1">
          <a:blip r:embed="rId3">
            <a:alphaModFix/>
          </a:blip>
          <a:srcRect b="0" l="0" r="0" t="0"/>
          <a:stretch/>
        </p:blipFill>
        <p:spPr>
          <a:xfrm>
            <a:off x="240575" y="1504425"/>
            <a:ext cx="4467225" cy="2905125"/>
          </a:xfrm>
          <a:prstGeom prst="rect">
            <a:avLst/>
          </a:prstGeom>
          <a:noFill/>
          <a:ln>
            <a:noFill/>
          </a:ln>
        </p:spPr>
      </p:pic>
      <p:pic>
        <p:nvPicPr>
          <p:cNvPr id="235" name="Google Shape;235;p15"/>
          <p:cNvPicPr preferRelativeResize="0"/>
          <p:nvPr/>
        </p:nvPicPr>
        <p:blipFill rotWithShape="1">
          <a:blip r:embed="rId4">
            <a:alphaModFix/>
          </a:blip>
          <a:srcRect b="0" l="0" r="0" t="0"/>
          <a:stretch/>
        </p:blipFill>
        <p:spPr>
          <a:xfrm>
            <a:off x="5051250" y="754900"/>
            <a:ext cx="3866875" cy="3866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2dd1a2f4a62_0_0"/>
          <p:cNvSpPr txBox="1"/>
          <p:nvPr>
            <p:ph type="title"/>
          </p:nvPr>
        </p:nvSpPr>
        <p:spPr>
          <a:xfrm>
            <a:off x="1297500" y="393750"/>
            <a:ext cx="7038900" cy="48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400"/>
              <a:buNone/>
            </a:pPr>
            <a:r>
              <a:rPr b="1" lang="es" sz="1735">
                <a:latin typeface="Lato"/>
                <a:ea typeface="Lato"/>
                <a:cs typeface="Lato"/>
                <a:sym typeface="Lato"/>
              </a:rPr>
              <a:t>Funciones y Ownership en Rust</a:t>
            </a:r>
            <a:endParaRPr/>
          </a:p>
        </p:txBody>
      </p:sp>
      <p:sp>
        <p:nvSpPr>
          <p:cNvPr id="241" name="Google Shape;241;g2dd1a2f4a62_0_0"/>
          <p:cNvSpPr txBox="1"/>
          <p:nvPr>
            <p:ph idx="1" type="body"/>
          </p:nvPr>
        </p:nvSpPr>
        <p:spPr>
          <a:xfrm>
            <a:off x="1370975" y="979725"/>
            <a:ext cx="7240800" cy="137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200"/>
              </a:spcAft>
              <a:buSzPts val="1300"/>
              <a:buNone/>
            </a:pPr>
            <a:r>
              <a:rPr lang="es" sz="1500"/>
              <a:t>En Rust, cuando pasas un valor a una función, la propiedad de ese valor se transfiere a la función. Esto significa que la función se convierte en el nuevo propietario de ese valor, y el código que lo llamó ya no puede usar ese valor a menos que se lo devuelva explícitamente.</a:t>
            </a:r>
            <a:endParaRPr sz="1500"/>
          </a:p>
        </p:txBody>
      </p:sp>
      <p:sp>
        <p:nvSpPr>
          <p:cNvPr id="242" name="Google Shape;242;g2dd1a2f4a62_0_0"/>
          <p:cNvSpPr txBox="1"/>
          <p:nvPr>
            <p:ph type="title"/>
          </p:nvPr>
        </p:nvSpPr>
        <p:spPr>
          <a:xfrm>
            <a:off x="1370975" y="2677025"/>
            <a:ext cx="7038900" cy="48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400"/>
              <a:buNone/>
            </a:pPr>
            <a:r>
              <a:rPr b="1" lang="es" sz="1735">
                <a:latin typeface="Lato"/>
                <a:ea typeface="Lato"/>
                <a:cs typeface="Lato"/>
                <a:sym typeface="Lato"/>
              </a:rPr>
              <a:t>Retorno de valores</a:t>
            </a:r>
            <a:endParaRPr b="1" sz="1735">
              <a:latin typeface="Lato"/>
              <a:ea typeface="Lato"/>
              <a:cs typeface="Lato"/>
              <a:sym typeface="Lato"/>
            </a:endParaRPr>
          </a:p>
        </p:txBody>
      </p:sp>
      <p:sp>
        <p:nvSpPr>
          <p:cNvPr id="243" name="Google Shape;243;g2dd1a2f4a62_0_0"/>
          <p:cNvSpPr txBox="1"/>
          <p:nvPr>
            <p:ph idx="1" type="body"/>
          </p:nvPr>
        </p:nvSpPr>
        <p:spPr>
          <a:xfrm>
            <a:off x="1370975" y="3270400"/>
            <a:ext cx="7240800" cy="1371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200"/>
              </a:spcAft>
              <a:buSzPts val="1300"/>
              <a:buNone/>
            </a:pPr>
            <a:r>
              <a:rPr lang="es" sz="1500"/>
              <a:t>Cuando una función en Rust retorna un valor, el concepto de Ownership sigue siendo crucial, y la propiedad del valor retornado se transfiere al lugar donde la función es llamada. Esto significa que cuando un valor se devuelve desde una función, la propiedad del valor se "mueve" al nuevo contexto que recibe el valor retornado.</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dd1a2f4a62_0_7"/>
          <p:cNvSpPr txBox="1"/>
          <p:nvPr>
            <p:ph idx="1" type="body"/>
          </p:nvPr>
        </p:nvSpPr>
        <p:spPr>
          <a:xfrm>
            <a:off x="1297500" y="847475"/>
            <a:ext cx="7299600" cy="13275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SzPts val="1300"/>
              <a:buNone/>
            </a:pPr>
            <a:r>
              <a:rPr lang="es" sz="1500"/>
              <a:t>Para poder evitar que Rust mueva la referencia a la memoria, podemos utilizar lo que se conoce como referencias. Las referencias permiten que múltiples partes del código accedan a los mismos datos sin necesidad de mover la referencia.</a:t>
            </a:r>
            <a:endParaRPr sz="1500"/>
          </a:p>
          <a:p>
            <a:pPr indent="0" lvl="0" marL="0" rtl="0" algn="just">
              <a:lnSpc>
                <a:spcPct val="115000"/>
              </a:lnSpc>
              <a:spcBef>
                <a:spcPts val="0"/>
              </a:spcBef>
              <a:spcAft>
                <a:spcPts val="0"/>
              </a:spcAft>
              <a:buSzPts val="1300"/>
              <a:buNone/>
            </a:pPr>
            <a:r>
              <a:t/>
            </a:r>
            <a:endParaRPr sz="1200">
              <a:solidFill>
                <a:srgbClr val="E6EDF3"/>
              </a:solidFill>
              <a:highlight>
                <a:srgbClr val="0D1117"/>
              </a:highlight>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
        <p:nvSpPr>
          <p:cNvPr id="249" name="Google Shape;249;g2dd1a2f4a62_0_7"/>
          <p:cNvSpPr txBox="1"/>
          <p:nvPr>
            <p:ph type="title"/>
          </p:nvPr>
        </p:nvSpPr>
        <p:spPr>
          <a:xfrm>
            <a:off x="1297500" y="393750"/>
            <a:ext cx="7038900" cy="532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sz="1735">
                <a:latin typeface="Lato"/>
                <a:ea typeface="Lato"/>
                <a:cs typeface="Lato"/>
                <a:sym typeface="Lato"/>
              </a:rPr>
              <a:t>Referencias y Borrowing</a:t>
            </a:r>
            <a:endParaRPr b="1" sz="1735">
              <a:latin typeface="Lato"/>
              <a:ea typeface="Lato"/>
              <a:cs typeface="Lato"/>
              <a:sym typeface="Lato"/>
            </a:endParaRPr>
          </a:p>
        </p:txBody>
      </p:sp>
      <p:pic>
        <p:nvPicPr>
          <p:cNvPr id="250" name="Google Shape;250;g2dd1a2f4a62_0_7"/>
          <p:cNvPicPr preferRelativeResize="0"/>
          <p:nvPr/>
        </p:nvPicPr>
        <p:blipFill rotWithShape="1">
          <a:blip r:embed="rId3">
            <a:alphaModFix/>
          </a:blip>
          <a:srcRect b="0" l="0" r="0" t="0"/>
          <a:stretch/>
        </p:blipFill>
        <p:spPr>
          <a:xfrm>
            <a:off x="1793539" y="2174975"/>
            <a:ext cx="6307525" cy="2395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dd1a2f4a62_0_13"/>
          <p:cNvSpPr txBox="1"/>
          <p:nvPr>
            <p:ph type="title"/>
          </p:nvPr>
        </p:nvSpPr>
        <p:spPr>
          <a:xfrm>
            <a:off x="1297500" y="393750"/>
            <a:ext cx="7038900" cy="517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sz="1735">
                <a:latin typeface="Lato"/>
                <a:ea typeface="Lato"/>
                <a:cs typeface="Lato"/>
                <a:sym typeface="Lato"/>
              </a:rPr>
              <a:t>Referencias mutables</a:t>
            </a:r>
            <a:endParaRPr b="1" sz="1735">
              <a:latin typeface="Lato"/>
              <a:ea typeface="Lato"/>
              <a:cs typeface="Lato"/>
              <a:sym typeface="Lato"/>
            </a:endParaRPr>
          </a:p>
        </p:txBody>
      </p:sp>
      <p:sp>
        <p:nvSpPr>
          <p:cNvPr id="256" name="Google Shape;256;g2dd1a2f4a62_0_13"/>
          <p:cNvSpPr txBox="1"/>
          <p:nvPr>
            <p:ph idx="1" type="body"/>
          </p:nvPr>
        </p:nvSpPr>
        <p:spPr>
          <a:xfrm>
            <a:off x="1297500" y="808400"/>
            <a:ext cx="7038900" cy="602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 sz="1500"/>
              <a:t>Las referencias mutables permiten modificar el valor de un dato.</a:t>
            </a:r>
            <a:endParaRPr sz="1500"/>
          </a:p>
        </p:txBody>
      </p:sp>
      <p:pic>
        <p:nvPicPr>
          <p:cNvPr id="257" name="Google Shape;257;g2dd1a2f4a62_0_13"/>
          <p:cNvPicPr preferRelativeResize="0"/>
          <p:nvPr/>
        </p:nvPicPr>
        <p:blipFill rotWithShape="1">
          <a:blip r:embed="rId3">
            <a:alphaModFix/>
          </a:blip>
          <a:srcRect b="0" l="0" r="0" t="0"/>
          <a:stretch/>
        </p:blipFill>
        <p:spPr>
          <a:xfrm>
            <a:off x="1386850" y="1269300"/>
            <a:ext cx="4371975" cy="1885950"/>
          </a:xfrm>
          <a:prstGeom prst="rect">
            <a:avLst/>
          </a:prstGeom>
          <a:noFill/>
          <a:ln>
            <a:noFill/>
          </a:ln>
        </p:spPr>
      </p:pic>
      <p:sp>
        <p:nvSpPr>
          <p:cNvPr id="258" name="Google Shape;258;g2dd1a2f4a62_0_13"/>
          <p:cNvSpPr txBox="1"/>
          <p:nvPr>
            <p:ph idx="1" type="body"/>
          </p:nvPr>
        </p:nvSpPr>
        <p:spPr>
          <a:xfrm>
            <a:off x="1386850" y="3385600"/>
            <a:ext cx="7038900" cy="1596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500"/>
              <a:t>Reglas de Referencias</a:t>
            </a:r>
            <a:endParaRPr sz="1500"/>
          </a:p>
          <a:p>
            <a:pPr indent="-323850" lvl="0" marL="457200" rtl="0" algn="l">
              <a:lnSpc>
                <a:spcPct val="115000"/>
              </a:lnSpc>
              <a:spcBef>
                <a:spcPts val="0"/>
              </a:spcBef>
              <a:spcAft>
                <a:spcPts val="0"/>
              </a:spcAft>
              <a:buSzPts val="1500"/>
              <a:buChar char="●"/>
            </a:pPr>
            <a:r>
              <a:rPr lang="es" sz="1500"/>
              <a:t>Solo se puede tener una referencia mutable a la vez.</a:t>
            </a:r>
            <a:endParaRPr sz="1500"/>
          </a:p>
          <a:p>
            <a:pPr indent="-323850" lvl="0" marL="457200" rtl="0" algn="l">
              <a:lnSpc>
                <a:spcPct val="115000"/>
              </a:lnSpc>
              <a:spcBef>
                <a:spcPts val="0"/>
              </a:spcBef>
              <a:spcAft>
                <a:spcPts val="0"/>
              </a:spcAft>
              <a:buSzPts val="1500"/>
              <a:buChar char="●"/>
            </a:pPr>
            <a:r>
              <a:rPr lang="es" sz="1500"/>
              <a:t>No se puede tener una referencia mutable y una inmutable al mismo tiempo.</a:t>
            </a:r>
            <a:endParaRPr sz="1500"/>
          </a:p>
          <a:p>
            <a:pPr indent="-323850" lvl="0" marL="457200" rtl="0" algn="l">
              <a:lnSpc>
                <a:spcPct val="115000"/>
              </a:lnSpc>
              <a:spcBef>
                <a:spcPts val="0"/>
              </a:spcBef>
              <a:spcAft>
                <a:spcPts val="0"/>
              </a:spcAft>
              <a:buSzPts val="1500"/>
              <a:buChar char="●"/>
            </a:pPr>
            <a:r>
              <a:rPr lang="es" sz="1500"/>
              <a:t>Las referencias deben estar dentro del alcance.</a:t>
            </a:r>
            <a:endParaRPr sz="1500"/>
          </a:p>
          <a:p>
            <a:pPr indent="0" lvl="0" marL="0" rtl="0" algn="l">
              <a:lnSpc>
                <a:spcPct val="115000"/>
              </a:lnSpc>
              <a:spcBef>
                <a:spcPts val="0"/>
              </a:spcBef>
              <a:spcAft>
                <a:spcPts val="1200"/>
              </a:spcAft>
              <a:buSzPts val="1300"/>
              <a:buNone/>
            </a:pPr>
            <a:r>
              <a:t/>
            </a:r>
            <a:endParaRPr sz="1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2dd1a2f4a62_0_20"/>
          <p:cNvSpPr txBox="1"/>
          <p:nvPr>
            <p:ph type="title"/>
          </p:nvPr>
        </p:nvSpPr>
        <p:spPr>
          <a:xfrm>
            <a:off x="1297500" y="393750"/>
            <a:ext cx="7038900" cy="635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sz="1735">
                <a:latin typeface="Lato"/>
                <a:ea typeface="Lato"/>
                <a:cs typeface="Lato"/>
                <a:sym typeface="Lato"/>
              </a:rPr>
              <a:t>Implementaciones en Rust</a:t>
            </a:r>
            <a:endParaRPr b="1" sz="1735">
              <a:latin typeface="Lato"/>
              <a:ea typeface="Lato"/>
              <a:cs typeface="Lato"/>
              <a:sym typeface="Lato"/>
            </a:endParaRPr>
          </a:p>
        </p:txBody>
      </p:sp>
      <p:sp>
        <p:nvSpPr>
          <p:cNvPr id="264" name="Google Shape;264;g2dd1a2f4a62_0_20"/>
          <p:cNvSpPr txBox="1"/>
          <p:nvPr>
            <p:ph idx="1" type="body"/>
          </p:nvPr>
        </p:nvSpPr>
        <p:spPr>
          <a:xfrm>
            <a:off x="1224025" y="1949650"/>
            <a:ext cx="7038900" cy="1577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300"/>
              <a:buNone/>
            </a:pPr>
            <a:r>
              <a:rPr lang="es" sz="1500"/>
              <a:t>En Rust, implementaciones </a:t>
            </a:r>
            <a:r>
              <a:rPr b="1" i="1" lang="es" sz="1500" u="sng"/>
              <a:t>(impl)</a:t>
            </a:r>
            <a:r>
              <a:rPr lang="es" sz="1500"/>
              <a:t> se utilizan para definir métodos y funciones asociadas con un </a:t>
            </a:r>
            <a:r>
              <a:rPr b="1" i="1" lang="es" sz="1500" u="sng"/>
              <a:t>struct</a:t>
            </a:r>
            <a:r>
              <a:rPr i="1" lang="es" sz="1500" u="sng"/>
              <a:t> </a:t>
            </a:r>
            <a:r>
              <a:rPr lang="es" sz="1500"/>
              <a:t>o </a:t>
            </a:r>
            <a:r>
              <a:rPr b="1" i="1" lang="es" sz="1500" u="sng"/>
              <a:t>enum.</a:t>
            </a:r>
            <a:r>
              <a:rPr lang="es" sz="1500"/>
              <a:t> Esto es similar a las clases en otros lenguajes orientados a objetos, donde puedes definir funciones que operan sobre instancias de la estructura o enumeración. Estas funciones se llaman métodos cuando tienen acceso a una instancia particular del tipo al que pertenecen.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dd1a2f4a62_0_25"/>
          <p:cNvSpPr txBox="1"/>
          <p:nvPr>
            <p:ph type="title"/>
          </p:nvPr>
        </p:nvSpPr>
        <p:spPr>
          <a:xfrm>
            <a:off x="1297500" y="173300"/>
            <a:ext cx="4198800" cy="532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sz="1735">
                <a:latin typeface="Lato"/>
                <a:ea typeface="Lato"/>
                <a:cs typeface="Lato"/>
                <a:sym typeface="Lato"/>
              </a:rPr>
              <a:t>Implementaciones en Rust</a:t>
            </a:r>
            <a:endParaRPr b="1" sz="1735">
              <a:latin typeface="Lato"/>
              <a:ea typeface="Lato"/>
              <a:cs typeface="Lato"/>
              <a:sym typeface="Lato"/>
            </a:endParaRPr>
          </a:p>
        </p:txBody>
      </p:sp>
      <p:pic>
        <p:nvPicPr>
          <p:cNvPr id="270" name="Google Shape;270;g2dd1a2f4a62_0_25"/>
          <p:cNvPicPr preferRelativeResize="0"/>
          <p:nvPr/>
        </p:nvPicPr>
        <p:blipFill rotWithShape="1">
          <a:blip r:embed="rId3">
            <a:alphaModFix/>
          </a:blip>
          <a:srcRect b="0" l="0" r="0" t="0"/>
          <a:stretch/>
        </p:blipFill>
        <p:spPr>
          <a:xfrm>
            <a:off x="2013326" y="614550"/>
            <a:ext cx="5568601" cy="4327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dd1a2f4a62_0_30"/>
          <p:cNvSpPr txBox="1"/>
          <p:nvPr>
            <p:ph type="title"/>
          </p:nvPr>
        </p:nvSpPr>
        <p:spPr>
          <a:xfrm>
            <a:off x="1297500" y="320250"/>
            <a:ext cx="6476400" cy="664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36263"/>
              <a:buNone/>
            </a:pPr>
            <a:r>
              <a:rPr b="1" lang="es" sz="1957">
                <a:latin typeface="Lato"/>
                <a:ea typeface="Lato"/>
                <a:cs typeface="Lato"/>
                <a:sym typeface="Lato"/>
              </a:rPr>
              <a:t>Traits y generics</a:t>
            </a:r>
            <a:endParaRPr b="1" sz="1957">
              <a:latin typeface="Lato"/>
              <a:ea typeface="Lato"/>
              <a:cs typeface="Lato"/>
              <a:sym typeface="Lato"/>
            </a:endParaRPr>
          </a:p>
          <a:p>
            <a:pPr indent="0" lvl="0" marL="0" rtl="0" algn="l">
              <a:lnSpc>
                <a:spcPct val="100000"/>
              </a:lnSpc>
              <a:spcBef>
                <a:spcPts val="400"/>
              </a:spcBef>
              <a:spcAft>
                <a:spcPts val="0"/>
              </a:spcAft>
              <a:buSzPct val="153697"/>
              <a:buNone/>
            </a:pPr>
            <a:r>
              <a:t/>
            </a:r>
            <a:endParaRPr b="1" sz="1735">
              <a:latin typeface="Lato"/>
              <a:ea typeface="Lato"/>
              <a:cs typeface="Lato"/>
              <a:sym typeface="Lato"/>
            </a:endParaRPr>
          </a:p>
        </p:txBody>
      </p:sp>
      <p:sp>
        <p:nvSpPr>
          <p:cNvPr id="276" name="Google Shape;276;g2dd1a2f4a62_0_30"/>
          <p:cNvSpPr txBox="1"/>
          <p:nvPr>
            <p:ph idx="1" type="body"/>
          </p:nvPr>
        </p:nvSpPr>
        <p:spPr>
          <a:xfrm>
            <a:off x="1297500" y="818050"/>
            <a:ext cx="7038900" cy="13275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300"/>
              <a:buNone/>
            </a:pPr>
            <a:r>
              <a:rPr lang="es" sz="1500"/>
              <a:t>Traits y Generics son dos características poderosas en Rust que permiten escribir código flexible y reutilizable. Estas herramientas facilitan la implementación de comportamientos comunes en tipos diferentes y permiten trabajar con tipos genéricos sin comprometer la seguridad y eficiencia del lenguaje.</a:t>
            </a:r>
            <a:endParaRPr sz="1500"/>
          </a:p>
        </p:txBody>
      </p:sp>
      <p:sp>
        <p:nvSpPr>
          <p:cNvPr id="277" name="Google Shape;277;g2dd1a2f4a62_0_30"/>
          <p:cNvSpPr txBox="1"/>
          <p:nvPr>
            <p:ph type="title"/>
          </p:nvPr>
        </p:nvSpPr>
        <p:spPr>
          <a:xfrm>
            <a:off x="1333800" y="2145550"/>
            <a:ext cx="6476400" cy="664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36263"/>
              <a:buNone/>
            </a:pPr>
            <a:r>
              <a:rPr b="1" lang="es" sz="1957">
                <a:latin typeface="Lato"/>
                <a:ea typeface="Lato"/>
                <a:cs typeface="Lato"/>
                <a:sym typeface="Lato"/>
              </a:rPr>
              <a:t>Concepto de Traits</a:t>
            </a:r>
            <a:endParaRPr b="1" sz="1957">
              <a:latin typeface="Lato"/>
              <a:ea typeface="Lato"/>
              <a:cs typeface="Lato"/>
              <a:sym typeface="Lato"/>
            </a:endParaRPr>
          </a:p>
          <a:p>
            <a:pPr indent="0" lvl="0" marL="0" rtl="0" algn="l">
              <a:lnSpc>
                <a:spcPct val="100000"/>
              </a:lnSpc>
              <a:spcBef>
                <a:spcPts val="400"/>
              </a:spcBef>
              <a:spcAft>
                <a:spcPts val="0"/>
              </a:spcAft>
              <a:buSzPct val="153697"/>
              <a:buNone/>
            </a:pPr>
            <a:r>
              <a:t/>
            </a:r>
            <a:endParaRPr b="1" sz="1735">
              <a:latin typeface="Lato"/>
              <a:ea typeface="Lato"/>
              <a:cs typeface="Lato"/>
              <a:sym typeface="Lato"/>
            </a:endParaRPr>
          </a:p>
        </p:txBody>
      </p:sp>
      <p:sp>
        <p:nvSpPr>
          <p:cNvPr id="278" name="Google Shape;278;g2dd1a2f4a62_0_30"/>
          <p:cNvSpPr txBox="1"/>
          <p:nvPr/>
        </p:nvSpPr>
        <p:spPr>
          <a:xfrm>
            <a:off x="1333800" y="2810050"/>
            <a:ext cx="6895800" cy="203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500"/>
              <a:buFont typeface="Arial"/>
              <a:buNone/>
            </a:pPr>
            <a:r>
              <a:rPr b="0" i="0" lang="es" sz="1500" u="none" cap="none" strike="noStrike">
                <a:solidFill>
                  <a:schemeClr val="lt1"/>
                </a:solidFill>
                <a:latin typeface="Lato"/>
                <a:ea typeface="Lato"/>
                <a:cs typeface="Lato"/>
                <a:sym typeface="Lato"/>
              </a:rPr>
              <a:t>Un trait es una colección de métodos que pueden ser implementados para tipos particulares. Un trait define una interfaz común que diferentes tipos pueden implementar, permitiendo que un conjunto de comportamientos sean compartidos entre esos tipos.</a:t>
            </a:r>
            <a:endParaRPr b="0" i="0" sz="1500" u="none" cap="none" strike="noStrike">
              <a:solidFill>
                <a:schemeClr val="lt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1500"/>
              <a:buFont typeface="Arial"/>
              <a:buNone/>
            </a:pPr>
            <a:r>
              <a:rPr b="0" i="0" lang="es" sz="1500" u="none" cap="none" strike="noStrike">
                <a:solidFill>
                  <a:schemeClr val="lt1"/>
                </a:solidFill>
                <a:latin typeface="Lato"/>
                <a:ea typeface="Lato"/>
                <a:cs typeface="Lato"/>
                <a:sym typeface="Lato"/>
              </a:rPr>
              <a:t>Un trait es similar a las interfaces en otros lenguajes como Java o C#. Sin embargo, en Rust, los traits pueden ser más poderosos ya que pueden proporcionar implementaciones por defecto para sus métodos.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dd1a2f4a62_0_3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25000"/>
              </a:lnSpc>
              <a:spcBef>
                <a:spcPts val="1400"/>
              </a:spcBef>
              <a:spcAft>
                <a:spcPts val="400"/>
              </a:spcAft>
              <a:buSzPts val="2400"/>
              <a:buNone/>
            </a:pPr>
            <a:r>
              <a:rPr b="1" lang="es" sz="1957">
                <a:latin typeface="Lato"/>
                <a:ea typeface="Lato"/>
                <a:cs typeface="Lato"/>
                <a:sym typeface="Lato"/>
              </a:rPr>
              <a:t>Concepto de Traits</a:t>
            </a:r>
            <a:endParaRPr/>
          </a:p>
        </p:txBody>
      </p:sp>
      <p:pic>
        <p:nvPicPr>
          <p:cNvPr id="284" name="Google Shape;284;g2dd1a2f4a62_0_37"/>
          <p:cNvPicPr preferRelativeResize="0"/>
          <p:nvPr/>
        </p:nvPicPr>
        <p:blipFill rotWithShape="1">
          <a:blip r:embed="rId3">
            <a:alphaModFix/>
          </a:blip>
          <a:srcRect b="0" l="0" r="0" t="0"/>
          <a:stretch/>
        </p:blipFill>
        <p:spPr>
          <a:xfrm>
            <a:off x="1974675" y="1563100"/>
            <a:ext cx="5819775" cy="3162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2dd1a2f4a62_0_4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sz="1957">
                <a:latin typeface="Lato"/>
                <a:ea typeface="Lato"/>
                <a:cs typeface="Lato"/>
                <a:sym typeface="Lato"/>
              </a:rPr>
              <a:t>Concepto de Generics</a:t>
            </a:r>
            <a:endParaRPr b="1" sz="1957">
              <a:latin typeface="Lato"/>
              <a:ea typeface="Lato"/>
              <a:cs typeface="Lato"/>
              <a:sym typeface="Lato"/>
            </a:endParaRPr>
          </a:p>
        </p:txBody>
      </p:sp>
      <p:sp>
        <p:nvSpPr>
          <p:cNvPr id="290" name="Google Shape;290;g2dd1a2f4a62_0_42"/>
          <p:cNvSpPr txBox="1"/>
          <p:nvPr>
            <p:ph idx="1" type="body"/>
          </p:nvPr>
        </p:nvSpPr>
        <p:spPr>
          <a:xfrm>
            <a:off x="1297500" y="1116150"/>
            <a:ext cx="7038900" cy="29112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300"/>
              <a:buNone/>
            </a:pPr>
            <a:r>
              <a:rPr lang="es" sz="1500"/>
              <a:t>Generics permite escribir funciones, structs, enums, y traits que pueden operar con tipos de datos diferentes sin tener que duplicar código. Esto se logra utilizando parámetros de tipo que actúan como marcadores de posición para tipos reales que se especifican al usar el código genérico.</a:t>
            </a:r>
            <a:endParaRPr sz="1500"/>
          </a:p>
          <a:p>
            <a:pPr indent="0" lvl="0" marL="0" rtl="0" algn="just">
              <a:lnSpc>
                <a:spcPct val="115000"/>
              </a:lnSpc>
              <a:spcBef>
                <a:spcPts val="1200"/>
              </a:spcBef>
              <a:spcAft>
                <a:spcPts val="0"/>
              </a:spcAft>
              <a:buSzPts val="1300"/>
              <a:buNone/>
            </a:pPr>
            <a:r>
              <a:rPr lang="es" sz="1500"/>
              <a:t>Los generics en Rust son muy seguros y eficientes debido a que Rust realiza la monomorfización en tiempo de compilación, generando código específico para cada tipo concreto en lugar de utilizar una representación de tipo genérico en tiempo de ejecución.</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2dd1a2f4a62_0_47"/>
          <p:cNvSpPr txBox="1"/>
          <p:nvPr>
            <p:ph type="title"/>
          </p:nvPr>
        </p:nvSpPr>
        <p:spPr>
          <a:xfrm>
            <a:off x="1297500" y="393750"/>
            <a:ext cx="7038900" cy="502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sz="1957">
                <a:latin typeface="Lato"/>
                <a:ea typeface="Lato"/>
                <a:cs typeface="Lato"/>
                <a:sym typeface="Lato"/>
              </a:rPr>
              <a:t>Concepto de Generics</a:t>
            </a:r>
            <a:endParaRPr/>
          </a:p>
        </p:txBody>
      </p:sp>
      <p:pic>
        <p:nvPicPr>
          <p:cNvPr id="296" name="Google Shape;296;g2dd1a2f4a62_0_47"/>
          <p:cNvPicPr preferRelativeResize="0"/>
          <p:nvPr/>
        </p:nvPicPr>
        <p:blipFill rotWithShape="1">
          <a:blip r:embed="rId3">
            <a:alphaModFix/>
          </a:blip>
          <a:srcRect b="0" l="0" r="0" t="0"/>
          <a:stretch/>
        </p:blipFill>
        <p:spPr>
          <a:xfrm>
            <a:off x="2507782" y="896550"/>
            <a:ext cx="3729644" cy="4109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2dd1a2f4a62_0_52"/>
          <p:cNvSpPr txBox="1"/>
          <p:nvPr>
            <p:ph type="title"/>
          </p:nvPr>
        </p:nvSpPr>
        <p:spPr>
          <a:xfrm>
            <a:off x="1297500" y="393750"/>
            <a:ext cx="7152600" cy="591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5000"/>
              </a:lnSpc>
              <a:spcBef>
                <a:spcPts val="1400"/>
              </a:spcBef>
              <a:spcAft>
                <a:spcPts val="0"/>
              </a:spcAft>
              <a:buSzPct val="136263"/>
              <a:buNone/>
            </a:pPr>
            <a:r>
              <a:rPr b="1" lang="es" sz="1957">
                <a:latin typeface="Lato"/>
                <a:ea typeface="Lato"/>
                <a:cs typeface="Lato"/>
                <a:sym typeface="Lato"/>
              </a:rPr>
              <a:t>Manejo de errores</a:t>
            </a:r>
            <a:endParaRPr b="1" sz="1957">
              <a:latin typeface="Lato"/>
              <a:ea typeface="Lato"/>
              <a:cs typeface="Lato"/>
              <a:sym typeface="Lato"/>
            </a:endParaRPr>
          </a:p>
          <a:p>
            <a:pPr indent="0" lvl="0" marL="0" rtl="0" algn="l">
              <a:lnSpc>
                <a:spcPct val="100000"/>
              </a:lnSpc>
              <a:spcBef>
                <a:spcPts val="400"/>
              </a:spcBef>
              <a:spcAft>
                <a:spcPts val="0"/>
              </a:spcAft>
              <a:buSzPct val="136263"/>
              <a:buNone/>
            </a:pPr>
            <a:r>
              <a:t/>
            </a:r>
            <a:endParaRPr b="1" sz="1957">
              <a:latin typeface="Lato"/>
              <a:ea typeface="Lato"/>
              <a:cs typeface="Lato"/>
              <a:sym typeface="Lato"/>
            </a:endParaRPr>
          </a:p>
        </p:txBody>
      </p:sp>
      <p:sp>
        <p:nvSpPr>
          <p:cNvPr id="302" name="Google Shape;302;g2dd1a2f4a62_0_52"/>
          <p:cNvSpPr txBox="1"/>
          <p:nvPr>
            <p:ph idx="1" type="body"/>
          </p:nvPr>
        </p:nvSpPr>
        <p:spPr>
          <a:xfrm>
            <a:off x="1354350" y="920925"/>
            <a:ext cx="7095600" cy="1018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300"/>
              <a:buNone/>
            </a:pPr>
            <a:r>
              <a:rPr lang="es" sz="1500"/>
              <a:t>En Rust, el manejo de errores es un aspecto crucial del lenguaje, diseñado para ser seguro y explícito. Rust proporciona dos principales mecanismos para manejar errores: </a:t>
            </a:r>
            <a:r>
              <a:rPr b="1" i="1" lang="es" sz="1500" u="sng"/>
              <a:t>Result  </a:t>
            </a:r>
            <a:r>
              <a:rPr lang="es" sz="1500"/>
              <a:t>y </a:t>
            </a:r>
            <a:r>
              <a:rPr b="1" i="1" lang="es" sz="1500" u="sng"/>
              <a:t>panic!.</a:t>
            </a:r>
            <a:endParaRPr b="1" i="1" u="sng"/>
          </a:p>
        </p:txBody>
      </p:sp>
      <p:sp>
        <p:nvSpPr>
          <p:cNvPr id="303" name="Google Shape;303;g2dd1a2f4a62_0_52"/>
          <p:cNvSpPr txBox="1"/>
          <p:nvPr/>
        </p:nvSpPr>
        <p:spPr>
          <a:xfrm>
            <a:off x="1469575" y="2072100"/>
            <a:ext cx="6892200" cy="2439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400"/>
              </a:spcBef>
              <a:spcAft>
                <a:spcPts val="0"/>
              </a:spcAft>
              <a:buClr>
                <a:srgbClr val="000000"/>
              </a:buClr>
              <a:buSzPts val="1500"/>
              <a:buFont typeface="Arial"/>
              <a:buNone/>
            </a:pPr>
            <a:r>
              <a:rPr b="0" i="0" lang="es" sz="1500" u="none" cap="none" strike="noStrike">
                <a:solidFill>
                  <a:schemeClr val="lt1"/>
                </a:solidFill>
                <a:latin typeface="Lato"/>
                <a:ea typeface="Lato"/>
                <a:cs typeface="Lato"/>
                <a:sym typeface="Lato"/>
              </a:rPr>
              <a:t>1. Result&lt;T, E&gt;</a:t>
            </a:r>
            <a:endParaRPr b="0" i="0" sz="1500" u="none" cap="none" strike="noStrike">
              <a:solidFill>
                <a:schemeClr val="lt1"/>
              </a:solidFill>
              <a:latin typeface="Lato"/>
              <a:ea typeface="Lato"/>
              <a:cs typeface="Lato"/>
              <a:sym typeface="Lato"/>
            </a:endParaRPr>
          </a:p>
          <a:p>
            <a:pPr indent="0" lvl="0" marL="0" marR="0" rtl="0" algn="just">
              <a:lnSpc>
                <a:spcPct val="115000"/>
              </a:lnSpc>
              <a:spcBef>
                <a:spcPts val="1200"/>
              </a:spcBef>
              <a:spcAft>
                <a:spcPts val="0"/>
              </a:spcAft>
              <a:buClr>
                <a:srgbClr val="000000"/>
              </a:buClr>
              <a:buSzPts val="1500"/>
              <a:buFont typeface="Arial"/>
              <a:buNone/>
            </a:pPr>
            <a:r>
              <a:rPr b="0" i="0" lang="es" sz="1500" u="none" cap="none" strike="noStrike">
                <a:solidFill>
                  <a:schemeClr val="lt1"/>
                </a:solidFill>
                <a:latin typeface="Lato"/>
                <a:ea typeface="Lato"/>
                <a:cs typeface="Lato"/>
                <a:sym typeface="Lato"/>
              </a:rPr>
              <a:t>Result es un tipo enum en Rust que se utiliza para manejar errores que se esperan y que podrían ser recuperables. Este enum tiene dos variantes:</a:t>
            </a:r>
            <a:endParaRPr b="0" i="0" sz="1500" u="none" cap="none" strike="noStrike">
              <a:solidFill>
                <a:schemeClr val="lt1"/>
              </a:solidFill>
              <a:latin typeface="Lato"/>
              <a:ea typeface="Lato"/>
              <a:cs typeface="Lato"/>
              <a:sym typeface="Lato"/>
            </a:endParaRPr>
          </a:p>
          <a:p>
            <a:pPr indent="-323850" lvl="0" marL="457200" marR="0" rtl="0" algn="just">
              <a:lnSpc>
                <a:spcPct val="115000"/>
              </a:lnSpc>
              <a:spcBef>
                <a:spcPts val="1200"/>
              </a:spcBef>
              <a:spcAft>
                <a:spcPts val="0"/>
              </a:spcAft>
              <a:buClr>
                <a:schemeClr val="lt1"/>
              </a:buClr>
              <a:buSzPts val="1500"/>
              <a:buFont typeface="Lato"/>
              <a:buChar char="●"/>
            </a:pPr>
            <a:r>
              <a:rPr b="0" i="0" lang="es" sz="1500" u="none" cap="none" strike="noStrike">
                <a:solidFill>
                  <a:schemeClr val="lt1"/>
                </a:solidFill>
                <a:latin typeface="Lato"/>
                <a:ea typeface="Lato"/>
                <a:cs typeface="Lato"/>
                <a:sym typeface="Lato"/>
              </a:rPr>
              <a:t>Ok(T): Indica que la operación fue exitosa y contiene un valor del tipo T.</a:t>
            </a:r>
            <a:endParaRPr b="0" i="0" sz="1500" u="none" cap="none" strike="noStrike">
              <a:solidFill>
                <a:schemeClr val="lt1"/>
              </a:solidFill>
              <a:latin typeface="Lato"/>
              <a:ea typeface="Lato"/>
              <a:cs typeface="Lato"/>
              <a:sym typeface="Lato"/>
            </a:endParaRPr>
          </a:p>
          <a:p>
            <a:pPr indent="-323850" lvl="0" marL="457200" marR="0" rtl="0" algn="just">
              <a:lnSpc>
                <a:spcPct val="115000"/>
              </a:lnSpc>
              <a:spcBef>
                <a:spcPts val="0"/>
              </a:spcBef>
              <a:spcAft>
                <a:spcPts val="0"/>
              </a:spcAft>
              <a:buClr>
                <a:schemeClr val="lt1"/>
              </a:buClr>
              <a:buSzPts val="1500"/>
              <a:buFont typeface="Lato"/>
              <a:buChar char="●"/>
            </a:pPr>
            <a:r>
              <a:rPr b="0" i="0" lang="es" sz="1500" u="none" cap="none" strike="noStrike">
                <a:solidFill>
                  <a:schemeClr val="lt1"/>
                </a:solidFill>
                <a:latin typeface="Lato"/>
                <a:ea typeface="Lato"/>
                <a:cs typeface="Lato"/>
                <a:sym typeface="Lato"/>
              </a:rPr>
              <a:t>Err(E): Indica que la operación falló y contiene un valor del tipo E, que representa el error.</a:t>
            </a:r>
            <a:endParaRPr b="0" i="0" sz="11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300"/>
              <a:buFont typeface="Arial"/>
              <a:buNone/>
            </a:pPr>
            <a:r>
              <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dd1a2f4a62_0_58"/>
          <p:cNvSpPr txBox="1"/>
          <p:nvPr>
            <p:ph type="title"/>
          </p:nvPr>
        </p:nvSpPr>
        <p:spPr>
          <a:xfrm>
            <a:off x="1297500" y="393750"/>
            <a:ext cx="7038900" cy="678900"/>
          </a:xfrm>
          <a:prstGeom prst="rect">
            <a:avLst/>
          </a:prstGeom>
          <a:noFill/>
          <a:ln>
            <a:noFill/>
          </a:ln>
        </p:spPr>
        <p:txBody>
          <a:bodyPr anchorCtr="0" anchor="t" bIns="91425" lIns="91425" spcFirstLastPara="1" rIns="91425" wrap="square" tIns="91425">
            <a:normAutofit/>
          </a:bodyPr>
          <a:lstStyle/>
          <a:p>
            <a:pPr indent="0" lvl="0" marL="0" marR="0" rtl="0" algn="l">
              <a:lnSpc>
                <a:spcPct val="125000"/>
              </a:lnSpc>
              <a:spcBef>
                <a:spcPts val="1400"/>
              </a:spcBef>
              <a:spcAft>
                <a:spcPts val="400"/>
              </a:spcAft>
              <a:buSzPts val="2400"/>
              <a:buNone/>
            </a:pPr>
            <a:r>
              <a:rPr b="1" lang="es" sz="1957">
                <a:latin typeface="Lato"/>
                <a:ea typeface="Lato"/>
                <a:cs typeface="Lato"/>
                <a:sym typeface="Lato"/>
              </a:rPr>
              <a:t>Result</a:t>
            </a:r>
            <a:endParaRPr b="1" sz="1957">
              <a:latin typeface="Lato"/>
              <a:ea typeface="Lato"/>
              <a:cs typeface="Lato"/>
              <a:sym typeface="Lato"/>
            </a:endParaRPr>
          </a:p>
        </p:txBody>
      </p:sp>
      <p:pic>
        <p:nvPicPr>
          <p:cNvPr id="309" name="Google Shape;309;g2dd1a2f4a62_0_58"/>
          <p:cNvPicPr preferRelativeResize="0"/>
          <p:nvPr/>
        </p:nvPicPr>
        <p:blipFill rotWithShape="1">
          <a:blip r:embed="rId3">
            <a:alphaModFix/>
          </a:blip>
          <a:srcRect b="0" l="0" r="0" t="0"/>
          <a:stretch/>
        </p:blipFill>
        <p:spPr>
          <a:xfrm>
            <a:off x="1360250" y="1739450"/>
            <a:ext cx="6976149" cy="2463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2dd1a2f4a62_0_63"/>
          <p:cNvSpPr txBox="1"/>
          <p:nvPr>
            <p:ph idx="1" type="body"/>
          </p:nvPr>
        </p:nvSpPr>
        <p:spPr>
          <a:xfrm>
            <a:off x="1341600" y="259625"/>
            <a:ext cx="7038900" cy="1812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300"/>
              <a:buNone/>
            </a:pPr>
            <a:r>
              <a:rPr b="1" lang="es" sz="1800"/>
              <a:t>2. panic</a:t>
            </a:r>
            <a:endParaRPr b="1" sz="1800"/>
          </a:p>
          <a:p>
            <a:pPr indent="0" lvl="0" marL="0" rtl="0" algn="just">
              <a:lnSpc>
                <a:spcPct val="115000"/>
              </a:lnSpc>
              <a:spcBef>
                <a:spcPts val="1200"/>
              </a:spcBef>
              <a:spcAft>
                <a:spcPts val="1200"/>
              </a:spcAft>
              <a:buSzPts val="1300"/>
              <a:buNone/>
            </a:pPr>
            <a:r>
              <a:rPr b="1" i="1" lang="es" sz="1500" u="sng"/>
              <a:t>panic</a:t>
            </a:r>
            <a:r>
              <a:rPr lang="es" sz="1500"/>
              <a:t> es un macro en Rust que se utiliza para manejar situaciones donde el programa encuentra un error crítico del que no puede recuperarse. Cuando se llama a </a:t>
            </a:r>
            <a:r>
              <a:rPr b="1" i="1" lang="es" sz="1500" u="sng"/>
              <a:t>panic</a:t>
            </a:r>
            <a:r>
              <a:rPr lang="es" sz="1500"/>
              <a:t>, el programa se detiene inmediatamente, limpia el stack (destruye cualquier dato pendiente) y luego termina.</a:t>
            </a:r>
            <a:endParaRPr/>
          </a:p>
        </p:txBody>
      </p:sp>
      <p:pic>
        <p:nvPicPr>
          <p:cNvPr id="315" name="Google Shape;315;g2dd1a2f4a62_0_63"/>
          <p:cNvPicPr preferRelativeResize="0"/>
          <p:nvPr/>
        </p:nvPicPr>
        <p:blipFill rotWithShape="1">
          <a:blip r:embed="rId3">
            <a:alphaModFix/>
          </a:blip>
          <a:srcRect b="0" l="0" r="0" t="0"/>
          <a:stretch/>
        </p:blipFill>
        <p:spPr>
          <a:xfrm>
            <a:off x="2195100" y="2254025"/>
            <a:ext cx="5181600" cy="2362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2dd1a2f4a62_0_68"/>
          <p:cNvSpPr txBox="1"/>
          <p:nvPr>
            <p:ph type="title"/>
          </p:nvPr>
        </p:nvSpPr>
        <p:spPr>
          <a:xfrm>
            <a:off x="1297500" y="379050"/>
            <a:ext cx="7038900" cy="620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SzPct val="136263"/>
              <a:buNone/>
            </a:pPr>
            <a:r>
              <a:rPr b="1" lang="es" sz="1957">
                <a:latin typeface="Lato"/>
                <a:ea typeface="Lato"/>
                <a:cs typeface="Lato"/>
                <a:sym typeface="Lato"/>
              </a:rPr>
              <a:t>Uso de Crates en Rust</a:t>
            </a:r>
            <a:endParaRPr b="1" sz="1957">
              <a:latin typeface="Lato"/>
              <a:ea typeface="Lato"/>
              <a:cs typeface="Lato"/>
              <a:sym typeface="Lato"/>
            </a:endParaRPr>
          </a:p>
          <a:p>
            <a:pPr indent="0" lvl="0" marL="0" rtl="0" algn="l">
              <a:lnSpc>
                <a:spcPct val="125000"/>
              </a:lnSpc>
              <a:spcBef>
                <a:spcPts val="1400"/>
              </a:spcBef>
              <a:spcAft>
                <a:spcPts val="0"/>
              </a:spcAft>
              <a:buSzPct val="136263"/>
              <a:buNone/>
            </a:pPr>
            <a:r>
              <a:t/>
            </a:r>
            <a:endParaRPr b="1" sz="1957">
              <a:latin typeface="Lato"/>
              <a:ea typeface="Lato"/>
              <a:cs typeface="Lato"/>
              <a:sym typeface="Lato"/>
            </a:endParaRPr>
          </a:p>
          <a:p>
            <a:pPr indent="0" lvl="0" marL="0" rtl="0" algn="l">
              <a:lnSpc>
                <a:spcPct val="100000"/>
              </a:lnSpc>
              <a:spcBef>
                <a:spcPts val="400"/>
              </a:spcBef>
              <a:spcAft>
                <a:spcPts val="0"/>
              </a:spcAft>
              <a:buSzPct val="136263"/>
              <a:buNone/>
            </a:pPr>
            <a:r>
              <a:t/>
            </a:r>
            <a:endParaRPr b="1" sz="1957">
              <a:latin typeface="Lato"/>
              <a:ea typeface="Lato"/>
              <a:cs typeface="Lato"/>
              <a:sym typeface="Lato"/>
            </a:endParaRPr>
          </a:p>
        </p:txBody>
      </p:sp>
      <p:sp>
        <p:nvSpPr>
          <p:cNvPr id="321" name="Google Shape;321;g2dd1a2f4a62_0_68"/>
          <p:cNvSpPr txBox="1"/>
          <p:nvPr>
            <p:ph idx="1" type="body"/>
          </p:nvPr>
        </p:nvSpPr>
        <p:spPr>
          <a:xfrm>
            <a:off x="1297500" y="862175"/>
            <a:ext cx="7038900" cy="16215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300"/>
              <a:buNone/>
            </a:pPr>
            <a:r>
              <a:rPr lang="es" sz="1500"/>
              <a:t>En Rust, Cargo es la herramienta oficial para gestionar proyectos, construir código, ejecutar pruebas, y manejar dependencias (paquetes) conocidos como crates. Los crates son paquetes de código reutilizable que pueden incluir funciones, estructuras, módulos y más, y se pueden compartir a través del registro de crates llamado crates.io.</a:t>
            </a:r>
            <a:endParaRPr/>
          </a:p>
        </p:txBody>
      </p:sp>
      <p:pic>
        <p:nvPicPr>
          <p:cNvPr id="322" name="Google Shape;322;g2dd1a2f4a62_0_68"/>
          <p:cNvPicPr preferRelativeResize="0"/>
          <p:nvPr/>
        </p:nvPicPr>
        <p:blipFill rotWithShape="1">
          <a:blip r:embed="rId3">
            <a:alphaModFix/>
          </a:blip>
          <a:srcRect b="0" l="0" r="0" t="0"/>
          <a:stretch/>
        </p:blipFill>
        <p:spPr>
          <a:xfrm>
            <a:off x="2091450" y="2424775"/>
            <a:ext cx="5084475" cy="2292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5ef7e02078_0_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Ejemplos Aplicados en la Vida Real – Uso de Rust</a:t>
            </a:r>
            <a:endParaRPr/>
          </a:p>
        </p:txBody>
      </p:sp>
      <p:graphicFrame>
        <p:nvGraphicFramePr>
          <p:cNvPr id="328" name="Google Shape;328;g35ef7e02078_0_5"/>
          <p:cNvGraphicFramePr/>
          <p:nvPr/>
        </p:nvGraphicFramePr>
        <p:xfrm>
          <a:off x="960525" y="1154100"/>
          <a:ext cx="3000000" cy="3000000"/>
        </p:xfrm>
        <a:graphic>
          <a:graphicData uri="http://schemas.openxmlformats.org/drawingml/2006/table">
            <a:tbl>
              <a:tblPr>
                <a:noFill/>
                <a:tableStyleId>{5AAD3A0A-8F75-4567-9D33-F744580537F4}</a:tableStyleId>
              </a:tblPr>
              <a:tblGrid>
                <a:gridCol w="2174200"/>
                <a:gridCol w="5742525"/>
              </a:tblGrid>
              <a:tr h="346300">
                <a:tc>
                  <a:txBody>
                    <a:bodyPr/>
                    <a:lstStyle/>
                    <a:p>
                      <a:pPr indent="0" lvl="0" marL="0" rtl="0" algn="ctr">
                        <a:lnSpc>
                          <a:spcPct val="115000"/>
                        </a:lnSpc>
                        <a:spcBef>
                          <a:spcPts val="0"/>
                        </a:spcBef>
                        <a:spcAft>
                          <a:spcPts val="0"/>
                        </a:spcAft>
                        <a:buNone/>
                      </a:pPr>
                      <a:r>
                        <a:rPr b="1" lang="es" sz="1100">
                          <a:solidFill>
                            <a:schemeClr val="lt1"/>
                          </a:solidFill>
                        </a:rPr>
                        <a:t>Área / Industria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 sz="1100">
                          <a:solidFill>
                            <a:schemeClr val="lt1"/>
                          </a:solidFill>
                        </a:rPr>
                        <a:t>Aplicación de Rust</a:t>
                      </a:r>
                      <a:endParaRPr b="1" sz="1100">
                        <a:solidFill>
                          <a:schemeClr val="lt1"/>
                        </a:solidFill>
                      </a:endParaRPr>
                    </a:p>
                  </a:txBody>
                  <a:tcPr marT="91425" marB="91425" marR="91425" marL="91425"/>
                </a:tc>
              </a:tr>
              <a:tr h="558325">
                <a:tc>
                  <a:txBody>
                    <a:bodyPr/>
                    <a:lstStyle/>
                    <a:p>
                      <a:pPr indent="0" lvl="0" marL="0" rtl="0" algn="l">
                        <a:spcBef>
                          <a:spcPts val="0"/>
                        </a:spcBef>
                        <a:spcAft>
                          <a:spcPts val="0"/>
                        </a:spcAft>
                        <a:buNone/>
                      </a:pPr>
                      <a:r>
                        <a:rPr b="1" lang="es" sz="1100">
                          <a:solidFill>
                            <a:schemeClr val="lt1"/>
                          </a:solidFill>
                        </a:rPr>
                        <a:t>Sistemas embebidos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Rust se utiliza para desarrollar firmware seguro y eficiente en dispositivos como drones, routers y sensores.</a:t>
                      </a:r>
                      <a:endParaRPr>
                        <a:solidFill>
                          <a:schemeClr val="lt1"/>
                        </a:solidFill>
                      </a:endParaRPr>
                    </a:p>
                  </a:txBody>
                  <a:tcPr marT="91425" marB="91425" marR="91425" marL="91425"/>
                </a:tc>
              </a:tr>
              <a:tr h="558325">
                <a:tc>
                  <a:txBody>
                    <a:bodyPr/>
                    <a:lstStyle/>
                    <a:p>
                      <a:pPr indent="0" lvl="0" marL="0" rtl="0" algn="l">
                        <a:spcBef>
                          <a:spcPts val="0"/>
                        </a:spcBef>
                        <a:spcAft>
                          <a:spcPts val="0"/>
                        </a:spcAft>
                        <a:buNone/>
                      </a:pPr>
                      <a:r>
                        <a:rPr b="1" lang="es" sz="1100">
                          <a:solidFill>
                            <a:schemeClr val="lt1"/>
                          </a:solidFill>
                        </a:rPr>
                        <a:t>Seguridad informática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Empresas como Cloudflare y Microsoft utilizan Rust para construir componentes seguros en sus plataformas.</a:t>
                      </a:r>
                      <a:endParaRPr>
                        <a:solidFill>
                          <a:schemeClr val="lt1"/>
                        </a:solidFill>
                      </a:endParaRPr>
                    </a:p>
                  </a:txBody>
                  <a:tcPr marT="91425" marB="91425" marR="91425" marL="91425"/>
                </a:tc>
              </a:tr>
              <a:tr h="487650">
                <a:tc>
                  <a:txBody>
                    <a:bodyPr/>
                    <a:lstStyle/>
                    <a:p>
                      <a:pPr indent="0" lvl="0" marL="0" rtl="0" algn="l">
                        <a:spcBef>
                          <a:spcPts val="0"/>
                        </a:spcBef>
                        <a:spcAft>
                          <a:spcPts val="0"/>
                        </a:spcAft>
                        <a:buNone/>
                      </a:pPr>
                      <a:r>
                        <a:rPr b="1" lang="es" sz="1100">
                          <a:solidFill>
                            <a:schemeClr val="lt1"/>
                          </a:solidFill>
                        </a:rPr>
                        <a:t>Sistemas operativos y herramientas base</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sz="1100">
                          <a:solidFill>
                            <a:schemeClr val="lt1"/>
                          </a:solidFill>
                        </a:rPr>
                        <a:t>El proyecto</a:t>
                      </a:r>
                      <a:r>
                        <a:rPr lang="es" sz="1100">
                          <a:solidFill>
                            <a:schemeClr val="lt1"/>
                          </a:solidFill>
                          <a:uFill>
                            <a:noFill/>
                          </a:uFill>
                          <a:hlinkClick r:id="rId3">
                            <a:extLst>
                              <a:ext uri="{A12FA001-AC4F-418D-AE19-62706E023703}">
                                <ahyp:hlinkClr val="tx"/>
                              </a:ext>
                            </a:extLst>
                          </a:hlinkClick>
                        </a:rPr>
                        <a:t> </a:t>
                      </a:r>
                      <a:r>
                        <a:rPr lang="es" sz="1100" u="sng">
                          <a:solidFill>
                            <a:schemeClr val="lt1"/>
                          </a:solidFill>
                          <a:hlinkClick r:id="rId4">
                            <a:extLst>
                              <a:ext uri="{A12FA001-AC4F-418D-AE19-62706E023703}">
                                <ahyp:hlinkClr val="tx"/>
                              </a:ext>
                            </a:extLst>
                          </a:hlinkClick>
                        </a:rPr>
                        <a:t>Redox OS</a:t>
                      </a:r>
                      <a:r>
                        <a:rPr lang="es" sz="1100">
                          <a:solidFill>
                            <a:schemeClr val="lt1"/>
                          </a:solidFill>
                        </a:rPr>
                        <a:t> es un sistema operativo escrito en Rust, diseñado con seguridad por defecto.</a:t>
                      </a:r>
                      <a:endParaRPr sz="1100">
                        <a:solidFill>
                          <a:schemeClr val="lt1"/>
                        </a:solidFill>
                      </a:endParaRPr>
                    </a:p>
                  </a:txBody>
                  <a:tcPr marT="91425" marB="91425" marR="91425" marL="91425"/>
                </a:tc>
              </a:tr>
              <a:tr h="558325">
                <a:tc>
                  <a:txBody>
                    <a:bodyPr/>
                    <a:lstStyle/>
                    <a:p>
                      <a:pPr indent="0" lvl="0" marL="0" rtl="0" algn="l">
                        <a:spcBef>
                          <a:spcPts val="0"/>
                        </a:spcBef>
                        <a:spcAft>
                          <a:spcPts val="0"/>
                        </a:spcAft>
                        <a:buNone/>
                      </a:pPr>
                      <a:r>
                        <a:rPr b="1" lang="es" sz="1100">
                          <a:solidFill>
                            <a:schemeClr val="lt1"/>
                          </a:solidFill>
                        </a:rPr>
                        <a:t>Criptomonedas y blockchain</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Redes como Solana usan Rust para escribir smart contracts y nodos de validación por su eficiencia y seguridad.</a:t>
                      </a:r>
                      <a:endParaRPr>
                        <a:solidFill>
                          <a:schemeClr val="lt1"/>
                        </a:solidFill>
                      </a:endParaRPr>
                    </a:p>
                  </a:txBody>
                  <a:tcPr marT="91425" marB="91425" marR="91425" marL="91425"/>
                </a:tc>
              </a:tr>
              <a:tr h="558325">
                <a:tc>
                  <a:txBody>
                    <a:bodyPr/>
                    <a:lstStyle/>
                    <a:p>
                      <a:pPr indent="0" lvl="0" marL="0" rtl="0" algn="l">
                        <a:spcBef>
                          <a:spcPts val="0"/>
                        </a:spcBef>
                        <a:spcAft>
                          <a:spcPts val="0"/>
                        </a:spcAft>
                        <a:buNone/>
                      </a:pPr>
                      <a:r>
                        <a:rPr b="1" lang="es" sz="1100">
                          <a:solidFill>
                            <a:schemeClr val="lt1"/>
                          </a:solidFill>
                        </a:rPr>
                        <a:t>Navegadores web</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Mozilla usó Rust para desarrollar partes críticas del motor de renderizado de Firefox (Servo).</a:t>
                      </a:r>
                      <a:endParaRPr>
                        <a:solidFill>
                          <a:schemeClr val="lt1"/>
                        </a:solidFill>
                      </a:endParaRPr>
                    </a:p>
                  </a:txBody>
                  <a:tcPr marT="91425" marB="91425" marR="91425" marL="91425"/>
                </a:tc>
              </a:tr>
              <a:tr h="487650">
                <a:tc>
                  <a:txBody>
                    <a:bodyPr/>
                    <a:lstStyle/>
                    <a:p>
                      <a:pPr indent="0" lvl="0" marL="0" rtl="0" algn="l">
                        <a:spcBef>
                          <a:spcPts val="0"/>
                        </a:spcBef>
                        <a:spcAft>
                          <a:spcPts val="0"/>
                        </a:spcAft>
                        <a:buNone/>
                      </a:pPr>
                      <a:r>
                        <a:rPr b="1" lang="es" sz="1100">
                          <a:solidFill>
                            <a:schemeClr val="lt1"/>
                          </a:solidFill>
                        </a:rPr>
                        <a:t>Desarrollo de CLI Tools y servicios de backend</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sz="1100">
                          <a:solidFill>
                            <a:schemeClr val="lt1"/>
                          </a:solidFill>
                        </a:rPr>
                        <a:t>Herramientas modernas como </a:t>
                      </a:r>
                      <a:r>
                        <a:rPr lang="es" sz="1100">
                          <a:solidFill>
                            <a:schemeClr val="lt1"/>
                          </a:solidFill>
                          <a:latin typeface="Roboto Mono"/>
                          <a:ea typeface="Roboto Mono"/>
                          <a:cs typeface="Roboto Mono"/>
                          <a:sym typeface="Roboto Mono"/>
                        </a:rPr>
                        <a:t>ripgrep</a:t>
                      </a:r>
                      <a:r>
                        <a:rPr lang="es" sz="1100">
                          <a:solidFill>
                            <a:schemeClr val="lt1"/>
                          </a:solidFill>
                        </a:rPr>
                        <a:t>, </a:t>
                      </a:r>
                      <a:r>
                        <a:rPr lang="es" sz="1100">
                          <a:solidFill>
                            <a:schemeClr val="lt1"/>
                          </a:solidFill>
                          <a:latin typeface="Roboto Mono"/>
                          <a:ea typeface="Roboto Mono"/>
                          <a:cs typeface="Roboto Mono"/>
                          <a:sym typeface="Roboto Mono"/>
                        </a:rPr>
                        <a:t>exa</a:t>
                      </a:r>
                      <a:r>
                        <a:rPr lang="es" sz="1100">
                          <a:solidFill>
                            <a:schemeClr val="lt1"/>
                          </a:solidFill>
                        </a:rPr>
                        <a:t> y servidores API de alto rendimiento son escritos en Rust por su velocidad y baja huella de memoria.</a:t>
                      </a:r>
                      <a:endParaRPr sz="1100">
                        <a:solidFill>
                          <a:schemeClr val="lt1"/>
                        </a:solidFill>
                      </a:endParaRPr>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5ef7e02078_0_0"/>
          <p:cNvSpPr txBox="1"/>
          <p:nvPr>
            <p:ph type="title"/>
          </p:nvPr>
        </p:nvSpPr>
        <p:spPr>
          <a:xfrm>
            <a:off x="1297500" y="284325"/>
            <a:ext cx="7483500" cy="592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Valores y Actitudes Desarrolladas al Aprender Rust</a:t>
            </a:r>
            <a:endParaRPr/>
          </a:p>
        </p:txBody>
      </p:sp>
      <p:graphicFrame>
        <p:nvGraphicFramePr>
          <p:cNvPr id="334" name="Google Shape;334;g35ef7e02078_0_0"/>
          <p:cNvGraphicFramePr/>
          <p:nvPr/>
        </p:nvGraphicFramePr>
        <p:xfrm>
          <a:off x="1255400" y="1036200"/>
          <a:ext cx="3000000" cy="3000000"/>
        </p:xfrm>
        <a:graphic>
          <a:graphicData uri="http://schemas.openxmlformats.org/drawingml/2006/table">
            <a:tbl>
              <a:tblPr>
                <a:noFill/>
                <a:tableStyleId>{5AAD3A0A-8F75-4567-9D33-F744580537F4}</a:tableStyleId>
              </a:tblPr>
              <a:tblGrid>
                <a:gridCol w="1502100"/>
                <a:gridCol w="6169100"/>
              </a:tblGrid>
              <a:tr h="356000">
                <a:tc>
                  <a:txBody>
                    <a:bodyPr/>
                    <a:lstStyle/>
                    <a:p>
                      <a:pPr indent="0" lvl="0" marL="0" rtl="0" algn="ctr">
                        <a:lnSpc>
                          <a:spcPct val="115000"/>
                        </a:lnSpc>
                        <a:spcBef>
                          <a:spcPts val="0"/>
                        </a:spcBef>
                        <a:spcAft>
                          <a:spcPts val="0"/>
                        </a:spcAft>
                        <a:buNone/>
                      </a:pPr>
                      <a:r>
                        <a:rPr b="1" lang="es" sz="1100">
                          <a:solidFill>
                            <a:schemeClr val="lt1"/>
                          </a:solidFill>
                        </a:rPr>
                        <a:t>Valor / Actitud</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 sz="1100">
                          <a:solidFill>
                            <a:schemeClr val="lt1"/>
                          </a:solidFill>
                        </a:rPr>
                        <a:t>Aplicación en el contexto del aprendizaje y desarrollo con Rust</a:t>
                      </a:r>
                      <a:endParaRPr b="1" sz="1100">
                        <a:solidFill>
                          <a:schemeClr val="lt1"/>
                        </a:solidFill>
                      </a:endParaRPr>
                    </a:p>
                  </a:txBody>
                  <a:tcPr marT="91425" marB="91425" marR="91425" marL="91425"/>
                </a:tc>
              </a:tr>
              <a:tr h="573975">
                <a:tc>
                  <a:txBody>
                    <a:bodyPr/>
                    <a:lstStyle/>
                    <a:p>
                      <a:pPr indent="0" lvl="0" marL="0" rtl="0" algn="l">
                        <a:spcBef>
                          <a:spcPts val="0"/>
                        </a:spcBef>
                        <a:spcAft>
                          <a:spcPts val="0"/>
                        </a:spcAft>
                        <a:buNone/>
                      </a:pPr>
                      <a:r>
                        <a:rPr b="1" lang="es" sz="1100">
                          <a:solidFill>
                            <a:schemeClr val="lt1"/>
                          </a:solidFill>
                        </a:rPr>
                        <a:t>Disciplina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Rust requiere una comprensión rigurosa de conceptos como ownership y lifetimes, lo cual exige atención constante.</a:t>
                      </a:r>
                      <a:endParaRPr>
                        <a:solidFill>
                          <a:schemeClr val="lt1"/>
                        </a:solidFill>
                      </a:endParaRPr>
                    </a:p>
                  </a:txBody>
                  <a:tcPr marT="91425" marB="91425" marR="91425" marL="91425"/>
                </a:tc>
              </a:tr>
              <a:tr h="573975">
                <a:tc>
                  <a:txBody>
                    <a:bodyPr/>
                    <a:lstStyle/>
                    <a:p>
                      <a:pPr indent="0" lvl="0" marL="0" rtl="0" algn="l">
                        <a:spcBef>
                          <a:spcPts val="0"/>
                        </a:spcBef>
                        <a:spcAft>
                          <a:spcPts val="0"/>
                        </a:spcAft>
                        <a:buNone/>
                      </a:pPr>
                      <a:r>
                        <a:rPr b="1" lang="es" sz="1100">
                          <a:solidFill>
                            <a:schemeClr val="lt1"/>
                          </a:solidFill>
                        </a:rPr>
                        <a:t>Responsabilidad</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Su enfoque en la seguridad de memoria sin garbage collector promueve un pensamiento responsable sobre recursos.</a:t>
                      </a:r>
                      <a:endParaRPr>
                        <a:solidFill>
                          <a:schemeClr val="lt1"/>
                        </a:solidFill>
                      </a:endParaRPr>
                    </a:p>
                  </a:txBody>
                  <a:tcPr marT="91425" marB="91425" marR="91425" marL="91425"/>
                </a:tc>
              </a:tr>
              <a:tr h="573975">
                <a:tc>
                  <a:txBody>
                    <a:bodyPr/>
                    <a:lstStyle/>
                    <a:p>
                      <a:pPr indent="0" lvl="0" marL="0" rtl="0" algn="l">
                        <a:spcBef>
                          <a:spcPts val="0"/>
                        </a:spcBef>
                        <a:spcAft>
                          <a:spcPts val="0"/>
                        </a:spcAft>
                        <a:buNone/>
                      </a:pPr>
                      <a:r>
                        <a:rPr b="1" lang="es" sz="1100">
                          <a:solidFill>
                            <a:schemeClr val="lt1"/>
                          </a:solidFill>
                        </a:rPr>
                        <a:t>Precisión</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El sistema de tipos de Rust obliga a escribir código exacto y bien definido, lo cual mejora la calidad general del desarrollo.</a:t>
                      </a:r>
                      <a:endParaRPr>
                        <a:solidFill>
                          <a:schemeClr val="lt1"/>
                        </a:solidFill>
                      </a:endParaRPr>
                    </a:p>
                  </a:txBody>
                  <a:tcPr marT="91425" marB="91425" marR="91425" marL="91425"/>
                </a:tc>
              </a:tr>
              <a:tr h="573975">
                <a:tc>
                  <a:txBody>
                    <a:bodyPr/>
                    <a:lstStyle/>
                    <a:p>
                      <a:pPr indent="0" lvl="0" marL="0" rtl="0" algn="l">
                        <a:spcBef>
                          <a:spcPts val="0"/>
                        </a:spcBef>
                        <a:spcAft>
                          <a:spcPts val="0"/>
                        </a:spcAft>
                        <a:buNone/>
                      </a:pPr>
                      <a:r>
                        <a:rPr b="1" lang="es" sz="1100">
                          <a:solidFill>
                            <a:schemeClr val="lt1"/>
                          </a:solidFill>
                        </a:rPr>
                        <a:t>Autonomía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Aprender Rust implica enfrentarse a nuevos paradigmas y resolver problemas sin depender de herramientas automáticas.</a:t>
                      </a:r>
                      <a:endParaRPr>
                        <a:solidFill>
                          <a:schemeClr val="lt1"/>
                        </a:solidFill>
                      </a:endParaRPr>
                    </a:p>
                  </a:txBody>
                  <a:tcPr marT="91425" marB="91425" marR="91425" marL="91425"/>
                </a:tc>
              </a:tr>
              <a:tr h="573975">
                <a:tc>
                  <a:txBody>
                    <a:bodyPr/>
                    <a:lstStyle/>
                    <a:p>
                      <a:pPr indent="0" lvl="0" marL="0" rtl="0" algn="l">
                        <a:spcBef>
                          <a:spcPts val="0"/>
                        </a:spcBef>
                        <a:spcAft>
                          <a:spcPts val="0"/>
                        </a:spcAft>
                        <a:buNone/>
                      </a:pPr>
                      <a:r>
                        <a:rPr b="1" lang="es" sz="1100">
                          <a:solidFill>
                            <a:schemeClr val="lt1"/>
                          </a:solidFill>
                        </a:rPr>
                        <a:t>Pensamiento crítico</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Resolver errores de compilación y entender por qué suceden fomenta el análisis profundo y la mejora continua.</a:t>
                      </a:r>
                      <a:endParaRPr>
                        <a:solidFill>
                          <a:schemeClr val="lt1"/>
                        </a:solidFill>
                      </a:endParaRPr>
                    </a:p>
                  </a:txBody>
                  <a:tcPr marT="91425" marB="91425" marR="91425" marL="91425"/>
                </a:tc>
              </a:tr>
              <a:tr h="573975">
                <a:tc>
                  <a:txBody>
                    <a:bodyPr/>
                    <a:lstStyle/>
                    <a:p>
                      <a:pPr indent="0" lvl="0" marL="0" rtl="0" algn="l">
                        <a:spcBef>
                          <a:spcPts val="0"/>
                        </a:spcBef>
                        <a:spcAft>
                          <a:spcPts val="0"/>
                        </a:spcAft>
                        <a:buNone/>
                      </a:pPr>
                      <a:r>
                        <a:rPr b="1" lang="es" sz="1100">
                          <a:solidFill>
                            <a:schemeClr val="lt1"/>
                          </a:solidFill>
                        </a:rPr>
                        <a:t>Compromiso con la calidad</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El diseño de Rust promueve una mentalidad centrada en crear código limpio, seguro y sostenible desde el inicio.</a:t>
                      </a:r>
                      <a:endParaRPr>
                        <a:solidFill>
                          <a:schemeClr val="lt1"/>
                        </a:solidFill>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5c6a60a551_0_27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Conclusiones </a:t>
            </a:r>
            <a:endParaRPr/>
          </a:p>
        </p:txBody>
      </p:sp>
      <p:sp>
        <p:nvSpPr>
          <p:cNvPr id="340" name="Google Shape;340;g35c6a60a551_0_272"/>
          <p:cNvSpPr txBox="1"/>
          <p:nvPr>
            <p:ph idx="1" type="body"/>
          </p:nvPr>
        </p:nvSpPr>
        <p:spPr>
          <a:xfrm>
            <a:off x="1297500" y="1030850"/>
            <a:ext cx="7038900" cy="3447900"/>
          </a:xfrm>
          <a:prstGeom prst="rect">
            <a:avLst/>
          </a:prstGeom>
        </p:spPr>
        <p:txBody>
          <a:bodyPr anchorCtr="0" anchor="t" bIns="91425" lIns="91425" spcFirstLastPara="1" rIns="91425" wrap="square" tIns="91425">
            <a:normAutofit fontScale="70000" lnSpcReduction="10000"/>
          </a:bodyPr>
          <a:lstStyle/>
          <a:p>
            <a:pPr indent="-293265" lvl="0" marL="457200" rtl="0" algn="just">
              <a:spcBef>
                <a:spcPts val="0"/>
              </a:spcBef>
              <a:spcAft>
                <a:spcPts val="0"/>
              </a:spcAft>
              <a:buSzPct val="100000"/>
              <a:buFont typeface="Arial"/>
              <a:buChar char="●"/>
            </a:pPr>
            <a:r>
              <a:rPr b="1" lang="es" sz="1454">
                <a:latin typeface="Arial"/>
                <a:ea typeface="Arial"/>
                <a:cs typeface="Arial"/>
                <a:sym typeface="Arial"/>
              </a:rPr>
              <a:t>Alto rendimiento con seguridad en memoria:</a:t>
            </a:r>
            <a:br>
              <a:rPr b="1" lang="es" sz="1454">
                <a:latin typeface="Arial"/>
                <a:ea typeface="Arial"/>
                <a:cs typeface="Arial"/>
                <a:sym typeface="Arial"/>
              </a:rPr>
            </a:br>
            <a:r>
              <a:rPr lang="es" sz="1454">
                <a:latin typeface="Arial"/>
                <a:ea typeface="Arial"/>
                <a:cs typeface="Arial"/>
                <a:sym typeface="Arial"/>
              </a:rPr>
              <a:t> Rust permite desarrollar servicios y herramientas de bajo nivel, como runtimes de contenedores o sistemas embebidos, sin sacrificar velocidad ni seguridad, gracias a su sistema de ownership y tipado fuerte.</a:t>
            </a:r>
            <a:br>
              <a:rPr lang="es" sz="1454">
                <a:latin typeface="Arial"/>
                <a:ea typeface="Arial"/>
                <a:cs typeface="Arial"/>
                <a:sym typeface="Arial"/>
              </a:rPr>
            </a:br>
            <a:endParaRPr sz="1454">
              <a:latin typeface="Arial"/>
              <a:ea typeface="Arial"/>
              <a:cs typeface="Arial"/>
              <a:sym typeface="Arial"/>
            </a:endParaRPr>
          </a:p>
          <a:p>
            <a:pPr indent="-293265" lvl="0" marL="457200" rtl="0" algn="just">
              <a:spcBef>
                <a:spcPts val="0"/>
              </a:spcBef>
              <a:spcAft>
                <a:spcPts val="0"/>
              </a:spcAft>
              <a:buSzPct val="100000"/>
              <a:buChar char="●"/>
            </a:pPr>
            <a:r>
              <a:rPr b="1" lang="es" sz="1454">
                <a:latin typeface="Arial"/>
                <a:ea typeface="Arial"/>
                <a:cs typeface="Arial"/>
                <a:sym typeface="Arial"/>
              </a:rPr>
              <a:t>Ideal para herramientas de infraestructura moderna:</a:t>
            </a:r>
            <a:br>
              <a:rPr b="1" lang="es" sz="1454">
                <a:latin typeface="Arial"/>
                <a:ea typeface="Arial"/>
                <a:cs typeface="Arial"/>
                <a:sym typeface="Arial"/>
              </a:rPr>
            </a:br>
            <a:r>
              <a:rPr lang="es" sz="1454">
                <a:latin typeface="Arial"/>
                <a:ea typeface="Arial"/>
                <a:cs typeface="Arial"/>
                <a:sym typeface="Arial"/>
              </a:rPr>
              <a:t> Muchas soluciones del ecosistema cloud-native están migrando o construyéndose en Rust (como </a:t>
            </a:r>
            <a:r>
              <a:rPr lang="es" sz="1454">
                <a:latin typeface="Roboto Mono"/>
                <a:ea typeface="Roboto Mono"/>
                <a:cs typeface="Roboto Mono"/>
                <a:sym typeface="Roboto Mono"/>
              </a:rPr>
              <a:t>krustlet</a:t>
            </a:r>
            <a:r>
              <a:rPr lang="es" sz="1454">
                <a:latin typeface="Arial"/>
                <a:ea typeface="Arial"/>
                <a:cs typeface="Arial"/>
                <a:sym typeface="Arial"/>
              </a:rPr>
              <a:t>, </a:t>
            </a:r>
            <a:r>
              <a:rPr lang="es" sz="1454">
                <a:latin typeface="Roboto Mono"/>
                <a:ea typeface="Roboto Mono"/>
                <a:cs typeface="Roboto Mono"/>
                <a:sym typeface="Roboto Mono"/>
              </a:rPr>
              <a:t>wasmtime</a:t>
            </a:r>
            <a:r>
              <a:rPr lang="es" sz="1454">
                <a:latin typeface="Arial"/>
                <a:ea typeface="Arial"/>
                <a:cs typeface="Arial"/>
                <a:sym typeface="Arial"/>
              </a:rPr>
              <a:t>, y </a:t>
            </a:r>
            <a:r>
              <a:rPr lang="es" sz="1454">
                <a:latin typeface="Roboto Mono"/>
                <a:ea typeface="Roboto Mono"/>
                <a:cs typeface="Roboto Mono"/>
                <a:sym typeface="Roboto Mono"/>
              </a:rPr>
              <a:t>bollard</a:t>
            </a:r>
            <a:r>
              <a:rPr lang="es" sz="1454">
                <a:latin typeface="Arial"/>
                <a:ea typeface="Arial"/>
                <a:cs typeface="Arial"/>
                <a:sym typeface="Arial"/>
              </a:rPr>
              <a:t>), demostrando su solidez para el desarrollo de sistemas críticos.</a:t>
            </a:r>
            <a:br>
              <a:rPr lang="es" sz="1454">
                <a:latin typeface="Arial"/>
                <a:ea typeface="Arial"/>
                <a:cs typeface="Arial"/>
                <a:sym typeface="Arial"/>
              </a:rPr>
            </a:br>
            <a:endParaRPr sz="1454">
              <a:latin typeface="Arial"/>
              <a:ea typeface="Arial"/>
              <a:cs typeface="Arial"/>
              <a:sym typeface="Arial"/>
            </a:endParaRPr>
          </a:p>
          <a:p>
            <a:pPr indent="-293265" lvl="0" marL="457200" rtl="0" algn="just">
              <a:spcBef>
                <a:spcPts val="0"/>
              </a:spcBef>
              <a:spcAft>
                <a:spcPts val="0"/>
              </a:spcAft>
              <a:buSzPct val="100000"/>
              <a:buFont typeface="Arial"/>
              <a:buChar char="●"/>
            </a:pPr>
            <a:r>
              <a:rPr b="1" lang="es" sz="1454">
                <a:latin typeface="Arial"/>
                <a:ea typeface="Arial"/>
                <a:cs typeface="Arial"/>
                <a:sym typeface="Arial"/>
              </a:rPr>
              <a:t>Eficiencia en recursos:</a:t>
            </a:r>
            <a:br>
              <a:rPr b="1" lang="es" sz="1454">
                <a:latin typeface="Arial"/>
                <a:ea typeface="Arial"/>
                <a:cs typeface="Arial"/>
                <a:sym typeface="Arial"/>
              </a:rPr>
            </a:br>
            <a:r>
              <a:rPr lang="es" sz="1454">
                <a:latin typeface="Arial"/>
                <a:ea typeface="Arial"/>
                <a:cs typeface="Arial"/>
                <a:sym typeface="Arial"/>
              </a:rPr>
              <a:t> Rust produce binarios livianos y sin garbage collector, lo que lo hace ideal para contenedores donde el consumo de recursos debe ser mínimo.</a:t>
            </a:r>
            <a:br>
              <a:rPr lang="es" sz="1454">
                <a:latin typeface="Arial"/>
                <a:ea typeface="Arial"/>
                <a:cs typeface="Arial"/>
                <a:sym typeface="Arial"/>
              </a:rPr>
            </a:br>
            <a:endParaRPr sz="1454">
              <a:latin typeface="Arial"/>
              <a:ea typeface="Arial"/>
              <a:cs typeface="Arial"/>
              <a:sym typeface="Arial"/>
            </a:endParaRPr>
          </a:p>
          <a:p>
            <a:pPr indent="-293265" lvl="0" marL="457200" rtl="0" algn="just">
              <a:spcBef>
                <a:spcPts val="0"/>
              </a:spcBef>
              <a:spcAft>
                <a:spcPts val="0"/>
              </a:spcAft>
              <a:buSzPct val="100000"/>
              <a:buFont typeface="Arial"/>
              <a:buChar char="●"/>
            </a:pPr>
            <a:r>
              <a:rPr b="1" lang="es" sz="1454">
                <a:latin typeface="Arial"/>
                <a:ea typeface="Arial"/>
                <a:cs typeface="Arial"/>
                <a:sym typeface="Arial"/>
              </a:rPr>
              <a:t>Curva de aprendizaje pronunciada, pero gratificante:</a:t>
            </a:r>
            <a:br>
              <a:rPr b="1" lang="es" sz="1454">
                <a:latin typeface="Arial"/>
                <a:ea typeface="Arial"/>
                <a:cs typeface="Arial"/>
                <a:sym typeface="Arial"/>
              </a:rPr>
            </a:br>
            <a:r>
              <a:rPr lang="es" sz="1454">
                <a:latin typeface="Arial"/>
                <a:ea typeface="Arial"/>
                <a:cs typeface="Arial"/>
                <a:sym typeface="Arial"/>
              </a:rPr>
              <a:t> Aunque tiene una sintaxis rigurosa, dominar Rust fortalece las competencias de desarrollo seguro, lo cual es fundamental para sistemas distribuidos, redes y motores de contenedores.</a:t>
            </a:r>
            <a:br>
              <a:rPr lang="es" sz="1454">
                <a:latin typeface="Arial"/>
                <a:ea typeface="Arial"/>
                <a:cs typeface="Arial"/>
                <a:sym typeface="Arial"/>
              </a:rPr>
            </a:br>
            <a:endParaRPr sz="1454">
              <a:latin typeface="Arial"/>
              <a:ea typeface="Arial"/>
              <a:cs typeface="Arial"/>
              <a:sym typeface="Arial"/>
            </a:endParaRPr>
          </a:p>
          <a:p>
            <a:pPr indent="-293265" lvl="0" marL="457200" rtl="0" algn="just">
              <a:spcBef>
                <a:spcPts val="0"/>
              </a:spcBef>
              <a:spcAft>
                <a:spcPts val="0"/>
              </a:spcAft>
              <a:buSzPct val="100000"/>
              <a:buFont typeface="Arial"/>
              <a:buChar char="●"/>
            </a:pPr>
            <a:r>
              <a:rPr b="1" lang="es" sz="1454">
                <a:latin typeface="Arial"/>
                <a:ea typeface="Arial"/>
                <a:cs typeface="Arial"/>
                <a:sym typeface="Arial"/>
              </a:rPr>
              <a:t>Alta compatibilidad para el desarrollo cloud-native:</a:t>
            </a:r>
            <a:br>
              <a:rPr b="1" lang="es" sz="1454">
                <a:latin typeface="Arial"/>
                <a:ea typeface="Arial"/>
                <a:cs typeface="Arial"/>
                <a:sym typeface="Arial"/>
              </a:rPr>
            </a:br>
            <a:r>
              <a:rPr lang="es" sz="1454">
                <a:latin typeface="Arial"/>
                <a:ea typeface="Arial"/>
                <a:cs typeface="Arial"/>
                <a:sym typeface="Arial"/>
              </a:rPr>
              <a:t> Puede integrarse con Docker (vía imágenes multi-stage), Kubernetes (a través de CRDs personalizados), y sistemas de mensajería o bases de datos con bindings y librerías oficiales.</a:t>
            </a:r>
            <a:endParaRPr sz="1454">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5c6a60a551_0_27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REFERENCIAS</a:t>
            </a:r>
            <a:endParaRPr/>
          </a:p>
        </p:txBody>
      </p:sp>
      <p:sp>
        <p:nvSpPr>
          <p:cNvPr id="346" name="Google Shape;346;g35c6a60a551_0_279"/>
          <p:cNvSpPr txBox="1"/>
          <p:nvPr>
            <p:ph idx="1" type="body"/>
          </p:nvPr>
        </p:nvSpPr>
        <p:spPr>
          <a:xfrm>
            <a:off x="1297500" y="1257200"/>
            <a:ext cx="7038900" cy="3504600"/>
          </a:xfrm>
          <a:prstGeom prst="rect">
            <a:avLst/>
          </a:prstGeom>
        </p:spPr>
        <p:txBody>
          <a:bodyPr anchorCtr="0" anchor="t" bIns="91425" lIns="91425" spcFirstLastPara="1" rIns="91425" wrap="square" tIns="91425">
            <a:normAutofit fontScale="85000" lnSpcReduction="20000"/>
          </a:bodyPr>
          <a:lstStyle/>
          <a:p>
            <a:pPr indent="-287972" lvl="0" marL="457200" rtl="0" algn="l">
              <a:spcBef>
                <a:spcPts val="0"/>
              </a:spcBef>
              <a:spcAft>
                <a:spcPts val="0"/>
              </a:spcAft>
              <a:buSzPct val="100000"/>
              <a:buFont typeface="Arial"/>
              <a:buChar char="●"/>
            </a:pPr>
            <a:r>
              <a:rPr b="1" lang="es" sz="1100">
                <a:latin typeface="Arial"/>
                <a:ea typeface="Arial"/>
                <a:cs typeface="Arial"/>
                <a:sym typeface="Arial"/>
              </a:rPr>
              <a:t>Rust Programming Language – Libro oficial:</a:t>
            </a:r>
            <a:br>
              <a:rPr b="1" lang="es" sz="1100">
                <a:latin typeface="Arial"/>
                <a:ea typeface="Arial"/>
                <a:cs typeface="Arial"/>
                <a:sym typeface="Arial"/>
              </a:rPr>
            </a:br>
            <a:r>
              <a:rPr lang="es" sz="1100">
                <a:latin typeface="Arial"/>
                <a:ea typeface="Arial"/>
                <a:cs typeface="Arial"/>
                <a:sym typeface="Arial"/>
              </a:rPr>
              <a:t> https://doc.rust-lang.org/book/</a:t>
            </a:r>
            <a:br>
              <a:rPr lang="es" sz="1100">
                <a:latin typeface="Arial"/>
                <a:ea typeface="Arial"/>
                <a:cs typeface="Arial"/>
                <a:sym typeface="Arial"/>
              </a:rPr>
            </a:b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Rust by Example – Ejemplos prácticos de uso:</a:t>
            </a:r>
            <a:br>
              <a:rPr b="1" lang="es" sz="1100">
                <a:latin typeface="Arial"/>
                <a:ea typeface="Arial"/>
                <a:cs typeface="Arial"/>
                <a:sym typeface="Arial"/>
              </a:rPr>
            </a:br>
            <a:r>
              <a:rPr lang="es" sz="1100">
                <a:latin typeface="Arial"/>
                <a:ea typeface="Arial"/>
                <a:cs typeface="Arial"/>
                <a:sym typeface="Arial"/>
              </a:rPr>
              <a:t> https://doc.rust-lang.org/rust-by-example/</a:t>
            </a:r>
            <a:br>
              <a:rPr lang="es" sz="1100">
                <a:latin typeface="Arial"/>
                <a:ea typeface="Arial"/>
                <a:cs typeface="Arial"/>
                <a:sym typeface="Arial"/>
              </a:rPr>
            </a:b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Crates.io – Repositorio oficial de paquetes Rust:</a:t>
            </a:r>
            <a:br>
              <a:rPr b="1" lang="es" sz="1100">
                <a:latin typeface="Arial"/>
                <a:ea typeface="Arial"/>
                <a:cs typeface="Arial"/>
                <a:sym typeface="Arial"/>
              </a:rPr>
            </a:br>
            <a:r>
              <a:rPr lang="es" sz="1100">
                <a:uFill>
                  <a:noFill/>
                </a:uFill>
                <a:latin typeface="Arial"/>
                <a:ea typeface="Arial"/>
                <a:cs typeface="Arial"/>
                <a:sym typeface="Arial"/>
                <a:hlinkClick r:id="rId3"/>
              </a:rPr>
              <a:t> </a:t>
            </a:r>
            <a:r>
              <a:rPr lang="es" sz="1100" u="sng">
                <a:latin typeface="Arial"/>
                <a:ea typeface="Arial"/>
                <a:cs typeface="Arial"/>
                <a:sym typeface="Arial"/>
                <a:hlinkClick r:id="rId4"/>
              </a:rPr>
              <a:t>https://crates.io/</a:t>
            </a:r>
            <a:br>
              <a:rPr lang="es" sz="1100" u="sng">
                <a:latin typeface="Arial"/>
                <a:ea typeface="Arial"/>
                <a:cs typeface="Arial"/>
                <a:sym typeface="Arial"/>
                <a:hlinkClick r:id="rId5"/>
              </a:rPr>
            </a:br>
            <a:endParaRPr sz="1100" u="sng">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The Cargo Book – Guía de manejo de proyectos en Rust:</a:t>
            </a:r>
            <a:br>
              <a:rPr b="1" lang="es" sz="1100">
                <a:latin typeface="Arial"/>
                <a:ea typeface="Arial"/>
                <a:cs typeface="Arial"/>
                <a:sym typeface="Arial"/>
              </a:rPr>
            </a:br>
            <a:r>
              <a:rPr lang="es" sz="1100">
                <a:latin typeface="Arial"/>
                <a:ea typeface="Arial"/>
                <a:cs typeface="Arial"/>
                <a:sym typeface="Arial"/>
              </a:rPr>
              <a:t> https://doc.rust-lang.org/cargo/</a:t>
            </a:r>
            <a:br>
              <a:rPr lang="es" sz="1100">
                <a:latin typeface="Arial"/>
                <a:ea typeface="Arial"/>
                <a:cs typeface="Arial"/>
                <a:sym typeface="Arial"/>
              </a:rPr>
            </a:b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Awesome Rust – Colección curada de recursos y proyectos:</a:t>
            </a:r>
            <a:br>
              <a:rPr b="1" lang="es" sz="1100">
                <a:latin typeface="Arial"/>
                <a:ea typeface="Arial"/>
                <a:cs typeface="Arial"/>
                <a:sym typeface="Arial"/>
              </a:rPr>
            </a:br>
            <a:r>
              <a:rPr lang="es" sz="1100">
                <a:uFill>
                  <a:noFill/>
                </a:uFill>
                <a:latin typeface="Arial"/>
                <a:ea typeface="Arial"/>
                <a:cs typeface="Arial"/>
                <a:sym typeface="Arial"/>
                <a:hlinkClick r:id="rId6"/>
              </a:rPr>
              <a:t> </a:t>
            </a:r>
            <a:r>
              <a:rPr lang="es" sz="1100" u="sng">
                <a:latin typeface="Arial"/>
                <a:ea typeface="Arial"/>
                <a:cs typeface="Arial"/>
                <a:sym typeface="Arial"/>
                <a:hlinkClick r:id="rId7"/>
              </a:rPr>
              <a:t>https://github.com/rust-unofficial/awesome-rust</a:t>
            </a:r>
            <a:br>
              <a:rPr lang="es" sz="1100" u="sng">
                <a:latin typeface="Arial"/>
                <a:ea typeface="Arial"/>
                <a:cs typeface="Arial"/>
                <a:sym typeface="Arial"/>
                <a:hlinkClick r:id="rId8"/>
              </a:rPr>
            </a:br>
            <a:endParaRPr sz="1100" u="sng">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Artículo: "Why Discord is switching from Go to Rust"</a:t>
            </a:r>
            <a:br>
              <a:rPr b="1" lang="es" sz="1100">
                <a:latin typeface="Arial"/>
                <a:ea typeface="Arial"/>
                <a:cs typeface="Arial"/>
                <a:sym typeface="Arial"/>
              </a:rPr>
            </a:br>
            <a:r>
              <a:rPr lang="es" sz="1100">
                <a:latin typeface="Arial"/>
                <a:ea typeface="Arial"/>
                <a:cs typeface="Arial"/>
                <a:sym typeface="Arial"/>
              </a:rPr>
              <a:t> https://discord.com/blog/why-discord-is-switching-from-go-to-rust</a:t>
            </a:r>
            <a:br>
              <a:rPr lang="es" sz="1100">
                <a:latin typeface="Arial"/>
                <a:ea typeface="Arial"/>
                <a:cs typeface="Arial"/>
                <a:sym typeface="Arial"/>
              </a:rPr>
            </a:br>
            <a:endParaRPr sz="1100">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Proyecto relevante: Krustlet (Kubelet en Rust):</a:t>
            </a:r>
            <a:br>
              <a:rPr b="1" lang="es" sz="1100">
                <a:latin typeface="Arial"/>
                <a:ea typeface="Arial"/>
                <a:cs typeface="Arial"/>
                <a:sym typeface="Arial"/>
              </a:rPr>
            </a:br>
            <a:r>
              <a:rPr lang="es" sz="1100">
                <a:uFill>
                  <a:noFill/>
                </a:uFill>
                <a:latin typeface="Arial"/>
                <a:ea typeface="Arial"/>
                <a:cs typeface="Arial"/>
                <a:sym typeface="Arial"/>
                <a:hlinkClick r:id="rId9"/>
              </a:rPr>
              <a:t> </a:t>
            </a:r>
            <a:r>
              <a:rPr lang="es" sz="1100" u="sng">
                <a:latin typeface="Arial"/>
                <a:ea typeface="Arial"/>
                <a:cs typeface="Arial"/>
                <a:sym typeface="Arial"/>
                <a:hlinkClick r:id="rId10"/>
              </a:rPr>
              <a:t>https://github.com/krustlet/krustlet</a:t>
            </a:r>
            <a:br>
              <a:rPr lang="es" sz="1100" u="sng">
                <a:latin typeface="Arial"/>
                <a:ea typeface="Arial"/>
                <a:cs typeface="Arial"/>
                <a:sym typeface="Arial"/>
                <a:hlinkClick r:id="rId11"/>
              </a:rPr>
            </a:br>
            <a:endParaRPr sz="1100" u="sng">
              <a:latin typeface="Arial"/>
              <a:ea typeface="Arial"/>
              <a:cs typeface="Arial"/>
              <a:sym typeface="Arial"/>
            </a:endParaRPr>
          </a:p>
          <a:p>
            <a:pPr indent="-287972" lvl="0" marL="457200" rtl="0" algn="l">
              <a:spcBef>
                <a:spcPts val="0"/>
              </a:spcBef>
              <a:spcAft>
                <a:spcPts val="0"/>
              </a:spcAft>
              <a:buSzPct val="100000"/>
              <a:buFont typeface="Arial"/>
              <a:buChar char="●"/>
            </a:pPr>
            <a:r>
              <a:rPr b="1" lang="es" sz="1100">
                <a:latin typeface="Arial"/>
                <a:ea typeface="Arial"/>
                <a:cs typeface="Arial"/>
                <a:sym typeface="Arial"/>
              </a:rPr>
              <a:t>Documentación oficial de Docker para Rust (multi-stage builds):</a:t>
            </a:r>
            <a:br>
              <a:rPr b="1" lang="es" sz="1100">
                <a:latin typeface="Arial"/>
                <a:ea typeface="Arial"/>
                <a:cs typeface="Arial"/>
                <a:sym typeface="Arial"/>
              </a:rPr>
            </a:br>
            <a:r>
              <a:rPr lang="es" sz="1100">
                <a:latin typeface="Arial"/>
                <a:ea typeface="Arial"/>
                <a:cs typeface="Arial"/>
                <a:sym typeface="Arial"/>
              </a:rPr>
              <a:t> https://docs.docker.com/language/rust/</a:t>
            </a:r>
            <a:endParaRPr sz="11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6"/>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t/>
            </a:r>
            <a:endParaRPr/>
          </a:p>
        </p:txBody>
      </p:sp>
      <p:sp>
        <p:nvSpPr>
          <p:cNvPr id="352" name="Google Shape;352;p16"/>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a:p>
        </p:txBody>
      </p:sp>
      <p:pic>
        <p:nvPicPr>
          <p:cNvPr id="353" name="Google Shape;353;p16"/>
          <p:cNvPicPr preferRelativeResize="0"/>
          <p:nvPr/>
        </p:nvPicPr>
        <p:blipFill rotWithShape="1">
          <a:blip r:embed="rId3">
            <a:alphaModFix/>
          </a:blip>
          <a:srcRect b="0" l="0" r="0" t="0"/>
          <a:stretch/>
        </p:blipFill>
        <p:spPr>
          <a:xfrm>
            <a:off x="11875" y="0"/>
            <a:ext cx="9120251" cy="5143501"/>
          </a:xfrm>
          <a:prstGeom prst="rect">
            <a:avLst/>
          </a:prstGeom>
          <a:noFill/>
          <a:ln>
            <a:noFill/>
          </a:ln>
        </p:spPr>
      </p:pic>
      <p:sp>
        <p:nvSpPr>
          <p:cNvPr id="354" name="Google Shape;354;p16"/>
          <p:cNvSpPr txBox="1"/>
          <p:nvPr/>
        </p:nvSpPr>
        <p:spPr>
          <a:xfrm>
            <a:off x="4073000" y="2102375"/>
            <a:ext cx="5644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 sz="2500">
                <a:solidFill>
                  <a:schemeClr val="dk1"/>
                </a:solidFill>
                <a:latin typeface="Impact"/>
                <a:ea typeface="Impact"/>
                <a:cs typeface="Impact"/>
                <a:sym typeface="Impact"/>
              </a:rPr>
              <a:t>GRACIAS</a:t>
            </a:r>
            <a:endParaRPr b="0" i="0" sz="2500" u="none" cap="none" strike="noStrike">
              <a:solidFill>
                <a:schemeClr val="dk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