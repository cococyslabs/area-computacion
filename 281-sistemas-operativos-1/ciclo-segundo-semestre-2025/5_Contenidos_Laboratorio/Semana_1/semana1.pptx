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12192000"/>
  <p:embeddedFontLst>
    <p:embeddedFont>
      <p:font typeface="Noto Sans SC"/>
      <p:regular r:id="rId37"/>
      <p:bold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gsNwqaNESgh8Ow+i7bUFGBfhs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BC9DD0-B477-4A4C-8E5D-1F1ABA960C4D}">
  <a:tblStyle styleId="{A9BC9DD0-B477-4A4C-8E5D-1F1ABA960C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NotoSansSC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0.xml"/><Relationship Id="rId38" Type="http://schemas.openxmlformats.org/officeDocument/2006/relationships/font" Target="fonts/NotoSansSC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85c03dde_0_0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aa85c03dde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e07d1c36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9e07d1c36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9e07d1c36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9e07d1c36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g39e07d1c36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9e07d1c367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9e07d1c367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9e07d1c367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9e07d1c367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dfde96470_0_6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9dfde96470_0_6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9dfde96470_0_6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9dfde96470_0_6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2" name="Google Shape;22;g39dfde96470_0_6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3" name="Google Shape;23;g39dfde96470_0_6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9dfde96470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39dfde96470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dfde96470_0_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g39dfde96470_0_7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g39dfde96470_0_7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9dfde96470_0_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dfde96470_0_8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" name="Google Shape;34;g39dfde96470_0_8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dfde96470_0_8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7" name="Google Shape;37;g39dfde96470_0_8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g39dfde96470_0_8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dfde96470_0_8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1" name="Google Shape;41;g39dfde96470_0_8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dfde96470_0_9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9dfde96470_0_9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5" name="Google Shape;45;g39dfde96470_0_9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g39dfde96470_0_9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9dfde96470_0_9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dfde96470_0_9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0" name="Google Shape;50;g39dfde96470_0_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dfde96470_0_100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39dfde96470_0_10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4" name="Google Shape;54;g39dfde96470_0_10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dfde96470_0_10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dfde96470_0_6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9dfde96470_0_6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9dfde96470_0_6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ocs.docker.com" TargetMode="External"/><Relationship Id="rId4" Type="http://schemas.openxmlformats.org/officeDocument/2006/relationships/hyperlink" Target="https://goharbor.io" TargetMode="External"/><Relationship Id="rId10" Type="http://schemas.openxmlformats.org/officeDocument/2006/relationships/image" Target="../media/image3.png"/><Relationship Id="rId9" Type="http://schemas.openxmlformats.org/officeDocument/2006/relationships/image" Target="../media/image4.jpg"/><Relationship Id="rId5" Type="http://schemas.openxmlformats.org/officeDocument/2006/relationships/hyperlink" Target="https://github.com/project-zot/zot" TargetMode="External"/><Relationship Id="rId6" Type="http://schemas.openxmlformats.org/officeDocument/2006/relationships/hyperlink" Target="https://containerd.io" TargetMode="External"/><Relationship Id="rId7" Type="http://schemas.openxmlformats.org/officeDocument/2006/relationships/hyperlink" Target="https://opencontainers.org" TargetMode="External"/><Relationship Id="rId8" Type="http://schemas.openxmlformats.org/officeDocument/2006/relationships/hyperlink" Target="https://www.cnof.io/project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g3aa85c03dde_0_0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11268" y="-2500"/>
            <a:ext cx="1216946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" name="Google Shape;62;g3aa85c03dde_0_0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{A9BC9DD0-B477-4A4C-8E5D-1F1ABA960C4D}</a:tableStyleId>
              </a:tblPr>
              <a:tblGrid>
                <a:gridCol w="2024275"/>
                <a:gridCol w="2896500"/>
              </a:tblGrid>
              <a:tr h="42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2</a:t>
                      </a:r>
                      <a:r>
                        <a:rPr lang="en-US" sz="1900"/>
                        <a:t>9</a:t>
                      </a:r>
                      <a:r>
                        <a:rPr lang="en-US" sz="1900" u="none" cap="none" strike="noStrike"/>
                        <a:t>/0</a:t>
                      </a:r>
                      <a:r>
                        <a:rPr lang="en-US" sz="1900"/>
                        <a:t>1</a:t>
                      </a:r>
                      <a:r>
                        <a:rPr lang="en-US" sz="1900" u="none" cap="none" strike="noStrike"/>
                        <a:t>/202</a:t>
                      </a:r>
                      <a:r>
                        <a:rPr lang="en-US" sz="1900"/>
                        <a:t>6</a:t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cap="none" strike="noStrike"/>
                        <a:t>17:20</a:t>
                      </a:r>
                      <a:endParaRPr sz="1900" u="none" cap="none" strike="noStrike"/>
                    </a:p>
                  </a:txBody>
                  <a:tcPr marT="121900" marB="121900" marR="121900" marL="1219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" name="Google Shape;63;g3aa85c03dde_0_0"/>
          <p:cNvSpPr/>
          <p:nvPr/>
        </p:nvSpPr>
        <p:spPr>
          <a:xfrm>
            <a:off x="3169091" y="3130047"/>
            <a:ext cx="6040800" cy="597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aa85c03dde_0_0"/>
          <p:cNvSpPr/>
          <p:nvPr/>
        </p:nvSpPr>
        <p:spPr>
          <a:xfrm>
            <a:off x="3169091" y="3881747"/>
            <a:ext cx="6040800" cy="597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a85c03dde_0_0"/>
          <p:cNvSpPr txBox="1"/>
          <p:nvPr/>
        </p:nvSpPr>
        <p:spPr>
          <a:xfrm>
            <a:off x="3384800" y="3049400"/>
            <a:ext cx="58251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1 [P]</a:t>
            </a:r>
            <a:endParaRPr b="1" i="0" sz="33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aa85c03dde_0_0"/>
          <p:cNvSpPr txBox="1"/>
          <p:nvPr/>
        </p:nvSpPr>
        <p:spPr>
          <a:xfrm>
            <a:off x="4663550" y="3803600"/>
            <a:ext cx="3267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/>
              <a:t>Edgar Alvarez</a:t>
            </a:r>
            <a:endParaRPr b="1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aa85c03dde_0_0"/>
          <p:cNvSpPr txBox="1"/>
          <p:nvPr/>
        </p:nvSpPr>
        <p:spPr>
          <a:xfrm>
            <a:off x="538200" y="5012800"/>
            <a:ext cx="36333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</a:rPr>
              <a:t>EMPEZAMOS EN 5 MINUTOS…..</a:t>
            </a:r>
            <a:endParaRPr b="1" i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/>
          <p:nvPr/>
        </p:nvSpPr>
        <p:spPr>
          <a:xfrm>
            <a:off x="647830" y="503325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47830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5" name="Google Shape;75;p1"/>
          <p:cNvSpPr/>
          <p:nvPr/>
        </p:nvSpPr>
        <p:spPr>
          <a:xfrm>
            <a:off x="931675" y="503325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31675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1215520" y="503325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1215520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9" name="Google Shape;79;p1"/>
          <p:cNvSpPr/>
          <p:nvPr/>
        </p:nvSpPr>
        <p:spPr>
          <a:xfrm>
            <a:off x="1499365" y="503325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"/>
          <p:cNvSpPr/>
          <p:nvPr/>
        </p:nvSpPr>
        <p:spPr>
          <a:xfrm>
            <a:off x="1499365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81" name="Google Shape;81;p1"/>
          <p:cNvSpPr/>
          <p:nvPr/>
        </p:nvSpPr>
        <p:spPr>
          <a:xfrm>
            <a:off x="1783210" y="503325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1783210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83" name="Google Shape;83;p1"/>
          <p:cNvSpPr/>
          <p:nvPr/>
        </p:nvSpPr>
        <p:spPr>
          <a:xfrm>
            <a:off x="2067055" y="503325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"/>
          <p:cNvSpPr/>
          <p:nvPr/>
        </p:nvSpPr>
        <p:spPr>
          <a:xfrm>
            <a:off x="2067055" y="503325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20:09:25-d2nfat98bjvh7rlj0j20.png" id="85" name="Google Shape;85;p1"/>
          <p:cNvPicPr preferRelativeResize="0"/>
          <p:nvPr/>
        </p:nvPicPr>
        <p:blipFill rotWithShape="1">
          <a:blip r:embed="rId3">
            <a:alphaModFix amt="40000"/>
          </a:blip>
          <a:srcRect b="304" l="10087" r="0" t="-37"/>
          <a:stretch/>
        </p:blipFill>
        <p:spPr>
          <a:xfrm>
            <a:off x="7096125" y="-26136"/>
            <a:ext cx="5095874" cy="68841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47825" y="5401850"/>
            <a:ext cx="4551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LABORATORIO SISTEMAS OPERATIVOS 1</a:t>
            </a:r>
            <a:endParaRPr b="1" sz="170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7825" y="5730300"/>
            <a:ext cx="34908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="1" i="0" lang="en-US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scuela de </a:t>
            </a:r>
            <a:r>
              <a:rPr b="1"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1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30850" y="2153661"/>
            <a:ext cx="92229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lt1"/>
                </a:solidFill>
              </a:rPr>
              <a:t>Fundamentos de Sistemas Operativos y Administración Avanzada </a:t>
            </a:r>
            <a:endParaRPr/>
          </a:p>
        </p:txBody>
      </p:sp>
      <p:pic>
        <p:nvPicPr>
          <p:cNvPr id="89" name="Google Shape;89;p1" title="logo-ECYS-FIUSAC-COCOCY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0800" y="0"/>
            <a:ext cx="5541199" cy="6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2000" cy="2402205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2000" cy="2402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20:09:24-d2nfat18bjvh7rlj0ivg.png" id="97" name="Google Shape;97;p2"/>
          <p:cNvPicPr preferRelativeResize="0"/>
          <p:nvPr/>
        </p:nvPicPr>
        <p:blipFill rotWithShape="1">
          <a:blip r:embed="rId3">
            <a:alphaModFix/>
          </a:blip>
          <a:srcRect b="68" l="0" r="0" t="68"/>
          <a:stretch/>
        </p:blipFill>
        <p:spPr>
          <a:xfrm flipH="1">
            <a:off x="332105" y="0"/>
            <a:ext cx="11205845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577215" y="3046095"/>
            <a:ext cx="2087880" cy="3017520"/>
          </a:xfrm>
          <a:prstGeom prst="roundRect">
            <a:avLst>
              <a:gd fmla="val 6594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77215" y="3046095"/>
            <a:ext cx="20880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1361440" y="5902325"/>
            <a:ext cx="520065" cy="75565"/>
          </a:xfrm>
          <a:prstGeom prst="roundRect">
            <a:avLst>
              <a:gd fmla="val 5000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1361440" y="5902325"/>
            <a:ext cx="520065" cy="75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2825115" y="3046095"/>
            <a:ext cx="2087880" cy="3017520"/>
          </a:xfrm>
          <a:prstGeom prst="roundRect">
            <a:avLst>
              <a:gd fmla="val 6594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2825115" y="3046095"/>
            <a:ext cx="2087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4" name="Google Shape;104;p2"/>
          <p:cNvSpPr/>
          <p:nvPr/>
        </p:nvSpPr>
        <p:spPr>
          <a:xfrm>
            <a:off x="3609340" y="5902325"/>
            <a:ext cx="520065" cy="75565"/>
          </a:xfrm>
          <a:prstGeom prst="roundRect">
            <a:avLst>
              <a:gd fmla="val 5000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3609340" y="5902325"/>
            <a:ext cx="520065" cy="75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6" name="Google Shape;106;p2"/>
          <p:cNvSpPr/>
          <p:nvPr/>
        </p:nvSpPr>
        <p:spPr>
          <a:xfrm>
            <a:off x="5073015" y="3046095"/>
            <a:ext cx="2087880" cy="3017520"/>
          </a:xfrm>
          <a:prstGeom prst="roundRect">
            <a:avLst>
              <a:gd fmla="val 6594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5073015" y="3046095"/>
            <a:ext cx="2087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8" name="Google Shape;108;p2"/>
          <p:cNvSpPr/>
          <p:nvPr/>
        </p:nvSpPr>
        <p:spPr>
          <a:xfrm>
            <a:off x="5720715" y="3355975"/>
            <a:ext cx="792480" cy="79248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720715" y="3355975"/>
            <a:ext cx="79248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0" name="Google Shape;110;p2"/>
          <p:cNvSpPr/>
          <p:nvPr/>
        </p:nvSpPr>
        <p:spPr>
          <a:xfrm>
            <a:off x="5857240" y="5902325"/>
            <a:ext cx="520065" cy="75565"/>
          </a:xfrm>
          <a:prstGeom prst="roundRect">
            <a:avLst>
              <a:gd fmla="val 5000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857240" y="5902325"/>
            <a:ext cx="520065" cy="75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2" name="Google Shape;112;p2"/>
          <p:cNvSpPr/>
          <p:nvPr/>
        </p:nvSpPr>
        <p:spPr>
          <a:xfrm>
            <a:off x="7320915" y="3046095"/>
            <a:ext cx="2087880" cy="3017520"/>
          </a:xfrm>
          <a:prstGeom prst="roundRect">
            <a:avLst>
              <a:gd fmla="val 6594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7320915" y="3046095"/>
            <a:ext cx="2087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4" name="Google Shape;114;p2"/>
          <p:cNvSpPr/>
          <p:nvPr/>
        </p:nvSpPr>
        <p:spPr>
          <a:xfrm>
            <a:off x="7968615" y="3355975"/>
            <a:ext cx="792480" cy="79248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7968615" y="3355975"/>
            <a:ext cx="79248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6" name="Google Shape;116;p2"/>
          <p:cNvSpPr/>
          <p:nvPr/>
        </p:nvSpPr>
        <p:spPr>
          <a:xfrm>
            <a:off x="8105140" y="5902325"/>
            <a:ext cx="520065" cy="75565"/>
          </a:xfrm>
          <a:prstGeom prst="roundRect">
            <a:avLst>
              <a:gd fmla="val 5000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8105140" y="5902325"/>
            <a:ext cx="520065" cy="75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18" name="Google Shape;118;p2"/>
          <p:cNvSpPr/>
          <p:nvPr/>
        </p:nvSpPr>
        <p:spPr>
          <a:xfrm>
            <a:off x="9568815" y="3046095"/>
            <a:ext cx="2087880" cy="3017520"/>
          </a:xfrm>
          <a:prstGeom prst="roundRect">
            <a:avLst>
              <a:gd fmla="val 6594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9568815" y="3046095"/>
            <a:ext cx="20878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0" name="Google Shape;120;p2"/>
          <p:cNvSpPr/>
          <p:nvPr/>
        </p:nvSpPr>
        <p:spPr>
          <a:xfrm>
            <a:off x="10216515" y="3355975"/>
            <a:ext cx="792480" cy="79248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10216515" y="3355975"/>
            <a:ext cx="79248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2" name="Google Shape;122;p2"/>
          <p:cNvSpPr/>
          <p:nvPr/>
        </p:nvSpPr>
        <p:spPr>
          <a:xfrm>
            <a:off x="10353040" y="5902325"/>
            <a:ext cx="520065" cy="75565"/>
          </a:xfrm>
          <a:prstGeom prst="roundRect">
            <a:avLst>
              <a:gd fmla="val 50000" name="adj"/>
            </a:avLst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10353040" y="5902325"/>
            <a:ext cx="520065" cy="75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4" name="Google Shape;124;p2"/>
          <p:cNvSpPr/>
          <p:nvPr/>
        </p:nvSpPr>
        <p:spPr>
          <a:xfrm>
            <a:off x="4160520" y="1249045"/>
            <a:ext cx="3870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INDICE</a:t>
            </a:r>
            <a:endParaRPr b="0" i="0" sz="1600" u="none" cap="none" strike="noStrike"/>
          </a:p>
        </p:txBody>
      </p:sp>
      <p:sp>
        <p:nvSpPr>
          <p:cNvPr id="125" name="Google Shape;125;p2"/>
          <p:cNvSpPr/>
          <p:nvPr/>
        </p:nvSpPr>
        <p:spPr>
          <a:xfrm>
            <a:off x="1224915" y="3355975"/>
            <a:ext cx="792480" cy="79248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1224915" y="3355975"/>
            <a:ext cx="792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/>
          </a:p>
        </p:txBody>
      </p:sp>
      <p:sp>
        <p:nvSpPr>
          <p:cNvPr id="127" name="Google Shape;127;p2"/>
          <p:cNvSpPr/>
          <p:nvPr/>
        </p:nvSpPr>
        <p:spPr>
          <a:xfrm>
            <a:off x="666115" y="4509135"/>
            <a:ext cx="19100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b="0" i="0" sz="1600" u="none" cap="none" strike="noStrike"/>
          </a:p>
        </p:txBody>
      </p:sp>
      <p:sp>
        <p:nvSpPr>
          <p:cNvPr id="128" name="Google Shape;128;p2"/>
          <p:cNvSpPr/>
          <p:nvPr/>
        </p:nvSpPr>
        <p:spPr>
          <a:xfrm>
            <a:off x="3472815" y="3355975"/>
            <a:ext cx="792480" cy="792480"/>
          </a:xfrm>
          <a:prstGeom prst="ellipse">
            <a:avLst/>
          </a:prstGeom>
          <a:solidFill>
            <a:srgbClr val="2323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3472815" y="3355975"/>
            <a:ext cx="792480" cy="792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/>
          </a:p>
        </p:txBody>
      </p:sp>
      <p:sp>
        <p:nvSpPr>
          <p:cNvPr id="130" name="Google Shape;130;p2"/>
          <p:cNvSpPr/>
          <p:nvPr/>
        </p:nvSpPr>
        <p:spPr>
          <a:xfrm>
            <a:off x="2914015" y="4509135"/>
            <a:ext cx="191008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Conceptos clave</a:t>
            </a:r>
            <a:endParaRPr b="0" i="0" sz="1600" u="none" cap="none" strike="noStrike"/>
          </a:p>
        </p:txBody>
      </p:sp>
      <p:sp>
        <p:nvSpPr>
          <p:cNvPr id="131" name="Google Shape;131;p2"/>
          <p:cNvSpPr/>
          <p:nvPr/>
        </p:nvSpPr>
        <p:spPr>
          <a:xfrm>
            <a:off x="5661025" y="3525520"/>
            <a:ext cx="9023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/>
          </a:p>
        </p:txBody>
      </p:sp>
      <p:sp>
        <p:nvSpPr>
          <p:cNvPr id="132" name="Google Shape;132;p2"/>
          <p:cNvSpPr/>
          <p:nvPr/>
        </p:nvSpPr>
        <p:spPr>
          <a:xfrm>
            <a:off x="5111750" y="4509135"/>
            <a:ext cx="19983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 b="0" i="0" sz="1600" u="none" cap="none" strike="noStrike"/>
          </a:p>
        </p:txBody>
      </p:sp>
      <p:sp>
        <p:nvSpPr>
          <p:cNvPr id="133" name="Google Shape;133;p2"/>
          <p:cNvSpPr/>
          <p:nvPr/>
        </p:nvSpPr>
        <p:spPr>
          <a:xfrm>
            <a:off x="7906385" y="3525520"/>
            <a:ext cx="9023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/>
          </a:p>
        </p:txBody>
      </p:sp>
      <p:sp>
        <p:nvSpPr>
          <p:cNvPr id="134" name="Google Shape;134;p2"/>
          <p:cNvSpPr/>
          <p:nvPr/>
        </p:nvSpPr>
        <p:spPr>
          <a:xfrm>
            <a:off x="7409815" y="4509135"/>
            <a:ext cx="19100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 de vida</a:t>
            </a:r>
            <a:endParaRPr b="0" i="0" sz="1600" u="none" cap="none" strike="noStrike"/>
          </a:p>
        </p:txBody>
      </p:sp>
      <p:sp>
        <p:nvSpPr>
          <p:cNvPr id="135" name="Google Shape;135;p2"/>
          <p:cNvSpPr/>
          <p:nvPr/>
        </p:nvSpPr>
        <p:spPr>
          <a:xfrm>
            <a:off x="10152380" y="3525520"/>
            <a:ext cx="9023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/>
          </a:p>
        </p:txBody>
      </p:sp>
      <p:sp>
        <p:nvSpPr>
          <p:cNvPr id="136" name="Google Shape;136;p2"/>
          <p:cNvSpPr/>
          <p:nvPr/>
        </p:nvSpPr>
        <p:spPr>
          <a:xfrm>
            <a:off x="9657715" y="4509135"/>
            <a:ext cx="191008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y beneficios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/>
          <p:nvPr/>
        </p:nvSpPr>
        <p:spPr>
          <a:xfrm>
            <a:off x="0" y="1665288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1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y Recursos</a:t>
            </a:r>
            <a:endParaRPr b="0" i="0" sz="1600" u="none" cap="none" strike="noStrike"/>
          </a:p>
        </p:txBody>
      </p:sp>
      <p:sp>
        <p:nvSpPr>
          <p:cNvPr id="143" name="Google Shape;143;p3"/>
          <p:cNvSpPr/>
          <p:nvPr/>
        </p:nvSpPr>
        <p:spPr>
          <a:xfrm>
            <a:off x="965200" y="2274888"/>
            <a:ext cx="1026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 vistazo a los temas a tratar y la competencia principal a desarrollar.</a:t>
            </a:r>
            <a:endParaRPr b="0" i="0" sz="1600" u="none" cap="none" strike="noStrike"/>
          </a:p>
        </p:txBody>
      </p:sp>
      <p:cxnSp>
        <p:nvCxnSpPr>
          <p:cNvPr id="144" name="Google Shape;144;p3"/>
          <p:cNvCxnSpPr/>
          <p:nvPr/>
        </p:nvCxnSpPr>
        <p:spPr>
          <a:xfrm>
            <a:off x="457200" y="2986088"/>
            <a:ext cx="5435600" cy="0"/>
          </a:xfrm>
          <a:prstGeom prst="straightConnector1">
            <a:avLst/>
          </a:prstGeom>
          <a:noFill/>
          <a:ln cap="flat" cmpd="sng" w="508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3"/>
          <p:cNvSpPr/>
          <p:nvPr/>
        </p:nvSpPr>
        <p:spPr>
          <a:xfrm>
            <a:off x="457200" y="3240088"/>
            <a:ext cx="5943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1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del Curso</a:t>
            </a:r>
            <a:endParaRPr b="1" i="0" sz="1600" u="none" cap="none" strike="noStrike"/>
          </a:p>
        </p:txBody>
      </p:sp>
      <p:sp>
        <p:nvSpPr>
          <p:cNvPr id="146" name="Google Shape;146;p3"/>
          <p:cNvSpPr/>
          <p:nvPr/>
        </p:nvSpPr>
        <p:spPr>
          <a:xfrm>
            <a:off x="579510" y="3802690"/>
            <a:ext cx="254698" cy="254699"/>
          </a:xfrm>
          <a:custGeom>
            <a:rect b="b" l="l" r="r" t="t"/>
            <a:pathLst>
              <a:path extrusionOk="0" h="177800" w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65390" y="51083"/>
                </a:moveTo>
                <a:cubicBezTo>
                  <a:pt x="62751" y="52541"/>
                  <a:pt x="61119" y="55354"/>
                  <a:pt x="61119" y="58341"/>
                </a:cubicBezTo>
                <a:lnTo>
                  <a:pt x="61119" y="119459"/>
                </a:lnTo>
                <a:cubicBezTo>
                  <a:pt x="61119" y="122481"/>
                  <a:pt x="62751" y="125259"/>
                  <a:pt x="65390" y="126717"/>
                </a:cubicBezTo>
                <a:cubicBezTo>
                  <a:pt x="68029" y="128176"/>
                  <a:pt x="71224" y="128141"/>
                  <a:pt x="73829" y="126544"/>
                </a:cubicBezTo>
                <a:lnTo>
                  <a:pt x="123835" y="95984"/>
                </a:lnTo>
                <a:cubicBezTo>
                  <a:pt x="126301" y="94456"/>
                  <a:pt x="127828" y="91782"/>
                  <a:pt x="127828" y="88865"/>
                </a:cubicBezTo>
                <a:cubicBezTo>
                  <a:pt x="127828" y="85948"/>
                  <a:pt x="126301" y="83274"/>
                  <a:pt x="123835" y="81746"/>
                </a:cubicBezTo>
                <a:lnTo>
                  <a:pt x="73829" y="51187"/>
                </a:lnTo>
                <a:cubicBezTo>
                  <a:pt x="71259" y="49624"/>
                  <a:pt x="68029" y="49555"/>
                  <a:pt x="65390" y="5101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131050" lIns="131050" spcFirstLastPara="1" rIns="131050" wrap="square" tIns="131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3"/>
          </a:p>
        </p:txBody>
      </p:sp>
      <p:sp>
        <p:nvSpPr>
          <p:cNvPr id="147" name="Google Shape;147;p3"/>
          <p:cNvSpPr/>
          <p:nvPr/>
        </p:nvSpPr>
        <p:spPr>
          <a:xfrm>
            <a:off x="993691" y="3748070"/>
            <a:ext cx="5407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7"/>
              <a:buFont typeface="Arial"/>
              <a:buNone/>
            </a:pPr>
            <a:r>
              <a:rPr b="0" i="0" lang="en-US" sz="2293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Introducción al Proyecto de Virtualización</a:t>
            </a:r>
            <a:endParaRPr b="0" i="0" sz="2580" u="none" cap="none" strike="noStrike"/>
          </a:p>
        </p:txBody>
      </p:sp>
      <p:sp>
        <p:nvSpPr>
          <p:cNvPr id="148" name="Google Shape;148;p3"/>
          <p:cNvSpPr/>
          <p:nvPr/>
        </p:nvSpPr>
        <p:spPr>
          <a:xfrm>
            <a:off x="579510" y="4312462"/>
            <a:ext cx="254698" cy="254699"/>
          </a:xfrm>
          <a:custGeom>
            <a:rect b="b" l="l" r="r" t="t"/>
            <a:pathLst>
              <a:path extrusionOk="0" h="177800" w="177800">
                <a:moveTo>
                  <a:pt x="98623" y="-451"/>
                </a:moveTo>
                <a:cubicBezTo>
                  <a:pt x="92616" y="-3924"/>
                  <a:pt x="85184" y="-3924"/>
                  <a:pt x="79177" y="-451"/>
                </a:cubicBezTo>
                <a:lnTo>
                  <a:pt x="49937" y="16426"/>
                </a:lnTo>
                <a:cubicBezTo>
                  <a:pt x="43929" y="19898"/>
                  <a:pt x="40213" y="26323"/>
                  <a:pt x="40213" y="33268"/>
                </a:cubicBezTo>
                <a:lnTo>
                  <a:pt x="40213" y="68654"/>
                </a:lnTo>
                <a:lnTo>
                  <a:pt x="9550" y="86365"/>
                </a:lnTo>
                <a:cubicBezTo>
                  <a:pt x="3542" y="89838"/>
                  <a:pt x="-174" y="96262"/>
                  <a:pt x="-174" y="103207"/>
                </a:cubicBezTo>
                <a:lnTo>
                  <a:pt x="-174" y="136996"/>
                </a:lnTo>
                <a:cubicBezTo>
                  <a:pt x="-174" y="143942"/>
                  <a:pt x="3542" y="150366"/>
                  <a:pt x="9550" y="153839"/>
                </a:cubicBezTo>
                <a:lnTo>
                  <a:pt x="38824" y="170716"/>
                </a:lnTo>
                <a:cubicBezTo>
                  <a:pt x="44832" y="174188"/>
                  <a:pt x="52263" y="174188"/>
                  <a:pt x="58271" y="170716"/>
                </a:cubicBezTo>
                <a:lnTo>
                  <a:pt x="88935" y="153005"/>
                </a:lnTo>
                <a:lnTo>
                  <a:pt x="119598" y="170716"/>
                </a:lnTo>
                <a:cubicBezTo>
                  <a:pt x="125606" y="174188"/>
                  <a:pt x="133037" y="174188"/>
                  <a:pt x="139045" y="170716"/>
                </a:cubicBezTo>
                <a:lnTo>
                  <a:pt x="168250" y="153839"/>
                </a:lnTo>
                <a:cubicBezTo>
                  <a:pt x="174258" y="150366"/>
                  <a:pt x="177974" y="143942"/>
                  <a:pt x="177974" y="136996"/>
                </a:cubicBezTo>
                <a:lnTo>
                  <a:pt x="177974" y="103207"/>
                </a:lnTo>
                <a:cubicBezTo>
                  <a:pt x="177974" y="96262"/>
                  <a:pt x="174258" y="89838"/>
                  <a:pt x="168250" y="86365"/>
                </a:cubicBezTo>
                <a:lnTo>
                  <a:pt x="137587" y="68654"/>
                </a:lnTo>
                <a:lnTo>
                  <a:pt x="137587" y="33268"/>
                </a:lnTo>
                <a:cubicBezTo>
                  <a:pt x="137587" y="26323"/>
                  <a:pt x="133871" y="19898"/>
                  <a:pt x="127863" y="16426"/>
                </a:cubicBezTo>
                <a:lnTo>
                  <a:pt x="98623" y="-451"/>
                </a:lnTo>
                <a:close/>
                <a:moveTo>
                  <a:pt x="80566" y="101610"/>
                </a:moveTo>
                <a:lnTo>
                  <a:pt x="80566" y="138594"/>
                </a:lnTo>
                <a:lnTo>
                  <a:pt x="49902" y="156304"/>
                </a:lnTo>
                <a:cubicBezTo>
                  <a:pt x="49485" y="156547"/>
                  <a:pt x="48999" y="156686"/>
                  <a:pt x="48513" y="156686"/>
                </a:cubicBezTo>
                <a:lnTo>
                  <a:pt x="48513" y="120119"/>
                </a:lnTo>
                <a:lnTo>
                  <a:pt x="80566" y="101610"/>
                </a:lnTo>
                <a:close/>
                <a:moveTo>
                  <a:pt x="160923" y="101818"/>
                </a:moveTo>
                <a:cubicBezTo>
                  <a:pt x="161166" y="102235"/>
                  <a:pt x="161305" y="102721"/>
                  <a:pt x="161305" y="103207"/>
                </a:cubicBezTo>
                <a:lnTo>
                  <a:pt x="161305" y="136996"/>
                </a:lnTo>
                <a:cubicBezTo>
                  <a:pt x="161305" y="138003"/>
                  <a:pt x="160784" y="138906"/>
                  <a:pt x="159916" y="139392"/>
                </a:cubicBezTo>
                <a:lnTo>
                  <a:pt x="130641" y="156270"/>
                </a:lnTo>
                <a:cubicBezTo>
                  <a:pt x="130225" y="156513"/>
                  <a:pt x="129738" y="156652"/>
                  <a:pt x="129252" y="156652"/>
                </a:cubicBezTo>
                <a:lnTo>
                  <a:pt x="129252" y="120084"/>
                </a:lnTo>
                <a:lnTo>
                  <a:pt x="160923" y="101818"/>
                </a:lnTo>
                <a:close/>
                <a:moveTo>
                  <a:pt x="120953" y="33268"/>
                </a:moveTo>
                <a:lnTo>
                  <a:pt x="120953" y="68654"/>
                </a:lnTo>
                <a:lnTo>
                  <a:pt x="88900" y="87164"/>
                </a:lnTo>
                <a:lnTo>
                  <a:pt x="88900" y="50180"/>
                </a:lnTo>
                <a:lnTo>
                  <a:pt x="120571" y="31914"/>
                </a:lnTo>
                <a:cubicBezTo>
                  <a:pt x="120814" y="32330"/>
                  <a:pt x="120953" y="32817"/>
                  <a:pt x="120953" y="3330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131050" lIns="131050" spcFirstLastPara="1" rIns="131050" wrap="square" tIns="131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3"/>
          </a:p>
        </p:txBody>
      </p:sp>
      <p:sp>
        <p:nvSpPr>
          <p:cNvPr id="149" name="Google Shape;149;p3"/>
          <p:cNvSpPr/>
          <p:nvPr/>
        </p:nvSpPr>
        <p:spPr>
          <a:xfrm>
            <a:off x="993691" y="4257844"/>
            <a:ext cx="51705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7"/>
              <a:buFont typeface="Arial"/>
              <a:buNone/>
            </a:pPr>
            <a:r>
              <a:rPr b="0" i="0" lang="en-US" sz="2293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Conceptos Clave: VMs vs Contenedores</a:t>
            </a:r>
            <a:endParaRPr b="0" i="0" sz="2580" u="none" cap="none" strike="noStrike"/>
          </a:p>
        </p:txBody>
      </p:sp>
      <p:sp>
        <p:nvSpPr>
          <p:cNvPr id="150" name="Google Shape;150;p3"/>
          <p:cNvSpPr/>
          <p:nvPr/>
        </p:nvSpPr>
        <p:spPr>
          <a:xfrm>
            <a:off x="563580" y="4822234"/>
            <a:ext cx="286536" cy="254699"/>
          </a:xfrm>
          <a:custGeom>
            <a:rect b="b" l="l" r="r" t="t"/>
            <a:pathLst>
              <a:path extrusionOk="0" h="177800" w="200025">
                <a:moveTo>
                  <a:pt x="77822" y="33719"/>
                </a:moveTo>
                <a:lnTo>
                  <a:pt x="77822" y="50944"/>
                </a:lnTo>
                <a:lnTo>
                  <a:pt x="77996" y="51117"/>
                </a:lnTo>
                <a:cubicBezTo>
                  <a:pt x="80253" y="22503"/>
                  <a:pt x="104180" y="0"/>
                  <a:pt x="133385" y="0"/>
                </a:cubicBezTo>
                <a:cubicBezTo>
                  <a:pt x="140365" y="0"/>
                  <a:pt x="147067" y="1285"/>
                  <a:pt x="153214" y="3646"/>
                </a:cubicBezTo>
                <a:cubicBezTo>
                  <a:pt x="156686" y="4966"/>
                  <a:pt x="157311" y="9376"/>
                  <a:pt x="154707" y="12015"/>
                </a:cubicBezTo>
                <a:lnTo>
                  <a:pt x="123904" y="42818"/>
                </a:lnTo>
                <a:cubicBezTo>
                  <a:pt x="122863" y="43860"/>
                  <a:pt x="122272" y="45283"/>
                  <a:pt x="122272" y="46742"/>
                </a:cubicBezTo>
                <a:lnTo>
                  <a:pt x="122272" y="61119"/>
                </a:lnTo>
                <a:cubicBezTo>
                  <a:pt x="122272" y="64175"/>
                  <a:pt x="124773" y="66675"/>
                  <a:pt x="127828" y="66675"/>
                </a:cubicBezTo>
                <a:lnTo>
                  <a:pt x="142205" y="66675"/>
                </a:lnTo>
                <a:cubicBezTo>
                  <a:pt x="143664" y="66675"/>
                  <a:pt x="145088" y="66085"/>
                  <a:pt x="146129" y="65043"/>
                </a:cubicBezTo>
                <a:lnTo>
                  <a:pt x="176932" y="34240"/>
                </a:lnTo>
                <a:cubicBezTo>
                  <a:pt x="179571" y="31601"/>
                  <a:pt x="183981" y="32261"/>
                  <a:pt x="185301" y="35734"/>
                </a:cubicBezTo>
                <a:cubicBezTo>
                  <a:pt x="187662" y="41880"/>
                  <a:pt x="188947" y="48582"/>
                  <a:pt x="188947" y="55563"/>
                </a:cubicBezTo>
                <a:cubicBezTo>
                  <a:pt x="188947" y="76607"/>
                  <a:pt x="177244" y="94942"/>
                  <a:pt x="159951" y="104353"/>
                </a:cubicBezTo>
                <a:lnTo>
                  <a:pt x="188253" y="132655"/>
                </a:lnTo>
                <a:cubicBezTo>
                  <a:pt x="194747" y="139149"/>
                  <a:pt x="194747" y="149706"/>
                  <a:pt x="188253" y="156235"/>
                </a:cubicBezTo>
                <a:lnTo>
                  <a:pt x="167382" y="177105"/>
                </a:lnTo>
                <a:cubicBezTo>
                  <a:pt x="160888" y="183599"/>
                  <a:pt x="150331" y="183599"/>
                  <a:pt x="143803" y="177105"/>
                </a:cubicBezTo>
                <a:lnTo>
                  <a:pt x="100047" y="133350"/>
                </a:lnTo>
                <a:cubicBezTo>
                  <a:pt x="90532" y="123835"/>
                  <a:pt x="88379" y="109771"/>
                  <a:pt x="93623" y="98172"/>
                </a:cubicBezTo>
                <a:lnTo>
                  <a:pt x="62126" y="66675"/>
                </a:lnTo>
                <a:lnTo>
                  <a:pt x="44901" y="66675"/>
                </a:lnTo>
                <a:cubicBezTo>
                  <a:pt x="41186" y="66675"/>
                  <a:pt x="37713" y="64834"/>
                  <a:pt x="35664" y="61744"/>
                </a:cubicBezTo>
                <a:lnTo>
                  <a:pt x="8126" y="20454"/>
                </a:lnTo>
                <a:cubicBezTo>
                  <a:pt x="6668" y="18266"/>
                  <a:pt x="6945" y="15314"/>
                  <a:pt x="8821" y="13439"/>
                </a:cubicBezTo>
                <a:lnTo>
                  <a:pt x="24586" y="-2327"/>
                </a:lnTo>
                <a:cubicBezTo>
                  <a:pt x="26462" y="-4202"/>
                  <a:pt x="29379" y="-4480"/>
                  <a:pt x="31601" y="-3021"/>
                </a:cubicBezTo>
                <a:lnTo>
                  <a:pt x="72891" y="24482"/>
                </a:lnTo>
                <a:cubicBezTo>
                  <a:pt x="75982" y="26531"/>
                  <a:pt x="77822" y="30004"/>
                  <a:pt x="77822" y="33719"/>
                </a:cubicBezTo>
                <a:close/>
                <a:moveTo>
                  <a:pt x="74870" y="102999"/>
                </a:moveTo>
                <a:cubicBezTo>
                  <a:pt x="72683" y="115848"/>
                  <a:pt x="75704" y="129426"/>
                  <a:pt x="84038" y="140295"/>
                </a:cubicBezTo>
                <a:lnTo>
                  <a:pt x="51048" y="173251"/>
                </a:lnTo>
                <a:cubicBezTo>
                  <a:pt x="41290" y="183009"/>
                  <a:pt x="25455" y="183009"/>
                  <a:pt x="15696" y="173251"/>
                </a:cubicBezTo>
                <a:cubicBezTo>
                  <a:pt x="5938" y="163493"/>
                  <a:pt x="5938" y="147657"/>
                  <a:pt x="15696" y="137899"/>
                </a:cubicBezTo>
                <a:lnTo>
                  <a:pt x="62716" y="90879"/>
                </a:lnTo>
                <a:lnTo>
                  <a:pt x="74870" y="103034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131050" lIns="131050" spcFirstLastPara="1" rIns="131050" wrap="square" tIns="131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3"/>
          </a:p>
        </p:txBody>
      </p:sp>
      <p:sp>
        <p:nvSpPr>
          <p:cNvPr id="151" name="Google Shape;151;p3"/>
          <p:cNvSpPr/>
          <p:nvPr/>
        </p:nvSpPr>
        <p:spPr>
          <a:xfrm>
            <a:off x="993691" y="4767616"/>
            <a:ext cx="5024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7"/>
              <a:buFont typeface="Arial"/>
              <a:buNone/>
            </a:pPr>
            <a:r>
              <a:rPr b="0" i="0" lang="en-US" sz="2293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Herramientas: Docker, Containerd, Zot</a:t>
            </a:r>
            <a:endParaRPr b="0" i="0" sz="2580" u="none" cap="none" strike="noStrike"/>
          </a:p>
        </p:txBody>
      </p:sp>
      <p:sp>
        <p:nvSpPr>
          <p:cNvPr id="152" name="Google Shape;152;p3"/>
          <p:cNvSpPr/>
          <p:nvPr/>
        </p:nvSpPr>
        <p:spPr>
          <a:xfrm>
            <a:off x="579510" y="5332007"/>
            <a:ext cx="254698" cy="254699"/>
          </a:xfrm>
          <a:custGeom>
            <a:rect b="b" l="l" r="r" t="t"/>
            <a:pathLst>
              <a:path extrusionOk="0" h="177800" w="177800">
                <a:moveTo>
                  <a:pt x="166722" y="66675"/>
                </a:moveTo>
                <a:lnTo>
                  <a:pt x="169466" y="66675"/>
                </a:lnTo>
                <a:cubicBezTo>
                  <a:pt x="174084" y="66675"/>
                  <a:pt x="177800" y="62959"/>
                  <a:pt x="177800" y="58341"/>
                </a:cubicBezTo>
                <a:lnTo>
                  <a:pt x="177800" y="8334"/>
                </a:lnTo>
                <a:cubicBezTo>
                  <a:pt x="177800" y="4966"/>
                  <a:pt x="175786" y="1910"/>
                  <a:pt x="172660" y="625"/>
                </a:cubicBezTo>
                <a:cubicBezTo>
                  <a:pt x="169535" y="-660"/>
                  <a:pt x="165958" y="69"/>
                  <a:pt x="163562" y="2431"/>
                </a:cubicBezTo>
                <a:lnTo>
                  <a:pt x="145608" y="20419"/>
                </a:lnTo>
                <a:cubicBezTo>
                  <a:pt x="130225" y="7675"/>
                  <a:pt x="110430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ubicBezTo>
                  <a:pt x="27503" y="47054"/>
                  <a:pt x="55319" y="22225"/>
                  <a:pt x="88900" y="22225"/>
                </a:cubicBezTo>
                <a:cubicBezTo>
                  <a:pt x="104319" y="22225"/>
                  <a:pt x="118487" y="27434"/>
                  <a:pt x="129773" y="36220"/>
                </a:cubicBezTo>
                <a:lnTo>
                  <a:pt x="113556" y="52437"/>
                </a:lnTo>
                <a:cubicBezTo>
                  <a:pt x="111160" y="54833"/>
                  <a:pt x="110465" y="58410"/>
                  <a:pt x="111750" y="61535"/>
                </a:cubicBezTo>
                <a:cubicBezTo>
                  <a:pt x="113035" y="64661"/>
                  <a:pt x="116091" y="66675"/>
                  <a:pt x="119459" y="66675"/>
                </a:cubicBezTo>
                <a:lnTo>
                  <a:pt x="166722" y="66675"/>
                </a:lnTo>
                <a:close/>
                <a:moveTo>
                  <a:pt x="176932" y="101575"/>
                </a:moveTo>
                <a:cubicBezTo>
                  <a:pt x="177800" y="95498"/>
                  <a:pt x="173563" y="89872"/>
                  <a:pt x="167521" y="89004"/>
                </a:cubicBezTo>
                <a:cubicBezTo>
                  <a:pt x="161479" y="88136"/>
                  <a:pt x="155818" y="92373"/>
                  <a:pt x="154950" y="98415"/>
                </a:cubicBezTo>
                <a:cubicBezTo>
                  <a:pt x="150331" y="130711"/>
                  <a:pt x="122515" y="155540"/>
                  <a:pt x="88935" y="155540"/>
                </a:cubicBezTo>
                <a:cubicBezTo>
                  <a:pt x="73516" y="155540"/>
                  <a:pt x="59348" y="150331"/>
                  <a:pt x="48062" y="141545"/>
                </a:cubicBezTo>
                <a:lnTo>
                  <a:pt x="64244" y="125363"/>
                </a:lnTo>
                <a:cubicBezTo>
                  <a:pt x="66640" y="122967"/>
                  <a:pt x="67335" y="119390"/>
                  <a:pt x="66050" y="116265"/>
                </a:cubicBezTo>
                <a:cubicBezTo>
                  <a:pt x="64765" y="113139"/>
                  <a:pt x="61709" y="111125"/>
                  <a:pt x="58341" y="111125"/>
                </a:cubicBezTo>
                <a:lnTo>
                  <a:pt x="8334" y="111125"/>
                </a:lnTo>
                <a:cubicBezTo>
                  <a:pt x="3716" y="111125"/>
                  <a:pt x="0" y="114841"/>
                  <a:pt x="0" y="119459"/>
                </a:cubicBezTo>
                <a:lnTo>
                  <a:pt x="0" y="169466"/>
                </a:lnTo>
                <a:cubicBezTo>
                  <a:pt x="0" y="172834"/>
                  <a:pt x="2014" y="175890"/>
                  <a:pt x="5140" y="177175"/>
                </a:cubicBezTo>
                <a:cubicBezTo>
                  <a:pt x="8265" y="178460"/>
                  <a:pt x="11842" y="177731"/>
                  <a:pt x="14238" y="175369"/>
                </a:cubicBezTo>
                <a:lnTo>
                  <a:pt x="32226" y="157381"/>
                </a:lnTo>
                <a:cubicBezTo>
                  <a:pt x="47575" y="170125"/>
                  <a:pt x="67370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131050" lIns="131050" spcFirstLastPara="1" rIns="131050" wrap="square" tIns="131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3"/>
          </a:p>
        </p:txBody>
      </p:sp>
      <p:sp>
        <p:nvSpPr>
          <p:cNvPr id="153" name="Google Shape;153;p3"/>
          <p:cNvSpPr/>
          <p:nvPr/>
        </p:nvSpPr>
        <p:spPr>
          <a:xfrm>
            <a:off x="993691" y="5277388"/>
            <a:ext cx="36048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7"/>
              <a:buFont typeface="Arial"/>
              <a:buNone/>
            </a:pPr>
            <a:r>
              <a:rPr b="0" i="0" lang="en-US" sz="2293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Ciclo de Vida y Seguridad</a:t>
            </a:r>
            <a:endParaRPr b="0" i="0" sz="2580" u="none" cap="none" strike="noStrike"/>
          </a:p>
        </p:txBody>
      </p:sp>
      <p:cxnSp>
        <p:nvCxnSpPr>
          <p:cNvPr id="154" name="Google Shape;154;p3"/>
          <p:cNvCxnSpPr/>
          <p:nvPr/>
        </p:nvCxnSpPr>
        <p:spPr>
          <a:xfrm>
            <a:off x="6299200" y="2986088"/>
            <a:ext cx="5435600" cy="0"/>
          </a:xfrm>
          <a:prstGeom prst="straightConnector1">
            <a:avLst/>
          </a:prstGeom>
          <a:noFill/>
          <a:ln cap="flat" cmpd="sng" w="50800">
            <a:solidFill>
              <a:srgbClr val="888B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3"/>
          <p:cNvSpPr/>
          <p:nvPr/>
        </p:nvSpPr>
        <p:spPr>
          <a:xfrm>
            <a:off x="6400800" y="3240088"/>
            <a:ext cx="5943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1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Recursos: </a:t>
            </a:r>
            <a:endParaRPr b="0" i="0" sz="1600" u="none" cap="none" strike="noStrike"/>
          </a:p>
        </p:txBody>
      </p:sp>
      <p:pic>
        <p:nvPicPr>
          <p:cNvPr id="156" name="Google Shape;156;p3" title="BUHOADSFA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"/>
          <p:cNvSpPr/>
          <p:nvPr/>
        </p:nvSpPr>
        <p:spPr>
          <a:xfrm>
            <a:off x="993691" y="5687038"/>
            <a:ext cx="36048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007"/>
              <a:buFont typeface="Arial"/>
              <a:buNone/>
            </a:pPr>
            <a:r>
              <a:rPr lang="en-US" sz="2293">
                <a:solidFill>
                  <a:srgbClr val="1E1E1E"/>
                </a:solidFill>
              </a:rPr>
              <a:t>Ejemplos </a:t>
            </a:r>
            <a:endParaRPr b="0" i="0" sz="258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>
            <a:off x="1554480" y="3347085"/>
            <a:ext cx="9086215" cy="1646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 estudiante desarrolla proyectos que integran máquinas virtuales y contenedores, utilizando tecnologías como Docker, Containerd, Harbor y Zot, para comprender el ciclo de vida completo de despliegue, gestión y distribución de servicios en entornos modernos.</a:t>
            </a:r>
            <a:endParaRPr b="0" i="0" sz="1600" u="none" cap="none" strike="noStrike"/>
          </a:p>
        </p:txBody>
      </p:sp>
      <p:sp>
        <p:nvSpPr>
          <p:cNvPr id="164" name="Google Shape;164;p4"/>
          <p:cNvSpPr/>
          <p:nvPr/>
        </p:nvSpPr>
        <p:spPr>
          <a:xfrm>
            <a:off x="1143000" y="1673860"/>
            <a:ext cx="9906000" cy="4343400"/>
          </a:xfrm>
          <a:prstGeom prst="roundRect">
            <a:avLst>
              <a:gd fmla="val 4487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1302375" y="1673860"/>
            <a:ext cx="9906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66" name="Google Shape;166;p4"/>
          <p:cNvSpPr/>
          <p:nvPr/>
        </p:nvSpPr>
        <p:spPr>
          <a:xfrm>
            <a:off x="1143000" y="1673860"/>
            <a:ext cx="7970520" cy="594360"/>
          </a:xfrm>
          <a:custGeom>
            <a:rect b="b" l="l" r="r" t="t"/>
            <a:pathLst>
              <a:path extrusionOk="0" h="594360" w="7970520">
                <a:moveTo>
                  <a:pt x="194945" y="0"/>
                </a:moveTo>
                <a:lnTo>
                  <a:pt x="7673340" y="0"/>
                </a:lnTo>
                <a:cubicBezTo>
                  <a:pt x="7840345" y="-5080"/>
                  <a:pt x="7974330" y="147320"/>
                  <a:pt x="7970520" y="297180"/>
                </a:cubicBezTo>
                <a:cubicBezTo>
                  <a:pt x="7975600" y="464185"/>
                  <a:pt x="7823200" y="598170"/>
                  <a:pt x="7673340" y="594360"/>
                </a:cubicBezTo>
                <a:lnTo>
                  <a:pt x="0" y="594360"/>
                </a:lnTo>
                <a:lnTo>
                  <a:pt x="0" y="194945"/>
                </a:lnTo>
                <a:cubicBezTo>
                  <a:pt x="-3175" y="85725"/>
                  <a:pt x="96520" y="-2540"/>
                  <a:pt x="194945" y="0"/>
                </a:cubicBezTo>
                <a:close/>
              </a:path>
            </a:pathLst>
          </a:cu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1143000" y="1673860"/>
            <a:ext cx="7970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cxnSp>
        <p:nvCxnSpPr>
          <p:cNvPr id="168" name="Google Shape;168;p4"/>
          <p:cNvCxnSpPr/>
          <p:nvPr/>
        </p:nvCxnSpPr>
        <p:spPr>
          <a:xfrm rot="10800000">
            <a:off x="1143000" y="2260600"/>
            <a:ext cx="9906000" cy="0"/>
          </a:xfrm>
          <a:prstGeom prst="straightConnector1">
            <a:avLst/>
          </a:prstGeom>
          <a:noFill/>
          <a:ln cap="flat" cmpd="sng" w="12700">
            <a:solidFill>
              <a:srgbClr val="2323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/>
          <p:nvPr/>
        </p:nvSpPr>
        <p:spPr>
          <a:xfrm flipH="1" rot="10800000">
            <a:off x="10031730" y="1910080"/>
            <a:ext cx="641350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10031730" y="1910080"/>
            <a:ext cx="64135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71" name="Google Shape;171;p4"/>
          <p:cNvSpPr/>
          <p:nvPr/>
        </p:nvSpPr>
        <p:spPr>
          <a:xfrm flipH="1" rot="10800000">
            <a:off x="9930130" y="1910080"/>
            <a:ext cx="75565" cy="76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232323"/>
              </a:gs>
              <a:gs pos="100000">
                <a:srgbClr val="919191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9930130" y="1910080"/>
            <a:ext cx="75565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73" name="Google Shape;173;p4"/>
          <p:cNvSpPr/>
          <p:nvPr/>
        </p:nvSpPr>
        <p:spPr>
          <a:xfrm flipH="1" rot="10800000">
            <a:off x="1143000" y="5818505"/>
            <a:ext cx="9907270" cy="198755"/>
          </a:xfrm>
          <a:prstGeom prst="round2SameRect">
            <a:avLst>
              <a:gd fmla="val 50000" name="adj1"/>
              <a:gd fmla="val 0" name="adj2"/>
            </a:avLst>
          </a:prstGeom>
          <a:gradFill>
            <a:gsLst>
              <a:gs pos="0">
                <a:srgbClr val="232323"/>
              </a:gs>
              <a:gs pos="100000">
                <a:srgbClr val="5A5A5A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143000" y="5818505"/>
            <a:ext cx="9907270" cy="198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75" name="Google Shape;175;p4"/>
          <p:cNvSpPr/>
          <p:nvPr/>
        </p:nvSpPr>
        <p:spPr>
          <a:xfrm>
            <a:off x="1702101" y="678827"/>
            <a:ext cx="897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COMPETENCIAS</a:t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20:09:25-d2nfat98bjvh7rlj0j30.png"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92" y="745020"/>
            <a:ext cx="5334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183" name="Google Shape;1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b="0" i="0" sz="1600" u="none" cap="none" strike="noStrike"/>
          </a:p>
        </p:txBody>
      </p:sp>
      <p:sp>
        <p:nvSpPr>
          <p:cNvPr id="186" name="Google Shape;186;p5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660400" y="2082800"/>
            <a:ext cx="11785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88B8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88B8D"/>
                </a:solidFill>
                <a:latin typeface="Arial"/>
                <a:ea typeface="Arial"/>
                <a:cs typeface="Arial"/>
                <a:sym typeface="Arial"/>
              </a:rPr>
              <a:t>Sistemas Operativos 1</a:t>
            </a:r>
            <a:endParaRPr b="0" i="0" sz="1600" u="none" cap="none" strike="noStrike"/>
          </a:p>
        </p:txBody>
      </p:sp>
      <p:sp>
        <p:nvSpPr>
          <p:cNvPr id="193" name="Google Shape;193;p6"/>
          <p:cNvSpPr/>
          <p:nvPr/>
        </p:nvSpPr>
        <p:spPr>
          <a:xfrm>
            <a:off x="660400" y="2540000"/>
            <a:ext cx="1178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4800"/>
              <a:buFont typeface="Noto Sans SC"/>
              <a:buNone/>
            </a:pPr>
            <a:r>
              <a:rPr b="0" i="0" lang="en-US" sz="48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Contexto de la Asignatura</a:t>
            </a:r>
            <a:endParaRPr b="0" i="0" sz="1600" u="none" cap="none" strike="noStrike"/>
          </a:p>
        </p:txBody>
      </p:sp>
      <p:sp>
        <p:nvSpPr>
          <p:cNvPr id="194" name="Google Shape;194;p6"/>
          <p:cNvSpPr/>
          <p:nvPr/>
        </p:nvSpPr>
        <p:spPr>
          <a:xfrm>
            <a:off x="660400" y="3454400"/>
            <a:ext cx="7315200" cy="13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El objetivo es comprender la integración de </a:t>
            </a:r>
            <a:r>
              <a:rPr b="1" i="0" lang="en-US" sz="16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máquinas virtuales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n-US" sz="16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contenedores</a:t>
            </a: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en entornos modernos, utilizando tecnologías clave como Docker, Containerd y Zot.</a:t>
            </a:r>
            <a:endParaRPr b="0" i="0" sz="1600" u="none" cap="none" strike="noStrike"/>
          </a:p>
        </p:txBody>
      </p:sp>
      <p:pic>
        <p:nvPicPr>
          <p:cNvPr descr="https://kimi-web-img.moonshot.cn/img/static.vecteezy.com/deda3dbf4e30baed31a8f49a4d75855931e6c9ca.jp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29050" r="29049" t="0"/>
          <a:stretch/>
        </p:blipFill>
        <p:spPr>
          <a:xfrm>
            <a:off x="8128198" y="0"/>
            <a:ext cx="4064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Contenido</a:t>
            </a:r>
            <a:endParaRPr b="0" i="0" sz="1600" u="none" cap="none" strike="noStrike"/>
          </a:p>
        </p:txBody>
      </p:sp>
      <p:sp>
        <p:nvSpPr>
          <p:cNvPr id="204" name="Google Shape;204;p7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00" u="none" cap="none" strike="noStrike"/>
          </a:p>
        </p:txBody>
      </p:sp>
      <p:pic>
        <p:nvPicPr>
          <p:cNvPr id="205" name="Google Shape;205;p7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254000" y="15113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Máquinas Virtuales (VMs)</a:t>
            </a:r>
            <a:endParaRPr b="0" i="0" sz="1600" u="none" cap="none" strike="noStrike"/>
          </a:p>
        </p:txBody>
      </p:sp>
      <p:sp>
        <p:nvSpPr>
          <p:cNvPr id="212" name="Google Shape;212;p8"/>
          <p:cNvSpPr/>
          <p:nvPr/>
        </p:nvSpPr>
        <p:spPr>
          <a:xfrm>
            <a:off x="254000" y="2222500"/>
            <a:ext cx="5537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Una VM es una  emulación de un sistema físico  que ejecuta un sistema operativo completo sobre una capa de virtualización de hardware (hypervisor). </a:t>
            </a:r>
            <a:endParaRPr b="0" i="0" sz="1600" u="none" cap="none" strike="noStrike"/>
          </a:p>
        </p:txBody>
      </p:sp>
      <p:sp>
        <p:nvSpPr>
          <p:cNvPr id="213" name="Google Shape;213;p8"/>
          <p:cNvSpPr/>
          <p:nvPr/>
        </p:nvSpPr>
        <p:spPr>
          <a:xfrm>
            <a:off x="311150" y="3568700"/>
            <a:ext cx="266700" cy="304800"/>
          </a:xfrm>
          <a:custGeom>
            <a:rect b="b" l="l" r="r" t="t"/>
            <a:pathLst>
              <a:path extrusionOk="0" h="304800" w="2667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35000" y="3517900"/>
            <a:ext cx="566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Aislamiento Total</a:t>
            </a:r>
            <a:endParaRPr b="0" i="0" sz="1600" u="none" cap="none" strike="noStrike"/>
          </a:p>
        </p:txBody>
      </p:sp>
      <p:sp>
        <p:nvSpPr>
          <p:cNvPr id="215" name="Google Shape;215;p8"/>
          <p:cNvSpPr/>
          <p:nvPr/>
        </p:nvSpPr>
        <p:spPr>
          <a:xfrm>
            <a:off x="635000" y="3822700"/>
            <a:ext cx="5156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VM tiene su propio kernel y recursos asignados, garantizando una separación total de entornos.</a:t>
            </a:r>
            <a:endParaRPr b="0" i="0" sz="1600" u="none" cap="none" strike="noStrike"/>
          </a:p>
        </p:txBody>
      </p:sp>
      <p:sp>
        <p:nvSpPr>
          <p:cNvPr id="216" name="Google Shape;216;p8"/>
          <p:cNvSpPr/>
          <p:nvPr/>
        </p:nvSpPr>
        <p:spPr>
          <a:xfrm>
            <a:off x="292100" y="4584700"/>
            <a:ext cx="304800" cy="304800"/>
          </a:xfrm>
          <a:custGeom>
            <a:rect b="b" l="l" r="r" t="t"/>
            <a:pathLst>
              <a:path extrusionOk="0" h="304800" w="304800">
                <a:moveTo>
                  <a:pt x="133350" y="57150"/>
                </a:moveTo>
                <a:cubicBezTo>
                  <a:pt x="133350" y="46636"/>
                  <a:pt x="141886" y="38100"/>
                  <a:pt x="152400" y="38100"/>
                </a:cubicBezTo>
                <a:cubicBezTo>
                  <a:pt x="162914" y="38100"/>
                  <a:pt x="171450" y="46636"/>
                  <a:pt x="171450" y="57150"/>
                </a:cubicBezTo>
                <a:cubicBezTo>
                  <a:pt x="171450" y="67664"/>
                  <a:pt x="162914" y="76200"/>
                  <a:pt x="152400" y="76200"/>
                </a:cubicBezTo>
                <a:cubicBezTo>
                  <a:pt x="141886" y="76200"/>
                  <a:pt x="133350" y="67664"/>
                  <a:pt x="133350" y="57150"/>
                </a:cubicBezTo>
                <a:close/>
                <a:moveTo>
                  <a:pt x="206276" y="76200"/>
                </a:moveTo>
                <a:cubicBezTo>
                  <a:pt x="208359" y="70247"/>
                  <a:pt x="209550" y="63818"/>
                  <a:pt x="209550" y="57150"/>
                </a:cubicBezTo>
                <a:cubicBezTo>
                  <a:pt x="209550" y="25598"/>
                  <a:pt x="183952" y="0"/>
                  <a:pt x="152400" y="0"/>
                </a:cubicBezTo>
                <a:cubicBezTo>
                  <a:pt x="120848" y="0"/>
                  <a:pt x="95250" y="25598"/>
                  <a:pt x="95250" y="57150"/>
                </a:cubicBezTo>
                <a:cubicBezTo>
                  <a:pt x="95250" y="63818"/>
                  <a:pt x="96381" y="70247"/>
                  <a:pt x="98524" y="76200"/>
                </a:cubicBezTo>
                <a:lnTo>
                  <a:pt x="85546" y="76200"/>
                </a:lnTo>
                <a:cubicBezTo>
                  <a:pt x="68699" y="76200"/>
                  <a:pt x="53876" y="87213"/>
                  <a:pt x="49054" y="103346"/>
                </a:cubicBezTo>
                <a:lnTo>
                  <a:pt x="1429" y="262057"/>
                </a:lnTo>
                <a:cubicBezTo>
                  <a:pt x="476" y="265152"/>
                  <a:pt x="0" y="268367"/>
                  <a:pt x="0" y="271582"/>
                </a:cubicBezTo>
                <a:cubicBezTo>
                  <a:pt x="0" y="289917"/>
                  <a:pt x="14883" y="304800"/>
                  <a:pt x="33218" y="304800"/>
                </a:cubicBezTo>
                <a:lnTo>
                  <a:pt x="271582" y="304800"/>
                </a:lnTo>
                <a:cubicBezTo>
                  <a:pt x="289917" y="304800"/>
                  <a:pt x="304800" y="289917"/>
                  <a:pt x="304800" y="271582"/>
                </a:cubicBezTo>
                <a:cubicBezTo>
                  <a:pt x="304800" y="268367"/>
                  <a:pt x="304324" y="265152"/>
                  <a:pt x="303371" y="262057"/>
                </a:cubicBezTo>
                <a:lnTo>
                  <a:pt x="255746" y="103406"/>
                </a:lnTo>
                <a:cubicBezTo>
                  <a:pt x="250924" y="87273"/>
                  <a:pt x="236101" y="76260"/>
                  <a:pt x="219254" y="76260"/>
                </a:cubicBezTo>
                <a:lnTo>
                  <a:pt x="206276" y="76260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635000" y="4533900"/>
            <a:ext cx="5664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Recursos Dedicados</a:t>
            </a:r>
            <a:endParaRPr b="0" i="0" sz="1600" u="none" cap="none" strike="noStrike"/>
          </a:p>
        </p:txBody>
      </p:sp>
      <p:sp>
        <p:nvSpPr>
          <p:cNvPr id="218" name="Google Shape;218;p8"/>
          <p:cNvSpPr/>
          <p:nvPr/>
        </p:nvSpPr>
        <p:spPr>
          <a:xfrm>
            <a:off x="635000" y="4838700"/>
            <a:ext cx="5156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Tamaño generalmente en GB y tiempos de arranque en minutos debido a la carga del SO completo.</a:t>
            </a:r>
            <a:endParaRPr b="0" i="0" sz="1600" u="none" cap="none" strike="noStrike"/>
          </a:p>
        </p:txBody>
      </p:sp>
      <p:pic>
        <p:nvPicPr>
          <p:cNvPr id="219" name="Google Shape;21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325" y="0"/>
            <a:ext cx="56976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6400800" y="1511300"/>
            <a:ext cx="6045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Contenedores</a:t>
            </a:r>
            <a:endParaRPr b="0" i="0" sz="1600" u="none" cap="none" strike="noStrike"/>
          </a:p>
        </p:txBody>
      </p:sp>
      <p:sp>
        <p:nvSpPr>
          <p:cNvPr id="226" name="Google Shape;226;p9"/>
          <p:cNvSpPr/>
          <p:nvPr/>
        </p:nvSpPr>
        <p:spPr>
          <a:xfrm>
            <a:off x="6400800" y="2222500"/>
            <a:ext cx="5537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Los contenedores son  entornos de ejecución aislados  que comparten el kernel del sistema operativo host, virtualizando a nivel de aplicación. </a:t>
            </a:r>
            <a:endParaRPr b="0" i="0" sz="1600" u="none" cap="none" strike="noStrike"/>
          </a:p>
        </p:txBody>
      </p:sp>
      <p:sp>
        <p:nvSpPr>
          <p:cNvPr id="227" name="Google Shape;227;p9"/>
          <p:cNvSpPr/>
          <p:nvPr/>
        </p:nvSpPr>
        <p:spPr>
          <a:xfrm>
            <a:off x="6445448" y="3568700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794897" y="3517900"/>
            <a:ext cx="565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Ligereza y Rapidez</a:t>
            </a:r>
            <a:endParaRPr b="0" i="0" sz="1600" u="none" cap="none" strike="noStrike"/>
          </a:p>
        </p:txBody>
      </p:sp>
      <p:sp>
        <p:nvSpPr>
          <p:cNvPr id="229" name="Google Shape;229;p9"/>
          <p:cNvSpPr/>
          <p:nvPr/>
        </p:nvSpPr>
        <p:spPr>
          <a:xfrm>
            <a:off x="6794897" y="3822700"/>
            <a:ext cx="5143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Tamaño en MB y arranque en segundos, optimizando el uso de recursos del sistema.</a:t>
            </a:r>
            <a:endParaRPr b="0" i="0" sz="1600" u="none" cap="none" strike="noStrike"/>
          </a:p>
        </p:txBody>
      </p:sp>
      <p:sp>
        <p:nvSpPr>
          <p:cNvPr id="230" name="Google Shape;230;p9"/>
          <p:cNvSpPr/>
          <p:nvPr/>
        </p:nvSpPr>
        <p:spPr>
          <a:xfrm>
            <a:off x="6404570" y="4584700"/>
            <a:ext cx="381000" cy="304800"/>
          </a:xfrm>
          <a:custGeom>
            <a:rect b="b" l="l" r="r" t="t"/>
            <a:pathLst>
              <a:path extrusionOk="0" h="304800" w="3810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789539" y="4533900"/>
            <a:ext cx="565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Ideal para DevOps</a:t>
            </a:r>
            <a:endParaRPr b="0" i="0" sz="1600" u="none" cap="none" strike="noStrike"/>
          </a:p>
        </p:txBody>
      </p:sp>
      <p:sp>
        <p:nvSpPr>
          <p:cNvPr id="232" name="Google Shape;232;p9"/>
          <p:cNvSpPr/>
          <p:nvPr/>
        </p:nvSpPr>
        <p:spPr>
          <a:xfrm>
            <a:off x="6789539" y="4838700"/>
            <a:ext cx="5143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Facilitan el escalado rápico, la portabilidad y la implementación de prácticas de CI/CD.</a:t>
            </a:r>
            <a:endParaRPr b="0" i="0" sz="1600" u="none" cap="none" strike="noStrike"/>
          </a:p>
        </p:txBody>
      </p:sp>
      <p:pic>
        <p:nvPicPr>
          <p:cNvPr id="233" name="Google Shape;23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096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0" y="1625600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Comparativa: VMs vs. Contenedores</a:t>
            </a:r>
            <a:endParaRPr b="0" i="0" sz="160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457200" y="2540000"/>
            <a:ext cx="5486400" cy="2692400"/>
          </a:xfrm>
          <a:custGeom>
            <a:rect b="b" l="l" r="r" t="t"/>
            <a:pathLst>
              <a:path extrusionOk="0" h="2692400" w="5486400">
                <a:moveTo>
                  <a:pt x="101611" y="0"/>
                </a:moveTo>
                <a:lnTo>
                  <a:pt x="5384789" y="0"/>
                </a:lnTo>
                <a:cubicBezTo>
                  <a:pt x="5440907" y="0"/>
                  <a:pt x="5486400" y="45493"/>
                  <a:pt x="5486400" y="101611"/>
                </a:cubicBezTo>
                <a:lnTo>
                  <a:pt x="5486400" y="2590789"/>
                </a:lnTo>
                <a:cubicBezTo>
                  <a:pt x="5486400" y="2646907"/>
                  <a:pt x="5440907" y="2692400"/>
                  <a:pt x="5384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62000" y="2844800"/>
            <a:ext cx="4876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Noto Sans SC"/>
              <a:buNone/>
            </a:pPr>
            <a:r>
              <a:rPr b="0" i="0" lang="en-US" sz="24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Máquinas Virtuales</a:t>
            </a:r>
            <a:endParaRPr b="0" i="0" sz="16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828675" y="3492500"/>
            <a:ext cx="177800" cy="177800"/>
          </a:xfrm>
          <a:custGeom>
            <a:rect b="b" l="l" r="r" t="t"/>
            <a:pathLst>
              <a:path extrusionOk="0" h="177800" w="177800">
                <a:moveTo>
                  <a:pt x="61119" y="8334"/>
                </a:moveTo>
                <a:cubicBezTo>
                  <a:pt x="61119" y="3716"/>
                  <a:pt x="57403" y="0"/>
                  <a:pt x="52784" y="0"/>
                </a:cubicBezTo>
                <a:cubicBezTo>
                  <a:pt x="48166" y="0"/>
                  <a:pt x="44450" y="3716"/>
                  <a:pt x="44450" y="8334"/>
                </a:cubicBezTo>
                <a:lnTo>
                  <a:pt x="44450" y="22225"/>
                </a:lnTo>
                <a:cubicBezTo>
                  <a:pt x="32192" y="22225"/>
                  <a:pt x="22225" y="32192"/>
                  <a:pt x="22225" y="44450"/>
                </a:cubicBezTo>
                <a:lnTo>
                  <a:pt x="8334" y="44450"/>
                </a:lnTo>
                <a:cubicBezTo>
                  <a:pt x="3716" y="44450"/>
                  <a:pt x="0" y="48166"/>
                  <a:pt x="0" y="52784"/>
                </a:cubicBezTo>
                <a:cubicBezTo>
                  <a:pt x="0" y="57403"/>
                  <a:pt x="3716" y="61119"/>
                  <a:pt x="8334" y="61119"/>
                </a:cubicBezTo>
                <a:lnTo>
                  <a:pt x="22225" y="61119"/>
                </a:lnTo>
                <a:lnTo>
                  <a:pt x="22225" y="80566"/>
                </a:lnTo>
                <a:lnTo>
                  <a:pt x="8334" y="80566"/>
                </a:lnTo>
                <a:cubicBezTo>
                  <a:pt x="3716" y="80566"/>
                  <a:pt x="0" y="84281"/>
                  <a:pt x="0" y="88900"/>
                </a:cubicBezTo>
                <a:cubicBezTo>
                  <a:pt x="0" y="93519"/>
                  <a:pt x="3716" y="97234"/>
                  <a:pt x="8334" y="97234"/>
                </a:cubicBezTo>
                <a:lnTo>
                  <a:pt x="22225" y="97234"/>
                </a:lnTo>
                <a:lnTo>
                  <a:pt x="22225" y="116681"/>
                </a:lnTo>
                <a:lnTo>
                  <a:pt x="8334" y="116681"/>
                </a:lnTo>
                <a:cubicBezTo>
                  <a:pt x="3716" y="116681"/>
                  <a:pt x="0" y="120397"/>
                  <a:pt x="0" y="125016"/>
                </a:cubicBezTo>
                <a:cubicBezTo>
                  <a:pt x="0" y="129634"/>
                  <a:pt x="3716" y="133350"/>
                  <a:pt x="8334" y="133350"/>
                </a:cubicBezTo>
                <a:lnTo>
                  <a:pt x="22225" y="133350"/>
                </a:lnTo>
                <a:cubicBezTo>
                  <a:pt x="22225" y="145608"/>
                  <a:pt x="32192" y="155575"/>
                  <a:pt x="44450" y="155575"/>
                </a:cubicBezTo>
                <a:lnTo>
                  <a:pt x="44450" y="169466"/>
                </a:lnTo>
                <a:cubicBezTo>
                  <a:pt x="44450" y="174084"/>
                  <a:pt x="48166" y="177800"/>
                  <a:pt x="52784" y="177800"/>
                </a:cubicBezTo>
                <a:cubicBezTo>
                  <a:pt x="57403" y="177800"/>
                  <a:pt x="61119" y="174084"/>
                  <a:pt x="61119" y="169466"/>
                </a:cubicBezTo>
                <a:lnTo>
                  <a:pt x="61119" y="155575"/>
                </a:lnTo>
                <a:lnTo>
                  <a:pt x="80566" y="155575"/>
                </a:lnTo>
                <a:lnTo>
                  <a:pt x="80566" y="169466"/>
                </a:lnTo>
                <a:cubicBezTo>
                  <a:pt x="80566" y="174084"/>
                  <a:pt x="84281" y="177800"/>
                  <a:pt x="88900" y="177800"/>
                </a:cubicBezTo>
                <a:cubicBezTo>
                  <a:pt x="93519" y="177800"/>
                  <a:pt x="97234" y="174084"/>
                  <a:pt x="97234" y="169466"/>
                </a:cubicBezTo>
                <a:lnTo>
                  <a:pt x="97234" y="155575"/>
                </a:lnTo>
                <a:lnTo>
                  <a:pt x="116681" y="155575"/>
                </a:lnTo>
                <a:lnTo>
                  <a:pt x="116681" y="169466"/>
                </a:lnTo>
                <a:cubicBezTo>
                  <a:pt x="116681" y="174084"/>
                  <a:pt x="120397" y="177800"/>
                  <a:pt x="125016" y="177800"/>
                </a:cubicBezTo>
                <a:cubicBezTo>
                  <a:pt x="129634" y="177800"/>
                  <a:pt x="133350" y="174084"/>
                  <a:pt x="133350" y="169466"/>
                </a:cubicBezTo>
                <a:lnTo>
                  <a:pt x="133350" y="155575"/>
                </a:lnTo>
                <a:cubicBezTo>
                  <a:pt x="145608" y="155575"/>
                  <a:pt x="155575" y="145608"/>
                  <a:pt x="155575" y="133350"/>
                </a:cubicBezTo>
                <a:lnTo>
                  <a:pt x="169466" y="133350"/>
                </a:lnTo>
                <a:cubicBezTo>
                  <a:pt x="174084" y="133350"/>
                  <a:pt x="177800" y="129634"/>
                  <a:pt x="177800" y="125016"/>
                </a:cubicBezTo>
                <a:cubicBezTo>
                  <a:pt x="177800" y="120397"/>
                  <a:pt x="174084" y="116681"/>
                  <a:pt x="169466" y="116681"/>
                </a:cubicBezTo>
                <a:lnTo>
                  <a:pt x="155575" y="116681"/>
                </a:lnTo>
                <a:lnTo>
                  <a:pt x="155575" y="97234"/>
                </a:lnTo>
                <a:lnTo>
                  <a:pt x="169466" y="97234"/>
                </a:lnTo>
                <a:cubicBezTo>
                  <a:pt x="174084" y="97234"/>
                  <a:pt x="177800" y="93519"/>
                  <a:pt x="177800" y="88900"/>
                </a:cubicBezTo>
                <a:cubicBezTo>
                  <a:pt x="177800" y="84281"/>
                  <a:pt x="174084" y="80566"/>
                  <a:pt x="169466" y="80566"/>
                </a:cubicBezTo>
                <a:lnTo>
                  <a:pt x="155575" y="80566"/>
                </a:lnTo>
                <a:lnTo>
                  <a:pt x="155575" y="61119"/>
                </a:lnTo>
                <a:lnTo>
                  <a:pt x="169466" y="61119"/>
                </a:lnTo>
                <a:cubicBezTo>
                  <a:pt x="174084" y="61119"/>
                  <a:pt x="177800" y="57403"/>
                  <a:pt x="177800" y="52784"/>
                </a:cubicBezTo>
                <a:cubicBezTo>
                  <a:pt x="177800" y="48166"/>
                  <a:pt x="174084" y="44450"/>
                  <a:pt x="169466" y="44450"/>
                </a:cubicBezTo>
                <a:lnTo>
                  <a:pt x="155575" y="44450"/>
                </a:lnTo>
                <a:cubicBezTo>
                  <a:pt x="155575" y="32192"/>
                  <a:pt x="145608" y="22225"/>
                  <a:pt x="133350" y="22225"/>
                </a:cubicBezTo>
                <a:lnTo>
                  <a:pt x="133350" y="8334"/>
                </a:lnTo>
                <a:cubicBezTo>
                  <a:pt x="133350" y="3716"/>
                  <a:pt x="129634" y="0"/>
                  <a:pt x="125016" y="0"/>
                </a:cubicBezTo>
                <a:cubicBezTo>
                  <a:pt x="120397" y="0"/>
                  <a:pt x="116681" y="3716"/>
                  <a:pt x="116681" y="8334"/>
                </a:cubicBezTo>
                <a:lnTo>
                  <a:pt x="116681" y="22225"/>
                </a:lnTo>
                <a:lnTo>
                  <a:pt x="97234" y="22225"/>
                </a:lnTo>
                <a:lnTo>
                  <a:pt x="97234" y="8334"/>
                </a:lnTo>
                <a:cubicBezTo>
                  <a:pt x="97234" y="3716"/>
                  <a:pt x="93519" y="0"/>
                  <a:pt x="88900" y="0"/>
                </a:cubicBezTo>
                <a:cubicBezTo>
                  <a:pt x="84281" y="0"/>
                  <a:pt x="80566" y="3716"/>
                  <a:pt x="80566" y="8334"/>
                </a:cubicBezTo>
                <a:lnTo>
                  <a:pt x="80566" y="22225"/>
                </a:lnTo>
                <a:lnTo>
                  <a:pt x="61119" y="22225"/>
                </a:lnTo>
                <a:lnTo>
                  <a:pt x="61119" y="8334"/>
                </a:lnTo>
                <a:close/>
                <a:moveTo>
                  <a:pt x="55563" y="44450"/>
                </a:moveTo>
                <a:lnTo>
                  <a:pt x="122238" y="44450"/>
                </a:lnTo>
                <a:cubicBezTo>
                  <a:pt x="128384" y="44450"/>
                  <a:pt x="133350" y="49416"/>
                  <a:pt x="133350" y="55563"/>
                </a:cubicBezTo>
                <a:lnTo>
                  <a:pt x="133350" y="122238"/>
                </a:lnTo>
                <a:cubicBezTo>
                  <a:pt x="133350" y="128384"/>
                  <a:pt x="128384" y="133350"/>
                  <a:pt x="122238" y="133350"/>
                </a:cubicBezTo>
                <a:lnTo>
                  <a:pt x="55563" y="133350"/>
                </a:lnTo>
                <a:cubicBezTo>
                  <a:pt x="49416" y="133350"/>
                  <a:pt x="44450" y="128384"/>
                  <a:pt x="44450" y="122238"/>
                </a:cubicBezTo>
                <a:lnTo>
                  <a:pt x="44450" y="55563"/>
                </a:lnTo>
                <a:cubicBezTo>
                  <a:pt x="44450" y="49416"/>
                  <a:pt x="49416" y="44450"/>
                  <a:pt x="55563" y="44450"/>
                </a:cubicBezTo>
                <a:close/>
                <a:moveTo>
                  <a:pt x="61119" y="61119"/>
                </a:moveTo>
                <a:lnTo>
                  <a:pt x="61119" y="116681"/>
                </a:lnTo>
                <a:lnTo>
                  <a:pt x="116681" y="116681"/>
                </a:lnTo>
                <a:lnTo>
                  <a:pt x="116681" y="61119"/>
                </a:lnTo>
                <a:lnTo>
                  <a:pt x="61119" y="61119"/>
                </a:ln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1066800" y="3454400"/>
            <a:ext cx="2895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Virtualización: A nivel de 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244" name="Google Shape;244;p10"/>
          <p:cNvSpPr/>
          <p:nvPr/>
        </p:nvSpPr>
        <p:spPr>
          <a:xfrm>
            <a:off x="839788" y="3898900"/>
            <a:ext cx="155575" cy="177800"/>
          </a:xfrm>
          <a:custGeom>
            <a:rect b="b" l="l" r="r" t="t"/>
            <a:pathLst>
              <a:path extrusionOk="0" h="177800" w="155575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90324"/>
                </a:lnTo>
                <a:cubicBezTo>
                  <a:pt x="6286" y="85914"/>
                  <a:pt x="13960" y="83344"/>
                  <a:pt x="22225" y="83344"/>
                </a:cubicBezTo>
                <a:lnTo>
                  <a:pt x="133350" y="83344"/>
                </a:lnTo>
                <a:cubicBezTo>
                  <a:pt x="141615" y="83344"/>
                  <a:pt x="149289" y="85914"/>
                  <a:pt x="155575" y="90324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  <a:moveTo>
                  <a:pt x="155575" y="122238"/>
                </a:moveTo>
                <a:cubicBezTo>
                  <a:pt x="155575" y="109979"/>
                  <a:pt x="145608" y="100013"/>
                  <a:pt x="133350" y="100013"/>
                </a:cubicBezTo>
                <a:lnTo>
                  <a:pt x="22225" y="100013"/>
                </a:lnTo>
                <a:cubicBezTo>
                  <a:pt x="9967" y="100013"/>
                  <a:pt x="0" y="109979"/>
                  <a:pt x="0" y="122238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122238"/>
                </a:lnTo>
                <a:close/>
                <a:moveTo>
                  <a:pt x="77788" y="133350"/>
                </a:moveTo>
                <a:cubicBezTo>
                  <a:pt x="77788" y="127217"/>
                  <a:pt x="82767" y="122238"/>
                  <a:pt x="88900" y="122238"/>
                </a:cubicBezTo>
                <a:cubicBezTo>
                  <a:pt x="95033" y="122238"/>
                  <a:pt x="100013" y="127217"/>
                  <a:pt x="100013" y="133350"/>
                </a:cubicBezTo>
                <a:cubicBezTo>
                  <a:pt x="100013" y="139483"/>
                  <a:pt x="95033" y="144463"/>
                  <a:pt x="88900" y="144463"/>
                </a:cubicBezTo>
                <a:cubicBezTo>
                  <a:pt x="82767" y="144463"/>
                  <a:pt x="77788" y="139483"/>
                  <a:pt x="77788" y="133350"/>
                </a:cubicBezTo>
                <a:close/>
                <a:moveTo>
                  <a:pt x="122238" y="122238"/>
                </a:moveTo>
                <a:cubicBezTo>
                  <a:pt x="128371" y="122238"/>
                  <a:pt x="133350" y="127217"/>
                  <a:pt x="133350" y="133350"/>
                </a:cubicBezTo>
                <a:cubicBezTo>
                  <a:pt x="133350" y="139483"/>
                  <a:pt x="128371" y="144463"/>
                  <a:pt x="122238" y="144463"/>
                </a:cubicBezTo>
                <a:cubicBezTo>
                  <a:pt x="116104" y="144463"/>
                  <a:pt x="111125" y="139483"/>
                  <a:pt x="111125" y="133350"/>
                </a:cubicBezTo>
                <a:cubicBezTo>
                  <a:pt x="111125" y="127217"/>
                  <a:pt x="116104" y="122238"/>
                  <a:pt x="122238" y="122238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1066800" y="3860800"/>
            <a:ext cx="22225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Tamaño: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GB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(SO completo).</a:t>
            </a:r>
            <a:endParaRPr b="0" i="0" sz="1600" u="none" cap="none" strike="noStrike"/>
          </a:p>
        </p:txBody>
      </p:sp>
      <p:sp>
        <p:nvSpPr>
          <p:cNvPr id="246" name="Google Shape;246;p10"/>
          <p:cNvSpPr/>
          <p:nvPr/>
        </p:nvSpPr>
        <p:spPr>
          <a:xfrm>
            <a:off x="828675" y="43053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1066800" y="4267200"/>
            <a:ext cx="1612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Arranque: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Minutos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248" name="Google Shape;248;p10"/>
          <p:cNvSpPr/>
          <p:nvPr/>
        </p:nvSpPr>
        <p:spPr>
          <a:xfrm>
            <a:off x="828675" y="47117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1066800" y="4673600"/>
            <a:ext cx="2565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Caso de uso: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Aislamiento total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250" name="Google Shape;250;p10"/>
          <p:cNvSpPr/>
          <p:nvPr/>
        </p:nvSpPr>
        <p:spPr>
          <a:xfrm>
            <a:off x="6248400" y="2540000"/>
            <a:ext cx="5486400" cy="2692400"/>
          </a:xfrm>
          <a:custGeom>
            <a:rect b="b" l="l" r="r" t="t"/>
            <a:pathLst>
              <a:path extrusionOk="0" h="2692400" w="5486400">
                <a:moveTo>
                  <a:pt x="101611" y="0"/>
                </a:moveTo>
                <a:lnTo>
                  <a:pt x="5384789" y="0"/>
                </a:lnTo>
                <a:cubicBezTo>
                  <a:pt x="5440907" y="0"/>
                  <a:pt x="5486400" y="45493"/>
                  <a:pt x="5486400" y="101611"/>
                </a:cubicBezTo>
                <a:lnTo>
                  <a:pt x="5486400" y="2590789"/>
                </a:lnTo>
                <a:cubicBezTo>
                  <a:pt x="5486400" y="2646907"/>
                  <a:pt x="5440907" y="2692400"/>
                  <a:pt x="5384789" y="2692400"/>
                </a:cubicBezTo>
                <a:lnTo>
                  <a:pt x="101611" y="2692400"/>
                </a:lnTo>
                <a:cubicBezTo>
                  <a:pt x="45493" y="2692400"/>
                  <a:pt x="0" y="2646907"/>
                  <a:pt x="0" y="2590789"/>
                </a:cubicBezTo>
                <a:lnTo>
                  <a:pt x="0" y="101611"/>
                </a:lnTo>
                <a:cubicBezTo>
                  <a:pt x="0" y="45530"/>
                  <a:pt x="45530" y="0"/>
                  <a:pt x="101611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6553200" y="2844800"/>
            <a:ext cx="48768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Noto Sans SC"/>
              <a:buNone/>
            </a:pPr>
            <a:r>
              <a:rPr b="0" i="0" lang="en-US" sz="24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Contenedores</a:t>
            </a:r>
            <a:endParaRPr b="0" i="0" sz="1600" u="none" cap="none" strike="noStrike"/>
          </a:p>
        </p:txBody>
      </p:sp>
      <p:sp>
        <p:nvSpPr>
          <p:cNvPr id="252" name="Google Shape;252;p10"/>
          <p:cNvSpPr/>
          <p:nvPr/>
        </p:nvSpPr>
        <p:spPr>
          <a:xfrm>
            <a:off x="6619875" y="34925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0739" y="1806"/>
                </a:moveTo>
                <a:cubicBezTo>
                  <a:pt x="85914" y="-590"/>
                  <a:pt x="91886" y="-590"/>
                  <a:pt x="97061" y="1806"/>
                </a:cubicBezTo>
                <a:lnTo>
                  <a:pt x="172973" y="36880"/>
                </a:lnTo>
                <a:cubicBezTo>
                  <a:pt x="175925" y="38234"/>
                  <a:pt x="177800" y="41186"/>
                  <a:pt x="177800" y="44450"/>
                </a:cubicBezTo>
                <a:cubicBezTo>
                  <a:pt x="177800" y="47714"/>
                  <a:pt x="175925" y="50666"/>
                  <a:pt x="172973" y="52020"/>
                </a:cubicBezTo>
                <a:lnTo>
                  <a:pt x="97061" y="87094"/>
                </a:lnTo>
                <a:cubicBezTo>
                  <a:pt x="91886" y="89490"/>
                  <a:pt x="85914" y="89490"/>
                  <a:pt x="80739" y="87094"/>
                </a:cubicBezTo>
                <a:lnTo>
                  <a:pt x="4827" y="52020"/>
                </a:lnTo>
                <a:cubicBezTo>
                  <a:pt x="1875" y="50631"/>
                  <a:pt x="0" y="47680"/>
                  <a:pt x="0" y="44450"/>
                </a:cubicBezTo>
                <a:cubicBezTo>
                  <a:pt x="0" y="41220"/>
                  <a:pt x="1875" y="38234"/>
                  <a:pt x="4827" y="36880"/>
                </a:cubicBezTo>
                <a:lnTo>
                  <a:pt x="80739" y="1806"/>
                </a:lnTo>
                <a:close/>
                <a:moveTo>
                  <a:pt x="16703" y="75843"/>
                </a:moveTo>
                <a:lnTo>
                  <a:pt x="73759" y="102200"/>
                </a:lnTo>
                <a:cubicBezTo>
                  <a:pt x="83378" y="106645"/>
                  <a:pt x="94456" y="106645"/>
                  <a:pt x="104076" y="102200"/>
                </a:cubicBezTo>
                <a:lnTo>
                  <a:pt x="161131" y="75843"/>
                </a:lnTo>
                <a:lnTo>
                  <a:pt x="172973" y="81330"/>
                </a:lnTo>
                <a:cubicBezTo>
                  <a:pt x="175925" y="82684"/>
                  <a:pt x="177800" y="85636"/>
                  <a:pt x="177800" y="88900"/>
                </a:cubicBezTo>
                <a:cubicBezTo>
                  <a:pt x="177800" y="92164"/>
                  <a:pt x="175925" y="95116"/>
                  <a:pt x="172973" y="96470"/>
                </a:cubicBezTo>
                <a:lnTo>
                  <a:pt x="97061" y="131544"/>
                </a:lnTo>
                <a:cubicBezTo>
                  <a:pt x="91886" y="133940"/>
                  <a:pt x="85914" y="133940"/>
                  <a:pt x="80739" y="131544"/>
                </a:cubicBezTo>
                <a:lnTo>
                  <a:pt x="4827" y="96470"/>
                </a:lnTo>
                <a:cubicBezTo>
                  <a:pt x="1875" y="95081"/>
                  <a:pt x="0" y="92130"/>
                  <a:pt x="0" y="88900"/>
                </a:cubicBezTo>
                <a:cubicBezTo>
                  <a:pt x="0" y="85670"/>
                  <a:pt x="1875" y="82684"/>
                  <a:pt x="4827" y="81330"/>
                </a:cubicBezTo>
                <a:lnTo>
                  <a:pt x="16669" y="75843"/>
                </a:lnTo>
                <a:close/>
                <a:moveTo>
                  <a:pt x="4827" y="125780"/>
                </a:moveTo>
                <a:lnTo>
                  <a:pt x="16669" y="120293"/>
                </a:lnTo>
                <a:lnTo>
                  <a:pt x="73724" y="146650"/>
                </a:lnTo>
                <a:cubicBezTo>
                  <a:pt x="83344" y="151095"/>
                  <a:pt x="94422" y="151095"/>
                  <a:pt x="104041" y="146650"/>
                </a:cubicBezTo>
                <a:lnTo>
                  <a:pt x="161097" y="120293"/>
                </a:lnTo>
                <a:lnTo>
                  <a:pt x="172938" y="125780"/>
                </a:lnTo>
                <a:cubicBezTo>
                  <a:pt x="175890" y="127134"/>
                  <a:pt x="177765" y="130086"/>
                  <a:pt x="177765" y="133350"/>
                </a:cubicBezTo>
                <a:cubicBezTo>
                  <a:pt x="177765" y="136614"/>
                  <a:pt x="175890" y="139566"/>
                  <a:pt x="172938" y="140920"/>
                </a:cubicBezTo>
                <a:lnTo>
                  <a:pt x="97026" y="175994"/>
                </a:lnTo>
                <a:cubicBezTo>
                  <a:pt x="91852" y="178390"/>
                  <a:pt x="85879" y="178390"/>
                  <a:pt x="80705" y="175994"/>
                </a:cubicBezTo>
                <a:lnTo>
                  <a:pt x="4827" y="140920"/>
                </a:lnTo>
                <a:cubicBezTo>
                  <a:pt x="1875" y="139531"/>
                  <a:pt x="0" y="136580"/>
                  <a:pt x="0" y="133350"/>
                </a:cubicBezTo>
                <a:cubicBezTo>
                  <a:pt x="0" y="130120"/>
                  <a:pt x="1875" y="127134"/>
                  <a:pt x="4827" y="125780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858000" y="3454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Virtualización: A nivel de 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254" name="Google Shape;254;p10"/>
          <p:cNvSpPr/>
          <p:nvPr/>
        </p:nvSpPr>
        <p:spPr>
          <a:xfrm>
            <a:off x="6619875" y="3898900"/>
            <a:ext cx="177800" cy="177800"/>
          </a:xfrm>
          <a:custGeom>
            <a:rect b="b" l="l" r="r" t="t"/>
            <a:pathLst>
              <a:path extrusionOk="0" h="177800" w="177800">
                <a:moveTo>
                  <a:pt x="165055" y="35"/>
                </a:moveTo>
                <a:cubicBezTo>
                  <a:pt x="168493" y="-243"/>
                  <a:pt x="171862" y="1077"/>
                  <a:pt x="174293" y="3507"/>
                </a:cubicBezTo>
                <a:cubicBezTo>
                  <a:pt x="176723" y="5938"/>
                  <a:pt x="178043" y="9307"/>
                  <a:pt x="177765" y="12745"/>
                </a:cubicBezTo>
                <a:cubicBezTo>
                  <a:pt x="176376" y="29865"/>
                  <a:pt x="171723" y="56570"/>
                  <a:pt x="161687" y="82094"/>
                </a:cubicBezTo>
                <a:cubicBezTo>
                  <a:pt x="161062" y="83656"/>
                  <a:pt x="159777" y="84837"/>
                  <a:pt x="158145" y="85323"/>
                </a:cubicBezTo>
                <a:lnTo>
                  <a:pt x="130051" y="93762"/>
                </a:lnTo>
                <a:cubicBezTo>
                  <a:pt x="128697" y="94178"/>
                  <a:pt x="127794" y="95394"/>
                  <a:pt x="127794" y="96818"/>
                </a:cubicBezTo>
                <a:cubicBezTo>
                  <a:pt x="127794" y="98589"/>
                  <a:pt x="129218" y="100013"/>
                  <a:pt x="130989" y="100013"/>
                </a:cubicBezTo>
                <a:lnTo>
                  <a:pt x="144393" y="100013"/>
                </a:lnTo>
                <a:cubicBezTo>
                  <a:pt x="148560" y="100013"/>
                  <a:pt x="151234" y="104458"/>
                  <a:pt x="149081" y="108034"/>
                </a:cubicBezTo>
                <a:cubicBezTo>
                  <a:pt x="147692" y="110361"/>
                  <a:pt x="146199" y="112618"/>
                  <a:pt x="144671" y="114841"/>
                </a:cubicBezTo>
                <a:cubicBezTo>
                  <a:pt x="143976" y="115848"/>
                  <a:pt x="142935" y="116577"/>
                  <a:pt x="141754" y="116959"/>
                </a:cubicBezTo>
                <a:lnTo>
                  <a:pt x="107826" y="127099"/>
                </a:lnTo>
                <a:cubicBezTo>
                  <a:pt x="106472" y="127516"/>
                  <a:pt x="105569" y="128731"/>
                  <a:pt x="105569" y="130155"/>
                </a:cubicBezTo>
                <a:cubicBezTo>
                  <a:pt x="105569" y="131926"/>
                  <a:pt x="106993" y="133350"/>
                  <a:pt x="108764" y="133350"/>
                </a:cubicBezTo>
                <a:lnTo>
                  <a:pt x="114320" y="133350"/>
                </a:lnTo>
                <a:cubicBezTo>
                  <a:pt x="119390" y="133350"/>
                  <a:pt x="121612" y="139392"/>
                  <a:pt x="117376" y="142171"/>
                </a:cubicBezTo>
                <a:cubicBezTo>
                  <a:pt x="93762" y="157798"/>
                  <a:pt x="69557" y="157207"/>
                  <a:pt x="54035" y="153040"/>
                </a:cubicBezTo>
                <a:cubicBezTo>
                  <a:pt x="49624" y="151859"/>
                  <a:pt x="45700" y="149602"/>
                  <a:pt x="42089" y="146824"/>
                </a:cubicBezTo>
                <a:lnTo>
                  <a:pt x="16669" y="172244"/>
                </a:lnTo>
                <a:cubicBezTo>
                  <a:pt x="13613" y="175300"/>
                  <a:pt x="8612" y="175300"/>
                  <a:pt x="5556" y="172244"/>
                </a:cubicBezTo>
                <a:cubicBezTo>
                  <a:pt x="2500" y="169188"/>
                  <a:pt x="2500" y="164187"/>
                  <a:pt x="5556" y="161131"/>
                </a:cubicBezTo>
                <a:lnTo>
                  <a:pt x="33337" y="133350"/>
                </a:lnTo>
                <a:lnTo>
                  <a:pt x="33511" y="133524"/>
                </a:lnTo>
                <a:cubicBezTo>
                  <a:pt x="33754" y="133072"/>
                  <a:pt x="34067" y="132655"/>
                  <a:pt x="34449" y="132273"/>
                </a:cubicBezTo>
                <a:lnTo>
                  <a:pt x="88900" y="77788"/>
                </a:lnTo>
                <a:cubicBezTo>
                  <a:pt x="91956" y="74732"/>
                  <a:pt x="91956" y="69731"/>
                  <a:pt x="88900" y="66675"/>
                </a:cubicBezTo>
                <a:cubicBezTo>
                  <a:pt x="85844" y="63619"/>
                  <a:pt x="80843" y="63619"/>
                  <a:pt x="77788" y="66675"/>
                </a:cubicBezTo>
                <a:lnTo>
                  <a:pt x="31150" y="113278"/>
                </a:lnTo>
                <a:cubicBezTo>
                  <a:pt x="28059" y="116369"/>
                  <a:pt x="22815" y="114806"/>
                  <a:pt x="22468" y="110430"/>
                </a:cubicBezTo>
                <a:cubicBezTo>
                  <a:pt x="20975" y="91956"/>
                  <a:pt x="25698" y="67682"/>
                  <a:pt x="47680" y="45700"/>
                </a:cubicBezTo>
                <a:cubicBezTo>
                  <a:pt x="79315" y="14064"/>
                  <a:pt x="135954" y="2396"/>
                  <a:pt x="165021" y="35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6858000" y="3860800"/>
            <a:ext cx="1930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Tamaño: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MB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(solo app).</a:t>
            </a:r>
            <a:endParaRPr b="0" i="0" sz="1600" u="none" cap="none" strike="noStrike"/>
          </a:p>
        </p:txBody>
      </p:sp>
      <p:sp>
        <p:nvSpPr>
          <p:cNvPr id="256" name="Google Shape;256;p10"/>
          <p:cNvSpPr/>
          <p:nvPr/>
        </p:nvSpPr>
        <p:spPr>
          <a:xfrm>
            <a:off x="6630988" y="4305300"/>
            <a:ext cx="155575" cy="177800"/>
          </a:xfrm>
          <a:custGeom>
            <a:rect b="b" l="l" r="r" t="t"/>
            <a:pathLst>
              <a:path extrusionOk="0" h="177800" w="155575">
                <a:moveTo>
                  <a:pt x="117654" y="-3438"/>
                </a:moveTo>
                <a:cubicBezTo>
                  <a:pt x="121786" y="-451"/>
                  <a:pt x="123314" y="4966"/>
                  <a:pt x="121439" y="9689"/>
                </a:cubicBezTo>
                <a:lnTo>
                  <a:pt x="94213" y="77788"/>
                </a:lnTo>
                <a:lnTo>
                  <a:pt x="144463" y="77788"/>
                </a:lnTo>
                <a:cubicBezTo>
                  <a:pt x="149151" y="77788"/>
                  <a:pt x="153318" y="80705"/>
                  <a:pt x="154915" y="85115"/>
                </a:cubicBezTo>
                <a:cubicBezTo>
                  <a:pt x="156513" y="89525"/>
                  <a:pt x="155158" y="94456"/>
                  <a:pt x="151581" y="97443"/>
                </a:cubicBezTo>
                <a:lnTo>
                  <a:pt x="51569" y="180786"/>
                </a:lnTo>
                <a:cubicBezTo>
                  <a:pt x="47645" y="184051"/>
                  <a:pt x="42054" y="184224"/>
                  <a:pt x="37921" y="181238"/>
                </a:cubicBezTo>
                <a:cubicBezTo>
                  <a:pt x="33789" y="178251"/>
                  <a:pt x="32261" y="172834"/>
                  <a:pt x="34136" y="168111"/>
                </a:cubicBezTo>
                <a:lnTo>
                  <a:pt x="61362" y="100013"/>
                </a:lnTo>
                <a:lnTo>
                  <a:pt x="11112" y="100013"/>
                </a:lnTo>
                <a:cubicBezTo>
                  <a:pt x="6424" y="100013"/>
                  <a:pt x="2257" y="97095"/>
                  <a:pt x="660" y="92685"/>
                </a:cubicBezTo>
                <a:cubicBezTo>
                  <a:pt x="-938" y="88275"/>
                  <a:pt x="417" y="83344"/>
                  <a:pt x="3994" y="80357"/>
                </a:cubicBezTo>
                <a:lnTo>
                  <a:pt x="104006" y="-2986"/>
                </a:lnTo>
                <a:cubicBezTo>
                  <a:pt x="107930" y="-6251"/>
                  <a:pt x="113521" y="-6424"/>
                  <a:pt x="117654" y="-3438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858000" y="4267200"/>
            <a:ext cx="1739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Arranque: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Segundos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  <p:sp>
        <p:nvSpPr>
          <p:cNvPr id="258" name="Google Shape;258;p10"/>
          <p:cNvSpPr/>
          <p:nvPr/>
        </p:nvSpPr>
        <p:spPr>
          <a:xfrm>
            <a:off x="6619875" y="4711700"/>
            <a:ext cx="177800" cy="177800"/>
          </a:xfrm>
          <a:custGeom>
            <a:rect b="b" l="l" r="r" t="t"/>
            <a:pathLst>
              <a:path extrusionOk="0" h="177800" w="177800">
                <a:moveTo>
                  <a:pt x="44450" y="111125"/>
                </a:moveTo>
                <a:lnTo>
                  <a:pt x="8508" y="111125"/>
                </a:lnTo>
                <a:cubicBezTo>
                  <a:pt x="-139" y="111125"/>
                  <a:pt x="-5452" y="101714"/>
                  <a:pt x="-1007" y="94283"/>
                </a:cubicBezTo>
                <a:lnTo>
                  <a:pt x="17363" y="63654"/>
                </a:lnTo>
                <a:cubicBezTo>
                  <a:pt x="20384" y="58618"/>
                  <a:pt x="25802" y="55563"/>
                  <a:pt x="31671" y="55563"/>
                </a:cubicBezTo>
                <a:lnTo>
                  <a:pt x="64661" y="55563"/>
                </a:lnTo>
                <a:cubicBezTo>
                  <a:pt x="91088" y="10800"/>
                  <a:pt x="130502" y="8543"/>
                  <a:pt x="156860" y="12397"/>
                </a:cubicBezTo>
                <a:cubicBezTo>
                  <a:pt x="161305" y="13057"/>
                  <a:pt x="164778" y="16530"/>
                  <a:pt x="165403" y="20940"/>
                </a:cubicBezTo>
                <a:cubicBezTo>
                  <a:pt x="169257" y="47298"/>
                  <a:pt x="167000" y="86712"/>
                  <a:pt x="122238" y="113139"/>
                </a:cubicBezTo>
                <a:lnTo>
                  <a:pt x="122238" y="146129"/>
                </a:lnTo>
                <a:cubicBezTo>
                  <a:pt x="122238" y="151998"/>
                  <a:pt x="119182" y="157416"/>
                  <a:pt x="114146" y="160437"/>
                </a:cubicBezTo>
                <a:lnTo>
                  <a:pt x="83517" y="178807"/>
                </a:lnTo>
                <a:cubicBezTo>
                  <a:pt x="76121" y="183252"/>
                  <a:pt x="66675" y="177904"/>
                  <a:pt x="66675" y="169292"/>
                </a:cubicBezTo>
                <a:lnTo>
                  <a:pt x="66675" y="133350"/>
                </a:lnTo>
                <a:cubicBezTo>
                  <a:pt x="66675" y="121092"/>
                  <a:pt x="56708" y="111125"/>
                  <a:pt x="44450" y="111125"/>
                </a:cubicBezTo>
                <a:lnTo>
                  <a:pt x="44415" y="111125"/>
                </a:lnTo>
                <a:close/>
                <a:moveTo>
                  <a:pt x="138906" y="55563"/>
                </a:moveTo>
                <a:cubicBezTo>
                  <a:pt x="138906" y="46363"/>
                  <a:pt x="131437" y="38894"/>
                  <a:pt x="122238" y="38894"/>
                </a:cubicBezTo>
                <a:cubicBezTo>
                  <a:pt x="113038" y="38894"/>
                  <a:pt x="105569" y="46363"/>
                  <a:pt x="105569" y="55563"/>
                </a:cubicBezTo>
                <a:cubicBezTo>
                  <a:pt x="105569" y="64762"/>
                  <a:pt x="113038" y="72231"/>
                  <a:pt x="122238" y="72231"/>
                </a:cubicBezTo>
                <a:cubicBezTo>
                  <a:pt x="131437" y="72231"/>
                  <a:pt x="138906" y="64762"/>
                  <a:pt x="138906" y="55563"/>
                </a:cubicBez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858000" y="4673600"/>
            <a:ext cx="2438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Caso de uso:</a:t>
            </a:r>
            <a:r>
              <a:rPr b="0" i="0" lang="en-US" sz="1400" u="none" cap="none" strike="noStrike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Escalado rápido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265" name="Google Shape;2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 b="0" i="0" sz="1600" u="none" cap="none" strike="noStrike"/>
          </a:p>
        </p:txBody>
      </p:sp>
      <p:sp>
        <p:nvSpPr>
          <p:cNvPr id="268" name="Google Shape;268;p11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/>
          <p:nvPr/>
        </p:nvSpPr>
        <p:spPr>
          <a:xfrm>
            <a:off x="254000" y="2514600"/>
            <a:ext cx="43688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Herramientas de Ejecución</a:t>
            </a:r>
            <a:endParaRPr b="0" i="0" sz="1600" u="none" cap="none" strike="noStrike"/>
          </a:p>
        </p:txBody>
      </p:sp>
      <p:sp>
        <p:nvSpPr>
          <p:cNvPr id="275" name="Google Shape;275;p12"/>
          <p:cNvSpPr/>
          <p:nvPr/>
        </p:nvSpPr>
        <p:spPr>
          <a:xfrm>
            <a:off x="254000" y="3911600"/>
            <a:ext cx="436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Las herramientas que permiten crear, ejecutar y gestionar el ciclo de vida de los contenedores.</a:t>
            </a:r>
            <a:endParaRPr b="0" i="0" sz="1600" u="none" cap="none" strike="noStrike"/>
          </a:p>
        </p:txBody>
      </p:sp>
      <p:sp>
        <p:nvSpPr>
          <p:cNvPr id="276" name="Google Shape;276;p12"/>
          <p:cNvSpPr/>
          <p:nvPr/>
        </p:nvSpPr>
        <p:spPr>
          <a:xfrm>
            <a:off x="4927600" y="2133600"/>
            <a:ext cx="7010400" cy="1016000"/>
          </a:xfrm>
          <a:custGeom>
            <a:rect b="b" l="l" r="r" t="t"/>
            <a:pathLst>
              <a:path extrusionOk="0" h="1016000" w="70104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914400"/>
                </a:lnTo>
                <a:cubicBezTo>
                  <a:pt x="7010400" y="970475"/>
                  <a:pt x="6964875" y="1016000"/>
                  <a:pt x="690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5156200" y="2336800"/>
            <a:ext cx="762000" cy="609600"/>
          </a:xfrm>
          <a:custGeom>
            <a:rect b="b" l="l" r="r" t="t"/>
            <a:pathLst>
              <a:path extrusionOk="0" h="609600" w="762000">
                <a:moveTo>
                  <a:pt x="416600" y="281345"/>
                </a:moveTo>
                <a:lnTo>
                  <a:pt x="337899" y="281345"/>
                </a:lnTo>
                <a:lnTo>
                  <a:pt x="337899" y="210622"/>
                </a:lnTo>
                <a:lnTo>
                  <a:pt x="416600" y="210622"/>
                </a:lnTo>
                <a:lnTo>
                  <a:pt x="416600" y="281345"/>
                </a:lnTo>
                <a:close/>
                <a:moveTo>
                  <a:pt x="416600" y="38100"/>
                </a:moveTo>
                <a:lnTo>
                  <a:pt x="337899" y="38100"/>
                </a:lnTo>
                <a:lnTo>
                  <a:pt x="337899" y="110371"/>
                </a:lnTo>
                <a:lnTo>
                  <a:pt x="416600" y="110371"/>
                </a:lnTo>
                <a:lnTo>
                  <a:pt x="416600" y="38100"/>
                </a:lnTo>
                <a:close/>
                <a:moveTo>
                  <a:pt x="509707" y="210503"/>
                </a:moveTo>
                <a:lnTo>
                  <a:pt x="431006" y="210503"/>
                </a:lnTo>
                <a:lnTo>
                  <a:pt x="431006" y="281226"/>
                </a:lnTo>
                <a:lnTo>
                  <a:pt x="509707" y="281226"/>
                </a:lnTo>
                <a:lnTo>
                  <a:pt x="509707" y="210503"/>
                </a:lnTo>
                <a:close/>
                <a:moveTo>
                  <a:pt x="323612" y="124658"/>
                </a:moveTo>
                <a:lnTo>
                  <a:pt x="244912" y="124658"/>
                </a:lnTo>
                <a:lnTo>
                  <a:pt x="244912" y="196215"/>
                </a:lnTo>
                <a:lnTo>
                  <a:pt x="323612" y="196215"/>
                </a:lnTo>
                <a:lnTo>
                  <a:pt x="323612" y="124658"/>
                </a:lnTo>
                <a:close/>
                <a:moveTo>
                  <a:pt x="416600" y="124658"/>
                </a:moveTo>
                <a:lnTo>
                  <a:pt x="337899" y="124658"/>
                </a:lnTo>
                <a:lnTo>
                  <a:pt x="337899" y="196215"/>
                </a:lnTo>
                <a:lnTo>
                  <a:pt x="416600" y="196215"/>
                </a:lnTo>
                <a:lnTo>
                  <a:pt x="416600" y="124658"/>
                </a:lnTo>
                <a:close/>
                <a:moveTo>
                  <a:pt x="746165" y="243721"/>
                </a:moveTo>
                <a:cubicBezTo>
                  <a:pt x="729020" y="232172"/>
                  <a:pt x="689491" y="228005"/>
                  <a:pt x="659130" y="233720"/>
                </a:cubicBezTo>
                <a:cubicBezTo>
                  <a:pt x="655201" y="205145"/>
                  <a:pt x="639247" y="180261"/>
                  <a:pt x="610195" y="157877"/>
                </a:cubicBezTo>
                <a:lnTo>
                  <a:pt x="593527" y="146804"/>
                </a:lnTo>
                <a:lnTo>
                  <a:pt x="582454" y="163473"/>
                </a:lnTo>
                <a:cubicBezTo>
                  <a:pt x="560546" y="196572"/>
                  <a:pt x="554593" y="251103"/>
                  <a:pt x="578048" y="287060"/>
                </a:cubicBezTo>
                <a:cubicBezTo>
                  <a:pt x="567690" y="292656"/>
                  <a:pt x="547330" y="300276"/>
                  <a:pt x="520422" y="299799"/>
                </a:cubicBezTo>
                <a:lnTo>
                  <a:pt x="2858" y="299799"/>
                </a:lnTo>
                <a:cubicBezTo>
                  <a:pt x="-7501" y="360283"/>
                  <a:pt x="9763" y="438864"/>
                  <a:pt x="55245" y="492800"/>
                </a:cubicBezTo>
                <a:cubicBezTo>
                  <a:pt x="99417" y="545068"/>
                  <a:pt x="165616" y="571619"/>
                  <a:pt x="252174" y="571619"/>
                </a:cubicBezTo>
                <a:cubicBezTo>
                  <a:pt x="439579" y="571619"/>
                  <a:pt x="578287" y="485299"/>
                  <a:pt x="643176" y="328493"/>
                </a:cubicBezTo>
                <a:cubicBezTo>
                  <a:pt x="668655" y="328970"/>
                  <a:pt x="723662" y="328613"/>
                  <a:pt x="751880" y="274677"/>
                </a:cubicBezTo>
                <a:cubicBezTo>
                  <a:pt x="753666" y="271701"/>
                  <a:pt x="759738" y="258961"/>
                  <a:pt x="762000" y="254318"/>
                </a:cubicBezTo>
                <a:lnTo>
                  <a:pt x="746165" y="243721"/>
                </a:lnTo>
                <a:close/>
                <a:moveTo>
                  <a:pt x="137636" y="210503"/>
                </a:moveTo>
                <a:lnTo>
                  <a:pt x="59055" y="210503"/>
                </a:lnTo>
                <a:lnTo>
                  <a:pt x="59055" y="281226"/>
                </a:lnTo>
                <a:lnTo>
                  <a:pt x="137755" y="281226"/>
                </a:lnTo>
                <a:lnTo>
                  <a:pt x="137755" y="210503"/>
                </a:lnTo>
                <a:lnTo>
                  <a:pt x="137636" y="210503"/>
                </a:lnTo>
                <a:close/>
                <a:moveTo>
                  <a:pt x="230624" y="210503"/>
                </a:moveTo>
                <a:lnTo>
                  <a:pt x="151924" y="210503"/>
                </a:lnTo>
                <a:lnTo>
                  <a:pt x="151924" y="281226"/>
                </a:lnTo>
                <a:lnTo>
                  <a:pt x="230624" y="281226"/>
                </a:lnTo>
                <a:lnTo>
                  <a:pt x="230624" y="210503"/>
                </a:lnTo>
                <a:close/>
                <a:moveTo>
                  <a:pt x="323612" y="210503"/>
                </a:moveTo>
                <a:lnTo>
                  <a:pt x="244912" y="210503"/>
                </a:lnTo>
                <a:lnTo>
                  <a:pt x="244912" y="281226"/>
                </a:lnTo>
                <a:lnTo>
                  <a:pt x="323612" y="281226"/>
                </a:lnTo>
                <a:lnTo>
                  <a:pt x="323612" y="210503"/>
                </a:lnTo>
                <a:close/>
                <a:moveTo>
                  <a:pt x="230624" y="124658"/>
                </a:moveTo>
                <a:lnTo>
                  <a:pt x="151924" y="124658"/>
                </a:lnTo>
                <a:lnTo>
                  <a:pt x="151924" y="196215"/>
                </a:lnTo>
                <a:lnTo>
                  <a:pt x="230624" y="196215"/>
                </a:lnTo>
                <a:lnTo>
                  <a:pt x="230624" y="124658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146800" y="2336800"/>
            <a:ext cx="6019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Docker</a:t>
            </a:r>
            <a:endParaRPr b="0" i="0" sz="1600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6146800" y="2692400"/>
            <a:ext cx="6019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completa para construir, ejecutar y distribuir contenedores.</a:t>
            </a:r>
            <a:endParaRPr b="0" i="0" sz="1600" u="none" cap="none" strike="noStrike"/>
          </a:p>
        </p:txBody>
      </p:sp>
      <p:sp>
        <p:nvSpPr>
          <p:cNvPr id="280" name="Google Shape;280;p12"/>
          <p:cNvSpPr/>
          <p:nvPr/>
        </p:nvSpPr>
        <p:spPr>
          <a:xfrm>
            <a:off x="4927600" y="3454400"/>
            <a:ext cx="7010400" cy="1270000"/>
          </a:xfrm>
          <a:custGeom>
            <a:rect b="b" l="l" r="r" t="t"/>
            <a:pathLst>
              <a:path extrusionOk="0" h="1270000" w="7010400">
                <a:moveTo>
                  <a:pt x="101600" y="0"/>
                </a:moveTo>
                <a:lnTo>
                  <a:pt x="6908800" y="0"/>
                </a:lnTo>
                <a:cubicBezTo>
                  <a:pt x="6964875" y="0"/>
                  <a:pt x="7010400" y="45525"/>
                  <a:pt x="7010400" y="101600"/>
                </a:cubicBezTo>
                <a:lnTo>
                  <a:pt x="7010400" y="1168400"/>
                </a:lnTo>
                <a:cubicBezTo>
                  <a:pt x="7010400" y="1224475"/>
                  <a:pt x="6964875" y="1270000"/>
                  <a:pt x="69088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5207000" y="3784600"/>
            <a:ext cx="609600" cy="609600"/>
          </a:xfrm>
          <a:custGeom>
            <a:rect b="b" l="l" r="r" t="t"/>
            <a:pathLst>
              <a:path extrusionOk="0" h="609600" w="609600">
                <a:moveTo>
                  <a:pt x="267057" y="-2977"/>
                </a:moveTo>
                <a:cubicBezTo>
                  <a:pt x="290632" y="-16550"/>
                  <a:pt x="319683" y="-16550"/>
                  <a:pt x="343257" y="-2977"/>
                </a:cubicBezTo>
                <a:lnTo>
                  <a:pt x="552688" y="117872"/>
                </a:lnTo>
                <a:cubicBezTo>
                  <a:pt x="576263" y="131445"/>
                  <a:pt x="590788" y="156686"/>
                  <a:pt x="590788" y="183833"/>
                </a:cubicBezTo>
                <a:lnTo>
                  <a:pt x="590788" y="425529"/>
                </a:lnTo>
                <a:cubicBezTo>
                  <a:pt x="590788" y="452795"/>
                  <a:pt x="576263" y="477917"/>
                  <a:pt x="552688" y="491490"/>
                </a:cubicBezTo>
                <a:lnTo>
                  <a:pt x="343257" y="612577"/>
                </a:lnTo>
                <a:cubicBezTo>
                  <a:pt x="319683" y="626150"/>
                  <a:pt x="290632" y="626150"/>
                  <a:pt x="267057" y="612577"/>
                </a:cubicBezTo>
                <a:lnTo>
                  <a:pt x="57745" y="491728"/>
                </a:lnTo>
                <a:cubicBezTo>
                  <a:pt x="34171" y="478155"/>
                  <a:pt x="19645" y="452914"/>
                  <a:pt x="19645" y="425768"/>
                </a:cubicBezTo>
                <a:lnTo>
                  <a:pt x="19645" y="184071"/>
                </a:lnTo>
                <a:cubicBezTo>
                  <a:pt x="19645" y="156805"/>
                  <a:pt x="34171" y="131683"/>
                  <a:pt x="57745" y="118110"/>
                </a:cubicBezTo>
                <a:lnTo>
                  <a:pt x="267057" y="-2977"/>
                </a:lnTo>
                <a:close/>
                <a:moveTo>
                  <a:pt x="514469" y="425648"/>
                </a:moveTo>
                <a:lnTo>
                  <a:pt x="514469" y="227886"/>
                </a:lnTo>
                <a:lnTo>
                  <a:pt x="343257" y="326708"/>
                </a:lnTo>
                <a:lnTo>
                  <a:pt x="343257" y="524470"/>
                </a:lnTo>
                <a:lnTo>
                  <a:pt x="514469" y="425648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096000" y="3657600"/>
            <a:ext cx="61468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Containerd</a:t>
            </a:r>
            <a:endParaRPr b="0" i="0" sz="1600" u="none" cap="none" strike="noStrike"/>
          </a:p>
        </p:txBody>
      </p:sp>
      <p:sp>
        <p:nvSpPr>
          <p:cNvPr id="283" name="Google Shape;283;p12"/>
          <p:cNvSpPr/>
          <p:nvPr/>
        </p:nvSpPr>
        <p:spPr>
          <a:xfrm>
            <a:off x="6096000" y="4013200"/>
            <a:ext cx="5638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Runtime ligero y eficiente, backend de ejecución para plataformas como Docker y Kubernetes.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0" y="1585913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Registros de Imágenes</a:t>
            </a:r>
            <a:endParaRPr b="0" i="0" sz="160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0" y="2195513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Almacenes seguros para gestionar, versionar y distribuir imágenes de contenedores.</a:t>
            </a:r>
            <a:endParaRPr b="0" i="0" sz="1600" u="none" cap="none" strike="noStrike"/>
          </a:p>
        </p:txBody>
      </p:sp>
      <p:cxnSp>
        <p:nvCxnSpPr>
          <p:cNvPr id="291" name="Google Shape;291;p13"/>
          <p:cNvCxnSpPr/>
          <p:nvPr/>
        </p:nvCxnSpPr>
        <p:spPr>
          <a:xfrm>
            <a:off x="457200" y="2906713"/>
            <a:ext cx="5435600" cy="0"/>
          </a:xfrm>
          <a:prstGeom prst="straightConnector1">
            <a:avLst/>
          </a:prstGeom>
          <a:noFill/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3"/>
          <p:cNvSpPr/>
          <p:nvPr/>
        </p:nvSpPr>
        <p:spPr>
          <a:xfrm>
            <a:off x="2832100" y="3135313"/>
            <a:ext cx="685800" cy="609600"/>
          </a:xfrm>
          <a:custGeom>
            <a:rect b="b" l="l" r="r" t="t"/>
            <a:pathLst>
              <a:path extrusionOk="0" h="609600" w="685800">
                <a:moveTo>
                  <a:pt x="0" y="169188"/>
                </a:moveTo>
                <a:lnTo>
                  <a:pt x="0" y="571500"/>
                </a:lnTo>
                <a:cubicBezTo>
                  <a:pt x="0" y="592574"/>
                  <a:pt x="17026" y="609600"/>
                  <a:pt x="38100" y="609600"/>
                </a:cubicBezTo>
                <a:cubicBezTo>
                  <a:pt x="59174" y="609600"/>
                  <a:pt x="76200" y="592574"/>
                  <a:pt x="76200" y="571500"/>
                </a:cubicBezTo>
                <a:lnTo>
                  <a:pt x="76200" y="285750"/>
                </a:lnTo>
                <a:cubicBezTo>
                  <a:pt x="76200" y="264676"/>
                  <a:pt x="93226" y="247650"/>
                  <a:pt x="114300" y="247650"/>
                </a:cubicBezTo>
                <a:lnTo>
                  <a:pt x="571500" y="247650"/>
                </a:lnTo>
                <a:cubicBezTo>
                  <a:pt x="592574" y="247650"/>
                  <a:pt x="609600" y="264676"/>
                  <a:pt x="609600" y="285750"/>
                </a:cubicBezTo>
                <a:lnTo>
                  <a:pt x="609600" y="571500"/>
                </a:lnTo>
                <a:cubicBezTo>
                  <a:pt x="609600" y="592574"/>
                  <a:pt x="626626" y="609600"/>
                  <a:pt x="647700" y="609600"/>
                </a:cubicBezTo>
                <a:cubicBezTo>
                  <a:pt x="668774" y="609600"/>
                  <a:pt x="685800" y="592574"/>
                  <a:pt x="685800" y="571500"/>
                </a:cubicBezTo>
                <a:lnTo>
                  <a:pt x="685800" y="169188"/>
                </a:lnTo>
                <a:cubicBezTo>
                  <a:pt x="685800" y="136446"/>
                  <a:pt x="664845" y="107275"/>
                  <a:pt x="633651" y="96917"/>
                </a:cubicBezTo>
                <a:lnTo>
                  <a:pt x="360998" y="6072"/>
                </a:lnTo>
                <a:cubicBezTo>
                  <a:pt x="349210" y="2143"/>
                  <a:pt x="336590" y="2143"/>
                  <a:pt x="324803" y="6072"/>
                </a:cubicBezTo>
                <a:lnTo>
                  <a:pt x="52149" y="96917"/>
                </a:lnTo>
                <a:cubicBezTo>
                  <a:pt x="20955" y="107275"/>
                  <a:pt x="0" y="136446"/>
                  <a:pt x="0" y="169188"/>
                </a:cubicBezTo>
                <a:close/>
                <a:moveTo>
                  <a:pt x="552450" y="304800"/>
                </a:moveTo>
                <a:lnTo>
                  <a:pt x="133350" y="304800"/>
                </a:lnTo>
                <a:lnTo>
                  <a:pt x="133350" y="381000"/>
                </a:lnTo>
                <a:lnTo>
                  <a:pt x="552450" y="381000"/>
                </a:lnTo>
                <a:lnTo>
                  <a:pt x="552450" y="304800"/>
                </a:lnTo>
                <a:close/>
                <a:moveTo>
                  <a:pt x="133350" y="495300"/>
                </a:moveTo>
                <a:lnTo>
                  <a:pt x="552450" y="495300"/>
                </a:lnTo>
                <a:lnTo>
                  <a:pt x="552450" y="419100"/>
                </a:lnTo>
                <a:lnTo>
                  <a:pt x="133350" y="419100"/>
                </a:lnTo>
                <a:lnTo>
                  <a:pt x="133350" y="495300"/>
                </a:lnTo>
                <a:close/>
                <a:moveTo>
                  <a:pt x="552450" y="533400"/>
                </a:moveTo>
                <a:lnTo>
                  <a:pt x="133350" y="533400"/>
                </a:lnTo>
                <a:lnTo>
                  <a:pt x="133350" y="609600"/>
                </a:lnTo>
                <a:lnTo>
                  <a:pt x="552450" y="609600"/>
                </a:lnTo>
                <a:lnTo>
                  <a:pt x="552450" y="533400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203200" y="3897313"/>
            <a:ext cx="5943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Noto Sans SC"/>
              <a:buNone/>
            </a:pPr>
            <a:r>
              <a:rPr b="0" i="0" lang="en-US" sz="24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Harbor</a:t>
            </a:r>
            <a:endParaRPr b="0" i="0" sz="1600" u="none" cap="none" strike="noStrike"/>
          </a:p>
        </p:txBody>
      </p:sp>
      <p:sp>
        <p:nvSpPr>
          <p:cNvPr id="294" name="Google Shape;294;p13"/>
          <p:cNvSpPr/>
          <p:nvPr/>
        </p:nvSpPr>
        <p:spPr>
          <a:xfrm>
            <a:off x="457200" y="4405313"/>
            <a:ext cx="54356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Registro privado empresarial con autenticación, escaneo de vulnerabilidades y firma de imágenes para un entorno seguro y controlado.</a:t>
            </a:r>
            <a:endParaRPr b="0" i="0" sz="1600" u="none" cap="none" strike="noStrike"/>
          </a:p>
        </p:txBody>
      </p:sp>
      <p:cxnSp>
        <p:nvCxnSpPr>
          <p:cNvPr id="295" name="Google Shape;295;p13"/>
          <p:cNvCxnSpPr/>
          <p:nvPr/>
        </p:nvCxnSpPr>
        <p:spPr>
          <a:xfrm>
            <a:off x="6299200" y="2906713"/>
            <a:ext cx="5435600" cy="0"/>
          </a:xfrm>
          <a:prstGeom prst="straightConnector1">
            <a:avLst/>
          </a:prstGeom>
          <a:noFill/>
          <a:ln cap="flat" cmpd="sng" w="25400">
            <a:solidFill>
              <a:srgbClr val="888B8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3"/>
          <p:cNvSpPr/>
          <p:nvPr/>
        </p:nvSpPr>
        <p:spPr>
          <a:xfrm>
            <a:off x="8636000" y="3135313"/>
            <a:ext cx="762000" cy="609600"/>
          </a:xfrm>
          <a:custGeom>
            <a:rect b="b" l="l" r="r" t="t"/>
            <a:pathLst>
              <a:path extrusionOk="0" h="609600" w="762000">
                <a:moveTo>
                  <a:pt x="667107" y="282416"/>
                </a:moveTo>
                <a:cubicBezTo>
                  <a:pt x="679490" y="296466"/>
                  <a:pt x="700802" y="299561"/>
                  <a:pt x="716875" y="288965"/>
                </a:cubicBezTo>
                <a:cubicBezTo>
                  <a:pt x="734378" y="277297"/>
                  <a:pt x="739140" y="253603"/>
                  <a:pt x="727472" y="236101"/>
                </a:cubicBezTo>
                <a:lnTo>
                  <a:pt x="670322" y="150376"/>
                </a:lnTo>
                <a:cubicBezTo>
                  <a:pt x="666988" y="145375"/>
                  <a:pt x="662464" y="141208"/>
                  <a:pt x="657106" y="138232"/>
                </a:cubicBezTo>
                <a:lnTo>
                  <a:pt x="418386" y="5596"/>
                </a:lnTo>
                <a:cubicBezTo>
                  <a:pt x="395407" y="-7144"/>
                  <a:pt x="367427" y="-7144"/>
                  <a:pt x="344329" y="5596"/>
                </a:cubicBezTo>
                <a:lnTo>
                  <a:pt x="105728" y="138113"/>
                </a:lnTo>
                <a:cubicBezTo>
                  <a:pt x="99298" y="141684"/>
                  <a:pt x="94178" y="146923"/>
                  <a:pt x="90726" y="153353"/>
                </a:cubicBezTo>
                <a:lnTo>
                  <a:pt x="32980" y="260390"/>
                </a:lnTo>
                <a:cubicBezTo>
                  <a:pt x="17978" y="288250"/>
                  <a:pt x="28456" y="322898"/>
                  <a:pt x="56317" y="337899"/>
                </a:cubicBezTo>
                <a:lnTo>
                  <a:pt x="95607" y="358973"/>
                </a:lnTo>
                <a:lnTo>
                  <a:pt x="95607" y="422434"/>
                </a:lnTo>
                <a:cubicBezTo>
                  <a:pt x="95607" y="449818"/>
                  <a:pt x="110371" y="475178"/>
                  <a:pt x="134183" y="488752"/>
                </a:cubicBezTo>
                <a:lnTo>
                  <a:pt x="343733" y="607457"/>
                </a:lnTo>
                <a:cubicBezTo>
                  <a:pt x="367070" y="620673"/>
                  <a:pt x="395526" y="620673"/>
                  <a:pt x="418862" y="607457"/>
                </a:cubicBezTo>
                <a:lnTo>
                  <a:pt x="628412" y="488752"/>
                </a:lnTo>
                <a:cubicBezTo>
                  <a:pt x="652343" y="475178"/>
                  <a:pt x="666988" y="449937"/>
                  <a:pt x="666988" y="422434"/>
                </a:cubicBezTo>
                <a:lnTo>
                  <a:pt x="666988" y="282535"/>
                </a:lnTo>
                <a:close/>
                <a:moveTo>
                  <a:pt x="381357" y="270748"/>
                </a:moveTo>
                <a:lnTo>
                  <a:pt x="202644" y="171450"/>
                </a:lnTo>
                <a:lnTo>
                  <a:pt x="381357" y="72152"/>
                </a:lnTo>
                <a:lnTo>
                  <a:pt x="560070" y="171450"/>
                </a:lnTo>
                <a:lnTo>
                  <a:pt x="381357" y="270748"/>
                </a:lnTo>
                <a:close/>
                <a:moveTo>
                  <a:pt x="331946" y="330518"/>
                </a:moveTo>
                <a:lnTo>
                  <a:pt x="306586" y="385524"/>
                </a:lnTo>
                <a:lnTo>
                  <a:pt x="109180" y="279797"/>
                </a:lnTo>
                <a:lnTo>
                  <a:pt x="139422" y="223599"/>
                </a:lnTo>
                <a:lnTo>
                  <a:pt x="331946" y="330518"/>
                </a:lnTo>
                <a:close/>
              </a:path>
            </a:pathLst>
          </a:custGeom>
          <a:solidFill>
            <a:srgbClr val="888B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045200" y="3897313"/>
            <a:ext cx="5943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Noto Sans SC"/>
              <a:buNone/>
            </a:pPr>
            <a:r>
              <a:rPr b="0" i="0" lang="en-US" sz="24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Zot</a:t>
            </a:r>
            <a:endParaRPr b="0" i="0" sz="1600" u="none" cap="none" strike="noStrike"/>
          </a:p>
        </p:txBody>
      </p:sp>
      <p:sp>
        <p:nvSpPr>
          <p:cNvPr id="298" name="Google Shape;298;p13"/>
          <p:cNvSpPr/>
          <p:nvPr/>
        </p:nvSpPr>
        <p:spPr>
          <a:xfrm>
            <a:off x="6299200" y="4405313"/>
            <a:ext cx="54356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Registro ligero y compatible con el estándar OCI, ideal para despliegues en Edge e IoT donde los recursos son limitados.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"/>
          <p:cNvSpPr/>
          <p:nvPr/>
        </p:nvSpPr>
        <p:spPr>
          <a:xfrm>
            <a:off x="0" y="1879600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Software de Virtualización</a:t>
            </a:r>
            <a:endParaRPr b="0" i="0" sz="1600" u="none" cap="none" strike="noStrike"/>
          </a:p>
        </p:txBody>
      </p:sp>
      <p:sp>
        <p:nvSpPr>
          <p:cNvPr id="305" name="Google Shape;305;p14"/>
          <p:cNvSpPr/>
          <p:nvPr/>
        </p:nvSpPr>
        <p:spPr>
          <a:xfrm>
            <a:off x="0" y="24892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para crear y gestionar máquinas virtuales, desde el escritorio hasta el data center.</a:t>
            </a:r>
            <a:endParaRPr b="0" i="0" sz="1600" u="none" cap="none" strike="noStrike"/>
          </a:p>
        </p:txBody>
      </p:sp>
      <p:sp>
        <p:nvSpPr>
          <p:cNvPr id="306" name="Google Shape;306;p14"/>
          <p:cNvSpPr/>
          <p:nvPr/>
        </p:nvSpPr>
        <p:spPr>
          <a:xfrm>
            <a:off x="457200" y="3200400"/>
            <a:ext cx="3556000" cy="1778000"/>
          </a:xfrm>
          <a:custGeom>
            <a:rect b="b" l="l" r="r" t="t"/>
            <a:pathLst>
              <a:path extrusionOk="0" h="1778000" w="3556000">
                <a:moveTo>
                  <a:pt x="101595" y="0"/>
                </a:moveTo>
                <a:lnTo>
                  <a:pt x="3454405" y="0"/>
                </a:lnTo>
                <a:cubicBezTo>
                  <a:pt x="3510514" y="0"/>
                  <a:pt x="3556000" y="45486"/>
                  <a:pt x="3556000" y="101595"/>
                </a:cubicBezTo>
                <a:lnTo>
                  <a:pt x="3556000" y="1676405"/>
                </a:lnTo>
                <a:cubicBezTo>
                  <a:pt x="3556000" y="1732514"/>
                  <a:pt x="3510514" y="1778000"/>
                  <a:pt x="34544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406400" y="40132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VirtualBox</a:t>
            </a:r>
            <a:endParaRPr b="0" i="0" sz="1600" u="none" cap="none" strike="noStrike"/>
          </a:p>
        </p:txBody>
      </p:sp>
      <p:sp>
        <p:nvSpPr>
          <p:cNvPr id="308" name="Google Shape;308;p14"/>
          <p:cNvSpPr/>
          <p:nvPr/>
        </p:nvSpPr>
        <p:spPr>
          <a:xfrm>
            <a:off x="660400" y="4368800"/>
            <a:ext cx="3149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Virtualización de escritorio multiplataforma y de código abierto.</a:t>
            </a:r>
            <a:endParaRPr b="0" i="0" sz="1600" u="none" cap="none" strike="noStrike"/>
          </a:p>
        </p:txBody>
      </p:sp>
      <p:sp>
        <p:nvSpPr>
          <p:cNvPr id="309" name="Google Shape;309;p14"/>
          <p:cNvSpPr/>
          <p:nvPr/>
        </p:nvSpPr>
        <p:spPr>
          <a:xfrm>
            <a:off x="4318000" y="3200400"/>
            <a:ext cx="3556000" cy="1778000"/>
          </a:xfrm>
          <a:custGeom>
            <a:rect b="b" l="l" r="r" t="t"/>
            <a:pathLst>
              <a:path extrusionOk="0" h="1778000" w="3556000">
                <a:moveTo>
                  <a:pt x="101595" y="0"/>
                </a:moveTo>
                <a:lnTo>
                  <a:pt x="3454405" y="0"/>
                </a:lnTo>
                <a:cubicBezTo>
                  <a:pt x="3510514" y="0"/>
                  <a:pt x="3556000" y="45486"/>
                  <a:pt x="3556000" y="101595"/>
                </a:cubicBezTo>
                <a:lnTo>
                  <a:pt x="3556000" y="1676405"/>
                </a:lnTo>
                <a:cubicBezTo>
                  <a:pt x="3556000" y="1732514"/>
                  <a:pt x="3510514" y="1778000"/>
                  <a:pt x="34544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5895975" y="3403600"/>
            <a:ext cx="400050" cy="457200"/>
          </a:xfrm>
          <a:custGeom>
            <a:rect b="b" l="l" r="r" t="t"/>
            <a:pathLst>
              <a:path extrusionOk="0" h="457200" w="40005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4267200" y="40132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KVM</a:t>
            </a:r>
            <a:endParaRPr b="0" i="0" sz="1600" u="none" cap="none" strike="noStrike"/>
          </a:p>
        </p:txBody>
      </p:sp>
      <p:sp>
        <p:nvSpPr>
          <p:cNvPr id="312" name="Google Shape;312;p14"/>
          <p:cNvSpPr/>
          <p:nvPr/>
        </p:nvSpPr>
        <p:spPr>
          <a:xfrm>
            <a:off x="4521200" y="4368800"/>
            <a:ext cx="3149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Hipervisor en el kernel de Linux, ofrece alto rendimiento.</a:t>
            </a:r>
            <a:endParaRPr b="0" i="0" sz="1600" u="none" cap="none" strike="noStrike"/>
          </a:p>
        </p:txBody>
      </p:sp>
      <p:sp>
        <p:nvSpPr>
          <p:cNvPr id="313" name="Google Shape;313;p14"/>
          <p:cNvSpPr/>
          <p:nvPr/>
        </p:nvSpPr>
        <p:spPr>
          <a:xfrm>
            <a:off x="8178800" y="3200400"/>
            <a:ext cx="3556000" cy="1778000"/>
          </a:xfrm>
          <a:custGeom>
            <a:rect b="b" l="l" r="r" t="t"/>
            <a:pathLst>
              <a:path extrusionOk="0" h="1778000" w="3556000">
                <a:moveTo>
                  <a:pt x="101595" y="0"/>
                </a:moveTo>
                <a:lnTo>
                  <a:pt x="3454405" y="0"/>
                </a:lnTo>
                <a:cubicBezTo>
                  <a:pt x="3510514" y="0"/>
                  <a:pt x="3556000" y="45486"/>
                  <a:pt x="3556000" y="101595"/>
                </a:cubicBezTo>
                <a:lnTo>
                  <a:pt x="3556000" y="1676405"/>
                </a:lnTo>
                <a:cubicBezTo>
                  <a:pt x="3556000" y="1732514"/>
                  <a:pt x="3510514" y="1778000"/>
                  <a:pt x="3454405" y="1778000"/>
                </a:cubicBezTo>
                <a:lnTo>
                  <a:pt x="101595" y="1778000"/>
                </a:lnTo>
                <a:cubicBezTo>
                  <a:pt x="45486" y="1778000"/>
                  <a:pt x="0" y="1732514"/>
                  <a:pt x="0" y="1676405"/>
                </a:cubicBezTo>
                <a:lnTo>
                  <a:pt x="0" y="101595"/>
                </a:lnTo>
                <a:cubicBezTo>
                  <a:pt x="0" y="45523"/>
                  <a:pt x="45523" y="0"/>
                  <a:pt x="101595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9699625" y="3403600"/>
            <a:ext cx="514350" cy="457200"/>
          </a:xfrm>
          <a:custGeom>
            <a:rect b="b" l="l" r="r" t="t"/>
            <a:pathLst>
              <a:path extrusionOk="0" h="457200" w="51435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8128000" y="4013200"/>
            <a:ext cx="365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VMware</a:t>
            </a:r>
            <a:endParaRPr b="0" i="0" sz="1600" u="none" cap="none" strike="noStrike"/>
          </a:p>
        </p:txBody>
      </p:sp>
      <p:sp>
        <p:nvSpPr>
          <p:cNvPr id="316" name="Google Shape;316;p14"/>
          <p:cNvSpPr/>
          <p:nvPr/>
        </p:nvSpPr>
        <p:spPr>
          <a:xfrm>
            <a:off x="8382000" y="4368800"/>
            <a:ext cx="31496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Soluciones empresariales con gestión avanzada y alta disponibilidad.</a:t>
            </a:r>
            <a:endParaRPr b="0" i="0" sz="1600" u="none" cap="none" strike="noStrike"/>
          </a:p>
        </p:txBody>
      </p:sp>
      <p:pic>
        <p:nvPicPr>
          <p:cNvPr id="317" name="Google Shape;31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913" y="3269547"/>
            <a:ext cx="1233575" cy="692853"/>
          </a:xfrm>
          <a:prstGeom prst="rect">
            <a:avLst/>
          </a:prstGeom>
          <a:solidFill>
            <a:srgbClr val="202124">
              <a:alpha val="4710"/>
            </a:srgbClr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323" name="Google Shape;3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5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Ciclo de vida</a:t>
            </a:r>
            <a:endParaRPr b="0" i="0" sz="1600" u="none" cap="none" strike="noStrike"/>
          </a:p>
        </p:txBody>
      </p:sp>
      <p:sp>
        <p:nvSpPr>
          <p:cNvPr id="326" name="Google Shape;326;p15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/>
          <p:nvPr/>
        </p:nvSpPr>
        <p:spPr>
          <a:xfrm>
            <a:off x="0" y="1549400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Ciclo de Vida de los Servicios</a:t>
            </a:r>
            <a:endParaRPr b="0" i="0" sz="1600" u="none" cap="none" strike="noStrike"/>
          </a:p>
        </p:txBody>
      </p:sp>
      <p:sp>
        <p:nvSpPr>
          <p:cNvPr id="333" name="Google Shape;333;p16"/>
          <p:cNvSpPr/>
          <p:nvPr/>
        </p:nvSpPr>
        <p:spPr>
          <a:xfrm>
            <a:off x="0" y="21590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flujo de trabajo continuo que abarca desde el desarrollo hasta la distribución y el escalado.</a:t>
            </a:r>
            <a:endParaRPr b="0" i="0" sz="1600" u="none" cap="none" strike="noStrike"/>
          </a:p>
        </p:txBody>
      </p:sp>
      <p:sp>
        <p:nvSpPr>
          <p:cNvPr id="334" name="Google Shape;334;p16"/>
          <p:cNvSpPr/>
          <p:nvPr/>
        </p:nvSpPr>
        <p:spPr>
          <a:xfrm>
            <a:off x="990402" y="28702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1185664" y="3086100"/>
            <a:ext cx="428625" cy="381000"/>
          </a:xfrm>
          <a:custGeom>
            <a:rect b="b" l="l" r="r" t="t"/>
            <a:pathLst>
              <a:path extrusionOk="0" h="381000" w="428625">
                <a:moveTo>
                  <a:pt x="268486" y="893"/>
                </a:moveTo>
                <a:cubicBezTo>
                  <a:pt x="255836" y="-2753"/>
                  <a:pt x="242664" y="4614"/>
                  <a:pt x="239018" y="17264"/>
                </a:cubicBezTo>
                <a:lnTo>
                  <a:pt x="143768" y="350639"/>
                </a:lnTo>
                <a:cubicBezTo>
                  <a:pt x="140122" y="363289"/>
                  <a:pt x="147489" y="376461"/>
                  <a:pt x="160139" y="380107"/>
                </a:cubicBezTo>
                <a:cubicBezTo>
                  <a:pt x="172789" y="383753"/>
                  <a:pt x="185961" y="376386"/>
                  <a:pt x="189607" y="363736"/>
                </a:cubicBezTo>
                <a:lnTo>
                  <a:pt x="284857" y="30361"/>
                </a:lnTo>
                <a:cubicBezTo>
                  <a:pt x="288503" y="17711"/>
                  <a:pt x="281136" y="4539"/>
                  <a:pt x="268486" y="893"/>
                </a:cubicBezTo>
                <a:close/>
                <a:moveTo>
                  <a:pt x="316557" y="102171"/>
                </a:moveTo>
                <a:cubicBezTo>
                  <a:pt x="307256" y="111472"/>
                  <a:pt x="307256" y="126578"/>
                  <a:pt x="316557" y="135880"/>
                </a:cubicBezTo>
                <a:lnTo>
                  <a:pt x="371177" y="190500"/>
                </a:lnTo>
                <a:lnTo>
                  <a:pt x="316557" y="245120"/>
                </a:lnTo>
                <a:cubicBezTo>
                  <a:pt x="307256" y="254422"/>
                  <a:pt x="307256" y="269528"/>
                  <a:pt x="316557" y="278829"/>
                </a:cubicBezTo>
                <a:cubicBezTo>
                  <a:pt x="325859" y="288131"/>
                  <a:pt x="340965" y="288131"/>
                  <a:pt x="350267" y="278829"/>
                </a:cubicBezTo>
                <a:lnTo>
                  <a:pt x="421704" y="207392"/>
                </a:lnTo>
                <a:cubicBezTo>
                  <a:pt x="431006" y="198090"/>
                  <a:pt x="431006" y="182984"/>
                  <a:pt x="421704" y="173682"/>
                </a:cubicBezTo>
                <a:lnTo>
                  <a:pt x="350267" y="102245"/>
                </a:lnTo>
                <a:cubicBezTo>
                  <a:pt x="340965" y="92943"/>
                  <a:pt x="325859" y="92943"/>
                  <a:pt x="316557" y="102245"/>
                </a:cubicBezTo>
                <a:close/>
                <a:moveTo>
                  <a:pt x="112142" y="102171"/>
                </a:moveTo>
                <a:cubicBezTo>
                  <a:pt x="102840" y="92869"/>
                  <a:pt x="87734" y="92869"/>
                  <a:pt x="78432" y="102171"/>
                </a:cubicBezTo>
                <a:lnTo>
                  <a:pt x="6995" y="173608"/>
                </a:lnTo>
                <a:cubicBezTo>
                  <a:pt x="-2307" y="182910"/>
                  <a:pt x="-2307" y="198016"/>
                  <a:pt x="6995" y="207318"/>
                </a:cubicBezTo>
                <a:lnTo>
                  <a:pt x="78432" y="278755"/>
                </a:lnTo>
                <a:cubicBezTo>
                  <a:pt x="87734" y="288057"/>
                  <a:pt x="102840" y="288057"/>
                  <a:pt x="112142" y="278755"/>
                </a:cubicBezTo>
                <a:cubicBezTo>
                  <a:pt x="121444" y="269453"/>
                  <a:pt x="121444" y="254347"/>
                  <a:pt x="112142" y="245046"/>
                </a:cubicBezTo>
                <a:lnTo>
                  <a:pt x="57522" y="190500"/>
                </a:lnTo>
                <a:lnTo>
                  <a:pt x="112068" y="135880"/>
                </a:lnTo>
                <a:cubicBezTo>
                  <a:pt x="121369" y="126578"/>
                  <a:pt x="121369" y="111472"/>
                  <a:pt x="112068" y="102171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787797" y="37846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b="0" i="0" sz="1600" u="none" cap="none" strike="noStrike"/>
          </a:p>
        </p:txBody>
      </p:sp>
      <p:cxnSp>
        <p:nvCxnSpPr>
          <p:cNvPr id="337" name="Google Shape;337;p16"/>
          <p:cNvCxnSpPr/>
          <p:nvPr/>
        </p:nvCxnSpPr>
        <p:spPr>
          <a:xfrm>
            <a:off x="2438202" y="3403600"/>
            <a:ext cx="1054100" cy="0"/>
          </a:xfrm>
          <a:prstGeom prst="straightConnector1">
            <a:avLst/>
          </a:prstGeom>
          <a:noFill/>
          <a:ln cap="flat" cmpd="sng" w="25400">
            <a:solidFill>
              <a:srgbClr val="888B8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8" name="Google Shape;338;p16"/>
          <p:cNvSpPr/>
          <p:nvPr/>
        </p:nvSpPr>
        <p:spPr>
          <a:xfrm>
            <a:off x="4123134" y="28702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4294584" y="3086100"/>
            <a:ext cx="476250" cy="381000"/>
          </a:xfrm>
          <a:custGeom>
            <a:rect b="b" l="l" r="r" t="t"/>
            <a:pathLst>
              <a:path extrusionOk="0" h="381000" w="476250">
                <a:moveTo>
                  <a:pt x="260375" y="175840"/>
                </a:moveTo>
                <a:lnTo>
                  <a:pt x="211187" y="175840"/>
                </a:lnTo>
                <a:lnTo>
                  <a:pt x="211187" y="131638"/>
                </a:lnTo>
                <a:lnTo>
                  <a:pt x="260375" y="131638"/>
                </a:lnTo>
                <a:lnTo>
                  <a:pt x="260375" y="175840"/>
                </a:lnTo>
                <a:close/>
                <a:moveTo>
                  <a:pt x="260375" y="23812"/>
                </a:moveTo>
                <a:lnTo>
                  <a:pt x="211187" y="23812"/>
                </a:lnTo>
                <a:lnTo>
                  <a:pt x="211187" y="68982"/>
                </a:lnTo>
                <a:lnTo>
                  <a:pt x="260375" y="68982"/>
                </a:lnTo>
                <a:lnTo>
                  <a:pt x="260375" y="23812"/>
                </a:lnTo>
                <a:close/>
                <a:moveTo>
                  <a:pt x="318567" y="131564"/>
                </a:moveTo>
                <a:lnTo>
                  <a:pt x="269379" y="131564"/>
                </a:lnTo>
                <a:lnTo>
                  <a:pt x="269379" y="175766"/>
                </a:lnTo>
                <a:lnTo>
                  <a:pt x="318567" y="175766"/>
                </a:lnTo>
                <a:lnTo>
                  <a:pt x="318567" y="131564"/>
                </a:lnTo>
                <a:close/>
                <a:moveTo>
                  <a:pt x="202257" y="77912"/>
                </a:moveTo>
                <a:lnTo>
                  <a:pt x="153070" y="77912"/>
                </a:lnTo>
                <a:lnTo>
                  <a:pt x="153070" y="122634"/>
                </a:lnTo>
                <a:lnTo>
                  <a:pt x="202257" y="122634"/>
                </a:lnTo>
                <a:lnTo>
                  <a:pt x="202257" y="77912"/>
                </a:lnTo>
                <a:close/>
                <a:moveTo>
                  <a:pt x="260375" y="77912"/>
                </a:moveTo>
                <a:lnTo>
                  <a:pt x="211187" y="77912"/>
                </a:lnTo>
                <a:lnTo>
                  <a:pt x="211187" y="122634"/>
                </a:lnTo>
                <a:lnTo>
                  <a:pt x="260375" y="122634"/>
                </a:lnTo>
                <a:lnTo>
                  <a:pt x="260375" y="77912"/>
                </a:lnTo>
                <a:close/>
                <a:moveTo>
                  <a:pt x="466353" y="152326"/>
                </a:moveTo>
                <a:cubicBezTo>
                  <a:pt x="455637" y="145107"/>
                  <a:pt x="430932" y="142503"/>
                  <a:pt x="411956" y="146075"/>
                </a:cubicBezTo>
                <a:cubicBezTo>
                  <a:pt x="409501" y="128215"/>
                  <a:pt x="399529" y="112663"/>
                  <a:pt x="381372" y="98673"/>
                </a:cubicBezTo>
                <a:lnTo>
                  <a:pt x="370954" y="91753"/>
                </a:lnTo>
                <a:lnTo>
                  <a:pt x="364034" y="102171"/>
                </a:lnTo>
                <a:cubicBezTo>
                  <a:pt x="350341" y="122858"/>
                  <a:pt x="346621" y="156939"/>
                  <a:pt x="361280" y="179412"/>
                </a:cubicBezTo>
                <a:cubicBezTo>
                  <a:pt x="354806" y="182910"/>
                  <a:pt x="342081" y="187672"/>
                  <a:pt x="325264" y="187375"/>
                </a:cubicBezTo>
                <a:lnTo>
                  <a:pt x="1786" y="187375"/>
                </a:lnTo>
                <a:cubicBezTo>
                  <a:pt x="-4688" y="225177"/>
                  <a:pt x="6102" y="274290"/>
                  <a:pt x="34528" y="308000"/>
                </a:cubicBezTo>
                <a:cubicBezTo>
                  <a:pt x="62136" y="340668"/>
                  <a:pt x="103510" y="357262"/>
                  <a:pt x="157609" y="357262"/>
                </a:cubicBezTo>
                <a:cubicBezTo>
                  <a:pt x="274737" y="357262"/>
                  <a:pt x="361429" y="303312"/>
                  <a:pt x="401985" y="205308"/>
                </a:cubicBezTo>
                <a:cubicBezTo>
                  <a:pt x="417909" y="205606"/>
                  <a:pt x="452289" y="205383"/>
                  <a:pt x="469925" y="171673"/>
                </a:cubicBezTo>
                <a:cubicBezTo>
                  <a:pt x="471041" y="169813"/>
                  <a:pt x="474836" y="161851"/>
                  <a:pt x="476250" y="158948"/>
                </a:cubicBezTo>
                <a:lnTo>
                  <a:pt x="466353" y="152326"/>
                </a:lnTo>
                <a:close/>
                <a:moveTo>
                  <a:pt x="86023" y="131564"/>
                </a:moveTo>
                <a:lnTo>
                  <a:pt x="36909" y="131564"/>
                </a:lnTo>
                <a:lnTo>
                  <a:pt x="36909" y="175766"/>
                </a:lnTo>
                <a:lnTo>
                  <a:pt x="86097" y="175766"/>
                </a:lnTo>
                <a:lnTo>
                  <a:pt x="86097" y="131564"/>
                </a:lnTo>
                <a:lnTo>
                  <a:pt x="86023" y="131564"/>
                </a:lnTo>
                <a:close/>
                <a:moveTo>
                  <a:pt x="144140" y="131564"/>
                </a:moveTo>
                <a:lnTo>
                  <a:pt x="94952" y="131564"/>
                </a:lnTo>
                <a:lnTo>
                  <a:pt x="94952" y="175766"/>
                </a:lnTo>
                <a:lnTo>
                  <a:pt x="144140" y="175766"/>
                </a:lnTo>
                <a:lnTo>
                  <a:pt x="144140" y="131564"/>
                </a:lnTo>
                <a:close/>
                <a:moveTo>
                  <a:pt x="202257" y="131564"/>
                </a:moveTo>
                <a:lnTo>
                  <a:pt x="153070" y="131564"/>
                </a:lnTo>
                <a:lnTo>
                  <a:pt x="153070" y="175766"/>
                </a:lnTo>
                <a:lnTo>
                  <a:pt x="202257" y="175766"/>
                </a:lnTo>
                <a:lnTo>
                  <a:pt x="202257" y="131564"/>
                </a:lnTo>
                <a:close/>
                <a:moveTo>
                  <a:pt x="144140" y="77912"/>
                </a:moveTo>
                <a:lnTo>
                  <a:pt x="94952" y="77912"/>
                </a:lnTo>
                <a:lnTo>
                  <a:pt x="94952" y="122634"/>
                </a:lnTo>
                <a:lnTo>
                  <a:pt x="144140" y="122634"/>
                </a:lnTo>
                <a:lnTo>
                  <a:pt x="144140" y="77912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3716337" y="3784600"/>
            <a:ext cx="1625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Contenerización</a:t>
            </a:r>
            <a:endParaRPr b="0" i="0" sz="1600" u="none" cap="none" strike="noStrike"/>
          </a:p>
        </p:txBody>
      </p:sp>
      <p:cxnSp>
        <p:nvCxnSpPr>
          <p:cNvPr id="341" name="Google Shape;341;p16"/>
          <p:cNvCxnSpPr/>
          <p:nvPr/>
        </p:nvCxnSpPr>
        <p:spPr>
          <a:xfrm>
            <a:off x="5570934" y="3403600"/>
            <a:ext cx="1054100" cy="0"/>
          </a:xfrm>
          <a:prstGeom prst="straightConnector1">
            <a:avLst/>
          </a:prstGeom>
          <a:noFill/>
          <a:ln cap="flat" cmpd="sng" w="25400">
            <a:solidFill>
              <a:srgbClr val="888B8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2" name="Google Shape;342;p16"/>
          <p:cNvSpPr/>
          <p:nvPr/>
        </p:nvSpPr>
        <p:spPr>
          <a:xfrm>
            <a:off x="7255867" y="28702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7451130" y="3086100"/>
            <a:ext cx="428625" cy="381000"/>
          </a:xfrm>
          <a:custGeom>
            <a:rect b="b" l="l" r="r" t="t"/>
            <a:pathLst>
              <a:path extrusionOk="0" h="381000" w="428625">
                <a:moveTo>
                  <a:pt x="0" y="105742"/>
                </a:moveTo>
                <a:lnTo>
                  <a:pt x="0" y="357188"/>
                </a:lnTo>
                <a:cubicBezTo>
                  <a:pt x="0" y="370359"/>
                  <a:pt x="10641" y="381000"/>
                  <a:pt x="23812" y="381000"/>
                </a:cubicBezTo>
                <a:cubicBezTo>
                  <a:pt x="36984" y="381000"/>
                  <a:pt x="47625" y="370359"/>
                  <a:pt x="47625" y="357188"/>
                </a:cubicBezTo>
                <a:lnTo>
                  <a:pt x="47625" y="178594"/>
                </a:lnTo>
                <a:cubicBezTo>
                  <a:pt x="47625" y="165422"/>
                  <a:pt x="58266" y="154781"/>
                  <a:pt x="71438" y="154781"/>
                </a:cubicBezTo>
                <a:lnTo>
                  <a:pt x="357188" y="154781"/>
                </a:lnTo>
                <a:cubicBezTo>
                  <a:pt x="370359" y="154781"/>
                  <a:pt x="381000" y="165422"/>
                  <a:pt x="381000" y="178594"/>
                </a:cubicBezTo>
                <a:lnTo>
                  <a:pt x="381000" y="357188"/>
                </a:lnTo>
                <a:cubicBezTo>
                  <a:pt x="381000" y="370359"/>
                  <a:pt x="391641" y="381000"/>
                  <a:pt x="404813" y="381000"/>
                </a:cubicBezTo>
                <a:cubicBezTo>
                  <a:pt x="417984" y="381000"/>
                  <a:pt x="428625" y="370359"/>
                  <a:pt x="428625" y="357188"/>
                </a:cubicBezTo>
                <a:lnTo>
                  <a:pt x="428625" y="105742"/>
                </a:lnTo>
                <a:cubicBezTo>
                  <a:pt x="428625" y="85279"/>
                  <a:pt x="415528" y="67047"/>
                  <a:pt x="396032" y="60573"/>
                </a:cubicBezTo>
                <a:lnTo>
                  <a:pt x="225623" y="3795"/>
                </a:lnTo>
                <a:cubicBezTo>
                  <a:pt x="218256" y="1339"/>
                  <a:pt x="210369" y="1339"/>
                  <a:pt x="203002" y="3795"/>
                </a:cubicBezTo>
                <a:lnTo>
                  <a:pt x="32593" y="60573"/>
                </a:lnTo>
                <a:cubicBezTo>
                  <a:pt x="13097" y="67047"/>
                  <a:pt x="0" y="85279"/>
                  <a:pt x="0" y="105742"/>
                </a:cubicBezTo>
                <a:close/>
                <a:moveTo>
                  <a:pt x="345281" y="190500"/>
                </a:moveTo>
                <a:lnTo>
                  <a:pt x="83344" y="190500"/>
                </a:lnTo>
                <a:lnTo>
                  <a:pt x="83344" y="238125"/>
                </a:lnTo>
                <a:lnTo>
                  <a:pt x="345281" y="238125"/>
                </a:lnTo>
                <a:lnTo>
                  <a:pt x="345281" y="190500"/>
                </a:lnTo>
                <a:close/>
                <a:moveTo>
                  <a:pt x="83344" y="309563"/>
                </a:moveTo>
                <a:lnTo>
                  <a:pt x="345281" y="309563"/>
                </a:lnTo>
                <a:lnTo>
                  <a:pt x="345281" y="261938"/>
                </a:lnTo>
                <a:lnTo>
                  <a:pt x="83344" y="261938"/>
                </a:lnTo>
                <a:lnTo>
                  <a:pt x="83344" y="309563"/>
                </a:lnTo>
                <a:close/>
                <a:moveTo>
                  <a:pt x="345281" y="333375"/>
                </a:moveTo>
                <a:lnTo>
                  <a:pt x="83344" y="333375"/>
                </a:lnTo>
                <a:lnTo>
                  <a:pt x="83344" y="381000"/>
                </a:lnTo>
                <a:lnTo>
                  <a:pt x="345281" y="381000"/>
                </a:lnTo>
                <a:lnTo>
                  <a:pt x="345281" y="333375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6824067" y="3784600"/>
            <a:ext cx="16764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endParaRPr b="0" i="0" sz="1600" u="none" cap="none" strike="noStrike"/>
          </a:p>
        </p:txBody>
      </p:sp>
      <p:cxnSp>
        <p:nvCxnSpPr>
          <p:cNvPr id="345" name="Google Shape;345;p16"/>
          <p:cNvCxnSpPr/>
          <p:nvPr/>
        </p:nvCxnSpPr>
        <p:spPr>
          <a:xfrm>
            <a:off x="8703667" y="3403600"/>
            <a:ext cx="1054100" cy="0"/>
          </a:xfrm>
          <a:prstGeom prst="straightConnector1">
            <a:avLst/>
          </a:prstGeom>
          <a:noFill/>
          <a:ln cap="flat" cmpd="sng" w="25400">
            <a:solidFill>
              <a:srgbClr val="888B8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6" name="Google Shape;346;p16"/>
          <p:cNvSpPr/>
          <p:nvPr/>
        </p:nvSpPr>
        <p:spPr>
          <a:xfrm>
            <a:off x="10388600" y="28702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0631488" y="3086100"/>
            <a:ext cx="333375" cy="381000"/>
          </a:xfrm>
          <a:custGeom>
            <a:rect b="b" l="l" r="r" t="t"/>
            <a:pathLst>
              <a:path extrusionOk="0" h="381000" w="333375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10156031" y="3784600"/>
            <a:ext cx="12827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 b="0" i="0" sz="1600" u="none" cap="none" strike="noStrike"/>
          </a:p>
        </p:txBody>
      </p:sp>
      <p:sp>
        <p:nvSpPr>
          <p:cNvPr id="349" name="Google Shape;349;p16"/>
          <p:cNvSpPr/>
          <p:nvPr/>
        </p:nvSpPr>
        <p:spPr>
          <a:xfrm>
            <a:off x="2362200" y="41910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2581275" y="4406900"/>
            <a:ext cx="381000" cy="381000"/>
          </a:xfrm>
          <a:custGeom>
            <a:rect b="b" l="l" r="r" t="t"/>
            <a:pathLst>
              <a:path extrusionOk="0" h="381000" w="381000"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40122" y="109463"/>
                </a:moveTo>
                <a:cubicBezTo>
                  <a:pt x="134466" y="112588"/>
                  <a:pt x="130969" y="118616"/>
                  <a:pt x="130969" y="125016"/>
                </a:cubicBezTo>
                <a:lnTo>
                  <a:pt x="130969" y="255984"/>
                </a:lnTo>
                <a:cubicBezTo>
                  <a:pt x="130969" y="262458"/>
                  <a:pt x="134466" y="268412"/>
                  <a:pt x="140122" y="271537"/>
                </a:cubicBezTo>
                <a:cubicBezTo>
                  <a:pt x="145777" y="274662"/>
                  <a:pt x="152623" y="274588"/>
                  <a:pt x="158204" y="271165"/>
                </a:cubicBezTo>
                <a:lnTo>
                  <a:pt x="265361" y="205680"/>
                </a:lnTo>
                <a:cubicBezTo>
                  <a:pt x="270644" y="202406"/>
                  <a:pt x="273918" y="196676"/>
                  <a:pt x="273918" y="190426"/>
                </a:cubicBezTo>
                <a:cubicBezTo>
                  <a:pt x="273918" y="184175"/>
                  <a:pt x="270644" y="178445"/>
                  <a:pt x="265361" y="175171"/>
                </a:cubicBezTo>
                <a:lnTo>
                  <a:pt x="158204" y="109686"/>
                </a:lnTo>
                <a:cubicBezTo>
                  <a:pt x="152698" y="106338"/>
                  <a:pt x="145777" y="106189"/>
                  <a:pt x="140122" y="109314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1740495" y="5105400"/>
            <a:ext cx="20574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Ejecución y Monitoreo</a:t>
            </a:r>
            <a:endParaRPr b="0" i="0" sz="1600" u="none" cap="none" strike="noStrike"/>
          </a:p>
        </p:txBody>
      </p:sp>
      <p:sp>
        <p:nvSpPr>
          <p:cNvPr id="352" name="Google Shape;352;p16"/>
          <p:cNvSpPr/>
          <p:nvPr/>
        </p:nvSpPr>
        <p:spPr>
          <a:xfrm>
            <a:off x="5689600" y="41910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5908675" y="4406900"/>
            <a:ext cx="381000" cy="381000"/>
          </a:xfrm>
          <a:custGeom>
            <a:rect b="b" l="l" r="r" t="t"/>
            <a:pathLst>
              <a:path extrusionOk="0" h="381000" w="381000">
                <a:moveTo>
                  <a:pt x="357262" y="142875"/>
                </a:moveTo>
                <a:lnTo>
                  <a:pt x="363141" y="142875"/>
                </a:lnTo>
                <a:cubicBezTo>
                  <a:pt x="373038" y="142875"/>
                  <a:pt x="381000" y="134913"/>
                  <a:pt x="381000" y="125016"/>
                </a:cubicBezTo>
                <a:lnTo>
                  <a:pt x="381000" y="17859"/>
                </a:lnTo>
                <a:cubicBezTo>
                  <a:pt x="381000" y="10641"/>
                  <a:pt x="376684" y="4093"/>
                  <a:pt x="369987" y="1339"/>
                </a:cubicBezTo>
                <a:cubicBezTo>
                  <a:pt x="363289" y="-1414"/>
                  <a:pt x="355625" y="149"/>
                  <a:pt x="350490" y="5209"/>
                </a:cubicBezTo>
                <a:lnTo>
                  <a:pt x="312018" y="43755"/>
                </a:lnTo>
                <a:cubicBezTo>
                  <a:pt x="279053" y="16446"/>
                  <a:pt x="236637" y="0"/>
                  <a:pt x="190500" y="0"/>
                </a:cubicBezTo>
                <a:cubicBezTo>
                  <a:pt x="94506" y="0"/>
                  <a:pt x="15106" y="70991"/>
                  <a:pt x="1935" y="163339"/>
                </a:cubicBezTo>
                <a:cubicBezTo>
                  <a:pt x="74" y="176361"/>
                  <a:pt x="9079" y="188416"/>
                  <a:pt x="22101" y="190277"/>
                </a:cubicBezTo>
                <a:cubicBezTo>
                  <a:pt x="35123" y="192137"/>
                  <a:pt x="47179" y="183059"/>
                  <a:pt x="49039" y="170111"/>
                </a:cubicBezTo>
                <a:cubicBezTo>
                  <a:pt x="58936" y="100831"/>
                  <a:pt x="118542" y="47625"/>
                  <a:pt x="190500" y="47625"/>
                </a:cubicBezTo>
                <a:cubicBezTo>
                  <a:pt x="223540" y="47625"/>
                  <a:pt x="253901" y="58787"/>
                  <a:pt x="278085" y="77614"/>
                </a:cubicBezTo>
                <a:lnTo>
                  <a:pt x="243334" y="112365"/>
                </a:lnTo>
                <a:cubicBezTo>
                  <a:pt x="238199" y="117500"/>
                  <a:pt x="236711" y="125164"/>
                  <a:pt x="239464" y="131862"/>
                </a:cubicBezTo>
                <a:cubicBezTo>
                  <a:pt x="242218" y="138559"/>
                  <a:pt x="248766" y="142875"/>
                  <a:pt x="255984" y="142875"/>
                </a:cubicBezTo>
                <a:lnTo>
                  <a:pt x="357262" y="142875"/>
                </a:lnTo>
                <a:close/>
                <a:moveTo>
                  <a:pt x="379140" y="217661"/>
                </a:moveTo>
                <a:cubicBezTo>
                  <a:pt x="381000" y="204639"/>
                  <a:pt x="371921" y="192584"/>
                  <a:pt x="358973" y="190723"/>
                </a:cubicBezTo>
                <a:cubicBezTo>
                  <a:pt x="346025" y="188863"/>
                  <a:pt x="333896" y="197941"/>
                  <a:pt x="332036" y="210889"/>
                </a:cubicBezTo>
                <a:cubicBezTo>
                  <a:pt x="322138" y="280095"/>
                  <a:pt x="262533" y="333301"/>
                  <a:pt x="190574" y="333301"/>
                </a:cubicBezTo>
                <a:cubicBezTo>
                  <a:pt x="157535" y="333301"/>
                  <a:pt x="127174" y="322138"/>
                  <a:pt x="102989" y="303312"/>
                </a:cubicBezTo>
                <a:lnTo>
                  <a:pt x="137666" y="268635"/>
                </a:lnTo>
                <a:cubicBezTo>
                  <a:pt x="142801" y="263500"/>
                  <a:pt x="144289" y="255836"/>
                  <a:pt x="141536" y="249138"/>
                </a:cubicBezTo>
                <a:cubicBezTo>
                  <a:pt x="138782" y="242441"/>
                  <a:pt x="132234" y="238125"/>
                  <a:pt x="125016" y="238125"/>
                </a:cubicBezTo>
                <a:lnTo>
                  <a:pt x="17859" y="238125"/>
                </a:lnTo>
                <a:cubicBezTo>
                  <a:pt x="7962" y="238125"/>
                  <a:pt x="0" y="246087"/>
                  <a:pt x="0" y="255984"/>
                </a:cubicBezTo>
                <a:lnTo>
                  <a:pt x="0" y="363141"/>
                </a:lnTo>
                <a:cubicBezTo>
                  <a:pt x="0" y="370359"/>
                  <a:pt x="4316" y="376907"/>
                  <a:pt x="11013" y="379661"/>
                </a:cubicBezTo>
                <a:cubicBezTo>
                  <a:pt x="17711" y="382414"/>
                  <a:pt x="25375" y="380851"/>
                  <a:pt x="30510" y="375791"/>
                </a:cubicBezTo>
                <a:lnTo>
                  <a:pt x="69056" y="337245"/>
                </a:lnTo>
                <a:cubicBezTo>
                  <a:pt x="101947" y="364554"/>
                  <a:pt x="144363" y="381000"/>
                  <a:pt x="190500" y="381000"/>
                </a:cubicBezTo>
                <a:cubicBezTo>
                  <a:pt x="286494" y="381000"/>
                  <a:pt x="365894" y="310009"/>
                  <a:pt x="379065" y="217661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5048052" y="5105400"/>
            <a:ext cx="20955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Actualización Continua</a:t>
            </a:r>
            <a:endParaRPr b="0" i="0" sz="1600" u="none" cap="none" strike="noStrike"/>
          </a:p>
        </p:txBody>
      </p:sp>
      <p:sp>
        <p:nvSpPr>
          <p:cNvPr id="355" name="Google Shape;355;p16"/>
          <p:cNvSpPr/>
          <p:nvPr/>
        </p:nvSpPr>
        <p:spPr>
          <a:xfrm>
            <a:off x="9017000" y="4191000"/>
            <a:ext cx="812800" cy="812800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202124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9259888" y="4406900"/>
            <a:ext cx="333375" cy="381000"/>
          </a:xfrm>
          <a:custGeom>
            <a:rect b="b" l="l" r="r" t="t"/>
            <a:pathLst>
              <a:path extrusionOk="0" h="381000" w="333375">
                <a:moveTo>
                  <a:pt x="125016" y="23812"/>
                </a:moveTo>
                <a:lnTo>
                  <a:pt x="17859" y="23812"/>
                </a:lnTo>
                <a:cubicBezTo>
                  <a:pt x="7962" y="23812"/>
                  <a:pt x="0" y="31775"/>
                  <a:pt x="0" y="41672"/>
                </a:cubicBezTo>
                <a:lnTo>
                  <a:pt x="0" y="148828"/>
                </a:lnTo>
                <a:cubicBezTo>
                  <a:pt x="0" y="156046"/>
                  <a:pt x="4316" y="162595"/>
                  <a:pt x="11013" y="165348"/>
                </a:cubicBezTo>
                <a:cubicBezTo>
                  <a:pt x="17711" y="168101"/>
                  <a:pt x="25375" y="166539"/>
                  <a:pt x="30510" y="161479"/>
                </a:cubicBezTo>
                <a:lnTo>
                  <a:pt x="60275" y="131713"/>
                </a:lnTo>
                <a:lnTo>
                  <a:pt x="119063" y="190500"/>
                </a:lnTo>
                <a:lnTo>
                  <a:pt x="60275" y="249287"/>
                </a:lnTo>
                <a:lnTo>
                  <a:pt x="30510" y="219521"/>
                </a:lnTo>
                <a:cubicBezTo>
                  <a:pt x="25375" y="214387"/>
                  <a:pt x="17711" y="212899"/>
                  <a:pt x="11013" y="215652"/>
                </a:cubicBezTo>
                <a:cubicBezTo>
                  <a:pt x="4316" y="218405"/>
                  <a:pt x="0" y="224954"/>
                  <a:pt x="0" y="232172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lnTo>
                  <a:pt x="125016" y="357188"/>
                </a:lnTo>
                <a:cubicBezTo>
                  <a:pt x="132234" y="357188"/>
                  <a:pt x="138782" y="352871"/>
                  <a:pt x="141536" y="346174"/>
                </a:cubicBezTo>
                <a:cubicBezTo>
                  <a:pt x="144289" y="339477"/>
                  <a:pt x="142801" y="331812"/>
                  <a:pt x="137666" y="326678"/>
                </a:cubicBezTo>
                <a:lnTo>
                  <a:pt x="107900" y="296912"/>
                </a:lnTo>
                <a:lnTo>
                  <a:pt x="166688" y="238125"/>
                </a:lnTo>
                <a:lnTo>
                  <a:pt x="225475" y="296912"/>
                </a:lnTo>
                <a:lnTo>
                  <a:pt x="195709" y="326678"/>
                </a:lnTo>
                <a:cubicBezTo>
                  <a:pt x="190574" y="331812"/>
                  <a:pt x="189086" y="339477"/>
                  <a:pt x="191839" y="346174"/>
                </a:cubicBezTo>
                <a:cubicBezTo>
                  <a:pt x="194593" y="352871"/>
                  <a:pt x="201141" y="357188"/>
                  <a:pt x="208359" y="357188"/>
                </a:cubicBezTo>
                <a:lnTo>
                  <a:pt x="315516" y="357188"/>
                </a:lnTo>
                <a:cubicBezTo>
                  <a:pt x="325413" y="357188"/>
                  <a:pt x="333375" y="349225"/>
                  <a:pt x="333375" y="339328"/>
                </a:cubicBezTo>
                <a:lnTo>
                  <a:pt x="333375" y="232172"/>
                </a:lnTo>
                <a:cubicBezTo>
                  <a:pt x="333375" y="224954"/>
                  <a:pt x="329059" y="218405"/>
                  <a:pt x="322362" y="215652"/>
                </a:cubicBezTo>
                <a:cubicBezTo>
                  <a:pt x="315664" y="212899"/>
                  <a:pt x="308000" y="214387"/>
                  <a:pt x="302865" y="219521"/>
                </a:cubicBezTo>
                <a:lnTo>
                  <a:pt x="273100" y="249287"/>
                </a:lnTo>
                <a:lnTo>
                  <a:pt x="214313" y="190500"/>
                </a:lnTo>
                <a:lnTo>
                  <a:pt x="273100" y="131713"/>
                </a:lnTo>
                <a:lnTo>
                  <a:pt x="302865" y="161479"/>
                </a:lnTo>
                <a:cubicBezTo>
                  <a:pt x="308000" y="166613"/>
                  <a:pt x="315664" y="168101"/>
                  <a:pt x="322362" y="165348"/>
                </a:cubicBezTo>
                <a:cubicBezTo>
                  <a:pt x="329059" y="162595"/>
                  <a:pt x="333375" y="156046"/>
                  <a:pt x="333375" y="148828"/>
                </a:cubicBezTo>
                <a:lnTo>
                  <a:pt x="333375" y="41672"/>
                </a:lnTo>
                <a:cubicBezTo>
                  <a:pt x="333375" y="31775"/>
                  <a:pt x="325413" y="23812"/>
                  <a:pt x="315516" y="23812"/>
                </a:cubicBezTo>
                <a:lnTo>
                  <a:pt x="208359" y="23812"/>
                </a:lnTo>
                <a:cubicBezTo>
                  <a:pt x="201141" y="23812"/>
                  <a:pt x="194593" y="28129"/>
                  <a:pt x="191839" y="34826"/>
                </a:cubicBezTo>
                <a:cubicBezTo>
                  <a:pt x="189086" y="41523"/>
                  <a:pt x="190649" y="49188"/>
                  <a:pt x="195709" y="54322"/>
                </a:cubicBezTo>
                <a:lnTo>
                  <a:pt x="225475" y="84088"/>
                </a:lnTo>
                <a:lnTo>
                  <a:pt x="166688" y="142875"/>
                </a:lnTo>
                <a:lnTo>
                  <a:pt x="107900" y="84088"/>
                </a:lnTo>
                <a:lnTo>
                  <a:pt x="137666" y="54322"/>
                </a:lnTo>
                <a:cubicBezTo>
                  <a:pt x="142801" y="49188"/>
                  <a:pt x="144289" y="41523"/>
                  <a:pt x="141536" y="34826"/>
                </a:cubicBezTo>
                <a:cubicBezTo>
                  <a:pt x="138782" y="28129"/>
                  <a:pt x="132234" y="23812"/>
                  <a:pt x="125016" y="23812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8370491" y="5105400"/>
            <a:ext cx="2108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Escalado y Distribución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254000" y="1295400"/>
            <a:ext cx="54356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Monitoreo y Actualización</a:t>
            </a:r>
            <a:endParaRPr b="0" i="0" sz="1600" u="none" cap="none" strike="noStrike"/>
          </a:p>
        </p:txBody>
      </p:sp>
      <p:sp>
        <p:nvSpPr>
          <p:cNvPr id="364" name="Google Shape;364;p17"/>
          <p:cNvSpPr/>
          <p:nvPr/>
        </p:nvSpPr>
        <p:spPr>
          <a:xfrm>
            <a:off x="254000" y="2514600"/>
            <a:ext cx="5435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Garantizar la salud, rendimiento y evolución continua de los servicios desplegados.</a:t>
            </a:r>
            <a:endParaRPr b="0" i="0" sz="1600" u="none" cap="none" strike="noStrike"/>
          </a:p>
        </p:txBody>
      </p:sp>
      <p:sp>
        <p:nvSpPr>
          <p:cNvPr id="365" name="Google Shape;365;p17"/>
          <p:cNvSpPr/>
          <p:nvPr/>
        </p:nvSpPr>
        <p:spPr>
          <a:xfrm>
            <a:off x="254000" y="3479800"/>
            <a:ext cx="543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endParaRPr b="0" i="0" sz="1600" u="none" cap="none" strike="noStrike"/>
          </a:p>
        </p:txBody>
      </p:sp>
      <p:sp>
        <p:nvSpPr>
          <p:cNvPr id="366" name="Google Shape;366;p17"/>
          <p:cNvSpPr/>
          <p:nvPr/>
        </p:nvSpPr>
        <p:spPr>
          <a:xfrm>
            <a:off x="660400" y="3784600"/>
            <a:ext cx="5029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Métricas de uso (CPU, memoria, red), logs centralizados y alertas para una visión completa del estado del sistema.</a:t>
            </a:r>
            <a:endParaRPr b="0" i="0" sz="1600" u="none" cap="none" strike="noStrike"/>
          </a:p>
        </p:txBody>
      </p:sp>
      <p:sp>
        <p:nvSpPr>
          <p:cNvPr id="367" name="Google Shape;367;p17"/>
          <p:cNvSpPr/>
          <p:nvPr/>
        </p:nvSpPr>
        <p:spPr>
          <a:xfrm>
            <a:off x="254000" y="4495800"/>
            <a:ext cx="543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Actualización y Escalado</a:t>
            </a:r>
            <a:endParaRPr b="0" i="0" sz="1600" u="none" cap="none" strike="noStrike"/>
          </a:p>
        </p:txBody>
      </p:sp>
      <p:sp>
        <p:nvSpPr>
          <p:cNvPr id="368" name="Google Shape;368;p17"/>
          <p:cNvSpPr/>
          <p:nvPr/>
        </p:nvSpPr>
        <p:spPr>
          <a:xfrm>
            <a:off x="660400" y="4800600"/>
            <a:ext cx="5029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Implementación de rolling updates y blue-green deployments para cero downtime, junto con escalado horizontal automatizado.</a:t>
            </a:r>
            <a:endParaRPr b="0" i="0" sz="1600" u="none" cap="none" strike="noStrike"/>
          </a:p>
        </p:txBody>
      </p:sp>
      <p:pic>
        <p:nvPicPr>
          <p:cNvPr descr="https://kimi-web-img.moonshot.cn/img/www.lxahub.com/1d6193362a3262687523dc5e3408e07ad3f226aa.png" id="369" name="Google Shape;369;p17"/>
          <p:cNvPicPr preferRelativeResize="0"/>
          <p:nvPr/>
        </p:nvPicPr>
        <p:blipFill rotWithShape="1">
          <a:blip r:embed="rId3">
            <a:alphaModFix/>
          </a:blip>
          <a:srcRect b="0" l="26347" r="26346" t="0"/>
          <a:stretch/>
        </p:blipFill>
        <p:spPr>
          <a:xfrm>
            <a:off x="6096000" y="254000"/>
            <a:ext cx="5842000" cy="6350000"/>
          </a:xfrm>
          <a:prstGeom prst="roundRect">
            <a:avLst>
              <a:gd fmla="val 173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375" name="Google Shape;3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8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 y beneficios</a:t>
            </a:r>
            <a:endParaRPr b="0" i="0" sz="1600" u="none" cap="none" strike="noStrike"/>
          </a:p>
        </p:txBody>
      </p:sp>
      <p:sp>
        <p:nvSpPr>
          <p:cNvPr id="378" name="Google Shape;378;p18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"/>
          <p:cNvSpPr/>
          <p:nvPr/>
        </p:nvSpPr>
        <p:spPr>
          <a:xfrm>
            <a:off x="0" y="1803400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Seguridad y Buenas Prácticas</a:t>
            </a:r>
            <a:endParaRPr b="0" i="0" sz="1600" u="none" cap="none" strike="noStrike"/>
          </a:p>
        </p:txBody>
      </p:sp>
      <p:sp>
        <p:nvSpPr>
          <p:cNvPr id="385" name="Google Shape;385;p19"/>
          <p:cNvSpPr/>
          <p:nvPr/>
        </p:nvSpPr>
        <p:spPr>
          <a:xfrm>
            <a:off x="0" y="24130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Proteger la infraestructura y los datos desde el desarrollo hasta la producción.</a:t>
            </a:r>
            <a:endParaRPr b="0" i="0" sz="1600" u="none" cap="none" strike="noStrike"/>
          </a:p>
        </p:txBody>
      </p:sp>
      <p:sp>
        <p:nvSpPr>
          <p:cNvPr id="386" name="Google Shape;386;p19"/>
          <p:cNvSpPr/>
          <p:nvPr/>
        </p:nvSpPr>
        <p:spPr>
          <a:xfrm>
            <a:off x="622300" y="3340100"/>
            <a:ext cx="285750" cy="381000"/>
          </a:xfrm>
          <a:custGeom>
            <a:rect b="b" l="l" r="r" t="t"/>
            <a:pathLst>
              <a:path extrusionOk="0" h="381000" w="285750">
                <a:moveTo>
                  <a:pt x="95250" y="71438"/>
                </a:moveTo>
                <a:lnTo>
                  <a:pt x="95250" y="119063"/>
                </a:lnTo>
                <a:lnTo>
                  <a:pt x="190500" y="119063"/>
                </a:lnTo>
                <a:lnTo>
                  <a:pt x="190500" y="71438"/>
                </a:lnTo>
                <a:cubicBezTo>
                  <a:pt x="190500" y="45169"/>
                  <a:pt x="169143" y="23812"/>
                  <a:pt x="142875" y="23812"/>
                </a:cubicBezTo>
                <a:cubicBezTo>
                  <a:pt x="116607" y="23812"/>
                  <a:pt x="95250" y="45169"/>
                  <a:pt x="95250" y="71438"/>
                </a:cubicBezTo>
                <a:close/>
                <a:moveTo>
                  <a:pt x="47625" y="119063"/>
                </a:moveTo>
                <a:lnTo>
                  <a:pt x="47625" y="71438"/>
                </a:lnTo>
                <a:cubicBezTo>
                  <a:pt x="47625" y="18827"/>
                  <a:pt x="90264" y="-23812"/>
                  <a:pt x="142875" y="-23812"/>
                </a:cubicBezTo>
                <a:cubicBezTo>
                  <a:pt x="195486" y="-23812"/>
                  <a:pt x="238125" y="18827"/>
                  <a:pt x="238125" y="71438"/>
                </a:cubicBezTo>
                <a:lnTo>
                  <a:pt x="238125" y="119063"/>
                </a:lnTo>
                <a:cubicBezTo>
                  <a:pt x="264393" y="119063"/>
                  <a:pt x="285750" y="140419"/>
                  <a:pt x="285750" y="16668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1357" y="119063"/>
                  <a:pt x="47625" y="11906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/>
          <p:nvPr/>
        </p:nvSpPr>
        <p:spPr>
          <a:xfrm>
            <a:off x="1270000" y="32512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Registros Privados</a:t>
            </a:r>
            <a:endParaRPr b="0" i="0" sz="1600" u="none" cap="none" strike="noStrike"/>
          </a:p>
        </p:txBody>
      </p:sp>
      <p:sp>
        <p:nvSpPr>
          <p:cNvPr id="388" name="Google Shape;388;p19"/>
          <p:cNvSpPr/>
          <p:nvPr/>
        </p:nvSpPr>
        <p:spPr>
          <a:xfrm>
            <a:off x="1270000" y="3556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Usar Harbor o Zot para controlar el acceso a las imágenes.</a:t>
            </a:r>
            <a:endParaRPr b="0" i="0" sz="1600" u="none" cap="none" strike="noStrike"/>
          </a:p>
        </p:txBody>
      </p:sp>
      <p:sp>
        <p:nvSpPr>
          <p:cNvPr id="389" name="Google Shape;389;p19"/>
          <p:cNvSpPr/>
          <p:nvPr/>
        </p:nvSpPr>
        <p:spPr>
          <a:xfrm>
            <a:off x="6324203" y="3340100"/>
            <a:ext cx="476250" cy="381000"/>
          </a:xfrm>
          <a:custGeom>
            <a:rect b="b" l="l" r="r" t="t"/>
            <a:pathLst>
              <a:path extrusionOk="0" h="381000" w="476250">
                <a:moveTo>
                  <a:pt x="47699" y="47625"/>
                </a:moveTo>
                <a:cubicBezTo>
                  <a:pt x="47699" y="21357"/>
                  <a:pt x="69056" y="0"/>
                  <a:pt x="95324" y="0"/>
                </a:cubicBezTo>
                <a:lnTo>
                  <a:pt x="206573" y="0"/>
                </a:lnTo>
                <a:cubicBezTo>
                  <a:pt x="219224" y="0"/>
                  <a:pt x="231353" y="4986"/>
                  <a:pt x="240283" y="13915"/>
                </a:cubicBezTo>
                <a:lnTo>
                  <a:pt x="319460" y="93241"/>
                </a:lnTo>
                <a:cubicBezTo>
                  <a:pt x="328389" y="102171"/>
                  <a:pt x="333375" y="114300"/>
                  <a:pt x="333375" y="126950"/>
                </a:cubicBezTo>
                <a:lnTo>
                  <a:pt x="333375" y="199504"/>
                </a:lnTo>
                <a:lnTo>
                  <a:pt x="235148" y="297731"/>
                </a:lnTo>
                <a:lnTo>
                  <a:pt x="203820" y="297731"/>
                </a:lnTo>
                <a:lnTo>
                  <a:pt x="191839" y="257845"/>
                </a:lnTo>
                <a:cubicBezTo>
                  <a:pt x="188342" y="246162"/>
                  <a:pt x="177626" y="238199"/>
                  <a:pt x="165422" y="238199"/>
                </a:cubicBezTo>
                <a:cubicBezTo>
                  <a:pt x="157014" y="238199"/>
                  <a:pt x="149126" y="241995"/>
                  <a:pt x="143917" y="248543"/>
                </a:cubicBezTo>
                <a:lnTo>
                  <a:pt x="99194" y="304354"/>
                </a:lnTo>
                <a:cubicBezTo>
                  <a:pt x="93018" y="312018"/>
                  <a:pt x="94283" y="323329"/>
                  <a:pt x="101947" y="329431"/>
                </a:cubicBezTo>
                <a:cubicBezTo>
                  <a:pt x="109612" y="335533"/>
                  <a:pt x="120923" y="334342"/>
                  <a:pt x="127025" y="326603"/>
                </a:cubicBezTo>
                <a:lnTo>
                  <a:pt x="162074" y="282848"/>
                </a:lnTo>
                <a:lnTo>
                  <a:pt x="173385" y="320576"/>
                </a:lnTo>
                <a:cubicBezTo>
                  <a:pt x="175617" y="328166"/>
                  <a:pt x="182612" y="333301"/>
                  <a:pt x="190500" y="333301"/>
                </a:cubicBezTo>
                <a:lnTo>
                  <a:pt x="213940" y="333301"/>
                </a:lnTo>
                <a:cubicBezTo>
                  <a:pt x="213271" y="335607"/>
                  <a:pt x="212675" y="337989"/>
                  <a:pt x="212229" y="340370"/>
                </a:cubicBezTo>
                <a:lnTo>
                  <a:pt x="204118" y="380926"/>
                </a:lnTo>
                <a:lnTo>
                  <a:pt x="95324" y="380926"/>
                </a:lnTo>
                <a:cubicBezTo>
                  <a:pt x="69056" y="380926"/>
                  <a:pt x="47699" y="359569"/>
                  <a:pt x="47699" y="333301"/>
                </a:cubicBezTo>
                <a:lnTo>
                  <a:pt x="47699" y="47551"/>
                </a:lnTo>
                <a:close/>
                <a:moveTo>
                  <a:pt x="202481" y="43532"/>
                </a:moveTo>
                <a:lnTo>
                  <a:pt x="202481" y="113109"/>
                </a:lnTo>
                <a:cubicBezTo>
                  <a:pt x="202481" y="123006"/>
                  <a:pt x="210443" y="130969"/>
                  <a:pt x="220340" y="130969"/>
                </a:cubicBezTo>
                <a:lnTo>
                  <a:pt x="289917" y="130969"/>
                </a:lnTo>
                <a:lnTo>
                  <a:pt x="202481" y="43532"/>
                </a:lnTo>
                <a:close/>
                <a:moveTo>
                  <a:pt x="247278" y="347439"/>
                </a:moveTo>
                <a:cubicBezTo>
                  <a:pt x="249138" y="338212"/>
                  <a:pt x="253678" y="329729"/>
                  <a:pt x="260300" y="323106"/>
                </a:cubicBezTo>
                <a:lnTo>
                  <a:pt x="348779" y="234628"/>
                </a:lnTo>
                <a:lnTo>
                  <a:pt x="408310" y="294159"/>
                </a:lnTo>
                <a:lnTo>
                  <a:pt x="319832" y="382637"/>
                </a:lnTo>
                <a:cubicBezTo>
                  <a:pt x="313209" y="389260"/>
                  <a:pt x="304726" y="393799"/>
                  <a:pt x="295498" y="395660"/>
                </a:cubicBezTo>
                <a:lnTo>
                  <a:pt x="251147" y="404515"/>
                </a:lnTo>
                <a:cubicBezTo>
                  <a:pt x="250478" y="404664"/>
                  <a:pt x="249734" y="404738"/>
                  <a:pt x="248989" y="404738"/>
                </a:cubicBezTo>
                <a:cubicBezTo>
                  <a:pt x="243036" y="404738"/>
                  <a:pt x="238125" y="399901"/>
                  <a:pt x="238125" y="393874"/>
                </a:cubicBezTo>
                <a:cubicBezTo>
                  <a:pt x="238125" y="393129"/>
                  <a:pt x="238199" y="392460"/>
                  <a:pt x="238348" y="391716"/>
                </a:cubicBezTo>
                <a:lnTo>
                  <a:pt x="247204" y="347365"/>
                </a:lnTo>
                <a:close/>
                <a:moveTo>
                  <a:pt x="446559" y="255910"/>
                </a:moveTo>
                <a:lnTo>
                  <a:pt x="425128" y="277341"/>
                </a:lnTo>
                <a:lnTo>
                  <a:pt x="365596" y="217810"/>
                </a:lnTo>
                <a:lnTo>
                  <a:pt x="387028" y="196379"/>
                </a:lnTo>
                <a:cubicBezTo>
                  <a:pt x="403473" y="179933"/>
                  <a:pt x="430113" y="179933"/>
                  <a:pt x="446559" y="196379"/>
                </a:cubicBezTo>
                <a:cubicBezTo>
                  <a:pt x="463004" y="212824"/>
                  <a:pt x="463004" y="239464"/>
                  <a:pt x="446559" y="25591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7022306" y="3124200"/>
            <a:ext cx="521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Firmar Imágenes</a:t>
            </a:r>
            <a:endParaRPr b="0" i="0" sz="1600" u="none" cap="none" strike="noStrike"/>
          </a:p>
        </p:txBody>
      </p:sp>
      <p:sp>
        <p:nvSpPr>
          <p:cNvPr id="391" name="Google Shape;391;p19"/>
          <p:cNvSpPr/>
          <p:nvPr/>
        </p:nvSpPr>
        <p:spPr>
          <a:xfrm>
            <a:off x="7022306" y="3429000"/>
            <a:ext cx="47117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Garantizar la autenticidad e integridad con herramientas como Notary.</a:t>
            </a:r>
            <a:endParaRPr b="0" i="0" sz="1600" u="none" cap="none" strike="noStrike"/>
          </a:p>
        </p:txBody>
      </p:sp>
      <p:sp>
        <p:nvSpPr>
          <p:cNvPr id="392" name="Google Shape;392;p19"/>
          <p:cNvSpPr/>
          <p:nvPr/>
        </p:nvSpPr>
        <p:spPr>
          <a:xfrm>
            <a:off x="550863" y="4457700"/>
            <a:ext cx="428625" cy="381000"/>
          </a:xfrm>
          <a:custGeom>
            <a:rect b="b" l="l" r="r" t="t"/>
            <a:pathLst>
              <a:path extrusionOk="0" h="381000" w="428625">
                <a:moveTo>
                  <a:pt x="142875" y="71438"/>
                </a:moveTo>
                <a:cubicBezTo>
                  <a:pt x="142875" y="31998"/>
                  <a:pt x="174873" y="0"/>
                  <a:pt x="214313" y="0"/>
                </a:cubicBezTo>
                <a:cubicBezTo>
                  <a:pt x="253752" y="0"/>
                  <a:pt x="285750" y="31998"/>
                  <a:pt x="285750" y="71438"/>
                </a:cubicBezTo>
                <a:lnTo>
                  <a:pt x="285750" y="74116"/>
                </a:lnTo>
                <a:cubicBezTo>
                  <a:pt x="285750" y="85799"/>
                  <a:pt x="276299" y="95250"/>
                  <a:pt x="264616" y="95250"/>
                </a:cubicBezTo>
                <a:lnTo>
                  <a:pt x="164083" y="95250"/>
                </a:lnTo>
                <a:cubicBezTo>
                  <a:pt x="152400" y="95250"/>
                  <a:pt x="142949" y="85799"/>
                  <a:pt x="142949" y="74116"/>
                </a:cubicBezTo>
                <a:lnTo>
                  <a:pt x="142949" y="71438"/>
                </a:lnTo>
                <a:close/>
                <a:moveTo>
                  <a:pt x="400050" y="80962"/>
                </a:moveTo>
                <a:cubicBezTo>
                  <a:pt x="407938" y="91455"/>
                  <a:pt x="405780" y="106412"/>
                  <a:pt x="395288" y="114300"/>
                </a:cubicBezTo>
                <a:lnTo>
                  <a:pt x="322511" y="168846"/>
                </a:lnTo>
                <a:cubicBezTo>
                  <a:pt x="326454" y="175468"/>
                  <a:pt x="329431" y="182761"/>
                  <a:pt x="331291" y="190500"/>
                </a:cubicBezTo>
                <a:lnTo>
                  <a:pt x="404813" y="190500"/>
                </a:lnTo>
                <a:cubicBezTo>
                  <a:pt x="417984" y="190500"/>
                  <a:pt x="428625" y="201141"/>
                  <a:pt x="428625" y="214313"/>
                </a:cubicBezTo>
                <a:cubicBezTo>
                  <a:pt x="428625" y="227484"/>
                  <a:pt x="417984" y="238125"/>
                  <a:pt x="404813" y="238125"/>
                </a:cubicBezTo>
                <a:lnTo>
                  <a:pt x="333375" y="238125"/>
                </a:lnTo>
                <a:lnTo>
                  <a:pt x="333375" y="261938"/>
                </a:lnTo>
                <a:cubicBezTo>
                  <a:pt x="333375" y="263872"/>
                  <a:pt x="333301" y="265881"/>
                  <a:pt x="333226" y="267816"/>
                </a:cubicBezTo>
                <a:lnTo>
                  <a:pt x="395288" y="314325"/>
                </a:lnTo>
                <a:cubicBezTo>
                  <a:pt x="405780" y="322213"/>
                  <a:pt x="407938" y="337170"/>
                  <a:pt x="400050" y="347663"/>
                </a:cubicBezTo>
                <a:cubicBezTo>
                  <a:pt x="392162" y="358155"/>
                  <a:pt x="377205" y="360313"/>
                  <a:pt x="366713" y="352425"/>
                </a:cubicBezTo>
                <a:lnTo>
                  <a:pt x="319757" y="317227"/>
                </a:lnTo>
                <a:cubicBezTo>
                  <a:pt x="302493" y="350118"/>
                  <a:pt x="270272" y="373931"/>
                  <a:pt x="232172" y="379661"/>
                </a:cubicBezTo>
                <a:lnTo>
                  <a:pt x="232172" y="208359"/>
                </a:lnTo>
                <a:cubicBezTo>
                  <a:pt x="232172" y="198462"/>
                  <a:pt x="224210" y="190500"/>
                  <a:pt x="214313" y="190500"/>
                </a:cubicBezTo>
                <a:cubicBezTo>
                  <a:pt x="204415" y="190500"/>
                  <a:pt x="196453" y="198462"/>
                  <a:pt x="196453" y="208359"/>
                </a:cubicBezTo>
                <a:lnTo>
                  <a:pt x="196453" y="379661"/>
                </a:lnTo>
                <a:cubicBezTo>
                  <a:pt x="158353" y="373931"/>
                  <a:pt x="126132" y="350118"/>
                  <a:pt x="108868" y="317227"/>
                </a:cubicBezTo>
                <a:lnTo>
                  <a:pt x="61913" y="352425"/>
                </a:lnTo>
                <a:cubicBezTo>
                  <a:pt x="51420" y="360313"/>
                  <a:pt x="36463" y="358155"/>
                  <a:pt x="28575" y="347663"/>
                </a:cubicBezTo>
                <a:cubicBezTo>
                  <a:pt x="20687" y="337170"/>
                  <a:pt x="22845" y="322213"/>
                  <a:pt x="33338" y="314325"/>
                </a:cubicBezTo>
                <a:lnTo>
                  <a:pt x="95399" y="267816"/>
                </a:lnTo>
                <a:cubicBezTo>
                  <a:pt x="95324" y="265881"/>
                  <a:pt x="95250" y="263947"/>
                  <a:pt x="95250" y="261938"/>
                </a:cubicBezTo>
                <a:lnTo>
                  <a:pt x="95250" y="238125"/>
                </a:lnTo>
                <a:lnTo>
                  <a:pt x="23813" y="238125"/>
                </a:lnTo>
                <a:cubicBezTo>
                  <a:pt x="10641" y="238125"/>
                  <a:pt x="0" y="227484"/>
                  <a:pt x="0" y="214313"/>
                </a:cubicBezTo>
                <a:cubicBezTo>
                  <a:pt x="0" y="201141"/>
                  <a:pt x="10641" y="190500"/>
                  <a:pt x="23813" y="190500"/>
                </a:cubicBezTo>
                <a:lnTo>
                  <a:pt x="97334" y="190500"/>
                </a:lnTo>
                <a:cubicBezTo>
                  <a:pt x="99194" y="182761"/>
                  <a:pt x="102171" y="175468"/>
                  <a:pt x="106114" y="168846"/>
                </a:cubicBezTo>
                <a:lnTo>
                  <a:pt x="33338" y="114300"/>
                </a:lnTo>
                <a:cubicBezTo>
                  <a:pt x="22845" y="106412"/>
                  <a:pt x="20687" y="91455"/>
                  <a:pt x="28575" y="80962"/>
                </a:cubicBezTo>
                <a:cubicBezTo>
                  <a:pt x="36463" y="70470"/>
                  <a:pt x="51420" y="68312"/>
                  <a:pt x="61912" y="76200"/>
                </a:cubicBezTo>
                <a:lnTo>
                  <a:pt x="142875" y="136922"/>
                </a:lnTo>
                <a:cubicBezTo>
                  <a:pt x="152028" y="133127"/>
                  <a:pt x="162074" y="130969"/>
                  <a:pt x="172641" y="130969"/>
                </a:cubicBezTo>
                <a:lnTo>
                  <a:pt x="255984" y="130969"/>
                </a:lnTo>
                <a:cubicBezTo>
                  <a:pt x="266551" y="130969"/>
                  <a:pt x="276597" y="133052"/>
                  <a:pt x="285750" y="136922"/>
                </a:cubicBezTo>
                <a:lnTo>
                  <a:pt x="366713" y="76200"/>
                </a:lnTo>
                <a:cubicBezTo>
                  <a:pt x="377205" y="68312"/>
                  <a:pt x="392162" y="70470"/>
                  <a:pt x="400050" y="8096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1270000" y="43688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Escaneo de Vulnerabilidades</a:t>
            </a:r>
            <a:endParaRPr b="0" i="0" sz="1600" u="none" cap="none" strike="noStrike"/>
          </a:p>
        </p:txBody>
      </p:sp>
      <p:sp>
        <p:nvSpPr>
          <p:cNvPr id="394" name="Google Shape;394;p19"/>
          <p:cNvSpPr/>
          <p:nvPr/>
        </p:nvSpPr>
        <p:spPr>
          <a:xfrm>
            <a:off x="1270000" y="4673600"/>
            <a:ext cx="5003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Integrar herramientas como Trivy en el pipeline de CI/CD.</a:t>
            </a:r>
            <a:endParaRPr b="0" i="0" sz="1600" u="none" cap="none" strike="noStrike"/>
          </a:p>
        </p:txBody>
      </p:sp>
      <p:sp>
        <p:nvSpPr>
          <p:cNvPr id="395" name="Google Shape;395;p19"/>
          <p:cNvSpPr/>
          <p:nvPr/>
        </p:nvSpPr>
        <p:spPr>
          <a:xfrm>
            <a:off x="6386116" y="4457700"/>
            <a:ext cx="428625" cy="381000"/>
          </a:xfrm>
          <a:custGeom>
            <a:rect b="b" l="l" r="r" t="t"/>
            <a:pathLst>
              <a:path extrusionOk="0" h="381000" w="428625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21159" y="381000"/>
                </a:lnTo>
                <a:cubicBezTo>
                  <a:pt x="194221" y="349300"/>
                  <a:pt x="178594" y="308446"/>
                  <a:pt x="178594" y="265212"/>
                </a:cubicBezTo>
                <a:lnTo>
                  <a:pt x="178594" y="242069"/>
                </a:lnTo>
                <a:cubicBezTo>
                  <a:pt x="178594" y="236637"/>
                  <a:pt x="179338" y="231279"/>
                  <a:pt x="180752" y="226219"/>
                </a:cubicBezTo>
                <a:lnTo>
                  <a:pt x="144587" y="226219"/>
                </a:lnTo>
                <a:close/>
                <a:moveTo>
                  <a:pt x="331366" y="363513"/>
                </a:moveTo>
                <a:lnTo>
                  <a:pt x="321469" y="368201"/>
                </a:lnTo>
                <a:lnTo>
                  <a:pt x="321469" y="228228"/>
                </a:lnTo>
                <a:lnTo>
                  <a:pt x="392906" y="252040"/>
                </a:lnTo>
                <a:lnTo>
                  <a:pt x="392906" y="266626"/>
                </a:lnTo>
                <a:cubicBezTo>
                  <a:pt x="392906" y="308149"/>
                  <a:pt x="368945" y="345877"/>
                  <a:pt x="331366" y="363587"/>
                </a:cubicBezTo>
                <a:close/>
                <a:moveTo>
                  <a:pt x="313953" y="193104"/>
                </a:moveTo>
                <a:lnTo>
                  <a:pt x="230609" y="220861"/>
                </a:lnTo>
                <a:cubicBezTo>
                  <a:pt x="220861" y="224135"/>
                  <a:pt x="214313" y="233214"/>
                  <a:pt x="214313" y="243483"/>
                </a:cubicBezTo>
                <a:lnTo>
                  <a:pt x="214313" y="266626"/>
                </a:lnTo>
                <a:cubicBezTo>
                  <a:pt x="214313" y="321990"/>
                  <a:pt x="246311" y="372368"/>
                  <a:pt x="296317" y="395883"/>
                </a:cubicBezTo>
                <a:lnTo>
                  <a:pt x="310083" y="402357"/>
                </a:lnTo>
                <a:cubicBezTo>
                  <a:pt x="313655" y="403994"/>
                  <a:pt x="317525" y="404887"/>
                  <a:pt x="321394" y="404887"/>
                </a:cubicBezTo>
                <a:cubicBezTo>
                  <a:pt x="325264" y="404887"/>
                  <a:pt x="329208" y="403994"/>
                  <a:pt x="332705" y="402357"/>
                </a:cubicBezTo>
                <a:lnTo>
                  <a:pt x="346472" y="395883"/>
                </a:lnTo>
                <a:cubicBezTo>
                  <a:pt x="396627" y="372294"/>
                  <a:pt x="428625" y="321915"/>
                  <a:pt x="428625" y="266551"/>
                </a:cubicBezTo>
                <a:lnTo>
                  <a:pt x="428625" y="243408"/>
                </a:lnTo>
                <a:cubicBezTo>
                  <a:pt x="428625" y="233139"/>
                  <a:pt x="422077" y="224061"/>
                  <a:pt x="412328" y="220787"/>
                </a:cubicBezTo>
                <a:lnTo>
                  <a:pt x="328985" y="193030"/>
                </a:lnTo>
                <a:cubicBezTo>
                  <a:pt x="324073" y="191393"/>
                  <a:pt x="318790" y="191393"/>
                  <a:pt x="313953" y="193030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"/>
          <p:cNvSpPr/>
          <p:nvPr/>
        </p:nvSpPr>
        <p:spPr>
          <a:xfrm>
            <a:off x="7098705" y="4241800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Control de Acceso</a:t>
            </a:r>
            <a:endParaRPr b="0" i="0" sz="1600" u="none" cap="none" strike="noStrike"/>
          </a:p>
        </p:txBody>
      </p:sp>
      <p:sp>
        <p:nvSpPr>
          <p:cNvPr id="397" name="Google Shape;397;p19"/>
          <p:cNvSpPr/>
          <p:nvPr/>
        </p:nvSpPr>
        <p:spPr>
          <a:xfrm>
            <a:off x="7098705" y="4546600"/>
            <a:ext cx="46355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Gestionar secretos con Vault y aplicar políticas de seguridad.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0"/>
          <p:cNvSpPr/>
          <p:nvPr/>
        </p:nvSpPr>
        <p:spPr>
          <a:xfrm>
            <a:off x="6502400" y="1066800"/>
            <a:ext cx="54357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Beneficios de la Integración</a:t>
            </a:r>
            <a:endParaRPr b="0" i="0" sz="1600" u="none" cap="none" strike="noStrike"/>
          </a:p>
        </p:txBody>
      </p:sp>
      <p:sp>
        <p:nvSpPr>
          <p:cNvPr id="404" name="Google Shape;404;p20"/>
          <p:cNvSpPr/>
          <p:nvPr/>
        </p:nvSpPr>
        <p:spPr>
          <a:xfrm>
            <a:off x="6502400" y="2286000"/>
            <a:ext cx="5435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La sinergia entre VMs y contenedores crea un entorno de desarrollo y despliegue superior.</a:t>
            </a:r>
            <a:endParaRPr b="0" i="0" sz="1600" u="none" cap="none" strike="noStrike"/>
          </a:p>
        </p:txBody>
      </p:sp>
      <p:sp>
        <p:nvSpPr>
          <p:cNvPr id="405" name="Google Shape;405;p20"/>
          <p:cNvSpPr/>
          <p:nvPr/>
        </p:nvSpPr>
        <p:spPr>
          <a:xfrm>
            <a:off x="6540103" y="33020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6851055" y="3251200"/>
            <a:ext cx="509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Portabilidad y Consistencia: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Entornos idénticos desde desarrollo a producción.</a:t>
            </a:r>
            <a:endParaRPr b="0" i="0" sz="1600" u="none" cap="none" strike="noStrike"/>
          </a:p>
        </p:txBody>
      </p:sp>
      <p:sp>
        <p:nvSpPr>
          <p:cNvPr id="407" name="Google Shape;407;p20"/>
          <p:cNvSpPr/>
          <p:nvPr/>
        </p:nvSpPr>
        <p:spPr>
          <a:xfrm>
            <a:off x="6533158" y="39624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6837164" y="3911600"/>
            <a:ext cx="510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Despliegue Rápido y Eficiente: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Reduce el time-to-market y el consumo de recursos.</a:t>
            </a:r>
            <a:endParaRPr b="0" i="0" sz="1600" u="none" cap="none" strike="noStrike"/>
          </a:p>
        </p:txBody>
      </p:sp>
      <p:sp>
        <p:nvSpPr>
          <p:cNvPr id="409" name="Google Shape;409;p20"/>
          <p:cNvSpPr/>
          <p:nvPr/>
        </p:nvSpPr>
        <p:spPr>
          <a:xfrm>
            <a:off x="6533158" y="46228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6836966" y="4572000"/>
            <a:ext cx="5105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Escalabilidad Horizontal: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Facilita la arquitectura de microservicios y el autoescalado.</a:t>
            </a:r>
            <a:endParaRPr b="0" i="0" sz="1600" u="none" cap="none" strike="noStrike"/>
          </a:p>
        </p:txBody>
      </p:sp>
      <p:sp>
        <p:nvSpPr>
          <p:cNvPr id="411" name="Google Shape;411;p20"/>
          <p:cNvSpPr/>
          <p:nvPr/>
        </p:nvSpPr>
        <p:spPr>
          <a:xfrm>
            <a:off x="6537523" y="5283200"/>
            <a:ext cx="177800" cy="177800"/>
          </a:xfrm>
          <a:custGeom>
            <a:rect b="b" l="l" r="r" t="t"/>
            <a:pathLst>
              <a:path extrusionOk="0" h="177800" w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6845895" y="5232400"/>
            <a:ext cx="509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Facilita CI/CD:</a:t>
            </a: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Automatización del pipeline de integración y despliegue continuo.</a:t>
            </a:r>
            <a:endParaRPr b="0" i="0" sz="1600" u="none" cap="none" strike="noStrike"/>
          </a:p>
        </p:txBody>
      </p:sp>
      <p:pic>
        <p:nvPicPr>
          <p:cNvPr id="413" name="Google Shape;413;p20"/>
          <p:cNvPicPr preferRelativeResize="0"/>
          <p:nvPr/>
        </p:nvPicPr>
        <p:blipFill rotWithShape="1">
          <a:blip r:embed="rId3">
            <a:alphaModFix/>
          </a:blip>
          <a:srcRect b="0" l="26365" r="20144" t="0"/>
          <a:stretch/>
        </p:blipFill>
        <p:spPr>
          <a:xfrm>
            <a:off x="0" y="-50800"/>
            <a:ext cx="6202326" cy="70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"/>
          <p:cNvSpPr/>
          <p:nvPr/>
        </p:nvSpPr>
        <p:spPr>
          <a:xfrm>
            <a:off x="0" y="1295400"/>
            <a:ext cx="1219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Aplicaciones en la Industria</a:t>
            </a:r>
            <a:endParaRPr b="0" i="0" sz="1600" u="none" cap="none" strike="noStrike"/>
          </a:p>
        </p:txBody>
      </p:sp>
      <p:sp>
        <p:nvSpPr>
          <p:cNvPr id="420" name="Google Shape;420;p22"/>
          <p:cNvSpPr/>
          <p:nvPr/>
        </p:nvSpPr>
        <p:spPr>
          <a:xfrm>
            <a:off x="0" y="19050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las empresas líderes aplican estas tecnologías para innovar y escalar.</a:t>
            </a:r>
            <a:endParaRPr b="0" i="0" sz="1600" u="none" cap="none" strike="noStrike"/>
          </a:p>
        </p:txBody>
      </p:sp>
      <p:sp>
        <p:nvSpPr>
          <p:cNvPr id="421" name="Google Shape;421;p22"/>
          <p:cNvSpPr/>
          <p:nvPr/>
        </p:nvSpPr>
        <p:spPr>
          <a:xfrm>
            <a:off x="457200" y="26162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660400" y="2819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Streaming (Netflix)</a:t>
            </a:r>
            <a:endParaRPr b="0" i="0" sz="1600" u="none" cap="none" strike="noStrike"/>
          </a:p>
        </p:txBody>
      </p:sp>
      <p:sp>
        <p:nvSpPr>
          <p:cNvPr id="423" name="Google Shape;423;p22"/>
          <p:cNvSpPr/>
          <p:nvPr/>
        </p:nvSpPr>
        <p:spPr>
          <a:xfrm>
            <a:off x="660400" y="3175000"/>
            <a:ext cx="321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Despliegan microservicios con contenedores para una escalabilidad masiva y tolerancia a fallos.</a:t>
            </a:r>
            <a:endParaRPr b="0" i="0" sz="1600" u="none" cap="none" strike="noStrike"/>
          </a:p>
        </p:txBody>
      </p:sp>
      <p:sp>
        <p:nvSpPr>
          <p:cNvPr id="424" name="Google Shape;424;p22"/>
          <p:cNvSpPr/>
          <p:nvPr/>
        </p:nvSpPr>
        <p:spPr>
          <a:xfrm>
            <a:off x="4284067" y="26162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4487267" y="2819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Música (Spotify)</a:t>
            </a:r>
            <a:endParaRPr b="0" i="0" sz="1600" u="none" cap="none" strike="noStrike"/>
          </a:p>
        </p:txBody>
      </p:sp>
      <p:sp>
        <p:nvSpPr>
          <p:cNvPr id="426" name="Google Shape;426;p22"/>
          <p:cNvSpPr/>
          <p:nvPr/>
        </p:nvSpPr>
        <p:spPr>
          <a:xfrm>
            <a:off x="4487267" y="3175000"/>
            <a:ext cx="32131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 contenedores para un despliegue continuo y rápido de nuevas funcionalidades.</a:t>
            </a:r>
            <a:endParaRPr b="0" i="0" sz="1600" u="none" cap="none" strike="noStrike"/>
          </a:p>
        </p:txBody>
      </p:sp>
      <p:sp>
        <p:nvSpPr>
          <p:cNvPr id="427" name="Google Shape;427;p22"/>
          <p:cNvSpPr/>
          <p:nvPr/>
        </p:nvSpPr>
        <p:spPr>
          <a:xfrm>
            <a:off x="8110934" y="26162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"/>
          <p:cNvSpPr/>
          <p:nvPr/>
        </p:nvSpPr>
        <p:spPr>
          <a:xfrm>
            <a:off x="8314134" y="2819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Comercio (Amazon)</a:t>
            </a:r>
            <a:endParaRPr b="0" i="0" sz="1600" u="none" cap="none" strike="noStrike"/>
          </a:p>
        </p:txBody>
      </p:sp>
      <p:sp>
        <p:nvSpPr>
          <p:cNvPr id="429" name="Google Shape;429;p22"/>
          <p:cNvSpPr/>
          <p:nvPr/>
        </p:nvSpPr>
        <p:spPr>
          <a:xfrm>
            <a:off x="8314134" y="3175000"/>
            <a:ext cx="32131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Aprovechan la contenerización para gestionar la complejidad de sus sistemas a escala global.</a:t>
            </a:r>
            <a:endParaRPr b="0" i="0" sz="1600" u="none" cap="none" strike="noStrike"/>
          </a:p>
        </p:txBody>
      </p:sp>
      <p:sp>
        <p:nvSpPr>
          <p:cNvPr id="430" name="Google Shape;430;p22"/>
          <p:cNvSpPr/>
          <p:nvPr/>
        </p:nvSpPr>
        <p:spPr>
          <a:xfrm>
            <a:off x="457200" y="41910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660400" y="43942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Educación (Moodle)</a:t>
            </a:r>
            <a:endParaRPr b="0" i="0" sz="1600" u="none" cap="none" strike="noStrike"/>
          </a:p>
        </p:txBody>
      </p:sp>
      <p:sp>
        <p:nvSpPr>
          <p:cNvPr id="432" name="Google Shape;432;p22"/>
          <p:cNvSpPr/>
          <p:nvPr/>
        </p:nvSpPr>
        <p:spPr>
          <a:xfrm>
            <a:off x="660400" y="4749800"/>
            <a:ext cx="321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Plataformas como Moodle se contenerizan para facilitar su despliegue y escalabilidad en instituciones.</a:t>
            </a:r>
            <a:endParaRPr b="0" i="0" sz="1600" u="none" cap="none" strike="noStrike"/>
          </a:p>
        </p:txBody>
      </p:sp>
      <p:sp>
        <p:nvSpPr>
          <p:cNvPr id="433" name="Google Shape;433;p22"/>
          <p:cNvSpPr/>
          <p:nvPr/>
        </p:nvSpPr>
        <p:spPr>
          <a:xfrm>
            <a:off x="4284067" y="41910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4487267" y="43942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Finanzas (Banca)</a:t>
            </a:r>
            <a:endParaRPr b="0" i="0" sz="1600" u="none" cap="none" strike="noStrike"/>
          </a:p>
        </p:txBody>
      </p:sp>
      <p:sp>
        <p:nvSpPr>
          <p:cNvPr id="435" name="Google Shape;435;p22"/>
          <p:cNvSpPr/>
          <p:nvPr/>
        </p:nvSpPr>
        <p:spPr>
          <a:xfrm>
            <a:off x="4487267" y="4749800"/>
            <a:ext cx="321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Separan servicios críticos en contenedores para mejorar la seguridad y la recuperación ante desastres.</a:t>
            </a:r>
            <a:endParaRPr b="0" i="0" sz="1600" u="none" cap="none" strike="noStrike"/>
          </a:p>
        </p:txBody>
      </p:sp>
      <p:sp>
        <p:nvSpPr>
          <p:cNvPr id="436" name="Google Shape;436;p22"/>
          <p:cNvSpPr/>
          <p:nvPr/>
        </p:nvSpPr>
        <p:spPr>
          <a:xfrm>
            <a:off x="8110934" y="4191000"/>
            <a:ext cx="3619500" cy="1371600"/>
          </a:xfrm>
          <a:custGeom>
            <a:rect b="b" l="l" r="r" t="t"/>
            <a:pathLst>
              <a:path extrusionOk="0" h="1371600" w="3619500">
                <a:moveTo>
                  <a:pt x="101594" y="0"/>
                </a:moveTo>
                <a:lnTo>
                  <a:pt x="3517906" y="0"/>
                </a:lnTo>
                <a:cubicBezTo>
                  <a:pt x="3574015" y="0"/>
                  <a:pt x="3619500" y="45485"/>
                  <a:pt x="3619500" y="101594"/>
                </a:cubicBezTo>
                <a:lnTo>
                  <a:pt x="3619500" y="1270006"/>
                </a:lnTo>
                <a:cubicBezTo>
                  <a:pt x="3619500" y="1326115"/>
                  <a:pt x="3574015" y="1371600"/>
                  <a:pt x="3517906" y="1371600"/>
                </a:cubicBezTo>
                <a:lnTo>
                  <a:pt x="101594" y="1371600"/>
                </a:lnTo>
                <a:cubicBezTo>
                  <a:pt x="45485" y="1371600"/>
                  <a:pt x="0" y="1326115"/>
                  <a:pt x="0" y="12700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8314134" y="43942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IoT y Edge</a:t>
            </a:r>
            <a:endParaRPr b="0" i="0" sz="1600" u="none" cap="none" strike="noStrike"/>
          </a:p>
        </p:txBody>
      </p:sp>
      <p:sp>
        <p:nvSpPr>
          <p:cNvPr id="438" name="Google Shape;438;p22"/>
          <p:cNvSpPr/>
          <p:nvPr/>
        </p:nvSpPr>
        <p:spPr>
          <a:xfrm>
            <a:off x="8314134" y="4749800"/>
            <a:ext cx="321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Usan contenedores ligeros (con Zot) para el procesamiento de datos en dispositivos de borde.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444" name="Google Shape;4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4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Conceptos Clave</a:t>
            </a:r>
            <a:endParaRPr b="0" i="0" sz="1600" u="none" cap="none" strike="noStrike"/>
          </a:p>
        </p:txBody>
      </p:sp>
      <p:sp>
        <p:nvSpPr>
          <p:cNvPr id="447" name="Google Shape;447;p24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600" u="none" cap="none" strike="noStrike"/>
          </a:p>
        </p:txBody>
      </p:sp>
      <p:pic>
        <p:nvPicPr>
          <p:cNvPr id="448" name="Google Shape;448;p24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5"/>
          <p:cNvSpPr/>
          <p:nvPr/>
        </p:nvSpPr>
        <p:spPr>
          <a:xfrm>
            <a:off x="4222800" y="1324825"/>
            <a:ext cx="374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lang="en-US" sz="3600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Conceptos Clave</a:t>
            </a:r>
            <a:endParaRPr b="0" i="0" sz="1600" u="none" cap="none" strike="noStrike"/>
          </a:p>
        </p:txBody>
      </p:sp>
      <p:sp>
        <p:nvSpPr>
          <p:cNvPr id="455" name="Google Shape;455;p25"/>
          <p:cNvSpPr/>
          <p:nvPr/>
        </p:nvSpPr>
        <p:spPr>
          <a:xfrm>
            <a:off x="1819672" y="2743200"/>
            <a:ext cx="762000" cy="609600"/>
          </a:xfrm>
          <a:custGeom>
            <a:rect b="b" l="l" r="r" t="t"/>
            <a:pathLst>
              <a:path extrusionOk="0" h="609600" w="7620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5"/>
          <p:cNvSpPr/>
          <p:nvPr/>
        </p:nvSpPr>
        <p:spPr>
          <a:xfrm>
            <a:off x="406400" y="3556000"/>
            <a:ext cx="3594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Tecnologías Clave</a:t>
            </a:r>
            <a:endParaRPr b="0" i="0" sz="1600" u="none" cap="none" strike="noStrike"/>
          </a:p>
        </p:txBody>
      </p:sp>
      <p:sp>
        <p:nvSpPr>
          <p:cNvPr id="457" name="Google Shape;457;p25"/>
          <p:cNvSpPr/>
          <p:nvPr/>
        </p:nvSpPr>
        <p:spPr>
          <a:xfrm>
            <a:off x="660400" y="4013200"/>
            <a:ext cx="30861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Virtualización y contenerización son la base de la infraestructura moderna, impulsando la automatización y eficiencia.</a:t>
            </a:r>
            <a:endParaRPr b="0" i="0" sz="1600" u="none" cap="none" strike="noStrike"/>
          </a:p>
        </p:txBody>
      </p:sp>
      <p:cxnSp>
        <p:nvCxnSpPr>
          <p:cNvPr id="458" name="Google Shape;458;p25"/>
          <p:cNvCxnSpPr/>
          <p:nvPr/>
        </p:nvCxnSpPr>
        <p:spPr>
          <a:xfrm>
            <a:off x="7792244" y="2667000"/>
            <a:ext cx="0" cy="2438400"/>
          </a:xfrm>
          <a:prstGeom prst="straightConnector1">
            <a:avLst/>
          </a:prstGeom>
          <a:noFill/>
          <a:ln cap="flat" cmpd="sng" w="25400">
            <a:solidFill>
              <a:srgbClr val="888B8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25"/>
          <p:cNvCxnSpPr/>
          <p:nvPr/>
        </p:nvCxnSpPr>
        <p:spPr>
          <a:xfrm>
            <a:off x="4350544" y="2667000"/>
            <a:ext cx="0" cy="2438400"/>
          </a:xfrm>
          <a:prstGeom prst="straightConnector1">
            <a:avLst/>
          </a:prstGeom>
          <a:noFill/>
          <a:ln cap="flat" cmpd="sng" w="25400">
            <a:solidFill>
              <a:srgbClr val="888B8D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0" name="Google Shape;460;p25"/>
          <p:cNvSpPr/>
          <p:nvPr/>
        </p:nvSpPr>
        <p:spPr>
          <a:xfrm>
            <a:off x="5753100" y="2870200"/>
            <a:ext cx="685800" cy="609600"/>
          </a:xfrm>
          <a:custGeom>
            <a:rect b="b" l="l" r="r" t="t"/>
            <a:pathLst>
              <a:path extrusionOk="0" h="609600" w="685800">
                <a:moveTo>
                  <a:pt x="266819" y="115610"/>
                </a:moveTo>
                <a:lnTo>
                  <a:pt x="266819" y="174665"/>
                </a:lnTo>
                <a:lnTo>
                  <a:pt x="267414" y="175260"/>
                </a:lnTo>
                <a:cubicBezTo>
                  <a:pt x="275153" y="77152"/>
                  <a:pt x="357188" y="0"/>
                  <a:pt x="457319" y="0"/>
                </a:cubicBezTo>
                <a:cubicBezTo>
                  <a:pt x="481251" y="0"/>
                  <a:pt x="504230" y="4405"/>
                  <a:pt x="525304" y="12502"/>
                </a:cubicBezTo>
                <a:cubicBezTo>
                  <a:pt x="537210" y="17026"/>
                  <a:pt x="539353" y="32147"/>
                  <a:pt x="530423" y="41196"/>
                </a:cubicBezTo>
                <a:lnTo>
                  <a:pt x="424815" y="146804"/>
                </a:lnTo>
                <a:cubicBezTo>
                  <a:pt x="421243" y="150376"/>
                  <a:pt x="419219" y="155258"/>
                  <a:pt x="419219" y="160258"/>
                </a:cubicBezTo>
                <a:lnTo>
                  <a:pt x="419219" y="209550"/>
                </a:lnTo>
                <a:cubicBezTo>
                  <a:pt x="419219" y="220028"/>
                  <a:pt x="427792" y="228600"/>
                  <a:pt x="438269" y="228600"/>
                </a:cubicBezTo>
                <a:lnTo>
                  <a:pt x="487561" y="228600"/>
                </a:lnTo>
                <a:cubicBezTo>
                  <a:pt x="492562" y="228600"/>
                  <a:pt x="497443" y="226576"/>
                  <a:pt x="501015" y="223004"/>
                </a:cubicBezTo>
                <a:lnTo>
                  <a:pt x="606623" y="117396"/>
                </a:lnTo>
                <a:cubicBezTo>
                  <a:pt x="615672" y="108347"/>
                  <a:pt x="630793" y="110609"/>
                  <a:pt x="635318" y="122515"/>
                </a:cubicBezTo>
                <a:cubicBezTo>
                  <a:pt x="643414" y="143589"/>
                  <a:pt x="647819" y="166568"/>
                  <a:pt x="647819" y="190500"/>
                </a:cubicBezTo>
                <a:cubicBezTo>
                  <a:pt x="647819" y="262652"/>
                  <a:pt x="607695" y="325517"/>
                  <a:pt x="548402" y="357783"/>
                </a:cubicBezTo>
                <a:lnTo>
                  <a:pt x="645438" y="454819"/>
                </a:lnTo>
                <a:cubicBezTo>
                  <a:pt x="667703" y="477083"/>
                  <a:pt x="667703" y="513278"/>
                  <a:pt x="645438" y="535662"/>
                </a:cubicBezTo>
                <a:lnTo>
                  <a:pt x="573881" y="607219"/>
                </a:lnTo>
                <a:cubicBezTo>
                  <a:pt x="551617" y="629483"/>
                  <a:pt x="515422" y="629483"/>
                  <a:pt x="493038" y="607219"/>
                </a:cubicBezTo>
                <a:lnTo>
                  <a:pt x="343019" y="457200"/>
                </a:lnTo>
                <a:cubicBezTo>
                  <a:pt x="310396" y="424577"/>
                  <a:pt x="303014" y="376357"/>
                  <a:pt x="320993" y="336590"/>
                </a:cubicBezTo>
                <a:lnTo>
                  <a:pt x="213003" y="228600"/>
                </a:lnTo>
                <a:lnTo>
                  <a:pt x="153948" y="228600"/>
                </a:lnTo>
                <a:cubicBezTo>
                  <a:pt x="141208" y="228600"/>
                  <a:pt x="129302" y="222290"/>
                  <a:pt x="122277" y="211693"/>
                </a:cubicBezTo>
                <a:lnTo>
                  <a:pt x="27861" y="70128"/>
                </a:lnTo>
                <a:cubicBezTo>
                  <a:pt x="22860" y="62627"/>
                  <a:pt x="23813" y="52507"/>
                  <a:pt x="30242" y="46077"/>
                </a:cubicBezTo>
                <a:lnTo>
                  <a:pt x="84296" y="-7977"/>
                </a:lnTo>
                <a:cubicBezTo>
                  <a:pt x="90726" y="-14407"/>
                  <a:pt x="100727" y="-15359"/>
                  <a:pt x="108347" y="-10358"/>
                </a:cubicBezTo>
                <a:lnTo>
                  <a:pt x="249912" y="83939"/>
                </a:lnTo>
                <a:cubicBezTo>
                  <a:pt x="260509" y="90964"/>
                  <a:pt x="266819" y="102870"/>
                  <a:pt x="266819" y="115610"/>
                </a:cubicBezTo>
                <a:close/>
                <a:moveTo>
                  <a:pt x="256699" y="353139"/>
                </a:moveTo>
                <a:cubicBezTo>
                  <a:pt x="249198" y="397193"/>
                  <a:pt x="259556" y="443746"/>
                  <a:pt x="288131" y="481012"/>
                </a:cubicBezTo>
                <a:lnTo>
                  <a:pt x="175022" y="594003"/>
                </a:lnTo>
                <a:cubicBezTo>
                  <a:pt x="141565" y="627459"/>
                  <a:pt x="87273" y="627459"/>
                  <a:pt x="53816" y="594003"/>
                </a:cubicBezTo>
                <a:cubicBezTo>
                  <a:pt x="20360" y="560546"/>
                  <a:pt x="20360" y="506254"/>
                  <a:pt x="53816" y="472797"/>
                </a:cubicBezTo>
                <a:lnTo>
                  <a:pt x="215027" y="311587"/>
                </a:lnTo>
                <a:lnTo>
                  <a:pt x="256699" y="353258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>
            <a:off x="4325144" y="3683000"/>
            <a:ext cx="3543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Herramientas Esenciales</a:t>
            </a:r>
            <a:endParaRPr b="0" i="0" sz="1600" u="none" cap="none" strike="noStrike"/>
          </a:p>
        </p:txBody>
      </p:sp>
      <p:sp>
        <p:nvSpPr>
          <p:cNvPr id="462" name="Google Shape;462;p25"/>
          <p:cNvSpPr/>
          <p:nvPr/>
        </p:nvSpPr>
        <p:spPr>
          <a:xfrm>
            <a:off x="4579144" y="4140200"/>
            <a:ext cx="3035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Docker, Containerd, Harbor y Zot permiten una gestión de servicios eficiente, segura y escalable.</a:t>
            </a:r>
            <a:endParaRPr b="0" i="0" sz="1600" u="none" cap="none" strike="noStrike"/>
          </a:p>
        </p:txBody>
      </p:sp>
      <p:sp>
        <p:nvSpPr>
          <p:cNvPr id="463" name="Google Shape;463;p25"/>
          <p:cNvSpPr/>
          <p:nvPr/>
        </p:nvSpPr>
        <p:spPr>
          <a:xfrm>
            <a:off x="9724827" y="2870200"/>
            <a:ext cx="533400" cy="609600"/>
          </a:xfrm>
          <a:custGeom>
            <a:rect b="b" l="l" r="r" t="t"/>
            <a:pathLst>
              <a:path extrusionOk="0" h="609600" w="533400">
                <a:moveTo>
                  <a:pt x="287298" y="-15478"/>
                </a:moveTo>
                <a:cubicBezTo>
                  <a:pt x="273725" y="-18217"/>
                  <a:pt x="259794" y="-18217"/>
                  <a:pt x="246221" y="-15478"/>
                </a:cubicBezTo>
                <a:lnTo>
                  <a:pt x="22979" y="29170"/>
                </a:lnTo>
                <a:cubicBezTo>
                  <a:pt x="9644" y="31790"/>
                  <a:pt x="0" y="43577"/>
                  <a:pt x="0" y="57150"/>
                </a:cubicBezTo>
                <a:cubicBezTo>
                  <a:pt x="0" y="69413"/>
                  <a:pt x="7739" y="80129"/>
                  <a:pt x="19050" y="84058"/>
                </a:cubicBezTo>
                <a:lnTo>
                  <a:pt x="19050" y="171450"/>
                </a:lnTo>
                <a:lnTo>
                  <a:pt x="357" y="265033"/>
                </a:lnTo>
                <a:cubicBezTo>
                  <a:pt x="119" y="266105"/>
                  <a:pt x="0" y="267295"/>
                  <a:pt x="0" y="268486"/>
                </a:cubicBezTo>
                <a:cubicBezTo>
                  <a:pt x="0" y="278011"/>
                  <a:pt x="7739" y="285869"/>
                  <a:pt x="17383" y="285869"/>
                </a:cubicBezTo>
                <a:lnTo>
                  <a:pt x="58936" y="285869"/>
                </a:lnTo>
                <a:cubicBezTo>
                  <a:pt x="68461" y="285869"/>
                  <a:pt x="76319" y="278130"/>
                  <a:pt x="76319" y="268486"/>
                </a:cubicBezTo>
                <a:cubicBezTo>
                  <a:pt x="76319" y="267295"/>
                  <a:pt x="76200" y="266224"/>
                  <a:pt x="75962" y="265033"/>
                </a:cubicBezTo>
                <a:lnTo>
                  <a:pt x="57150" y="171450"/>
                </a:lnTo>
                <a:lnTo>
                  <a:pt x="57150" y="92035"/>
                </a:lnTo>
                <a:lnTo>
                  <a:pt x="114300" y="103465"/>
                </a:lnTo>
                <a:lnTo>
                  <a:pt x="114300" y="171450"/>
                </a:lnTo>
                <a:cubicBezTo>
                  <a:pt x="114300" y="255627"/>
                  <a:pt x="182523" y="323850"/>
                  <a:pt x="266700" y="323850"/>
                </a:cubicBezTo>
                <a:cubicBezTo>
                  <a:pt x="350877" y="323850"/>
                  <a:pt x="419100" y="255627"/>
                  <a:pt x="419100" y="171450"/>
                </a:cubicBezTo>
                <a:lnTo>
                  <a:pt x="419100" y="103465"/>
                </a:lnTo>
                <a:lnTo>
                  <a:pt x="510421" y="85249"/>
                </a:lnTo>
                <a:cubicBezTo>
                  <a:pt x="523756" y="82510"/>
                  <a:pt x="533400" y="70723"/>
                  <a:pt x="533400" y="57150"/>
                </a:cubicBezTo>
                <a:cubicBezTo>
                  <a:pt x="533400" y="43577"/>
                  <a:pt x="523756" y="31790"/>
                  <a:pt x="510421" y="29170"/>
                </a:cubicBezTo>
                <a:lnTo>
                  <a:pt x="287298" y="-15478"/>
                </a:lnTo>
                <a:close/>
                <a:moveTo>
                  <a:pt x="266700" y="266700"/>
                </a:moveTo>
                <a:cubicBezTo>
                  <a:pt x="214074" y="266700"/>
                  <a:pt x="171450" y="224076"/>
                  <a:pt x="171450" y="171450"/>
                </a:cubicBezTo>
                <a:lnTo>
                  <a:pt x="361950" y="171450"/>
                </a:lnTo>
                <a:cubicBezTo>
                  <a:pt x="361950" y="224076"/>
                  <a:pt x="319326" y="266700"/>
                  <a:pt x="266700" y="266700"/>
                </a:cubicBezTo>
                <a:close/>
                <a:moveTo>
                  <a:pt x="142994" y="381119"/>
                </a:moveTo>
                <a:cubicBezTo>
                  <a:pt x="69890" y="414695"/>
                  <a:pt x="19050" y="488513"/>
                  <a:pt x="19050" y="574238"/>
                </a:cubicBezTo>
                <a:cubicBezTo>
                  <a:pt x="19050" y="593765"/>
                  <a:pt x="34885" y="609600"/>
                  <a:pt x="54412" y="609600"/>
                </a:cubicBezTo>
                <a:lnTo>
                  <a:pt x="238125" y="609600"/>
                </a:lnTo>
                <a:lnTo>
                  <a:pt x="238125" y="435769"/>
                </a:lnTo>
                <a:lnTo>
                  <a:pt x="169783" y="384572"/>
                </a:lnTo>
                <a:cubicBezTo>
                  <a:pt x="162044" y="378738"/>
                  <a:pt x="151686" y="377190"/>
                  <a:pt x="142875" y="381238"/>
                </a:cubicBezTo>
                <a:close/>
                <a:moveTo>
                  <a:pt x="295275" y="609600"/>
                </a:moveTo>
                <a:lnTo>
                  <a:pt x="478988" y="609600"/>
                </a:lnTo>
                <a:cubicBezTo>
                  <a:pt x="498515" y="609600"/>
                  <a:pt x="514350" y="593765"/>
                  <a:pt x="514350" y="574238"/>
                </a:cubicBezTo>
                <a:cubicBezTo>
                  <a:pt x="514350" y="488513"/>
                  <a:pt x="463510" y="414695"/>
                  <a:pt x="390406" y="381238"/>
                </a:cubicBezTo>
                <a:cubicBezTo>
                  <a:pt x="381595" y="377190"/>
                  <a:pt x="371237" y="378738"/>
                  <a:pt x="363498" y="384572"/>
                </a:cubicBezTo>
                <a:lnTo>
                  <a:pt x="295156" y="435769"/>
                </a:lnTo>
                <a:lnTo>
                  <a:pt x="295156" y="609600"/>
                </a:ln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/>
          <p:nvPr/>
        </p:nvSpPr>
        <p:spPr>
          <a:xfrm>
            <a:off x="8197255" y="3683000"/>
            <a:ext cx="3594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000"/>
              <a:buFont typeface="Noto Sans SC"/>
              <a:buNone/>
            </a:pPr>
            <a:r>
              <a:rPr b="0" i="0" lang="en-US" sz="20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Competencias Adquiridas</a:t>
            </a:r>
            <a:endParaRPr b="0" i="0" sz="1600" u="none" cap="none" strike="noStrike"/>
          </a:p>
        </p:txBody>
      </p:sp>
      <p:sp>
        <p:nvSpPr>
          <p:cNvPr id="465" name="Google Shape;465;p25"/>
          <p:cNvSpPr/>
          <p:nvPr/>
        </p:nvSpPr>
        <p:spPr>
          <a:xfrm>
            <a:off x="8451255" y="4140200"/>
            <a:ext cx="3086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040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40404"/>
                </a:solidFill>
                <a:latin typeface="Arial"/>
                <a:ea typeface="Arial"/>
                <a:cs typeface="Arial"/>
                <a:sym typeface="Arial"/>
              </a:rPr>
              <a:t>El estudiante adquiere habilidades alineadas a la industria: despliegue, seguridad, escalado y automatización.</a:t>
            </a:r>
            <a:endParaRPr b="0" i="0" sz="1600" u="none" cap="none" strike="noStrike"/>
          </a:p>
        </p:txBody>
      </p:sp>
      <p:pic>
        <p:nvPicPr>
          <p:cNvPr id="466" name="Google Shape;466;p25" title="BUHOADSFA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472" name="Google Shape;4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5" cy="377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5384165" y="3196590"/>
            <a:ext cx="541591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y valores</a:t>
            </a:r>
            <a:endParaRPr b="0" i="0" sz="1600" u="none" cap="none" strike="noStrike"/>
          </a:p>
        </p:txBody>
      </p:sp>
      <p:sp>
        <p:nvSpPr>
          <p:cNvPr id="475" name="Google Shape;475;p21"/>
          <p:cNvSpPr/>
          <p:nvPr/>
        </p:nvSpPr>
        <p:spPr>
          <a:xfrm>
            <a:off x="5384165" y="1945640"/>
            <a:ext cx="339026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600" u="none" cap="none" strike="noStrike"/>
          </a:p>
        </p:txBody>
      </p:sp>
      <p:pic>
        <p:nvPicPr>
          <p:cNvPr id="476" name="Google Shape;476;p21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"/>
          <p:cNvSpPr/>
          <p:nvPr/>
        </p:nvSpPr>
        <p:spPr>
          <a:xfrm>
            <a:off x="254000" y="254000"/>
            <a:ext cx="5943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600"/>
              <a:buFont typeface="Noto Sans SC"/>
              <a:buNone/>
            </a:pPr>
            <a:r>
              <a:rPr b="0" i="0" lang="en-US" sz="3600" u="none" cap="none" strike="noStrike">
                <a:solidFill>
                  <a:srgbClr val="202124"/>
                </a:solidFill>
                <a:latin typeface="Noto Sans SC"/>
                <a:ea typeface="Noto Sans SC"/>
                <a:cs typeface="Noto Sans SC"/>
                <a:sym typeface="Noto Sans SC"/>
              </a:rPr>
              <a:t>Valores y Actitudes</a:t>
            </a:r>
            <a:endParaRPr b="0" i="0" sz="1600" u="none" cap="none" strike="noStrike"/>
          </a:p>
        </p:txBody>
      </p:sp>
      <p:sp>
        <p:nvSpPr>
          <p:cNvPr id="483" name="Google Shape;483;p23"/>
          <p:cNvSpPr/>
          <p:nvPr/>
        </p:nvSpPr>
        <p:spPr>
          <a:xfrm>
            <a:off x="254000" y="965200"/>
            <a:ext cx="5435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El proyecto no solo busca desarrollar competencias técnicas, sino también fortalecer habilidades blandas clave para el éxito profesional.</a:t>
            </a:r>
            <a:endParaRPr b="0" i="0" sz="1600" u="none" cap="none" strike="noStrike"/>
          </a:p>
        </p:txBody>
      </p:sp>
      <p:sp>
        <p:nvSpPr>
          <p:cNvPr id="484" name="Google Shape;484;p23"/>
          <p:cNvSpPr/>
          <p:nvPr/>
        </p:nvSpPr>
        <p:spPr>
          <a:xfrm>
            <a:off x="254000" y="2260600"/>
            <a:ext cx="5435600" cy="6096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3"/>
          <p:cNvSpPr/>
          <p:nvPr/>
        </p:nvSpPr>
        <p:spPr>
          <a:xfrm>
            <a:off x="469900" y="2413000"/>
            <a:ext cx="381000" cy="304800"/>
          </a:xfrm>
          <a:custGeom>
            <a:rect b="b" l="l" r="r" t="t"/>
            <a:pathLst>
              <a:path extrusionOk="0" h="304800" w="381000">
                <a:moveTo>
                  <a:pt x="80962" y="76200"/>
                </a:moveTo>
                <a:cubicBezTo>
                  <a:pt x="80962" y="36773"/>
                  <a:pt x="112973" y="4763"/>
                  <a:pt x="152400" y="4763"/>
                </a:cubicBezTo>
                <a:cubicBezTo>
                  <a:pt x="191827" y="4763"/>
                  <a:pt x="223838" y="36773"/>
                  <a:pt x="223838" y="76200"/>
                </a:cubicBezTo>
                <a:cubicBezTo>
                  <a:pt x="223838" y="115627"/>
                  <a:pt x="191827" y="147638"/>
                  <a:pt x="152400" y="147638"/>
                </a:cubicBezTo>
                <a:cubicBezTo>
                  <a:pt x="112973" y="147638"/>
                  <a:pt x="80962" y="115627"/>
                  <a:pt x="80962" y="76200"/>
                </a:cubicBezTo>
                <a:close/>
                <a:moveTo>
                  <a:pt x="28575" y="287119"/>
                </a:moveTo>
                <a:cubicBezTo>
                  <a:pt x="28575" y="228481"/>
                  <a:pt x="76081" y="180975"/>
                  <a:pt x="134719" y="180975"/>
                </a:cubicBezTo>
                <a:lnTo>
                  <a:pt x="170081" y="180975"/>
                </a:lnTo>
                <a:cubicBezTo>
                  <a:pt x="228719" y="180975"/>
                  <a:pt x="276225" y="228481"/>
                  <a:pt x="276225" y="287119"/>
                </a:cubicBezTo>
                <a:cubicBezTo>
                  <a:pt x="276225" y="296882"/>
                  <a:pt x="268307" y="304800"/>
                  <a:pt x="258544" y="304800"/>
                </a:cubicBezTo>
                <a:lnTo>
                  <a:pt x="46256" y="304800"/>
                </a:lnTo>
                <a:cubicBezTo>
                  <a:pt x="36493" y="304800"/>
                  <a:pt x="28575" y="296882"/>
                  <a:pt x="28575" y="287119"/>
                </a:cubicBezTo>
                <a:close/>
                <a:moveTo>
                  <a:pt x="364569" y="78998"/>
                </a:moveTo>
                <a:lnTo>
                  <a:pt x="316944" y="155198"/>
                </a:lnTo>
                <a:cubicBezTo>
                  <a:pt x="314444" y="159187"/>
                  <a:pt x="310158" y="161687"/>
                  <a:pt x="305455" y="161925"/>
                </a:cubicBezTo>
                <a:cubicBezTo>
                  <a:pt x="300752" y="162163"/>
                  <a:pt x="296228" y="160020"/>
                  <a:pt x="293430" y="156210"/>
                </a:cubicBezTo>
                <a:lnTo>
                  <a:pt x="264855" y="118110"/>
                </a:lnTo>
                <a:cubicBezTo>
                  <a:pt x="260092" y="111800"/>
                  <a:pt x="261402" y="102870"/>
                  <a:pt x="267712" y="98108"/>
                </a:cubicBezTo>
                <a:cubicBezTo>
                  <a:pt x="274022" y="93345"/>
                  <a:pt x="282952" y="94655"/>
                  <a:pt x="287715" y="100965"/>
                </a:cubicBezTo>
                <a:lnTo>
                  <a:pt x="303788" y="122396"/>
                </a:lnTo>
                <a:lnTo>
                  <a:pt x="340340" y="63877"/>
                </a:lnTo>
                <a:cubicBezTo>
                  <a:pt x="344507" y="57210"/>
                  <a:pt x="353318" y="55126"/>
                  <a:pt x="360045" y="59353"/>
                </a:cubicBezTo>
                <a:cubicBezTo>
                  <a:pt x="366772" y="63579"/>
                  <a:pt x="368796" y="72330"/>
                  <a:pt x="364569" y="79058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3"/>
          <p:cNvSpPr/>
          <p:nvPr/>
        </p:nvSpPr>
        <p:spPr>
          <a:xfrm>
            <a:off x="1066800" y="2413000"/>
            <a:ext cx="3263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Responsabilidad y Autonomía</a:t>
            </a:r>
            <a:endParaRPr b="0" i="0" sz="1600" u="none" cap="none" strike="noStrike"/>
          </a:p>
        </p:txBody>
      </p:sp>
      <p:sp>
        <p:nvSpPr>
          <p:cNvPr id="487" name="Google Shape;487;p23"/>
          <p:cNvSpPr/>
          <p:nvPr/>
        </p:nvSpPr>
        <p:spPr>
          <a:xfrm>
            <a:off x="254000" y="3073400"/>
            <a:ext cx="5435600" cy="6096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3"/>
          <p:cNvSpPr/>
          <p:nvPr/>
        </p:nvSpPr>
        <p:spPr>
          <a:xfrm>
            <a:off x="488950" y="3225800"/>
            <a:ext cx="342900" cy="304800"/>
          </a:xfrm>
          <a:custGeom>
            <a:rect b="b" l="l" r="r" t="t"/>
            <a:pathLst>
              <a:path extrusionOk="0" h="304800" w="3429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3"/>
          <p:cNvSpPr/>
          <p:nvPr/>
        </p:nvSpPr>
        <p:spPr>
          <a:xfrm>
            <a:off x="1066800" y="32258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Compromiso y Disciplina</a:t>
            </a:r>
            <a:endParaRPr b="0" i="0" sz="1600" u="none" cap="none" strike="noStrike"/>
          </a:p>
        </p:txBody>
      </p:sp>
      <p:sp>
        <p:nvSpPr>
          <p:cNvPr id="490" name="Google Shape;490;p23"/>
          <p:cNvSpPr/>
          <p:nvPr/>
        </p:nvSpPr>
        <p:spPr>
          <a:xfrm>
            <a:off x="254000" y="3886200"/>
            <a:ext cx="5435600" cy="609600"/>
          </a:xfrm>
          <a:custGeom>
            <a:rect b="b" l="l" r="r" t="t"/>
            <a:pathLst>
              <a:path extrusionOk="0" h="609600" w="5435600">
                <a:moveTo>
                  <a:pt x="101602" y="0"/>
                </a:moveTo>
                <a:lnTo>
                  <a:pt x="5333998" y="0"/>
                </a:lnTo>
                <a:cubicBezTo>
                  <a:pt x="5390111" y="0"/>
                  <a:pt x="5435600" y="45489"/>
                  <a:pt x="5435600" y="101602"/>
                </a:cubicBezTo>
                <a:lnTo>
                  <a:pt x="5435600" y="507998"/>
                </a:lnTo>
                <a:cubicBezTo>
                  <a:pt x="5435600" y="564111"/>
                  <a:pt x="5390111" y="609600"/>
                  <a:pt x="5333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02124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546100" y="4038600"/>
            <a:ext cx="228600" cy="304800"/>
          </a:xfrm>
          <a:custGeom>
            <a:rect b="b" l="l" r="r" t="t"/>
            <a:pathLst>
              <a:path extrusionOk="0" h="304800" w="2286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1066800" y="40386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Proactividad y Ética Profesional</a:t>
            </a:r>
            <a:endParaRPr b="0" i="0" sz="1600" u="none" cap="none" strike="noStrike"/>
          </a:p>
        </p:txBody>
      </p:sp>
      <p:pic>
        <p:nvPicPr>
          <p:cNvPr descr="https://kimi-web-img.moonshot.cn/img/img.freepik.com/4b8068f3e1fe5a2e4cf2e0c4dccf3229f72329e8.jpg" id="493" name="Google Shape;493;p23"/>
          <p:cNvPicPr preferRelativeResize="0"/>
          <p:nvPr/>
        </p:nvPicPr>
        <p:blipFill rotWithShape="1">
          <a:blip r:embed="rId3">
            <a:alphaModFix/>
          </a:blip>
          <a:srcRect b="0" l="24208" r="24207" t="0"/>
          <a:stretch/>
        </p:blipFill>
        <p:spPr>
          <a:xfrm>
            <a:off x="5862213" y="-22075"/>
            <a:ext cx="6329700" cy="6880200"/>
          </a:xfrm>
          <a:prstGeom prst="roundRect">
            <a:avLst>
              <a:gd fmla="val 1739" name="adj"/>
            </a:avLst>
          </a:prstGeom>
          <a:noFill/>
          <a:ln>
            <a:noFill/>
          </a:ln>
        </p:spPr>
      </p:pic>
      <p:pic>
        <p:nvPicPr>
          <p:cNvPr id="494" name="Google Shape;494;p23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"/>
            <a:ext cx="546100" cy="675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img.moonshot.cn/pub/slides/slides_tmpl/image/25-08-27-20:09:25-d2nfat98bjvh7rlj0j2g.png" id="500" name="Google Shape;500;g39e07d1c367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1514475"/>
            <a:ext cx="4189094" cy="377253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39e07d1c367_0_4"/>
          <p:cNvSpPr/>
          <p:nvPr/>
        </p:nvSpPr>
        <p:spPr>
          <a:xfrm>
            <a:off x="5384165" y="3196590"/>
            <a:ext cx="5415900" cy="119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9e07d1c367_0_4"/>
          <p:cNvSpPr/>
          <p:nvPr/>
        </p:nvSpPr>
        <p:spPr>
          <a:xfrm>
            <a:off x="5384165" y="3196590"/>
            <a:ext cx="5415900" cy="1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Referencias</a:t>
            </a:r>
            <a:endParaRPr b="0" i="0" sz="1600" u="none" cap="none" strike="noStrike"/>
          </a:p>
        </p:txBody>
      </p:sp>
      <p:sp>
        <p:nvSpPr>
          <p:cNvPr id="503" name="Google Shape;503;g39e07d1c367_0_4"/>
          <p:cNvSpPr/>
          <p:nvPr/>
        </p:nvSpPr>
        <p:spPr>
          <a:xfrm>
            <a:off x="5384165" y="1945640"/>
            <a:ext cx="33903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7200">
                <a:solidFill>
                  <a:srgbClr val="FFFFFF"/>
                </a:solidFill>
              </a:rPr>
              <a:t>8</a:t>
            </a:r>
            <a:endParaRPr b="0" i="0" sz="1600" u="none" cap="none" strike="noStrike"/>
          </a:p>
        </p:txBody>
      </p:sp>
      <p:pic>
        <p:nvPicPr>
          <p:cNvPr id="504" name="Google Shape;504;g39e07d1c367_0_4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e07d1c367_0_19"/>
          <p:cNvSpPr/>
          <p:nvPr/>
        </p:nvSpPr>
        <p:spPr>
          <a:xfrm>
            <a:off x="493325" y="1634250"/>
            <a:ext cx="75255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Docker Documentation: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https://docs.docker.com</a:t>
            </a:r>
            <a:r>
              <a:rPr lang="en-US" sz="2400">
                <a:solidFill>
                  <a:srgbClr val="1E1E1E"/>
                </a:solidFill>
              </a:rPr>
              <a:t>   </a:t>
            </a:r>
            <a:endParaRPr sz="24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Harbor Project: </a:t>
            </a:r>
            <a:r>
              <a:rPr lang="en-US" sz="2400" u="sng">
                <a:solidFill>
                  <a:schemeClr val="hlink"/>
                </a:solidFill>
                <a:hlinkClick r:id="rId4"/>
              </a:rPr>
              <a:t>https://goharbor.io</a:t>
            </a:r>
            <a:r>
              <a:rPr lang="en-US" sz="2400">
                <a:solidFill>
                  <a:srgbClr val="1E1E1E"/>
                </a:solidFill>
              </a:rPr>
              <a:t>   </a:t>
            </a:r>
            <a:endParaRPr sz="24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Zot Registry: </a:t>
            </a:r>
            <a:r>
              <a:rPr lang="en-US" sz="2400" u="sng">
                <a:solidFill>
                  <a:schemeClr val="hlink"/>
                </a:solidFill>
                <a:hlinkClick r:id="rId5"/>
              </a:rPr>
              <a:t>https://github.com/project-zot/zot</a:t>
            </a:r>
            <a:r>
              <a:rPr lang="en-US" sz="2400">
                <a:solidFill>
                  <a:srgbClr val="1E1E1E"/>
                </a:solidFill>
              </a:rPr>
              <a:t>  </a:t>
            </a:r>
            <a:endParaRPr sz="24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Containerd: </a:t>
            </a:r>
            <a:r>
              <a:rPr lang="en-US" sz="2400" u="sng">
                <a:solidFill>
                  <a:schemeClr val="hlink"/>
                </a:solidFill>
                <a:hlinkClick r:id="rId6"/>
              </a:rPr>
              <a:t>https://containerd.io</a:t>
            </a:r>
            <a:r>
              <a:rPr lang="en-US" sz="2400">
                <a:solidFill>
                  <a:srgbClr val="1E1E1E"/>
                </a:solidFill>
              </a:rPr>
              <a:t> </a:t>
            </a:r>
            <a:endParaRPr sz="24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Open Container Initiative (OCI): </a:t>
            </a:r>
            <a:r>
              <a:rPr lang="en-US" sz="2400" u="sng">
                <a:solidFill>
                  <a:schemeClr val="hlink"/>
                </a:solidFill>
                <a:hlinkClick r:id="rId7"/>
              </a:rPr>
              <a:t>https://opencontainers.org</a:t>
            </a:r>
            <a:r>
              <a:rPr lang="en-US" sz="2400">
                <a:solidFill>
                  <a:srgbClr val="1E1E1E"/>
                </a:solidFill>
              </a:rPr>
              <a:t>   </a:t>
            </a:r>
            <a:endParaRPr sz="2400">
              <a:solidFill>
                <a:srgbClr val="1E1E1E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1E1E1E"/>
                </a:solidFill>
              </a:rPr>
              <a:t>CNOF Projects: </a:t>
            </a:r>
            <a:r>
              <a:rPr lang="en-US" sz="2400" u="sng">
                <a:solidFill>
                  <a:schemeClr val="hlink"/>
                </a:solidFill>
                <a:hlinkClick r:id="rId8"/>
              </a:rPr>
              <a:t>https://www.cnof.io/projects</a:t>
            </a:r>
            <a:r>
              <a:rPr lang="en-US" sz="2400">
                <a:solidFill>
                  <a:srgbClr val="1E1E1E"/>
                </a:solidFill>
              </a:rPr>
              <a:t> </a:t>
            </a:r>
            <a:endParaRPr sz="2400">
              <a:solidFill>
                <a:srgbClr val="1E1E1E"/>
              </a:solidFill>
            </a:endParaRPr>
          </a:p>
        </p:txBody>
      </p:sp>
      <p:pic>
        <p:nvPicPr>
          <p:cNvPr descr="https://kimi-web-img.moonshot.cn/img/static.vecteezy.com/deda3dbf4e30baed31a8f49a4d75855931e6c9ca.jpg" id="511" name="Google Shape;511;g39e07d1c367_0_19"/>
          <p:cNvPicPr preferRelativeResize="0"/>
          <p:nvPr/>
        </p:nvPicPr>
        <p:blipFill rotWithShape="1">
          <a:blip r:embed="rId9">
            <a:alphaModFix/>
          </a:blip>
          <a:srcRect b="0" l="29049" r="29049" t="0"/>
          <a:stretch/>
        </p:blipFill>
        <p:spPr>
          <a:xfrm>
            <a:off x="8128198" y="0"/>
            <a:ext cx="40641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id="512" name="Google Shape;512;g39e07d1c367_0_19" title="BUHOADSFA-Photoroo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-6"/>
            <a:ext cx="863600" cy="106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e07d1c367_0_32"/>
          <p:cNvSpPr/>
          <p:nvPr/>
        </p:nvSpPr>
        <p:spPr>
          <a:xfrm>
            <a:off x="655320" y="469900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9e07d1c367_0_32"/>
          <p:cNvSpPr/>
          <p:nvPr/>
        </p:nvSpPr>
        <p:spPr>
          <a:xfrm>
            <a:off x="655320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20" name="Google Shape;520;g39e07d1c367_0_32"/>
          <p:cNvSpPr/>
          <p:nvPr/>
        </p:nvSpPr>
        <p:spPr>
          <a:xfrm>
            <a:off x="939165" y="469900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9e07d1c367_0_32"/>
          <p:cNvSpPr/>
          <p:nvPr/>
        </p:nvSpPr>
        <p:spPr>
          <a:xfrm>
            <a:off x="939165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22" name="Google Shape;522;g39e07d1c367_0_32"/>
          <p:cNvSpPr/>
          <p:nvPr/>
        </p:nvSpPr>
        <p:spPr>
          <a:xfrm>
            <a:off x="1223010" y="469900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9e07d1c367_0_32"/>
          <p:cNvSpPr/>
          <p:nvPr/>
        </p:nvSpPr>
        <p:spPr>
          <a:xfrm>
            <a:off x="1223010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24" name="Google Shape;524;g39e07d1c367_0_32"/>
          <p:cNvSpPr/>
          <p:nvPr/>
        </p:nvSpPr>
        <p:spPr>
          <a:xfrm>
            <a:off x="1506855" y="469900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9e07d1c367_0_32"/>
          <p:cNvSpPr/>
          <p:nvPr/>
        </p:nvSpPr>
        <p:spPr>
          <a:xfrm>
            <a:off x="1506855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26" name="Google Shape;526;g39e07d1c367_0_32"/>
          <p:cNvSpPr/>
          <p:nvPr/>
        </p:nvSpPr>
        <p:spPr>
          <a:xfrm>
            <a:off x="1790700" y="469900"/>
            <a:ext cx="106800" cy="106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9e07d1c367_0_32"/>
          <p:cNvSpPr/>
          <p:nvPr/>
        </p:nvSpPr>
        <p:spPr>
          <a:xfrm>
            <a:off x="1790700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28" name="Google Shape;528;g39e07d1c367_0_32"/>
          <p:cNvSpPr/>
          <p:nvPr/>
        </p:nvSpPr>
        <p:spPr>
          <a:xfrm>
            <a:off x="2074545" y="469900"/>
            <a:ext cx="106800" cy="1068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9e07d1c367_0_32"/>
          <p:cNvSpPr/>
          <p:nvPr/>
        </p:nvSpPr>
        <p:spPr>
          <a:xfrm>
            <a:off x="2074545" y="469900"/>
            <a:ext cx="106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20:09:29-d2nfau98bjvh7rlj0jo0.png" id="530" name="Google Shape;530;g39e07d1c367_0_32"/>
          <p:cNvPicPr preferRelativeResize="0"/>
          <p:nvPr/>
        </p:nvPicPr>
        <p:blipFill rotWithShape="1">
          <a:blip r:embed="rId3">
            <a:alphaModFix/>
          </a:blip>
          <a:srcRect b="14559" l="17551" r="23945" t="0"/>
          <a:stretch/>
        </p:blipFill>
        <p:spPr>
          <a:xfrm rot="-5400000">
            <a:off x="5955984" y="612140"/>
            <a:ext cx="6848474" cy="5623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g39e07d1c367_0_32" title="ubhoo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8788" y="1252973"/>
            <a:ext cx="4476850" cy="38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9e07d1c367_0_32"/>
          <p:cNvSpPr txBox="1"/>
          <p:nvPr/>
        </p:nvSpPr>
        <p:spPr>
          <a:xfrm>
            <a:off x="2254575" y="5113425"/>
            <a:ext cx="3105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chemeClr val="lt1"/>
                </a:solidFill>
              </a:rPr>
              <a:t>¿</a:t>
            </a:r>
            <a:r>
              <a:rPr lang="en-US" sz="4700">
                <a:solidFill>
                  <a:schemeClr val="lt1"/>
                </a:solidFill>
              </a:rPr>
              <a:t>DUDAS?</a:t>
            </a:r>
            <a:endParaRPr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323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"/>
          <p:cNvSpPr/>
          <p:nvPr/>
        </p:nvSpPr>
        <p:spPr>
          <a:xfrm>
            <a:off x="655320" y="469900"/>
            <a:ext cx="106680" cy="106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/>
          <p:nvPr/>
        </p:nvSpPr>
        <p:spPr>
          <a:xfrm>
            <a:off x="655320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40" name="Google Shape;540;p27"/>
          <p:cNvSpPr/>
          <p:nvPr/>
        </p:nvSpPr>
        <p:spPr>
          <a:xfrm>
            <a:off x="93916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939165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42" name="Google Shape;542;p27"/>
          <p:cNvSpPr/>
          <p:nvPr/>
        </p:nvSpPr>
        <p:spPr>
          <a:xfrm>
            <a:off x="1223010" y="469900"/>
            <a:ext cx="106680" cy="106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1223010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44" name="Google Shape;544;p27"/>
          <p:cNvSpPr/>
          <p:nvPr/>
        </p:nvSpPr>
        <p:spPr>
          <a:xfrm>
            <a:off x="150685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1506855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46" name="Google Shape;546;p27"/>
          <p:cNvSpPr/>
          <p:nvPr/>
        </p:nvSpPr>
        <p:spPr>
          <a:xfrm>
            <a:off x="1790700" y="469900"/>
            <a:ext cx="106680" cy="106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1790700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548" name="Google Shape;548;p27"/>
          <p:cNvSpPr/>
          <p:nvPr/>
        </p:nvSpPr>
        <p:spPr>
          <a:xfrm>
            <a:off x="2074545" y="469900"/>
            <a:ext cx="106680" cy="10668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2074545" y="469900"/>
            <a:ext cx="106680" cy="10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pic>
        <p:nvPicPr>
          <p:cNvPr descr="https://kimi-img.moonshot.cn/pub/slides/slides_tmpl/image/25-08-27-20:09:29-d2nfau98bjvh7rlj0jo0.png" id="550" name="Google Shape;550;p27"/>
          <p:cNvPicPr preferRelativeResize="0"/>
          <p:nvPr/>
        </p:nvPicPr>
        <p:blipFill rotWithShape="1">
          <a:blip r:embed="rId3">
            <a:alphaModFix amt="40000"/>
          </a:blip>
          <a:srcRect b="14559" l="17548" r="23948" t="0"/>
          <a:stretch/>
        </p:blipFill>
        <p:spPr>
          <a:xfrm rot="-5400000">
            <a:off x="5955983" y="612140"/>
            <a:ext cx="6848475" cy="562356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7"/>
          <p:cNvSpPr/>
          <p:nvPr/>
        </p:nvSpPr>
        <p:spPr>
          <a:xfrm>
            <a:off x="788675" y="1901200"/>
            <a:ext cx="7783800" cy="27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0"/>
              <a:buFont typeface="Arial"/>
              <a:buNone/>
            </a:pPr>
            <a:r>
              <a:rPr b="0" i="0" lang="en-US" sz="8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GRACIAS </a:t>
            </a:r>
            <a:r>
              <a:rPr lang="en-US" sz="8500">
                <a:solidFill>
                  <a:srgbClr val="FFFFFF"/>
                </a:solidFill>
              </a:rPr>
              <a:t>POR SU ATENCION</a:t>
            </a:r>
            <a:r>
              <a:rPr b="0" i="0" lang="en-US" sz="8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/>
          </a:p>
        </p:txBody>
      </p:sp>
      <p:sp>
        <p:nvSpPr>
          <p:cNvPr id="552" name="Google Shape;552;p27"/>
          <p:cNvSpPr txBox="1"/>
          <p:nvPr/>
        </p:nvSpPr>
        <p:spPr>
          <a:xfrm>
            <a:off x="939175" y="5226025"/>
            <a:ext cx="9053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1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27" title="BUHOADSFA-Photo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39175" cy="116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32323"/>
      </a:accent1>
      <a:accent2>
        <a:srgbClr val="EBEBEB"/>
      </a:accent2>
      <a:accent3>
        <a:srgbClr val="919191"/>
      </a:accent3>
      <a:accent4>
        <a:srgbClr val="ADADAD"/>
      </a:accent4>
      <a:accent5>
        <a:srgbClr val="C79E7F"/>
      </a:accent5>
      <a:accent6>
        <a:srgbClr val="C27F6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2025-10-28T22:09:55Z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{"Label":"Virtualización y Contenedores","ContentProducer":"001191110108MACG2KBH8F10000","ProduceID":"d40jhmmqvl7ftib1apc0","ReservedCode1":"","ContentPropagator":"001191110108MACG2KBH8F20000","PropagateID":"d40jhmmqvl7ftib1apc0","ReservedCode2":""}</vt:lpwstr>
  </property>
</Properties>
</file>