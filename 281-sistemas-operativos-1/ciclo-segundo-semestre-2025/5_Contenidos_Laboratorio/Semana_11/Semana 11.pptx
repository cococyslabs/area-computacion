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Source Code Pro"/>
      <p:regular r:id="rId30"/>
      <p:bold r:id="rId31"/>
      <p:italic r:id="rId32"/>
      <p:boldItalic r:id="rId33"/>
    </p:embeddedFont>
    <p:embeddedFont>
      <p:font typeface="Oswa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F29416-5181-46B9-A5A1-0F706CC2B193}">
  <a:tblStyle styleId="{B0F29416-5181-46B9-A5A1-0F706CC2B19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urceCodePro-bold.fntdata"/><Relationship Id="rId30" Type="http://schemas.openxmlformats.org/officeDocument/2006/relationships/font" Target="fonts/SourceCodePro-regular.fntdata"/><Relationship Id="rId11" Type="http://schemas.openxmlformats.org/officeDocument/2006/relationships/slide" Target="slides/slide5.xml"/><Relationship Id="rId33" Type="http://schemas.openxmlformats.org/officeDocument/2006/relationships/font" Target="fonts/SourceCodePro-boldItalic.fntdata"/><Relationship Id="rId10" Type="http://schemas.openxmlformats.org/officeDocument/2006/relationships/slide" Target="slides/slide4.xml"/><Relationship Id="rId32" Type="http://schemas.openxmlformats.org/officeDocument/2006/relationships/font" Target="fonts/SourceCodePro-italic.fntdata"/><Relationship Id="rId13" Type="http://schemas.openxmlformats.org/officeDocument/2006/relationships/slide" Target="slides/slide7.xml"/><Relationship Id="rId35" Type="http://schemas.openxmlformats.org/officeDocument/2006/relationships/font" Target="fonts/Oswald-bold.fntdata"/><Relationship Id="rId12" Type="http://schemas.openxmlformats.org/officeDocument/2006/relationships/slide" Target="slides/slide6.xml"/><Relationship Id="rId34" Type="http://schemas.openxmlformats.org/officeDocument/2006/relationships/font" Target="fonts/Oswald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adc005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8adc005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a80873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9a80873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09728e57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609728e57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09728e57c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09728e57c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9728e57c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609728e57c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09728e57c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609728e57c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09728e57c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09728e57c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6b7131ef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6b7131ef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6b7131ef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6b7131ef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6b7131ef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6b7131ef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6b7131ef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6b7131ef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6b7131ef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6b7131ef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b7131ef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6b7131ef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6b7131ef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6b7131ef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09728e57c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09728e57c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9728e57c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9728e57c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09728e57c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09728e57c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09728e57c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609728e57c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125" lIns="93125" spcFirstLastPara="1" rIns="93125" wrap="square" tIns="9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google.com/search?q=https://kubernetes.io/docs/tasks/run-application/horizontal-pod-autoscaler/" TargetMode="External"/><Relationship Id="rId4" Type="http://schemas.openxmlformats.org/officeDocument/2006/relationships/hyperlink" Target="https://www.google.com/search?q=https://kubernetes.io/docs/tasks/run-application/horizontal-pod-autoscaler/" TargetMode="External"/><Relationship Id="rId11" Type="http://schemas.openxmlformats.org/officeDocument/2006/relationships/hyperlink" Target="https://landscape.cncf.io/" TargetMode="External"/><Relationship Id="rId10" Type="http://schemas.openxmlformats.org/officeDocument/2006/relationships/hyperlink" Target="https://www.google.com/search?q=https://www.linuxfoundation.org/our-work/linux-kernel" TargetMode="External"/><Relationship Id="rId12" Type="http://schemas.openxmlformats.org/officeDocument/2006/relationships/hyperlink" Target="https://landscape.cncf.io/" TargetMode="External"/><Relationship Id="rId9" Type="http://schemas.openxmlformats.org/officeDocument/2006/relationships/hyperlink" Target="https://www.google.com/search?q=https://www.linuxfoundation.org/our-work/linux-kernel" TargetMode="External"/><Relationship Id="rId5" Type="http://schemas.openxmlformats.org/officeDocument/2006/relationships/hyperlink" Target="https://github.com/kubernetes/autoscaler/tree/master/vertical-pod-autoscaler" TargetMode="External"/><Relationship Id="rId6" Type="http://schemas.openxmlformats.org/officeDocument/2006/relationships/hyperlink" Target="https://github.com/kubernetes/autoscaler/tree/master/vertical-pod-autoscaler" TargetMode="External"/><Relationship Id="rId7" Type="http://schemas.openxmlformats.org/officeDocument/2006/relationships/hyperlink" Target="https://www.google.com/search?q=https://cncf.io/understand/what-is-cloud-native/" TargetMode="External"/><Relationship Id="rId8" Type="http://schemas.openxmlformats.org/officeDocument/2006/relationships/hyperlink" Target="https://www.google.com/search?q=https://cncf.io/understand/what-is-cloud-native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" name="Google Shape;63;p13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{B0F29416-5181-46B9-A5A1-0F706CC2B193}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30/04/2026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" name="Google Shape;64;p13"/>
          <p:cNvSpPr txBox="1"/>
          <p:nvPr/>
        </p:nvSpPr>
        <p:spPr>
          <a:xfrm>
            <a:off x="2538600" y="2287050"/>
            <a:ext cx="436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s-419" sz="2500"/>
              <a:t>Sistemas Operativos 1</a:t>
            </a:r>
            <a:r>
              <a:rPr b="1" i="0" lang="es-419" sz="2500" u="none" cap="none" strike="noStrike">
                <a:solidFill>
                  <a:srgbClr val="000000"/>
                </a:solidFill>
              </a:rPr>
              <a:t> [</a:t>
            </a:r>
            <a:r>
              <a:rPr b="1" lang="es-419" sz="2500"/>
              <a:t>P</a:t>
            </a:r>
            <a:r>
              <a:rPr b="1" i="0" lang="es-419" sz="2500" u="none" cap="none" strike="noStrike">
                <a:solidFill>
                  <a:srgbClr val="000000"/>
                </a:solidFill>
              </a:rPr>
              <a:t>]</a:t>
            </a:r>
            <a:endParaRPr b="1"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778713" y="2856481"/>
            <a:ext cx="558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419" sz="2600"/>
              <a:t>Edgar Rolando Alvarez Rodriguez</a:t>
            </a:r>
            <a:endParaRPr b="1" i="0" sz="26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" name="Google Shape;71;p14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{B0F29416-5181-46B9-A5A1-0F706CC2B193}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>
                          <a:solidFill>
                            <a:schemeClr val="dk2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4/05/2026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>
                          <a:solidFill>
                            <a:schemeClr val="dk2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7:45 - 17:15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/>
        </p:nvSpPr>
        <p:spPr>
          <a:xfrm>
            <a:off x="2538600" y="2287050"/>
            <a:ext cx="436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s-419" sz="2500"/>
              <a:t>Sistemas Operativos 1</a:t>
            </a:r>
            <a:r>
              <a:rPr b="1" i="0" lang="es-419" sz="2500" u="none" cap="none" strike="noStrike">
                <a:solidFill>
                  <a:srgbClr val="000000"/>
                </a:solidFill>
              </a:rPr>
              <a:t> [</a:t>
            </a:r>
            <a:r>
              <a:rPr b="1" lang="es-419" sz="2500"/>
              <a:t>P</a:t>
            </a:r>
            <a:r>
              <a:rPr b="1" i="0" lang="es-419" sz="2500" u="none" cap="none" strike="noStrike">
                <a:solidFill>
                  <a:srgbClr val="000000"/>
                </a:solidFill>
              </a:rPr>
              <a:t>]</a:t>
            </a:r>
            <a:endParaRPr b="1"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778713" y="2856481"/>
            <a:ext cx="558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419" sz="2600"/>
              <a:t>Edgar Rolando Alvarez Rodriguez</a:t>
            </a:r>
            <a:endParaRPr b="1" i="0" sz="2600" u="none" cap="none" strike="noStrike">
              <a:solidFill>
                <a:srgbClr val="000000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778713" y="3277506"/>
            <a:ext cx="558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419" sz="2600"/>
              <a:t>Calificacion Proyecto #3</a:t>
            </a:r>
            <a:endParaRPr b="1" i="0" sz="2600" u="none" cap="none" strike="noStrike">
              <a:solidFill>
                <a:srgbClr val="000000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211038" y="4743300"/>
            <a:ext cx="392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/>
              <a:t>https://meet.google.com/zrq-itxx-mnc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5" y="0"/>
            <a:ext cx="912025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4272925" y="990900"/>
            <a:ext cx="4775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Universidad de San Carlos de Guatemala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Facultad de Ingeniería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Ingeniería en Ciencias y Sistemas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LABORATORIO SISTEMAS OPERATIVOS 1 </a:t>
            </a:r>
            <a:endParaRPr b="0" i="0" sz="1800" u="none" cap="none" strike="noStrike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Unidad 2: Arquitectura de Microservicios, Cloud y Orquestación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SEMANA 11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57500" y="1478875"/>
            <a:ext cx="85608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800">
                <a:latin typeface="Montserrat"/>
                <a:ea typeface="Montserrat"/>
                <a:cs typeface="Montserrat"/>
                <a:sym typeface="Montserrat"/>
              </a:rPr>
              <a:t>CORREO: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419" sz="1800">
                <a:latin typeface="Montserrat"/>
                <a:ea typeface="Montserrat"/>
                <a:cs typeface="Montserrat"/>
                <a:sym typeface="Montserrat"/>
              </a:rPr>
              <a:t>Entrega de Proyectos, Tareas, Foros y Hojas de Trabajo: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s-419" sz="1800">
                <a:latin typeface="Montserrat"/>
                <a:ea typeface="Montserrat"/>
                <a:cs typeface="Montserrat"/>
                <a:sym typeface="Montserrat"/>
              </a:rPr>
              <a:t>UEDI: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s-419" sz="1800">
                <a:latin typeface="Montserrat"/>
                <a:ea typeface="Montserrat"/>
                <a:cs typeface="Montserrat"/>
                <a:sym typeface="Montserrat"/>
              </a:rPr>
              <a:t>CLASSROOM : </a:t>
            </a:r>
            <a:endParaRPr sz="1800"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Datos de los auxiliares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1957925" y="888675"/>
            <a:ext cx="5945700" cy="407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Horarios </a:t>
            </a: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Calificación</a:t>
            </a: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Proyecto 3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Explicacion metodologia de calificacion 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Resolución</a:t>
            </a: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Dudas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Horarios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 a Cloud Native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Tendencias sistemas operativos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 a Cloud Native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Herramientas más populares de Cloud Native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Cómo</a:t>
            </a: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contribuir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Native Guatemala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Video Cloud native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Explicación</a:t>
            </a:r>
            <a:r>
              <a:rPr b="1" lang="es-41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tecnologias de CNCF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518370" y="397075"/>
            <a:ext cx="25854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Competencias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1254275" y="1112825"/>
            <a:ext cx="737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El estudiante analiza el consumo de recursos y rendimiento de pods en Kubernetes mediante herramientas como kubectl top, métricas de Prometheus o Grafana para detectar cuellos de botella y mejorar la eficiencia operativa </a:t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600300" y="1922625"/>
            <a:ext cx="2550600" cy="9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CONTENIDO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Cloud Native</a:t>
            </a:r>
            <a:endParaRPr/>
          </a:p>
        </p:txBody>
      </p:sp>
      <p:sp>
        <p:nvSpPr>
          <p:cNvPr id="112" name="Google Shape;112;p20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50">
                <a:solidFill>
                  <a:srgbClr val="1A1C1E"/>
                </a:solidFill>
                <a:highlight>
                  <a:srgbClr val="FFFFFF"/>
                </a:highlight>
              </a:rPr>
              <a:t>Explorando las bases, herramientas clave, tendencias y la comunidad en Guatemala.</a:t>
            </a:r>
            <a:endParaRPr sz="4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265500" y="176625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</a:t>
            </a:r>
            <a:r>
              <a:rPr lang="es-419"/>
              <a:t>é es Cloud Native?</a:t>
            </a:r>
            <a:endParaRPr/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265500" y="2140875"/>
            <a:ext cx="4045200" cy="27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b="1" lang="es-419" sz="1550"/>
              <a:t>No es solo "en la nube", es un </a:t>
            </a:r>
            <a:r>
              <a:rPr b="1" i="1" lang="es-419" sz="1550"/>
              <a:t>enfoque</a:t>
            </a:r>
            <a:r>
              <a:rPr b="1" lang="es-419" sz="1550"/>
              <a:t>.</a:t>
            </a:r>
            <a:endParaRPr b="1" sz="1550"/>
          </a:p>
          <a:p>
            <a:pPr indent="-32702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b="1" lang="es-419" sz="1550"/>
              <a:t>Construir y ejecutar apps para el entorno dinámico de la nube.</a:t>
            </a:r>
            <a:endParaRPr b="1" sz="1550"/>
          </a:p>
          <a:p>
            <a:pPr indent="-32702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b="1" lang="es-419" sz="1550"/>
              <a:t>Objetivo: Velocidad, Agilidad, Resiliencia, Escalabilidad.</a:t>
            </a:r>
            <a:endParaRPr b="1" sz="1550"/>
          </a:p>
          <a:p>
            <a:pPr indent="0" lvl="0" marL="0" rt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478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151" y="1340070"/>
            <a:ext cx="5121777" cy="24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Pilares Fundamentales de Cloud Native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392625"/>
            <a:ext cx="4320300" cy="35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450"/>
              <a:buChar char="●"/>
            </a:pPr>
            <a:r>
              <a:rPr b="1" lang="es-419" sz="1450">
                <a:solidFill>
                  <a:srgbClr val="1A1C1E"/>
                </a:solidFill>
                <a:highlight>
                  <a:srgbClr val="FFFFFF"/>
                </a:highlight>
              </a:rPr>
              <a:t>Microservicios:</a:t>
            </a:r>
            <a:r>
              <a:rPr lang="es-419" sz="1450">
                <a:solidFill>
                  <a:srgbClr val="1A1C1E"/>
                </a:solidFill>
                <a:highlight>
                  <a:srgbClr val="FFFFFF"/>
                </a:highlight>
              </a:rPr>
              <a:t> Apps pequeñas e independientes.</a:t>
            </a:r>
            <a:endParaRPr sz="14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450"/>
              <a:buChar char="●"/>
            </a:pPr>
            <a:r>
              <a:rPr b="1" lang="es-419" sz="1450">
                <a:solidFill>
                  <a:srgbClr val="1A1C1E"/>
                </a:solidFill>
                <a:highlight>
                  <a:srgbClr val="FFFFFF"/>
                </a:highlight>
              </a:rPr>
              <a:t>Contenedores:</a:t>
            </a:r>
            <a:r>
              <a:rPr lang="es-419" sz="1450">
                <a:solidFill>
                  <a:srgbClr val="1A1C1E"/>
                </a:solidFill>
                <a:highlight>
                  <a:srgbClr val="FFFFFF"/>
                </a:highlight>
              </a:rPr>
              <a:t> Empaquetado estándar (Docker).</a:t>
            </a:r>
            <a:endParaRPr sz="14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450"/>
              <a:buChar char="●"/>
            </a:pPr>
            <a:r>
              <a:rPr b="1" lang="es-419" sz="1450">
                <a:solidFill>
                  <a:srgbClr val="1A1C1E"/>
                </a:solidFill>
                <a:highlight>
                  <a:srgbClr val="FFFFFF"/>
                </a:highlight>
              </a:rPr>
              <a:t>Orquestación:</a:t>
            </a:r>
            <a:r>
              <a:rPr lang="es-419" sz="1450">
                <a:solidFill>
                  <a:srgbClr val="1A1C1E"/>
                </a:solidFill>
                <a:highlight>
                  <a:srgbClr val="FFFFFF"/>
                </a:highlight>
              </a:rPr>
              <a:t> Gestión automatizada (Kubernetes).</a:t>
            </a:r>
            <a:endParaRPr sz="14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450"/>
              <a:buChar char="●"/>
            </a:pPr>
            <a:r>
              <a:rPr b="1" lang="es-419" sz="1450">
                <a:solidFill>
                  <a:srgbClr val="1A1C1E"/>
                </a:solidFill>
                <a:highlight>
                  <a:srgbClr val="FFFFFF"/>
                </a:highlight>
              </a:rPr>
              <a:t>CI/CD:</a:t>
            </a:r>
            <a:r>
              <a:rPr lang="es-419" sz="1450">
                <a:solidFill>
                  <a:srgbClr val="1A1C1E"/>
                </a:solidFill>
                <a:highlight>
                  <a:srgbClr val="FFFFFF"/>
                </a:highlight>
              </a:rPr>
              <a:t> Entrega rápida y continua.</a:t>
            </a:r>
            <a:endParaRPr sz="14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450"/>
              <a:buChar char="●"/>
            </a:pPr>
            <a:r>
              <a:rPr b="1" lang="es-419" sz="1450">
                <a:solidFill>
                  <a:srgbClr val="1A1C1E"/>
                </a:solidFill>
                <a:highlight>
                  <a:srgbClr val="FFFFFF"/>
                </a:highlight>
              </a:rPr>
              <a:t>Observabilidad:</a:t>
            </a:r>
            <a:r>
              <a:rPr lang="es-419" sz="1450">
                <a:solidFill>
                  <a:srgbClr val="1A1C1E"/>
                </a:solidFill>
                <a:highlight>
                  <a:srgbClr val="FFFFFF"/>
                </a:highlight>
              </a:rPr>
              <a:t> Entender el sistema (Monitoring, Logging, Tracing).</a:t>
            </a:r>
            <a:endParaRPr sz="14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b="1" sz="1450">
              <a:solidFill>
                <a:srgbClr val="1A1C1E"/>
              </a:solidFill>
              <a:highlight>
                <a:srgbClr val="FFFFFF"/>
              </a:highlight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875" y="1885050"/>
            <a:ext cx="3999899" cy="255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265500" y="136225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 qu</a:t>
            </a:r>
            <a:r>
              <a:rPr lang="es-419"/>
              <a:t>é adoptar Cloud Native?</a:t>
            </a:r>
            <a:endParaRPr/>
          </a:p>
        </p:txBody>
      </p:sp>
      <p:sp>
        <p:nvSpPr>
          <p:cNvPr id="132" name="Google Shape;132;p23"/>
          <p:cNvSpPr txBox="1"/>
          <p:nvPr>
            <p:ph idx="1" type="subTitle"/>
          </p:nvPr>
        </p:nvSpPr>
        <p:spPr>
          <a:xfrm>
            <a:off x="265500" y="2073550"/>
            <a:ext cx="4045200" cy="26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b="1" lang="es-419" sz="1850"/>
              <a:t>Mayor Agilidad (Tiempo al Mercado).</a:t>
            </a:r>
            <a:endParaRPr b="1" sz="1850"/>
          </a:p>
          <a:p>
            <a:pPr indent="-3460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b="1" lang="es-419" sz="1850"/>
              <a:t>Escalabilidad elástica.</a:t>
            </a:r>
            <a:endParaRPr b="1" sz="1850"/>
          </a:p>
          <a:p>
            <a:pPr indent="-3460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b="1" lang="es-419" sz="1850"/>
              <a:t>Mejor Resiliencia.</a:t>
            </a:r>
            <a:endParaRPr b="1" sz="1850"/>
          </a:p>
          <a:p>
            <a:pPr indent="-3460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b="1" lang="es-419" sz="1850"/>
              <a:t>Optimización de Recursos.</a:t>
            </a:r>
            <a:endParaRPr b="1" sz="1850"/>
          </a:p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78"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850" y="1279525"/>
            <a:ext cx="4359751" cy="25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59750" y="958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Tendencias en Sistemas Operativos </a:t>
            </a:r>
            <a:endParaRPr/>
          </a:p>
        </p:txBody>
      </p:sp>
      <p:sp>
        <p:nvSpPr>
          <p:cNvPr id="139" name="Google Shape;139;p24"/>
          <p:cNvSpPr txBox="1"/>
          <p:nvPr>
            <p:ph idx="1" type="subTitle"/>
          </p:nvPr>
        </p:nvSpPr>
        <p:spPr>
          <a:xfrm>
            <a:off x="225125" y="1885049"/>
            <a:ext cx="40452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650"/>
              <a:buChar char="●"/>
            </a:pPr>
            <a:r>
              <a:rPr b="1" lang="es-419" sz="1650"/>
              <a:t>SO's ligeros y minimalistas.</a:t>
            </a:r>
            <a:endParaRPr b="1" sz="1650"/>
          </a:p>
          <a:p>
            <a:pPr indent="-3333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●"/>
            </a:pPr>
            <a:r>
              <a:rPr b="1" lang="es-419" sz="1650"/>
              <a:t>Optimizados para ejecutar contenedores.</a:t>
            </a:r>
            <a:endParaRPr b="1" sz="1650"/>
          </a:p>
          <a:p>
            <a:pPr indent="-3333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●"/>
            </a:pPr>
            <a:r>
              <a:rPr b="1" lang="es-419" sz="1650"/>
              <a:t>Superficie de ataque reducida.</a:t>
            </a:r>
            <a:endParaRPr b="1" sz="1650"/>
          </a:p>
          <a:p>
            <a:pPr indent="-3333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●"/>
            </a:pPr>
            <a:r>
              <a:rPr b="1" lang="es-419" sz="1650"/>
              <a:t>Concepto de Infraestructura Inmutable.</a:t>
            </a:r>
            <a:endParaRPr b="1" sz="1650"/>
          </a:p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578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200" y="682198"/>
            <a:ext cx="3835424" cy="335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265500" y="82375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populares</a:t>
            </a:r>
            <a:endParaRPr/>
          </a:p>
        </p:txBody>
      </p:sp>
      <p:sp>
        <p:nvSpPr>
          <p:cNvPr id="146" name="Google Shape;146;p25"/>
          <p:cNvSpPr txBox="1"/>
          <p:nvPr>
            <p:ph idx="1" type="subTitle"/>
          </p:nvPr>
        </p:nvSpPr>
        <p:spPr>
          <a:xfrm>
            <a:off x="265500" y="1899000"/>
            <a:ext cx="4197600" cy="30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422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56"/>
              <a:buChar char="●"/>
            </a:pPr>
            <a:r>
              <a:rPr b="1" lang="es-419" sz="1556"/>
              <a:t>Contenedores: </a:t>
            </a:r>
            <a:r>
              <a:rPr lang="es-419" sz="1556"/>
              <a:t>Docker, containerd.</a:t>
            </a:r>
            <a:endParaRPr sz="1556"/>
          </a:p>
          <a:p>
            <a:pPr indent="-327422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Char char="●"/>
            </a:pPr>
            <a:r>
              <a:rPr b="1" lang="es-419" sz="1556"/>
              <a:t>Orquestación:</a:t>
            </a:r>
            <a:r>
              <a:rPr lang="es-419" sz="1556"/>
              <a:t> Kubernetes (Estándar).</a:t>
            </a:r>
            <a:endParaRPr sz="1556"/>
          </a:p>
          <a:p>
            <a:pPr indent="-327422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Char char="●"/>
            </a:pPr>
            <a:r>
              <a:rPr b="1" lang="es-419" sz="1556"/>
              <a:t>CI/CD: </a:t>
            </a:r>
            <a:r>
              <a:rPr lang="es-419" sz="1556"/>
              <a:t>Jenkins, GitLab CI, GitHub Actions.</a:t>
            </a:r>
            <a:endParaRPr sz="1556"/>
          </a:p>
          <a:p>
            <a:pPr indent="-327422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Char char="●"/>
            </a:pPr>
            <a:r>
              <a:rPr b="1" lang="es-419" sz="1556"/>
              <a:t>Observabilidad: </a:t>
            </a:r>
            <a:r>
              <a:rPr lang="es-419" sz="1556"/>
              <a:t>Prometheus+Grafana, Elastic Stack.</a:t>
            </a:r>
            <a:endParaRPr sz="1556"/>
          </a:p>
          <a:p>
            <a:pPr indent="-327422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Char char="●"/>
            </a:pPr>
            <a:r>
              <a:rPr b="1" lang="es-419" sz="1556"/>
              <a:t>Service Mesh: </a:t>
            </a:r>
            <a:r>
              <a:rPr lang="es-419" sz="1556"/>
              <a:t>Istio, Linkerd.</a:t>
            </a:r>
            <a:endParaRPr sz="1556"/>
          </a:p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556"/>
          </a:p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213"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275" y="453275"/>
            <a:ext cx="38100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000" y="2177300"/>
            <a:ext cx="4197600" cy="27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265500" y="554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</a:t>
            </a:r>
            <a:r>
              <a:rPr lang="es-419"/>
              <a:t>Cómo</a:t>
            </a:r>
            <a:r>
              <a:rPr lang="es-419"/>
              <a:t> contribuir?</a:t>
            </a:r>
            <a:endParaRPr/>
          </a:p>
        </p:txBody>
      </p:sp>
      <p:sp>
        <p:nvSpPr>
          <p:cNvPr id="154" name="Google Shape;154;p26"/>
          <p:cNvSpPr txBox="1"/>
          <p:nvPr>
            <p:ph idx="1" type="subTitle"/>
          </p:nvPr>
        </p:nvSpPr>
        <p:spPr>
          <a:xfrm>
            <a:off x="265500" y="1844650"/>
            <a:ext cx="4045200" cy="30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423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635"/>
              <a:buChar char="●"/>
            </a:pPr>
            <a:r>
              <a:rPr lang="es-419" sz="1635"/>
              <a:t>Es un ecosistema </a:t>
            </a:r>
            <a:r>
              <a:rPr b="1" lang="es-419" sz="1635"/>
              <a:t>Open Source</a:t>
            </a:r>
            <a:r>
              <a:rPr lang="es-419" sz="1635"/>
              <a:t>.</a:t>
            </a:r>
            <a:endParaRPr sz="1635"/>
          </a:p>
          <a:p>
            <a:pPr indent="-332423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35"/>
              <a:buChar char="●"/>
            </a:pPr>
            <a:r>
              <a:rPr b="1" lang="es-419" sz="1635"/>
              <a:t>Código:</a:t>
            </a:r>
            <a:r>
              <a:rPr lang="es-419" sz="1635"/>
              <a:t> Reportar bugs, enviar fixes.</a:t>
            </a:r>
            <a:endParaRPr sz="1635"/>
          </a:p>
          <a:p>
            <a:pPr indent="-332423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35"/>
              <a:buChar char="●"/>
            </a:pPr>
            <a:r>
              <a:rPr b="1" lang="es-419" sz="1635"/>
              <a:t>Documentación:</a:t>
            </a:r>
            <a:r>
              <a:rPr lang="es-419" sz="1635"/>
              <a:t> Mejorar guías.</a:t>
            </a:r>
            <a:endParaRPr sz="1635"/>
          </a:p>
          <a:p>
            <a:pPr indent="-332423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35"/>
              <a:buChar char="●"/>
            </a:pPr>
            <a:r>
              <a:rPr b="1" lang="es-419" sz="1635"/>
              <a:t>Comunidad:</a:t>
            </a:r>
            <a:r>
              <a:rPr lang="es-419" sz="1635"/>
              <a:t> Participar en meetups, foros.</a:t>
            </a:r>
            <a:endParaRPr sz="1635"/>
          </a:p>
          <a:p>
            <a:pPr indent="-332423" lvl="0" marL="45720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35"/>
              <a:buChar char="●"/>
            </a:pPr>
            <a:r>
              <a:rPr b="1" lang="es-419" sz="1635"/>
              <a:t>Divulgación:</a:t>
            </a:r>
            <a:r>
              <a:rPr lang="es-419" sz="1635"/>
              <a:t> Dar charlas, escribir.</a:t>
            </a:r>
            <a:endParaRPr sz="1635"/>
          </a:p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370"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425" y="109400"/>
            <a:ext cx="368662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184700" y="823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Cloud Native Guatemala</a:t>
            </a:r>
            <a:endParaRPr/>
          </a:p>
        </p:txBody>
      </p:sp>
      <p:sp>
        <p:nvSpPr>
          <p:cNvPr id="161" name="Google Shape;161;p27"/>
          <p:cNvSpPr txBox="1"/>
          <p:nvPr>
            <p:ph idx="1" type="subTitle"/>
          </p:nvPr>
        </p:nvSpPr>
        <p:spPr>
          <a:xfrm>
            <a:off x="184700" y="1799714"/>
            <a:ext cx="4045200" cy="29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6073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535"/>
              <a:buChar char="●"/>
            </a:pPr>
            <a:r>
              <a:rPr b="1" lang="es-419" sz="1535"/>
              <a:t>Adopción Local:</a:t>
            </a:r>
            <a:r>
              <a:rPr lang="es-419" sz="1535"/>
              <a:t> ¿Dónde se está usando?</a:t>
            </a:r>
            <a:endParaRPr sz="1535"/>
          </a:p>
          <a:p>
            <a:pPr indent="-326073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5"/>
              <a:buChar char="●"/>
            </a:pPr>
            <a:r>
              <a:rPr b="1" lang="es-419" sz="1535"/>
              <a:t>Comunidad Local:</a:t>
            </a:r>
            <a:r>
              <a:rPr lang="es-419" sz="1535"/>
              <a:t> Grupos de usuarios (Kubernetes GT, Docker GT, etc.).</a:t>
            </a:r>
            <a:endParaRPr sz="1535"/>
          </a:p>
          <a:p>
            <a:pPr indent="-326073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5"/>
              <a:buChar char="●"/>
            </a:pPr>
            <a:r>
              <a:rPr b="1" lang="es-419" sz="1535"/>
              <a:t>Eventos:</a:t>
            </a:r>
            <a:r>
              <a:rPr lang="es-419" sz="1535"/>
              <a:t> Meetups, talleres locales.</a:t>
            </a:r>
            <a:endParaRPr sz="1535"/>
          </a:p>
          <a:p>
            <a:pPr indent="-326073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5"/>
              <a:buChar char="●"/>
            </a:pPr>
            <a:r>
              <a:rPr b="1" lang="es-419" sz="1535"/>
              <a:t>Oportunidades y Retos locales</a:t>
            </a:r>
            <a:r>
              <a:rPr lang="es-419" sz="1535"/>
              <a:t>.</a:t>
            </a:r>
            <a:endParaRPr sz="1535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270"/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125" y="481925"/>
            <a:ext cx="3981024" cy="398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205350" y="134650"/>
            <a:ext cx="7483500" cy="10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Valores y Actitudes Desarrolladas al Aprender Gestión de procesos y concurrencia</a:t>
            </a:r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205350" y="1410900"/>
            <a:ext cx="8560200" cy="3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s-419" sz="1200">
                <a:solidFill>
                  <a:schemeClr val="dk2"/>
                </a:solidFill>
              </a:rPr>
              <a:t>Adaptabilidad y Evolución Continua:</a:t>
            </a:r>
            <a:r>
              <a:rPr lang="es-419" sz="1200">
                <a:solidFill>
                  <a:schemeClr val="dk2"/>
                </a:solidFill>
              </a:rPr>
              <a:t> Dada la rápida evolución del ecosistema </a:t>
            </a:r>
            <a:r>
              <a:rPr i="1" lang="es-419" sz="1200">
                <a:solidFill>
                  <a:schemeClr val="dk2"/>
                </a:solidFill>
              </a:rPr>
              <a:t>Cloud Native</a:t>
            </a:r>
            <a:r>
              <a:rPr lang="es-419" sz="1200">
                <a:solidFill>
                  <a:schemeClr val="dk2"/>
                </a:solidFill>
              </a:rPr>
              <a:t> y las tendencias en sistemas operativos, se valora la disposición a aprender constantemente, a adoptar nuevas metodologías y herramientas, y a desaprender lo obsoleto. Una actitud proactiva ante el cambio es fundamental.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s-419" sz="1200">
                <a:solidFill>
                  <a:schemeClr val="dk2"/>
                </a:solidFill>
              </a:rPr>
              <a:t>Optimización y Eficiencia Escalable:</a:t>
            </a:r>
            <a:r>
              <a:rPr lang="es-419" sz="1200">
                <a:solidFill>
                  <a:schemeClr val="dk2"/>
                </a:solidFill>
              </a:rPr>
              <a:t> El enfoque en </a:t>
            </a:r>
            <a:r>
              <a:rPr i="1" lang="es-419" sz="1200">
                <a:solidFill>
                  <a:schemeClr val="dk2"/>
                </a:solidFill>
              </a:rPr>
              <a:t>autoscaling</a:t>
            </a:r>
            <a:r>
              <a:rPr lang="es-419" sz="1200">
                <a:solidFill>
                  <a:schemeClr val="dk2"/>
                </a:solidFill>
              </a:rPr>
              <a:t> y la filosofía </a:t>
            </a:r>
            <a:r>
              <a:rPr i="1" lang="es-419" sz="1200">
                <a:solidFill>
                  <a:schemeClr val="dk2"/>
                </a:solidFill>
              </a:rPr>
              <a:t>Cloud Native</a:t>
            </a:r>
            <a:r>
              <a:rPr lang="es-419" sz="1200">
                <a:solidFill>
                  <a:schemeClr val="dk2"/>
                </a:solidFill>
              </a:rPr>
              <a:t> demuestran una fuerte inclinación hacia la gestión inteligente de recursos, garantizando que las aplicaciones no solo funcionen, sino que lo hagan de manera eficiente, escalable y costo-efectiva bajo diversas cargas de trabajo.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s-419" sz="1200">
                <a:solidFill>
                  <a:schemeClr val="dk2"/>
                </a:solidFill>
              </a:rPr>
              <a:t>Colaboración y Contribución Abierta:</a:t>
            </a:r>
            <a:r>
              <a:rPr lang="es-419" sz="1200">
                <a:solidFill>
                  <a:schemeClr val="dk2"/>
                </a:solidFill>
              </a:rPr>
              <a:t> La naturaleza de código abierto de muchas herramientas </a:t>
            </a:r>
            <a:r>
              <a:rPr i="1" lang="es-419" sz="1200">
                <a:solidFill>
                  <a:schemeClr val="dk2"/>
                </a:solidFill>
              </a:rPr>
              <a:t>Cloud Native</a:t>
            </a:r>
            <a:r>
              <a:rPr lang="es-419" sz="1200">
                <a:solidFill>
                  <a:schemeClr val="dk2"/>
                </a:solidFill>
              </a:rPr>
              <a:t> y la comunidad "Cómo Contribuir" fomentan un espíritu colaborativo. Se valora el intercambio de conocimientos, la participación activa en proyectos comunitarios y la construcción conjunta de soluciones.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s-419" sz="1200">
                <a:solidFill>
                  <a:schemeClr val="dk2"/>
                </a:solidFill>
              </a:rPr>
              <a:t>Resiliencia y Observabilidad:</a:t>
            </a:r>
            <a:r>
              <a:rPr lang="es-419" sz="1200">
                <a:solidFill>
                  <a:schemeClr val="dk2"/>
                </a:solidFill>
              </a:rPr>
              <a:t> Hay una profunda apreciación por la construcción de sistemas que son inherentemente robustos, capaces de recuperarse de fallos y de adaptarse dinámicamente. Esto va de la mano con la necesidad de una observabilidad profunda para entender el comportamiento del sistema en tiempo real.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s-419" sz="1200">
                <a:solidFill>
                  <a:schemeClr val="dk2"/>
                </a:solidFill>
              </a:rPr>
              <a:t>Pensamiento Global con Impacto Local (Cloud Native Guatemala):</a:t>
            </a:r>
            <a:r>
              <a:rPr lang="es-419" sz="1200">
                <a:solidFill>
                  <a:schemeClr val="dk2"/>
                </a:solidFill>
              </a:rPr>
              <a:t> Aunque las tecnologías </a:t>
            </a:r>
            <a:r>
              <a:rPr i="1" lang="es-419" sz="1200">
                <a:solidFill>
                  <a:schemeClr val="dk2"/>
                </a:solidFill>
              </a:rPr>
              <a:t>Cloud Native</a:t>
            </a:r>
            <a:r>
              <a:rPr lang="es-419" sz="1200">
                <a:solidFill>
                  <a:schemeClr val="dk2"/>
                </a:solidFill>
              </a:rPr>
              <a:t> son globales, se valora su aplicación y desarrollo en contextos locales, como en Guatemala. Esto implica construir comunidades, compartir conocimiento y aplicar estas tecnologías para resolver desafíos específicos de la región.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39688" y="326869"/>
            <a:ext cx="43992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 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269300" y="1413800"/>
            <a:ext cx="8603700" cy="35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s-419" sz="1700">
                <a:latin typeface="Arial"/>
                <a:ea typeface="Arial"/>
                <a:cs typeface="Arial"/>
                <a:sym typeface="Arial"/>
              </a:rPr>
              <a:t>El Autoscaling (HPA y VPA en Kubernetes)</a:t>
            </a:r>
            <a:r>
              <a:rPr lang="es-419" sz="1700">
                <a:latin typeface="Arial"/>
                <a:ea typeface="Arial"/>
                <a:cs typeface="Arial"/>
                <a:sym typeface="Arial"/>
              </a:rPr>
              <a:t> es esencial para optimizar recursos y garantizar disponibilidad en entornos Cloud Native, donde las aplicaciones priorizan escalabilidad, resiliencia y portabilidad mediante contenedores y microservicios.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s-419" sz="1700">
                <a:latin typeface="Arial"/>
                <a:ea typeface="Arial"/>
                <a:cs typeface="Arial"/>
                <a:sym typeface="Arial"/>
              </a:rPr>
              <a:t>Los sistemas operativos</a:t>
            </a:r>
            <a:r>
              <a:rPr lang="es-419" sz="1700">
                <a:latin typeface="Arial"/>
                <a:ea typeface="Arial"/>
                <a:cs typeface="Arial"/>
                <a:sym typeface="Arial"/>
              </a:rPr>
              <a:t> evolucionan hacia mayor seguridad y eficiencia para soportar cargas modernas, con avances en el kernel y adopción de lenguajes como Rust.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s-419" sz="1700">
                <a:latin typeface="Arial"/>
                <a:ea typeface="Arial"/>
                <a:cs typeface="Arial"/>
                <a:sym typeface="Arial"/>
              </a:rPr>
              <a:t>El ecosistema Cloud Native</a:t>
            </a:r>
            <a:r>
              <a:rPr lang="es-419" sz="1700">
                <a:latin typeface="Arial"/>
                <a:ea typeface="Arial"/>
                <a:cs typeface="Arial"/>
                <a:sym typeface="Arial"/>
              </a:rPr>
              <a:t> se basa en herramientas de código abierto (Kubernetes, Prometheus, Grafana, Istio) para monitoreo, red y gestión de servicios.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s-419" sz="1700">
                <a:latin typeface="Arial"/>
                <a:ea typeface="Arial"/>
                <a:cs typeface="Arial"/>
                <a:sym typeface="Arial"/>
              </a:rPr>
              <a:t>La contribución comunitaria (como en Cloud Native Guatemala) </a:t>
            </a:r>
            <a:r>
              <a:rPr lang="es-419" sz="1700">
                <a:latin typeface="Arial"/>
                <a:ea typeface="Arial"/>
                <a:cs typeface="Arial"/>
                <a:sym typeface="Arial"/>
              </a:rPr>
              <a:t>impulsa innovación global y local, creando un ciclo de aprendizaje y avance tecnológico.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810938" y="246094"/>
            <a:ext cx="4399200" cy="5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REFERENCIAS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161575" y="754025"/>
            <a:ext cx="8792400" cy="4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Para Autoscaling en Kubernetes (HPA y VPA):</a:t>
            </a:r>
            <a:br>
              <a:rPr b="1" lang="es-419" sz="800">
                <a:latin typeface="Arial"/>
                <a:ea typeface="Arial"/>
                <a:cs typeface="Arial"/>
                <a:sym typeface="Arial"/>
              </a:rPr>
            </a:b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Referencia: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Kubernetes. (n.d.). </a:t>
            </a:r>
            <a:r>
              <a:rPr i="1" lang="es-419" sz="800">
                <a:latin typeface="Arial"/>
                <a:ea typeface="Arial"/>
                <a:cs typeface="Arial"/>
                <a:sym typeface="Arial"/>
              </a:rPr>
              <a:t>Horizontal Pod Autoscaler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Enlace:</a:t>
            </a:r>
            <a:r>
              <a:rPr lang="es-419" sz="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s-419" sz="800" u="sng">
                <a:latin typeface="Arial"/>
                <a:ea typeface="Arial"/>
                <a:cs typeface="Arial"/>
                <a:sym typeface="Arial"/>
                <a:hlinkClick r:id="rId4"/>
              </a:rPr>
              <a:t>https://kubernetes.io/docs/tasks/run-application/horizontal-pod-autoscaler/</a:t>
            </a:r>
            <a:endParaRPr sz="800" u="sng">
              <a:latin typeface="Arial"/>
              <a:ea typeface="Arial"/>
              <a:cs typeface="Arial"/>
              <a:sym typeface="Arial"/>
            </a:endParaRPr>
          </a:p>
          <a:p>
            <a:pPr indent="-2794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Referencia: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Kubernetes. (n.d.). </a:t>
            </a:r>
            <a:r>
              <a:rPr i="1" lang="es-419" sz="800">
                <a:latin typeface="Arial"/>
                <a:ea typeface="Arial"/>
                <a:cs typeface="Arial"/>
                <a:sym typeface="Arial"/>
              </a:rPr>
              <a:t>Vertical Pod Autoscaler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Enlace:</a:t>
            </a:r>
            <a:r>
              <a:rPr lang="es-419" sz="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es-419" sz="800" u="sng">
                <a:latin typeface="Arial"/>
                <a:ea typeface="Arial"/>
                <a:cs typeface="Arial"/>
                <a:sym typeface="Arial"/>
                <a:hlinkClick r:id="rId6"/>
              </a:rPr>
              <a:t>https://github.com/kubernetes/autoscaler/tree/master/vertical-pod-autoscaler</a:t>
            </a:r>
            <a:endParaRPr sz="800" u="sng">
              <a:latin typeface="Arial"/>
              <a:ea typeface="Arial"/>
              <a:cs typeface="Arial"/>
              <a:sym typeface="Arial"/>
            </a:endParaRPr>
          </a:p>
          <a:p>
            <a:pPr indent="-2794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Nota: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La documentación oficial de Kubernetes es la fuente más autorizada para HPA y VPA.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Para Introducción a Cloud Native (Conceptos):</a:t>
            </a:r>
            <a:br>
              <a:rPr b="1" lang="es-419" sz="800">
                <a:latin typeface="Arial"/>
                <a:ea typeface="Arial"/>
                <a:cs typeface="Arial"/>
                <a:sym typeface="Arial"/>
              </a:rPr>
            </a:b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Referencia: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Cloud Native Computing Foundation (CNCF). (n.d.). </a:t>
            </a:r>
            <a:r>
              <a:rPr i="1" lang="es-419" sz="800">
                <a:latin typeface="Arial"/>
                <a:ea typeface="Arial"/>
                <a:cs typeface="Arial"/>
                <a:sym typeface="Arial"/>
              </a:rPr>
              <a:t>What is Cloud Native?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Enlace:</a:t>
            </a:r>
            <a:r>
              <a:rPr lang="es-419" sz="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lang="es-419" sz="800" u="sng">
                <a:latin typeface="Arial"/>
                <a:ea typeface="Arial"/>
                <a:cs typeface="Arial"/>
                <a:sym typeface="Arial"/>
                <a:hlinkClick r:id="rId8"/>
              </a:rPr>
              <a:t>https://cncf.io/understand/what-is-cloud-native/</a:t>
            </a:r>
            <a:endParaRPr sz="800" u="sng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Nota: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La CNCF es la organización central que define y promueve el ecosistema Cloud Native.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Para Tendencias en Sistemas Operativos (Relacionado con Cloud Native y Kernel):</a:t>
            </a:r>
            <a:br>
              <a:rPr b="1" lang="es-419" sz="800">
                <a:latin typeface="Arial"/>
                <a:ea typeface="Arial"/>
                <a:cs typeface="Arial"/>
                <a:sym typeface="Arial"/>
              </a:rPr>
            </a:b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Referencia: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Linux Foundation. (n.d.). </a:t>
            </a:r>
            <a:r>
              <a:rPr i="1" lang="es-419" sz="800">
                <a:latin typeface="Arial"/>
                <a:ea typeface="Arial"/>
                <a:cs typeface="Arial"/>
                <a:sym typeface="Arial"/>
              </a:rPr>
              <a:t>The Linux Kernel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Enlace:</a:t>
            </a:r>
            <a:r>
              <a:rPr lang="es-419" sz="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/>
              </a:rPr>
              <a:t> </a:t>
            </a:r>
            <a:r>
              <a:rPr lang="es-419" sz="800" u="sng">
                <a:latin typeface="Arial"/>
                <a:ea typeface="Arial"/>
                <a:cs typeface="Arial"/>
                <a:sym typeface="Arial"/>
                <a:hlinkClick r:id="rId10"/>
              </a:rPr>
              <a:t>https://www.linuxfoundation.org/our-work/linux-kernel</a:t>
            </a:r>
            <a:endParaRPr sz="800" u="sng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Nota: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Si bien no es un artículo específico sobre "tendencias", la evolución del kernel Linux está directamente ligada a las necesidades de Cloud Native (ej. contenedores, eBPF).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Para Herramientas Populares de Cloud Native:</a:t>
            </a:r>
            <a:br>
              <a:rPr b="1" lang="es-419" sz="800">
                <a:latin typeface="Arial"/>
                <a:ea typeface="Arial"/>
                <a:cs typeface="Arial"/>
                <a:sym typeface="Arial"/>
              </a:rPr>
            </a:b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Referencia: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CNCF. (n.d.). </a:t>
            </a:r>
            <a:r>
              <a:rPr i="1" lang="es-419" sz="800">
                <a:latin typeface="Arial"/>
                <a:ea typeface="Arial"/>
                <a:cs typeface="Arial"/>
                <a:sym typeface="Arial"/>
              </a:rPr>
              <a:t>CNCF Landscape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Enlace:</a:t>
            </a:r>
            <a:r>
              <a:rPr lang="es-419" sz="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/>
              </a:rPr>
              <a:t> </a:t>
            </a:r>
            <a:r>
              <a:rPr lang="es-419" sz="800" u="sng">
                <a:latin typeface="Arial"/>
                <a:ea typeface="Arial"/>
                <a:cs typeface="Arial"/>
                <a:sym typeface="Arial"/>
                <a:hlinkClick r:id="rId12"/>
              </a:rPr>
              <a:t>https://landscape.cncf.io/</a:t>
            </a:r>
            <a:endParaRPr sz="800" u="sng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●"/>
            </a:pPr>
            <a:r>
              <a:rPr b="1" lang="es-419" sz="800">
                <a:latin typeface="Arial"/>
                <a:ea typeface="Arial"/>
                <a:cs typeface="Arial"/>
                <a:sym typeface="Arial"/>
              </a:rPr>
              <a:t>Nota:</a:t>
            </a:r>
            <a:r>
              <a:rPr lang="es-419" sz="800">
                <a:latin typeface="Arial"/>
                <a:ea typeface="Arial"/>
                <a:cs typeface="Arial"/>
                <a:sym typeface="Arial"/>
              </a:rPr>
              <a:t> Este "mapa" visual interactivo de la CNCF muestra todas las herramientas y proyectos del ecosistema Cloud Native, agrupados por categorías. Es una excelente referencia para la popularidad y el alcance.</a:t>
            </a:r>
            <a:endParaRPr b="1" sz="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ctrTitle"/>
          </p:nvPr>
        </p:nvSpPr>
        <p:spPr>
          <a:xfrm>
            <a:off x="2210719" y="986500"/>
            <a:ext cx="31359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7"/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 txBox="1"/>
          <p:nvPr>
            <p:ph idx="1" type="subTitle"/>
          </p:nvPr>
        </p:nvSpPr>
        <p:spPr>
          <a:xfrm>
            <a:off x="3177469" y="2453078"/>
            <a:ext cx="21693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6111"/>
              <a:buNone/>
            </a:pPr>
            <a:r>
              <a:t/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5" y="0"/>
            <a:ext cx="912025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4073000" y="2102375"/>
            <a:ext cx="5644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25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GRACIAS</a:t>
            </a:r>
            <a:endParaRPr b="0" i="0" sz="25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