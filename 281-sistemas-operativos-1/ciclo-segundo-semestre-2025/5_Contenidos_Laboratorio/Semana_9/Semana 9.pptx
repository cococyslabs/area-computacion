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 id="214748367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Lst>
  <p:sldSz cy="5143500" cx="9144000"/>
  <p:notesSz cx="6858000" cy="9144000"/>
  <p:embeddedFontLst>
    <p:embeddedFont>
      <p:font typeface="Nunito"/>
      <p:regular r:id="rId38"/>
      <p:bold r:id="rId39"/>
      <p:italic r:id="rId40"/>
      <p:boldItalic r:id="rId41"/>
    </p:embeddedFont>
    <p:embeddedFont>
      <p:font typeface="Montserrat"/>
      <p:regular r:id="rId42"/>
      <p:bold r:id="rId43"/>
      <p:italic r:id="rId44"/>
      <p:boldItalic r:id="rId45"/>
    </p:embeddedFont>
    <p:embeddedFont>
      <p:font typeface="Noto Sans SC"/>
      <p:regular r:id="rId46"/>
      <p:bold r:id="rId47"/>
    </p:embeddedFont>
    <p:embeddedFont>
      <p:font typeface="Roboto Mono"/>
      <p:regular r:id="rId48"/>
      <p:bold r:id="rId49"/>
      <p:italic r:id="rId50"/>
      <p:boldItalic r:id="rId51"/>
    </p:embeddedFont>
    <p:embeddedFont>
      <p:font typeface="Open Sans"/>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6" roundtripDataSignature="AMtx7mgrP1Vsyve3Bbt0s4aoGjr7cQB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E191B6-ECD9-4958-85CB-696F7D91622E}">
  <a:tblStyle styleId="{D1E191B6-ECD9-4958-85CB-696F7D91622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AAC0921-7682-4222-963F-7E9E9224D928}"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italic.fntdata"/><Relationship Id="rId42" Type="http://schemas.openxmlformats.org/officeDocument/2006/relationships/font" Target="fonts/Montserrat-regular.fntdata"/><Relationship Id="rId41" Type="http://schemas.openxmlformats.org/officeDocument/2006/relationships/font" Target="fonts/Nunito-boldItalic.fntdata"/><Relationship Id="rId44" Type="http://schemas.openxmlformats.org/officeDocument/2006/relationships/font" Target="fonts/Montserrat-italic.fntdata"/><Relationship Id="rId43" Type="http://schemas.openxmlformats.org/officeDocument/2006/relationships/font" Target="fonts/Montserrat-bold.fntdata"/><Relationship Id="rId46" Type="http://schemas.openxmlformats.org/officeDocument/2006/relationships/font" Target="fonts/NotoSansSC-regular.fntdata"/><Relationship Id="rId45"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RobotoMono-regular.fntdata"/><Relationship Id="rId47" Type="http://schemas.openxmlformats.org/officeDocument/2006/relationships/font" Target="fonts/NotoSansSC-bold.fntdata"/><Relationship Id="rId49" Type="http://schemas.openxmlformats.org/officeDocument/2006/relationships/font" Target="fonts/RobotoMon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font" Target="fonts/Nunito-bold.fntdata"/><Relationship Id="rId38" Type="http://schemas.openxmlformats.org/officeDocument/2006/relationships/font" Target="fonts/Nunito-regular.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RobotoMono-boldItalic.fntdata"/><Relationship Id="rId50" Type="http://schemas.openxmlformats.org/officeDocument/2006/relationships/font" Target="fonts/RobotoMono-italic.fntdata"/><Relationship Id="rId53" Type="http://schemas.openxmlformats.org/officeDocument/2006/relationships/font" Target="fonts/OpenSans-bold.fntdata"/><Relationship Id="rId52" Type="http://schemas.openxmlformats.org/officeDocument/2006/relationships/font" Target="fonts/OpenSans-regular.fntdata"/><Relationship Id="rId11" Type="http://schemas.openxmlformats.org/officeDocument/2006/relationships/slide" Target="slides/slide3.xml"/><Relationship Id="rId55" Type="http://schemas.openxmlformats.org/officeDocument/2006/relationships/font" Target="fonts/OpenSans-boldItalic.fntdata"/><Relationship Id="rId10" Type="http://schemas.openxmlformats.org/officeDocument/2006/relationships/slide" Target="slides/slide2.xml"/><Relationship Id="rId54" Type="http://schemas.openxmlformats.org/officeDocument/2006/relationships/font" Target="fonts/OpenSans-italic.fntdata"/><Relationship Id="rId13" Type="http://schemas.openxmlformats.org/officeDocument/2006/relationships/slide" Target="slides/slide5.xml"/><Relationship Id="rId12" Type="http://schemas.openxmlformats.org/officeDocument/2006/relationships/slide" Target="slides/slide4.xml"/><Relationship Id="rId56" Type="http://customschemas.google.com/relationships/presentationmetadata" Target="meta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7be6bc556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75" name="Google Shape;175;g37be6bc5561_0_106: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d01d778264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3d01d778264_0_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d01d778264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609770417b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3609770417b_0_341: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01d778264_0_2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3d01d778264_0_21: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d01d778264_0_2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01d778264_0_3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d01d778264_0_3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d01d778264_0_3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d01d778264_0_5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d01d778264_0_5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g3d01d778264_0_5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04c4156d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g304c4156dc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04c4156dc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304c4156dc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4384c037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34384c037d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04c4156dc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304c4156dce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04c4156dc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304c4156dce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04c4156dc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g304c4156dce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04c4156dc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304c4156dce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04c4156dc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304c4156dce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04c4156dc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g304c4156dce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609770417b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g3609770417b_0_6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609770417b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g3609770417b_0_6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609770417b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3609770417b_0_6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609770417b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g3609770417b_0_6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01d778264_0_12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g3d01d778264_0_12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g3d01d778264_0_12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609770417b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g3609770417b_0_7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d01d778264_0_13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3d01d778264_0_13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g3d01d778264_0_13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d01d778264_0_15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g3d01d778264_0_15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g3d01d778264_0_15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609770417b_0_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g3609770417b_0_6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d01d778264_0_16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g3d01d778264_0_16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g3d01d778264_0_16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d01d778264_0_17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g3d01d778264_0_17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g3d01d778264_0_17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609770417b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g3609770417b_0_7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d01d778264_0_23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g3d01d778264_0_23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g3d01d778264_0_23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d01d778264_0_25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g3d01d778264_0_251: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g3d01d778264_0_25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g37be6bc5561_0_1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g37be6bc5561_0_1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g37be6bc5561_0_1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7be6bc5561_0_12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g37be6bc5561_0_12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37be6bc5561_0_1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7be6bc5561_0_12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g37be6bc5561_0_1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37be6bc5561_0_1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g37be6bc5561_0_12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g37be6bc5561_0_12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g37be6bc5561_0_1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g37be6bc5561_0_1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g37be6bc5561_0_1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g37be6bc5561_0_13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g37be6bc5561_0_13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g37be6bc5561_0_1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g37be6bc5561_0_14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g37be6bc5561_0_1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g37be6bc5561_0_1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g37be6bc5561_0_1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g37be6bc5561_0_1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g37be6bc5561_0_1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g37be6bc5561_0_1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g37be6bc5561_0_15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g37be6bc5561_0_1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g37be6bc5561_0_15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g37be6bc5561_0_15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g37be6bc5561_0_1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37be6bc5561_0_1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55" name="Shape 55"/>
        <p:cNvGrpSpPr/>
        <p:nvPr/>
      </p:nvGrpSpPr>
      <p:grpSpPr>
        <a:xfrm>
          <a:off x="0" y="0"/>
          <a:ext cx="0" cy="0"/>
          <a:chOff x="0" y="0"/>
          <a:chExt cx="0" cy="0"/>
        </a:xfrm>
      </p:grpSpPr>
      <p:sp>
        <p:nvSpPr>
          <p:cNvPr id="56" name="Google Shape;56;g36c73360c24_0_11"/>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g36c73360c24_0_11"/>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g36c73360c24_0_11"/>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g36c73360c24_0_11"/>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0" name="Google Shape;60;g36c73360c24_0_11"/>
          <p:cNvGrpSpPr/>
          <p:nvPr/>
        </p:nvGrpSpPr>
        <p:grpSpPr>
          <a:xfrm>
            <a:off x="255200" y="592"/>
            <a:ext cx="2250363" cy="1044300"/>
            <a:chOff x="255200" y="592"/>
            <a:chExt cx="2250363" cy="1044300"/>
          </a:xfrm>
        </p:grpSpPr>
        <p:sp>
          <p:nvSpPr>
            <p:cNvPr id="61" name="Google Shape;61;g36c73360c24_0_11"/>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36c73360c24_0_11"/>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g36c73360c24_0_11"/>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 name="Google Shape;64;g36c73360c24_0_11"/>
          <p:cNvGrpSpPr/>
          <p:nvPr/>
        </p:nvGrpSpPr>
        <p:grpSpPr>
          <a:xfrm>
            <a:off x="905395" y="592"/>
            <a:ext cx="2250363" cy="1044300"/>
            <a:chOff x="905395" y="592"/>
            <a:chExt cx="2250363" cy="1044300"/>
          </a:xfrm>
        </p:grpSpPr>
        <p:sp>
          <p:nvSpPr>
            <p:cNvPr id="65" name="Google Shape;65;g36c73360c24_0_11"/>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g36c73360c24_0_11"/>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g36c73360c24_0_11"/>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8" name="Google Shape;68;g36c73360c24_0_11"/>
          <p:cNvGrpSpPr/>
          <p:nvPr/>
        </p:nvGrpSpPr>
        <p:grpSpPr>
          <a:xfrm>
            <a:off x="7057468" y="5088"/>
            <a:ext cx="1851281" cy="752108"/>
            <a:chOff x="6917201" y="0"/>
            <a:chExt cx="2227776" cy="863400"/>
          </a:xfrm>
        </p:grpSpPr>
        <p:sp>
          <p:nvSpPr>
            <p:cNvPr id="69" name="Google Shape;69;g36c73360c24_0_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g36c73360c24_0_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g36c73360c24_0_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2" name="Google Shape;72;g36c73360c24_0_11"/>
          <p:cNvGrpSpPr/>
          <p:nvPr/>
        </p:nvGrpSpPr>
        <p:grpSpPr>
          <a:xfrm>
            <a:off x="6553032" y="4217852"/>
            <a:ext cx="2389067" cy="925737"/>
            <a:chOff x="6917201" y="0"/>
            <a:chExt cx="2227776" cy="863400"/>
          </a:xfrm>
        </p:grpSpPr>
        <p:sp>
          <p:nvSpPr>
            <p:cNvPr id="73" name="Google Shape;73;g36c73360c24_0_11"/>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g36c73360c24_0_11"/>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g36c73360c24_0_11"/>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 name="Google Shape;76;g36c73360c24_0_11"/>
          <p:cNvGrpSpPr/>
          <p:nvPr/>
        </p:nvGrpSpPr>
        <p:grpSpPr>
          <a:xfrm>
            <a:off x="199149" y="4055652"/>
            <a:ext cx="2795413" cy="1083308"/>
            <a:chOff x="6917201" y="0"/>
            <a:chExt cx="2227776" cy="863400"/>
          </a:xfrm>
        </p:grpSpPr>
        <p:sp>
          <p:nvSpPr>
            <p:cNvPr id="77" name="Google Shape;77;g36c73360c24_0_11"/>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g36c73360c24_0_11"/>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g36c73360c24_0_11"/>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0" name="Google Shape;80;g36c73360c24_0_11"/>
          <p:cNvSpPr txBox="1"/>
          <p:nvPr>
            <p:ph type="ctrTitle"/>
          </p:nvPr>
        </p:nvSpPr>
        <p:spPr>
          <a:xfrm>
            <a:off x="1858703" y="1822833"/>
            <a:ext cx="5361300" cy="1448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81" name="Google Shape;81;g36c73360c24_0_11"/>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82" name="Google Shape;82;g36c73360c24_0_1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83" name="Shape 83"/>
        <p:cNvGrpSpPr/>
        <p:nvPr/>
      </p:nvGrpSpPr>
      <p:grpSpPr>
        <a:xfrm>
          <a:off x="0" y="0"/>
          <a:ext cx="0" cy="0"/>
          <a:chOff x="0" y="0"/>
          <a:chExt cx="0" cy="0"/>
        </a:xfrm>
      </p:grpSpPr>
      <p:sp>
        <p:nvSpPr>
          <p:cNvPr id="84" name="Google Shape;84;g36c73360c24_0_51"/>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36c73360c24_0_51"/>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36c73360c24_0_5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g36c73360c24_0_51"/>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8" name="Google Shape;88;g36c73360c24_0_51"/>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89" name="Google Shape;89;g36c73360c24_0_5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90" name="Shape 90"/>
        <p:cNvGrpSpPr/>
        <p:nvPr/>
      </p:nvGrpSpPr>
      <p:grpSpPr>
        <a:xfrm>
          <a:off x="0" y="0"/>
          <a:ext cx="0" cy="0"/>
          <a:chOff x="0" y="0"/>
          <a:chExt cx="0" cy="0"/>
        </a:xfrm>
      </p:grpSpPr>
      <p:sp>
        <p:nvSpPr>
          <p:cNvPr id="91" name="Google Shape;91;g36c73360c24_0_39"/>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2" name="Google Shape;92;g36c73360c24_0_39"/>
          <p:cNvGrpSpPr/>
          <p:nvPr/>
        </p:nvGrpSpPr>
        <p:grpSpPr>
          <a:xfrm>
            <a:off x="5594191" y="3961115"/>
            <a:ext cx="2910144" cy="1182340"/>
            <a:chOff x="6917201" y="0"/>
            <a:chExt cx="2227776" cy="863400"/>
          </a:xfrm>
        </p:grpSpPr>
        <p:sp>
          <p:nvSpPr>
            <p:cNvPr id="93" name="Google Shape;93;g36c73360c24_0_39"/>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g36c73360c24_0_39"/>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g36c73360c24_0_39"/>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 name="Google Shape;96;g36c73360c24_0_39"/>
          <p:cNvGrpSpPr/>
          <p:nvPr/>
        </p:nvGrpSpPr>
        <p:grpSpPr>
          <a:xfrm>
            <a:off x="199149" y="2"/>
            <a:ext cx="2795413" cy="1083308"/>
            <a:chOff x="6917201" y="0"/>
            <a:chExt cx="2227776" cy="863400"/>
          </a:xfrm>
        </p:grpSpPr>
        <p:sp>
          <p:nvSpPr>
            <p:cNvPr id="97" name="Google Shape;97;g36c73360c24_0_39"/>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g36c73360c24_0_39"/>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g36c73360c24_0_39"/>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0" name="Google Shape;100;g36c73360c24_0_39"/>
          <p:cNvSpPr txBox="1"/>
          <p:nvPr>
            <p:ph type="title"/>
          </p:nvPr>
        </p:nvSpPr>
        <p:spPr>
          <a:xfrm>
            <a:off x="1888684" y="1746100"/>
            <a:ext cx="5377500" cy="1646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101" name="Google Shape;101;g36c73360c24_0_3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102" name="Shape 102"/>
        <p:cNvGrpSpPr/>
        <p:nvPr/>
      </p:nvGrpSpPr>
      <p:grpSpPr>
        <a:xfrm>
          <a:off x="0" y="0"/>
          <a:ext cx="0" cy="0"/>
          <a:chOff x="0" y="0"/>
          <a:chExt cx="0" cy="0"/>
        </a:xfrm>
      </p:grpSpPr>
      <p:sp>
        <p:nvSpPr>
          <p:cNvPr id="103" name="Google Shape;103;g36c73360c24_0_58"/>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g36c73360c24_0_58"/>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g36c73360c24_0_5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g36c73360c24_0_58"/>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7" name="Google Shape;107;g36c73360c24_0_58"/>
          <p:cNvSpPr txBox="1"/>
          <p:nvPr>
            <p:ph idx="1" type="body"/>
          </p:nvPr>
        </p:nvSpPr>
        <p:spPr>
          <a:xfrm>
            <a:off x="819150"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8" name="Google Shape;108;g36c73360c24_0_58"/>
          <p:cNvSpPr txBox="1"/>
          <p:nvPr>
            <p:ph idx="2" type="body"/>
          </p:nvPr>
        </p:nvSpPr>
        <p:spPr>
          <a:xfrm>
            <a:off x="4638675"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9" name="Google Shape;109;g36c73360c24_0_5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110" name="Shape 110"/>
        <p:cNvGrpSpPr/>
        <p:nvPr/>
      </p:nvGrpSpPr>
      <p:grpSpPr>
        <a:xfrm>
          <a:off x="0" y="0"/>
          <a:ext cx="0" cy="0"/>
          <a:chOff x="0" y="0"/>
          <a:chExt cx="0" cy="0"/>
        </a:xfrm>
      </p:grpSpPr>
      <p:sp>
        <p:nvSpPr>
          <p:cNvPr id="111" name="Google Shape;111;g36c73360c24_0_6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6c73360c24_0_6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g36c73360c24_0_6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g36c73360c24_0_66"/>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15" name="Google Shape;115;g36c73360c24_0_66"/>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116" name="Shape 116"/>
        <p:cNvGrpSpPr/>
        <p:nvPr/>
      </p:nvGrpSpPr>
      <p:grpSpPr>
        <a:xfrm>
          <a:off x="0" y="0"/>
          <a:ext cx="0" cy="0"/>
          <a:chOff x="0" y="0"/>
          <a:chExt cx="0" cy="0"/>
        </a:xfrm>
      </p:grpSpPr>
      <p:sp>
        <p:nvSpPr>
          <p:cNvPr id="117" name="Google Shape;117;g36c73360c24_0_72"/>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g36c73360c24_0_72"/>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g36c73360c24_0_72"/>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g36c73360c24_0_72"/>
          <p:cNvSpPr txBox="1"/>
          <p:nvPr>
            <p:ph type="title"/>
          </p:nvPr>
        </p:nvSpPr>
        <p:spPr>
          <a:xfrm>
            <a:off x="819150" y="845600"/>
            <a:ext cx="3709200" cy="1383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1" name="Google Shape;121;g36c73360c24_0_72"/>
          <p:cNvSpPr txBox="1"/>
          <p:nvPr>
            <p:ph idx="1" type="body"/>
          </p:nvPr>
        </p:nvSpPr>
        <p:spPr>
          <a:xfrm>
            <a:off x="830700" y="2319050"/>
            <a:ext cx="3709200" cy="21198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22" name="Google Shape;122;g36c73360c24_0_7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123" name="Shape 123"/>
        <p:cNvGrpSpPr/>
        <p:nvPr/>
      </p:nvGrpSpPr>
      <p:grpSpPr>
        <a:xfrm>
          <a:off x="0" y="0"/>
          <a:ext cx="0" cy="0"/>
          <a:chOff x="0" y="0"/>
          <a:chExt cx="0" cy="0"/>
        </a:xfrm>
      </p:grpSpPr>
      <p:sp>
        <p:nvSpPr>
          <p:cNvPr id="124" name="Google Shape;124;g36c73360c24_0_79"/>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g36c73360c24_0_79"/>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6" name="Google Shape;126;g36c73360c24_0_79"/>
          <p:cNvGrpSpPr/>
          <p:nvPr/>
        </p:nvGrpSpPr>
        <p:grpSpPr>
          <a:xfrm>
            <a:off x="255991" y="-118"/>
            <a:ext cx="2251347" cy="1043408"/>
            <a:chOff x="3961956" y="4383950"/>
            <a:chExt cx="1160548" cy="548700"/>
          </a:xfrm>
        </p:grpSpPr>
        <p:sp>
          <p:nvSpPr>
            <p:cNvPr id="127" name="Google Shape;127;g36c73360c24_0_79"/>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g36c73360c24_0_79"/>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g36c73360c24_0_79"/>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0" name="Google Shape;130;g36c73360c24_0_7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1" name="Google Shape;131;g36c73360c24_0_79"/>
          <p:cNvGrpSpPr/>
          <p:nvPr/>
        </p:nvGrpSpPr>
        <p:grpSpPr>
          <a:xfrm>
            <a:off x="34934" y="4522125"/>
            <a:ext cx="1593305" cy="617072"/>
            <a:chOff x="6917201" y="0"/>
            <a:chExt cx="2227776" cy="863400"/>
          </a:xfrm>
        </p:grpSpPr>
        <p:sp>
          <p:nvSpPr>
            <p:cNvPr id="132" name="Google Shape;132;g36c73360c24_0_79"/>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6c73360c24_0_79"/>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g36c73360c24_0_79"/>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5" name="Google Shape;135;g36c73360c24_0_79"/>
          <p:cNvGrpSpPr/>
          <p:nvPr/>
        </p:nvGrpSpPr>
        <p:grpSpPr>
          <a:xfrm>
            <a:off x="5886353" y="1243"/>
            <a:ext cx="3257454" cy="1261514"/>
            <a:chOff x="6917201" y="0"/>
            <a:chExt cx="2227776" cy="863400"/>
          </a:xfrm>
        </p:grpSpPr>
        <p:sp>
          <p:nvSpPr>
            <p:cNvPr id="136" name="Google Shape;136;g36c73360c24_0_79"/>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g36c73360c24_0_79"/>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g36c73360c24_0_79"/>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9" name="Google Shape;139;g36c73360c24_0_79"/>
          <p:cNvSpPr txBox="1"/>
          <p:nvPr>
            <p:ph type="title"/>
          </p:nvPr>
        </p:nvSpPr>
        <p:spPr>
          <a:xfrm>
            <a:off x="1393929" y="1301146"/>
            <a:ext cx="6366900" cy="2539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140" name="Google Shape;140;g36c73360c24_0_7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141" name="Shape 141"/>
        <p:cNvGrpSpPr/>
        <p:nvPr/>
      </p:nvGrpSpPr>
      <p:grpSpPr>
        <a:xfrm>
          <a:off x="0" y="0"/>
          <a:ext cx="0" cy="0"/>
          <a:chOff x="0" y="0"/>
          <a:chExt cx="0" cy="0"/>
        </a:xfrm>
      </p:grpSpPr>
      <p:sp>
        <p:nvSpPr>
          <p:cNvPr id="142" name="Google Shape;142;g36c73360c24_0_9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36c73360c24_0_97"/>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g36c73360c24_0_9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g36c73360c24_0_97"/>
          <p:cNvSpPr txBox="1"/>
          <p:nvPr>
            <p:ph type="title"/>
          </p:nvPr>
        </p:nvSpPr>
        <p:spPr>
          <a:xfrm>
            <a:off x="819150" y="845600"/>
            <a:ext cx="6424200" cy="705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46" name="Google Shape;146;g36c73360c24_0_97"/>
          <p:cNvSpPr txBox="1"/>
          <p:nvPr>
            <p:ph idx="1" type="subTitle"/>
          </p:nvPr>
        </p:nvSpPr>
        <p:spPr>
          <a:xfrm>
            <a:off x="819150" y="1550700"/>
            <a:ext cx="5859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147" name="Google Shape;147;g36c73360c24_0_97"/>
          <p:cNvSpPr txBox="1"/>
          <p:nvPr>
            <p:ph idx="2" type="body"/>
          </p:nvPr>
        </p:nvSpPr>
        <p:spPr>
          <a:xfrm>
            <a:off x="819150" y="2467050"/>
            <a:ext cx="5859900" cy="209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48" name="Google Shape;148;g36c73360c24_0_9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49" name="Shape 149"/>
        <p:cNvGrpSpPr/>
        <p:nvPr/>
      </p:nvGrpSpPr>
      <p:grpSpPr>
        <a:xfrm>
          <a:off x="0" y="0"/>
          <a:ext cx="0" cy="0"/>
          <a:chOff x="0" y="0"/>
          <a:chExt cx="0" cy="0"/>
        </a:xfrm>
      </p:grpSpPr>
      <p:sp>
        <p:nvSpPr>
          <p:cNvPr id="150" name="Google Shape;150;g36c73360c24_0_105"/>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6c73360c24_0_105"/>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36c73360c24_0_10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36c73360c24_0_105"/>
          <p:cNvSpPr txBox="1"/>
          <p:nvPr>
            <p:ph idx="1" type="body"/>
          </p:nvPr>
        </p:nvSpPr>
        <p:spPr>
          <a:xfrm>
            <a:off x="328025" y="4163500"/>
            <a:ext cx="7415100" cy="605100"/>
          </a:xfrm>
          <a:prstGeom prst="rect">
            <a:avLst/>
          </a:prstGeom>
          <a:noFill/>
          <a:ln>
            <a:noFill/>
          </a:ln>
        </p:spPr>
        <p:txBody>
          <a:bodyPr anchorCtr="0" anchor="b"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54" name="Google Shape;154;g36c73360c24_0_105"/>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55" name="Shape 155"/>
        <p:cNvGrpSpPr/>
        <p:nvPr/>
      </p:nvGrpSpPr>
      <p:grpSpPr>
        <a:xfrm>
          <a:off x="0" y="0"/>
          <a:ext cx="0" cy="0"/>
          <a:chOff x="0" y="0"/>
          <a:chExt cx="0" cy="0"/>
        </a:xfrm>
      </p:grpSpPr>
      <p:sp>
        <p:nvSpPr>
          <p:cNvPr id="156" name="Google Shape;156;g36c73360c24_0_1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7" name="Google Shape;157;g36c73360c24_0_111"/>
          <p:cNvGrpSpPr/>
          <p:nvPr/>
        </p:nvGrpSpPr>
        <p:grpSpPr>
          <a:xfrm>
            <a:off x="5959222" y="4119576"/>
            <a:ext cx="2520951" cy="1024165"/>
            <a:chOff x="6917201" y="0"/>
            <a:chExt cx="2227776" cy="863400"/>
          </a:xfrm>
        </p:grpSpPr>
        <p:sp>
          <p:nvSpPr>
            <p:cNvPr id="158" name="Google Shape;158;g36c73360c24_0_1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36c73360c24_0_1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g36c73360c24_0_1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 name="Google Shape;161;g36c73360c24_0_111"/>
          <p:cNvGrpSpPr/>
          <p:nvPr/>
        </p:nvGrpSpPr>
        <p:grpSpPr>
          <a:xfrm>
            <a:off x="199149" y="2"/>
            <a:ext cx="2795413" cy="1083308"/>
            <a:chOff x="6917201" y="0"/>
            <a:chExt cx="2227776" cy="863400"/>
          </a:xfrm>
        </p:grpSpPr>
        <p:sp>
          <p:nvSpPr>
            <p:cNvPr id="162" name="Google Shape;162;g36c73360c24_0_1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36c73360c24_0_1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36c73360c24_0_1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5" name="Google Shape;165;g36c73360c24_0_111"/>
          <p:cNvSpPr txBox="1"/>
          <p:nvPr>
            <p:ph hasCustomPrompt="1" type="title"/>
          </p:nvPr>
        </p:nvSpPr>
        <p:spPr>
          <a:xfrm>
            <a:off x="1385850" y="1383850"/>
            <a:ext cx="6372300" cy="1379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166" name="Google Shape;166;g36c73360c24_0_111"/>
          <p:cNvSpPr txBox="1"/>
          <p:nvPr>
            <p:ph idx="1" type="body"/>
          </p:nvPr>
        </p:nvSpPr>
        <p:spPr>
          <a:xfrm>
            <a:off x="1385850" y="2863850"/>
            <a:ext cx="6372300" cy="641100"/>
          </a:xfrm>
          <a:prstGeom prst="rect">
            <a:avLst/>
          </a:prstGeom>
          <a:noFill/>
          <a:ln>
            <a:noFill/>
          </a:ln>
        </p:spPr>
        <p:txBody>
          <a:bodyPr anchorCtr="0" anchor="t" bIns="91425" lIns="91425" spcFirstLastPara="1" rIns="91425" wrap="square" tIns="91425">
            <a:normAutofit/>
          </a:bodyPr>
          <a:lstStyle>
            <a:lvl1pPr indent="-311150" lvl="0" marL="457200" algn="ctr">
              <a:lnSpc>
                <a:spcPct val="115000"/>
              </a:lnSpc>
              <a:spcBef>
                <a:spcPts val="0"/>
              </a:spcBef>
              <a:spcAft>
                <a:spcPts val="0"/>
              </a:spcAft>
              <a:buSzPts val="1300"/>
              <a:buChar char="●"/>
              <a:defRPr/>
            </a:lvl1pPr>
            <a:lvl2pPr indent="-298450" lvl="1" marL="914400" algn="ctr">
              <a:lnSpc>
                <a:spcPct val="115000"/>
              </a:lnSpc>
              <a:spcBef>
                <a:spcPts val="0"/>
              </a:spcBef>
              <a:spcAft>
                <a:spcPts val="0"/>
              </a:spcAft>
              <a:buSzPts val="1100"/>
              <a:buChar char="○"/>
              <a:defRPr/>
            </a:lvl2pPr>
            <a:lvl3pPr indent="-298450" lvl="2" marL="1371600" algn="ctr">
              <a:lnSpc>
                <a:spcPct val="115000"/>
              </a:lnSpc>
              <a:spcBef>
                <a:spcPts val="0"/>
              </a:spcBef>
              <a:spcAft>
                <a:spcPts val="0"/>
              </a:spcAft>
              <a:buSzPts val="1100"/>
              <a:buChar char="■"/>
              <a:defRPr/>
            </a:lvl3pPr>
            <a:lvl4pPr indent="-298450" lvl="3" marL="1828800" algn="ctr">
              <a:lnSpc>
                <a:spcPct val="115000"/>
              </a:lnSpc>
              <a:spcBef>
                <a:spcPts val="0"/>
              </a:spcBef>
              <a:spcAft>
                <a:spcPts val="0"/>
              </a:spcAft>
              <a:buSzPts val="1100"/>
              <a:buChar char="●"/>
              <a:defRPr/>
            </a:lvl4pPr>
            <a:lvl5pPr indent="-298450" lvl="4" marL="2286000" algn="ctr">
              <a:lnSpc>
                <a:spcPct val="115000"/>
              </a:lnSpc>
              <a:spcBef>
                <a:spcPts val="0"/>
              </a:spcBef>
              <a:spcAft>
                <a:spcPts val="0"/>
              </a:spcAft>
              <a:buSzPts val="1100"/>
              <a:buChar char="○"/>
              <a:defRPr/>
            </a:lvl5pPr>
            <a:lvl6pPr indent="-298450" lvl="5" marL="2743200" algn="ctr">
              <a:lnSpc>
                <a:spcPct val="115000"/>
              </a:lnSpc>
              <a:spcBef>
                <a:spcPts val="0"/>
              </a:spcBef>
              <a:spcAft>
                <a:spcPts val="0"/>
              </a:spcAft>
              <a:buSzPts val="1100"/>
              <a:buChar char="■"/>
              <a:defRPr/>
            </a:lvl6pPr>
            <a:lvl7pPr indent="-298450" lvl="6" marL="3200400" algn="ctr">
              <a:lnSpc>
                <a:spcPct val="115000"/>
              </a:lnSpc>
              <a:spcBef>
                <a:spcPts val="0"/>
              </a:spcBef>
              <a:spcAft>
                <a:spcPts val="0"/>
              </a:spcAft>
              <a:buSzPts val="1100"/>
              <a:buChar char="●"/>
              <a:defRPr/>
            </a:lvl7pPr>
            <a:lvl8pPr indent="-298450" lvl="7" marL="3657600" algn="ctr">
              <a:lnSpc>
                <a:spcPct val="115000"/>
              </a:lnSpc>
              <a:spcBef>
                <a:spcPts val="0"/>
              </a:spcBef>
              <a:spcAft>
                <a:spcPts val="0"/>
              </a:spcAft>
              <a:buSzPts val="1100"/>
              <a:buChar char="○"/>
              <a:defRPr/>
            </a:lvl8pPr>
            <a:lvl9pPr indent="-298450" lvl="8" marL="4114800" algn="ctr">
              <a:lnSpc>
                <a:spcPct val="115000"/>
              </a:lnSpc>
              <a:spcBef>
                <a:spcPts val="0"/>
              </a:spcBef>
              <a:spcAft>
                <a:spcPts val="0"/>
              </a:spcAft>
              <a:buSzPts val="1100"/>
              <a:buChar char="■"/>
              <a:defRPr/>
            </a:lvl9pPr>
          </a:lstStyle>
          <a:p/>
        </p:txBody>
      </p:sp>
      <p:sp>
        <p:nvSpPr>
          <p:cNvPr id="167" name="Google Shape;167;g36c73360c24_0_11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8" name="Shape 168"/>
        <p:cNvGrpSpPr/>
        <p:nvPr/>
      </p:nvGrpSpPr>
      <p:grpSpPr>
        <a:xfrm>
          <a:off x="0" y="0"/>
          <a:ext cx="0" cy="0"/>
          <a:chOff x="0" y="0"/>
          <a:chExt cx="0" cy="0"/>
        </a:xfrm>
      </p:grpSpPr>
      <p:sp>
        <p:nvSpPr>
          <p:cNvPr id="169" name="Google Shape;169;g36c73360c24_0_12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1" name="Shape 171"/>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PTIST_MASTER">
  <p:cSld name="PPTIST_MASTER">
    <p:bg>
      <p:bgPr>
        <a:solidFill>
          <a:srgbClr val="FFFFFF"/>
        </a:solidFill>
      </p:bgPr>
    </p:bg>
    <p:spTree>
      <p:nvGrpSpPr>
        <p:cNvPr id="172" name="Shape 17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7be6bc5561_0_1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37be6bc5561_0_1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37be6bc5561_0_1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1" name="Shape 51"/>
        <p:cNvGrpSpPr/>
        <p:nvPr/>
      </p:nvGrpSpPr>
      <p:grpSpPr>
        <a:xfrm>
          <a:off x="0" y="0"/>
          <a:ext cx="0" cy="0"/>
          <a:chOff x="0" y="0"/>
          <a:chExt cx="0" cy="0"/>
        </a:xfrm>
      </p:grpSpPr>
      <p:sp>
        <p:nvSpPr>
          <p:cNvPr id="52" name="Google Shape;52;g36c73360c24_0_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9pPr>
          </a:lstStyle>
          <a:p/>
        </p:txBody>
      </p:sp>
      <p:sp>
        <p:nvSpPr>
          <p:cNvPr id="53" name="Google Shape;53;g36c73360c24_0_7"/>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Calibri"/>
              <a:buChar char="●"/>
              <a:defRPr b="0" i="0" sz="1300" u="none" cap="none" strike="noStrike">
                <a:solidFill>
                  <a:schemeClr val="dk2"/>
                </a:solidFill>
                <a:latin typeface="Calibri"/>
                <a:ea typeface="Calibri"/>
                <a:cs typeface="Calibri"/>
                <a:sym typeface="Calibri"/>
              </a:defRPr>
            </a:lvl1pPr>
            <a:lvl2pPr indent="-298450" lvl="1" marL="914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2pPr>
            <a:lvl3pPr indent="-298450" lvl="2" marL="1371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3pPr>
            <a:lvl4pPr indent="-298450" lvl="3" marL="1828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4pPr>
            <a:lvl5pPr indent="-298450" lvl="4" marL="22860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5pPr>
            <a:lvl6pPr indent="-298450" lvl="5" marL="27432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6pPr>
            <a:lvl7pPr indent="-298450" lvl="6" marL="3200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7pPr>
            <a:lvl8pPr indent="-298450" lvl="7" marL="3657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8pPr>
            <a:lvl9pPr indent="-298450" lvl="8" marL="4114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9pPr>
          </a:lstStyle>
          <a:p/>
        </p:txBody>
      </p:sp>
      <p:sp>
        <p:nvSpPr>
          <p:cNvPr id="54" name="Google Shape;54;g36c73360c24_0_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4" r:id="rId1"/>
    <p:sldLayoutId id="214748367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hyperlink" Target="http://www.youtube.com/watch?v=qgnDbQ1aM54" TargetMode="External"/><Relationship Id="rId5"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hyperlink" Target="https://github.com/JoseLorenzana272/LAB-SO1-1S2026/tree/main/ejemplo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 Id="rId3" Type="http://schemas.openxmlformats.org/officeDocument/2006/relationships/image" Target="../media/image1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hyperlink" Target="https://www.geeksforgeeks.org/race-condition-in-operating-system/" TargetMode="External"/><Relationship Id="rId4" Type="http://schemas.openxmlformats.org/officeDocument/2006/relationships/hyperlink" Target="https://www.redhat.com/en/topics/integration/what-is-grpc" TargetMode="External"/><Relationship Id="rId5" Type="http://schemas.openxmlformats.org/officeDocument/2006/relationships/hyperlink" Target="https://www.ibm.com/cloud/learn/kubernetes" TargetMode="External"/><Relationship Id="rId6" Type="http://schemas.openxmlformats.org/officeDocument/2006/relationships/hyperlink" Target="https://kubernetes.io/docs/concepts/" TargetMode="External"/><Relationship Id="rId7" Type="http://schemas.openxmlformats.org/officeDocument/2006/relationships/hyperlink" Target="https://stackoverflow.com/questions/42220166/what-are-the-different-types-of-services-in-kubernete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g37be6bc5561_0_10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178" name="Google Shape;178;g37be6bc5561_0_106"/>
          <p:cNvGraphicFramePr/>
          <p:nvPr/>
        </p:nvGraphicFramePr>
        <p:xfrm>
          <a:off x="5328200" y="970025"/>
          <a:ext cx="3000000" cy="3000000"/>
        </p:xfrm>
        <a:graphic>
          <a:graphicData uri="http://schemas.openxmlformats.org/drawingml/2006/table">
            <a:tbl>
              <a:tblPr>
                <a:noFill/>
                <a:tableStyleId>{D1E191B6-ECD9-4958-85CB-696F7D91622E}</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solidFill>
                            <a:schemeClr val="dk1"/>
                          </a:solidFill>
                        </a:rPr>
                        <a:t>Día, Fecha:</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a:t>09/04/2026</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solidFill>
                            <a:schemeClr val="dk1"/>
                          </a:solidFill>
                        </a:rPr>
                        <a:t>Hora de inicio:</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179" name="Google Shape;179;g37be6bc5561_0_106"/>
          <p:cNvSpPr txBox="1"/>
          <p:nvPr/>
        </p:nvSpPr>
        <p:spPr>
          <a:xfrm>
            <a:off x="2538600" y="2287050"/>
            <a:ext cx="4368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s" sz="2500" u="none" cap="none" strike="noStrike">
                <a:solidFill>
                  <a:srgbClr val="000000"/>
                </a:solidFill>
                <a:latin typeface="Arial"/>
                <a:ea typeface="Arial"/>
                <a:cs typeface="Arial"/>
                <a:sym typeface="Arial"/>
              </a:rPr>
              <a:t>Sistemas Operativos 1 [P]</a:t>
            </a:r>
            <a:endParaRPr b="1" i="0" sz="2500" u="none" cap="none" strike="noStrike">
              <a:solidFill>
                <a:srgbClr val="000000"/>
              </a:solidFill>
              <a:latin typeface="Arial"/>
              <a:ea typeface="Arial"/>
              <a:cs typeface="Arial"/>
              <a:sym typeface="Arial"/>
            </a:endParaRPr>
          </a:p>
        </p:txBody>
      </p:sp>
      <p:sp>
        <p:nvSpPr>
          <p:cNvPr id="180" name="Google Shape;180;g37be6bc5561_0_106"/>
          <p:cNvSpPr txBox="1"/>
          <p:nvPr/>
        </p:nvSpPr>
        <p:spPr>
          <a:xfrm>
            <a:off x="1778713" y="2856481"/>
            <a:ext cx="55866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s" sz="2600" u="none" cap="none" strike="noStrike">
                <a:solidFill>
                  <a:srgbClr val="000000"/>
                </a:solidFill>
                <a:latin typeface="Arial"/>
                <a:ea typeface="Arial"/>
                <a:cs typeface="Arial"/>
                <a:sym typeface="Arial"/>
              </a:rPr>
              <a:t>Edgar Rolando Alvarez Rodriguez</a:t>
            </a:r>
            <a:endParaRPr b="1" i="0" sz="2600" u="none" cap="none" strike="noStrike">
              <a:solidFill>
                <a:srgbClr val="000000"/>
              </a:solidFill>
              <a:latin typeface="Arial"/>
              <a:ea typeface="Arial"/>
              <a:cs typeface="Arial"/>
              <a:sym typeface="Arial"/>
            </a:endParaRPr>
          </a:p>
        </p:txBody>
      </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181" name="Google Shape;181;g37be6bc5561_0_106" title="5 Minute Timer">
            <a:hlinkClick r:id="rId4"/>
          </p:cNvPr>
          <p:cNvPicPr preferRelativeResize="0"/>
          <p:nvPr/>
        </p:nvPicPr>
        <p:blipFill rotWithShape="1">
          <a:blip r:embed="rId5">
            <a:alphaModFix/>
          </a:blip>
          <a:srcRect b="0" l="0" r="0" t="0"/>
          <a:stretch/>
        </p:blipFill>
        <p:spPr>
          <a:xfrm>
            <a:off x="7239000" y="4071938"/>
            <a:ext cx="1905000" cy="10715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186" name="Shape 186"/>
        <p:cNvGrpSpPr/>
        <p:nvPr/>
      </p:nvGrpSpPr>
      <p:grpSpPr>
        <a:xfrm>
          <a:off x="0" y="0"/>
          <a:ext cx="0" cy="0"/>
          <a:chOff x="0" y="0"/>
          <a:chExt cx="0" cy="0"/>
        </a:xfrm>
      </p:grpSpPr>
      <p:sp>
        <p:nvSpPr>
          <p:cNvPr id="187" name="Google Shape;187;g3d01d778264_0_0"/>
          <p:cNvSpPr/>
          <p:nvPr/>
        </p:nvSpPr>
        <p:spPr>
          <a:xfrm>
            <a:off x="485873" y="377494"/>
            <a:ext cx="80100" cy="80100"/>
          </a:xfrm>
          <a:prstGeom prst="ellipse">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 name="Google Shape;188;g3d01d778264_0_0"/>
          <p:cNvSpPr/>
          <p:nvPr/>
        </p:nvSpPr>
        <p:spPr>
          <a:xfrm>
            <a:off x="485873" y="377494"/>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189" name="Google Shape;189;g3d01d778264_0_0"/>
          <p:cNvSpPr/>
          <p:nvPr/>
        </p:nvSpPr>
        <p:spPr>
          <a:xfrm>
            <a:off x="698756" y="377494"/>
            <a:ext cx="80100" cy="80100"/>
          </a:xfrm>
          <a:prstGeom prst="ellipse">
            <a:avLst/>
          </a:prstGeom>
          <a:solidFill>
            <a:srgbClr val="000000">
              <a:alpha val="0"/>
            </a:srgbClr>
          </a:solidFill>
          <a:ln cap="flat" cmpd="sng" w="143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0" name="Google Shape;190;g3d01d778264_0_0"/>
          <p:cNvSpPr/>
          <p:nvPr/>
        </p:nvSpPr>
        <p:spPr>
          <a:xfrm>
            <a:off x="698756" y="377494"/>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191" name="Google Shape;191;g3d01d778264_0_0"/>
          <p:cNvSpPr/>
          <p:nvPr/>
        </p:nvSpPr>
        <p:spPr>
          <a:xfrm>
            <a:off x="911640" y="377494"/>
            <a:ext cx="80100" cy="80100"/>
          </a:xfrm>
          <a:prstGeom prst="ellipse">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 name="Google Shape;192;g3d01d778264_0_0"/>
          <p:cNvSpPr/>
          <p:nvPr/>
        </p:nvSpPr>
        <p:spPr>
          <a:xfrm>
            <a:off x="911640" y="377494"/>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193" name="Google Shape;193;g3d01d778264_0_0"/>
          <p:cNvSpPr/>
          <p:nvPr/>
        </p:nvSpPr>
        <p:spPr>
          <a:xfrm>
            <a:off x="1124524" y="377494"/>
            <a:ext cx="80100" cy="80100"/>
          </a:xfrm>
          <a:prstGeom prst="ellipse">
            <a:avLst/>
          </a:prstGeom>
          <a:solidFill>
            <a:srgbClr val="000000">
              <a:alpha val="0"/>
            </a:srgbClr>
          </a:solidFill>
          <a:ln cap="flat" cmpd="sng" w="143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4" name="Google Shape;194;g3d01d778264_0_0"/>
          <p:cNvSpPr/>
          <p:nvPr/>
        </p:nvSpPr>
        <p:spPr>
          <a:xfrm>
            <a:off x="1124524" y="377494"/>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195" name="Google Shape;195;g3d01d778264_0_0"/>
          <p:cNvSpPr/>
          <p:nvPr/>
        </p:nvSpPr>
        <p:spPr>
          <a:xfrm>
            <a:off x="1337408" y="377494"/>
            <a:ext cx="80100" cy="80100"/>
          </a:xfrm>
          <a:prstGeom prst="ellipse">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g3d01d778264_0_0"/>
          <p:cNvSpPr/>
          <p:nvPr/>
        </p:nvSpPr>
        <p:spPr>
          <a:xfrm>
            <a:off x="1337408" y="377494"/>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197" name="Google Shape;197;g3d01d778264_0_0"/>
          <p:cNvSpPr/>
          <p:nvPr/>
        </p:nvSpPr>
        <p:spPr>
          <a:xfrm>
            <a:off x="1550291" y="377494"/>
            <a:ext cx="80100" cy="80100"/>
          </a:xfrm>
          <a:prstGeom prst="ellipse">
            <a:avLst/>
          </a:prstGeom>
          <a:solidFill>
            <a:srgbClr val="000000">
              <a:alpha val="0"/>
            </a:srgbClr>
          </a:solidFill>
          <a:ln cap="flat" cmpd="sng" w="143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 name="Google Shape;198;g3d01d778264_0_0"/>
          <p:cNvSpPr/>
          <p:nvPr/>
        </p:nvSpPr>
        <p:spPr>
          <a:xfrm>
            <a:off x="1550291" y="377494"/>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pic>
        <p:nvPicPr>
          <p:cNvPr descr="https://kimi-img.moonshot.cn/pub/slides/slides_tmpl/image/25-08-27-20:09:25-d2nfat98bjvh7rlj0j20.png" id="199" name="Google Shape;199;g3d01d778264_0_0"/>
          <p:cNvPicPr preferRelativeResize="0"/>
          <p:nvPr/>
        </p:nvPicPr>
        <p:blipFill rotWithShape="1">
          <a:blip r:embed="rId3">
            <a:alphaModFix amt="40000"/>
          </a:blip>
          <a:srcRect b="309" l="10088" r="0" t="-40"/>
          <a:stretch/>
        </p:blipFill>
        <p:spPr>
          <a:xfrm>
            <a:off x="5322094" y="-19602"/>
            <a:ext cx="3821906" cy="5163103"/>
          </a:xfrm>
          <a:prstGeom prst="rect">
            <a:avLst/>
          </a:prstGeom>
          <a:noFill/>
          <a:ln>
            <a:noFill/>
          </a:ln>
        </p:spPr>
      </p:pic>
      <p:sp>
        <p:nvSpPr>
          <p:cNvPr id="200" name="Google Shape;200;g3d01d778264_0_0"/>
          <p:cNvSpPr txBox="1"/>
          <p:nvPr/>
        </p:nvSpPr>
        <p:spPr>
          <a:xfrm>
            <a:off x="485869" y="4051388"/>
            <a:ext cx="3413700" cy="200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s" sz="1300">
                <a:solidFill>
                  <a:schemeClr val="lt1"/>
                </a:solidFill>
              </a:rPr>
              <a:t>LABORATORIO SISTEMAS OPERATIVOS 1</a:t>
            </a:r>
            <a:endParaRPr b="1" sz="1300">
              <a:solidFill>
                <a:schemeClr val="lt1"/>
              </a:solidFill>
            </a:endParaRPr>
          </a:p>
        </p:txBody>
      </p:sp>
      <p:sp>
        <p:nvSpPr>
          <p:cNvPr id="201" name="Google Shape;201;g3d01d778264_0_0"/>
          <p:cNvSpPr txBox="1"/>
          <p:nvPr/>
        </p:nvSpPr>
        <p:spPr>
          <a:xfrm>
            <a:off x="485869" y="4297725"/>
            <a:ext cx="2618100" cy="7203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900"/>
              <a:buFont typeface="Arial"/>
              <a:buNone/>
            </a:pPr>
            <a:r>
              <a:rPr b="1" lang="es" sz="900">
                <a:solidFill>
                  <a:schemeClr val="lt1"/>
                </a:solidFill>
                <a:latin typeface="Open Sans"/>
                <a:ea typeface="Open Sans"/>
                <a:cs typeface="Open Sans"/>
                <a:sym typeface="Open Sans"/>
              </a:rPr>
              <a:t>E</a:t>
            </a:r>
            <a:r>
              <a:rPr b="1" i="0" lang="es" sz="900" u="none" cap="none" strike="noStrike">
                <a:solidFill>
                  <a:schemeClr val="lt1"/>
                </a:solidFill>
                <a:latin typeface="Open Sans"/>
                <a:ea typeface="Open Sans"/>
                <a:cs typeface="Open Sans"/>
                <a:sym typeface="Open Sans"/>
              </a:rPr>
              <a:t>scuela de </a:t>
            </a:r>
            <a:r>
              <a:rPr b="1" lang="es" sz="900">
                <a:solidFill>
                  <a:schemeClr val="lt1"/>
                </a:solidFill>
                <a:latin typeface="Open Sans"/>
                <a:ea typeface="Open Sans"/>
                <a:cs typeface="Open Sans"/>
                <a:sym typeface="Open Sans"/>
              </a:rPr>
              <a:t>Ingeniería</a:t>
            </a:r>
            <a:r>
              <a:rPr b="1" i="0" lang="es" sz="900" u="none" cap="none" strike="noStrike">
                <a:solidFill>
                  <a:schemeClr val="lt1"/>
                </a:solidFill>
                <a:latin typeface="Open Sans"/>
                <a:ea typeface="Open Sans"/>
                <a:cs typeface="Open Sans"/>
                <a:sym typeface="Open Sans"/>
              </a:rPr>
              <a:t> de Ciencias Y Sistemas</a:t>
            </a:r>
            <a:endParaRPr b="1" i="0" sz="900" u="none" cap="none" strike="noStrike">
              <a:solidFill>
                <a:schemeClr val="lt1"/>
              </a:solidFill>
              <a:latin typeface="Open Sans"/>
              <a:ea typeface="Open Sans"/>
              <a:cs typeface="Open Sans"/>
              <a:sym typeface="Open Sans"/>
            </a:endParaRPr>
          </a:p>
          <a:p>
            <a:pPr indent="0" lvl="0" marL="0" rtl="0" algn="l">
              <a:lnSpc>
                <a:spcPct val="140016"/>
              </a:lnSpc>
              <a:spcBef>
                <a:spcPts val="0"/>
              </a:spcBef>
              <a:spcAft>
                <a:spcPts val="0"/>
              </a:spcAft>
              <a:buClr>
                <a:schemeClr val="dk1"/>
              </a:buClr>
              <a:buSzPts val="900"/>
              <a:buFont typeface="Arial"/>
              <a:buNone/>
            </a:pPr>
            <a:r>
              <a:rPr b="1" lang="es" sz="900">
                <a:solidFill>
                  <a:schemeClr val="lt1"/>
                </a:solidFill>
                <a:latin typeface="Open Sans"/>
                <a:ea typeface="Open Sans"/>
                <a:cs typeface="Open Sans"/>
                <a:sym typeface="Open Sans"/>
              </a:rPr>
              <a:t>Facultad de Ingeniería</a:t>
            </a:r>
            <a:endParaRPr b="1" sz="900">
              <a:solidFill>
                <a:schemeClr val="lt1"/>
              </a:solidFill>
              <a:latin typeface="Open Sans"/>
              <a:ea typeface="Open Sans"/>
              <a:cs typeface="Open Sans"/>
              <a:sym typeface="Open Sans"/>
            </a:endParaRPr>
          </a:p>
          <a:p>
            <a:pPr indent="0" lvl="0" marL="0" rtl="0" algn="l">
              <a:lnSpc>
                <a:spcPct val="140016"/>
              </a:lnSpc>
              <a:spcBef>
                <a:spcPts val="0"/>
              </a:spcBef>
              <a:spcAft>
                <a:spcPts val="0"/>
              </a:spcAft>
              <a:buClr>
                <a:schemeClr val="dk1"/>
              </a:buClr>
              <a:buSzPts val="900"/>
              <a:buFont typeface="Arial"/>
              <a:buNone/>
            </a:pPr>
            <a:r>
              <a:rPr b="1" lang="es" sz="900">
                <a:solidFill>
                  <a:schemeClr val="lt1"/>
                </a:solidFill>
                <a:latin typeface="Open Sans"/>
                <a:ea typeface="Open Sans"/>
                <a:cs typeface="Open Sans"/>
                <a:sym typeface="Open Sans"/>
              </a:rPr>
              <a:t>Universidad de San Carlos de Guatemala</a:t>
            </a:r>
            <a:endParaRPr b="1" sz="900">
              <a:solidFill>
                <a:schemeClr val="lt1"/>
              </a:solidFill>
              <a:latin typeface="Open Sans"/>
              <a:ea typeface="Open Sans"/>
              <a:cs typeface="Open Sans"/>
              <a:sym typeface="Open Sans"/>
            </a:endParaRPr>
          </a:p>
          <a:p>
            <a:pPr indent="0" lvl="0" marL="0" marR="0" rtl="0" algn="l">
              <a:lnSpc>
                <a:spcPct val="140016"/>
              </a:lnSpc>
              <a:spcBef>
                <a:spcPts val="0"/>
              </a:spcBef>
              <a:spcAft>
                <a:spcPts val="0"/>
              </a:spcAft>
              <a:buClr>
                <a:srgbClr val="000000"/>
              </a:buClr>
              <a:buSzPts val="900"/>
              <a:buFont typeface="Arial"/>
              <a:buNone/>
            </a:pPr>
            <a:r>
              <a:t/>
            </a:r>
            <a:endParaRPr b="1" sz="900">
              <a:solidFill>
                <a:schemeClr val="lt1"/>
              </a:solidFill>
              <a:latin typeface="Open Sans"/>
              <a:ea typeface="Open Sans"/>
              <a:cs typeface="Open Sans"/>
              <a:sym typeface="Open Sans"/>
            </a:endParaRPr>
          </a:p>
        </p:txBody>
      </p:sp>
      <p:sp>
        <p:nvSpPr>
          <p:cNvPr id="202" name="Google Shape;202;g3d01d778264_0_0"/>
          <p:cNvSpPr txBox="1"/>
          <p:nvPr/>
        </p:nvSpPr>
        <p:spPr>
          <a:xfrm>
            <a:off x="398138" y="1615246"/>
            <a:ext cx="6917100" cy="18357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b="1" lang="es" sz="3700">
                <a:solidFill>
                  <a:schemeClr val="lt1"/>
                </a:solidFill>
              </a:rPr>
              <a:t>Fundamentos de Sistemas Operativos y Administración Avanzada </a:t>
            </a:r>
            <a:endParaRPr sz="1100"/>
          </a:p>
        </p:txBody>
      </p:sp>
      <p:pic>
        <p:nvPicPr>
          <p:cNvPr id="203" name="Google Shape;203;g3d01d778264_0_0" title="logo-ECYS-FIUSAC-COCOCYS.png"/>
          <p:cNvPicPr preferRelativeResize="0"/>
          <p:nvPr/>
        </p:nvPicPr>
        <p:blipFill>
          <a:blip r:embed="rId4">
            <a:alphaModFix/>
          </a:blip>
          <a:stretch>
            <a:fillRect/>
          </a:stretch>
        </p:blipFill>
        <p:spPr>
          <a:xfrm>
            <a:off x="4988100" y="0"/>
            <a:ext cx="4155900" cy="51346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7" name="Shape 207"/>
        <p:cNvGrpSpPr/>
        <p:nvPr/>
      </p:nvGrpSpPr>
      <p:grpSpPr>
        <a:xfrm>
          <a:off x="0" y="0"/>
          <a:ext cx="0" cy="0"/>
          <a:chOff x="0" y="0"/>
          <a:chExt cx="0" cy="0"/>
        </a:xfrm>
      </p:grpSpPr>
      <p:sp>
        <p:nvSpPr>
          <p:cNvPr id="208" name="Google Shape;208;g3609770417b_0_341"/>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rgbClr val="000000"/>
              </a:buClr>
              <a:buSzPts val="1300"/>
              <a:buFont typeface="Arial"/>
              <a:buNone/>
            </a:pPr>
            <a:r>
              <a:rPr lang="es" sz="1800">
                <a:latin typeface="Montserrat"/>
                <a:ea typeface="Montserrat"/>
                <a:cs typeface="Montserrat"/>
                <a:sym typeface="Montserrat"/>
              </a:rPr>
              <a:t>CORREO:</a:t>
            </a:r>
            <a:endParaRPr sz="1800">
              <a:latin typeface="Montserrat"/>
              <a:ea typeface="Montserrat"/>
              <a:cs typeface="Montserrat"/>
              <a:sym typeface="Montserrat"/>
            </a:endParaRPr>
          </a:p>
          <a:p>
            <a:pPr indent="-342900" lvl="0" marL="457200" rtl="0" algn="l">
              <a:lnSpc>
                <a:spcPct val="115000"/>
              </a:lnSpc>
              <a:spcBef>
                <a:spcPts val="0"/>
              </a:spcBef>
              <a:spcAft>
                <a:spcPts val="0"/>
              </a:spcAft>
              <a:buSzPts val="1800"/>
              <a:buFont typeface="Montserrat"/>
              <a:buChar char="●"/>
            </a:pPr>
            <a:r>
              <a:rPr lang="es" sz="1800">
                <a:latin typeface="Montserrat"/>
                <a:ea typeface="Montserrat"/>
                <a:cs typeface="Montserrat"/>
                <a:sym typeface="Montserrat"/>
              </a:rPr>
              <a:t>3014174660101@ingenieria.usac.edu.gt</a:t>
            </a:r>
            <a:endParaRPr sz="1800">
              <a:latin typeface="Montserrat"/>
              <a:ea typeface="Montserrat"/>
              <a:cs typeface="Montserrat"/>
              <a:sym typeface="Montserrat"/>
            </a:endParaRPr>
          </a:p>
          <a:p>
            <a:pPr indent="0" lvl="0" marL="0" rtl="0" algn="l">
              <a:lnSpc>
                <a:spcPct val="115000"/>
              </a:lnSpc>
              <a:spcBef>
                <a:spcPts val="0"/>
              </a:spcBef>
              <a:spcAft>
                <a:spcPts val="0"/>
              </a:spcAft>
              <a:buClr>
                <a:srgbClr val="000000"/>
              </a:buClr>
              <a:buSzPts val="1300"/>
              <a:buFont typeface="Arial"/>
              <a:buNone/>
            </a:pPr>
            <a:r>
              <a:t/>
            </a:r>
            <a:endParaRPr sz="1800">
              <a:latin typeface="Montserrat"/>
              <a:ea typeface="Montserrat"/>
              <a:cs typeface="Montserrat"/>
              <a:sym typeface="Montserrat"/>
            </a:endParaRPr>
          </a:p>
          <a:p>
            <a:pPr indent="0" lvl="0" marL="0" rtl="0" algn="l">
              <a:lnSpc>
                <a:spcPct val="115000"/>
              </a:lnSpc>
              <a:spcBef>
                <a:spcPts val="1200"/>
              </a:spcBef>
              <a:spcAft>
                <a:spcPts val="0"/>
              </a:spcAft>
              <a:buClr>
                <a:srgbClr val="000000"/>
              </a:buClr>
              <a:buSzPts val="1300"/>
              <a:buFont typeface="Arial"/>
              <a:buNone/>
            </a:pPr>
            <a:r>
              <a:rPr lang="es" sz="1800">
                <a:latin typeface="Montserrat"/>
                <a:ea typeface="Montserrat"/>
                <a:cs typeface="Montserrat"/>
                <a:sym typeface="Montserrat"/>
              </a:rPr>
              <a:t>Entrega de Proyectos, Tareas, Foros y Hojas de Trabajo:</a:t>
            </a:r>
            <a:endParaRPr sz="1800">
              <a:latin typeface="Montserrat"/>
              <a:ea typeface="Montserrat"/>
              <a:cs typeface="Montserrat"/>
              <a:sym typeface="Montserrat"/>
            </a:endParaRPr>
          </a:p>
          <a:p>
            <a:pPr indent="-342900" lvl="0" marL="457200" rtl="0" algn="l">
              <a:lnSpc>
                <a:spcPct val="115000"/>
              </a:lnSpc>
              <a:spcBef>
                <a:spcPts val="1200"/>
              </a:spcBef>
              <a:spcAft>
                <a:spcPts val="0"/>
              </a:spcAft>
              <a:buSzPts val="1800"/>
              <a:buFont typeface="Montserrat"/>
              <a:buChar char="●"/>
            </a:pPr>
            <a:r>
              <a:rPr lang="es" sz="1800">
                <a:latin typeface="Montserrat"/>
                <a:ea typeface="Montserrat"/>
                <a:cs typeface="Montserrat"/>
                <a:sym typeface="Montserrat"/>
              </a:rPr>
              <a:t>UEDI</a:t>
            </a:r>
            <a:endParaRPr sz="1800"/>
          </a:p>
        </p:txBody>
      </p:sp>
      <p:sp>
        <p:nvSpPr>
          <p:cNvPr id="209" name="Google Shape;209;g3609770417b_0_341"/>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a:t>Datos de los auxiliares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214" name="Shape 214"/>
        <p:cNvGrpSpPr/>
        <p:nvPr/>
      </p:nvGrpSpPr>
      <p:grpSpPr>
        <a:xfrm>
          <a:off x="0" y="0"/>
          <a:ext cx="0" cy="0"/>
          <a:chOff x="0" y="0"/>
          <a:chExt cx="0" cy="0"/>
        </a:xfrm>
      </p:grpSpPr>
      <p:sp>
        <p:nvSpPr>
          <p:cNvPr id="215" name="Google Shape;215;g3d01d778264_0_21"/>
          <p:cNvSpPr/>
          <p:nvPr/>
        </p:nvSpPr>
        <p:spPr>
          <a:xfrm>
            <a:off x="0" y="333366"/>
            <a:ext cx="9144000" cy="381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202124"/>
              </a:buClr>
              <a:buSzPts val="2700"/>
              <a:buFont typeface="Noto Sans SC"/>
              <a:buNone/>
            </a:pPr>
            <a:r>
              <a:rPr b="1" i="0" lang="es" sz="2900" u="none" cap="none" strike="noStrike">
                <a:solidFill>
                  <a:srgbClr val="202124"/>
                </a:solidFill>
                <a:latin typeface="Noto Sans SC"/>
                <a:ea typeface="Noto Sans SC"/>
                <a:cs typeface="Noto Sans SC"/>
                <a:sym typeface="Noto Sans SC"/>
              </a:rPr>
              <a:t>Agenda y Recursos</a:t>
            </a:r>
            <a:endParaRPr b="0" i="0" sz="1400" u="none" cap="none" strike="noStrike"/>
          </a:p>
        </p:txBody>
      </p:sp>
      <p:sp>
        <p:nvSpPr>
          <p:cNvPr id="216" name="Google Shape;216;g3d01d778264_0_21"/>
          <p:cNvSpPr/>
          <p:nvPr/>
        </p:nvSpPr>
        <p:spPr>
          <a:xfrm>
            <a:off x="723900" y="790566"/>
            <a:ext cx="7696200" cy="2286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191919"/>
              </a:buClr>
              <a:buSzPts val="1200"/>
              <a:buFont typeface="Arial"/>
              <a:buNone/>
            </a:pPr>
            <a:r>
              <a:rPr b="0" i="0" lang="es" sz="1400" u="none" cap="none" strike="noStrike">
                <a:solidFill>
                  <a:srgbClr val="191919"/>
                </a:solidFill>
                <a:latin typeface="Arial"/>
                <a:ea typeface="Arial"/>
                <a:cs typeface="Arial"/>
                <a:sym typeface="Arial"/>
              </a:rPr>
              <a:t>Un vistazo a los temas a tratar y la</a:t>
            </a:r>
            <a:r>
              <a:rPr lang="es" sz="1400">
                <a:solidFill>
                  <a:srgbClr val="191919"/>
                </a:solidFill>
              </a:rPr>
              <a:t>s</a:t>
            </a:r>
            <a:r>
              <a:rPr b="0" i="0" lang="es" sz="1400" u="none" cap="none" strike="noStrike">
                <a:solidFill>
                  <a:srgbClr val="191919"/>
                </a:solidFill>
                <a:latin typeface="Arial"/>
                <a:ea typeface="Arial"/>
                <a:cs typeface="Arial"/>
                <a:sym typeface="Arial"/>
              </a:rPr>
              <a:t> competencia</a:t>
            </a:r>
            <a:r>
              <a:rPr lang="es" sz="1400">
                <a:solidFill>
                  <a:srgbClr val="191919"/>
                </a:solidFill>
              </a:rPr>
              <a:t>s</a:t>
            </a:r>
            <a:r>
              <a:rPr b="0" i="0" lang="es" sz="1400" u="none" cap="none" strike="noStrike">
                <a:solidFill>
                  <a:srgbClr val="191919"/>
                </a:solidFill>
                <a:latin typeface="Arial"/>
                <a:ea typeface="Arial"/>
                <a:cs typeface="Arial"/>
                <a:sym typeface="Arial"/>
              </a:rPr>
              <a:t> principal a desarrollar.</a:t>
            </a:r>
            <a:endParaRPr b="0" i="0" sz="1400" u="none" cap="none" strike="noStrike"/>
          </a:p>
        </p:txBody>
      </p:sp>
      <p:cxnSp>
        <p:nvCxnSpPr>
          <p:cNvPr id="217" name="Google Shape;217;g3d01d778264_0_21"/>
          <p:cNvCxnSpPr/>
          <p:nvPr/>
        </p:nvCxnSpPr>
        <p:spPr>
          <a:xfrm>
            <a:off x="342900" y="1283579"/>
            <a:ext cx="4076700" cy="0"/>
          </a:xfrm>
          <a:prstGeom prst="straightConnector1">
            <a:avLst/>
          </a:prstGeom>
          <a:noFill/>
          <a:ln cap="flat" cmpd="sng" w="38100">
            <a:solidFill>
              <a:srgbClr val="4285F4"/>
            </a:solidFill>
            <a:prstDash val="solid"/>
            <a:round/>
            <a:headEnd len="sm" w="sm" type="none"/>
            <a:tailEnd len="sm" w="sm" type="none"/>
          </a:ln>
        </p:spPr>
      </p:cxnSp>
      <p:sp>
        <p:nvSpPr>
          <p:cNvPr id="218" name="Google Shape;218;g3d01d778264_0_21"/>
          <p:cNvSpPr/>
          <p:nvPr/>
        </p:nvSpPr>
        <p:spPr>
          <a:xfrm>
            <a:off x="342900" y="1474091"/>
            <a:ext cx="4076700" cy="381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02124"/>
              </a:buClr>
              <a:buSzPts val="1500"/>
              <a:buFont typeface="Noto Sans SC"/>
              <a:buNone/>
            </a:pPr>
            <a:r>
              <a:rPr b="1" i="0" lang="es" sz="2300" u="none" cap="none" strike="noStrike">
                <a:solidFill>
                  <a:srgbClr val="202124"/>
                </a:solidFill>
                <a:latin typeface="Noto Sans SC"/>
                <a:ea typeface="Noto Sans SC"/>
                <a:cs typeface="Noto Sans SC"/>
                <a:sym typeface="Noto Sans SC"/>
              </a:rPr>
              <a:t>Agenda del Curso</a:t>
            </a:r>
            <a:endParaRPr b="1" i="0" sz="2000" u="none" cap="none" strike="noStrike"/>
          </a:p>
        </p:txBody>
      </p:sp>
      <p:cxnSp>
        <p:nvCxnSpPr>
          <p:cNvPr id="219" name="Google Shape;219;g3d01d778264_0_21"/>
          <p:cNvCxnSpPr/>
          <p:nvPr/>
        </p:nvCxnSpPr>
        <p:spPr>
          <a:xfrm>
            <a:off x="4724400" y="1283579"/>
            <a:ext cx="4076700" cy="0"/>
          </a:xfrm>
          <a:prstGeom prst="straightConnector1">
            <a:avLst/>
          </a:prstGeom>
          <a:noFill/>
          <a:ln cap="flat" cmpd="sng" w="38100">
            <a:solidFill>
              <a:srgbClr val="888B8D"/>
            </a:solidFill>
            <a:prstDash val="solid"/>
            <a:round/>
            <a:headEnd len="sm" w="sm" type="none"/>
            <a:tailEnd len="sm" w="sm" type="none"/>
          </a:ln>
        </p:spPr>
      </p:cxnSp>
      <p:sp>
        <p:nvSpPr>
          <p:cNvPr id="220" name="Google Shape;220;g3d01d778264_0_21"/>
          <p:cNvSpPr/>
          <p:nvPr/>
        </p:nvSpPr>
        <p:spPr>
          <a:xfrm>
            <a:off x="4800600" y="1474091"/>
            <a:ext cx="4000500" cy="381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02124"/>
              </a:buClr>
              <a:buSzPts val="1500"/>
              <a:buFont typeface="Noto Sans SC"/>
              <a:buNone/>
            </a:pPr>
            <a:r>
              <a:rPr b="1" i="0" lang="es" sz="2300" u="none" cap="none" strike="noStrike">
                <a:solidFill>
                  <a:srgbClr val="202124"/>
                </a:solidFill>
                <a:latin typeface="Noto Sans SC"/>
                <a:ea typeface="Noto Sans SC"/>
                <a:cs typeface="Noto Sans SC"/>
                <a:sym typeface="Noto Sans SC"/>
              </a:rPr>
              <a:t>Recursos: </a:t>
            </a:r>
            <a:endParaRPr b="0" i="0" sz="2000" u="none" cap="none" strike="noStrike"/>
          </a:p>
        </p:txBody>
      </p:sp>
      <p:pic>
        <p:nvPicPr>
          <p:cNvPr id="221" name="Google Shape;221;g3d01d778264_0_21" title="BUHOADSFA-Photoroom.png"/>
          <p:cNvPicPr preferRelativeResize="0"/>
          <p:nvPr/>
        </p:nvPicPr>
        <p:blipFill>
          <a:blip r:embed="rId3">
            <a:alphaModFix/>
          </a:blip>
          <a:stretch>
            <a:fillRect/>
          </a:stretch>
        </p:blipFill>
        <p:spPr>
          <a:xfrm>
            <a:off x="0" y="-4"/>
            <a:ext cx="647700" cy="801726"/>
          </a:xfrm>
          <a:prstGeom prst="rect">
            <a:avLst/>
          </a:prstGeom>
          <a:noFill/>
          <a:ln>
            <a:noFill/>
          </a:ln>
        </p:spPr>
      </p:pic>
      <p:sp>
        <p:nvSpPr>
          <p:cNvPr id="222" name="Google Shape;222;g3d01d778264_0_21"/>
          <p:cNvSpPr txBox="1"/>
          <p:nvPr/>
        </p:nvSpPr>
        <p:spPr>
          <a:xfrm>
            <a:off x="342825" y="1925455"/>
            <a:ext cx="4076700" cy="3218100"/>
          </a:xfrm>
          <a:prstGeom prst="rect">
            <a:avLst/>
          </a:prstGeom>
          <a:noFill/>
          <a:ln>
            <a:noFill/>
          </a:ln>
        </p:spPr>
        <p:txBody>
          <a:bodyPr anchorCtr="0" anchor="t" bIns="68575" lIns="68575" spcFirstLastPara="1" rIns="68575" wrap="square" tIns="68575">
            <a:noAutofit/>
          </a:bodyPr>
          <a:lstStyle/>
          <a:p>
            <a:pPr indent="-260350" lvl="0" marL="342900" rtl="0" algn="l">
              <a:spcBef>
                <a:spcPts val="0"/>
              </a:spcBef>
              <a:spcAft>
                <a:spcPts val="0"/>
              </a:spcAft>
              <a:buSzPts val="1500"/>
              <a:buChar char="●"/>
            </a:pPr>
            <a:r>
              <a:rPr lang="es" sz="1500"/>
              <a:t>DUDAS??</a:t>
            </a:r>
            <a:endParaRPr sz="1500"/>
          </a:p>
          <a:p>
            <a:pPr indent="-260350" lvl="0" marL="342900" rtl="0" algn="l">
              <a:spcBef>
                <a:spcPts val="0"/>
              </a:spcBef>
              <a:spcAft>
                <a:spcPts val="0"/>
              </a:spcAft>
              <a:buSzPts val="1500"/>
              <a:buChar char="●"/>
            </a:pPr>
            <a:r>
              <a:rPr lang="es" sz="1500"/>
              <a:t>TEMAS Y CONTENDIO A VER</a:t>
            </a:r>
            <a:endParaRPr sz="1500"/>
          </a:p>
          <a:p>
            <a:pPr indent="-260350" lvl="0" marL="342900" rtl="0" algn="l">
              <a:lnSpc>
                <a:spcPct val="115000"/>
              </a:lnSpc>
              <a:spcBef>
                <a:spcPts val="0"/>
              </a:spcBef>
              <a:spcAft>
                <a:spcPts val="0"/>
              </a:spcAft>
              <a:buClr>
                <a:srgbClr val="233A44"/>
              </a:buClr>
              <a:buSzPts val="1500"/>
              <a:buChar char="●"/>
            </a:pPr>
            <a:r>
              <a:rPr lang="es" sz="1500">
                <a:solidFill>
                  <a:srgbClr val="233A44"/>
                </a:solidFill>
              </a:rPr>
              <a:t>Sincronización de procesos</a:t>
            </a:r>
            <a:endParaRPr sz="1500">
              <a:solidFill>
                <a:srgbClr val="233A44"/>
              </a:solidFill>
            </a:endParaRPr>
          </a:p>
          <a:p>
            <a:pPr indent="-260350" lvl="0" marL="342900" rtl="0" algn="l">
              <a:lnSpc>
                <a:spcPct val="115000"/>
              </a:lnSpc>
              <a:spcBef>
                <a:spcPts val="0"/>
              </a:spcBef>
              <a:spcAft>
                <a:spcPts val="0"/>
              </a:spcAft>
              <a:buClr>
                <a:srgbClr val="233A44"/>
              </a:buClr>
              <a:buSzPts val="1500"/>
              <a:buChar char="●"/>
            </a:pPr>
            <a:r>
              <a:rPr lang="es" sz="1500">
                <a:solidFill>
                  <a:srgbClr val="233A44"/>
                </a:solidFill>
              </a:rPr>
              <a:t>Problemas clásicos de concurrencia</a:t>
            </a:r>
            <a:endParaRPr sz="1500">
              <a:solidFill>
                <a:srgbClr val="233A44"/>
              </a:solidFill>
            </a:endParaRPr>
          </a:p>
          <a:p>
            <a:pPr indent="-260350" lvl="0" marL="342900" rtl="0" algn="l">
              <a:lnSpc>
                <a:spcPct val="115000"/>
              </a:lnSpc>
              <a:spcBef>
                <a:spcPts val="0"/>
              </a:spcBef>
              <a:spcAft>
                <a:spcPts val="0"/>
              </a:spcAft>
              <a:buClr>
                <a:srgbClr val="233A44"/>
              </a:buClr>
              <a:buSzPts val="1500"/>
              <a:buChar char="●"/>
            </a:pPr>
            <a:r>
              <a:rPr lang="es" sz="1500">
                <a:solidFill>
                  <a:srgbClr val="233A44"/>
                </a:solidFill>
              </a:rPr>
              <a:t>Comunicación entre procesos con gRPC</a:t>
            </a:r>
            <a:endParaRPr sz="1500">
              <a:solidFill>
                <a:srgbClr val="233A44"/>
              </a:solidFill>
            </a:endParaRPr>
          </a:p>
          <a:p>
            <a:pPr indent="-260350" lvl="0" marL="342900" rtl="0" algn="l">
              <a:lnSpc>
                <a:spcPct val="115000"/>
              </a:lnSpc>
              <a:spcBef>
                <a:spcPts val="0"/>
              </a:spcBef>
              <a:spcAft>
                <a:spcPts val="0"/>
              </a:spcAft>
              <a:buClr>
                <a:srgbClr val="233A44"/>
              </a:buClr>
              <a:buSzPts val="1500"/>
              <a:buChar char="●"/>
            </a:pPr>
            <a:r>
              <a:rPr lang="es" sz="1500">
                <a:solidFill>
                  <a:srgbClr val="233A44"/>
                </a:solidFill>
              </a:rPr>
              <a:t>Conceptos básicos de Kubernetes</a:t>
            </a:r>
            <a:endParaRPr sz="1500">
              <a:solidFill>
                <a:srgbClr val="233A44"/>
              </a:solidFill>
            </a:endParaRPr>
          </a:p>
          <a:p>
            <a:pPr indent="-260350" lvl="0" marL="342900" rtl="0" algn="l">
              <a:lnSpc>
                <a:spcPct val="115000"/>
              </a:lnSpc>
              <a:spcBef>
                <a:spcPts val="0"/>
              </a:spcBef>
              <a:spcAft>
                <a:spcPts val="0"/>
              </a:spcAft>
              <a:buClr>
                <a:srgbClr val="233A44"/>
              </a:buClr>
              <a:buSzPts val="1500"/>
              <a:buChar char="●"/>
            </a:pPr>
            <a:r>
              <a:rPr lang="es" sz="1500">
                <a:solidFill>
                  <a:srgbClr val="233A44"/>
                </a:solidFill>
              </a:rPr>
              <a:t>Arquitectura de Kubernetes</a:t>
            </a:r>
            <a:endParaRPr sz="1500">
              <a:solidFill>
                <a:srgbClr val="233A44"/>
              </a:solidFill>
            </a:endParaRPr>
          </a:p>
          <a:p>
            <a:pPr indent="-260350" lvl="0" marL="342900" rtl="0" algn="l">
              <a:lnSpc>
                <a:spcPct val="115000"/>
              </a:lnSpc>
              <a:spcBef>
                <a:spcPts val="0"/>
              </a:spcBef>
              <a:spcAft>
                <a:spcPts val="0"/>
              </a:spcAft>
              <a:buClr>
                <a:srgbClr val="233A44"/>
              </a:buClr>
              <a:buSzPts val="1500"/>
              <a:buChar char="●"/>
            </a:pPr>
            <a:r>
              <a:rPr lang="es" sz="1500">
                <a:solidFill>
                  <a:srgbClr val="233A44"/>
                </a:solidFill>
              </a:rPr>
              <a:t>Objetos fundamentales de Kubernetes: Pods, Deployments, Namespace</a:t>
            </a:r>
            <a:endParaRPr sz="1500">
              <a:solidFill>
                <a:srgbClr val="233A44"/>
              </a:solidFill>
            </a:endParaRPr>
          </a:p>
          <a:p>
            <a:pPr indent="-260350" lvl="0" marL="342900" rtl="0" algn="l">
              <a:spcBef>
                <a:spcPts val="0"/>
              </a:spcBef>
              <a:spcAft>
                <a:spcPts val="0"/>
              </a:spcAft>
              <a:buSzPts val="1500"/>
              <a:buChar char="●"/>
            </a:pPr>
            <a:r>
              <a:rPr lang="es" sz="1500">
                <a:solidFill>
                  <a:srgbClr val="233A44"/>
                </a:solidFill>
              </a:rPr>
              <a:t>Services en Kubernetes: ClusterIP, NodePort,</a:t>
            </a:r>
            <a:r>
              <a:rPr lang="es" sz="1500">
                <a:solidFill>
                  <a:schemeClr val="lt1"/>
                </a:solidFill>
              </a:rPr>
              <a:t> </a:t>
            </a:r>
            <a:r>
              <a:rPr lang="es" sz="1500"/>
              <a:t> </a:t>
            </a:r>
            <a:endParaRPr sz="1500"/>
          </a:p>
          <a:p>
            <a:pPr indent="-260350" lvl="0" marL="342900" rtl="0" algn="l">
              <a:spcBef>
                <a:spcPts val="0"/>
              </a:spcBef>
              <a:spcAft>
                <a:spcPts val="0"/>
              </a:spcAft>
              <a:buSzPts val="1500"/>
              <a:buChar char="●"/>
            </a:pPr>
            <a:r>
              <a:rPr lang="es" sz="1500"/>
              <a:t>EJEMPLO PRACTICO</a:t>
            </a:r>
            <a:endParaRPr sz="1500"/>
          </a:p>
          <a:p>
            <a:pPr indent="0" lvl="0" marL="0" rtl="0" algn="l">
              <a:spcBef>
                <a:spcPts val="0"/>
              </a:spcBef>
              <a:spcAft>
                <a:spcPts val="0"/>
              </a:spcAft>
              <a:buNone/>
            </a:pPr>
            <a:r>
              <a:t/>
            </a:r>
            <a:endParaRPr sz="2200"/>
          </a:p>
        </p:txBody>
      </p:sp>
      <p:sp>
        <p:nvSpPr>
          <p:cNvPr id="223" name="Google Shape;223;g3d01d778264_0_21"/>
          <p:cNvSpPr txBox="1"/>
          <p:nvPr/>
        </p:nvSpPr>
        <p:spPr>
          <a:xfrm>
            <a:off x="4800600" y="1925450"/>
            <a:ext cx="4000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4"/>
              </a:rPr>
              <a:t>https://github.com/JoseLorenzana272/LAB-SO1-1S2026/tree/main/ejemplos</a:t>
            </a:r>
            <a:r>
              <a:rPr lang="es"/>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 name="Shape 228"/>
        <p:cNvGrpSpPr/>
        <p:nvPr/>
      </p:nvGrpSpPr>
      <p:grpSpPr>
        <a:xfrm>
          <a:off x="0" y="0"/>
          <a:ext cx="0" cy="0"/>
          <a:chOff x="0" y="0"/>
          <a:chExt cx="0" cy="0"/>
        </a:xfrm>
      </p:grpSpPr>
      <p:sp>
        <p:nvSpPr>
          <p:cNvPr id="229" name="Google Shape;229;g3d01d778264_0_33"/>
          <p:cNvSpPr/>
          <p:nvPr/>
        </p:nvSpPr>
        <p:spPr>
          <a:xfrm>
            <a:off x="1165860" y="2510314"/>
            <a:ext cx="6814500" cy="1234500"/>
          </a:xfrm>
          <a:prstGeom prst="rect">
            <a:avLst/>
          </a:prstGeom>
          <a:noFill/>
          <a:ln>
            <a:noFill/>
          </a:ln>
        </p:spPr>
        <p:txBody>
          <a:bodyPr anchorCtr="0" anchor="t" bIns="34275" lIns="68575" spcFirstLastPara="1" rIns="68575" wrap="square" tIns="34275">
            <a:noAutofit/>
          </a:bodyPr>
          <a:lstStyle/>
          <a:p>
            <a:pPr indent="0" lvl="0" marL="0" rtl="0" algn="just">
              <a:spcBef>
                <a:spcPts val="0"/>
              </a:spcBef>
              <a:spcAft>
                <a:spcPts val="0"/>
              </a:spcAft>
              <a:buClr>
                <a:schemeClr val="dk1"/>
              </a:buClr>
              <a:buSzPts val="1400"/>
              <a:buFont typeface="Arial"/>
              <a:buNone/>
            </a:pPr>
            <a:r>
              <a:rPr lang="es">
                <a:solidFill>
                  <a:schemeClr val="dk1"/>
                </a:solidFill>
              </a:rPr>
              <a:t>El estudiante analiza el consumo de recursos y rendimiento de pods en Kubernetes mediante herramientas como kubectl top, métricas de Prometheus o Grafana para detectar cuellos de botella y mejorar la eficiencia operativa.</a:t>
            </a:r>
            <a:endParaRPr>
              <a:solidFill>
                <a:schemeClr val="dk1"/>
              </a:solidFill>
            </a:endParaRPr>
          </a:p>
          <a:p>
            <a:pPr indent="0" lvl="0" marL="0" marR="0" rtl="0" algn="l">
              <a:lnSpc>
                <a:spcPct val="150000"/>
              </a:lnSpc>
              <a:spcBef>
                <a:spcPts val="0"/>
              </a:spcBef>
              <a:spcAft>
                <a:spcPts val="0"/>
              </a:spcAft>
              <a:buClr>
                <a:srgbClr val="111111"/>
              </a:buClr>
              <a:buSzPts val="1400"/>
              <a:buFont typeface="Arial"/>
              <a:buNone/>
            </a:pPr>
            <a:r>
              <a:t/>
            </a:r>
            <a:endParaRPr>
              <a:solidFill>
                <a:schemeClr val="dk1"/>
              </a:solidFill>
            </a:endParaRPr>
          </a:p>
        </p:txBody>
      </p:sp>
      <p:sp>
        <p:nvSpPr>
          <p:cNvPr id="230" name="Google Shape;230;g3d01d778264_0_33"/>
          <p:cNvSpPr/>
          <p:nvPr/>
        </p:nvSpPr>
        <p:spPr>
          <a:xfrm>
            <a:off x="857250" y="1255395"/>
            <a:ext cx="5977890" cy="445770"/>
          </a:xfrm>
          <a:custGeom>
            <a:rect b="b" l="l" r="r" t="t"/>
            <a:pathLst>
              <a:path extrusionOk="0" h="594360" w="7970520">
                <a:moveTo>
                  <a:pt x="194945" y="0"/>
                </a:moveTo>
                <a:lnTo>
                  <a:pt x="7673340" y="0"/>
                </a:lnTo>
                <a:cubicBezTo>
                  <a:pt x="7840345" y="-5080"/>
                  <a:pt x="7974330" y="147320"/>
                  <a:pt x="7970520" y="297180"/>
                </a:cubicBezTo>
                <a:cubicBezTo>
                  <a:pt x="7975600" y="464185"/>
                  <a:pt x="7823200" y="598170"/>
                  <a:pt x="7673340" y="594360"/>
                </a:cubicBezTo>
                <a:lnTo>
                  <a:pt x="0" y="594360"/>
                </a:lnTo>
                <a:lnTo>
                  <a:pt x="0" y="194945"/>
                </a:lnTo>
                <a:cubicBezTo>
                  <a:pt x="-3175" y="85725"/>
                  <a:pt x="96520" y="-2540"/>
                  <a:pt x="194945" y="0"/>
                </a:cubicBezTo>
                <a:close/>
              </a:path>
            </a:pathLst>
          </a:custGeom>
          <a:gradFill>
            <a:gsLst>
              <a:gs pos="0">
                <a:srgbClr val="232323"/>
              </a:gs>
              <a:gs pos="100000">
                <a:srgbClr val="919191"/>
              </a:gs>
            </a:gsLst>
            <a:lin ang="5400012"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1" name="Google Shape;231;g3d01d778264_0_33"/>
          <p:cNvSpPr/>
          <p:nvPr/>
        </p:nvSpPr>
        <p:spPr>
          <a:xfrm>
            <a:off x="857250" y="1255395"/>
            <a:ext cx="5977800" cy="4458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cxnSp>
        <p:nvCxnSpPr>
          <p:cNvPr id="232" name="Google Shape;232;g3d01d778264_0_33"/>
          <p:cNvCxnSpPr/>
          <p:nvPr/>
        </p:nvCxnSpPr>
        <p:spPr>
          <a:xfrm rot="10800000">
            <a:off x="857250" y="1695450"/>
            <a:ext cx="7429500" cy="0"/>
          </a:xfrm>
          <a:prstGeom prst="straightConnector1">
            <a:avLst/>
          </a:prstGeom>
          <a:noFill/>
          <a:ln cap="flat" cmpd="sng" w="9525">
            <a:solidFill>
              <a:srgbClr val="232323"/>
            </a:solidFill>
            <a:prstDash val="solid"/>
            <a:round/>
            <a:headEnd len="sm" w="sm" type="none"/>
            <a:tailEnd len="sm" w="sm" type="none"/>
          </a:ln>
        </p:spPr>
      </p:cxnSp>
      <p:sp>
        <p:nvSpPr>
          <p:cNvPr id="233" name="Google Shape;233;g3d01d778264_0_33"/>
          <p:cNvSpPr/>
          <p:nvPr/>
        </p:nvSpPr>
        <p:spPr>
          <a:xfrm flipH="1" rot="10800000">
            <a:off x="7523798" y="1432710"/>
            <a:ext cx="481200" cy="57000"/>
          </a:xfrm>
          <a:prstGeom prst="roundRect">
            <a:avLst>
              <a:gd fmla="val 50000" name="adj"/>
            </a:avLst>
          </a:prstGeom>
          <a:gradFill>
            <a:gsLst>
              <a:gs pos="0">
                <a:srgbClr val="232323"/>
              </a:gs>
              <a:gs pos="100000">
                <a:srgbClr val="919191"/>
              </a:gs>
            </a:gsLst>
            <a:lin ang="5400012"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4" name="Google Shape;234;g3d01d778264_0_33"/>
          <p:cNvSpPr/>
          <p:nvPr/>
        </p:nvSpPr>
        <p:spPr>
          <a:xfrm>
            <a:off x="7523798" y="1432560"/>
            <a:ext cx="481200" cy="570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235" name="Google Shape;235;g3d01d778264_0_33"/>
          <p:cNvSpPr/>
          <p:nvPr/>
        </p:nvSpPr>
        <p:spPr>
          <a:xfrm flipH="1" rot="10800000">
            <a:off x="7447598" y="1432710"/>
            <a:ext cx="56700" cy="57000"/>
          </a:xfrm>
          <a:prstGeom prst="roundRect">
            <a:avLst>
              <a:gd fmla="val 50000" name="adj"/>
            </a:avLst>
          </a:prstGeom>
          <a:gradFill>
            <a:gsLst>
              <a:gs pos="0">
                <a:srgbClr val="232323"/>
              </a:gs>
              <a:gs pos="100000">
                <a:srgbClr val="919191"/>
              </a:gs>
            </a:gsLst>
            <a:lin ang="5400012"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6" name="Google Shape;236;g3d01d778264_0_33"/>
          <p:cNvSpPr/>
          <p:nvPr/>
        </p:nvSpPr>
        <p:spPr>
          <a:xfrm>
            <a:off x="7447598" y="1432560"/>
            <a:ext cx="56700" cy="570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237" name="Google Shape;237;g3d01d778264_0_33"/>
          <p:cNvSpPr/>
          <p:nvPr/>
        </p:nvSpPr>
        <p:spPr>
          <a:xfrm flipH="1" rot="10800000">
            <a:off x="857250" y="4363845"/>
            <a:ext cx="7430400" cy="149100"/>
          </a:xfrm>
          <a:prstGeom prst="round2SameRect">
            <a:avLst>
              <a:gd fmla="val 50000" name="adj1"/>
              <a:gd fmla="val 0" name="adj2"/>
            </a:avLst>
          </a:prstGeom>
          <a:gradFill>
            <a:gsLst>
              <a:gs pos="0">
                <a:srgbClr val="232323"/>
              </a:gs>
              <a:gs pos="100000">
                <a:srgbClr val="5A5A5A"/>
              </a:gs>
            </a:gsLst>
            <a:lin ang="5400012"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8" name="Google Shape;238;g3d01d778264_0_33"/>
          <p:cNvSpPr/>
          <p:nvPr/>
        </p:nvSpPr>
        <p:spPr>
          <a:xfrm>
            <a:off x="857250" y="4363879"/>
            <a:ext cx="7430400" cy="149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239" name="Google Shape;239;g3d01d778264_0_33"/>
          <p:cNvSpPr/>
          <p:nvPr/>
        </p:nvSpPr>
        <p:spPr>
          <a:xfrm>
            <a:off x="1276576" y="509120"/>
            <a:ext cx="6728100" cy="445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111111"/>
              </a:buClr>
              <a:buSzPts val="2400"/>
              <a:buFont typeface="Arial"/>
              <a:buNone/>
            </a:pPr>
            <a:r>
              <a:rPr b="1" i="0" lang="es" sz="2400" u="none" cap="none" strike="noStrike">
                <a:solidFill>
                  <a:srgbClr val="111111"/>
                </a:solidFill>
                <a:latin typeface="Arial"/>
                <a:ea typeface="Arial"/>
                <a:cs typeface="Arial"/>
                <a:sym typeface="Arial"/>
              </a:rPr>
              <a:t>COMPETENCIAS</a:t>
            </a:r>
            <a:endParaRPr b="0" i="0" sz="1200" u="none" cap="none" strike="noStrike"/>
          </a:p>
        </p:txBody>
      </p:sp>
      <p:pic>
        <p:nvPicPr>
          <p:cNvPr descr="https://kimi-img.moonshot.cn/pub/slides/slides_tmpl/image/25-08-27-20:09:25-d2nfat98bjvh7rlj0j30.png" id="240" name="Google Shape;240;g3d01d778264_0_33"/>
          <p:cNvPicPr preferRelativeResize="0"/>
          <p:nvPr/>
        </p:nvPicPr>
        <p:blipFill rotWithShape="1">
          <a:blip r:embed="rId3">
            <a:alphaModFix/>
          </a:blip>
          <a:srcRect b="0" l="0" r="0" t="0"/>
          <a:stretch/>
        </p:blipFill>
        <p:spPr>
          <a:xfrm>
            <a:off x="857244" y="558765"/>
            <a:ext cx="400050" cy="276225"/>
          </a:xfrm>
          <a:prstGeom prst="rect">
            <a:avLst/>
          </a:prstGeom>
          <a:noFill/>
          <a:ln>
            <a:noFill/>
          </a:ln>
        </p:spPr>
      </p:pic>
      <p:pic>
        <p:nvPicPr>
          <p:cNvPr id="241" name="Google Shape;241;g3d01d778264_0_33" title="BUHOADSFA-Photoroom.png"/>
          <p:cNvPicPr preferRelativeResize="0"/>
          <p:nvPr/>
        </p:nvPicPr>
        <p:blipFill>
          <a:blip r:embed="rId4">
            <a:alphaModFix/>
          </a:blip>
          <a:stretch>
            <a:fillRect/>
          </a:stretch>
        </p:blipFill>
        <p:spPr>
          <a:xfrm>
            <a:off x="0" y="-4"/>
            <a:ext cx="647700" cy="8017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246" name="Shape 246"/>
        <p:cNvGrpSpPr/>
        <p:nvPr/>
      </p:nvGrpSpPr>
      <p:grpSpPr>
        <a:xfrm>
          <a:off x="0" y="0"/>
          <a:ext cx="0" cy="0"/>
          <a:chOff x="0" y="0"/>
          <a:chExt cx="0" cy="0"/>
        </a:xfrm>
      </p:grpSpPr>
      <p:pic>
        <p:nvPicPr>
          <p:cNvPr descr="https://kimi-img.moonshot.cn/pub/slides/slides_tmpl/image/25-08-27-20:09:25-d2nfat98bjvh7rlj0j2g.png" id="247" name="Google Shape;247;g3d01d778264_0_52"/>
          <p:cNvPicPr preferRelativeResize="0"/>
          <p:nvPr/>
        </p:nvPicPr>
        <p:blipFill rotWithShape="1">
          <a:blip r:embed="rId3">
            <a:alphaModFix/>
          </a:blip>
          <a:srcRect b="0" l="0" r="0" t="0"/>
          <a:stretch/>
        </p:blipFill>
        <p:spPr>
          <a:xfrm>
            <a:off x="542925" y="1135856"/>
            <a:ext cx="3141821" cy="2829402"/>
          </a:xfrm>
          <a:prstGeom prst="rect">
            <a:avLst/>
          </a:prstGeom>
          <a:noFill/>
          <a:ln>
            <a:noFill/>
          </a:ln>
        </p:spPr>
      </p:pic>
      <p:sp>
        <p:nvSpPr>
          <p:cNvPr id="248" name="Google Shape;248;g3d01d778264_0_52"/>
          <p:cNvSpPr/>
          <p:nvPr/>
        </p:nvSpPr>
        <p:spPr>
          <a:xfrm>
            <a:off x="4038124" y="2397442"/>
            <a:ext cx="4062000" cy="899100"/>
          </a:xfrm>
          <a:prstGeom prst="rect">
            <a:avLst/>
          </a:prstGeom>
          <a:solidFill>
            <a:srgbClr val="000000">
              <a:alpha val="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9" name="Google Shape;249;g3d01d778264_0_52"/>
          <p:cNvSpPr/>
          <p:nvPr/>
        </p:nvSpPr>
        <p:spPr>
          <a:xfrm>
            <a:off x="4038124" y="2397442"/>
            <a:ext cx="4062000" cy="899100"/>
          </a:xfrm>
          <a:prstGeom prst="rect">
            <a:avLst/>
          </a:prstGeom>
          <a:noFill/>
          <a:ln>
            <a:noFill/>
          </a:ln>
        </p:spPr>
        <p:txBody>
          <a:bodyPr anchorCtr="0" anchor="t" bIns="34275" lIns="34275" spcFirstLastPara="1" rIns="68575" wrap="square" tIns="68575">
            <a:noAutofit/>
          </a:bodyPr>
          <a:lstStyle/>
          <a:p>
            <a:pPr indent="0" lvl="0" marL="0" marR="0" rtl="0" algn="l">
              <a:lnSpc>
                <a:spcPct val="100000"/>
              </a:lnSpc>
              <a:spcBef>
                <a:spcPts val="0"/>
              </a:spcBef>
              <a:spcAft>
                <a:spcPts val="0"/>
              </a:spcAft>
              <a:buClr>
                <a:srgbClr val="FFFFFF"/>
              </a:buClr>
              <a:buSzPts val="2700"/>
              <a:buFont typeface="Arial"/>
              <a:buNone/>
            </a:pPr>
            <a:r>
              <a:rPr b="1" lang="es" sz="2700">
                <a:solidFill>
                  <a:srgbClr val="FFFFFF"/>
                </a:solidFill>
              </a:rPr>
              <a:t>Contenido</a:t>
            </a:r>
            <a:endParaRPr b="0" i="0" sz="1200" u="none" cap="none" strike="noStrike"/>
          </a:p>
        </p:txBody>
      </p:sp>
      <p:sp>
        <p:nvSpPr>
          <p:cNvPr id="250" name="Google Shape;250;g3d01d778264_0_52"/>
          <p:cNvSpPr/>
          <p:nvPr/>
        </p:nvSpPr>
        <p:spPr>
          <a:xfrm>
            <a:off x="4038124" y="1459230"/>
            <a:ext cx="2542800" cy="828600"/>
          </a:xfrm>
          <a:prstGeom prst="rect">
            <a:avLst/>
          </a:prstGeom>
          <a:noFill/>
          <a:ln>
            <a:noFill/>
          </a:ln>
        </p:spPr>
        <p:txBody>
          <a:bodyPr anchorCtr="0" anchor="t" bIns="34275" lIns="68575" spcFirstLastPara="1" rIns="68575" wrap="square" tIns="34275">
            <a:noAutofit/>
          </a:bodyPr>
          <a:lstStyle/>
          <a:p>
            <a:pPr indent="0" lvl="0" marL="0" marR="0" rtl="0" algn="just">
              <a:lnSpc>
                <a:spcPct val="100000"/>
              </a:lnSpc>
              <a:spcBef>
                <a:spcPts val="0"/>
              </a:spcBef>
              <a:spcAft>
                <a:spcPts val="0"/>
              </a:spcAft>
              <a:buClr>
                <a:srgbClr val="FFFFFF"/>
              </a:buClr>
              <a:buSzPts val="5400"/>
              <a:buFont typeface="Arial"/>
              <a:buNone/>
            </a:pPr>
            <a:r>
              <a:rPr b="0" i="0" lang="es" sz="5400" u="none" cap="none" strike="noStrike">
                <a:solidFill>
                  <a:srgbClr val="FFFFFF"/>
                </a:solidFill>
                <a:latin typeface="Arial"/>
                <a:ea typeface="Arial"/>
                <a:cs typeface="Arial"/>
                <a:sym typeface="Arial"/>
              </a:rPr>
              <a:t>01</a:t>
            </a:r>
            <a:endParaRPr b="0" i="0" sz="1200" u="none" cap="none" strike="noStrike"/>
          </a:p>
        </p:txBody>
      </p:sp>
      <p:pic>
        <p:nvPicPr>
          <p:cNvPr id="251" name="Google Shape;251;g3d01d778264_0_52" title="BUHOADSFA-Photoroom.png"/>
          <p:cNvPicPr preferRelativeResize="0"/>
          <p:nvPr/>
        </p:nvPicPr>
        <p:blipFill>
          <a:blip r:embed="rId4">
            <a:alphaModFix/>
          </a:blip>
          <a:stretch>
            <a:fillRect/>
          </a:stretch>
        </p:blipFill>
        <p:spPr>
          <a:xfrm>
            <a:off x="0" y="-4"/>
            <a:ext cx="647700" cy="8017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04c4156dce_0_0"/>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400"/>
              </a:spcAft>
              <a:buSzPts val="2400"/>
              <a:buNone/>
            </a:pPr>
            <a:r>
              <a:rPr b="1" lang="es" sz="1700">
                <a:latin typeface="Arial"/>
                <a:ea typeface="Arial"/>
                <a:cs typeface="Arial"/>
                <a:sym typeface="Arial"/>
              </a:rPr>
              <a:t>¿Qué son REST?</a:t>
            </a:r>
            <a:endParaRPr/>
          </a:p>
        </p:txBody>
      </p:sp>
      <p:sp>
        <p:nvSpPr>
          <p:cNvPr id="257" name="Google Shape;257;g304c4156dce_0_0"/>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1400"/>
              </a:spcBef>
              <a:spcAft>
                <a:spcPts val="0"/>
              </a:spcAft>
              <a:buSzPts val="1300"/>
              <a:buNone/>
            </a:pPr>
            <a:r>
              <a:rPr b="1" lang="es" sz="1500">
                <a:latin typeface="Arial"/>
                <a:ea typeface="Arial"/>
                <a:cs typeface="Arial"/>
                <a:sym typeface="Arial"/>
              </a:rPr>
              <a:t>REST (Representational State Transfer)</a:t>
            </a:r>
            <a:endParaRPr b="1" sz="1500">
              <a:latin typeface="Arial"/>
              <a:ea typeface="Arial"/>
              <a:cs typeface="Arial"/>
              <a:sym typeface="Arial"/>
            </a:endParaRPr>
          </a:p>
          <a:p>
            <a:pPr indent="-311150" lvl="0" marL="457200" rtl="0" algn="l">
              <a:lnSpc>
                <a:spcPct val="115000"/>
              </a:lnSpc>
              <a:spcBef>
                <a:spcPts val="1200"/>
              </a:spcBef>
              <a:spcAft>
                <a:spcPts val="0"/>
              </a:spcAft>
              <a:buClr>
                <a:schemeClr val="lt1"/>
              </a:buClr>
              <a:buSzPts val="1300"/>
              <a:buFont typeface="Arial"/>
              <a:buChar char="●"/>
            </a:pPr>
            <a:r>
              <a:rPr b="1" lang="es">
                <a:latin typeface="Arial"/>
                <a:ea typeface="Arial"/>
                <a:cs typeface="Arial"/>
                <a:sym typeface="Arial"/>
              </a:rPr>
              <a:t>Definición:</a:t>
            </a:r>
            <a:r>
              <a:rPr lang="es">
                <a:latin typeface="Arial"/>
                <a:ea typeface="Arial"/>
                <a:cs typeface="Arial"/>
                <a:sym typeface="Arial"/>
              </a:rPr>
              <a:t> Un estilo arquitectónico para diseñar aplicaciones en red utilizando métodos HTTP estándar.</a:t>
            </a:r>
            <a:endParaRPr>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b="1" lang="es">
                <a:latin typeface="Arial"/>
                <a:ea typeface="Arial"/>
                <a:cs typeface="Arial"/>
                <a:sym typeface="Arial"/>
              </a:rPr>
              <a:t>Formato de Datos:</a:t>
            </a:r>
            <a:r>
              <a:rPr lang="es">
                <a:latin typeface="Arial"/>
                <a:ea typeface="Arial"/>
                <a:cs typeface="Arial"/>
                <a:sym typeface="Arial"/>
              </a:rPr>
              <a:t> Generalmente utiliza JSON o XML para las cargas útiles.</a:t>
            </a:r>
            <a:endParaRPr>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b="1" lang="es">
                <a:latin typeface="Arial"/>
                <a:ea typeface="Arial"/>
                <a:cs typeface="Arial"/>
                <a:sym typeface="Arial"/>
              </a:rPr>
              <a:t>Comunicación:</a:t>
            </a:r>
            <a:r>
              <a:rPr lang="es">
                <a:latin typeface="Arial"/>
                <a:ea typeface="Arial"/>
                <a:cs typeface="Arial"/>
                <a:sym typeface="Arial"/>
              </a:rPr>
              <a:t> Sin estado, comunicación cliente-servidor sobre HTTP.</a:t>
            </a:r>
            <a:endParaRPr>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b="1" lang="es">
                <a:latin typeface="Arial"/>
                <a:ea typeface="Arial"/>
                <a:cs typeface="Arial"/>
                <a:sym typeface="Arial"/>
              </a:rPr>
              <a:t>Estándares:</a:t>
            </a:r>
            <a:r>
              <a:rPr lang="es">
                <a:latin typeface="Arial"/>
                <a:ea typeface="Arial"/>
                <a:cs typeface="Arial"/>
                <a:sym typeface="Arial"/>
              </a:rPr>
              <a:t> Se basa en verbos HTTP estándar como GET, POST, PUT, DELETE.</a:t>
            </a:r>
            <a:endParaRPr>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b="1" lang="es">
                <a:latin typeface="Arial"/>
                <a:ea typeface="Arial"/>
                <a:cs typeface="Arial"/>
                <a:sym typeface="Arial"/>
              </a:rPr>
              <a:t>Uso:</a:t>
            </a:r>
            <a:r>
              <a:rPr lang="es">
                <a:latin typeface="Arial"/>
                <a:ea typeface="Arial"/>
                <a:cs typeface="Arial"/>
                <a:sym typeface="Arial"/>
              </a:rPr>
              <a:t> Ampliamente utilizado para APIs web, especialmente donde la simplicidad y la compatibilidad amplia son prioridades.</a:t>
            </a:r>
            <a:endParaRPr>
              <a:latin typeface="Arial"/>
              <a:ea typeface="Arial"/>
              <a:cs typeface="Arial"/>
              <a:sym typeface="Arial"/>
            </a:endParaRPr>
          </a:p>
          <a:p>
            <a:pPr indent="0" lvl="0" marL="0" rtl="0" algn="l">
              <a:lnSpc>
                <a:spcPct val="115000"/>
              </a:lnSpc>
              <a:spcBef>
                <a:spcPts val="1200"/>
              </a:spcBef>
              <a:spcAft>
                <a:spcPts val="0"/>
              </a:spcAft>
              <a:buSzPts val="13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04c4156dce_0_5"/>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400"/>
              </a:spcAft>
              <a:buSzPts val="2400"/>
              <a:buNone/>
            </a:pPr>
            <a:r>
              <a:rPr b="1" lang="es" sz="1700">
                <a:latin typeface="Arial"/>
                <a:ea typeface="Arial"/>
                <a:cs typeface="Arial"/>
                <a:sym typeface="Arial"/>
              </a:rPr>
              <a:t>¿Qué son gRPC?</a:t>
            </a:r>
            <a:endParaRPr/>
          </a:p>
        </p:txBody>
      </p:sp>
      <p:sp>
        <p:nvSpPr>
          <p:cNvPr id="263" name="Google Shape;263;g304c4156dce_0_5"/>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1400"/>
              </a:spcBef>
              <a:spcAft>
                <a:spcPts val="0"/>
              </a:spcAft>
              <a:buSzPts val="1300"/>
              <a:buNone/>
            </a:pPr>
            <a:r>
              <a:rPr b="1" lang="es">
                <a:latin typeface="Arial"/>
                <a:ea typeface="Arial"/>
                <a:cs typeface="Arial"/>
                <a:sym typeface="Arial"/>
              </a:rPr>
              <a:t>gRPC (gRPC Remote Procedure Calls)</a:t>
            </a:r>
            <a:endParaRPr b="1">
              <a:latin typeface="Arial"/>
              <a:ea typeface="Arial"/>
              <a:cs typeface="Arial"/>
              <a:sym typeface="Arial"/>
            </a:endParaRPr>
          </a:p>
          <a:p>
            <a:pPr indent="-298450" lvl="0" marL="457200" rtl="0" algn="l">
              <a:lnSpc>
                <a:spcPct val="115000"/>
              </a:lnSpc>
              <a:spcBef>
                <a:spcPts val="1200"/>
              </a:spcBef>
              <a:spcAft>
                <a:spcPts val="0"/>
              </a:spcAft>
              <a:buClr>
                <a:schemeClr val="lt1"/>
              </a:buClr>
              <a:buSzPts val="1100"/>
              <a:buFont typeface="Arial"/>
              <a:buChar char="●"/>
            </a:pPr>
            <a:r>
              <a:rPr b="1" lang="es" sz="1100">
                <a:latin typeface="Arial"/>
                <a:ea typeface="Arial"/>
                <a:cs typeface="Arial"/>
                <a:sym typeface="Arial"/>
              </a:rPr>
              <a:t>Definición:</a:t>
            </a:r>
            <a:r>
              <a:rPr lang="es" sz="1100">
                <a:latin typeface="Arial"/>
                <a:ea typeface="Arial"/>
                <a:cs typeface="Arial"/>
                <a:sym typeface="Arial"/>
              </a:rPr>
              <a:t> Un marco de trabajo de alto rendimiento y código abierto desarrollado por Google para llamadas a procedimientos remotos.</a:t>
            </a:r>
            <a:endParaRPr sz="1100">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Font typeface="Arial"/>
              <a:buChar char="●"/>
            </a:pPr>
            <a:r>
              <a:rPr b="1" lang="es" sz="1100">
                <a:latin typeface="Arial"/>
                <a:ea typeface="Arial"/>
                <a:cs typeface="Arial"/>
                <a:sym typeface="Arial"/>
              </a:rPr>
              <a:t>Formato de Datos:</a:t>
            </a:r>
            <a:r>
              <a:rPr lang="es" sz="1100">
                <a:latin typeface="Arial"/>
                <a:ea typeface="Arial"/>
                <a:cs typeface="Arial"/>
                <a:sym typeface="Arial"/>
              </a:rPr>
              <a:t> Utiliza Protocol Buffers (protobuf) para definir servicios y serializar datos estructurados.</a:t>
            </a:r>
            <a:endParaRPr sz="1100">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Font typeface="Arial"/>
              <a:buChar char="●"/>
            </a:pPr>
            <a:r>
              <a:rPr b="1" lang="es" sz="1100">
                <a:latin typeface="Arial"/>
                <a:ea typeface="Arial"/>
                <a:cs typeface="Arial"/>
                <a:sym typeface="Arial"/>
              </a:rPr>
              <a:t>Comunicación:</a:t>
            </a:r>
            <a:r>
              <a:rPr lang="es" sz="1100">
                <a:latin typeface="Arial"/>
                <a:ea typeface="Arial"/>
                <a:cs typeface="Arial"/>
                <a:sym typeface="Arial"/>
              </a:rPr>
              <a:t> Puede usar HTTP/2 para el transporte, lo que permite características como multiplexación y transmisión bidireccional.</a:t>
            </a:r>
            <a:endParaRPr sz="1100">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Font typeface="Arial"/>
              <a:buChar char="●"/>
            </a:pPr>
            <a:r>
              <a:rPr b="1" lang="es" sz="1100">
                <a:latin typeface="Arial"/>
                <a:ea typeface="Arial"/>
                <a:cs typeface="Arial"/>
                <a:sym typeface="Arial"/>
              </a:rPr>
              <a:t>Estándares:</a:t>
            </a:r>
            <a:r>
              <a:rPr lang="es" sz="1100">
                <a:latin typeface="Arial"/>
                <a:ea typeface="Arial"/>
                <a:cs typeface="Arial"/>
                <a:sym typeface="Arial"/>
              </a:rPr>
              <a:t> Define contratos de servicio usando archivos </a:t>
            </a:r>
            <a:r>
              <a:rPr lang="es" sz="1100">
                <a:latin typeface="Roboto Mono"/>
                <a:ea typeface="Roboto Mono"/>
                <a:cs typeface="Roboto Mono"/>
                <a:sym typeface="Roboto Mono"/>
              </a:rPr>
              <a:t>.proto</a:t>
            </a:r>
            <a:r>
              <a:rPr lang="es" sz="1100">
                <a:latin typeface="Arial"/>
                <a:ea typeface="Arial"/>
                <a:cs typeface="Arial"/>
                <a:sym typeface="Arial"/>
              </a:rPr>
              <a:t>, que luego se utilizan para generar código cliente y servidor en varios lenguajes.</a:t>
            </a:r>
            <a:endParaRPr sz="1100">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Font typeface="Arial"/>
              <a:buChar char="●"/>
            </a:pPr>
            <a:r>
              <a:rPr b="1" lang="es" sz="1100">
                <a:latin typeface="Arial"/>
                <a:ea typeface="Arial"/>
                <a:cs typeface="Arial"/>
                <a:sym typeface="Arial"/>
              </a:rPr>
              <a:t>Uso:</a:t>
            </a:r>
            <a:r>
              <a:rPr lang="es" sz="1100">
                <a:latin typeface="Arial"/>
                <a:ea typeface="Arial"/>
                <a:cs typeface="Arial"/>
                <a:sym typeface="Arial"/>
              </a:rPr>
              <a:t> Adecuado para microservicios, comunicación en tiempo real y escenarios que requieren alto rendimiento y eficiencia.</a:t>
            </a:r>
            <a:endParaRPr sz="1100">
              <a:latin typeface="Arial"/>
              <a:ea typeface="Arial"/>
              <a:cs typeface="Arial"/>
              <a:sym typeface="Arial"/>
            </a:endParaRPr>
          </a:p>
          <a:p>
            <a:pPr indent="0" lvl="0" marL="0" rtl="0" algn="l">
              <a:lnSpc>
                <a:spcPct val="115000"/>
              </a:lnSpc>
              <a:spcBef>
                <a:spcPts val="1200"/>
              </a:spcBef>
              <a:spcAft>
                <a:spcPts val="0"/>
              </a:spcAft>
              <a:buSzPts val="13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g34384c037d8_0_0"/>
          <p:cNvPicPr preferRelativeResize="0"/>
          <p:nvPr/>
        </p:nvPicPr>
        <p:blipFill rotWithShape="1">
          <a:blip r:embed="rId3">
            <a:alphaModFix/>
          </a:blip>
          <a:srcRect b="0" l="0" r="0" t="0"/>
          <a:stretch/>
        </p:blipFill>
        <p:spPr>
          <a:xfrm>
            <a:off x="1351275" y="594775"/>
            <a:ext cx="6922976" cy="4101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graphicFrame>
        <p:nvGraphicFramePr>
          <p:cNvPr id="273" name="Google Shape;273;g304c4156dce_0_10"/>
          <p:cNvGraphicFramePr/>
          <p:nvPr/>
        </p:nvGraphicFramePr>
        <p:xfrm>
          <a:off x="1191850" y="579775"/>
          <a:ext cx="3000000" cy="3000000"/>
        </p:xfrm>
        <a:graphic>
          <a:graphicData uri="http://schemas.openxmlformats.org/drawingml/2006/table">
            <a:tbl>
              <a:tblPr>
                <a:noFill/>
                <a:tableStyleId>{DAAC0921-7682-4222-963F-7E9E9224D928}</a:tableStyleId>
              </a:tblPr>
              <a:tblGrid>
                <a:gridCol w="1661800"/>
                <a:gridCol w="2344475"/>
                <a:gridCol w="3485300"/>
              </a:tblGrid>
              <a:tr h="200025">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lt1"/>
                          </a:solidFill>
                        </a:rPr>
                        <a:t>Característica</a:t>
                      </a:r>
                      <a:endParaRPr b="1" sz="1100" u="none" cap="none" strike="noStrike">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lt1"/>
                          </a:solidFill>
                        </a:rPr>
                        <a:t>REST</a:t>
                      </a:r>
                      <a:endParaRPr b="1" sz="1100" u="none" cap="none" strike="noStrike">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lt1"/>
                          </a:solidFill>
                        </a:rPr>
                        <a:t>gRPC</a:t>
                      </a:r>
                      <a:endParaRPr b="1" sz="1100" u="none" cap="none" strike="noStrike">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Protocolo</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HTTP/1.1</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HTTP/2</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Formato de Datos</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JSON, XML</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Protocol Buffers (binario)</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3850">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Rendimiento</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Generalmente más lento debido a cargas útiles verbosas</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Mayor rendimiento con serialización binaria y optimizaciones de HTTP/2</a:t>
                      </a:r>
                      <a:endParaRPr sz="1100" u="none" cap="none" strike="noStrike">
                        <a:solidFill>
                          <a:schemeClr val="lt1"/>
                        </a:solidFill>
                      </a:endParaRPr>
                    </a:p>
                  </a:txBody>
                  <a:tcPr marT="19050" marB="19050" marR="91425" marL="91425"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Soporte para Streaming</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Limitado (p. ej., Server-Sent Events)</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Soporte nativo para streaming cliente, servidor y bidireccional</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3850">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Definición de API</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Normalmente documentado vía OpenAPI/Swagger</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Definido usando archivos .proto</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3850">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Herramientas y Soporte de Lenguajes</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Amplio soporte de lenguajes, herramientas más sencillas</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Fuerte soporte en muchos lenguajes, pero depende de protobuf</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Soporte en Navegadores</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Nativamente soportado por navegadores</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Soporte directo limitado en navegadores (normalmente requiere un proxy o uso de gRPC-Web)</a:t>
                      </a:r>
                      <a:endParaRPr sz="1100" u="none" cap="none" strike="noStrike">
                        <a:solidFill>
                          <a:schemeClr val="lt1"/>
                        </a:solidFill>
                      </a:endParaRPr>
                    </a:p>
                  </a:txBody>
                  <a:tcPr marT="19050" marB="19050" marR="91425" marL="91425"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3850">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Caché</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Bien soportado con mecanismos de caché HTTP</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Más complejo, depende de características de HTTP/2 y soluciones personalizadas</a:t>
                      </a:r>
                      <a:endParaRPr sz="1100" u="none" cap="none" strike="noStrike">
                        <a:solidFill>
                          <a:schemeClr val="lt1"/>
                        </a:solidFill>
                      </a:endParaRPr>
                    </a:p>
                  </a:txBody>
                  <a:tcPr marT="19050" marB="19050" marR="91425" marL="91425"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Manejo de Errores</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Usa códigos de estado HTTP estándar</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Usa códigos de estado definidos por gRPC junto con detalles de errores enriquecidos</a:t>
                      </a:r>
                      <a:endParaRPr sz="1100" u="none" cap="none" strike="noStrike">
                        <a:solidFill>
                          <a:schemeClr val="lt1"/>
                        </a:solidFill>
                      </a:endParaRPr>
                    </a:p>
                  </a:txBody>
                  <a:tcPr marT="19050" marB="19050" marR="91425" marL="91425"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Seguridad</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Seguridad HTTP estándar (TLS, OAuth)</a:t>
                      </a:r>
                      <a:endParaRPr sz="1100" u="none" cap="none" strike="noStrike">
                        <a:solidFill>
                          <a:schemeClr val="lt1"/>
                        </a:solidFill>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lt1"/>
                          </a:solidFill>
                        </a:rPr>
                        <a:t>gRPC ofrece soporte nativo para TLS (Transport Layer Security), lo que permite la encriptación de datos en tránsito.</a:t>
                      </a:r>
                      <a:endParaRPr sz="1100" u="none" cap="none" strike="noStrike">
                        <a:solidFill>
                          <a:schemeClr val="lt1"/>
                        </a:solidFill>
                      </a:endParaRPr>
                    </a:p>
                  </a:txBody>
                  <a:tcPr marT="19050" marB="19050" marR="91425" marL="91425"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74" name="Google Shape;274;g304c4156dce_0_10"/>
          <p:cNvSpPr txBox="1"/>
          <p:nvPr/>
        </p:nvSpPr>
        <p:spPr>
          <a:xfrm>
            <a:off x="1268150" y="133375"/>
            <a:ext cx="30000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s" sz="1700" u="none" cap="none" strike="noStrike">
                <a:solidFill>
                  <a:schemeClr val="lt1"/>
                </a:solidFill>
                <a:latin typeface="Arial"/>
                <a:ea typeface="Arial"/>
                <a:cs typeface="Arial"/>
                <a:sym typeface="Arial"/>
              </a:rPr>
              <a:t>Diferencias Clave</a:t>
            </a:r>
            <a:endParaRPr b="1" i="0" sz="1700" u="none" cap="none" strike="noStrik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04c4156dce_0_15"/>
          <p:cNvSpPr txBox="1"/>
          <p:nvPr>
            <p:ph type="title"/>
          </p:nvPr>
        </p:nvSpPr>
        <p:spPr>
          <a:xfrm>
            <a:off x="1297500" y="393750"/>
            <a:ext cx="7038900" cy="459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400"/>
              </a:spcAft>
              <a:buSzPts val="2400"/>
              <a:buNone/>
            </a:pPr>
            <a:r>
              <a:rPr b="1" lang="es" sz="1700">
                <a:latin typeface="Arial"/>
                <a:ea typeface="Arial"/>
                <a:cs typeface="Arial"/>
                <a:sym typeface="Arial"/>
              </a:rPr>
              <a:t>Ventajas de REST</a:t>
            </a:r>
            <a:endParaRPr/>
          </a:p>
        </p:txBody>
      </p:sp>
      <p:sp>
        <p:nvSpPr>
          <p:cNvPr id="280" name="Google Shape;280;g304c4156dce_0_15"/>
          <p:cNvSpPr txBox="1"/>
          <p:nvPr>
            <p:ph idx="1" type="body"/>
          </p:nvPr>
        </p:nvSpPr>
        <p:spPr>
          <a:xfrm>
            <a:off x="1297500" y="794425"/>
            <a:ext cx="7441200" cy="3972000"/>
          </a:xfrm>
          <a:prstGeom prst="rect">
            <a:avLst/>
          </a:prstGeom>
          <a:noFill/>
          <a:ln>
            <a:noFill/>
          </a:ln>
        </p:spPr>
        <p:txBody>
          <a:bodyPr anchorCtr="0" anchor="t" bIns="91425" lIns="91425" spcFirstLastPara="1" rIns="91425" wrap="square" tIns="91425">
            <a:noAutofit/>
          </a:bodyPr>
          <a:lstStyle/>
          <a:p>
            <a:pPr indent="-326316" lvl="0" marL="457200" rtl="0" algn="l">
              <a:lnSpc>
                <a:spcPct val="95000"/>
              </a:lnSpc>
              <a:spcBef>
                <a:spcPts val="1200"/>
              </a:spcBef>
              <a:spcAft>
                <a:spcPts val="0"/>
              </a:spcAft>
              <a:buClr>
                <a:schemeClr val="lt1"/>
              </a:buClr>
              <a:buSzPts val="1538"/>
              <a:buFont typeface="Arial"/>
              <a:buAutoNum type="arabicPeriod"/>
            </a:pPr>
            <a:r>
              <a:rPr b="1" lang="es" sz="1537">
                <a:latin typeface="Arial"/>
                <a:ea typeface="Arial"/>
                <a:cs typeface="Arial"/>
                <a:sym typeface="Arial"/>
              </a:rPr>
              <a:t>Simplicidad y Accesibilidad:</a:t>
            </a:r>
            <a:endParaRPr b="1" sz="1537">
              <a:latin typeface="Arial"/>
              <a:ea typeface="Arial"/>
              <a:cs typeface="Arial"/>
              <a:sym typeface="Arial"/>
            </a:endParaRPr>
          </a:p>
          <a:p>
            <a:pPr indent="-326316" lvl="1" marL="914400" rtl="0" algn="l">
              <a:lnSpc>
                <a:spcPct val="95000"/>
              </a:lnSpc>
              <a:spcBef>
                <a:spcPts val="0"/>
              </a:spcBef>
              <a:spcAft>
                <a:spcPts val="0"/>
              </a:spcAft>
              <a:buClr>
                <a:schemeClr val="lt1"/>
              </a:buClr>
              <a:buSzPts val="1538"/>
              <a:buFont typeface="Arial"/>
              <a:buChar char="○"/>
            </a:pPr>
            <a:r>
              <a:rPr lang="es" sz="1537">
                <a:latin typeface="Arial"/>
                <a:ea typeface="Arial"/>
                <a:cs typeface="Arial"/>
                <a:sym typeface="Arial"/>
              </a:rPr>
              <a:t>Fácil de entender e implementar.</a:t>
            </a:r>
            <a:endParaRPr sz="1537">
              <a:latin typeface="Arial"/>
              <a:ea typeface="Arial"/>
              <a:cs typeface="Arial"/>
              <a:sym typeface="Arial"/>
            </a:endParaRPr>
          </a:p>
          <a:p>
            <a:pPr indent="-326316" lvl="1" marL="914400" rtl="0" algn="l">
              <a:lnSpc>
                <a:spcPct val="95000"/>
              </a:lnSpc>
              <a:spcBef>
                <a:spcPts val="0"/>
              </a:spcBef>
              <a:spcAft>
                <a:spcPts val="0"/>
              </a:spcAft>
              <a:buClr>
                <a:schemeClr val="lt1"/>
              </a:buClr>
              <a:buSzPts val="1538"/>
              <a:buFont typeface="Arial"/>
              <a:buChar char="○"/>
            </a:pPr>
            <a:r>
              <a:rPr lang="es" sz="1537">
                <a:latin typeface="Arial"/>
                <a:ea typeface="Arial"/>
                <a:cs typeface="Arial"/>
                <a:sym typeface="Arial"/>
              </a:rPr>
              <a:t>Utiliza métodos y códigos de estado HTTP estándar, lo que lo hace accesible para una amplia gama de desarrolladores.</a:t>
            </a:r>
            <a:endParaRPr sz="1537">
              <a:latin typeface="Arial"/>
              <a:ea typeface="Arial"/>
              <a:cs typeface="Arial"/>
              <a:sym typeface="Arial"/>
            </a:endParaRPr>
          </a:p>
          <a:p>
            <a:pPr indent="-326316" lvl="0" marL="457200" rtl="0" algn="l">
              <a:lnSpc>
                <a:spcPct val="95000"/>
              </a:lnSpc>
              <a:spcBef>
                <a:spcPts val="0"/>
              </a:spcBef>
              <a:spcAft>
                <a:spcPts val="0"/>
              </a:spcAft>
              <a:buClr>
                <a:schemeClr val="lt1"/>
              </a:buClr>
              <a:buSzPts val="1538"/>
              <a:buFont typeface="Arial"/>
              <a:buAutoNum type="arabicPeriod"/>
            </a:pPr>
            <a:r>
              <a:rPr b="1" lang="es" sz="1537">
                <a:latin typeface="Arial"/>
                <a:ea typeface="Arial"/>
                <a:cs typeface="Arial"/>
                <a:sym typeface="Arial"/>
              </a:rPr>
              <a:t>Compatibilidad Amplia:</a:t>
            </a:r>
            <a:endParaRPr b="1" sz="1537">
              <a:latin typeface="Arial"/>
              <a:ea typeface="Arial"/>
              <a:cs typeface="Arial"/>
              <a:sym typeface="Arial"/>
            </a:endParaRPr>
          </a:p>
          <a:p>
            <a:pPr indent="-326316" lvl="1" marL="914400" rtl="0" algn="l">
              <a:lnSpc>
                <a:spcPct val="95000"/>
              </a:lnSpc>
              <a:spcBef>
                <a:spcPts val="0"/>
              </a:spcBef>
              <a:spcAft>
                <a:spcPts val="0"/>
              </a:spcAft>
              <a:buClr>
                <a:schemeClr val="lt1"/>
              </a:buClr>
              <a:buSzPts val="1538"/>
              <a:buFont typeface="Arial"/>
              <a:buChar char="○"/>
            </a:pPr>
            <a:r>
              <a:rPr lang="es" sz="1537">
                <a:latin typeface="Arial"/>
                <a:ea typeface="Arial"/>
                <a:cs typeface="Arial"/>
                <a:sym typeface="Arial"/>
              </a:rPr>
              <a:t>Soportado por prácticamente todos los clientes, incluidos navegadores web, dispositivos móviles y servidores.</a:t>
            </a:r>
            <a:endParaRPr sz="1537">
              <a:latin typeface="Arial"/>
              <a:ea typeface="Arial"/>
              <a:cs typeface="Arial"/>
              <a:sym typeface="Arial"/>
            </a:endParaRPr>
          </a:p>
          <a:p>
            <a:pPr indent="-326316" lvl="1" marL="914400" rtl="0" algn="l">
              <a:lnSpc>
                <a:spcPct val="95000"/>
              </a:lnSpc>
              <a:spcBef>
                <a:spcPts val="0"/>
              </a:spcBef>
              <a:spcAft>
                <a:spcPts val="0"/>
              </a:spcAft>
              <a:buClr>
                <a:schemeClr val="lt1"/>
              </a:buClr>
              <a:buSzPts val="1538"/>
              <a:buFont typeface="Arial"/>
              <a:buChar char="○"/>
            </a:pPr>
            <a:r>
              <a:rPr lang="es" sz="1537">
                <a:latin typeface="Arial"/>
                <a:ea typeface="Arial"/>
                <a:cs typeface="Arial"/>
                <a:sym typeface="Arial"/>
              </a:rPr>
              <a:t>No requiere bibliotecas especializadas; se puede consumir mediante solicitudes HTTP simples.</a:t>
            </a:r>
            <a:endParaRPr sz="1537">
              <a:latin typeface="Arial"/>
              <a:ea typeface="Arial"/>
              <a:cs typeface="Arial"/>
              <a:sym typeface="Arial"/>
            </a:endParaRPr>
          </a:p>
          <a:p>
            <a:pPr indent="-326316" lvl="0" marL="457200" rtl="0" algn="l">
              <a:lnSpc>
                <a:spcPct val="95000"/>
              </a:lnSpc>
              <a:spcBef>
                <a:spcPts val="0"/>
              </a:spcBef>
              <a:spcAft>
                <a:spcPts val="0"/>
              </a:spcAft>
              <a:buClr>
                <a:schemeClr val="lt1"/>
              </a:buClr>
              <a:buSzPts val="1538"/>
              <a:buFont typeface="Arial"/>
              <a:buAutoNum type="arabicPeriod"/>
            </a:pPr>
            <a:r>
              <a:rPr b="1" lang="es" sz="1537">
                <a:latin typeface="Arial"/>
                <a:ea typeface="Arial"/>
                <a:cs typeface="Arial"/>
                <a:sym typeface="Arial"/>
              </a:rPr>
              <a:t>Formatos Legibles por Humanos:</a:t>
            </a:r>
            <a:endParaRPr b="1" sz="1537">
              <a:latin typeface="Arial"/>
              <a:ea typeface="Arial"/>
              <a:cs typeface="Arial"/>
              <a:sym typeface="Arial"/>
            </a:endParaRPr>
          </a:p>
          <a:p>
            <a:pPr indent="-326316" lvl="1" marL="914400" rtl="0" algn="l">
              <a:lnSpc>
                <a:spcPct val="95000"/>
              </a:lnSpc>
              <a:spcBef>
                <a:spcPts val="0"/>
              </a:spcBef>
              <a:spcAft>
                <a:spcPts val="0"/>
              </a:spcAft>
              <a:buClr>
                <a:schemeClr val="lt1"/>
              </a:buClr>
              <a:buSzPts val="1538"/>
              <a:buFont typeface="Arial"/>
              <a:buChar char="○"/>
            </a:pPr>
            <a:r>
              <a:rPr lang="es" sz="1537">
                <a:latin typeface="Arial"/>
                <a:ea typeface="Arial"/>
                <a:cs typeface="Arial"/>
                <a:sym typeface="Arial"/>
              </a:rPr>
              <a:t>JSON y XML son fáciles de leer y depurar.</a:t>
            </a:r>
            <a:endParaRPr sz="1537">
              <a:latin typeface="Arial"/>
              <a:ea typeface="Arial"/>
              <a:cs typeface="Arial"/>
              <a:sym typeface="Arial"/>
            </a:endParaRPr>
          </a:p>
          <a:p>
            <a:pPr indent="-326316" lvl="0" marL="457200" rtl="0" algn="l">
              <a:lnSpc>
                <a:spcPct val="95000"/>
              </a:lnSpc>
              <a:spcBef>
                <a:spcPts val="0"/>
              </a:spcBef>
              <a:spcAft>
                <a:spcPts val="0"/>
              </a:spcAft>
              <a:buClr>
                <a:schemeClr val="lt1"/>
              </a:buClr>
              <a:buSzPts val="1538"/>
              <a:buFont typeface="Arial"/>
              <a:buAutoNum type="arabicPeriod"/>
            </a:pPr>
            <a:r>
              <a:rPr b="1" lang="es" sz="1537">
                <a:latin typeface="Arial"/>
                <a:ea typeface="Arial"/>
                <a:cs typeface="Arial"/>
                <a:sym typeface="Arial"/>
              </a:rPr>
              <a:t>Caché:</a:t>
            </a:r>
            <a:endParaRPr b="1" sz="1537">
              <a:latin typeface="Arial"/>
              <a:ea typeface="Arial"/>
              <a:cs typeface="Arial"/>
              <a:sym typeface="Arial"/>
            </a:endParaRPr>
          </a:p>
          <a:p>
            <a:pPr indent="-326316" lvl="1" marL="914400" rtl="0" algn="l">
              <a:lnSpc>
                <a:spcPct val="95000"/>
              </a:lnSpc>
              <a:spcBef>
                <a:spcPts val="0"/>
              </a:spcBef>
              <a:spcAft>
                <a:spcPts val="0"/>
              </a:spcAft>
              <a:buClr>
                <a:schemeClr val="lt1"/>
              </a:buClr>
              <a:buSzPts val="1538"/>
              <a:buFont typeface="Arial"/>
              <a:buChar char="○"/>
            </a:pPr>
            <a:r>
              <a:rPr lang="es" sz="1537">
                <a:latin typeface="Arial"/>
                <a:ea typeface="Arial"/>
                <a:cs typeface="Arial"/>
                <a:sym typeface="Arial"/>
              </a:rPr>
              <a:t>Aprovecha los mecanismos de caché HTTP existentes, mejorando el rendimiento para solicitudes repetidas.</a:t>
            </a:r>
            <a:endParaRPr sz="1537">
              <a:latin typeface="Arial"/>
              <a:ea typeface="Arial"/>
              <a:cs typeface="Arial"/>
              <a:sym typeface="Arial"/>
            </a:endParaRPr>
          </a:p>
          <a:p>
            <a:pPr indent="-326316" lvl="0" marL="457200" rtl="0" algn="l">
              <a:lnSpc>
                <a:spcPct val="95000"/>
              </a:lnSpc>
              <a:spcBef>
                <a:spcPts val="0"/>
              </a:spcBef>
              <a:spcAft>
                <a:spcPts val="0"/>
              </a:spcAft>
              <a:buClr>
                <a:schemeClr val="lt1"/>
              </a:buClr>
              <a:buSzPts val="1538"/>
              <a:buFont typeface="Arial"/>
              <a:buAutoNum type="arabicPeriod"/>
            </a:pPr>
            <a:r>
              <a:rPr b="1" lang="es" sz="1537">
                <a:latin typeface="Arial"/>
                <a:ea typeface="Arial"/>
                <a:cs typeface="Arial"/>
                <a:sym typeface="Arial"/>
              </a:rPr>
              <a:t>Sin Estado:</a:t>
            </a:r>
            <a:endParaRPr b="1" sz="1537">
              <a:latin typeface="Arial"/>
              <a:ea typeface="Arial"/>
              <a:cs typeface="Arial"/>
              <a:sym typeface="Arial"/>
            </a:endParaRPr>
          </a:p>
          <a:p>
            <a:pPr indent="-326316" lvl="1" marL="914400" rtl="0" algn="l">
              <a:lnSpc>
                <a:spcPct val="95000"/>
              </a:lnSpc>
              <a:spcBef>
                <a:spcPts val="0"/>
              </a:spcBef>
              <a:spcAft>
                <a:spcPts val="0"/>
              </a:spcAft>
              <a:buClr>
                <a:schemeClr val="lt1"/>
              </a:buClr>
              <a:buSzPts val="1538"/>
              <a:buFont typeface="Arial"/>
              <a:buChar char="○"/>
            </a:pPr>
            <a:r>
              <a:rPr lang="es" sz="1537">
                <a:latin typeface="Arial"/>
                <a:ea typeface="Arial"/>
                <a:cs typeface="Arial"/>
                <a:sym typeface="Arial"/>
              </a:rPr>
              <a:t>Cada solicitud contiene toda la información necesaria, simplificando la escalabilidad.</a:t>
            </a:r>
            <a:endParaRPr sz="1537">
              <a:latin typeface="Arial"/>
              <a:ea typeface="Arial"/>
              <a:cs typeface="Arial"/>
              <a:sym typeface="Arial"/>
            </a:endParaRPr>
          </a:p>
          <a:p>
            <a:pPr indent="0" lvl="0" marL="0" rtl="0" algn="l">
              <a:lnSpc>
                <a:spcPct val="95000"/>
              </a:lnSpc>
              <a:spcBef>
                <a:spcPts val="1200"/>
              </a:spcBef>
              <a:spcAft>
                <a:spcPts val="0"/>
              </a:spcAft>
              <a:buSzPts val="1300"/>
              <a:buNone/>
            </a:pPr>
            <a:r>
              <a:t/>
            </a:r>
            <a:endParaRPr sz="1307"/>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04c4156dce_0_20"/>
          <p:cNvSpPr txBox="1"/>
          <p:nvPr>
            <p:ph type="title"/>
          </p:nvPr>
        </p:nvSpPr>
        <p:spPr>
          <a:xfrm>
            <a:off x="1297500" y="243000"/>
            <a:ext cx="7038900" cy="459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400"/>
              </a:spcAft>
              <a:buSzPts val="2400"/>
              <a:buNone/>
            </a:pPr>
            <a:r>
              <a:rPr b="1" lang="es" sz="1700">
                <a:latin typeface="Arial"/>
                <a:ea typeface="Arial"/>
                <a:cs typeface="Arial"/>
                <a:sym typeface="Arial"/>
              </a:rPr>
              <a:t>Ventajas de gRPC</a:t>
            </a:r>
            <a:endParaRPr/>
          </a:p>
        </p:txBody>
      </p:sp>
      <p:sp>
        <p:nvSpPr>
          <p:cNvPr id="286" name="Google Shape;286;g304c4156dce_0_20"/>
          <p:cNvSpPr txBox="1"/>
          <p:nvPr>
            <p:ph idx="1" type="body"/>
          </p:nvPr>
        </p:nvSpPr>
        <p:spPr>
          <a:xfrm>
            <a:off x="1238750" y="879775"/>
            <a:ext cx="7472700" cy="3927000"/>
          </a:xfrm>
          <a:prstGeom prst="rect">
            <a:avLst/>
          </a:prstGeom>
          <a:noFill/>
          <a:ln>
            <a:noFill/>
          </a:ln>
        </p:spPr>
        <p:txBody>
          <a:bodyPr anchorCtr="0" anchor="t" bIns="91425" lIns="91425" spcFirstLastPara="1" rIns="91425" wrap="square" tIns="91425">
            <a:noAutofit/>
          </a:bodyPr>
          <a:lstStyle/>
          <a:p>
            <a:pPr indent="-311150" lvl="0" marL="457200" rtl="0" algn="l">
              <a:lnSpc>
                <a:spcPct val="105000"/>
              </a:lnSpc>
              <a:spcBef>
                <a:spcPts val="1200"/>
              </a:spcBef>
              <a:spcAft>
                <a:spcPts val="0"/>
              </a:spcAft>
              <a:buClr>
                <a:schemeClr val="lt1"/>
              </a:buClr>
              <a:buSzPts val="1300"/>
              <a:buFont typeface="Arial"/>
              <a:buAutoNum type="arabicPeriod"/>
            </a:pPr>
            <a:r>
              <a:rPr b="1" lang="es">
                <a:latin typeface="Arial"/>
                <a:ea typeface="Arial"/>
                <a:cs typeface="Arial"/>
                <a:sym typeface="Arial"/>
              </a:rPr>
              <a:t>Rendimiento y Eficiencia:</a:t>
            </a:r>
            <a:endParaRPr b="1">
              <a:latin typeface="Arial"/>
              <a:ea typeface="Arial"/>
              <a:cs typeface="Arial"/>
              <a:sym typeface="Arial"/>
            </a:endParaRPr>
          </a:p>
          <a:p>
            <a:pPr indent="-311150" lvl="1" marL="914400" rtl="0" algn="l">
              <a:lnSpc>
                <a:spcPct val="105000"/>
              </a:lnSpc>
              <a:spcBef>
                <a:spcPts val="0"/>
              </a:spcBef>
              <a:spcAft>
                <a:spcPts val="0"/>
              </a:spcAft>
              <a:buClr>
                <a:schemeClr val="lt1"/>
              </a:buClr>
              <a:buSzPts val="1300"/>
              <a:buFont typeface="Arial"/>
              <a:buChar char="○"/>
            </a:pPr>
            <a:r>
              <a:rPr lang="es" sz="1300">
                <a:latin typeface="Arial"/>
                <a:ea typeface="Arial"/>
                <a:cs typeface="Arial"/>
                <a:sym typeface="Arial"/>
              </a:rPr>
              <a:t>La serialización binaria con Protocol Buffers es más rápida y compacta que JSON.</a:t>
            </a:r>
            <a:endParaRPr sz="1300">
              <a:latin typeface="Arial"/>
              <a:ea typeface="Arial"/>
              <a:cs typeface="Arial"/>
              <a:sym typeface="Arial"/>
            </a:endParaRPr>
          </a:p>
          <a:p>
            <a:pPr indent="-311150" lvl="1" marL="914400" rtl="0" algn="l">
              <a:lnSpc>
                <a:spcPct val="105000"/>
              </a:lnSpc>
              <a:spcBef>
                <a:spcPts val="0"/>
              </a:spcBef>
              <a:spcAft>
                <a:spcPts val="0"/>
              </a:spcAft>
              <a:buClr>
                <a:schemeClr val="lt1"/>
              </a:buClr>
              <a:buSzPts val="1300"/>
              <a:buFont typeface="Arial"/>
              <a:buChar char="○"/>
            </a:pPr>
            <a:r>
              <a:rPr lang="es" sz="1300">
                <a:latin typeface="Arial"/>
                <a:ea typeface="Arial"/>
                <a:cs typeface="Arial"/>
                <a:sym typeface="Arial"/>
              </a:rPr>
              <a:t>HTTP/2 permite flujos multiplexados, reduciendo la latencia.</a:t>
            </a:r>
            <a:endParaRPr sz="1300">
              <a:latin typeface="Arial"/>
              <a:ea typeface="Arial"/>
              <a:cs typeface="Arial"/>
              <a:sym typeface="Arial"/>
            </a:endParaRPr>
          </a:p>
          <a:p>
            <a:pPr indent="-311150" lvl="0" marL="457200" rtl="0" algn="l">
              <a:lnSpc>
                <a:spcPct val="105000"/>
              </a:lnSpc>
              <a:spcBef>
                <a:spcPts val="0"/>
              </a:spcBef>
              <a:spcAft>
                <a:spcPts val="0"/>
              </a:spcAft>
              <a:buClr>
                <a:schemeClr val="lt1"/>
              </a:buClr>
              <a:buSzPts val="1300"/>
              <a:buFont typeface="Arial"/>
              <a:buAutoNum type="arabicPeriod"/>
            </a:pPr>
            <a:r>
              <a:rPr b="1" lang="es">
                <a:latin typeface="Arial"/>
                <a:ea typeface="Arial"/>
                <a:cs typeface="Arial"/>
                <a:sym typeface="Arial"/>
              </a:rPr>
              <a:t>Contratos Fuertemente Tipados:</a:t>
            </a:r>
            <a:endParaRPr b="1">
              <a:latin typeface="Arial"/>
              <a:ea typeface="Arial"/>
              <a:cs typeface="Arial"/>
              <a:sym typeface="Arial"/>
            </a:endParaRPr>
          </a:p>
          <a:p>
            <a:pPr indent="-311150" lvl="1" marL="914400" rtl="0" algn="l">
              <a:lnSpc>
                <a:spcPct val="105000"/>
              </a:lnSpc>
              <a:spcBef>
                <a:spcPts val="0"/>
              </a:spcBef>
              <a:spcAft>
                <a:spcPts val="0"/>
              </a:spcAft>
              <a:buClr>
                <a:schemeClr val="lt1"/>
              </a:buClr>
              <a:buSzPts val="1300"/>
              <a:buFont typeface="Arial"/>
              <a:buChar char="○"/>
            </a:pPr>
            <a:r>
              <a:rPr lang="es" sz="1300">
                <a:latin typeface="Arial"/>
                <a:ea typeface="Arial"/>
                <a:cs typeface="Arial"/>
                <a:sym typeface="Arial"/>
              </a:rPr>
              <a:t>Los archivos </a:t>
            </a:r>
            <a:r>
              <a:rPr lang="es" sz="1300">
                <a:latin typeface="Roboto Mono"/>
                <a:ea typeface="Roboto Mono"/>
                <a:cs typeface="Roboto Mono"/>
                <a:sym typeface="Roboto Mono"/>
              </a:rPr>
              <a:t>.proto</a:t>
            </a:r>
            <a:r>
              <a:rPr lang="es" sz="1300">
                <a:latin typeface="Arial"/>
                <a:ea typeface="Arial"/>
                <a:cs typeface="Arial"/>
                <a:sym typeface="Arial"/>
              </a:rPr>
              <a:t> imponen contratos estrictos entre cliente y servidor, reduciendo errores y mejorando la confiabilidad.</a:t>
            </a:r>
            <a:endParaRPr sz="1300">
              <a:latin typeface="Arial"/>
              <a:ea typeface="Arial"/>
              <a:cs typeface="Arial"/>
              <a:sym typeface="Arial"/>
            </a:endParaRPr>
          </a:p>
          <a:p>
            <a:pPr indent="-311150" lvl="0" marL="457200" rtl="0" algn="l">
              <a:lnSpc>
                <a:spcPct val="105000"/>
              </a:lnSpc>
              <a:spcBef>
                <a:spcPts val="0"/>
              </a:spcBef>
              <a:spcAft>
                <a:spcPts val="0"/>
              </a:spcAft>
              <a:buClr>
                <a:schemeClr val="lt1"/>
              </a:buClr>
              <a:buSzPts val="1300"/>
              <a:buFont typeface="Arial"/>
              <a:buAutoNum type="arabicPeriod"/>
            </a:pPr>
            <a:r>
              <a:rPr b="1" lang="es">
                <a:latin typeface="Arial"/>
                <a:ea typeface="Arial"/>
                <a:cs typeface="Arial"/>
                <a:sym typeface="Arial"/>
              </a:rPr>
              <a:t>Capacidades de Streaming:</a:t>
            </a:r>
            <a:endParaRPr b="1">
              <a:latin typeface="Arial"/>
              <a:ea typeface="Arial"/>
              <a:cs typeface="Arial"/>
              <a:sym typeface="Arial"/>
            </a:endParaRPr>
          </a:p>
          <a:p>
            <a:pPr indent="-311150" lvl="1" marL="914400" rtl="0" algn="l">
              <a:lnSpc>
                <a:spcPct val="105000"/>
              </a:lnSpc>
              <a:spcBef>
                <a:spcPts val="0"/>
              </a:spcBef>
              <a:spcAft>
                <a:spcPts val="0"/>
              </a:spcAft>
              <a:buClr>
                <a:schemeClr val="lt1"/>
              </a:buClr>
              <a:buSzPts val="1300"/>
              <a:buFont typeface="Arial"/>
              <a:buChar char="○"/>
            </a:pPr>
            <a:r>
              <a:rPr lang="es" sz="1300">
                <a:latin typeface="Arial"/>
                <a:ea typeface="Arial"/>
                <a:cs typeface="Arial"/>
                <a:sym typeface="Arial"/>
              </a:rPr>
              <a:t>Soporte nativo para varios tipos de streaming (cliente, servidor, bidireccional), permitiendo el intercambio de datos en tiempo real.</a:t>
            </a:r>
            <a:endParaRPr sz="1300">
              <a:latin typeface="Arial"/>
              <a:ea typeface="Arial"/>
              <a:cs typeface="Arial"/>
              <a:sym typeface="Arial"/>
            </a:endParaRPr>
          </a:p>
          <a:p>
            <a:pPr indent="-311150" lvl="0" marL="457200" rtl="0" algn="l">
              <a:lnSpc>
                <a:spcPct val="105000"/>
              </a:lnSpc>
              <a:spcBef>
                <a:spcPts val="0"/>
              </a:spcBef>
              <a:spcAft>
                <a:spcPts val="0"/>
              </a:spcAft>
              <a:buClr>
                <a:schemeClr val="lt1"/>
              </a:buClr>
              <a:buSzPts val="1300"/>
              <a:buFont typeface="Arial"/>
              <a:buAutoNum type="arabicPeriod"/>
            </a:pPr>
            <a:r>
              <a:rPr b="1" lang="es">
                <a:latin typeface="Arial"/>
                <a:ea typeface="Arial"/>
                <a:cs typeface="Arial"/>
                <a:sym typeface="Arial"/>
              </a:rPr>
              <a:t>Generación de Código:</a:t>
            </a:r>
            <a:endParaRPr b="1">
              <a:latin typeface="Arial"/>
              <a:ea typeface="Arial"/>
              <a:cs typeface="Arial"/>
              <a:sym typeface="Arial"/>
            </a:endParaRPr>
          </a:p>
          <a:p>
            <a:pPr indent="-311150" lvl="1" marL="914400" rtl="0" algn="l">
              <a:lnSpc>
                <a:spcPct val="105000"/>
              </a:lnSpc>
              <a:spcBef>
                <a:spcPts val="0"/>
              </a:spcBef>
              <a:spcAft>
                <a:spcPts val="0"/>
              </a:spcAft>
              <a:buClr>
                <a:schemeClr val="lt1"/>
              </a:buClr>
              <a:buSzPts val="1300"/>
              <a:buFont typeface="Arial"/>
              <a:buChar char="○"/>
            </a:pPr>
            <a:r>
              <a:rPr lang="es" sz="1300">
                <a:latin typeface="Arial"/>
                <a:ea typeface="Arial"/>
                <a:cs typeface="Arial"/>
                <a:sym typeface="Arial"/>
              </a:rPr>
              <a:t>Genera automáticamente código cliente y servidor en múltiples lenguajes, acelerando el desarrollo.</a:t>
            </a:r>
            <a:endParaRPr sz="1300">
              <a:latin typeface="Arial"/>
              <a:ea typeface="Arial"/>
              <a:cs typeface="Arial"/>
              <a:sym typeface="Arial"/>
            </a:endParaRPr>
          </a:p>
          <a:p>
            <a:pPr indent="-311150" lvl="0" marL="457200" rtl="0" algn="l">
              <a:lnSpc>
                <a:spcPct val="105000"/>
              </a:lnSpc>
              <a:spcBef>
                <a:spcPts val="0"/>
              </a:spcBef>
              <a:spcAft>
                <a:spcPts val="0"/>
              </a:spcAft>
              <a:buClr>
                <a:schemeClr val="lt1"/>
              </a:buClr>
              <a:buSzPts val="1300"/>
              <a:buFont typeface="Arial"/>
              <a:buAutoNum type="arabicPeriod"/>
            </a:pPr>
            <a:r>
              <a:rPr b="1" lang="es">
                <a:latin typeface="Arial"/>
                <a:ea typeface="Arial"/>
                <a:cs typeface="Arial"/>
                <a:sym typeface="Arial"/>
              </a:rPr>
              <a:t>Características Avanzadas:</a:t>
            </a:r>
            <a:endParaRPr b="1">
              <a:latin typeface="Arial"/>
              <a:ea typeface="Arial"/>
              <a:cs typeface="Arial"/>
              <a:sym typeface="Arial"/>
            </a:endParaRPr>
          </a:p>
          <a:p>
            <a:pPr indent="-311150" lvl="1" marL="914400" rtl="0" algn="l">
              <a:lnSpc>
                <a:spcPct val="105000"/>
              </a:lnSpc>
              <a:spcBef>
                <a:spcPts val="0"/>
              </a:spcBef>
              <a:spcAft>
                <a:spcPts val="0"/>
              </a:spcAft>
              <a:buClr>
                <a:schemeClr val="lt1"/>
              </a:buClr>
              <a:buSzPts val="1300"/>
              <a:buFont typeface="Arial"/>
              <a:buChar char="○"/>
            </a:pPr>
            <a:r>
              <a:rPr lang="es" sz="1300">
                <a:latin typeface="Arial"/>
                <a:ea typeface="Arial"/>
                <a:cs typeface="Arial"/>
                <a:sym typeface="Arial"/>
              </a:rPr>
              <a:t>Soporta plazos/límites de tiempo, autenticación, balanceo de carga y más de manera integrada.</a:t>
            </a:r>
            <a:endParaRPr sz="1300">
              <a:latin typeface="Arial"/>
              <a:ea typeface="Arial"/>
              <a:cs typeface="Arial"/>
              <a:sym typeface="Arial"/>
            </a:endParaRPr>
          </a:p>
          <a:p>
            <a:pPr indent="-311150" lvl="0" marL="457200" rtl="0" algn="l">
              <a:lnSpc>
                <a:spcPct val="105000"/>
              </a:lnSpc>
              <a:spcBef>
                <a:spcPts val="0"/>
              </a:spcBef>
              <a:spcAft>
                <a:spcPts val="0"/>
              </a:spcAft>
              <a:buClr>
                <a:schemeClr val="lt1"/>
              </a:buClr>
              <a:buSzPts val="1300"/>
              <a:buFont typeface="Arial"/>
              <a:buAutoNum type="arabicPeriod"/>
            </a:pPr>
            <a:r>
              <a:rPr b="1" lang="es">
                <a:latin typeface="Arial"/>
                <a:ea typeface="Arial"/>
                <a:cs typeface="Arial"/>
                <a:sym typeface="Arial"/>
              </a:rPr>
              <a:t>Amigable para Microservicios:</a:t>
            </a:r>
            <a:endParaRPr b="1">
              <a:latin typeface="Arial"/>
              <a:ea typeface="Arial"/>
              <a:cs typeface="Arial"/>
              <a:sym typeface="Arial"/>
            </a:endParaRPr>
          </a:p>
          <a:p>
            <a:pPr indent="-311150" lvl="1" marL="914400" rtl="0" algn="l">
              <a:lnSpc>
                <a:spcPct val="105000"/>
              </a:lnSpc>
              <a:spcBef>
                <a:spcPts val="0"/>
              </a:spcBef>
              <a:spcAft>
                <a:spcPts val="0"/>
              </a:spcAft>
              <a:buClr>
                <a:schemeClr val="lt1"/>
              </a:buClr>
              <a:buSzPts val="1300"/>
              <a:buFont typeface="Arial"/>
              <a:buChar char="○"/>
            </a:pPr>
            <a:r>
              <a:rPr lang="es" sz="1300">
                <a:latin typeface="Arial"/>
                <a:ea typeface="Arial"/>
                <a:cs typeface="Arial"/>
                <a:sym typeface="Arial"/>
              </a:rPr>
              <a:t>Ideal para la comunicación inter-servicios dentro de arquitecturas de microservicios debido a su rendimiento y cumplimiento de contratos.</a:t>
            </a:r>
            <a:endParaRPr sz="1300">
              <a:latin typeface="Arial"/>
              <a:ea typeface="Arial"/>
              <a:cs typeface="Arial"/>
              <a:sym typeface="Arial"/>
            </a:endParaRPr>
          </a:p>
          <a:p>
            <a:pPr indent="0" lvl="0" marL="0" rtl="0" algn="l">
              <a:lnSpc>
                <a:spcPct val="105000"/>
              </a:lnSpc>
              <a:spcBef>
                <a:spcPts val="1200"/>
              </a:spcBef>
              <a:spcAft>
                <a:spcPts val="0"/>
              </a:spcAft>
              <a:buSzPts val="1300"/>
              <a:buNone/>
            </a:pPr>
            <a:r>
              <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04c4156dce_0_25"/>
          <p:cNvSpPr txBox="1"/>
          <p:nvPr>
            <p:ph type="title"/>
          </p:nvPr>
        </p:nvSpPr>
        <p:spPr>
          <a:xfrm>
            <a:off x="819150" y="549375"/>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400"/>
              </a:spcAft>
              <a:buSzPts val="2400"/>
              <a:buNone/>
            </a:pPr>
            <a:r>
              <a:rPr b="1" lang="es" sz="2000">
                <a:latin typeface="Arial"/>
                <a:ea typeface="Arial"/>
                <a:cs typeface="Arial"/>
                <a:sym typeface="Arial"/>
              </a:rPr>
              <a:t>Cuándo Usar REST</a:t>
            </a:r>
            <a:endParaRPr sz="3300"/>
          </a:p>
        </p:txBody>
      </p:sp>
      <p:sp>
        <p:nvSpPr>
          <p:cNvPr id="292" name="Google Shape;292;g304c4156dce_0_25"/>
          <p:cNvSpPr txBox="1"/>
          <p:nvPr>
            <p:ph idx="1" type="body"/>
          </p:nvPr>
        </p:nvSpPr>
        <p:spPr>
          <a:xfrm>
            <a:off x="761550" y="1131025"/>
            <a:ext cx="7620900" cy="3662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Clr>
                <a:schemeClr val="lt1"/>
              </a:buClr>
              <a:buSzPts val="1600"/>
              <a:buFont typeface="Arial"/>
              <a:buChar char="●"/>
            </a:pPr>
            <a:r>
              <a:rPr b="1" lang="es" sz="1600">
                <a:latin typeface="Arial"/>
                <a:ea typeface="Arial"/>
                <a:cs typeface="Arial"/>
                <a:sym typeface="Arial"/>
              </a:rPr>
              <a:t>APIs Públicas:</a:t>
            </a:r>
            <a:r>
              <a:rPr lang="es" sz="1600">
                <a:latin typeface="Arial"/>
                <a:ea typeface="Arial"/>
                <a:cs typeface="Arial"/>
                <a:sym typeface="Arial"/>
              </a:rPr>
              <a:t> Cuando se necesita una accesibilidad y compatibilidad amplias, especialmente para clientes como navegadores web y aplicaciones de terceros.</a:t>
            </a:r>
            <a:endParaRPr sz="1600">
              <a:latin typeface="Arial"/>
              <a:ea typeface="Arial"/>
              <a:cs typeface="Arial"/>
              <a:sym typeface="Arial"/>
            </a:endParaRPr>
          </a:p>
          <a:p>
            <a:pPr indent="-330200" lvl="0" marL="457200" rtl="0" algn="l">
              <a:lnSpc>
                <a:spcPct val="115000"/>
              </a:lnSpc>
              <a:spcBef>
                <a:spcPts val="0"/>
              </a:spcBef>
              <a:spcAft>
                <a:spcPts val="0"/>
              </a:spcAft>
              <a:buClr>
                <a:schemeClr val="lt1"/>
              </a:buClr>
              <a:buSzPts val="1600"/>
              <a:buFont typeface="Arial"/>
              <a:buChar char="●"/>
            </a:pPr>
            <a:r>
              <a:rPr b="1" lang="es" sz="1600">
                <a:latin typeface="Arial"/>
                <a:ea typeface="Arial"/>
                <a:cs typeface="Arial"/>
                <a:sym typeface="Arial"/>
              </a:rPr>
              <a:t>Aplicaciones CRUD Simples:</a:t>
            </a:r>
            <a:r>
              <a:rPr lang="es" sz="1600">
                <a:latin typeface="Arial"/>
                <a:ea typeface="Arial"/>
                <a:cs typeface="Arial"/>
                <a:sym typeface="Arial"/>
              </a:rPr>
              <a:t> Donde las operaciones son directas y no requieren alto rendimiento.</a:t>
            </a:r>
            <a:endParaRPr sz="1600">
              <a:latin typeface="Arial"/>
              <a:ea typeface="Arial"/>
              <a:cs typeface="Arial"/>
              <a:sym typeface="Arial"/>
            </a:endParaRPr>
          </a:p>
          <a:p>
            <a:pPr indent="-330200" lvl="0" marL="457200" rtl="0" algn="l">
              <a:lnSpc>
                <a:spcPct val="115000"/>
              </a:lnSpc>
              <a:spcBef>
                <a:spcPts val="0"/>
              </a:spcBef>
              <a:spcAft>
                <a:spcPts val="0"/>
              </a:spcAft>
              <a:buClr>
                <a:schemeClr val="lt1"/>
              </a:buClr>
              <a:buSzPts val="1600"/>
              <a:buFont typeface="Arial"/>
              <a:buChar char="●"/>
            </a:pPr>
            <a:r>
              <a:rPr b="1" lang="es" sz="1600">
                <a:latin typeface="Arial"/>
                <a:ea typeface="Arial"/>
                <a:cs typeface="Arial"/>
                <a:sym typeface="Arial"/>
              </a:rPr>
              <a:t>Facilidad de Desarrollo:</a:t>
            </a:r>
            <a:r>
              <a:rPr lang="es" sz="1600">
                <a:latin typeface="Arial"/>
                <a:ea typeface="Arial"/>
                <a:cs typeface="Arial"/>
                <a:sym typeface="Arial"/>
              </a:rPr>
              <a:t> Cuando se prioriza el desarrollo rápido y la simplicidad sobre el rendimiento.</a:t>
            </a:r>
            <a:endParaRPr sz="1600">
              <a:latin typeface="Arial"/>
              <a:ea typeface="Arial"/>
              <a:cs typeface="Arial"/>
              <a:sym typeface="Arial"/>
            </a:endParaRPr>
          </a:p>
          <a:p>
            <a:pPr indent="-330200" lvl="0" marL="457200" rtl="0" algn="l">
              <a:lnSpc>
                <a:spcPct val="115000"/>
              </a:lnSpc>
              <a:spcBef>
                <a:spcPts val="0"/>
              </a:spcBef>
              <a:spcAft>
                <a:spcPts val="0"/>
              </a:spcAft>
              <a:buClr>
                <a:schemeClr val="lt1"/>
              </a:buClr>
              <a:buSzPts val="1600"/>
              <a:buFont typeface="Arial"/>
              <a:buChar char="●"/>
            </a:pPr>
            <a:r>
              <a:rPr b="1" lang="es" sz="1600">
                <a:latin typeface="Arial"/>
                <a:ea typeface="Arial"/>
                <a:cs typeface="Arial"/>
                <a:sym typeface="Arial"/>
              </a:rPr>
              <a:t>Necesidades de Datos Legibles por Humanos:</a:t>
            </a:r>
            <a:r>
              <a:rPr lang="es" sz="1600">
                <a:latin typeface="Arial"/>
                <a:ea typeface="Arial"/>
                <a:cs typeface="Arial"/>
                <a:sym typeface="Arial"/>
              </a:rPr>
              <a:t> Situaciones donde la depuración y la legibilidad de los datos son importantes.</a:t>
            </a:r>
            <a:endParaRPr sz="1600">
              <a:latin typeface="Arial"/>
              <a:ea typeface="Arial"/>
              <a:cs typeface="Arial"/>
              <a:sym typeface="Arial"/>
            </a:endParaRPr>
          </a:p>
          <a:p>
            <a:pPr indent="-330200" lvl="0" marL="457200" rtl="0" algn="l">
              <a:lnSpc>
                <a:spcPct val="115000"/>
              </a:lnSpc>
              <a:spcBef>
                <a:spcPts val="0"/>
              </a:spcBef>
              <a:spcAft>
                <a:spcPts val="0"/>
              </a:spcAft>
              <a:buClr>
                <a:schemeClr val="lt1"/>
              </a:buClr>
              <a:buSzPts val="1600"/>
              <a:buFont typeface="Arial"/>
              <a:buChar char="●"/>
            </a:pPr>
            <a:r>
              <a:rPr b="1" lang="es" sz="1600">
                <a:latin typeface="Arial"/>
                <a:ea typeface="Arial"/>
                <a:cs typeface="Arial"/>
                <a:sym typeface="Arial"/>
              </a:rPr>
              <a:t>Aprovechar Herramientas Existentes:</a:t>
            </a:r>
            <a:r>
              <a:rPr lang="es" sz="1600">
                <a:latin typeface="Arial"/>
                <a:ea typeface="Arial"/>
                <a:cs typeface="Arial"/>
                <a:sym typeface="Arial"/>
              </a:rPr>
              <a:t> Cuando se desea utilizar herramientas e infraestructuras existentes que están construidas alrededor de REST.</a:t>
            </a:r>
            <a:endParaRPr sz="1600">
              <a:latin typeface="Arial"/>
              <a:ea typeface="Arial"/>
              <a:cs typeface="Arial"/>
              <a:sym typeface="Arial"/>
            </a:endParaRPr>
          </a:p>
          <a:p>
            <a:pPr indent="0" lvl="0" marL="0" rtl="0" algn="l">
              <a:lnSpc>
                <a:spcPct val="115000"/>
              </a:lnSpc>
              <a:spcBef>
                <a:spcPts val="1200"/>
              </a:spcBef>
              <a:spcAft>
                <a:spcPts val="0"/>
              </a:spcAft>
              <a:buSzPts val="1300"/>
              <a:buNone/>
            </a:pPr>
            <a:r>
              <a:t/>
            </a:r>
            <a:endParaRPr sz="1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04c4156dce_0_30"/>
          <p:cNvSpPr txBox="1"/>
          <p:nvPr>
            <p:ph type="title"/>
          </p:nvPr>
        </p:nvSpPr>
        <p:spPr>
          <a:xfrm>
            <a:off x="1052550" y="461075"/>
            <a:ext cx="7038900" cy="45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400"/>
              </a:spcAft>
              <a:buSzPts val="2400"/>
              <a:buNone/>
            </a:pPr>
            <a:r>
              <a:rPr b="1" lang="es" sz="2000">
                <a:latin typeface="Arial"/>
                <a:ea typeface="Arial"/>
                <a:cs typeface="Arial"/>
                <a:sym typeface="Arial"/>
              </a:rPr>
              <a:t>Cuándo Usar gRPC</a:t>
            </a:r>
            <a:endParaRPr sz="3300"/>
          </a:p>
        </p:txBody>
      </p:sp>
      <p:sp>
        <p:nvSpPr>
          <p:cNvPr id="298" name="Google Shape;298;g304c4156dce_0_30"/>
          <p:cNvSpPr txBox="1"/>
          <p:nvPr>
            <p:ph idx="1" type="body"/>
          </p:nvPr>
        </p:nvSpPr>
        <p:spPr>
          <a:xfrm>
            <a:off x="444325" y="1198350"/>
            <a:ext cx="8159700" cy="35142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Clr>
                <a:schemeClr val="lt1"/>
              </a:buClr>
              <a:buSzPts val="1500"/>
              <a:buFont typeface="Arial"/>
              <a:buChar char="●"/>
            </a:pPr>
            <a:r>
              <a:rPr b="1" lang="es" sz="1500">
                <a:latin typeface="Arial"/>
                <a:ea typeface="Arial"/>
                <a:cs typeface="Arial"/>
                <a:sym typeface="Arial"/>
              </a:rPr>
              <a:t>Comunicación Interna entre Microservicios:</a:t>
            </a:r>
            <a:r>
              <a:rPr lang="es" sz="1500">
                <a:latin typeface="Arial"/>
                <a:ea typeface="Arial"/>
                <a:cs typeface="Arial"/>
                <a:sym typeface="Arial"/>
              </a:rPr>
              <a:t> Al construir una arquitectura de microservicios que requiere comunicación de alto rendimiento y eficiente.</a:t>
            </a:r>
            <a:endParaRPr sz="1500">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Font typeface="Arial"/>
              <a:buChar char="●"/>
            </a:pPr>
            <a:r>
              <a:rPr b="1" lang="es" sz="1500">
                <a:latin typeface="Arial"/>
                <a:ea typeface="Arial"/>
                <a:cs typeface="Arial"/>
                <a:sym typeface="Arial"/>
              </a:rPr>
              <a:t>Aplicaciones en Tiempo Real:</a:t>
            </a:r>
            <a:r>
              <a:rPr lang="es" sz="1500">
                <a:latin typeface="Arial"/>
                <a:ea typeface="Arial"/>
                <a:cs typeface="Arial"/>
                <a:sym typeface="Arial"/>
              </a:rPr>
              <a:t> Aplicaciones como sistemas de chat, juegos o flujos de datos en vivo que se benefician del streaming.</a:t>
            </a:r>
            <a:endParaRPr sz="1500">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Font typeface="Arial"/>
              <a:buChar char="●"/>
            </a:pPr>
            <a:r>
              <a:rPr b="1" lang="es" sz="1500">
                <a:latin typeface="Arial"/>
                <a:ea typeface="Arial"/>
                <a:cs typeface="Arial"/>
                <a:sym typeface="Arial"/>
              </a:rPr>
              <a:t>Requisitos de Baja Latencia:</a:t>
            </a:r>
            <a:r>
              <a:rPr lang="es" sz="1500">
                <a:latin typeface="Arial"/>
                <a:ea typeface="Arial"/>
                <a:cs typeface="Arial"/>
                <a:sym typeface="Arial"/>
              </a:rPr>
              <a:t> Sistemas donde el rendimiento y la baja latencia son críticos, como servicios financieros o IoT.</a:t>
            </a:r>
            <a:endParaRPr sz="1500">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Font typeface="Arial"/>
              <a:buChar char="●"/>
            </a:pPr>
            <a:r>
              <a:rPr b="1" lang="es" sz="1500">
                <a:latin typeface="Arial"/>
                <a:ea typeface="Arial"/>
                <a:cs typeface="Arial"/>
                <a:sym typeface="Arial"/>
              </a:rPr>
              <a:t>Contratos Fuertemente Tipados:</a:t>
            </a:r>
            <a:r>
              <a:rPr lang="es" sz="1500">
                <a:latin typeface="Arial"/>
                <a:ea typeface="Arial"/>
                <a:cs typeface="Arial"/>
                <a:sym typeface="Arial"/>
              </a:rPr>
              <a:t> Cuando se necesita imponer contratos estrictos entre servicios para minimizar errores.</a:t>
            </a:r>
            <a:endParaRPr sz="1500">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Font typeface="Arial"/>
              <a:buChar char="●"/>
            </a:pPr>
            <a:r>
              <a:rPr b="1" lang="es" sz="1500">
                <a:latin typeface="Arial"/>
                <a:ea typeface="Arial"/>
                <a:cs typeface="Arial"/>
                <a:sym typeface="Arial"/>
              </a:rPr>
              <a:t>Entornos Políglotas:</a:t>
            </a:r>
            <a:r>
              <a:rPr lang="es" sz="1500">
                <a:latin typeface="Arial"/>
                <a:ea typeface="Arial"/>
                <a:cs typeface="Arial"/>
                <a:sym typeface="Arial"/>
              </a:rPr>
              <a:t> Al trabajar con múltiples lenguajes de programación, aprovechando la generación de código de gRPC puede simplificar el desarrollo.</a:t>
            </a:r>
            <a:endParaRPr sz="1500">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Font typeface="Arial"/>
              <a:buChar char="●"/>
            </a:pPr>
            <a:r>
              <a:rPr b="1" lang="es" sz="1500">
                <a:latin typeface="Arial"/>
                <a:ea typeface="Arial"/>
                <a:cs typeface="Arial"/>
                <a:sym typeface="Arial"/>
              </a:rPr>
              <a:t>Entornos con Recursos Limitados:</a:t>
            </a:r>
            <a:r>
              <a:rPr lang="es" sz="1500">
                <a:latin typeface="Arial"/>
                <a:ea typeface="Arial"/>
                <a:cs typeface="Arial"/>
                <a:sym typeface="Arial"/>
              </a:rPr>
              <a:t> Escenarios donde el ancho de banda y los recursos computacionales son limitados, beneficiándose de la eficiencia de Protocol Buffers.</a:t>
            </a:r>
            <a:endParaRPr sz="1500">
              <a:latin typeface="Arial"/>
              <a:ea typeface="Arial"/>
              <a:cs typeface="Arial"/>
              <a:sym typeface="Arial"/>
            </a:endParaRPr>
          </a:p>
          <a:p>
            <a:pPr indent="0" lvl="0" marL="0" rtl="0" algn="l">
              <a:lnSpc>
                <a:spcPct val="115000"/>
              </a:lnSpc>
              <a:spcBef>
                <a:spcPts val="1200"/>
              </a:spcBef>
              <a:spcAft>
                <a:spcPts val="0"/>
              </a:spcAft>
              <a:buSzPts val="1300"/>
              <a:buNone/>
            </a:pPr>
            <a:r>
              <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04c4156dce_0_35"/>
          <p:cNvSpPr txBox="1"/>
          <p:nvPr>
            <p:ph type="title"/>
          </p:nvPr>
        </p:nvSpPr>
        <p:spPr>
          <a:xfrm>
            <a:off x="563325" y="374325"/>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400"/>
              </a:spcAft>
              <a:buSzPts val="2400"/>
              <a:buNone/>
            </a:pPr>
            <a:r>
              <a:rPr b="1" lang="es" sz="2400">
                <a:latin typeface="Arial"/>
                <a:ea typeface="Arial"/>
                <a:cs typeface="Arial"/>
                <a:sym typeface="Arial"/>
              </a:rPr>
              <a:t>Enfoques Híbridos</a:t>
            </a:r>
            <a:endParaRPr sz="3700"/>
          </a:p>
        </p:txBody>
      </p:sp>
      <p:sp>
        <p:nvSpPr>
          <p:cNvPr id="304" name="Google Shape;304;g304c4156dce_0_35"/>
          <p:cNvSpPr txBox="1"/>
          <p:nvPr>
            <p:ph idx="1" type="body"/>
          </p:nvPr>
        </p:nvSpPr>
        <p:spPr>
          <a:xfrm>
            <a:off x="646300" y="1206850"/>
            <a:ext cx="7917300" cy="3263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1200"/>
              </a:spcBef>
              <a:spcAft>
                <a:spcPts val="0"/>
              </a:spcAft>
              <a:buSzPts val="1300"/>
              <a:buNone/>
            </a:pPr>
            <a:r>
              <a:rPr lang="es" sz="1900">
                <a:latin typeface="Arial"/>
                <a:ea typeface="Arial"/>
                <a:cs typeface="Arial"/>
                <a:sym typeface="Arial"/>
              </a:rPr>
              <a:t>En algunos casos, las organizaciones optan por usar tanto REST como gRPC dentro de sus sistemas, aprovechando las fortalezas de cada uno según corresponda:</a:t>
            </a:r>
            <a:endParaRPr sz="1900">
              <a:latin typeface="Arial"/>
              <a:ea typeface="Arial"/>
              <a:cs typeface="Arial"/>
              <a:sym typeface="Arial"/>
            </a:endParaRPr>
          </a:p>
          <a:p>
            <a:pPr indent="-349250" lvl="0" marL="457200" rtl="0" algn="l">
              <a:lnSpc>
                <a:spcPct val="105000"/>
              </a:lnSpc>
              <a:spcBef>
                <a:spcPts val="1200"/>
              </a:spcBef>
              <a:spcAft>
                <a:spcPts val="0"/>
              </a:spcAft>
              <a:buClr>
                <a:schemeClr val="lt1"/>
              </a:buClr>
              <a:buSzPts val="1900"/>
              <a:buFont typeface="Arial"/>
              <a:buChar char="●"/>
            </a:pPr>
            <a:r>
              <a:rPr b="1" lang="es" sz="1900">
                <a:latin typeface="Arial"/>
                <a:ea typeface="Arial"/>
                <a:cs typeface="Arial"/>
                <a:sym typeface="Arial"/>
              </a:rPr>
              <a:t>REST para APIs Externas/Públicas:</a:t>
            </a:r>
            <a:r>
              <a:rPr lang="es" sz="1900">
                <a:latin typeface="Arial"/>
                <a:ea typeface="Arial"/>
                <a:cs typeface="Arial"/>
                <a:sym typeface="Arial"/>
              </a:rPr>
              <a:t> Asegurando una amplia accesibilidad y facilidad de uso para clientes externos.</a:t>
            </a:r>
            <a:endParaRPr sz="1900">
              <a:latin typeface="Arial"/>
              <a:ea typeface="Arial"/>
              <a:cs typeface="Arial"/>
              <a:sym typeface="Arial"/>
            </a:endParaRPr>
          </a:p>
          <a:p>
            <a:pPr indent="-349250" lvl="0" marL="457200" rtl="0" algn="l">
              <a:lnSpc>
                <a:spcPct val="105000"/>
              </a:lnSpc>
              <a:spcBef>
                <a:spcPts val="0"/>
              </a:spcBef>
              <a:spcAft>
                <a:spcPts val="0"/>
              </a:spcAft>
              <a:buClr>
                <a:schemeClr val="lt1"/>
              </a:buClr>
              <a:buSzPts val="1900"/>
              <a:buFont typeface="Arial"/>
              <a:buChar char="●"/>
            </a:pPr>
            <a:r>
              <a:rPr b="1" lang="es" sz="1900">
                <a:latin typeface="Arial"/>
                <a:ea typeface="Arial"/>
                <a:cs typeface="Arial"/>
                <a:sym typeface="Arial"/>
              </a:rPr>
              <a:t>gRPC para Comunicación Interna:</a:t>
            </a:r>
            <a:r>
              <a:rPr lang="es" sz="1900">
                <a:latin typeface="Arial"/>
                <a:ea typeface="Arial"/>
                <a:cs typeface="Arial"/>
                <a:sym typeface="Arial"/>
              </a:rPr>
              <a:t> Maximizando el rendimiento y la eficiencia entre servicios internos.</a:t>
            </a:r>
            <a:endParaRPr sz="1900">
              <a:latin typeface="Arial"/>
              <a:ea typeface="Arial"/>
              <a:cs typeface="Arial"/>
              <a:sym typeface="Arial"/>
            </a:endParaRPr>
          </a:p>
          <a:p>
            <a:pPr indent="0" lvl="0" marL="0" rtl="0" algn="l">
              <a:lnSpc>
                <a:spcPct val="105000"/>
              </a:lnSpc>
              <a:spcBef>
                <a:spcPts val="1200"/>
              </a:spcBef>
              <a:spcAft>
                <a:spcPts val="0"/>
              </a:spcAft>
              <a:buSzPts val="1300"/>
              <a:buNone/>
            </a:pPr>
            <a:r>
              <a:rPr lang="es" sz="1900">
                <a:latin typeface="Arial"/>
                <a:ea typeface="Arial"/>
                <a:cs typeface="Arial"/>
                <a:sym typeface="Arial"/>
              </a:rPr>
              <a:t>Este enfoque híbrido permite flexibilidad, optimizando tanto la experiencia del desarrollador como el rendimiento del sistema.</a:t>
            </a:r>
            <a:endParaRPr sz="1900">
              <a:latin typeface="Arial"/>
              <a:ea typeface="Arial"/>
              <a:cs typeface="Arial"/>
              <a:sym typeface="Arial"/>
            </a:endParaRPr>
          </a:p>
          <a:p>
            <a:pPr indent="0" lvl="0" marL="0" rtl="0" algn="l">
              <a:lnSpc>
                <a:spcPct val="105000"/>
              </a:lnSpc>
              <a:spcBef>
                <a:spcPts val="1200"/>
              </a:spcBef>
              <a:spcAft>
                <a:spcPts val="0"/>
              </a:spcAft>
              <a:buSzPts val="1300"/>
              <a:buNone/>
            </a:pPr>
            <a:r>
              <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609770417b_0_672"/>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400"/>
              </a:spcAft>
              <a:buSzPts val="2400"/>
              <a:buNone/>
            </a:pPr>
            <a:r>
              <a:rPr b="1" lang="es" sz="2300">
                <a:latin typeface="Arial"/>
                <a:ea typeface="Arial"/>
                <a:cs typeface="Arial"/>
                <a:sym typeface="Arial"/>
              </a:rPr>
              <a:t>Conceptos Básicos de Kubernetes</a:t>
            </a:r>
            <a:endParaRPr sz="3600"/>
          </a:p>
        </p:txBody>
      </p:sp>
      <p:sp>
        <p:nvSpPr>
          <p:cNvPr id="310" name="Google Shape;310;g3609770417b_0_672"/>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b="1" lang="es" sz="1800">
                <a:latin typeface="Arial"/>
                <a:ea typeface="Arial"/>
                <a:cs typeface="Arial"/>
                <a:sym typeface="Arial"/>
              </a:rPr>
              <a:t>Kubernetes</a:t>
            </a:r>
            <a:r>
              <a:rPr lang="es" sz="1800">
                <a:latin typeface="Arial"/>
                <a:ea typeface="Arial"/>
                <a:cs typeface="Arial"/>
                <a:sym typeface="Arial"/>
              </a:rPr>
              <a:t> es un </a:t>
            </a:r>
            <a:r>
              <a:rPr b="1" lang="es" sz="1800">
                <a:latin typeface="Arial"/>
                <a:ea typeface="Arial"/>
                <a:cs typeface="Arial"/>
                <a:sym typeface="Arial"/>
              </a:rPr>
              <a:t>orquestador de contenedores</a:t>
            </a:r>
            <a:r>
              <a:rPr lang="es" sz="1800">
                <a:latin typeface="Arial"/>
                <a:ea typeface="Arial"/>
                <a:cs typeface="Arial"/>
                <a:sym typeface="Arial"/>
              </a:rPr>
              <a:t> de código abierto. Su función principal es </a:t>
            </a:r>
            <a:r>
              <a:rPr b="1" lang="es" sz="1800">
                <a:latin typeface="Arial"/>
                <a:ea typeface="Arial"/>
                <a:cs typeface="Arial"/>
                <a:sym typeface="Arial"/>
              </a:rPr>
              <a:t>automatizar el despliegue, escalado y gestión de aplicaciones contenerizadas</a:t>
            </a:r>
            <a:r>
              <a:rPr lang="es" sz="1800">
                <a:latin typeface="Arial"/>
                <a:ea typeface="Arial"/>
                <a:cs typeface="Arial"/>
                <a:sym typeface="Arial"/>
              </a:rPr>
              <a:t>. Facilita la operación de sistemas distribuidos, asegurando la disponibilidad, el balanceo de carga y la auto-sanación de las aplicaciones. Abstrae la infraestructura subyacente, permitiendo que las aplicaciones sean portables entre diferentes entornos (on-premise, cloud, híbrido).</a:t>
            </a:r>
            <a:endParaRPr sz="1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609770417b_0_678"/>
          <p:cNvSpPr txBox="1"/>
          <p:nvPr>
            <p:ph type="title"/>
          </p:nvPr>
        </p:nvSpPr>
        <p:spPr>
          <a:xfrm>
            <a:off x="1297500" y="393750"/>
            <a:ext cx="7038900" cy="525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400"/>
              </a:spcAft>
              <a:buSzPts val="2400"/>
              <a:buNone/>
            </a:pPr>
            <a:r>
              <a:rPr b="1" lang="es" sz="2000">
                <a:latin typeface="Arial"/>
                <a:ea typeface="Arial"/>
                <a:cs typeface="Arial"/>
                <a:sym typeface="Arial"/>
              </a:rPr>
              <a:t>Arquitectura de Kubernetes</a:t>
            </a:r>
            <a:endParaRPr sz="3300"/>
          </a:p>
        </p:txBody>
      </p:sp>
      <p:sp>
        <p:nvSpPr>
          <p:cNvPr id="316" name="Google Shape;316;g3609770417b_0_678"/>
          <p:cNvSpPr txBox="1"/>
          <p:nvPr>
            <p:ph idx="1" type="body"/>
          </p:nvPr>
        </p:nvSpPr>
        <p:spPr>
          <a:xfrm>
            <a:off x="546150" y="919050"/>
            <a:ext cx="8138400" cy="394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300"/>
              <a:buNone/>
            </a:pPr>
            <a:r>
              <a:rPr lang="es">
                <a:latin typeface="Arial"/>
                <a:ea typeface="Arial"/>
                <a:cs typeface="Arial"/>
                <a:sym typeface="Arial"/>
              </a:rPr>
              <a:t>Un clúster de Kubernetes se compone de:</a:t>
            </a:r>
            <a:endParaRPr>
              <a:latin typeface="Arial"/>
              <a:ea typeface="Arial"/>
              <a:cs typeface="Arial"/>
              <a:sym typeface="Arial"/>
            </a:endParaRPr>
          </a:p>
          <a:p>
            <a:pPr indent="-311150" lvl="0" marL="457200" rtl="0" algn="l">
              <a:lnSpc>
                <a:spcPct val="115000"/>
              </a:lnSpc>
              <a:spcBef>
                <a:spcPts val="1200"/>
              </a:spcBef>
              <a:spcAft>
                <a:spcPts val="0"/>
              </a:spcAft>
              <a:buClr>
                <a:schemeClr val="lt1"/>
              </a:buClr>
              <a:buSzPts val="1300"/>
              <a:buFont typeface="Arial"/>
              <a:buChar char="●"/>
            </a:pPr>
            <a:r>
              <a:rPr b="1" lang="es">
                <a:latin typeface="Arial"/>
                <a:ea typeface="Arial"/>
                <a:cs typeface="Arial"/>
                <a:sym typeface="Arial"/>
              </a:rPr>
              <a:t>Plano de Control (Control Plane / Master Node):</a:t>
            </a:r>
            <a:r>
              <a:rPr lang="es">
                <a:latin typeface="Arial"/>
                <a:ea typeface="Arial"/>
                <a:cs typeface="Arial"/>
                <a:sym typeface="Arial"/>
              </a:rPr>
              <a:t> Cerebro del clúster.</a:t>
            </a:r>
            <a:endParaRPr>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b="1" lang="es" sz="1300">
                <a:latin typeface="Arial"/>
                <a:ea typeface="Arial"/>
                <a:cs typeface="Arial"/>
                <a:sym typeface="Arial"/>
              </a:rPr>
              <a:t>kube-apiserver:</a:t>
            </a:r>
            <a:r>
              <a:rPr lang="es" sz="1300">
                <a:latin typeface="Arial"/>
                <a:ea typeface="Arial"/>
                <a:cs typeface="Arial"/>
                <a:sym typeface="Arial"/>
              </a:rPr>
              <a:t> Expone la API de Kubernetes. Es la interfaz de comunicación.</a:t>
            </a:r>
            <a:endParaRPr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b="1" lang="es" sz="1300">
                <a:latin typeface="Arial"/>
                <a:ea typeface="Arial"/>
                <a:cs typeface="Arial"/>
                <a:sym typeface="Arial"/>
              </a:rPr>
              <a:t>etcd:</a:t>
            </a:r>
            <a:r>
              <a:rPr lang="es" sz="1300">
                <a:latin typeface="Arial"/>
                <a:ea typeface="Arial"/>
                <a:cs typeface="Arial"/>
                <a:sym typeface="Arial"/>
              </a:rPr>
              <a:t> Almacén de clave-valor distribuido y consistente para la configuración del clúster y el estado.</a:t>
            </a:r>
            <a:endParaRPr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b="1" lang="es" sz="1300">
                <a:latin typeface="Arial"/>
                <a:ea typeface="Arial"/>
                <a:cs typeface="Arial"/>
                <a:sym typeface="Arial"/>
              </a:rPr>
              <a:t>kube-scheduler:</a:t>
            </a:r>
            <a:r>
              <a:rPr lang="es" sz="1300">
                <a:latin typeface="Arial"/>
                <a:ea typeface="Arial"/>
                <a:cs typeface="Arial"/>
                <a:sym typeface="Arial"/>
              </a:rPr>
              <a:t> Asigna Pods a los nodos según requisitos y recursos disponibles.</a:t>
            </a:r>
            <a:endParaRPr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b="1" lang="es" sz="1300">
                <a:latin typeface="Arial"/>
                <a:ea typeface="Arial"/>
                <a:cs typeface="Arial"/>
                <a:sym typeface="Arial"/>
              </a:rPr>
              <a:t>kube-controller-manager:</a:t>
            </a:r>
            <a:r>
              <a:rPr lang="es" sz="1300">
                <a:latin typeface="Arial"/>
                <a:ea typeface="Arial"/>
                <a:cs typeface="Arial"/>
                <a:sym typeface="Arial"/>
              </a:rPr>
              <a:t> Ejecuta controladores que gestionan el estado del clúster (ej. controladores de réplicas, nodos).</a:t>
            </a:r>
            <a:endParaRPr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b="1" lang="es">
                <a:latin typeface="Arial"/>
                <a:ea typeface="Arial"/>
                <a:cs typeface="Arial"/>
                <a:sym typeface="Arial"/>
              </a:rPr>
              <a:t>Nodos de Trabajo (Worker Nodes):</a:t>
            </a:r>
            <a:r>
              <a:rPr lang="es">
                <a:latin typeface="Arial"/>
                <a:ea typeface="Arial"/>
                <a:cs typeface="Arial"/>
                <a:sym typeface="Arial"/>
              </a:rPr>
              <a:t> Máquinas donde se ejecutan las aplicaciones.</a:t>
            </a:r>
            <a:endParaRPr>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b="1" lang="es" sz="1300">
                <a:latin typeface="Arial"/>
                <a:ea typeface="Arial"/>
                <a:cs typeface="Arial"/>
                <a:sym typeface="Arial"/>
              </a:rPr>
              <a:t>kubelet:</a:t>
            </a:r>
            <a:r>
              <a:rPr lang="es" sz="1300">
                <a:latin typeface="Arial"/>
                <a:ea typeface="Arial"/>
                <a:cs typeface="Arial"/>
                <a:sym typeface="Arial"/>
              </a:rPr>
              <a:t> Agente que se ejecuta en cada nodo, comunica con el Control Plane y asegura que los contenedores en los Pods estén funcionando.</a:t>
            </a:r>
            <a:endParaRPr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b="1" lang="es" sz="1300">
                <a:latin typeface="Arial"/>
                <a:ea typeface="Arial"/>
                <a:cs typeface="Arial"/>
                <a:sym typeface="Arial"/>
              </a:rPr>
              <a:t>kube-proxy:</a:t>
            </a:r>
            <a:r>
              <a:rPr lang="es" sz="1300">
                <a:latin typeface="Arial"/>
                <a:ea typeface="Arial"/>
                <a:cs typeface="Arial"/>
                <a:sym typeface="Arial"/>
              </a:rPr>
              <a:t> Mantiene las reglas de red para los Services, permitiendo la comunicación dentro y fuera del clúster.</a:t>
            </a:r>
            <a:endParaRPr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b="1" lang="es" sz="1300">
                <a:latin typeface="Arial"/>
                <a:ea typeface="Arial"/>
                <a:cs typeface="Arial"/>
                <a:sym typeface="Arial"/>
              </a:rPr>
              <a:t>Container Runtime:</a:t>
            </a:r>
            <a:r>
              <a:rPr lang="es" sz="1300">
                <a:latin typeface="Arial"/>
                <a:ea typeface="Arial"/>
                <a:cs typeface="Arial"/>
                <a:sym typeface="Arial"/>
              </a:rPr>
              <a:t> Software para ejecutar contenedores (ej. Docker, containerd, CRI-O).</a:t>
            </a:r>
            <a:endParaRPr sz="1300">
              <a:latin typeface="Arial"/>
              <a:ea typeface="Arial"/>
              <a:cs typeface="Arial"/>
              <a:sym typeface="Arial"/>
            </a:endParaRPr>
          </a:p>
          <a:p>
            <a:pPr indent="0" lvl="0" marL="0" rtl="0" algn="l">
              <a:lnSpc>
                <a:spcPct val="115000"/>
              </a:lnSpc>
              <a:spcBef>
                <a:spcPts val="1200"/>
              </a:spcBef>
              <a:spcAft>
                <a:spcPts val="0"/>
              </a:spcAft>
              <a:buSzPts val="1300"/>
              <a:buNone/>
            </a:pPr>
            <a:r>
              <a:t/>
            </a:r>
            <a:endParaRPr>
              <a:latin typeface="Arial"/>
              <a:ea typeface="Arial"/>
              <a:cs typeface="Arial"/>
              <a:sym typeface="Arial"/>
            </a:endParaRPr>
          </a:p>
          <a:p>
            <a:pPr indent="0" lvl="0" marL="0" rtl="0" algn="l">
              <a:lnSpc>
                <a:spcPct val="115000"/>
              </a:lnSpc>
              <a:spcBef>
                <a:spcPts val="1200"/>
              </a:spcBef>
              <a:spcAft>
                <a:spcPts val="0"/>
              </a:spcAft>
              <a:buSzPts val="1300"/>
              <a:buNone/>
            </a:pPr>
            <a:r>
              <a:t/>
            </a:r>
            <a:endParaRPr b="1">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609770417b_0_684"/>
          <p:cNvSpPr txBox="1"/>
          <p:nvPr>
            <p:ph type="title"/>
          </p:nvPr>
        </p:nvSpPr>
        <p:spPr>
          <a:xfrm>
            <a:off x="543475" y="393750"/>
            <a:ext cx="7038900" cy="525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400"/>
              </a:spcAft>
              <a:buSzPts val="2400"/>
              <a:buNone/>
            </a:pPr>
            <a:r>
              <a:rPr b="1" lang="es" sz="1900">
                <a:latin typeface="Arial"/>
                <a:ea typeface="Arial"/>
                <a:cs typeface="Arial"/>
                <a:sym typeface="Arial"/>
              </a:rPr>
              <a:t>Objetos fundamentales en Kubernetes</a:t>
            </a:r>
            <a:endParaRPr sz="3200"/>
          </a:p>
        </p:txBody>
      </p:sp>
      <p:sp>
        <p:nvSpPr>
          <p:cNvPr id="322" name="Google Shape;322;g3609770417b_0_684"/>
          <p:cNvSpPr txBox="1"/>
          <p:nvPr>
            <p:ph idx="1" type="body"/>
          </p:nvPr>
        </p:nvSpPr>
        <p:spPr>
          <a:xfrm>
            <a:off x="457800" y="919050"/>
            <a:ext cx="8361600" cy="39012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SzPts val="1300"/>
              <a:buFont typeface="Arial"/>
              <a:buChar char="●"/>
            </a:pPr>
            <a:r>
              <a:rPr b="1" lang="es">
                <a:latin typeface="Arial"/>
                <a:ea typeface="Arial"/>
                <a:cs typeface="Arial"/>
                <a:sym typeface="Arial"/>
              </a:rPr>
              <a:t>Pods:</a:t>
            </a:r>
            <a:endParaRPr b="1">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lang="es" sz="1300">
                <a:latin typeface="Arial"/>
                <a:ea typeface="Arial"/>
                <a:cs typeface="Arial"/>
                <a:sym typeface="Arial"/>
              </a:rPr>
              <a:t>La </a:t>
            </a:r>
            <a:r>
              <a:rPr b="1" lang="es" sz="1300">
                <a:latin typeface="Arial"/>
                <a:ea typeface="Arial"/>
                <a:cs typeface="Arial"/>
                <a:sym typeface="Arial"/>
              </a:rPr>
              <a:t>unidad de despliegue más pequeña</a:t>
            </a:r>
            <a:r>
              <a:rPr lang="es" sz="1300">
                <a:latin typeface="Arial"/>
                <a:ea typeface="Arial"/>
                <a:cs typeface="Arial"/>
                <a:sym typeface="Arial"/>
              </a:rPr>
              <a:t> en Kubernetes.</a:t>
            </a:r>
            <a:endParaRPr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lang="es" sz="1300">
                <a:latin typeface="Arial"/>
                <a:ea typeface="Arial"/>
                <a:cs typeface="Arial"/>
                <a:sym typeface="Arial"/>
              </a:rPr>
              <a:t>Un Pod representa una instancia de una aplicación y puede contener </a:t>
            </a:r>
            <a:r>
              <a:rPr b="1" lang="es" sz="1300">
                <a:latin typeface="Arial"/>
                <a:ea typeface="Arial"/>
                <a:cs typeface="Arial"/>
                <a:sym typeface="Arial"/>
              </a:rPr>
              <a:t>uno o más contenedores</a:t>
            </a:r>
            <a:r>
              <a:rPr lang="es" sz="1300">
                <a:latin typeface="Arial"/>
                <a:ea typeface="Arial"/>
                <a:cs typeface="Arial"/>
                <a:sym typeface="Arial"/>
              </a:rPr>
              <a:t> que comparten recursos (red, almacenamiento).</a:t>
            </a:r>
            <a:endParaRPr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lang="es" sz="1300">
                <a:latin typeface="Arial"/>
                <a:ea typeface="Arial"/>
                <a:cs typeface="Arial"/>
                <a:sym typeface="Arial"/>
              </a:rPr>
              <a:t>Se crean y destruyen como una unidad. Si un contenedor falla, Kubernetes reinicia el Pod.</a:t>
            </a:r>
            <a:endParaRPr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b="1" lang="es">
                <a:latin typeface="Arial"/>
                <a:ea typeface="Arial"/>
                <a:cs typeface="Arial"/>
                <a:sym typeface="Arial"/>
              </a:rPr>
              <a:t>Deployments:</a:t>
            </a:r>
            <a:endParaRPr b="1">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lang="es" sz="1300">
                <a:latin typeface="Arial"/>
                <a:ea typeface="Arial"/>
                <a:cs typeface="Arial"/>
                <a:sym typeface="Arial"/>
              </a:rPr>
              <a:t>Objeto para gestionar el despliegue y la actualización de Pods.</a:t>
            </a:r>
            <a:endParaRPr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lang="es" sz="1300">
                <a:latin typeface="Arial"/>
                <a:ea typeface="Arial"/>
                <a:cs typeface="Arial"/>
                <a:sym typeface="Arial"/>
              </a:rPr>
              <a:t>Define el </a:t>
            </a:r>
            <a:r>
              <a:rPr b="1" lang="es" sz="1300">
                <a:latin typeface="Arial"/>
                <a:ea typeface="Arial"/>
                <a:cs typeface="Arial"/>
                <a:sym typeface="Arial"/>
              </a:rPr>
              <a:t>estado deseado</a:t>
            </a:r>
            <a:r>
              <a:rPr lang="es" sz="1300">
                <a:latin typeface="Arial"/>
                <a:ea typeface="Arial"/>
                <a:cs typeface="Arial"/>
                <a:sym typeface="Arial"/>
              </a:rPr>
              <a:t> de una aplicación (ej. "quiero 3 réplicas de este Pod").</a:t>
            </a:r>
            <a:endParaRPr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lang="es" sz="1300">
                <a:latin typeface="Arial"/>
                <a:ea typeface="Arial"/>
                <a:cs typeface="Arial"/>
                <a:sym typeface="Arial"/>
              </a:rPr>
              <a:t>Proporciona </a:t>
            </a:r>
            <a:r>
              <a:rPr b="1" lang="es" sz="1300">
                <a:latin typeface="Arial"/>
                <a:ea typeface="Arial"/>
                <a:cs typeface="Arial"/>
                <a:sym typeface="Arial"/>
              </a:rPr>
              <a:t>actualizaciones graduales (rolling updates)</a:t>
            </a:r>
            <a:r>
              <a:rPr lang="es" sz="1300">
                <a:latin typeface="Arial"/>
                <a:ea typeface="Arial"/>
                <a:cs typeface="Arial"/>
                <a:sym typeface="Arial"/>
              </a:rPr>
              <a:t> y la capacidad de </a:t>
            </a:r>
            <a:r>
              <a:rPr b="1" lang="es" sz="1300">
                <a:latin typeface="Arial"/>
                <a:ea typeface="Arial"/>
                <a:cs typeface="Arial"/>
                <a:sym typeface="Arial"/>
              </a:rPr>
              <a:t>revertir (rollback)</a:t>
            </a:r>
            <a:r>
              <a:rPr lang="es" sz="1300">
                <a:latin typeface="Arial"/>
                <a:ea typeface="Arial"/>
                <a:cs typeface="Arial"/>
                <a:sym typeface="Arial"/>
              </a:rPr>
              <a:t> a versiones anteriores.</a:t>
            </a:r>
            <a:endParaRPr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lang="es" sz="1300">
                <a:latin typeface="Arial"/>
                <a:ea typeface="Arial"/>
                <a:cs typeface="Arial"/>
                <a:sym typeface="Arial"/>
              </a:rPr>
              <a:t>Gestiona </a:t>
            </a:r>
            <a:r>
              <a:rPr b="1" lang="es" sz="1300">
                <a:latin typeface="Arial"/>
                <a:ea typeface="Arial"/>
                <a:cs typeface="Arial"/>
                <a:sym typeface="Arial"/>
              </a:rPr>
              <a:t>ReplicaSets</a:t>
            </a:r>
            <a:r>
              <a:rPr lang="es" sz="1300">
                <a:latin typeface="Arial"/>
                <a:ea typeface="Arial"/>
                <a:cs typeface="Arial"/>
                <a:sym typeface="Arial"/>
              </a:rPr>
              <a:t>, que a su vez gestionan los Pods.</a:t>
            </a:r>
            <a:endParaRPr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b="1" lang="es">
                <a:latin typeface="Arial"/>
                <a:ea typeface="Arial"/>
                <a:cs typeface="Arial"/>
                <a:sym typeface="Arial"/>
              </a:rPr>
              <a:t>Namespaces:</a:t>
            </a:r>
            <a:endParaRPr b="1">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lang="es" sz="1300">
                <a:latin typeface="Arial"/>
                <a:ea typeface="Arial"/>
                <a:cs typeface="Arial"/>
                <a:sym typeface="Arial"/>
              </a:rPr>
              <a:t>Forma de </a:t>
            </a:r>
            <a:r>
              <a:rPr b="1" lang="es" sz="1300">
                <a:latin typeface="Arial"/>
                <a:ea typeface="Arial"/>
                <a:cs typeface="Arial"/>
                <a:sym typeface="Arial"/>
              </a:rPr>
              <a:t>dividir los recursos del clúster</a:t>
            </a:r>
            <a:r>
              <a:rPr lang="es" sz="1300">
                <a:latin typeface="Arial"/>
                <a:ea typeface="Arial"/>
                <a:cs typeface="Arial"/>
                <a:sym typeface="Arial"/>
              </a:rPr>
              <a:t> en grupos lógicos.</a:t>
            </a:r>
            <a:endParaRPr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lang="es" sz="1300">
                <a:latin typeface="Arial"/>
                <a:ea typeface="Arial"/>
                <a:cs typeface="Arial"/>
                <a:sym typeface="Arial"/>
              </a:rPr>
              <a:t>Útiles para entornos multi-tenant o para organizar proyectos/equipos.</a:t>
            </a:r>
            <a:endParaRPr sz="1300">
              <a:latin typeface="Arial"/>
              <a:ea typeface="Arial"/>
              <a:cs typeface="Arial"/>
              <a:sym typeface="Arial"/>
            </a:endParaRPr>
          </a:p>
          <a:p>
            <a:pPr indent="-311150" lvl="1" marL="914400" rtl="0" algn="l">
              <a:lnSpc>
                <a:spcPct val="115000"/>
              </a:lnSpc>
              <a:spcBef>
                <a:spcPts val="0"/>
              </a:spcBef>
              <a:spcAft>
                <a:spcPts val="0"/>
              </a:spcAft>
              <a:buClr>
                <a:schemeClr val="lt1"/>
              </a:buClr>
              <a:buSzPts val="1300"/>
              <a:buFont typeface="Arial"/>
              <a:buChar char="○"/>
            </a:pPr>
            <a:r>
              <a:rPr lang="es" sz="1300">
                <a:latin typeface="Arial"/>
                <a:ea typeface="Arial"/>
                <a:cs typeface="Arial"/>
                <a:sym typeface="Arial"/>
              </a:rPr>
              <a:t>Los recursos dentro de un Namespace no ven directamente los de otro (a menos que se configuren Services de forma específica).</a:t>
            </a:r>
            <a:endParaRPr sz="1300">
              <a:latin typeface="Arial"/>
              <a:ea typeface="Arial"/>
              <a:cs typeface="Arial"/>
              <a:sym typeface="Arial"/>
            </a:endParaRPr>
          </a:p>
          <a:p>
            <a:pPr indent="0" lvl="0" marL="0" rtl="0" algn="l">
              <a:lnSpc>
                <a:spcPct val="115000"/>
              </a:lnSpc>
              <a:spcBef>
                <a:spcPts val="1200"/>
              </a:spcBef>
              <a:spcAft>
                <a:spcPts val="0"/>
              </a:spcAft>
              <a:buSzPts val="1300"/>
              <a:buNone/>
            </a:pPr>
            <a:r>
              <a:t/>
            </a:r>
            <a:endParaRPr sz="14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609770417b_0_690"/>
          <p:cNvSpPr txBox="1"/>
          <p:nvPr>
            <p:ph idx="1" type="body"/>
          </p:nvPr>
        </p:nvSpPr>
        <p:spPr>
          <a:xfrm>
            <a:off x="592450" y="873775"/>
            <a:ext cx="8052000" cy="377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300"/>
              <a:buNone/>
            </a:pPr>
            <a:r>
              <a:rPr lang="es" sz="1200">
                <a:latin typeface="Arial"/>
                <a:ea typeface="Arial"/>
                <a:cs typeface="Arial"/>
                <a:sym typeface="Arial"/>
              </a:rPr>
              <a:t>Un </a:t>
            </a:r>
            <a:r>
              <a:rPr b="1" lang="es" sz="1200">
                <a:latin typeface="Arial"/>
                <a:ea typeface="Arial"/>
                <a:cs typeface="Arial"/>
                <a:sym typeface="Arial"/>
              </a:rPr>
              <a:t>Service</a:t>
            </a:r>
            <a:r>
              <a:rPr lang="es" sz="1200">
                <a:latin typeface="Arial"/>
                <a:ea typeface="Arial"/>
                <a:cs typeface="Arial"/>
                <a:sym typeface="Arial"/>
              </a:rPr>
              <a:t> es una </a:t>
            </a:r>
            <a:r>
              <a:rPr b="1" lang="es" sz="1200">
                <a:latin typeface="Arial"/>
                <a:ea typeface="Arial"/>
                <a:cs typeface="Arial"/>
                <a:sym typeface="Arial"/>
              </a:rPr>
              <a:t>abstracción que define un conjunto lógico de Pods y una política para acceder a ellos</a:t>
            </a:r>
            <a:r>
              <a:rPr lang="es" sz="1200">
                <a:latin typeface="Arial"/>
                <a:ea typeface="Arial"/>
                <a:cs typeface="Arial"/>
                <a:sym typeface="Arial"/>
              </a:rPr>
              <a:t>. Proporciona una forma estable de acceder a los Pods, incluso si estos cambian sus IPs o son recreados.</a:t>
            </a:r>
            <a:endParaRPr sz="1000">
              <a:latin typeface="Arial"/>
              <a:ea typeface="Arial"/>
              <a:cs typeface="Arial"/>
              <a:sym typeface="Arial"/>
            </a:endParaRPr>
          </a:p>
          <a:p>
            <a:pPr indent="-304800" lvl="0" marL="457200" rtl="0" algn="l">
              <a:lnSpc>
                <a:spcPct val="115000"/>
              </a:lnSpc>
              <a:spcBef>
                <a:spcPts val="1200"/>
              </a:spcBef>
              <a:spcAft>
                <a:spcPts val="0"/>
              </a:spcAft>
              <a:buClr>
                <a:schemeClr val="lt1"/>
              </a:buClr>
              <a:buSzPts val="1200"/>
              <a:buFont typeface="Arial"/>
              <a:buChar char="●"/>
            </a:pPr>
            <a:r>
              <a:rPr b="1" lang="es" sz="1200">
                <a:latin typeface="Arial"/>
                <a:ea typeface="Arial"/>
                <a:cs typeface="Arial"/>
                <a:sym typeface="Arial"/>
              </a:rPr>
              <a:t>ClusterIP:</a:t>
            </a:r>
            <a:endParaRPr b="1" sz="1200">
              <a:latin typeface="Arial"/>
              <a:ea typeface="Arial"/>
              <a:cs typeface="Arial"/>
              <a:sym typeface="Arial"/>
            </a:endParaRPr>
          </a:p>
          <a:p>
            <a:pPr indent="-304800" lvl="1" marL="914400" rtl="0" algn="l">
              <a:lnSpc>
                <a:spcPct val="115000"/>
              </a:lnSpc>
              <a:spcBef>
                <a:spcPts val="0"/>
              </a:spcBef>
              <a:spcAft>
                <a:spcPts val="0"/>
              </a:spcAft>
              <a:buClr>
                <a:schemeClr val="lt1"/>
              </a:buClr>
              <a:buSzPts val="1200"/>
              <a:buFont typeface="Arial"/>
              <a:buChar char="○"/>
            </a:pPr>
            <a:r>
              <a:rPr lang="es" sz="1200">
                <a:latin typeface="Arial"/>
                <a:ea typeface="Arial"/>
                <a:cs typeface="Arial"/>
                <a:sym typeface="Arial"/>
              </a:rPr>
              <a:t>El tipo de Service </a:t>
            </a:r>
            <a:r>
              <a:rPr b="1" lang="es" sz="1200">
                <a:latin typeface="Arial"/>
                <a:ea typeface="Arial"/>
                <a:cs typeface="Arial"/>
                <a:sym typeface="Arial"/>
              </a:rPr>
              <a:t>por defecto</a:t>
            </a:r>
            <a:r>
              <a:rPr lang="es" sz="1200">
                <a:latin typeface="Arial"/>
                <a:ea typeface="Arial"/>
                <a:cs typeface="Arial"/>
                <a:sym typeface="Arial"/>
              </a:rPr>
              <a:t>.</a:t>
            </a:r>
            <a:endParaRPr sz="1200">
              <a:latin typeface="Arial"/>
              <a:ea typeface="Arial"/>
              <a:cs typeface="Arial"/>
              <a:sym typeface="Arial"/>
            </a:endParaRPr>
          </a:p>
          <a:p>
            <a:pPr indent="-304800" lvl="1" marL="914400" rtl="0" algn="l">
              <a:lnSpc>
                <a:spcPct val="115000"/>
              </a:lnSpc>
              <a:spcBef>
                <a:spcPts val="0"/>
              </a:spcBef>
              <a:spcAft>
                <a:spcPts val="0"/>
              </a:spcAft>
              <a:buClr>
                <a:schemeClr val="lt1"/>
              </a:buClr>
              <a:buSzPts val="1200"/>
              <a:buFont typeface="Arial"/>
              <a:buChar char="○"/>
            </a:pPr>
            <a:r>
              <a:rPr lang="es" sz="1200">
                <a:latin typeface="Arial"/>
                <a:ea typeface="Arial"/>
                <a:cs typeface="Arial"/>
                <a:sym typeface="Arial"/>
              </a:rPr>
              <a:t>Crea una </a:t>
            </a:r>
            <a:r>
              <a:rPr b="1" lang="es" sz="1200">
                <a:latin typeface="Arial"/>
                <a:ea typeface="Arial"/>
                <a:cs typeface="Arial"/>
                <a:sym typeface="Arial"/>
              </a:rPr>
              <a:t>IP interna virtual</a:t>
            </a:r>
            <a:r>
              <a:rPr lang="es" sz="1200">
                <a:latin typeface="Arial"/>
                <a:ea typeface="Arial"/>
                <a:cs typeface="Arial"/>
                <a:sym typeface="Arial"/>
              </a:rPr>
              <a:t> accesible solo desde dentro del clúster.</a:t>
            </a:r>
            <a:endParaRPr sz="1200">
              <a:latin typeface="Arial"/>
              <a:ea typeface="Arial"/>
              <a:cs typeface="Arial"/>
              <a:sym typeface="Arial"/>
            </a:endParaRPr>
          </a:p>
          <a:p>
            <a:pPr indent="-304800" lvl="1" marL="914400" rtl="0" algn="l">
              <a:lnSpc>
                <a:spcPct val="115000"/>
              </a:lnSpc>
              <a:spcBef>
                <a:spcPts val="0"/>
              </a:spcBef>
              <a:spcAft>
                <a:spcPts val="0"/>
              </a:spcAft>
              <a:buClr>
                <a:schemeClr val="lt1"/>
              </a:buClr>
              <a:buSzPts val="1200"/>
              <a:buFont typeface="Arial"/>
              <a:buChar char="○"/>
            </a:pPr>
            <a:r>
              <a:rPr lang="es" sz="1200">
                <a:latin typeface="Arial"/>
                <a:ea typeface="Arial"/>
                <a:cs typeface="Arial"/>
                <a:sym typeface="Arial"/>
              </a:rPr>
              <a:t>Ideal para comunicación entre componentes de la aplicación dentro del mismo clúster.</a:t>
            </a: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Char char="●"/>
            </a:pPr>
            <a:r>
              <a:rPr b="1" lang="es" sz="1200">
                <a:latin typeface="Arial"/>
                <a:ea typeface="Arial"/>
                <a:cs typeface="Arial"/>
                <a:sym typeface="Arial"/>
              </a:rPr>
              <a:t>NodePort:</a:t>
            </a:r>
            <a:endParaRPr b="1" sz="1200">
              <a:latin typeface="Arial"/>
              <a:ea typeface="Arial"/>
              <a:cs typeface="Arial"/>
              <a:sym typeface="Arial"/>
            </a:endParaRPr>
          </a:p>
          <a:p>
            <a:pPr indent="-304800" lvl="1" marL="914400" rtl="0" algn="l">
              <a:lnSpc>
                <a:spcPct val="115000"/>
              </a:lnSpc>
              <a:spcBef>
                <a:spcPts val="0"/>
              </a:spcBef>
              <a:spcAft>
                <a:spcPts val="0"/>
              </a:spcAft>
              <a:buClr>
                <a:schemeClr val="lt1"/>
              </a:buClr>
              <a:buSzPts val="1200"/>
              <a:buFont typeface="Arial"/>
              <a:buChar char="○"/>
            </a:pPr>
            <a:r>
              <a:rPr lang="es" sz="1200">
                <a:latin typeface="Arial"/>
                <a:ea typeface="Arial"/>
                <a:cs typeface="Arial"/>
                <a:sym typeface="Arial"/>
              </a:rPr>
              <a:t>Expone el Service en un </a:t>
            </a:r>
            <a:r>
              <a:rPr b="1" lang="es" sz="1200">
                <a:latin typeface="Arial"/>
                <a:ea typeface="Arial"/>
                <a:cs typeface="Arial"/>
                <a:sym typeface="Arial"/>
              </a:rPr>
              <a:t>puerto estático en cada nodo del clúster</a:t>
            </a:r>
            <a:r>
              <a:rPr lang="es" sz="1200">
                <a:latin typeface="Arial"/>
                <a:ea typeface="Arial"/>
                <a:cs typeface="Arial"/>
                <a:sym typeface="Arial"/>
              </a:rPr>
              <a:t>.</a:t>
            </a:r>
            <a:endParaRPr sz="1200">
              <a:latin typeface="Arial"/>
              <a:ea typeface="Arial"/>
              <a:cs typeface="Arial"/>
              <a:sym typeface="Arial"/>
            </a:endParaRPr>
          </a:p>
          <a:p>
            <a:pPr indent="-304800" lvl="1" marL="914400" rtl="0" algn="l">
              <a:lnSpc>
                <a:spcPct val="115000"/>
              </a:lnSpc>
              <a:spcBef>
                <a:spcPts val="0"/>
              </a:spcBef>
              <a:spcAft>
                <a:spcPts val="0"/>
              </a:spcAft>
              <a:buClr>
                <a:schemeClr val="lt1"/>
              </a:buClr>
              <a:buSzPts val="1200"/>
              <a:buFont typeface="Arial"/>
              <a:buChar char="○"/>
            </a:pPr>
            <a:r>
              <a:rPr lang="es" sz="1200">
                <a:latin typeface="Arial"/>
                <a:ea typeface="Arial"/>
                <a:cs typeface="Arial"/>
                <a:sym typeface="Arial"/>
              </a:rPr>
              <a:t>Permite acceder al Service desde fuera del clúster a través de </a:t>
            </a:r>
            <a:r>
              <a:rPr lang="es" sz="1200">
                <a:latin typeface="Roboto Mono"/>
                <a:ea typeface="Roboto Mono"/>
                <a:cs typeface="Roboto Mono"/>
                <a:sym typeface="Roboto Mono"/>
              </a:rPr>
              <a:t>IP_DEL_NODO:PUERTO_DEL_NODO</a:t>
            </a:r>
            <a:r>
              <a:rPr lang="es" sz="1200">
                <a:latin typeface="Arial"/>
                <a:ea typeface="Arial"/>
                <a:cs typeface="Arial"/>
                <a:sym typeface="Arial"/>
              </a:rPr>
              <a:t>.</a:t>
            </a:r>
            <a:endParaRPr sz="1200">
              <a:latin typeface="Arial"/>
              <a:ea typeface="Arial"/>
              <a:cs typeface="Arial"/>
              <a:sym typeface="Arial"/>
            </a:endParaRPr>
          </a:p>
          <a:p>
            <a:pPr indent="-304800" lvl="1" marL="914400" rtl="0" algn="l">
              <a:lnSpc>
                <a:spcPct val="115000"/>
              </a:lnSpc>
              <a:spcBef>
                <a:spcPts val="0"/>
              </a:spcBef>
              <a:spcAft>
                <a:spcPts val="0"/>
              </a:spcAft>
              <a:buClr>
                <a:schemeClr val="lt1"/>
              </a:buClr>
              <a:buSzPts val="1200"/>
              <a:buFont typeface="Arial"/>
              <a:buChar char="○"/>
            </a:pPr>
            <a:r>
              <a:rPr lang="es" sz="1200">
                <a:latin typeface="Arial"/>
                <a:ea typeface="Arial"/>
                <a:cs typeface="Arial"/>
                <a:sym typeface="Arial"/>
              </a:rPr>
              <a:t>Útil para desarrollo o entornos donde no se necesita un Load Balancer.</a:t>
            </a:r>
            <a:endParaRPr sz="1200">
              <a:latin typeface="Arial"/>
              <a:ea typeface="Arial"/>
              <a:cs typeface="Arial"/>
              <a:sym typeface="Arial"/>
            </a:endParaRPr>
          </a:p>
          <a:p>
            <a:pPr indent="-304800" lvl="0" marL="457200" rtl="0" algn="l">
              <a:lnSpc>
                <a:spcPct val="115000"/>
              </a:lnSpc>
              <a:spcBef>
                <a:spcPts val="0"/>
              </a:spcBef>
              <a:spcAft>
                <a:spcPts val="0"/>
              </a:spcAft>
              <a:buClr>
                <a:schemeClr val="lt1"/>
              </a:buClr>
              <a:buSzPts val="1200"/>
              <a:buFont typeface="Arial"/>
              <a:buChar char="●"/>
            </a:pPr>
            <a:r>
              <a:rPr b="1" lang="es" sz="1200">
                <a:latin typeface="Arial"/>
                <a:ea typeface="Arial"/>
                <a:cs typeface="Arial"/>
                <a:sym typeface="Arial"/>
              </a:rPr>
              <a:t>LoadBalancer:</a:t>
            </a:r>
            <a:endParaRPr b="1" sz="1200">
              <a:latin typeface="Arial"/>
              <a:ea typeface="Arial"/>
              <a:cs typeface="Arial"/>
              <a:sym typeface="Arial"/>
            </a:endParaRPr>
          </a:p>
          <a:p>
            <a:pPr indent="-304800" lvl="1" marL="914400" rtl="0" algn="l">
              <a:lnSpc>
                <a:spcPct val="115000"/>
              </a:lnSpc>
              <a:spcBef>
                <a:spcPts val="0"/>
              </a:spcBef>
              <a:spcAft>
                <a:spcPts val="0"/>
              </a:spcAft>
              <a:buClr>
                <a:schemeClr val="lt1"/>
              </a:buClr>
              <a:buSzPts val="1200"/>
              <a:buFont typeface="Arial"/>
              <a:buChar char="○"/>
            </a:pPr>
            <a:r>
              <a:rPr b="1" lang="es" sz="1200">
                <a:latin typeface="Arial"/>
                <a:ea typeface="Arial"/>
                <a:cs typeface="Arial"/>
                <a:sym typeface="Arial"/>
              </a:rPr>
              <a:t>Integra Kubernetes con un balanceador de carga externo</a:t>
            </a:r>
            <a:r>
              <a:rPr lang="es" sz="1200">
                <a:latin typeface="Arial"/>
                <a:ea typeface="Arial"/>
                <a:cs typeface="Arial"/>
                <a:sym typeface="Arial"/>
              </a:rPr>
              <a:t> proporcionado por el proveedor de la nube (AWS ELB, GCP Load Balancer, Azure Load Balancer).</a:t>
            </a:r>
            <a:endParaRPr sz="1200">
              <a:latin typeface="Arial"/>
              <a:ea typeface="Arial"/>
              <a:cs typeface="Arial"/>
              <a:sym typeface="Arial"/>
            </a:endParaRPr>
          </a:p>
          <a:p>
            <a:pPr indent="-304800" lvl="1" marL="914400" rtl="0" algn="l">
              <a:lnSpc>
                <a:spcPct val="115000"/>
              </a:lnSpc>
              <a:spcBef>
                <a:spcPts val="0"/>
              </a:spcBef>
              <a:spcAft>
                <a:spcPts val="0"/>
              </a:spcAft>
              <a:buClr>
                <a:schemeClr val="lt1"/>
              </a:buClr>
              <a:buSzPts val="1200"/>
              <a:buFont typeface="Arial"/>
              <a:buChar char="○"/>
            </a:pPr>
            <a:r>
              <a:rPr lang="es" sz="1200">
                <a:latin typeface="Arial"/>
                <a:ea typeface="Arial"/>
                <a:cs typeface="Arial"/>
                <a:sym typeface="Arial"/>
              </a:rPr>
              <a:t>Asigna una </a:t>
            </a:r>
            <a:r>
              <a:rPr b="1" lang="es" sz="1200">
                <a:latin typeface="Arial"/>
                <a:ea typeface="Arial"/>
                <a:cs typeface="Arial"/>
                <a:sym typeface="Arial"/>
              </a:rPr>
              <a:t>IP pública externa</a:t>
            </a:r>
            <a:r>
              <a:rPr lang="es" sz="1200">
                <a:latin typeface="Arial"/>
                <a:ea typeface="Arial"/>
                <a:cs typeface="Arial"/>
                <a:sym typeface="Arial"/>
              </a:rPr>
              <a:t> y distribuye el tráfico entre los Pods del Service.</a:t>
            </a:r>
            <a:endParaRPr sz="1200">
              <a:latin typeface="Arial"/>
              <a:ea typeface="Arial"/>
              <a:cs typeface="Arial"/>
              <a:sym typeface="Arial"/>
            </a:endParaRPr>
          </a:p>
          <a:p>
            <a:pPr indent="-304800" lvl="1" marL="914400" rtl="0" algn="l">
              <a:lnSpc>
                <a:spcPct val="115000"/>
              </a:lnSpc>
              <a:spcBef>
                <a:spcPts val="0"/>
              </a:spcBef>
              <a:spcAft>
                <a:spcPts val="0"/>
              </a:spcAft>
              <a:buClr>
                <a:schemeClr val="lt1"/>
              </a:buClr>
              <a:buSzPts val="1200"/>
              <a:buFont typeface="Arial"/>
              <a:buChar char="○"/>
            </a:pPr>
            <a:r>
              <a:rPr lang="es" sz="1200">
                <a:latin typeface="Arial"/>
                <a:ea typeface="Arial"/>
                <a:cs typeface="Arial"/>
                <a:sym typeface="Arial"/>
              </a:rPr>
              <a:t>Ideal para aplicaciones web que necesitan acceso público y escalable.</a:t>
            </a:r>
            <a:endParaRPr sz="1200">
              <a:latin typeface="Arial"/>
              <a:ea typeface="Arial"/>
              <a:cs typeface="Arial"/>
              <a:sym typeface="Arial"/>
            </a:endParaRPr>
          </a:p>
          <a:p>
            <a:pPr indent="0" lvl="0" marL="0" rtl="0" algn="l">
              <a:lnSpc>
                <a:spcPct val="115000"/>
              </a:lnSpc>
              <a:spcBef>
                <a:spcPts val="1200"/>
              </a:spcBef>
              <a:spcAft>
                <a:spcPts val="0"/>
              </a:spcAft>
              <a:buSzPts val="1300"/>
              <a:buNone/>
            </a:pPr>
            <a:r>
              <a:t/>
            </a:r>
            <a:endParaRPr sz="1200">
              <a:latin typeface="Arial"/>
              <a:ea typeface="Arial"/>
              <a:cs typeface="Arial"/>
              <a:sym typeface="Arial"/>
            </a:endParaRPr>
          </a:p>
        </p:txBody>
      </p:sp>
      <p:sp>
        <p:nvSpPr>
          <p:cNvPr id="328" name="Google Shape;328;g3609770417b_0_690"/>
          <p:cNvSpPr txBox="1"/>
          <p:nvPr>
            <p:ph type="title"/>
          </p:nvPr>
        </p:nvSpPr>
        <p:spPr>
          <a:xfrm>
            <a:off x="592450" y="348475"/>
            <a:ext cx="7038900" cy="525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400"/>
              </a:spcAft>
              <a:buSzPts val="3000"/>
              <a:buNone/>
            </a:pPr>
            <a:r>
              <a:rPr b="1" lang="es" sz="1900">
                <a:latin typeface="Arial"/>
                <a:ea typeface="Arial"/>
                <a:cs typeface="Arial"/>
                <a:sym typeface="Arial"/>
              </a:rPr>
              <a:t>Services en Kubernetes</a:t>
            </a:r>
            <a:endParaRPr sz="3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333" name="Shape 333"/>
        <p:cNvGrpSpPr/>
        <p:nvPr/>
      </p:nvGrpSpPr>
      <p:grpSpPr>
        <a:xfrm>
          <a:off x="0" y="0"/>
          <a:ext cx="0" cy="0"/>
          <a:chOff x="0" y="0"/>
          <a:chExt cx="0" cy="0"/>
        </a:xfrm>
      </p:grpSpPr>
      <p:pic>
        <p:nvPicPr>
          <p:cNvPr descr="https://kimi-img.moonshot.cn/pub/slides/slides_tmpl/image/25-08-27-20:09:25-d2nfat98bjvh7rlj0j2g.png" id="334" name="Google Shape;334;g3d01d778264_0_129"/>
          <p:cNvPicPr preferRelativeResize="0"/>
          <p:nvPr/>
        </p:nvPicPr>
        <p:blipFill rotWithShape="1">
          <a:blip r:embed="rId3">
            <a:alphaModFix/>
          </a:blip>
          <a:srcRect b="0" l="0" r="0" t="0"/>
          <a:stretch/>
        </p:blipFill>
        <p:spPr>
          <a:xfrm>
            <a:off x="542925" y="1135856"/>
            <a:ext cx="3141821" cy="2829402"/>
          </a:xfrm>
          <a:prstGeom prst="rect">
            <a:avLst/>
          </a:prstGeom>
          <a:noFill/>
          <a:ln>
            <a:noFill/>
          </a:ln>
        </p:spPr>
      </p:pic>
      <p:sp>
        <p:nvSpPr>
          <p:cNvPr id="335" name="Google Shape;335;g3d01d778264_0_129"/>
          <p:cNvSpPr/>
          <p:nvPr/>
        </p:nvSpPr>
        <p:spPr>
          <a:xfrm>
            <a:off x="4038124" y="2397442"/>
            <a:ext cx="4062000" cy="899100"/>
          </a:xfrm>
          <a:prstGeom prst="rect">
            <a:avLst/>
          </a:prstGeom>
          <a:solidFill>
            <a:srgbClr val="000000">
              <a:alpha val="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6" name="Google Shape;336;g3d01d778264_0_129"/>
          <p:cNvSpPr/>
          <p:nvPr/>
        </p:nvSpPr>
        <p:spPr>
          <a:xfrm>
            <a:off x="4038124" y="2397442"/>
            <a:ext cx="4062000" cy="899100"/>
          </a:xfrm>
          <a:prstGeom prst="rect">
            <a:avLst/>
          </a:prstGeom>
          <a:noFill/>
          <a:ln>
            <a:noFill/>
          </a:ln>
        </p:spPr>
        <p:txBody>
          <a:bodyPr anchorCtr="0" anchor="t" bIns="34275" lIns="34275" spcFirstLastPara="1" rIns="68575" wrap="square" tIns="68575">
            <a:noAutofit/>
          </a:bodyPr>
          <a:lstStyle/>
          <a:p>
            <a:pPr indent="0" lvl="0" marL="0" marR="0" rtl="0" algn="just">
              <a:lnSpc>
                <a:spcPct val="100000"/>
              </a:lnSpc>
              <a:spcBef>
                <a:spcPts val="0"/>
              </a:spcBef>
              <a:spcAft>
                <a:spcPts val="0"/>
              </a:spcAft>
              <a:buClr>
                <a:srgbClr val="FFFFFF"/>
              </a:buClr>
              <a:buSzPts val="2700"/>
              <a:buFont typeface="Arial"/>
              <a:buNone/>
            </a:pPr>
            <a:r>
              <a:rPr b="1" lang="es" sz="2700">
                <a:solidFill>
                  <a:srgbClr val="FFFFFF"/>
                </a:solidFill>
              </a:rPr>
              <a:t>Conceptos Clave</a:t>
            </a:r>
            <a:endParaRPr b="0" i="0" sz="1200" u="none" cap="none" strike="noStrike"/>
          </a:p>
        </p:txBody>
      </p:sp>
      <p:pic>
        <p:nvPicPr>
          <p:cNvPr id="337" name="Google Shape;337;g3d01d778264_0_129" title="BUHOADSFA-Photoroom.png"/>
          <p:cNvPicPr preferRelativeResize="0"/>
          <p:nvPr/>
        </p:nvPicPr>
        <p:blipFill>
          <a:blip r:embed="rId4">
            <a:alphaModFix/>
          </a:blip>
          <a:stretch>
            <a:fillRect/>
          </a:stretch>
        </p:blipFill>
        <p:spPr>
          <a:xfrm>
            <a:off x="0" y="-4"/>
            <a:ext cx="647700" cy="8017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609770417b_0_703"/>
          <p:cNvSpPr txBox="1"/>
          <p:nvPr>
            <p:ph type="title"/>
          </p:nvPr>
        </p:nvSpPr>
        <p:spPr>
          <a:xfrm>
            <a:off x="810938" y="246094"/>
            <a:ext cx="4399200" cy="571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s" sz="2900"/>
              <a:t>Conclusiones </a:t>
            </a:r>
            <a:endParaRPr b="1" sz="2900"/>
          </a:p>
        </p:txBody>
      </p:sp>
      <p:sp>
        <p:nvSpPr>
          <p:cNvPr id="343" name="Google Shape;343;g3609770417b_0_703"/>
          <p:cNvSpPr txBox="1"/>
          <p:nvPr>
            <p:ph idx="1" type="body"/>
          </p:nvPr>
        </p:nvSpPr>
        <p:spPr>
          <a:xfrm>
            <a:off x="700150" y="1030850"/>
            <a:ext cx="7636200" cy="36009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1200"/>
              </a:spcAft>
              <a:buSzPts val="500"/>
              <a:buNone/>
            </a:pPr>
            <a:r>
              <a:rPr lang="es" sz="1800">
                <a:latin typeface="Arial"/>
                <a:ea typeface="Arial"/>
                <a:cs typeface="Arial"/>
                <a:sym typeface="Arial"/>
              </a:rPr>
              <a:t>La concurrencia y gestión de procesos son esenciales para desarrollar software eficiente que aproveche el hardware multinúcleo, mediante sincronización y planificación óptima. Kubernetes ha revolucionado el despliegue de aplicaciones distribuidas, simplificando la orquestación de contenedores y garantizando escalabilidad y resiliencia. La elección de herramientas como gRPC es clave para una comunicación ágil y estandarizada en microservicios. Además, el control y visibilidad (mediante comandos de Linux y gestión de Kubernetes) son críticos para operar sistemas estables. Todo esto demanda una ingeniería robusta y aprendizaje continuo, combinando conocimientos técnicos con metodologías proactivas para enfrentar la complejidad a escala.</a:t>
            </a:r>
            <a:endParaRPr sz="23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348" name="Shape 348"/>
        <p:cNvGrpSpPr/>
        <p:nvPr/>
      </p:nvGrpSpPr>
      <p:grpSpPr>
        <a:xfrm>
          <a:off x="0" y="0"/>
          <a:ext cx="0" cy="0"/>
          <a:chOff x="0" y="0"/>
          <a:chExt cx="0" cy="0"/>
        </a:xfrm>
      </p:grpSpPr>
      <p:sp>
        <p:nvSpPr>
          <p:cNvPr id="349" name="Google Shape;349;g3d01d778264_0_137"/>
          <p:cNvSpPr/>
          <p:nvPr/>
        </p:nvSpPr>
        <p:spPr>
          <a:xfrm>
            <a:off x="2668125" y="451650"/>
            <a:ext cx="3809100" cy="6492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202124"/>
              </a:buClr>
              <a:buSzPts val="2700"/>
              <a:buFont typeface="Noto Sans SC"/>
              <a:buNone/>
            </a:pPr>
            <a:r>
              <a:rPr b="1" lang="es" sz="3000">
                <a:solidFill>
                  <a:srgbClr val="202124"/>
                </a:solidFill>
                <a:latin typeface="Noto Sans SC"/>
                <a:ea typeface="Noto Sans SC"/>
                <a:cs typeface="Noto Sans SC"/>
                <a:sym typeface="Noto Sans SC"/>
              </a:rPr>
              <a:t>Conceptos Clave</a:t>
            </a:r>
            <a:endParaRPr b="1" i="0" sz="1500" u="none" cap="none" strike="noStrike"/>
          </a:p>
        </p:txBody>
      </p:sp>
      <p:sp>
        <p:nvSpPr>
          <p:cNvPr id="350" name="Google Shape;350;g3d01d778264_0_137"/>
          <p:cNvSpPr/>
          <p:nvPr/>
        </p:nvSpPr>
        <p:spPr>
          <a:xfrm>
            <a:off x="1364754" y="1316831"/>
            <a:ext cx="571500" cy="457200"/>
          </a:xfrm>
          <a:custGeom>
            <a:rect b="b" l="l" r="r" t="t"/>
            <a:pathLst>
              <a:path extrusionOk="0" h="609600" w="762000">
                <a:moveTo>
                  <a:pt x="495181" y="250627"/>
                </a:moveTo>
                <a:cubicBezTo>
                  <a:pt x="509707" y="246698"/>
                  <a:pt x="524947" y="253603"/>
                  <a:pt x="531495" y="267057"/>
                </a:cubicBezTo>
                <a:lnTo>
                  <a:pt x="553641" y="311825"/>
                </a:lnTo>
                <a:cubicBezTo>
                  <a:pt x="565904" y="313492"/>
                  <a:pt x="577929" y="316825"/>
                  <a:pt x="589240" y="321469"/>
                </a:cubicBezTo>
                <a:lnTo>
                  <a:pt x="630912" y="293727"/>
                </a:lnTo>
                <a:cubicBezTo>
                  <a:pt x="643414" y="285393"/>
                  <a:pt x="659963" y="287060"/>
                  <a:pt x="670560" y="297656"/>
                </a:cubicBezTo>
                <a:lnTo>
                  <a:pt x="693420" y="320516"/>
                </a:lnTo>
                <a:cubicBezTo>
                  <a:pt x="704017" y="331113"/>
                  <a:pt x="705683" y="347782"/>
                  <a:pt x="697349" y="360164"/>
                </a:cubicBezTo>
                <a:lnTo>
                  <a:pt x="669608" y="401717"/>
                </a:lnTo>
                <a:cubicBezTo>
                  <a:pt x="671870" y="407313"/>
                  <a:pt x="673894" y="413147"/>
                  <a:pt x="675561" y="419219"/>
                </a:cubicBezTo>
                <a:cubicBezTo>
                  <a:pt x="677228" y="425291"/>
                  <a:pt x="678299" y="431244"/>
                  <a:pt x="679133" y="437317"/>
                </a:cubicBezTo>
                <a:lnTo>
                  <a:pt x="724019" y="459462"/>
                </a:lnTo>
                <a:cubicBezTo>
                  <a:pt x="737473" y="466130"/>
                  <a:pt x="744379" y="481370"/>
                  <a:pt x="740450" y="495776"/>
                </a:cubicBezTo>
                <a:lnTo>
                  <a:pt x="732115" y="526971"/>
                </a:lnTo>
                <a:cubicBezTo>
                  <a:pt x="728186" y="541377"/>
                  <a:pt x="714732" y="551140"/>
                  <a:pt x="699730" y="550188"/>
                </a:cubicBezTo>
                <a:lnTo>
                  <a:pt x="649724" y="546973"/>
                </a:lnTo>
                <a:cubicBezTo>
                  <a:pt x="642223" y="556617"/>
                  <a:pt x="633532" y="565547"/>
                  <a:pt x="623649" y="573167"/>
                </a:cubicBezTo>
                <a:lnTo>
                  <a:pt x="626864" y="623054"/>
                </a:lnTo>
                <a:cubicBezTo>
                  <a:pt x="627817" y="638056"/>
                  <a:pt x="618053" y="651629"/>
                  <a:pt x="603647" y="655439"/>
                </a:cubicBezTo>
                <a:lnTo>
                  <a:pt x="572453" y="663773"/>
                </a:lnTo>
                <a:cubicBezTo>
                  <a:pt x="557927" y="667702"/>
                  <a:pt x="542806" y="660797"/>
                  <a:pt x="536138" y="647343"/>
                </a:cubicBezTo>
                <a:lnTo>
                  <a:pt x="513993" y="602575"/>
                </a:lnTo>
                <a:cubicBezTo>
                  <a:pt x="501729" y="600908"/>
                  <a:pt x="489704" y="597575"/>
                  <a:pt x="478393" y="592931"/>
                </a:cubicBezTo>
                <a:lnTo>
                  <a:pt x="436721" y="620673"/>
                </a:lnTo>
                <a:cubicBezTo>
                  <a:pt x="424220" y="629007"/>
                  <a:pt x="407670" y="627340"/>
                  <a:pt x="397073" y="616744"/>
                </a:cubicBezTo>
                <a:lnTo>
                  <a:pt x="374213" y="593884"/>
                </a:lnTo>
                <a:cubicBezTo>
                  <a:pt x="363617" y="583287"/>
                  <a:pt x="361950" y="566738"/>
                  <a:pt x="370284" y="554236"/>
                </a:cubicBezTo>
                <a:lnTo>
                  <a:pt x="398026" y="512564"/>
                </a:lnTo>
                <a:cubicBezTo>
                  <a:pt x="395764" y="506968"/>
                  <a:pt x="393740" y="501134"/>
                  <a:pt x="392073" y="495062"/>
                </a:cubicBezTo>
                <a:cubicBezTo>
                  <a:pt x="390406" y="488990"/>
                  <a:pt x="389334" y="482918"/>
                  <a:pt x="388501" y="476964"/>
                </a:cubicBezTo>
                <a:lnTo>
                  <a:pt x="343614" y="454819"/>
                </a:lnTo>
                <a:cubicBezTo>
                  <a:pt x="330160" y="448151"/>
                  <a:pt x="323374" y="432911"/>
                  <a:pt x="327184" y="418505"/>
                </a:cubicBezTo>
                <a:lnTo>
                  <a:pt x="335518" y="387310"/>
                </a:lnTo>
                <a:cubicBezTo>
                  <a:pt x="339447" y="372904"/>
                  <a:pt x="352901" y="363141"/>
                  <a:pt x="367903" y="364093"/>
                </a:cubicBezTo>
                <a:lnTo>
                  <a:pt x="417790" y="367308"/>
                </a:lnTo>
                <a:cubicBezTo>
                  <a:pt x="425291" y="357664"/>
                  <a:pt x="433983" y="348734"/>
                  <a:pt x="443865" y="341114"/>
                </a:cubicBezTo>
                <a:lnTo>
                  <a:pt x="440650" y="291346"/>
                </a:lnTo>
                <a:cubicBezTo>
                  <a:pt x="439698" y="276344"/>
                  <a:pt x="449461" y="262771"/>
                  <a:pt x="463867" y="258961"/>
                </a:cubicBezTo>
                <a:lnTo>
                  <a:pt x="495062" y="250627"/>
                </a:lnTo>
                <a:close/>
                <a:moveTo>
                  <a:pt x="533876" y="404813"/>
                </a:moveTo>
                <a:cubicBezTo>
                  <a:pt x="504963" y="404845"/>
                  <a:pt x="481515" y="428346"/>
                  <a:pt x="481548" y="457260"/>
                </a:cubicBezTo>
                <a:cubicBezTo>
                  <a:pt x="481581" y="486173"/>
                  <a:pt x="505082" y="509620"/>
                  <a:pt x="533995" y="509588"/>
                </a:cubicBezTo>
                <a:cubicBezTo>
                  <a:pt x="562909" y="509555"/>
                  <a:pt x="586356" y="486054"/>
                  <a:pt x="586323" y="457140"/>
                </a:cubicBezTo>
                <a:cubicBezTo>
                  <a:pt x="586290" y="428227"/>
                  <a:pt x="562790" y="404780"/>
                  <a:pt x="533876" y="404813"/>
                </a:cubicBezTo>
                <a:close/>
                <a:moveTo>
                  <a:pt x="267772" y="-54173"/>
                </a:moveTo>
                <a:lnTo>
                  <a:pt x="298966" y="-45839"/>
                </a:lnTo>
                <a:cubicBezTo>
                  <a:pt x="313373" y="-41910"/>
                  <a:pt x="323136" y="-28337"/>
                  <a:pt x="322183" y="-13454"/>
                </a:cubicBezTo>
                <a:lnTo>
                  <a:pt x="318968" y="36314"/>
                </a:lnTo>
                <a:cubicBezTo>
                  <a:pt x="328851" y="43934"/>
                  <a:pt x="337542" y="52745"/>
                  <a:pt x="345043" y="62508"/>
                </a:cubicBezTo>
                <a:lnTo>
                  <a:pt x="395049" y="59293"/>
                </a:lnTo>
                <a:cubicBezTo>
                  <a:pt x="409932" y="58341"/>
                  <a:pt x="423505" y="68104"/>
                  <a:pt x="427434" y="82510"/>
                </a:cubicBezTo>
                <a:lnTo>
                  <a:pt x="435769" y="113705"/>
                </a:lnTo>
                <a:cubicBezTo>
                  <a:pt x="439579" y="128111"/>
                  <a:pt x="432792" y="143351"/>
                  <a:pt x="419338" y="150019"/>
                </a:cubicBezTo>
                <a:lnTo>
                  <a:pt x="374452" y="172164"/>
                </a:lnTo>
                <a:cubicBezTo>
                  <a:pt x="373618" y="178237"/>
                  <a:pt x="372428" y="184309"/>
                  <a:pt x="370880" y="190262"/>
                </a:cubicBezTo>
                <a:cubicBezTo>
                  <a:pt x="369332" y="196215"/>
                  <a:pt x="367189" y="202168"/>
                  <a:pt x="364927" y="207764"/>
                </a:cubicBezTo>
                <a:lnTo>
                  <a:pt x="392668" y="249436"/>
                </a:lnTo>
                <a:cubicBezTo>
                  <a:pt x="401003" y="261937"/>
                  <a:pt x="399336" y="278487"/>
                  <a:pt x="388739" y="289084"/>
                </a:cubicBezTo>
                <a:lnTo>
                  <a:pt x="365879" y="311944"/>
                </a:lnTo>
                <a:cubicBezTo>
                  <a:pt x="355283" y="322540"/>
                  <a:pt x="338733" y="324207"/>
                  <a:pt x="326231" y="315873"/>
                </a:cubicBezTo>
                <a:lnTo>
                  <a:pt x="284559" y="288131"/>
                </a:lnTo>
                <a:cubicBezTo>
                  <a:pt x="273248" y="292775"/>
                  <a:pt x="261223" y="296108"/>
                  <a:pt x="248960" y="297775"/>
                </a:cubicBezTo>
                <a:lnTo>
                  <a:pt x="226814" y="342543"/>
                </a:lnTo>
                <a:cubicBezTo>
                  <a:pt x="220147" y="355997"/>
                  <a:pt x="204907" y="362783"/>
                  <a:pt x="190500" y="358973"/>
                </a:cubicBezTo>
                <a:lnTo>
                  <a:pt x="159306" y="350639"/>
                </a:lnTo>
                <a:cubicBezTo>
                  <a:pt x="144780" y="346710"/>
                  <a:pt x="135136" y="333137"/>
                  <a:pt x="136088" y="318254"/>
                </a:cubicBezTo>
                <a:lnTo>
                  <a:pt x="139303" y="268367"/>
                </a:lnTo>
                <a:cubicBezTo>
                  <a:pt x="129421" y="260747"/>
                  <a:pt x="120729" y="251936"/>
                  <a:pt x="113228" y="242173"/>
                </a:cubicBezTo>
                <a:lnTo>
                  <a:pt x="63222" y="245388"/>
                </a:lnTo>
                <a:cubicBezTo>
                  <a:pt x="48339" y="246340"/>
                  <a:pt x="34766" y="236577"/>
                  <a:pt x="30837" y="222171"/>
                </a:cubicBezTo>
                <a:lnTo>
                  <a:pt x="22503" y="190976"/>
                </a:lnTo>
                <a:cubicBezTo>
                  <a:pt x="18693" y="176570"/>
                  <a:pt x="25479" y="161330"/>
                  <a:pt x="38933" y="154662"/>
                </a:cubicBezTo>
                <a:lnTo>
                  <a:pt x="83820" y="132517"/>
                </a:lnTo>
                <a:cubicBezTo>
                  <a:pt x="84653" y="126444"/>
                  <a:pt x="85844" y="120491"/>
                  <a:pt x="87392" y="114419"/>
                </a:cubicBezTo>
                <a:cubicBezTo>
                  <a:pt x="89059" y="108347"/>
                  <a:pt x="90964" y="102513"/>
                  <a:pt x="93345" y="96917"/>
                </a:cubicBezTo>
                <a:lnTo>
                  <a:pt x="65603" y="55364"/>
                </a:lnTo>
                <a:cubicBezTo>
                  <a:pt x="57269" y="42863"/>
                  <a:pt x="58936" y="26313"/>
                  <a:pt x="69533" y="15716"/>
                </a:cubicBezTo>
                <a:lnTo>
                  <a:pt x="92393" y="-7144"/>
                </a:lnTo>
                <a:cubicBezTo>
                  <a:pt x="102989" y="-17740"/>
                  <a:pt x="119539" y="-19407"/>
                  <a:pt x="132040" y="-11073"/>
                </a:cubicBezTo>
                <a:lnTo>
                  <a:pt x="173712" y="16669"/>
                </a:lnTo>
                <a:cubicBezTo>
                  <a:pt x="185023" y="12025"/>
                  <a:pt x="197048" y="8692"/>
                  <a:pt x="209312" y="7025"/>
                </a:cubicBezTo>
                <a:lnTo>
                  <a:pt x="231458" y="-37743"/>
                </a:lnTo>
                <a:cubicBezTo>
                  <a:pt x="238125" y="-51197"/>
                  <a:pt x="253246" y="-57983"/>
                  <a:pt x="267772" y="-54173"/>
                </a:cubicBezTo>
                <a:close/>
                <a:moveTo>
                  <a:pt x="229076" y="100013"/>
                </a:moveTo>
                <a:cubicBezTo>
                  <a:pt x="200163" y="100013"/>
                  <a:pt x="176689" y="123487"/>
                  <a:pt x="176689" y="152400"/>
                </a:cubicBezTo>
                <a:cubicBezTo>
                  <a:pt x="176689" y="181313"/>
                  <a:pt x="200163" y="204787"/>
                  <a:pt x="229076" y="204787"/>
                </a:cubicBezTo>
                <a:cubicBezTo>
                  <a:pt x="257990" y="204787"/>
                  <a:pt x="281464" y="181313"/>
                  <a:pt x="281464" y="152400"/>
                </a:cubicBezTo>
                <a:cubicBezTo>
                  <a:pt x="281464" y="123487"/>
                  <a:pt x="257990" y="100013"/>
                  <a:pt x="229076" y="100013"/>
                </a:cubicBezTo>
                <a:close/>
              </a:path>
            </a:pathLst>
          </a:custGeom>
          <a:solidFill>
            <a:srgbClr val="4285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1" name="Google Shape;351;g3d01d778264_0_137"/>
          <p:cNvSpPr/>
          <p:nvPr/>
        </p:nvSpPr>
        <p:spPr>
          <a:xfrm>
            <a:off x="301763" y="2067713"/>
            <a:ext cx="2695500" cy="2667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202124"/>
              </a:buClr>
              <a:buSzPts val="1500"/>
              <a:buFont typeface="Noto Sans SC"/>
              <a:buNone/>
            </a:pPr>
            <a:r>
              <a:rPr b="1" i="0" lang="es" sz="1500" u="none" cap="none" strike="noStrike">
                <a:solidFill>
                  <a:srgbClr val="202124"/>
                </a:solidFill>
                <a:latin typeface="Noto Sans SC"/>
                <a:ea typeface="Noto Sans SC"/>
                <a:cs typeface="Noto Sans SC"/>
                <a:sym typeface="Noto Sans SC"/>
              </a:rPr>
              <a:t>Tecnologías Clave</a:t>
            </a:r>
            <a:endParaRPr b="1" i="0" sz="1200" u="none" cap="none" strike="noStrike"/>
          </a:p>
        </p:txBody>
      </p:sp>
      <p:sp>
        <p:nvSpPr>
          <p:cNvPr id="352" name="Google Shape;352;g3d01d778264_0_137"/>
          <p:cNvSpPr/>
          <p:nvPr/>
        </p:nvSpPr>
        <p:spPr>
          <a:xfrm>
            <a:off x="495300" y="2628019"/>
            <a:ext cx="2505000" cy="1729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1100"/>
              <a:buFont typeface="Arial"/>
              <a:buNone/>
            </a:pPr>
            <a:r>
              <a:rPr b="0" i="0" lang="es" sz="1600" u="none" cap="none" strike="noStrike">
                <a:solidFill>
                  <a:srgbClr val="000000"/>
                </a:solidFill>
                <a:latin typeface="Arial"/>
                <a:ea typeface="Arial"/>
                <a:cs typeface="Arial"/>
                <a:sym typeface="Arial"/>
              </a:rPr>
              <a:t>Virtualización y contenerización son la base de la infraestructura moderna, impulsando la automatización y eficiencia.</a:t>
            </a:r>
            <a:endParaRPr b="0" i="0" sz="1700" u="none" cap="none" strike="noStrike"/>
          </a:p>
        </p:txBody>
      </p:sp>
      <p:cxnSp>
        <p:nvCxnSpPr>
          <p:cNvPr id="353" name="Google Shape;353;g3d01d778264_0_137"/>
          <p:cNvCxnSpPr/>
          <p:nvPr/>
        </p:nvCxnSpPr>
        <p:spPr>
          <a:xfrm>
            <a:off x="5844183" y="2000250"/>
            <a:ext cx="0" cy="1828800"/>
          </a:xfrm>
          <a:prstGeom prst="straightConnector1">
            <a:avLst/>
          </a:prstGeom>
          <a:noFill/>
          <a:ln cap="flat" cmpd="sng" w="19050">
            <a:solidFill>
              <a:srgbClr val="888B8D">
                <a:alpha val="29800"/>
              </a:srgbClr>
            </a:solidFill>
            <a:prstDash val="solid"/>
            <a:round/>
            <a:headEnd len="sm" w="sm" type="none"/>
            <a:tailEnd len="sm" w="sm" type="none"/>
          </a:ln>
        </p:spPr>
      </p:cxnSp>
      <p:cxnSp>
        <p:nvCxnSpPr>
          <p:cNvPr id="354" name="Google Shape;354;g3d01d778264_0_137"/>
          <p:cNvCxnSpPr/>
          <p:nvPr/>
        </p:nvCxnSpPr>
        <p:spPr>
          <a:xfrm>
            <a:off x="3262908" y="2000250"/>
            <a:ext cx="0" cy="1828800"/>
          </a:xfrm>
          <a:prstGeom prst="straightConnector1">
            <a:avLst/>
          </a:prstGeom>
          <a:noFill/>
          <a:ln cap="flat" cmpd="sng" w="19050">
            <a:solidFill>
              <a:srgbClr val="888B8D">
                <a:alpha val="29800"/>
              </a:srgbClr>
            </a:solidFill>
            <a:prstDash val="solid"/>
            <a:round/>
            <a:headEnd len="sm" w="sm" type="none"/>
            <a:tailEnd len="sm" w="sm" type="none"/>
          </a:ln>
        </p:spPr>
      </p:cxnSp>
      <p:sp>
        <p:nvSpPr>
          <p:cNvPr id="355" name="Google Shape;355;g3d01d778264_0_137"/>
          <p:cNvSpPr/>
          <p:nvPr/>
        </p:nvSpPr>
        <p:spPr>
          <a:xfrm>
            <a:off x="4296375" y="1316831"/>
            <a:ext cx="514350" cy="457200"/>
          </a:xfrm>
          <a:custGeom>
            <a:rect b="b" l="l" r="r" t="t"/>
            <a:pathLst>
              <a:path extrusionOk="0" h="609600" w="685800">
                <a:moveTo>
                  <a:pt x="266819" y="115610"/>
                </a:moveTo>
                <a:lnTo>
                  <a:pt x="266819" y="174665"/>
                </a:lnTo>
                <a:lnTo>
                  <a:pt x="267414" y="175260"/>
                </a:lnTo>
                <a:cubicBezTo>
                  <a:pt x="275153" y="77152"/>
                  <a:pt x="357188" y="0"/>
                  <a:pt x="457319" y="0"/>
                </a:cubicBezTo>
                <a:cubicBezTo>
                  <a:pt x="481251" y="0"/>
                  <a:pt x="504230" y="4405"/>
                  <a:pt x="525304" y="12502"/>
                </a:cubicBezTo>
                <a:cubicBezTo>
                  <a:pt x="537210" y="17026"/>
                  <a:pt x="539353" y="32147"/>
                  <a:pt x="530423" y="41196"/>
                </a:cubicBezTo>
                <a:lnTo>
                  <a:pt x="424815" y="146804"/>
                </a:lnTo>
                <a:cubicBezTo>
                  <a:pt x="421243" y="150376"/>
                  <a:pt x="419219" y="155258"/>
                  <a:pt x="419219" y="160258"/>
                </a:cubicBezTo>
                <a:lnTo>
                  <a:pt x="419219" y="209550"/>
                </a:lnTo>
                <a:cubicBezTo>
                  <a:pt x="419219" y="220028"/>
                  <a:pt x="427792" y="228600"/>
                  <a:pt x="438269" y="228600"/>
                </a:cubicBezTo>
                <a:lnTo>
                  <a:pt x="487561" y="228600"/>
                </a:lnTo>
                <a:cubicBezTo>
                  <a:pt x="492562" y="228600"/>
                  <a:pt x="497443" y="226576"/>
                  <a:pt x="501015" y="223004"/>
                </a:cubicBezTo>
                <a:lnTo>
                  <a:pt x="606623" y="117396"/>
                </a:lnTo>
                <a:cubicBezTo>
                  <a:pt x="615672" y="108347"/>
                  <a:pt x="630793" y="110609"/>
                  <a:pt x="635318" y="122515"/>
                </a:cubicBezTo>
                <a:cubicBezTo>
                  <a:pt x="643414" y="143589"/>
                  <a:pt x="647819" y="166568"/>
                  <a:pt x="647819" y="190500"/>
                </a:cubicBezTo>
                <a:cubicBezTo>
                  <a:pt x="647819" y="262652"/>
                  <a:pt x="607695" y="325517"/>
                  <a:pt x="548402" y="357783"/>
                </a:cubicBezTo>
                <a:lnTo>
                  <a:pt x="645438" y="454819"/>
                </a:lnTo>
                <a:cubicBezTo>
                  <a:pt x="667703" y="477083"/>
                  <a:pt x="667703" y="513278"/>
                  <a:pt x="645438" y="535662"/>
                </a:cubicBezTo>
                <a:lnTo>
                  <a:pt x="573881" y="607219"/>
                </a:lnTo>
                <a:cubicBezTo>
                  <a:pt x="551617" y="629483"/>
                  <a:pt x="515422" y="629483"/>
                  <a:pt x="493038" y="607219"/>
                </a:cubicBezTo>
                <a:lnTo>
                  <a:pt x="343019" y="457200"/>
                </a:lnTo>
                <a:cubicBezTo>
                  <a:pt x="310396" y="424577"/>
                  <a:pt x="303014" y="376357"/>
                  <a:pt x="320993" y="336590"/>
                </a:cubicBezTo>
                <a:lnTo>
                  <a:pt x="213003" y="228600"/>
                </a:lnTo>
                <a:lnTo>
                  <a:pt x="153948" y="228600"/>
                </a:lnTo>
                <a:cubicBezTo>
                  <a:pt x="141208" y="228600"/>
                  <a:pt x="129302" y="222290"/>
                  <a:pt x="122277" y="211693"/>
                </a:cubicBezTo>
                <a:lnTo>
                  <a:pt x="27861" y="70128"/>
                </a:lnTo>
                <a:cubicBezTo>
                  <a:pt x="22860" y="62627"/>
                  <a:pt x="23813" y="52507"/>
                  <a:pt x="30242" y="46077"/>
                </a:cubicBezTo>
                <a:lnTo>
                  <a:pt x="84296" y="-7977"/>
                </a:lnTo>
                <a:cubicBezTo>
                  <a:pt x="90726" y="-14407"/>
                  <a:pt x="100727" y="-15359"/>
                  <a:pt x="108347" y="-10358"/>
                </a:cubicBezTo>
                <a:lnTo>
                  <a:pt x="249912" y="83939"/>
                </a:lnTo>
                <a:cubicBezTo>
                  <a:pt x="260509" y="90964"/>
                  <a:pt x="266819" y="102870"/>
                  <a:pt x="266819" y="115610"/>
                </a:cubicBezTo>
                <a:close/>
                <a:moveTo>
                  <a:pt x="256699" y="353139"/>
                </a:moveTo>
                <a:cubicBezTo>
                  <a:pt x="249198" y="397193"/>
                  <a:pt x="259556" y="443746"/>
                  <a:pt x="288131" y="481012"/>
                </a:cubicBezTo>
                <a:lnTo>
                  <a:pt x="175022" y="594003"/>
                </a:lnTo>
                <a:cubicBezTo>
                  <a:pt x="141565" y="627459"/>
                  <a:pt x="87273" y="627459"/>
                  <a:pt x="53816" y="594003"/>
                </a:cubicBezTo>
                <a:cubicBezTo>
                  <a:pt x="20360" y="560546"/>
                  <a:pt x="20360" y="506254"/>
                  <a:pt x="53816" y="472797"/>
                </a:cubicBezTo>
                <a:lnTo>
                  <a:pt x="215027" y="311587"/>
                </a:lnTo>
                <a:lnTo>
                  <a:pt x="256699" y="353258"/>
                </a:lnTo>
                <a:close/>
              </a:path>
            </a:pathLst>
          </a:custGeom>
          <a:solidFill>
            <a:srgbClr val="4285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6" name="Google Shape;356;g3d01d778264_0_137"/>
          <p:cNvSpPr/>
          <p:nvPr/>
        </p:nvSpPr>
        <p:spPr>
          <a:xfrm>
            <a:off x="3243858" y="2067713"/>
            <a:ext cx="2657400" cy="2667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202124"/>
              </a:buClr>
              <a:buSzPts val="1500"/>
              <a:buFont typeface="Noto Sans SC"/>
              <a:buNone/>
            </a:pPr>
            <a:r>
              <a:rPr b="1" i="0" lang="es" sz="1500" u="none" cap="none" strike="noStrike">
                <a:solidFill>
                  <a:srgbClr val="202124"/>
                </a:solidFill>
                <a:latin typeface="Noto Sans SC"/>
                <a:ea typeface="Noto Sans SC"/>
                <a:cs typeface="Noto Sans SC"/>
                <a:sym typeface="Noto Sans SC"/>
              </a:rPr>
              <a:t>Herramientas Esenciales</a:t>
            </a:r>
            <a:endParaRPr b="1" i="0" sz="1200" u="none" cap="none" strike="noStrike"/>
          </a:p>
        </p:txBody>
      </p:sp>
      <p:sp>
        <p:nvSpPr>
          <p:cNvPr id="357" name="Google Shape;357;g3d01d778264_0_137"/>
          <p:cNvSpPr/>
          <p:nvPr/>
        </p:nvSpPr>
        <p:spPr>
          <a:xfrm>
            <a:off x="3434363" y="2628019"/>
            <a:ext cx="2243100" cy="1729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40404"/>
              </a:buClr>
              <a:buSzPts val="1100"/>
              <a:buFont typeface="Arial"/>
              <a:buNone/>
            </a:pPr>
            <a:r>
              <a:rPr lang="es" sz="1600">
                <a:solidFill>
                  <a:srgbClr val="040404"/>
                </a:solidFill>
              </a:rPr>
              <a:t>Kubernetes, BDs</a:t>
            </a:r>
            <a:endParaRPr b="0" i="0" sz="1700" u="none" cap="none" strike="noStrike"/>
          </a:p>
        </p:txBody>
      </p:sp>
      <p:sp>
        <p:nvSpPr>
          <p:cNvPr id="358" name="Google Shape;358;g3d01d778264_0_137"/>
          <p:cNvSpPr/>
          <p:nvPr/>
        </p:nvSpPr>
        <p:spPr>
          <a:xfrm>
            <a:off x="7293620" y="1316831"/>
            <a:ext cx="400050" cy="457200"/>
          </a:xfrm>
          <a:custGeom>
            <a:rect b="b" l="l" r="r" t="t"/>
            <a:pathLst>
              <a:path extrusionOk="0" h="609600" w="533400">
                <a:moveTo>
                  <a:pt x="287298" y="-15478"/>
                </a:moveTo>
                <a:cubicBezTo>
                  <a:pt x="273725" y="-18217"/>
                  <a:pt x="259794" y="-18217"/>
                  <a:pt x="246221" y="-15478"/>
                </a:cubicBezTo>
                <a:lnTo>
                  <a:pt x="22979" y="29170"/>
                </a:lnTo>
                <a:cubicBezTo>
                  <a:pt x="9644" y="31790"/>
                  <a:pt x="0" y="43577"/>
                  <a:pt x="0" y="57150"/>
                </a:cubicBezTo>
                <a:cubicBezTo>
                  <a:pt x="0" y="69413"/>
                  <a:pt x="7739" y="80129"/>
                  <a:pt x="19050" y="84058"/>
                </a:cubicBezTo>
                <a:lnTo>
                  <a:pt x="19050" y="171450"/>
                </a:lnTo>
                <a:lnTo>
                  <a:pt x="357" y="265033"/>
                </a:lnTo>
                <a:cubicBezTo>
                  <a:pt x="119" y="266105"/>
                  <a:pt x="0" y="267295"/>
                  <a:pt x="0" y="268486"/>
                </a:cubicBezTo>
                <a:cubicBezTo>
                  <a:pt x="0" y="278011"/>
                  <a:pt x="7739" y="285869"/>
                  <a:pt x="17383" y="285869"/>
                </a:cubicBezTo>
                <a:lnTo>
                  <a:pt x="58936" y="285869"/>
                </a:lnTo>
                <a:cubicBezTo>
                  <a:pt x="68461" y="285869"/>
                  <a:pt x="76319" y="278130"/>
                  <a:pt x="76319" y="268486"/>
                </a:cubicBezTo>
                <a:cubicBezTo>
                  <a:pt x="76319" y="267295"/>
                  <a:pt x="76200" y="266224"/>
                  <a:pt x="75962" y="265033"/>
                </a:cubicBezTo>
                <a:lnTo>
                  <a:pt x="57150" y="171450"/>
                </a:lnTo>
                <a:lnTo>
                  <a:pt x="57150" y="92035"/>
                </a:lnTo>
                <a:lnTo>
                  <a:pt x="114300" y="103465"/>
                </a:lnTo>
                <a:lnTo>
                  <a:pt x="114300" y="171450"/>
                </a:lnTo>
                <a:cubicBezTo>
                  <a:pt x="114300" y="255627"/>
                  <a:pt x="182523" y="323850"/>
                  <a:pt x="266700" y="323850"/>
                </a:cubicBezTo>
                <a:cubicBezTo>
                  <a:pt x="350877" y="323850"/>
                  <a:pt x="419100" y="255627"/>
                  <a:pt x="419100" y="171450"/>
                </a:cubicBezTo>
                <a:lnTo>
                  <a:pt x="419100" y="103465"/>
                </a:lnTo>
                <a:lnTo>
                  <a:pt x="510421" y="85249"/>
                </a:lnTo>
                <a:cubicBezTo>
                  <a:pt x="523756" y="82510"/>
                  <a:pt x="533400" y="70723"/>
                  <a:pt x="533400" y="57150"/>
                </a:cubicBezTo>
                <a:cubicBezTo>
                  <a:pt x="533400" y="43577"/>
                  <a:pt x="523756" y="31790"/>
                  <a:pt x="510421" y="29170"/>
                </a:cubicBezTo>
                <a:lnTo>
                  <a:pt x="287298" y="-15478"/>
                </a:lnTo>
                <a:close/>
                <a:moveTo>
                  <a:pt x="266700" y="266700"/>
                </a:moveTo>
                <a:cubicBezTo>
                  <a:pt x="214074" y="266700"/>
                  <a:pt x="171450" y="224076"/>
                  <a:pt x="171450" y="171450"/>
                </a:cubicBezTo>
                <a:lnTo>
                  <a:pt x="361950" y="171450"/>
                </a:lnTo>
                <a:cubicBezTo>
                  <a:pt x="361950" y="224076"/>
                  <a:pt x="319326" y="266700"/>
                  <a:pt x="266700" y="266700"/>
                </a:cubicBezTo>
                <a:close/>
                <a:moveTo>
                  <a:pt x="142994" y="381119"/>
                </a:moveTo>
                <a:cubicBezTo>
                  <a:pt x="69890" y="414695"/>
                  <a:pt x="19050" y="488513"/>
                  <a:pt x="19050" y="574238"/>
                </a:cubicBezTo>
                <a:cubicBezTo>
                  <a:pt x="19050" y="593765"/>
                  <a:pt x="34885" y="609600"/>
                  <a:pt x="54412" y="609600"/>
                </a:cubicBezTo>
                <a:lnTo>
                  <a:pt x="238125" y="609600"/>
                </a:lnTo>
                <a:lnTo>
                  <a:pt x="238125" y="435769"/>
                </a:lnTo>
                <a:lnTo>
                  <a:pt x="169783" y="384572"/>
                </a:lnTo>
                <a:cubicBezTo>
                  <a:pt x="162044" y="378738"/>
                  <a:pt x="151686" y="377190"/>
                  <a:pt x="142875" y="381238"/>
                </a:cubicBezTo>
                <a:close/>
                <a:moveTo>
                  <a:pt x="295275" y="609600"/>
                </a:moveTo>
                <a:lnTo>
                  <a:pt x="478988" y="609600"/>
                </a:lnTo>
                <a:cubicBezTo>
                  <a:pt x="498515" y="609600"/>
                  <a:pt x="514350" y="593765"/>
                  <a:pt x="514350" y="574238"/>
                </a:cubicBezTo>
                <a:cubicBezTo>
                  <a:pt x="514350" y="488513"/>
                  <a:pt x="463510" y="414695"/>
                  <a:pt x="390406" y="381238"/>
                </a:cubicBezTo>
                <a:cubicBezTo>
                  <a:pt x="381595" y="377190"/>
                  <a:pt x="371237" y="378738"/>
                  <a:pt x="363498" y="384572"/>
                </a:cubicBezTo>
                <a:lnTo>
                  <a:pt x="295156" y="435769"/>
                </a:lnTo>
                <a:lnTo>
                  <a:pt x="295156" y="609600"/>
                </a:lnTo>
                <a:close/>
              </a:path>
            </a:pathLst>
          </a:custGeom>
          <a:solidFill>
            <a:srgbClr val="4285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9" name="Google Shape;359;g3d01d778264_0_137"/>
          <p:cNvSpPr/>
          <p:nvPr/>
        </p:nvSpPr>
        <p:spPr>
          <a:xfrm>
            <a:off x="6147941" y="2067713"/>
            <a:ext cx="2695500" cy="2667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202124"/>
              </a:buClr>
              <a:buSzPts val="1500"/>
              <a:buFont typeface="Noto Sans SC"/>
              <a:buNone/>
            </a:pPr>
            <a:r>
              <a:rPr b="1" i="0" lang="es" sz="1500" u="none" cap="none" strike="noStrike">
                <a:solidFill>
                  <a:srgbClr val="202124"/>
                </a:solidFill>
                <a:latin typeface="Noto Sans SC"/>
                <a:ea typeface="Noto Sans SC"/>
                <a:cs typeface="Noto Sans SC"/>
                <a:sym typeface="Noto Sans SC"/>
              </a:rPr>
              <a:t>Competencias Adquiridas</a:t>
            </a:r>
            <a:endParaRPr b="1" i="0" sz="1200" u="none" cap="none" strike="noStrike"/>
          </a:p>
        </p:txBody>
      </p:sp>
      <p:sp>
        <p:nvSpPr>
          <p:cNvPr id="360" name="Google Shape;360;g3d01d778264_0_137"/>
          <p:cNvSpPr/>
          <p:nvPr/>
        </p:nvSpPr>
        <p:spPr>
          <a:xfrm>
            <a:off x="6338437" y="2675606"/>
            <a:ext cx="2505000" cy="16344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40404"/>
              </a:buClr>
              <a:buSzPts val="1100"/>
              <a:buFont typeface="Arial"/>
              <a:buNone/>
            </a:pPr>
            <a:r>
              <a:rPr b="0" i="0" lang="es" sz="1600" u="none" cap="none" strike="noStrike">
                <a:solidFill>
                  <a:srgbClr val="040404"/>
                </a:solidFill>
                <a:latin typeface="Arial"/>
                <a:ea typeface="Arial"/>
                <a:cs typeface="Arial"/>
                <a:sym typeface="Arial"/>
              </a:rPr>
              <a:t>El estudiante adquiere habilidades alineadas a la industria: despliegue, seguridad, escalado y automatización.</a:t>
            </a:r>
            <a:endParaRPr b="0" i="0" sz="1700" u="none" cap="none" strike="noStrike"/>
          </a:p>
        </p:txBody>
      </p:sp>
      <p:pic>
        <p:nvPicPr>
          <p:cNvPr id="361" name="Google Shape;361;g3d01d778264_0_137" title="BUHOADSFA-Photoroom.png"/>
          <p:cNvPicPr preferRelativeResize="0"/>
          <p:nvPr/>
        </p:nvPicPr>
        <p:blipFill>
          <a:blip r:embed="rId3">
            <a:alphaModFix/>
          </a:blip>
          <a:stretch>
            <a:fillRect/>
          </a:stretch>
        </p:blipFill>
        <p:spPr>
          <a:xfrm>
            <a:off x="0" y="-4"/>
            <a:ext cx="647700" cy="8017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366" name="Shape 366"/>
        <p:cNvGrpSpPr/>
        <p:nvPr/>
      </p:nvGrpSpPr>
      <p:grpSpPr>
        <a:xfrm>
          <a:off x="0" y="0"/>
          <a:ext cx="0" cy="0"/>
          <a:chOff x="0" y="0"/>
          <a:chExt cx="0" cy="0"/>
        </a:xfrm>
      </p:grpSpPr>
      <p:pic>
        <p:nvPicPr>
          <p:cNvPr descr="https://kimi-img.moonshot.cn/pub/slides/slides_tmpl/image/25-08-27-20:09:25-d2nfat98bjvh7rlj0j2g.png" id="367" name="Google Shape;367;g3d01d778264_0_154"/>
          <p:cNvPicPr preferRelativeResize="0"/>
          <p:nvPr/>
        </p:nvPicPr>
        <p:blipFill rotWithShape="1">
          <a:blip r:embed="rId3">
            <a:alphaModFix/>
          </a:blip>
          <a:srcRect b="0" l="0" r="0" t="0"/>
          <a:stretch/>
        </p:blipFill>
        <p:spPr>
          <a:xfrm>
            <a:off x="542925" y="1135856"/>
            <a:ext cx="3141821" cy="2829402"/>
          </a:xfrm>
          <a:prstGeom prst="rect">
            <a:avLst/>
          </a:prstGeom>
          <a:noFill/>
          <a:ln>
            <a:noFill/>
          </a:ln>
        </p:spPr>
      </p:pic>
      <p:sp>
        <p:nvSpPr>
          <p:cNvPr id="368" name="Google Shape;368;g3d01d778264_0_154"/>
          <p:cNvSpPr/>
          <p:nvPr/>
        </p:nvSpPr>
        <p:spPr>
          <a:xfrm>
            <a:off x="4038124" y="2397442"/>
            <a:ext cx="4062000" cy="899100"/>
          </a:xfrm>
          <a:prstGeom prst="rect">
            <a:avLst/>
          </a:prstGeom>
          <a:solidFill>
            <a:srgbClr val="000000">
              <a:alpha val="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9" name="Google Shape;369;g3d01d778264_0_154"/>
          <p:cNvSpPr/>
          <p:nvPr/>
        </p:nvSpPr>
        <p:spPr>
          <a:xfrm>
            <a:off x="4038124" y="2397442"/>
            <a:ext cx="4062000" cy="899100"/>
          </a:xfrm>
          <a:prstGeom prst="rect">
            <a:avLst/>
          </a:prstGeom>
          <a:noFill/>
          <a:ln>
            <a:noFill/>
          </a:ln>
        </p:spPr>
        <p:txBody>
          <a:bodyPr anchorCtr="0" anchor="t" bIns="34275" lIns="34275" spcFirstLastPara="1" rIns="68575" wrap="square" tIns="68575">
            <a:noAutofit/>
          </a:bodyPr>
          <a:lstStyle/>
          <a:p>
            <a:pPr indent="0" lvl="0" marL="0" marR="0" rtl="0" algn="just">
              <a:lnSpc>
                <a:spcPct val="100000"/>
              </a:lnSpc>
              <a:spcBef>
                <a:spcPts val="0"/>
              </a:spcBef>
              <a:spcAft>
                <a:spcPts val="0"/>
              </a:spcAft>
              <a:buClr>
                <a:srgbClr val="FFFFFF"/>
              </a:buClr>
              <a:buSzPts val="2700"/>
              <a:buFont typeface="Arial"/>
              <a:buNone/>
            </a:pPr>
            <a:r>
              <a:rPr b="1" i="0" lang="es" sz="2700" u="none" cap="none" strike="noStrike">
                <a:solidFill>
                  <a:srgbClr val="FFFFFF"/>
                </a:solidFill>
                <a:latin typeface="Arial"/>
                <a:ea typeface="Arial"/>
                <a:cs typeface="Arial"/>
                <a:sym typeface="Arial"/>
              </a:rPr>
              <a:t>Casos y valores</a:t>
            </a:r>
            <a:endParaRPr b="0" i="0" sz="1200" u="none" cap="none" strike="noStrike"/>
          </a:p>
        </p:txBody>
      </p:sp>
      <p:pic>
        <p:nvPicPr>
          <p:cNvPr id="370" name="Google Shape;370;g3d01d778264_0_154" title="BUHOADSFA-Photoroom.png"/>
          <p:cNvPicPr preferRelativeResize="0"/>
          <p:nvPr/>
        </p:nvPicPr>
        <p:blipFill>
          <a:blip r:embed="rId4">
            <a:alphaModFix/>
          </a:blip>
          <a:stretch>
            <a:fillRect/>
          </a:stretch>
        </p:blipFill>
        <p:spPr>
          <a:xfrm>
            <a:off x="0" y="-4"/>
            <a:ext cx="647700" cy="8017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3609770417b_0_698"/>
          <p:cNvSpPr txBox="1"/>
          <p:nvPr>
            <p:ph type="title"/>
          </p:nvPr>
        </p:nvSpPr>
        <p:spPr>
          <a:xfrm>
            <a:off x="525125" y="284325"/>
            <a:ext cx="8256000" cy="631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Valores y Actitudes Desarrolladas al Aprender Gestión de procesos y concurrencia</a:t>
            </a:r>
            <a:endParaRPr/>
          </a:p>
        </p:txBody>
      </p:sp>
      <p:sp>
        <p:nvSpPr>
          <p:cNvPr id="376" name="Google Shape;376;g3609770417b_0_698"/>
          <p:cNvSpPr txBox="1"/>
          <p:nvPr/>
        </p:nvSpPr>
        <p:spPr>
          <a:xfrm>
            <a:off x="525125" y="1265675"/>
            <a:ext cx="8450700" cy="4112700"/>
          </a:xfrm>
          <a:prstGeom prst="rect">
            <a:avLst/>
          </a:prstGeom>
          <a:noFill/>
          <a:ln>
            <a:noFill/>
          </a:ln>
        </p:spPr>
        <p:txBody>
          <a:bodyPr anchorCtr="0" anchor="t" bIns="57150" lIns="57150" spcFirstLastPara="1" rIns="57150" wrap="square" tIns="57150">
            <a:spAutoFit/>
          </a:bodyPr>
          <a:lstStyle/>
          <a:p>
            <a:pPr indent="0" lvl="0" marL="0" marR="0" rtl="0" algn="l">
              <a:lnSpc>
                <a:spcPct val="115000"/>
              </a:lnSpc>
              <a:spcBef>
                <a:spcPts val="1800"/>
              </a:spcBef>
              <a:spcAft>
                <a:spcPts val="0"/>
              </a:spcAft>
              <a:buClr>
                <a:srgbClr val="000000"/>
              </a:buClr>
              <a:buSzPts val="1800"/>
              <a:buFont typeface="Arial"/>
              <a:buNone/>
            </a:pPr>
            <a:r>
              <a:rPr b="1" i="0" lang="es" sz="1800" u="none" cap="none" strike="noStrike">
                <a:solidFill>
                  <a:schemeClr val="lt1"/>
                </a:solidFill>
                <a:latin typeface="Arial"/>
                <a:ea typeface="Arial"/>
                <a:cs typeface="Arial"/>
                <a:sym typeface="Arial"/>
              </a:rPr>
              <a:t>Valores y Actitudes Generales</a:t>
            </a:r>
            <a:endParaRPr b="1" i="0" sz="1800" u="none" cap="none" strike="noStrike">
              <a:solidFill>
                <a:schemeClr val="lt1"/>
              </a:solidFill>
              <a:latin typeface="Arial"/>
              <a:ea typeface="Arial"/>
              <a:cs typeface="Arial"/>
              <a:sym typeface="Arial"/>
            </a:endParaRPr>
          </a:p>
          <a:p>
            <a:pPr indent="-304800" lvl="0" marL="457200" marR="0" rtl="0" algn="l">
              <a:lnSpc>
                <a:spcPct val="115000"/>
              </a:lnSpc>
              <a:spcBef>
                <a:spcPts val="1200"/>
              </a:spcBef>
              <a:spcAft>
                <a:spcPts val="0"/>
              </a:spcAft>
              <a:buClr>
                <a:schemeClr val="lt1"/>
              </a:buClr>
              <a:buSzPts val="1200"/>
              <a:buFont typeface="Arial"/>
              <a:buAutoNum type="arabicPeriod"/>
            </a:pPr>
            <a:r>
              <a:rPr b="1" i="0" lang="es" sz="1200" u="none" cap="none" strike="noStrike">
                <a:solidFill>
                  <a:schemeClr val="lt1"/>
                </a:solidFill>
                <a:latin typeface="Arial"/>
                <a:ea typeface="Arial"/>
                <a:cs typeface="Arial"/>
                <a:sym typeface="Arial"/>
              </a:rPr>
              <a:t>Ingeniería de Robustez y Resiliencia:</a:t>
            </a:r>
            <a:r>
              <a:rPr b="0" i="0" lang="es" sz="1200" u="none" cap="none" strike="noStrike">
                <a:solidFill>
                  <a:schemeClr val="lt1"/>
                </a:solidFill>
                <a:latin typeface="Arial"/>
                <a:ea typeface="Arial"/>
                <a:cs typeface="Arial"/>
                <a:sym typeface="Arial"/>
              </a:rPr>
              <a:t> Un compromiso inquebrantable con la construcción de sistemas que no solo funcionen, sino que lo hagan de manera confiable, incluso frente a fallos. Esto implica pensar en la tolerancia a errores, la auto-sanación y la capacidad de recuperación desde la fase de diseño.</a:t>
            </a:r>
            <a:endParaRPr b="0" i="0" sz="1200" u="none" cap="none" strike="noStrike">
              <a:solidFill>
                <a:schemeClr val="lt1"/>
              </a:solidFill>
              <a:latin typeface="Arial"/>
              <a:ea typeface="Arial"/>
              <a:cs typeface="Arial"/>
              <a:sym typeface="Arial"/>
            </a:endParaRPr>
          </a:p>
          <a:p>
            <a:pPr indent="-304800" lvl="0" marL="457200" marR="0" rtl="0" algn="l">
              <a:lnSpc>
                <a:spcPct val="115000"/>
              </a:lnSpc>
              <a:spcBef>
                <a:spcPts val="0"/>
              </a:spcBef>
              <a:spcAft>
                <a:spcPts val="0"/>
              </a:spcAft>
              <a:buClr>
                <a:schemeClr val="lt1"/>
              </a:buClr>
              <a:buSzPts val="1200"/>
              <a:buFont typeface="Arial"/>
              <a:buAutoNum type="arabicPeriod"/>
            </a:pPr>
            <a:r>
              <a:rPr b="1" i="0" lang="es" sz="1200" u="none" cap="none" strike="noStrike">
                <a:solidFill>
                  <a:schemeClr val="lt1"/>
                </a:solidFill>
                <a:latin typeface="Arial"/>
                <a:ea typeface="Arial"/>
                <a:cs typeface="Arial"/>
                <a:sym typeface="Arial"/>
              </a:rPr>
              <a:t>Optimización y Eficiencia Continua:</a:t>
            </a:r>
            <a:r>
              <a:rPr b="0" i="0" lang="es" sz="1200" u="none" cap="none" strike="noStrike">
                <a:solidFill>
                  <a:schemeClr val="lt1"/>
                </a:solidFill>
                <a:latin typeface="Arial"/>
                <a:ea typeface="Arial"/>
                <a:cs typeface="Arial"/>
                <a:sym typeface="Arial"/>
              </a:rPr>
              <a:t> Buscar siempre la mejor manera de utilizar los recursos computacionales y de red, ya sea a través de una sincronización de procesos adecuada, una comunicación optimizada o un despliegue inteligente de contenedores. Se valora la mejora constante del rendimiento y el costo-efectividad.</a:t>
            </a:r>
            <a:endParaRPr b="0" i="0" sz="1200" u="none" cap="none" strike="noStrike">
              <a:solidFill>
                <a:schemeClr val="lt1"/>
              </a:solidFill>
              <a:latin typeface="Arial"/>
              <a:ea typeface="Arial"/>
              <a:cs typeface="Arial"/>
              <a:sym typeface="Arial"/>
            </a:endParaRPr>
          </a:p>
          <a:p>
            <a:pPr indent="-304800" lvl="0" marL="457200" marR="0" rtl="0" algn="l">
              <a:lnSpc>
                <a:spcPct val="115000"/>
              </a:lnSpc>
              <a:spcBef>
                <a:spcPts val="0"/>
              </a:spcBef>
              <a:spcAft>
                <a:spcPts val="0"/>
              </a:spcAft>
              <a:buClr>
                <a:schemeClr val="lt1"/>
              </a:buClr>
              <a:buSzPts val="1200"/>
              <a:buFont typeface="Arial"/>
              <a:buAutoNum type="arabicPeriod"/>
            </a:pPr>
            <a:r>
              <a:rPr b="1" i="0" lang="es" sz="1200" u="none" cap="none" strike="noStrike">
                <a:solidFill>
                  <a:schemeClr val="lt1"/>
                </a:solidFill>
                <a:latin typeface="Arial"/>
                <a:ea typeface="Arial"/>
                <a:cs typeface="Arial"/>
                <a:sym typeface="Arial"/>
              </a:rPr>
              <a:t>Pensamiento Sistémico y Abstracción:</a:t>
            </a:r>
            <a:r>
              <a:rPr b="0" i="0" lang="es" sz="1200" u="none" cap="none" strike="noStrike">
                <a:solidFill>
                  <a:schemeClr val="lt1"/>
                </a:solidFill>
                <a:latin typeface="Arial"/>
                <a:ea typeface="Arial"/>
                <a:cs typeface="Arial"/>
                <a:sym typeface="Arial"/>
              </a:rPr>
              <a:t> La capacidad de ver el software y la infraestructura como un ecosistema interconectado, entendiendo cómo los diferentes componentes interactúan y se afectan mutuamente. Se valora la habilidad de abstraer la complejidad para gestionar sistemas a gran escala.</a:t>
            </a:r>
            <a:endParaRPr b="0" i="0" sz="1200" u="none" cap="none" strike="noStrike">
              <a:solidFill>
                <a:schemeClr val="lt1"/>
              </a:solidFill>
              <a:latin typeface="Arial"/>
              <a:ea typeface="Arial"/>
              <a:cs typeface="Arial"/>
              <a:sym typeface="Arial"/>
            </a:endParaRPr>
          </a:p>
          <a:p>
            <a:pPr indent="-304800" lvl="0" marL="457200" marR="0" rtl="0" algn="l">
              <a:lnSpc>
                <a:spcPct val="115000"/>
              </a:lnSpc>
              <a:spcBef>
                <a:spcPts val="0"/>
              </a:spcBef>
              <a:spcAft>
                <a:spcPts val="0"/>
              </a:spcAft>
              <a:buClr>
                <a:schemeClr val="lt1"/>
              </a:buClr>
              <a:buSzPts val="1200"/>
              <a:buFont typeface="Arial"/>
              <a:buAutoNum type="arabicPeriod"/>
            </a:pPr>
            <a:r>
              <a:rPr b="1" i="0" lang="es" sz="1200" u="none" cap="none" strike="noStrike">
                <a:solidFill>
                  <a:schemeClr val="lt1"/>
                </a:solidFill>
                <a:latin typeface="Arial"/>
                <a:ea typeface="Arial"/>
                <a:cs typeface="Arial"/>
                <a:sym typeface="Arial"/>
              </a:rPr>
              <a:t>Adaptabilidad y Curiosidad Tecnológica:</a:t>
            </a:r>
            <a:r>
              <a:rPr b="0" i="0" lang="es" sz="1200" u="none" cap="none" strike="noStrike">
                <a:solidFill>
                  <a:schemeClr val="lt1"/>
                </a:solidFill>
                <a:latin typeface="Arial"/>
                <a:ea typeface="Arial"/>
                <a:cs typeface="Arial"/>
                <a:sym typeface="Arial"/>
              </a:rPr>
              <a:t> Estar abierto a adoptar nuevas herramientas y paradigmas (como Rust, gRPC o Kubernetes) que ofrezcan mejoras significativas. Mantenerse al día con las tendencias y explorar cómo las nuevas tecnologías pueden resolver problemas existentes de manera más efectiva.</a:t>
            </a:r>
            <a:endParaRPr b="0" i="0" sz="1200" u="none" cap="none" strike="noStrike">
              <a:solidFill>
                <a:schemeClr val="lt1"/>
              </a:solidFill>
              <a:latin typeface="Arial"/>
              <a:ea typeface="Arial"/>
              <a:cs typeface="Arial"/>
              <a:sym typeface="Arial"/>
            </a:endParaRPr>
          </a:p>
          <a:p>
            <a:pPr indent="-304800" lvl="0" marL="457200" marR="0" rtl="0" algn="l">
              <a:lnSpc>
                <a:spcPct val="115000"/>
              </a:lnSpc>
              <a:spcBef>
                <a:spcPts val="0"/>
              </a:spcBef>
              <a:spcAft>
                <a:spcPts val="0"/>
              </a:spcAft>
              <a:buClr>
                <a:schemeClr val="lt1"/>
              </a:buClr>
              <a:buSzPts val="1200"/>
              <a:buFont typeface="Arial"/>
              <a:buAutoNum type="arabicPeriod"/>
            </a:pPr>
            <a:r>
              <a:rPr b="1" i="0" lang="es" sz="1200" u="none" cap="none" strike="noStrike">
                <a:solidFill>
                  <a:schemeClr val="lt1"/>
                </a:solidFill>
                <a:latin typeface="Arial"/>
                <a:ea typeface="Arial"/>
                <a:cs typeface="Arial"/>
                <a:sym typeface="Arial"/>
              </a:rPr>
              <a:t>Precisión y Metodología Rigurosa:</a:t>
            </a:r>
            <a:r>
              <a:rPr b="0" i="0" lang="es" sz="1200" u="none" cap="none" strike="noStrike">
                <a:solidFill>
                  <a:schemeClr val="lt1"/>
                </a:solidFill>
                <a:latin typeface="Arial"/>
                <a:ea typeface="Arial"/>
                <a:cs typeface="Arial"/>
                <a:sym typeface="Arial"/>
              </a:rPr>
              <a:t> Dada la complejidad de la concurrencia y la orquestación, es fundamental un enfoque meticuloso en el diseño, la implementación y la depuración. Los errores en estos niveles pueden tener consecuencias significativas, por lo que la atención al detalle es primordial.</a:t>
            </a:r>
            <a:endParaRPr b="0" i="0" sz="1200" u="none" cap="none" strike="noStrike">
              <a:solidFill>
                <a:schemeClr val="lt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200"/>
              <a:buFont typeface="Arial"/>
              <a:buNone/>
            </a:pPr>
            <a:r>
              <a:t/>
            </a:r>
            <a:endParaRPr b="1" i="0" sz="1200" u="none" cap="none" strike="noStrike">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381" name="Shape 381"/>
        <p:cNvGrpSpPr/>
        <p:nvPr/>
      </p:nvGrpSpPr>
      <p:grpSpPr>
        <a:xfrm>
          <a:off x="0" y="0"/>
          <a:ext cx="0" cy="0"/>
          <a:chOff x="0" y="0"/>
          <a:chExt cx="0" cy="0"/>
        </a:xfrm>
      </p:grpSpPr>
      <p:sp>
        <p:nvSpPr>
          <p:cNvPr id="382" name="Google Shape;382;g3d01d778264_0_162"/>
          <p:cNvSpPr/>
          <p:nvPr/>
        </p:nvSpPr>
        <p:spPr>
          <a:xfrm>
            <a:off x="190500" y="190500"/>
            <a:ext cx="4457700" cy="381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02124"/>
              </a:buClr>
              <a:buSzPts val="2700"/>
              <a:buFont typeface="Noto Sans SC"/>
              <a:buNone/>
            </a:pPr>
            <a:r>
              <a:rPr b="0" i="0" lang="es" sz="2700" u="none" cap="none" strike="noStrike">
                <a:solidFill>
                  <a:srgbClr val="202124"/>
                </a:solidFill>
                <a:latin typeface="Noto Sans SC"/>
                <a:ea typeface="Noto Sans SC"/>
                <a:cs typeface="Noto Sans SC"/>
                <a:sym typeface="Noto Sans SC"/>
              </a:rPr>
              <a:t>Valores y Actitudes</a:t>
            </a:r>
            <a:endParaRPr b="0" i="0" sz="1200" u="none" cap="none" strike="noStrike"/>
          </a:p>
        </p:txBody>
      </p:sp>
      <p:sp>
        <p:nvSpPr>
          <p:cNvPr id="383" name="Google Shape;383;g3d01d778264_0_162"/>
          <p:cNvSpPr/>
          <p:nvPr/>
        </p:nvSpPr>
        <p:spPr>
          <a:xfrm>
            <a:off x="190500" y="723900"/>
            <a:ext cx="4076700" cy="7431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E1E1E"/>
              </a:buClr>
              <a:buSzPts val="1200"/>
              <a:buFont typeface="Arial"/>
              <a:buNone/>
            </a:pPr>
            <a:r>
              <a:rPr b="0" i="0" lang="es" sz="1200" u="none" cap="none" strike="noStrike">
                <a:solidFill>
                  <a:srgbClr val="1E1E1E"/>
                </a:solidFill>
                <a:latin typeface="Arial"/>
                <a:ea typeface="Arial"/>
                <a:cs typeface="Arial"/>
                <a:sym typeface="Arial"/>
              </a:rPr>
              <a:t>El </a:t>
            </a:r>
            <a:r>
              <a:rPr lang="es" sz="1200">
                <a:solidFill>
                  <a:srgbClr val="1E1E1E"/>
                </a:solidFill>
              </a:rPr>
              <a:t>laboratorio </a:t>
            </a:r>
            <a:r>
              <a:rPr b="0" i="0" lang="es" sz="1200" u="none" cap="none" strike="noStrike">
                <a:solidFill>
                  <a:srgbClr val="1E1E1E"/>
                </a:solidFill>
                <a:latin typeface="Arial"/>
                <a:ea typeface="Arial"/>
                <a:cs typeface="Arial"/>
                <a:sym typeface="Arial"/>
              </a:rPr>
              <a:t>no solo busca desarrollar competencias técnicas, sino también fortalecer habilidades blandas clave para el éxito profesional.</a:t>
            </a:r>
            <a:endParaRPr b="0" i="0" sz="1200" u="none" cap="none" strike="noStrike"/>
          </a:p>
        </p:txBody>
      </p:sp>
      <p:sp>
        <p:nvSpPr>
          <p:cNvPr id="384" name="Google Shape;384;g3d01d778264_0_162"/>
          <p:cNvSpPr/>
          <p:nvPr/>
        </p:nvSpPr>
        <p:spPr>
          <a:xfrm>
            <a:off x="190500" y="1695450"/>
            <a:ext cx="4076700" cy="457200"/>
          </a:xfrm>
          <a:custGeom>
            <a:rect b="b" l="l" r="r" t="t"/>
            <a:pathLst>
              <a:path extrusionOk="0" h="609600" w="5435600">
                <a:moveTo>
                  <a:pt x="101602" y="0"/>
                </a:moveTo>
                <a:lnTo>
                  <a:pt x="5333998" y="0"/>
                </a:lnTo>
                <a:cubicBezTo>
                  <a:pt x="5390111" y="0"/>
                  <a:pt x="5435600" y="45489"/>
                  <a:pt x="5435600" y="101602"/>
                </a:cubicBezTo>
                <a:lnTo>
                  <a:pt x="5435600" y="507998"/>
                </a:lnTo>
                <a:cubicBezTo>
                  <a:pt x="5435600" y="564111"/>
                  <a:pt x="5390111" y="609600"/>
                  <a:pt x="5333998" y="609600"/>
                </a:cubicBezTo>
                <a:lnTo>
                  <a:pt x="101602" y="609600"/>
                </a:lnTo>
                <a:cubicBezTo>
                  <a:pt x="45489" y="609600"/>
                  <a:pt x="0" y="564111"/>
                  <a:pt x="0" y="507998"/>
                </a:cubicBezTo>
                <a:lnTo>
                  <a:pt x="0" y="101602"/>
                </a:lnTo>
                <a:cubicBezTo>
                  <a:pt x="0" y="45526"/>
                  <a:pt x="45526" y="0"/>
                  <a:pt x="101602" y="0"/>
                </a:cubicBezTo>
                <a:close/>
              </a:path>
            </a:pathLst>
          </a:custGeom>
          <a:solidFill>
            <a:srgbClr val="202124">
              <a:alpha val="471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5" name="Google Shape;385;g3d01d778264_0_162"/>
          <p:cNvSpPr/>
          <p:nvPr/>
        </p:nvSpPr>
        <p:spPr>
          <a:xfrm>
            <a:off x="352425" y="1809750"/>
            <a:ext cx="285750" cy="228600"/>
          </a:xfrm>
          <a:custGeom>
            <a:rect b="b" l="l" r="r" t="t"/>
            <a:pathLst>
              <a:path extrusionOk="0" h="304800" w="381000">
                <a:moveTo>
                  <a:pt x="80962" y="76200"/>
                </a:moveTo>
                <a:cubicBezTo>
                  <a:pt x="80962" y="36773"/>
                  <a:pt x="112973" y="4763"/>
                  <a:pt x="152400" y="4763"/>
                </a:cubicBezTo>
                <a:cubicBezTo>
                  <a:pt x="191827" y="4763"/>
                  <a:pt x="223838" y="36773"/>
                  <a:pt x="223838" y="76200"/>
                </a:cubicBezTo>
                <a:cubicBezTo>
                  <a:pt x="223838" y="115627"/>
                  <a:pt x="191827" y="147638"/>
                  <a:pt x="152400" y="147638"/>
                </a:cubicBezTo>
                <a:cubicBezTo>
                  <a:pt x="112973" y="147638"/>
                  <a:pt x="80962" y="115627"/>
                  <a:pt x="80962" y="76200"/>
                </a:cubicBezTo>
                <a:close/>
                <a:moveTo>
                  <a:pt x="28575" y="287119"/>
                </a:moveTo>
                <a:cubicBezTo>
                  <a:pt x="28575" y="228481"/>
                  <a:pt x="76081" y="180975"/>
                  <a:pt x="134719" y="180975"/>
                </a:cubicBezTo>
                <a:lnTo>
                  <a:pt x="170081" y="180975"/>
                </a:lnTo>
                <a:cubicBezTo>
                  <a:pt x="228719" y="180975"/>
                  <a:pt x="276225" y="228481"/>
                  <a:pt x="276225" y="287119"/>
                </a:cubicBezTo>
                <a:cubicBezTo>
                  <a:pt x="276225" y="296882"/>
                  <a:pt x="268307" y="304800"/>
                  <a:pt x="258544" y="304800"/>
                </a:cubicBezTo>
                <a:lnTo>
                  <a:pt x="46256" y="304800"/>
                </a:lnTo>
                <a:cubicBezTo>
                  <a:pt x="36493" y="304800"/>
                  <a:pt x="28575" y="296882"/>
                  <a:pt x="28575" y="287119"/>
                </a:cubicBezTo>
                <a:close/>
                <a:moveTo>
                  <a:pt x="364569" y="78998"/>
                </a:moveTo>
                <a:lnTo>
                  <a:pt x="316944" y="155198"/>
                </a:lnTo>
                <a:cubicBezTo>
                  <a:pt x="314444" y="159187"/>
                  <a:pt x="310158" y="161687"/>
                  <a:pt x="305455" y="161925"/>
                </a:cubicBezTo>
                <a:cubicBezTo>
                  <a:pt x="300752" y="162163"/>
                  <a:pt x="296228" y="160020"/>
                  <a:pt x="293430" y="156210"/>
                </a:cubicBezTo>
                <a:lnTo>
                  <a:pt x="264855" y="118110"/>
                </a:lnTo>
                <a:cubicBezTo>
                  <a:pt x="260092" y="111800"/>
                  <a:pt x="261402" y="102870"/>
                  <a:pt x="267712" y="98108"/>
                </a:cubicBezTo>
                <a:cubicBezTo>
                  <a:pt x="274022" y="93345"/>
                  <a:pt x="282952" y="94655"/>
                  <a:pt x="287715" y="100965"/>
                </a:cubicBezTo>
                <a:lnTo>
                  <a:pt x="303788" y="122396"/>
                </a:lnTo>
                <a:lnTo>
                  <a:pt x="340340" y="63877"/>
                </a:lnTo>
                <a:cubicBezTo>
                  <a:pt x="344507" y="57210"/>
                  <a:pt x="353318" y="55126"/>
                  <a:pt x="360045" y="59353"/>
                </a:cubicBezTo>
                <a:cubicBezTo>
                  <a:pt x="366772" y="63579"/>
                  <a:pt x="368796" y="72330"/>
                  <a:pt x="364569" y="79058"/>
                </a:cubicBezTo>
                <a:close/>
              </a:path>
            </a:pathLst>
          </a:custGeom>
          <a:solidFill>
            <a:srgbClr val="4285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6" name="Google Shape;386;g3d01d778264_0_162"/>
          <p:cNvSpPr/>
          <p:nvPr/>
        </p:nvSpPr>
        <p:spPr>
          <a:xfrm>
            <a:off x="800100" y="1809750"/>
            <a:ext cx="24480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202124"/>
              </a:buClr>
              <a:buSzPts val="1200"/>
              <a:buFont typeface="Arial"/>
              <a:buNone/>
            </a:pPr>
            <a:r>
              <a:rPr b="0" i="0" lang="es" sz="1200" u="none" cap="none" strike="noStrike">
                <a:solidFill>
                  <a:srgbClr val="202124"/>
                </a:solidFill>
                <a:latin typeface="Arial"/>
                <a:ea typeface="Arial"/>
                <a:cs typeface="Arial"/>
                <a:sym typeface="Arial"/>
              </a:rPr>
              <a:t>Responsabilidad y Autonomía</a:t>
            </a:r>
            <a:endParaRPr b="0" i="0" sz="1200" u="none" cap="none" strike="noStrike"/>
          </a:p>
        </p:txBody>
      </p:sp>
      <p:sp>
        <p:nvSpPr>
          <p:cNvPr id="387" name="Google Shape;387;g3d01d778264_0_162"/>
          <p:cNvSpPr/>
          <p:nvPr/>
        </p:nvSpPr>
        <p:spPr>
          <a:xfrm>
            <a:off x="190500" y="2305050"/>
            <a:ext cx="4076700" cy="457200"/>
          </a:xfrm>
          <a:custGeom>
            <a:rect b="b" l="l" r="r" t="t"/>
            <a:pathLst>
              <a:path extrusionOk="0" h="609600" w="5435600">
                <a:moveTo>
                  <a:pt x="101602" y="0"/>
                </a:moveTo>
                <a:lnTo>
                  <a:pt x="5333998" y="0"/>
                </a:lnTo>
                <a:cubicBezTo>
                  <a:pt x="5390111" y="0"/>
                  <a:pt x="5435600" y="45489"/>
                  <a:pt x="5435600" y="101602"/>
                </a:cubicBezTo>
                <a:lnTo>
                  <a:pt x="5435600" y="507998"/>
                </a:lnTo>
                <a:cubicBezTo>
                  <a:pt x="5435600" y="564111"/>
                  <a:pt x="5390111" y="609600"/>
                  <a:pt x="5333998" y="609600"/>
                </a:cubicBezTo>
                <a:lnTo>
                  <a:pt x="101602" y="609600"/>
                </a:lnTo>
                <a:cubicBezTo>
                  <a:pt x="45489" y="609600"/>
                  <a:pt x="0" y="564111"/>
                  <a:pt x="0" y="507998"/>
                </a:cubicBezTo>
                <a:lnTo>
                  <a:pt x="0" y="101602"/>
                </a:lnTo>
                <a:cubicBezTo>
                  <a:pt x="0" y="45526"/>
                  <a:pt x="45526" y="0"/>
                  <a:pt x="101602" y="0"/>
                </a:cubicBezTo>
                <a:close/>
              </a:path>
            </a:pathLst>
          </a:custGeom>
          <a:solidFill>
            <a:srgbClr val="202124">
              <a:alpha val="471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8" name="Google Shape;388;g3d01d778264_0_162"/>
          <p:cNvSpPr/>
          <p:nvPr/>
        </p:nvSpPr>
        <p:spPr>
          <a:xfrm>
            <a:off x="366713" y="2419350"/>
            <a:ext cx="257175" cy="228600"/>
          </a:xfrm>
          <a:custGeom>
            <a:rect b="b" l="l" r="r" t="t"/>
            <a:pathLst>
              <a:path extrusionOk="0" h="304800" w="342900">
                <a:moveTo>
                  <a:pt x="160080" y="50721"/>
                </a:moveTo>
                <a:lnTo>
                  <a:pt x="90666" y="127873"/>
                </a:lnTo>
                <a:cubicBezTo>
                  <a:pt x="87928" y="130909"/>
                  <a:pt x="88047" y="135612"/>
                  <a:pt x="90964" y="138529"/>
                </a:cubicBezTo>
                <a:cubicBezTo>
                  <a:pt x="109121" y="156686"/>
                  <a:pt x="138589" y="156686"/>
                  <a:pt x="156746" y="138529"/>
                </a:cubicBezTo>
                <a:lnTo>
                  <a:pt x="175677" y="119598"/>
                </a:lnTo>
                <a:cubicBezTo>
                  <a:pt x="178177" y="117098"/>
                  <a:pt x="181332" y="115729"/>
                  <a:pt x="184547" y="115491"/>
                </a:cubicBezTo>
                <a:cubicBezTo>
                  <a:pt x="188595" y="115133"/>
                  <a:pt x="192762" y="116503"/>
                  <a:pt x="195858" y="119598"/>
                </a:cubicBezTo>
                <a:lnTo>
                  <a:pt x="300990" y="223838"/>
                </a:lnTo>
                <a:lnTo>
                  <a:pt x="342900" y="190500"/>
                </a:lnTo>
                <a:lnTo>
                  <a:pt x="342900" y="19050"/>
                </a:lnTo>
                <a:lnTo>
                  <a:pt x="276225" y="57150"/>
                </a:lnTo>
                <a:lnTo>
                  <a:pt x="262057" y="47685"/>
                </a:lnTo>
                <a:cubicBezTo>
                  <a:pt x="252651" y="41434"/>
                  <a:pt x="241637" y="38100"/>
                  <a:pt x="230326" y="38100"/>
                </a:cubicBezTo>
                <a:lnTo>
                  <a:pt x="188416" y="38100"/>
                </a:lnTo>
                <a:cubicBezTo>
                  <a:pt x="187762" y="38100"/>
                  <a:pt x="187047" y="38100"/>
                  <a:pt x="186392" y="38160"/>
                </a:cubicBezTo>
                <a:cubicBezTo>
                  <a:pt x="176332" y="38695"/>
                  <a:pt x="166866" y="43220"/>
                  <a:pt x="160080" y="50721"/>
                </a:cubicBezTo>
                <a:close/>
                <a:moveTo>
                  <a:pt x="69413" y="108764"/>
                </a:moveTo>
                <a:lnTo>
                  <a:pt x="132993" y="38100"/>
                </a:lnTo>
                <a:lnTo>
                  <a:pt x="109418" y="38100"/>
                </a:lnTo>
                <a:cubicBezTo>
                  <a:pt x="94238" y="38100"/>
                  <a:pt x="79712" y="44113"/>
                  <a:pt x="68997" y="54828"/>
                </a:cubicBezTo>
                <a:lnTo>
                  <a:pt x="66675" y="57150"/>
                </a:lnTo>
                <a:lnTo>
                  <a:pt x="0" y="19050"/>
                </a:lnTo>
                <a:lnTo>
                  <a:pt x="0" y="190500"/>
                </a:lnTo>
                <a:lnTo>
                  <a:pt x="93107" y="268069"/>
                </a:lnTo>
                <a:cubicBezTo>
                  <a:pt x="106799" y="279499"/>
                  <a:pt x="124063" y="285750"/>
                  <a:pt x="141863" y="285750"/>
                </a:cubicBezTo>
                <a:lnTo>
                  <a:pt x="151209" y="285750"/>
                </a:lnTo>
                <a:lnTo>
                  <a:pt x="147042" y="281583"/>
                </a:lnTo>
                <a:cubicBezTo>
                  <a:pt x="141446" y="275987"/>
                  <a:pt x="141446" y="266938"/>
                  <a:pt x="147042" y="261402"/>
                </a:cubicBezTo>
                <a:cubicBezTo>
                  <a:pt x="152638" y="255865"/>
                  <a:pt x="161687" y="255806"/>
                  <a:pt x="167223" y="261402"/>
                </a:cubicBezTo>
                <a:lnTo>
                  <a:pt x="191631" y="285810"/>
                </a:lnTo>
                <a:lnTo>
                  <a:pt x="196989" y="285810"/>
                </a:lnTo>
                <a:cubicBezTo>
                  <a:pt x="208359" y="285810"/>
                  <a:pt x="219492" y="283250"/>
                  <a:pt x="229612" y="278487"/>
                </a:cubicBezTo>
                <a:lnTo>
                  <a:pt x="213717" y="262533"/>
                </a:lnTo>
                <a:cubicBezTo>
                  <a:pt x="208121" y="256937"/>
                  <a:pt x="208121" y="247888"/>
                  <a:pt x="213717" y="242352"/>
                </a:cubicBezTo>
                <a:cubicBezTo>
                  <a:pt x="219313" y="236815"/>
                  <a:pt x="228362" y="236756"/>
                  <a:pt x="233898" y="242352"/>
                </a:cubicBezTo>
                <a:lnTo>
                  <a:pt x="252948" y="261402"/>
                </a:lnTo>
                <a:lnTo>
                  <a:pt x="263366" y="250984"/>
                </a:lnTo>
                <a:cubicBezTo>
                  <a:pt x="268665" y="245685"/>
                  <a:pt x="270212" y="238006"/>
                  <a:pt x="267891" y="231279"/>
                </a:cubicBezTo>
                <a:lnTo>
                  <a:pt x="185797" y="149840"/>
                </a:lnTo>
                <a:lnTo>
                  <a:pt x="176927" y="158710"/>
                </a:lnTo>
                <a:cubicBezTo>
                  <a:pt x="147578" y="188059"/>
                  <a:pt x="100072" y="188059"/>
                  <a:pt x="70723" y="158710"/>
                </a:cubicBezTo>
                <a:cubicBezTo>
                  <a:pt x="57031" y="145018"/>
                  <a:pt x="56495" y="123051"/>
                  <a:pt x="69413" y="108704"/>
                </a:cubicBezTo>
                <a:close/>
              </a:path>
            </a:pathLst>
          </a:custGeom>
          <a:solidFill>
            <a:srgbClr val="4285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9" name="Google Shape;389;g3d01d778264_0_162"/>
          <p:cNvSpPr/>
          <p:nvPr/>
        </p:nvSpPr>
        <p:spPr>
          <a:xfrm>
            <a:off x="800100" y="2419350"/>
            <a:ext cx="20955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202124"/>
              </a:buClr>
              <a:buSzPts val="1200"/>
              <a:buFont typeface="Arial"/>
              <a:buNone/>
            </a:pPr>
            <a:r>
              <a:rPr b="0" i="0" lang="es" sz="1200" u="none" cap="none" strike="noStrike">
                <a:solidFill>
                  <a:srgbClr val="202124"/>
                </a:solidFill>
                <a:latin typeface="Arial"/>
                <a:ea typeface="Arial"/>
                <a:cs typeface="Arial"/>
                <a:sym typeface="Arial"/>
              </a:rPr>
              <a:t>Compromiso y Disciplina</a:t>
            </a:r>
            <a:endParaRPr b="0" i="0" sz="1200" u="none" cap="none" strike="noStrike"/>
          </a:p>
        </p:txBody>
      </p:sp>
      <p:sp>
        <p:nvSpPr>
          <p:cNvPr id="390" name="Google Shape;390;g3d01d778264_0_162"/>
          <p:cNvSpPr/>
          <p:nvPr/>
        </p:nvSpPr>
        <p:spPr>
          <a:xfrm>
            <a:off x="190500" y="2914650"/>
            <a:ext cx="4076700" cy="457200"/>
          </a:xfrm>
          <a:custGeom>
            <a:rect b="b" l="l" r="r" t="t"/>
            <a:pathLst>
              <a:path extrusionOk="0" h="609600" w="5435600">
                <a:moveTo>
                  <a:pt x="101602" y="0"/>
                </a:moveTo>
                <a:lnTo>
                  <a:pt x="5333998" y="0"/>
                </a:lnTo>
                <a:cubicBezTo>
                  <a:pt x="5390111" y="0"/>
                  <a:pt x="5435600" y="45489"/>
                  <a:pt x="5435600" y="101602"/>
                </a:cubicBezTo>
                <a:lnTo>
                  <a:pt x="5435600" y="507998"/>
                </a:lnTo>
                <a:cubicBezTo>
                  <a:pt x="5435600" y="564111"/>
                  <a:pt x="5390111" y="609600"/>
                  <a:pt x="5333998" y="609600"/>
                </a:cubicBezTo>
                <a:lnTo>
                  <a:pt x="101602" y="609600"/>
                </a:lnTo>
                <a:cubicBezTo>
                  <a:pt x="45489" y="609600"/>
                  <a:pt x="0" y="564111"/>
                  <a:pt x="0" y="507998"/>
                </a:cubicBezTo>
                <a:lnTo>
                  <a:pt x="0" y="101602"/>
                </a:lnTo>
                <a:cubicBezTo>
                  <a:pt x="0" y="45526"/>
                  <a:pt x="45526" y="0"/>
                  <a:pt x="101602" y="0"/>
                </a:cubicBezTo>
                <a:close/>
              </a:path>
            </a:pathLst>
          </a:custGeom>
          <a:solidFill>
            <a:srgbClr val="202124">
              <a:alpha val="471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1" name="Google Shape;391;g3d01d778264_0_162"/>
          <p:cNvSpPr/>
          <p:nvPr/>
        </p:nvSpPr>
        <p:spPr>
          <a:xfrm>
            <a:off x="409575" y="3028950"/>
            <a:ext cx="171450" cy="228600"/>
          </a:xfrm>
          <a:custGeom>
            <a:rect b="b" l="l" r="r" t="t"/>
            <a:pathLst>
              <a:path extrusionOk="0" h="304800" w="228600">
                <a:moveTo>
                  <a:pt x="174367" y="228600"/>
                </a:moveTo>
                <a:cubicBezTo>
                  <a:pt x="178713" y="215325"/>
                  <a:pt x="187404" y="203299"/>
                  <a:pt x="197227" y="192941"/>
                </a:cubicBezTo>
                <a:cubicBezTo>
                  <a:pt x="216694" y="172462"/>
                  <a:pt x="228600" y="144780"/>
                  <a:pt x="228600" y="114300"/>
                </a:cubicBezTo>
                <a:cubicBezTo>
                  <a:pt x="228600" y="51197"/>
                  <a:pt x="177403" y="0"/>
                  <a:pt x="114300" y="0"/>
                </a:cubicBezTo>
                <a:cubicBezTo>
                  <a:pt x="51197" y="0"/>
                  <a:pt x="0" y="51197"/>
                  <a:pt x="0" y="114300"/>
                </a:cubicBezTo>
                <a:cubicBezTo>
                  <a:pt x="0" y="144780"/>
                  <a:pt x="11906" y="172462"/>
                  <a:pt x="31373" y="192941"/>
                </a:cubicBezTo>
                <a:cubicBezTo>
                  <a:pt x="41196" y="203299"/>
                  <a:pt x="49947" y="215325"/>
                  <a:pt x="54233" y="228600"/>
                </a:cubicBezTo>
                <a:lnTo>
                  <a:pt x="174308" y="228600"/>
                </a:lnTo>
                <a:close/>
                <a:moveTo>
                  <a:pt x="171450" y="257175"/>
                </a:moveTo>
                <a:lnTo>
                  <a:pt x="57150" y="257175"/>
                </a:lnTo>
                <a:lnTo>
                  <a:pt x="57150" y="266700"/>
                </a:lnTo>
                <a:cubicBezTo>
                  <a:pt x="57150" y="293013"/>
                  <a:pt x="78462" y="314325"/>
                  <a:pt x="104775" y="314325"/>
                </a:cubicBezTo>
                <a:lnTo>
                  <a:pt x="123825" y="314325"/>
                </a:lnTo>
                <a:cubicBezTo>
                  <a:pt x="150138" y="314325"/>
                  <a:pt x="171450" y="293013"/>
                  <a:pt x="171450" y="266700"/>
                </a:cubicBezTo>
                <a:lnTo>
                  <a:pt x="171450" y="257175"/>
                </a:lnTo>
                <a:close/>
                <a:moveTo>
                  <a:pt x="109537" y="66675"/>
                </a:moveTo>
                <a:cubicBezTo>
                  <a:pt x="85844" y="66675"/>
                  <a:pt x="66675" y="85844"/>
                  <a:pt x="66675" y="109537"/>
                </a:cubicBezTo>
                <a:cubicBezTo>
                  <a:pt x="66675" y="117455"/>
                  <a:pt x="60305" y="123825"/>
                  <a:pt x="52388" y="123825"/>
                </a:cubicBezTo>
                <a:cubicBezTo>
                  <a:pt x="44470" y="123825"/>
                  <a:pt x="38100" y="117455"/>
                  <a:pt x="38100" y="109537"/>
                </a:cubicBezTo>
                <a:cubicBezTo>
                  <a:pt x="38100" y="70068"/>
                  <a:pt x="70068" y="38100"/>
                  <a:pt x="109537" y="38100"/>
                </a:cubicBezTo>
                <a:cubicBezTo>
                  <a:pt x="117455" y="38100"/>
                  <a:pt x="123825" y="44470"/>
                  <a:pt x="123825" y="52388"/>
                </a:cubicBezTo>
                <a:cubicBezTo>
                  <a:pt x="123825" y="60305"/>
                  <a:pt x="117455" y="66675"/>
                  <a:pt x="109537" y="66675"/>
                </a:cubicBezTo>
                <a:close/>
              </a:path>
            </a:pathLst>
          </a:custGeom>
          <a:solidFill>
            <a:srgbClr val="4285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2" name="Google Shape;392;g3d01d778264_0_162"/>
          <p:cNvSpPr/>
          <p:nvPr/>
        </p:nvSpPr>
        <p:spPr>
          <a:xfrm>
            <a:off x="800100" y="3028950"/>
            <a:ext cx="25431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202124"/>
              </a:buClr>
              <a:buSzPts val="1200"/>
              <a:buFont typeface="Arial"/>
              <a:buNone/>
            </a:pPr>
            <a:r>
              <a:rPr b="0" i="0" lang="es" sz="1200" u="none" cap="none" strike="noStrike">
                <a:solidFill>
                  <a:srgbClr val="202124"/>
                </a:solidFill>
                <a:latin typeface="Arial"/>
                <a:ea typeface="Arial"/>
                <a:cs typeface="Arial"/>
                <a:sym typeface="Arial"/>
              </a:rPr>
              <a:t>Proactividad y Ética Profesional</a:t>
            </a:r>
            <a:endParaRPr b="0" i="0" sz="1200" u="none" cap="none" strike="noStrike"/>
          </a:p>
        </p:txBody>
      </p:sp>
      <p:pic>
        <p:nvPicPr>
          <p:cNvPr descr="https://kimi-web-img.moonshot.cn/img/img.freepik.com/4b8068f3e1fe5a2e4cf2e0c4dccf3229f72329e8.jpg" id="393" name="Google Shape;393;g3d01d778264_0_162"/>
          <p:cNvPicPr preferRelativeResize="0"/>
          <p:nvPr/>
        </p:nvPicPr>
        <p:blipFill rotWithShape="1">
          <a:blip r:embed="rId3">
            <a:alphaModFix/>
          </a:blip>
          <a:srcRect b="0" l="24208" r="24208" t="0"/>
          <a:stretch/>
        </p:blipFill>
        <p:spPr>
          <a:xfrm>
            <a:off x="4396660" y="-16556"/>
            <a:ext cx="4747200" cy="5160300"/>
          </a:xfrm>
          <a:prstGeom prst="roundRect">
            <a:avLst>
              <a:gd fmla="val 1739" name="adj"/>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398" name="Shape 398"/>
        <p:cNvGrpSpPr/>
        <p:nvPr/>
      </p:nvGrpSpPr>
      <p:grpSpPr>
        <a:xfrm>
          <a:off x="0" y="0"/>
          <a:ext cx="0" cy="0"/>
          <a:chOff x="0" y="0"/>
          <a:chExt cx="0" cy="0"/>
        </a:xfrm>
      </p:grpSpPr>
      <p:pic>
        <p:nvPicPr>
          <p:cNvPr descr="https://kimi-img.moonshot.cn/pub/slides/slides_tmpl/image/25-08-27-20:09:25-d2nfat98bjvh7rlj0j2g.png" id="399" name="Google Shape;399;g3d01d778264_0_178"/>
          <p:cNvPicPr preferRelativeResize="0"/>
          <p:nvPr/>
        </p:nvPicPr>
        <p:blipFill rotWithShape="1">
          <a:blip r:embed="rId3">
            <a:alphaModFix/>
          </a:blip>
          <a:srcRect b="0" l="0" r="0" t="0"/>
          <a:stretch/>
        </p:blipFill>
        <p:spPr>
          <a:xfrm>
            <a:off x="542925" y="1135856"/>
            <a:ext cx="3141821" cy="2829402"/>
          </a:xfrm>
          <a:prstGeom prst="rect">
            <a:avLst/>
          </a:prstGeom>
          <a:noFill/>
          <a:ln>
            <a:noFill/>
          </a:ln>
        </p:spPr>
      </p:pic>
      <p:sp>
        <p:nvSpPr>
          <p:cNvPr id="400" name="Google Shape;400;g3d01d778264_0_178"/>
          <p:cNvSpPr/>
          <p:nvPr/>
        </p:nvSpPr>
        <p:spPr>
          <a:xfrm>
            <a:off x="4038124" y="2397442"/>
            <a:ext cx="4062000" cy="899100"/>
          </a:xfrm>
          <a:prstGeom prst="rect">
            <a:avLst/>
          </a:prstGeom>
          <a:solidFill>
            <a:srgbClr val="000000">
              <a:alpha val="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1" name="Google Shape;401;g3d01d778264_0_178"/>
          <p:cNvSpPr/>
          <p:nvPr/>
        </p:nvSpPr>
        <p:spPr>
          <a:xfrm>
            <a:off x="4038124" y="2397442"/>
            <a:ext cx="4062000" cy="899100"/>
          </a:xfrm>
          <a:prstGeom prst="rect">
            <a:avLst/>
          </a:prstGeom>
          <a:noFill/>
          <a:ln>
            <a:noFill/>
          </a:ln>
        </p:spPr>
        <p:txBody>
          <a:bodyPr anchorCtr="0" anchor="t" bIns="34275" lIns="34275" spcFirstLastPara="1" rIns="68575" wrap="square" tIns="68575">
            <a:noAutofit/>
          </a:bodyPr>
          <a:lstStyle/>
          <a:p>
            <a:pPr indent="0" lvl="0" marL="0" marR="0" rtl="0" algn="just">
              <a:lnSpc>
                <a:spcPct val="100000"/>
              </a:lnSpc>
              <a:spcBef>
                <a:spcPts val="0"/>
              </a:spcBef>
              <a:spcAft>
                <a:spcPts val="0"/>
              </a:spcAft>
              <a:buClr>
                <a:srgbClr val="FFFFFF"/>
              </a:buClr>
              <a:buSzPts val="2700"/>
              <a:buFont typeface="Arial"/>
              <a:buNone/>
            </a:pPr>
            <a:r>
              <a:rPr b="1" lang="es" sz="2700">
                <a:solidFill>
                  <a:srgbClr val="FFFFFF"/>
                </a:solidFill>
              </a:rPr>
              <a:t>Referencias</a:t>
            </a:r>
            <a:endParaRPr b="0" i="0" sz="1200" u="none" cap="none" strike="noStrike"/>
          </a:p>
        </p:txBody>
      </p:sp>
      <p:pic>
        <p:nvPicPr>
          <p:cNvPr id="402" name="Google Shape;402;g3d01d778264_0_178" title="BUHOADSFA-Photoroom.png"/>
          <p:cNvPicPr preferRelativeResize="0"/>
          <p:nvPr/>
        </p:nvPicPr>
        <p:blipFill>
          <a:blip r:embed="rId4">
            <a:alphaModFix/>
          </a:blip>
          <a:stretch>
            <a:fillRect/>
          </a:stretch>
        </p:blipFill>
        <p:spPr>
          <a:xfrm>
            <a:off x="0" y="-4"/>
            <a:ext cx="647700" cy="8017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3609770417b_0_708"/>
          <p:cNvSpPr txBox="1"/>
          <p:nvPr>
            <p:ph type="title"/>
          </p:nvPr>
        </p:nvSpPr>
        <p:spPr>
          <a:xfrm>
            <a:off x="810938" y="246094"/>
            <a:ext cx="4399200" cy="571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REFERENCIAS</a:t>
            </a:r>
            <a:endParaRPr/>
          </a:p>
        </p:txBody>
      </p:sp>
      <p:graphicFrame>
        <p:nvGraphicFramePr>
          <p:cNvPr id="408" name="Google Shape;408;g3609770417b_0_708"/>
          <p:cNvGraphicFramePr/>
          <p:nvPr/>
        </p:nvGraphicFramePr>
        <p:xfrm>
          <a:off x="367875" y="817350"/>
          <a:ext cx="3000000" cy="3000000"/>
        </p:xfrm>
        <a:graphic>
          <a:graphicData uri="http://schemas.openxmlformats.org/drawingml/2006/table">
            <a:tbl>
              <a:tblPr>
                <a:noFill/>
                <a:tableStyleId>{DAAC0921-7682-4222-963F-7E9E9224D928}</a:tableStyleId>
              </a:tblPr>
              <a:tblGrid>
                <a:gridCol w="2249050"/>
                <a:gridCol w="1742050"/>
                <a:gridCol w="4420150"/>
              </a:tblGrid>
              <a:tr h="440925">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dk2"/>
                          </a:solidFill>
                        </a:rPr>
                        <a:t>Tema</a:t>
                      </a:r>
                      <a:endParaRPr sz="1400" u="none" cap="none" strike="noStrike">
                        <a:solidFill>
                          <a:schemeClr val="dk2"/>
                        </a:solidFill>
                      </a:endParaRPr>
                    </a:p>
                  </a:txBody>
                  <a:tcPr marT="95250" marB="95250" marR="95250" marL="91425">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dk2"/>
                          </a:solidFill>
                        </a:rPr>
                        <a:t>Fuente &amp; Enlace</a:t>
                      </a:r>
                      <a:endParaRPr sz="1400" u="none" cap="none" strike="noStrike">
                        <a:solidFill>
                          <a:schemeClr val="dk2"/>
                        </a:solidFill>
                      </a:endParaRPr>
                    </a:p>
                  </a:txBody>
                  <a:tcPr marT="95250" marB="95250" marR="95250" marL="95250">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dk2"/>
                          </a:solidFill>
                        </a:rPr>
                        <a:t>Contenido Destacado</a:t>
                      </a:r>
                      <a:endParaRPr sz="1400" u="none" cap="none" strike="noStrike">
                        <a:solidFill>
                          <a:schemeClr val="dk2"/>
                        </a:solidFill>
                      </a:endParaRPr>
                    </a:p>
                  </a:txBody>
                  <a:tcPr marT="95250" marB="95250" marR="95250" marL="95250">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r>
              <a:tr h="712275">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dk2"/>
                          </a:solidFill>
                        </a:rPr>
                        <a:t>Race Condition</a:t>
                      </a:r>
                      <a:endParaRPr sz="1400" u="none" cap="none" strike="noStrike">
                        <a:solidFill>
                          <a:schemeClr val="dk2"/>
                        </a:solidFill>
                      </a:endParaRPr>
                    </a:p>
                  </a:txBody>
                  <a:tcPr marT="95250" marB="95250" marR="95250" marL="91425">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 sz="1400" u="sng" cap="none" strike="noStrike">
                          <a:solidFill>
                            <a:srgbClr val="4A86E8"/>
                          </a:solidFill>
                          <a:hlinkClick r:id="rId3">
                            <a:extLst>
                              <a:ext uri="{A12FA001-AC4F-418D-AE19-62706E023703}">
                                <ahyp:hlinkClr val="tx"/>
                              </a:ext>
                            </a:extLst>
                          </a:hlinkClick>
                        </a:rPr>
                        <a:t>GeeksforGeeks</a:t>
                      </a:r>
                      <a:endParaRPr sz="1400" u="none" cap="none" strike="noStrike">
                        <a:solidFill>
                          <a:srgbClr val="4A86E8"/>
                        </a:solidFill>
                      </a:endParaRPr>
                    </a:p>
                  </a:txBody>
                  <a:tcPr marT="95250" marB="95250" marR="95250" marL="95250">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dk2"/>
                          </a:solidFill>
                        </a:rPr>
                        <a:t>Explicación clara del problema y ejemplos en sistemas operativos.</a:t>
                      </a:r>
                      <a:endParaRPr sz="1400" u="none" cap="none" strike="noStrike">
                        <a:solidFill>
                          <a:schemeClr val="dk2"/>
                        </a:solidFill>
                      </a:endParaRPr>
                    </a:p>
                  </a:txBody>
                  <a:tcPr marT="95250" marB="95250" marR="95250" marL="95250">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r>
              <a:tr h="712275">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dk2"/>
                          </a:solidFill>
                        </a:rPr>
                        <a:t>gRPC</a:t>
                      </a:r>
                      <a:endParaRPr sz="1400" u="none" cap="none" strike="noStrike">
                        <a:solidFill>
                          <a:schemeClr val="dk2"/>
                        </a:solidFill>
                      </a:endParaRPr>
                    </a:p>
                  </a:txBody>
                  <a:tcPr marT="95250" marB="95250" marR="95250" marL="91425">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 sz="1400" u="sng" cap="none" strike="noStrike">
                          <a:solidFill>
                            <a:srgbClr val="4A86E8"/>
                          </a:solidFill>
                          <a:hlinkClick r:id="rId4">
                            <a:extLst>
                              <a:ext uri="{A12FA001-AC4F-418D-AE19-62706E023703}">
                                <ahyp:hlinkClr val="tx"/>
                              </a:ext>
                            </a:extLst>
                          </a:hlinkClick>
                        </a:rPr>
                        <a:t>Red Hat</a:t>
                      </a:r>
                      <a:endParaRPr sz="1400" u="none" cap="none" strike="noStrike">
                        <a:solidFill>
                          <a:srgbClr val="4A86E8"/>
                        </a:solidFill>
                      </a:endParaRPr>
                    </a:p>
                  </a:txBody>
                  <a:tcPr marT="95250" marB="95250" marR="95250" marL="95250">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dk2"/>
                          </a:solidFill>
                        </a:rPr>
                        <a:t>Introducción a gRPC, ventajas y comparación con APIs REST.</a:t>
                      </a:r>
                      <a:endParaRPr sz="1400" u="none" cap="none" strike="noStrike">
                        <a:solidFill>
                          <a:schemeClr val="dk2"/>
                        </a:solidFill>
                      </a:endParaRPr>
                    </a:p>
                  </a:txBody>
                  <a:tcPr marT="95250" marB="95250" marR="95250" marL="95250">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r>
              <a:tr h="712275">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dk2"/>
                          </a:solidFill>
                        </a:rPr>
                        <a:t>Kubernetes (Conceptos)</a:t>
                      </a:r>
                      <a:endParaRPr sz="1400" u="none" cap="none" strike="noStrike">
                        <a:solidFill>
                          <a:schemeClr val="dk2"/>
                        </a:solidFill>
                      </a:endParaRPr>
                    </a:p>
                  </a:txBody>
                  <a:tcPr marT="95250" marB="95250" marR="95250" marL="91425">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 sz="1400" u="sng" cap="none" strike="noStrike">
                          <a:solidFill>
                            <a:srgbClr val="4A86E8"/>
                          </a:solidFill>
                          <a:hlinkClick r:id="rId5">
                            <a:extLst>
                              <a:ext uri="{A12FA001-AC4F-418D-AE19-62706E023703}">
                                <ahyp:hlinkClr val="tx"/>
                              </a:ext>
                            </a:extLst>
                          </a:hlinkClick>
                        </a:rPr>
                        <a:t>IBM Cloud</a:t>
                      </a:r>
                      <a:endParaRPr sz="1400" u="none" cap="none" strike="noStrike">
                        <a:solidFill>
                          <a:srgbClr val="4A86E8"/>
                        </a:solidFill>
                      </a:endParaRPr>
                    </a:p>
                  </a:txBody>
                  <a:tcPr marT="95250" marB="95250" marR="95250" marL="95250">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dk2"/>
                          </a:solidFill>
                        </a:rPr>
                        <a:t>Visión general, componentes principales y casos de uso.</a:t>
                      </a:r>
                      <a:endParaRPr sz="1400" u="none" cap="none" strike="noStrike">
                        <a:solidFill>
                          <a:schemeClr val="dk2"/>
                        </a:solidFill>
                      </a:endParaRPr>
                    </a:p>
                  </a:txBody>
                  <a:tcPr marT="95250" marB="95250" marR="95250" marL="95250">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r>
              <a:tr h="712275">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dk2"/>
                          </a:solidFill>
                        </a:rPr>
                        <a:t>Objetos en Kubernetes</a:t>
                      </a:r>
                      <a:endParaRPr sz="1400" u="none" cap="none" strike="noStrike">
                        <a:solidFill>
                          <a:schemeClr val="dk2"/>
                        </a:solidFill>
                      </a:endParaRPr>
                    </a:p>
                  </a:txBody>
                  <a:tcPr marT="95250" marB="95250" marR="95250" marL="91425">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 sz="1400" u="sng" cap="none" strike="noStrike">
                          <a:solidFill>
                            <a:srgbClr val="4A86E8"/>
                          </a:solidFill>
                          <a:hlinkClick r:id="rId6">
                            <a:extLst>
                              <a:ext uri="{A12FA001-AC4F-418D-AE19-62706E023703}">
                                <ahyp:hlinkClr val="tx"/>
                              </a:ext>
                            </a:extLst>
                          </a:hlinkClick>
                        </a:rPr>
                        <a:t>Kubernetes Docs</a:t>
                      </a:r>
                      <a:endParaRPr sz="1400" u="none" cap="none" strike="noStrike">
                        <a:solidFill>
                          <a:srgbClr val="4A86E8"/>
                        </a:solidFill>
                      </a:endParaRPr>
                    </a:p>
                  </a:txBody>
                  <a:tcPr marT="95250" marB="95250" marR="95250" marL="95250">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dk2"/>
                          </a:solidFill>
                        </a:rPr>
                        <a:t>Definición de Pods, Deployments, Services y otros objetos básicos.</a:t>
                      </a:r>
                      <a:endParaRPr sz="1400" u="none" cap="none" strike="noStrike">
                        <a:solidFill>
                          <a:schemeClr val="dk2"/>
                        </a:solidFill>
                      </a:endParaRPr>
                    </a:p>
                  </a:txBody>
                  <a:tcPr marT="95250" marB="95250" marR="95250" marL="95250">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r>
              <a:tr h="712275">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dk2"/>
                          </a:solidFill>
                        </a:rPr>
                        <a:t>Tipos de Services</a:t>
                      </a:r>
                      <a:endParaRPr sz="1400" u="none" cap="none" strike="noStrike">
                        <a:solidFill>
                          <a:schemeClr val="dk2"/>
                        </a:solidFill>
                      </a:endParaRPr>
                    </a:p>
                  </a:txBody>
                  <a:tcPr marT="95250" marB="95250" marR="95250" marL="91425">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 sz="1400" u="sng" cap="none" strike="noStrike">
                          <a:solidFill>
                            <a:srgbClr val="4A86E8"/>
                          </a:solidFill>
                          <a:hlinkClick r:id="rId7">
                            <a:extLst>
                              <a:ext uri="{A12FA001-AC4F-418D-AE19-62706E023703}">
                                <ahyp:hlinkClr val="tx"/>
                              </a:ext>
                            </a:extLst>
                          </a:hlinkClick>
                        </a:rPr>
                        <a:t>Stack Overflow</a:t>
                      </a:r>
                      <a:endParaRPr sz="1400" u="none" cap="none" strike="noStrike">
                        <a:solidFill>
                          <a:srgbClr val="4A86E8"/>
                        </a:solidFill>
                      </a:endParaRPr>
                    </a:p>
                  </a:txBody>
                  <a:tcPr marT="95250" marB="95250" marR="95250" marL="95250">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dk2"/>
                          </a:solidFill>
                        </a:rPr>
                        <a:t>Diferencias entre ClusterIP, NodePort y LoadBalancer.</a:t>
                      </a:r>
                      <a:endParaRPr sz="1400" u="none" cap="none" strike="noStrike">
                        <a:solidFill>
                          <a:schemeClr val="dk2"/>
                        </a:solidFill>
                      </a:endParaRPr>
                    </a:p>
                  </a:txBody>
                  <a:tcPr marT="95250" marB="95250" marR="95250" marL="95250">
                    <a:lnL cap="flat" cmpd="sng" w="9525">
                      <a:solidFill>
                        <a:srgbClr val="292A2D"/>
                      </a:solidFill>
                      <a:prstDash val="solid"/>
                      <a:round/>
                      <a:headEnd len="sm" w="sm" type="none"/>
                      <a:tailEnd len="sm" w="sm" type="none"/>
                    </a:lnL>
                    <a:lnR cap="flat" cmpd="sng" w="9525">
                      <a:solidFill>
                        <a:srgbClr val="292A2D"/>
                      </a:solidFill>
                      <a:prstDash val="solid"/>
                      <a:round/>
                      <a:headEnd len="sm" w="sm" type="none"/>
                      <a:tailEnd len="sm" w="sm" type="none"/>
                    </a:lnR>
                    <a:lnT cap="flat" cmpd="sng" w="9525">
                      <a:solidFill>
                        <a:srgbClr val="292A2D"/>
                      </a:solidFill>
                      <a:prstDash val="solid"/>
                      <a:round/>
                      <a:headEnd len="sm" w="sm" type="none"/>
                      <a:tailEnd len="sm" w="sm" type="none"/>
                    </a:lnT>
                    <a:lnB cap="flat" cmpd="sng" w="9525">
                      <a:solidFill>
                        <a:srgbClr val="292A2D"/>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413" name="Shape 413"/>
        <p:cNvGrpSpPr/>
        <p:nvPr/>
      </p:nvGrpSpPr>
      <p:grpSpPr>
        <a:xfrm>
          <a:off x="0" y="0"/>
          <a:ext cx="0" cy="0"/>
          <a:chOff x="0" y="0"/>
          <a:chExt cx="0" cy="0"/>
        </a:xfrm>
      </p:grpSpPr>
      <p:sp>
        <p:nvSpPr>
          <p:cNvPr id="414" name="Google Shape;414;g3d01d778264_0_232"/>
          <p:cNvSpPr/>
          <p:nvPr/>
        </p:nvSpPr>
        <p:spPr>
          <a:xfrm>
            <a:off x="491490" y="352425"/>
            <a:ext cx="80100" cy="80100"/>
          </a:xfrm>
          <a:prstGeom prst="ellipse">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5" name="Google Shape;415;g3d01d778264_0_232"/>
          <p:cNvSpPr/>
          <p:nvPr/>
        </p:nvSpPr>
        <p:spPr>
          <a:xfrm>
            <a:off x="491490" y="352425"/>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416" name="Google Shape;416;g3d01d778264_0_232"/>
          <p:cNvSpPr/>
          <p:nvPr/>
        </p:nvSpPr>
        <p:spPr>
          <a:xfrm>
            <a:off x="704374" y="352425"/>
            <a:ext cx="80100" cy="80100"/>
          </a:xfrm>
          <a:prstGeom prst="ellipse">
            <a:avLst/>
          </a:prstGeom>
          <a:solidFill>
            <a:srgbClr val="000000">
              <a:alpha val="0"/>
            </a:srgbClr>
          </a:solidFill>
          <a:ln cap="flat" cmpd="sng" w="143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7" name="Google Shape;417;g3d01d778264_0_232"/>
          <p:cNvSpPr/>
          <p:nvPr/>
        </p:nvSpPr>
        <p:spPr>
          <a:xfrm>
            <a:off x="704374" y="352425"/>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418" name="Google Shape;418;g3d01d778264_0_232"/>
          <p:cNvSpPr/>
          <p:nvPr/>
        </p:nvSpPr>
        <p:spPr>
          <a:xfrm>
            <a:off x="917258" y="352425"/>
            <a:ext cx="80100" cy="80100"/>
          </a:xfrm>
          <a:prstGeom prst="ellipse">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9" name="Google Shape;419;g3d01d778264_0_232"/>
          <p:cNvSpPr/>
          <p:nvPr/>
        </p:nvSpPr>
        <p:spPr>
          <a:xfrm>
            <a:off x="917258" y="352425"/>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420" name="Google Shape;420;g3d01d778264_0_232"/>
          <p:cNvSpPr/>
          <p:nvPr/>
        </p:nvSpPr>
        <p:spPr>
          <a:xfrm>
            <a:off x="1130141" y="352425"/>
            <a:ext cx="80100" cy="80100"/>
          </a:xfrm>
          <a:prstGeom prst="ellipse">
            <a:avLst/>
          </a:prstGeom>
          <a:solidFill>
            <a:srgbClr val="000000">
              <a:alpha val="0"/>
            </a:srgbClr>
          </a:solidFill>
          <a:ln cap="flat" cmpd="sng" w="143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1" name="Google Shape;421;g3d01d778264_0_232"/>
          <p:cNvSpPr/>
          <p:nvPr/>
        </p:nvSpPr>
        <p:spPr>
          <a:xfrm>
            <a:off x="1130141" y="352425"/>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422" name="Google Shape;422;g3d01d778264_0_232"/>
          <p:cNvSpPr/>
          <p:nvPr/>
        </p:nvSpPr>
        <p:spPr>
          <a:xfrm>
            <a:off x="1343025" y="352425"/>
            <a:ext cx="80100" cy="80100"/>
          </a:xfrm>
          <a:prstGeom prst="ellipse">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3" name="Google Shape;423;g3d01d778264_0_232"/>
          <p:cNvSpPr/>
          <p:nvPr/>
        </p:nvSpPr>
        <p:spPr>
          <a:xfrm>
            <a:off x="1343025" y="352425"/>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424" name="Google Shape;424;g3d01d778264_0_232"/>
          <p:cNvSpPr/>
          <p:nvPr/>
        </p:nvSpPr>
        <p:spPr>
          <a:xfrm>
            <a:off x="1555909" y="352425"/>
            <a:ext cx="80100" cy="80100"/>
          </a:xfrm>
          <a:prstGeom prst="ellipse">
            <a:avLst/>
          </a:prstGeom>
          <a:solidFill>
            <a:srgbClr val="000000">
              <a:alpha val="0"/>
            </a:srgbClr>
          </a:solidFill>
          <a:ln cap="flat" cmpd="sng" w="143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5" name="Google Shape;425;g3d01d778264_0_232"/>
          <p:cNvSpPr/>
          <p:nvPr/>
        </p:nvSpPr>
        <p:spPr>
          <a:xfrm>
            <a:off x="1555909" y="352425"/>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pic>
        <p:nvPicPr>
          <p:cNvPr descr="https://kimi-img.moonshot.cn/pub/slides/slides_tmpl/image/25-08-27-20:09:29-d2nfau98bjvh7rlj0jo0.png" id="426" name="Google Shape;426;g3d01d778264_0_232"/>
          <p:cNvPicPr preferRelativeResize="0"/>
          <p:nvPr/>
        </p:nvPicPr>
        <p:blipFill rotWithShape="1">
          <a:blip r:embed="rId3">
            <a:alphaModFix/>
          </a:blip>
          <a:srcRect b="14559" l="17551" r="23945" t="0"/>
          <a:stretch/>
        </p:blipFill>
        <p:spPr>
          <a:xfrm rot="-5400000">
            <a:off x="4466988" y="459105"/>
            <a:ext cx="5136356" cy="4217671"/>
          </a:xfrm>
          <a:prstGeom prst="rect">
            <a:avLst/>
          </a:prstGeom>
          <a:noFill/>
          <a:ln>
            <a:noFill/>
          </a:ln>
        </p:spPr>
      </p:pic>
      <p:pic>
        <p:nvPicPr>
          <p:cNvPr id="427" name="Google Shape;427;g3d01d778264_0_232" title="ubhoo-Photoroom.png"/>
          <p:cNvPicPr preferRelativeResize="0"/>
          <p:nvPr/>
        </p:nvPicPr>
        <p:blipFill>
          <a:blip r:embed="rId4">
            <a:alphaModFix/>
          </a:blip>
          <a:stretch>
            <a:fillRect/>
          </a:stretch>
        </p:blipFill>
        <p:spPr>
          <a:xfrm>
            <a:off x="1176591" y="939729"/>
            <a:ext cx="3357637" cy="2895338"/>
          </a:xfrm>
          <a:prstGeom prst="rect">
            <a:avLst/>
          </a:prstGeom>
          <a:noFill/>
          <a:ln>
            <a:noFill/>
          </a:ln>
        </p:spPr>
      </p:pic>
      <p:sp>
        <p:nvSpPr>
          <p:cNvPr id="428" name="Google Shape;428;g3d01d778264_0_232"/>
          <p:cNvSpPr txBox="1"/>
          <p:nvPr/>
        </p:nvSpPr>
        <p:spPr>
          <a:xfrm>
            <a:off x="1690931" y="3835069"/>
            <a:ext cx="2328900" cy="6774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3500">
                <a:solidFill>
                  <a:schemeClr val="lt1"/>
                </a:solidFill>
              </a:rPr>
              <a:t>¿DUDAS?</a:t>
            </a:r>
            <a:endParaRPr sz="3500">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433" name="Shape 433"/>
        <p:cNvGrpSpPr/>
        <p:nvPr/>
      </p:nvGrpSpPr>
      <p:grpSpPr>
        <a:xfrm>
          <a:off x="0" y="0"/>
          <a:ext cx="0" cy="0"/>
          <a:chOff x="0" y="0"/>
          <a:chExt cx="0" cy="0"/>
        </a:xfrm>
      </p:grpSpPr>
      <p:sp>
        <p:nvSpPr>
          <p:cNvPr id="434" name="Google Shape;434;g3d01d778264_0_251"/>
          <p:cNvSpPr/>
          <p:nvPr/>
        </p:nvSpPr>
        <p:spPr>
          <a:xfrm>
            <a:off x="491490" y="352425"/>
            <a:ext cx="80100" cy="80100"/>
          </a:xfrm>
          <a:prstGeom prst="ellipse">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5" name="Google Shape;435;g3d01d778264_0_251"/>
          <p:cNvSpPr/>
          <p:nvPr/>
        </p:nvSpPr>
        <p:spPr>
          <a:xfrm>
            <a:off x="491490" y="352425"/>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436" name="Google Shape;436;g3d01d778264_0_251"/>
          <p:cNvSpPr/>
          <p:nvPr/>
        </p:nvSpPr>
        <p:spPr>
          <a:xfrm>
            <a:off x="704374" y="352425"/>
            <a:ext cx="80100" cy="80100"/>
          </a:xfrm>
          <a:prstGeom prst="ellipse">
            <a:avLst/>
          </a:prstGeom>
          <a:solidFill>
            <a:srgbClr val="000000">
              <a:alpha val="0"/>
            </a:srgbClr>
          </a:solidFill>
          <a:ln cap="flat" cmpd="sng" w="143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7" name="Google Shape;437;g3d01d778264_0_251"/>
          <p:cNvSpPr/>
          <p:nvPr/>
        </p:nvSpPr>
        <p:spPr>
          <a:xfrm>
            <a:off x="704374" y="352425"/>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438" name="Google Shape;438;g3d01d778264_0_251"/>
          <p:cNvSpPr/>
          <p:nvPr/>
        </p:nvSpPr>
        <p:spPr>
          <a:xfrm>
            <a:off x="917258" y="352425"/>
            <a:ext cx="80100" cy="80100"/>
          </a:xfrm>
          <a:prstGeom prst="ellipse">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9" name="Google Shape;439;g3d01d778264_0_251"/>
          <p:cNvSpPr/>
          <p:nvPr/>
        </p:nvSpPr>
        <p:spPr>
          <a:xfrm>
            <a:off x="917258" y="352425"/>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440" name="Google Shape;440;g3d01d778264_0_251"/>
          <p:cNvSpPr/>
          <p:nvPr/>
        </p:nvSpPr>
        <p:spPr>
          <a:xfrm>
            <a:off x="1130141" y="352425"/>
            <a:ext cx="80100" cy="80100"/>
          </a:xfrm>
          <a:prstGeom prst="ellipse">
            <a:avLst/>
          </a:prstGeom>
          <a:solidFill>
            <a:srgbClr val="000000">
              <a:alpha val="0"/>
            </a:srgbClr>
          </a:solidFill>
          <a:ln cap="flat" cmpd="sng" w="143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1" name="Google Shape;441;g3d01d778264_0_251"/>
          <p:cNvSpPr/>
          <p:nvPr/>
        </p:nvSpPr>
        <p:spPr>
          <a:xfrm>
            <a:off x="1130141" y="352425"/>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442" name="Google Shape;442;g3d01d778264_0_251"/>
          <p:cNvSpPr/>
          <p:nvPr/>
        </p:nvSpPr>
        <p:spPr>
          <a:xfrm>
            <a:off x="1343025" y="352425"/>
            <a:ext cx="80100" cy="80100"/>
          </a:xfrm>
          <a:prstGeom prst="ellipse">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3" name="Google Shape;443;g3d01d778264_0_251"/>
          <p:cNvSpPr/>
          <p:nvPr/>
        </p:nvSpPr>
        <p:spPr>
          <a:xfrm>
            <a:off x="1343025" y="352425"/>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sp>
        <p:nvSpPr>
          <p:cNvPr id="444" name="Google Shape;444;g3d01d778264_0_251"/>
          <p:cNvSpPr/>
          <p:nvPr/>
        </p:nvSpPr>
        <p:spPr>
          <a:xfrm>
            <a:off x="1555909" y="352425"/>
            <a:ext cx="80100" cy="80100"/>
          </a:xfrm>
          <a:prstGeom prst="ellipse">
            <a:avLst/>
          </a:prstGeom>
          <a:solidFill>
            <a:srgbClr val="000000">
              <a:alpha val="0"/>
            </a:srgbClr>
          </a:solidFill>
          <a:ln cap="flat" cmpd="sng" w="143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5" name="Google Shape;445;g3d01d778264_0_251"/>
          <p:cNvSpPr/>
          <p:nvPr/>
        </p:nvSpPr>
        <p:spPr>
          <a:xfrm>
            <a:off x="1555909" y="352425"/>
            <a:ext cx="80100" cy="80100"/>
          </a:xfrm>
          <a:prstGeom prst="rect">
            <a:avLst/>
          </a:prstGeom>
          <a:noFill/>
          <a:ln>
            <a:noFill/>
          </a:ln>
        </p:spPr>
        <p:txBody>
          <a:bodyPr anchorCtr="0" anchor="ctr" bIns="34275" lIns="34275" spcFirstLastPara="1" rIns="68575" wrap="square" tIns="68575">
            <a:noAutofit/>
          </a:bodyPr>
          <a:lstStyle/>
          <a:p>
            <a:pPr indent="0" lvl="0" marL="0" marR="0" rtl="0" algn="l">
              <a:lnSpc>
                <a:spcPct val="100000"/>
              </a:lnSpc>
              <a:spcBef>
                <a:spcPts val="0"/>
              </a:spcBef>
              <a:spcAft>
                <a:spcPts val="0"/>
              </a:spcAft>
              <a:buSzPts val="1200"/>
              <a:buFont typeface="Arial"/>
              <a:buNone/>
            </a:pPr>
            <a:r>
              <a:t/>
            </a:r>
            <a:endParaRPr b="0" i="0" sz="1200" u="none" cap="none" strike="noStrike"/>
          </a:p>
        </p:txBody>
      </p:sp>
      <p:pic>
        <p:nvPicPr>
          <p:cNvPr descr="https://kimi-img.moonshot.cn/pub/slides/slides_tmpl/image/25-08-27-20:09:29-d2nfau98bjvh7rlj0jo0.png" id="446" name="Google Shape;446;g3d01d778264_0_251"/>
          <p:cNvPicPr preferRelativeResize="0"/>
          <p:nvPr/>
        </p:nvPicPr>
        <p:blipFill rotWithShape="1">
          <a:blip r:embed="rId3">
            <a:alphaModFix amt="40000"/>
          </a:blip>
          <a:srcRect b="14559" l="17551" r="23945" t="0"/>
          <a:stretch/>
        </p:blipFill>
        <p:spPr>
          <a:xfrm rot="-5400000">
            <a:off x="4466988" y="459105"/>
            <a:ext cx="5136356" cy="4217671"/>
          </a:xfrm>
          <a:prstGeom prst="rect">
            <a:avLst/>
          </a:prstGeom>
          <a:noFill/>
          <a:ln>
            <a:noFill/>
          </a:ln>
        </p:spPr>
      </p:pic>
      <p:sp>
        <p:nvSpPr>
          <p:cNvPr id="447" name="Google Shape;447;g3d01d778264_0_251"/>
          <p:cNvSpPr/>
          <p:nvPr/>
        </p:nvSpPr>
        <p:spPr>
          <a:xfrm>
            <a:off x="591506" y="1425900"/>
            <a:ext cx="5838000" cy="2083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6400"/>
              <a:buFont typeface="Arial"/>
              <a:buNone/>
            </a:pPr>
            <a:r>
              <a:rPr b="0" i="0" lang="es" sz="6400" u="none" cap="none" strike="noStrike">
                <a:solidFill>
                  <a:srgbClr val="FFFFFF"/>
                </a:solidFill>
                <a:latin typeface="Arial"/>
                <a:ea typeface="Arial"/>
                <a:cs typeface="Arial"/>
                <a:sym typeface="Arial"/>
              </a:rPr>
              <a:t>GRACIAS </a:t>
            </a:r>
            <a:r>
              <a:rPr lang="es" sz="6400">
                <a:solidFill>
                  <a:srgbClr val="FFFFFF"/>
                </a:solidFill>
              </a:rPr>
              <a:t>POR SU ATENCION</a:t>
            </a:r>
            <a:r>
              <a:rPr b="0" i="0" lang="es" sz="6400" u="none" cap="none" strike="noStrike">
                <a:solidFill>
                  <a:srgbClr val="FFFFFF"/>
                </a:solidFill>
                <a:latin typeface="Arial"/>
                <a:ea typeface="Arial"/>
                <a:cs typeface="Arial"/>
                <a:sym typeface="Arial"/>
              </a:rPr>
              <a:t> </a:t>
            </a:r>
            <a:endParaRPr b="0" i="0" sz="1200" u="none" cap="none" strike="noStrike"/>
          </a:p>
        </p:txBody>
      </p:sp>
      <p:sp>
        <p:nvSpPr>
          <p:cNvPr id="448" name="Google Shape;448;g3d01d778264_0_251"/>
          <p:cNvSpPr txBox="1"/>
          <p:nvPr/>
        </p:nvSpPr>
        <p:spPr>
          <a:xfrm>
            <a:off x="704381" y="3919519"/>
            <a:ext cx="6790200" cy="572700"/>
          </a:xfrm>
          <a:prstGeom prst="rect">
            <a:avLst/>
          </a:prstGeom>
          <a:noFill/>
          <a:ln>
            <a:noFill/>
          </a:ln>
        </p:spPr>
        <p:txBody>
          <a:bodyPr anchorCtr="0" anchor="t" bIns="0" lIns="0" spcFirstLastPara="1" rIns="0" wrap="square" tIns="0">
            <a:spAutoFit/>
          </a:bodyPr>
          <a:lstStyle/>
          <a:p>
            <a:pPr indent="0" lvl="0" marL="0" marR="0" rtl="0" algn="l">
              <a:lnSpc>
                <a:spcPct val="148000"/>
              </a:lnSpc>
              <a:spcBef>
                <a:spcPts val="0"/>
              </a:spcBef>
              <a:spcAft>
                <a:spcPts val="0"/>
              </a:spcAft>
              <a:buClr>
                <a:srgbClr val="000000"/>
              </a:buClr>
              <a:buSzPts val="1500"/>
              <a:buFont typeface="Arial"/>
              <a:buNone/>
            </a:pPr>
            <a:r>
              <a:rPr b="0" i="1" lang="es" sz="1500" u="none" cap="none" strike="noStrike">
                <a:solidFill>
                  <a:schemeClr val="lt1"/>
                </a:solidFill>
                <a:latin typeface="Arial"/>
                <a:ea typeface="Arial"/>
                <a:cs typeface="Arial"/>
                <a:sym typeface="Arial"/>
              </a:rPr>
              <a:t>RECUERDA QUE TENEMOS NUESTRO FORO SEMANAL DONDE PUEDES CONSULTAR CUALQUIER DUDA QUE TE SURJA EN LA SEMANA</a:t>
            </a:r>
            <a:endParaRPr b="0" i="1" sz="1100" u="none" cap="none" strike="noStrike">
              <a:solidFill>
                <a:schemeClr val="lt1"/>
              </a:solidFill>
              <a:latin typeface="Arial"/>
              <a:ea typeface="Arial"/>
              <a:cs typeface="Arial"/>
              <a:sym typeface="Arial"/>
            </a:endParaRPr>
          </a:p>
        </p:txBody>
      </p:sp>
      <p:pic>
        <p:nvPicPr>
          <p:cNvPr id="449" name="Google Shape;449;g3d01d778264_0_251" title="BUHOADSFA-Photoroom.png"/>
          <p:cNvPicPr preferRelativeResize="0"/>
          <p:nvPr/>
        </p:nvPicPr>
        <p:blipFill>
          <a:blip r:embed="rId4">
            <a:alphaModFix/>
          </a:blip>
          <a:stretch>
            <a:fillRect/>
          </a:stretch>
        </p:blipFill>
        <p:spPr>
          <a:xfrm>
            <a:off x="0" y="0"/>
            <a:ext cx="704381" cy="87189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44546A"/>
      </a:dk2>
      <a:lt2>
        <a:srgbClr val="E7E6E6"/>
      </a:lt2>
      <a:accent1>
        <a:srgbClr val="232323"/>
      </a:accent1>
      <a:accent2>
        <a:srgbClr val="EBEBEB"/>
      </a:accent2>
      <a:accent3>
        <a:srgbClr val="919191"/>
      </a:accent3>
      <a:accent4>
        <a:srgbClr val="ADADAD"/>
      </a:accent4>
      <a:accent5>
        <a:srgbClr val="C79E7F"/>
      </a:accent5>
      <a:accent6>
        <a:srgbClr val="C27F6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