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6858000" cx="12192000"/>
  <p:notesSz cx="6858000" cy="12192000"/>
  <p:embeddedFontLst>
    <p:embeddedFont>
      <p:font typeface="Noto Sans SC"/>
      <p:regular r:id="rId51"/>
      <p:bold r:id="rId52"/>
    </p:embeddedFont>
    <p:embeddedFont>
      <p:font typeface="Open Sans"/>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7" roundtripDataSignature="AMtx7mgtJhnCNX0mW9AjvPM9fY+gzB4r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FAE54F-ED5D-455E-8E4E-434B015809AD}">
  <a:tblStyle styleId="{8BFAE54F-ED5D-455E-8E4E-434B015809AD}"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NotoSansSC-regular.fntdata"/><Relationship Id="rId50" Type="http://schemas.openxmlformats.org/officeDocument/2006/relationships/slide" Target="slides/slide44.xml"/><Relationship Id="rId53" Type="http://schemas.openxmlformats.org/officeDocument/2006/relationships/font" Target="fonts/OpenSans-regular.fntdata"/><Relationship Id="rId52" Type="http://schemas.openxmlformats.org/officeDocument/2006/relationships/font" Target="fonts/NotoSansSC-bold.fntdata"/><Relationship Id="rId11" Type="http://schemas.openxmlformats.org/officeDocument/2006/relationships/slide" Target="slides/slide5.xml"/><Relationship Id="rId55" Type="http://schemas.openxmlformats.org/officeDocument/2006/relationships/font" Target="fonts/OpenSans-italic.fntdata"/><Relationship Id="rId10" Type="http://schemas.openxmlformats.org/officeDocument/2006/relationships/slide" Target="slides/slide4.xml"/><Relationship Id="rId54" Type="http://schemas.openxmlformats.org/officeDocument/2006/relationships/font" Target="fonts/OpenSans-bold.fntdata"/><Relationship Id="rId13" Type="http://schemas.openxmlformats.org/officeDocument/2006/relationships/slide" Target="slides/slide7.xml"/><Relationship Id="rId57" Type="http://customschemas.google.com/relationships/presentationmetadata" Target="metadata"/><Relationship Id="rId12" Type="http://schemas.openxmlformats.org/officeDocument/2006/relationships/slide" Target="slides/slide6.xml"/><Relationship Id="rId56" Type="http://schemas.openxmlformats.org/officeDocument/2006/relationships/font" Target="fonts/OpenSans-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9e0add05ca_0_83: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g39e0add05ca_0_83: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9e0add05ca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g39e0add05ca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g39e0add05ca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aa85397aa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g3aa85397aa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g3aa85397aa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a85397aa6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g3aa85397aa6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g3aa85397aa6_0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 name="Google Shape;45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7" name="Google Shape;47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 name="Google Shape;581;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9" name="Google Shape;589;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0" name="Google Shape;590;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9" name="Google Shape;609;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4" name="Google Shape;644;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5" name="Google Shape;645;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3" name="Google Shape;65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4" name="Google Shape;65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4" name="Google Shape;674;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5" name="Google Shape;675;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1" name="Google Shape;69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2" name="Google Shape;692;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aa85397aa6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4" name="Google Shape;704;g3aa85397aa6_0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5" name="Google Shape;705;g3aa85397aa6_0_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aa85397aa6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3" name="Google Shape;713;g3aa85397aa6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4" name="Google Shape;714;g3aa85397aa6_0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aa85397aa6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g3aa85397aa6_0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2" name="Google Shape;732;g3aa85397aa6_0_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aa85397aa6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0" name="Google Shape;740;g3aa85397aa6_0_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1" name="Google Shape;741;g3aa85397aa6_0_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3aa85397aa6_0_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7" name="Google Shape;757;g3aa85397aa6_0_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8" name="Google Shape;758;g3aa85397aa6_0_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aa85397aa6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6" name="Google Shape;766;g3aa85397aa6_0_1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7" name="Google Shape;767;g3aa85397aa6_0_1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aa85397aa6_0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3" name="Google Shape;773;g3aa85397aa6_0_1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4" name="Google Shape;774;g3aa85397aa6_0_1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aa85397aa6_0_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3" name="Google Shape;793;g3aa85397aa6_0_1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4" name="Google Shape;794;g3aa85397aa6_0_1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PTIST_MASTER">
  <p:cSld name="PPTIST_MASTER">
    <p:bg>
      <p:bgPr>
        <a:solidFill>
          <a:srgbClr val="FFFFFF"/>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g39e0add05ca_0_9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8" name="Google Shape;18;g39e0add05ca_0_94"/>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19" name="Google Shape;19;g39e0add05ca_0_9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g39e0add05ca_0_98"/>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22" name="Google Shape;22;g39e0add05ca_0_98"/>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23" name="Google Shape;23;g39e0add05ca_0_9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g39e0add05ca_0_102"/>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6" name="Google Shape;26;g39e0add05ca_0_10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g39e0add05ca_0_10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9" name="Google Shape;29;g39e0add05ca_0_105"/>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0" name="Google Shape;30;g39e0add05ca_0_105"/>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1" name="Google Shape;31;g39e0add05ca_0_10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g39e0add05ca_0_11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4" name="Google Shape;34;g39e0add05ca_0_11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5" name="Shape 35"/>
        <p:cNvGrpSpPr/>
        <p:nvPr/>
      </p:nvGrpSpPr>
      <p:grpSpPr>
        <a:xfrm>
          <a:off x="0" y="0"/>
          <a:ext cx="0" cy="0"/>
          <a:chOff x="0" y="0"/>
          <a:chExt cx="0" cy="0"/>
        </a:xfrm>
      </p:grpSpPr>
      <p:sp>
        <p:nvSpPr>
          <p:cNvPr id="36" name="Google Shape;36;g39e0add05ca_0_113"/>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37" name="Google Shape;37;g39e0add05ca_0_113"/>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8" name="Google Shape;38;g39e0add05ca_0_11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g39e0add05ca_0_117"/>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41" name="Google Shape;41;g39e0add05ca_0_11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g39e0add05ca_0_120"/>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4" name="Google Shape;44;g39e0add05ca_0_120"/>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45" name="Google Shape;45;g39e0add05ca_0_120"/>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6" name="Google Shape;46;g39e0add05ca_0_120"/>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47" name="Google Shape;47;g39e0add05ca_0_12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g39e0add05ca_0_126"/>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algn="l">
              <a:lnSpc>
                <a:spcPct val="100000"/>
              </a:lnSpc>
              <a:spcBef>
                <a:spcPts val="0"/>
              </a:spcBef>
              <a:spcAft>
                <a:spcPts val="0"/>
              </a:spcAft>
              <a:buSzPts val="2400"/>
              <a:buNone/>
              <a:defRPr/>
            </a:lvl1pPr>
          </a:lstStyle>
          <a:p/>
        </p:txBody>
      </p:sp>
      <p:sp>
        <p:nvSpPr>
          <p:cNvPr id="50" name="Google Shape;50;g39e0add05ca_0_12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g39e0add05ca_0_129"/>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53" name="Google Shape;53;g39e0add05ca_0_129"/>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0"/>
              </a:spcBef>
              <a:spcAft>
                <a:spcPts val="0"/>
              </a:spcAft>
              <a:buSzPts val="1900"/>
              <a:buChar char="○"/>
              <a:defRPr/>
            </a:lvl2pPr>
            <a:lvl3pPr indent="-349250" lvl="2" marL="1371600" algn="ctr">
              <a:lnSpc>
                <a:spcPct val="115000"/>
              </a:lnSpc>
              <a:spcBef>
                <a:spcPts val="0"/>
              </a:spcBef>
              <a:spcAft>
                <a:spcPts val="0"/>
              </a:spcAft>
              <a:buSzPts val="1900"/>
              <a:buChar char="■"/>
              <a:defRPr/>
            </a:lvl3pPr>
            <a:lvl4pPr indent="-349250" lvl="3" marL="1828800" algn="ctr">
              <a:lnSpc>
                <a:spcPct val="115000"/>
              </a:lnSpc>
              <a:spcBef>
                <a:spcPts val="0"/>
              </a:spcBef>
              <a:spcAft>
                <a:spcPts val="0"/>
              </a:spcAft>
              <a:buSzPts val="1900"/>
              <a:buChar char="●"/>
              <a:defRPr/>
            </a:lvl4pPr>
            <a:lvl5pPr indent="-349250" lvl="4" marL="2286000" algn="ctr">
              <a:lnSpc>
                <a:spcPct val="115000"/>
              </a:lnSpc>
              <a:spcBef>
                <a:spcPts val="0"/>
              </a:spcBef>
              <a:spcAft>
                <a:spcPts val="0"/>
              </a:spcAft>
              <a:buSzPts val="1900"/>
              <a:buChar char="○"/>
              <a:defRPr/>
            </a:lvl5pPr>
            <a:lvl6pPr indent="-349250" lvl="5" marL="2743200" algn="ctr">
              <a:lnSpc>
                <a:spcPct val="115000"/>
              </a:lnSpc>
              <a:spcBef>
                <a:spcPts val="0"/>
              </a:spcBef>
              <a:spcAft>
                <a:spcPts val="0"/>
              </a:spcAft>
              <a:buSzPts val="1900"/>
              <a:buChar char="■"/>
              <a:defRPr/>
            </a:lvl6pPr>
            <a:lvl7pPr indent="-349250" lvl="6" marL="3200400" algn="ctr">
              <a:lnSpc>
                <a:spcPct val="115000"/>
              </a:lnSpc>
              <a:spcBef>
                <a:spcPts val="0"/>
              </a:spcBef>
              <a:spcAft>
                <a:spcPts val="0"/>
              </a:spcAft>
              <a:buSzPts val="1900"/>
              <a:buChar char="●"/>
              <a:defRPr/>
            </a:lvl7pPr>
            <a:lvl8pPr indent="-349250" lvl="7" marL="3657600" algn="ctr">
              <a:lnSpc>
                <a:spcPct val="115000"/>
              </a:lnSpc>
              <a:spcBef>
                <a:spcPts val="0"/>
              </a:spcBef>
              <a:spcAft>
                <a:spcPts val="0"/>
              </a:spcAft>
              <a:buSzPts val="1900"/>
              <a:buChar char="○"/>
              <a:defRPr/>
            </a:lvl8pPr>
            <a:lvl9pPr indent="-349250" lvl="8" marL="4114800" algn="ctr">
              <a:lnSpc>
                <a:spcPct val="115000"/>
              </a:lnSpc>
              <a:spcBef>
                <a:spcPts val="0"/>
              </a:spcBef>
              <a:spcAft>
                <a:spcPts val="0"/>
              </a:spcAft>
              <a:buSzPts val="1900"/>
              <a:buChar char="■"/>
              <a:defRPr/>
            </a:lvl9pPr>
          </a:lstStyle>
          <a:p/>
        </p:txBody>
      </p:sp>
      <p:sp>
        <p:nvSpPr>
          <p:cNvPr id="54" name="Google Shape;54;g39e0add05ca_0_12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g39e0add05ca_0_13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2" Type="http://schemas.openxmlformats.org/officeDocument/2006/relationships/theme" Target="../theme/theme1.xml"/><Relationship Id="rId9" Type="http://schemas.openxmlformats.org/officeDocument/2006/relationships/slideLayout" Target="../slideLayouts/slideLayout11.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2" name="Shape 12"/>
        <p:cNvGrpSpPr/>
        <p:nvPr/>
      </p:nvGrpSpPr>
      <p:grpSpPr>
        <a:xfrm>
          <a:off x="0" y="0"/>
          <a:ext cx="0" cy="0"/>
          <a:chOff x="0" y="0"/>
          <a:chExt cx="0" cy="0"/>
        </a:xfrm>
      </p:grpSpPr>
      <p:sp>
        <p:nvSpPr>
          <p:cNvPr id="13" name="Google Shape;13;g39e0add05ca_0_9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14" name="Google Shape;14;g39e0add05ca_0_90"/>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15" name="Google Shape;15;g39e0add05ca_0_9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hyperlink" Target="http://www.youtube.com/watch?v=qgnDbQ1aM54" TargetMode="External"/><Relationship Id="rId5"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3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14.png"/><Relationship Id="rId7" Type="http://schemas.openxmlformats.org/officeDocument/2006/relationships/image" Target="../media/image12.png"/><Relationship Id="rId8"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26.png"/><Relationship Id="rId5" Type="http://schemas.openxmlformats.org/officeDocument/2006/relationships/image" Target="../media/image21.png"/><Relationship Id="rId6"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4.png"/><Relationship Id="rId4" Type="http://schemas.openxmlformats.org/officeDocument/2006/relationships/image" Target="../media/image24.png"/><Relationship Id="rId5" Type="http://schemas.openxmlformats.org/officeDocument/2006/relationships/image" Target="../media/image22.png"/><Relationship Id="rId6" Type="http://schemas.openxmlformats.org/officeDocument/2006/relationships/image" Target="../media/image25.png"/><Relationship Id="rId7"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48.png"/><Relationship Id="rId5" Type="http://schemas.openxmlformats.org/officeDocument/2006/relationships/image" Target="../media/image36.png"/><Relationship Id="rId6" Type="http://schemas.openxmlformats.org/officeDocument/2006/relationships/image" Target="../media/image43.png"/><Relationship Id="rId7"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8.png"/><Relationship Id="rId4" Type="http://schemas.openxmlformats.org/officeDocument/2006/relationships/image" Target="../media/image23.png"/><Relationship Id="rId5"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8.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0.jp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1.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4.png"/><Relationship Id="rId4" Type="http://schemas.openxmlformats.org/officeDocument/2006/relationships/image" Target="../media/image30.png"/><Relationship Id="rId5" Type="http://schemas.openxmlformats.org/officeDocument/2006/relationships/image" Target="../media/image47.png"/><Relationship Id="rId6"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6.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5.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5.pn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57.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9.png"/><Relationship Id="rId4" Type="http://schemas.openxmlformats.org/officeDocument/2006/relationships/image" Target="../media/image48.png"/><Relationship Id="rId5" Type="http://schemas.openxmlformats.org/officeDocument/2006/relationships/image" Target="../media/image36.png"/><Relationship Id="rId6" Type="http://schemas.openxmlformats.org/officeDocument/2006/relationships/image" Target="../media/image43.png"/><Relationship Id="rId7"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51.png"/><Relationship Id="rId4"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54.png"/><Relationship Id="rId4" Type="http://schemas.openxmlformats.org/officeDocument/2006/relationships/image" Target="../media/image17.png"/><Relationship Id="rId5"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5.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5.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58.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5.png"/><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hyperlink" Target="https://docs.docker.com" TargetMode="External"/><Relationship Id="rId4" Type="http://schemas.openxmlformats.org/officeDocument/2006/relationships/hyperlink" Target="https://goharbor.io" TargetMode="External"/><Relationship Id="rId9" Type="http://schemas.openxmlformats.org/officeDocument/2006/relationships/image" Target="../media/image55.jpg"/><Relationship Id="rId5" Type="http://schemas.openxmlformats.org/officeDocument/2006/relationships/hyperlink" Target="https://github.com/project-zot/zot" TargetMode="External"/><Relationship Id="rId6" Type="http://schemas.openxmlformats.org/officeDocument/2006/relationships/hyperlink" Target="https://containerd.io" TargetMode="External"/><Relationship Id="rId7" Type="http://schemas.openxmlformats.org/officeDocument/2006/relationships/hyperlink" Target="https://opencontainers.org" TargetMode="External"/><Relationship Id="rId8" Type="http://schemas.openxmlformats.org/officeDocument/2006/relationships/hyperlink" Target="https://www.cnof.io/projects"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56.png"/><Relationship Id="rId4" Type="http://schemas.openxmlformats.org/officeDocument/2006/relationships/image" Target="../media/image5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56.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g39e0add05ca_0_83"/>
          <p:cNvPicPr preferRelativeResize="0"/>
          <p:nvPr/>
        </p:nvPicPr>
        <p:blipFill rotWithShape="1">
          <a:blip r:embed="rId3">
            <a:alphaModFix amt="40000"/>
          </a:blip>
          <a:srcRect b="0" l="0" r="0" t="0"/>
          <a:stretch/>
        </p:blipFill>
        <p:spPr>
          <a:xfrm>
            <a:off x="11268" y="-2500"/>
            <a:ext cx="12169464" cy="6858000"/>
          </a:xfrm>
          <a:prstGeom prst="rect">
            <a:avLst/>
          </a:prstGeom>
          <a:noFill/>
          <a:ln>
            <a:noFill/>
          </a:ln>
        </p:spPr>
      </p:pic>
      <p:graphicFrame>
        <p:nvGraphicFramePr>
          <p:cNvPr id="62" name="Google Shape;62;g39e0add05ca_0_83"/>
          <p:cNvGraphicFramePr/>
          <p:nvPr/>
        </p:nvGraphicFramePr>
        <p:xfrm>
          <a:off x="7104267" y="1293367"/>
          <a:ext cx="3000000" cy="3000000"/>
        </p:xfrm>
        <a:graphic>
          <a:graphicData uri="http://schemas.openxmlformats.org/drawingml/2006/table">
            <a:tbl>
              <a:tblPr>
                <a:noFill/>
                <a:tableStyleId>{8BFAE54F-ED5D-455E-8E4E-434B015809AD}</a:tableStyleId>
              </a:tblPr>
              <a:tblGrid>
                <a:gridCol w="2024275"/>
                <a:gridCol w="2896500"/>
              </a:tblGrid>
              <a:tr h="429925">
                <a:tc>
                  <a:txBody>
                    <a:bodyPr/>
                    <a:lstStyle/>
                    <a:p>
                      <a:pPr indent="0" lvl="0" marL="0" marR="0" rtl="0" algn="l">
                        <a:lnSpc>
                          <a:spcPct val="100000"/>
                        </a:lnSpc>
                        <a:spcBef>
                          <a:spcPts val="0"/>
                        </a:spcBef>
                        <a:spcAft>
                          <a:spcPts val="0"/>
                        </a:spcAft>
                        <a:buClr>
                          <a:srgbClr val="000000"/>
                        </a:buClr>
                        <a:buSzPts val="1900"/>
                        <a:buFont typeface="Arial"/>
                        <a:buNone/>
                      </a:pPr>
                      <a:r>
                        <a:rPr b="1" lang="en-US" sz="1900" u="none" cap="none" strike="noStrike">
                          <a:solidFill>
                            <a:schemeClr val="dk1"/>
                          </a:solidFill>
                        </a:rPr>
                        <a:t>Día, Fecha:</a:t>
                      </a:r>
                      <a:endParaRPr b="1" sz="1900" u="none" cap="none" strike="noStrike">
                        <a:solidFill>
                          <a:schemeClr val="dk1"/>
                        </a:solidFill>
                      </a:endParaRPr>
                    </a:p>
                  </a:txBody>
                  <a:tcPr marT="121900" marB="121900" marR="121900" marL="121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US" sz="1900"/>
                        <a:t>05</a:t>
                      </a:r>
                      <a:r>
                        <a:rPr lang="en-US" sz="1900" u="none" cap="none" strike="noStrike"/>
                        <a:t>/</a:t>
                      </a:r>
                      <a:r>
                        <a:rPr lang="en-US" sz="1900"/>
                        <a:t>02</a:t>
                      </a:r>
                      <a:r>
                        <a:rPr lang="en-US" sz="1900" u="none" cap="none" strike="noStrike"/>
                        <a:t>/202</a:t>
                      </a:r>
                      <a:r>
                        <a:rPr lang="en-US" sz="1900"/>
                        <a:t>6</a:t>
                      </a:r>
                      <a:endParaRPr sz="1900" u="none" cap="none" strike="noStrike"/>
                    </a:p>
                  </a:txBody>
                  <a:tcPr marT="121900" marB="121900" marR="121900" marL="121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84125">
                <a:tc>
                  <a:txBody>
                    <a:bodyPr/>
                    <a:lstStyle/>
                    <a:p>
                      <a:pPr indent="0" lvl="0" marL="0" marR="0" rtl="0" algn="l">
                        <a:lnSpc>
                          <a:spcPct val="100000"/>
                        </a:lnSpc>
                        <a:spcBef>
                          <a:spcPts val="0"/>
                        </a:spcBef>
                        <a:spcAft>
                          <a:spcPts val="0"/>
                        </a:spcAft>
                        <a:buClr>
                          <a:srgbClr val="000000"/>
                        </a:buClr>
                        <a:buSzPts val="1900"/>
                        <a:buFont typeface="Arial"/>
                        <a:buNone/>
                      </a:pPr>
                      <a:r>
                        <a:rPr b="1" lang="en-US" sz="1900" u="none" cap="none" strike="noStrike">
                          <a:solidFill>
                            <a:schemeClr val="dk1"/>
                          </a:solidFill>
                        </a:rPr>
                        <a:t>Hora de inicio:</a:t>
                      </a:r>
                      <a:endParaRPr b="1" sz="1900" u="none" cap="none" strike="noStrike">
                        <a:solidFill>
                          <a:schemeClr val="dk1"/>
                        </a:solidFill>
                      </a:endParaRPr>
                    </a:p>
                  </a:txBody>
                  <a:tcPr marT="121900" marB="121900" marR="121900" marL="121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US" sz="1900" u="none" cap="none" strike="noStrike"/>
                        <a:t>17:20</a:t>
                      </a:r>
                      <a:endParaRPr sz="1900" u="none" cap="none" strike="noStrike"/>
                    </a:p>
                  </a:txBody>
                  <a:tcPr marT="121900" marB="121900" marR="121900" marL="121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63" name="Google Shape;63;g39e0add05ca_0_83"/>
          <p:cNvSpPr/>
          <p:nvPr/>
        </p:nvSpPr>
        <p:spPr>
          <a:xfrm>
            <a:off x="3169091" y="3130047"/>
            <a:ext cx="6040800" cy="5979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g39e0add05ca_0_83"/>
          <p:cNvSpPr/>
          <p:nvPr/>
        </p:nvSpPr>
        <p:spPr>
          <a:xfrm>
            <a:off x="3169091" y="3881747"/>
            <a:ext cx="6040800" cy="5979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g39e0add05ca_0_83"/>
          <p:cNvSpPr txBox="1"/>
          <p:nvPr/>
        </p:nvSpPr>
        <p:spPr>
          <a:xfrm>
            <a:off x="3384800" y="3049400"/>
            <a:ext cx="5825100" cy="7542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300"/>
              <a:buFont typeface="Arial"/>
              <a:buNone/>
            </a:pPr>
            <a:r>
              <a:rPr b="1" i="0" lang="en-US" sz="3300" cap="none" strike="noStrike">
                <a:solidFill>
                  <a:srgbClr val="000000"/>
                </a:solidFill>
                <a:latin typeface="Arial"/>
                <a:ea typeface="Arial"/>
                <a:cs typeface="Arial"/>
                <a:sym typeface="Arial"/>
              </a:rPr>
              <a:t>Sistemas Operativos 1 [P]</a:t>
            </a:r>
            <a:endParaRPr b="1" i="0" sz="3300" cap="none" strike="noStrike">
              <a:solidFill>
                <a:srgbClr val="000000"/>
              </a:solidFill>
              <a:latin typeface="Arial"/>
              <a:ea typeface="Arial"/>
              <a:cs typeface="Arial"/>
              <a:sym typeface="Arial"/>
            </a:endParaRPr>
          </a:p>
        </p:txBody>
      </p:sp>
      <p:sp>
        <p:nvSpPr>
          <p:cNvPr id="66" name="Google Shape;66;g39e0add05ca_0_83"/>
          <p:cNvSpPr txBox="1"/>
          <p:nvPr/>
        </p:nvSpPr>
        <p:spPr>
          <a:xfrm>
            <a:off x="4663550" y="3803600"/>
            <a:ext cx="3267600" cy="7542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300"/>
              <a:buFont typeface="Arial"/>
              <a:buNone/>
            </a:pPr>
            <a:r>
              <a:rPr b="1" lang="en-US" sz="3300"/>
              <a:t>Edgar Alvarez</a:t>
            </a:r>
            <a:endParaRPr b="1" i="0" sz="3300" u="none" cap="none" strike="noStrike">
              <a:solidFill>
                <a:srgbClr val="000000"/>
              </a:solidFill>
              <a:latin typeface="Arial"/>
              <a:ea typeface="Arial"/>
              <a:cs typeface="Arial"/>
              <a:sym typeface="Arial"/>
            </a:endParaRPr>
          </a:p>
        </p:txBody>
      </p:sp>
      <p:pic>
        <p:nvPicPr>
          <p:cNvPr descr="Set a timer for 5 minutes. This 5 minute timer with alarm silently counts down to 00:00 and then alerts you with a gentle alarm sound.&#10;&#10;What Is the 5 Minute Timer?&#10;If you're looking for a timer to help you stay on track with your work, a 5 minute countdown is a great option. You can use it to break up your work time into manageable chunks, and it can also help you avoid getting bogged down with one task for too long.&#10;&#10;How to Set a 5 Minute Timer&#10;There are a few different ways to set a 5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5 Minute Alarm?&#10;This timer is perfect for work or study sessions. It's also great for any activity where you want to be sure to take a break every 5 minutes, such as cooking, laundry, or working out.&#10;&#10;Online Timer - https://timer.onlinealarmkur.com/en/" id="67" name="Google Shape;67;g39e0add05ca_0_83" title="5 Minute Timer">
            <a:hlinkClick r:id="rId4"/>
          </p:cNvPr>
          <p:cNvPicPr preferRelativeResize="0"/>
          <p:nvPr/>
        </p:nvPicPr>
        <p:blipFill>
          <a:blip r:embed="rId5">
            <a:alphaModFix/>
          </a:blip>
          <a:stretch>
            <a:fillRect/>
          </a:stretch>
        </p:blipFill>
        <p:spPr>
          <a:xfrm>
            <a:off x="9128550" y="5143500"/>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gtEl>
                                        <p:attrNameLst>
                                          <p:attrName>style.visibility</p:attrName>
                                        </p:attrNameLst>
                                      </p:cBhvr>
                                      <p:to>
                                        <p:strVal val="visible"/>
                                      </p:to>
                                    </p:set>
                                    <p:animEffect filter="fade" transition="in">
                                      <p:cBhvr>
                                        <p:cTn dur="1000"/>
                                        <p:tgtEl>
                                          <p:spTgt spid="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72" name="Shape 72"/>
        <p:cNvGrpSpPr/>
        <p:nvPr/>
      </p:nvGrpSpPr>
      <p:grpSpPr>
        <a:xfrm>
          <a:off x="0" y="0"/>
          <a:ext cx="0" cy="0"/>
          <a:chOff x="0" y="0"/>
          <a:chExt cx="0" cy="0"/>
        </a:xfrm>
      </p:grpSpPr>
      <p:sp>
        <p:nvSpPr>
          <p:cNvPr id="73" name="Google Shape;73;g39e0add05ca_0_2"/>
          <p:cNvSpPr/>
          <p:nvPr/>
        </p:nvSpPr>
        <p:spPr>
          <a:xfrm>
            <a:off x="647830" y="503325"/>
            <a:ext cx="106800" cy="1068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g39e0add05ca_0_2"/>
          <p:cNvSpPr/>
          <p:nvPr/>
        </p:nvSpPr>
        <p:spPr>
          <a:xfrm>
            <a:off x="647830" y="503325"/>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75" name="Google Shape;75;g39e0add05ca_0_2"/>
          <p:cNvSpPr/>
          <p:nvPr/>
        </p:nvSpPr>
        <p:spPr>
          <a:xfrm>
            <a:off x="931675" y="503325"/>
            <a:ext cx="106800" cy="10680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g39e0add05ca_0_2"/>
          <p:cNvSpPr/>
          <p:nvPr/>
        </p:nvSpPr>
        <p:spPr>
          <a:xfrm>
            <a:off x="931675" y="503325"/>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77" name="Google Shape;77;g39e0add05ca_0_2"/>
          <p:cNvSpPr/>
          <p:nvPr/>
        </p:nvSpPr>
        <p:spPr>
          <a:xfrm>
            <a:off x="1215520" y="503325"/>
            <a:ext cx="106800" cy="1068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g39e0add05ca_0_2"/>
          <p:cNvSpPr/>
          <p:nvPr/>
        </p:nvSpPr>
        <p:spPr>
          <a:xfrm>
            <a:off x="1215520" y="503325"/>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79" name="Google Shape;79;g39e0add05ca_0_2"/>
          <p:cNvSpPr/>
          <p:nvPr/>
        </p:nvSpPr>
        <p:spPr>
          <a:xfrm>
            <a:off x="1499365" y="503325"/>
            <a:ext cx="106800" cy="10680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g39e0add05ca_0_2"/>
          <p:cNvSpPr/>
          <p:nvPr/>
        </p:nvSpPr>
        <p:spPr>
          <a:xfrm>
            <a:off x="1499365" y="503325"/>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81" name="Google Shape;81;g39e0add05ca_0_2"/>
          <p:cNvSpPr/>
          <p:nvPr/>
        </p:nvSpPr>
        <p:spPr>
          <a:xfrm>
            <a:off x="1783210" y="503325"/>
            <a:ext cx="106800" cy="1068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9e0add05ca_0_2"/>
          <p:cNvSpPr/>
          <p:nvPr/>
        </p:nvSpPr>
        <p:spPr>
          <a:xfrm>
            <a:off x="1783210" y="503325"/>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83" name="Google Shape;83;g39e0add05ca_0_2"/>
          <p:cNvSpPr/>
          <p:nvPr/>
        </p:nvSpPr>
        <p:spPr>
          <a:xfrm>
            <a:off x="2067055" y="503325"/>
            <a:ext cx="106800" cy="10680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g39e0add05ca_0_2"/>
          <p:cNvSpPr/>
          <p:nvPr/>
        </p:nvSpPr>
        <p:spPr>
          <a:xfrm>
            <a:off x="2067055" y="503325"/>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5-d2nfat98bjvh7rlj0j20.png" id="85" name="Google Shape;85;g39e0add05ca_0_2"/>
          <p:cNvPicPr preferRelativeResize="0"/>
          <p:nvPr/>
        </p:nvPicPr>
        <p:blipFill rotWithShape="1">
          <a:blip r:embed="rId3">
            <a:alphaModFix amt="40000"/>
          </a:blip>
          <a:srcRect b="309" l="10088" r="0" t="-39"/>
          <a:stretch/>
        </p:blipFill>
        <p:spPr>
          <a:xfrm>
            <a:off x="7096125" y="-26136"/>
            <a:ext cx="5095874" cy="6884137"/>
          </a:xfrm>
          <a:prstGeom prst="rect">
            <a:avLst/>
          </a:prstGeom>
          <a:noFill/>
          <a:ln>
            <a:noFill/>
          </a:ln>
        </p:spPr>
      </p:pic>
      <p:sp>
        <p:nvSpPr>
          <p:cNvPr id="86" name="Google Shape;86;g39e0add05ca_0_2"/>
          <p:cNvSpPr txBox="1"/>
          <p:nvPr/>
        </p:nvSpPr>
        <p:spPr>
          <a:xfrm>
            <a:off x="647825" y="5401850"/>
            <a:ext cx="4551600" cy="261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1700">
                <a:solidFill>
                  <a:schemeClr val="lt1"/>
                </a:solidFill>
              </a:rPr>
              <a:t>LABORATORIO SISTEMAS OPERATIVOS 1</a:t>
            </a:r>
            <a:endParaRPr b="1" sz="1700">
              <a:solidFill>
                <a:schemeClr val="lt1"/>
              </a:solidFill>
            </a:endParaRPr>
          </a:p>
        </p:txBody>
      </p:sp>
      <p:sp>
        <p:nvSpPr>
          <p:cNvPr id="87" name="Google Shape;87;g39e0add05ca_0_2"/>
          <p:cNvSpPr txBox="1"/>
          <p:nvPr/>
        </p:nvSpPr>
        <p:spPr>
          <a:xfrm>
            <a:off x="647825" y="5730300"/>
            <a:ext cx="3490800" cy="960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200"/>
              <a:buFont typeface="Arial"/>
              <a:buNone/>
            </a:pPr>
            <a:r>
              <a:rPr b="1" lang="en-US" sz="1200">
                <a:solidFill>
                  <a:schemeClr val="lt1"/>
                </a:solidFill>
                <a:latin typeface="Open Sans"/>
                <a:ea typeface="Open Sans"/>
                <a:cs typeface="Open Sans"/>
                <a:sym typeface="Open Sans"/>
              </a:rPr>
              <a:t>E</a:t>
            </a:r>
            <a:r>
              <a:rPr b="1" i="0" lang="en-US" sz="1200" u="none" cap="none" strike="noStrike">
                <a:solidFill>
                  <a:schemeClr val="lt1"/>
                </a:solidFill>
                <a:latin typeface="Open Sans"/>
                <a:ea typeface="Open Sans"/>
                <a:cs typeface="Open Sans"/>
                <a:sym typeface="Open Sans"/>
              </a:rPr>
              <a:t>scuela de </a:t>
            </a:r>
            <a:r>
              <a:rPr b="1" lang="en-US" sz="1200">
                <a:solidFill>
                  <a:schemeClr val="lt1"/>
                </a:solidFill>
                <a:latin typeface="Open Sans"/>
                <a:ea typeface="Open Sans"/>
                <a:cs typeface="Open Sans"/>
                <a:sym typeface="Open Sans"/>
              </a:rPr>
              <a:t>Ingeniería</a:t>
            </a:r>
            <a:r>
              <a:rPr b="1" i="0" lang="en-US" sz="1200" u="none" cap="none" strike="noStrike">
                <a:solidFill>
                  <a:schemeClr val="lt1"/>
                </a:solidFill>
                <a:latin typeface="Open Sans"/>
                <a:ea typeface="Open Sans"/>
                <a:cs typeface="Open Sans"/>
                <a:sym typeface="Open Sans"/>
              </a:rPr>
              <a:t> de Ciencias Y Sistemas</a:t>
            </a:r>
            <a:endParaRPr b="1" i="0" sz="1200" u="none" cap="none" strike="noStrike">
              <a:solidFill>
                <a:schemeClr val="lt1"/>
              </a:solidFill>
              <a:latin typeface="Open Sans"/>
              <a:ea typeface="Open Sans"/>
              <a:cs typeface="Open Sans"/>
              <a:sym typeface="Open Sans"/>
            </a:endParaRPr>
          </a:p>
          <a:p>
            <a:pPr indent="0" lvl="0" marL="0" rtl="0" algn="l">
              <a:lnSpc>
                <a:spcPct val="140016"/>
              </a:lnSpc>
              <a:spcBef>
                <a:spcPts val="0"/>
              </a:spcBef>
              <a:spcAft>
                <a:spcPts val="0"/>
              </a:spcAft>
              <a:buClr>
                <a:schemeClr val="dk1"/>
              </a:buClr>
              <a:buSzPts val="1200"/>
              <a:buFont typeface="Arial"/>
              <a:buNone/>
            </a:pPr>
            <a:r>
              <a:rPr b="1" lang="en-US" sz="1200">
                <a:solidFill>
                  <a:schemeClr val="lt1"/>
                </a:solidFill>
                <a:latin typeface="Open Sans"/>
                <a:ea typeface="Open Sans"/>
                <a:cs typeface="Open Sans"/>
                <a:sym typeface="Open Sans"/>
              </a:rPr>
              <a:t>Facultad de Ingeniería</a:t>
            </a:r>
            <a:endParaRPr b="1" sz="1200">
              <a:solidFill>
                <a:schemeClr val="lt1"/>
              </a:solidFill>
              <a:latin typeface="Open Sans"/>
              <a:ea typeface="Open Sans"/>
              <a:cs typeface="Open Sans"/>
              <a:sym typeface="Open Sans"/>
            </a:endParaRPr>
          </a:p>
          <a:p>
            <a:pPr indent="0" lvl="0" marL="0" rtl="0" algn="l">
              <a:lnSpc>
                <a:spcPct val="140016"/>
              </a:lnSpc>
              <a:spcBef>
                <a:spcPts val="0"/>
              </a:spcBef>
              <a:spcAft>
                <a:spcPts val="0"/>
              </a:spcAft>
              <a:buClr>
                <a:schemeClr val="dk1"/>
              </a:buClr>
              <a:buSzPts val="1200"/>
              <a:buFont typeface="Arial"/>
              <a:buNone/>
            </a:pPr>
            <a:r>
              <a:rPr b="1" lang="en-US" sz="1200">
                <a:solidFill>
                  <a:schemeClr val="lt1"/>
                </a:solidFill>
                <a:latin typeface="Open Sans"/>
                <a:ea typeface="Open Sans"/>
                <a:cs typeface="Open Sans"/>
                <a:sym typeface="Open Sans"/>
              </a:rPr>
              <a:t>Universidad de San Carlos de Guatemala</a:t>
            </a:r>
            <a:endParaRPr b="1" sz="1200">
              <a:solidFill>
                <a:schemeClr val="lt1"/>
              </a:solidFill>
              <a:latin typeface="Open Sans"/>
              <a:ea typeface="Open Sans"/>
              <a:cs typeface="Open Sans"/>
              <a:sym typeface="Open Sans"/>
            </a:endParaRPr>
          </a:p>
          <a:p>
            <a:pPr indent="0" lvl="0" marL="0" marR="0" rtl="0" algn="l">
              <a:lnSpc>
                <a:spcPct val="140016"/>
              </a:lnSpc>
              <a:spcBef>
                <a:spcPts val="0"/>
              </a:spcBef>
              <a:spcAft>
                <a:spcPts val="0"/>
              </a:spcAft>
              <a:buClr>
                <a:srgbClr val="000000"/>
              </a:buClr>
              <a:buSzPts val="1200"/>
              <a:buFont typeface="Arial"/>
              <a:buNone/>
            </a:pPr>
            <a:r>
              <a:t/>
            </a:r>
            <a:endParaRPr b="1" sz="1200">
              <a:solidFill>
                <a:schemeClr val="lt1"/>
              </a:solidFill>
              <a:latin typeface="Open Sans"/>
              <a:ea typeface="Open Sans"/>
              <a:cs typeface="Open Sans"/>
              <a:sym typeface="Open Sans"/>
            </a:endParaRPr>
          </a:p>
        </p:txBody>
      </p:sp>
      <p:sp>
        <p:nvSpPr>
          <p:cNvPr id="88" name="Google Shape;88;g39e0add05ca_0_2"/>
          <p:cNvSpPr txBox="1"/>
          <p:nvPr/>
        </p:nvSpPr>
        <p:spPr>
          <a:xfrm>
            <a:off x="530850" y="2153661"/>
            <a:ext cx="9222900" cy="244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4900">
                <a:solidFill>
                  <a:schemeClr val="lt1"/>
                </a:solidFill>
              </a:rPr>
              <a:t>Fundamentos de Sistemas Operativos y Administración Avanzada </a:t>
            </a:r>
            <a:endParaRPr/>
          </a:p>
        </p:txBody>
      </p:sp>
      <p:pic>
        <p:nvPicPr>
          <p:cNvPr id="89" name="Google Shape;89;g39e0add05ca_0_2" title="logo-ECYS-FIUSAC-COCOCYS.png"/>
          <p:cNvPicPr preferRelativeResize="0"/>
          <p:nvPr/>
        </p:nvPicPr>
        <p:blipFill>
          <a:blip r:embed="rId4">
            <a:alphaModFix/>
          </a:blip>
          <a:stretch>
            <a:fillRect/>
          </a:stretch>
        </p:blipFill>
        <p:spPr>
          <a:xfrm>
            <a:off x="6650800" y="0"/>
            <a:ext cx="5541199" cy="6846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94" name="Shape 94"/>
        <p:cNvGrpSpPr/>
        <p:nvPr/>
      </p:nvGrpSpPr>
      <p:grpSpPr>
        <a:xfrm>
          <a:off x="0" y="0"/>
          <a:ext cx="0" cy="0"/>
          <a:chOff x="0" y="0"/>
          <a:chExt cx="0" cy="0"/>
        </a:xfrm>
      </p:grpSpPr>
      <p:sp>
        <p:nvSpPr>
          <p:cNvPr id="95" name="Google Shape;95;g3aa85397aa6_0_0"/>
          <p:cNvSpPr/>
          <p:nvPr/>
        </p:nvSpPr>
        <p:spPr>
          <a:xfrm>
            <a:off x="0" y="444488"/>
            <a:ext cx="12192000" cy="507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202124"/>
              </a:buClr>
              <a:buSzPts val="3600"/>
              <a:buFont typeface="Noto Sans SC"/>
              <a:buNone/>
            </a:pPr>
            <a:r>
              <a:rPr b="1" i="0" lang="en-US" sz="3800" u="none" cap="none" strike="noStrike">
                <a:solidFill>
                  <a:srgbClr val="202124"/>
                </a:solidFill>
                <a:latin typeface="Noto Sans SC"/>
                <a:ea typeface="Noto Sans SC"/>
                <a:cs typeface="Noto Sans SC"/>
                <a:sym typeface="Noto Sans SC"/>
              </a:rPr>
              <a:t>Agenda y Recursos</a:t>
            </a:r>
            <a:endParaRPr b="0" i="0" sz="1800" u="none" cap="none" strike="noStrike"/>
          </a:p>
        </p:txBody>
      </p:sp>
      <p:sp>
        <p:nvSpPr>
          <p:cNvPr id="96" name="Google Shape;96;g3aa85397aa6_0_0"/>
          <p:cNvSpPr/>
          <p:nvPr/>
        </p:nvSpPr>
        <p:spPr>
          <a:xfrm>
            <a:off x="965200" y="1054088"/>
            <a:ext cx="10261500" cy="304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191919"/>
              </a:buClr>
              <a:buSzPts val="1600"/>
              <a:buFont typeface="Arial"/>
              <a:buNone/>
            </a:pPr>
            <a:r>
              <a:rPr b="0" i="0" lang="en-US" sz="1800" u="none" cap="none" strike="noStrike">
                <a:solidFill>
                  <a:srgbClr val="191919"/>
                </a:solidFill>
                <a:latin typeface="Arial"/>
                <a:ea typeface="Arial"/>
                <a:cs typeface="Arial"/>
                <a:sym typeface="Arial"/>
              </a:rPr>
              <a:t>Un vistazo a los temas a tratar y la</a:t>
            </a:r>
            <a:r>
              <a:rPr lang="en-US" sz="1800">
                <a:solidFill>
                  <a:srgbClr val="191919"/>
                </a:solidFill>
              </a:rPr>
              <a:t>s</a:t>
            </a:r>
            <a:r>
              <a:rPr b="0" i="0" lang="en-US" sz="1800" u="none" cap="none" strike="noStrike">
                <a:solidFill>
                  <a:srgbClr val="191919"/>
                </a:solidFill>
                <a:latin typeface="Arial"/>
                <a:ea typeface="Arial"/>
                <a:cs typeface="Arial"/>
                <a:sym typeface="Arial"/>
              </a:rPr>
              <a:t> competencia</a:t>
            </a:r>
            <a:r>
              <a:rPr lang="en-US" sz="1800">
                <a:solidFill>
                  <a:srgbClr val="191919"/>
                </a:solidFill>
              </a:rPr>
              <a:t>s</a:t>
            </a:r>
            <a:r>
              <a:rPr b="0" i="0" lang="en-US" sz="1800" u="none" cap="none" strike="noStrike">
                <a:solidFill>
                  <a:srgbClr val="191919"/>
                </a:solidFill>
                <a:latin typeface="Arial"/>
                <a:ea typeface="Arial"/>
                <a:cs typeface="Arial"/>
                <a:sym typeface="Arial"/>
              </a:rPr>
              <a:t> principal a desarrollar.</a:t>
            </a:r>
            <a:endParaRPr b="0" i="0" sz="1800" u="none" cap="none" strike="noStrike"/>
          </a:p>
        </p:txBody>
      </p:sp>
      <p:cxnSp>
        <p:nvCxnSpPr>
          <p:cNvPr id="97" name="Google Shape;97;g3aa85397aa6_0_0"/>
          <p:cNvCxnSpPr/>
          <p:nvPr/>
        </p:nvCxnSpPr>
        <p:spPr>
          <a:xfrm>
            <a:off x="457200" y="1711438"/>
            <a:ext cx="5435700" cy="0"/>
          </a:xfrm>
          <a:prstGeom prst="straightConnector1">
            <a:avLst/>
          </a:prstGeom>
          <a:noFill/>
          <a:ln cap="flat" cmpd="sng" w="50800">
            <a:solidFill>
              <a:srgbClr val="4285F4"/>
            </a:solidFill>
            <a:prstDash val="solid"/>
            <a:round/>
            <a:headEnd len="sm" w="sm" type="none"/>
            <a:tailEnd len="sm" w="sm" type="none"/>
          </a:ln>
        </p:spPr>
      </p:cxnSp>
      <p:sp>
        <p:nvSpPr>
          <p:cNvPr id="98" name="Google Shape;98;g3aa85397aa6_0_0"/>
          <p:cNvSpPr/>
          <p:nvPr/>
        </p:nvSpPr>
        <p:spPr>
          <a:xfrm>
            <a:off x="457200" y="1965455"/>
            <a:ext cx="5435700" cy="5079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02124"/>
              </a:buClr>
              <a:buSzPts val="2000"/>
              <a:buFont typeface="Noto Sans SC"/>
              <a:buNone/>
            </a:pPr>
            <a:r>
              <a:rPr b="1" i="0" lang="en-US" sz="3100" u="none" cap="none" strike="noStrike">
                <a:solidFill>
                  <a:srgbClr val="202124"/>
                </a:solidFill>
                <a:latin typeface="Noto Sans SC"/>
                <a:ea typeface="Noto Sans SC"/>
                <a:cs typeface="Noto Sans SC"/>
                <a:sym typeface="Noto Sans SC"/>
              </a:rPr>
              <a:t>Agenda del Curso</a:t>
            </a:r>
            <a:endParaRPr b="1" i="0" sz="2700" u="none" cap="none" strike="noStrike"/>
          </a:p>
        </p:txBody>
      </p:sp>
      <p:cxnSp>
        <p:nvCxnSpPr>
          <p:cNvPr id="99" name="Google Shape;99;g3aa85397aa6_0_0"/>
          <p:cNvCxnSpPr/>
          <p:nvPr/>
        </p:nvCxnSpPr>
        <p:spPr>
          <a:xfrm>
            <a:off x="6299200" y="1711438"/>
            <a:ext cx="5435700" cy="0"/>
          </a:xfrm>
          <a:prstGeom prst="straightConnector1">
            <a:avLst/>
          </a:prstGeom>
          <a:noFill/>
          <a:ln cap="flat" cmpd="sng" w="50800">
            <a:solidFill>
              <a:srgbClr val="888B8D"/>
            </a:solidFill>
            <a:prstDash val="solid"/>
            <a:round/>
            <a:headEnd len="sm" w="sm" type="none"/>
            <a:tailEnd len="sm" w="sm" type="none"/>
          </a:ln>
        </p:spPr>
      </p:cxnSp>
      <p:sp>
        <p:nvSpPr>
          <p:cNvPr id="100" name="Google Shape;100;g3aa85397aa6_0_0"/>
          <p:cNvSpPr/>
          <p:nvPr/>
        </p:nvSpPr>
        <p:spPr>
          <a:xfrm>
            <a:off x="6400800" y="1965454"/>
            <a:ext cx="5334000" cy="5079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02124"/>
              </a:buClr>
              <a:buSzPts val="2000"/>
              <a:buFont typeface="Noto Sans SC"/>
              <a:buNone/>
            </a:pPr>
            <a:r>
              <a:rPr b="1" i="0" lang="en-US" sz="3100" u="none" cap="none" strike="noStrike">
                <a:solidFill>
                  <a:srgbClr val="202124"/>
                </a:solidFill>
                <a:latin typeface="Noto Sans SC"/>
                <a:ea typeface="Noto Sans SC"/>
                <a:cs typeface="Noto Sans SC"/>
                <a:sym typeface="Noto Sans SC"/>
              </a:rPr>
              <a:t>Recursos: </a:t>
            </a:r>
            <a:endParaRPr b="0" i="0" sz="2700" u="none" cap="none" strike="noStrike"/>
          </a:p>
        </p:txBody>
      </p:sp>
      <p:pic>
        <p:nvPicPr>
          <p:cNvPr id="101" name="Google Shape;101;g3aa85397aa6_0_0" title="BUHOADSFA-Photoroom.png"/>
          <p:cNvPicPr preferRelativeResize="0"/>
          <p:nvPr/>
        </p:nvPicPr>
        <p:blipFill>
          <a:blip r:embed="rId3">
            <a:alphaModFix/>
          </a:blip>
          <a:stretch>
            <a:fillRect/>
          </a:stretch>
        </p:blipFill>
        <p:spPr>
          <a:xfrm>
            <a:off x="0" y="-6"/>
            <a:ext cx="863600" cy="1068968"/>
          </a:xfrm>
          <a:prstGeom prst="rect">
            <a:avLst/>
          </a:prstGeom>
          <a:noFill/>
          <a:ln>
            <a:noFill/>
          </a:ln>
        </p:spPr>
      </p:pic>
      <p:sp>
        <p:nvSpPr>
          <p:cNvPr id="102" name="Google Shape;102;g3aa85397aa6_0_0"/>
          <p:cNvSpPr txBox="1"/>
          <p:nvPr/>
        </p:nvSpPr>
        <p:spPr>
          <a:xfrm>
            <a:off x="457100" y="2567250"/>
            <a:ext cx="5435700" cy="3051900"/>
          </a:xfrm>
          <a:prstGeom prst="rect">
            <a:avLst/>
          </a:prstGeom>
          <a:noFill/>
          <a:ln>
            <a:noFill/>
          </a:ln>
        </p:spPr>
        <p:txBody>
          <a:bodyPr anchorCtr="0" anchor="t" bIns="91425" lIns="91425" spcFirstLastPara="1" rIns="91425" wrap="square" tIns="91425">
            <a:noAutofit/>
          </a:bodyPr>
          <a:lstStyle/>
          <a:p>
            <a:pPr indent="-400050" lvl="0" marL="457200" rtl="0" algn="l">
              <a:spcBef>
                <a:spcPts val="0"/>
              </a:spcBef>
              <a:spcAft>
                <a:spcPts val="0"/>
              </a:spcAft>
              <a:buSzPts val="2700"/>
              <a:buChar char="●"/>
            </a:pPr>
            <a:r>
              <a:rPr lang="en-US" sz="2700"/>
              <a:t>NOTIFICACIONES IMPORTANTES</a:t>
            </a:r>
            <a:endParaRPr sz="2700"/>
          </a:p>
          <a:p>
            <a:pPr indent="-400050" lvl="0" marL="457200" rtl="0" algn="l">
              <a:spcBef>
                <a:spcPts val="0"/>
              </a:spcBef>
              <a:spcAft>
                <a:spcPts val="0"/>
              </a:spcAft>
              <a:buSzPts val="2700"/>
              <a:buChar char="●"/>
            </a:pPr>
            <a:r>
              <a:rPr lang="en-US" sz="2700"/>
              <a:t>TEMAS A VER </a:t>
            </a:r>
            <a:endParaRPr sz="2700"/>
          </a:p>
          <a:p>
            <a:pPr indent="-400050" lvl="0" marL="457200" rtl="0" algn="l">
              <a:spcBef>
                <a:spcPts val="0"/>
              </a:spcBef>
              <a:spcAft>
                <a:spcPts val="0"/>
              </a:spcAft>
              <a:buSzPts val="2700"/>
              <a:buChar char="●"/>
            </a:pPr>
            <a:r>
              <a:rPr lang="en-US" sz="2700"/>
              <a:t>Multibuild stage</a:t>
            </a:r>
            <a:endParaRPr sz="2700"/>
          </a:p>
          <a:p>
            <a:pPr indent="-400050" lvl="0" marL="457200" rtl="0" algn="l">
              <a:spcBef>
                <a:spcPts val="0"/>
              </a:spcBef>
              <a:spcAft>
                <a:spcPts val="0"/>
              </a:spcAft>
              <a:buSzPts val="2700"/>
              <a:buChar char="●"/>
            </a:pPr>
            <a:r>
              <a:rPr lang="en-US" sz="2700"/>
              <a:t>EJEMPLO PRACTICO</a:t>
            </a:r>
            <a:endParaRPr sz="2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sp>
        <p:nvSpPr>
          <p:cNvPr id="108" name="Google Shape;108;g3aa85397aa6_0_19"/>
          <p:cNvSpPr/>
          <p:nvPr/>
        </p:nvSpPr>
        <p:spPr>
          <a:xfrm>
            <a:off x="1554480" y="3347085"/>
            <a:ext cx="9086100" cy="1646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111111"/>
              </a:buClr>
              <a:buSzPts val="1800"/>
              <a:buFont typeface="Arial"/>
              <a:buNone/>
            </a:pPr>
            <a:r>
              <a:rPr b="0" i="0" lang="en-US" sz="1800" u="none" cap="none" strike="noStrike">
                <a:solidFill>
                  <a:srgbClr val="111111"/>
                </a:solidFill>
                <a:latin typeface="Arial"/>
                <a:ea typeface="Arial"/>
                <a:cs typeface="Arial"/>
                <a:sym typeface="Arial"/>
              </a:rPr>
              <a:t>El estudiante desarrolla proyectos que integran máquinas virtuales y contenedores, utilizando tecnologías como Docker, Containerd, Harbor y Zot, para comprender el ciclo de vida completo de despliegue, gestión y distribución de servicios en entornos modernos.</a:t>
            </a:r>
            <a:endParaRPr b="0" i="0" sz="1600" u="none" cap="none" strike="noStrike"/>
          </a:p>
        </p:txBody>
      </p:sp>
      <p:sp>
        <p:nvSpPr>
          <p:cNvPr id="109" name="Google Shape;109;g3aa85397aa6_0_19"/>
          <p:cNvSpPr/>
          <p:nvPr/>
        </p:nvSpPr>
        <p:spPr>
          <a:xfrm>
            <a:off x="1143000" y="1673860"/>
            <a:ext cx="9906000" cy="4343400"/>
          </a:xfrm>
          <a:prstGeom prst="roundRect">
            <a:avLst>
              <a:gd fmla="val 4487" name="adj"/>
            </a:avLst>
          </a:prstGeom>
          <a:solidFill>
            <a:srgbClr val="000000">
              <a:alpha val="0"/>
            </a:srgbClr>
          </a:solidFill>
          <a:ln cap="flat" cmpd="sng" w="19050">
            <a:solidFill>
              <a:srgbClr val="2323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g3aa85397aa6_0_19"/>
          <p:cNvSpPr/>
          <p:nvPr/>
        </p:nvSpPr>
        <p:spPr>
          <a:xfrm>
            <a:off x="1302375" y="1673860"/>
            <a:ext cx="9906000" cy="43434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111" name="Google Shape;111;g3aa85397aa6_0_19"/>
          <p:cNvSpPr/>
          <p:nvPr/>
        </p:nvSpPr>
        <p:spPr>
          <a:xfrm>
            <a:off x="1143000" y="1673860"/>
            <a:ext cx="7970520" cy="594360"/>
          </a:xfrm>
          <a:custGeom>
            <a:rect b="b" l="l" r="r" t="t"/>
            <a:pathLst>
              <a:path extrusionOk="0" h="594360" w="7970520">
                <a:moveTo>
                  <a:pt x="194945" y="0"/>
                </a:moveTo>
                <a:lnTo>
                  <a:pt x="7673340" y="0"/>
                </a:lnTo>
                <a:cubicBezTo>
                  <a:pt x="7840345" y="-5080"/>
                  <a:pt x="7974330" y="147320"/>
                  <a:pt x="7970520" y="297180"/>
                </a:cubicBezTo>
                <a:cubicBezTo>
                  <a:pt x="7975600" y="464185"/>
                  <a:pt x="7823200" y="598170"/>
                  <a:pt x="7673340" y="594360"/>
                </a:cubicBezTo>
                <a:lnTo>
                  <a:pt x="0" y="594360"/>
                </a:lnTo>
                <a:lnTo>
                  <a:pt x="0" y="194945"/>
                </a:lnTo>
                <a:cubicBezTo>
                  <a:pt x="-3175" y="85725"/>
                  <a:pt x="96520" y="-2540"/>
                  <a:pt x="194945" y="0"/>
                </a:cubicBezTo>
                <a:close/>
              </a:path>
            </a:pathLst>
          </a:custGeom>
          <a:gradFill>
            <a:gsLst>
              <a:gs pos="0">
                <a:srgbClr val="232323"/>
              </a:gs>
              <a:gs pos="100000">
                <a:srgbClr val="91919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g3aa85397aa6_0_19"/>
          <p:cNvSpPr/>
          <p:nvPr/>
        </p:nvSpPr>
        <p:spPr>
          <a:xfrm>
            <a:off x="1143000" y="1673860"/>
            <a:ext cx="7970400" cy="5943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cxnSp>
        <p:nvCxnSpPr>
          <p:cNvPr id="113" name="Google Shape;113;g3aa85397aa6_0_19"/>
          <p:cNvCxnSpPr/>
          <p:nvPr/>
        </p:nvCxnSpPr>
        <p:spPr>
          <a:xfrm rot="10800000">
            <a:off x="1143000" y="2260600"/>
            <a:ext cx="9906000" cy="0"/>
          </a:xfrm>
          <a:prstGeom prst="straightConnector1">
            <a:avLst/>
          </a:prstGeom>
          <a:noFill/>
          <a:ln cap="flat" cmpd="sng" w="12700">
            <a:solidFill>
              <a:srgbClr val="232323"/>
            </a:solidFill>
            <a:prstDash val="solid"/>
            <a:round/>
            <a:headEnd len="sm" w="sm" type="none"/>
            <a:tailEnd len="sm" w="sm" type="none"/>
          </a:ln>
        </p:spPr>
      </p:cxnSp>
      <p:sp>
        <p:nvSpPr>
          <p:cNvPr id="114" name="Google Shape;114;g3aa85397aa6_0_19"/>
          <p:cNvSpPr/>
          <p:nvPr/>
        </p:nvSpPr>
        <p:spPr>
          <a:xfrm flipH="1" rot="10800000">
            <a:off x="10031730" y="1910080"/>
            <a:ext cx="641400" cy="76200"/>
          </a:xfrm>
          <a:prstGeom prst="roundRect">
            <a:avLst>
              <a:gd fmla="val 50000" name="adj"/>
            </a:avLst>
          </a:prstGeom>
          <a:gradFill>
            <a:gsLst>
              <a:gs pos="0">
                <a:srgbClr val="232323"/>
              </a:gs>
              <a:gs pos="100000">
                <a:srgbClr val="91919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3aa85397aa6_0_19"/>
          <p:cNvSpPr/>
          <p:nvPr/>
        </p:nvSpPr>
        <p:spPr>
          <a:xfrm>
            <a:off x="10031730" y="1910080"/>
            <a:ext cx="641400" cy="762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116" name="Google Shape;116;g3aa85397aa6_0_19"/>
          <p:cNvSpPr/>
          <p:nvPr/>
        </p:nvSpPr>
        <p:spPr>
          <a:xfrm flipH="1" rot="10800000">
            <a:off x="9930130" y="1910080"/>
            <a:ext cx="75600" cy="76200"/>
          </a:xfrm>
          <a:prstGeom prst="roundRect">
            <a:avLst>
              <a:gd fmla="val 50000" name="adj"/>
            </a:avLst>
          </a:prstGeom>
          <a:gradFill>
            <a:gsLst>
              <a:gs pos="0">
                <a:srgbClr val="232323"/>
              </a:gs>
              <a:gs pos="100000">
                <a:srgbClr val="91919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3aa85397aa6_0_19"/>
          <p:cNvSpPr/>
          <p:nvPr/>
        </p:nvSpPr>
        <p:spPr>
          <a:xfrm>
            <a:off x="9930130" y="1910080"/>
            <a:ext cx="75600" cy="762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118" name="Google Shape;118;g3aa85397aa6_0_19"/>
          <p:cNvSpPr/>
          <p:nvPr/>
        </p:nvSpPr>
        <p:spPr>
          <a:xfrm flipH="1" rot="10800000">
            <a:off x="1143000" y="5818360"/>
            <a:ext cx="9907200" cy="198900"/>
          </a:xfrm>
          <a:prstGeom prst="round2SameRect">
            <a:avLst>
              <a:gd fmla="val 50000" name="adj1"/>
              <a:gd fmla="val 0" name="adj2"/>
            </a:avLst>
          </a:prstGeom>
          <a:gradFill>
            <a:gsLst>
              <a:gs pos="0">
                <a:srgbClr val="232323"/>
              </a:gs>
              <a:gs pos="100000">
                <a:srgbClr val="5A5A5A"/>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g3aa85397aa6_0_19"/>
          <p:cNvSpPr/>
          <p:nvPr/>
        </p:nvSpPr>
        <p:spPr>
          <a:xfrm>
            <a:off x="1143000" y="5818505"/>
            <a:ext cx="9907200" cy="1989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120" name="Google Shape;120;g3aa85397aa6_0_19"/>
          <p:cNvSpPr/>
          <p:nvPr/>
        </p:nvSpPr>
        <p:spPr>
          <a:xfrm>
            <a:off x="1702101" y="678827"/>
            <a:ext cx="8970900" cy="594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COMPETENCIAS</a:t>
            </a:r>
            <a:endParaRPr b="0" i="0" sz="1600" u="none" cap="none" strike="noStrike"/>
          </a:p>
        </p:txBody>
      </p:sp>
      <p:pic>
        <p:nvPicPr>
          <p:cNvPr descr="https://kimi-img.moonshot.cn/pub/slides/slides_tmpl/image/25-08-27-20:09:25-d2nfat98bjvh7rlj0j30.png" id="121" name="Google Shape;121;g3aa85397aa6_0_19"/>
          <p:cNvPicPr preferRelativeResize="0"/>
          <p:nvPr/>
        </p:nvPicPr>
        <p:blipFill rotWithShape="1">
          <a:blip r:embed="rId3">
            <a:alphaModFix/>
          </a:blip>
          <a:srcRect b="0" l="0" r="0" t="0"/>
          <a:stretch/>
        </p:blipFill>
        <p:spPr>
          <a:xfrm>
            <a:off x="1142992" y="745020"/>
            <a:ext cx="533400" cy="368300"/>
          </a:xfrm>
          <a:prstGeom prst="rect">
            <a:avLst/>
          </a:prstGeom>
          <a:noFill/>
          <a:ln>
            <a:noFill/>
          </a:ln>
        </p:spPr>
      </p:pic>
      <p:pic>
        <p:nvPicPr>
          <p:cNvPr id="122" name="Google Shape;122;g3aa85397aa6_0_19" title="BUHOADSFA-Photoroom.png"/>
          <p:cNvPicPr preferRelativeResize="0"/>
          <p:nvPr/>
        </p:nvPicPr>
        <p:blipFill>
          <a:blip r:embed="rId4">
            <a:alphaModFix/>
          </a:blip>
          <a:stretch>
            <a:fillRect/>
          </a:stretch>
        </p:blipFill>
        <p:spPr>
          <a:xfrm>
            <a:off x="0" y="-6"/>
            <a:ext cx="863600" cy="106896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127" name="Shape 127"/>
        <p:cNvGrpSpPr/>
        <p:nvPr/>
      </p:nvGrpSpPr>
      <p:grpSpPr>
        <a:xfrm>
          <a:off x="0" y="0"/>
          <a:ext cx="0" cy="0"/>
          <a:chOff x="0" y="0"/>
          <a:chExt cx="0" cy="0"/>
        </a:xfrm>
      </p:grpSpPr>
      <p:pic>
        <p:nvPicPr>
          <p:cNvPr descr="https://kimi-img.moonshot.cn/pub/slides/slides_tmpl/image/25-08-27-20:09:25-d2nfat98bjvh7rlj0j2g.png" id="128" name="Google Shape;128;p4"/>
          <p:cNvPicPr preferRelativeResize="0"/>
          <p:nvPr/>
        </p:nvPicPr>
        <p:blipFill rotWithShape="1">
          <a:blip r:embed="rId3">
            <a:alphaModFix/>
          </a:blip>
          <a:srcRect b="0" l="0" r="0" t="0"/>
          <a:stretch/>
        </p:blipFill>
        <p:spPr>
          <a:xfrm>
            <a:off x="723900" y="1514475"/>
            <a:ext cx="4189095" cy="3772535"/>
          </a:xfrm>
          <a:prstGeom prst="rect">
            <a:avLst/>
          </a:prstGeom>
          <a:noFill/>
          <a:ln>
            <a:noFill/>
          </a:ln>
        </p:spPr>
      </p:pic>
      <p:sp>
        <p:nvSpPr>
          <p:cNvPr id="129" name="Google Shape;129;p4"/>
          <p:cNvSpPr/>
          <p:nvPr/>
        </p:nvSpPr>
        <p:spPr>
          <a:xfrm>
            <a:off x="5384165" y="3196590"/>
            <a:ext cx="5415915" cy="119888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p:nvPr/>
        </p:nvSpPr>
        <p:spPr>
          <a:xfrm>
            <a:off x="5384165" y="3196590"/>
            <a:ext cx="5415915" cy="1198880"/>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Clr>
                <a:srgbClr val="FFFFFF"/>
              </a:buClr>
              <a:buSzPts val="3600"/>
              <a:buFont typeface="Arial"/>
              <a:buNone/>
            </a:pPr>
            <a:r>
              <a:rPr b="1" lang="en-US" sz="3600">
                <a:solidFill>
                  <a:srgbClr val="FFFFFF"/>
                </a:solidFill>
              </a:rPr>
              <a:t>Contenido</a:t>
            </a:r>
            <a:endParaRPr b="0" i="0" sz="1600" u="none" cap="none" strike="noStrike"/>
          </a:p>
        </p:txBody>
      </p:sp>
      <p:sp>
        <p:nvSpPr>
          <p:cNvPr id="131" name="Google Shape;131;p4"/>
          <p:cNvSpPr/>
          <p:nvPr/>
        </p:nvSpPr>
        <p:spPr>
          <a:xfrm>
            <a:off x="5384165" y="1945640"/>
            <a:ext cx="3390265" cy="1104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FFFF"/>
              </a:buClr>
              <a:buSzPts val="7200"/>
              <a:buFont typeface="Arial"/>
              <a:buNone/>
            </a:pPr>
            <a:r>
              <a:rPr b="0" i="0" lang="en-US" sz="7200" u="none" cap="none" strike="noStrike">
                <a:solidFill>
                  <a:srgbClr val="FFFFFF"/>
                </a:solidFill>
                <a:latin typeface="Arial"/>
                <a:ea typeface="Arial"/>
                <a:cs typeface="Arial"/>
                <a:sym typeface="Arial"/>
              </a:rPr>
              <a:t>01</a:t>
            </a:r>
            <a:endParaRPr b="0" i="0" sz="1600" u="none" cap="none" strike="noStrike"/>
          </a:p>
        </p:txBody>
      </p:sp>
      <p:pic>
        <p:nvPicPr>
          <p:cNvPr id="132" name="Google Shape;132;p4" title="BUHOADSFA-Photoroom.png"/>
          <p:cNvPicPr preferRelativeResize="0"/>
          <p:nvPr/>
        </p:nvPicPr>
        <p:blipFill>
          <a:blip r:embed="rId4">
            <a:alphaModFix/>
          </a:blip>
          <a:stretch>
            <a:fillRect/>
          </a:stretch>
        </p:blipFill>
        <p:spPr>
          <a:xfrm>
            <a:off x="0" y="-6"/>
            <a:ext cx="863600" cy="106896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sp>
        <p:nvSpPr>
          <p:cNvPr id="138" name="Google Shape;138;p5"/>
          <p:cNvSpPr/>
          <p:nvPr/>
        </p:nvSpPr>
        <p:spPr>
          <a:xfrm flipH="1">
            <a:off x="0" y="1424940"/>
            <a:ext cx="7891780" cy="1828800"/>
          </a:xfrm>
          <a:prstGeom prst="rect">
            <a:avLst/>
          </a:prstGeom>
          <a:solidFill>
            <a:srgbClr val="0D0D0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
          <p:cNvSpPr/>
          <p:nvPr/>
        </p:nvSpPr>
        <p:spPr>
          <a:xfrm>
            <a:off x="0" y="1424940"/>
            <a:ext cx="7891780" cy="1828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cxnSp>
        <p:nvCxnSpPr>
          <p:cNvPr id="140" name="Google Shape;140;p5"/>
          <p:cNvCxnSpPr/>
          <p:nvPr/>
        </p:nvCxnSpPr>
        <p:spPr>
          <a:xfrm>
            <a:off x="648335" y="4853305"/>
            <a:ext cx="6416040" cy="0"/>
          </a:xfrm>
          <a:prstGeom prst="straightConnector1">
            <a:avLst/>
          </a:prstGeom>
          <a:noFill/>
          <a:ln cap="flat" cmpd="sng" w="12700">
            <a:solidFill>
              <a:srgbClr val="111111"/>
            </a:solidFill>
            <a:prstDash val="dash"/>
            <a:round/>
            <a:headEnd len="sm" w="sm" type="none"/>
            <a:tailEnd len="sm" w="sm" type="none"/>
          </a:ln>
        </p:spPr>
      </p:cxnSp>
      <p:sp>
        <p:nvSpPr>
          <p:cNvPr id="141" name="Google Shape;141;p5"/>
          <p:cNvSpPr/>
          <p:nvPr/>
        </p:nvSpPr>
        <p:spPr>
          <a:xfrm>
            <a:off x="962350" y="292913"/>
            <a:ext cx="10534800" cy="109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Definición y analogía de </a:t>
            </a:r>
            <a:endParaRPr b="1" i="0" sz="3200" u="none" cap="none" strike="noStrike">
              <a:solidFill>
                <a:srgbClr val="111111"/>
              </a:solidFill>
              <a:latin typeface="Arial"/>
              <a:ea typeface="Arial"/>
              <a:cs typeface="Arial"/>
              <a:sym typeface="Arial"/>
            </a:endParaRPr>
          </a:p>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contenedores</a:t>
            </a:r>
            <a:endParaRPr b="0" i="0" sz="1600" u="none" cap="none" strike="noStrike"/>
          </a:p>
        </p:txBody>
      </p:sp>
      <p:pic>
        <p:nvPicPr>
          <p:cNvPr descr="https://kimi-img.moonshot.cn/pub/slides/slides_tmpl/image/25-08-27-20:09:25-d2nfat98bjvh7rlj0j30.png" id="142" name="Google Shape;142;p5"/>
          <p:cNvPicPr preferRelativeResize="0"/>
          <p:nvPr/>
        </p:nvPicPr>
        <p:blipFill rotWithShape="1">
          <a:blip r:embed="rId3">
            <a:alphaModFix/>
          </a:blip>
          <a:srcRect b="0" l="0" r="0" t="0"/>
          <a:stretch/>
        </p:blipFill>
        <p:spPr>
          <a:xfrm>
            <a:off x="428942" y="580481"/>
            <a:ext cx="533400" cy="368300"/>
          </a:xfrm>
          <a:prstGeom prst="rect">
            <a:avLst/>
          </a:prstGeom>
          <a:noFill/>
          <a:ln>
            <a:noFill/>
          </a:ln>
        </p:spPr>
      </p:pic>
      <p:sp>
        <p:nvSpPr>
          <p:cNvPr id="143" name="Google Shape;143;p5"/>
          <p:cNvSpPr/>
          <p:nvPr/>
        </p:nvSpPr>
        <p:spPr>
          <a:xfrm>
            <a:off x="648335" y="1595755"/>
            <a:ext cx="6416040"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Definición</a:t>
            </a:r>
            <a:endParaRPr b="0" i="0" sz="1600" u="none" cap="none" strike="noStrike"/>
          </a:p>
        </p:txBody>
      </p:sp>
      <p:sp>
        <p:nvSpPr>
          <p:cNvPr id="144" name="Google Shape;144;p5"/>
          <p:cNvSpPr/>
          <p:nvPr/>
        </p:nvSpPr>
        <p:spPr>
          <a:xfrm>
            <a:off x="648335" y="1999615"/>
            <a:ext cx="6416040" cy="1091406"/>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Los contenedores son paquetes de software autocontenidos que incluyen todo lo necesario para ejecutar una aplicación: código, librerías y dependencias. Esto garantiza que las aplicaciones se ejecuten de manera consistente en diferentes entornos.</a:t>
            </a:r>
            <a:endParaRPr b="0" i="0" sz="1600" u="none" cap="none" strike="noStrike"/>
          </a:p>
        </p:txBody>
      </p:sp>
      <p:sp>
        <p:nvSpPr>
          <p:cNvPr id="145" name="Google Shape;145;p5"/>
          <p:cNvSpPr/>
          <p:nvPr/>
        </p:nvSpPr>
        <p:spPr>
          <a:xfrm>
            <a:off x="648335" y="3294380"/>
            <a:ext cx="6416040"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Analogía con contenedores de carga</a:t>
            </a:r>
            <a:endParaRPr b="0" i="0" sz="1600" u="none" cap="none" strike="noStrike"/>
          </a:p>
        </p:txBody>
      </p:sp>
      <p:sp>
        <p:nvSpPr>
          <p:cNvPr id="146" name="Google Shape;146;p5"/>
          <p:cNvSpPr/>
          <p:nvPr/>
        </p:nvSpPr>
        <p:spPr>
          <a:xfrm>
            <a:off x="648335" y="3679190"/>
            <a:ext cx="6416040" cy="1091406"/>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Así como los contenedores de carga facilitan el transporte de mercancías, los contenedores de software simplifican la distribución y el despliegue de aplicaciones. Ambos estandarizan el proceso y eliminan la fricción entre diferentes entornos.</a:t>
            </a:r>
            <a:endParaRPr b="0" i="0" sz="1600" u="none" cap="none" strike="noStrike"/>
          </a:p>
        </p:txBody>
      </p:sp>
      <p:sp>
        <p:nvSpPr>
          <p:cNvPr id="147" name="Google Shape;147;p5"/>
          <p:cNvSpPr/>
          <p:nvPr/>
        </p:nvSpPr>
        <p:spPr>
          <a:xfrm>
            <a:off x="648335" y="5013325"/>
            <a:ext cx="6416040"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Beneficios clave</a:t>
            </a:r>
            <a:endParaRPr b="0" i="0" sz="1600" u="none" cap="none" strike="noStrike"/>
          </a:p>
        </p:txBody>
      </p:sp>
      <p:sp>
        <p:nvSpPr>
          <p:cNvPr id="148" name="Google Shape;148;p5"/>
          <p:cNvSpPr/>
          <p:nvPr/>
        </p:nvSpPr>
        <p:spPr>
          <a:xfrm>
            <a:off x="648335" y="5398135"/>
            <a:ext cx="6416040" cy="1091406"/>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Los contenedores ofrecen portabilidad, escalabilidad, eficiencia y aislamiento. Permiten que las aplicaciones se ejecuten de manera consistente en la nube, servidores físicos y estaciones de trabajo, optimizando el uso de recursos y mejorando la seguridad.</a:t>
            </a:r>
            <a:endParaRPr b="0" i="0" sz="1600" u="none" cap="none" strike="noStrike"/>
          </a:p>
        </p:txBody>
      </p:sp>
      <p:pic>
        <p:nvPicPr>
          <p:cNvPr id="149" name="Google Shape;149;p5"/>
          <p:cNvPicPr preferRelativeResize="0"/>
          <p:nvPr/>
        </p:nvPicPr>
        <p:blipFill rotWithShape="1">
          <a:blip r:embed="rId4">
            <a:alphaModFix/>
          </a:blip>
          <a:srcRect b="2867" l="4752" r="4552" t="24904"/>
          <a:stretch/>
        </p:blipFill>
        <p:spPr>
          <a:xfrm rot="5400000">
            <a:off x="6814100" y="1485800"/>
            <a:ext cx="6463050" cy="40773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 name="Shape 154"/>
        <p:cNvGrpSpPr/>
        <p:nvPr/>
      </p:nvGrpSpPr>
      <p:grpSpPr>
        <a:xfrm>
          <a:off x="0" y="0"/>
          <a:ext cx="0" cy="0"/>
          <a:chOff x="0" y="0"/>
          <a:chExt cx="0" cy="0"/>
        </a:xfrm>
      </p:grpSpPr>
      <p:pic>
        <p:nvPicPr>
          <p:cNvPr descr="https://kimi-img.moonshot.cn/pub/slides/slides_tmpl/image/25-08-27-20:09:26-d2nfath8bjvh7rlj0j5g.png" id="155" name="Google Shape;155;p6"/>
          <p:cNvPicPr preferRelativeResize="0"/>
          <p:nvPr/>
        </p:nvPicPr>
        <p:blipFill rotWithShape="1">
          <a:blip r:embed="rId3">
            <a:alphaModFix/>
          </a:blip>
          <a:srcRect b="0" l="0" r="0" t="0"/>
          <a:stretch/>
        </p:blipFill>
        <p:spPr>
          <a:xfrm>
            <a:off x="2719070" y="3652520"/>
            <a:ext cx="603250" cy="603250"/>
          </a:xfrm>
          <a:prstGeom prst="rect">
            <a:avLst/>
          </a:prstGeom>
          <a:noFill/>
          <a:ln>
            <a:noFill/>
          </a:ln>
        </p:spPr>
      </p:pic>
      <p:sp>
        <p:nvSpPr>
          <p:cNvPr id="156" name="Google Shape;156;p6"/>
          <p:cNvSpPr/>
          <p:nvPr/>
        </p:nvSpPr>
        <p:spPr>
          <a:xfrm>
            <a:off x="988060" y="704215"/>
            <a:ext cx="10534650" cy="49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Beneficios clave del uso de contenedores</a:t>
            </a:r>
            <a:endParaRPr b="0" i="0" sz="1600" u="none" cap="none" strike="noStrike"/>
          </a:p>
        </p:txBody>
      </p:sp>
      <p:pic>
        <p:nvPicPr>
          <p:cNvPr descr="https://kimi-img.moonshot.cn/pub/slides/slides_tmpl/image/25-08-27-20:09:25-d2nfat98bjvh7rlj0j30.png" id="157" name="Google Shape;157;p6"/>
          <p:cNvPicPr preferRelativeResize="0"/>
          <p:nvPr/>
        </p:nvPicPr>
        <p:blipFill rotWithShape="1">
          <a:blip r:embed="rId4">
            <a:alphaModFix/>
          </a:blip>
          <a:srcRect b="0" l="0" r="0" t="0"/>
          <a:stretch/>
        </p:blipFill>
        <p:spPr>
          <a:xfrm>
            <a:off x="428942" y="770420"/>
            <a:ext cx="533400" cy="368300"/>
          </a:xfrm>
          <a:prstGeom prst="rect">
            <a:avLst/>
          </a:prstGeom>
          <a:noFill/>
          <a:ln>
            <a:noFill/>
          </a:ln>
        </p:spPr>
      </p:pic>
      <p:sp>
        <p:nvSpPr>
          <p:cNvPr id="158" name="Google Shape;158;p6"/>
          <p:cNvSpPr/>
          <p:nvPr/>
        </p:nvSpPr>
        <p:spPr>
          <a:xfrm>
            <a:off x="5440680" y="2008505"/>
            <a:ext cx="584835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1800"/>
              <a:buFont typeface="Arial"/>
              <a:buNone/>
            </a:pPr>
            <a:r>
              <a:rPr b="1" i="0" lang="en-US" sz="1800" u="none" cap="none" strike="noStrike">
                <a:solidFill>
                  <a:srgbClr val="111111"/>
                </a:solidFill>
                <a:latin typeface="Arial"/>
                <a:ea typeface="Arial"/>
                <a:cs typeface="Arial"/>
                <a:sym typeface="Arial"/>
              </a:rPr>
              <a:t>Portabilidad y escalabilidad</a:t>
            </a:r>
            <a:endParaRPr b="0" i="0" sz="1600" u="none" cap="none" strike="noStrike"/>
          </a:p>
        </p:txBody>
      </p:sp>
      <p:sp>
        <p:nvSpPr>
          <p:cNvPr id="159" name="Google Shape;159;p6"/>
          <p:cNvSpPr/>
          <p:nvPr/>
        </p:nvSpPr>
        <p:spPr>
          <a:xfrm>
            <a:off x="5440680" y="2394585"/>
            <a:ext cx="5848350" cy="128031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Los contenedores permiten que las aplicaciones se ejecuten de manera consistente en diferentes entornos, desde la nube hasta servidores físicos. Además, pueden escalarse rápidamente para adaptarse a las necesidades cambiantes de la carga de trabajo.</a:t>
            </a:r>
            <a:endParaRPr b="0" i="0" sz="1600" u="none" cap="none" strike="noStrike"/>
          </a:p>
        </p:txBody>
      </p:sp>
      <p:sp>
        <p:nvSpPr>
          <p:cNvPr id="160" name="Google Shape;160;p6"/>
          <p:cNvSpPr/>
          <p:nvPr/>
        </p:nvSpPr>
        <p:spPr>
          <a:xfrm>
            <a:off x="5440680" y="4078605"/>
            <a:ext cx="584835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1800"/>
              <a:buFont typeface="Arial"/>
              <a:buNone/>
            </a:pPr>
            <a:r>
              <a:rPr b="1" i="0" lang="en-US" sz="1800" u="none" cap="none" strike="noStrike">
                <a:solidFill>
                  <a:srgbClr val="111111"/>
                </a:solidFill>
                <a:latin typeface="Arial"/>
                <a:ea typeface="Arial"/>
                <a:cs typeface="Arial"/>
                <a:sym typeface="Arial"/>
              </a:rPr>
              <a:t>Eficiencia y aislamiento</a:t>
            </a:r>
            <a:endParaRPr b="0" i="0" sz="1600" u="none" cap="none" strike="noStrike"/>
          </a:p>
        </p:txBody>
      </p:sp>
      <p:sp>
        <p:nvSpPr>
          <p:cNvPr id="161" name="Google Shape;161;p6"/>
          <p:cNvSpPr/>
          <p:nvPr/>
        </p:nvSpPr>
        <p:spPr>
          <a:xfrm>
            <a:off x="5440680" y="4464685"/>
            <a:ext cx="5848350" cy="160039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Al encapsular todo lo necesario para ejecutar una aplicación, los contenedores optimizan el uso de recursos y reducen el tiempo de configuración y despliegue. Cada contenedor se ejecuta de manera aislada, mejorando la seguridad y evitando conflictos entre aplicaciones.</a:t>
            </a:r>
            <a:endParaRPr b="0" i="0" sz="1600" u="none" cap="none" strike="noStrike"/>
          </a:p>
        </p:txBody>
      </p:sp>
      <p:pic>
        <p:nvPicPr>
          <p:cNvPr id="162" name="Google Shape;162;p6"/>
          <p:cNvPicPr preferRelativeResize="0"/>
          <p:nvPr/>
        </p:nvPicPr>
        <p:blipFill>
          <a:blip r:embed="rId5">
            <a:alphaModFix/>
          </a:blip>
          <a:stretch>
            <a:fillRect/>
          </a:stretch>
        </p:blipFill>
        <p:spPr>
          <a:xfrm>
            <a:off x="744825" y="2406967"/>
            <a:ext cx="4020500" cy="3094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7" name="Shape 167"/>
        <p:cNvGrpSpPr/>
        <p:nvPr/>
      </p:nvGrpSpPr>
      <p:grpSpPr>
        <a:xfrm>
          <a:off x="0" y="0"/>
          <a:ext cx="0" cy="0"/>
          <a:chOff x="0" y="0"/>
          <a:chExt cx="0" cy="0"/>
        </a:xfrm>
      </p:grpSpPr>
      <p:sp>
        <p:nvSpPr>
          <p:cNvPr id="168" name="Google Shape;168;p7"/>
          <p:cNvSpPr/>
          <p:nvPr/>
        </p:nvSpPr>
        <p:spPr>
          <a:xfrm rot="-2700000">
            <a:off x="1751330" y="3255010"/>
            <a:ext cx="1437640" cy="143764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7"/>
          <p:cNvSpPr/>
          <p:nvPr/>
        </p:nvSpPr>
        <p:spPr>
          <a:xfrm rot="-2700000">
            <a:off x="1751330" y="3255010"/>
            <a:ext cx="1437640" cy="143764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9-d2nfau98bjvh7rlj0jig.png" id="170" name="Google Shape;170;p7"/>
          <p:cNvPicPr preferRelativeResize="0"/>
          <p:nvPr/>
        </p:nvPicPr>
        <p:blipFill rotWithShape="1">
          <a:blip r:embed="rId3">
            <a:alphaModFix/>
          </a:blip>
          <a:srcRect b="0" l="0" r="0" t="0"/>
          <a:stretch/>
        </p:blipFill>
        <p:spPr>
          <a:xfrm>
            <a:off x="1442790" y="2846140"/>
            <a:ext cx="2078990" cy="2078990"/>
          </a:xfrm>
          <a:prstGeom prst="rect">
            <a:avLst/>
          </a:prstGeom>
          <a:noFill/>
          <a:ln>
            <a:noFill/>
          </a:ln>
        </p:spPr>
      </p:pic>
      <p:sp>
        <p:nvSpPr>
          <p:cNvPr id="171" name="Google Shape;171;p7"/>
          <p:cNvSpPr/>
          <p:nvPr/>
        </p:nvSpPr>
        <p:spPr>
          <a:xfrm rot="-2700000">
            <a:off x="4168140" y="3236595"/>
            <a:ext cx="1437640" cy="143764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p:nvPr/>
        </p:nvSpPr>
        <p:spPr>
          <a:xfrm rot="-2700000">
            <a:off x="4168140" y="3236595"/>
            <a:ext cx="1437640" cy="143764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9-d2nfau98bjvh7rlj0jjg.png" id="173" name="Google Shape;173;p7"/>
          <p:cNvPicPr preferRelativeResize="0"/>
          <p:nvPr/>
        </p:nvPicPr>
        <p:blipFill rotWithShape="1">
          <a:blip r:embed="rId4">
            <a:alphaModFix/>
          </a:blip>
          <a:srcRect b="0" l="0" r="0" t="0"/>
          <a:stretch/>
        </p:blipFill>
        <p:spPr>
          <a:xfrm>
            <a:off x="3848805" y="2844235"/>
            <a:ext cx="2078990" cy="2078990"/>
          </a:xfrm>
          <a:prstGeom prst="rect">
            <a:avLst/>
          </a:prstGeom>
          <a:noFill/>
          <a:ln>
            <a:noFill/>
          </a:ln>
        </p:spPr>
      </p:pic>
      <p:sp>
        <p:nvSpPr>
          <p:cNvPr id="174" name="Google Shape;174;p7"/>
          <p:cNvSpPr/>
          <p:nvPr/>
        </p:nvSpPr>
        <p:spPr>
          <a:xfrm rot="-2700000">
            <a:off x="6584950" y="3232150"/>
            <a:ext cx="1437640" cy="143764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
          <p:cNvSpPr/>
          <p:nvPr/>
        </p:nvSpPr>
        <p:spPr>
          <a:xfrm rot="-2700000">
            <a:off x="6584950" y="3232150"/>
            <a:ext cx="1437640" cy="143764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9-d2nfau98bjvh7rlj0jl0.png" id="176" name="Google Shape;176;p7"/>
          <p:cNvPicPr preferRelativeResize="0"/>
          <p:nvPr/>
        </p:nvPicPr>
        <p:blipFill rotWithShape="1">
          <a:blip r:embed="rId5">
            <a:alphaModFix/>
          </a:blip>
          <a:srcRect b="0" l="0" r="0" t="0"/>
          <a:stretch/>
        </p:blipFill>
        <p:spPr>
          <a:xfrm>
            <a:off x="6265615" y="2835345"/>
            <a:ext cx="2078990" cy="2078990"/>
          </a:xfrm>
          <a:prstGeom prst="rect">
            <a:avLst/>
          </a:prstGeom>
          <a:noFill/>
          <a:ln>
            <a:noFill/>
          </a:ln>
        </p:spPr>
      </p:pic>
      <p:sp>
        <p:nvSpPr>
          <p:cNvPr id="177" name="Google Shape;177;p7"/>
          <p:cNvSpPr/>
          <p:nvPr/>
        </p:nvSpPr>
        <p:spPr>
          <a:xfrm rot="-2700000">
            <a:off x="9001760" y="3236595"/>
            <a:ext cx="1437640" cy="143764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7"/>
          <p:cNvSpPr/>
          <p:nvPr/>
        </p:nvSpPr>
        <p:spPr>
          <a:xfrm rot="-2700000">
            <a:off x="9001760" y="3236595"/>
            <a:ext cx="1437640" cy="143764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9-d2nfau98bjvh7rlj0jlg.png" id="179" name="Google Shape;179;p7"/>
          <p:cNvPicPr preferRelativeResize="0"/>
          <p:nvPr/>
        </p:nvPicPr>
        <p:blipFill rotWithShape="1">
          <a:blip r:embed="rId6">
            <a:alphaModFix/>
          </a:blip>
          <a:srcRect b="0" l="0" r="0" t="0"/>
          <a:stretch/>
        </p:blipFill>
        <p:spPr>
          <a:xfrm>
            <a:off x="8682425" y="2834640"/>
            <a:ext cx="2078990" cy="2078990"/>
          </a:xfrm>
          <a:prstGeom prst="rect">
            <a:avLst/>
          </a:prstGeom>
          <a:noFill/>
          <a:ln>
            <a:noFill/>
          </a:ln>
        </p:spPr>
      </p:pic>
      <p:sp>
        <p:nvSpPr>
          <p:cNvPr id="180" name="Google Shape;180;p7"/>
          <p:cNvSpPr/>
          <p:nvPr/>
        </p:nvSpPr>
        <p:spPr>
          <a:xfrm>
            <a:off x="988060" y="513715"/>
            <a:ext cx="10534650" cy="49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Comparación contenedores vs máquinas virtuales</a:t>
            </a:r>
            <a:endParaRPr b="0" i="0" sz="1600" u="none" cap="none" strike="noStrike"/>
          </a:p>
        </p:txBody>
      </p:sp>
      <p:pic>
        <p:nvPicPr>
          <p:cNvPr descr="https://kimi-img.moonshot.cn/pub/slides/slides_tmpl/image/25-08-27-20:09:25-d2nfat98bjvh7rlj0j30.png" id="181" name="Google Shape;181;p7"/>
          <p:cNvPicPr preferRelativeResize="0"/>
          <p:nvPr/>
        </p:nvPicPr>
        <p:blipFill rotWithShape="1">
          <a:blip r:embed="rId7">
            <a:alphaModFix/>
          </a:blip>
          <a:srcRect b="0" l="0" r="0" t="0"/>
          <a:stretch/>
        </p:blipFill>
        <p:spPr>
          <a:xfrm>
            <a:off x="428942" y="580481"/>
            <a:ext cx="533400" cy="368300"/>
          </a:xfrm>
          <a:prstGeom prst="rect">
            <a:avLst/>
          </a:prstGeom>
          <a:noFill/>
          <a:ln>
            <a:noFill/>
          </a:ln>
        </p:spPr>
      </p:pic>
      <p:pic>
        <p:nvPicPr>
          <p:cNvPr descr="https://kimi-img.moonshot.cn/pub/slides/slides_tmpl/image/25-08-27-20:09:29-d2nfau98bjvh7rlj0jn0.png" id="182" name="Google Shape;182;p7"/>
          <p:cNvPicPr preferRelativeResize="0"/>
          <p:nvPr/>
        </p:nvPicPr>
        <p:blipFill rotWithShape="1">
          <a:blip r:embed="rId8">
            <a:alphaModFix/>
          </a:blip>
          <a:srcRect b="0" l="0" r="0" t="0"/>
          <a:stretch/>
        </p:blipFill>
        <p:spPr>
          <a:xfrm>
            <a:off x="2916237" y="2773686"/>
            <a:ext cx="6350000" cy="2252404"/>
          </a:xfrm>
          <a:prstGeom prst="rect">
            <a:avLst/>
          </a:prstGeom>
          <a:noFill/>
          <a:ln>
            <a:noFill/>
          </a:ln>
        </p:spPr>
      </p:pic>
      <p:sp>
        <p:nvSpPr>
          <p:cNvPr id="183" name="Google Shape;183;p7"/>
          <p:cNvSpPr/>
          <p:nvPr/>
        </p:nvSpPr>
        <p:spPr>
          <a:xfrm>
            <a:off x="608965" y="1139190"/>
            <a:ext cx="4699000"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Máquinas Virtuales</a:t>
            </a:r>
            <a:endParaRPr b="0" i="0" sz="1600" u="none" cap="none" strike="noStrike"/>
          </a:p>
        </p:txBody>
      </p:sp>
      <p:sp>
        <p:nvSpPr>
          <p:cNvPr id="184" name="Google Shape;184;p7"/>
          <p:cNvSpPr/>
          <p:nvPr/>
        </p:nvSpPr>
        <p:spPr>
          <a:xfrm>
            <a:off x="608965" y="1491615"/>
            <a:ext cx="4352290" cy="844153"/>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Las máquinas virtuales virtualizan hardware completo con hipervisor y sistema operativo invitado. Son pesadas y consumen más recursos.</a:t>
            </a:r>
            <a:endParaRPr b="0" i="0" sz="1600" u="none" cap="none" strike="noStrike"/>
          </a:p>
        </p:txBody>
      </p:sp>
      <p:sp>
        <p:nvSpPr>
          <p:cNvPr id="185" name="Google Shape;185;p7"/>
          <p:cNvSpPr/>
          <p:nvPr/>
        </p:nvSpPr>
        <p:spPr>
          <a:xfrm>
            <a:off x="6026785" y="1139190"/>
            <a:ext cx="4699000"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Contenedores</a:t>
            </a:r>
            <a:endParaRPr b="0" i="0" sz="1600" u="none" cap="none" strike="noStrike"/>
          </a:p>
        </p:txBody>
      </p:sp>
      <p:sp>
        <p:nvSpPr>
          <p:cNvPr id="186" name="Google Shape;186;p7"/>
          <p:cNvSpPr/>
          <p:nvPr/>
        </p:nvSpPr>
        <p:spPr>
          <a:xfrm>
            <a:off x="6026785" y="1491615"/>
            <a:ext cx="4352290" cy="844153"/>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Los contenedores virtualizan a nivel de sistema operativo, comparten el kernel del host y arrancan en milisegundos. Son más ligeros y eficientes.</a:t>
            </a:r>
            <a:endParaRPr b="0" i="0" sz="1600" u="none" cap="none" strike="noStrike"/>
          </a:p>
        </p:txBody>
      </p:sp>
      <p:sp>
        <p:nvSpPr>
          <p:cNvPr id="187" name="Google Shape;187;p7"/>
          <p:cNvSpPr/>
          <p:nvPr/>
        </p:nvSpPr>
        <p:spPr>
          <a:xfrm>
            <a:off x="2061845" y="4937760"/>
            <a:ext cx="4947920"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Ventajas de los contenedores</a:t>
            </a:r>
            <a:endParaRPr b="0" i="0" sz="1600" u="none" cap="none" strike="noStrike"/>
          </a:p>
        </p:txBody>
      </p:sp>
      <p:sp>
        <p:nvSpPr>
          <p:cNvPr id="188" name="Google Shape;188;p7"/>
          <p:cNvSpPr/>
          <p:nvPr/>
        </p:nvSpPr>
        <p:spPr>
          <a:xfrm>
            <a:off x="2061845" y="5289550"/>
            <a:ext cx="4726940" cy="1125538"/>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Los contenedores permiten mayor densidad de cargas de trabajo, reducen el consumo de CPU, RAM y almacenamiento, y facilitan la administración y despliegue.</a:t>
            </a:r>
            <a:endParaRPr b="0" i="0" sz="1600" u="none" cap="none" strike="noStrike"/>
          </a:p>
        </p:txBody>
      </p:sp>
      <p:sp>
        <p:nvSpPr>
          <p:cNvPr id="189" name="Google Shape;189;p7"/>
          <p:cNvSpPr/>
          <p:nvPr/>
        </p:nvSpPr>
        <p:spPr>
          <a:xfrm>
            <a:off x="7541895" y="4881245"/>
            <a:ext cx="4699000"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Uso práctico</a:t>
            </a:r>
            <a:endParaRPr b="0" i="0" sz="1600" u="none" cap="none" strike="noStrike"/>
          </a:p>
        </p:txBody>
      </p:sp>
      <p:sp>
        <p:nvSpPr>
          <p:cNvPr id="190" name="Google Shape;190;p7"/>
          <p:cNvSpPr/>
          <p:nvPr/>
        </p:nvSpPr>
        <p:spPr>
          <a:xfrm>
            <a:off x="7541895" y="5290820"/>
            <a:ext cx="4352290" cy="1406922"/>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En entornos de desarrollo y producción, los contenedores son ideales para aplicaciones que requieren escalabilidad y portabilidad, mientras que las VMs son mejores para aplicaciones que necesitan aislamiento completo.</a:t>
            </a:r>
            <a:endParaRPr b="0" i="0" sz="160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195" name="Shape 195"/>
        <p:cNvGrpSpPr/>
        <p:nvPr/>
      </p:nvGrpSpPr>
      <p:grpSpPr>
        <a:xfrm>
          <a:off x="0" y="0"/>
          <a:ext cx="0" cy="0"/>
          <a:chOff x="0" y="0"/>
          <a:chExt cx="0" cy="0"/>
        </a:xfrm>
      </p:grpSpPr>
      <p:pic>
        <p:nvPicPr>
          <p:cNvPr descr="https://kimi-img.moonshot.cn/pub/slides/slides_tmpl/image/25-08-27-20:09:25-d2nfat98bjvh7rlj0j2g.png" id="196" name="Google Shape;196;p8"/>
          <p:cNvPicPr preferRelativeResize="0"/>
          <p:nvPr/>
        </p:nvPicPr>
        <p:blipFill rotWithShape="1">
          <a:blip r:embed="rId3">
            <a:alphaModFix/>
          </a:blip>
          <a:srcRect b="0" l="0" r="0" t="0"/>
          <a:stretch/>
        </p:blipFill>
        <p:spPr>
          <a:xfrm>
            <a:off x="723900" y="1514475"/>
            <a:ext cx="4189095" cy="3772535"/>
          </a:xfrm>
          <a:prstGeom prst="rect">
            <a:avLst/>
          </a:prstGeom>
          <a:noFill/>
          <a:ln>
            <a:noFill/>
          </a:ln>
        </p:spPr>
      </p:pic>
      <p:sp>
        <p:nvSpPr>
          <p:cNvPr id="197" name="Google Shape;197;p8"/>
          <p:cNvSpPr/>
          <p:nvPr/>
        </p:nvSpPr>
        <p:spPr>
          <a:xfrm>
            <a:off x="5384165" y="3196590"/>
            <a:ext cx="5415915" cy="119888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8"/>
          <p:cNvSpPr/>
          <p:nvPr/>
        </p:nvSpPr>
        <p:spPr>
          <a:xfrm>
            <a:off x="5384165" y="3196590"/>
            <a:ext cx="5415915" cy="1198880"/>
          </a:xfrm>
          <a:prstGeom prst="rect">
            <a:avLst/>
          </a:prstGeom>
          <a:noFill/>
          <a:ln>
            <a:noFill/>
          </a:ln>
        </p:spPr>
        <p:txBody>
          <a:bodyPr anchorCtr="0" anchor="t" bIns="45700" lIns="45700" spcFirstLastPara="1" rIns="91425" wrap="square" tIns="91425">
            <a:noAutofit/>
          </a:bodyPr>
          <a:lstStyle/>
          <a:p>
            <a:pPr indent="0" lvl="0" marL="0" marR="0" rtl="0" algn="just">
              <a:lnSpc>
                <a:spcPct val="100000"/>
              </a:lnSpc>
              <a:spcBef>
                <a:spcPts val="0"/>
              </a:spcBef>
              <a:spcAft>
                <a:spcPts val="0"/>
              </a:spcAft>
              <a:buClr>
                <a:srgbClr val="FFFFFF"/>
              </a:buClr>
              <a:buSzPts val="3600"/>
              <a:buFont typeface="Arial"/>
              <a:buNone/>
            </a:pPr>
            <a:r>
              <a:rPr b="1" i="0" lang="en-US" sz="3600" u="none" cap="none" strike="noStrike">
                <a:solidFill>
                  <a:srgbClr val="FFFFFF"/>
                </a:solidFill>
                <a:latin typeface="Arial"/>
                <a:ea typeface="Arial"/>
                <a:cs typeface="Arial"/>
                <a:sym typeface="Arial"/>
              </a:rPr>
              <a:t>Arquitectura Docker</a:t>
            </a:r>
            <a:endParaRPr b="0" i="0" sz="1600" u="none" cap="none" strike="noStrike"/>
          </a:p>
        </p:txBody>
      </p:sp>
      <p:sp>
        <p:nvSpPr>
          <p:cNvPr id="199" name="Google Shape;199;p8"/>
          <p:cNvSpPr/>
          <p:nvPr/>
        </p:nvSpPr>
        <p:spPr>
          <a:xfrm>
            <a:off x="5384165" y="1945640"/>
            <a:ext cx="3390265" cy="1104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FFFF"/>
              </a:buClr>
              <a:buSzPts val="7200"/>
              <a:buFont typeface="Arial"/>
              <a:buNone/>
            </a:pPr>
            <a:r>
              <a:rPr b="0" i="0" lang="en-US" sz="7200" u="none" cap="none" strike="noStrike">
                <a:solidFill>
                  <a:srgbClr val="FFFFFF"/>
                </a:solidFill>
                <a:latin typeface="Arial"/>
                <a:ea typeface="Arial"/>
                <a:cs typeface="Arial"/>
                <a:sym typeface="Arial"/>
              </a:rPr>
              <a:t>02</a:t>
            </a:r>
            <a:endParaRPr b="0" i="0" sz="160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sp>
        <p:nvSpPr>
          <p:cNvPr id="205" name="Google Shape;205;p9"/>
          <p:cNvSpPr/>
          <p:nvPr/>
        </p:nvSpPr>
        <p:spPr>
          <a:xfrm>
            <a:off x="441325" y="2059940"/>
            <a:ext cx="2710180" cy="4064635"/>
          </a:xfrm>
          <a:prstGeom prst="rect">
            <a:avLst/>
          </a:prstGeom>
          <a:solidFill>
            <a:srgbClr val="000000">
              <a:alpha val="1568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
          <p:cNvSpPr/>
          <p:nvPr/>
        </p:nvSpPr>
        <p:spPr>
          <a:xfrm>
            <a:off x="441325" y="2059940"/>
            <a:ext cx="2710180" cy="406463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207" name="Google Shape;207;p9"/>
          <p:cNvSpPr/>
          <p:nvPr/>
        </p:nvSpPr>
        <p:spPr>
          <a:xfrm rot="5400000">
            <a:off x="1309370" y="475615"/>
            <a:ext cx="973455" cy="2708910"/>
          </a:xfrm>
          <a:prstGeom prst="homePlate">
            <a:avLst>
              <a:gd fmla="val 29908" name="adj"/>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9"/>
          <p:cNvSpPr/>
          <p:nvPr/>
        </p:nvSpPr>
        <p:spPr>
          <a:xfrm rot="5400000">
            <a:off x="1309370" y="475615"/>
            <a:ext cx="973455" cy="270891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9-d2nfau98bjvh7rlj0jm0.png" id="209" name="Google Shape;209;p9"/>
          <p:cNvPicPr preferRelativeResize="0"/>
          <p:nvPr/>
        </p:nvPicPr>
        <p:blipFill rotWithShape="1">
          <a:blip r:embed="rId3">
            <a:alphaModFix/>
          </a:blip>
          <a:srcRect b="0" l="0" r="0" t="0"/>
          <a:stretch/>
        </p:blipFill>
        <p:spPr>
          <a:xfrm>
            <a:off x="1529080" y="1448435"/>
            <a:ext cx="536575" cy="768350"/>
          </a:xfrm>
          <a:prstGeom prst="rect">
            <a:avLst/>
          </a:prstGeom>
          <a:noFill/>
          <a:ln>
            <a:noFill/>
          </a:ln>
        </p:spPr>
      </p:pic>
      <p:sp>
        <p:nvSpPr>
          <p:cNvPr id="210" name="Google Shape;210;p9"/>
          <p:cNvSpPr/>
          <p:nvPr/>
        </p:nvSpPr>
        <p:spPr>
          <a:xfrm>
            <a:off x="3278505" y="2059940"/>
            <a:ext cx="2710180" cy="4064635"/>
          </a:xfrm>
          <a:prstGeom prst="rect">
            <a:avLst/>
          </a:prstGeom>
          <a:solidFill>
            <a:srgbClr val="000000">
              <a:alpha val="1568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
          <p:cNvSpPr/>
          <p:nvPr/>
        </p:nvSpPr>
        <p:spPr>
          <a:xfrm>
            <a:off x="3278505" y="2059940"/>
            <a:ext cx="2710180" cy="406463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212" name="Google Shape;212;p9"/>
          <p:cNvSpPr/>
          <p:nvPr/>
        </p:nvSpPr>
        <p:spPr>
          <a:xfrm rot="5400000">
            <a:off x="4146550" y="475615"/>
            <a:ext cx="973455" cy="2708910"/>
          </a:xfrm>
          <a:prstGeom prst="homePlate">
            <a:avLst>
              <a:gd fmla="val 29908" name="adj"/>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9"/>
          <p:cNvSpPr/>
          <p:nvPr/>
        </p:nvSpPr>
        <p:spPr>
          <a:xfrm rot="5400000">
            <a:off x="4146550" y="475615"/>
            <a:ext cx="973455" cy="270891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9-d2nfau98bjvh7rlj0jm0.png" id="214" name="Google Shape;214;p9"/>
          <p:cNvPicPr preferRelativeResize="0"/>
          <p:nvPr/>
        </p:nvPicPr>
        <p:blipFill rotWithShape="1">
          <a:blip r:embed="rId3">
            <a:alphaModFix/>
          </a:blip>
          <a:srcRect b="0" l="248" r="248" t="0"/>
          <a:stretch/>
        </p:blipFill>
        <p:spPr>
          <a:xfrm>
            <a:off x="4366260" y="1448435"/>
            <a:ext cx="532130" cy="765175"/>
          </a:xfrm>
          <a:prstGeom prst="rect">
            <a:avLst/>
          </a:prstGeom>
          <a:noFill/>
          <a:ln>
            <a:noFill/>
          </a:ln>
        </p:spPr>
      </p:pic>
      <p:sp>
        <p:nvSpPr>
          <p:cNvPr id="215" name="Google Shape;215;p9"/>
          <p:cNvSpPr/>
          <p:nvPr/>
        </p:nvSpPr>
        <p:spPr>
          <a:xfrm>
            <a:off x="6115685" y="2059940"/>
            <a:ext cx="2710180" cy="4064635"/>
          </a:xfrm>
          <a:prstGeom prst="rect">
            <a:avLst/>
          </a:prstGeom>
          <a:solidFill>
            <a:srgbClr val="000000">
              <a:alpha val="1568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
          <p:cNvSpPr/>
          <p:nvPr/>
        </p:nvSpPr>
        <p:spPr>
          <a:xfrm>
            <a:off x="6115685" y="2059940"/>
            <a:ext cx="2710180" cy="406463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217" name="Google Shape;217;p9"/>
          <p:cNvSpPr/>
          <p:nvPr/>
        </p:nvSpPr>
        <p:spPr>
          <a:xfrm rot="5400000">
            <a:off x="6983730" y="475615"/>
            <a:ext cx="973455" cy="2708910"/>
          </a:xfrm>
          <a:prstGeom prst="homePlate">
            <a:avLst>
              <a:gd fmla="val 29908" name="adj"/>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9"/>
          <p:cNvSpPr/>
          <p:nvPr/>
        </p:nvSpPr>
        <p:spPr>
          <a:xfrm rot="5400000">
            <a:off x="6983730" y="475615"/>
            <a:ext cx="973455" cy="270891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9-d2nfau98bjvh7rlj0jm0.png" id="219" name="Google Shape;219;p9"/>
          <p:cNvPicPr preferRelativeResize="0"/>
          <p:nvPr/>
        </p:nvPicPr>
        <p:blipFill rotWithShape="1">
          <a:blip r:embed="rId3">
            <a:alphaModFix/>
          </a:blip>
          <a:srcRect b="0" l="248" r="248" t="0"/>
          <a:stretch/>
        </p:blipFill>
        <p:spPr>
          <a:xfrm>
            <a:off x="7203440" y="1448435"/>
            <a:ext cx="532130" cy="765175"/>
          </a:xfrm>
          <a:prstGeom prst="rect">
            <a:avLst/>
          </a:prstGeom>
          <a:noFill/>
          <a:ln>
            <a:noFill/>
          </a:ln>
        </p:spPr>
      </p:pic>
      <p:sp>
        <p:nvSpPr>
          <p:cNvPr id="220" name="Google Shape;220;p9"/>
          <p:cNvSpPr/>
          <p:nvPr/>
        </p:nvSpPr>
        <p:spPr>
          <a:xfrm>
            <a:off x="8952865" y="2059940"/>
            <a:ext cx="2710180" cy="4064635"/>
          </a:xfrm>
          <a:prstGeom prst="rect">
            <a:avLst/>
          </a:prstGeom>
          <a:solidFill>
            <a:srgbClr val="000000">
              <a:alpha val="1568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9"/>
          <p:cNvSpPr/>
          <p:nvPr/>
        </p:nvSpPr>
        <p:spPr>
          <a:xfrm>
            <a:off x="8952865" y="2059940"/>
            <a:ext cx="2710180" cy="406463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222" name="Google Shape;222;p9"/>
          <p:cNvSpPr/>
          <p:nvPr/>
        </p:nvSpPr>
        <p:spPr>
          <a:xfrm rot="5400000">
            <a:off x="9820910" y="475615"/>
            <a:ext cx="973455" cy="2708910"/>
          </a:xfrm>
          <a:prstGeom prst="homePlate">
            <a:avLst>
              <a:gd fmla="val 29908" name="adj"/>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
          <p:cNvSpPr/>
          <p:nvPr/>
        </p:nvSpPr>
        <p:spPr>
          <a:xfrm rot="5400000">
            <a:off x="9820910" y="475615"/>
            <a:ext cx="973455" cy="270891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9-d2nfau98bjvh7rlj0jm0.png" id="224" name="Google Shape;224;p9"/>
          <p:cNvPicPr preferRelativeResize="0"/>
          <p:nvPr/>
        </p:nvPicPr>
        <p:blipFill rotWithShape="1">
          <a:blip r:embed="rId3">
            <a:alphaModFix/>
          </a:blip>
          <a:srcRect b="0" l="248" r="248" t="0"/>
          <a:stretch/>
        </p:blipFill>
        <p:spPr>
          <a:xfrm>
            <a:off x="10040620" y="1448435"/>
            <a:ext cx="532130" cy="765175"/>
          </a:xfrm>
          <a:prstGeom prst="rect">
            <a:avLst/>
          </a:prstGeom>
          <a:noFill/>
          <a:ln>
            <a:noFill/>
          </a:ln>
        </p:spPr>
      </p:pic>
      <p:sp>
        <p:nvSpPr>
          <p:cNvPr id="225" name="Google Shape;225;p9"/>
          <p:cNvSpPr/>
          <p:nvPr/>
        </p:nvSpPr>
        <p:spPr>
          <a:xfrm>
            <a:off x="0" y="6708775"/>
            <a:ext cx="1773555" cy="149225"/>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9"/>
          <p:cNvSpPr/>
          <p:nvPr/>
        </p:nvSpPr>
        <p:spPr>
          <a:xfrm>
            <a:off x="0" y="6708775"/>
            <a:ext cx="1773555" cy="14922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227" name="Google Shape;227;p9"/>
          <p:cNvSpPr/>
          <p:nvPr/>
        </p:nvSpPr>
        <p:spPr>
          <a:xfrm>
            <a:off x="988060" y="513715"/>
            <a:ext cx="10534650" cy="49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Componentes de la plataforma Docker</a:t>
            </a:r>
            <a:endParaRPr b="0" i="0" sz="1600" u="none" cap="none" strike="noStrike"/>
          </a:p>
        </p:txBody>
      </p:sp>
      <p:pic>
        <p:nvPicPr>
          <p:cNvPr descr="https://kimi-img.moonshot.cn/pub/slides/slides_tmpl/image/25-08-27-20:09:25-d2nfat98bjvh7rlj0j30.png" id="228" name="Google Shape;228;p9"/>
          <p:cNvPicPr preferRelativeResize="0"/>
          <p:nvPr/>
        </p:nvPicPr>
        <p:blipFill rotWithShape="1">
          <a:blip r:embed="rId4">
            <a:alphaModFix/>
          </a:blip>
          <a:srcRect b="0" l="0" r="0" t="0"/>
          <a:stretch/>
        </p:blipFill>
        <p:spPr>
          <a:xfrm>
            <a:off x="428942" y="580481"/>
            <a:ext cx="533400" cy="368300"/>
          </a:xfrm>
          <a:prstGeom prst="rect">
            <a:avLst/>
          </a:prstGeom>
          <a:noFill/>
          <a:ln>
            <a:noFill/>
          </a:ln>
        </p:spPr>
      </p:pic>
      <p:sp>
        <p:nvSpPr>
          <p:cNvPr id="229" name="Google Shape;229;p9"/>
          <p:cNvSpPr/>
          <p:nvPr/>
        </p:nvSpPr>
        <p:spPr>
          <a:xfrm>
            <a:off x="598170" y="2317115"/>
            <a:ext cx="2586990"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Docker Client</a:t>
            </a:r>
            <a:endParaRPr b="0" i="0" sz="1600" u="none" cap="none" strike="noStrike"/>
          </a:p>
        </p:txBody>
      </p:sp>
      <p:sp>
        <p:nvSpPr>
          <p:cNvPr id="230" name="Google Shape;230;p9"/>
          <p:cNvSpPr/>
          <p:nvPr/>
        </p:nvSpPr>
        <p:spPr>
          <a:xfrm>
            <a:off x="598170" y="3023235"/>
            <a:ext cx="2495550" cy="2090539"/>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Es la interfaz de línea de comandos que los usuarios utilizan para interactuar con Docker. Permite ejecutar comandos como docker run, docker stop y docker ps.</a:t>
            </a:r>
            <a:endParaRPr b="0" i="0" sz="1600" u="none" cap="none" strike="noStrike"/>
          </a:p>
        </p:txBody>
      </p:sp>
      <p:sp>
        <p:nvSpPr>
          <p:cNvPr id="231" name="Google Shape;231;p9"/>
          <p:cNvSpPr/>
          <p:nvPr/>
        </p:nvSpPr>
        <p:spPr>
          <a:xfrm>
            <a:off x="3401695" y="2317115"/>
            <a:ext cx="2586990"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Docker Daemon</a:t>
            </a:r>
            <a:endParaRPr b="0" i="0" sz="1600" u="none" cap="none" strike="noStrike"/>
          </a:p>
        </p:txBody>
      </p:sp>
      <p:sp>
        <p:nvSpPr>
          <p:cNvPr id="232" name="Google Shape;232;p9"/>
          <p:cNvSpPr/>
          <p:nvPr/>
        </p:nvSpPr>
        <p:spPr>
          <a:xfrm>
            <a:off x="3401695" y="3023235"/>
            <a:ext cx="2495550" cy="597297"/>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Es el servicio en segundo plano que gestiona las operaciones de Docker. Recibe peticiones del Docker Client y las procesa, exponiendo una API para automatización.</a:t>
            </a:r>
            <a:endParaRPr b="0" i="0" sz="1600" u="none" cap="none" strike="noStrike"/>
          </a:p>
        </p:txBody>
      </p:sp>
      <p:sp>
        <p:nvSpPr>
          <p:cNvPr id="233" name="Google Shape;233;p9"/>
          <p:cNvSpPr/>
          <p:nvPr/>
        </p:nvSpPr>
        <p:spPr>
          <a:xfrm>
            <a:off x="6238875" y="2317115"/>
            <a:ext cx="2586990"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containerd</a:t>
            </a:r>
            <a:endParaRPr b="0" i="0" sz="1600" u="none" cap="none" strike="noStrike"/>
          </a:p>
        </p:txBody>
      </p:sp>
      <p:sp>
        <p:nvSpPr>
          <p:cNvPr id="234" name="Google Shape;234;p9"/>
          <p:cNvSpPr/>
          <p:nvPr/>
        </p:nvSpPr>
        <p:spPr>
          <a:xfrm>
            <a:off x="6238875" y="3023235"/>
            <a:ext cx="2495550" cy="2803525"/>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Es el runtime de alto nivel que gestiona el ciclo de vida de los contenedores (iniciar, detener, pausar, eliminar) y maneja la distribución de imágenes.</a:t>
            </a:r>
            <a:endParaRPr b="0" i="0" sz="1600" u="none" cap="none" strike="noStrike"/>
          </a:p>
        </p:txBody>
      </p:sp>
      <p:sp>
        <p:nvSpPr>
          <p:cNvPr id="235" name="Google Shape;235;p9"/>
          <p:cNvSpPr/>
          <p:nvPr/>
        </p:nvSpPr>
        <p:spPr>
          <a:xfrm>
            <a:off x="9076055" y="2317115"/>
            <a:ext cx="2586990"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runc</a:t>
            </a:r>
            <a:endParaRPr b="0" i="0" sz="1600" u="none" cap="none" strike="noStrike"/>
          </a:p>
        </p:txBody>
      </p:sp>
      <p:sp>
        <p:nvSpPr>
          <p:cNvPr id="236" name="Google Shape;236;p9"/>
          <p:cNvSpPr/>
          <p:nvPr/>
        </p:nvSpPr>
        <p:spPr>
          <a:xfrm>
            <a:off x="9076055" y="3023235"/>
            <a:ext cx="2495550" cy="2803525"/>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Es el runtime de bajo nivel que interactúa con las primitivas del kernel de Linux (cgroups, namespaces) para crear y ejecutar los contenedores.</a:t>
            </a:r>
            <a:endParaRPr b="0" i="0" sz="1600"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pic>
        <p:nvPicPr>
          <p:cNvPr descr="https://kimi-img.moonshot.cn/pub/slides/slides_tmpl/image/25-08-27-20:09:27-d2nfatp8bjvh7rlj0j80.png" id="242" name="Google Shape;242;p10"/>
          <p:cNvPicPr preferRelativeResize="0"/>
          <p:nvPr/>
        </p:nvPicPr>
        <p:blipFill rotWithShape="1">
          <a:blip r:embed="rId3">
            <a:alphaModFix/>
          </a:blip>
          <a:srcRect b="16" l="0" r="0" t="17"/>
          <a:stretch/>
        </p:blipFill>
        <p:spPr>
          <a:xfrm>
            <a:off x="943610" y="1522730"/>
            <a:ext cx="3695065" cy="2336800"/>
          </a:xfrm>
          <a:prstGeom prst="rect">
            <a:avLst/>
          </a:prstGeom>
          <a:noFill/>
          <a:ln>
            <a:noFill/>
          </a:ln>
        </p:spPr>
      </p:pic>
      <p:cxnSp>
        <p:nvCxnSpPr>
          <p:cNvPr id="243" name="Google Shape;243;p10"/>
          <p:cNvCxnSpPr/>
          <p:nvPr/>
        </p:nvCxnSpPr>
        <p:spPr>
          <a:xfrm>
            <a:off x="5076560" y="3830320"/>
            <a:ext cx="6058800" cy="0"/>
          </a:xfrm>
          <a:prstGeom prst="straightConnector1">
            <a:avLst/>
          </a:prstGeom>
          <a:noFill/>
          <a:ln cap="flat" cmpd="sng" w="12700">
            <a:solidFill>
              <a:srgbClr val="232323"/>
            </a:solidFill>
            <a:prstDash val="solid"/>
            <a:round/>
            <a:headEnd len="sm" w="sm" type="none"/>
            <a:tailEnd len="sm" w="sm" type="none"/>
          </a:ln>
        </p:spPr>
      </p:cxnSp>
      <p:pic>
        <p:nvPicPr>
          <p:cNvPr descr="https://kimi-img.moonshot.cn/pub/slides/slides_tmpl/image/25-08-27-20:09:25-d2nfat98bjvh7rlj0j30.png" id="244" name="Google Shape;244;p10"/>
          <p:cNvPicPr preferRelativeResize="0"/>
          <p:nvPr/>
        </p:nvPicPr>
        <p:blipFill rotWithShape="1">
          <a:blip r:embed="rId4">
            <a:alphaModFix/>
          </a:blip>
          <a:srcRect b="0" l="0" r="0" t="0"/>
          <a:stretch/>
        </p:blipFill>
        <p:spPr>
          <a:xfrm>
            <a:off x="428942" y="580481"/>
            <a:ext cx="533400" cy="368300"/>
          </a:xfrm>
          <a:prstGeom prst="rect">
            <a:avLst/>
          </a:prstGeom>
          <a:noFill/>
          <a:ln>
            <a:noFill/>
          </a:ln>
        </p:spPr>
      </p:pic>
      <p:sp>
        <p:nvSpPr>
          <p:cNvPr id="245" name="Google Shape;245;p10"/>
          <p:cNvSpPr/>
          <p:nvPr/>
        </p:nvSpPr>
        <p:spPr>
          <a:xfrm>
            <a:off x="988060" y="513715"/>
            <a:ext cx="10534650" cy="583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Flujo de comunicación interna</a:t>
            </a:r>
            <a:endParaRPr b="0" i="0" sz="1600" u="none" cap="none" strike="noStrike"/>
          </a:p>
        </p:txBody>
      </p:sp>
      <p:sp>
        <p:nvSpPr>
          <p:cNvPr id="246" name="Google Shape;246;p10"/>
          <p:cNvSpPr/>
          <p:nvPr/>
        </p:nvSpPr>
        <p:spPr>
          <a:xfrm>
            <a:off x="5077328" y="1672590"/>
            <a:ext cx="6057265"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Comunicación entre Client y Daemon</a:t>
            </a:r>
            <a:endParaRPr b="0" i="0" sz="1600" u="none" cap="none" strike="noStrike"/>
          </a:p>
        </p:txBody>
      </p:sp>
      <p:sp>
        <p:nvSpPr>
          <p:cNvPr id="247" name="Google Shape;247;p10"/>
          <p:cNvSpPr/>
          <p:nvPr/>
        </p:nvSpPr>
        <p:spPr>
          <a:xfrm>
            <a:off x="5077328" y="2080895"/>
            <a:ext cx="6057265" cy="1370965"/>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111111"/>
              </a:buClr>
              <a:buSzPts val="1600"/>
              <a:buFont typeface="Arial"/>
              <a:buNone/>
            </a:pPr>
            <a:r>
              <a:rPr b="0" i="0" lang="en-US" sz="1600" u="none" cap="none" strike="noStrike">
                <a:solidFill>
                  <a:srgbClr val="111111"/>
                </a:solidFill>
                <a:latin typeface="Arial"/>
                <a:ea typeface="Arial"/>
                <a:cs typeface="Arial"/>
                <a:sym typeface="Arial"/>
              </a:rPr>
              <a:t>El Docker Client envía comandos al Docker Daemon a través de una API REST. El Daemon procesa estas peticiones y delega tareas de bajo nivel a containerd.</a:t>
            </a:r>
            <a:endParaRPr b="0" i="0" sz="1600" u="none" cap="none" strike="noStrike"/>
          </a:p>
        </p:txBody>
      </p:sp>
      <p:sp>
        <p:nvSpPr>
          <p:cNvPr id="248" name="Google Shape;248;p10"/>
          <p:cNvSpPr/>
          <p:nvPr/>
        </p:nvSpPr>
        <p:spPr>
          <a:xfrm>
            <a:off x="792480" y="4012565"/>
            <a:ext cx="3891245"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Rol de containerd</a:t>
            </a:r>
            <a:endParaRPr b="0" i="0" sz="1600" u="none" cap="none" strike="noStrike"/>
          </a:p>
        </p:txBody>
      </p:sp>
      <p:sp>
        <p:nvSpPr>
          <p:cNvPr id="249" name="Google Shape;249;p10"/>
          <p:cNvSpPr/>
          <p:nvPr/>
        </p:nvSpPr>
        <p:spPr>
          <a:xfrm>
            <a:off x="834470" y="4418965"/>
            <a:ext cx="3832459" cy="1661795"/>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Containerd gestiona el ciclo de vida de los contenedores y delega la ejecución de procesos a runc. También se encarga de la distribución y almacenamiento de imágenes.</a:t>
            </a:r>
            <a:endParaRPr b="0" i="0" sz="1600" u="none" cap="none" strike="noStrike"/>
          </a:p>
        </p:txBody>
      </p:sp>
      <p:sp>
        <p:nvSpPr>
          <p:cNvPr id="250" name="Google Shape;250;p10"/>
          <p:cNvSpPr/>
          <p:nvPr/>
        </p:nvSpPr>
        <p:spPr>
          <a:xfrm>
            <a:off x="5077328" y="4257675"/>
            <a:ext cx="6057265"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Función de shim</a:t>
            </a:r>
            <a:endParaRPr b="0" i="0" sz="1600" u="none" cap="none" strike="noStrike"/>
          </a:p>
        </p:txBody>
      </p:sp>
      <p:sp>
        <p:nvSpPr>
          <p:cNvPr id="251" name="Google Shape;251;p10"/>
          <p:cNvSpPr/>
          <p:nvPr/>
        </p:nvSpPr>
        <p:spPr>
          <a:xfrm>
            <a:off x="5077328" y="4665980"/>
            <a:ext cx="6057265" cy="1370965"/>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111111"/>
              </a:buClr>
              <a:buSzPts val="1600"/>
              <a:buFont typeface="Arial"/>
              <a:buNone/>
            </a:pPr>
            <a:r>
              <a:rPr b="0" i="0" lang="en-US" sz="1600" u="none" cap="none" strike="noStrike">
                <a:solidFill>
                  <a:srgbClr val="111111"/>
                </a:solidFill>
                <a:latin typeface="Arial"/>
                <a:ea typeface="Arial"/>
                <a:cs typeface="Arial"/>
                <a:sym typeface="Arial"/>
              </a:rPr>
              <a:t>El shim permite que los contenedores funcionen sin depender directamente de containerd, reduciendo la carga del sistema y permitiendo la recolección de logs y el mantenimiento del estado del contenedor.</a:t>
            </a:r>
            <a:endParaRPr b="0" i="0" sz="1600" u="none" cap="none" strike="noStrik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sp>
        <p:nvSpPr>
          <p:cNvPr id="257" name="Google Shape;257;p11"/>
          <p:cNvSpPr/>
          <p:nvPr/>
        </p:nvSpPr>
        <p:spPr>
          <a:xfrm>
            <a:off x="1191260" y="1929130"/>
            <a:ext cx="4984750" cy="3945255"/>
          </a:xfrm>
          <a:custGeom>
            <a:rect b="b" l="l" r="r" t="t"/>
            <a:pathLst>
              <a:path extrusionOk="0" h="3945255" w="4984750">
                <a:moveTo>
                  <a:pt x="0" y="0"/>
                </a:moveTo>
                <a:lnTo>
                  <a:pt x="4984750" y="0"/>
                </a:lnTo>
                <a:lnTo>
                  <a:pt x="4117340" y="3945255"/>
                </a:lnTo>
                <a:lnTo>
                  <a:pt x="0" y="3945255"/>
                </a:lnTo>
                <a:lnTo>
                  <a:pt x="0" y="0"/>
                </a:lnTo>
                <a:close/>
              </a:path>
            </a:pathLst>
          </a:custGeom>
          <a:solidFill>
            <a:srgbClr val="232323"/>
          </a:solidFill>
          <a:ln cap="flat" cmpd="sng" w="381000">
            <a:solidFill>
              <a:srgbClr val="232323"/>
            </a:solidFill>
            <a:prstDash val="solid"/>
            <a:round/>
            <a:headEnd len="sm" w="sm" type="none"/>
            <a:tailEnd len="sm" w="sm" type="none"/>
          </a:ln>
        </p:spPr>
      </p:sp>
      <p:sp>
        <p:nvSpPr>
          <p:cNvPr id="258" name="Google Shape;258;p11"/>
          <p:cNvSpPr/>
          <p:nvPr/>
        </p:nvSpPr>
        <p:spPr>
          <a:xfrm>
            <a:off x="1191260" y="1929130"/>
            <a:ext cx="4984750" cy="394525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259" name="Google Shape;259;p11"/>
          <p:cNvSpPr/>
          <p:nvPr/>
        </p:nvSpPr>
        <p:spPr>
          <a:xfrm>
            <a:off x="5900420" y="1929130"/>
            <a:ext cx="4963795" cy="3945255"/>
          </a:xfrm>
          <a:custGeom>
            <a:rect b="b" l="l" r="r" t="t"/>
            <a:pathLst>
              <a:path extrusionOk="0" h="3945255" w="4963795">
                <a:moveTo>
                  <a:pt x="867410" y="0"/>
                </a:moveTo>
                <a:lnTo>
                  <a:pt x="4963795" y="0"/>
                </a:lnTo>
                <a:lnTo>
                  <a:pt x="4963795" y="3945255"/>
                </a:lnTo>
                <a:lnTo>
                  <a:pt x="0" y="3945255"/>
                </a:lnTo>
                <a:lnTo>
                  <a:pt x="867410" y="0"/>
                </a:lnTo>
                <a:close/>
              </a:path>
            </a:pathLst>
          </a:custGeom>
          <a:solidFill>
            <a:srgbClr val="EBEBEB"/>
          </a:solidFill>
          <a:ln cap="flat" cmpd="sng" w="381000">
            <a:solidFill>
              <a:srgbClr val="EBEBEB"/>
            </a:solidFill>
            <a:prstDash val="solid"/>
            <a:round/>
            <a:headEnd len="sm" w="sm" type="none"/>
            <a:tailEnd len="sm" w="sm" type="none"/>
          </a:ln>
        </p:spPr>
      </p:sp>
      <p:sp>
        <p:nvSpPr>
          <p:cNvPr id="260" name="Google Shape;260;p11"/>
          <p:cNvSpPr/>
          <p:nvPr/>
        </p:nvSpPr>
        <p:spPr>
          <a:xfrm>
            <a:off x="5900420" y="1929130"/>
            <a:ext cx="4963795" cy="394525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261" name="Google Shape;261;p11"/>
          <p:cNvSpPr/>
          <p:nvPr/>
        </p:nvSpPr>
        <p:spPr>
          <a:xfrm>
            <a:off x="988060" y="704215"/>
            <a:ext cx="10534650" cy="583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Imágenes y capas de almacenamiento</a:t>
            </a:r>
            <a:endParaRPr b="0" i="0" sz="1600" u="none" cap="none" strike="noStrike"/>
          </a:p>
        </p:txBody>
      </p:sp>
      <p:pic>
        <p:nvPicPr>
          <p:cNvPr descr="https://kimi-img.moonshot.cn/pub/slides/slides_tmpl/image/25-08-27-20:09:25-d2nfat98bjvh7rlj0j30.png" id="262" name="Google Shape;262;p11"/>
          <p:cNvPicPr preferRelativeResize="0"/>
          <p:nvPr/>
        </p:nvPicPr>
        <p:blipFill rotWithShape="1">
          <a:blip r:embed="rId3">
            <a:alphaModFix/>
          </a:blip>
          <a:srcRect b="0" l="0" r="0" t="0"/>
          <a:stretch/>
        </p:blipFill>
        <p:spPr>
          <a:xfrm>
            <a:off x="428942" y="770420"/>
            <a:ext cx="533400" cy="368300"/>
          </a:xfrm>
          <a:prstGeom prst="rect">
            <a:avLst/>
          </a:prstGeom>
          <a:noFill/>
          <a:ln>
            <a:noFill/>
          </a:ln>
        </p:spPr>
      </p:pic>
      <p:sp>
        <p:nvSpPr>
          <p:cNvPr id="263" name="Google Shape;263;p11"/>
          <p:cNvSpPr/>
          <p:nvPr/>
        </p:nvSpPr>
        <p:spPr>
          <a:xfrm>
            <a:off x="1309370" y="2255520"/>
            <a:ext cx="4935220" cy="368935"/>
          </a:xfrm>
          <a:prstGeom prst="rect">
            <a:avLst/>
          </a:prstGeom>
          <a:noFill/>
          <a:ln>
            <a:noFill/>
          </a:ln>
        </p:spPr>
        <p:txBody>
          <a:bodyPr anchorCtr="0" anchor="b" bIns="0" lIns="0" spcFirstLastPara="1" rIns="0" wrap="square" tIns="0">
            <a:spAutoFit/>
          </a:bodyPr>
          <a:lstStyle/>
          <a:p>
            <a:pPr indent="0" lvl="0" marL="0" marR="0" rtl="0" algn="l">
              <a:lnSpc>
                <a:spcPct val="100000"/>
              </a:lnSpc>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Estructura de imágenes</a:t>
            </a:r>
            <a:endParaRPr b="0" i="0" sz="1600" u="none" cap="none" strike="noStrike"/>
          </a:p>
        </p:txBody>
      </p:sp>
      <p:sp>
        <p:nvSpPr>
          <p:cNvPr id="264" name="Google Shape;264;p11"/>
          <p:cNvSpPr/>
          <p:nvPr/>
        </p:nvSpPr>
        <p:spPr>
          <a:xfrm>
            <a:off x="1309370" y="2900680"/>
            <a:ext cx="4190281" cy="801306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Las imágenes Docker son plantillas de solo lectura formadas por capas superpuestas que se almacenan mediante union filesystem. Cada instrucción de Dockerfile genera una capa.</a:t>
            </a:r>
            <a:endParaRPr b="0" i="0" sz="1600" u="none" cap="none" strike="noStrike"/>
          </a:p>
        </p:txBody>
      </p:sp>
      <p:sp>
        <p:nvSpPr>
          <p:cNvPr id="265" name="Google Shape;265;p11"/>
          <p:cNvSpPr/>
          <p:nvPr/>
        </p:nvSpPr>
        <p:spPr>
          <a:xfrm>
            <a:off x="6614795" y="2255520"/>
            <a:ext cx="4190365" cy="368935"/>
          </a:xfrm>
          <a:prstGeom prst="rect">
            <a:avLst/>
          </a:prstGeom>
          <a:noFill/>
          <a:ln>
            <a:noFill/>
          </a:ln>
        </p:spPr>
        <p:txBody>
          <a:bodyPr anchorCtr="0" anchor="b"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Optimización de imágenes</a:t>
            </a:r>
            <a:endParaRPr b="0" i="0" sz="1600" u="none" cap="none" strike="noStrike"/>
          </a:p>
        </p:txBody>
      </p:sp>
      <p:sp>
        <p:nvSpPr>
          <p:cNvPr id="266" name="Google Shape;266;p11"/>
          <p:cNvSpPr/>
          <p:nvPr/>
        </p:nvSpPr>
        <p:spPr>
          <a:xfrm>
            <a:off x="6614795" y="2900680"/>
            <a:ext cx="4190365" cy="2908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El uso de capas permite reutilizar partes de la imagen en caché, acelerando la construcción. Las capas compartidas reducen el espacio en disco y permiten versionar aplicaciones de manera eficiente.</a:t>
            </a:r>
            <a:endParaRPr b="0" i="0" sz="1600" u="none" cap="none" strike="noStrike"/>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271" name="Shape 271"/>
        <p:cNvGrpSpPr/>
        <p:nvPr/>
      </p:nvGrpSpPr>
      <p:grpSpPr>
        <a:xfrm>
          <a:off x="0" y="0"/>
          <a:ext cx="0" cy="0"/>
          <a:chOff x="0" y="0"/>
          <a:chExt cx="0" cy="0"/>
        </a:xfrm>
      </p:grpSpPr>
      <p:pic>
        <p:nvPicPr>
          <p:cNvPr descr="https://kimi-img.moonshot.cn/pub/slides/slides_tmpl/image/25-08-27-20:09:25-d2nfat98bjvh7rlj0j2g.png" id="272" name="Google Shape;272;p12"/>
          <p:cNvPicPr preferRelativeResize="0"/>
          <p:nvPr/>
        </p:nvPicPr>
        <p:blipFill rotWithShape="1">
          <a:blip r:embed="rId3">
            <a:alphaModFix/>
          </a:blip>
          <a:srcRect b="0" l="0" r="0" t="0"/>
          <a:stretch/>
        </p:blipFill>
        <p:spPr>
          <a:xfrm>
            <a:off x="723900" y="1514475"/>
            <a:ext cx="4189095" cy="3772535"/>
          </a:xfrm>
          <a:prstGeom prst="rect">
            <a:avLst/>
          </a:prstGeom>
          <a:noFill/>
          <a:ln>
            <a:noFill/>
          </a:ln>
        </p:spPr>
      </p:pic>
      <p:sp>
        <p:nvSpPr>
          <p:cNvPr id="273" name="Google Shape;273;p12"/>
          <p:cNvSpPr/>
          <p:nvPr/>
        </p:nvSpPr>
        <p:spPr>
          <a:xfrm>
            <a:off x="5384165" y="3196590"/>
            <a:ext cx="5415915" cy="119888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2"/>
          <p:cNvSpPr/>
          <p:nvPr/>
        </p:nvSpPr>
        <p:spPr>
          <a:xfrm>
            <a:off x="5384165" y="3196590"/>
            <a:ext cx="5415915" cy="1198880"/>
          </a:xfrm>
          <a:prstGeom prst="rect">
            <a:avLst/>
          </a:prstGeom>
          <a:noFill/>
          <a:ln>
            <a:noFill/>
          </a:ln>
        </p:spPr>
        <p:txBody>
          <a:bodyPr anchorCtr="0" anchor="t" bIns="45700" lIns="45700" spcFirstLastPara="1" rIns="91425" wrap="square" tIns="91425">
            <a:noAutofit/>
          </a:bodyPr>
          <a:lstStyle/>
          <a:p>
            <a:pPr indent="0" lvl="0" marL="0" marR="0" rtl="0" algn="just">
              <a:lnSpc>
                <a:spcPct val="100000"/>
              </a:lnSpc>
              <a:spcBef>
                <a:spcPts val="0"/>
              </a:spcBef>
              <a:spcAft>
                <a:spcPts val="0"/>
              </a:spcAft>
              <a:buClr>
                <a:srgbClr val="FFFFFF"/>
              </a:buClr>
              <a:buSzPts val="3600"/>
              <a:buFont typeface="Arial"/>
              <a:buNone/>
            </a:pPr>
            <a:r>
              <a:rPr b="1" i="0" lang="en-US" sz="3600" u="none" cap="none" strike="noStrike">
                <a:solidFill>
                  <a:srgbClr val="FFFFFF"/>
                </a:solidFill>
                <a:latin typeface="Arial"/>
                <a:ea typeface="Arial"/>
                <a:cs typeface="Arial"/>
                <a:sym typeface="Arial"/>
              </a:rPr>
              <a:t>Ciclo de vida del contenedor</a:t>
            </a:r>
            <a:endParaRPr b="0" i="0" sz="1600" u="none" cap="none" strike="noStrike"/>
          </a:p>
        </p:txBody>
      </p:sp>
      <p:sp>
        <p:nvSpPr>
          <p:cNvPr id="275" name="Google Shape;275;p12"/>
          <p:cNvSpPr/>
          <p:nvPr/>
        </p:nvSpPr>
        <p:spPr>
          <a:xfrm>
            <a:off x="5384165" y="1945640"/>
            <a:ext cx="3390265" cy="119888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FFFF"/>
              </a:buClr>
              <a:buSzPts val="7200"/>
              <a:buFont typeface="Arial"/>
              <a:buNone/>
            </a:pPr>
            <a:r>
              <a:rPr b="0" i="0" lang="en-US" sz="7200" u="none" cap="none" strike="noStrike">
                <a:solidFill>
                  <a:srgbClr val="FFFFFF"/>
                </a:solidFill>
                <a:latin typeface="Arial"/>
                <a:ea typeface="Arial"/>
                <a:cs typeface="Arial"/>
                <a:sym typeface="Arial"/>
              </a:rPr>
              <a:t>03</a:t>
            </a:r>
            <a:endParaRPr b="0" i="0" sz="1600" u="none" cap="none" strike="noStrike"/>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sp>
        <p:nvSpPr>
          <p:cNvPr id="281" name="Google Shape;281;p13"/>
          <p:cNvSpPr/>
          <p:nvPr/>
        </p:nvSpPr>
        <p:spPr>
          <a:xfrm>
            <a:off x="-1270" y="-3175"/>
            <a:ext cx="12224385" cy="3855085"/>
          </a:xfrm>
          <a:prstGeom prst="rect">
            <a:avLst/>
          </a:prstGeom>
          <a:solidFill>
            <a:srgbClr val="2323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3"/>
          <p:cNvSpPr/>
          <p:nvPr/>
        </p:nvSpPr>
        <p:spPr>
          <a:xfrm>
            <a:off x="-1270" y="-3175"/>
            <a:ext cx="12224385" cy="385508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7-d2nfatp8bjvh7rlj0j9g.png" id="283" name="Google Shape;283;p13"/>
          <p:cNvPicPr preferRelativeResize="0"/>
          <p:nvPr/>
        </p:nvPicPr>
        <p:blipFill rotWithShape="1">
          <a:blip r:embed="rId3">
            <a:alphaModFix/>
          </a:blip>
          <a:srcRect b="5" l="0" r="0" t="5"/>
          <a:stretch/>
        </p:blipFill>
        <p:spPr>
          <a:xfrm>
            <a:off x="608965" y="1366655"/>
            <a:ext cx="3243243" cy="2160000"/>
          </a:xfrm>
          <a:prstGeom prst="rect">
            <a:avLst/>
          </a:prstGeom>
          <a:noFill/>
          <a:ln>
            <a:noFill/>
          </a:ln>
        </p:spPr>
      </p:pic>
      <p:pic>
        <p:nvPicPr>
          <p:cNvPr descr="https://kimi-img.moonshot.cn/pub/slides/slides_tmpl/image/25-08-27-20:09:27-d2nfatp8bjvh7rlj0jag.png" id="284" name="Google Shape;284;p13"/>
          <p:cNvPicPr preferRelativeResize="0"/>
          <p:nvPr/>
        </p:nvPicPr>
        <p:blipFill rotWithShape="1">
          <a:blip r:embed="rId4">
            <a:alphaModFix/>
          </a:blip>
          <a:srcRect b="0" l="8" r="7" t="0"/>
          <a:stretch/>
        </p:blipFill>
        <p:spPr>
          <a:xfrm>
            <a:off x="8332133" y="1366655"/>
            <a:ext cx="3242945" cy="2160000"/>
          </a:xfrm>
          <a:prstGeom prst="rect">
            <a:avLst/>
          </a:prstGeom>
          <a:noFill/>
          <a:ln>
            <a:noFill/>
          </a:ln>
        </p:spPr>
      </p:pic>
      <p:pic>
        <p:nvPicPr>
          <p:cNvPr descr="https://kimi-img.moonshot.cn/pub/slides/slides_tmpl/image/25-08-27-20:09:27-d2nfatp8bjvh7rlj0jb0.png" id="285" name="Google Shape;285;p13"/>
          <p:cNvPicPr preferRelativeResize="0"/>
          <p:nvPr/>
        </p:nvPicPr>
        <p:blipFill rotWithShape="1">
          <a:blip r:embed="rId5">
            <a:alphaModFix/>
          </a:blip>
          <a:srcRect b="0" l="8" r="7" t="0"/>
          <a:stretch/>
        </p:blipFill>
        <p:spPr>
          <a:xfrm>
            <a:off x="4470698" y="1366655"/>
            <a:ext cx="3242945" cy="2160000"/>
          </a:xfrm>
          <a:prstGeom prst="rect">
            <a:avLst/>
          </a:prstGeom>
          <a:noFill/>
          <a:ln>
            <a:noFill/>
          </a:ln>
        </p:spPr>
      </p:pic>
      <p:cxnSp>
        <p:nvCxnSpPr>
          <p:cNvPr id="286" name="Google Shape;286;p13"/>
          <p:cNvCxnSpPr/>
          <p:nvPr/>
        </p:nvCxnSpPr>
        <p:spPr>
          <a:xfrm>
            <a:off x="10494645" y="950595"/>
            <a:ext cx="1080000" cy="0"/>
          </a:xfrm>
          <a:prstGeom prst="straightConnector1">
            <a:avLst/>
          </a:prstGeom>
          <a:noFill/>
          <a:ln cap="flat" cmpd="sng" w="12700">
            <a:solidFill>
              <a:srgbClr val="FFFFFF"/>
            </a:solidFill>
            <a:prstDash val="solid"/>
            <a:round/>
            <a:headEnd len="sm" w="sm" type="none"/>
            <a:tailEnd len="sm" w="sm" type="none"/>
          </a:ln>
        </p:spPr>
      </p:cxnSp>
      <p:sp>
        <p:nvSpPr>
          <p:cNvPr id="287" name="Google Shape;287;p13"/>
          <p:cNvSpPr/>
          <p:nvPr/>
        </p:nvSpPr>
        <p:spPr>
          <a:xfrm>
            <a:off x="988703" y="367676"/>
            <a:ext cx="10661700" cy="706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Creación y preparación del entorno</a:t>
            </a:r>
            <a:endParaRPr b="0" i="0" sz="1600" u="none" cap="none" strike="noStrike"/>
          </a:p>
        </p:txBody>
      </p:sp>
      <p:pic>
        <p:nvPicPr>
          <p:cNvPr descr="https://kimi-img.moonshot.cn/pub/slides/slides_tmpl/image/25-08-27-20:09:27-d2nfatp8bjvh7rlj0ja0.png" id="288" name="Google Shape;288;p13"/>
          <p:cNvPicPr preferRelativeResize="0"/>
          <p:nvPr/>
        </p:nvPicPr>
        <p:blipFill rotWithShape="1">
          <a:blip r:embed="rId6">
            <a:alphaModFix/>
          </a:blip>
          <a:srcRect b="0" l="0" r="0" t="0"/>
          <a:stretch/>
        </p:blipFill>
        <p:spPr>
          <a:xfrm>
            <a:off x="429577" y="434657"/>
            <a:ext cx="533400" cy="368300"/>
          </a:xfrm>
          <a:prstGeom prst="rect">
            <a:avLst/>
          </a:prstGeom>
          <a:noFill/>
          <a:ln>
            <a:noFill/>
          </a:ln>
        </p:spPr>
      </p:pic>
      <p:sp>
        <p:nvSpPr>
          <p:cNvPr id="289" name="Google Shape;289;p13"/>
          <p:cNvSpPr/>
          <p:nvPr/>
        </p:nvSpPr>
        <p:spPr>
          <a:xfrm>
            <a:off x="582930" y="3932555"/>
            <a:ext cx="3408680"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Reserva de recursos</a:t>
            </a:r>
            <a:endParaRPr b="0" i="0" sz="1600" u="none" cap="none" strike="noStrike"/>
          </a:p>
        </p:txBody>
      </p:sp>
      <p:sp>
        <p:nvSpPr>
          <p:cNvPr id="290" name="Google Shape;290;p13"/>
          <p:cNvSpPr/>
          <p:nvPr/>
        </p:nvSpPr>
        <p:spPr>
          <a:xfrm>
            <a:off x="627380" y="4619625"/>
            <a:ext cx="3355975" cy="189992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Durante la creación, Docker reserva namespaces, sistema de archivos y configura la red. Esto asegura que el contenedor esté listo para ejecutar la aplicación.</a:t>
            </a:r>
            <a:endParaRPr b="0" i="0" sz="1600" u="none" cap="none" strike="noStrike"/>
          </a:p>
        </p:txBody>
      </p:sp>
      <p:sp>
        <p:nvSpPr>
          <p:cNvPr id="291" name="Google Shape;291;p13"/>
          <p:cNvSpPr/>
          <p:nvPr/>
        </p:nvSpPr>
        <p:spPr>
          <a:xfrm>
            <a:off x="4416425" y="3932555"/>
            <a:ext cx="3408680"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Montaje de capas</a:t>
            </a:r>
            <a:endParaRPr b="0" i="0" sz="1600" u="none" cap="none" strike="noStrike"/>
          </a:p>
        </p:txBody>
      </p:sp>
      <p:sp>
        <p:nvSpPr>
          <p:cNvPr id="292" name="Google Shape;292;p13"/>
          <p:cNvSpPr/>
          <p:nvPr/>
        </p:nvSpPr>
        <p:spPr>
          <a:xfrm>
            <a:off x="4460875" y="4619625"/>
            <a:ext cx="3355975" cy="180022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Las capas de la imagen se montan en el contenedor, y se aplican parámetros de seguridad como usuarios no privilegiados. En este estado, el contenedor existe pero no ejecuta procesos.</a:t>
            </a:r>
            <a:endParaRPr b="0" i="0" sz="1600" u="none" cap="none" strike="noStrike"/>
          </a:p>
        </p:txBody>
      </p:sp>
      <p:sp>
        <p:nvSpPr>
          <p:cNvPr id="293" name="Google Shape;293;p13"/>
          <p:cNvSpPr/>
          <p:nvPr/>
        </p:nvSpPr>
        <p:spPr>
          <a:xfrm>
            <a:off x="8249920" y="3932555"/>
            <a:ext cx="3408680"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Auditoría previa</a:t>
            </a:r>
            <a:endParaRPr b="0" i="0" sz="1600" u="none" cap="none" strike="noStrike"/>
          </a:p>
        </p:txBody>
      </p:sp>
      <p:sp>
        <p:nvSpPr>
          <p:cNvPr id="294" name="Google Shape;294;p13"/>
          <p:cNvSpPr/>
          <p:nvPr/>
        </p:nvSpPr>
        <p:spPr>
          <a:xfrm>
            <a:off x="8294370" y="4619625"/>
            <a:ext cx="3355975" cy="189992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Antes de la ejecución, se puede auditar el contenedor para asegurar que cumpla con los requisitos de seguridad y configuración antes de pasar a la fase de ejecución.</a:t>
            </a:r>
            <a:endParaRPr b="0" i="0" sz="1600" u="none" cap="none" strike="noStrike"/>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9" name="Shape 299"/>
        <p:cNvGrpSpPr/>
        <p:nvPr/>
      </p:nvGrpSpPr>
      <p:grpSpPr>
        <a:xfrm>
          <a:off x="0" y="0"/>
          <a:ext cx="0" cy="0"/>
          <a:chOff x="0" y="0"/>
          <a:chExt cx="0" cy="0"/>
        </a:xfrm>
      </p:grpSpPr>
      <p:sp>
        <p:nvSpPr>
          <p:cNvPr id="300" name="Google Shape;300;p14"/>
          <p:cNvSpPr/>
          <p:nvPr/>
        </p:nvSpPr>
        <p:spPr>
          <a:xfrm>
            <a:off x="4394835" y="608330"/>
            <a:ext cx="7016115" cy="76327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Ejecución y supervisión activa</a:t>
            </a:r>
            <a:endParaRPr b="0" i="0" sz="1600" u="none" cap="none" strike="noStrike"/>
          </a:p>
        </p:txBody>
      </p:sp>
      <p:pic>
        <p:nvPicPr>
          <p:cNvPr descr="https://kimi-img.moonshot.cn/pub/slides/slides_tmpl/image/25-08-27-20:09:27-d2nfatp8bjvh7rlj0j90.png" id="301" name="Google Shape;301;p14"/>
          <p:cNvPicPr preferRelativeResize="0"/>
          <p:nvPr/>
        </p:nvPicPr>
        <p:blipFill rotWithShape="1">
          <a:blip r:embed="rId3">
            <a:alphaModFix/>
          </a:blip>
          <a:srcRect b="0" l="130" r="129" t="0"/>
          <a:stretch/>
        </p:blipFill>
        <p:spPr>
          <a:xfrm>
            <a:off x="0" y="0"/>
            <a:ext cx="3968750" cy="6858000"/>
          </a:xfrm>
          <a:prstGeom prst="rect">
            <a:avLst/>
          </a:prstGeom>
          <a:noFill/>
          <a:ln>
            <a:noFill/>
          </a:ln>
        </p:spPr>
      </p:pic>
      <p:sp>
        <p:nvSpPr>
          <p:cNvPr id="302" name="Google Shape;302;p14"/>
          <p:cNvSpPr/>
          <p:nvPr/>
        </p:nvSpPr>
        <p:spPr>
          <a:xfrm>
            <a:off x="4451985" y="1953895"/>
            <a:ext cx="6501765" cy="424815"/>
          </a:xfrm>
          <a:prstGeom prst="rect">
            <a:avLst/>
          </a:prstGeom>
          <a:noFill/>
          <a:ln>
            <a:noFill/>
          </a:ln>
        </p:spPr>
        <p:txBody>
          <a:bodyPr anchorCtr="0" anchor="ctr" bIns="36175" lIns="91425" spcFirstLastPara="1" rIns="91425" wrap="square" tIns="45700">
            <a:noAutofit/>
          </a:bodyPr>
          <a:lstStyle/>
          <a:p>
            <a:pPr indent="0" lvl="0" marL="0" marR="0" rtl="0" algn="l">
              <a:lnSpc>
                <a:spcPct val="100000"/>
              </a:lnSpc>
              <a:spcBef>
                <a:spcPts val="0"/>
              </a:spcBef>
              <a:spcAft>
                <a:spcPts val="0"/>
              </a:spcAft>
              <a:buClr>
                <a:srgbClr val="111111"/>
              </a:buClr>
              <a:buSzPts val="2400"/>
              <a:buFont typeface="Arial"/>
              <a:buNone/>
            </a:pPr>
            <a:r>
              <a:rPr b="1" i="0" lang="en-US" sz="2400" u="none" cap="none" strike="noStrike">
                <a:solidFill>
                  <a:srgbClr val="111111"/>
                </a:solidFill>
                <a:latin typeface="Arial"/>
                <a:ea typeface="Arial"/>
                <a:cs typeface="Arial"/>
                <a:sym typeface="Arial"/>
              </a:rPr>
              <a:t>Inicio del proceso</a:t>
            </a:r>
            <a:endParaRPr b="0" i="0" sz="1600" u="none" cap="none" strike="noStrike"/>
          </a:p>
        </p:txBody>
      </p:sp>
      <p:sp>
        <p:nvSpPr>
          <p:cNvPr id="303" name="Google Shape;303;p14"/>
          <p:cNvSpPr/>
          <p:nvPr/>
        </p:nvSpPr>
        <p:spPr>
          <a:xfrm>
            <a:off x="4451985" y="2406015"/>
            <a:ext cx="6672580" cy="168656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4"/>
          <p:cNvSpPr/>
          <p:nvPr/>
        </p:nvSpPr>
        <p:spPr>
          <a:xfrm>
            <a:off x="4451985" y="2406015"/>
            <a:ext cx="6672580" cy="1686560"/>
          </a:xfrm>
          <a:prstGeom prst="rect">
            <a:avLst/>
          </a:prstGeom>
          <a:noFill/>
          <a:ln>
            <a:noFill/>
          </a:ln>
        </p:spPr>
        <p:txBody>
          <a:bodyPr anchorCtr="0" anchor="t" bIns="46975" lIns="46975" spcFirstLastPara="1" rIns="90150" wrap="square" tIns="90150">
            <a:noAutofit/>
          </a:bodyPr>
          <a:lstStyle/>
          <a:p>
            <a:pPr indent="0" lvl="0" marL="0" marR="0" rtl="0" algn="l">
              <a:lnSpc>
                <a:spcPct val="120000"/>
              </a:lnSpc>
              <a:spcBef>
                <a:spcPts val="0"/>
              </a:spcBef>
              <a:spcAft>
                <a:spcPts val="0"/>
              </a:spcAft>
              <a:buClr>
                <a:srgbClr val="111111"/>
              </a:buClr>
              <a:buSzPts val="1800"/>
              <a:buFont typeface="Arial"/>
              <a:buNone/>
            </a:pPr>
            <a:r>
              <a:rPr b="0" i="0" lang="en-US" sz="1800" u="none" cap="none" strike="noStrike">
                <a:solidFill>
                  <a:srgbClr val="111111"/>
                </a:solidFill>
                <a:latin typeface="Arial"/>
                <a:ea typeface="Arial"/>
                <a:cs typeface="Arial"/>
                <a:sym typeface="Arial"/>
              </a:rPr>
              <a:t>Al iniciarse, el contenedor lanza el proceso init definido en CMD o ENTRYPOINT. Docker monitoriza el consumo de recursos mediante cgroups y captura los logs de stdout/stderr.</a:t>
            </a:r>
            <a:endParaRPr b="0" i="0" sz="1600" u="none" cap="none" strike="noStrike"/>
          </a:p>
        </p:txBody>
      </p:sp>
      <p:sp>
        <p:nvSpPr>
          <p:cNvPr id="305" name="Google Shape;305;p14"/>
          <p:cNvSpPr/>
          <p:nvPr/>
        </p:nvSpPr>
        <p:spPr>
          <a:xfrm>
            <a:off x="4451985" y="4111625"/>
            <a:ext cx="6501765" cy="424815"/>
          </a:xfrm>
          <a:prstGeom prst="rect">
            <a:avLst/>
          </a:prstGeom>
          <a:noFill/>
          <a:ln>
            <a:noFill/>
          </a:ln>
        </p:spPr>
        <p:txBody>
          <a:bodyPr anchorCtr="0" anchor="ctr" bIns="36175" lIns="91425" spcFirstLastPara="1" rIns="91425" wrap="square" tIns="45700">
            <a:noAutofit/>
          </a:bodyPr>
          <a:lstStyle/>
          <a:p>
            <a:pPr indent="0" lvl="0" marL="0" marR="0" rtl="0" algn="l">
              <a:lnSpc>
                <a:spcPct val="100000"/>
              </a:lnSpc>
              <a:spcBef>
                <a:spcPts val="0"/>
              </a:spcBef>
              <a:spcAft>
                <a:spcPts val="0"/>
              </a:spcAft>
              <a:buClr>
                <a:srgbClr val="111111"/>
              </a:buClr>
              <a:buSzPts val="2400"/>
              <a:buFont typeface="Arial"/>
              <a:buNone/>
            </a:pPr>
            <a:r>
              <a:rPr b="1" i="0" lang="en-US" sz="2400" u="none" cap="none" strike="noStrike">
                <a:solidFill>
                  <a:srgbClr val="111111"/>
                </a:solidFill>
                <a:latin typeface="Arial"/>
                <a:ea typeface="Arial"/>
                <a:cs typeface="Arial"/>
                <a:sym typeface="Arial"/>
              </a:rPr>
              <a:t>Interacción con redes y volúmenes</a:t>
            </a:r>
            <a:endParaRPr b="0" i="0" sz="1600" u="none" cap="none" strike="noStrike"/>
          </a:p>
        </p:txBody>
      </p:sp>
      <p:sp>
        <p:nvSpPr>
          <p:cNvPr id="306" name="Google Shape;306;p14"/>
          <p:cNvSpPr/>
          <p:nvPr/>
        </p:nvSpPr>
        <p:spPr>
          <a:xfrm>
            <a:off x="4451985" y="4566285"/>
            <a:ext cx="6672580" cy="168656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4"/>
          <p:cNvSpPr/>
          <p:nvPr/>
        </p:nvSpPr>
        <p:spPr>
          <a:xfrm>
            <a:off x="4451985" y="4566285"/>
            <a:ext cx="6672580" cy="1686560"/>
          </a:xfrm>
          <a:prstGeom prst="rect">
            <a:avLst/>
          </a:prstGeom>
          <a:noFill/>
          <a:ln>
            <a:noFill/>
          </a:ln>
        </p:spPr>
        <p:txBody>
          <a:bodyPr anchorCtr="0" anchor="t" bIns="46975" lIns="46975" spcFirstLastPara="1" rIns="90150" wrap="square" tIns="90150">
            <a:noAutofit/>
          </a:bodyPr>
          <a:lstStyle/>
          <a:p>
            <a:pPr indent="0" lvl="0" marL="0" marR="0" rtl="0" algn="l">
              <a:lnSpc>
                <a:spcPct val="120000"/>
              </a:lnSpc>
              <a:spcBef>
                <a:spcPts val="0"/>
              </a:spcBef>
              <a:spcAft>
                <a:spcPts val="0"/>
              </a:spcAft>
              <a:buClr>
                <a:srgbClr val="111111"/>
              </a:buClr>
              <a:buSzPts val="1800"/>
              <a:buFont typeface="Arial"/>
              <a:buNone/>
            </a:pPr>
            <a:r>
              <a:rPr b="0" i="0" lang="en-US" sz="1800" u="none" cap="none" strike="noStrike">
                <a:solidFill>
                  <a:srgbClr val="111111"/>
                </a:solidFill>
                <a:latin typeface="Arial"/>
                <a:ea typeface="Arial"/>
                <a:cs typeface="Arial"/>
                <a:sym typeface="Arial"/>
              </a:rPr>
              <a:t>Durante la ejecución, el contenedor puede interactuar con redes y volúmenes asignados, permitiendo la comunicación con otros servicios y la persistencia de datos.</a:t>
            </a:r>
            <a:endParaRPr b="0" i="0" sz="1600" u="none" cap="none" strike="noStrike"/>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312" name="Shape 312"/>
        <p:cNvGrpSpPr/>
        <p:nvPr/>
      </p:nvGrpSpPr>
      <p:grpSpPr>
        <a:xfrm>
          <a:off x="0" y="0"/>
          <a:ext cx="0" cy="0"/>
          <a:chOff x="0" y="0"/>
          <a:chExt cx="0" cy="0"/>
        </a:xfrm>
      </p:grpSpPr>
      <p:pic>
        <p:nvPicPr>
          <p:cNvPr descr="https://kimi-img.moonshot.cn/pub/slides/slides_tmpl/image/25-08-27-20:09:28-d2nfau18bjvh7rlj0je0.png" id="313" name="Google Shape;313;p15"/>
          <p:cNvPicPr preferRelativeResize="0"/>
          <p:nvPr/>
        </p:nvPicPr>
        <p:blipFill rotWithShape="1">
          <a:blip r:embed="rId3">
            <a:alphaModFix/>
          </a:blip>
          <a:srcRect b="15" l="0" r="0" t="16"/>
          <a:stretch/>
        </p:blipFill>
        <p:spPr>
          <a:xfrm>
            <a:off x="434340" y="4406330"/>
            <a:ext cx="1548000" cy="1548000"/>
          </a:xfrm>
          <a:prstGeom prst="rect">
            <a:avLst/>
          </a:prstGeom>
          <a:noFill/>
          <a:ln>
            <a:noFill/>
          </a:ln>
        </p:spPr>
      </p:pic>
      <p:pic>
        <p:nvPicPr>
          <p:cNvPr descr="https://kimi-img.moonshot.cn/pub/slides/slides_tmpl/image/25-08-27-20:09:28-d2nfau18bjvh7rlj0jfg.png" id="314" name="Google Shape;314;p15"/>
          <p:cNvPicPr preferRelativeResize="0"/>
          <p:nvPr/>
        </p:nvPicPr>
        <p:blipFill rotWithShape="1">
          <a:blip r:embed="rId4">
            <a:alphaModFix/>
          </a:blip>
          <a:srcRect b="15" l="0" r="0" t="16"/>
          <a:stretch/>
        </p:blipFill>
        <p:spPr>
          <a:xfrm>
            <a:off x="6206490" y="1682815"/>
            <a:ext cx="1548000" cy="1548000"/>
          </a:xfrm>
          <a:prstGeom prst="rect">
            <a:avLst/>
          </a:prstGeom>
          <a:noFill/>
          <a:ln>
            <a:noFill/>
          </a:ln>
        </p:spPr>
      </p:pic>
      <p:pic>
        <p:nvPicPr>
          <p:cNvPr descr="https://kimi-img.moonshot.cn/pub/slides/slides_tmpl/image/25-08-27-20:09:28-d2nfau18bjvh7rlj0jgg.png" id="315" name="Google Shape;315;p15"/>
          <p:cNvPicPr preferRelativeResize="0"/>
          <p:nvPr/>
        </p:nvPicPr>
        <p:blipFill rotWithShape="1">
          <a:blip r:embed="rId5">
            <a:alphaModFix/>
          </a:blip>
          <a:srcRect b="15" l="0" r="0" t="16"/>
          <a:stretch/>
        </p:blipFill>
        <p:spPr>
          <a:xfrm>
            <a:off x="6255385" y="4406330"/>
            <a:ext cx="1548000" cy="1548000"/>
          </a:xfrm>
          <a:prstGeom prst="rect">
            <a:avLst/>
          </a:prstGeom>
          <a:noFill/>
          <a:ln>
            <a:noFill/>
          </a:ln>
        </p:spPr>
      </p:pic>
      <p:pic>
        <p:nvPicPr>
          <p:cNvPr descr="https://kimi-img.moonshot.cn/pub/slides/slides_tmpl/image/25-08-27-20:09:29-d2nfau98bjvh7rlj0jh0.png" id="316" name="Google Shape;316;p15"/>
          <p:cNvPicPr preferRelativeResize="0"/>
          <p:nvPr/>
        </p:nvPicPr>
        <p:blipFill rotWithShape="1">
          <a:blip r:embed="rId6">
            <a:alphaModFix/>
          </a:blip>
          <a:srcRect b="15" l="0" r="0" t="16"/>
          <a:stretch/>
        </p:blipFill>
        <p:spPr>
          <a:xfrm>
            <a:off x="381635" y="1682815"/>
            <a:ext cx="1548000" cy="1548000"/>
          </a:xfrm>
          <a:prstGeom prst="rect">
            <a:avLst/>
          </a:prstGeom>
          <a:noFill/>
          <a:ln>
            <a:noFill/>
          </a:ln>
        </p:spPr>
      </p:pic>
      <p:sp>
        <p:nvSpPr>
          <p:cNvPr id="317" name="Google Shape;317;p15"/>
          <p:cNvSpPr/>
          <p:nvPr/>
        </p:nvSpPr>
        <p:spPr>
          <a:xfrm>
            <a:off x="988695" y="539115"/>
            <a:ext cx="10591800" cy="583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Parada controlada y eliminación</a:t>
            </a:r>
            <a:endParaRPr b="0" i="0" sz="1600" u="none" cap="none" strike="noStrike"/>
          </a:p>
        </p:txBody>
      </p:sp>
      <p:pic>
        <p:nvPicPr>
          <p:cNvPr descr="https://kimi-img.moonshot.cn/pub/slides/slides_tmpl/image/25-08-27-20:09:27-d2nfatp8bjvh7rlj0ja0.png" id="318" name="Google Shape;318;p15"/>
          <p:cNvPicPr preferRelativeResize="0"/>
          <p:nvPr/>
        </p:nvPicPr>
        <p:blipFill rotWithShape="1">
          <a:blip r:embed="rId7">
            <a:alphaModFix/>
          </a:blip>
          <a:srcRect b="0" l="0" r="0" t="0"/>
          <a:stretch/>
        </p:blipFill>
        <p:spPr>
          <a:xfrm>
            <a:off x="429577" y="606107"/>
            <a:ext cx="533400" cy="368300"/>
          </a:xfrm>
          <a:prstGeom prst="rect">
            <a:avLst/>
          </a:prstGeom>
          <a:noFill/>
          <a:ln>
            <a:noFill/>
          </a:ln>
        </p:spPr>
      </p:pic>
      <p:sp>
        <p:nvSpPr>
          <p:cNvPr id="319" name="Google Shape;319;p15"/>
          <p:cNvSpPr/>
          <p:nvPr/>
        </p:nvSpPr>
        <p:spPr>
          <a:xfrm>
            <a:off x="1929765" y="1490033"/>
            <a:ext cx="3917315" cy="380390"/>
          </a:xfrm>
          <a:prstGeom prst="rect">
            <a:avLst/>
          </a:prstGeom>
          <a:noFill/>
          <a:ln>
            <a:noFill/>
          </a:ln>
        </p:spPr>
        <p:txBody>
          <a:bodyPr anchorCtr="0" anchor="b"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Parada controlada</a:t>
            </a:r>
            <a:endParaRPr b="0" i="0" sz="1600" u="none" cap="none" strike="noStrike"/>
          </a:p>
        </p:txBody>
      </p:sp>
      <p:sp>
        <p:nvSpPr>
          <p:cNvPr id="320" name="Google Shape;320;p15"/>
          <p:cNvSpPr/>
          <p:nvPr/>
        </p:nvSpPr>
        <p:spPr>
          <a:xfrm>
            <a:off x="2023640" y="1873598"/>
            <a:ext cx="3742283" cy="877627"/>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La parada del contenedor envía una señal SIGTERM seguida de SIGKILL tras un tiempo de espera, permitiendo que la aplicación cierre conexiones y libere recursos de manera ordenada.</a:t>
            </a:r>
            <a:endParaRPr b="0" i="0" sz="1600" u="none" cap="none" strike="noStrike"/>
          </a:p>
        </p:txBody>
      </p:sp>
      <p:sp>
        <p:nvSpPr>
          <p:cNvPr id="321" name="Google Shape;321;p15"/>
          <p:cNvSpPr/>
          <p:nvPr/>
        </p:nvSpPr>
        <p:spPr>
          <a:xfrm>
            <a:off x="2028190" y="4195945"/>
            <a:ext cx="3917315" cy="387375"/>
          </a:xfrm>
          <a:prstGeom prst="rect">
            <a:avLst/>
          </a:prstGeom>
          <a:noFill/>
          <a:ln>
            <a:noFill/>
          </a:ln>
        </p:spPr>
        <p:txBody>
          <a:bodyPr anchorCtr="0" anchor="b"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Eliminación de recursos</a:t>
            </a:r>
            <a:endParaRPr b="0" i="0" sz="1600" u="none" cap="none" strike="noStrike"/>
          </a:p>
        </p:txBody>
      </p:sp>
      <p:sp>
        <p:nvSpPr>
          <p:cNvPr id="322" name="Google Shape;322;p15"/>
          <p:cNvSpPr/>
          <p:nvPr/>
        </p:nvSpPr>
        <p:spPr>
          <a:xfrm>
            <a:off x="2072402" y="4607452"/>
            <a:ext cx="3779228" cy="1641583"/>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Al eliminar el contenedor, se liberan namespaces y se desmontan volúmenes anónimos. Los volúmenes nombrados persisten, permitiendo recuperar datos en futuras instancias.</a:t>
            </a:r>
            <a:endParaRPr b="0" i="0" sz="1600" u="none" cap="none" strike="noStrike"/>
          </a:p>
        </p:txBody>
      </p:sp>
      <p:sp>
        <p:nvSpPr>
          <p:cNvPr id="323" name="Google Shape;323;p15"/>
          <p:cNvSpPr/>
          <p:nvPr/>
        </p:nvSpPr>
        <p:spPr>
          <a:xfrm>
            <a:off x="7809230" y="1471617"/>
            <a:ext cx="3917315" cy="398806"/>
          </a:xfrm>
          <a:prstGeom prst="rect">
            <a:avLst/>
          </a:prstGeom>
          <a:noFill/>
          <a:ln>
            <a:noFill/>
          </a:ln>
        </p:spPr>
        <p:txBody>
          <a:bodyPr anchorCtr="0" anchor="b"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Reutilización de datos</a:t>
            </a:r>
            <a:endParaRPr b="0" i="0" sz="1600" u="none" cap="none" strike="noStrike"/>
          </a:p>
        </p:txBody>
      </p:sp>
      <p:sp>
        <p:nvSpPr>
          <p:cNvPr id="324" name="Google Shape;324;p15"/>
          <p:cNvSpPr/>
          <p:nvPr/>
        </p:nvSpPr>
        <p:spPr>
          <a:xfrm>
            <a:off x="7903105" y="1873598"/>
            <a:ext cx="3742283" cy="1479647"/>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Los volúmenes nombrados permiten compartir datos entre contenedores sin necesidad de copiarlos, mejorando la eficiencia y la gestión de recursos.</a:t>
            </a:r>
            <a:endParaRPr b="0" i="0" sz="1600" u="none" cap="none" strike="noStrike"/>
          </a:p>
        </p:txBody>
      </p:sp>
      <p:sp>
        <p:nvSpPr>
          <p:cNvPr id="325" name="Google Shape;325;p15"/>
          <p:cNvSpPr/>
          <p:nvPr/>
        </p:nvSpPr>
        <p:spPr>
          <a:xfrm>
            <a:off x="7809230" y="4207376"/>
            <a:ext cx="3917315" cy="386740"/>
          </a:xfrm>
          <a:prstGeom prst="rect">
            <a:avLst/>
          </a:prstGeom>
          <a:noFill/>
          <a:ln>
            <a:noFill/>
          </a:ln>
        </p:spPr>
        <p:txBody>
          <a:bodyPr anchorCtr="0" anchor="b"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Seguridad en eliminación</a:t>
            </a:r>
            <a:endParaRPr b="0" i="0" sz="1600" u="none" cap="none" strike="noStrike"/>
          </a:p>
        </p:txBody>
      </p:sp>
      <p:sp>
        <p:nvSpPr>
          <p:cNvPr id="326" name="Google Shape;326;p15"/>
          <p:cNvSpPr/>
          <p:nvPr/>
        </p:nvSpPr>
        <p:spPr>
          <a:xfrm>
            <a:off x="7903105" y="4597292"/>
            <a:ext cx="3742283" cy="1548231"/>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La eliminación controlada asegura que no se dejen residuos de datos sensibles y que el sistema permanezca seguro y limpio.</a:t>
            </a:r>
            <a:endParaRPr b="0" i="0" sz="1600" u="none" cap="none" strike="noStrike"/>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331" name="Shape 331"/>
        <p:cNvGrpSpPr/>
        <p:nvPr/>
      </p:nvGrpSpPr>
      <p:grpSpPr>
        <a:xfrm>
          <a:off x="0" y="0"/>
          <a:ext cx="0" cy="0"/>
          <a:chOff x="0" y="0"/>
          <a:chExt cx="0" cy="0"/>
        </a:xfrm>
      </p:grpSpPr>
      <p:pic>
        <p:nvPicPr>
          <p:cNvPr descr="https://kimi-img.moonshot.cn/pub/slides/slides_tmpl/image/25-08-27-20:09:25-d2nfat98bjvh7rlj0j2g.png" id="332" name="Google Shape;332;p16"/>
          <p:cNvPicPr preferRelativeResize="0"/>
          <p:nvPr/>
        </p:nvPicPr>
        <p:blipFill rotWithShape="1">
          <a:blip r:embed="rId3">
            <a:alphaModFix/>
          </a:blip>
          <a:srcRect b="0" l="0" r="0" t="0"/>
          <a:stretch/>
        </p:blipFill>
        <p:spPr>
          <a:xfrm>
            <a:off x="723900" y="1514475"/>
            <a:ext cx="4189095" cy="3772535"/>
          </a:xfrm>
          <a:prstGeom prst="rect">
            <a:avLst/>
          </a:prstGeom>
          <a:noFill/>
          <a:ln>
            <a:noFill/>
          </a:ln>
        </p:spPr>
      </p:pic>
      <p:sp>
        <p:nvSpPr>
          <p:cNvPr id="333" name="Google Shape;333;p16"/>
          <p:cNvSpPr/>
          <p:nvPr/>
        </p:nvSpPr>
        <p:spPr>
          <a:xfrm>
            <a:off x="5384165" y="3196590"/>
            <a:ext cx="5415915" cy="119888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6"/>
          <p:cNvSpPr/>
          <p:nvPr/>
        </p:nvSpPr>
        <p:spPr>
          <a:xfrm>
            <a:off x="5384165" y="3196590"/>
            <a:ext cx="5415915" cy="1198880"/>
          </a:xfrm>
          <a:prstGeom prst="rect">
            <a:avLst/>
          </a:prstGeom>
          <a:noFill/>
          <a:ln>
            <a:noFill/>
          </a:ln>
        </p:spPr>
        <p:txBody>
          <a:bodyPr anchorCtr="0" anchor="t" bIns="45700" lIns="45700" spcFirstLastPara="1" rIns="91425" wrap="square" tIns="91425">
            <a:noAutofit/>
          </a:bodyPr>
          <a:lstStyle/>
          <a:p>
            <a:pPr indent="0" lvl="0" marL="0" marR="0" rtl="0" algn="just">
              <a:lnSpc>
                <a:spcPct val="100000"/>
              </a:lnSpc>
              <a:spcBef>
                <a:spcPts val="0"/>
              </a:spcBef>
              <a:spcAft>
                <a:spcPts val="0"/>
              </a:spcAft>
              <a:buClr>
                <a:srgbClr val="FFFFFF"/>
              </a:buClr>
              <a:buSzPts val="3600"/>
              <a:buFont typeface="Arial"/>
              <a:buNone/>
            </a:pPr>
            <a:r>
              <a:rPr b="1" i="0" lang="en-US" sz="3600" u="none" cap="none" strike="noStrike">
                <a:solidFill>
                  <a:srgbClr val="FFFFFF"/>
                </a:solidFill>
                <a:latin typeface="Arial"/>
                <a:ea typeface="Arial"/>
                <a:cs typeface="Arial"/>
                <a:sym typeface="Arial"/>
              </a:rPr>
              <a:t>Dockerfiles y construcción</a:t>
            </a:r>
            <a:endParaRPr b="0" i="0" sz="1600" u="none" cap="none" strike="noStrike"/>
          </a:p>
        </p:txBody>
      </p:sp>
      <p:sp>
        <p:nvSpPr>
          <p:cNvPr id="335" name="Google Shape;335;p16"/>
          <p:cNvSpPr/>
          <p:nvPr/>
        </p:nvSpPr>
        <p:spPr>
          <a:xfrm>
            <a:off x="5384165" y="1945640"/>
            <a:ext cx="3390265" cy="119888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FFFF"/>
              </a:buClr>
              <a:buSzPts val="7200"/>
              <a:buFont typeface="Arial"/>
              <a:buNone/>
            </a:pPr>
            <a:r>
              <a:rPr b="0" i="0" lang="en-US" sz="7200" u="none" cap="none" strike="noStrike">
                <a:solidFill>
                  <a:srgbClr val="FFFFFF"/>
                </a:solidFill>
                <a:latin typeface="Arial"/>
                <a:ea typeface="Arial"/>
                <a:cs typeface="Arial"/>
                <a:sym typeface="Arial"/>
              </a:rPr>
              <a:t>04</a:t>
            </a:r>
            <a:endParaRPr b="0" i="0" sz="1600" u="none" cap="none" strike="noStrike"/>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0" name="Shape 340"/>
        <p:cNvGrpSpPr/>
        <p:nvPr/>
      </p:nvGrpSpPr>
      <p:grpSpPr>
        <a:xfrm>
          <a:off x="0" y="0"/>
          <a:ext cx="0" cy="0"/>
          <a:chOff x="0" y="0"/>
          <a:chExt cx="0" cy="0"/>
        </a:xfrm>
      </p:grpSpPr>
      <p:sp>
        <p:nvSpPr>
          <p:cNvPr id="341" name="Google Shape;341;p17"/>
          <p:cNvSpPr/>
          <p:nvPr/>
        </p:nvSpPr>
        <p:spPr>
          <a:xfrm>
            <a:off x="0" y="6781800"/>
            <a:ext cx="12194540" cy="76200"/>
          </a:xfrm>
          <a:prstGeom prst="rect">
            <a:avLst/>
          </a:prstGeom>
          <a:solidFill>
            <a:srgbClr val="1C1A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7"/>
          <p:cNvSpPr/>
          <p:nvPr/>
        </p:nvSpPr>
        <p:spPr>
          <a:xfrm>
            <a:off x="0" y="6781800"/>
            <a:ext cx="12194540" cy="762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9-d2nfau98bjvh7rlj0jk0.png" id="343" name="Google Shape;343;p17"/>
          <p:cNvPicPr preferRelativeResize="0"/>
          <p:nvPr/>
        </p:nvPicPr>
        <p:blipFill rotWithShape="1">
          <a:blip r:embed="rId3">
            <a:alphaModFix/>
          </a:blip>
          <a:srcRect b="0" l="97" r="97" t="0"/>
          <a:stretch/>
        </p:blipFill>
        <p:spPr>
          <a:xfrm>
            <a:off x="6181090" y="1589405"/>
            <a:ext cx="2622550" cy="1821815"/>
          </a:xfrm>
          <a:prstGeom prst="rect">
            <a:avLst/>
          </a:prstGeom>
          <a:noFill/>
          <a:ln>
            <a:noFill/>
          </a:ln>
        </p:spPr>
      </p:pic>
      <p:pic>
        <p:nvPicPr>
          <p:cNvPr descr="https://kimi-img.moonshot.cn/pub/slides/slides_tmpl/image/25-08-27-20:09:29-d2nfau98bjvh7rlj0jhg.png" id="344" name="Google Shape;344;p17"/>
          <p:cNvPicPr preferRelativeResize="0"/>
          <p:nvPr/>
        </p:nvPicPr>
        <p:blipFill rotWithShape="1">
          <a:blip r:embed="rId4">
            <a:alphaModFix/>
          </a:blip>
          <a:srcRect b="0" l="96" r="120" t="0"/>
          <a:stretch/>
        </p:blipFill>
        <p:spPr>
          <a:xfrm>
            <a:off x="3407410" y="1589405"/>
            <a:ext cx="2639695" cy="1821815"/>
          </a:xfrm>
          <a:prstGeom prst="rect">
            <a:avLst/>
          </a:prstGeom>
          <a:noFill/>
          <a:ln>
            <a:noFill/>
          </a:ln>
        </p:spPr>
      </p:pic>
      <p:pic>
        <p:nvPicPr>
          <p:cNvPr descr="https://kimi-img.moonshot.cn/pub/slides/slides_tmpl/image/25-08-27-20:09:29-d2nfau98bjvh7rlj0ji0.png" id="345" name="Google Shape;345;p17"/>
          <p:cNvPicPr preferRelativeResize="0"/>
          <p:nvPr/>
        </p:nvPicPr>
        <p:blipFill rotWithShape="1">
          <a:blip r:embed="rId5">
            <a:alphaModFix/>
          </a:blip>
          <a:srcRect b="0" l="96" r="120" t="0"/>
          <a:stretch/>
        </p:blipFill>
        <p:spPr>
          <a:xfrm>
            <a:off x="641350" y="1589405"/>
            <a:ext cx="2639695" cy="1821815"/>
          </a:xfrm>
          <a:prstGeom prst="rect">
            <a:avLst/>
          </a:prstGeom>
          <a:noFill/>
          <a:ln>
            <a:noFill/>
          </a:ln>
        </p:spPr>
      </p:pic>
      <p:pic>
        <p:nvPicPr>
          <p:cNvPr descr="https://kimi-img.moonshot.cn/pub/slides/slides_tmpl/image/25-08-27-20:09:29-d2nfau98bjvh7rlj0jj0.png" id="346" name="Google Shape;346;p17"/>
          <p:cNvPicPr preferRelativeResize="0"/>
          <p:nvPr/>
        </p:nvPicPr>
        <p:blipFill rotWithShape="1">
          <a:blip r:embed="rId6">
            <a:alphaModFix/>
          </a:blip>
          <a:srcRect b="0" l="96" r="120" t="0"/>
          <a:stretch/>
        </p:blipFill>
        <p:spPr>
          <a:xfrm>
            <a:off x="8938260" y="1589405"/>
            <a:ext cx="2639695" cy="1821815"/>
          </a:xfrm>
          <a:prstGeom prst="rect">
            <a:avLst/>
          </a:prstGeom>
          <a:noFill/>
          <a:ln>
            <a:noFill/>
          </a:ln>
        </p:spPr>
      </p:pic>
      <p:sp>
        <p:nvSpPr>
          <p:cNvPr id="347" name="Google Shape;347;p17"/>
          <p:cNvSpPr/>
          <p:nvPr/>
        </p:nvSpPr>
        <p:spPr>
          <a:xfrm>
            <a:off x="988060" y="513715"/>
            <a:ext cx="10534650" cy="49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Sintaxis básica de Dockerfile</a:t>
            </a:r>
            <a:endParaRPr b="0" i="0" sz="1600" u="none" cap="none" strike="noStrike"/>
          </a:p>
        </p:txBody>
      </p:sp>
      <p:pic>
        <p:nvPicPr>
          <p:cNvPr descr="https://kimi-img.moonshot.cn/pub/slides/slides_tmpl/image/25-08-27-20:09:25-d2nfat98bjvh7rlj0j30.png" id="348" name="Google Shape;348;p17"/>
          <p:cNvPicPr preferRelativeResize="0"/>
          <p:nvPr/>
        </p:nvPicPr>
        <p:blipFill rotWithShape="1">
          <a:blip r:embed="rId7">
            <a:alphaModFix/>
          </a:blip>
          <a:srcRect b="0" l="0" r="0" t="0"/>
          <a:stretch/>
        </p:blipFill>
        <p:spPr>
          <a:xfrm>
            <a:off x="428942" y="580481"/>
            <a:ext cx="533400" cy="368300"/>
          </a:xfrm>
          <a:prstGeom prst="rect">
            <a:avLst/>
          </a:prstGeom>
          <a:noFill/>
          <a:ln>
            <a:noFill/>
          </a:ln>
        </p:spPr>
      </p:pic>
      <p:sp>
        <p:nvSpPr>
          <p:cNvPr id="349" name="Google Shape;349;p17"/>
          <p:cNvSpPr/>
          <p:nvPr/>
        </p:nvSpPr>
        <p:spPr>
          <a:xfrm>
            <a:off x="641985" y="3475355"/>
            <a:ext cx="2639060"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FROM</a:t>
            </a:r>
            <a:endParaRPr b="0" i="0" sz="1600" u="none" cap="none" strike="noStrike"/>
          </a:p>
        </p:txBody>
      </p:sp>
      <p:sp>
        <p:nvSpPr>
          <p:cNvPr id="350" name="Google Shape;350;p17"/>
          <p:cNvSpPr/>
          <p:nvPr/>
        </p:nvSpPr>
        <p:spPr>
          <a:xfrm>
            <a:off x="641985" y="4137025"/>
            <a:ext cx="2639060" cy="1406922"/>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Establece la imagen base desde la cual se construirá la nueva imagen. Es el punto de partida para la construcción de la imagen.</a:t>
            </a:r>
            <a:endParaRPr b="0" i="0" sz="1600" u="none" cap="none" strike="noStrike"/>
          </a:p>
        </p:txBody>
      </p:sp>
      <p:sp>
        <p:nvSpPr>
          <p:cNvPr id="351" name="Google Shape;351;p17"/>
          <p:cNvSpPr/>
          <p:nvPr/>
        </p:nvSpPr>
        <p:spPr>
          <a:xfrm>
            <a:off x="3407410" y="3475355"/>
            <a:ext cx="2639060"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RUN</a:t>
            </a:r>
            <a:endParaRPr b="0" i="0" sz="1600" u="none" cap="none" strike="noStrike"/>
          </a:p>
        </p:txBody>
      </p:sp>
      <p:sp>
        <p:nvSpPr>
          <p:cNvPr id="352" name="Google Shape;352;p17"/>
          <p:cNvSpPr/>
          <p:nvPr/>
        </p:nvSpPr>
        <p:spPr>
          <a:xfrm>
            <a:off x="3407410" y="4137025"/>
            <a:ext cx="2639060" cy="1688306"/>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Ejecuta comandos dentro del contenedor durante la construcción, por ejemplo, para instalar paquetes de software necesarios para la aplicación.</a:t>
            </a:r>
            <a:endParaRPr b="0" i="0" sz="1600" u="none" cap="none" strike="noStrike"/>
          </a:p>
        </p:txBody>
      </p:sp>
      <p:sp>
        <p:nvSpPr>
          <p:cNvPr id="353" name="Google Shape;353;p17"/>
          <p:cNvSpPr/>
          <p:nvPr/>
        </p:nvSpPr>
        <p:spPr>
          <a:xfrm>
            <a:off x="6172835" y="3475355"/>
            <a:ext cx="2639060"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COPY</a:t>
            </a:r>
            <a:endParaRPr b="0" i="0" sz="1600" u="none" cap="none" strike="noStrike"/>
          </a:p>
        </p:txBody>
      </p:sp>
      <p:sp>
        <p:nvSpPr>
          <p:cNvPr id="354" name="Google Shape;354;p17"/>
          <p:cNvSpPr/>
          <p:nvPr/>
        </p:nvSpPr>
        <p:spPr>
          <a:xfrm>
            <a:off x="6172835" y="4137025"/>
            <a:ext cx="2639060" cy="1688306"/>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Copia archivos y directorios desde el contexto de construcción hacia el sistema de archivos del contenedor, permitiendo incluir código fuente y recursos.</a:t>
            </a:r>
            <a:endParaRPr b="0" i="0" sz="1600" u="none" cap="none" strike="noStrike"/>
          </a:p>
        </p:txBody>
      </p:sp>
      <p:sp>
        <p:nvSpPr>
          <p:cNvPr id="355" name="Google Shape;355;p17"/>
          <p:cNvSpPr/>
          <p:nvPr/>
        </p:nvSpPr>
        <p:spPr>
          <a:xfrm>
            <a:off x="8938260" y="3475355"/>
            <a:ext cx="2639060"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CMD</a:t>
            </a:r>
            <a:endParaRPr b="0" i="0" sz="1600" u="none" cap="none" strike="noStrike"/>
          </a:p>
        </p:txBody>
      </p:sp>
      <p:sp>
        <p:nvSpPr>
          <p:cNvPr id="356" name="Google Shape;356;p17"/>
          <p:cNvSpPr/>
          <p:nvPr/>
        </p:nvSpPr>
        <p:spPr>
          <a:xfrm>
            <a:off x="8938260" y="4137025"/>
            <a:ext cx="2639060" cy="1969691"/>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Define el comando predeterminado a ejecutar cuando se inicia un contenedor a partir de la imagen. Permite especificar el proceso principal del contenedor.</a:t>
            </a:r>
            <a:endParaRPr b="0" i="0" sz="1600" u="none" cap="none" strike="noStrike"/>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pic>
        <p:nvPicPr>
          <p:cNvPr descr="https://kimi-img.moonshot.cn/pub/slides/slides_tmpl/image/25-08-27-20:09:29-d2nfau98bjvh7rlj0jkg.png" id="362" name="Google Shape;362;p18"/>
          <p:cNvPicPr preferRelativeResize="0"/>
          <p:nvPr/>
        </p:nvPicPr>
        <p:blipFill rotWithShape="1">
          <a:blip r:embed="rId3">
            <a:alphaModFix/>
          </a:blip>
          <a:srcRect b="112" l="0" r="0" t="113"/>
          <a:stretch/>
        </p:blipFill>
        <p:spPr>
          <a:xfrm>
            <a:off x="635" y="1411605"/>
            <a:ext cx="6134400" cy="2530475"/>
          </a:xfrm>
          <a:prstGeom prst="rect">
            <a:avLst/>
          </a:prstGeom>
          <a:noFill/>
          <a:ln>
            <a:noFill/>
          </a:ln>
        </p:spPr>
      </p:pic>
      <p:sp>
        <p:nvSpPr>
          <p:cNvPr id="363" name="Google Shape;363;p18"/>
          <p:cNvSpPr/>
          <p:nvPr/>
        </p:nvSpPr>
        <p:spPr>
          <a:xfrm>
            <a:off x="6134735" y="1411605"/>
            <a:ext cx="6056630" cy="2530475"/>
          </a:xfrm>
          <a:prstGeom prst="roundRect">
            <a:avLst>
              <a:gd fmla="val 0" name="adj"/>
            </a:avLst>
          </a:prstGeom>
          <a:solidFill>
            <a:srgbClr val="2323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8"/>
          <p:cNvSpPr/>
          <p:nvPr/>
        </p:nvSpPr>
        <p:spPr>
          <a:xfrm>
            <a:off x="6134735" y="1411605"/>
            <a:ext cx="6056630" cy="253047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7-d2nfatp8bjvh7rlj0jd0.svg" id="365" name="Google Shape;365;p18"/>
          <p:cNvPicPr preferRelativeResize="0"/>
          <p:nvPr/>
        </p:nvPicPr>
        <p:blipFill rotWithShape="1">
          <a:blip r:embed="rId4">
            <a:alphaModFix/>
          </a:blip>
          <a:srcRect b="0" l="0" r="0" t="0"/>
          <a:stretch/>
        </p:blipFill>
        <p:spPr>
          <a:xfrm>
            <a:off x="6387465" y="1587500"/>
            <a:ext cx="914400" cy="914400"/>
          </a:xfrm>
          <a:prstGeom prst="rect">
            <a:avLst/>
          </a:prstGeom>
          <a:noFill/>
          <a:ln>
            <a:noFill/>
          </a:ln>
        </p:spPr>
      </p:pic>
      <p:sp>
        <p:nvSpPr>
          <p:cNvPr id="366" name="Google Shape;366;p18"/>
          <p:cNvSpPr/>
          <p:nvPr/>
        </p:nvSpPr>
        <p:spPr>
          <a:xfrm>
            <a:off x="988060" y="513715"/>
            <a:ext cx="10534650" cy="49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Optimización de tamaño y caché</a:t>
            </a:r>
            <a:endParaRPr b="0" i="0" sz="1600" u="none" cap="none" strike="noStrike"/>
          </a:p>
        </p:txBody>
      </p:sp>
      <p:pic>
        <p:nvPicPr>
          <p:cNvPr descr="https://kimi-img.moonshot.cn/pub/slides/slides_tmpl/image/25-08-27-20:09:25-d2nfat98bjvh7rlj0j30.png" id="367" name="Google Shape;367;p18"/>
          <p:cNvPicPr preferRelativeResize="0"/>
          <p:nvPr/>
        </p:nvPicPr>
        <p:blipFill rotWithShape="1">
          <a:blip r:embed="rId5">
            <a:alphaModFix/>
          </a:blip>
          <a:srcRect b="0" l="0" r="0" t="0"/>
          <a:stretch/>
        </p:blipFill>
        <p:spPr>
          <a:xfrm>
            <a:off x="428942" y="580481"/>
            <a:ext cx="533400" cy="368300"/>
          </a:xfrm>
          <a:prstGeom prst="rect">
            <a:avLst/>
          </a:prstGeom>
          <a:noFill/>
          <a:ln>
            <a:noFill/>
          </a:ln>
        </p:spPr>
      </p:pic>
      <p:sp>
        <p:nvSpPr>
          <p:cNvPr id="368" name="Google Shape;368;p18"/>
          <p:cNvSpPr/>
          <p:nvPr/>
        </p:nvSpPr>
        <p:spPr>
          <a:xfrm>
            <a:off x="576580" y="4144010"/>
            <a:ext cx="5198745"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Orden de instrucciones</a:t>
            </a:r>
            <a:endParaRPr b="0" i="0" sz="1600" u="none" cap="none" strike="noStrike"/>
          </a:p>
        </p:txBody>
      </p:sp>
      <p:sp>
        <p:nvSpPr>
          <p:cNvPr id="369" name="Google Shape;369;p18"/>
          <p:cNvSpPr/>
          <p:nvPr/>
        </p:nvSpPr>
        <p:spPr>
          <a:xfrm>
            <a:off x="576580" y="4542790"/>
            <a:ext cx="5119102" cy="870347"/>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Ordenar las instrucciones de menos a más frecuentemente cambiantes maximiza el reuso de capas en caché, acelerando la construcción de imágenes.</a:t>
            </a:r>
            <a:endParaRPr b="0" i="0" sz="1600" u="none" cap="none" strike="noStrike"/>
          </a:p>
        </p:txBody>
      </p:sp>
      <p:sp>
        <p:nvSpPr>
          <p:cNvPr id="370" name="Google Shape;370;p18"/>
          <p:cNvSpPr/>
          <p:nvPr/>
        </p:nvSpPr>
        <p:spPr>
          <a:xfrm>
            <a:off x="6262370" y="1814830"/>
            <a:ext cx="5497830"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Combinar comandos RUN</a:t>
            </a:r>
            <a:endParaRPr b="0" i="0" sz="1600" u="none" cap="none" strike="noStrike"/>
          </a:p>
        </p:txBody>
      </p:sp>
      <p:sp>
        <p:nvSpPr>
          <p:cNvPr id="371" name="Google Shape;371;p18"/>
          <p:cNvSpPr/>
          <p:nvPr/>
        </p:nvSpPr>
        <p:spPr>
          <a:xfrm>
            <a:off x="6360795" y="2278380"/>
            <a:ext cx="5413375" cy="580231"/>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Combinar comandos RUN con &amp;&amp; y limpiar la caché de gestores de paquetes reduce el tamaño de la imagen y el tiempo de construcción.</a:t>
            </a:r>
            <a:endParaRPr b="0" i="0" sz="1600" u="none" cap="none" strike="noStrike"/>
          </a:p>
        </p:txBody>
      </p:sp>
      <p:sp>
        <p:nvSpPr>
          <p:cNvPr id="372" name="Google Shape;372;p18"/>
          <p:cNvSpPr/>
          <p:nvPr/>
        </p:nvSpPr>
        <p:spPr>
          <a:xfrm>
            <a:off x="6360795" y="4144010"/>
            <a:ext cx="5198745"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Imágenes base ligeras</a:t>
            </a:r>
            <a:endParaRPr b="0" i="0" sz="1600" u="none" cap="none" strike="noStrike"/>
          </a:p>
        </p:txBody>
      </p:sp>
      <p:sp>
        <p:nvSpPr>
          <p:cNvPr id="373" name="Google Shape;373;p18"/>
          <p:cNvSpPr/>
          <p:nvPr/>
        </p:nvSpPr>
        <p:spPr>
          <a:xfrm>
            <a:off x="6360795" y="4542790"/>
            <a:ext cx="5119102" cy="132588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Usar imágenes base slim o Alpine disminuye el tamaño de la imagen final, reduciendo la superficie de ataque y acelerando los despliegues en producción.</a:t>
            </a:r>
            <a:endParaRPr b="0" i="0" sz="1600" u="none" cap="none" strike="noStrike"/>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8" name="Shape 378"/>
        <p:cNvGrpSpPr/>
        <p:nvPr/>
      </p:nvGrpSpPr>
      <p:grpSpPr>
        <a:xfrm>
          <a:off x="0" y="0"/>
          <a:ext cx="0" cy="0"/>
          <a:chOff x="0" y="0"/>
          <a:chExt cx="0" cy="0"/>
        </a:xfrm>
      </p:grpSpPr>
      <p:sp>
        <p:nvSpPr>
          <p:cNvPr id="379" name="Google Shape;379;p19"/>
          <p:cNvSpPr/>
          <p:nvPr/>
        </p:nvSpPr>
        <p:spPr>
          <a:xfrm>
            <a:off x="988060" y="704215"/>
            <a:ext cx="10534650" cy="583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Multi-stage builds avanzados</a:t>
            </a:r>
            <a:endParaRPr b="0" i="0" sz="1600" u="none" cap="none" strike="noStrike"/>
          </a:p>
        </p:txBody>
      </p:sp>
      <p:sp>
        <p:nvSpPr>
          <p:cNvPr id="380" name="Google Shape;380;p19"/>
          <p:cNvSpPr/>
          <p:nvPr/>
        </p:nvSpPr>
        <p:spPr>
          <a:xfrm rot="300000">
            <a:off x="1297305" y="1967230"/>
            <a:ext cx="4190365" cy="3338830"/>
          </a:xfrm>
          <a:prstGeom prst="roundRect">
            <a:avLst>
              <a:gd fmla="val 6666" name="adj"/>
            </a:avLst>
          </a:prstGeom>
          <a:solidFill>
            <a:srgbClr val="2323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9"/>
          <p:cNvSpPr/>
          <p:nvPr/>
        </p:nvSpPr>
        <p:spPr>
          <a:xfrm rot="300000">
            <a:off x="1297305" y="1967230"/>
            <a:ext cx="4190365" cy="333883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382" name="Google Shape;382;p19"/>
          <p:cNvSpPr/>
          <p:nvPr/>
        </p:nvSpPr>
        <p:spPr>
          <a:xfrm>
            <a:off x="1419225" y="2094230"/>
            <a:ext cx="4190365" cy="3460115"/>
          </a:xfrm>
          <a:prstGeom prst="roundRect">
            <a:avLst>
              <a:gd fmla="val 6666" name="adj"/>
            </a:avLst>
          </a:prstGeom>
          <a:solidFill>
            <a:srgbClr val="FFFFFF"/>
          </a:solidFill>
          <a:ln cap="flat" cmpd="sng" w="19050">
            <a:solidFill>
              <a:srgbClr val="2323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9"/>
          <p:cNvSpPr/>
          <p:nvPr/>
        </p:nvSpPr>
        <p:spPr>
          <a:xfrm>
            <a:off x="1419225" y="2094230"/>
            <a:ext cx="4190365" cy="34601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384" name="Google Shape;384;p19"/>
          <p:cNvSpPr/>
          <p:nvPr/>
        </p:nvSpPr>
        <p:spPr>
          <a:xfrm>
            <a:off x="5147945" y="2302510"/>
            <a:ext cx="289560" cy="289560"/>
          </a:xfrm>
          <a:prstGeom prst="ellipse">
            <a:avLst/>
          </a:prstGeom>
          <a:solidFill>
            <a:srgbClr val="2323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9"/>
          <p:cNvSpPr/>
          <p:nvPr/>
        </p:nvSpPr>
        <p:spPr>
          <a:xfrm>
            <a:off x="5147945" y="2302510"/>
            <a:ext cx="289560" cy="28956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386" name="Google Shape;386;p19"/>
          <p:cNvSpPr/>
          <p:nvPr/>
        </p:nvSpPr>
        <p:spPr>
          <a:xfrm rot="300000">
            <a:off x="6483985" y="1967230"/>
            <a:ext cx="4190365" cy="3338830"/>
          </a:xfrm>
          <a:prstGeom prst="roundRect">
            <a:avLst>
              <a:gd fmla="val 6666" name="adj"/>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9"/>
          <p:cNvSpPr/>
          <p:nvPr/>
        </p:nvSpPr>
        <p:spPr>
          <a:xfrm rot="300000">
            <a:off x="6483985" y="1967230"/>
            <a:ext cx="4190365" cy="333883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388" name="Google Shape;388;p19"/>
          <p:cNvSpPr/>
          <p:nvPr/>
        </p:nvSpPr>
        <p:spPr>
          <a:xfrm>
            <a:off x="6605905" y="2094230"/>
            <a:ext cx="4190365" cy="3460115"/>
          </a:xfrm>
          <a:prstGeom prst="roundRect">
            <a:avLst>
              <a:gd fmla="val 6666" name="adj"/>
            </a:avLst>
          </a:prstGeom>
          <a:solidFill>
            <a:srgbClr val="FFFFFF"/>
          </a:solidFill>
          <a:ln cap="flat" cmpd="sng" w="19050">
            <a:solidFill>
              <a:srgbClr val="EBEB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9"/>
          <p:cNvSpPr/>
          <p:nvPr/>
        </p:nvSpPr>
        <p:spPr>
          <a:xfrm>
            <a:off x="6605905" y="2094230"/>
            <a:ext cx="4190365" cy="34601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390" name="Google Shape;390;p19"/>
          <p:cNvSpPr/>
          <p:nvPr/>
        </p:nvSpPr>
        <p:spPr>
          <a:xfrm>
            <a:off x="10334625" y="2302510"/>
            <a:ext cx="289560" cy="28956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9"/>
          <p:cNvSpPr/>
          <p:nvPr/>
        </p:nvSpPr>
        <p:spPr>
          <a:xfrm>
            <a:off x="10334625" y="2302510"/>
            <a:ext cx="289560" cy="28956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5-d2nfat98bjvh7rlj0j30.png" id="392" name="Google Shape;392;p19"/>
          <p:cNvPicPr preferRelativeResize="0"/>
          <p:nvPr/>
        </p:nvPicPr>
        <p:blipFill rotWithShape="1">
          <a:blip r:embed="rId3">
            <a:alphaModFix/>
          </a:blip>
          <a:srcRect b="0" l="0" r="0" t="0"/>
          <a:stretch/>
        </p:blipFill>
        <p:spPr>
          <a:xfrm>
            <a:off x="428942" y="770420"/>
            <a:ext cx="533400" cy="368300"/>
          </a:xfrm>
          <a:prstGeom prst="rect">
            <a:avLst/>
          </a:prstGeom>
          <a:noFill/>
          <a:ln>
            <a:noFill/>
          </a:ln>
        </p:spPr>
      </p:pic>
      <p:sp>
        <p:nvSpPr>
          <p:cNvPr id="393" name="Google Shape;393;p19"/>
          <p:cNvSpPr/>
          <p:nvPr/>
        </p:nvSpPr>
        <p:spPr>
          <a:xfrm>
            <a:off x="1720850" y="2320925"/>
            <a:ext cx="3184100" cy="738505"/>
          </a:xfrm>
          <a:prstGeom prst="rect">
            <a:avLst/>
          </a:prstGeom>
          <a:noFill/>
          <a:ln>
            <a:noFill/>
          </a:ln>
        </p:spPr>
        <p:txBody>
          <a:bodyPr anchorCtr="0" anchor="b" bIns="0" lIns="0" spcFirstLastPara="1" rIns="0" wrap="square" tIns="0">
            <a:spAutoFit/>
          </a:bodyPr>
          <a:lstStyle/>
          <a:p>
            <a:pPr indent="0" lvl="0" marL="0" marR="0" rtl="0" algn="l">
              <a:lnSpc>
                <a:spcPct val="100000"/>
              </a:lnSpc>
              <a:spcBef>
                <a:spcPts val="0"/>
              </a:spcBef>
              <a:spcAft>
                <a:spcPts val="0"/>
              </a:spcAft>
              <a:buClr>
                <a:srgbClr val="111111"/>
              </a:buClr>
              <a:buSzPts val="2400"/>
              <a:buFont typeface="Arial"/>
              <a:buNone/>
            </a:pPr>
            <a:r>
              <a:rPr b="1" i="0" lang="en-US" sz="2400" u="none" cap="none" strike="noStrike">
                <a:solidFill>
                  <a:srgbClr val="111111"/>
                </a:solidFill>
                <a:latin typeface="Arial"/>
                <a:ea typeface="Arial"/>
                <a:cs typeface="Arial"/>
                <a:sym typeface="Arial"/>
              </a:rPr>
              <a:t>División en etapas</a:t>
            </a:r>
            <a:endParaRPr b="0" i="0" sz="1600" u="none" cap="none" strike="noStrike"/>
          </a:p>
        </p:txBody>
      </p:sp>
      <p:sp>
        <p:nvSpPr>
          <p:cNvPr id="394" name="Google Shape;394;p19"/>
          <p:cNvSpPr/>
          <p:nvPr/>
        </p:nvSpPr>
        <p:spPr>
          <a:xfrm>
            <a:off x="1720850" y="3133090"/>
            <a:ext cx="3639820" cy="223964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111111"/>
              </a:buClr>
              <a:buSzPts val="1600"/>
              <a:buFont typeface="Arial"/>
              <a:buNone/>
            </a:pPr>
            <a:r>
              <a:rPr b="0" i="0" lang="en-US" sz="1600" u="none" cap="none" strike="noStrike">
                <a:solidFill>
                  <a:srgbClr val="111111"/>
                </a:solidFill>
                <a:latin typeface="Arial"/>
                <a:ea typeface="Arial"/>
                <a:cs typeface="Arial"/>
                <a:sym typeface="Arial"/>
              </a:rPr>
              <a:t>Permite dividir la construcción en etapas: una fase de compilación con herramientas de desarrollo y una fase de ejecución minimal que solo contiene los artefactos finales.</a:t>
            </a:r>
            <a:endParaRPr b="0" i="0" sz="1600" u="none" cap="none" strike="noStrike"/>
          </a:p>
        </p:txBody>
      </p:sp>
      <p:sp>
        <p:nvSpPr>
          <p:cNvPr id="395" name="Google Shape;395;p19"/>
          <p:cNvSpPr/>
          <p:nvPr/>
        </p:nvSpPr>
        <p:spPr>
          <a:xfrm>
            <a:off x="6907530" y="2320925"/>
            <a:ext cx="3184100" cy="738505"/>
          </a:xfrm>
          <a:prstGeom prst="rect">
            <a:avLst/>
          </a:prstGeom>
          <a:noFill/>
          <a:ln>
            <a:noFill/>
          </a:ln>
        </p:spPr>
        <p:txBody>
          <a:bodyPr anchorCtr="0" anchor="b" bIns="0" lIns="0" spcFirstLastPara="1" rIns="0" wrap="square" tIns="0">
            <a:spAutoFit/>
          </a:bodyPr>
          <a:lstStyle/>
          <a:p>
            <a:pPr indent="0" lvl="0" marL="0" marR="0" rtl="0" algn="l">
              <a:lnSpc>
                <a:spcPct val="100000"/>
              </a:lnSpc>
              <a:spcBef>
                <a:spcPts val="0"/>
              </a:spcBef>
              <a:spcAft>
                <a:spcPts val="0"/>
              </a:spcAft>
              <a:buClr>
                <a:srgbClr val="111111"/>
              </a:buClr>
              <a:buSzPts val="2400"/>
              <a:buFont typeface="Arial"/>
              <a:buNone/>
            </a:pPr>
            <a:r>
              <a:rPr b="1" i="0" lang="en-US" sz="2400" u="none" cap="none" strike="noStrike">
                <a:solidFill>
                  <a:srgbClr val="111111"/>
                </a:solidFill>
                <a:latin typeface="Arial"/>
                <a:ea typeface="Arial"/>
                <a:cs typeface="Arial"/>
                <a:sym typeface="Arial"/>
              </a:rPr>
              <a:t>Ventajas</a:t>
            </a:r>
            <a:endParaRPr b="0" i="0" sz="1600" u="none" cap="none" strike="noStrike"/>
          </a:p>
        </p:txBody>
      </p:sp>
      <p:sp>
        <p:nvSpPr>
          <p:cNvPr id="396" name="Google Shape;396;p19"/>
          <p:cNvSpPr/>
          <p:nvPr/>
        </p:nvSpPr>
        <p:spPr>
          <a:xfrm>
            <a:off x="6907530" y="3133090"/>
            <a:ext cx="3639820" cy="223964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111111"/>
              </a:buClr>
              <a:buSzPts val="1600"/>
              <a:buFont typeface="Arial"/>
              <a:buNone/>
            </a:pPr>
            <a:r>
              <a:rPr b="0" i="0" lang="en-US" sz="1600" u="none" cap="none" strike="noStrike">
                <a:solidFill>
                  <a:srgbClr val="111111"/>
                </a:solidFill>
                <a:latin typeface="Arial"/>
                <a:ea typeface="Arial"/>
                <a:cs typeface="Arial"/>
                <a:sym typeface="Arial"/>
              </a:rPr>
              <a:t>El resultado es una imagen más pequeña y segura, ideal para lenguajes como Go, Rust o Java, donde el binario es autosuficiente y no requiere herramientas de desarrollo en tiempo de ejecución.</a:t>
            </a:r>
            <a:endParaRPr b="0" i="0" sz="1600" u="none" cap="none" strike="noStrike"/>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401" name="Shape 401"/>
        <p:cNvGrpSpPr/>
        <p:nvPr/>
      </p:nvGrpSpPr>
      <p:grpSpPr>
        <a:xfrm>
          <a:off x="0" y="0"/>
          <a:ext cx="0" cy="0"/>
          <a:chOff x="0" y="0"/>
          <a:chExt cx="0" cy="0"/>
        </a:xfrm>
      </p:grpSpPr>
      <p:pic>
        <p:nvPicPr>
          <p:cNvPr descr="https://kimi-img.moonshot.cn/pub/slides/slides_tmpl/image/25-08-27-20:09:25-d2nfat98bjvh7rlj0j2g.png" id="402" name="Google Shape;402;p20"/>
          <p:cNvPicPr preferRelativeResize="0"/>
          <p:nvPr/>
        </p:nvPicPr>
        <p:blipFill rotWithShape="1">
          <a:blip r:embed="rId3">
            <a:alphaModFix/>
          </a:blip>
          <a:srcRect b="0" l="0" r="0" t="0"/>
          <a:stretch/>
        </p:blipFill>
        <p:spPr>
          <a:xfrm>
            <a:off x="723900" y="1514475"/>
            <a:ext cx="4189095" cy="3772535"/>
          </a:xfrm>
          <a:prstGeom prst="rect">
            <a:avLst/>
          </a:prstGeom>
          <a:noFill/>
          <a:ln>
            <a:noFill/>
          </a:ln>
        </p:spPr>
      </p:pic>
      <p:sp>
        <p:nvSpPr>
          <p:cNvPr id="403" name="Google Shape;403;p20"/>
          <p:cNvSpPr/>
          <p:nvPr/>
        </p:nvSpPr>
        <p:spPr>
          <a:xfrm>
            <a:off x="5384165" y="3196590"/>
            <a:ext cx="5415915" cy="119888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0"/>
          <p:cNvSpPr/>
          <p:nvPr/>
        </p:nvSpPr>
        <p:spPr>
          <a:xfrm>
            <a:off x="5384165" y="3196590"/>
            <a:ext cx="5415915" cy="1198880"/>
          </a:xfrm>
          <a:prstGeom prst="rect">
            <a:avLst/>
          </a:prstGeom>
          <a:noFill/>
          <a:ln>
            <a:noFill/>
          </a:ln>
        </p:spPr>
        <p:txBody>
          <a:bodyPr anchorCtr="0" anchor="t" bIns="45700" lIns="45700" spcFirstLastPara="1" rIns="91425" wrap="square" tIns="91425">
            <a:noAutofit/>
          </a:bodyPr>
          <a:lstStyle/>
          <a:p>
            <a:pPr indent="0" lvl="0" marL="0" marR="0" rtl="0" algn="just">
              <a:lnSpc>
                <a:spcPct val="100000"/>
              </a:lnSpc>
              <a:spcBef>
                <a:spcPts val="0"/>
              </a:spcBef>
              <a:spcAft>
                <a:spcPts val="0"/>
              </a:spcAft>
              <a:buClr>
                <a:srgbClr val="FFFFFF"/>
              </a:buClr>
              <a:buSzPts val="3600"/>
              <a:buFont typeface="Arial"/>
              <a:buNone/>
            </a:pPr>
            <a:r>
              <a:rPr b="1" i="0" lang="en-US" sz="3600" u="none" cap="none" strike="noStrike">
                <a:solidFill>
                  <a:srgbClr val="FFFFFF"/>
                </a:solidFill>
                <a:latin typeface="Arial"/>
                <a:ea typeface="Arial"/>
                <a:cs typeface="Arial"/>
                <a:sym typeface="Arial"/>
              </a:rPr>
              <a:t>Gestión de redes</a:t>
            </a:r>
            <a:endParaRPr b="0" i="0" sz="1600" u="none" cap="none" strike="noStrike"/>
          </a:p>
        </p:txBody>
      </p:sp>
      <p:sp>
        <p:nvSpPr>
          <p:cNvPr id="405" name="Google Shape;405;p20"/>
          <p:cNvSpPr/>
          <p:nvPr/>
        </p:nvSpPr>
        <p:spPr>
          <a:xfrm>
            <a:off x="5384165" y="1945640"/>
            <a:ext cx="3390265" cy="119888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FFFF"/>
              </a:buClr>
              <a:buSzPts val="7200"/>
              <a:buFont typeface="Arial"/>
              <a:buNone/>
            </a:pPr>
            <a:r>
              <a:rPr b="0" i="0" lang="en-US" sz="7200" u="none" cap="none" strike="noStrike">
                <a:solidFill>
                  <a:srgbClr val="FFFFFF"/>
                </a:solidFill>
                <a:latin typeface="Arial"/>
                <a:ea typeface="Arial"/>
                <a:cs typeface="Arial"/>
                <a:sym typeface="Arial"/>
              </a:rPr>
              <a:t>05</a:t>
            </a:r>
            <a:endParaRPr b="0" i="0" sz="1600" u="none" cap="none" strike="noStrike"/>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0" name="Shape 410"/>
        <p:cNvGrpSpPr/>
        <p:nvPr/>
      </p:nvGrpSpPr>
      <p:grpSpPr>
        <a:xfrm>
          <a:off x="0" y="0"/>
          <a:ext cx="0" cy="0"/>
          <a:chOff x="0" y="0"/>
          <a:chExt cx="0" cy="0"/>
        </a:xfrm>
      </p:grpSpPr>
      <p:sp>
        <p:nvSpPr>
          <p:cNvPr id="411" name="Google Shape;411;p21"/>
          <p:cNvSpPr/>
          <p:nvPr/>
        </p:nvSpPr>
        <p:spPr>
          <a:xfrm>
            <a:off x="-11430" y="1209040"/>
            <a:ext cx="12203430" cy="1332230"/>
          </a:xfrm>
          <a:prstGeom prst="rect">
            <a:avLst/>
          </a:prstGeom>
          <a:solidFill>
            <a:srgbClr val="2323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1"/>
          <p:cNvSpPr/>
          <p:nvPr/>
        </p:nvSpPr>
        <p:spPr>
          <a:xfrm>
            <a:off x="-11430" y="1209040"/>
            <a:ext cx="12203430" cy="133223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413" name="Google Shape;413;p21"/>
          <p:cNvSpPr/>
          <p:nvPr/>
        </p:nvSpPr>
        <p:spPr>
          <a:xfrm>
            <a:off x="655955" y="2916113"/>
            <a:ext cx="3370443" cy="3297997"/>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1"/>
          <p:cNvSpPr/>
          <p:nvPr/>
        </p:nvSpPr>
        <p:spPr>
          <a:xfrm>
            <a:off x="655955" y="2916113"/>
            <a:ext cx="3370443" cy="3297997"/>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9-d2nfau98bjvh7rlj0jng.png" id="415" name="Google Shape;415;p21"/>
          <p:cNvPicPr preferRelativeResize="0"/>
          <p:nvPr/>
        </p:nvPicPr>
        <p:blipFill rotWithShape="1">
          <a:blip r:embed="rId3">
            <a:alphaModFix/>
          </a:blip>
          <a:srcRect b="89" l="0" r="0" t="88"/>
          <a:stretch/>
        </p:blipFill>
        <p:spPr>
          <a:xfrm>
            <a:off x="800872" y="2731770"/>
            <a:ext cx="3370443" cy="3297997"/>
          </a:xfrm>
          <a:prstGeom prst="rect">
            <a:avLst/>
          </a:prstGeom>
          <a:noFill/>
          <a:ln>
            <a:noFill/>
          </a:ln>
        </p:spPr>
      </p:pic>
      <p:sp>
        <p:nvSpPr>
          <p:cNvPr id="416" name="Google Shape;416;p21"/>
          <p:cNvSpPr/>
          <p:nvPr/>
        </p:nvSpPr>
        <p:spPr>
          <a:xfrm rot="5400000">
            <a:off x="800872" y="2731770"/>
            <a:ext cx="254723" cy="249248"/>
          </a:xfrm>
          <a:prstGeom prst="rtTriangl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1"/>
          <p:cNvSpPr/>
          <p:nvPr/>
        </p:nvSpPr>
        <p:spPr>
          <a:xfrm rot="5400000">
            <a:off x="800872" y="2731770"/>
            <a:ext cx="254723" cy="249248"/>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418" name="Google Shape;418;p21"/>
          <p:cNvSpPr/>
          <p:nvPr/>
        </p:nvSpPr>
        <p:spPr>
          <a:xfrm flipH="1" rot="-5400000">
            <a:off x="3916592" y="2731770"/>
            <a:ext cx="254723" cy="249248"/>
          </a:xfrm>
          <a:prstGeom prst="rtTriangl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1"/>
          <p:cNvSpPr/>
          <p:nvPr/>
        </p:nvSpPr>
        <p:spPr>
          <a:xfrm rot="-5400000">
            <a:off x="3916592" y="2731770"/>
            <a:ext cx="254723" cy="249248"/>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420" name="Google Shape;420;p21"/>
          <p:cNvSpPr/>
          <p:nvPr/>
        </p:nvSpPr>
        <p:spPr>
          <a:xfrm flipH="1" rot="5400000">
            <a:off x="800872" y="5783517"/>
            <a:ext cx="254723" cy="249248"/>
          </a:xfrm>
          <a:prstGeom prst="rtTriangl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1"/>
          <p:cNvSpPr/>
          <p:nvPr/>
        </p:nvSpPr>
        <p:spPr>
          <a:xfrm rot="-5400000">
            <a:off x="800872" y="5783517"/>
            <a:ext cx="254723" cy="249248"/>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422" name="Google Shape;422;p21"/>
          <p:cNvSpPr/>
          <p:nvPr/>
        </p:nvSpPr>
        <p:spPr>
          <a:xfrm rot="-5400000">
            <a:off x="3916592" y="5783517"/>
            <a:ext cx="254723" cy="249248"/>
          </a:xfrm>
          <a:prstGeom prst="rtTriangl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1"/>
          <p:cNvSpPr/>
          <p:nvPr/>
        </p:nvSpPr>
        <p:spPr>
          <a:xfrm rot="5400000">
            <a:off x="3916592" y="5783517"/>
            <a:ext cx="254723" cy="249248"/>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424" name="Google Shape;424;p21"/>
          <p:cNvSpPr/>
          <p:nvPr/>
        </p:nvSpPr>
        <p:spPr>
          <a:xfrm>
            <a:off x="988060" y="513715"/>
            <a:ext cx="10534650" cy="583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Modelos de red en Docker</a:t>
            </a:r>
            <a:endParaRPr b="0" i="0" sz="1600" u="none" cap="none" strike="noStrike"/>
          </a:p>
        </p:txBody>
      </p:sp>
      <p:pic>
        <p:nvPicPr>
          <p:cNvPr descr="https://kimi-img.moonshot.cn/pub/slides/slides_tmpl/image/25-08-27-20:09:25-d2nfat98bjvh7rlj0j30.png" id="425" name="Google Shape;425;p21"/>
          <p:cNvPicPr preferRelativeResize="0"/>
          <p:nvPr/>
        </p:nvPicPr>
        <p:blipFill rotWithShape="1">
          <a:blip r:embed="rId4">
            <a:alphaModFix/>
          </a:blip>
          <a:srcRect b="0" l="0" r="0" t="0"/>
          <a:stretch/>
        </p:blipFill>
        <p:spPr>
          <a:xfrm>
            <a:off x="428942" y="580481"/>
            <a:ext cx="533400" cy="368300"/>
          </a:xfrm>
          <a:prstGeom prst="rect">
            <a:avLst/>
          </a:prstGeom>
          <a:noFill/>
          <a:ln>
            <a:noFill/>
          </a:ln>
        </p:spPr>
      </p:pic>
      <p:sp>
        <p:nvSpPr>
          <p:cNvPr id="426" name="Google Shape;426;p21"/>
          <p:cNvSpPr/>
          <p:nvPr/>
        </p:nvSpPr>
        <p:spPr>
          <a:xfrm>
            <a:off x="984885" y="1398270"/>
            <a:ext cx="9204485"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Bridge</a:t>
            </a:r>
            <a:endParaRPr b="0" i="0" sz="1600" u="none" cap="none" strike="noStrike"/>
          </a:p>
        </p:txBody>
      </p:sp>
      <p:sp>
        <p:nvSpPr>
          <p:cNvPr id="427" name="Google Shape;427;p21"/>
          <p:cNvSpPr/>
          <p:nvPr/>
        </p:nvSpPr>
        <p:spPr>
          <a:xfrm>
            <a:off x="984885" y="1757045"/>
            <a:ext cx="10568940" cy="65024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Crea una red virtual aislada para contenedores en el mismo host. Es el modo predeterminado y permite la comunicación segura entre servicios.</a:t>
            </a:r>
            <a:endParaRPr b="0" i="0" sz="1600" u="none" cap="none" strike="noStrike"/>
          </a:p>
        </p:txBody>
      </p:sp>
      <p:sp>
        <p:nvSpPr>
          <p:cNvPr id="428" name="Google Shape;428;p21"/>
          <p:cNvSpPr/>
          <p:nvPr/>
        </p:nvSpPr>
        <p:spPr>
          <a:xfrm>
            <a:off x="4635500" y="2593340"/>
            <a:ext cx="6018530"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Host</a:t>
            </a:r>
            <a:endParaRPr b="0" i="0" sz="1600" u="none" cap="none" strike="noStrike"/>
          </a:p>
        </p:txBody>
      </p:sp>
      <p:sp>
        <p:nvSpPr>
          <p:cNvPr id="429" name="Google Shape;429;p21"/>
          <p:cNvSpPr/>
          <p:nvPr/>
        </p:nvSpPr>
        <p:spPr>
          <a:xfrm>
            <a:off x="4635500" y="2944495"/>
            <a:ext cx="6910705" cy="86614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Permite que los contenedores utilicen directamente la interfaz de red del host, reduciendo la latencia y simplificando la configuración.</a:t>
            </a:r>
            <a:endParaRPr b="0" i="0" sz="1600" u="none" cap="none" strike="noStrike"/>
          </a:p>
        </p:txBody>
      </p:sp>
      <p:sp>
        <p:nvSpPr>
          <p:cNvPr id="430" name="Google Shape;430;p21"/>
          <p:cNvSpPr/>
          <p:nvPr/>
        </p:nvSpPr>
        <p:spPr>
          <a:xfrm>
            <a:off x="4635500" y="3870325"/>
            <a:ext cx="6018530"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Overlay</a:t>
            </a:r>
            <a:endParaRPr b="0" i="0" sz="1600" u="none" cap="none" strike="noStrike"/>
          </a:p>
        </p:txBody>
      </p:sp>
      <p:sp>
        <p:nvSpPr>
          <p:cNvPr id="431" name="Google Shape;431;p21"/>
          <p:cNvSpPr/>
          <p:nvPr/>
        </p:nvSpPr>
        <p:spPr>
          <a:xfrm>
            <a:off x="4635500" y="4221480"/>
            <a:ext cx="6910705" cy="86614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Facilita la comunicación entre contenedores distribuidos en múltiples hosts, ideal para entornos de producción escalables.</a:t>
            </a:r>
            <a:endParaRPr b="0" i="0" sz="1600" u="none" cap="none" strike="noStrike"/>
          </a:p>
        </p:txBody>
      </p:sp>
      <p:sp>
        <p:nvSpPr>
          <p:cNvPr id="432" name="Google Shape;432;p21"/>
          <p:cNvSpPr/>
          <p:nvPr/>
        </p:nvSpPr>
        <p:spPr>
          <a:xfrm>
            <a:off x="4635500" y="5147310"/>
            <a:ext cx="6018530"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Macvlan</a:t>
            </a:r>
            <a:endParaRPr b="0" i="0" sz="1600" u="none" cap="none" strike="noStrike"/>
          </a:p>
        </p:txBody>
      </p:sp>
      <p:sp>
        <p:nvSpPr>
          <p:cNvPr id="433" name="Google Shape;433;p21"/>
          <p:cNvSpPr/>
          <p:nvPr/>
        </p:nvSpPr>
        <p:spPr>
          <a:xfrm>
            <a:off x="4635500" y="5498465"/>
            <a:ext cx="6910705" cy="86614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Asigna direcciones MAC físicas a los contenedores, permitiendo la integración transparente con redes externas y balanceadores de carga.</a:t>
            </a:r>
            <a:endParaRPr b="0" i="0" sz="1600" u="none" cap="none" strike="noStrike"/>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8" name="Shape 438"/>
        <p:cNvGrpSpPr/>
        <p:nvPr/>
      </p:nvGrpSpPr>
      <p:grpSpPr>
        <a:xfrm>
          <a:off x="0" y="0"/>
          <a:ext cx="0" cy="0"/>
          <a:chOff x="0" y="0"/>
          <a:chExt cx="0" cy="0"/>
        </a:xfrm>
      </p:grpSpPr>
      <p:pic>
        <p:nvPicPr>
          <p:cNvPr descr="https://kimi-img.moonshot.cn/pub/slides/slides_tmpl/image/25-08-27-20:09:27-d2nfatp8bjvh7rlj0jc0.jpg" id="439" name="Google Shape;439;p22"/>
          <p:cNvPicPr preferRelativeResize="0"/>
          <p:nvPr/>
        </p:nvPicPr>
        <p:blipFill rotWithShape="1">
          <a:blip r:embed="rId3">
            <a:alphaModFix/>
          </a:blip>
          <a:srcRect b="62" l="0" r="0" t="61"/>
          <a:stretch/>
        </p:blipFill>
        <p:spPr>
          <a:xfrm>
            <a:off x="558165" y="1482980"/>
            <a:ext cx="11124000" cy="1735200"/>
          </a:xfrm>
          <a:prstGeom prst="rect">
            <a:avLst/>
          </a:prstGeom>
          <a:noFill/>
          <a:ln>
            <a:noFill/>
          </a:ln>
        </p:spPr>
      </p:pic>
      <p:sp>
        <p:nvSpPr>
          <p:cNvPr id="440" name="Google Shape;440;p22"/>
          <p:cNvSpPr/>
          <p:nvPr/>
        </p:nvSpPr>
        <p:spPr>
          <a:xfrm>
            <a:off x="677545" y="2375535"/>
            <a:ext cx="3484880" cy="3801110"/>
          </a:xfrm>
          <a:prstGeom prst="rect">
            <a:avLst/>
          </a:prstGeom>
          <a:solidFill>
            <a:srgbClr val="FFFFFF"/>
          </a:solidFill>
          <a:ln>
            <a:noFill/>
          </a:ln>
          <a:effectLst>
            <a:outerShdw blurRad="241300" rotWithShape="0" algn="bl" dir="2700000" dist="26941">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2"/>
          <p:cNvSpPr/>
          <p:nvPr/>
        </p:nvSpPr>
        <p:spPr>
          <a:xfrm>
            <a:off x="677545" y="2375535"/>
            <a:ext cx="3484880" cy="380111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442" name="Google Shape;442;p22"/>
          <p:cNvSpPr/>
          <p:nvPr/>
        </p:nvSpPr>
        <p:spPr>
          <a:xfrm>
            <a:off x="4353560" y="2375535"/>
            <a:ext cx="3484880" cy="3801110"/>
          </a:xfrm>
          <a:prstGeom prst="rect">
            <a:avLst/>
          </a:prstGeom>
          <a:solidFill>
            <a:srgbClr val="FFFFFF"/>
          </a:solidFill>
          <a:ln>
            <a:noFill/>
          </a:ln>
          <a:effectLst>
            <a:outerShdw blurRad="241300" rotWithShape="0" algn="bl" dir="2700000" dist="26941">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2"/>
          <p:cNvSpPr/>
          <p:nvPr/>
        </p:nvSpPr>
        <p:spPr>
          <a:xfrm>
            <a:off x="4353560" y="2375535"/>
            <a:ext cx="3484880" cy="380111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444" name="Google Shape;444;p22"/>
          <p:cNvSpPr/>
          <p:nvPr/>
        </p:nvSpPr>
        <p:spPr>
          <a:xfrm>
            <a:off x="8029575" y="2375535"/>
            <a:ext cx="3484880" cy="3801110"/>
          </a:xfrm>
          <a:prstGeom prst="rect">
            <a:avLst/>
          </a:prstGeom>
          <a:solidFill>
            <a:srgbClr val="FFFFFF"/>
          </a:solidFill>
          <a:ln>
            <a:noFill/>
          </a:ln>
          <a:effectLst>
            <a:outerShdw blurRad="241300" rotWithShape="0" algn="bl" dir="2700000" dist="26941">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2"/>
          <p:cNvSpPr/>
          <p:nvPr/>
        </p:nvSpPr>
        <p:spPr>
          <a:xfrm>
            <a:off x="8029575" y="2375535"/>
            <a:ext cx="3484880" cy="380111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446" name="Google Shape;446;p22"/>
          <p:cNvSpPr/>
          <p:nvPr/>
        </p:nvSpPr>
        <p:spPr>
          <a:xfrm>
            <a:off x="988060" y="513715"/>
            <a:ext cx="10534650" cy="49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Comunicación entre servicios</a:t>
            </a:r>
            <a:endParaRPr b="0" i="0" sz="1600" u="none" cap="none" strike="noStrike"/>
          </a:p>
        </p:txBody>
      </p:sp>
      <p:pic>
        <p:nvPicPr>
          <p:cNvPr descr="https://kimi-img.moonshot.cn/pub/slides/slides_tmpl/image/25-08-27-20:09:25-d2nfat98bjvh7rlj0j30.png" id="447" name="Google Shape;447;p22"/>
          <p:cNvPicPr preferRelativeResize="0"/>
          <p:nvPr/>
        </p:nvPicPr>
        <p:blipFill rotWithShape="1">
          <a:blip r:embed="rId4">
            <a:alphaModFix/>
          </a:blip>
          <a:srcRect b="0" l="0" r="0" t="0"/>
          <a:stretch/>
        </p:blipFill>
        <p:spPr>
          <a:xfrm>
            <a:off x="428942" y="580481"/>
            <a:ext cx="533400" cy="368300"/>
          </a:xfrm>
          <a:prstGeom prst="rect">
            <a:avLst/>
          </a:prstGeom>
          <a:noFill/>
          <a:ln>
            <a:noFill/>
          </a:ln>
        </p:spPr>
      </p:pic>
      <p:sp>
        <p:nvSpPr>
          <p:cNvPr id="448" name="Google Shape;448;p22"/>
          <p:cNvSpPr/>
          <p:nvPr/>
        </p:nvSpPr>
        <p:spPr>
          <a:xfrm>
            <a:off x="718185" y="2545080"/>
            <a:ext cx="3137535" cy="3111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DNS interno</a:t>
            </a:r>
            <a:endParaRPr b="0" i="0" sz="1600" u="none" cap="none" strike="noStrike"/>
          </a:p>
        </p:txBody>
      </p:sp>
      <p:sp>
        <p:nvSpPr>
          <p:cNvPr id="449" name="Google Shape;449;p22"/>
          <p:cNvSpPr/>
          <p:nvPr/>
        </p:nvSpPr>
        <p:spPr>
          <a:xfrm>
            <a:off x="759099" y="3345499"/>
            <a:ext cx="3089022" cy="1735203"/>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Docker DNS resuelve nombres de contenedor dentro de redes personalizadas, facilitando el descubrimiento dinámico de servicios sin depender de IPs estáticas.</a:t>
            </a:r>
            <a:endParaRPr b="0" i="0" sz="1600" u="none" cap="none" strike="noStrike"/>
          </a:p>
        </p:txBody>
      </p:sp>
      <p:sp>
        <p:nvSpPr>
          <p:cNvPr id="450" name="Google Shape;450;p22"/>
          <p:cNvSpPr/>
          <p:nvPr/>
        </p:nvSpPr>
        <p:spPr>
          <a:xfrm>
            <a:off x="4526915" y="2545080"/>
            <a:ext cx="3137535" cy="3111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Variables de entorno</a:t>
            </a:r>
            <a:endParaRPr b="0" i="0" sz="1600" u="none" cap="none" strike="noStrike"/>
          </a:p>
        </p:txBody>
      </p:sp>
      <p:sp>
        <p:nvSpPr>
          <p:cNvPr id="451" name="Google Shape;451;p22"/>
          <p:cNvSpPr/>
          <p:nvPr/>
        </p:nvSpPr>
        <p:spPr>
          <a:xfrm>
            <a:off x="4567829" y="3345534"/>
            <a:ext cx="3089022" cy="2489568"/>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Se pueden definir variables de entorno y enlaces para facilitar la comunicación entre servicios, mejorando la portabilidad entre entornos.</a:t>
            </a:r>
            <a:endParaRPr b="0" i="0" sz="1600" u="none" cap="none" strike="noStrike"/>
          </a:p>
        </p:txBody>
      </p:sp>
      <p:sp>
        <p:nvSpPr>
          <p:cNvPr id="452" name="Google Shape;452;p22"/>
          <p:cNvSpPr/>
          <p:nvPr/>
        </p:nvSpPr>
        <p:spPr>
          <a:xfrm>
            <a:off x="8173085" y="2541270"/>
            <a:ext cx="3137535" cy="3111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Microservicios</a:t>
            </a:r>
            <a:endParaRPr b="0" i="0" sz="1600" u="none" cap="none" strike="noStrike"/>
          </a:p>
        </p:txBody>
      </p:sp>
      <p:sp>
        <p:nvSpPr>
          <p:cNvPr id="453" name="Google Shape;453;p22"/>
          <p:cNvSpPr/>
          <p:nvPr/>
        </p:nvSpPr>
        <p:spPr>
          <a:xfrm>
            <a:off x="8213999" y="3346479"/>
            <a:ext cx="3089022" cy="1007129"/>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Ideal para arquitecturas de microservicios donde bases de datos, APIs y frontends interactúan de manera fluida y segura.</a:t>
            </a:r>
            <a:endParaRPr b="0" i="0" sz="1600" u="none" cap="none" strike="noStrike"/>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8" name="Shape 458"/>
        <p:cNvGrpSpPr/>
        <p:nvPr/>
      </p:nvGrpSpPr>
      <p:grpSpPr>
        <a:xfrm>
          <a:off x="0" y="0"/>
          <a:ext cx="0" cy="0"/>
          <a:chOff x="0" y="0"/>
          <a:chExt cx="0" cy="0"/>
        </a:xfrm>
      </p:grpSpPr>
      <p:pic>
        <p:nvPicPr>
          <p:cNvPr descr="https://kimi-img.moonshot.cn/pub/slides/slides_tmpl/image/25-08-27-20:09:26-d2nfath8bjvh7rlj0j7g.png" id="459" name="Google Shape;459;p23"/>
          <p:cNvPicPr preferRelativeResize="0"/>
          <p:nvPr/>
        </p:nvPicPr>
        <p:blipFill rotWithShape="1">
          <a:blip r:embed="rId3">
            <a:alphaModFix/>
          </a:blip>
          <a:srcRect b="0" l="83" r="84" t="0"/>
          <a:stretch/>
        </p:blipFill>
        <p:spPr>
          <a:xfrm>
            <a:off x="7255510" y="8890"/>
            <a:ext cx="4936490" cy="6840220"/>
          </a:xfrm>
          <a:prstGeom prst="rect">
            <a:avLst/>
          </a:prstGeom>
          <a:noFill/>
          <a:ln>
            <a:noFill/>
          </a:ln>
        </p:spPr>
      </p:pic>
      <p:sp>
        <p:nvSpPr>
          <p:cNvPr id="460" name="Google Shape;460;p23"/>
          <p:cNvSpPr/>
          <p:nvPr/>
        </p:nvSpPr>
        <p:spPr>
          <a:xfrm>
            <a:off x="7372350" y="0"/>
            <a:ext cx="1727200" cy="5556885"/>
          </a:xfrm>
          <a:prstGeom prst="parallelogram">
            <a:avLst>
              <a:gd fmla="val 84115" name="adj"/>
            </a:avLst>
          </a:prstGeom>
          <a:solidFill>
            <a:srgbClr val="2323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3"/>
          <p:cNvSpPr/>
          <p:nvPr/>
        </p:nvSpPr>
        <p:spPr>
          <a:xfrm>
            <a:off x="7372350" y="0"/>
            <a:ext cx="1727200" cy="555688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462" name="Google Shape;462;p23"/>
          <p:cNvSpPr/>
          <p:nvPr/>
        </p:nvSpPr>
        <p:spPr>
          <a:xfrm>
            <a:off x="7168515" y="2509520"/>
            <a:ext cx="1377950" cy="4348480"/>
          </a:xfrm>
          <a:prstGeom prst="parallelogram">
            <a:avLst>
              <a:gd fmla="val 82610" name="adj"/>
            </a:avLst>
          </a:prstGeom>
          <a:gradFill>
            <a:gsLst>
              <a:gs pos="0">
                <a:srgbClr val="EBEBEB"/>
              </a:gs>
              <a:gs pos="30000">
                <a:srgbClr val="EBEBEB"/>
              </a:gs>
              <a:gs pos="100000">
                <a:srgbClr val="EBEBEB">
                  <a:alpha val="60000"/>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3"/>
          <p:cNvSpPr/>
          <p:nvPr/>
        </p:nvSpPr>
        <p:spPr>
          <a:xfrm>
            <a:off x="7168515" y="2509520"/>
            <a:ext cx="1377950" cy="43484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464" name="Google Shape;464;p23"/>
          <p:cNvSpPr/>
          <p:nvPr/>
        </p:nvSpPr>
        <p:spPr>
          <a:xfrm>
            <a:off x="988060" y="704215"/>
            <a:ext cx="10534650" cy="49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Seguridad y aislamiento de tráfico</a:t>
            </a:r>
            <a:endParaRPr b="0" i="0" sz="1600" u="none" cap="none" strike="noStrike"/>
          </a:p>
        </p:txBody>
      </p:sp>
      <p:pic>
        <p:nvPicPr>
          <p:cNvPr descr="https://kimi-img.moonshot.cn/pub/slides/slides_tmpl/image/25-08-27-20:09:25-d2nfat98bjvh7rlj0j30.png" id="465" name="Google Shape;465;p23"/>
          <p:cNvPicPr preferRelativeResize="0"/>
          <p:nvPr/>
        </p:nvPicPr>
        <p:blipFill rotWithShape="1">
          <a:blip r:embed="rId4">
            <a:alphaModFix/>
          </a:blip>
          <a:srcRect b="0" l="0" r="0" t="0"/>
          <a:stretch/>
        </p:blipFill>
        <p:spPr>
          <a:xfrm>
            <a:off x="428942" y="770420"/>
            <a:ext cx="533400" cy="368300"/>
          </a:xfrm>
          <a:prstGeom prst="rect">
            <a:avLst/>
          </a:prstGeom>
          <a:noFill/>
          <a:ln>
            <a:noFill/>
          </a:ln>
        </p:spPr>
      </p:pic>
      <p:sp>
        <p:nvSpPr>
          <p:cNvPr id="466" name="Google Shape;466;p23"/>
          <p:cNvSpPr/>
          <p:nvPr/>
        </p:nvSpPr>
        <p:spPr>
          <a:xfrm>
            <a:off x="1132205" y="1721485"/>
            <a:ext cx="478790" cy="478790"/>
          </a:xfrm>
          <a:prstGeom prst="roundRect">
            <a:avLst>
              <a:gd fmla="val 10363" name="adj"/>
            </a:avLst>
          </a:prstGeom>
          <a:solidFill>
            <a:srgbClr val="2323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3"/>
          <p:cNvSpPr/>
          <p:nvPr/>
        </p:nvSpPr>
        <p:spPr>
          <a:xfrm>
            <a:off x="1132205" y="1721485"/>
            <a:ext cx="478790" cy="47879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01</a:t>
            </a:r>
            <a:endParaRPr b="0" i="0" sz="1600" u="none" cap="none" strike="noStrike"/>
          </a:p>
        </p:txBody>
      </p:sp>
      <p:sp>
        <p:nvSpPr>
          <p:cNvPr id="468" name="Google Shape;468;p23"/>
          <p:cNvSpPr/>
          <p:nvPr/>
        </p:nvSpPr>
        <p:spPr>
          <a:xfrm>
            <a:off x="1097280" y="2275205"/>
            <a:ext cx="584835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1800"/>
              <a:buFont typeface="Arial"/>
              <a:buNone/>
            </a:pPr>
            <a:r>
              <a:rPr b="1" i="0" lang="en-US" sz="1800" u="none" cap="none" strike="noStrike">
                <a:solidFill>
                  <a:srgbClr val="111111"/>
                </a:solidFill>
                <a:latin typeface="Arial"/>
                <a:ea typeface="Arial"/>
                <a:cs typeface="Arial"/>
                <a:sym typeface="Arial"/>
              </a:rPr>
              <a:t>Filtrado de tráfico</a:t>
            </a:r>
            <a:endParaRPr b="0" i="0" sz="1600" u="none" cap="none" strike="noStrike"/>
          </a:p>
        </p:txBody>
      </p:sp>
      <p:sp>
        <p:nvSpPr>
          <p:cNvPr id="469" name="Google Shape;469;p23"/>
          <p:cNvSpPr/>
          <p:nvPr/>
        </p:nvSpPr>
        <p:spPr>
          <a:xfrm>
            <a:off x="1097280" y="2642235"/>
            <a:ext cx="5848350" cy="580231"/>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Reglas de iptables generadas por Docker filtran puertos expuestos, limitando la superficie de ataque y mejorando la seguridad de la red.</a:t>
            </a:r>
            <a:endParaRPr b="0" i="0" sz="1600" u="none" cap="none" strike="noStrike"/>
          </a:p>
        </p:txBody>
      </p:sp>
      <p:sp>
        <p:nvSpPr>
          <p:cNvPr id="470" name="Google Shape;470;p23"/>
          <p:cNvSpPr/>
          <p:nvPr/>
        </p:nvSpPr>
        <p:spPr>
          <a:xfrm>
            <a:off x="1132205" y="3924935"/>
            <a:ext cx="478790" cy="478790"/>
          </a:xfrm>
          <a:prstGeom prst="roundRect">
            <a:avLst>
              <a:gd fmla="val 10363" name="adj"/>
            </a:avLst>
          </a:prstGeom>
          <a:solidFill>
            <a:srgbClr val="2323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3"/>
          <p:cNvSpPr/>
          <p:nvPr/>
        </p:nvSpPr>
        <p:spPr>
          <a:xfrm>
            <a:off x="1132205" y="3924935"/>
            <a:ext cx="478790" cy="47879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02</a:t>
            </a:r>
            <a:endParaRPr b="0" i="0" sz="1600" u="none" cap="none" strike="noStrike"/>
          </a:p>
        </p:txBody>
      </p:sp>
      <p:sp>
        <p:nvSpPr>
          <p:cNvPr id="472" name="Google Shape;472;p23"/>
          <p:cNvSpPr/>
          <p:nvPr/>
        </p:nvSpPr>
        <p:spPr>
          <a:xfrm>
            <a:off x="1097280" y="4478655"/>
            <a:ext cx="584835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1800"/>
              <a:buFont typeface="Arial"/>
              <a:buNone/>
            </a:pPr>
            <a:r>
              <a:rPr b="1" i="0" lang="en-US" sz="1800" u="none" cap="none" strike="noStrike">
                <a:solidFill>
                  <a:srgbClr val="111111"/>
                </a:solidFill>
                <a:latin typeface="Arial"/>
                <a:ea typeface="Arial"/>
                <a:cs typeface="Arial"/>
                <a:sym typeface="Arial"/>
              </a:rPr>
              <a:t>Políticas de seguridad</a:t>
            </a:r>
            <a:endParaRPr b="0" i="0" sz="1600" u="none" cap="none" strike="noStrike"/>
          </a:p>
        </p:txBody>
      </p:sp>
      <p:sp>
        <p:nvSpPr>
          <p:cNvPr id="473" name="Google Shape;473;p23"/>
          <p:cNvSpPr/>
          <p:nvPr/>
        </p:nvSpPr>
        <p:spPr>
          <a:xfrm>
            <a:off x="1097280" y="4845685"/>
            <a:ext cx="5848350" cy="870347"/>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Se recomienda deshabilitar la comunicación inter-contenedor por defecto y aplicar políticas de firewall externo para controlar el acceso a servicios críticos.</a:t>
            </a:r>
            <a:endParaRPr b="0" i="0" sz="1600" u="none" cap="none" strike="noStrike"/>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478" name="Shape 478"/>
        <p:cNvGrpSpPr/>
        <p:nvPr/>
      </p:nvGrpSpPr>
      <p:grpSpPr>
        <a:xfrm>
          <a:off x="0" y="0"/>
          <a:ext cx="0" cy="0"/>
          <a:chOff x="0" y="0"/>
          <a:chExt cx="0" cy="0"/>
        </a:xfrm>
      </p:grpSpPr>
      <p:pic>
        <p:nvPicPr>
          <p:cNvPr descr="https://kimi-img.moonshot.cn/pub/slides/slides_tmpl/image/25-08-27-20:09:25-d2nfat98bjvh7rlj0j2g.png" id="479" name="Google Shape;479;p24"/>
          <p:cNvPicPr preferRelativeResize="0"/>
          <p:nvPr/>
        </p:nvPicPr>
        <p:blipFill rotWithShape="1">
          <a:blip r:embed="rId3">
            <a:alphaModFix/>
          </a:blip>
          <a:srcRect b="0" l="0" r="0" t="0"/>
          <a:stretch/>
        </p:blipFill>
        <p:spPr>
          <a:xfrm>
            <a:off x="723900" y="1514475"/>
            <a:ext cx="4189095" cy="3772535"/>
          </a:xfrm>
          <a:prstGeom prst="rect">
            <a:avLst/>
          </a:prstGeom>
          <a:noFill/>
          <a:ln>
            <a:noFill/>
          </a:ln>
        </p:spPr>
      </p:pic>
      <p:sp>
        <p:nvSpPr>
          <p:cNvPr id="480" name="Google Shape;480;p24"/>
          <p:cNvSpPr/>
          <p:nvPr/>
        </p:nvSpPr>
        <p:spPr>
          <a:xfrm>
            <a:off x="5384165" y="3196590"/>
            <a:ext cx="5415915" cy="119888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4"/>
          <p:cNvSpPr/>
          <p:nvPr/>
        </p:nvSpPr>
        <p:spPr>
          <a:xfrm>
            <a:off x="5384165" y="3196590"/>
            <a:ext cx="5415915" cy="1198880"/>
          </a:xfrm>
          <a:prstGeom prst="rect">
            <a:avLst/>
          </a:prstGeom>
          <a:noFill/>
          <a:ln>
            <a:noFill/>
          </a:ln>
        </p:spPr>
        <p:txBody>
          <a:bodyPr anchorCtr="0" anchor="t" bIns="45700" lIns="45700" spcFirstLastPara="1" rIns="91425" wrap="square" tIns="91425">
            <a:noAutofit/>
          </a:bodyPr>
          <a:lstStyle/>
          <a:p>
            <a:pPr indent="0" lvl="0" marL="0" marR="0" rtl="0" algn="just">
              <a:lnSpc>
                <a:spcPct val="100000"/>
              </a:lnSpc>
              <a:spcBef>
                <a:spcPts val="0"/>
              </a:spcBef>
              <a:spcAft>
                <a:spcPts val="0"/>
              </a:spcAft>
              <a:buClr>
                <a:srgbClr val="FFFFFF"/>
              </a:buClr>
              <a:buSzPts val="3600"/>
              <a:buFont typeface="Arial"/>
              <a:buNone/>
            </a:pPr>
            <a:r>
              <a:rPr b="1" i="0" lang="en-US" sz="3600" u="none" cap="none" strike="noStrike">
                <a:solidFill>
                  <a:srgbClr val="FFFFFF"/>
                </a:solidFill>
                <a:latin typeface="Arial"/>
                <a:ea typeface="Arial"/>
                <a:cs typeface="Arial"/>
                <a:sym typeface="Arial"/>
              </a:rPr>
              <a:t>Persistencia de datos</a:t>
            </a:r>
            <a:endParaRPr b="0" i="0" sz="1600" u="none" cap="none" strike="noStrike"/>
          </a:p>
        </p:txBody>
      </p:sp>
      <p:sp>
        <p:nvSpPr>
          <p:cNvPr id="482" name="Google Shape;482;p24"/>
          <p:cNvSpPr/>
          <p:nvPr/>
        </p:nvSpPr>
        <p:spPr>
          <a:xfrm>
            <a:off x="5384165" y="1945640"/>
            <a:ext cx="3390265" cy="1104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FFFF"/>
              </a:buClr>
              <a:buSzPts val="7200"/>
              <a:buFont typeface="Arial"/>
              <a:buNone/>
            </a:pPr>
            <a:r>
              <a:rPr b="0" i="0" lang="en-US" sz="7200" u="none" cap="none" strike="noStrike">
                <a:solidFill>
                  <a:srgbClr val="FFFFFF"/>
                </a:solidFill>
                <a:latin typeface="Arial"/>
                <a:ea typeface="Arial"/>
                <a:cs typeface="Arial"/>
                <a:sym typeface="Arial"/>
              </a:rPr>
              <a:t>06</a:t>
            </a:r>
            <a:endParaRPr b="0" i="0" sz="1600" u="none" cap="none" strike="noStrike"/>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7" name="Shape 487"/>
        <p:cNvGrpSpPr/>
        <p:nvPr/>
      </p:nvGrpSpPr>
      <p:grpSpPr>
        <a:xfrm>
          <a:off x="0" y="0"/>
          <a:ext cx="0" cy="0"/>
          <a:chOff x="0" y="0"/>
          <a:chExt cx="0" cy="0"/>
        </a:xfrm>
      </p:grpSpPr>
      <p:pic>
        <p:nvPicPr>
          <p:cNvPr descr="https://kimi-img.moonshot.cn/pub/slides/slides_tmpl/image/25-08-27-20:09:28-d2nfau18bjvh7rlj0jdg.png" id="488" name="Google Shape;488;p25"/>
          <p:cNvPicPr preferRelativeResize="0"/>
          <p:nvPr/>
        </p:nvPicPr>
        <p:blipFill rotWithShape="1">
          <a:blip r:embed="rId3">
            <a:alphaModFix/>
          </a:blip>
          <a:srcRect b="98" l="0" r="0" t="99"/>
          <a:stretch/>
        </p:blipFill>
        <p:spPr>
          <a:xfrm>
            <a:off x="4048760" y="3270250"/>
            <a:ext cx="4009390" cy="2715895"/>
          </a:xfrm>
          <a:prstGeom prst="rect">
            <a:avLst/>
          </a:prstGeom>
          <a:noFill/>
          <a:ln>
            <a:noFill/>
          </a:ln>
        </p:spPr>
      </p:pic>
      <p:pic>
        <p:nvPicPr>
          <p:cNvPr descr="https://kimi-img.moonshot.cn/pub/slides/slides_tmpl/image/25-08-27-20:09:28-d2nfau18bjvh7rlj0jg0.png" id="489" name="Google Shape;489;p25"/>
          <p:cNvPicPr preferRelativeResize="0"/>
          <p:nvPr/>
        </p:nvPicPr>
        <p:blipFill rotWithShape="1">
          <a:blip r:embed="rId4">
            <a:alphaModFix/>
          </a:blip>
          <a:srcRect b="0" l="0" r="0" t="0"/>
          <a:stretch/>
        </p:blipFill>
        <p:spPr>
          <a:xfrm>
            <a:off x="3406775" y="2988310"/>
            <a:ext cx="5265420" cy="3314700"/>
          </a:xfrm>
          <a:prstGeom prst="rect">
            <a:avLst/>
          </a:prstGeom>
          <a:noFill/>
          <a:ln>
            <a:noFill/>
          </a:ln>
        </p:spPr>
      </p:pic>
      <p:sp>
        <p:nvSpPr>
          <p:cNvPr id="490" name="Google Shape;490;p25"/>
          <p:cNvSpPr/>
          <p:nvPr/>
        </p:nvSpPr>
        <p:spPr>
          <a:xfrm>
            <a:off x="9976485" y="3668395"/>
            <a:ext cx="386080" cy="393065"/>
          </a:xfrm>
          <a:custGeom>
            <a:rect b="b" l="l" r="r" t="t"/>
            <a:pathLst>
              <a:path extrusionOk="0" h="393065" w="386080">
                <a:moveTo>
                  <a:pt x="215535" y="151783"/>
                </a:moveTo>
                <a:lnTo>
                  <a:pt x="242350" y="178492"/>
                </a:lnTo>
                <a:cubicBezTo>
                  <a:pt x="255477" y="191568"/>
                  <a:pt x="262770" y="209002"/>
                  <a:pt x="262770" y="227554"/>
                </a:cubicBezTo>
                <a:cubicBezTo>
                  <a:pt x="262770" y="246217"/>
                  <a:pt x="255477" y="263651"/>
                  <a:pt x="242350" y="276726"/>
                </a:cubicBezTo>
                <a:lnTo>
                  <a:pt x="145971" y="372837"/>
                </a:lnTo>
                <a:cubicBezTo>
                  <a:pt x="132283" y="386360"/>
                  <a:pt x="114443" y="393065"/>
                  <a:pt x="96603" y="393065"/>
                </a:cubicBezTo>
                <a:cubicBezTo>
                  <a:pt x="78651" y="393065"/>
                  <a:pt x="60812" y="386360"/>
                  <a:pt x="47235" y="372837"/>
                </a:cubicBezTo>
                <a:lnTo>
                  <a:pt x="20420" y="346127"/>
                </a:lnTo>
                <a:cubicBezTo>
                  <a:pt x="7293" y="333052"/>
                  <a:pt x="0" y="315618"/>
                  <a:pt x="0" y="296955"/>
                </a:cubicBezTo>
                <a:cubicBezTo>
                  <a:pt x="0" y="278403"/>
                  <a:pt x="7293" y="260969"/>
                  <a:pt x="20533" y="247893"/>
                </a:cubicBezTo>
                <a:lnTo>
                  <a:pt x="97052" y="171563"/>
                </a:lnTo>
                <a:lnTo>
                  <a:pt x="126672" y="201179"/>
                </a:lnTo>
                <a:lnTo>
                  <a:pt x="50153" y="277397"/>
                </a:lnTo>
                <a:cubicBezTo>
                  <a:pt x="44880" y="282650"/>
                  <a:pt x="41962" y="289579"/>
                  <a:pt x="41962" y="296955"/>
                </a:cubicBezTo>
                <a:cubicBezTo>
                  <a:pt x="41962" y="304442"/>
                  <a:pt x="44880" y="311371"/>
                  <a:pt x="50153" y="316623"/>
                </a:cubicBezTo>
                <a:lnTo>
                  <a:pt x="76856" y="343222"/>
                </a:lnTo>
                <a:cubicBezTo>
                  <a:pt x="87739" y="354062"/>
                  <a:pt x="105355" y="354062"/>
                  <a:pt x="116238" y="343222"/>
                </a:cubicBezTo>
                <a:lnTo>
                  <a:pt x="212617" y="247223"/>
                </a:lnTo>
                <a:cubicBezTo>
                  <a:pt x="217890" y="241970"/>
                  <a:pt x="220808" y="235041"/>
                  <a:pt x="220808" y="227554"/>
                </a:cubicBezTo>
                <a:cubicBezTo>
                  <a:pt x="220808" y="220178"/>
                  <a:pt x="217890" y="213249"/>
                  <a:pt x="212617" y="207996"/>
                </a:cubicBezTo>
                <a:lnTo>
                  <a:pt x="185914" y="181398"/>
                </a:lnTo>
                <a:close/>
                <a:moveTo>
                  <a:pt x="289589" y="0"/>
                </a:moveTo>
                <a:cubicBezTo>
                  <a:pt x="308214" y="0"/>
                  <a:pt x="325717" y="7265"/>
                  <a:pt x="338957" y="20340"/>
                </a:cubicBezTo>
                <a:lnTo>
                  <a:pt x="365660" y="47050"/>
                </a:lnTo>
                <a:cubicBezTo>
                  <a:pt x="378787" y="60125"/>
                  <a:pt x="386080" y="77559"/>
                  <a:pt x="386080" y="96110"/>
                </a:cubicBezTo>
                <a:cubicBezTo>
                  <a:pt x="386080" y="114662"/>
                  <a:pt x="378787" y="132208"/>
                  <a:pt x="365660" y="145284"/>
                </a:cubicBezTo>
                <a:lnTo>
                  <a:pt x="289140" y="221502"/>
                </a:lnTo>
                <a:lnTo>
                  <a:pt x="259408" y="191998"/>
                </a:lnTo>
                <a:lnTo>
                  <a:pt x="335927" y="115780"/>
                </a:lnTo>
                <a:cubicBezTo>
                  <a:pt x="341200" y="110527"/>
                  <a:pt x="344118" y="103598"/>
                  <a:pt x="344118" y="96110"/>
                </a:cubicBezTo>
                <a:cubicBezTo>
                  <a:pt x="344118" y="88735"/>
                  <a:pt x="341200" y="81806"/>
                  <a:pt x="335927" y="76554"/>
                </a:cubicBezTo>
                <a:lnTo>
                  <a:pt x="309224" y="49955"/>
                </a:lnTo>
                <a:cubicBezTo>
                  <a:pt x="303950" y="44703"/>
                  <a:pt x="296994" y="41797"/>
                  <a:pt x="289589" y="41797"/>
                </a:cubicBezTo>
                <a:cubicBezTo>
                  <a:pt x="282184" y="41797"/>
                  <a:pt x="275115" y="44703"/>
                  <a:pt x="269954" y="49955"/>
                </a:cubicBezTo>
                <a:lnTo>
                  <a:pt x="173463" y="145954"/>
                </a:lnTo>
                <a:cubicBezTo>
                  <a:pt x="168190" y="151206"/>
                  <a:pt x="165385" y="158135"/>
                  <a:pt x="165385" y="165511"/>
                </a:cubicBezTo>
                <a:cubicBezTo>
                  <a:pt x="165385" y="172999"/>
                  <a:pt x="168190" y="179928"/>
                  <a:pt x="173463" y="185181"/>
                </a:cubicBezTo>
                <a:lnTo>
                  <a:pt x="200278" y="211778"/>
                </a:lnTo>
                <a:lnTo>
                  <a:pt x="170546" y="241282"/>
                </a:lnTo>
                <a:lnTo>
                  <a:pt x="143843" y="214685"/>
                </a:lnTo>
                <a:cubicBezTo>
                  <a:pt x="130603" y="201609"/>
                  <a:pt x="123310" y="184175"/>
                  <a:pt x="123310" y="165511"/>
                </a:cubicBezTo>
                <a:cubicBezTo>
                  <a:pt x="123310" y="146960"/>
                  <a:pt x="130603" y="129526"/>
                  <a:pt x="143843" y="116339"/>
                </a:cubicBezTo>
                <a:lnTo>
                  <a:pt x="240221" y="20340"/>
                </a:lnTo>
                <a:cubicBezTo>
                  <a:pt x="253349" y="7265"/>
                  <a:pt x="270964" y="0"/>
                  <a:pt x="2895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5"/>
          <p:cNvSpPr/>
          <p:nvPr/>
        </p:nvSpPr>
        <p:spPr>
          <a:xfrm>
            <a:off x="9976485" y="3668395"/>
            <a:ext cx="386080" cy="39306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492" name="Google Shape;492;p25"/>
          <p:cNvSpPr/>
          <p:nvPr/>
        </p:nvSpPr>
        <p:spPr>
          <a:xfrm>
            <a:off x="1928495" y="3709035"/>
            <a:ext cx="386080" cy="393065"/>
          </a:xfrm>
          <a:custGeom>
            <a:rect b="b" l="l" r="r" t="t"/>
            <a:pathLst>
              <a:path extrusionOk="0" h="393065" w="386080">
                <a:moveTo>
                  <a:pt x="263970" y="158609"/>
                </a:moveTo>
                <a:cubicBezTo>
                  <a:pt x="272951" y="158609"/>
                  <a:pt x="280396" y="166129"/>
                  <a:pt x="280396" y="175273"/>
                </a:cubicBezTo>
                <a:lnTo>
                  <a:pt x="280396" y="247883"/>
                </a:lnTo>
                <a:cubicBezTo>
                  <a:pt x="279569" y="257027"/>
                  <a:pt x="272951" y="264547"/>
                  <a:pt x="263970" y="264547"/>
                </a:cubicBezTo>
                <a:cubicBezTo>
                  <a:pt x="254930" y="264547"/>
                  <a:pt x="247603" y="257027"/>
                  <a:pt x="247603" y="247883"/>
                </a:cubicBezTo>
                <a:lnTo>
                  <a:pt x="247603" y="175273"/>
                </a:lnTo>
                <a:cubicBezTo>
                  <a:pt x="247603" y="166129"/>
                  <a:pt x="254989" y="158609"/>
                  <a:pt x="263970" y="158609"/>
                </a:cubicBezTo>
                <a:close/>
                <a:moveTo>
                  <a:pt x="192695" y="108549"/>
                </a:moveTo>
                <a:cubicBezTo>
                  <a:pt x="201676" y="108549"/>
                  <a:pt x="209062" y="116069"/>
                  <a:pt x="209062" y="125213"/>
                </a:cubicBezTo>
                <a:lnTo>
                  <a:pt x="209062" y="247883"/>
                </a:lnTo>
                <a:cubicBezTo>
                  <a:pt x="209062" y="257027"/>
                  <a:pt x="201676" y="264547"/>
                  <a:pt x="192695" y="264547"/>
                </a:cubicBezTo>
                <a:cubicBezTo>
                  <a:pt x="183596" y="264547"/>
                  <a:pt x="176270" y="257027"/>
                  <a:pt x="176270" y="247883"/>
                </a:cubicBezTo>
                <a:lnTo>
                  <a:pt x="176270" y="125213"/>
                </a:lnTo>
                <a:cubicBezTo>
                  <a:pt x="176270" y="116069"/>
                  <a:pt x="183714" y="108549"/>
                  <a:pt x="192695" y="108549"/>
                </a:cubicBezTo>
                <a:close/>
                <a:moveTo>
                  <a:pt x="121353" y="70076"/>
                </a:moveTo>
                <a:cubicBezTo>
                  <a:pt x="130338" y="70076"/>
                  <a:pt x="137727" y="77657"/>
                  <a:pt x="137727" y="86803"/>
                </a:cubicBezTo>
                <a:lnTo>
                  <a:pt x="137727" y="247880"/>
                </a:lnTo>
                <a:cubicBezTo>
                  <a:pt x="137727" y="257026"/>
                  <a:pt x="130338" y="264547"/>
                  <a:pt x="121353" y="264547"/>
                </a:cubicBezTo>
                <a:cubicBezTo>
                  <a:pt x="112309" y="264547"/>
                  <a:pt x="104980" y="257026"/>
                  <a:pt x="104980" y="247880"/>
                </a:cubicBezTo>
                <a:lnTo>
                  <a:pt x="104980" y="86803"/>
                </a:lnTo>
                <a:cubicBezTo>
                  <a:pt x="104980" y="77657"/>
                  <a:pt x="112369" y="70076"/>
                  <a:pt x="121353" y="70076"/>
                </a:cubicBezTo>
                <a:close/>
                <a:moveTo>
                  <a:pt x="54909" y="33392"/>
                </a:moveTo>
                <a:lnTo>
                  <a:pt x="54909" y="301312"/>
                </a:lnTo>
                <a:lnTo>
                  <a:pt x="329575" y="301312"/>
                </a:lnTo>
                <a:lnTo>
                  <a:pt x="329575" y="33392"/>
                </a:lnTo>
                <a:close/>
                <a:moveTo>
                  <a:pt x="16372" y="0"/>
                </a:moveTo>
                <a:lnTo>
                  <a:pt x="369767" y="0"/>
                </a:lnTo>
                <a:cubicBezTo>
                  <a:pt x="378751" y="0"/>
                  <a:pt x="386139" y="7521"/>
                  <a:pt x="386080" y="16666"/>
                </a:cubicBezTo>
                <a:cubicBezTo>
                  <a:pt x="386080" y="25811"/>
                  <a:pt x="377864" y="33392"/>
                  <a:pt x="368880" y="33392"/>
                </a:cubicBezTo>
                <a:lnTo>
                  <a:pt x="362319" y="33392"/>
                </a:lnTo>
                <a:lnTo>
                  <a:pt x="362319" y="317135"/>
                </a:lnTo>
                <a:cubicBezTo>
                  <a:pt x="362319" y="327123"/>
                  <a:pt x="354931" y="333801"/>
                  <a:pt x="345947" y="333801"/>
                </a:cubicBezTo>
                <a:lnTo>
                  <a:pt x="303332" y="333801"/>
                </a:lnTo>
                <a:lnTo>
                  <a:pt x="303332" y="376399"/>
                </a:lnTo>
                <a:cubicBezTo>
                  <a:pt x="303332" y="385544"/>
                  <a:pt x="295884" y="393065"/>
                  <a:pt x="286900" y="393065"/>
                </a:cubicBezTo>
                <a:cubicBezTo>
                  <a:pt x="277916" y="393065"/>
                  <a:pt x="270528" y="385544"/>
                  <a:pt x="270528" y="376399"/>
                </a:cubicBezTo>
                <a:lnTo>
                  <a:pt x="270528" y="333801"/>
                </a:lnTo>
                <a:lnTo>
                  <a:pt x="114725" y="333801"/>
                </a:lnTo>
                <a:lnTo>
                  <a:pt x="114725" y="376399"/>
                </a:lnTo>
                <a:cubicBezTo>
                  <a:pt x="114725" y="385544"/>
                  <a:pt x="107336" y="393065"/>
                  <a:pt x="98352" y="393065"/>
                </a:cubicBezTo>
                <a:cubicBezTo>
                  <a:pt x="89368" y="393065"/>
                  <a:pt x="81921" y="385544"/>
                  <a:pt x="81921" y="376399"/>
                </a:cubicBezTo>
                <a:lnTo>
                  <a:pt x="81921" y="333801"/>
                </a:lnTo>
                <a:lnTo>
                  <a:pt x="39305" y="333801"/>
                </a:lnTo>
                <a:cubicBezTo>
                  <a:pt x="30321" y="333801"/>
                  <a:pt x="22933" y="326281"/>
                  <a:pt x="22933" y="317135"/>
                </a:cubicBezTo>
                <a:lnTo>
                  <a:pt x="22933" y="33392"/>
                </a:lnTo>
                <a:lnTo>
                  <a:pt x="16372" y="33392"/>
                </a:lnTo>
                <a:cubicBezTo>
                  <a:pt x="7388" y="33392"/>
                  <a:pt x="0" y="25811"/>
                  <a:pt x="0" y="16666"/>
                </a:cubicBezTo>
                <a:cubicBezTo>
                  <a:pt x="0" y="7521"/>
                  <a:pt x="7388" y="0"/>
                  <a:pt x="1637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5"/>
          <p:cNvSpPr/>
          <p:nvPr/>
        </p:nvSpPr>
        <p:spPr>
          <a:xfrm>
            <a:off x="1928495" y="3709035"/>
            <a:ext cx="386080" cy="39306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7-d2nfatp8bjvh7rlj0jbg.svg" id="494" name="Google Shape;494;p25"/>
          <p:cNvPicPr preferRelativeResize="0"/>
          <p:nvPr/>
        </p:nvPicPr>
        <p:blipFill rotWithShape="1">
          <a:blip r:embed="rId5">
            <a:alphaModFix/>
          </a:blip>
          <a:srcRect b="0" l="0" r="0" t="0"/>
          <a:stretch/>
        </p:blipFill>
        <p:spPr>
          <a:xfrm>
            <a:off x="11746230" y="6421120"/>
            <a:ext cx="328930" cy="328930"/>
          </a:xfrm>
          <a:prstGeom prst="rect">
            <a:avLst/>
          </a:prstGeom>
          <a:noFill/>
          <a:ln>
            <a:noFill/>
          </a:ln>
        </p:spPr>
      </p:pic>
      <p:sp>
        <p:nvSpPr>
          <p:cNvPr id="495" name="Google Shape;495;p25"/>
          <p:cNvSpPr/>
          <p:nvPr/>
        </p:nvSpPr>
        <p:spPr>
          <a:xfrm>
            <a:off x="11513820" y="6417945"/>
            <a:ext cx="347345" cy="343535"/>
          </a:xfrm>
          <a:prstGeom prst="ellipse">
            <a:avLst/>
          </a:prstGeom>
          <a:solidFill>
            <a:srgbClr val="2323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5"/>
          <p:cNvSpPr/>
          <p:nvPr/>
        </p:nvSpPr>
        <p:spPr>
          <a:xfrm>
            <a:off x="11513820" y="6417945"/>
            <a:ext cx="347345" cy="34353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7-d2nfatp8bjvh7rlj0jcg.svg" id="497" name="Google Shape;497;p25"/>
          <p:cNvPicPr preferRelativeResize="0"/>
          <p:nvPr/>
        </p:nvPicPr>
        <p:blipFill rotWithShape="1">
          <a:blip r:embed="rId5">
            <a:alphaModFix/>
          </a:blip>
          <a:srcRect b="0" l="0" r="0" t="0"/>
          <a:stretch/>
        </p:blipFill>
        <p:spPr>
          <a:xfrm>
            <a:off x="11330305" y="6432550"/>
            <a:ext cx="328930" cy="328930"/>
          </a:xfrm>
          <a:prstGeom prst="rect">
            <a:avLst/>
          </a:prstGeom>
          <a:noFill/>
          <a:ln>
            <a:noFill/>
          </a:ln>
        </p:spPr>
      </p:pic>
      <p:sp>
        <p:nvSpPr>
          <p:cNvPr id="498" name="Google Shape;498;p25"/>
          <p:cNvSpPr/>
          <p:nvPr/>
        </p:nvSpPr>
        <p:spPr>
          <a:xfrm>
            <a:off x="988060" y="513715"/>
            <a:ext cx="10534650" cy="49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Tipos de volúmenes en Docker</a:t>
            </a:r>
            <a:endParaRPr b="0" i="0" sz="1600" u="none" cap="none" strike="noStrike"/>
          </a:p>
        </p:txBody>
      </p:sp>
      <p:pic>
        <p:nvPicPr>
          <p:cNvPr descr="https://kimi-img.moonshot.cn/pub/slides/slides_tmpl/image/25-08-27-20:09:25-d2nfat98bjvh7rlj0j30.png" id="499" name="Google Shape;499;p25"/>
          <p:cNvPicPr preferRelativeResize="0"/>
          <p:nvPr/>
        </p:nvPicPr>
        <p:blipFill rotWithShape="1">
          <a:blip r:embed="rId6">
            <a:alphaModFix/>
          </a:blip>
          <a:srcRect b="0" l="0" r="0" t="0"/>
          <a:stretch/>
        </p:blipFill>
        <p:spPr>
          <a:xfrm>
            <a:off x="428942" y="580481"/>
            <a:ext cx="533400" cy="368300"/>
          </a:xfrm>
          <a:prstGeom prst="rect">
            <a:avLst/>
          </a:prstGeom>
          <a:noFill/>
          <a:ln>
            <a:noFill/>
          </a:ln>
        </p:spPr>
      </p:pic>
      <p:sp>
        <p:nvSpPr>
          <p:cNvPr id="500" name="Google Shape;500;p25"/>
          <p:cNvSpPr/>
          <p:nvPr/>
        </p:nvSpPr>
        <p:spPr>
          <a:xfrm>
            <a:off x="523875" y="1398270"/>
            <a:ext cx="1105281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400"/>
              <a:buFont typeface="Arial"/>
              <a:buNone/>
            </a:pPr>
            <a:r>
              <a:rPr b="1" i="0" lang="en-US" sz="2400" u="none" cap="none" strike="noStrike">
                <a:solidFill>
                  <a:srgbClr val="111111"/>
                </a:solidFill>
                <a:latin typeface="Arial"/>
                <a:ea typeface="Arial"/>
                <a:cs typeface="Arial"/>
                <a:sym typeface="Arial"/>
              </a:rPr>
              <a:t>Volúmenes administrados por Docker</a:t>
            </a:r>
            <a:endParaRPr b="0" i="0" sz="1600" u="none" cap="none" strike="noStrike"/>
          </a:p>
        </p:txBody>
      </p:sp>
      <p:sp>
        <p:nvSpPr>
          <p:cNvPr id="501" name="Google Shape;501;p25"/>
          <p:cNvSpPr/>
          <p:nvPr/>
        </p:nvSpPr>
        <p:spPr>
          <a:xfrm>
            <a:off x="525203" y="1837055"/>
            <a:ext cx="11050819" cy="633809"/>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111111"/>
              </a:buClr>
              <a:buSzPts val="1600"/>
              <a:buFont typeface="Arial"/>
              <a:buNone/>
            </a:pPr>
            <a:r>
              <a:rPr b="0" i="0" lang="en-US" sz="1600" u="none" cap="none" strike="noStrike">
                <a:solidFill>
                  <a:srgbClr val="111111"/>
                </a:solidFill>
                <a:latin typeface="Arial"/>
                <a:ea typeface="Arial"/>
                <a:cs typeface="Arial"/>
                <a:sym typeface="Arial"/>
              </a:rPr>
              <a:t>Se almacenan en /var/lib/docker/volumes y ofrecen mejor rendimiento y respaldo. Son ideales para datos persistentes como bases de datos.</a:t>
            </a:r>
            <a:endParaRPr b="0" i="0" sz="1600" u="none" cap="none" strike="noStrike"/>
          </a:p>
        </p:txBody>
      </p:sp>
      <p:sp>
        <p:nvSpPr>
          <p:cNvPr id="502" name="Google Shape;502;p25"/>
          <p:cNvSpPr/>
          <p:nvPr/>
        </p:nvSpPr>
        <p:spPr>
          <a:xfrm>
            <a:off x="524195" y="2988945"/>
            <a:ext cx="3064280" cy="3111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Bind mounts</a:t>
            </a:r>
            <a:endParaRPr b="0" i="0" sz="1600" u="none" cap="none" strike="noStrike"/>
          </a:p>
        </p:txBody>
      </p:sp>
      <p:sp>
        <p:nvSpPr>
          <p:cNvPr id="503" name="Google Shape;503;p25"/>
          <p:cNvSpPr/>
          <p:nvPr/>
        </p:nvSpPr>
        <p:spPr>
          <a:xfrm>
            <a:off x="516426" y="3757295"/>
            <a:ext cx="3063762" cy="1160463"/>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Enlazan carpetas del host con el contenedor, útiles para desarrollo y compartir archivos entre el host y el contenedor.</a:t>
            </a:r>
            <a:endParaRPr b="0" i="0" sz="1600" u="none" cap="none" strike="noStrike"/>
          </a:p>
        </p:txBody>
      </p:sp>
      <p:sp>
        <p:nvSpPr>
          <p:cNvPr id="504" name="Google Shape;504;p25"/>
          <p:cNvSpPr/>
          <p:nvPr/>
        </p:nvSpPr>
        <p:spPr>
          <a:xfrm>
            <a:off x="8482928" y="2988945"/>
            <a:ext cx="3078400" cy="3111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Tmpfs</a:t>
            </a:r>
            <a:endParaRPr b="0" i="0" sz="1600" u="none" cap="none" strike="noStrike"/>
          </a:p>
        </p:txBody>
      </p:sp>
      <p:sp>
        <p:nvSpPr>
          <p:cNvPr id="505" name="Google Shape;505;p25"/>
          <p:cNvSpPr/>
          <p:nvPr/>
        </p:nvSpPr>
        <p:spPr>
          <a:xfrm>
            <a:off x="8489144" y="3757295"/>
            <a:ext cx="3064932" cy="1160463"/>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Montan datos en memoria RAM, ofreciendo velocidad máxima pero volátiles, ya que los datos se pierden al detener el contenedor.</a:t>
            </a:r>
            <a:endParaRPr b="0" i="0" sz="1600" u="none" cap="none" strike="noStrike"/>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0" name="Shape 510"/>
        <p:cNvGrpSpPr/>
        <p:nvPr/>
      </p:nvGrpSpPr>
      <p:grpSpPr>
        <a:xfrm>
          <a:off x="0" y="0"/>
          <a:ext cx="0" cy="0"/>
          <a:chOff x="0" y="0"/>
          <a:chExt cx="0" cy="0"/>
        </a:xfrm>
      </p:grpSpPr>
      <p:sp>
        <p:nvSpPr>
          <p:cNvPr id="511" name="Google Shape;511;p26"/>
          <p:cNvSpPr/>
          <p:nvPr/>
        </p:nvSpPr>
        <p:spPr>
          <a:xfrm>
            <a:off x="-21590" y="1809750"/>
            <a:ext cx="12229465" cy="4191000"/>
          </a:xfrm>
          <a:prstGeom prst="rect">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6"/>
          <p:cNvSpPr/>
          <p:nvPr/>
        </p:nvSpPr>
        <p:spPr>
          <a:xfrm>
            <a:off x="-21590" y="1809750"/>
            <a:ext cx="12229465" cy="41910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513" name="Google Shape;513;p26"/>
          <p:cNvSpPr/>
          <p:nvPr/>
        </p:nvSpPr>
        <p:spPr>
          <a:xfrm>
            <a:off x="8034827" y="2444495"/>
            <a:ext cx="418841" cy="418841"/>
          </a:xfrm>
          <a:prstGeom prst="ellipse">
            <a:avLst/>
          </a:prstGeom>
          <a:solidFill>
            <a:srgbClr val="A7A7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6"/>
          <p:cNvSpPr/>
          <p:nvPr/>
        </p:nvSpPr>
        <p:spPr>
          <a:xfrm>
            <a:off x="8034827" y="2444495"/>
            <a:ext cx="418841" cy="418841"/>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515" name="Google Shape;515;p26"/>
          <p:cNvSpPr/>
          <p:nvPr/>
        </p:nvSpPr>
        <p:spPr>
          <a:xfrm rot="-1200000">
            <a:off x="8627083" y="5104504"/>
            <a:ext cx="173415" cy="173415"/>
          </a:xfrm>
          <a:prstGeom prst="ellipse">
            <a:avLst/>
          </a:prstGeom>
          <a:solidFill>
            <a:srgbClr val="2323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6"/>
          <p:cNvSpPr/>
          <p:nvPr/>
        </p:nvSpPr>
        <p:spPr>
          <a:xfrm rot="-1200000">
            <a:off x="8627083" y="5104504"/>
            <a:ext cx="173415" cy="1734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517" name="Google Shape;517;p26"/>
          <p:cNvSpPr/>
          <p:nvPr/>
        </p:nvSpPr>
        <p:spPr>
          <a:xfrm rot="-1200000">
            <a:off x="10691407" y="2558635"/>
            <a:ext cx="120509" cy="120509"/>
          </a:xfrm>
          <a:prstGeom prst="ellipse">
            <a:avLst/>
          </a:prstGeom>
          <a:solidFill>
            <a:srgbClr val="7B7B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6"/>
          <p:cNvSpPr/>
          <p:nvPr/>
        </p:nvSpPr>
        <p:spPr>
          <a:xfrm rot="-1200000">
            <a:off x="10691407" y="2558635"/>
            <a:ext cx="120509" cy="120509"/>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7-d2nfatp8bjvh7rlj0j8g.png" id="519" name="Google Shape;519;p26"/>
          <p:cNvPicPr preferRelativeResize="0"/>
          <p:nvPr/>
        </p:nvPicPr>
        <p:blipFill rotWithShape="1">
          <a:blip r:embed="rId3">
            <a:alphaModFix/>
          </a:blip>
          <a:srcRect b="0" l="0" r="0" t="0"/>
          <a:stretch/>
        </p:blipFill>
        <p:spPr>
          <a:xfrm>
            <a:off x="8460036" y="2611051"/>
            <a:ext cx="2608083" cy="2608083"/>
          </a:xfrm>
          <a:prstGeom prst="rect">
            <a:avLst/>
          </a:prstGeom>
          <a:noFill/>
          <a:ln>
            <a:noFill/>
          </a:ln>
        </p:spPr>
      </p:pic>
      <p:sp>
        <p:nvSpPr>
          <p:cNvPr id="520" name="Google Shape;520;p26"/>
          <p:cNvSpPr/>
          <p:nvPr/>
        </p:nvSpPr>
        <p:spPr>
          <a:xfrm>
            <a:off x="7771765" y="1922780"/>
            <a:ext cx="3985115" cy="3985115"/>
          </a:xfrm>
          <a:prstGeom prst="ellipse">
            <a:avLst/>
          </a:prstGeom>
          <a:solidFill>
            <a:srgbClr val="000000">
              <a:alpha val="0"/>
            </a:srgbClr>
          </a:solidFill>
          <a:ln cap="flat" cmpd="sng" w="9525">
            <a:solidFill>
              <a:srgbClr val="A7A7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6"/>
          <p:cNvSpPr/>
          <p:nvPr/>
        </p:nvSpPr>
        <p:spPr>
          <a:xfrm>
            <a:off x="7771765" y="1922780"/>
            <a:ext cx="3985115" cy="398511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522" name="Google Shape;522;p26"/>
          <p:cNvSpPr/>
          <p:nvPr/>
        </p:nvSpPr>
        <p:spPr>
          <a:xfrm>
            <a:off x="11080856" y="5302412"/>
            <a:ext cx="120509" cy="120509"/>
          </a:xfrm>
          <a:prstGeom prst="ellipse">
            <a:avLst/>
          </a:prstGeom>
          <a:solidFill>
            <a:srgbClr val="7B7B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6"/>
          <p:cNvSpPr/>
          <p:nvPr/>
        </p:nvSpPr>
        <p:spPr>
          <a:xfrm>
            <a:off x="11080856" y="5302412"/>
            <a:ext cx="120509" cy="120509"/>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524" name="Google Shape;524;p26"/>
          <p:cNvSpPr/>
          <p:nvPr/>
        </p:nvSpPr>
        <p:spPr>
          <a:xfrm>
            <a:off x="988060" y="704215"/>
            <a:ext cx="10534650" cy="49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Compartición y respaldo</a:t>
            </a:r>
            <a:endParaRPr b="0" i="0" sz="1600" u="none" cap="none" strike="noStrike"/>
          </a:p>
        </p:txBody>
      </p:sp>
      <p:pic>
        <p:nvPicPr>
          <p:cNvPr descr="https://kimi-img.moonshot.cn/pub/slides/slides_tmpl/image/25-08-27-20:09:25-d2nfat98bjvh7rlj0j30.png" id="525" name="Google Shape;525;p26"/>
          <p:cNvPicPr preferRelativeResize="0"/>
          <p:nvPr/>
        </p:nvPicPr>
        <p:blipFill rotWithShape="1">
          <a:blip r:embed="rId4">
            <a:alphaModFix/>
          </a:blip>
          <a:srcRect b="0" l="0" r="0" t="0"/>
          <a:stretch/>
        </p:blipFill>
        <p:spPr>
          <a:xfrm>
            <a:off x="428942" y="770420"/>
            <a:ext cx="533400" cy="368300"/>
          </a:xfrm>
          <a:prstGeom prst="rect">
            <a:avLst/>
          </a:prstGeom>
          <a:noFill/>
          <a:ln>
            <a:noFill/>
          </a:ln>
        </p:spPr>
      </p:pic>
      <p:sp>
        <p:nvSpPr>
          <p:cNvPr id="526" name="Google Shape;526;p26"/>
          <p:cNvSpPr/>
          <p:nvPr/>
        </p:nvSpPr>
        <p:spPr>
          <a:xfrm>
            <a:off x="1097280" y="2218055"/>
            <a:ext cx="584835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1800"/>
              <a:buFont typeface="Arial"/>
              <a:buNone/>
            </a:pPr>
            <a:r>
              <a:rPr b="1" i="0" lang="en-US" sz="1800" u="none" cap="none" strike="noStrike">
                <a:solidFill>
                  <a:srgbClr val="111111"/>
                </a:solidFill>
                <a:latin typeface="Arial"/>
                <a:ea typeface="Arial"/>
                <a:cs typeface="Arial"/>
                <a:sym typeface="Arial"/>
              </a:rPr>
              <a:t>Compartición de volúmenes</a:t>
            </a:r>
            <a:endParaRPr b="0" i="0" sz="1600" u="none" cap="none" strike="noStrike"/>
          </a:p>
        </p:txBody>
      </p:sp>
      <p:sp>
        <p:nvSpPr>
          <p:cNvPr id="527" name="Google Shape;527;p26"/>
          <p:cNvSpPr/>
          <p:nvPr/>
        </p:nvSpPr>
        <p:spPr>
          <a:xfrm>
            <a:off x="1097280" y="2585085"/>
            <a:ext cx="5848350" cy="870347"/>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Los volúmenes pueden compartirse entre múltiples contenedores simultáneamente, facilitando la implementación de clusters de bases de datos y la reutilización de datos.</a:t>
            </a:r>
            <a:endParaRPr b="0" i="0" sz="1600" u="none" cap="none" strike="noStrike"/>
          </a:p>
        </p:txBody>
      </p:sp>
      <p:sp>
        <p:nvSpPr>
          <p:cNvPr id="528" name="Google Shape;528;p26"/>
          <p:cNvSpPr/>
          <p:nvPr/>
        </p:nvSpPr>
        <p:spPr>
          <a:xfrm>
            <a:off x="1097280" y="4097655"/>
            <a:ext cx="584835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1800"/>
              <a:buFont typeface="Arial"/>
              <a:buNone/>
            </a:pPr>
            <a:r>
              <a:rPr b="1" i="0" lang="en-US" sz="1800" u="none" cap="none" strike="noStrike">
                <a:solidFill>
                  <a:srgbClr val="111111"/>
                </a:solidFill>
                <a:latin typeface="Arial"/>
                <a:ea typeface="Arial"/>
                <a:cs typeface="Arial"/>
                <a:sym typeface="Arial"/>
              </a:rPr>
              <a:t>Respaldo de datos</a:t>
            </a:r>
            <a:endParaRPr b="0" i="0" sz="1600" u="none" cap="none" strike="noStrike"/>
          </a:p>
        </p:txBody>
      </p:sp>
      <p:sp>
        <p:nvSpPr>
          <p:cNvPr id="529" name="Google Shape;529;p26"/>
          <p:cNvSpPr/>
          <p:nvPr/>
        </p:nvSpPr>
        <p:spPr>
          <a:xfrm>
            <a:off x="1097280" y="4464685"/>
            <a:ext cx="5848350" cy="870347"/>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Comandos como docker cp y plugins de respaldo permiten exportar datos sin detener servicios, asegurando la integridad y disponibilidad de datos críticos.</a:t>
            </a:r>
            <a:endParaRPr b="0" i="0" sz="1600" u="none" cap="none" strike="noStrike"/>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4" name="Shape 534"/>
        <p:cNvGrpSpPr/>
        <p:nvPr/>
      </p:nvGrpSpPr>
      <p:grpSpPr>
        <a:xfrm>
          <a:off x="0" y="0"/>
          <a:ext cx="0" cy="0"/>
          <a:chOff x="0" y="0"/>
          <a:chExt cx="0" cy="0"/>
        </a:xfrm>
      </p:grpSpPr>
      <p:cxnSp>
        <p:nvCxnSpPr>
          <p:cNvPr id="535" name="Google Shape;535;p27"/>
          <p:cNvCxnSpPr/>
          <p:nvPr/>
        </p:nvCxnSpPr>
        <p:spPr>
          <a:xfrm>
            <a:off x="572770" y="1444625"/>
            <a:ext cx="11344275" cy="0"/>
          </a:xfrm>
          <a:prstGeom prst="straightConnector1">
            <a:avLst/>
          </a:prstGeom>
          <a:noFill/>
          <a:ln cap="flat" cmpd="sng" w="28575">
            <a:solidFill>
              <a:srgbClr val="111111"/>
            </a:solidFill>
            <a:prstDash val="dot"/>
            <a:round/>
            <a:headEnd len="med" w="med" type="stealth"/>
            <a:tailEnd len="med" w="med" type="stealth"/>
          </a:ln>
        </p:spPr>
      </p:cxnSp>
      <p:sp>
        <p:nvSpPr>
          <p:cNvPr id="536" name="Google Shape;536;p27"/>
          <p:cNvSpPr/>
          <p:nvPr/>
        </p:nvSpPr>
        <p:spPr>
          <a:xfrm>
            <a:off x="6391275" y="6262370"/>
            <a:ext cx="2607945" cy="76200"/>
          </a:xfrm>
          <a:prstGeom prst="rect">
            <a:avLst/>
          </a:prstGeom>
          <a:solidFill>
            <a:srgbClr val="2323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7"/>
          <p:cNvSpPr/>
          <p:nvPr/>
        </p:nvSpPr>
        <p:spPr>
          <a:xfrm>
            <a:off x="6391275" y="6262370"/>
            <a:ext cx="2607945" cy="762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538" name="Google Shape;538;p27"/>
          <p:cNvSpPr/>
          <p:nvPr/>
        </p:nvSpPr>
        <p:spPr>
          <a:xfrm>
            <a:off x="9392920" y="6262370"/>
            <a:ext cx="2607945" cy="76200"/>
          </a:xfrm>
          <a:prstGeom prst="rect">
            <a:avLst/>
          </a:prstGeom>
          <a:solidFill>
            <a:srgbClr val="2323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7"/>
          <p:cNvSpPr/>
          <p:nvPr/>
        </p:nvSpPr>
        <p:spPr>
          <a:xfrm>
            <a:off x="9392920" y="6262370"/>
            <a:ext cx="2607945" cy="762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cxnSp>
        <p:nvCxnSpPr>
          <p:cNvPr id="540" name="Google Shape;540;p27"/>
          <p:cNvCxnSpPr/>
          <p:nvPr/>
        </p:nvCxnSpPr>
        <p:spPr>
          <a:xfrm rot="10800000">
            <a:off x="7544578" y="1457325"/>
            <a:ext cx="0" cy="353060"/>
          </a:xfrm>
          <a:prstGeom prst="straightConnector1">
            <a:avLst/>
          </a:prstGeom>
          <a:noFill/>
          <a:ln cap="flat" cmpd="sng" w="12700">
            <a:solidFill>
              <a:srgbClr val="404040"/>
            </a:solidFill>
            <a:prstDash val="solid"/>
            <a:round/>
            <a:headEnd len="sm" w="sm" type="none"/>
            <a:tailEnd len="sm" w="sm" type="none"/>
          </a:ln>
        </p:spPr>
      </p:cxnSp>
      <p:sp>
        <p:nvSpPr>
          <p:cNvPr id="541" name="Google Shape;541;p27"/>
          <p:cNvSpPr/>
          <p:nvPr/>
        </p:nvSpPr>
        <p:spPr>
          <a:xfrm>
            <a:off x="7494412" y="1416685"/>
            <a:ext cx="104142" cy="104140"/>
          </a:xfrm>
          <a:custGeom>
            <a:rect b="b" l="l" r="r" t="t"/>
            <a:pathLst>
              <a:path extrusionOk="0" h="104140" w="104142">
                <a:moveTo>
                  <a:pt x="104142" y="17869"/>
                </a:moveTo>
                <a:cubicBezTo>
                  <a:pt x="127970" y="41691"/>
                  <a:pt x="127970" y="80319"/>
                  <a:pt x="104142" y="104140"/>
                </a:cubicBezTo>
                <a:cubicBezTo>
                  <a:pt x="80320" y="127968"/>
                  <a:pt x="41692" y="127968"/>
                  <a:pt x="17870" y="104140"/>
                </a:cubicBezTo>
                <a:cubicBezTo>
                  <a:pt x="-5959" y="80319"/>
                  <a:pt x="-5959" y="41691"/>
                  <a:pt x="17870" y="17869"/>
                </a:cubicBezTo>
                <a:cubicBezTo>
                  <a:pt x="41692" y="-5958"/>
                  <a:pt x="80320" y="-5958"/>
                  <a:pt x="104142" y="17869"/>
                </a:cubicBezTo>
                <a:close/>
              </a:path>
            </a:pathLst>
          </a:custGeom>
          <a:solidFill>
            <a:srgbClr val="404040"/>
          </a:solidFill>
          <a:ln cap="flat" cmpd="sng" w="12700">
            <a:solidFill>
              <a:srgbClr val="3F3F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7"/>
          <p:cNvSpPr/>
          <p:nvPr/>
        </p:nvSpPr>
        <p:spPr>
          <a:xfrm>
            <a:off x="7494412" y="1416685"/>
            <a:ext cx="104142" cy="10414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543" name="Google Shape;543;p27"/>
          <p:cNvSpPr/>
          <p:nvPr/>
        </p:nvSpPr>
        <p:spPr>
          <a:xfrm rot="-2700000">
            <a:off x="7072129" y="2004060"/>
            <a:ext cx="944264" cy="944245"/>
          </a:xfrm>
          <a:prstGeom prst="rect">
            <a:avLst/>
          </a:prstGeom>
          <a:solidFill>
            <a:srgbClr val="404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7"/>
          <p:cNvSpPr/>
          <p:nvPr/>
        </p:nvSpPr>
        <p:spPr>
          <a:xfrm rot="-2700000">
            <a:off x="7072129" y="2004060"/>
            <a:ext cx="944264" cy="94424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9-d2nfau98bjvh7rlj0jmg.png" id="545" name="Google Shape;545;p27"/>
          <p:cNvPicPr preferRelativeResize="0"/>
          <p:nvPr/>
        </p:nvPicPr>
        <p:blipFill rotWithShape="1">
          <a:blip r:embed="rId3">
            <a:alphaModFix/>
          </a:blip>
          <a:srcRect b="-58" l="2878" r="2768" t="59"/>
          <a:stretch/>
        </p:blipFill>
        <p:spPr>
          <a:xfrm>
            <a:off x="7274063" y="2205990"/>
            <a:ext cx="540396" cy="540385"/>
          </a:xfrm>
          <a:prstGeom prst="rect">
            <a:avLst/>
          </a:prstGeom>
          <a:noFill/>
          <a:ln>
            <a:noFill/>
          </a:ln>
        </p:spPr>
      </p:pic>
      <p:cxnSp>
        <p:nvCxnSpPr>
          <p:cNvPr id="546" name="Google Shape;546;p27"/>
          <p:cNvCxnSpPr/>
          <p:nvPr/>
        </p:nvCxnSpPr>
        <p:spPr>
          <a:xfrm rot="10800000">
            <a:off x="10578033" y="1457325"/>
            <a:ext cx="0" cy="353060"/>
          </a:xfrm>
          <a:prstGeom prst="straightConnector1">
            <a:avLst/>
          </a:prstGeom>
          <a:noFill/>
          <a:ln cap="flat" cmpd="sng" w="12700">
            <a:solidFill>
              <a:srgbClr val="404040"/>
            </a:solidFill>
            <a:prstDash val="solid"/>
            <a:round/>
            <a:headEnd len="sm" w="sm" type="none"/>
            <a:tailEnd len="sm" w="sm" type="none"/>
          </a:ln>
        </p:spPr>
      </p:cxnSp>
      <p:sp>
        <p:nvSpPr>
          <p:cNvPr id="547" name="Google Shape;547;p27"/>
          <p:cNvSpPr/>
          <p:nvPr/>
        </p:nvSpPr>
        <p:spPr>
          <a:xfrm>
            <a:off x="10527867" y="1416685"/>
            <a:ext cx="104142" cy="104140"/>
          </a:xfrm>
          <a:custGeom>
            <a:rect b="b" l="l" r="r" t="t"/>
            <a:pathLst>
              <a:path extrusionOk="0" h="104140" w="104142">
                <a:moveTo>
                  <a:pt x="104142" y="17869"/>
                </a:moveTo>
                <a:cubicBezTo>
                  <a:pt x="127970" y="41691"/>
                  <a:pt x="127970" y="80319"/>
                  <a:pt x="104142" y="104140"/>
                </a:cubicBezTo>
                <a:cubicBezTo>
                  <a:pt x="80320" y="127968"/>
                  <a:pt x="41692" y="127968"/>
                  <a:pt x="17870" y="104140"/>
                </a:cubicBezTo>
                <a:cubicBezTo>
                  <a:pt x="-5959" y="80319"/>
                  <a:pt x="-5959" y="41691"/>
                  <a:pt x="17870" y="17869"/>
                </a:cubicBezTo>
                <a:cubicBezTo>
                  <a:pt x="41692" y="-5958"/>
                  <a:pt x="80320" y="-5958"/>
                  <a:pt x="104142" y="17869"/>
                </a:cubicBezTo>
                <a:close/>
              </a:path>
            </a:pathLst>
          </a:custGeom>
          <a:solidFill>
            <a:srgbClr val="404040"/>
          </a:solidFill>
          <a:ln cap="flat" cmpd="sng" w="12700">
            <a:solidFill>
              <a:srgbClr val="3F3F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7"/>
          <p:cNvSpPr/>
          <p:nvPr/>
        </p:nvSpPr>
        <p:spPr>
          <a:xfrm>
            <a:off x="10527867" y="1416685"/>
            <a:ext cx="104142" cy="10414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549" name="Google Shape;549;p27"/>
          <p:cNvSpPr/>
          <p:nvPr/>
        </p:nvSpPr>
        <p:spPr>
          <a:xfrm rot="-2700000">
            <a:off x="10105584" y="2004060"/>
            <a:ext cx="944264" cy="944245"/>
          </a:xfrm>
          <a:prstGeom prst="rect">
            <a:avLst/>
          </a:prstGeom>
          <a:solidFill>
            <a:srgbClr val="404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7"/>
          <p:cNvSpPr/>
          <p:nvPr/>
        </p:nvSpPr>
        <p:spPr>
          <a:xfrm rot="-2700000">
            <a:off x="10105584" y="2004060"/>
            <a:ext cx="944264" cy="94424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9-d2nfau98bjvh7rlj0jmg.png" id="551" name="Google Shape;551;p27"/>
          <p:cNvPicPr preferRelativeResize="0"/>
          <p:nvPr/>
        </p:nvPicPr>
        <p:blipFill rotWithShape="1">
          <a:blip r:embed="rId3">
            <a:alphaModFix/>
          </a:blip>
          <a:srcRect b="-58" l="2878" r="2768" t="59"/>
          <a:stretch/>
        </p:blipFill>
        <p:spPr>
          <a:xfrm>
            <a:off x="10307518" y="2205990"/>
            <a:ext cx="540396" cy="540385"/>
          </a:xfrm>
          <a:prstGeom prst="rect">
            <a:avLst/>
          </a:prstGeom>
          <a:noFill/>
          <a:ln>
            <a:noFill/>
          </a:ln>
        </p:spPr>
      </p:pic>
      <p:cxnSp>
        <p:nvCxnSpPr>
          <p:cNvPr id="552" name="Google Shape;552;p27"/>
          <p:cNvCxnSpPr/>
          <p:nvPr/>
        </p:nvCxnSpPr>
        <p:spPr>
          <a:xfrm rot="10800000">
            <a:off x="4558749" y="1457325"/>
            <a:ext cx="0" cy="353060"/>
          </a:xfrm>
          <a:prstGeom prst="straightConnector1">
            <a:avLst/>
          </a:prstGeom>
          <a:noFill/>
          <a:ln cap="flat" cmpd="sng" w="12700">
            <a:solidFill>
              <a:srgbClr val="404040"/>
            </a:solidFill>
            <a:prstDash val="solid"/>
            <a:round/>
            <a:headEnd len="sm" w="sm" type="none"/>
            <a:tailEnd len="sm" w="sm" type="none"/>
          </a:ln>
        </p:spPr>
      </p:cxnSp>
      <p:sp>
        <p:nvSpPr>
          <p:cNvPr id="553" name="Google Shape;553;p27"/>
          <p:cNvSpPr/>
          <p:nvPr/>
        </p:nvSpPr>
        <p:spPr>
          <a:xfrm>
            <a:off x="4508583" y="1416685"/>
            <a:ext cx="104142" cy="104140"/>
          </a:xfrm>
          <a:custGeom>
            <a:rect b="b" l="l" r="r" t="t"/>
            <a:pathLst>
              <a:path extrusionOk="0" h="104140" w="104142">
                <a:moveTo>
                  <a:pt x="104142" y="17869"/>
                </a:moveTo>
                <a:cubicBezTo>
                  <a:pt x="127970" y="41691"/>
                  <a:pt x="127970" y="80319"/>
                  <a:pt x="104142" y="104140"/>
                </a:cubicBezTo>
                <a:cubicBezTo>
                  <a:pt x="80320" y="127968"/>
                  <a:pt x="41692" y="127968"/>
                  <a:pt x="17870" y="104140"/>
                </a:cubicBezTo>
                <a:cubicBezTo>
                  <a:pt x="-5959" y="80319"/>
                  <a:pt x="-5959" y="41691"/>
                  <a:pt x="17870" y="17869"/>
                </a:cubicBezTo>
                <a:cubicBezTo>
                  <a:pt x="41692" y="-5958"/>
                  <a:pt x="80320" y="-5958"/>
                  <a:pt x="104142" y="17869"/>
                </a:cubicBezTo>
                <a:close/>
              </a:path>
            </a:pathLst>
          </a:custGeom>
          <a:solidFill>
            <a:srgbClr val="404040"/>
          </a:solidFill>
          <a:ln cap="flat" cmpd="sng" w="12700">
            <a:solidFill>
              <a:srgbClr val="3F3F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7"/>
          <p:cNvSpPr/>
          <p:nvPr/>
        </p:nvSpPr>
        <p:spPr>
          <a:xfrm>
            <a:off x="4508583" y="1416685"/>
            <a:ext cx="104142" cy="10414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555" name="Google Shape;555;p27"/>
          <p:cNvSpPr/>
          <p:nvPr/>
        </p:nvSpPr>
        <p:spPr>
          <a:xfrm rot="-2700000">
            <a:off x="4086300" y="2004060"/>
            <a:ext cx="944264" cy="944245"/>
          </a:xfrm>
          <a:prstGeom prst="rect">
            <a:avLst/>
          </a:prstGeom>
          <a:solidFill>
            <a:srgbClr val="404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7"/>
          <p:cNvSpPr/>
          <p:nvPr/>
        </p:nvSpPr>
        <p:spPr>
          <a:xfrm rot="-2700000">
            <a:off x="4086300" y="2004060"/>
            <a:ext cx="944264" cy="94424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9-d2nfau98bjvh7rlj0jmg.png" id="557" name="Google Shape;557;p27"/>
          <p:cNvPicPr preferRelativeResize="0"/>
          <p:nvPr/>
        </p:nvPicPr>
        <p:blipFill rotWithShape="1">
          <a:blip r:embed="rId3">
            <a:alphaModFix/>
          </a:blip>
          <a:srcRect b="0" l="2824" r="2824" t="0"/>
          <a:stretch/>
        </p:blipFill>
        <p:spPr>
          <a:xfrm>
            <a:off x="4288234" y="2205990"/>
            <a:ext cx="539761" cy="539750"/>
          </a:xfrm>
          <a:prstGeom prst="rect">
            <a:avLst/>
          </a:prstGeom>
          <a:noFill/>
          <a:ln>
            <a:noFill/>
          </a:ln>
        </p:spPr>
      </p:pic>
      <p:sp>
        <p:nvSpPr>
          <p:cNvPr id="558" name="Google Shape;558;p27"/>
          <p:cNvSpPr/>
          <p:nvPr/>
        </p:nvSpPr>
        <p:spPr>
          <a:xfrm>
            <a:off x="3389691" y="6262370"/>
            <a:ext cx="2607996" cy="76200"/>
          </a:xfrm>
          <a:prstGeom prst="rect">
            <a:avLst/>
          </a:prstGeom>
          <a:solidFill>
            <a:srgbClr val="2323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7"/>
          <p:cNvSpPr/>
          <p:nvPr/>
        </p:nvSpPr>
        <p:spPr>
          <a:xfrm>
            <a:off x="3389691" y="6262370"/>
            <a:ext cx="2607996" cy="762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cxnSp>
        <p:nvCxnSpPr>
          <p:cNvPr id="560" name="Google Shape;560;p27"/>
          <p:cNvCxnSpPr/>
          <p:nvPr/>
        </p:nvCxnSpPr>
        <p:spPr>
          <a:xfrm rot="10800000">
            <a:off x="1572921" y="1455420"/>
            <a:ext cx="0" cy="334010"/>
          </a:xfrm>
          <a:prstGeom prst="straightConnector1">
            <a:avLst/>
          </a:prstGeom>
          <a:noFill/>
          <a:ln cap="flat" cmpd="sng" w="12700">
            <a:solidFill>
              <a:srgbClr val="404040"/>
            </a:solidFill>
            <a:prstDash val="solid"/>
            <a:round/>
            <a:headEnd len="sm" w="sm" type="none"/>
            <a:tailEnd len="sm" w="sm" type="none"/>
          </a:ln>
        </p:spPr>
      </p:cxnSp>
      <p:sp>
        <p:nvSpPr>
          <p:cNvPr id="561" name="Google Shape;561;p27"/>
          <p:cNvSpPr/>
          <p:nvPr/>
        </p:nvSpPr>
        <p:spPr>
          <a:xfrm>
            <a:off x="1522755" y="1416685"/>
            <a:ext cx="104142" cy="98425"/>
          </a:xfrm>
          <a:custGeom>
            <a:rect b="b" l="l" r="r" t="t"/>
            <a:pathLst>
              <a:path extrusionOk="0" h="98425" w="104142">
                <a:moveTo>
                  <a:pt x="104142" y="16889"/>
                </a:moveTo>
                <a:cubicBezTo>
                  <a:pt x="127970" y="39403"/>
                  <a:pt x="127970" y="75911"/>
                  <a:pt x="104142" y="98425"/>
                </a:cubicBezTo>
                <a:cubicBezTo>
                  <a:pt x="80320" y="120945"/>
                  <a:pt x="41692" y="120945"/>
                  <a:pt x="17870" y="98425"/>
                </a:cubicBezTo>
                <a:cubicBezTo>
                  <a:pt x="-5959" y="75911"/>
                  <a:pt x="-5959" y="39403"/>
                  <a:pt x="17870" y="16889"/>
                </a:cubicBezTo>
                <a:cubicBezTo>
                  <a:pt x="41692" y="-5631"/>
                  <a:pt x="80320" y="-5631"/>
                  <a:pt x="104142" y="16889"/>
                </a:cubicBezTo>
                <a:close/>
              </a:path>
            </a:pathLst>
          </a:custGeom>
          <a:solidFill>
            <a:srgbClr val="404040"/>
          </a:solidFill>
          <a:ln cap="flat" cmpd="sng" w="12700">
            <a:solidFill>
              <a:srgbClr val="3F3F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7"/>
          <p:cNvSpPr/>
          <p:nvPr/>
        </p:nvSpPr>
        <p:spPr>
          <a:xfrm>
            <a:off x="1522755" y="1416685"/>
            <a:ext cx="104142" cy="98425"/>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563" name="Google Shape;563;p27"/>
          <p:cNvSpPr/>
          <p:nvPr/>
        </p:nvSpPr>
        <p:spPr>
          <a:xfrm rot="-2700000">
            <a:off x="1100471" y="1972945"/>
            <a:ext cx="944264" cy="894080"/>
          </a:xfrm>
          <a:prstGeom prst="rect">
            <a:avLst/>
          </a:prstGeom>
          <a:solidFill>
            <a:srgbClr val="404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7"/>
          <p:cNvSpPr/>
          <p:nvPr/>
        </p:nvSpPr>
        <p:spPr>
          <a:xfrm rot="-2700000">
            <a:off x="1100471" y="1972945"/>
            <a:ext cx="944264" cy="89408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9-d2nfau98bjvh7rlj0jmg.png" id="565" name="Google Shape;565;p27"/>
          <p:cNvPicPr preferRelativeResize="0"/>
          <p:nvPr/>
        </p:nvPicPr>
        <p:blipFill rotWithShape="1">
          <a:blip r:embed="rId3">
            <a:alphaModFix/>
          </a:blip>
          <a:srcRect b="-58" l="176" r="175" t="59"/>
          <a:stretch/>
        </p:blipFill>
        <p:spPr>
          <a:xfrm>
            <a:off x="1302405" y="2164147"/>
            <a:ext cx="539761" cy="511075"/>
          </a:xfrm>
          <a:prstGeom prst="rect">
            <a:avLst/>
          </a:prstGeom>
          <a:noFill/>
          <a:ln>
            <a:noFill/>
          </a:ln>
        </p:spPr>
      </p:pic>
      <p:sp>
        <p:nvSpPr>
          <p:cNvPr id="566" name="Google Shape;566;p27"/>
          <p:cNvSpPr/>
          <p:nvPr/>
        </p:nvSpPr>
        <p:spPr>
          <a:xfrm>
            <a:off x="387987" y="6262370"/>
            <a:ext cx="2607996" cy="76200"/>
          </a:xfrm>
          <a:prstGeom prst="rect">
            <a:avLst/>
          </a:prstGeom>
          <a:solidFill>
            <a:srgbClr val="2323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7"/>
          <p:cNvSpPr/>
          <p:nvPr/>
        </p:nvSpPr>
        <p:spPr>
          <a:xfrm>
            <a:off x="387987" y="6262370"/>
            <a:ext cx="2607996" cy="762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568" name="Google Shape;568;p27"/>
          <p:cNvSpPr/>
          <p:nvPr/>
        </p:nvSpPr>
        <p:spPr>
          <a:xfrm>
            <a:off x="988060" y="513715"/>
            <a:ext cx="10534650" cy="49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Buenas prácticas de almacenamiento</a:t>
            </a:r>
            <a:endParaRPr b="0" i="0" sz="1600" u="none" cap="none" strike="noStrike"/>
          </a:p>
        </p:txBody>
      </p:sp>
      <p:pic>
        <p:nvPicPr>
          <p:cNvPr descr="https://kimi-img.moonshot.cn/pub/slides/slides_tmpl/image/25-08-27-20:09:25-d2nfat98bjvh7rlj0j30.png" id="569" name="Google Shape;569;p27"/>
          <p:cNvPicPr preferRelativeResize="0"/>
          <p:nvPr/>
        </p:nvPicPr>
        <p:blipFill rotWithShape="1">
          <a:blip r:embed="rId4">
            <a:alphaModFix/>
          </a:blip>
          <a:srcRect b="0" l="0" r="0" t="0"/>
          <a:stretch/>
        </p:blipFill>
        <p:spPr>
          <a:xfrm>
            <a:off x="428942" y="580481"/>
            <a:ext cx="533400" cy="368300"/>
          </a:xfrm>
          <a:prstGeom prst="rect">
            <a:avLst/>
          </a:prstGeom>
          <a:noFill/>
          <a:ln>
            <a:noFill/>
          </a:ln>
        </p:spPr>
      </p:pic>
      <p:sp>
        <p:nvSpPr>
          <p:cNvPr id="570" name="Google Shape;570;p27"/>
          <p:cNvSpPr/>
          <p:nvPr/>
        </p:nvSpPr>
        <p:spPr>
          <a:xfrm>
            <a:off x="273800" y="3291205"/>
            <a:ext cx="2917133"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Separación de datos</a:t>
            </a:r>
            <a:endParaRPr b="0" i="0" sz="1600" u="none" cap="none" strike="noStrike"/>
          </a:p>
        </p:txBody>
      </p:sp>
      <p:sp>
        <p:nvSpPr>
          <p:cNvPr id="571" name="Google Shape;571;p27"/>
          <p:cNvSpPr/>
          <p:nvPr/>
        </p:nvSpPr>
        <p:spPr>
          <a:xfrm>
            <a:off x="273050" y="3929361"/>
            <a:ext cx="2722674" cy="1125538"/>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Separar datos de estado de la lógica de aplicación mejora la modularidad y la gestión de datos persistentes.</a:t>
            </a:r>
            <a:endParaRPr b="0" i="0" sz="1600" u="none" cap="none" strike="noStrike"/>
          </a:p>
        </p:txBody>
      </p:sp>
      <p:sp>
        <p:nvSpPr>
          <p:cNvPr id="572" name="Google Shape;572;p27"/>
          <p:cNvSpPr/>
          <p:nvPr/>
        </p:nvSpPr>
        <p:spPr>
          <a:xfrm>
            <a:off x="3259629" y="3291205"/>
            <a:ext cx="2917133" cy="654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Uso de volúmenes nombrados</a:t>
            </a:r>
            <a:endParaRPr b="0" i="0" sz="1600" u="none" cap="none" strike="noStrike"/>
          </a:p>
        </p:txBody>
      </p:sp>
      <p:sp>
        <p:nvSpPr>
          <p:cNvPr id="573" name="Google Shape;573;p27"/>
          <p:cNvSpPr/>
          <p:nvPr/>
        </p:nvSpPr>
        <p:spPr>
          <a:xfrm>
            <a:off x="3258879" y="3965398"/>
            <a:ext cx="2722674" cy="1125538"/>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Usar volúmenes nombrados facilita la administración y la automatización de políticas de retención y respaldo.</a:t>
            </a:r>
            <a:endParaRPr b="0" i="0" sz="1600" u="none" cap="none" strike="noStrike"/>
          </a:p>
        </p:txBody>
      </p:sp>
      <p:sp>
        <p:nvSpPr>
          <p:cNvPr id="574" name="Google Shape;574;p27"/>
          <p:cNvSpPr/>
          <p:nvPr/>
        </p:nvSpPr>
        <p:spPr>
          <a:xfrm>
            <a:off x="6245458" y="3291205"/>
            <a:ext cx="2917133"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Limitar permisos</a:t>
            </a:r>
            <a:endParaRPr b="0" i="0" sz="1600" u="none" cap="none" strike="noStrike"/>
          </a:p>
        </p:txBody>
      </p:sp>
      <p:sp>
        <p:nvSpPr>
          <p:cNvPr id="575" name="Google Shape;575;p27"/>
          <p:cNvSpPr/>
          <p:nvPr/>
        </p:nvSpPr>
        <p:spPr>
          <a:xfrm>
            <a:off x="6244708" y="3965372"/>
            <a:ext cx="2722674" cy="1125538"/>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Limitar permisos de escritura con usuarios no root reduce la superficie de ataque y mejora la seguridad de los datos.</a:t>
            </a:r>
            <a:endParaRPr b="0" i="0" sz="1600" u="none" cap="none" strike="noStrike"/>
          </a:p>
        </p:txBody>
      </p:sp>
      <p:sp>
        <p:nvSpPr>
          <p:cNvPr id="576" name="Google Shape;576;p27"/>
          <p:cNvSpPr/>
          <p:nvPr/>
        </p:nvSpPr>
        <p:spPr>
          <a:xfrm>
            <a:off x="9278912" y="3291205"/>
            <a:ext cx="2917133" cy="654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Monitoreo de uso de disco</a:t>
            </a:r>
            <a:endParaRPr b="0" i="0" sz="1600" u="none" cap="none" strike="noStrike"/>
          </a:p>
        </p:txBody>
      </p:sp>
      <p:sp>
        <p:nvSpPr>
          <p:cNvPr id="577" name="Google Shape;577;p27"/>
          <p:cNvSpPr/>
          <p:nvPr/>
        </p:nvSpPr>
        <p:spPr>
          <a:xfrm>
            <a:off x="9278162" y="3965398"/>
            <a:ext cx="2722674" cy="1406922"/>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Monitorear el uso de disco y definir límites de tamaño evita la saturación del host y garantiza la continuidad de servicios críticos.</a:t>
            </a:r>
            <a:endParaRPr b="0" i="0" sz="1600" u="none" cap="none" strike="noStrike"/>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582" name="Shape 582"/>
        <p:cNvGrpSpPr/>
        <p:nvPr/>
      </p:nvGrpSpPr>
      <p:grpSpPr>
        <a:xfrm>
          <a:off x="0" y="0"/>
          <a:ext cx="0" cy="0"/>
          <a:chOff x="0" y="0"/>
          <a:chExt cx="0" cy="0"/>
        </a:xfrm>
      </p:grpSpPr>
      <p:pic>
        <p:nvPicPr>
          <p:cNvPr descr="https://kimi-img.moonshot.cn/pub/slides/slides_tmpl/image/25-08-27-20:09:25-d2nfat98bjvh7rlj0j2g.png" id="583" name="Google Shape;583;p28"/>
          <p:cNvPicPr preferRelativeResize="0"/>
          <p:nvPr/>
        </p:nvPicPr>
        <p:blipFill rotWithShape="1">
          <a:blip r:embed="rId3">
            <a:alphaModFix/>
          </a:blip>
          <a:srcRect b="0" l="0" r="0" t="0"/>
          <a:stretch/>
        </p:blipFill>
        <p:spPr>
          <a:xfrm>
            <a:off x="723900" y="1514475"/>
            <a:ext cx="4189095" cy="3772535"/>
          </a:xfrm>
          <a:prstGeom prst="rect">
            <a:avLst/>
          </a:prstGeom>
          <a:noFill/>
          <a:ln>
            <a:noFill/>
          </a:ln>
        </p:spPr>
      </p:pic>
      <p:sp>
        <p:nvSpPr>
          <p:cNvPr id="584" name="Google Shape;584;p28"/>
          <p:cNvSpPr/>
          <p:nvPr/>
        </p:nvSpPr>
        <p:spPr>
          <a:xfrm>
            <a:off x="5384165" y="3196590"/>
            <a:ext cx="5415915" cy="119888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8"/>
          <p:cNvSpPr/>
          <p:nvPr/>
        </p:nvSpPr>
        <p:spPr>
          <a:xfrm>
            <a:off x="5384165" y="3196590"/>
            <a:ext cx="5415915" cy="1198880"/>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Clr>
                <a:srgbClr val="FFFFFF"/>
              </a:buClr>
              <a:buSzPts val="3600"/>
              <a:buFont typeface="Arial"/>
              <a:buNone/>
            </a:pPr>
            <a:r>
              <a:rPr b="1" i="0" lang="en-US" sz="3600" u="none" cap="none" strike="noStrike">
                <a:solidFill>
                  <a:srgbClr val="FFFFFF"/>
                </a:solidFill>
                <a:latin typeface="Arial"/>
                <a:ea typeface="Arial"/>
                <a:cs typeface="Arial"/>
                <a:sym typeface="Arial"/>
              </a:rPr>
              <a:t>Orquestación con Compose</a:t>
            </a:r>
            <a:endParaRPr b="0" i="0" sz="1600" u="none" cap="none" strike="noStrike"/>
          </a:p>
        </p:txBody>
      </p:sp>
      <p:sp>
        <p:nvSpPr>
          <p:cNvPr id="586" name="Google Shape;586;p28"/>
          <p:cNvSpPr/>
          <p:nvPr/>
        </p:nvSpPr>
        <p:spPr>
          <a:xfrm>
            <a:off x="5384165" y="1945640"/>
            <a:ext cx="3390265" cy="1104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FFFF"/>
              </a:buClr>
              <a:buSzPts val="7200"/>
              <a:buFont typeface="Arial"/>
              <a:buNone/>
            </a:pPr>
            <a:r>
              <a:rPr b="0" i="0" lang="en-US" sz="7200" u="none" cap="none" strike="noStrike">
                <a:solidFill>
                  <a:srgbClr val="FFFFFF"/>
                </a:solidFill>
                <a:latin typeface="Arial"/>
                <a:ea typeface="Arial"/>
                <a:cs typeface="Arial"/>
                <a:sym typeface="Arial"/>
              </a:rPr>
              <a:t>07</a:t>
            </a:r>
            <a:endParaRPr b="0" i="0" sz="1600" u="none" cap="none" strike="noStrike"/>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1" name="Shape 591"/>
        <p:cNvGrpSpPr/>
        <p:nvPr/>
      </p:nvGrpSpPr>
      <p:grpSpPr>
        <a:xfrm>
          <a:off x="0" y="0"/>
          <a:ext cx="0" cy="0"/>
          <a:chOff x="0" y="0"/>
          <a:chExt cx="0" cy="0"/>
        </a:xfrm>
      </p:grpSpPr>
      <p:sp>
        <p:nvSpPr>
          <p:cNvPr id="592" name="Google Shape;592;p29"/>
          <p:cNvSpPr/>
          <p:nvPr/>
        </p:nvSpPr>
        <p:spPr>
          <a:xfrm>
            <a:off x="-21590" y="-24765"/>
            <a:ext cx="12202160" cy="6899275"/>
          </a:xfrm>
          <a:prstGeom prst="rect">
            <a:avLst/>
          </a:prstGeom>
          <a:solidFill>
            <a:srgbClr val="2323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9"/>
          <p:cNvSpPr/>
          <p:nvPr/>
        </p:nvSpPr>
        <p:spPr>
          <a:xfrm>
            <a:off x="-21590" y="-24765"/>
            <a:ext cx="12202160" cy="6899275"/>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5-d2nfat98bjvh7rlj0j2g.png" id="594" name="Google Shape;594;p29"/>
          <p:cNvPicPr preferRelativeResize="0"/>
          <p:nvPr/>
        </p:nvPicPr>
        <p:blipFill rotWithShape="1">
          <a:blip r:embed="rId3">
            <a:alphaModFix/>
          </a:blip>
          <a:srcRect b="0" l="24693" r="0" t="0"/>
          <a:stretch/>
        </p:blipFill>
        <p:spPr>
          <a:xfrm>
            <a:off x="-21595" y="2367632"/>
            <a:ext cx="3154680" cy="3772536"/>
          </a:xfrm>
          <a:prstGeom prst="rect">
            <a:avLst/>
          </a:prstGeom>
          <a:noFill/>
          <a:ln>
            <a:noFill/>
          </a:ln>
        </p:spPr>
      </p:pic>
      <p:pic>
        <p:nvPicPr>
          <p:cNvPr descr="https://kimi-img.moonshot.cn/pub/slides/slides_tmpl/image/25-08-27-20:09:27-d2nfatp8bjvh7rlj0ja0.png" id="595" name="Google Shape;595;p29"/>
          <p:cNvPicPr preferRelativeResize="0"/>
          <p:nvPr/>
        </p:nvPicPr>
        <p:blipFill rotWithShape="1">
          <a:blip r:embed="rId4">
            <a:alphaModFix/>
          </a:blip>
          <a:srcRect b="0" l="0" r="0" t="0"/>
          <a:stretch/>
        </p:blipFill>
        <p:spPr>
          <a:xfrm>
            <a:off x="417830" y="663257"/>
            <a:ext cx="533400" cy="368300"/>
          </a:xfrm>
          <a:prstGeom prst="rect">
            <a:avLst/>
          </a:prstGeom>
          <a:noFill/>
          <a:ln>
            <a:noFill/>
          </a:ln>
        </p:spPr>
      </p:pic>
      <p:sp>
        <p:nvSpPr>
          <p:cNvPr id="596" name="Google Shape;596;p29"/>
          <p:cNvSpPr/>
          <p:nvPr/>
        </p:nvSpPr>
        <p:spPr>
          <a:xfrm>
            <a:off x="988695" y="596265"/>
            <a:ext cx="6344285" cy="104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Definición declarativa de servicios</a:t>
            </a:r>
            <a:endParaRPr b="0" i="0" sz="1600" u="none" cap="none" strike="noStrike"/>
          </a:p>
        </p:txBody>
      </p:sp>
      <p:sp>
        <p:nvSpPr>
          <p:cNvPr id="597" name="Google Shape;597;p29"/>
          <p:cNvSpPr/>
          <p:nvPr/>
        </p:nvSpPr>
        <p:spPr>
          <a:xfrm>
            <a:off x="2919095" y="2011045"/>
            <a:ext cx="271145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01</a:t>
            </a:r>
            <a:endParaRPr b="0" i="0" sz="1600" u="none" cap="none" strike="noStrike"/>
          </a:p>
        </p:txBody>
      </p:sp>
      <p:sp>
        <p:nvSpPr>
          <p:cNvPr id="598" name="Google Shape;598;p29"/>
          <p:cNvSpPr/>
          <p:nvPr/>
        </p:nvSpPr>
        <p:spPr>
          <a:xfrm>
            <a:off x="2919095" y="2470150"/>
            <a:ext cx="2842260" cy="654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Descripción de servicios</a:t>
            </a:r>
            <a:endParaRPr b="0" i="0" sz="1600" u="none" cap="none" strike="noStrike"/>
          </a:p>
        </p:txBody>
      </p:sp>
      <p:sp>
        <p:nvSpPr>
          <p:cNvPr id="599" name="Google Shape;599;p29"/>
          <p:cNvSpPr/>
          <p:nvPr/>
        </p:nvSpPr>
        <p:spPr>
          <a:xfrm>
            <a:off x="2954655" y="3238500"/>
            <a:ext cx="3002915" cy="1740694"/>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Docker Compose describe aplicaciones multicontenedor en un archivo YAML, declarando imágenes, variables, puertos, volúmenes y dependencias de servicios.</a:t>
            </a:r>
            <a:endParaRPr b="0" i="0" sz="1600" u="none" cap="none" strike="noStrike"/>
          </a:p>
        </p:txBody>
      </p:sp>
      <p:sp>
        <p:nvSpPr>
          <p:cNvPr id="600" name="Google Shape;600;p29"/>
          <p:cNvSpPr/>
          <p:nvPr/>
        </p:nvSpPr>
        <p:spPr>
          <a:xfrm>
            <a:off x="5958205" y="2011045"/>
            <a:ext cx="271145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02</a:t>
            </a:r>
            <a:endParaRPr b="0" i="0" sz="1600" u="none" cap="none" strike="noStrike"/>
          </a:p>
        </p:txBody>
      </p:sp>
      <p:sp>
        <p:nvSpPr>
          <p:cNvPr id="601" name="Google Shape;601;p29"/>
          <p:cNvSpPr/>
          <p:nvPr/>
        </p:nvSpPr>
        <p:spPr>
          <a:xfrm>
            <a:off x="5958205" y="2470150"/>
            <a:ext cx="2842260"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Reproducibilidad</a:t>
            </a:r>
            <a:endParaRPr b="0" i="0" sz="1600" u="none" cap="none" strike="noStrike"/>
          </a:p>
        </p:txBody>
      </p:sp>
      <p:sp>
        <p:nvSpPr>
          <p:cNvPr id="602" name="Google Shape;602;p29"/>
          <p:cNvSpPr/>
          <p:nvPr/>
        </p:nvSpPr>
        <p:spPr>
          <a:xfrm>
            <a:off x="5993765" y="3238500"/>
            <a:ext cx="3002915" cy="2030809"/>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Esta especificación versionada permite reproducir entornos idénticos en desarrollo, integración y preproducción, reduciendo errores de configuración y facilitando la documentación.</a:t>
            </a:r>
            <a:endParaRPr b="0" i="0" sz="1600" u="none" cap="none" strike="noStrike"/>
          </a:p>
        </p:txBody>
      </p:sp>
      <p:sp>
        <p:nvSpPr>
          <p:cNvPr id="603" name="Google Shape;603;p29"/>
          <p:cNvSpPr/>
          <p:nvPr/>
        </p:nvSpPr>
        <p:spPr>
          <a:xfrm>
            <a:off x="9027795" y="2011045"/>
            <a:ext cx="271145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03</a:t>
            </a:r>
            <a:endParaRPr b="0" i="0" sz="1600" u="none" cap="none" strike="noStrike"/>
          </a:p>
        </p:txBody>
      </p:sp>
      <p:sp>
        <p:nvSpPr>
          <p:cNvPr id="604" name="Google Shape;604;p29"/>
          <p:cNvSpPr/>
          <p:nvPr/>
        </p:nvSpPr>
        <p:spPr>
          <a:xfrm>
            <a:off x="8997315" y="2470150"/>
            <a:ext cx="2842260"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Ventajas</a:t>
            </a:r>
            <a:endParaRPr b="0" i="0" sz="1600" u="none" cap="none" strike="noStrike"/>
          </a:p>
        </p:txBody>
      </p:sp>
      <p:sp>
        <p:nvSpPr>
          <p:cNvPr id="605" name="Google Shape;605;p29"/>
          <p:cNvSpPr/>
          <p:nvPr/>
        </p:nvSpPr>
        <p:spPr>
          <a:xfrm>
            <a:off x="9032875" y="3238500"/>
            <a:ext cx="3002915" cy="1740694"/>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Simplifica la gestión de múltiples contenedores, facilita la configuración de entornos de desarrollo y permite definir redes y volúmenes de manera fácil y eficiente.</a:t>
            </a:r>
            <a:endParaRPr b="0" i="0" sz="1600" u="none" cap="none" strike="noStrike"/>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0" name="Shape 610"/>
        <p:cNvGrpSpPr/>
        <p:nvPr/>
      </p:nvGrpSpPr>
      <p:grpSpPr>
        <a:xfrm>
          <a:off x="0" y="0"/>
          <a:ext cx="0" cy="0"/>
          <a:chOff x="0" y="0"/>
          <a:chExt cx="0" cy="0"/>
        </a:xfrm>
      </p:grpSpPr>
      <p:sp>
        <p:nvSpPr>
          <p:cNvPr id="611" name="Google Shape;611;p30"/>
          <p:cNvSpPr/>
          <p:nvPr/>
        </p:nvSpPr>
        <p:spPr>
          <a:xfrm>
            <a:off x="1035050" y="1737360"/>
            <a:ext cx="10021570" cy="2055495"/>
          </a:xfrm>
          <a:prstGeom prst="roundRect">
            <a:avLst>
              <a:gd fmla="val 11535" name="adj"/>
            </a:avLst>
          </a:prstGeom>
          <a:solidFill>
            <a:srgbClr val="FFFFFF"/>
          </a:solidFill>
          <a:ln cap="flat" cmpd="sng" w="9525">
            <a:solidFill>
              <a:srgbClr val="232323">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30"/>
          <p:cNvSpPr/>
          <p:nvPr/>
        </p:nvSpPr>
        <p:spPr>
          <a:xfrm>
            <a:off x="1035050" y="1737360"/>
            <a:ext cx="10021570" cy="2055495"/>
          </a:xfrm>
          <a:prstGeom prst="rect">
            <a:avLst/>
          </a:prstGeom>
          <a:noFill/>
          <a:ln>
            <a:noFill/>
          </a:ln>
        </p:spPr>
        <p:txBody>
          <a:bodyPr anchorCtr="0" anchor="ctr" bIns="45700" lIns="45700" spcFirstLastPara="1" rIns="0" wrap="square" tIns="0">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613" name="Google Shape;613;p30"/>
          <p:cNvSpPr/>
          <p:nvPr/>
        </p:nvSpPr>
        <p:spPr>
          <a:xfrm>
            <a:off x="1035050" y="4036060"/>
            <a:ext cx="10021570" cy="2055495"/>
          </a:xfrm>
          <a:prstGeom prst="roundRect">
            <a:avLst>
              <a:gd fmla="val 11535" name="adj"/>
            </a:avLst>
          </a:prstGeom>
          <a:solidFill>
            <a:srgbClr val="FFFFFF"/>
          </a:solidFill>
          <a:ln cap="flat" cmpd="sng" w="9525">
            <a:solidFill>
              <a:srgbClr val="232323">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30"/>
          <p:cNvSpPr/>
          <p:nvPr/>
        </p:nvSpPr>
        <p:spPr>
          <a:xfrm>
            <a:off x="1035050" y="4036060"/>
            <a:ext cx="10021570" cy="2055495"/>
          </a:xfrm>
          <a:prstGeom prst="rect">
            <a:avLst/>
          </a:prstGeom>
          <a:noFill/>
          <a:ln>
            <a:noFill/>
          </a:ln>
        </p:spPr>
        <p:txBody>
          <a:bodyPr anchorCtr="0" anchor="ctr" bIns="45700" lIns="45700" spcFirstLastPara="1" rIns="0" wrap="square" tIns="0">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615" name="Google Shape;615;p30"/>
          <p:cNvSpPr/>
          <p:nvPr/>
        </p:nvSpPr>
        <p:spPr>
          <a:xfrm>
            <a:off x="988060" y="704215"/>
            <a:ext cx="10534650" cy="49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Comandos esenciales de Compose</a:t>
            </a:r>
            <a:endParaRPr b="0" i="0" sz="1600" u="none" cap="none" strike="noStrike"/>
          </a:p>
        </p:txBody>
      </p:sp>
      <p:pic>
        <p:nvPicPr>
          <p:cNvPr descr="https://kimi-img.moonshot.cn/pub/slides/slides_tmpl/image/25-08-27-20:09:25-d2nfat98bjvh7rlj0j30.png" id="616" name="Google Shape;616;p30"/>
          <p:cNvPicPr preferRelativeResize="0"/>
          <p:nvPr/>
        </p:nvPicPr>
        <p:blipFill rotWithShape="1">
          <a:blip r:embed="rId3">
            <a:alphaModFix/>
          </a:blip>
          <a:srcRect b="0" l="0" r="0" t="0"/>
          <a:stretch/>
        </p:blipFill>
        <p:spPr>
          <a:xfrm>
            <a:off x="428942" y="770420"/>
            <a:ext cx="533400" cy="368300"/>
          </a:xfrm>
          <a:prstGeom prst="rect">
            <a:avLst/>
          </a:prstGeom>
          <a:noFill/>
          <a:ln>
            <a:noFill/>
          </a:ln>
        </p:spPr>
      </p:pic>
      <p:sp>
        <p:nvSpPr>
          <p:cNvPr id="617" name="Google Shape;617;p30"/>
          <p:cNvSpPr/>
          <p:nvPr/>
        </p:nvSpPr>
        <p:spPr>
          <a:xfrm>
            <a:off x="1417320" y="2371090"/>
            <a:ext cx="788035" cy="788035"/>
          </a:xfrm>
          <a:prstGeom prst="ellipse">
            <a:avLst/>
          </a:prstGeom>
          <a:gradFill>
            <a:gsLst>
              <a:gs pos="0">
                <a:srgbClr val="232323"/>
              </a:gs>
              <a:gs pos="100000">
                <a:srgbClr val="1A1A1A"/>
              </a:gs>
            </a:gsLst>
            <a:lin ang="768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30"/>
          <p:cNvSpPr/>
          <p:nvPr/>
        </p:nvSpPr>
        <p:spPr>
          <a:xfrm>
            <a:off x="1417320" y="2371090"/>
            <a:ext cx="788035" cy="78803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01</a:t>
            </a:r>
            <a:endParaRPr b="0" i="0" sz="1600" u="none" cap="none" strike="noStrike"/>
          </a:p>
        </p:txBody>
      </p:sp>
      <p:sp>
        <p:nvSpPr>
          <p:cNvPr id="619" name="Google Shape;619;p30"/>
          <p:cNvSpPr/>
          <p:nvPr/>
        </p:nvSpPr>
        <p:spPr>
          <a:xfrm>
            <a:off x="2452370" y="2000250"/>
            <a:ext cx="8211820" cy="44196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11111"/>
              </a:buClr>
              <a:buSzPts val="2400"/>
              <a:buFont typeface="Arial"/>
              <a:buNone/>
            </a:pPr>
            <a:r>
              <a:rPr b="1" i="0" lang="en-US" sz="2400" u="none" cap="none" strike="noStrike">
                <a:solidFill>
                  <a:srgbClr val="111111"/>
                </a:solidFill>
                <a:latin typeface="Arial"/>
                <a:ea typeface="Arial"/>
                <a:cs typeface="Arial"/>
                <a:sym typeface="Arial"/>
              </a:rPr>
              <a:t>docker-compose up -d</a:t>
            </a:r>
            <a:endParaRPr b="0" i="0" sz="1600" u="none" cap="none" strike="noStrike"/>
          </a:p>
        </p:txBody>
      </p:sp>
      <p:sp>
        <p:nvSpPr>
          <p:cNvPr id="620" name="Google Shape;620;p30"/>
          <p:cNvSpPr/>
          <p:nvPr/>
        </p:nvSpPr>
        <p:spPr>
          <a:xfrm>
            <a:off x="2452370" y="2515870"/>
            <a:ext cx="8175625" cy="110744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11111"/>
              </a:buClr>
              <a:buSzPts val="1600"/>
              <a:buFont typeface="Arial"/>
              <a:buNone/>
            </a:pPr>
            <a:r>
              <a:rPr b="0" i="0" lang="en-US" sz="1600" u="none" cap="none" strike="noStrike">
                <a:solidFill>
                  <a:srgbClr val="111111"/>
                </a:solidFill>
                <a:latin typeface="Arial"/>
                <a:ea typeface="Arial"/>
                <a:cs typeface="Arial"/>
                <a:sym typeface="Arial"/>
              </a:rPr>
              <a:t>Construye e inicia todos los servicios definidos en el archivo docker-compose.yml en segundo plano, facilitando la gestión diaria de aplicaciones multicontenedor.</a:t>
            </a:r>
            <a:endParaRPr b="0" i="0" sz="1600" u="none" cap="none" strike="noStrike"/>
          </a:p>
        </p:txBody>
      </p:sp>
      <p:sp>
        <p:nvSpPr>
          <p:cNvPr id="621" name="Google Shape;621;p30"/>
          <p:cNvSpPr/>
          <p:nvPr/>
        </p:nvSpPr>
        <p:spPr>
          <a:xfrm>
            <a:off x="1417320" y="4669790"/>
            <a:ext cx="788035" cy="788035"/>
          </a:xfrm>
          <a:prstGeom prst="ellipse">
            <a:avLst/>
          </a:prstGeom>
          <a:gradFill>
            <a:gsLst>
              <a:gs pos="0">
                <a:srgbClr val="232323"/>
              </a:gs>
              <a:gs pos="100000">
                <a:srgbClr val="1A1A1A"/>
              </a:gs>
            </a:gsLst>
            <a:lin ang="768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30"/>
          <p:cNvSpPr/>
          <p:nvPr/>
        </p:nvSpPr>
        <p:spPr>
          <a:xfrm>
            <a:off x="1417320" y="4669790"/>
            <a:ext cx="788035" cy="78803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02</a:t>
            </a:r>
            <a:endParaRPr b="0" i="0" sz="1600" u="none" cap="none" strike="noStrike"/>
          </a:p>
        </p:txBody>
      </p:sp>
      <p:sp>
        <p:nvSpPr>
          <p:cNvPr id="623" name="Google Shape;623;p30"/>
          <p:cNvSpPr/>
          <p:nvPr/>
        </p:nvSpPr>
        <p:spPr>
          <a:xfrm>
            <a:off x="2452370" y="4298950"/>
            <a:ext cx="8211820" cy="44196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11111"/>
              </a:buClr>
              <a:buSzPts val="2400"/>
              <a:buFont typeface="Arial"/>
              <a:buNone/>
            </a:pPr>
            <a:r>
              <a:rPr b="1" i="0" lang="en-US" sz="2400" u="none" cap="none" strike="noStrike">
                <a:solidFill>
                  <a:srgbClr val="111111"/>
                </a:solidFill>
                <a:latin typeface="Arial"/>
                <a:ea typeface="Arial"/>
                <a:cs typeface="Arial"/>
                <a:sym typeface="Arial"/>
              </a:rPr>
              <a:t>docker-compose down</a:t>
            </a:r>
            <a:endParaRPr b="0" i="0" sz="1600" u="none" cap="none" strike="noStrike"/>
          </a:p>
        </p:txBody>
      </p:sp>
      <p:sp>
        <p:nvSpPr>
          <p:cNvPr id="624" name="Google Shape;624;p30"/>
          <p:cNvSpPr/>
          <p:nvPr/>
        </p:nvSpPr>
        <p:spPr>
          <a:xfrm>
            <a:off x="2452370" y="4814570"/>
            <a:ext cx="8175625" cy="110744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11111"/>
              </a:buClr>
              <a:buSzPts val="1600"/>
              <a:buFont typeface="Arial"/>
              <a:buNone/>
            </a:pPr>
            <a:r>
              <a:rPr b="0" i="0" lang="en-US" sz="1600" u="none" cap="none" strike="noStrike">
                <a:solidFill>
                  <a:srgbClr val="111111"/>
                </a:solidFill>
                <a:latin typeface="Arial"/>
                <a:ea typeface="Arial"/>
                <a:cs typeface="Arial"/>
                <a:sym typeface="Arial"/>
              </a:rPr>
              <a:t>Elimina los contenedores y redes creados por Compose, permitiendo una limpieza eficiente del entorno y la preparación para nuevos despliegues.</a:t>
            </a:r>
            <a:endParaRPr b="0" i="0" sz="1600" u="none" cap="none" strike="noStrike"/>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9" name="Shape 629"/>
        <p:cNvGrpSpPr/>
        <p:nvPr/>
      </p:nvGrpSpPr>
      <p:grpSpPr>
        <a:xfrm>
          <a:off x="0" y="0"/>
          <a:ext cx="0" cy="0"/>
          <a:chOff x="0" y="0"/>
          <a:chExt cx="0" cy="0"/>
        </a:xfrm>
      </p:grpSpPr>
      <p:pic>
        <p:nvPicPr>
          <p:cNvPr descr="https://kimi-img.moonshot.cn/pub/slides/slides_tmpl/image/25-08-27-20:09:28-d2nfau18bjvh7rlj0jf0.png" id="630" name="Google Shape;630;p31"/>
          <p:cNvPicPr preferRelativeResize="0"/>
          <p:nvPr/>
        </p:nvPicPr>
        <p:blipFill rotWithShape="1">
          <a:blip r:embed="rId3">
            <a:alphaModFix/>
          </a:blip>
          <a:srcRect b="0" l="72" r="71" t="0"/>
          <a:stretch/>
        </p:blipFill>
        <p:spPr>
          <a:xfrm>
            <a:off x="615315" y="1220470"/>
            <a:ext cx="3975100" cy="5245735"/>
          </a:xfrm>
          <a:prstGeom prst="rect">
            <a:avLst/>
          </a:prstGeom>
          <a:noFill/>
          <a:ln>
            <a:noFill/>
          </a:ln>
        </p:spPr>
      </p:pic>
      <p:cxnSp>
        <p:nvCxnSpPr>
          <p:cNvPr id="631" name="Google Shape;631;p31"/>
          <p:cNvCxnSpPr/>
          <p:nvPr/>
        </p:nvCxnSpPr>
        <p:spPr>
          <a:xfrm>
            <a:off x="4794885" y="3883025"/>
            <a:ext cx="7040880" cy="0"/>
          </a:xfrm>
          <a:prstGeom prst="straightConnector1">
            <a:avLst/>
          </a:prstGeom>
          <a:noFill/>
          <a:ln cap="flat" cmpd="sng" w="12700">
            <a:solidFill>
              <a:srgbClr val="111111"/>
            </a:solidFill>
            <a:prstDash val="dash"/>
            <a:round/>
            <a:headEnd len="sm" w="sm" type="none"/>
            <a:tailEnd len="sm" w="sm" type="none"/>
          </a:ln>
        </p:spPr>
      </p:cxnSp>
      <p:sp>
        <p:nvSpPr>
          <p:cNvPr id="632" name="Google Shape;632;p31"/>
          <p:cNvSpPr/>
          <p:nvPr/>
        </p:nvSpPr>
        <p:spPr>
          <a:xfrm>
            <a:off x="988060" y="513715"/>
            <a:ext cx="10534650" cy="49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Redes y volúmenes en Compose</a:t>
            </a:r>
            <a:endParaRPr b="0" i="0" sz="1600" u="none" cap="none" strike="noStrike"/>
          </a:p>
        </p:txBody>
      </p:sp>
      <p:pic>
        <p:nvPicPr>
          <p:cNvPr descr="https://kimi-img.moonshot.cn/pub/slides/slides_tmpl/image/25-08-27-20:09:25-d2nfat98bjvh7rlj0j30.png" id="633" name="Google Shape;633;p31"/>
          <p:cNvPicPr preferRelativeResize="0"/>
          <p:nvPr/>
        </p:nvPicPr>
        <p:blipFill rotWithShape="1">
          <a:blip r:embed="rId4">
            <a:alphaModFix/>
          </a:blip>
          <a:srcRect b="0" l="0" r="0" t="0"/>
          <a:stretch/>
        </p:blipFill>
        <p:spPr>
          <a:xfrm>
            <a:off x="428942" y="580481"/>
            <a:ext cx="533400" cy="368300"/>
          </a:xfrm>
          <a:prstGeom prst="rect">
            <a:avLst/>
          </a:prstGeom>
          <a:noFill/>
          <a:ln>
            <a:noFill/>
          </a:ln>
        </p:spPr>
      </p:pic>
      <p:sp>
        <p:nvSpPr>
          <p:cNvPr id="634" name="Google Shape;634;p31"/>
          <p:cNvSpPr/>
          <p:nvPr/>
        </p:nvSpPr>
        <p:spPr>
          <a:xfrm>
            <a:off x="4794885" y="1203325"/>
            <a:ext cx="3137535"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Redes bridge</a:t>
            </a:r>
            <a:endParaRPr b="0" i="0" sz="1600" u="none" cap="none" strike="noStrike"/>
          </a:p>
        </p:txBody>
      </p:sp>
      <p:sp>
        <p:nvSpPr>
          <p:cNvPr id="635" name="Google Shape;635;p31"/>
          <p:cNvSpPr/>
          <p:nvPr/>
        </p:nvSpPr>
        <p:spPr>
          <a:xfrm>
            <a:off x="4843145" y="1838325"/>
            <a:ext cx="3089275" cy="176911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Compose crea redes bridge personalizadas por defecto, permitiendo la comunicación segura y el DNS automático entre servicios.</a:t>
            </a:r>
            <a:endParaRPr b="0" i="0" sz="1600" u="none" cap="none" strike="noStrike"/>
          </a:p>
        </p:txBody>
      </p:sp>
      <p:sp>
        <p:nvSpPr>
          <p:cNvPr id="636" name="Google Shape;636;p31"/>
          <p:cNvSpPr/>
          <p:nvPr/>
        </p:nvSpPr>
        <p:spPr>
          <a:xfrm>
            <a:off x="8383905" y="1203325"/>
            <a:ext cx="3137535"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Redes externas</a:t>
            </a:r>
            <a:endParaRPr b="0" i="0" sz="1600" u="none" cap="none" strike="noStrike"/>
          </a:p>
        </p:txBody>
      </p:sp>
      <p:sp>
        <p:nvSpPr>
          <p:cNvPr id="637" name="Google Shape;637;p31"/>
          <p:cNvSpPr/>
          <p:nvPr/>
        </p:nvSpPr>
        <p:spPr>
          <a:xfrm>
            <a:off x="8432165" y="1838325"/>
            <a:ext cx="3089275" cy="176911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Se pueden declarar redes externas para conectar contenedores gestionados fuera del proyecto, facilitando la integración con infraestructuras existentes.</a:t>
            </a:r>
            <a:endParaRPr b="0" i="0" sz="1600" u="none" cap="none" strike="noStrike"/>
          </a:p>
        </p:txBody>
      </p:sp>
      <p:sp>
        <p:nvSpPr>
          <p:cNvPr id="638" name="Google Shape;638;p31"/>
          <p:cNvSpPr/>
          <p:nvPr/>
        </p:nvSpPr>
        <p:spPr>
          <a:xfrm>
            <a:off x="4794885" y="4010025"/>
            <a:ext cx="3137535"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Volúmenes externos</a:t>
            </a:r>
            <a:endParaRPr b="0" i="0" sz="1600" u="none" cap="none" strike="noStrike"/>
          </a:p>
        </p:txBody>
      </p:sp>
      <p:sp>
        <p:nvSpPr>
          <p:cNvPr id="639" name="Google Shape;639;p31"/>
          <p:cNvSpPr/>
          <p:nvPr/>
        </p:nvSpPr>
        <p:spPr>
          <a:xfrm>
            <a:off x="4843145" y="4645025"/>
            <a:ext cx="3089275" cy="176911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Definir volúmenes externos permite compartir bases de datos entre proyectos y asegurar la persistencia de datos al actualizar definiciones de servicio.</a:t>
            </a:r>
            <a:endParaRPr b="0" i="0" sz="1600" u="none" cap="none" strike="noStrike"/>
          </a:p>
        </p:txBody>
      </p:sp>
      <p:sp>
        <p:nvSpPr>
          <p:cNvPr id="640" name="Google Shape;640;p31"/>
          <p:cNvSpPr/>
          <p:nvPr/>
        </p:nvSpPr>
        <p:spPr>
          <a:xfrm>
            <a:off x="8383905" y="4010025"/>
            <a:ext cx="3137535"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Ventajas</a:t>
            </a:r>
            <a:endParaRPr b="0" i="0" sz="1600" u="none" cap="none" strike="noStrike"/>
          </a:p>
        </p:txBody>
      </p:sp>
      <p:sp>
        <p:nvSpPr>
          <p:cNvPr id="641" name="Google Shape;641;p31"/>
          <p:cNvSpPr/>
          <p:nvPr/>
        </p:nvSpPr>
        <p:spPr>
          <a:xfrm>
            <a:off x="8432165" y="4645025"/>
            <a:ext cx="3089275" cy="176911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Estas características mejoran la flexibilidad y la portabilidad de aplicaciones multicontenedor, facilitando la gestión y el despliegue en diferentes entornos.</a:t>
            </a:r>
            <a:endParaRPr b="0" i="0" sz="1600" u="none" cap="none" strike="noStrike"/>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646" name="Shape 646"/>
        <p:cNvGrpSpPr/>
        <p:nvPr/>
      </p:nvGrpSpPr>
      <p:grpSpPr>
        <a:xfrm>
          <a:off x="0" y="0"/>
          <a:ext cx="0" cy="0"/>
          <a:chOff x="0" y="0"/>
          <a:chExt cx="0" cy="0"/>
        </a:xfrm>
      </p:grpSpPr>
      <p:pic>
        <p:nvPicPr>
          <p:cNvPr descr="https://kimi-img.moonshot.cn/pub/slides/slides_tmpl/image/25-08-27-20:09:25-d2nfat98bjvh7rlj0j2g.png" id="647" name="Google Shape;647;p32"/>
          <p:cNvPicPr preferRelativeResize="0"/>
          <p:nvPr/>
        </p:nvPicPr>
        <p:blipFill rotWithShape="1">
          <a:blip r:embed="rId3">
            <a:alphaModFix/>
          </a:blip>
          <a:srcRect b="0" l="0" r="0" t="0"/>
          <a:stretch/>
        </p:blipFill>
        <p:spPr>
          <a:xfrm>
            <a:off x="723900" y="1514475"/>
            <a:ext cx="4189095" cy="3772535"/>
          </a:xfrm>
          <a:prstGeom prst="rect">
            <a:avLst/>
          </a:prstGeom>
          <a:noFill/>
          <a:ln>
            <a:noFill/>
          </a:ln>
        </p:spPr>
      </p:pic>
      <p:sp>
        <p:nvSpPr>
          <p:cNvPr id="648" name="Google Shape;648;p32"/>
          <p:cNvSpPr/>
          <p:nvPr/>
        </p:nvSpPr>
        <p:spPr>
          <a:xfrm>
            <a:off x="5384165" y="3196590"/>
            <a:ext cx="5415915" cy="119888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2"/>
          <p:cNvSpPr/>
          <p:nvPr/>
        </p:nvSpPr>
        <p:spPr>
          <a:xfrm>
            <a:off x="5384165" y="3196590"/>
            <a:ext cx="5415915" cy="1198880"/>
          </a:xfrm>
          <a:prstGeom prst="rect">
            <a:avLst/>
          </a:prstGeom>
          <a:noFill/>
          <a:ln>
            <a:noFill/>
          </a:ln>
        </p:spPr>
        <p:txBody>
          <a:bodyPr anchorCtr="0" anchor="t" bIns="45700" lIns="45700" spcFirstLastPara="1" rIns="91425" wrap="square" tIns="91425">
            <a:noAutofit/>
          </a:bodyPr>
          <a:lstStyle/>
          <a:p>
            <a:pPr indent="0" lvl="0" marL="0" marR="0" rtl="0" algn="l">
              <a:lnSpc>
                <a:spcPct val="100000"/>
              </a:lnSpc>
              <a:spcBef>
                <a:spcPts val="0"/>
              </a:spcBef>
              <a:spcAft>
                <a:spcPts val="0"/>
              </a:spcAft>
              <a:buClr>
                <a:srgbClr val="FFFFFF"/>
              </a:buClr>
              <a:buSzPts val="3600"/>
              <a:buFont typeface="Arial"/>
              <a:buNone/>
            </a:pPr>
            <a:r>
              <a:rPr b="1" i="0" lang="en-US" sz="3600" u="none" cap="none" strike="noStrike">
                <a:solidFill>
                  <a:srgbClr val="FFFFFF"/>
                </a:solidFill>
                <a:latin typeface="Arial"/>
                <a:ea typeface="Arial"/>
                <a:cs typeface="Arial"/>
                <a:sym typeface="Arial"/>
              </a:rPr>
              <a:t>Seguridad y casos reales</a:t>
            </a:r>
            <a:endParaRPr b="0" i="0" sz="1600" u="none" cap="none" strike="noStrike"/>
          </a:p>
        </p:txBody>
      </p:sp>
      <p:sp>
        <p:nvSpPr>
          <p:cNvPr id="650" name="Google Shape;650;p32"/>
          <p:cNvSpPr/>
          <p:nvPr/>
        </p:nvSpPr>
        <p:spPr>
          <a:xfrm>
            <a:off x="5384165" y="1945640"/>
            <a:ext cx="3390265" cy="1104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FFFF"/>
              </a:buClr>
              <a:buSzPts val="7200"/>
              <a:buFont typeface="Arial"/>
              <a:buNone/>
            </a:pPr>
            <a:r>
              <a:rPr b="0" i="0" lang="en-US" sz="7200" u="none" cap="none" strike="noStrike">
                <a:solidFill>
                  <a:srgbClr val="FFFFFF"/>
                </a:solidFill>
                <a:latin typeface="Arial"/>
                <a:ea typeface="Arial"/>
                <a:cs typeface="Arial"/>
                <a:sym typeface="Arial"/>
              </a:rPr>
              <a:t>08</a:t>
            </a:r>
            <a:endParaRPr b="0" i="0" sz="1600" u="none" cap="none" strike="noStrike"/>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5" name="Shape 655"/>
        <p:cNvGrpSpPr/>
        <p:nvPr/>
      </p:nvGrpSpPr>
      <p:grpSpPr>
        <a:xfrm>
          <a:off x="0" y="0"/>
          <a:ext cx="0" cy="0"/>
          <a:chOff x="0" y="0"/>
          <a:chExt cx="0" cy="0"/>
        </a:xfrm>
      </p:grpSpPr>
      <p:sp>
        <p:nvSpPr>
          <p:cNvPr id="656" name="Google Shape;656;p33"/>
          <p:cNvSpPr/>
          <p:nvPr/>
        </p:nvSpPr>
        <p:spPr>
          <a:xfrm>
            <a:off x="0" y="6781800"/>
            <a:ext cx="12194540" cy="76200"/>
          </a:xfrm>
          <a:prstGeom prst="rect">
            <a:avLst/>
          </a:prstGeom>
          <a:solidFill>
            <a:srgbClr val="1C1A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3"/>
          <p:cNvSpPr/>
          <p:nvPr/>
        </p:nvSpPr>
        <p:spPr>
          <a:xfrm>
            <a:off x="0" y="6781800"/>
            <a:ext cx="12194540" cy="762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9-d2nfau98bjvh7rlj0jk0.png" id="658" name="Google Shape;658;p33"/>
          <p:cNvPicPr preferRelativeResize="0"/>
          <p:nvPr/>
        </p:nvPicPr>
        <p:blipFill rotWithShape="1">
          <a:blip r:embed="rId3">
            <a:alphaModFix/>
          </a:blip>
          <a:srcRect b="0" l="97" r="97" t="0"/>
          <a:stretch/>
        </p:blipFill>
        <p:spPr>
          <a:xfrm>
            <a:off x="6181090" y="1589405"/>
            <a:ext cx="2622550" cy="1821815"/>
          </a:xfrm>
          <a:prstGeom prst="rect">
            <a:avLst/>
          </a:prstGeom>
          <a:noFill/>
          <a:ln>
            <a:noFill/>
          </a:ln>
        </p:spPr>
      </p:pic>
      <p:pic>
        <p:nvPicPr>
          <p:cNvPr descr="https://kimi-img.moonshot.cn/pub/slides/slides_tmpl/image/25-08-27-20:09:29-d2nfau98bjvh7rlj0jhg.png" id="659" name="Google Shape;659;p33"/>
          <p:cNvPicPr preferRelativeResize="0"/>
          <p:nvPr/>
        </p:nvPicPr>
        <p:blipFill rotWithShape="1">
          <a:blip r:embed="rId4">
            <a:alphaModFix/>
          </a:blip>
          <a:srcRect b="0" l="96" r="120" t="0"/>
          <a:stretch/>
        </p:blipFill>
        <p:spPr>
          <a:xfrm>
            <a:off x="3407410" y="1589405"/>
            <a:ext cx="2639695" cy="1821815"/>
          </a:xfrm>
          <a:prstGeom prst="rect">
            <a:avLst/>
          </a:prstGeom>
          <a:noFill/>
          <a:ln>
            <a:noFill/>
          </a:ln>
        </p:spPr>
      </p:pic>
      <p:pic>
        <p:nvPicPr>
          <p:cNvPr descr="https://kimi-img.moonshot.cn/pub/slides/slides_tmpl/image/25-08-27-20:09:29-d2nfau98bjvh7rlj0ji0.png" id="660" name="Google Shape;660;p33"/>
          <p:cNvPicPr preferRelativeResize="0"/>
          <p:nvPr/>
        </p:nvPicPr>
        <p:blipFill rotWithShape="1">
          <a:blip r:embed="rId5">
            <a:alphaModFix/>
          </a:blip>
          <a:srcRect b="0" l="96" r="120" t="0"/>
          <a:stretch/>
        </p:blipFill>
        <p:spPr>
          <a:xfrm>
            <a:off x="641350" y="1589405"/>
            <a:ext cx="2639695" cy="1821815"/>
          </a:xfrm>
          <a:prstGeom prst="rect">
            <a:avLst/>
          </a:prstGeom>
          <a:noFill/>
          <a:ln>
            <a:noFill/>
          </a:ln>
        </p:spPr>
      </p:pic>
      <p:pic>
        <p:nvPicPr>
          <p:cNvPr descr="https://kimi-img.moonshot.cn/pub/slides/slides_tmpl/image/25-08-27-20:09:29-d2nfau98bjvh7rlj0jj0.png" id="661" name="Google Shape;661;p33"/>
          <p:cNvPicPr preferRelativeResize="0"/>
          <p:nvPr/>
        </p:nvPicPr>
        <p:blipFill rotWithShape="1">
          <a:blip r:embed="rId6">
            <a:alphaModFix/>
          </a:blip>
          <a:srcRect b="0" l="96" r="120" t="0"/>
          <a:stretch/>
        </p:blipFill>
        <p:spPr>
          <a:xfrm>
            <a:off x="8938260" y="1589405"/>
            <a:ext cx="2639695" cy="1821815"/>
          </a:xfrm>
          <a:prstGeom prst="rect">
            <a:avLst/>
          </a:prstGeom>
          <a:noFill/>
          <a:ln>
            <a:noFill/>
          </a:ln>
        </p:spPr>
      </p:pic>
      <p:sp>
        <p:nvSpPr>
          <p:cNvPr id="662" name="Google Shape;662;p33"/>
          <p:cNvSpPr/>
          <p:nvPr/>
        </p:nvSpPr>
        <p:spPr>
          <a:xfrm>
            <a:off x="988060" y="513715"/>
            <a:ext cx="10534650" cy="49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Buenas prácticas de seguridad</a:t>
            </a:r>
            <a:endParaRPr b="0" i="0" sz="1600" u="none" cap="none" strike="noStrike"/>
          </a:p>
        </p:txBody>
      </p:sp>
      <p:pic>
        <p:nvPicPr>
          <p:cNvPr descr="https://kimi-img.moonshot.cn/pub/slides/slides_tmpl/image/25-08-27-20:09:25-d2nfat98bjvh7rlj0j30.png" id="663" name="Google Shape;663;p33"/>
          <p:cNvPicPr preferRelativeResize="0"/>
          <p:nvPr/>
        </p:nvPicPr>
        <p:blipFill rotWithShape="1">
          <a:blip r:embed="rId7">
            <a:alphaModFix/>
          </a:blip>
          <a:srcRect b="0" l="0" r="0" t="0"/>
          <a:stretch/>
        </p:blipFill>
        <p:spPr>
          <a:xfrm>
            <a:off x="428942" y="580481"/>
            <a:ext cx="533400" cy="368300"/>
          </a:xfrm>
          <a:prstGeom prst="rect">
            <a:avLst/>
          </a:prstGeom>
          <a:noFill/>
          <a:ln>
            <a:noFill/>
          </a:ln>
        </p:spPr>
      </p:pic>
      <p:sp>
        <p:nvSpPr>
          <p:cNvPr id="664" name="Google Shape;664;p33"/>
          <p:cNvSpPr/>
          <p:nvPr/>
        </p:nvSpPr>
        <p:spPr>
          <a:xfrm>
            <a:off x="641985" y="3475355"/>
            <a:ext cx="2639060" cy="654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Escaneo de vulnerabilidades</a:t>
            </a:r>
            <a:endParaRPr b="0" i="0" sz="1600" u="none" cap="none" strike="noStrike"/>
          </a:p>
        </p:txBody>
      </p:sp>
      <p:sp>
        <p:nvSpPr>
          <p:cNvPr id="665" name="Google Shape;665;p33"/>
          <p:cNvSpPr/>
          <p:nvPr/>
        </p:nvSpPr>
        <p:spPr>
          <a:xfrm>
            <a:off x="641985" y="4137025"/>
            <a:ext cx="2639060" cy="1688306"/>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Usar herramientas como Docker Scout o Clair para escanear imágenes en busca de vulnerabilidades antes de despliegue, asegurando la integridad de la aplicación.</a:t>
            </a:r>
            <a:endParaRPr b="0" i="0" sz="1600" u="none" cap="none" strike="noStrike"/>
          </a:p>
        </p:txBody>
      </p:sp>
      <p:sp>
        <p:nvSpPr>
          <p:cNvPr id="666" name="Google Shape;666;p33"/>
          <p:cNvSpPr/>
          <p:nvPr/>
        </p:nvSpPr>
        <p:spPr>
          <a:xfrm>
            <a:off x="3407410" y="3475355"/>
            <a:ext cx="2639060" cy="654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Ejecución no privilegiada</a:t>
            </a:r>
            <a:endParaRPr b="0" i="0" sz="1600" u="none" cap="none" strike="noStrike"/>
          </a:p>
        </p:txBody>
      </p:sp>
      <p:sp>
        <p:nvSpPr>
          <p:cNvPr id="667" name="Google Shape;667;p33"/>
          <p:cNvSpPr/>
          <p:nvPr/>
        </p:nvSpPr>
        <p:spPr>
          <a:xfrm>
            <a:off x="3407410" y="4137025"/>
            <a:ext cx="2639060" cy="1688306"/>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Evitar ejecutar procesos como root dentro de los contenedores, utilizando usuarios no privilegiados para reducir la superficie de ataque.</a:t>
            </a:r>
            <a:endParaRPr b="0" i="0" sz="1600" u="none" cap="none" strike="noStrike"/>
          </a:p>
        </p:txBody>
      </p:sp>
      <p:sp>
        <p:nvSpPr>
          <p:cNvPr id="668" name="Google Shape;668;p33"/>
          <p:cNvSpPr/>
          <p:nvPr/>
        </p:nvSpPr>
        <p:spPr>
          <a:xfrm>
            <a:off x="6172835" y="3475355"/>
            <a:ext cx="2639060"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Limitar recursos</a:t>
            </a:r>
            <a:endParaRPr b="0" i="0" sz="1600" u="none" cap="none" strike="noStrike"/>
          </a:p>
        </p:txBody>
      </p:sp>
      <p:sp>
        <p:nvSpPr>
          <p:cNvPr id="669" name="Google Shape;669;p33"/>
          <p:cNvSpPr/>
          <p:nvPr/>
        </p:nvSpPr>
        <p:spPr>
          <a:xfrm>
            <a:off x="6172835" y="4137025"/>
            <a:ext cx="2639060" cy="1688306"/>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Utilizar opciones como --memory y --cpus para limitar los recursos asignados a cada contenedor, evitando el consumo excesivo de recursos del host.</a:t>
            </a:r>
            <a:endParaRPr b="0" i="0" sz="1600" u="none" cap="none" strike="noStrike"/>
          </a:p>
        </p:txBody>
      </p:sp>
      <p:sp>
        <p:nvSpPr>
          <p:cNvPr id="670" name="Google Shape;670;p33"/>
          <p:cNvSpPr/>
          <p:nvPr/>
        </p:nvSpPr>
        <p:spPr>
          <a:xfrm>
            <a:off x="8938260" y="3475355"/>
            <a:ext cx="2639060" cy="654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Filesystem de solo lectura</a:t>
            </a:r>
            <a:endParaRPr b="0" i="0" sz="1600" u="none" cap="none" strike="noStrike"/>
          </a:p>
        </p:txBody>
      </p:sp>
      <p:sp>
        <p:nvSpPr>
          <p:cNvPr id="671" name="Google Shape;671;p33"/>
          <p:cNvSpPr/>
          <p:nvPr/>
        </p:nvSpPr>
        <p:spPr>
          <a:xfrm>
            <a:off x="8938260" y="4137025"/>
            <a:ext cx="2639060" cy="1969691"/>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Aplicar filesystem de solo lectura y control de capacidades Linux para restringir las acciones que pueden realizarse dentro del contenedor, mejorando la seguridad.</a:t>
            </a:r>
            <a:endParaRPr b="0" i="0" sz="1600" u="none" cap="none" strike="noStrike"/>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6" name="Shape 676"/>
        <p:cNvGrpSpPr/>
        <p:nvPr/>
      </p:nvGrpSpPr>
      <p:grpSpPr>
        <a:xfrm>
          <a:off x="0" y="0"/>
          <a:ext cx="0" cy="0"/>
          <a:chOff x="0" y="0"/>
          <a:chExt cx="0" cy="0"/>
        </a:xfrm>
      </p:grpSpPr>
      <p:sp>
        <p:nvSpPr>
          <p:cNvPr id="677" name="Google Shape;677;p34"/>
          <p:cNvSpPr/>
          <p:nvPr/>
        </p:nvSpPr>
        <p:spPr>
          <a:xfrm flipH="1">
            <a:off x="0" y="1424940"/>
            <a:ext cx="7891780" cy="1828800"/>
          </a:xfrm>
          <a:prstGeom prst="rect">
            <a:avLst/>
          </a:prstGeom>
          <a:solidFill>
            <a:srgbClr val="0D0D0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4"/>
          <p:cNvSpPr/>
          <p:nvPr/>
        </p:nvSpPr>
        <p:spPr>
          <a:xfrm>
            <a:off x="0" y="1424940"/>
            <a:ext cx="7891780" cy="1828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8-d2nfau18bjvh7rlj0jeg.png" id="679" name="Google Shape;679;p34"/>
          <p:cNvPicPr preferRelativeResize="0"/>
          <p:nvPr/>
        </p:nvPicPr>
        <p:blipFill rotWithShape="1">
          <a:blip r:embed="rId3">
            <a:alphaModFix/>
          </a:blip>
          <a:srcRect b="0" l="47" r="46" t="0"/>
          <a:stretch/>
        </p:blipFill>
        <p:spPr>
          <a:xfrm>
            <a:off x="7465695" y="0"/>
            <a:ext cx="4726305" cy="6858000"/>
          </a:xfrm>
          <a:prstGeom prst="rect">
            <a:avLst/>
          </a:prstGeom>
          <a:noFill/>
          <a:ln>
            <a:noFill/>
          </a:ln>
        </p:spPr>
      </p:pic>
      <p:cxnSp>
        <p:nvCxnSpPr>
          <p:cNvPr id="680" name="Google Shape;680;p34"/>
          <p:cNvCxnSpPr/>
          <p:nvPr/>
        </p:nvCxnSpPr>
        <p:spPr>
          <a:xfrm>
            <a:off x="648335" y="4853305"/>
            <a:ext cx="6416040" cy="0"/>
          </a:xfrm>
          <a:prstGeom prst="straightConnector1">
            <a:avLst/>
          </a:prstGeom>
          <a:noFill/>
          <a:ln cap="flat" cmpd="sng" w="12700">
            <a:solidFill>
              <a:srgbClr val="111111"/>
            </a:solidFill>
            <a:prstDash val="dash"/>
            <a:round/>
            <a:headEnd len="sm" w="sm" type="none"/>
            <a:tailEnd len="sm" w="sm" type="none"/>
          </a:ln>
        </p:spPr>
      </p:cxnSp>
      <p:sp>
        <p:nvSpPr>
          <p:cNvPr id="681" name="Google Shape;681;p34"/>
          <p:cNvSpPr/>
          <p:nvPr/>
        </p:nvSpPr>
        <p:spPr>
          <a:xfrm>
            <a:off x="988060" y="513715"/>
            <a:ext cx="10534650" cy="49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Aplicaciones en la industria</a:t>
            </a:r>
            <a:endParaRPr b="0" i="0" sz="1600" u="none" cap="none" strike="noStrike"/>
          </a:p>
        </p:txBody>
      </p:sp>
      <p:pic>
        <p:nvPicPr>
          <p:cNvPr descr="https://kimi-img.moonshot.cn/pub/slides/slides_tmpl/image/25-08-27-20:09:25-d2nfat98bjvh7rlj0j30.png" id="682" name="Google Shape;682;p34"/>
          <p:cNvPicPr preferRelativeResize="0"/>
          <p:nvPr/>
        </p:nvPicPr>
        <p:blipFill rotWithShape="1">
          <a:blip r:embed="rId4">
            <a:alphaModFix/>
          </a:blip>
          <a:srcRect b="0" l="0" r="0" t="0"/>
          <a:stretch/>
        </p:blipFill>
        <p:spPr>
          <a:xfrm>
            <a:off x="428942" y="580481"/>
            <a:ext cx="533400" cy="368300"/>
          </a:xfrm>
          <a:prstGeom prst="rect">
            <a:avLst/>
          </a:prstGeom>
          <a:noFill/>
          <a:ln>
            <a:noFill/>
          </a:ln>
        </p:spPr>
      </p:pic>
      <p:sp>
        <p:nvSpPr>
          <p:cNvPr id="683" name="Google Shape;683;p34"/>
          <p:cNvSpPr/>
          <p:nvPr/>
        </p:nvSpPr>
        <p:spPr>
          <a:xfrm>
            <a:off x="648335" y="1595755"/>
            <a:ext cx="6416040"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Netflix</a:t>
            </a:r>
            <a:endParaRPr b="0" i="0" sz="1600" u="none" cap="none" strike="noStrike"/>
          </a:p>
        </p:txBody>
      </p:sp>
      <p:sp>
        <p:nvSpPr>
          <p:cNvPr id="684" name="Google Shape;684;p34"/>
          <p:cNvSpPr/>
          <p:nvPr/>
        </p:nvSpPr>
        <p:spPr>
          <a:xfrm>
            <a:off x="648335" y="1999615"/>
            <a:ext cx="6416040" cy="545703"/>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Netflix despliega microservicios en contenedores para lograr escalabilidad global y alta disponibilidad, mejorando la experiencia del usuario.</a:t>
            </a:r>
            <a:endParaRPr b="0" i="0" sz="1600" u="none" cap="none" strike="noStrike"/>
          </a:p>
        </p:txBody>
      </p:sp>
      <p:sp>
        <p:nvSpPr>
          <p:cNvPr id="685" name="Google Shape;685;p34"/>
          <p:cNvSpPr/>
          <p:nvPr/>
        </p:nvSpPr>
        <p:spPr>
          <a:xfrm>
            <a:off x="648335" y="3294380"/>
            <a:ext cx="6416040"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Bancos</a:t>
            </a:r>
            <a:endParaRPr b="0" i="0" sz="1600" u="none" cap="none" strike="noStrike"/>
          </a:p>
        </p:txBody>
      </p:sp>
      <p:sp>
        <p:nvSpPr>
          <p:cNvPr id="686" name="Google Shape;686;p34"/>
          <p:cNvSpPr/>
          <p:nvPr/>
        </p:nvSpPr>
        <p:spPr>
          <a:xfrm>
            <a:off x="648335" y="3679190"/>
            <a:ext cx="6416040" cy="545703"/>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Los bancos usan Docker para aislar APIs de pago y cumplir con normativas de seguridad, protegiendo datos sensibles y transacciones financieras.</a:t>
            </a:r>
            <a:endParaRPr b="0" i="0" sz="1600" u="none" cap="none" strike="noStrike"/>
          </a:p>
        </p:txBody>
      </p:sp>
      <p:sp>
        <p:nvSpPr>
          <p:cNvPr id="687" name="Google Shape;687;p34"/>
          <p:cNvSpPr/>
          <p:nvPr/>
        </p:nvSpPr>
        <p:spPr>
          <a:xfrm>
            <a:off x="648335" y="5013325"/>
            <a:ext cx="6416040" cy="31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Universidades</a:t>
            </a:r>
            <a:endParaRPr b="0" i="0" sz="1600" u="none" cap="none" strike="noStrike"/>
          </a:p>
        </p:txBody>
      </p:sp>
      <p:sp>
        <p:nvSpPr>
          <p:cNvPr id="688" name="Google Shape;688;p34"/>
          <p:cNvSpPr/>
          <p:nvPr/>
        </p:nvSpPr>
        <p:spPr>
          <a:xfrm>
            <a:off x="648335" y="5398135"/>
            <a:ext cx="6416040" cy="81855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Las universidades crean laboratorios virtuales desechables en contenedores, permitiendo un entorno de aprendizaje seguro y reproducible para estudiantes y profesores.</a:t>
            </a:r>
            <a:endParaRPr b="0" i="0" sz="1600" u="none" cap="none" strike="noStrike"/>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3" name="Shape 693"/>
        <p:cNvGrpSpPr/>
        <p:nvPr/>
      </p:nvGrpSpPr>
      <p:grpSpPr>
        <a:xfrm>
          <a:off x="0" y="0"/>
          <a:ext cx="0" cy="0"/>
          <a:chOff x="0" y="0"/>
          <a:chExt cx="0" cy="0"/>
        </a:xfrm>
      </p:grpSpPr>
      <p:pic>
        <p:nvPicPr>
          <p:cNvPr descr="https://kimi-img.moonshot.cn/pub/slides/slides_tmpl/image/25-08-27-20:09:26-d2nfath8bjvh7rlj0j6g.png" id="694" name="Google Shape;694;p35"/>
          <p:cNvPicPr preferRelativeResize="0"/>
          <p:nvPr/>
        </p:nvPicPr>
        <p:blipFill rotWithShape="1">
          <a:blip r:embed="rId3">
            <a:alphaModFix/>
          </a:blip>
          <a:srcRect b="0" l="0" r="0" t="0"/>
          <a:stretch/>
        </p:blipFill>
        <p:spPr>
          <a:xfrm>
            <a:off x="810895" y="1985010"/>
            <a:ext cx="4468495" cy="3938270"/>
          </a:xfrm>
          <a:prstGeom prst="rect">
            <a:avLst/>
          </a:prstGeom>
          <a:noFill/>
          <a:ln>
            <a:noFill/>
          </a:ln>
        </p:spPr>
      </p:pic>
      <p:pic>
        <p:nvPicPr>
          <p:cNvPr descr="https://kimi-img.moonshot.cn/pub/slides/slides_tmpl/image/25-08-27-20:09:26-d2nfath8bjvh7rlj0j5g.png" id="695" name="Google Shape;695;p35"/>
          <p:cNvPicPr preferRelativeResize="0"/>
          <p:nvPr/>
        </p:nvPicPr>
        <p:blipFill rotWithShape="1">
          <a:blip r:embed="rId4">
            <a:alphaModFix/>
          </a:blip>
          <a:srcRect b="0" l="0" r="0" t="0"/>
          <a:stretch/>
        </p:blipFill>
        <p:spPr>
          <a:xfrm>
            <a:off x="2719070" y="3652520"/>
            <a:ext cx="603250" cy="603250"/>
          </a:xfrm>
          <a:prstGeom prst="rect">
            <a:avLst/>
          </a:prstGeom>
          <a:noFill/>
          <a:ln>
            <a:noFill/>
          </a:ln>
        </p:spPr>
      </p:pic>
      <p:sp>
        <p:nvSpPr>
          <p:cNvPr id="696" name="Google Shape;696;p35"/>
          <p:cNvSpPr/>
          <p:nvPr/>
        </p:nvSpPr>
        <p:spPr>
          <a:xfrm>
            <a:off x="988060" y="704215"/>
            <a:ext cx="10534650" cy="49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3200"/>
              <a:buFont typeface="Arial"/>
              <a:buNone/>
            </a:pPr>
            <a:r>
              <a:rPr b="1" i="0" lang="en-US" sz="3200" u="none" cap="none" strike="noStrike">
                <a:solidFill>
                  <a:srgbClr val="111111"/>
                </a:solidFill>
                <a:latin typeface="Arial"/>
                <a:ea typeface="Arial"/>
                <a:cs typeface="Arial"/>
                <a:sym typeface="Arial"/>
              </a:rPr>
              <a:t>Tendencias y próximos pasos</a:t>
            </a:r>
            <a:endParaRPr b="0" i="0" sz="1600" u="none" cap="none" strike="noStrike"/>
          </a:p>
        </p:txBody>
      </p:sp>
      <p:pic>
        <p:nvPicPr>
          <p:cNvPr descr="https://kimi-img.moonshot.cn/pub/slides/slides_tmpl/image/25-08-27-20:09:25-d2nfat98bjvh7rlj0j30.png" id="697" name="Google Shape;697;p35"/>
          <p:cNvPicPr preferRelativeResize="0"/>
          <p:nvPr/>
        </p:nvPicPr>
        <p:blipFill rotWithShape="1">
          <a:blip r:embed="rId5">
            <a:alphaModFix/>
          </a:blip>
          <a:srcRect b="0" l="0" r="0" t="0"/>
          <a:stretch/>
        </p:blipFill>
        <p:spPr>
          <a:xfrm>
            <a:off x="428942" y="770420"/>
            <a:ext cx="533400" cy="368300"/>
          </a:xfrm>
          <a:prstGeom prst="rect">
            <a:avLst/>
          </a:prstGeom>
          <a:noFill/>
          <a:ln>
            <a:noFill/>
          </a:ln>
        </p:spPr>
      </p:pic>
      <p:sp>
        <p:nvSpPr>
          <p:cNvPr id="698" name="Google Shape;698;p35"/>
          <p:cNvSpPr/>
          <p:nvPr/>
        </p:nvSpPr>
        <p:spPr>
          <a:xfrm>
            <a:off x="5440680" y="2008505"/>
            <a:ext cx="584835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1800"/>
              <a:buFont typeface="Arial"/>
              <a:buNone/>
            </a:pPr>
            <a:r>
              <a:rPr b="1" i="0" lang="en-US" sz="1800" u="none" cap="none" strike="noStrike">
                <a:solidFill>
                  <a:srgbClr val="111111"/>
                </a:solidFill>
                <a:latin typeface="Arial"/>
                <a:ea typeface="Arial"/>
                <a:cs typeface="Arial"/>
                <a:sym typeface="Arial"/>
              </a:rPr>
              <a:t>Contenedores WebAssembly</a:t>
            </a:r>
            <a:endParaRPr b="0" i="0" sz="1600" u="none" cap="none" strike="noStrike"/>
          </a:p>
        </p:txBody>
      </p:sp>
      <p:sp>
        <p:nvSpPr>
          <p:cNvPr id="699" name="Google Shape;699;p35"/>
          <p:cNvSpPr/>
          <p:nvPr/>
        </p:nvSpPr>
        <p:spPr>
          <a:xfrm>
            <a:off x="5440680" y="2394585"/>
            <a:ext cx="5848350" cy="96023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La evolución hacia contenedores WebAssembly promete arranques más rápidos y sandboxes más estrictos, mejorando la seguridad y eficiencia.</a:t>
            </a:r>
            <a:endParaRPr b="0" i="0" sz="1600" u="none" cap="none" strike="noStrike"/>
          </a:p>
        </p:txBody>
      </p:sp>
      <p:sp>
        <p:nvSpPr>
          <p:cNvPr id="700" name="Google Shape;700;p35"/>
          <p:cNvSpPr/>
          <p:nvPr/>
        </p:nvSpPr>
        <p:spPr>
          <a:xfrm>
            <a:off x="5440680" y="4078605"/>
            <a:ext cx="584835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11111"/>
              </a:buClr>
              <a:buSzPts val="1800"/>
              <a:buFont typeface="Arial"/>
              <a:buNone/>
            </a:pPr>
            <a:r>
              <a:rPr b="1" i="0" lang="en-US" sz="1800" u="none" cap="none" strike="noStrike">
                <a:solidFill>
                  <a:srgbClr val="111111"/>
                </a:solidFill>
                <a:latin typeface="Arial"/>
                <a:ea typeface="Arial"/>
                <a:cs typeface="Arial"/>
                <a:sym typeface="Arial"/>
              </a:rPr>
              <a:t>Orquestación sin daemon</a:t>
            </a:r>
            <a:endParaRPr b="0" i="0" sz="1600" u="none" cap="none" strike="noStrike"/>
          </a:p>
        </p:txBody>
      </p:sp>
      <p:sp>
        <p:nvSpPr>
          <p:cNvPr id="701" name="Google Shape;701;p35"/>
          <p:cNvSpPr/>
          <p:nvPr/>
        </p:nvSpPr>
        <p:spPr>
          <a:xfrm>
            <a:off x="5440680" y="4464685"/>
            <a:ext cx="5848350" cy="96023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Herramientas como Podman y cri-o ganan terreno en entornos sin daemon, ofreciendo alternativas ligeras y eficientes para la gestión de contenedores.</a:t>
            </a:r>
            <a:endParaRPr b="0" i="0" sz="1600" u="none" cap="none" strike="noStrike"/>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706" name="Shape 706"/>
        <p:cNvGrpSpPr/>
        <p:nvPr/>
      </p:nvGrpSpPr>
      <p:grpSpPr>
        <a:xfrm>
          <a:off x="0" y="0"/>
          <a:ext cx="0" cy="0"/>
          <a:chOff x="0" y="0"/>
          <a:chExt cx="0" cy="0"/>
        </a:xfrm>
      </p:grpSpPr>
      <p:pic>
        <p:nvPicPr>
          <p:cNvPr descr="https://kimi-img.moonshot.cn/pub/slides/slides_tmpl/image/25-08-27-20:09:25-d2nfat98bjvh7rlj0j2g.png" id="707" name="Google Shape;707;g3aa85397aa6_0_43"/>
          <p:cNvPicPr preferRelativeResize="0"/>
          <p:nvPr/>
        </p:nvPicPr>
        <p:blipFill rotWithShape="1">
          <a:blip r:embed="rId3">
            <a:alphaModFix/>
          </a:blip>
          <a:srcRect b="0" l="0" r="0" t="0"/>
          <a:stretch/>
        </p:blipFill>
        <p:spPr>
          <a:xfrm>
            <a:off x="723900" y="1514475"/>
            <a:ext cx="4189094" cy="3772536"/>
          </a:xfrm>
          <a:prstGeom prst="rect">
            <a:avLst/>
          </a:prstGeom>
          <a:noFill/>
          <a:ln>
            <a:noFill/>
          </a:ln>
        </p:spPr>
      </p:pic>
      <p:sp>
        <p:nvSpPr>
          <p:cNvPr id="708" name="Google Shape;708;g3aa85397aa6_0_43"/>
          <p:cNvSpPr/>
          <p:nvPr/>
        </p:nvSpPr>
        <p:spPr>
          <a:xfrm>
            <a:off x="5384165" y="3196590"/>
            <a:ext cx="5415900" cy="11988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g3aa85397aa6_0_43"/>
          <p:cNvSpPr/>
          <p:nvPr/>
        </p:nvSpPr>
        <p:spPr>
          <a:xfrm>
            <a:off x="5384165" y="3196590"/>
            <a:ext cx="5415900" cy="1198800"/>
          </a:xfrm>
          <a:prstGeom prst="rect">
            <a:avLst/>
          </a:prstGeom>
          <a:noFill/>
          <a:ln>
            <a:noFill/>
          </a:ln>
        </p:spPr>
        <p:txBody>
          <a:bodyPr anchorCtr="0" anchor="t" bIns="45700" lIns="45700" spcFirstLastPara="1" rIns="91425" wrap="square" tIns="91425">
            <a:noAutofit/>
          </a:bodyPr>
          <a:lstStyle/>
          <a:p>
            <a:pPr indent="0" lvl="0" marL="0" marR="0" rtl="0" algn="just">
              <a:lnSpc>
                <a:spcPct val="100000"/>
              </a:lnSpc>
              <a:spcBef>
                <a:spcPts val="0"/>
              </a:spcBef>
              <a:spcAft>
                <a:spcPts val="0"/>
              </a:spcAft>
              <a:buClr>
                <a:srgbClr val="FFFFFF"/>
              </a:buClr>
              <a:buSzPts val="3600"/>
              <a:buFont typeface="Arial"/>
              <a:buNone/>
            </a:pPr>
            <a:r>
              <a:rPr b="1" lang="en-US" sz="3600">
                <a:solidFill>
                  <a:srgbClr val="FFFFFF"/>
                </a:solidFill>
              </a:rPr>
              <a:t>Conceptos Clave</a:t>
            </a:r>
            <a:endParaRPr b="0" i="0" sz="1600" u="none" cap="none" strike="noStrike"/>
          </a:p>
        </p:txBody>
      </p:sp>
      <p:pic>
        <p:nvPicPr>
          <p:cNvPr id="710" name="Google Shape;710;g3aa85397aa6_0_43" title="BUHOADSFA-Photoroom.png"/>
          <p:cNvPicPr preferRelativeResize="0"/>
          <p:nvPr/>
        </p:nvPicPr>
        <p:blipFill>
          <a:blip r:embed="rId4">
            <a:alphaModFix/>
          </a:blip>
          <a:stretch>
            <a:fillRect/>
          </a:stretch>
        </p:blipFill>
        <p:spPr>
          <a:xfrm>
            <a:off x="0" y="-6"/>
            <a:ext cx="863600" cy="106896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715" name="Shape 715"/>
        <p:cNvGrpSpPr/>
        <p:nvPr/>
      </p:nvGrpSpPr>
      <p:grpSpPr>
        <a:xfrm>
          <a:off x="0" y="0"/>
          <a:ext cx="0" cy="0"/>
          <a:chOff x="0" y="0"/>
          <a:chExt cx="0" cy="0"/>
        </a:xfrm>
      </p:grpSpPr>
      <p:sp>
        <p:nvSpPr>
          <p:cNvPr id="716" name="Google Shape;716;g3aa85397aa6_0_52"/>
          <p:cNvSpPr/>
          <p:nvPr/>
        </p:nvSpPr>
        <p:spPr>
          <a:xfrm>
            <a:off x="3557500" y="602200"/>
            <a:ext cx="5078700" cy="8655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202124"/>
              </a:buClr>
              <a:buSzPts val="3600"/>
              <a:buFont typeface="Noto Sans SC"/>
              <a:buNone/>
            </a:pPr>
            <a:r>
              <a:rPr b="1" lang="en-US" sz="4000">
                <a:solidFill>
                  <a:srgbClr val="202124"/>
                </a:solidFill>
                <a:latin typeface="Noto Sans SC"/>
                <a:ea typeface="Noto Sans SC"/>
                <a:cs typeface="Noto Sans SC"/>
                <a:sym typeface="Noto Sans SC"/>
              </a:rPr>
              <a:t>Conceptos Clave</a:t>
            </a:r>
            <a:endParaRPr b="1" i="0" sz="2000" u="none" cap="none" strike="noStrike"/>
          </a:p>
        </p:txBody>
      </p:sp>
      <p:sp>
        <p:nvSpPr>
          <p:cNvPr id="717" name="Google Shape;717;g3aa85397aa6_0_52"/>
          <p:cNvSpPr/>
          <p:nvPr/>
        </p:nvSpPr>
        <p:spPr>
          <a:xfrm>
            <a:off x="1819672" y="1755775"/>
            <a:ext cx="762000" cy="609600"/>
          </a:xfrm>
          <a:custGeom>
            <a:rect b="b" l="l" r="r" t="t"/>
            <a:pathLst>
              <a:path extrusionOk="0" h="609600" w="762000">
                <a:moveTo>
                  <a:pt x="495181" y="250627"/>
                </a:moveTo>
                <a:cubicBezTo>
                  <a:pt x="509707" y="246698"/>
                  <a:pt x="524947" y="253603"/>
                  <a:pt x="531495" y="267057"/>
                </a:cubicBezTo>
                <a:lnTo>
                  <a:pt x="553641" y="311825"/>
                </a:lnTo>
                <a:cubicBezTo>
                  <a:pt x="565904" y="313492"/>
                  <a:pt x="577929" y="316825"/>
                  <a:pt x="589240" y="321469"/>
                </a:cubicBezTo>
                <a:lnTo>
                  <a:pt x="630912" y="293727"/>
                </a:lnTo>
                <a:cubicBezTo>
                  <a:pt x="643414" y="285393"/>
                  <a:pt x="659963" y="287060"/>
                  <a:pt x="670560" y="297656"/>
                </a:cubicBezTo>
                <a:lnTo>
                  <a:pt x="693420" y="320516"/>
                </a:lnTo>
                <a:cubicBezTo>
                  <a:pt x="704017" y="331113"/>
                  <a:pt x="705683" y="347782"/>
                  <a:pt x="697349" y="360164"/>
                </a:cubicBezTo>
                <a:lnTo>
                  <a:pt x="669608" y="401717"/>
                </a:lnTo>
                <a:cubicBezTo>
                  <a:pt x="671870" y="407313"/>
                  <a:pt x="673894" y="413147"/>
                  <a:pt x="675561" y="419219"/>
                </a:cubicBezTo>
                <a:cubicBezTo>
                  <a:pt x="677228" y="425291"/>
                  <a:pt x="678299" y="431244"/>
                  <a:pt x="679133" y="437317"/>
                </a:cubicBezTo>
                <a:lnTo>
                  <a:pt x="724019" y="459462"/>
                </a:lnTo>
                <a:cubicBezTo>
                  <a:pt x="737473" y="466130"/>
                  <a:pt x="744379" y="481370"/>
                  <a:pt x="740450" y="495776"/>
                </a:cubicBezTo>
                <a:lnTo>
                  <a:pt x="732115" y="526971"/>
                </a:lnTo>
                <a:cubicBezTo>
                  <a:pt x="728186" y="541377"/>
                  <a:pt x="714732" y="551140"/>
                  <a:pt x="699730" y="550188"/>
                </a:cubicBezTo>
                <a:lnTo>
                  <a:pt x="649724" y="546973"/>
                </a:lnTo>
                <a:cubicBezTo>
                  <a:pt x="642223" y="556617"/>
                  <a:pt x="633532" y="565547"/>
                  <a:pt x="623649" y="573167"/>
                </a:cubicBezTo>
                <a:lnTo>
                  <a:pt x="626864" y="623054"/>
                </a:lnTo>
                <a:cubicBezTo>
                  <a:pt x="627817" y="638056"/>
                  <a:pt x="618053" y="651629"/>
                  <a:pt x="603647" y="655439"/>
                </a:cubicBezTo>
                <a:lnTo>
                  <a:pt x="572453" y="663773"/>
                </a:lnTo>
                <a:cubicBezTo>
                  <a:pt x="557927" y="667702"/>
                  <a:pt x="542806" y="660797"/>
                  <a:pt x="536138" y="647343"/>
                </a:cubicBezTo>
                <a:lnTo>
                  <a:pt x="513993" y="602575"/>
                </a:lnTo>
                <a:cubicBezTo>
                  <a:pt x="501729" y="600908"/>
                  <a:pt x="489704" y="597575"/>
                  <a:pt x="478393" y="592931"/>
                </a:cubicBezTo>
                <a:lnTo>
                  <a:pt x="436721" y="620673"/>
                </a:lnTo>
                <a:cubicBezTo>
                  <a:pt x="424220" y="629007"/>
                  <a:pt x="407670" y="627340"/>
                  <a:pt x="397073" y="616744"/>
                </a:cubicBezTo>
                <a:lnTo>
                  <a:pt x="374213" y="593884"/>
                </a:lnTo>
                <a:cubicBezTo>
                  <a:pt x="363617" y="583287"/>
                  <a:pt x="361950" y="566738"/>
                  <a:pt x="370284" y="554236"/>
                </a:cubicBezTo>
                <a:lnTo>
                  <a:pt x="398026" y="512564"/>
                </a:lnTo>
                <a:cubicBezTo>
                  <a:pt x="395764" y="506968"/>
                  <a:pt x="393740" y="501134"/>
                  <a:pt x="392073" y="495062"/>
                </a:cubicBezTo>
                <a:cubicBezTo>
                  <a:pt x="390406" y="488990"/>
                  <a:pt x="389334" y="482918"/>
                  <a:pt x="388501" y="476964"/>
                </a:cubicBezTo>
                <a:lnTo>
                  <a:pt x="343614" y="454819"/>
                </a:lnTo>
                <a:cubicBezTo>
                  <a:pt x="330160" y="448151"/>
                  <a:pt x="323374" y="432911"/>
                  <a:pt x="327184" y="418505"/>
                </a:cubicBezTo>
                <a:lnTo>
                  <a:pt x="335518" y="387310"/>
                </a:lnTo>
                <a:cubicBezTo>
                  <a:pt x="339447" y="372904"/>
                  <a:pt x="352901" y="363141"/>
                  <a:pt x="367903" y="364093"/>
                </a:cubicBezTo>
                <a:lnTo>
                  <a:pt x="417790" y="367308"/>
                </a:lnTo>
                <a:cubicBezTo>
                  <a:pt x="425291" y="357664"/>
                  <a:pt x="433983" y="348734"/>
                  <a:pt x="443865" y="341114"/>
                </a:cubicBezTo>
                <a:lnTo>
                  <a:pt x="440650" y="291346"/>
                </a:lnTo>
                <a:cubicBezTo>
                  <a:pt x="439698" y="276344"/>
                  <a:pt x="449461" y="262771"/>
                  <a:pt x="463867" y="258961"/>
                </a:cubicBezTo>
                <a:lnTo>
                  <a:pt x="495062" y="250627"/>
                </a:lnTo>
                <a:close/>
                <a:moveTo>
                  <a:pt x="533876" y="404813"/>
                </a:moveTo>
                <a:cubicBezTo>
                  <a:pt x="504963" y="404845"/>
                  <a:pt x="481515" y="428346"/>
                  <a:pt x="481548" y="457260"/>
                </a:cubicBezTo>
                <a:cubicBezTo>
                  <a:pt x="481581" y="486173"/>
                  <a:pt x="505082" y="509620"/>
                  <a:pt x="533995" y="509588"/>
                </a:cubicBezTo>
                <a:cubicBezTo>
                  <a:pt x="562909" y="509555"/>
                  <a:pt x="586356" y="486054"/>
                  <a:pt x="586323" y="457140"/>
                </a:cubicBezTo>
                <a:cubicBezTo>
                  <a:pt x="586290" y="428227"/>
                  <a:pt x="562790" y="404780"/>
                  <a:pt x="533876" y="404813"/>
                </a:cubicBezTo>
                <a:close/>
                <a:moveTo>
                  <a:pt x="267772" y="-54173"/>
                </a:moveTo>
                <a:lnTo>
                  <a:pt x="298966" y="-45839"/>
                </a:lnTo>
                <a:cubicBezTo>
                  <a:pt x="313373" y="-41910"/>
                  <a:pt x="323136" y="-28337"/>
                  <a:pt x="322183" y="-13454"/>
                </a:cubicBezTo>
                <a:lnTo>
                  <a:pt x="318968" y="36314"/>
                </a:lnTo>
                <a:cubicBezTo>
                  <a:pt x="328851" y="43934"/>
                  <a:pt x="337542" y="52745"/>
                  <a:pt x="345043" y="62508"/>
                </a:cubicBezTo>
                <a:lnTo>
                  <a:pt x="395049" y="59293"/>
                </a:lnTo>
                <a:cubicBezTo>
                  <a:pt x="409932" y="58341"/>
                  <a:pt x="423505" y="68104"/>
                  <a:pt x="427434" y="82510"/>
                </a:cubicBezTo>
                <a:lnTo>
                  <a:pt x="435769" y="113705"/>
                </a:lnTo>
                <a:cubicBezTo>
                  <a:pt x="439579" y="128111"/>
                  <a:pt x="432792" y="143351"/>
                  <a:pt x="419338" y="150019"/>
                </a:cubicBezTo>
                <a:lnTo>
                  <a:pt x="374452" y="172164"/>
                </a:lnTo>
                <a:cubicBezTo>
                  <a:pt x="373618" y="178237"/>
                  <a:pt x="372428" y="184309"/>
                  <a:pt x="370880" y="190262"/>
                </a:cubicBezTo>
                <a:cubicBezTo>
                  <a:pt x="369332" y="196215"/>
                  <a:pt x="367189" y="202168"/>
                  <a:pt x="364927" y="207764"/>
                </a:cubicBezTo>
                <a:lnTo>
                  <a:pt x="392668" y="249436"/>
                </a:lnTo>
                <a:cubicBezTo>
                  <a:pt x="401003" y="261937"/>
                  <a:pt x="399336" y="278487"/>
                  <a:pt x="388739" y="289084"/>
                </a:cubicBezTo>
                <a:lnTo>
                  <a:pt x="365879" y="311944"/>
                </a:lnTo>
                <a:cubicBezTo>
                  <a:pt x="355283" y="322540"/>
                  <a:pt x="338733" y="324207"/>
                  <a:pt x="326231" y="315873"/>
                </a:cubicBezTo>
                <a:lnTo>
                  <a:pt x="284559" y="288131"/>
                </a:lnTo>
                <a:cubicBezTo>
                  <a:pt x="273248" y="292775"/>
                  <a:pt x="261223" y="296108"/>
                  <a:pt x="248960" y="297775"/>
                </a:cubicBezTo>
                <a:lnTo>
                  <a:pt x="226814" y="342543"/>
                </a:lnTo>
                <a:cubicBezTo>
                  <a:pt x="220147" y="355997"/>
                  <a:pt x="204907" y="362783"/>
                  <a:pt x="190500" y="358973"/>
                </a:cubicBezTo>
                <a:lnTo>
                  <a:pt x="159306" y="350639"/>
                </a:lnTo>
                <a:cubicBezTo>
                  <a:pt x="144780" y="346710"/>
                  <a:pt x="135136" y="333137"/>
                  <a:pt x="136088" y="318254"/>
                </a:cubicBezTo>
                <a:lnTo>
                  <a:pt x="139303" y="268367"/>
                </a:lnTo>
                <a:cubicBezTo>
                  <a:pt x="129421" y="260747"/>
                  <a:pt x="120729" y="251936"/>
                  <a:pt x="113228" y="242173"/>
                </a:cubicBezTo>
                <a:lnTo>
                  <a:pt x="63222" y="245388"/>
                </a:lnTo>
                <a:cubicBezTo>
                  <a:pt x="48339" y="246340"/>
                  <a:pt x="34766" y="236577"/>
                  <a:pt x="30837" y="222171"/>
                </a:cubicBezTo>
                <a:lnTo>
                  <a:pt x="22503" y="190976"/>
                </a:lnTo>
                <a:cubicBezTo>
                  <a:pt x="18693" y="176570"/>
                  <a:pt x="25479" y="161330"/>
                  <a:pt x="38933" y="154662"/>
                </a:cubicBezTo>
                <a:lnTo>
                  <a:pt x="83820" y="132517"/>
                </a:lnTo>
                <a:cubicBezTo>
                  <a:pt x="84653" y="126444"/>
                  <a:pt x="85844" y="120491"/>
                  <a:pt x="87392" y="114419"/>
                </a:cubicBezTo>
                <a:cubicBezTo>
                  <a:pt x="89059" y="108347"/>
                  <a:pt x="90964" y="102513"/>
                  <a:pt x="93345" y="96917"/>
                </a:cubicBezTo>
                <a:lnTo>
                  <a:pt x="65603" y="55364"/>
                </a:lnTo>
                <a:cubicBezTo>
                  <a:pt x="57269" y="42863"/>
                  <a:pt x="58936" y="26313"/>
                  <a:pt x="69533" y="15716"/>
                </a:cubicBezTo>
                <a:lnTo>
                  <a:pt x="92393" y="-7144"/>
                </a:lnTo>
                <a:cubicBezTo>
                  <a:pt x="102989" y="-17740"/>
                  <a:pt x="119539" y="-19407"/>
                  <a:pt x="132040" y="-11073"/>
                </a:cubicBezTo>
                <a:lnTo>
                  <a:pt x="173712" y="16669"/>
                </a:lnTo>
                <a:cubicBezTo>
                  <a:pt x="185023" y="12025"/>
                  <a:pt x="197048" y="8692"/>
                  <a:pt x="209312" y="7025"/>
                </a:cubicBezTo>
                <a:lnTo>
                  <a:pt x="231458" y="-37743"/>
                </a:lnTo>
                <a:cubicBezTo>
                  <a:pt x="238125" y="-51197"/>
                  <a:pt x="253246" y="-57983"/>
                  <a:pt x="267772" y="-54173"/>
                </a:cubicBezTo>
                <a:close/>
                <a:moveTo>
                  <a:pt x="229076" y="100013"/>
                </a:moveTo>
                <a:cubicBezTo>
                  <a:pt x="200163" y="100013"/>
                  <a:pt x="176689" y="123487"/>
                  <a:pt x="176689" y="152400"/>
                </a:cubicBezTo>
                <a:cubicBezTo>
                  <a:pt x="176689" y="181313"/>
                  <a:pt x="200163" y="204787"/>
                  <a:pt x="229076" y="204787"/>
                </a:cubicBezTo>
                <a:cubicBezTo>
                  <a:pt x="257990" y="204787"/>
                  <a:pt x="281464" y="181313"/>
                  <a:pt x="281464" y="152400"/>
                </a:cubicBezTo>
                <a:cubicBezTo>
                  <a:pt x="281464" y="123487"/>
                  <a:pt x="257990" y="100013"/>
                  <a:pt x="229076" y="100013"/>
                </a:cubicBezTo>
                <a:close/>
              </a:path>
            </a:pathLst>
          </a:custGeom>
          <a:solidFill>
            <a:srgbClr val="4285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g3aa85397aa6_0_52"/>
          <p:cNvSpPr/>
          <p:nvPr/>
        </p:nvSpPr>
        <p:spPr>
          <a:xfrm>
            <a:off x="402350" y="2756950"/>
            <a:ext cx="3594000" cy="3555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202124"/>
              </a:buClr>
              <a:buSzPts val="2000"/>
              <a:buFont typeface="Noto Sans SC"/>
              <a:buNone/>
            </a:pPr>
            <a:r>
              <a:rPr b="1" i="0" lang="en-US" sz="2000" u="none" cap="none" strike="noStrike">
                <a:solidFill>
                  <a:srgbClr val="202124"/>
                </a:solidFill>
                <a:latin typeface="Noto Sans SC"/>
                <a:ea typeface="Noto Sans SC"/>
                <a:cs typeface="Noto Sans SC"/>
                <a:sym typeface="Noto Sans SC"/>
              </a:rPr>
              <a:t>Tecnologías Clave</a:t>
            </a:r>
            <a:endParaRPr b="1" i="0" sz="1600" u="none" cap="none" strike="noStrike"/>
          </a:p>
        </p:txBody>
      </p:sp>
      <p:sp>
        <p:nvSpPr>
          <p:cNvPr id="719" name="Google Shape;719;g3aa85397aa6_0_52"/>
          <p:cNvSpPr/>
          <p:nvPr/>
        </p:nvSpPr>
        <p:spPr>
          <a:xfrm>
            <a:off x="660400" y="3504025"/>
            <a:ext cx="3339900" cy="23061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1400"/>
              <a:buFont typeface="Arial"/>
              <a:buNone/>
            </a:pPr>
            <a:r>
              <a:rPr b="0" i="0" lang="en-US" sz="2100" u="none" cap="none" strike="noStrike">
                <a:solidFill>
                  <a:srgbClr val="000000"/>
                </a:solidFill>
                <a:latin typeface="Arial"/>
                <a:ea typeface="Arial"/>
                <a:cs typeface="Arial"/>
                <a:sym typeface="Arial"/>
              </a:rPr>
              <a:t>Virtualización y contenerización son la base de la infraestructura moderna, impulsando la automatización y eficiencia.</a:t>
            </a:r>
            <a:endParaRPr b="0" i="0" sz="2300" u="none" cap="none" strike="noStrike"/>
          </a:p>
        </p:txBody>
      </p:sp>
      <p:cxnSp>
        <p:nvCxnSpPr>
          <p:cNvPr id="720" name="Google Shape;720;g3aa85397aa6_0_52"/>
          <p:cNvCxnSpPr/>
          <p:nvPr/>
        </p:nvCxnSpPr>
        <p:spPr>
          <a:xfrm>
            <a:off x="7792244" y="2667000"/>
            <a:ext cx="0" cy="2438400"/>
          </a:xfrm>
          <a:prstGeom prst="straightConnector1">
            <a:avLst/>
          </a:prstGeom>
          <a:noFill/>
          <a:ln cap="flat" cmpd="sng" w="25400">
            <a:solidFill>
              <a:srgbClr val="888B8D">
                <a:alpha val="29800"/>
              </a:srgbClr>
            </a:solidFill>
            <a:prstDash val="solid"/>
            <a:round/>
            <a:headEnd len="sm" w="sm" type="none"/>
            <a:tailEnd len="sm" w="sm" type="none"/>
          </a:ln>
        </p:spPr>
      </p:cxnSp>
      <p:cxnSp>
        <p:nvCxnSpPr>
          <p:cNvPr id="721" name="Google Shape;721;g3aa85397aa6_0_52"/>
          <p:cNvCxnSpPr/>
          <p:nvPr/>
        </p:nvCxnSpPr>
        <p:spPr>
          <a:xfrm>
            <a:off x="4350544" y="2667000"/>
            <a:ext cx="0" cy="2438400"/>
          </a:xfrm>
          <a:prstGeom prst="straightConnector1">
            <a:avLst/>
          </a:prstGeom>
          <a:noFill/>
          <a:ln cap="flat" cmpd="sng" w="25400">
            <a:solidFill>
              <a:srgbClr val="888B8D">
                <a:alpha val="29800"/>
              </a:srgbClr>
            </a:solidFill>
            <a:prstDash val="solid"/>
            <a:round/>
            <a:headEnd len="sm" w="sm" type="none"/>
            <a:tailEnd len="sm" w="sm" type="none"/>
          </a:ln>
        </p:spPr>
      </p:cxnSp>
      <p:sp>
        <p:nvSpPr>
          <p:cNvPr id="722" name="Google Shape;722;g3aa85397aa6_0_52"/>
          <p:cNvSpPr/>
          <p:nvPr/>
        </p:nvSpPr>
        <p:spPr>
          <a:xfrm>
            <a:off x="5728500" y="1755775"/>
            <a:ext cx="685800" cy="609600"/>
          </a:xfrm>
          <a:custGeom>
            <a:rect b="b" l="l" r="r" t="t"/>
            <a:pathLst>
              <a:path extrusionOk="0" h="609600" w="685800">
                <a:moveTo>
                  <a:pt x="266819" y="115610"/>
                </a:moveTo>
                <a:lnTo>
                  <a:pt x="266819" y="174665"/>
                </a:lnTo>
                <a:lnTo>
                  <a:pt x="267414" y="175260"/>
                </a:lnTo>
                <a:cubicBezTo>
                  <a:pt x="275153" y="77152"/>
                  <a:pt x="357188" y="0"/>
                  <a:pt x="457319" y="0"/>
                </a:cubicBezTo>
                <a:cubicBezTo>
                  <a:pt x="481251" y="0"/>
                  <a:pt x="504230" y="4405"/>
                  <a:pt x="525304" y="12502"/>
                </a:cubicBezTo>
                <a:cubicBezTo>
                  <a:pt x="537210" y="17026"/>
                  <a:pt x="539353" y="32147"/>
                  <a:pt x="530423" y="41196"/>
                </a:cubicBezTo>
                <a:lnTo>
                  <a:pt x="424815" y="146804"/>
                </a:lnTo>
                <a:cubicBezTo>
                  <a:pt x="421243" y="150376"/>
                  <a:pt x="419219" y="155258"/>
                  <a:pt x="419219" y="160258"/>
                </a:cubicBezTo>
                <a:lnTo>
                  <a:pt x="419219" y="209550"/>
                </a:lnTo>
                <a:cubicBezTo>
                  <a:pt x="419219" y="220028"/>
                  <a:pt x="427792" y="228600"/>
                  <a:pt x="438269" y="228600"/>
                </a:cubicBezTo>
                <a:lnTo>
                  <a:pt x="487561" y="228600"/>
                </a:lnTo>
                <a:cubicBezTo>
                  <a:pt x="492562" y="228600"/>
                  <a:pt x="497443" y="226576"/>
                  <a:pt x="501015" y="223004"/>
                </a:cubicBezTo>
                <a:lnTo>
                  <a:pt x="606623" y="117396"/>
                </a:lnTo>
                <a:cubicBezTo>
                  <a:pt x="615672" y="108347"/>
                  <a:pt x="630793" y="110609"/>
                  <a:pt x="635318" y="122515"/>
                </a:cubicBezTo>
                <a:cubicBezTo>
                  <a:pt x="643414" y="143589"/>
                  <a:pt x="647819" y="166568"/>
                  <a:pt x="647819" y="190500"/>
                </a:cubicBezTo>
                <a:cubicBezTo>
                  <a:pt x="647819" y="262652"/>
                  <a:pt x="607695" y="325517"/>
                  <a:pt x="548402" y="357783"/>
                </a:cubicBezTo>
                <a:lnTo>
                  <a:pt x="645438" y="454819"/>
                </a:lnTo>
                <a:cubicBezTo>
                  <a:pt x="667703" y="477083"/>
                  <a:pt x="667703" y="513278"/>
                  <a:pt x="645438" y="535662"/>
                </a:cubicBezTo>
                <a:lnTo>
                  <a:pt x="573881" y="607219"/>
                </a:lnTo>
                <a:cubicBezTo>
                  <a:pt x="551617" y="629483"/>
                  <a:pt x="515422" y="629483"/>
                  <a:pt x="493038" y="607219"/>
                </a:cubicBezTo>
                <a:lnTo>
                  <a:pt x="343019" y="457200"/>
                </a:lnTo>
                <a:cubicBezTo>
                  <a:pt x="310396" y="424577"/>
                  <a:pt x="303014" y="376357"/>
                  <a:pt x="320993" y="336590"/>
                </a:cubicBezTo>
                <a:lnTo>
                  <a:pt x="213003" y="228600"/>
                </a:lnTo>
                <a:lnTo>
                  <a:pt x="153948" y="228600"/>
                </a:lnTo>
                <a:cubicBezTo>
                  <a:pt x="141208" y="228600"/>
                  <a:pt x="129302" y="222290"/>
                  <a:pt x="122277" y="211693"/>
                </a:cubicBezTo>
                <a:lnTo>
                  <a:pt x="27861" y="70128"/>
                </a:lnTo>
                <a:cubicBezTo>
                  <a:pt x="22860" y="62627"/>
                  <a:pt x="23813" y="52507"/>
                  <a:pt x="30242" y="46077"/>
                </a:cubicBezTo>
                <a:lnTo>
                  <a:pt x="84296" y="-7977"/>
                </a:lnTo>
                <a:cubicBezTo>
                  <a:pt x="90726" y="-14407"/>
                  <a:pt x="100727" y="-15359"/>
                  <a:pt x="108347" y="-10358"/>
                </a:cubicBezTo>
                <a:lnTo>
                  <a:pt x="249912" y="83939"/>
                </a:lnTo>
                <a:cubicBezTo>
                  <a:pt x="260509" y="90964"/>
                  <a:pt x="266819" y="102870"/>
                  <a:pt x="266819" y="115610"/>
                </a:cubicBezTo>
                <a:close/>
                <a:moveTo>
                  <a:pt x="256699" y="353139"/>
                </a:moveTo>
                <a:cubicBezTo>
                  <a:pt x="249198" y="397193"/>
                  <a:pt x="259556" y="443746"/>
                  <a:pt x="288131" y="481012"/>
                </a:cubicBezTo>
                <a:lnTo>
                  <a:pt x="175022" y="594003"/>
                </a:lnTo>
                <a:cubicBezTo>
                  <a:pt x="141565" y="627459"/>
                  <a:pt x="87273" y="627459"/>
                  <a:pt x="53816" y="594003"/>
                </a:cubicBezTo>
                <a:cubicBezTo>
                  <a:pt x="20360" y="560546"/>
                  <a:pt x="20360" y="506254"/>
                  <a:pt x="53816" y="472797"/>
                </a:cubicBezTo>
                <a:lnTo>
                  <a:pt x="215027" y="311587"/>
                </a:lnTo>
                <a:lnTo>
                  <a:pt x="256699" y="353258"/>
                </a:lnTo>
                <a:close/>
              </a:path>
            </a:pathLst>
          </a:custGeom>
          <a:solidFill>
            <a:srgbClr val="4285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g3aa85397aa6_0_52"/>
          <p:cNvSpPr/>
          <p:nvPr/>
        </p:nvSpPr>
        <p:spPr>
          <a:xfrm>
            <a:off x="4325144" y="2756950"/>
            <a:ext cx="3543300" cy="3555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202124"/>
              </a:buClr>
              <a:buSzPts val="2000"/>
              <a:buFont typeface="Noto Sans SC"/>
              <a:buNone/>
            </a:pPr>
            <a:r>
              <a:rPr b="1" i="0" lang="en-US" sz="2000" u="none" cap="none" strike="noStrike">
                <a:solidFill>
                  <a:srgbClr val="202124"/>
                </a:solidFill>
                <a:latin typeface="Noto Sans SC"/>
                <a:ea typeface="Noto Sans SC"/>
                <a:cs typeface="Noto Sans SC"/>
                <a:sym typeface="Noto Sans SC"/>
              </a:rPr>
              <a:t>Herramientas Esenciales</a:t>
            </a:r>
            <a:endParaRPr b="1" i="0" sz="1600" u="none" cap="none" strike="noStrike"/>
          </a:p>
        </p:txBody>
      </p:sp>
      <p:sp>
        <p:nvSpPr>
          <p:cNvPr id="724" name="Google Shape;724;g3aa85397aa6_0_52"/>
          <p:cNvSpPr/>
          <p:nvPr/>
        </p:nvSpPr>
        <p:spPr>
          <a:xfrm>
            <a:off x="4579150" y="3504025"/>
            <a:ext cx="2990700" cy="23061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40404"/>
              </a:buClr>
              <a:buSzPts val="1400"/>
              <a:buFont typeface="Arial"/>
              <a:buNone/>
            </a:pPr>
            <a:r>
              <a:rPr b="0" i="0" lang="en-US" sz="2100" u="none" cap="none" strike="noStrike">
                <a:solidFill>
                  <a:srgbClr val="040404"/>
                </a:solidFill>
                <a:latin typeface="Arial"/>
                <a:ea typeface="Arial"/>
                <a:cs typeface="Arial"/>
                <a:sym typeface="Arial"/>
              </a:rPr>
              <a:t>Docker, Containerd, Harbor y Zot permiten una gestión de servicios eficiente, segura y escalable.</a:t>
            </a:r>
            <a:endParaRPr b="0" i="0" sz="2300" u="none" cap="none" strike="noStrike"/>
          </a:p>
        </p:txBody>
      </p:sp>
      <p:sp>
        <p:nvSpPr>
          <p:cNvPr id="725" name="Google Shape;725;g3aa85397aa6_0_52"/>
          <p:cNvSpPr/>
          <p:nvPr/>
        </p:nvSpPr>
        <p:spPr>
          <a:xfrm>
            <a:off x="9724827" y="1755775"/>
            <a:ext cx="533400" cy="609600"/>
          </a:xfrm>
          <a:custGeom>
            <a:rect b="b" l="l" r="r" t="t"/>
            <a:pathLst>
              <a:path extrusionOk="0" h="609600" w="533400">
                <a:moveTo>
                  <a:pt x="287298" y="-15478"/>
                </a:moveTo>
                <a:cubicBezTo>
                  <a:pt x="273725" y="-18217"/>
                  <a:pt x="259794" y="-18217"/>
                  <a:pt x="246221" y="-15478"/>
                </a:cubicBezTo>
                <a:lnTo>
                  <a:pt x="22979" y="29170"/>
                </a:lnTo>
                <a:cubicBezTo>
                  <a:pt x="9644" y="31790"/>
                  <a:pt x="0" y="43577"/>
                  <a:pt x="0" y="57150"/>
                </a:cubicBezTo>
                <a:cubicBezTo>
                  <a:pt x="0" y="69413"/>
                  <a:pt x="7739" y="80129"/>
                  <a:pt x="19050" y="84058"/>
                </a:cubicBezTo>
                <a:lnTo>
                  <a:pt x="19050" y="171450"/>
                </a:lnTo>
                <a:lnTo>
                  <a:pt x="357" y="265033"/>
                </a:lnTo>
                <a:cubicBezTo>
                  <a:pt x="119" y="266105"/>
                  <a:pt x="0" y="267295"/>
                  <a:pt x="0" y="268486"/>
                </a:cubicBezTo>
                <a:cubicBezTo>
                  <a:pt x="0" y="278011"/>
                  <a:pt x="7739" y="285869"/>
                  <a:pt x="17383" y="285869"/>
                </a:cubicBezTo>
                <a:lnTo>
                  <a:pt x="58936" y="285869"/>
                </a:lnTo>
                <a:cubicBezTo>
                  <a:pt x="68461" y="285869"/>
                  <a:pt x="76319" y="278130"/>
                  <a:pt x="76319" y="268486"/>
                </a:cubicBezTo>
                <a:cubicBezTo>
                  <a:pt x="76319" y="267295"/>
                  <a:pt x="76200" y="266224"/>
                  <a:pt x="75962" y="265033"/>
                </a:cubicBezTo>
                <a:lnTo>
                  <a:pt x="57150" y="171450"/>
                </a:lnTo>
                <a:lnTo>
                  <a:pt x="57150" y="92035"/>
                </a:lnTo>
                <a:lnTo>
                  <a:pt x="114300" y="103465"/>
                </a:lnTo>
                <a:lnTo>
                  <a:pt x="114300" y="171450"/>
                </a:lnTo>
                <a:cubicBezTo>
                  <a:pt x="114300" y="255627"/>
                  <a:pt x="182523" y="323850"/>
                  <a:pt x="266700" y="323850"/>
                </a:cubicBezTo>
                <a:cubicBezTo>
                  <a:pt x="350877" y="323850"/>
                  <a:pt x="419100" y="255627"/>
                  <a:pt x="419100" y="171450"/>
                </a:cubicBezTo>
                <a:lnTo>
                  <a:pt x="419100" y="103465"/>
                </a:lnTo>
                <a:lnTo>
                  <a:pt x="510421" y="85249"/>
                </a:lnTo>
                <a:cubicBezTo>
                  <a:pt x="523756" y="82510"/>
                  <a:pt x="533400" y="70723"/>
                  <a:pt x="533400" y="57150"/>
                </a:cubicBezTo>
                <a:cubicBezTo>
                  <a:pt x="533400" y="43577"/>
                  <a:pt x="523756" y="31790"/>
                  <a:pt x="510421" y="29170"/>
                </a:cubicBezTo>
                <a:lnTo>
                  <a:pt x="287298" y="-15478"/>
                </a:lnTo>
                <a:close/>
                <a:moveTo>
                  <a:pt x="266700" y="266700"/>
                </a:moveTo>
                <a:cubicBezTo>
                  <a:pt x="214074" y="266700"/>
                  <a:pt x="171450" y="224076"/>
                  <a:pt x="171450" y="171450"/>
                </a:cubicBezTo>
                <a:lnTo>
                  <a:pt x="361950" y="171450"/>
                </a:lnTo>
                <a:cubicBezTo>
                  <a:pt x="361950" y="224076"/>
                  <a:pt x="319326" y="266700"/>
                  <a:pt x="266700" y="266700"/>
                </a:cubicBezTo>
                <a:close/>
                <a:moveTo>
                  <a:pt x="142994" y="381119"/>
                </a:moveTo>
                <a:cubicBezTo>
                  <a:pt x="69890" y="414695"/>
                  <a:pt x="19050" y="488513"/>
                  <a:pt x="19050" y="574238"/>
                </a:cubicBezTo>
                <a:cubicBezTo>
                  <a:pt x="19050" y="593765"/>
                  <a:pt x="34885" y="609600"/>
                  <a:pt x="54412" y="609600"/>
                </a:cubicBezTo>
                <a:lnTo>
                  <a:pt x="238125" y="609600"/>
                </a:lnTo>
                <a:lnTo>
                  <a:pt x="238125" y="435769"/>
                </a:lnTo>
                <a:lnTo>
                  <a:pt x="169783" y="384572"/>
                </a:lnTo>
                <a:cubicBezTo>
                  <a:pt x="162044" y="378738"/>
                  <a:pt x="151686" y="377190"/>
                  <a:pt x="142875" y="381238"/>
                </a:cubicBezTo>
                <a:close/>
                <a:moveTo>
                  <a:pt x="295275" y="609600"/>
                </a:moveTo>
                <a:lnTo>
                  <a:pt x="478988" y="609600"/>
                </a:lnTo>
                <a:cubicBezTo>
                  <a:pt x="498515" y="609600"/>
                  <a:pt x="514350" y="593765"/>
                  <a:pt x="514350" y="574238"/>
                </a:cubicBezTo>
                <a:cubicBezTo>
                  <a:pt x="514350" y="488513"/>
                  <a:pt x="463510" y="414695"/>
                  <a:pt x="390406" y="381238"/>
                </a:cubicBezTo>
                <a:cubicBezTo>
                  <a:pt x="381595" y="377190"/>
                  <a:pt x="371237" y="378738"/>
                  <a:pt x="363498" y="384572"/>
                </a:cubicBezTo>
                <a:lnTo>
                  <a:pt x="295156" y="435769"/>
                </a:lnTo>
                <a:lnTo>
                  <a:pt x="295156" y="609600"/>
                </a:lnTo>
                <a:close/>
              </a:path>
            </a:pathLst>
          </a:custGeom>
          <a:solidFill>
            <a:srgbClr val="4285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g3aa85397aa6_0_52"/>
          <p:cNvSpPr/>
          <p:nvPr/>
        </p:nvSpPr>
        <p:spPr>
          <a:xfrm>
            <a:off x="8197255" y="2756950"/>
            <a:ext cx="3594000" cy="3555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202124"/>
              </a:buClr>
              <a:buSzPts val="2000"/>
              <a:buFont typeface="Noto Sans SC"/>
              <a:buNone/>
            </a:pPr>
            <a:r>
              <a:rPr b="1" i="0" lang="en-US" sz="2000" u="none" cap="none" strike="noStrike">
                <a:solidFill>
                  <a:srgbClr val="202124"/>
                </a:solidFill>
                <a:latin typeface="Noto Sans SC"/>
                <a:ea typeface="Noto Sans SC"/>
                <a:cs typeface="Noto Sans SC"/>
                <a:sym typeface="Noto Sans SC"/>
              </a:rPr>
              <a:t>Competencias Adquiridas</a:t>
            </a:r>
            <a:endParaRPr b="1" i="0" sz="1600" u="none" cap="none" strike="noStrike"/>
          </a:p>
        </p:txBody>
      </p:sp>
      <p:sp>
        <p:nvSpPr>
          <p:cNvPr id="727" name="Google Shape;727;g3aa85397aa6_0_52"/>
          <p:cNvSpPr/>
          <p:nvPr/>
        </p:nvSpPr>
        <p:spPr>
          <a:xfrm>
            <a:off x="8451250" y="3567475"/>
            <a:ext cx="3339900" cy="2179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40404"/>
              </a:buClr>
              <a:buSzPts val="1400"/>
              <a:buFont typeface="Arial"/>
              <a:buNone/>
            </a:pPr>
            <a:r>
              <a:rPr b="0" i="0" lang="en-US" sz="2100" u="none" cap="none" strike="noStrike">
                <a:solidFill>
                  <a:srgbClr val="040404"/>
                </a:solidFill>
                <a:latin typeface="Arial"/>
                <a:ea typeface="Arial"/>
                <a:cs typeface="Arial"/>
                <a:sym typeface="Arial"/>
              </a:rPr>
              <a:t>El estudiante adquiere habilidades alineadas a la industria: despliegue, seguridad, escalado y automatización.</a:t>
            </a:r>
            <a:endParaRPr b="0" i="0" sz="2300" u="none" cap="none" strike="noStrike"/>
          </a:p>
        </p:txBody>
      </p:sp>
      <p:pic>
        <p:nvPicPr>
          <p:cNvPr id="728" name="Google Shape;728;g3aa85397aa6_0_52" title="BUHOADSFA-Photoroom.png"/>
          <p:cNvPicPr preferRelativeResize="0"/>
          <p:nvPr/>
        </p:nvPicPr>
        <p:blipFill>
          <a:blip r:embed="rId3">
            <a:alphaModFix/>
          </a:blip>
          <a:stretch>
            <a:fillRect/>
          </a:stretch>
        </p:blipFill>
        <p:spPr>
          <a:xfrm>
            <a:off x="0" y="-6"/>
            <a:ext cx="863600" cy="106896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733" name="Shape 733"/>
        <p:cNvGrpSpPr/>
        <p:nvPr/>
      </p:nvGrpSpPr>
      <p:grpSpPr>
        <a:xfrm>
          <a:off x="0" y="0"/>
          <a:ext cx="0" cy="0"/>
          <a:chOff x="0" y="0"/>
          <a:chExt cx="0" cy="0"/>
        </a:xfrm>
      </p:grpSpPr>
      <p:pic>
        <p:nvPicPr>
          <p:cNvPr descr="https://kimi-img.moonshot.cn/pub/slides/slides_tmpl/image/25-08-27-20:09:25-d2nfat98bjvh7rlj0j2g.png" id="734" name="Google Shape;734;g3aa85397aa6_0_69"/>
          <p:cNvPicPr preferRelativeResize="0"/>
          <p:nvPr/>
        </p:nvPicPr>
        <p:blipFill rotWithShape="1">
          <a:blip r:embed="rId3">
            <a:alphaModFix/>
          </a:blip>
          <a:srcRect b="0" l="0" r="0" t="0"/>
          <a:stretch/>
        </p:blipFill>
        <p:spPr>
          <a:xfrm>
            <a:off x="723900" y="1514475"/>
            <a:ext cx="4189094" cy="3772536"/>
          </a:xfrm>
          <a:prstGeom prst="rect">
            <a:avLst/>
          </a:prstGeom>
          <a:noFill/>
          <a:ln>
            <a:noFill/>
          </a:ln>
        </p:spPr>
      </p:pic>
      <p:sp>
        <p:nvSpPr>
          <p:cNvPr id="735" name="Google Shape;735;g3aa85397aa6_0_69"/>
          <p:cNvSpPr/>
          <p:nvPr/>
        </p:nvSpPr>
        <p:spPr>
          <a:xfrm>
            <a:off x="5384165" y="3196590"/>
            <a:ext cx="5415900" cy="11988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g3aa85397aa6_0_69"/>
          <p:cNvSpPr/>
          <p:nvPr/>
        </p:nvSpPr>
        <p:spPr>
          <a:xfrm>
            <a:off x="5384165" y="3196590"/>
            <a:ext cx="5415900" cy="1198800"/>
          </a:xfrm>
          <a:prstGeom prst="rect">
            <a:avLst/>
          </a:prstGeom>
          <a:noFill/>
          <a:ln>
            <a:noFill/>
          </a:ln>
        </p:spPr>
        <p:txBody>
          <a:bodyPr anchorCtr="0" anchor="t" bIns="45700" lIns="45700" spcFirstLastPara="1" rIns="91425" wrap="square" tIns="91425">
            <a:noAutofit/>
          </a:bodyPr>
          <a:lstStyle/>
          <a:p>
            <a:pPr indent="0" lvl="0" marL="0" marR="0" rtl="0" algn="just">
              <a:lnSpc>
                <a:spcPct val="100000"/>
              </a:lnSpc>
              <a:spcBef>
                <a:spcPts val="0"/>
              </a:spcBef>
              <a:spcAft>
                <a:spcPts val="0"/>
              </a:spcAft>
              <a:buClr>
                <a:srgbClr val="FFFFFF"/>
              </a:buClr>
              <a:buSzPts val="3600"/>
              <a:buFont typeface="Arial"/>
              <a:buNone/>
            </a:pPr>
            <a:r>
              <a:rPr b="1" i="0" lang="en-US" sz="3600" u="none" cap="none" strike="noStrike">
                <a:solidFill>
                  <a:srgbClr val="FFFFFF"/>
                </a:solidFill>
                <a:latin typeface="Arial"/>
                <a:ea typeface="Arial"/>
                <a:cs typeface="Arial"/>
                <a:sym typeface="Arial"/>
              </a:rPr>
              <a:t>Casos y valores</a:t>
            </a:r>
            <a:endParaRPr b="0" i="0" sz="1600" u="none" cap="none" strike="noStrike"/>
          </a:p>
        </p:txBody>
      </p:sp>
      <p:pic>
        <p:nvPicPr>
          <p:cNvPr id="737" name="Google Shape;737;g3aa85397aa6_0_69" title="BUHOADSFA-Photoroom.png"/>
          <p:cNvPicPr preferRelativeResize="0"/>
          <p:nvPr/>
        </p:nvPicPr>
        <p:blipFill>
          <a:blip r:embed="rId4">
            <a:alphaModFix/>
          </a:blip>
          <a:stretch>
            <a:fillRect/>
          </a:stretch>
        </p:blipFill>
        <p:spPr>
          <a:xfrm>
            <a:off x="0" y="-6"/>
            <a:ext cx="863600" cy="106896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742" name="Shape 742"/>
        <p:cNvGrpSpPr/>
        <p:nvPr/>
      </p:nvGrpSpPr>
      <p:grpSpPr>
        <a:xfrm>
          <a:off x="0" y="0"/>
          <a:ext cx="0" cy="0"/>
          <a:chOff x="0" y="0"/>
          <a:chExt cx="0" cy="0"/>
        </a:xfrm>
      </p:grpSpPr>
      <p:sp>
        <p:nvSpPr>
          <p:cNvPr id="743" name="Google Shape;743;g3aa85397aa6_0_78"/>
          <p:cNvSpPr/>
          <p:nvPr/>
        </p:nvSpPr>
        <p:spPr>
          <a:xfrm>
            <a:off x="254000" y="254000"/>
            <a:ext cx="5943600" cy="5079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202124"/>
              </a:buClr>
              <a:buSzPts val="3600"/>
              <a:buFont typeface="Noto Sans SC"/>
              <a:buNone/>
            </a:pPr>
            <a:r>
              <a:rPr b="0" i="0" lang="en-US" sz="3600" u="none" cap="none" strike="noStrike">
                <a:solidFill>
                  <a:srgbClr val="202124"/>
                </a:solidFill>
                <a:latin typeface="Noto Sans SC"/>
                <a:ea typeface="Noto Sans SC"/>
                <a:cs typeface="Noto Sans SC"/>
                <a:sym typeface="Noto Sans SC"/>
              </a:rPr>
              <a:t>Valores y Actitudes</a:t>
            </a:r>
            <a:endParaRPr b="0" i="0" sz="1600" u="none" cap="none" strike="noStrike"/>
          </a:p>
        </p:txBody>
      </p:sp>
      <p:sp>
        <p:nvSpPr>
          <p:cNvPr id="744" name="Google Shape;744;g3aa85397aa6_0_78"/>
          <p:cNvSpPr/>
          <p:nvPr/>
        </p:nvSpPr>
        <p:spPr>
          <a:xfrm>
            <a:off x="254000" y="965200"/>
            <a:ext cx="5435700" cy="9906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1E1E1E"/>
              </a:buClr>
              <a:buSzPts val="1600"/>
              <a:buFont typeface="Arial"/>
              <a:buNone/>
            </a:pPr>
            <a:r>
              <a:rPr b="0" i="0" lang="en-US" sz="1600" u="none" cap="none" strike="noStrike">
                <a:solidFill>
                  <a:srgbClr val="1E1E1E"/>
                </a:solidFill>
                <a:latin typeface="Arial"/>
                <a:ea typeface="Arial"/>
                <a:cs typeface="Arial"/>
                <a:sym typeface="Arial"/>
              </a:rPr>
              <a:t>El </a:t>
            </a:r>
            <a:r>
              <a:rPr lang="en-US" sz="1600">
                <a:solidFill>
                  <a:srgbClr val="1E1E1E"/>
                </a:solidFill>
              </a:rPr>
              <a:t>laboratorio </a:t>
            </a:r>
            <a:r>
              <a:rPr b="0" i="0" lang="en-US" sz="1600" u="none" cap="none" strike="noStrike">
                <a:solidFill>
                  <a:srgbClr val="1E1E1E"/>
                </a:solidFill>
                <a:latin typeface="Arial"/>
                <a:ea typeface="Arial"/>
                <a:cs typeface="Arial"/>
                <a:sym typeface="Arial"/>
              </a:rPr>
              <a:t>no solo busca desarrollar competencias técnicas, sino también fortalecer habilidades blandas clave para el éxito profesional.</a:t>
            </a:r>
            <a:endParaRPr b="0" i="0" sz="1600" u="none" cap="none" strike="noStrike"/>
          </a:p>
        </p:txBody>
      </p:sp>
      <p:sp>
        <p:nvSpPr>
          <p:cNvPr id="745" name="Google Shape;745;g3aa85397aa6_0_78"/>
          <p:cNvSpPr/>
          <p:nvPr/>
        </p:nvSpPr>
        <p:spPr>
          <a:xfrm>
            <a:off x="254000" y="2260600"/>
            <a:ext cx="5435600" cy="609600"/>
          </a:xfrm>
          <a:custGeom>
            <a:rect b="b" l="l" r="r" t="t"/>
            <a:pathLst>
              <a:path extrusionOk="0" h="609600" w="5435600">
                <a:moveTo>
                  <a:pt x="101602" y="0"/>
                </a:moveTo>
                <a:lnTo>
                  <a:pt x="5333998" y="0"/>
                </a:lnTo>
                <a:cubicBezTo>
                  <a:pt x="5390111" y="0"/>
                  <a:pt x="5435600" y="45489"/>
                  <a:pt x="5435600" y="101602"/>
                </a:cubicBezTo>
                <a:lnTo>
                  <a:pt x="5435600" y="507998"/>
                </a:lnTo>
                <a:cubicBezTo>
                  <a:pt x="5435600" y="564111"/>
                  <a:pt x="5390111" y="609600"/>
                  <a:pt x="5333998" y="609600"/>
                </a:cubicBezTo>
                <a:lnTo>
                  <a:pt x="101602" y="609600"/>
                </a:lnTo>
                <a:cubicBezTo>
                  <a:pt x="45489" y="609600"/>
                  <a:pt x="0" y="564111"/>
                  <a:pt x="0" y="507998"/>
                </a:cubicBezTo>
                <a:lnTo>
                  <a:pt x="0" y="101602"/>
                </a:lnTo>
                <a:cubicBezTo>
                  <a:pt x="0" y="45526"/>
                  <a:pt x="45526" y="0"/>
                  <a:pt x="101602" y="0"/>
                </a:cubicBezTo>
                <a:close/>
              </a:path>
            </a:pathLst>
          </a:custGeom>
          <a:solidFill>
            <a:srgbClr val="202124">
              <a:alpha val="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g3aa85397aa6_0_78"/>
          <p:cNvSpPr/>
          <p:nvPr/>
        </p:nvSpPr>
        <p:spPr>
          <a:xfrm>
            <a:off x="469900" y="2413000"/>
            <a:ext cx="381000" cy="304800"/>
          </a:xfrm>
          <a:custGeom>
            <a:rect b="b" l="l" r="r" t="t"/>
            <a:pathLst>
              <a:path extrusionOk="0" h="304800" w="381000">
                <a:moveTo>
                  <a:pt x="80962" y="76200"/>
                </a:moveTo>
                <a:cubicBezTo>
                  <a:pt x="80962" y="36773"/>
                  <a:pt x="112973" y="4763"/>
                  <a:pt x="152400" y="4763"/>
                </a:cubicBezTo>
                <a:cubicBezTo>
                  <a:pt x="191827" y="4763"/>
                  <a:pt x="223838" y="36773"/>
                  <a:pt x="223838" y="76200"/>
                </a:cubicBezTo>
                <a:cubicBezTo>
                  <a:pt x="223838" y="115627"/>
                  <a:pt x="191827" y="147638"/>
                  <a:pt x="152400" y="147638"/>
                </a:cubicBezTo>
                <a:cubicBezTo>
                  <a:pt x="112973" y="147638"/>
                  <a:pt x="80962" y="115627"/>
                  <a:pt x="80962" y="76200"/>
                </a:cubicBezTo>
                <a:close/>
                <a:moveTo>
                  <a:pt x="28575" y="287119"/>
                </a:moveTo>
                <a:cubicBezTo>
                  <a:pt x="28575" y="228481"/>
                  <a:pt x="76081" y="180975"/>
                  <a:pt x="134719" y="180975"/>
                </a:cubicBezTo>
                <a:lnTo>
                  <a:pt x="170081" y="180975"/>
                </a:lnTo>
                <a:cubicBezTo>
                  <a:pt x="228719" y="180975"/>
                  <a:pt x="276225" y="228481"/>
                  <a:pt x="276225" y="287119"/>
                </a:cubicBezTo>
                <a:cubicBezTo>
                  <a:pt x="276225" y="296882"/>
                  <a:pt x="268307" y="304800"/>
                  <a:pt x="258544" y="304800"/>
                </a:cubicBezTo>
                <a:lnTo>
                  <a:pt x="46256" y="304800"/>
                </a:lnTo>
                <a:cubicBezTo>
                  <a:pt x="36493" y="304800"/>
                  <a:pt x="28575" y="296882"/>
                  <a:pt x="28575" y="287119"/>
                </a:cubicBezTo>
                <a:close/>
                <a:moveTo>
                  <a:pt x="364569" y="78998"/>
                </a:moveTo>
                <a:lnTo>
                  <a:pt x="316944" y="155198"/>
                </a:lnTo>
                <a:cubicBezTo>
                  <a:pt x="314444" y="159187"/>
                  <a:pt x="310158" y="161687"/>
                  <a:pt x="305455" y="161925"/>
                </a:cubicBezTo>
                <a:cubicBezTo>
                  <a:pt x="300752" y="162163"/>
                  <a:pt x="296228" y="160020"/>
                  <a:pt x="293430" y="156210"/>
                </a:cubicBezTo>
                <a:lnTo>
                  <a:pt x="264855" y="118110"/>
                </a:lnTo>
                <a:cubicBezTo>
                  <a:pt x="260092" y="111800"/>
                  <a:pt x="261402" y="102870"/>
                  <a:pt x="267712" y="98108"/>
                </a:cubicBezTo>
                <a:cubicBezTo>
                  <a:pt x="274022" y="93345"/>
                  <a:pt x="282952" y="94655"/>
                  <a:pt x="287715" y="100965"/>
                </a:cubicBezTo>
                <a:lnTo>
                  <a:pt x="303788" y="122396"/>
                </a:lnTo>
                <a:lnTo>
                  <a:pt x="340340" y="63877"/>
                </a:lnTo>
                <a:cubicBezTo>
                  <a:pt x="344507" y="57210"/>
                  <a:pt x="353318" y="55126"/>
                  <a:pt x="360045" y="59353"/>
                </a:cubicBezTo>
                <a:cubicBezTo>
                  <a:pt x="366772" y="63579"/>
                  <a:pt x="368796" y="72330"/>
                  <a:pt x="364569" y="79058"/>
                </a:cubicBezTo>
                <a:close/>
              </a:path>
            </a:pathLst>
          </a:custGeom>
          <a:solidFill>
            <a:srgbClr val="4285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g3aa85397aa6_0_78"/>
          <p:cNvSpPr/>
          <p:nvPr/>
        </p:nvSpPr>
        <p:spPr>
          <a:xfrm>
            <a:off x="1066800" y="2413000"/>
            <a:ext cx="3264000" cy="304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202124"/>
              </a:buClr>
              <a:buSzPts val="1600"/>
              <a:buFont typeface="Arial"/>
              <a:buNone/>
            </a:pPr>
            <a:r>
              <a:rPr b="0" i="0" lang="en-US" sz="1600" u="none" cap="none" strike="noStrike">
                <a:solidFill>
                  <a:srgbClr val="202124"/>
                </a:solidFill>
                <a:latin typeface="Arial"/>
                <a:ea typeface="Arial"/>
                <a:cs typeface="Arial"/>
                <a:sym typeface="Arial"/>
              </a:rPr>
              <a:t>Responsabilidad y Autonomía</a:t>
            </a:r>
            <a:endParaRPr b="0" i="0" sz="1600" u="none" cap="none" strike="noStrike"/>
          </a:p>
        </p:txBody>
      </p:sp>
      <p:sp>
        <p:nvSpPr>
          <p:cNvPr id="748" name="Google Shape;748;g3aa85397aa6_0_78"/>
          <p:cNvSpPr/>
          <p:nvPr/>
        </p:nvSpPr>
        <p:spPr>
          <a:xfrm>
            <a:off x="254000" y="3073400"/>
            <a:ext cx="5435600" cy="609600"/>
          </a:xfrm>
          <a:custGeom>
            <a:rect b="b" l="l" r="r" t="t"/>
            <a:pathLst>
              <a:path extrusionOk="0" h="609600" w="5435600">
                <a:moveTo>
                  <a:pt x="101602" y="0"/>
                </a:moveTo>
                <a:lnTo>
                  <a:pt x="5333998" y="0"/>
                </a:lnTo>
                <a:cubicBezTo>
                  <a:pt x="5390111" y="0"/>
                  <a:pt x="5435600" y="45489"/>
                  <a:pt x="5435600" y="101602"/>
                </a:cubicBezTo>
                <a:lnTo>
                  <a:pt x="5435600" y="507998"/>
                </a:lnTo>
                <a:cubicBezTo>
                  <a:pt x="5435600" y="564111"/>
                  <a:pt x="5390111" y="609600"/>
                  <a:pt x="5333998" y="609600"/>
                </a:cubicBezTo>
                <a:lnTo>
                  <a:pt x="101602" y="609600"/>
                </a:lnTo>
                <a:cubicBezTo>
                  <a:pt x="45489" y="609600"/>
                  <a:pt x="0" y="564111"/>
                  <a:pt x="0" y="507998"/>
                </a:cubicBezTo>
                <a:lnTo>
                  <a:pt x="0" y="101602"/>
                </a:lnTo>
                <a:cubicBezTo>
                  <a:pt x="0" y="45526"/>
                  <a:pt x="45526" y="0"/>
                  <a:pt x="101602" y="0"/>
                </a:cubicBezTo>
                <a:close/>
              </a:path>
            </a:pathLst>
          </a:custGeom>
          <a:solidFill>
            <a:srgbClr val="202124">
              <a:alpha val="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g3aa85397aa6_0_78"/>
          <p:cNvSpPr/>
          <p:nvPr/>
        </p:nvSpPr>
        <p:spPr>
          <a:xfrm>
            <a:off x="488950" y="3225800"/>
            <a:ext cx="342900" cy="304800"/>
          </a:xfrm>
          <a:custGeom>
            <a:rect b="b" l="l" r="r" t="t"/>
            <a:pathLst>
              <a:path extrusionOk="0" h="304800" w="342900">
                <a:moveTo>
                  <a:pt x="160080" y="50721"/>
                </a:moveTo>
                <a:lnTo>
                  <a:pt x="90666" y="127873"/>
                </a:lnTo>
                <a:cubicBezTo>
                  <a:pt x="87928" y="130909"/>
                  <a:pt x="88047" y="135612"/>
                  <a:pt x="90964" y="138529"/>
                </a:cubicBezTo>
                <a:cubicBezTo>
                  <a:pt x="109121" y="156686"/>
                  <a:pt x="138589" y="156686"/>
                  <a:pt x="156746" y="138529"/>
                </a:cubicBezTo>
                <a:lnTo>
                  <a:pt x="175677" y="119598"/>
                </a:lnTo>
                <a:cubicBezTo>
                  <a:pt x="178177" y="117098"/>
                  <a:pt x="181332" y="115729"/>
                  <a:pt x="184547" y="115491"/>
                </a:cubicBezTo>
                <a:cubicBezTo>
                  <a:pt x="188595" y="115133"/>
                  <a:pt x="192762" y="116503"/>
                  <a:pt x="195858" y="119598"/>
                </a:cubicBezTo>
                <a:lnTo>
                  <a:pt x="300990" y="223838"/>
                </a:lnTo>
                <a:lnTo>
                  <a:pt x="342900" y="190500"/>
                </a:lnTo>
                <a:lnTo>
                  <a:pt x="342900" y="19050"/>
                </a:lnTo>
                <a:lnTo>
                  <a:pt x="276225" y="57150"/>
                </a:lnTo>
                <a:lnTo>
                  <a:pt x="262057" y="47685"/>
                </a:lnTo>
                <a:cubicBezTo>
                  <a:pt x="252651" y="41434"/>
                  <a:pt x="241637" y="38100"/>
                  <a:pt x="230326" y="38100"/>
                </a:cubicBezTo>
                <a:lnTo>
                  <a:pt x="188416" y="38100"/>
                </a:lnTo>
                <a:cubicBezTo>
                  <a:pt x="187762" y="38100"/>
                  <a:pt x="187047" y="38100"/>
                  <a:pt x="186392" y="38160"/>
                </a:cubicBezTo>
                <a:cubicBezTo>
                  <a:pt x="176332" y="38695"/>
                  <a:pt x="166866" y="43220"/>
                  <a:pt x="160080" y="50721"/>
                </a:cubicBezTo>
                <a:close/>
                <a:moveTo>
                  <a:pt x="69413" y="108764"/>
                </a:moveTo>
                <a:lnTo>
                  <a:pt x="132993" y="38100"/>
                </a:lnTo>
                <a:lnTo>
                  <a:pt x="109418" y="38100"/>
                </a:lnTo>
                <a:cubicBezTo>
                  <a:pt x="94238" y="38100"/>
                  <a:pt x="79712" y="44113"/>
                  <a:pt x="68997" y="54828"/>
                </a:cubicBezTo>
                <a:lnTo>
                  <a:pt x="66675" y="57150"/>
                </a:lnTo>
                <a:lnTo>
                  <a:pt x="0" y="19050"/>
                </a:lnTo>
                <a:lnTo>
                  <a:pt x="0" y="190500"/>
                </a:lnTo>
                <a:lnTo>
                  <a:pt x="93107" y="268069"/>
                </a:lnTo>
                <a:cubicBezTo>
                  <a:pt x="106799" y="279499"/>
                  <a:pt x="124063" y="285750"/>
                  <a:pt x="141863" y="285750"/>
                </a:cubicBezTo>
                <a:lnTo>
                  <a:pt x="151209" y="285750"/>
                </a:lnTo>
                <a:lnTo>
                  <a:pt x="147042" y="281583"/>
                </a:lnTo>
                <a:cubicBezTo>
                  <a:pt x="141446" y="275987"/>
                  <a:pt x="141446" y="266938"/>
                  <a:pt x="147042" y="261402"/>
                </a:cubicBezTo>
                <a:cubicBezTo>
                  <a:pt x="152638" y="255865"/>
                  <a:pt x="161687" y="255806"/>
                  <a:pt x="167223" y="261402"/>
                </a:cubicBezTo>
                <a:lnTo>
                  <a:pt x="191631" y="285810"/>
                </a:lnTo>
                <a:lnTo>
                  <a:pt x="196989" y="285810"/>
                </a:lnTo>
                <a:cubicBezTo>
                  <a:pt x="208359" y="285810"/>
                  <a:pt x="219492" y="283250"/>
                  <a:pt x="229612" y="278487"/>
                </a:cubicBezTo>
                <a:lnTo>
                  <a:pt x="213717" y="262533"/>
                </a:lnTo>
                <a:cubicBezTo>
                  <a:pt x="208121" y="256937"/>
                  <a:pt x="208121" y="247888"/>
                  <a:pt x="213717" y="242352"/>
                </a:cubicBezTo>
                <a:cubicBezTo>
                  <a:pt x="219313" y="236815"/>
                  <a:pt x="228362" y="236756"/>
                  <a:pt x="233898" y="242352"/>
                </a:cubicBezTo>
                <a:lnTo>
                  <a:pt x="252948" y="261402"/>
                </a:lnTo>
                <a:lnTo>
                  <a:pt x="263366" y="250984"/>
                </a:lnTo>
                <a:cubicBezTo>
                  <a:pt x="268665" y="245685"/>
                  <a:pt x="270212" y="238006"/>
                  <a:pt x="267891" y="231279"/>
                </a:cubicBezTo>
                <a:lnTo>
                  <a:pt x="185797" y="149840"/>
                </a:lnTo>
                <a:lnTo>
                  <a:pt x="176927" y="158710"/>
                </a:lnTo>
                <a:cubicBezTo>
                  <a:pt x="147578" y="188059"/>
                  <a:pt x="100072" y="188059"/>
                  <a:pt x="70723" y="158710"/>
                </a:cubicBezTo>
                <a:cubicBezTo>
                  <a:pt x="57031" y="145018"/>
                  <a:pt x="56495" y="123051"/>
                  <a:pt x="69413" y="108704"/>
                </a:cubicBezTo>
                <a:close/>
              </a:path>
            </a:pathLst>
          </a:custGeom>
          <a:solidFill>
            <a:srgbClr val="4285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g3aa85397aa6_0_78"/>
          <p:cNvSpPr/>
          <p:nvPr/>
        </p:nvSpPr>
        <p:spPr>
          <a:xfrm>
            <a:off x="1066800" y="3225800"/>
            <a:ext cx="2793900" cy="304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202124"/>
              </a:buClr>
              <a:buSzPts val="1600"/>
              <a:buFont typeface="Arial"/>
              <a:buNone/>
            </a:pPr>
            <a:r>
              <a:rPr b="0" i="0" lang="en-US" sz="1600" u="none" cap="none" strike="noStrike">
                <a:solidFill>
                  <a:srgbClr val="202124"/>
                </a:solidFill>
                <a:latin typeface="Arial"/>
                <a:ea typeface="Arial"/>
                <a:cs typeface="Arial"/>
                <a:sym typeface="Arial"/>
              </a:rPr>
              <a:t>Compromiso y Disciplina</a:t>
            </a:r>
            <a:endParaRPr b="0" i="0" sz="1600" u="none" cap="none" strike="noStrike"/>
          </a:p>
        </p:txBody>
      </p:sp>
      <p:sp>
        <p:nvSpPr>
          <p:cNvPr id="751" name="Google Shape;751;g3aa85397aa6_0_78"/>
          <p:cNvSpPr/>
          <p:nvPr/>
        </p:nvSpPr>
        <p:spPr>
          <a:xfrm>
            <a:off x="254000" y="3886200"/>
            <a:ext cx="5435600" cy="609600"/>
          </a:xfrm>
          <a:custGeom>
            <a:rect b="b" l="l" r="r" t="t"/>
            <a:pathLst>
              <a:path extrusionOk="0" h="609600" w="5435600">
                <a:moveTo>
                  <a:pt x="101602" y="0"/>
                </a:moveTo>
                <a:lnTo>
                  <a:pt x="5333998" y="0"/>
                </a:lnTo>
                <a:cubicBezTo>
                  <a:pt x="5390111" y="0"/>
                  <a:pt x="5435600" y="45489"/>
                  <a:pt x="5435600" y="101602"/>
                </a:cubicBezTo>
                <a:lnTo>
                  <a:pt x="5435600" y="507998"/>
                </a:lnTo>
                <a:cubicBezTo>
                  <a:pt x="5435600" y="564111"/>
                  <a:pt x="5390111" y="609600"/>
                  <a:pt x="5333998" y="609600"/>
                </a:cubicBezTo>
                <a:lnTo>
                  <a:pt x="101602" y="609600"/>
                </a:lnTo>
                <a:cubicBezTo>
                  <a:pt x="45489" y="609600"/>
                  <a:pt x="0" y="564111"/>
                  <a:pt x="0" y="507998"/>
                </a:cubicBezTo>
                <a:lnTo>
                  <a:pt x="0" y="101602"/>
                </a:lnTo>
                <a:cubicBezTo>
                  <a:pt x="0" y="45526"/>
                  <a:pt x="45526" y="0"/>
                  <a:pt x="101602" y="0"/>
                </a:cubicBezTo>
                <a:close/>
              </a:path>
            </a:pathLst>
          </a:custGeom>
          <a:solidFill>
            <a:srgbClr val="202124">
              <a:alpha val="4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g3aa85397aa6_0_78"/>
          <p:cNvSpPr/>
          <p:nvPr/>
        </p:nvSpPr>
        <p:spPr>
          <a:xfrm>
            <a:off x="546100" y="4038600"/>
            <a:ext cx="228600" cy="304800"/>
          </a:xfrm>
          <a:custGeom>
            <a:rect b="b" l="l" r="r" t="t"/>
            <a:pathLst>
              <a:path extrusionOk="0" h="304800" w="228600">
                <a:moveTo>
                  <a:pt x="174367" y="228600"/>
                </a:moveTo>
                <a:cubicBezTo>
                  <a:pt x="178713" y="215325"/>
                  <a:pt x="187404" y="203299"/>
                  <a:pt x="197227" y="192941"/>
                </a:cubicBezTo>
                <a:cubicBezTo>
                  <a:pt x="216694" y="172462"/>
                  <a:pt x="228600" y="144780"/>
                  <a:pt x="228600" y="114300"/>
                </a:cubicBezTo>
                <a:cubicBezTo>
                  <a:pt x="228600" y="51197"/>
                  <a:pt x="177403" y="0"/>
                  <a:pt x="114300" y="0"/>
                </a:cubicBezTo>
                <a:cubicBezTo>
                  <a:pt x="51197" y="0"/>
                  <a:pt x="0" y="51197"/>
                  <a:pt x="0" y="114300"/>
                </a:cubicBezTo>
                <a:cubicBezTo>
                  <a:pt x="0" y="144780"/>
                  <a:pt x="11906" y="172462"/>
                  <a:pt x="31373" y="192941"/>
                </a:cubicBezTo>
                <a:cubicBezTo>
                  <a:pt x="41196" y="203299"/>
                  <a:pt x="49947" y="215325"/>
                  <a:pt x="54233" y="228600"/>
                </a:cubicBezTo>
                <a:lnTo>
                  <a:pt x="174308" y="228600"/>
                </a:lnTo>
                <a:close/>
                <a:moveTo>
                  <a:pt x="171450" y="257175"/>
                </a:moveTo>
                <a:lnTo>
                  <a:pt x="57150" y="257175"/>
                </a:lnTo>
                <a:lnTo>
                  <a:pt x="57150" y="266700"/>
                </a:lnTo>
                <a:cubicBezTo>
                  <a:pt x="57150" y="293013"/>
                  <a:pt x="78462" y="314325"/>
                  <a:pt x="104775" y="314325"/>
                </a:cubicBezTo>
                <a:lnTo>
                  <a:pt x="123825" y="314325"/>
                </a:lnTo>
                <a:cubicBezTo>
                  <a:pt x="150138" y="314325"/>
                  <a:pt x="171450" y="293013"/>
                  <a:pt x="171450" y="266700"/>
                </a:cubicBezTo>
                <a:lnTo>
                  <a:pt x="171450" y="257175"/>
                </a:lnTo>
                <a:close/>
                <a:moveTo>
                  <a:pt x="109537" y="66675"/>
                </a:moveTo>
                <a:cubicBezTo>
                  <a:pt x="85844" y="66675"/>
                  <a:pt x="66675" y="85844"/>
                  <a:pt x="66675" y="109537"/>
                </a:cubicBezTo>
                <a:cubicBezTo>
                  <a:pt x="66675" y="117455"/>
                  <a:pt x="60305" y="123825"/>
                  <a:pt x="52388" y="123825"/>
                </a:cubicBezTo>
                <a:cubicBezTo>
                  <a:pt x="44470" y="123825"/>
                  <a:pt x="38100" y="117455"/>
                  <a:pt x="38100" y="109537"/>
                </a:cubicBezTo>
                <a:cubicBezTo>
                  <a:pt x="38100" y="70068"/>
                  <a:pt x="70068" y="38100"/>
                  <a:pt x="109537" y="38100"/>
                </a:cubicBezTo>
                <a:cubicBezTo>
                  <a:pt x="117455" y="38100"/>
                  <a:pt x="123825" y="44470"/>
                  <a:pt x="123825" y="52388"/>
                </a:cubicBezTo>
                <a:cubicBezTo>
                  <a:pt x="123825" y="60305"/>
                  <a:pt x="117455" y="66675"/>
                  <a:pt x="109537" y="66675"/>
                </a:cubicBezTo>
                <a:close/>
              </a:path>
            </a:pathLst>
          </a:custGeom>
          <a:solidFill>
            <a:srgbClr val="4285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g3aa85397aa6_0_78"/>
          <p:cNvSpPr/>
          <p:nvPr/>
        </p:nvSpPr>
        <p:spPr>
          <a:xfrm>
            <a:off x="1066800" y="4038600"/>
            <a:ext cx="3390900" cy="304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202124"/>
              </a:buClr>
              <a:buSzPts val="1600"/>
              <a:buFont typeface="Arial"/>
              <a:buNone/>
            </a:pPr>
            <a:r>
              <a:rPr b="0" i="0" lang="en-US" sz="1600" u="none" cap="none" strike="noStrike">
                <a:solidFill>
                  <a:srgbClr val="202124"/>
                </a:solidFill>
                <a:latin typeface="Arial"/>
                <a:ea typeface="Arial"/>
                <a:cs typeface="Arial"/>
                <a:sym typeface="Arial"/>
              </a:rPr>
              <a:t>Proactividad y Ética Profesional</a:t>
            </a:r>
            <a:endParaRPr b="0" i="0" sz="1600" u="none" cap="none" strike="noStrike"/>
          </a:p>
        </p:txBody>
      </p:sp>
      <p:pic>
        <p:nvPicPr>
          <p:cNvPr descr="https://kimi-web-img.moonshot.cn/img/img.freepik.com/4b8068f3e1fe5a2e4cf2e0c4dccf3229f72329e8.jpg" id="754" name="Google Shape;754;g3aa85397aa6_0_78"/>
          <p:cNvPicPr preferRelativeResize="0"/>
          <p:nvPr/>
        </p:nvPicPr>
        <p:blipFill rotWithShape="1">
          <a:blip r:embed="rId3">
            <a:alphaModFix/>
          </a:blip>
          <a:srcRect b="0" l="24208" r="24208" t="0"/>
          <a:stretch/>
        </p:blipFill>
        <p:spPr>
          <a:xfrm>
            <a:off x="5862213" y="-22075"/>
            <a:ext cx="6329700" cy="6880200"/>
          </a:xfrm>
          <a:prstGeom prst="roundRect">
            <a:avLst>
              <a:gd fmla="val 1739" name="adj"/>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759" name="Shape 759"/>
        <p:cNvGrpSpPr/>
        <p:nvPr/>
      </p:nvGrpSpPr>
      <p:grpSpPr>
        <a:xfrm>
          <a:off x="0" y="0"/>
          <a:ext cx="0" cy="0"/>
          <a:chOff x="0" y="0"/>
          <a:chExt cx="0" cy="0"/>
        </a:xfrm>
      </p:grpSpPr>
      <p:pic>
        <p:nvPicPr>
          <p:cNvPr descr="https://kimi-img.moonshot.cn/pub/slides/slides_tmpl/image/25-08-27-20:09:25-d2nfat98bjvh7rlj0j2g.png" id="760" name="Google Shape;760;g3aa85397aa6_0_94"/>
          <p:cNvPicPr preferRelativeResize="0"/>
          <p:nvPr/>
        </p:nvPicPr>
        <p:blipFill rotWithShape="1">
          <a:blip r:embed="rId3">
            <a:alphaModFix/>
          </a:blip>
          <a:srcRect b="0" l="0" r="0" t="0"/>
          <a:stretch/>
        </p:blipFill>
        <p:spPr>
          <a:xfrm>
            <a:off x="723900" y="1514475"/>
            <a:ext cx="4189094" cy="3772536"/>
          </a:xfrm>
          <a:prstGeom prst="rect">
            <a:avLst/>
          </a:prstGeom>
          <a:noFill/>
          <a:ln>
            <a:noFill/>
          </a:ln>
        </p:spPr>
      </p:pic>
      <p:sp>
        <p:nvSpPr>
          <p:cNvPr id="761" name="Google Shape;761;g3aa85397aa6_0_94"/>
          <p:cNvSpPr/>
          <p:nvPr/>
        </p:nvSpPr>
        <p:spPr>
          <a:xfrm>
            <a:off x="5384165" y="3196590"/>
            <a:ext cx="5415900" cy="11988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g3aa85397aa6_0_94"/>
          <p:cNvSpPr/>
          <p:nvPr/>
        </p:nvSpPr>
        <p:spPr>
          <a:xfrm>
            <a:off x="5384165" y="3196590"/>
            <a:ext cx="5415900" cy="1198800"/>
          </a:xfrm>
          <a:prstGeom prst="rect">
            <a:avLst/>
          </a:prstGeom>
          <a:noFill/>
          <a:ln>
            <a:noFill/>
          </a:ln>
        </p:spPr>
        <p:txBody>
          <a:bodyPr anchorCtr="0" anchor="t" bIns="45700" lIns="45700" spcFirstLastPara="1" rIns="91425" wrap="square" tIns="91425">
            <a:noAutofit/>
          </a:bodyPr>
          <a:lstStyle/>
          <a:p>
            <a:pPr indent="0" lvl="0" marL="0" marR="0" rtl="0" algn="just">
              <a:lnSpc>
                <a:spcPct val="100000"/>
              </a:lnSpc>
              <a:spcBef>
                <a:spcPts val="0"/>
              </a:spcBef>
              <a:spcAft>
                <a:spcPts val="0"/>
              </a:spcAft>
              <a:buClr>
                <a:srgbClr val="FFFFFF"/>
              </a:buClr>
              <a:buSzPts val="3600"/>
              <a:buFont typeface="Arial"/>
              <a:buNone/>
            </a:pPr>
            <a:r>
              <a:rPr b="1" lang="en-US" sz="3600">
                <a:solidFill>
                  <a:srgbClr val="FFFFFF"/>
                </a:solidFill>
              </a:rPr>
              <a:t>Referencias</a:t>
            </a:r>
            <a:endParaRPr b="0" i="0" sz="1600" u="none" cap="none" strike="noStrike"/>
          </a:p>
        </p:txBody>
      </p:sp>
      <p:pic>
        <p:nvPicPr>
          <p:cNvPr id="763" name="Google Shape;763;g3aa85397aa6_0_94" title="BUHOADSFA-Photoroom.png"/>
          <p:cNvPicPr preferRelativeResize="0"/>
          <p:nvPr/>
        </p:nvPicPr>
        <p:blipFill>
          <a:blip r:embed="rId4">
            <a:alphaModFix/>
          </a:blip>
          <a:stretch>
            <a:fillRect/>
          </a:stretch>
        </p:blipFill>
        <p:spPr>
          <a:xfrm>
            <a:off x="0" y="-6"/>
            <a:ext cx="863600" cy="106896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768" name="Shape 768"/>
        <p:cNvGrpSpPr/>
        <p:nvPr/>
      </p:nvGrpSpPr>
      <p:grpSpPr>
        <a:xfrm>
          <a:off x="0" y="0"/>
          <a:ext cx="0" cy="0"/>
          <a:chOff x="0" y="0"/>
          <a:chExt cx="0" cy="0"/>
        </a:xfrm>
      </p:grpSpPr>
      <p:sp>
        <p:nvSpPr>
          <p:cNvPr id="769" name="Google Shape;769;g3aa85397aa6_0_103"/>
          <p:cNvSpPr/>
          <p:nvPr/>
        </p:nvSpPr>
        <p:spPr>
          <a:xfrm>
            <a:off x="493325" y="1634250"/>
            <a:ext cx="7525500" cy="3589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1E1E1E"/>
              </a:buClr>
              <a:buSzPts val="1600"/>
              <a:buFont typeface="Arial"/>
              <a:buNone/>
            </a:pPr>
            <a:r>
              <a:rPr lang="en-US" sz="2400">
                <a:solidFill>
                  <a:srgbClr val="1E1E1E"/>
                </a:solidFill>
              </a:rPr>
              <a:t>Docker Documentation: </a:t>
            </a:r>
            <a:r>
              <a:rPr lang="en-US" sz="2400" u="sng">
                <a:solidFill>
                  <a:schemeClr val="hlink"/>
                </a:solidFill>
                <a:hlinkClick r:id="rId3"/>
              </a:rPr>
              <a:t>https://docs.docker.com</a:t>
            </a:r>
            <a:r>
              <a:rPr lang="en-US" sz="2400">
                <a:solidFill>
                  <a:srgbClr val="1E1E1E"/>
                </a:solidFill>
              </a:rPr>
              <a:t>   </a:t>
            </a:r>
            <a:endParaRPr sz="2400">
              <a:solidFill>
                <a:srgbClr val="1E1E1E"/>
              </a:solidFill>
            </a:endParaRPr>
          </a:p>
          <a:p>
            <a:pPr indent="0" lvl="0" marL="0" marR="0" rtl="0" algn="l">
              <a:lnSpc>
                <a:spcPct val="140000"/>
              </a:lnSpc>
              <a:spcBef>
                <a:spcPts val="0"/>
              </a:spcBef>
              <a:spcAft>
                <a:spcPts val="0"/>
              </a:spcAft>
              <a:buClr>
                <a:srgbClr val="1E1E1E"/>
              </a:buClr>
              <a:buSzPts val="1600"/>
              <a:buFont typeface="Arial"/>
              <a:buNone/>
            </a:pPr>
            <a:r>
              <a:rPr lang="en-US" sz="2400">
                <a:solidFill>
                  <a:srgbClr val="1E1E1E"/>
                </a:solidFill>
              </a:rPr>
              <a:t>Harbor Project: </a:t>
            </a:r>
            <a:r>
              <a:rPr lang="en-US" sz="2400" u="sng">
                <a:solidFill>
                  <a:schemeClr val="hlink"/>
                </a:solidFill>
                <a:hlinkClick r:id="rId4"/>
              </a:rPr>
              <a:t>https://goharbor.io</a:t>
            </a:r>
            <a:r>
              <a:rPr lang="en-US" sz="2400">
                <a:solidFill>
                  <a:srgbClr val="1E1E1E"/>
                </a:solidFill>
              </a:rPr>
              <a:t>   </a:t>
            </a:r>
            <a:endParaRPr sz="2400">
              <a:solidFill>
                <a:srgbClr val="1E1E1E"/>
              </a:solidFill>
            </a:endParaRPr>
          </a:p>
          <a:p>
            <a:pPr indent="0" lvl="0" marL="0" marR="0" rtl="0" algn="l">
              <a:lnSpc>
                <a:spcPct val="140000"/>
              </a:lnSpc>
              <a:spcBef>
                <a:spcPts val="0"/>
              </a:spcBef>
              <a:spcAft>
                <a:spcPts val="0"/>
              </a:spcAft>
              <a:buClr>
                <a:srgbClr val="1E1E1E"/>
              </a:buClr>
              <a:buSzPts val="1600"/>
              <a:buFont typeface="Arial"/>
              <a:buNone/>
            </a:pPr>
            <a:r>
              <a:rPr lang="en-US" sz="2400">
                <a:solidFill>
                  <a:srgbClr val="1E1E1E"/>
                </a:solidFill>
              </a:rPr>
              <a:t>Zot Registry: </a:t>
            </a:r>
            <a:r>
              <a:rPr lang="en-US" sz="2400" u="sng">
                <a:solidFill>
                  <a:schemeClr val="hlink"/>
                </a:solidFill>
                <a:hlinkClick r:id="rId5"/>
              </a:rPr>
              <a:t>https://github.com/project-zot/zot</a:t>
            </a:r>
            <a:r>
              <a:rPr lang="en-US" sz="2400">
                <a:solidFill>
                  <a:srgbClr val="1E1E1E"/>
                </a:solidFill>
              </a:rPr>
              <a:t>  </a:t>
            </a:r>
            <a:endParaRPr sz="2400">
              <a:solidFill>
                <a:srgbClr val="1E1E1E"/>
              </a:solidFill>
            </a:endParaRPr>
          </a:p>
          <a:p>
            <a:pPr indent="0" lvl="0" marL="0" marR="0" rtl="0" algn="l">
              <a:lnSpc>
                <a:spcPct val="140000"/>
              </a:lnSpc>
              <a:spcBef>
                <a:spcPts val="0"/>
              </a:spcBef>
              <a:spcAft>
                <a:spcPts val="0"/>
              </a:spcAft>
              <a:buClr>
                <a:srgbClr val="1E1E1E"/>
              </a:buClr>
              <a:buSzPts val="1600"/>
              <a:buFont typeface="Arial"/>
              <a:buNone/>
            </a:pPr>
            <a:r>
              <a:rPr lang="en-US" sz="2400">
                <a:solidFill>
                  <a:srgbClr val="1E1E1E"/>
                </a:solidFill>
              </a:rPr>
              <a:t>Containerd: </a:t>
            </a:r>
            <a:r>
              <a:rPr lang="en-US" sz="2400" u="sng">
                <a:solidFill>
                  <a:schemeClr val="hlink"/>
                </a:solidFill>
                <a:hlinkClick r:id="rId6"/>
              </a:rPr>
              <a:t>https://containerd.io</a:t>
            </a:r>
            <a:r>
              <a:rPr lang="en-US" sz="2400">
                <a:solidFill>
                  <a:srgbClr val="1E1E1E"/>
                </a:solidFill>
              </a:rPr>
              <a:t> </a:t>
            </a:r>
            <a:endParaRPr sz="2400">
              <a:solidFill>
                <a:srgbClr val="1E1E1E"/>
              </a:solidFill>
            </a:endParaRPr>
          </a:p>
          <a:p>
            <a:pPr indent="0" lvl="0" marL="0" marR="0" rtl="0" algn="l">
              <a:lnSpc>
                <a:spcPct val="140000"/>
              </a:lnSpc>
              <a:spcBef>
                <a:spcPts val="0"/>
              </a:spcBef>
              <a:spcAft>
                <a:spcPts val="0"/>
              </a:spcAft>
              <a:buClr>
                <a:srgbClr val="1E1E1E"/>
              </a:buClr>
              <a:buSzPts val="1600"/>
              <a:buFont typeface="Arial"/>
              <a:buNone/>
            </a:pPr>
            <a:r>
              <a:rPr lang="en-US" sz="2400">
                <a:solidFill>
                  <a:srgbClr val="1E1E1E"/>
                </a:solidFill>
              </a:rPr>
              <a:t>Open Container Initiative (OCI): </a:t>
            </a:r>
            <a:r>
              <a:rPr lang="en-US" sz="2400" u="sng">
                <a:solidFill>
                  <a:schemeClr val="hlink"/>
                </a:solidFill>
                <a:hlinkClick r:id="rId7"/>
              </a:rPr>
              <a:t>https://opencontainers.org</a:t>
            </a:r>
            <a:r>
              <a:rPr lang="en-US" sz="2400">
                <a:solidFill>
                  <a:srgbClr val="1E1E1E"/>
                </a:solidFill>
              </a:rPr>
              <a:t>   </a:t>
            </a:r>
            <a:endParaRPr sz="2400">
              <a:solidFill>
                <a:srgbClr val="1E1E1E"/>
              </a:solidFill>
            </a:endParaRPr>
          </a:p>
          <a:p>
            <a:pPr indent="0" lvl="0" marL="0" marR="0" rtl="0" algn="l">
              <a:lnSpc>
                <a:spcPct val="140000"/>
              </a:lnSpc>
              <a:spcBef>
                <a:spcPts val="0"/>
              </a:spcBef>
              <a:spcAft>
                <a:spcPts val="0"/>
              </a:spcAft>
              <a:buClr>
                <a:srgbClr val="1E1E1E"/>
              </a:buClr>
              <a:buSzPts val="1600"/>
              <a:buFont typeface="Arial"/>
              <a:buNone/>
            </a:pPr>
            <a:r>
              <a:rPr lang="en-US" sz="2400">
                <a:solidFill>
                  <a:srgbClr val="1E1E1E"/>
                </a:solidFill>
              </a:rPr>
              <a:t>CNOF Projects: </a:t>
            </a:r>
            <a:r>
              <a:rPr lang="en-US" sz="2400" u="sng">
                <a:solidFill>
                  <a:schemeClr val="hlink"/>
                </a:solidFill>
                <a:hlinkClick r:id="rId8"/>
              </a:rPr>
              <a:t>https://www.cnof.io/projects</a:t>
            </a:r>
            <a:r>
              <a:rPr lang="en-US" sz="2400">
                <a:solidFill>
                  <a:srgbClr val="1E1E1E"/>
                </a:solidFill>
              </a:rPr>
              <a:t> </a:t>
            </a:r>
            <a:endParaRPr sz="2400">
              <a:solidFill>
                <a:srgbClr val="1E1E1E"/>
              </a:solidFill>
            </a:endParaRPr>
          </a:p>
        </p:txBody>
      </p:sp>
      <p:pic>
        <p:nvPicPr>
          <p:cNvPr descr="https://kimi-web-img.moonshot.cn/img/static.vecteezy.com/deda3dbf4e30baed31a8f49a4d75855931e6c9ca.jpg" id="770" name="Google Shape;770;g3aa85397aa6_0_103"/>
          <p:cNvPicPr preferRelativeResize="0"/>
          <p:nvPr/>
        </p:nvPicPr>
        <p:blipFill rotWithShape="1">
          <a:blip r:embed="rId9">
            <a:alphaModFix/>
          </a:blip>
          <a:srcRect b="0" l="29049" r="29049" t="0"/>
          <a:stretch/>
        </p:blipFill>
        <p:spPr>
          <a:xfrm>
            <a:off x="8128198" y="0"/>
            <a:ext cx="4064100" cy="6858000"/>
          </a:xfrm>
          <a:prstGeom prst="roundRect">
            <a:avLst>
              <a:gd fmla="val 0" name="adj"/>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775" name="Shape 775"/>
        <p:cNvGrpSpPr/>
        <p:nvPr/>
      </p:nvGrpSpPr>
      <p:grpSpPr>
        <a:xfrm>
          <a:off x="0" y="0"/>
          <a:ext cx="0" cy="0"/>
          <a:chOff x="0" y="0"/>
          <a:chExt cx="0" cy="0"/>
        </a:xfrm>
      </p:grpSpPr>
      <p:sp>
        <p:nvSpPr>
          <p:cNvPr id="776" name="Google Shape;776;g3aa85397aa6_0_109"/>
          <p:cNvSpPr/>
          <p:nvPr/>
        </p:nvSpPr>
        <p:spPr>
          <a:xfrm>
            <a:off x="655320" y="469900"/>
            <a:ext cx="106800" cy="1068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g3aa85397aa6_0_109"/>
          <p:cNvSpPr/>
          <p:nvPr/>
        </p:nvSpPr>
        <p:spPr>
          <a:xfrm>
            <a:off x="655320" y="469900"/>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778" name="Google Shape;778;g3aa85397aa6_0_109"/>
          <p:cNvSpPr/>
          <p:nvPr/>
        </p:nvSpPr>
        <p:spPr>
          <a:xfrm>
            <a:off x="939165" y="469900"/>
            <a:ext cx="106800" cy="10680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g3aa85397aa6_0_109"/>
          <p:cNvSpPr/>
          <p:nvPr/>
        </p:nvSpPr>
        <p:spPr>
          <a:xfrm>
            <a:off x="939165" y="469900"/>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780" name="Google Shape;780;g3aa85397aa6_0_109"/>
          <p:cNvSpPr/>
          <p:nvPr/>
        </p:nvSpPr>
        <p:spPr>
          <a:xfrm>
            <a:off x="1223010" y="469900"/>
            <a:ext cx="106800" cy="1068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g3aa85397aa6_0_109"/>
          <p:cNvSpPr/>
          <p:nvPr/>
        </p:nvSpPr>
        <p:spPr>
          <a:xfrm>
            <a:off x="1223010" y="469900"/>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782" name="Google Shape;782;g3aa85397aa6_0_109"/>
          <p:cNvSpPr/>
          <p:nvPr/>
        </p:nvSpPr>
        <p:spPr>
          <a:xfrm>
            <a:off x="1506855" y="469900"/>
            <a:ext cx="106800" cy="10680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g3aa85397aa6_0_109"/>
          <p:cNvSpPr/>
          <p:nvPr/>
        </p:nvSpPr>
        <p:spPr>
          <a:xfrm>
            <a:off x="1506855" y="469900"/>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784" name="Google Shape;784;g3aa85397aa6_0_109"/>
          <p:cNvSpPr/>
          <p:nvPr/>
        </p:nvSpPr>
        <p:spPr>
          <a:xfrm>
            <a:off x="1790700" y="469900"/>
            <a:ext cx="106800" cy="1068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g3aa85397aa6_0_109"/>
          <p:cNvSpPr/>
          <p:nvPr/>
        </p:nvSpPr>
        <p:spPr>
          <a:xfrm>
            <a:off x="1790700" y="469900"/>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786" name="Google Shape;786;g3aa85397aa6_0_109"/>
          <p:cNvSpPr/>
          <p:nvPr/>
        </p:nvSpPr>
        <p:spPr>
          <a:xfrm>
            <a:off x="2074545" y="469900"/>
            <a:ext cx="106800" cy="10680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g3aa85397aa6_0_109"/>
          <p:cNvSpPr/>
          <p:nvPr/>
        </p:nvSpPr>
        <p:spPr>
          <a:xfrm>
            <a:off x="2074545" y="469900"/>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9-d2nfau98bjvh7rlj0jo0.png" id="788" name="Google Shape;788;g3aa85397aa6_0_109"/>
          <p:cNvPicPr preferRelativeResize="0"/>
          <p:nvPr/>
        </p:nvPicPr>
        <p:blipFill rotWithShape="1">
          <a:blip r:embed="rId3">
            <a:alphaModFix/>
          </a:blip>
          <a:srcRect b="14559" l="17551" r="23945" t="0"/>
          <a:stretch/>
        </p:blipFill>
        <p:spPr>
          <a:xfrm rot="-5400000">
            <a:off x="5955984" y="612140"/>
            <a:ext cx="6848474" cy="5623561"/>
          </a:xfrm>
          <a:prstGeom prst="rect">
            <a:avLst/>
          </a:prstGeom>
          <a:noFill/>
          <a:ln>
            <a:noFill/>
          </a:ln>
        </p:spPr>
      </p:pic>
      <p:pic>
        <p:nvPicPr>
          <p:cNvPr id="789" name="Google Shape;789;g3aa85397aa6_0_109" title="ubhoo-Photoroom.png"/>
          <p:cNvPicPr preferRelativeResize="0"/>
          <p:nvPr/>
        </p:nvPicPr>
        <p:blipFill>
          <a:blip r:embed="rId4">
            <a:alphaModFix/>
          </a:blip>
          <a:stretch>
            <a:fillRect/>
          </a:stretch>
        </p:blipFill>
        <p:spPr>
          <a:xfrm>
            <a:off x="1568788" y="1252973"/>
            <a:ext cx="4476850" cy="3860450"/>
          </a:xfrm>
          <a:prstGeom prst="rect">
            <a:avLst/>
          </a:prstGeom>
          <a:noFill/>
          <a:ln>
            <a:noFill/>
          </a:ln>
        </p:spPr>
      </p:pic>
      <p:sp>
        <p:nvSpPr>
          <p:cNvPr id="790" name="Google Shape;790;g3aa85397aa6_0_109"/>
          <p:cNvSpPr txBox="1"/>
          <p:nvPr/>
        </p:nvSpPr>
        <p:spPr>
          <a:xfrm>
            <a:off x="2254575" y="5113425"/>
            <a:ext cx="3105300" cy="9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700">
                <a:solidFill>
                  <a:schemeClr val="lt1"/>
                </a:solidFill>
              </a:rPr>
              <a:t>¿DUDAS?</a:t>
            </a:r>
            <a:endParaRPr sz="4700">
              <a:solidFill>
                <a:schemeClr val="lt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795" name="Shape 795"/>
        <p:cNvGrpSpPr/>
        <p:nvPr/>
      </p:nvGrpSpPr>
      <p:grpSpPr>
        <a:xfrm>
          <a:off x="0" y="0"/>
          <a:ext cx="0" cy="0"/>
          <a:chOff x="0" y="0"/>
          <a:chExt cx="0" cy="0"/>
        </a:xfrm>
      </p:grpSpPr>
      <p:sp>
        <p:nvSpPr>
          <p:cNvPr id="796" name="Google Shape;796;g3aa85397aa6_0_128"/>
          <p:cNvSpPr/>
          <p:nvPr/>
        </p:nvSpPr>
        <p:spPr>
          <a:xfrm>
            <a:off x="655320" y="469900"/>
            <a:ext cx="106800" cy="1068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g3aa85397aa6_0_128"/>
          <p:cNvSpPr/>
          <p:nvPr/>
        </p:nvSpPr>
        <p:spPr>
          <a:xfrm>
            <a:off x="655320" y="469900"/>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798" name="Google Shape;798;g3aa85397aa6_0_128"/>
          <p:cNvSpPr/>
          <p:nvPr/>
        </p:nvSpPr>
        <p:spPr>
          <a:xfrm>
            <a:off x="939165" y="469900"/>
            <a:ext cx="106800" cy="10680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g3aa85397aa6_0_128"/>
          <p:cNvSpPr/>
          <p:nvPr/>
        </p:nvSpPr>
        <p:spPr>
          <a:xfrm>
            <a:off x="939165" y="469900"/>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800" name="Google Shape;800;g3aa85397aa6_0_128"/>
          <p:cNvSpPr/>
          <p:nvPr/>
        </p:nvSpPr>
        <p:spPr>
          <a:xfrm>
            <a:off x="1223010" y="469900"/>
            <a:ext cx="106800" cy="1068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g3aa85397aa6_0_128"/>
          <p:cNvSpPr/>
          <p:nvPr/>
        </p:nvSpPr>
        <p:spPr>
          <a:xfrm>
            <a:off x="1223010" y="469900"/>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802" name="Google Shape;802;g3aa85397aa6_0_128"/>
          <p:cNvSpPr/>
          <p:nvPr/>
        </p:nvSpPr>
        <p:spPr>
          <a:xfrm>
            <a:off x="1506855" y="469900"/>
            <a:ext cx="106800" cy="10680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g3aa85397aa6_0_128"/>
          <p:cNvSpPr/>
          <p:nvPr/>
        </p:nvSpPr>
        <p:spPr>
          <a:xfrm>
            <a:off x="1506855" y="469900"/>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804" name="Google Shape;804;g3aa85397aa6_0_128"/>
          <p:cNvSpPr/>
          <p:nvPr/>
        </p:nvSpPr>
        <p:spPr>
          <a:xfrm>
            <a:off x="1790700" y="469900"/>
            <a:ext cx="106800" cy="1068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g3aa85397aa6_0_128"/>
          <p:cNvSpPr/>
          <p:nvPr/>
        </p:nvSpPr>
        <p:spPr>
          <a:xfrm>
            <a:off x="1790700" y="469900"/>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sp>
        <p:nvSpPr>
          <p:cNvPr id="806" name="Google Shape;806;g3aa85397aa6_0_128"/>
          <p:cNvSpPr/>
          <p:nvPr/>
        </p:nvSpPr>
        <p:spPr>
          <a:xfrm>
            <a:off x="2074545" y="469900"/>
            <a:ext cx="106800" cy="106800"/>
          </a:xfrm>
          <a:prstGeom prst="ellipse">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g3aa85397aa6_0_128"/>
          <p:cNvSpPr/>
          <p:nvPr/>
        </p:nvSpPr>
        <p:spPr>
          <a:xfrm>
            <a:off x="2074545" y="469900"/>
            <a:ext cx="106800" cy="106800"/>
          </a:xfrm>
          <a:prstGeom prst="rect">
            <a:avLst/>
          </a:prstGeom>
          <a:noFill/>
          <a:ln>
            <a:noFill/>
          </a:ln>
        </p:spPr>
        <p:txBody>
          <a:bodyPr anchorCtr="0" anchor="ctr" bIns="45700" lIns="45700" spcFirstLastPara="1" rIns="91425" wrap="square" tIns="91425">
            <a:noAutofit/>
          </a:bodyPr>
          <a:lstStyle/>
          <a:p>
            <a:pPr indent="0" lvl="0" marL="0" marR="0" rtl="0" algn="l">
              <a:lnSpc>
                <a:spcPct val="100000"/>
              </a:lnSpc>
              <a:spcBef>
                <a:spcPts val="0"/>
              </a:spcBef>
              <a:spcAft>
                <a:spcPts val="0"/>
              </a:spcAft>
              <a:buSzPts val="1600"/>
              <a:buFont typeface="Arial"/>
              <a:buNone/>
            </a:pPr>
            <a:r>
              <a:t/>
            </a:r>
            <a:endParaRPr b="0" i="0" sz="1600" u="none" cap="none" strike="noStrike"/>
          </a:p>
        </p:txBody>
      </p:sp>
      <p:pic>
        <p:nvPicPr>
          <p:cNvPr descr="https://kimi-img.moonshot.cn/pub/slides/slides_tmpl/image/25-08-27-20:09:29-d2nfau98bjvh7rlj0jo0.png" id="808" name="Google Shape;808;g3aa85397aa6_0_128"/>
          <p:cNvPicPr preferRelativeResize="0"/>
          <p:nvPr/>
        </p:nvPicPr>
        <p:blipFill rotWithShape="1">
          <a:blip r:embed="rId3">
            <a:alphaModFix amt="40000"/>
          </a:blip>
          <a:srcRect b="14559" l="17551" r="23945" t="0"/>
          <a:stretch/>
        </p:blipFill>
        <p:spPr>
          <a:xfrm rot="-5400000">
            <a:off x="5955984" y="612140"/>
            <a:ext cx="6848474" cy="5623561"/>
          </a:xfrm>
          <a:prstGeom prst="rect">
            <a:avLst/>
          </a:prstGeom>
          <a:noFill/>
          <a:ln>
            <a:noFill/>
          </a:ln>
        </p:spPr>
      </p:pic>
      <p:sp>
        <p:nvSpPr>
          <p:cNvPr id="809" name="Google Shape;809;g3aa85397aa6_0_128"/>
          <p:cNvSpPr/>
          <p:nvPr/>
        </p:nvSpPr>
        <p:spPr>
          <a:xfrm>
            <a:off x="788675" y="1901200"/>
            <a:ext cx="7783800" cy="2777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8500"/>
              <a:buFont typeface="Arial"/>
              <a:buNone/>
            </a:pPr>
            <a:r>
              <a:rPr b="0" i="0" lang="en-US" sz="8500" u="none" cap="none" strike="noStrike">
                <a:solidFill>
                  <a:srgbClr val="FFFFFF"/>
                </a:solidFill>
                <a:latin typeface="Arial"/>
                <a:ea typeface="Arial"/>
                <a:cs typeface="Arial"/>
                <a:sym typeface="Arial"/>
              </a:rPr>
              <a:t>GRACIAS </a:t>
            </a:r>
            <a:r>
              <a:rPr lang="en-US" sz="8500">
                <a:solidFill>
                  <a:srgbClr val="FFFFFF"/>
                </a:solidFill>
              </a:rPr>
              <a:t>POR SU ATENCION</a:t>
            </a:r>
            <a:r>
              <a:rPr b="0" i="0" lang="en-US" sz="8500" u="none" cap="none" strike="noStrike">
                <a:solidFill>
                  <a:srgbClr val="FFFFFF"/>
                </a:solidFill>
                <a:latin typeface="Arial"/>
                <a:ea typeface="Arial"/>
                <a:cs typeface="Arial"/>
                <a:sym typeface="Arial"/>
              </a:rPr>
              <a:t> </a:t>
            </a:r>
            <a:endParaRPr b="0" i="0" sz="1600" u="none" cap="none" strike="noStrike"/>
          </a:p>
        </p:txBody>
      </p:sp>
      <p:sp>
        <p:nvSpPr>
          <p:cNvPr id="810" name="Google Shape;810;g3aa85397aa6_0_128"/>
          <p:cNvSpPr txBox="1"/>
          <p:nvPr/>
        </p:nvSpPr>
        <p:spPr>
          <a:xfrm>
            <a:off x="939175" y="5226025"/>
            <a:ext cx="9053700" cy="763500"/>
          </a:xfrm>
          <a:prstGeom prst="rect">
            <a:avLst/>
          </a:prstGeom>
          <a:noFill/>
          <a:ln>
            <a:noFill/>
          </a:ln>
        </p:spPr>
        <p:txBody>
          <a:bodyPr anchorCtr="0" anchor="t" bIns="0" lIns="0" spcFirstLastPara="1" rIns="0" wrap="square" tIns="0">
            <a:spAutoFit/>
          </a:bodyPr>
          <a:lstStyle/>
          <a:p>
            <a:pPr indent="0" lvl="0" marL="0" marR="0" rtl="0" algn="l">
              <a:lnSpc>
                <a:spcPct val="148000"/>
              </a:lnSpc>
              <a:spcBef>
                <a:spcPts val="0"/>
              </a:spcBef>
              <a:spcAft>
                <a:spcPts val="0"/>
              </a:spcAft>
              <a:buClr>
                <a:srgbClr val="000000"/>
              </a:buClr>
              <a:buSzPts val="2000"/>
              <a:buFont typeface="Arial"/>
              <a:buNone/>
            </a:pPr>
            <a:r>
              <a:rPr b="0" i="1" lang="en-US" sz="2000" u="none" cap="none" strike="noStrike">
                <a:solidFill>
                  <a:schemeClr val="lt1"/>
                </a:solidFill>
                <a:latin typeface="Arial"/>
                <a:ea typeface="Arial"/>
                <a:cs typeface="Arial"/>
                <a:sym typeface="Arial"/>
              </a:rPr>
              <a:t>RECUERDA QUE TENEMOS NUESTRO FORO SEMANAL DONDE PUEDES CONSULTAR CUALQUIER DUDA QUE TE SURJA EN LA SEMANA</a:t>
            </a:r>
            <a:endParaRPr b="0" i="1" sz="1400" u="none" cap="none" strike="noStrike">
              <a:solidFill>
                <a:schemeClr val="lt1"/>
              </a:solidFill>
              <a:latin typeface="Arial"/>
              <a:ea typeface="Arial"/>
              <a:cs typeface="Arial"/>
              <a:sym typeface="Arial"/>
            </a:endParaRPr>
          </a:p>
        </p:txBody>
      </p:sp>
      <p:pic>
        <p:nvPicPr>
          <p:cNvPr id="811" name="Google Shape;811;g3aa85397aa6_0_128" title="BUHOADSFA-Photoroom.png"/>
          <p:cNvPicPr preferRelativeResize="0"/>
          <p:nvPr/>
        </p:nvPicPr>
        <p:blipFill>
          <a:blip r:embed="rId4">
            <a:alphaModFix/>
          </a:blip>
          <a:stretch>
            <a:fillRect/>
          </a:stretch>
        </p:blipFill>
        <p:spPr>
          <a:xfrm>
            <a:off x="0" y="1"/>
            <a:ext cx="939175" cy="116252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Custom">
      <a:dk1>
        <a:srgbClr val="000000"/>
      </a:dk1>
      <a:lt1>
        <a:srgbClr val="FFFFFF"/>
      </a:lt1>
      <a:dk2>
        <a:srgbClr val="44546A"/>
      </a:dk2>
      <a:lt2>
        <a:srgbClr val="E7E6E6"/>
      </a:lt2>
      <a:accent1>
        <a:srgbClr val="232323"/>
      </a:accent1>
      <a:accent2>
        <a:srgbClr val="EBEBEB"/>
      </a:accent2>
      <a:accent3>
        <a:srgbClr val="919191"/>
      </a:accent3>
      <a:accent4>
        <a:srgbClr val="ADADAD"/>
      </a:accent4>
      <a:accent5>
        <a:srgbClr val="C79E7F"/>
      </a:accent5>
      <a:accent6>
        <a:srgbClr val="C27F6C"/>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Theme">
  <a:themeElements>
    <a:clrScheme name="Custom">
      <a:dk1>
        <a:srgbClr val="000000"/>
      </a:dk1>
      <a:lt1>
        <a:srgbClr val="FFFFFF"/>
      </a:lt1>
      <a:dk2>
        <a:srgbClr val="44546A"/>
      </a:dk2>
      <a:lt2>
        <a:srgbClr val="E7E6E6"/>
      </a:lt2>
      <a:accent1>
        <a:srgbClr val="232323"/>
      </a:accent1>
      <a:accent2>
        <a:srgbClr val="EBEBEB"/>
      </a:accent2>
      <a:accent3>
        <a:srgbClr val="919191"/>
      </a:accent3>
      <a:accent4>
        <a:srgbClr val="ADADAD"/>
      </a:accent4>
      <a:accent5>
        <a:srgbClr val="C79E7F"/>
      </a:accent5>
      <a:accent6>
        <a:srgbClr val="C27F6C"/>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2025-10-29T02:14:14Z</dcterms:created>
  <dc:creator>Kimi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{"Label":"Contenedores Docker: Fundamentos y Práctica","ContentProducer":"001191110108MACG2KBH8F10000","ProduceID":"d40nf22nae743m7s29fg","ReservedCode1":"","ContentPropagator":"001191110108MACG2KBH8F20000","PropagateID":"d40nf22nae743m7s29fg","ReservedCode2":""}</vt:lpwstr>
  </property>
</Properties>
</file>