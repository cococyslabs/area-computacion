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10287000" cx="18288000"/>
  <p:notesSz cx="6858000" cy="9144000"/>
  <p:embeddedFontLst>
    <p:embeddedFont>
      <p:font typeface="Geo"/>
      <p:regular r:id="rId24"/>
      <p:italic r:id="rId25"/>
    </p:embeddedFont>
    <p:embeddedFont>
      <p:font typeface="Anton"/>
      <p:regular r:id="rId26"/>
    </p:embeddedFont>
    <p:embeddedFont>
      <p:font typeface="Helvetica Neue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io+7IvmOBWHzuyH8lz5tNZ3zLi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614E53-6DBF-4C2B-A135-7A9031D16CA2}">
  <a:tblStyle styleId="{D9614E53-6DBF-4C2B-A135-7A9031D16CA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Geo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nton-regular.fntdata"/><Relationship Id="rId25" Type="http://schemas.openxmlformats.org/officeDocument/2006/relationships/font" Target="fonts/Geo-italic.fntdata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regular.fntdata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5.xml"/><Relationship Id="rId33" Type="http://schemas.openxmlformats.org/officeDocument/2006/relationships/font" Target="fonts/OpenSans-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9.jpg"/><Relationship Id="rId5" Type="http://schemas.openxmlformats.org/officeDocument/2006/relationships/image" Target="../media/image2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4.jpg"/><Relationship Id="rId5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jp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hyperlink" Target="https://spinthewheel.io/e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9.jpg"/><Relationship Id="rId5" Type="http://schemas.openxmlformats.org/officeDocument/2006/relationships/image" Target="../media/image2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Relationship Id="rId4" Type="http://schemas.openxmlformats.org/officeDocument/2006/relationships/image" Target="../media/image20.jpg"/><Relationship Id="rId5" Type="http://schemas.openxmlformats.org/officeDocument/2006/relationships/image" Target="../media/image1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6560" y="0"/>
            <a:ext cx="18253440" cy="10286640"/>
          </a:xfrm>
          <a:custGeom>
            <a:rect b="b" l="l" r="r" t="t"/>
            <a:pathLst>
              <a:path extrusionOk="0" h="10286640" w="18253440">
                <a:moveTo>
                  <a:pt x="0" y="0"/>
                </a:moveTo>
                <a:lnTo>
                  <a:pt x="18253440" y="0"/>
                </a:lnTo>
                <a:lnTo>
                  <a:pt x="18253440" y="10286640"/>
                </a:lnTo>
                <a:lnTo>
                  <a:pt x="0" y="102866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2000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56720" y="19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{D9614E53-6DBF-4C2B-A135-7A9031D16CA2}</a:tableStyleId>
              </a:tblPr>
              <a:tblGrid>
                <a:gridCol w="3036750"/>
                <a:gridCol w="4329250"/>
              </a:tblGrid>
              <a:tr h="7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075" marB="91075" marR="91075" marL="910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DD/MM/AAAA</a:t>
                      </a:r>
                      <a:endParaRPr sz="1100" u="none" cap="none" strike="noStrike"/>
                    </a:p>
                  </a:txBody>
                  <a:tcPr marT="91075" marB="91075" marR="91075" marL="910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9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075" marB="91075" marR="91075" marL="910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HH:mm hrs</a:t>
                      </a:r>
                      <a:endParaRPr sz="1100" u="none" cap="none" strike="noStrike"/>
                    </a:p>
                  </a:txBody>
                  <a:tcPr marT="91075" marB="91075" marR="91075" marL="9107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1618360" y="4512750"/>
            <a:ext cx="1505128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Redes de Computadoras 1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3648960" y="5807475"/>
            <a:ext cx="1098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Cesar Fernando Sazo Quisquinay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E55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-12700"/>
            <a:ext cx="11201400" cy="10299700"/>
          </a:xfrm>
          <a:custGeom>
            <a:rect b="b" l="l" r="r" t="t"/>
            <a:pathLst>
              <a:path extrusionOk="0" h="885799" w="963348">
                <a:moveTo>
                  <a:pt x="0" y="0"/>
                </a:moveTo>
                <a:lnTo>
                  <a:pt x="963348" y="0"/>
                </a:lnTo>
                <a:lnTo>
                  <a:pt x="963348" y="885799"/>
                </a:lnTo>
                <a:lnTo>
                  <a:pt x="0" y="885799"/>
                </a:lnTo>
                <a:close/>
              </a:path>
            </a:pathLst>
          </a:custGeom>
          <a:solidFill>
            <a:srgbClr val="4A6FA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"/>
          <p:cNvSpPr/>
          <p:nvPr/>
        </p:nvSpPr>
        <p:spPr>
          <a:xfrm>
            <a:off x="11868150" y="666750"/>
            <a:ext cx="5753100" cy="8953500"/>
          </a:xfrm>
          <a:custGeom>
            <a:rect b="b" l="l" r="r" t="t"/>
            <a:pathLst>
              <a:path extrusionOk="0" h="1267949" w="814724">
                <a:moveTo>
                  <a:pt x="26914" y="0"/>
                </a:moveTo>
                <a:lnTo>
                  <a:pt x="787810" y="0"/>
                </a:lnTo>
                <a:cubicBezTo>
                  <a:pt x="802675" y="0"/>
                  <a:pt x="814724" y="12050"/>
                  <a:pt x="814724" y="26914"/>
                </a:cubicBezTo>
                <a:lnTo>
                  <a:pt x="814724" y="1241035"/>
                </a:lnTo>
                <a:cubicBezTo>
                  <a:pt x="814724" y="1255899"/>
                  <a:pt x="802675" y="1267949"/>
                  <a:pt x="787810" y="1267949"/>
                </a:cubicBezTo>
                <a:lnTo>
                  <a:pt x="26914" y="1267949"/>
                </a:lnTo>
                <a:cubicBezTo>
                  <a:pt x="12050" y="1267949"/>
                  <a:pt x="0" y="1255899"/>
                  <a:pt x="0" y="1241035"/>
                </a:cubicBezTo>
                <a:lnTo>
                  <a:pt x="0" y="26914"/>
                </a:lnTo>
                <a:cubicBezTo>
                  <a:pt x="0" y="12050"/>
                  <a:pt x="12050" y="0"/>
                  <a:pt x="26914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98" l="0" r="0" t="-198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614265" y="9009380"/>
            <a:ext cx="6886575" cy="459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Escuela de Ciencias y Sistemas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614265" y="9431020"/>
            <a:ext cx="6886575" cy="336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Redes de Computadoras 1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675380" y="994118"/>
            <a:ext cx="9754495" cy="5771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56" u="none" cap="none" strike="noStrike">
                <a:solidFill>
                  <a:srgbClr val="F0F4F8"/>
                </a:solidFill>
                <a:latin typeface="Anton"/>
                <a:ea typeface="Anton"/>
                <a:cs typeface="Anton"/>
                <a:sym typeface="Anton"/>
              </a:rPr>
              <a:t>Introducción  Semana Diagnóstico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 rot="-3117037">
            <a:off x="8947742" y="765609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FA5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grpSp>
        <p:nvGrpSpPr>
          <p:cNvPr id="103" name="Google Shape;103;p3"/>
          <p:cNvGrpSpPr/>
          <p:nvPr/>
        </p:nvGrpSpPr>
        <p:grpSpPr>
          <a:xfrm>
            <a:off x="666750" y="449759"/>
            <a:ext cx="16954500" cy="9170495"/>
            <a:chOff x="0" y="-57150"/>
            <a:chExt cx="4465383" cy="2415274"/>
          </a:xfrm>
        </p:grpSpPr>
        <p:sp>
          <p:nvSpPr>
            <p:cNvPr id="104" name="Google Shape;104;p3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1328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3"/>
          <p:cNvGrpSpPr/>
          <p:nvPr/>
        </p:nvGrpSpPr>
        <p:grpSpPr>
          <a:xfrm>
            <a:off x="1800225" y="1497806"/>
            <a:ext cx="13249275" cy="2131303"/>
            <a:chOff x="0" y="-85725"/>
            <a:chExt cx="17665700" cy="2841737"/>
          </a:xfrm>
        </p:grpSpPr>
        <p:sp>
          <p:nvSpPr>
            <p:cNvPr id="107" name="Google Shape;107;p3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0" u="none" cap="none" strike="noStrike">
                  <a:solidFill>
                    <a:srgbClr val="F0F4F8"/>
                  </a:solidFill>
                  <a:latin typeface="Geo"/>
                  <a:ea typeface="Geo"/>
                  <a:cs typeface="Geo"/>
                  <a:sym typeface="Geo"/>
                </a:rPr>
                <a:t>Bienvenida al Curso</a:t>
              </a:r>
              <a:endParaRPr/>
            </a:p>
          </p:txBody>
        </p:sp>
        <p:sp>
          <p:nvSpPr>
            <p:cNvPr id="108" name="Google Shape;108;p3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Semana de Diagnóstico: Objetivos Clave</a:t>
              </a:r>
              <a:endParaRPr/>
            </a:p>
          </p:txBody>
        </p:sp>
      </p:grpSp>
      <p:grpSp>
        <p:nvGrpSpPr>
          <p:cNvPr id="109" name="Google Shape;109;p3"/>
          <p:cNvGrpSpPr/>
          <p:nvPr/>
        </p:nvGrpSpPr>
        <p:grpSpPr>
          <a:xfrm>
            <a:off x="1800225" y="5143500"/>
            <a:ext cx="4308497" cy="2578100"/>
            <a:chOff x="0" y="0"/>
            <a:chExt cx="5744662" cy="3437467"/>
          </a:xfrm>
        </p:grpSpPr>
        <p:sp>
          <p:nvSpPr>
            <p:cNvPr id="110" name="Google Shape;110;p3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Propósito</a:t>
              </a:r>
              <a:endParaRPr/>
            </a:p>
          </p:txBody>
        </p:sp>
        <p:sp>
          <p:nvSpPr>
            <p:cNvPr id="111" name="Google Shape;111;p3"/>
            <p:cNvSpPr txBox="1"/>
            <p:nvPr/>
          </p:nvSpPr>
          <p:spPr>
            <a:xfrm>
              <a:off x="0" y="1060450"/>
              <a:ext cx="5744662" cy="2377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La semana de diagnóstico tiene como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objetivo evaluar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los conocimientos previos de los estudiantes y establecer las expectativas del curso para un aprendizaje efectivo y colaborativo.</a:t>
              </a:r>
              <a:endParaRPr/>
            </a:p>
          </p:txBody>
        </p:sp>
      </p:grpSp>
      <p:grpSp>
        <p:nvGrpSpPr>
          <p:cNvPr id="112" name="Google Shape;112;p3"/>
          <p:cNvGrpSpPr/>
          <p:nvPr/>
        </p:nvGrpSpPr>
        <p:grpSpPr>
          <a:xfrm>
            <a:off x="7291388" y="5143500"/>
            <a:ext cx="4010025" cy="2549525"/>
            <a:chOff x="0" y="0"/>
            <a:chExt cx="5346700" cy="3399367"/>
          </a:xfrm>
        </p:grpSpPr>
        <p:sp>
          <p:nvSpPr>
            <p:cNvPr id="113" name="Google Shape;113;p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Participación Activa</a:t>
              </a:r>
              <a:endParaRPr/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Fomentar la participación activa es crucial para el éxito del curso, ya que facilita un ambiente de aprendizaje dinámico donde todos pueden compartir ideas y resolver dudas.</a:t>
              </a:r>
              <a:endParaRPr/>
            </a:p>
          </p:txBody>
        </p:sp>
      </p:grpSp>
      <p:grpSp>
        <p:nvGrpSpPr>
          <p:cNvPr id="115" name="Google Shape;115;p3"/>
          <p:cNvGrpSpPr/>
          <p:nvPr/>
        </p:nvGrpSpPr>
        <p:grpSpPr>
          <a:xfrm>
            <a:off x="12172950" y="5143500"/>
            <a:ext cx="4010025" cy="2549525"/>
            <a:chOff x="0" y="0"/>
            <a:chExt cx="5346700" cy="3399367"/>
          </a:xfrm>
        </p:grpSpPr>
        <p:sp>
          <p:nvSpPr>
            <p:cNvPr id="116" name="Google Shape;116;p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Agenda</a:t>
              </a:r>
              <a:endParaRPr/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Durante esta semana, se tratarán temas clave como la presentación personal, la experiencia del facilitador, el soporte del curso y las actividades diagnósticas interactivas.</a:t>
              </a:r>
              <a:endParaRPr/>
            </a:p>
          </p:txBody>
        </p:sp>
      </p:grpSp>
      <p:sp>
        <p:nvSpPr>
          <p:cNvPr id="118" name="Google Shape;118;p3"/>
          <p:cNvSpPr/>
          <p:nvPr/>
        </p:nvSpPr>
        <p:spPr>
          <a:xfrm rot="-3117037">
            <a:off x="16099474" y="795272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E55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11436548" y="2184400"/>
            <a:ext cx="5822752" cy="6664094"/>
          </a:xfrm>
          <a:custGeom>
            <a:rect b="b" l="l" r="r" t="t"/>
            <a:pathLst>
              <a:path extrusionOk="0" h="6664094" w="5822752">
                <a:moveTo>
                  <a:pt x="0" y="0"/>
                </a:moveTo>
                <a:lnTo>
                  <a:pt x="5822752" y="0"/>
                </a:lnTo>
                <a:lnTo>
                  <a:pt x="5822752" y="6664095"/>
                </a:lnTo>
                <a:lnTo>
                  <a:pt x="0" y="6664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 txBox="1"/>
          <p:nvPr/>
        </p:nvSpPr>
        <p:spPr>
          <a:xfrm>
            <a:off x="666750" y="819150"/>
            <a:ext cx="16954500" cy="106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0F4F8"/>
                </a:solidFill>
                <a:latin typeface="Anton"/>
                <a:ea typeface="Anton"/>
                <a:cs typeface="Anton"/>
                <a:sym typeface="Anton"/>
              </a:rPr>
              <a:t>Importancia de la Participación Activa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2957010" y="2497938"/>
            <a:ext cx="6886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2D4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Interacción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2957010" y="3049436"/>
            <a:ext cx="68865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interacción fomenta el aprendizaje colaborativo y dinámico.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2957010" y="7432445"/>
            <a:ext cx="6886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2D4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Conexiones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2957010" y="8032520"/>
            <a:ext cx="68865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Crear conexiones con compañeros aumenta el sentido de comunidad.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2957010" y="4278161"/>
            <a:ext cx="6886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2D4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Compromiso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2957010" y="4830611"/>
            <a:ext cx="68865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 compromiso firme mejora el enfoque y retención.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1962445" y="2507463"/>
            <a:ext cx="864987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99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1962445" y="5879870"/>
            <a:ext cx="694001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32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1954231" y="7441970"/>
            <a:ext cx="702215" cy="66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83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1962445" y="4287686"/>
            <a:ext cx="708822" cy="671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25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2957010" y="5934003"/>
            <a:ext cx="6886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2D4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Éxito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2957010" y="6498995"/>
            <a:ext cx="68865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participación activa está vinculada al éxito académico.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FA5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5"/>
          <p:cNvGrpSpPr/>
          <p:nvPr/>
        </p:nvGrpSpPr>
        <p:grpSpPr>
          <a:xfrm>
            <a:off x="666750" y="2763639"/>
            <a:ext cx="5448300" cy="6856611"/>
            <a:chOff x="0" y="-38100"/>
            <a:chExt cx="1434943" cy="1805856"/>
          </a:xfrm>
        </p:grpSpPr>
        <p:sp>
          <p:nvSpPr>
            <p:cNvPr id="142" name="Google Shape;142;p5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5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5"/>
          <p:cNvGrpSpPr/>
          <p:nvPr/>
        </p:nvGrpSpPr>
        <p:grpSpPr>
          <a:xfrm>
            <a:off x="6419850" y="2763639"/>
            <a:ext cx="5448300" cy="6856611"/>
            <a:chOff x="0" y="-38100"/>
            <a:chExt cx="1434943" cy="1805856"/>
          </a:xfrm>
        </p:grpSpPr>
        <p:sp>
          <p:nvSpPr>
            <p:cNvPr id="145" name="Google Shape;145;p5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5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5"/>
          <p:cNvGrpSpPr/>
          <p:nvPr/>
        </p:nvGrpSpPr>
        <p:grpSpPr>
          <a:xfrm>
            <a:off x="12172950" y="2763639"/>
            <a:ext cx="5448300" cy="6856611"/>
            <a:chOff x="0" y="-38100"/>
            <a:chExt cx="1434943" cy="1805856"/>
          </a:xfrm>
        </p:grpSpPr>
        <p:sp>
          <p:nvSpPr>
            <p:cNvPr id="148" name="Google Shape;148;p5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5"/>
            <p:cNvSpPr txBox="1"/>
            <p:nvPr/>
          </p:nvSpPr>
          <p:spPr>
            <a:xfrm>
              <a:off x="0" y="-38100"/>
              <a:ext cx="1434943" cy="1805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5"/>
          <p:cNvSpPr/>
          <p:nvPr/>
        </p:nvSpPr>
        <p:spPr>
          <a:xfrm>
            <a:off x="10660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68191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125722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1021783" y="8273471"/>
            <a:ext cx="4738234" cy="68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5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Este espacio es para que el tutor comparta su nombre completo.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1041066" y="3381375"/>
            <a:ext cx="4699667" cy="543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Nombre Completo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6773192" y="8273471"/>
            <a:ext cx="4741615" cy="68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5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Indicar el programa académico que se estará usando y desarrollando actualmente.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6773192" y="3381375"/>
            <a:ext cx="4741615" cy="543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Programa Académico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12551109" y="8272319"/>
            <a:ext cx="4691983" cy="68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5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Este campo debe reflejar el semestre actual del facilitador en su formación académica.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12551109" y="3381375"/>
            <a:ext cx="4691983" cy="543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Semestre Actual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0F4F8"/>
                </a:solidFill>
                <a:latin typeface="Geo"/>
                <a:ea typeface="Geo"/>
                <a:cs typeface="Geo"/>
                <a:sym typeface="Geo"/>
              </a:rPr>
              <a:t>Información Personal del Tutor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FA5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6"/>
          <p:cNvGrpSpPr/>
          <p:nvPr/>
        </p:nvGrpSpPr>
        <p:grpSpPr>
          <a:xfrm>
            <a:off x="632304" y="419459"/>
            <a:ext cx="15210125" cy="2438786"/>
            <a:chOff x="0" y="0"/>
            <a:chExt cx="4005959" cy="642314"/>
          </a:xfrm>
        </p:grpSpPr>
        <p:sp>
          <p:nvSpPr>
            <p:cNvPr id="165" name="Google Shape;165;p6"/>
            <p:cNvSpPr/>
            <p:nvPr/>
          </p:nvSpPr>
          <p:spPr>
            <a:xfrm>
              <a:off x="0" y="0"/>
              <a:ext cx="4005959" cy="642314"/>
            </a:xfrm>
            <a:custGeom>
              <a:rect b="b" l="l" r="r" t="t"/>
              <a:pathLst>
                <a:path extrusionOk="0" h="642314" w="4005959">
                  <a:moveTo>
                    <a:pt x="25959" y="0"/>
                  </a:moveTo>
                  <a:lnTo>
                    <a:pt x="3980000" y="0"/>
                  </a:lnTo>
                  <a:cubicBezTo>
                    <a:pt x="3986885" y="0"/>
                    <a:pt x="3993488" y="2735"/>
                    <a:pt x="3998356" y="7603"/>
                  </a:cubicBezTo>
                  <a:cubicBezTo>
                    <a:pt x="4003224" y="12471"/>
                    <a:pt x="4005959" y="19074"/>
                    <a:pt x="4005959" y="25959"/>
                  </a:cubicBezTo>
                  <a:lnTo>
                    <a:pt x="4005959" y="616355"/>
                  </a:lnTo>
                  <a:cubicBezTo>
                    <a:pt x="4005959" y="623240"/>
                    <a:pt x="4003224" y="629842"/>
                    <a:pt x="3998356" y="634711"/>
                  </a:cubicBezTo>
                  <a:cubicBezTo>
                    <a:pt x="3993488" y="639579"/>
                    <a:pt x="3986885" y="642314"/>
                    <a:pt x="3980000" y="642314"/>
                  </a:cubicBezTo>
                  <a:lnTo>
                    <a:pt x="25959" y="642314"/>
                  </a:lnTo>
                  <a:cubicBezTo>
                    <a:pt x="11622" y="642314"/>
                    <a:pt x="0" y="630692"/>
                    <a:pt x="0" y="616355"/>
                  </a:cubicBezTo>
                  <a:lnTo>
                    <a:pt x="0" y="25959"/>
                  </a:lnTo>
                  <a:cubicBezTo>
                    <a:pt x="0" y="19074"/>
                    <a:pt x="2735" y="12471"/>
                    <a:pt x="7603" y="7603"/>
                  </a:cubicBezTo>
                  <a:cubicBezTo>
                    <a:pt x="12471" y="2735"/>
                    <a:pt x="19074" y="0"/>
                    <a:pt x="25959" y="0"/>
                  </a:cubicBezTo>
                  <a:close/>
                </a:path>
              </a:pathLst>
            </a:custGeom>
            <a:solidFill>
              <a:srgbClr val="FFFC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6"/>
            <p:cNvSpPr txBox="1"/>
            <p:nvPr/>
          </p:nvSpPr>
          <p:spPr>
            <a:xfrm>
              <a:off x="0" y="0"/>
              <a:ext cx="4005959" cy="6423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6"/>
          <p:cNvGrpSpPr/>
          <p:nvPr/>
        </p:nvGrpSpPr>
        <p:grpSpPr>
          <a:xfrm>
            <a:off x="882876" y="657225"/>
            <a:ext cx="15210125" cy="2438786"/>
            <a:chOff x="0" y="0"/>
            <a:chExt cx="4005959" cy="642314"/>
          </a:xfrm>
        </p:grpSpPr>
        <p:sp>
          <p:nvSpPr>
            <p:cNvPr id="168" name="Google Shape;168;p6"/>
            <p:cNvSpPr/>
            <p:nvPr/>
          </p:nvSpPr>
          <p:spPr>
            <a:xfrm>
              <a:off x="0" y="0"/>
              <a:ext cx="4005959" cy="642314"/>
            </a:xfrm>
            <a:custGeom>
              <a:rect b="b" l="l" r="r" t="t"/>
              <a:pathLst>
                <a:path extrusionOk="0" h="642314" w="4005959">
                  <a:moveTo>
                    <a:pt x="25959" y="0"/>
                  </a:moveTo>
                  <a:lnTo>
                    <a:pt x="3980000" y="0"/>
                  </a:lnTo>
                  <a:cubicBezTo>
                    <a:pt x="3986885" y="0"/>
                    <a:pt x="3993488" y="2735"/>
                    <a:pt x="3998356" y="7603"/>
                  </a:cubicBezTo>
                  <a:cubicBezTo>
                    <a:pt x="4003224" y="12471"/>
                    <a:pt x="4005959" y="19074"/>
                    <a:pt x="4005959" y="25959"/>
                  </a:cubicBezTo>
                  <a:lnTo>
                    <a:pt x="4005959" y="616355"/>
                  </a:lnTo>
                  <a:cubicBezTo>
                    <a:pt x="4005959" y="623240"/>
                    <a:pt x="4003224" y="629842"/>
                    <a:pt x="3998356" y="634711"/>
                  </a:cubicBezTo>
                  <a:cubicBezTo>
                    <a:pt x="3993488" y="639579"/>
                    <a:pt x="3986885" y="642314"/>
                    <a:pt x="3980000" y="642314"/>
                  </a:cubicBezTo>
                  <a:lnTo>
                    <a:pt x="25959" y="642314"/>
                  </a:lnTo>
                  <a:cubicBezTo>
                    <a:pt x="11622" y="642314"/>
                    <a:pt x="0" y="630692"/>
                    <a:pt x="0" y="616355"/>
                  </a:cubicBezTo>
                  <a:lnTo>
                    <a:pt x="0" y="25959"/>
                  </a:lnTo>
                  <a:cubicBezTo>
                    <a:pt x="0" y="19074"/>
                    <a:pt x="2735" y="12471"/>
                    <a:pt x="7603" y="7603"/>
                  </a:cubicBezTo>
                  <a:cubicBezTo>
                    <a:pt x="12471" y="2735"/>
                    <a:pt x="19074" y="0"/>
                    <a:pt x="25959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6"/>
            <p:cNvSpPr txBox="1"/>
            <p:nvPr/>
          </p:nvSpPr>
          <p:spPr>
            <a:xfrm>
              <a:off x="0" y="0"/>
              <a:ext cx="4005959" cy="6423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0" name="Google Shape;170;p6"/>
          <p:cNvCxnSpPr/>
          <p:nvPr/>
        </p:nvCxnSpPr>
        <p:spPr>
          <a:xfrm flipH="1" rot="10800000">
            <a:off x="1462901" y="1619801"/>
            <a:ext cx="14050074" cy="19050"/>
          </a:xfrm>
          <a:prstGeom prst="straightConnector1">
            <a:avLst/>
          </a:prstGeom>
          <a:noFill/>
          <a:ln cap="flat" cmpd="sng" w="38100">
            <a:solidFill>
              <a:srgbClr val="C2D4F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1" name="Google Shape;171;p6"/>
          <p:cNvGrpSpPr/>
          <p:nvPr/>
        </p:nvGrpSpPr>
        <p:grpSpPr>
          <a:xfrm>
            <a:off x="1028700" y="3567790"/>
            <a:ext cx="6532612" cy="6462632"/>
            <a:chOff x="0" y="0"/>
            <a:chExt cx="1720523" cy="1702092"/>
          </a:xfrm>
        </p:grpSpPr>
        <p:sp>
          <p:nvSpPr>
            <p:cNvPr id="172" name="Google Shape;172;p6"/>
            <p:cNvSpPr/>
            <p:nvPr/>
          </p:nvSpPr>
          <p:spPr>
            <a:xfrm>
              <a:off x="0" y="0"/>
              <a:ext cx="1720523" cy="1702092"/>
            </a:xfrm>
            <a:custGeom>
              <a:rect b="b" l="l" r="r" t="t"/>
              <a:pathLst>
                <a:path extrusionOk="0" h="1702092" w="1720523">
                  <a:moveTo>
                    <a:pt x="60441" y="0"/>
                  </a:moveTo>
                  <a:lnTo>
                    <a:pt x="1660082" y="0"/>
                  </a:lnTo>
                  <a:cubicBezTo>
                    <a:pt x="1693463" y="0"/>
                    <a:pt x="1720523" y="27060"/>
                    <a:pt x="1720523" y="60441"/>
                  </a:cubicBezTo>
                  <a:lnTo>
                    <a:pt x="1720523" y="1641651"/>
                  </a:lnTo>
                  <a:cubicBezTo>
                    <a:pt x="1720523" y="1657681"/>
                    <a:pt x="1714155" y="1673055"/>
                    <a:pt x="1702820" y="1684390"/>
                  </a:cubicBezTo>
                  <a:cubicBezTo>
                    <a:pt x="1691486" y="1695725"/>
                    <a:pt x="1676112" y="1702092"/>
                    <a:pt x="1660082" y="1702092"/>
                  </a:cubicBezTo>
                  <a:lnTo>
                    <a:pt x="60441" y="1702092"/>
                  </a:lnTo>
                  <a:cubicBezTo>
                    <a:pt x="44411" y="1702092"/>
                    <a:pt x="29038" y="1695725"/>
                    <a:pt x="17703" y="1684390"/>
                  </a:cubicBezTo>
                  <a:cubicBezTo>
                    <a:pt x="6368" y="1673055"/>
                    <a:pt x="0" y="1657681"/>
                    <a:pt x="0" y="1641651"/>
                  </a:cubicBezTo>
                  <a:lnTo>
                    <a:pt x="0" y="60441"/>
                  </a:lnTo>
                  <a:cubicBezTo>
                    <a:pt x="0" y="44411"/>
                    <a:pt x="6368" y="29038"/>
                    <a:pt x="17703" y="17703"/>
                  </a:cubicBezTo>
                  <a:cubicBezTo>
                    <a:pt x="29038" y="6368"/>
                    <a:pt x="44411" y="0"/>
                    <a:pt x="60441" y="0"/>
                  </a:cubicBezTo>
                  <a:close/>
                </a:path>
              </a:pathLst>
            </a:custGeom>
            <a:solidFill>
              <a:srgbClr val="DDD9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6"/>
            <p:cNvSpPr txBox="1"/>
            <p:nvPr/>
          </p:nvSpPr>
          <p:spPr>
            <a:xfrm>
              <a:off x="0" y="0"/>
              <a:ext cx="1720523" cy="1702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6"/>
          <p:cNvGrpSpPr/>
          <p:nvPr/>
        </p:nvGrpSpPr>
        <p:grpSpPr>
          <a:xfrm>
            <a:off x="882876" y="3410336"/>
            <a:ext cx="6532612" cy="6462632"/>
            <a:chOff x="0" y="0"/>
            <a:chExt cx="1720523" cy="1702092"/>
          </a:xfrm>
        </p:grpSpPr>
        <p:sp>
          <p:nvSpPr>
            <p:cNvPr id="175" name="Google Shape;175;p6"/>
            <p:cNvSpPr/>
            <p:nvPr/>
          </p:nvSpPr>
          <p:spPr>
            <a:xfrm>
              <a:off x="0" y="0"/>
              <a:ext cx="1720523" cy="1702092"/>
            </a:xfrm>
            <a:custGeom>
              <a:rect b="b" l="l" r="r" t="t"/>
              <a:pathLst>
                <a:path extrusionOk="0" h="1702092" w="1720523">
                  <a:moveTo>
                    <a:pt x="60441" y="0"/>
                  </a:moveTo>
                  <a:lnTo>
                    <a:pt x="1660082" y="0"/>
                  </a:lnTo>
                  <a:cubicBezTo>
                    <a:pt x="1693463" y="0"/>
                    <a:pt x="1720523" y="27060"/>
                    <a:pt x="1720523" y="60441"/>
                  </a:cubicBezTo>
                  <a:lnTo>
                    <a:pt x="1720523" y="1641651"/>
                  </a:lnTo>
                  <a:cubicBezTo>
                    <a:pt x="1720523" y="1657681"/>
                    <a:pt x="1714155" y="1673055"/>
                    <a:pt x="1702820" y="1684390"/>
                  </a:cubicBezTo>
                  <a:cubicBezTo>
                    <a:pt x="1691486" y="1695725"/>
                    <a:pt x="1676112" y="1702092"/>
                    <a:pt x="1660082" y="1702092"/>
                  </a:cubicBezTo>
                  <a:lnTo>
                    <a:pt x="60441" y="1702092"/>
                  </a:lnTo>
                  <a:cubicBezTo>
                    <a:pt x="44411" y="1702092"/>
                    <a:pt x="29038" y="1695725"/>
                    <a:pt x="17703" y="1684390"/>
                  </a:cubicBezTo>
                  <a:cubicBezTo>
                    <a:pt x="6368" y="1673055"/>
                    <a:pt x="0" y="1657681"/>
                    <a:pt x="0" y="1641651"/>
                  </a:cubicBezTo>
                  <a:lnTo>
                    <a:pt x="0" y="60441"/>
                  </a:lnTo>
                  <a:cubicBezTo>
                    <a:pt x="0" y="44411"/>
                    <a:pt x="6368" y="29038"/>
                    <a:pt x="17703" y="17703"/>
                  </a:cubicBezTo>
                  <a:cubicBezTo>
                    <a:pt x="29038" y="6368"/>
                    <a:pt x="44411" y="0"/>
                    <a:pt x="60441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6"/>
            <p:cNvSpPr txBox="1"/>
            <p:nvPr/>
          </p:nvSpPr>
          <p:spPr>
            <a:xfrm>
              <a:off x="0" y="0"/>
              <a:ext cx="1720523" cy="1702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6"/>
          <p:cNvGrpSpPr/>
          <p:nvPr/>
        </p:nvGrpSpPr>
        <p:grpSpPr>
          <a:xfrm>
            <a:off x="7898365" y="3410336"/>
            <a:ext cx="9182036" cy="2928645"/>
            <a:chOff x="0" y="0"/>
            <a:chExt cx="2418314" cy="771330"/>
          </a:xfrm>
        </p:grpSpPr>
        <p:sp>
          <p:nvSpPr>
            <p:cNvPr id="178" name="Google Shape;178;p6"/>
            <p:cNvSpPr/>
            <p:nvPr/>
          </p:nvSpPr>
          <p:spPr>
            <a:xfrm>
              <a:off x="0" y="0"/>
              <a:ext cx="2418314" cy="771330"/>
            </a:xfrm>
            <a:custGeom>
              <a:rect b="b" l="l" r="r" t="t"/>
              <a:pathLst>
                <a:path extrusionOk="0" h="771330" w="2418314">
                  <a:moveTo>
                    <a:pt x="43001" y="0"/>
                  </a:moveTo>
                  <a:lnTo>
                    <a:pt x="2375313" y="0"/>
                  </a:lnTo>
                  <a:cubicBezTo>
                    <a:pt x="2399062" y="0"/>
                    <a:pt x="2418314" y="19252"/>
                    <a:pt x="2418314" y="43001"/>
                  </a:cubicBezTo>
                  <a:lnTo>
                    <a:pt x="2418314" y="728329"/>
                  </a:lnTo>
                  <a:cubicBezTo>
                    <a:pt x="2418314" y="752078"/>
                    <a:pt x="2399062" y="771330"/>
                    <a:pt x="2375313" y="771330"/>
                  </a:cubicBezTo>
                  <a:lnTo>
                    <a:pt x="43001" y="771330"/>
                  </a:lnTo>
                  <a:cubicBezTo>
                    <a:pt x="19252" y="771330"/>
                    <a:pt x="0" y="752078"/>
                    <a:pt x="0" y="728329"/>
                  </a:cubicBezTo>
                  <a:lnTo>
                    <a:pt x="0" y="43001"/>
                  </a:lnTo>
                  <a:cubicBezTo>
                    <a:pt x="0" y="19252"/>
                    <a:pt x="19252" y="0"/>
                    <a:pt x="43001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6"/>
            <p:cNvSpPr txBox="1"/>
            <p:nvPr/>
          </p:nvSpPr>
          <p:spPr>
            <a:xfrm>
              <a:off x="0" y="0"/>
              <a:ext cx="2418314" cy="771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6"/>
          <p:cNvGrpSpPr/>
          <p:nvPr/>
        </p:nvGrpSpPr>
        <p:grpSpPr>
          <a:xfrm>
            <a:off x="7898365" y="6653306"/>
            <a:ext cx="9182036" cy="2928645"/>
            <a:chOff x="0" y="0"/>
            <a:chExt cx="2418314" cy="771330"/>
          </a:xfrm>
        </p:grpSpPr>
        <p:sp>
          <p:nvSpPr>
            <p:cNvPr id="181" name="Google Shape;181;p6"/>
            <p:cNvSpPr/>
            <p:nvPr/>
          </p:nvSpPr>
          <p:spPr>
            <a:xfrm>
              <a:off x="0" y="0"/>
              <a:ext cx="2418314" cy="771330"/>
            </a:xfrm>
            <a:custGeom>
              <a:rect b="b" l="l" r="r" t="t"/>
              <a:pathLst>
                <a:path extrusionOk="0" h="771330" w="2418314">
                  <a:moveTo>
                    <a:pt x="43001" y="0"/>
                  </a:moveTo>
                  <a:lnTo>
                    <a:pt x="2375313" y="0"/>
                  </a:lnTo>
                  <a:cubicBezTo>
                    <a:pt x="2399062" y="0"/>
                    <a:pt x="2418314" y="19252"/>
                    <a:pt x="2418314" y="43001"/>
                  </a:cubicBezTo>
                  <a:lnTo>
                    <a:pt x="2418314" y="728329"/>
                  </a:lnTo>
                  <a:cubicBezTo>
                    <a:pt x="2418314" y="752078"/>
                    <a:pt x="2399062" y="771330"/>
                    <a:pt x="2375313" y="771330"/>
                  </a:cubicBezTo>
                  <a:lnTo>
                    <a:pt x="43001" y="771330"/>
                  </a:lnTo>
                  <a:cubicBezTo>
                    <a:pt x="19252" y="771330"/>
                    <a:pt x="0" y="752078"/>
                    <a:pt x="0" y="728329"/>
                  </a:cubicBezTo>
                  <a:lnTo>
                    <a:pt x="0" y="43001"/>
                  </a:lnTo>
                  <a:cubicBezTo>
                    <a:pt x="0" y="19252"/>
                    <a:pt x="19252" y="0"/>
                    <a:pt x="43001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6"/>
            <p:cNvSpPr txBox="1"/>
            <p:nvPr/>
          </p:nvSpPr>
          <p:spPr>
            <a:xfrm>
              <a:off x="0" y="0"/>
              <a:ext cx="2418314" cy="771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" name="Google Shape;183;p6"/>
          <p:cNvSpPr/>
          <p:nvPr/>
        </p:nvSpPr>
        <p:spPr>
          <a:xfrm>
            <a:off x="13101634" y="874026"/>
            <a:ext cx="3978767" cy="2884606"/>
          </a:xfrm>
          <a:custGeom>
            <a:rect b="b" l="l" r="r" t="t"/>
            <a:pathLst>
              <a:path extrusionOk="0" h="2884606" w="3978767">
                <a:moveTo>
                  <a:pt x="0" y="0"/>
                </a:moveTo>
                <a:lnTo>
                  <a:pt x="3978767" y="0"/>
                </a:lnTo>
                <a:lnTo>
                  <a:pt x="3978767" y="2884606"/>
                </a:lnTo>
                <a:lnTo>
                  <a:pt x="0" y="2884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6"/>
          <p:cNvSpPr txBox="1"/>
          <p:nvPr/>
        </p:nvSpPr>
        <p:spPr>
          <a:xfrm>
            <a:off x="1289216" y="3749107"/>
            <a:ext cx="2301764" cy="686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6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Educación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8271352" y="3749107"/>
            <a:ext cx="3366662" cy="686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6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Certificaciones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8271352" y="6996206"/>
            <a:ext cx="2594977" cy="686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6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Experiencia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1468373" y="1867093"/>
            <a:ext cx="1135334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6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Nombre ejemplar del tutor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1468373" y="864501"/>
            <a:ext cx="1135334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6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Tutor académico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1289216" y="4683304"/>
            <a:ext cx="2720876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C2D4F7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C2D4F7"/>
                </a:solidFill>
                <a:latin typeface="Open Sans"/>
                <a:ea typeface="Open Sans"/>
                <a:cs typeface="Open Sans"/>
                <a:sym typeface="Open Sans"/>
              </a:rPr>
              <a:t>Ejemplo1</a:t>
            </a:r>
            <a:endParaRPr/>
          </a:p>
          <a:p>
            <a:pPr indent="-367030" lvl="1" marL="734059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C2D4F7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C2D4F7"/>
                </a:solidFill>
                <a:latin typeface="Open Sans"/>
                <a:ea typeface="Open Sans"/>
                <a:cs typeface="Open Sans"/>
                <a:sym typeface="Open Sans"/>
              </a:rPr>
              <a:t>Ejemplo2</a:t>
            </a:r>
            <a:endParaRPr/>
          </a:p>
          <a:p>
            <a:pPr indent="-367030" lvl="1" marL="734059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C2D4F7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C2D4F7"/>
                </a:solidFill>
                <a:latin typeface="Open Sans"/>
                <a:ea typeface="Open Sans"/>
                <a:cs typeface="Open Sans"/>
                <a:sym typeface="Open Sans"/>
              </a:rPr>
              <a:t>Ejemplo3</a:t>
            </a:r>
            <a:endParaRPr/>
          </a:p>
          <a:p>
            <a:pPr indent="-367030" lvl="1" marL="734059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C2D4F7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C2D4F7"/>
                </a:solidFill>
                <a:latin typeface="Open Sans"/>
                <a:ea typeface="Open Sans"/>
                <a:cs typeface="Open Sans"/>
                <a:sym typeface="Open Sans"/>
              </a:rPr>
              <a:t>Ejemplo 4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8487938" y="4582399"/>
            <a:ext cx="7240191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C2D4F7"/>
                </a:solidFill>
                <a:latin typeface="Open Sans"/>
                <a:ea typeface="Open Sans"/>
                <a:cs typeface="Open Sans"/>
                <a:sym typeface="Open Sans"/>
              </a:rPr>
              <a:t>Agregar certificaciones relacionadas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C2D4F7"/>
                </a:solidFill>
                <a:latin typeface="Open Sans"/>
                <a:ea typeface="Open Sans"/>
                <a:cs typeface="Open Sans"/>
                <a:sym typeface="Open Sans"/>
              </a:rPr>
              <a:t>con el curso</a:t>
            </a:r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8487938" y="7825627"/>
            <a:ext cx="7193012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C2D4F7"/>
                </a:solidFill>
                <a:latin typeface="Open Sans"/>
                <a:ea typeface="Open Sans"/>
                <a:cs typeface="Open Sans"/>
                <a:sym typeface="Open Sans"/>
              </a:rPr>
              <a:t>Agregar si a tenido relación a como 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C2D4F7"/>
                </a:solidFill>
                <a:latin typeface="Open Sans"/>
                <a:ea typeface="Open Sans"/>
                <a:cs typeface="Open Sans"/>
                <a:sym typeface="Open Sans"/>
              </a:rPr>
              <a:t>brindar el laboratorio del curso</a:t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 rot="-3117037">
            <a:off x="16007688" y="8076546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E55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grpSp>
        <p:nvGrpSpPr>
          <p:cNvPr id="198" name="Google Shape;198;p7"/>
          <p:cNvGrpSpPr/>
          <p:nvPr/>
        </p:nvGrpSpPr>
        <p:grpSpPr>
          <a:xfrm>
            <a:off x="666750" y="449759"/>
            <a:ext cx="16954500" cy="9170495"/>
            <a:chOff x="0" y="-57150"/>
            <a:chExt cx="4465383" cy="2415274"/>
          </a:xfrm>
        </p:grpSpPr>
        <p:sp>
          <p:nvSpPr>
            <p:cNvPr id="199" name="Google Shape;199;p7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2E57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7"/>
          <p:cNvGrpSpPr/>
          <p:nvPr/>
        </p:nvGrpSpPr>
        <p:grpSpPr>
          <a:xfrm>
            <a:off x="1800225" y="1497806"/>
            <a:ext cx="13249275" cy="2131303"/>
            <a:chOff x="0" y="-85725"/>
            <a:chExt cx="17665700" cy="2841737"/>
          </a:xfrm>
        </p:grpSpPr>
        <p:sp>
          <p:nvSpPr>
            <p:cNvPr id="202" name="Google Shape;202;p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0" u="none" cap="none" strike="noStrike">
                  <a:solidFill>
                    <a:srgbClr val="F0F4F8"/>
                  </a:solidFill>
                  <a:latin typeface="Geo"/>
                  <a:ea typeface="Geo"/>
                  <a:cs typeface="Geo"/>
                  <a:sym typeface="Geo"/>
                </a:rPr>
                <a:t>Funciones Específicas</a:t>
              </a:r>
              <a:endParaRPr/>
            </a:p>
          </p:txBody>
        </p:sp>
        <p:sp>
          <p:nvSpPr>
            <p:cNvPr id="203" name="Google Shape;203;p7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Apoyo en el Laboratorio y Estudiantes</a:t>
              </a:r>
              <a:endParaRPr/>
            </a:p>
          </p:txBody>
        </p:sp>
      </p:grpSp>
      <p:grpSp>
        <p:nvGrpSpPr>
          <p:cNvPr id="204" name="Google Shape;204;p7"/>
          <p:cNvGrpSpPr/>
          <p:nvPr/>
        </p:nvGrpSpPr>
        <p:grpSpPr>
          <a:xfrm>
            <a:off x="1800225" y="5143500"/>
            <a:ext cx="4308497" cy="2549525"/>
            <a:chOff x="0" y="0"/>
            <a:chExt cx="5744662" cy="3399367"/>
          </a:xfrm>
        </p:grpSpPr>
        <p:sp>
          <p:nvSpPr>
            <p:cNvPr id="205" name="Google Shape;205;p7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Apoyo en Laboratorio</a:t>
              </a:r>
              <a:endParaRPr/>
            </a:p>
          </p:txBody>
        </p:sp>
        <p:sp>
          <p:nvSpPr>
            <p:cNvPr id="206" name="Google Shape;206;p7"/>
            <p:cNvSpPr txBox="1"/>
            <p:nvPr/>
          </p:nvSpPr>
          <p:spPr>
            <a:xfrm>
              <a:off x="0" y="1060450"/>
              <a:ext cx="5744662" cy="2338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Ofreceré orientación práctica en el laboratorio, facilitando ejercicios y demostraciones que refuercen el aprendizaje práctico de los conceptos de redes y telecomunicaciones.</a:t>
              </a:r>
              <a:endParaRPr/>
            </a:p>
          </p:txBody>
        </p:sp>
      </p:grpSp>
      <p:grpSp>
        <p:nvGrpSpPr>
          <p:cNvPr id="207" name="Google Shape;207;p7"/>
          <p:cNvGrpSpPr/>
          <p:nvPr/>
        </p:nvGrpSpPr>
        <p:grpSpPr>
          <a:xfrm>
            <a:off x="7291388" y="5143500"/>
            <a:ext cx="4010025" cy="2901950"/>
            <a:chOff x="0" y="0"/>
            <a:chExt cx="5346700" cy="3869267"/>
          </a:xfrm>
        </p:grpSpPr>
        <p:sp>
          <p:nvSpPr>
            <p:cNvPr id="208" name="Google Shape;208;p7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Resolución de Dudas</a:t>
              </a:r>
              <a:endParaRPr/>
            </a:p>
          </p:txBody>
        </p:sp>
        <p:sp>
          <p:nvSpPr>
            <p:cNvPr id="209" name="Google Shape;209;p7"/>
            <p:cNvSpPr txBox="1"/>
            <p:nvPr/>
          </p:nvSpPr>
          <p:spPr>
            <a:xfrm>
              <a:off x="0" y="1060450"/>
              <a:ext cx="5346700" cy="2808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Estaré disponible para responder preguntas y aclarar dudas, asegurando que todos los estudiantes se sientan cómodos y apoyados durante su proceso de aprendizaje.</a:t>
              </a:r>
              <a:endParaRPr/>
            </a:p>
          </p:txBody>
        </p:sp>
      </p:grpSp>
      <p:grpSp>
        <p:nvGrpSpPr>
          <p:cNvPr id="210" name="Google Shape;210;p7"/>
          <p:cNvGrpSpPr/>
          <p:nvPr/>
        </p:nvGrpSpPr>
        <p:grpSpPr>
          <a:xfrm>
            <a:off x="12172950" y="5143500"/>
            <a:ext cx="4010025" cy="2901950"/>
            <a:chOff x="0" y="0"/>
            <a:chExt cx="5346700" cy="3869267"/>
          </a:xfrm>
        </p:grpSpPr>
        <p:sp>
          <p:nvSpPr>
            <p:cNvPr id="211" name="Google Shape;211;p7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Guía para Estudiantes</a:t>
              </a:r>
              <a:endParaRPr/>
            </a:p>
          </p:txBody>
        </p:sp>
        <p:sp>
          <p:nvSpPr>
            <p:cNvPr id="212" name="Google Shape;212;p7"/>
            <p:cNvSpPr txBox="1"/>
            <p:nvPr/>
          </p:nvSpPr>
          <p:spPr>
            <a:xfrm>
              <a:off x="0" y="1060450"/>
              <a:ext cx="5346700" cy="2808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Proporcionaré recursos y materiales adicionales, así como consejos personalizados que ayudarán a los estudiantes a mejorar su comprensión y rendimiento en el curso.</a:t>
              </a:r>
              <a:endParaRPr/>
            </a:p>
          </p:txBody>
        </p:sp>
      </p:grpSp>
      <p:sp>
        <p:nvSpPr>
          <p:cNvPr id="213" name="Google Shape;213;p7"/>
          <p:cNvSpPr/>
          <p:nvPr/>
        </p:nvSpPr>
        <p:spPr>
          <a:xfrm rot="-3117037">
            <a:off x="16099474" y="795272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FA5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8"/>
          <p:cNvGrpSpPr/>
          <p:nvPr/>
        </p:nvGrpSpPr>
        <p:grpSpPr>
          <a:xfrm>
            <a:off x="666750" y="2799804"/>
            <a:ext cx="5448300" cy="6820446"/>
            <a:chOff x="0" y="-28575"/>
            <a:chExt cx="1434943" cy="1796331"/>
          </a:xfrm>
        </p:grpSpPr>
        <p:sp>
          <p:nvSpPr>
            <p:cNvPr id="219" name="Google Shape;219;p8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8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8"/>
          <p:cNvGrpSpPr/>
          <p:nvPr/>
        </p:nvGrpSpPr>
        <p:grpSpPr>
          <a:xfrm>
            <a:off x="6419850" y="2799804"/>
            <a:ext cx="5448300" cy="6820446"/>
            <a:chOff x="0" y="-28575"/>
            <a:chExt cx="1434943" cy="1796331"/>
          </a:xfrm>
        </p:grpSpPr>
        <p:sp>
          <p:nvSpPr>
            <p:cNvPr id="222" name="Google Shape;222;p8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8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8"/>
          <p:cNvGrpSpPr/>
          <p:nvPr/>
        </p:nvGrpSpPr>
        <p:grpSpPr>
          <a:xfrm>
            <a:off x="12172950" y="2799804"/>
            <a:ext cx="5448300" cy="6820446"/>
            <a:chOff x="0" y="-28575"/>
            <a:chExt cx="1434943" cy="1796331"/>
          </a:xfrm>
        </p:grpSpPr>
        <p:sp>
          <p:nvSpPr>
            <p:cNvPr id="225" name="Google Shape;225;p8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2A3E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8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8"/>
          <p:cNvSpPr/>
          <p:nvPr/>
        </p:nvSpPr>
        <p:spPr>
          <a:xfrm>
            <a:off x="10660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68191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125722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1021783" y="8292521"/>
            <a:ext cx="4738234" cy="604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comunicación regular fomenta la confianza y </a:t>
            </a:r>
            <a:r>
              <a:rPr b="1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fortalece la relación</a:t>
            </a: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 los estudiantes.</a:t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1041066" y="3371850"/>
            <a:ext cx="4699667" cy="459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5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Comunicación con Estudiantes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6773192" y="8292521"/>
            <a:ext cx="4741615" cy="604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compromiso colectivo crea un ambiente positivo y </a:t>
            </a:r>
            <a:r>
              <a:rPr b="1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 a todos</a:t>
            </a: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los participantes.</a:t>
            </a:r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6773192" y="3371850"/>
            <a:ext cx="4741615" cy="459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5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Compromiso con el Grupo</a:t>
            </a:r>
            <a:endParaRPr/>
          </a:p>
        </p:txBody>
      </p:sp>
      <p:sp>
        <p:nvSpPr>
          <p:cNvPr id="234" name="Google Shape;234;p8"/>
          <p:cNvSpPr txBox="1"/>
          <p:nvPr/>
        </p:nvSpPr>
        <p:spPr>
          <a:xfrm>
            <a:off x="12551109" y="8291369"/>
            <a:ext cx="4691983" cy="899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Ejemplos claros de apoyo docente </a:t>
            </a:r>
            <a:r>
              <a:rPr b="1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inspirarán</a:t>
            </a: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los estudiantes y mejorarán su experiencia de aprendizaje.</a:t>
            </a:r>
            <a:endParaRPr/>
          </a:p>
        </p:txBody>
      </p:sp>
      <p:sp>
        <p:nvSpPr>
          <p:cNvPr id="235" name="Google Shape;235;p8"/>
          <p:cNvSpPr txBox="1"/>
          <p:nvPr/>
        </p:nvSpPr>
        <p:spPr>
          <a:xfrm>
            <a:off x="12551109" y="3371850"/>
            <a:ext cx="4691983" cy="459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5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Ejemplos de Apoyo Docente</a:t>
            </a:r>
            <a:endParaRPr/>
          </a:p>
        </p:txBody>
      </p:sp>
      <p:sp>
        <p:nvSpPr>
          <p:cNvPr id="236" name="Google Shape;236;p8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0F4F8"/>
                </a:solidFill>
                <a:latin typeface="Geo"/>
                <a:ea typeface="Geo"/>
                <a:cs typeface="Geo"/>
                <a:sym typeface="Geo"/>
              </a:rPr>
              <a:t>Importancia de la Comunicación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E55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"/>
          <p:cNvSpPr/>
          <p:nvPr/>
        </p:nvSpPr>
        <p:spPr>
          <a:xfrm>
            <a:off x="13611225" y="666750"/>
            <a:ext cx="4010025" cy="6716121"/>
          </a:xfrm>
          <a:custGeom>
            <a:rect b="b" l="l" r="r" t="t"/>
            <a:pathLst>
              <a:path extrusionOk="0" h="1170566" w="698915">
                <a:moveTo>
                  <a:pt x="38613" y="0"/>
                </a:moveTo>
                <a:lnTo>
                  <a:pt x="660302" y="0"/>
                </a:lnTo>
                <a:cubicBezTo>
                  <a:pt x="681627" y="0"/>
                  <a:pt x="698915" y="17288"/>
                  <a:pt x="698915" y="38613"/>
                </a:cubicBezTo>
                <a:lnTo>
                  <a:pt x="698915" y="1131953"/>
                </a:lnTo>
                <a:cubicBezTo>
                  <a:pt x="698915" y="1142194"/>
                  <a:pt x="694847" y="1152015"/>
                  <a:pt x="687606" y="1159256"/>
                </a:cubicBezTo>
                <a:cubicBezTo>
                  <a:pt x="680364" y="1166498"/>
                  <a:pt x="670543" y="1170566"/>
                  <a:pt x="660302" y="1170566"/>
                </a:cubicBezTo>
                <a:lnTo>
                  <a:pt x="38613" y="1170566"/>
                </a:lnTo>
                <a:cubicBezTo>
                  <a:pt x="17288" y="1170566"/>
                  <a:pt x="0" y="1153278"/>
                  <a:pt x="0" y="1131953"/>
                </a:cubicBezTo>
                <a:lnTo>
                  <a:pt x="0" y="38613"/>
                </a:lnTo>
                <a:cubicBezTo>
                  <a:pt x="0" y="17288"/>
                  <a:pt x="17288" y="0"/>
                  <a:pt x="38613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78" l="0" r="0" t="-278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2" name="Google Shape;242;p9"/>
          <p:cNvGrpSpPr/>
          <p:nvPr/>
        </p:nvGrpSpPr>
        <p:grpSpPr>
          <a:xfrm>
            <a:off x="0" y="-216991"/>
            <a:ext cx="7858125" cy="10503991"/>
            <a:chOff x="0" y="-57150"/>
            <a:chExt cx="2069630" cy="2766483"/>
          </a:xfrm>
        </p:grpSpPr>
        <p:sp>
          <p:nvSpPr>
            <p:cNvPr id="243" name="Google Shape;243;p9"/>
            <p:cNvSpPr/>
            <p:nvPr/>
          </p:nvSpPr>
          <p:spPr>
            <a:xfrm>
              <a:off x="0" y="0"/>
              <a:ext cx="2069630" cy="2709333"/>
            </a:xfrm>
            <a:custGeom>
              <a:rect b="b" l="l" r="r" t="t"/>
              <a:pathLst>
                <a:path extrusionOk="0"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</p:sp>
        <p:sp>
          <p:nvSpPr>
            <p:cNvPr id="244" name="Google Shape;244;p9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9"/>
          <p:cNvSpPr/>
          <p:nvPr/>
        </p:nvSpPr>
        <p:spPr>
          <a:xfrm>
            <a:off x="708153" y="7606302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9"/>
          <p:cNvSpPr/>
          <p:nvPr/>
        </p:nvSpPr>
        <p:spPr>
          <a:xfrm>
            <a:off x="9013940" y="3268071"/>
            <a:ext cx="3441469" cy="4114800"/>
          </a:xfrm>
          <a:custGeom>
            <a:rect b="b" l="l" r="r" t="t"/>
            <a:pathLst>
              <a:path extrusionOk="0" h="4114800" w="3441469">
                <a:moveTo>
                  <a:pt x="0" y="0"/>
                </a:moveTo>
                <a:lnTo>
                  <a:pt x="3441470" y="0"/>
                </a:lnTo>
                <a:lnTo>
                  <a:pt x="34414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9"/>
          <p:cNvGrpSpPr/>
          <p:nvPr/>
        </p:nvGrpSpPr>
        <p:grpSpPr>
          <a:xfrm>
            <a:off x="9296400" y="7822406"/>
            <a:ext cx="2876550" cy="1181005"/>
            <a:chOff x="0" y="-9525"/>
            <a:chExt cx="3835400" cy="1574673"/>
          </a:xfrm>
        </p:grpSpPr>
        <p:sp>
          <p:nvSpPr>
            <p:cNvPr id="248" name="Google Shape;248;p9"/>
            <p:cNvSpPr txBox="1"/>
            <p:nvPr/>
          </p:nvSpPr>
          <p:spPr>
            <a:xfrm>
              <a:off x="0" y="-9525"/>
              <a:ext cx="3835400" cy="54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42" u="sng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Ruleta Digital</a:t>
              </a:r>
              <a:endParaRPr/>
            </a:p>
          </p:txBody>
        </p:sp>
        <p:sp>
          <p:nvSpPr>
            <p:cNvPr id="249" name="Google Shape;249;p9"/>
            <p:cNvSpPr txBox="1"/>
            <p:nvPr/>
          </p:nvSpPr>
          <p:spPr>
            <a:xfrm>
              <a:off x="0" y="703453"/>
              <a:ext cx="3835400" cy="861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Selección aleatoria de estudiantes para participar</a:t>
              </a:r>
              <a:endParaRPr/>
            </a:p>
          </p:txBody>
        </p:sp>
      </p:grpSp>
      <p:grpSp>
        <p:nvGrpSpPr>
          <p:cNvPr id="250" name="Google Shape;250;p9"/>
          <p:cNvGrpSpPr/>
          <p:nvPr/>
        </p:nvGrpSpPr>
        <p:grpSpPr>
          <a:xfrm>
            <a:off x="13611225" y="7858029"/>
            <a:ext cx="2876550" cy="1181005"/>
            <a:chOff x="0" y="-9525"/>
            <a:chExt cx="3835400" cy="1574673"/>
          </a:xfrm>
        </p:grpSpPr>
        <p:sp>
          <p:nvSpPr>
            <p:cNvPr id="251" name="Google Shape;251;p9"/>
            <p:cNvSpPr txBox="1"/>
            <p:nvPr/>
          </p:nvSpPr>
          <p:spPr>
            <a:xfrm>
              <a:off x="0" y="-9525"/>
              <a:ext cx="3835400" cy="542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42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Participación Activa</a:t>
              </a:r>
              <a:endParaRPr/>
            </a:p>
          </p:txBody>
        </p:sp>
        <p:sp>
          <p:nvSpPr>
            <p:cNvPr id="252" name="Google Shape;252;p9"/>
            <p:cNvSpPr txBox="1"/>
            <p:nvPr/>
          </p:nvSpPr>
          <p:spPr>
            <a:xfrm>
              <a:off x="0" y="703453"/>
              <a:ext cx="3835400" cy="861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Fomentar un ambiente respetuoso y colaborativo</a:t>
              </a:r>
              <a:endParaRPr/>
            </a:p>
          </p:txBody>
        </p:sp>
      </p:grpSp>
      <p:sp>
        <p:nvSpPr>
          <p:cNvPr id="253" name="Google Shape;253;p9"/>
          <p:cNvSpPr txBox="1"/>
          <p:nvPr/>
        </p:nvSpPr>
        <p:spPr>
          <a:xfrm>
            <a:off x="666750" y="733425"/>
            <a:ext cx="7021245" cy="3378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0F4F8"/>
                </a:solidFill>
                <a:latin typeface="Geo"/>
                <a:ea typeface="Geo"/>
                <a:cs typeface="Geo"/>
                <a:sym typeface="Geo"/>
              </a:rPr>
              <a:t>Dinámica Interactiva: Uso de la Ruleta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FA5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/>
          </a:p>
        </p:txBody>
      </p:sp>
      <p:grpSp>
        <p:nvGrpSpPr>
          <p:cNvPr id="259" name="Google Shape;259;p10"/>
          <p:cNvGrpSpPr/>
          <p:nvPr/>
        </p:nvGrpSpPr>
        <p:grpSpPr>
          <a:xfrm>
            <a:off x="666750" y="449759"/>
            <a:ext cx="16954500" cy="9170495"/>
            <a:chOff x="0" y="-57150"/>
            <a:chExt cx="4465383" cy="2415274"/>
          </a:xfrm>
        </p:grpSpPr>
        <p:sp>
          <p:nvSpPr>
            <p:cNvPr id="260" name="Google Shape;260;p10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1328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0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10"/>
          <p:cNvGrpSpPr/>
          <p:nvPr/>
        </p:nvGrpSpPr>
        <p:grpSpPr>
          <a:xfrm>
            <a:off x="1800225" y="1497806"/>
            <a:ext cx="13249275" cy="2131303"/>
            <a:chOff x="0" y="-85725"/>
            <a:chExt cx="17665700" cy="2841737"/>
          </a:xfrm>
        </p:grpSpPr>
        <p:sp>
          <p:nvSpPr>
            <p:cNvPr id="263" name="Google Shape;263;p10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0" u="none" cap="none" strike="noStrike">
                  <a:solidFill>
                    <a:srgbClr val="F0F4F8"/>
                  </a:solidFill>
                  <a:latin typeface="Geo"/>
                  <a:ea typeface="Geo"/>
                  <a:cs typeface="Geo"/>
                  <a:sym typeface="Geo"/>
                </a:rPr>
                <a:t>Instrucciones para Estudiantes</a:t>
              </a:r>
              <a:endParaRPr/>
            </a:p>
          </p:txBody>
        </p:sp>
        <p:sp>
          <p:nvSpPr>
            <p:cNvPr id="264" name="Google Shape;264;p10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Compartir Nombre, Expectativas e Intereses</a:t>
              </a:r>
              <a:endParaRPr/>
            </a:p>
          </p:txBody>
        </p:sp>
      </p:grpSp>
      <p:grpSp>
        <p:nvGrpSpPr>
          <p:cNvPr id="265" name="Google Shape;265;p10"/>
          <p:cNvGrpSpPr/>
          <p:nvPr/>
        </p:nvGrpSpPr>
        <p:grpSpPr>
          <a:xfrm>
            <a:off x="1800225" y="5143500"/>
            <a:ext cx="4308497" cy="2606675"/>
            <a:chOff x="0" y="0"/>
            <a:chExt cx="5744662" cy="3475567"/>
          </a:xfrm>
        </p:grpSpPr>
        <p:sp>
          <p:nvSpPr>
            <p:cNvPr id="266" name="Google Shape;266;p10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Nombre</a:t>
              </a:r>
              <a:endParaRPr/>
            </a:p>
          </p:txBody>
        </p:sp>
        <p:sp>
          <p:nvSpPr>
            <p:cNvPr id="267" name="Google Shape;267;p10"/>
            <p:cNvSpPr txBox="1"/>
            <p:nvPr/>
          </p:nvSpPr>
          <p:spPr>
            <a:xfrm>
              <a:off x="0" y="1060450"/>
              <a:ext cx="5744662" cy="2415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Por favor, comparte tu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nombre completo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para que podamos conocerte mejor y establecer una conexión. Esto ayudará a crear un ambiente colaborativo en el aula.</a:t>
              </a:r>
              <a:endParaRPr/>
            </a:p>
          </p:txBody>
        </p:sp>
      </p:grpSp>
      <p:grpSp>
        <p:nvGrpSpPr>
          <p:cNvPr id="268" name="Google Shape;268;p10"/>
          <p:cNvGrpSpPr/>
          <p:nvPr/>
        </p:nvGrpSpPr>
        <p:grpSpPr>
          <a:xfrm>
            <a:off x="7291388" y="5143500"/>
            <a:ext cx="4010025" cy="2578100"/>
            <a:chOff x="0" y="0"/>
            <a:chExt cx="5346700" cy="3437467"/>
          </a:xfrm>
        </p:grpSpPr>
        <p:sp>
          <p:nvSpPr>
            <p:cNvPr id="269" name="Google Shape;269;p10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Expectativas</a:t>
              </a:r>
              <a:endParaRPr/>
            </a:p>
          </p:txBody>
        </p:sp>
        <p:sp>
          <p:nvSpPr>
            <p:cNvPr id="270" name="Google Shape;270;p10"/>
            <p:cNvSpPr txBox="1"/>
            <p:nvPr/>
          </p:nvSpPr>
          <p:spPr>
            <a:xfrm>
              <a:off x="0" y="1060450"/>
              <a:ext cx="5346700" cy="2377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Es importante que expreses tus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expectativas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sobre el curso. ¿Qué te gustaría aprender o mejorar? Esto nos ayudará a adaptar la enseñanza a tus necesidades.</a:t>
              </a:r>
              <a:endParaRPr/>
            </a:p>
          </p:txBody>
        </p:sp>
      </p:grpSp>
      <p:grpSp>
        <p:nvGrpSpPr>
          <p:cNvPr id="271" name="Google Shape;271;p10"/>
          <p:cNvGrpSpPr/>
          <p:nvPr/>
        </p:nvGrpSpPr>
        <p:grpSpPr>
          <a:xfrm>
            <a:off x="12172950" y="5143500"/>
            <a:ext cx="4010025" cy="3282950"/>
            <a:chOff x="0" y="0"/>
            <a:chExt cx="5346700" cy="4377267"/>
          </a:xfrm>
        </p:grpSpPr>
        <p:sp>
          <p:nvSpPr>
            <p:cNvPr id="272" name="Google Shape;272;p10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Intereses</a:t>
              </a:r>
              <a:endParaRPr/>
            </a:p>
          </p:txBody>
        </p:sp>
        <p:sp>
          <p:nvSpPr>
            <p:cNvPr id="273" name="Google Shape;273;p10"/>
            <p:cNvSpPr txBox="1"/>
            <p:nvPr/>
          </p:nvSpPr>
          <p:spPr>
            <a:xfrm>
              <a:off x="0" y="1060450"/>
              <a:ext cx="5346700" cy="3316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Comparte tus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intereses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relacionados con redes y telecomunicaciones. Esto permitirá a todos entender tus pasiones y motivaciones, fomentando un entorno de aprendizaje enriquecedor.</a:t>
              </a:r>
              <a:endParaRPr/>
            </a:p>
          </p:txBody>
        </p:sp>
      </p:grpSp>
      <p:sp>
        <p:nvSpPr>
          <p:cNvPr id="274" name="Google Shape;274;p10"/>
          <p:cNvSpPr/>
          <p:nvPr/>
        </p:nvSpPr>
        <p:spPr>
          <a:xfrm rot="-3117037">
            <a:off x="16099474" y="795272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E55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11"/>
          <p:cNvGrpSpPr/>
          <p:nvPr/>
        </p:nvGrpSpPr>
        <p:grpSpPr>
          <a:xfrm>
            <a:off x="666750" y="2799804"/>
            <a:ext cx="5448300" cy="6820446"/>
            <a:chOff x="0" y="-28575"/>
            <a:chExt cx="1434943" cy="1796331"/>
          </a:xfrm>
        </p:grpSpPr>
        <p:sp>
          <p:nvSpPr>
            <p:cNvPr id="280" name="Google Shape;280;p11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1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11"/>
          <p:cNvGrpSpPr/>
          <p:nvPr/>
        </p:nvGrpSpPr>
        <p:grpSpPr>
          <a:xfrm>
            <a:off x="6419850" y="2799804"/>
            <a:ext cx="5448300" cy="6820446"/>
            <a:chOff x="0" y="-28575"/>
            <a:chExt cx="1434943" cy="1796331"/>
          </a:xfrm>
        </p:grpSpPr>
        <p:sp>
          <p:nvSpPr>
            <p:cNvPr id="283" name="Google Shape;283;p11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1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5" name="Google Shape;285;p11"/>
          <p:cNvGrpSpPr/>
          <p:nvPr/>
        </p:nvGrpSpPr>
        <p:grpSpPr>
          <a:xfrm>
            <a:off x="12172950" y="2799804"/>
            <a:ext cx="5448300" cy="6820446"/>
            <a:chOff x="0" y="-28575"/>
            <a:chExt cx="1434943" cy="1796331"/>
          </a:xfrm>
        </p:grpSpPr>
        <p:sp>
          <p:nvSpPr>
            <p:cNvPr id="286" name="Google Shape;286;p11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1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p11"/>
          <p:cNvSpPr/>
          <p:nvPr/>
        </p:nvSpPr>
        <p:spPr>
          <a:xfrm>
            <a:off x="10660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68191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125722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 txBox="1"/>
          <p:nvPr/>
        </p:nvSpPr>
        <p:spPr>
          <a:xfrm>
            <a:off x="1021783" y="8292521"/>
            <a:ext cx="4738234" cy="575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preguntas de opción múltiple evaluarán los conceptos clave de programación básica y lógica.</a:t>
            </a:r>
            <a:endParaRPr/>
          </a:p>
        </p:txBody>
      </p:sp>
      <p:sp>
        <p:nvSpPr>
          <p:cNvPr id="292" name="Google Shape;292;p11"/>
          <p:cNvSpPr txBox="1"/>
          <p:nvPr/>
        </p:nvSpPr>
        <p:spPr>
          <a:xfrm>
            <a:off x="1041066" y="3381375"/>
            <a:ext cx="4699667" cy="460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4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Preguntas de Opción Múltiple</a:t>
            </a:r>
            <a:endParaRPr/>
          </a:p>
        </p:txBody>
      </p:sp>
      <p:sp>
        <p:nvSpPr>
          <p:cNvPr id="293" name="Google Shape;293;p11"/>
          <p:cNvSpPr txBox="1"/>
          <p:nvPr/>
        </p:nvSpPr>
        <p:spPr>
          <a:xfrm>
            <a:off x="6773192" y="8292521"/>
            <a:ext cx="4741615" cy="870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preguntas de respuesta corta permitirán demostrar la comprensión de conceptos fundamentales.</a:t>
            </a:r>
            <a:endParaRPr/>
          </a:p>
        </p:txBody>
      </p:sp>
      <p:sp>
        <p:nvSpPr>
          <p:cNvPr id="294" name="Google Shape;294;p11"/>
          <p:cNvSpPr txBox="1"/>
          <p:nvPr/>
        </p:nvSpPr>
        <p:spPr>
          <a:xfrm>
            <a:off x="6773192" y="3381375"/>
            <a:ext cx="4741615" cy="460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4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Preguntas de Respuesta Corta</a:t>
            </a:r>
            <a:endParaRPr/>
          </a:p>
        </p:txBody>
      </p:sp>
      <p:sp>
        <p:nvSpPr>
          <p:cNvPr id="295" name="Google Shape;295;p11"/>
          <p:cNvSpPr txBox="1"/>
          <p:nvPr/>
        </p:nvSpPr>
        <p:spPr>
          <a:xfrm>
            <a:off x="12551109" y="8291369"/>
            <a:ext cx="4691983" cy="575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proporcionarán ejemplos de preguntas relacionadas con modelos OSI y programación.</a:t>
            </a:r>
            <a:endParaRPr/>
          </a:p>
        </p:txBody>
      </p:sp>
      <p:sp>
        <p:nvSpPr>
          <p:cNvPr id="296" name="Google Shape;296;p11"/>
          <p:cNvSpPr txBox="1"/>
          <p:nvPr/>
        </p:nvSpPr>
        <p:spPr>
          <a:xfrm>
            <a:off x="12551109" y="3381375"/>
            <a:ext cx="4691983" cy="460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4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Ejemplos de Preguntas</a:t>
            </a:r>
            <a:endParaRPr/>
          </a:p>
        </p:txBody>
      </p:sp>
      <p:sp>
        <p:nvSpPr>
          <p:cNvPr id="297" name="Google Shape;297;p11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0F4F8"/>
                </a:solidFill>
                <a:latin typeface="Geo"/>
                <a:ea typeface="Geo"/>
                <a:cs typeface="Geo"/>
                <a:sym typeface="Geo"/>
              </a:rPr>
              <a:t>Actividad Diagnóstica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FA5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"/>
          <p:cNvSpPr/>
          <p:nvPr/>
        </p:nvSpPr>
        <p:spPr>
          <a:xfrm>
            <a:off x="10809427" y="2478305"/>
            <a:ext cx="5974656" cy="5974656"/>
          </a:xfrm>
          <a:custGeom>
            <a:rect b="b" l="l" r="r" t="t"/>
            <a:pathLst>
              <a:path extrusionOk="0" h="812800" w="812800">
                <a:moveTo>
                  <a:pt x="29803" y="0"/>
                </a:moveTo>
                <a:lnTo>
                  <a:pt x="782997" y="0"/>
                </a:lnTo>
                <a:cubicBezTo>
                  <a:pt x="790901" y="0"/>
                  <a:pt x="798482" y="3140"/>
                  <a:pt x="804071" y="8729"/>
                </a:cubicBezTo>
                <a:cubicBezTo>
                  <a:pt x="809660" y="14318"/>
                  <a:pt x="812800" y="21899"/>
                  <a:pt x="812800" y="29803"/>
                </a:cubicBezTo>
                <a:lnTo>
                  <a:pt x="812800" y="782997"/>
                </a:lnTo>
                <a:cubicBezTo>
                  <a:pt x="812800" y="790901"/>
                  <a:pt x="809660" y="798482"/>
                  <a:pt x="804071" y="804071"/>
                </a:cubicBezTo>
                <a:cubicBezTo>
                  <a:pt x="798482" y="809660"/>
                  <a:pt x="790901" y="812800"/>
                  <a:pt x="782997" y="812800"/>
                </a:cubicBezTo>
                <a:lnTo>
                  <a:pt x="29803" y="812800"/>
                </a:lnTo>
                <a:cubicBezTo>
                  <a:pt x="21899" y="812800"/>
                  <a:pt x="14318" y="809660"/>
                  <a:pt x="8729" y="804071"/>
                </a:cubicBezTo>
                <a:cubicBezTo>
                  <a:pt x="3140" y="798482"/>
                  <a:pt x="0" y="790901"/>
                  <a:pt x="0" y="782997"/>
                </a:cubicBezTo>
                <a:lnTo>
                  <a:pt x="0" y="29803"/>
                </a:lnTo>
                <a:cubicBezTo>
                  <a:pt x="0" y="21899"/>
                  <a:pt x="3140" y="14318"/>
                  <a:pt x="8729" y="8729"/>
                </a:cubicBezTo>
                <a:cubicBezTo>
                  <a:pt x="14318" y="3140"/>
                  <a:pt x="21899" y="0"/>
                  <a:pt x="29803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5045" r="-25045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0F4F8"/>
                </a:solidFill>
                <a:latin typeface="Geo"/>
                <a:ea typeface="Geo"/>
                <a:cs typeface="Geo"/>
                <a:sym typeface="Geo"/>
              </a:rPr>
              <a:t>Evaluación de Conocimientos Previos</a:t>
            </a:r>
            <a:endParaRPr/>
          </a:p>
        </p:txBody>
      </p:sp>
      <p:sp>
        <p:nvSpPr>
          <p:cNvPr id="304" name="Google Shape;304;p12"/>
          <p:cNvSpPr txBox="1"/>
          <p:nvPr/>
        </p:nvSpPr>
        <p:spPr>
          <a:xfrm>
            <a:off x="2105025" y="2814002"/>
            <a:ext cx="6886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2D4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Modelos OSI</a:t>
            </a:r>
            <a:endParaRPr/>
          </a:p>
        </p:txBody>
      </p:sp>
      <p:sp>
        <p:nvSpPr>
          <p:cNvPr id="305" name="Google Shape;305;p12"/>
          <p:cNvSpPr txBox="1"/>
          <p:nvPr/>
        </p:nvSpPr>
        <p:spPr>
          <a:xfrm>
            <a:off x="2105025" y="3443605"/>
            <a:ext cx="68865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Comprender la estructura y funciones del modelo OSI.</a:t>
            </a:r>
            <a:endParaRPr/>
          </a:p>
        </p:txBody>
      </p:sp>
      <p:sp>
        <p:nvSpPr>
          <p:cNvPr id="306" name="Google Shape;306;p12"/>
          <p:cNvSpPr txBox="1"/>
          <p:nvPr/>
        </p:nvSpPr>
        <p:spPr>
          <a:xfrm>
            <a:off x="2105025" y="7862411"/>
            <a:ext cx="6886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2D4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Resolución de Problemas</a:t>
            </a:r>
            <a:endParaRPr/>
          </a:p>
        </p:txBody>
      </p:sp>
      <p:sp>
        <p:nvSpPr>
          <p:cNvPr id="307" name="Google Shape;307;p12"/>
          <p:cNvSpPr txBox="1"/>
          <p:nvPr/>
        </p:nvSpPr>
        <p:spPr>
          <a:xfrm>
            <a:off x="2105025" y="8491061"/>
            <a:ext cx="68865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Desarrollar habilidades para abordar desafíos computacionales.</a:t>
            </a:r>
            <a:endParaRPr/>
          </a:p>
        </p:txBody>
      </p:sp>
      <p:sp>
        <p:nvSpPr>
          <p:cNvPr id="308" name="Google Shape;308;p12"/>
          <p:cNvSpPr txBox="1"/>
          <p:nvPr/>
        </p:nvSpPr>
        <p:spPr>
          <a:xfrm>
            <a:off x="2105025" y="4496911"/>
            <a:ext cx="6886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2D4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Lógica de Sistemas</a:t>
            </a:r>
            <a:endParaRPr/>
          </a:p>
        </p:txBody>
      </p:sp>
      <p:sp>
        <p:nvSpPr>
          <p:cNvPr id="309" name="Google Shape;309;p12"/>
          <p:cNvSpPr txBox="1"/>
          <p:nvPr/>
        </p:nvSpPr>
        <p:spPr>
          <a:xfrm>
            <a:off x="2105025" y="5125561"/>
            <a:ext cx="68865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Aplicar principios de lógica en programación efectiva.</a:t>
            </a:r>
            <a:endParaRPr/>
          </a:p>
        </p:txBody>
      </p:sp>
      <p:sp>
        <p:nvSpPr>
          <p:cNvPr id="310" name="Google Shape;310;p12"/>
          <p:cNvSpPr txBox="1"/>
          <p:nvPr/>
        </p:nvSpPr>
        <p:spPr>
          <a:xfrm>
            <a:off x="1099243" y="2899727"/>
            <a:ext cx="86498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99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1028700" y="6268561"/>
            <a:ext cx="86498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99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  <p:sp>
        <p:nvSpPr>
          <p:cNvPr id="312" name="Google Shape;312;p12"/>
          <p:cNvSpPr txBox="1"/>
          <p:nvPr/>
        </p:nvSpPr>
        <p:spPr>
          <a:xfrm>
            <a:off x="1099243" y="7910036"/>
            <a:ext cx="86498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99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/>
          </a:p>
        </p:txBody>
      </p:sp>
      <p:sp>
        <p:nvSpPr>
          <p:cNvPr id="313" name="Google Shape;313;p12"/>
          <p:cNvSpPr txBox="1"/>
          <p:nvPr/>
        </p:nvSpPr>
        <p:spPr>
          <a:xfrm>
            <a:off x="1099243" y="4582636"/>
            <a:ext cx="86498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99" u="none" cap="none" strike="noStrike">
                <a:solidFill>
                  <a:srgbClr val="C2D4F7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sp>
        <p:nvSpPr>
          <p:cNvPr id="314" name="Google Shape;314;p12"/>
          <p:cNvSpPr txBox="1"/>
          <p:nvPr/>
        </p:nvSpPr>
        <p:spPr>
          <a:xfrm>
            <a:off x="2105025" y="6179661"/>
            <a:ext cx="68865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2D4F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Programación</a:t>
            </a:r>
            <a:endParaRPr/>
          </a:p>
        </p:txBody>
      </p:sp>
      <p:sp>
        <p:nvSpPr>
          <p:cNvPr id="315" name="Google Shape;315;p12"/>
          <p:cNvSpPr txBox="1"/>
          <p:nvPr/>
        </p:nvSpPr>
        <p:spPr>
          <a:xfrm>
            <a:off x="2105025" y="6808311"/>
            <a:ext cx="68865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Conocer conceptos básicos de sintaxis y estructura.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E55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</a:t>
            </a:r>
            <a:endParaRPr/>
          </a:p>
        </p:txBody>
      </p:sp>
      <p:grpSp>
        <p:nvGrpSpPr>
          <p:cNvPr id="321" name="Google Shape;321;p13"/>
          <p:cNvGrpSpPr/>
          <p:nvPr/>
        </p:nvGrpSpPr>
        <p:grpSpPr>
          <a:xfrm>
            <a:off x="666750" y="449759"/>
            <a:ext cx="16954500" cy="9170495"/>
            <a:chOff x="0" y="-57150"/>
            <a:chExt cx="4465383" cy="2415274"/>
          </a:xfrm>
        </p:grpSpPr>
        <p:sp>
          <p:nvSpPr>
            <p:cNvPr id="322" name="Google Shape;322;p13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2E578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3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13"/>
          <p:cNvGrpSpPr/>
          <p:nvPr/>
        </p:nvGrpSpPr>
        <p:grpSpPr>
          <a:xfrm>
            <a:off x="1800225" y="1497806"/>
            <a:ext cx="13249275" cy="2131303"/>
            <a:chOff x="0" y="-85725"/>
            <a:chExt cx="17665700" cy="2841737"/>
          </a:xfrm>
        </p:grpSpPr>
        <p:sp>
          <p:nvSpPr>
            <p:cNvPr id="325" name="Google Shape;325;p13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0" u="none" cap="none" strike="noStrike">
                  <a:solidFill>
                    <a:srgbClr val="F0F4F8"/>
                  </a:solidFill>
                  <a:latin typeface="Geo"/>
                  <a:ea typeface="Geo"/>
                  <a:cs typeface="Geo"/>
                  <a:sym typeface="Geo"/>
                </a:rPr>
                <a:t>Actividad Diagnóstica</a:t>
              </a:r>
              <a:endParaRPr/>
            </a:p>
          </p:txBody>
        </p:sp>
        <p:sp>
          <p:nvSpPr>
            <p:cNvPr id="326" name="Google Shape;326;p13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Importancia de la preparación previa</a:t>
              </a:r>
              <a:endParaRPr/>
            </a:p>
          </p:txBody>
        </p:sp>
      </p:grpSp>
      <p:grpSp>
        <p:nvGrpSpPr>
          <p:cNvPr id="327" name="Google Shape;327;p13"/>
          <p:cNvGrpSpPr/>
          <p:nvPr/>
        </p:nvGrpSpPr>
        <p:grpSpPr>
          <a:xfrm>
            <a:off x="1800225" y="5143500"/>
            <a:ext cx="4308497" cy="2930525"/>
            <a:chOff x="0" y="0"/>
            <a:chExt cx="5744662" cy="3907367"/>
          </a:xfrm>
        </p:grpSpPr>
        <p:sp>
          <p:nvSpPr>
            <p:cNvPr id="328" name="Google Shape;328;p13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Tiempo Estimado</a:t>
              </a:r>
              <a:endParaRPr/>
            </a:p>
          </p:txBody>
        </p:sp>
        <p:sp>
          <p:nvSpPr>
            <p:cNvPr id="329" name="Google Shape;329;p13"/>
            <p:cNvSpPr txBox="1"/>
            <p:nvPr/>
          </p:nvSpPr>
          <p:spPr>
            <a:xfrm>
              <a:off x="0" y="1060450"/>
              <a:ext cx="5744662" cy="2846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La actividad diagnóstica tomará aproximadamente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una hora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 Es esencial que los estudiantes estén preparados, revisando conceptos básicos para asegurar una evaluación precisa de sus conocimientos previos.</a:t>
              </a:r>
              <a:endParaRPr/>
            </a:p>
          </p:txBody>
        </p:sp>
      </p:grpSp>
      <p:grpSp>
        <p:nvGrpSpPr>
          <p:cNvPr id="330" name="Google Shape;330;p13"/>
          <p:cNvGrpSpPr/>
          <p:nvPr/>
        </p:nvGrpSpPr>
        <p:grpSpPr>
          <a:xfrm>
            <a:off x="7291388" y="5143500"/>
            <a:ext cx="4010025" cy="2578100"/>
            <a:chOff x="0" y="0"/>
            <a:chExt cx="5346700" cy="3437467"/>
          </a:xfrm>
        </p:grpSpPr>
        <p:sp>
          <p:nvSpPr>
            <p:cNvPr id="331" name="Google Shape;331;p1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Forma de Entrega</a:t>
              </a:r>
              <a:endParaRPr/>
            </a:p>
          </p:txBody>
        </p:sp>
        <p:sp>
          <p:nvSpPr>
            <p:cNvPr id="332" name="Google Shape;332;p13"/>
            <p:cNvSpPr txBox="1"/>
            <p:nvPr/>
          </p:nvSpPr>
          <p:spPr>
            <a:xfrm>
              <a:off x="0" y="1060450"/>
              <a:ext cx="5346700" cy="2377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Los resultados se entregarán en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formato digital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a través de la plataforma del curso. Asegúrese de seguir las instrucciones para una presentación ordenada y efectiva.</a:t>
              </a:r>
              <a:endParaRPr/>
            </a:p>
          </p:txBody>
        </p:sp>
      </p:grpSp>
      <p:grpSp>
        <p:nvGrpSpPr>
          <p:cNvPr id="333" name="Google Shape;333;p13"/>
          <p:cNvGrpSpPr/>
          <p:nvPr/>
        </p:nvGrpSpPr>
        <p:grpSpPr>
          <a:xfrm>
            <a:off x="12172950" y="5143500"/>
            <a:ext cx="4010025" cy="2959100"/>
            <a:chOff x="0" y="0"/>
            <a:chExt cx="5346700" cy="3945467"/>
          </a:xfrm>
        </p:grpSpPr>
        <p:sp>
          <p:nvSpPr>
            <p:cNvPr id="334" name="Google Shape;334;p1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Preparación para el Curso</a:t>
              </a:r>
              <a:endParaRPr/>
            </a:p>
          </p:txBody>
        </p:sp>
        <p:sp>
          <p:nvSpPr>
            <p:cNvPr id="335" name="Google Shape;335;p13"/>
            <p:cNvSpPr txBox="1"/>
            <p:nvPr/>
          </p:nvSpPr>
          <p:spPr>
            <a:xfrm>
              <a:off x="0" y="1060450"/>
              <a:ext cx="5346700" cy="2885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La actividad ayudará a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orientar el curso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según las necesidades del grupo. Una buena preparación garantiza que todos los estudiantes estén alineados y listos para el aprendizaje.</a:t>
              </a:r>
              <a:endParaRPr/>
            </a:p>
          </p:txBody>
        </p:sp>
      </p:grpSp>
      <p:sp>
        <p:nvSpPr>
          <p:cNvPr id="336" name="Google Shape;336;p13"/>
          <p:cNvSpPr/>
          <p:nvPr/>
        </p:nvSpPr>
        <p:spPr>
          <a:xfrm rot="-3117037">
            <a:off x="16099474" y="795272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FA5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r>
            <a:endParaRPr/>
          </a:p>
        </p:txBody>
      </p:sp>
      <p:grpSp>
        <p:nvGrpSpPr>
          <p:cNvPr id="342" name="Google Shape;342;p14"/>
          <p:cNvGrpSpPr/>
          <p:nvPr/>
        </p:nvGrpSpPr>
        <p:grpSpPr>
          <a:xfrm>
            <a:off x="666750" y="449759"/>
            <a:ext cx="16954500" cy="9170495"/>
            <a:chOff x="0" y="-57150"/>
            <a:chExt cx="4465383" cy="2415274"/>
          </a:xfrm>
        </p:grpSpPr>
        <p:sp>
          <p:nvSpPr>
            <p:cNvPr id="343" name="Google Shape;343;p14"/>
            <p:cNvSpPr/>
            <p:nvPr/>
          </p:nvSpPr>
          <p:spPr>
            <a:xfrm>
              <a:off x="0" y="0"/>
              <a:ext cx="4465383" cy="2358124"/>
            </a:xfrm>
            <a:custGeom>
              <a:rect b="b" l="l" r="r" t="t"/>
              <a:pathLst>
                <a:path extrusionOk="0"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1328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14"/>
          <p:cNvGrpSpPr/>
          <p:nvPr/>
        </p:nvGrpSpPr>
        <p:grpSpPr>
          <a:xfrm>
            <a:off x="1800225" y="1497806"/>
            <a:ext cx="13249275" cy="2131303"/>
            <a:chOff x="0" y="-85725"/>
            <a:chExt cx="17665700" cy="2841737"/>
          </a:xfrm>
        </p:grpSpPr>
        <p:sp>
          <p:nvSpPr>
            <p:cNvPr id="346" name="Google Shape;346;p14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0" u="none" cap="none" strike="noStrike">
                  <a:solidFill>
                    <a:srgbClr val="F0F4F8"/>
                  </a:solidFill>
                  <a:latin typeface="Geo"/>
                  <a:ea typeface="Geo"/>
                  <a:cs typeface="Geo"/>
                  <a:sym typeface="Geo"/>
                </a:rPr>
                <a:t>Conclusiones y Siguientes Pasos</a:t>
              </a:r>
              <a:endParaRPr/>
            </a:p>
          </p:txBody>
        </p:sp>
        <p:sp>
          <p:nvSpPr>
            <p:cNvPr id="347" name="Google Shape;347;p14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Compromiso y participación en el curso</a:t>
              </a:r>
              <a:endParaRPr/>
            </a:p>
          </p:txBody>
        </p:sp>
      </p:grpSp>
      <p:grpSp>
        <p:nvGrpSpPr>
          <p:cNvPr id="348" name="Google Shape;348;p14"/>
          <p:cNvGrpSpPr/>
          <p:nvPr/>
        </p:nvGrpSpPr>
        <p:grpSpPr>
          <a:xfrm>
            <a:off x="1800225" y="5143500"/>
            <a:ext cx="4308497" cy="2578100"/>
            <a:chOff x="0" y="0"/>
            <a:chExt cx="5744662" cy="3437467"/>
          </a:xfrm>
        </p:grpSpPr>
        <p:sp>
          <p:nvSpPr>
            <p:cNvPr id="349" name="Google Shape;349;p14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Recapitulación Breve</a:t>
              </a:r>
              <a:endParaRPr/>
            </a:p>
          </p:txBody>
        </p:sp>
        <p:sp>
          <p:nvSpPr>
            <p:cNvPr id="350" name="Google Shape;350;p14"/>
            <p:cNvSpPr txBox="1"/>
            <p:nvPr/>
          </p:nvSpPr>
          <p:spPr>
            <a:xfrm>
              <a:off x="0" y="1060450"/>
              <a:ext cx="5744662" cy="2377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Durante la semana diagnóstica, se establecieron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expectativas claras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y objetivos de aprendizaje, lo que permite un enfoque efectivo en el desarrollo académico de todos los estudiantes.</a:t>
              </a:r>
              <a:endParaRPr/>
            </a:p>
          </p:txBody>
        </p:sp>
      </p:grpSp>
      <p:grpSp>
        <p:nvGrpSpPr>
          <p:cNvPr id="351" name="Google Shape;351;p14"/>
          <p:cNvGrpSpPr/>
          <p:nvPr/>
        </p:nvGrpSpPr>
        <p:grpSpPr>
          <a:xfrm>
            <a:off x="7291388" y="5143500"/>
            <a:ext cx="4010025" cy="2930525"/>
            <a:chOff x="0" y="0"/>
            <a:chExt cx="5346700" cy="3907367"/>
          </a:xfrm>
        </p:grpSpPr>
        <p:sp>
          <p:nvSpPr>
            <p:cNvPr id="352" name="Google Shape;352;p14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Compromiso Continuo</a:t>
              </a:r>
              <a:endParaRPr/>
            </a:p>
          </p:txBody>
        </p:sp>
        <p:sp>
          <p:nvSpPr>
            <p:cNvPr id="353" name="Google Shape;353;p14"/>
            <p:cNvSpPr txBox="1"/>
            <p:nvPr/>
          </p:nvSpPr>
          <p:spPr>
            <a:xfrm>
              <a:off x="0" y="1060450"/>
              <a:ext cx="5346700" cy="2846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La participación activa es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esencial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para el éxito del curso. Los estudiantes deben involucrarse y hacer preguntas para maximizar su aprendizaje y retención de información.</a:t>
              </a:r>
              <a:endParaRPr/>
            </a:p>
          </p:txBody>
        </p:sp>
      </p:grpSp>
      <p:grpSp>
        <p:nvGrpSpPr>
          <p:cNvPr id="354" name="Google Shape;354;p14"/>
          <p:cNvGrpSpPr/>
          <p:nvPr/>
        </p:nvGrpSpPr>
        <p:grpSpPr>
          <a:xfrm>
            <a:off x="12172950" y="5143500"/>
            <a:ext cx="4010025" cy="2930525"/>
            <a:chOff x="0" y="0"/>
            <a:chExt cx="5346700" cy="3907367"/>
          </a:xfrm>
        </p:grpSpPr>
        <p:sp>
          <p:nvSpPr>
            <p:cNvPr id="355" name="Google Shape;355;p14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C2D4F7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Siguientes Pasos</a:t>
              </a:r>
              <a:endParaRPr/>
            </a:p>
          </p:txBody>
        </p:sp>
        <p:sp>
          <p:nvSpPr>
            <p:cNvPr id="356" name="Google Shape;356;p14"/>
            <p:cNvSpPr txBox="1"/>
            <p:nvPr/>
          </p:nvSpPr>
          <p:spPr>
            <a:xfrm>
              <a:off x="0" y="1060450"/>
              <a:ext cx="5346700" cy="28469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 lo largo del curso, se invitará a los estudiantes a </a:t>
              </a:r>
              <a:r>
                <a:rPr b="1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compartir sus dudas</a:t>
              </a:r>
              <a:r>
                <a:rPr b="0" i="0" lang="en-US" sz="2000" u="none" cap="none" strike="noStrike">
                  <a:solidFill>
                    <a:srgbClr val="F0F4F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y mantenerse en contacto, garantizando un ambiente colaborativo y enriquecedor para todos.</a:t>
              </a:r>
              <a:endParaRPr/>
            </a:p>
          </p:txBody>
        </p:sp>
      </p:grpSp>
      <p:sp>
        <p:nvSpPr>
          <p:cNvPr id="357" name="Google Shape;357;p14"/>
          <p:cNvSpPr/>
          <p:nvPr/>
        </p:nvSpPr>
        <p:spPr>
          <a:xfrm rot="-3117037">
            <a:off x="16099474" y="795272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E55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5"/>
          <p:cNvSpPr txBox="1"/>
          <p:nvPr/>
        </p:nvSpPr>
        <p:spPr>
          <a:xfrm>
            <a:off x="1212965" y="1279640"/>
            <a:ext cx="7021245" cy="2263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0F4F8"/>
                </a:solidFill>
                <a:latin typeface="Geo"/>
                <a:ea typeface="Geo"/>
                <a:cs typeface="Geo"/>
                <a:sym typeface="Geo"/>
              </a:rPr>
              <a:t>Horarios de calificación</a:t>
            </a:r>
            <a:endParaRPr/>
          </a:p>
        </p:txBody>
      </p:sp>
      <p:sp>
        <p:nvSpPr>
          <p:cNvPr id="363" name="Google Shape;363;p15"/>
          <p:cNvSpPr txBox="1"/>
          <p:nvPr/>
        </p:nvSpPr>
        <p:spPr>
          <a:xfrm>
            <a:off x="1212965" y="4025856"/>
            <a:ext cx="6886575" cy="122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Recordamos completar el formulario correspondiente a las fechas de calificación. Su respuesta es fundamental para la planificación.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E55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16"/>
          <p:cNvGrpSpPr/>
          <p:nvPr/>
        </p:nvGrpSpPr>
        <p:grpSpPr>
          <a:xfrm>
            <a:off x="666750" y="2799804"/>
            <a:ext cx="5448300" cy="6820446"/>
            <a:chOff x="0" y="-28575"/>
            <a:chExt cx="1434943" cy="1796331"/>
          </a:xfrm>
        </p:grpSpPr>
        <p:sp>
          <p:nvSpPr>
            <p:cNvPr id="369" name="Google Shape;369;p16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6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" name="Google Shape;371;p16"/>
          <p:cNvGrpSpPr/>
          <p:nvPr/>
        </p:nvGrpSpPr>
        <p:grpSpPr>
          <a:xfrm>
            <a:off x="6419850" y="2799804"/>
            <a:ext cx="5448300" cy="6820446"/>
            <a:chOff x="0" y="-28575"/>
            <a:chExt cx="1434943" cy="1796331"/>
          </a:xfrm>
        </p:grpSpPr>
        <p:sp>
          <p:nvSpPr>
            <p:cNvPr id="372" name="Google Shape;372;p16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6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" name="Google Shape;374;p16"/>
          <p:cNvGrpSpPr/>
          <p:nvPr/>
        </p:nvGrpSpPr>
        <p:grpSpPr>
          <a:xfrm>
            <a:off x="12172950" y="2799804"/>
            <a:ext cx="5448300" cy="6820446"/>
            <a:chOff x="0" y="-28575"/>
            <a:chExt cx="1434943" cy="1796331"/>
          </a:xfrm>
        </p:grpSpPr>
        <p:sp>
          <p:nvSpPr>
            <p:cNvPr id="375" name="Google Shape;375;p16"/>
            <p:cNvSpPr/>
            <p:nvPr/>
          </p:nvSpPr>
          <p:spPr>
            <a:xfrm>
              <a:off x="0" y="0"/>
              <a:ext cx="1434943" cy="1767756"/>
            </a:xfrm>
            <a:custGeom>
              <a:rect b="b" l="l" r="r" t="t"/>
              <a:pathLst>
                <a:path extrusionOk="0"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6F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6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7" name="Google Shape;377;p16"/>
          <p:cNvSpPr/>
          <p:nvPr/>
        </p:nvSpPr>
        <p:spPr>
          <a:xfrm>
            <a:off x="10660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7694" r="-7694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68191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7713" r="-7712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"/>
          <p:cNvSpPr/>
          <p:nvPr/>
        </p:nvSpPr>
        <p:spPr>
          <a:xfrm>
            <a:off x="12572253" y="4248150"/>
            <a:ext cx="4649694" cy="3581400"/>
          </a:xfrm>
          <a:custGeom>
            <a:rect b="b" l="l" r="r" t="t"/>
            <a:pathLst>
              <a:path extrusionOk="0" h="970044" w="1259398">
                <a:moveTo>
                  <a:pt x="33301" y="0"/>
                </a:moveTo>
                <a:lnTo>
                  <a:pt x="1226097" y="0"/>
                </a:lnTo>
                <a:cubicBezTo>
                  <a:pt x="1244489" y="0"/>
                  <a:pt x="1259398" y="14909"/>
                  <a:pt x="1259398" y="33301"/>
                </a:cubicBezTo>
                <a:lnTo>
                  <a:pt x="1259398" y="936743"/>
                </a:lnTo>
                <a:cubicBezTo>
                  <a:pt x="1259398" y="955135"/>
                  <a:pt x="1244489" y="970044"/>
                  <a:pt x="1226097" y="970044"/>
                </a:cubicBezTo>
                <a:lnTo>
                  <a:pt x="33301" y="970044"/>
                </a:lnTo>
                <a:cubicBezTo>
                  <a:pt x="24469" y="970044"/>
                  <a:pt x="15999" y="966535"/>
                  <a:pt x="9754" y="960290"/>
                </a:cubicBezTo>
                <a:cubicBezTo>
                  <a:pt x="3508" y="954045"/>
                  <a:pt x="0" y="945575"/>
                  <a:pt x="0" y="936743"/>
                </a:cubicBezTo>
                <a:lnTo>
                  <a:pt x="0" y="33301"/>
                </a:lnTo>
                <a:cubicBezTo>
                  <a:pt x="0" y="24469"/>
                  <a:pt x="3508" y="15999"/>
                  <a:pt x="9754" y="9754"/>
                </a:cubicBezTo>
                <a:cubicBezTo>
                  <a:pt x="15999" y="3508"/>
                  <a:pt x="24469" y="0"/>
                  <a:pt x="33301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41" r="-3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 txBox="1"/>
          <p:nvPr/>
        </p:nvSpPr>
        <p:spPr>
          <a:xfrm>
            <a:off x="1021783" y="8292521"/>
            <a:ext cx="4738234" cy="870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Mantente en contacto a través del correo electrónico o la plataforma del curso para preguntas.</a:t>
            </a:r>
            <a:endParaRPr/>
          </a:p>
        </p:txBody>
      </p:sp>
      <p:sp>
        <p:nvSpPr>
          <p:cNvPr id="381" name="Google Shape;381;p16"/>
          <p:cNvSpPr txBox="1"/>
          <p:nvPr/>
        </p:nvSpPr>
        <p:spPr>
          <a:xfrm>
            <a:off x="1041066" y="3381375"/>
            <a:ext cx="4699667" cy="543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Contacto</a:t>
            </a:r>
            <a:endParaRPr/>
          </a:p>
        </p:txBody>
      </p:sp>
      <p:sp>
        <p:nvSpPr>
          <p:cNvPr id="382" name="Google Shape;382;p16"/>
          <p:cNvSpPr txBox="1"/>
          <p:nvPr/>
        </p:nvSpPr>
        <p:spPr>
          <a:xfrm>
            <a:off x="6773192" y="8292521"/>
            <a:ext cx="4741615" cy="870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Explora recursos adicionales disponibles en la plataforma para mejorar tu aprendizaje y comprensión.</a:t>
            </a:r>
            <a:endParaRPr/>
          </a:p>
        </p:txBody>
      </p:sp>
      <p:sp>
        <p:nvSpPr>
          <p:cNvPr id="383" name="Google Shape;383;p16"/>
          <p:cNvSpPr txBox="1"/>
          <p:nvPr/>
        </p:nvSpPr>
        <p:spPr>
          <a:xfrm>
            <a:off x="6773192" y="3381375"/>
            <a:ext cx="4741615" cy="543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Recursos</a:t>
            </a:r>
            <a:endParaRPr/>
          </a:p>
        </p:txBody>
      </p:sp>
      <p:sp>
        <p:nvSpPr>
          <p:cNvPr id="384" name="Google Shape;384;p16"/>
          <p:cNvSpPr txBox="1"/>
          <p:nvPr/>
        </p:nvSpPr>
        <p:spPr>
          <a:xfrm>
            <a:off x="12551109" y="8291369"/>
            <a:ext cx="4691983" cy="870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14" u="none" cap="none" strike="noStrike">
                <a:solidFill>
                  <a:srgbClr val="F0F4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Participa activamente en las sesiones y busca apoyo constante para maximizar tu experiencia de aprendizaje.</a:t>
            </a:r>
            <a:endParaRPr/>
          </a:p>
        </p:txBody>
      </p:sp>
      <p:sp>
        <p:nvSpPr>
          <p:cNvPr id="385" name="Google Shape;385;p16"/>
          <p:cNvSpPr txBox="1"/>
          <p:nvPr/>
        </p:nvSpPr>
        <p:spPr>
          <a:xfrm>
            <a:off x="12551109" y="3381375"/>
            <a:ext cx="4691983" cy="543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C2D4F7"/>
                </a:solidFill>
                <a:latin typeface="Geo"/>
                <a:ea typeface="Geo"/>
                <a:cs typeface="Geo"/>
                <a:sym typeface="Geo"/>
              </a:rPr>
              <a:t>Apoyo Continuo</a:t>
            </a:r>
            <a:endParaRPr/>
          </a:p>
        </p:txBody>
      </p:sp>
      <p:sp>
        <p:nvSpPr>
          <p:cNvPr id="386" name="Google Shape;386;p16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0F4F8"/>
                </a:solidFill>
                <a:latin typeface="Geo"/>
                <a:ea typeface="Geo"/>
                <a:cs typeface="Geo"/>
                <a:sym typeface="Geo"/>
              </a:rPr>
              <a:t>Recursos y Apoyo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FA5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7"/>
          <p:cNvSpPr/>
          <p:nvPr/>
        </p:nvSpPr>
        <p:spPr>
          <a:xfrm>
            <a:off x="0" y="0"/>
            <a:ext cx="7858125" cy="10287000"/>
          </a:xfrm>
          <a:custGeom>
            <a:rect b="b" l="l" r="r" t="t"/>
            <a:pathLst>
              <a:path extrusionOk="0" h="1350966" w="1031988">
                <a:moveTo>
                  <a:pt x="0" y="0"/>
                </a:moveTo>
                <a:lnTo>
                  <a:pt x="1031988" y="0"/>
                </a:lnTo>
                <a:lnTo>
                  <a:pt x="1031988" y="1350966"/>
                </a:lnTo>
                <a:lnTo>
                  <a:pt x="0" y="1350966"/>
                </a:lnTo>
                <a:close/>
              </a:path>
            </a:pathLst>
          </a:custGeom>
          <a:solidFill>
            <a:srgbClr val="2A3E55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7"/>
          <p:cNvSpPr/>
          <p:nvPr/>
        </p:nvSpPr>
        <p:spPr>
          <a:xfrm>
            <a:off x="1052512" y="666750"/>
            <a:ext cx="5753100" cy="8953500"/>
          </a:xfrm>
          <a:custGeom>
            <a:rect b="b" l="l" r="r" t="t"/>
            <a:pathLst>
              <a:path extrusionOk="0" h="1267949" w="814724">
                <a:moveTo>
                  <a:pt x="26914" y="0"/>
                </a:moveTo>
                <a:lnTo>
                  <a:pt x="787810" y="0"/>
                </a:lnTo>
                <a:cubicBezTo>
                  <a:pt x="802675" y="0"/>
                  <a:pt x="814724" y="12050"/>
                  <a:pt x="814724" y="26914"/>
                </a:cubicBezTo>
                <a:lnTo>
                  <a:pt x="814724" y="1241035"/>
                </a:lnTo>
                <a:cubicBezTo>
                  <a:pt x="814724" y="1255899"/>
                  <a:pt x="802675" y="1267949"/>
                  <a:pt x="787810" y="1267949"/>
                </a:cubicBezTo>
                <a:lnTo>
                  <a:pt x="26914" y="1267949"/>
                </a:lnTo>
                <a:cubicBezTo>
                  <a:pt x="12050" y="1267949"/>
                  <a:pt x="0" y="1255899"/>
                  <a:pt x="0" y="1241035"/>
                </a:cubicBezTo>
                <a:lnTo>
                  <a:pt x="0" y="26914"/>
                </a:lnTo>
                <a:cubicBezTo>
                  <a:pt x="0" y="12050"/>
                  <a:pt x="12050" y="0"/>
                  <a:pt x="26914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98" l="0" r="0" t="-198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7"/>
          <p:cNvSpPr txBox="1"/>
          <p:nvPr/>
        </p:nvSpPr>
        <p:spPr>
          <a:xfrm>
            <a:off x="9296400" y="9011285"/>
            <a:ext cx="8324850" cy="60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rgbClr val="F0F4F8"/>
                </a:solidFill>
                <a:latin typeface="Anton"/>
                <a:ea typeface="Anton"/>
                <a:cs typeface="Anton"/>
                <a:sym typeface="Anton"/>
              </a:rPr>
              <a:t>Éxito en el Curso</a:t>
            </a:r>
            <a:endParaRPr/>
          </a:p>
        </p:txBody>
      </p:sp>
      <p:sp>
        <p:nvSpPr>
          <p:cNvPr id="394" name="Google Shape;394;p17"/>
          <p:cNvSpPr txBox="1"/>
          <p:nvPr/>
        </p:nvSpPr>
        <p:spPr>
          <a:xfrm>
            <a:off x="9303759" y="962025"/>
            <a:ext cx="8317491" cy="1980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56" u="none" cap="none" strike="noStrike">
                <a:solidFill>
                  <a:srgbClr val="F0F4F8"/>
                </a:solidFill>
                <a:latin typeface="Anton"/>
                <a:ea typeface="Anton"/>
                <a:cs typeface="Anton"/>
                <a:sym typeface="Anton"/>
              </a:rPr>
              <a:t>¡Gracias!</a:t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 rot="-3117037">
            <a:off x="5418783" y="7952721"/>
            <a:ext cx="2112604" cy="1859092"/>
          </a:xfrm>
          <a:custGeom>
            <a:rect b="b" l="l" r="r" t="t"/>
            <a:pathLst>
              <a:path extrusionOk="0"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